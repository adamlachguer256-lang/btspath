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20"/>
  </p:notesMasterIdLst>
  <p:handoutMasterIdLst>
    <p:handoutMasterId r:id="rId21"/>
  </p:handoutMasterIdLst>
  <p:sldIdLst>
    <p:sldId id="271" r:id="rId2"/>
    <p:sldId id="298" r:id="rId3"/>
    <p:sldId id="299" r:id="rId4"/>
    <p:sldId id="300" r:id="rId5"/>
    <p:sldId id="301" r:id="rId6"/>
    <p:sldId id="310" r:id="rId7"/>
    <p:sldId id="302" r:id="rId8"/>
    <p:sldId id="304" r:id="rId9"/>
    <p:sldId id="305" r:id="rId10"/>
    <p:sldId id="306" r:id="rId11"/>
    <p:sldId id="307" r:id="rId12"/>
    <p:sldId id="308" r:id="rId13"/>
    <p:sldId id="309" r:id="rId14"/>
    <p:sldId id="311" r:id="rId15"/>
    <p:sldId id="312" r:id="rId16"/>
    <p:sldId id="313" r:id="rId17"/>
    <p:sldId id="314" r:id="rId18"/>
    <p:sldId id="315" r:id="rId19"/>
  </p:sldIdLst>
  <p:sldSz cx="9144000" cy="6858000" type="screen4x3"/>
  <p:notesSz cx="7010400" cy="9296400"/>
  <p:embeddedFontLst>
    <p:embeddedFont>
      <p:font typeface="Georgia" pitchFamily="18" charset="0"/>
      <p:regular r:id="rId22"/>
      <p:bold r:id="rId23"/>
      <p:italic r:id="rId24"/>
      <p:boldItalic r:id="rId25"/>
    </p:embeddedFont>
    <p:embeddedFont>
      <p:font typeface="Wingdings 2" pitchFamily="18" charset="2"/>
      <p:regular r:id="rId26"/>
    </p:embeddedFont>
    <p:embeddedFont>
      <p:font typeface="Arial Narrow" pitchFamily="34" charset="0"/>
      <p:regular r:id="rId27"/>
      <p:bold r:id="rId28"/>
      <p:italic r:id="rId29"/>
      <p:boldItalic r:id="rId30"/>
    </p:embeddedFont>
  </p:embeddedFontLst>
  <p:defaultTextStyle>
    <a:defPPr>
      <a:defRPr lang="en-US"/>
    </a:defPPr>
    <a:lvl1pPr algn="l" rtl="0" eaLnBrk="0" fontAlgn="base" hangingPunct="0">
      <a:spcBef>
        <a:spcPct val="0"/>
      </a:spcBef>
      <a:spcAft>
        <a:spcPct val="0"/>
      </a:spcAft>
      <a:defRPr b="1" kern="1200">
        <a:solidFill>
          <a:schemeClr val="tx1"/>
        </a:solidFill>
        <a:latin typeface="Arial" charset="0"/>
        <a:ea typeface="+mn-ea"/>
        <a:cs typeface="+mn-cs"/>
      </a:defRPr>
    </a:lvl1pPr>
    <a:lvl2pPr marL="457200" algn="l" rtl="0" eaLnBrk="0" fontAlgn="base" hangingPunct="0">
      <a:spcBef>
        <a:spcPct val="0"/>
      </a:spcBef>
      <a:spcAft>
        <a:spcPct val="0"/>
      </a:spcAft>
      <a:defRPr b="1" kern="1200">
        <a:solidFill>
          <a:schemeClr val="tx1"/>
        </a:solidFill>
        <a:latin typeface="Arial" charset="0"/>
        <a:ea typeface="+mn-ea"/>
        <a:cs typeface="+mn-cs"/>
      </a:defRPr>
    </a:lvl2pPr>
    <a:lvl3pPr marL="914400" algn="l" rtl="0" eaLnBrk="0" fontAlgn="base" hangingPunct="0">
      <a:spcBef>
        <a:spcPct val="0"/>
      </a:spcBef>
      <a:spcAft>
        <a:spcPct val="0"/>
      </a:spcAft>
      <a:defRPr b="1" kern="1200">
        <a:solidFill>
          <a:schemeClr val="tx1"/>
        </a:solidFill>
        <a:latin typeface="Arial" charset="0"/>
        <a:ea typeface="+mn-ea"/>
        <a:cs typeface="+mn-cs"/>
      </a:defRPr>
    </a:lvl3pPr>
    <a:lvl4pPr marL="1371600" algn="l" rtl="0" eaLnBrk="0" fontAlgn="base" hangingPunct="0">
      <a:spcBef>
        <a:spcPct val="0"/>
      </a:spcBef>
      <a:spcAft>
        <a:spcPct val="0"/>
      </a:spcAft>
      <a:defRPr b="1" kern="1200">
        <a:solidFill>
          <a:schemeClr val="tx1"/>
        </a:solidFill>
        <a:latin typeface="Arial" charset="0"/>
        <a:ea typeface="+mn-ea"/>
        <a:cs typeface="+mn-cs"/>
      </a:defRPr>
    </a:lvl4pPr>
    <a:lvl5pPr marL="1828800" algn="l" rtl="0" eaLnBrk="0" fontAlgn="base" hangingPunct="0">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969696"/>
    <a:srgbClr val="FFFFFF"/>
    <a:srgbClr val="B2B2B2"/>
  </p:clrMru>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autoAdjust="0"/>
    <p:restoredTop sz="94660" autoAdjust="0"/>
  </p:normalViewPr>
  <p:slideViewPr>
    <p:cSldViewPr snapToGrid="0">
      <p:cViewPr varScale="1">
        <p:scale>
          <a:sx n="69" d="100"/>
          <a:sy n="69" d="100"/>
        </p:scale>
        <p:origin x="-702" y="-96"/>
      </p:cViewPr>
      <p:guideLst>
        <p:guide orient="horz" pos="2160"/>
        <p:guide pos="2880"/>
      </p:guideLst>
    </p:cSldViewPr>
  </p:slideViewPr>
  <p:outlineViewPr>
    <p:cViewPr>
      <p:scale>
        <a:sx n="25" d="100"/>
        <a:sy n="25"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1746" y="-78"/>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s>
</file>

<file path=ppt/_rels/viewProps.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defRPr sz="1200" b="0">
                <a:latin typeface="Arial Narrow" pitchFamily="34" charset="0"/>
              </a:defRPr>
            </a:lvl1pPr>
          </a:lstStyle>
          <a:p>
            <a:endParaRPr lang="en-US"/>
          </a:p>
        </p:txBody>
      </p:sp>
      <p:sp>
        <p:nvSpPr>
          <p:cNvPr id="23555"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b="0">
                <a:latin typeface="Arial Narrow" pitchFamily="34" charset="0"/>
              </a:defRPr>
            </a:lvl1pPr>
          </a:lstStyle>
          <a:p>
            <a:endParaRPr lang="en-US"/>
          </a:p>
        </p:txBody>
      </p:sp>
      <p:sp>
        <p:nvSpPr>
          <p:cNvPr id="23556"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defRPr sz="1200" b="0">
                <a:latin typeface="Arial Narrow" pitchFamily="34" charset="0"/>
              </a:defRPr>
            </a:lvl1pPr>
          </a:lstStyle>
          <a:p>
            <a:endParaRPr lang="en-US"/>
          </a:p>
        </p:txBody>
      </p:sp>
      <p:sp>
        <p:nvSpPr>
          <p:cNvPr id="23557"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b="0">
                <a:latin typeface="Arial Narrow" pitchFamily="34" charset="0"/>
              </a:defRPr>
            </a:lvl1pPr>
          </a:lstStyle>
          <a:p>
            <a:fld id="{D3C34B41-F689-4D7D-8054-F535C4AAE24A}"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defRPr sz="1200" b="0">
                <a:latin typeface="Arial Narrow" pitchFamily="34" charset="0"/>
              </a:defRPr>
            </a:lvl1pPr>
          </a:lstStyle>
          <a:p>
            <a:endParaRPr lang="en-US"/>
          </a:p>
        </p:txBody>
      </p:sp>
      <p:sp>
        <p:nvSpPr>
          <p:cNvPr id="7171" name="Rectangle 3"/>
          <p:cNvSpPr>
            <a:spLocks noGrp="1" noChangeArrowheads="1"/>
          </p:cNvSpPr>
          <p:nvPr>
            <p:ph type="dt" idx="1"/>
          </p:nvPr>
        </p:nvSpPr>
        <p:spPr bwMode="auto">
          <a:xfrm>
            <a:off x="3971925"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b="0">
                <a:latin typeface="Arial Narrow" pitchFamily="34" charset="0"/>
              </a:defRPr>
            </a:lvl1pPr>
          </a:lstStyle>
          <a:p>
            <a:endParaRPr lang="en-US"/>
          </a:p>
        </p:txBody>
      </p:sp>
      <p:sp>
        <p:nvSpPr>
          <p:cNvPr id="717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p:spPr>
      </p:sp>
      <p:sp>
        <p:nvSpPr>
          <p:cNvPr id="7173" name="Rectangle 5"/>
          <p:cNvSpPr>
            <a:spLocks noGrp="1" noChangeArrowheads="1"/>
          </p:cNvSpPr>
          <p:nvPr>
            <p:ph type="body" sz="quarter" idx="3"/>
          </p:nvPr>
        </p:nvSpPr>
        <p:spPr bwMode="auto">
          <a:xfrm>
            <a:off x="935038" y="4416425"/>
            <a:ext cx="5140325"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174" name="Rectangle 6"/>
          <p:cNvSpPr>
            <a:spLocks noGrp="1" noChangeArrowheads="1"/>
          </p:cNvSpPr>
          <p:nvPr>
            <p:ph type="ftr" sz="quarter" idx="4"/>
          </p:nvPr>
        </p:nvSpPr>
        <p:spPr bwMode="auto">
          <a:xfrm>
            <a:off x="0"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defRPr sz="1200" b="0">
                <a:latin typeface="Arial Narrow" pitchFamily="34" charset="0"/>
              </a:defRPr>
            </a:lvl1pPr>
          </a:lstStyle>
          <a:p>
            <a:endParaRPr lang="en-US"/>
          </a:p>
        </p:txBody>
      </p:sp>
      <p:sp>
        <p:nvSpPr>
          <p:cNvPr id="7175" name="Rectangle 7"/>
          <p:cNvSpPr>
            <a:spLocks noGrp="1" noChangeArrowheads="1"/>
          </p:cNvSpPr>
          <p:nvPr>
            <p:ph type="sldNum" sz="quarter" idx="5"/>
          </p:nvPr>
        </p:nvSpPr>
        <p:spPr bwMode="auto">
          <a:xfrm>
            <a:off x="3971925"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b="0">
                <a:latin typeface="Arial Narrow" pitchFamily="34" charset="0"/>
              </a:defRPr>
            </a:lvl1pPr>
          </a:lstStyle>
          <a:p>
            <a:fld id="{2AD8EAAB-EBB1-4799-9628-6F73256398AD}"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FE8A1F-ABEC-4984-BD78-EBE9490181AD}" type="slidenum">
              <a:rPr lang="en-US"/>
              <a:pPr/>
              <a:t>1</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39C2C6-99A5-4B18-AB84-F56E52FA099F}" type="slidenum">
              <a:rPr lang="en-US"/>
              <a:pPr/>
              <a:t>2</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21F4CC-B377-4A43-9584-1E3F39889AB9}" type="slidenum">
              <a:rPr lang="en-US"/>
              <a:pPr/>
              <a:t>3</a:t>
            </a:fld>
            <a:endParaRPr 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BBF412-45C9-4DF1-BBA0-BE0644A1CCB1}" type="slidenum">
              <a:rPr lang="en-US"/>
              <a:pPr/>
              <a:t>4</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3BDFFF-B62C-44BB-9339-B297565BC0CE}" type="slidenum">
              <a:rPr lang="en-US"/>
              <a:pPr/>
              <a:t>5</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AB1EBC-7C73-40A0-A0B1-41C81282F50A}" type="slidenum">
              <a:rPr lang="en-US"/>
              <a:pPr/>
              <a:t>7</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441380-97B2-4610-9067-6A7FFB868B26}" type="slidenum">
              <a:rPr lang="en-US"/>
              <a:pPr/>
              <a:t>8</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B2C40F-317B-4C5C-B1CF-5E3B9A37953F}" type="slidenum">
              <a:rPr lang="en-US"/>
              <a:pPr/>
              <a:t>9</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6AD32D-C313-4499-904C-FE5C8012B47F}" type="slidenum">
              <a:rPr lang="en-US"/>
              <a:pPr/>
              <a:t>10</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24BBD5-49CC-4BC3-923C-953AE5C04A75}" type="slidenum">
              <a:rPr lang="en-US"/>
              <a:pPr/>
              <a:t>11</a:t>
            </a:fld>
            <a:endParaRPr 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B0861A-C383-4502-A58A-81DC17BFD1A4}" type="slidenum">
              <a:rPr lang="en-US"/>
              <a:pPr/>
              <a:t>12</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DAC72B-E21F-41AB-B005-42FF590514CC}" type="slidenum">
              <a:rPr lang="en-US"/>
              <a:pPr/>
              <a:t>13</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lvl1pPr>
              <a:defRPr b="1">
                <a:solidFill>
                  <a:schemeClr val="tx1"/>
                </a:solidFill>
              </a:defRPr>
            </a:lvl1p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12/28/2014</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12/28/2014</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12/28/2014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12/28/2014</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387927" y="2722747"/>
            <a:ext cx="8368146" cy="3345543"/>
          </a:xfrm>
          <a:noFill/>
          <a:ln/>
        </p:spPr>
        <p:txBody>
          <a:bodyPr lIns="90488" tIns="44450" rIns="90488" bIns="44450"/>
          <a:lstStyle/>
          <a:p>
            <a:pPr algn="ctr">
              <a:lnSpc>
                <a:spcPct val="95000"/>
              </a:lnSpc>
            </a:pPr>
            <a:r>
              <a:rPr lang="en-US" sz="5000" dirty="0" err="1" smtClean="0">
                <a:solidFill>
                  <a:schemeClr val="tx1"/>
                </a:solidFill>
                <a:latin typeface="Times New Roman" pitchFamily="18" charset="0"/>
              </a:rPr>
              <a:t>Chapitre</a:t>
            </a:r>
            <a:r>
              <a:rPr lang="en-US" sz="5000" dirty="0" smtClean="0">
                <a:solidFill>
                  <a:schemeClr val="tx1"/>
                </a:solidFill>
                <a:latin typeface="Times New Roman" pitchFamily="18" charset="0"/>
              </a:rPr>
              <a:t> </a:t>
            </a:r>
            <a:r>
              <a:rPr lang="en-US" sz="5000" dirty="0">
                <a:solidFill>
                  <a:schemeClr val="tx1"/>
                </a:solidFill>
                <a:latin typeface="Times New Roman" pitchFamily="18" charset="0"/>
              </a:rPr>
              <a:t>11 </a:t>
            </a:r>
            <a:r>
              <a:rPr lang="en-US" sz="5000" dirty="0" smtClean="0">
                <a:solidFill>
                  <a:schemeClr val="tx1"/>
                </a:solidFill>
                <a:latin typeface="Times New Roman" pitchFamily="18" charset="0"/>
              </a:rPr>
              <a:t/>
            </a:r>
            <a:br>
              <a:rPr lang="en-US" sz="5000" dirty="0" smtClean="0">
                <a:solidFill>
                  <a:schemeClr val="tx1"/>
                </a:solidFill>
                <a:latin typeface="Times New Roman" pitchFamily="18" charset="0"/>
              </a:rPr>
            </a:br>
            <a:r>
              <a:rPr lang="fr-FR" sz="5000" dirty="0" smtClean="0">
                <a:solidFill>
                  <a:schemeClr val="tx1"/>
                </a:solidFill>
                <a:latin typeface="Times New Roman" pitchFamily="18" charset="0"/>
                <a:cs typeface="Times New Roman" pitchFamily="18" charset="0"/>
              </a:rPr>
              <a:t>Configuration </a:t>
            </a:r>
            <a:r>
              <a:rPr lang="fr-FR" sz="5000" dirty="0">
                <a:solidFill>
                  <a:schemeClr val="tx1"/>
                </a:solidFill>
                <a:latin typeface="Times New Roman" pitchFamily="18" charset="0"/>
                <a:cs typeface="Times New Roman" pitchFamily="18" charset="0"/>
              </a:rPr>
              <a:t>de Windows XP Professionnel pour l'informatique mobile</a:t>
            </a:r>
            <a:r>
              <a:rPr lang="fr-FR" sz="5000" dirty="0">
                <a:solidFill>
                  <a:schemeClr val="tx1"/>
                </a:solidFill>
                <a:latin typeface="Times New Roman" pitchFamily="18" charset="0"/>
              </a:rPr>
              <a:t> </a:t>
            </a:r>
            <a:endParaRPr lang="en-US" sz="5000" dirty="0">
              <a:solidFill>
                <a:schemeClr val="tx1"/>
              </a:solidFill>
              <a:latin typeface="Times New Roman" pitchFamily="18" charset="0"/>
            </a:endParaRPr>
          </a:p>
        </p:txBody>
      </p:sp>
      <p:sp>
        <p:nvSpPr>
          <p:cNvPr id="3" name="ZoneTexte 2"/>
          <p:cNvSpPr txBox="1"/>
          <p:nvPr/>
        </p:nvSpPr>
        <p:spPr>
          <a:xfrm>
            <a:off x="2859314" y="624114"/>
            <a:ext cx="3802743" cy="830997"/>
          </a:xfrm>
          <a:prstGeom prst="rect">
            <a:avLst/>
          </a:prstGeom>
          <a:noFill/>
        </p:spPr>
        <p:txBody>
          <a:bodyPr wrap="square" rtlCol="0">
            <a:spAutoFit/>
          </a:bodyPr>
          <a:lstStyle/>
          <a:p>
            <a:r>
              <a:rPr lang="fr-FR" sz="4800" dirty="0" smtClean="0"/>
              <a:t>Module S41</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8" name="Rectangle 6"/>
          <p:cNvSpPr>
            <a:spLocks noGrp="1" noChangeArrowheads="1"/>
          </p:cNvSpPr>
          <p:nvPr>
            <p:ph type="title"/>
          </p:nvPr>
        </p:nvSpPr>
        <p:spPr/>
        <p:txBody>
          <a:bodyPr/>
          <a:lstStyle/>
          <a:p>
            <a:r>
              <a:rPr lang="en-US" dirty="0" smtClean="0"/>
              <a:t>Plan du </a:t>
            </a:r>
            <a:r>
              <a:rPr lang="en-US" dirty="0" err="1" smtClean="0"/>
              <a:t>cours</a:t>
            </a:r>
            <a:endParaRPr lang="en-US" dirty="0"/>
          </a:p>
        </p:txBody>
      </p:sp>
      <p:sp>
        <p:nvSpPr>
          <p:cNvPr id="90119" name="Rectangle 7"/>
          <p:cNvSpPr>
            <a:spLocks noGrp="1" noChangeArrowheads="1"/>
          </p:cNvSpPr>
          <p:nvPr>
            <p:ph sz="quarter" idx="1"/>
          </p:nvPr>
        </p:nvSpPr>
        <p:spPr>
          <a:xfrm>
            <a:off x="272723" y="2035048"/>
            <a:ext cx="8503920" cy="3175581"/>
          </a:xfrm>
        </p:spPr>
        <p:txBody>
          <a:bodyPr/>
          <a:lstStyle/>
          <a:p>
            <a:pPr marL="514350" indent="-514350">
              <a:buClrTx/>
              <a:buFont typeface="+mj-lt"/>
              <a:buAutoNum type="arabicPeriod"/>
            </a:pPr>
            <a:r>
              <a:rPr lang="fr-FR" dirty="0">
                <a:cs typeface="Times New Roman" pitchFamily="18" charset="0"/>
              </a:rPr>
              <a:t>Configuration de matériel pour l'informatique mobile</a:t>
            </a:r>
            <a:r>
              <a:rPr lang="fr-FR" dirty="0"/>
              <a:t> </a:t>
            </a:r>
            <a:endParaRPr lang="en-US" dirty="0"/>
          </a:p>
          <a:p>
            <a:pPr marL="514350" indent="-514350">
              <a:buClrTx/>
              <a:buFont typeface="+mj-lt"/>
              <a:buAutoNum type="arabicPeriod"/>
            </a:pPr>
            <a:r>
              <a:rPr lang="fr-FR" dirty="0">
                <a:cs typeface="Times New Roman" pitchFamily="18" charset="0"/>
              </a:rPr>
              <a:t>Configuration des options de gestion de l'alimentation pour l'informatique mobile</a:t>
            </a:r>
            <a:r>
              <a:rPr lang="fr-FR" dirty="0"/>
              <a:t> </a:t>
            </a:r>
            <a:endParaRPr lang="en-US" dirty="0"/>
          </a:p>
          <a:p>
            <a:pPr marL="514350" indent="-514350">
              <a:buClrTx/>
              <a:buFont typeface="+mj-lt"/>
              <a:buAutoNum type="arabicPeriod"/>
            </a:pPr>
            <a:r>
              <a:rPr lang="fr-FR" dirty="0">
                <a:cs typeface="Times New Roman" pitchFamily="18" charset="0"/>
              </a:rPr>
              <a:t>Mise à disposition des fichiers, dossiers et </a:t>
            </a:r>
            <a:br>
              <a:rPr lang="fr-FR" dirty="0">
                <a:cs typeface="Times New Roman" pitchFamily="18" charset="0"/>
              </a:rPr>
            </a:br>
            <a:r>
              <a:rPr lang="fr-FR" dirty="0">
                <a:cs typeface="Times New Roman" pitchFamily="18" charset="0"/>
              </a:rPr>
              <a:t>pages Web pour une utilisation hors connexion</a:t>
            </a:r>
            <a:r>
              <a:rPr lang="fr-FR" dirty="0"/>
              <a:t> </a:t>
            </a: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title"/>
          </p:nvPr>
        </p:nvSpPr>
        <p:spPr>
          <a:xfrm>
            <a:off x="-1" y="228600"/>
            <a:ext cx="8977745" cy="758952"/>
          </a:xfrm>
          <a:noFill/>
          <a:ln/>
        </p:spPr>
        <p:txBody>
          <a:bodyPr>
            <a:normAutofit fontScale="90000"/>
          </a:bodyPr>
          <a:lstStyle/>
          <a:p>
            <a:r>
              <a:rPr lang="fr-FR" dirty="0" smtClean="0">
                <a:cs typeface="Times New Roman" pitchFamily="18" charset="0"/>
              </a:rPr>
              <a:t>1. Configuration </a:t>
            </a:r>
            <a:r>
              <a:rPr lang="fr-FR" dirty="0">
                <a:cs typeface="Times New Roman" pitchFamily="18" charset="0"/>
              </a:rPr>
              <a:t>de matériel pour l'informatique mobile</a:t>
            </a:r>
            <a:endParaRPr lang="en-US" dirty="0">
              <a:cs typeface="Times New Roman" pitchFamily="18" charset="0"/>
            </a:endParaRPr>
          </a:p>
        </p:txBody>
      </p:sp>
      <p:grpSp>
        <p:nvGrpSpPr>
          <p:cNvPr id="92164" name="Group 4"/>
          <p:cNvGrpSpPr>
            <a:grpSpLocks/>
          </p:cNvGrpSpPr>
          <p:nvPr/>
        </p:nvGrpSpPr>
        <p:grpSpPr bwMode="auto">
          <a:xfrm>
            <a:off x="128143" y="1193800"/>
            <a:ext cx="3740150" cy="2795588"/>
            <a:chOff x="314" y="791"/>
            <a:chExt cx="2356" cy="1761"/>
          </a:xfrm>
        </p:grpSpPr>
        <p:sp>
          <p:nvSpPr>
            <p:cNvPr id="92165" name="Rectangle 5"/>
            <p:cNvSpPr>
              <a:spLocks noChangeArrowheads="1"/>
            </p:cNvSpPr>
            <p:nvPr/>
          </p:nvSpPr>
          <p:spPr bwMode="auto">
            <a:xfrm flipH="1">
              <a:off x="314" y="791"/>
              <a:ext cx="2356" cy="1761"/>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8100000" algn="ctr" rotWithShape="0">
                <a:srgbClr val="C0C0C0"/>
              </a:outerShdw>
            </a:effectLst>
          </p:spPr>
          <p:txBody>
            <a:bodyPr tIns="27432" bIns="27432"/>
            <a:lstStyle/>
            <a:p>
              <a:r>
                <a:rPr lang="en-US"/>
                <a:t>Station d'accueil</a:t>
              </a:r>
            </a:p>
          </p:txBody>
        </p:sp>
        <p:grpSp>
          <p:nvGrpSpPr>
            <p:cNvPr id="92166" name="Group 6"/>
            <p:cNvGrpSpPr>
              <a:grpSpLocks/>
            </p:cNvGrpSpPr>
            <p:nvPr/>
          </p:nvGrpSpPr>
          <p:grpSpPr bwMode="auto">
            <a:xfrm>
              <a:off x="607" y="1057"/>
              <a:ext cx="2030" cy="1398"/>
              <a:chOff x="1562" y="1140"/>
              <a:chExt cx="2273" cy="1565"/>
            </a:xfrm>
          </p:grpSpPr>
          <p:sp>
            <p:nvSpPr>
              <p:cNvPr id="92167" name="Freeform 7"/>
              <p:cNvSpPr>
                <a:spLocks/>
              </p:cNvSpPr>
              <p:nvPr/>
            </p:nvSpPr>
            <p:spPr bwMode="auto">
              <a:xfrm>
                <a:off x="2312" y="1940"/>
                <a:ext cx="1523" cy="630"/>
              </a:xfrm>
              <a:custGeom>
                <a:avLst/>
                <a:gdLst/>
                <a:ahLst/>
                <a:cxnLst>
                  <a:cxn ang="0">
                    <a:pos x="0" y="559"/>
                  </a:cxn>
                  <a:cxn ang="0">
                    <a:pos x="347" y="588"/>
                  </a:cxn>
                  <a:cxn ang="0">
                    <a:pos x="884" y="569"/>
                  </a:cxn>
                  <a:cxn ang="0">
                    <a:pos x="931" y="525"/>
                  </a:cxn>
                  <a:cxn ang="0">
                    <a:pos x="939" y="390"/>
                  </a:cxn>
                  <a:cxn ang="0">
                    <a:pos x="1050" y="309"/>
                  </a:cxn>
                  <a:cxn ang="0">
                    <a:pos x="1350" y="323"/>
                  </a:cxn>
                  <a:cxn ang="0">
                    <a:pos x="1476" y="250"/>
                  </a:cxn>
                  <a:cxn ang="0">
                    <a:pos x="1507" y="202"/>
                  </a:cxn>
                  <a:cxn ang="0">
                    <a:pos x="1484" y="106"/>
                  </a:cxn>
                  <a:cxn ang="0">
                    <a:pos x="1302" y="9"/>
                  </a:cxn>
                  <a:cxn ang="0">
                    <a:pos x="955" y="49"/>
                  </a:cxn>
                </a:cxnLst>
                <a:rect l="0" t="0" r="r" b="b"/>
                <a:pathLst>
                  <a:path w="1523" h="630">
                    <a:moveTo>
                      <a:pt x="0" y="559"/>
                    </a:moveTo>
                    <a:cubicBezTo>
                      <a:pt x="123" y="563"/>
                      <a:pt x="228" y="574"/>
                      <a:pt x="347" y="588"/>
                    </a:cubicBezTo>
                    <a:cubicBezTo>
                      <a:pt x="477" y="587"/>
                      <a:pt x="735" y="630"/>
                      <a:pt x="884" y="569"/>
                    </a:cubicBezTo>
                    <a:cubicBezTo>
                      <a:pt x="921" y="535"/>
                      <a:pt x="906" y="550"/>
                      <a:pt x="931" y="525"/>
                    </a:cubicBezTo>
                    <a:cubicBezTo>
                      <a:pt x="934" y="480"/>
                      <a:pt x="929" y="435"/>
                      <a:pt x="939" y="390"/>
                    </a:cubicBezTo>
                    <a:cubicBezTo>
                      <a:pt x="943" y="371"/>
                      <a:pt x="1029" y="314"/>
                      <a:pt x="1050" y="309"/>
                    </a:cubicBezTo>
                    <a:cubicBezTo>
                      <a:pt x="1155" y="285"/>
                      <a:pt x="1240" y="337"/>
                      <a:pt x="1350" y="323"/>
                    </a:cubicBezTo>
                    <a:cubicBezTo>
                      <a:pt x="1413" y="294"/>
                      <a:pt x="1431" y="287"/>
                      <a:pt x="1476" y="250"/>
                    </a:cubicBezTo>
                    <a:cubicBezTo>
                      <a:pt x="1485" y="234"/>
                      <a:pt x="1498" y="219"/>
                      <a:pt x="1507" y="202"/>
                    </a:cubicBezTo>
                    <a:cubicBezTo>
                      <a:pt x="1503" y="156"/>
                      <a:pt x="1523" y="135"/>
                      <a:pt x="1484" y="106"/>
                    </a:cubicBezTo>
                    <a:cubicBezTo>
                      <a:pt x="1450" y="74"/>
                      <a:pt x="1390" y="18"/>
                      <a:pt x="1302" y="9"/>
                    </a:cubicBezTo>
                    <a:cubicBezTo>
                      <a:pt x="1214" y="0"/>
                      <a:pt x="1027" y="41"/>
                      <a:pt x="955" y="49"/>
                    </a:cubicBezTo>
                  </a:path>
                </a:pathLst>
              </a:custGeom>
              <a:noFill/>
              <a:ln w="38100" cmpd="sng">
                <a:solidFill>
                  <a:srgbClr val="808080"/>
                </a:solidFill>
                <a:round/>
                <a:headEnd/>
                <a:tailEnd/>
              </a:ln>
              <a:effectLst/>
            </p:spPr>
            <p:txBody>
              <a:bodyPr/>
              <a:lstStyle/>
              <a:p>
                <a:endParaRPr lang="fr-FR"/>
              </a:p>
            </p:txBody>
          </p:sp>
          <p:grpSp>
            <p:nvGrpSpPr>
              <p:cNvPr id="92168" name="Group 8"/>
              <p:cNvGrpSpPr>
                <a:grpSpLocks/>
              </p:cNvGrpSpPr>
              <p:nvPr/>
            </p:nvGrpSpPr>
            <p:grpSpPr bwMode="auto">
              <a:xfrm>
                <a:off x="1562" y="1140"/>
                <a:ext cx="1811" cy="1565"/>
                <a:chOff x="584" y="1338"/>
                <a:chExt cx="1811" cy="1565"/>
              </a:xfrm>
            </p:grpSpPr>
            <p:grpSp>
              <p:nvGrpSpPr>
                <p:cNvPr id="92169" name="Group 9"/>
                <p:cNvGrpSpPr>
                  <a:grpSpLocks/>
                </p:cNvGrpSpPr>
                <p:nvPr/>
              </p:nvGrpSpPr>
              <p:grpSpPr bwMode="auto">
                <a:xfrm>
                  <a:off x="584" y="2419"/>
                  <a:ext cx="1156" cy="484"/>
                  <a:chOff x="1585" y="1673"/>
                  <a:chExt cx="709" cy="297"/>
                </a:xfrm>
              </p:grpSpPr>
              <p:sp>
                <p:nvSpPr>
                  <p:cNvPr id="92170" name="Freeform 10"/>
                  <p:cNvSpPr>
                    <a:spLocks/>
                  </p:cNvSpPr>
                  <p:nvPr/>
                </p:nvSpPr>
                <p:spPr bwMode="auto">
                  <a:xfrm>
                    <a:off x="1585" y="1673"/>
                    <a:ext cx="709" cy="297"/>
                  </a:xfrm>
                  <a:custGeom>
                    <a:avLst/>
                    <a:gdLst/>
                    <a:ahLst/>
                    <a:cxnLst>
                      <a:cxn ang="0">
                        <a:pos x="872" y="178"/>
                      </a:cxn>
                      <a:cxn ang="0">
                        <a:pos x="872" y="246"/>
                      </a:cxn>
                      <a:cxn ang="0">
                        <a:pos x="682" y="366"/>
                      </a:cxn>
                      <a:cxn ang="0">
                        <a:pos x="0" y="170"/>
                      </a:cxn>
                      <a:cxn ang="0">
                        <a:pos x="0" y="142"/>
                      </a:cxn>
                      <a:cxn ang="0">
                        <a:pos x="230" y="0"/>
                      </a:cxn>
                      <a:cxn ang="0">
                        <a:pos x="872" y="178"/>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92171" name="Freeform 11"/>
                  <p:cNvSpPr>
                    <a:spLocks/>
                  </p:cNvSpPr>
                  <p:nvPr/>
                </p:nvSpPr>
                <p:spPr bwMode="auto">
                  <a:xfrm>
                    <a:off x="1596" y="1679"/>
                    <a:ext cx="690" cy="264"/>
                  </a:xfrm>
                  <a:custGeom>
                    <a:avLst/>
                    <a:gdLst/>
                    <a:ahLst/>
                    <a:cxnLst>
                      <a:cxn ang="0">
                        <a:pos x="848" y="174"/>
                      </a:cxn>
                      <a:cxn ang="0">
                        <a:pos x="216" y="0"/>
                      </a:cxn>
                      <a:cxn ang="0">
                        <a:pos x="0" y="134"/>
                      </a:cxn>
                      <a:cxn ang="0">
                        <a:pos x="666" y="324"/>
                      </a:cxn>
                      <a:cxn ang="0">
                        <a:pos x="848" y="174"/>
                      </a:cxn>
                    </a:cxnLst>
                    <a:rect l="0" t="0" r="r" b="b"/>
                    <a:pathLst>
                      <a:path w="848" h="324">
                        <a:moveTo>
                          <a:pt x="848" y="174"/>
                        </a:moveTo>
                        <a:lnTo>
                          <a:pt x="216" y="0"/>
                        </a:lnTo>
                        <a:lnTo>
                          <a:pt x="0" y="134"/>
                        </a:lnTo>
                        <a:lnTo>
                          <a:pt x="666" y="324"/>
                        </a:lnTo>
                        <a:lnTo>
                          <a:pt x="848" y="174"/>
                        </a:lnTo>
                        <a:close/>
                      </a:path>
                    </a:pathLst>
                  </a:custGeom>
                  <a:solidFill>
                    <a:schemeClr val="bg1"/>
                  </a:solidFill>
                  <a:ln w="3175" cap="flat" cmpd="sng">
                    <a:noFill/>
                    <a:prstDash val="solid"/>
                    <a:round/>
                    <a:headEnd type="none" w="med" len="med"/>
                    <a:tailEnd type="none" w="med" len="med"/>
                  </a:ln>
                  <a:effectLst/>
                </p:spPr>
                <p:txBody>
                  <a:bodyPr wrap="none" tIns="27432" bIns="27432" anchor="ctr">
                    <a:spAutoFit/>
                  </a:bodyPr>
                  <a:lstStyle/>
                  <a:p>
                    <a:endParaRPr lang="fr-FR"/>
                  </a:p>
                </p:txBody>
              </p:sp>
              <p:sp>
                <p:nvSpPr>
                  <p:cNvPr id="92172" name="Freeform 12"/>
                  <p:cNvSpPr>
                    <a:spLocks/>
                  </p:cNvSpPr>
                  <p:nvPr/>
                </p:nvSpPr>
                <p:spPr bwMode="auto">
                  <a:xfrm>
                    <a:off x="1766" y="1694"/>
                    <a:ext cx="388" cy="112"/>
                  </a:xfrm>
                  <a:custGeom>
                    <a:avLst/>
                    <a:gdLst/>
                    <a:ahLst/>
                    <a:cxnLst>
                      <a:cxn ang="0">
                        <a:pos x="0" y="12"/>
                      </a:cxn>
                      <a:cxn ang="0">
                        <a:pos x="456" y="138"/>
                      </a:cxn>
                      <a:cxn ang="0">
                        <a:pos x="477" y="125"/>
                      </a:cxn>
                      <a:cxn ang="0">
                        <a:pos x="20" y="0"/>
                      </a:cxn>
                    </a:cxnLst>
                    <a:rect l="0" t="0" r="r" b="b"/>
                    <a:pathLst>
                      <a:path w="477" h="138">
                        <a:moveTo>
                          <a:pt x="0" y="12"/>
                        </a:moveTo>
                        <a:lnTo>
                          <a:pt x="456" y="138"/>
                        </a:lnTo>
                        <a:lnTo>
                          <a:pt x="477" y="125"/>
                        </a:lnTo>
                        <a:lnTo>
                          <a:pt x="20"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92173" name="Freeform 13"/>
                  <p:cNvSpPr>
                    <a:spLocks/>
                  </p:cNvSpPr>
                  <p:nvPr/>
                </p:nvSpPr>
                <p:spPr bwMode="auto">
                  <a:xfrm>
                    <a:off x="1654" y="1717"/>
                    <a:ext cx="404" cy="143"/>
                  </a:xfrm>
                  <a:custGeom>
                    <a:avLst/>
                    <a:gdLst/>
                    <a:ahLst/>
                    <a:cxnLst>
                      <a:cxn ang="0">
                        <a:pos x="0" y="66"/>
                      </a:cxn>
                      <a:cxn ang="0">
                        <a:pos x="21" y="73"/>
                      </a:cxn>
                      <a:cxn ang="0">
                        <a:pos x="45" y="61"/>
                      </a:cxn>
                      <a:cxn ang="0">
                        <a:pos x="60" y="66"/>
                      </a:cxn>
                      <a:cxn ang="0">
                        <a:pos x="45" y="80"/>
                      </a:cxn>
                      <a:cxn ang="0">
                        <a:pos x="344" y="163"/>
                      </a:cxn>
                      <a:cxn ang="0">
                        <a:pos x="360" y="151"/>
                      </a:cxn>
                      <a:cxn ang="0">
                        <a:pos x="386" y="158"/>
                      </a:cxn>
                      <a:cxn ang="0">
                        <a:pos x="370" y="170"/>
                      </a:cxn>
                      <a:cxn ang="0">
                        <a:pos x="396" y="177"/>
                      </a:cxn>
                      <a:cxn ang="0">
                        <a:pos x="496" y="106"/>
                      </a:cxn>
                      <a:cxn ang="0">
                        <a:pos x="111" y="0"/>
                      </a:cxn>
                    </a:cxnLst>
                    <a:rect l="0" t="0" r="r" b="b"/>
                    <a:pathLst>
                      <a:path w="496" h="177">
                        <a:moveTo>
                          <a:pt x="0" y="66"/>
                        </a:moveTo>
                        <a:lnTo>
                          <a:pt x="21" y="73"/>
                        </a:lnTo>
                        <a:lnTo>
                          <a:pt x="45" y="61"/>
                        </a:lnTo>
                        <a:lnTo>
                          <a:pt x="60" y="66"/>
                        </a:lnTo>
                        <a:lnTo>
                          <a:pt x="45" y="80"/>
                        </a:lnTo>
                        <a:lnTo>
                          <a:pt x="344" y="163"/>
                        </a:lnTo>
                        <a:lnTo>
                          <a:pt x="360" y="151"/>
                        </a:lnTo>
                        <a:lnTo>
                          <a:pt x="386" y="158"/>
                        </a:lnTo>
                        <a:lnTo>
                          <a:pt x="370" y="170"/>
                        </a:lnTo>
                        <a:lnTo>
                          <a:pt x="396" y="177"/>
                        </a:lnTo>
                        <a:lnTo>
                          <a:pt x="496" y="106"/>
                        </a:lnTo>
                        <a:lnTo>
                          <a:pt x="111"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92174" name="Freeform 14"/>
                  <p:cNvSpPr>
                    <a:spLocks/>
                  </p:cNvSpPr>
                  <p:nvPr/>
                </p:nvSpPr>
                <p:spPr bwMode="auto">
                  <a:xfrm>
                    <a:off x="2044" y="1810"/>
                    <a:ext cx="88" cy="35"/>
                  </a:xfrm>
                  <a:custGeom>
                    <a:avLst/>
                    <a:gdLst/>
                    <a:ahLst/>
                    <a:cxnLst>
                      <a:cxn ang="0">
                        <a:pos x="40" y="0"/>
                      </a:cxn>
                      <a:cxn ang="0">
                        <a:pos x="107" y="17"/>
                      </a:cxn>
                      <a:cxn ang="0">
                        <a:pos x="69" y="43"/>
                      </a:cxn>
                      <a:cxn ang="0">
                        <a:pos x="0" y="25"/>
                      </a:cxn>
                      <a:cxn ang="0">
                        <a:pos x="40" y="0"/>
                      </a:cxn>
                    </a:cxnLst>
                    <a:rect l="0" t="0" r="r" b="b"/>
                    <a:pathLst>
                      <a:path w="108" h="44">
                        <a:moveTo>
                          <a:pt x="40" y="0"/>
                        </a:moveTo>
                        <a:lnTo>
                          <a:pt x="107" y="17"/>
                        </a:lnTo>
                        <a:lnTo>
                          <a:pt x="69" y="43"/>
                        </a:lnTo>
                        <a:lnTo>
                          <a:pt x="0" y="25"/>
                        </a:lnTo>
                        <a:lnTo>
                          <a:pt x="40"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92175" name="Freeform 15"/>
                  <p:cNvSpPr>
                    <a:spLocks/>
                  </p:cNvSpPr>
                  <p:nvPr/>
                </p:nvSpPr>
                <p:spPr bwMode="auto">
                  <a:xfrm>
                    <a:off x="1994" y="1848"/>
                    <a:ext cx="79" cy="34"/>
                  </a:xfrm>
                  <a:custGeom>
                    <a:avLst/>
                    <a:gdLst/>
                    <a:ahLst/>
                    <a:cxnLst>
                      <a:cxn ang="0">
                        <a:pos x="21" y="7"/>
                      </a:cxn>
                      <a:cxn ang="0">
                        <a:pos x="46" y="11"/>
                      </a:cxn>
                      <a:cxn ang="0">
                        <a:pos x="60" y="0"/>
                      </a:cxn>
                      <a:cxn ang="0">
                        <a:pos x="84" y="8"/>
                      </a:cxn>
                      <a:cxn ang="0">
                        <a:pos x="72" y="19"/>
                      </a:cxn>
                      <a:cxn ang="0">
                        <a:pos x="96" y="25"/>
                      </a:cxn>
                      <a:cxn ang="0">
                        <a:pos x="77" y="41"/>
                      </a:cxn>
                      <a:cxn ang="0">
                        <a:pos x="0" y="21"/>
                      </a:cxn>
                      <a:cxn ang="0">
                        <a:pos x="21" y="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92176" name="Freeform 16"/>
                  <p:cNvSpPr>
                    <a:spLocks/>
                  </p:cNvSpPr>
                  <p:nvPr/>
                </p:nvSpPr>
                <p:spPr bwMode="auto">
                  <a:xfrm>
                    <a:off x="2073" y="1825"/>
                    <a:ext cx="150" cy="80"/>
                  </a:xfrm>
                  <a:custGeom>
                    <a:avLst/>
                    <a:gdLst/>
                    <a:ahLst/>
                    <a:cxnLst>
                      <a:cxn ang="0">
                        <a:pos x="101" y="0"/>
                      </a:cxn>
                      <a:cxn ang="0">
                        <a:pos x="185" y="22"/>
                      </a:cxn>
                      <a:cxn ang="0">
                        <a:pos x="83" y="97"/>
                      </a:cxn>
                      <a:cxn ang="0">
                        <a:pos x="0" y="74"/>
                      </a:cxn>
                      <a:cxn ang="0">
                        <a:pos x="101" y="0"/>
                      </a:cxn>
                    </a:cxnLst>
                    <a:rect l="0" t="0" r="r" b="b"/>
                    <a:pathLst>
                      <a:path w="185" h="97">
                        <a:moveTo>
                          <a:pt x="101" y="0"/>
                        </a:moveTo>
                        <a:lnTo>
                          <a:pt x="185" y="22"/>
                        </a:lnTo>
                        <a:lnTo>
                          <a:pt x="83" y="97"/>
                        </a:lnTo>
                        <a:lnTo>
                          <a:pt x="0" y="74"/>
                        </a:lnTo>
                        <a:lnTo>
                          <a:pt x="101"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grpSp>
            <p:grpSp>
              <p:nvGrpSpPr>
                <p:cNvPr id="92177" name="Group 17"/>
                <p:cNvGrpSpPr>
                  <a:grpSpLocks/>
                </p:cNvGrpSpPr>
                <p:nvPr/>
              </p:nvGrpSpPr>
              <p:grpSpPr bwMode="auto">
                <a:xfrm>
                  <a:off x="1169" y="1936"/>
                  <a:ext cx="1226" cy="661"/>
                  <a:chOff x="2763" y="1786"/>
                  <a:chExt cx="1833" cy="989"/>
                </a:xfrm>
              </p:grpSpPr>
              <p:sp>
                <p:nvSpPr>
                  <p:cNvPr id="92178" name="Freeform 18"/>
                  <p:cNvSpPr>
                    <a:spLocks noChangeAspect="1"/>
                  </p:cNvSpPr>
                  <p:nvPr/>
                </p:nvSpPr>
                <p:spPr bwMode="auto">
                  <a:xfrm>
                    <a:off x="3976" y="2037"/>
                    <a:ext cx="620" cy="715"/>
                  </a:xfrm>
                  <a:custGeom>
                    <a:avLst/>
                    <a:gdLst/>
                    <a:ahLst/>
                    <a:cxnLst>
                      <a:cxn ang="0">
                        <a:pos x="0" y="158"/>
                      </a:cxn>
                      <a:cxn ang="0">
                        <a:pos x="265" y="0"/>
                      </a:cxn>
                      <a:cxn ang="0">
                        <a:pos x="265" y="130"/>
                      </a:cxn>
                      <a:cxn ang="0">
                        <a:pos x="2" y="305"/>
                      </a:cxn>
                    </a:cxnLst>
                    <a:rect l="0" t="0" r="r" b="b"/>
                    <a:pathLst>
                      <a:path w="265" h="305">
                        <a:moveTo>
                          <a:pt x="0" y="158"/>
                        </a:moveTo>
                        <a:lnTo>
                          <a:pt x="265" y="0"/>
                        </a:lnTo>
                        <a:lnTo>
                          <a:pt x="265" y="130"/>
                        </a:lnTo>
                        <a:lnTo>
                          <a:pt x="2" y="305"/>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2179" name="Freeform 19"/>
                  <p:cNvSpPr>
                    <a:spLocks noChangeAspect="1"/>
                  </p:cNvSpPr>
                  <p:nvPr/>
                </p:nvSpPr>
                <p:spPr bwMode="auto">
                  <a:xfrm>
                    <a:off x="2811" y="1786"/>
                    <a:ext cx="1785" cy="621"/>
                  </a:xfrm>
                  <a:custGeom>
                    <a:avLst/>
                    <a:gdLst/>
                    <a:ahLst/>
                    <a:cxnLst>
                      <a:cxn ang="0">
                        <a:pos x="497" y="265"/>
                      </a:cxn>
                      <a:cxn ang="0">
                        <a:pos x="0" y="131"/>
                      </a:cxn>
                      <a:cxn ang="0">
                        <a:pos x="278" y="0"/>
                      </a:cxn>
                      <a:cxn ang="0">
                        <a:pos x="761" y="107"/>
                      </a:cxn>
                      <a:cxn ang="0">
                        <a:pos x="500" y="263"/>
                      </a:cxn>
                    </a:cxnLst>
                    <a:rect l="0" t="0" r="r" b="b"/>
                    <a:pathLst>
                      <a:path w="761" h="265">
                        <a:moveTo>
                          <a:pt x="497" y="265"/>
                        </a:moveTo>
                        <a:lnTo>
                          <a:pt x="0" y="131"/>
                        </a:lnTo>
                        <a:lnTo>
                          <a:pt x="278" y="0"/>
                        </a:lnTo>
                        <a:lnTo>
                          <a:pt x="761" y="107"/>
                        </a:lnTo>
                        <a:lnTo>
                          <a:pt x="500" y="263"/>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2180" name="Freeform 20"/>
                  <p:cNvSpPr>
                    <a:spLocks noChangeAspect="1"/>
                  </p:cNvSpPr>
                  <p:nvPr/>
                </p:nvSpPr>
                <p:spPr bwMode="auto">
                  <a:xfrm>
                    <a:off x="2811" y="2092"/>
                    <a:ext cx="1169" cy="660"/>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2181" name="Freeform 21"/>
                  <p:cNvSpPr>
                    <a:spLocks/>
                  </p:cNvSpPr>
                  <p:nvPr/>
                </p:nvSpPr>
                <p:spPr bwMode="auto">
                  <a:xfrm>
                    <a:off x="2886" y="2202"/>
                    <a:ext cx="1017" cy="525"/>
                  </a:xfrm>
                  <a:custGeom>
                    <a:avLst/>
                    <a:gdLst/>
                    <a:ahLst/>
                    <a:cxnLst>
                      <a:cxn ang="0">
                        <a:pos x="0" y="240"/>
                      </a:cxn>
                      <a:cxn ang="0">
                        <a:pos x="0" y="0"/>
                      </a:cxn>
                      <a:cxn ang="0">
                        <a:pos x="1017" y="273"/>
                      </a:cxn>
                      <a:cxn ang="0">
                        <a:pos x="1017" y="525"/>
                      </a:cxn>
                    </a:cxnLst>
                    <a:rect l="0" t="0" r="r" b="b"/>
                    <a:pathLst>
                      <a:path w="1017" h="525">
                        <a:moveTo>
                          <a:pt x="0" y="240"/>
                        </a:moveTo>
                        <a:lnTo>
                          <a:pt x="0" y="0"/>
                        </a:lnTo>
                        <a:lnTo>
                          <a:pt x="1017" y="273"/>
                        </a:lnTo>
                        <a:lnTo>
                          <a:pt x="1017" y="525"/>
                        </a:lnTo>
                      </a:path>
                    </a:pathLst>
                  </a:custGeom>
                  <a:solidFill>
                    <a:srgbClr val="333333"/>
                  </a:solidFill>
                  <a:ln w="9525">
                    <a:solidFill>
                      <a:schemeClr val="tx1"/>
                    </a:solidFill>
                    <a:round/>
                    <a:headEnd/>
                    <a:tailEnd/>
                  </a:ln>
                  <a:effectLst/>
                </p:spPr>
                <p:txBody>
                  <a:bodyPr/>
                  <a:lstStyle/>
                  <a:p>
                    <a:endParaRPr lang="fr-FR"/>
                  </a:p>
                </p:txBody>
              </p:sp>
              <p:sp>
                <p:nvSpPr>
                  <p:cNvPr id="92182" name="Freeform 22"/>
                  <p:cNvSpPr>
                    <a:spLocks/>
                  </p:cNvSpPr>
                  <p:nvPr/>
                </p:nvSpPr>
                <p:spPr bwMode="auto">
                  <a:xfrm>
                    <a:off x="2763" y="2406"/>
                    <a:ext cx="939" cy="369"/>
                  </a:xfrm>
                  <a:custGeom>
                    <a:avLst/>
                    <a:gdLst/>
                    <a:ahLst/>
                    <a:cxnLst>
                      <a:cxn ang="0">
                        <a:pos x="0" y="0"/>
                      </a:cxn>
                      <a:cxn ang="0">
                        <a:pos x="0" y="102"/>
                      </a:cxn>
                      <a:cxn ang="0">
                        <a:pos x="936" y="369"/>
                      </a:cxn>
                      <a:cxn ang="0">
                        <a:pos x="939" y="264"/>
                      </a:cxn>
                      <a:cxn ang="0">
                        <a:pos x="0" y="0"/>
                      </a:cxn>
                    </a:cxnLst>
                    <a:rect l="0" t="0" r="r" b="b"/>
                    <a:pathLst>
                      <a:path w="939" h="369">
                        <a:moveTo>
                          <a:pt x="0" y="0"/>
                        </a:moveTo>
                        <a:lnTo>
                          <a:pt x="0" y="102"/>
                        </a:lnTo>
                        <a:lnTo>
                          <a:pt x="936" y="369"/>
                        </a:lnTo>
                        <a:lnTo>
                          <a:pt x="939" y="264"/>
                        </a:lnTo>
                        <a:lnTo>
                          <a:pt x="0" y="0"/>
                        </a:lnTo>
                        <a:close/>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2183" name="Line 23"/>
                  <p:cNvSpPr>
                    <a:spLocks noChangeShapeType="1"/>
                  </p:cNvSpPr>
                  <p:nvPr/>
                </p:nvSpPr>
                <p:spPr bwMode="auto">
                  <a:xfrm>
                    <a:off x="2769" y="2460"/>
                    <a:ext cx="924" cy="258"/>
                  </a:xfrm>
                  <a:prstGeom prst="line">
                    <a:avLst/>
                  </a:prstGeom>
                  <a:noFill/>
                  <a:ln w="9525">
                    <a:solidFill>
                      <a:schemeClr val="tx1"/>
                    </a:solidFill>
                    <a:round/>
                    <a:headEnd/>
                    <a:tailEnd/>
                  </a:ln>
                  <a:effectLst/>
                </p:spPr>
                <p:txBody>
                  <a:bodyPr/>
                  <a:lstStyle/>
                  <a:p>
                    <a:endParaRPr lang="fr-FR"/>
                  </a:p>
                </p:txBody>
              </p:sp>
              <p:sp>
                <p:nvSpPr>
                  <p:cNvPr id="92184" name="Freeform 24"/>
                  <p:cNvSpPr>
                    <a:spLocks/>
                  </p:cNvSpPr>
                  <p:nvPr/>
                </p:nvSpPr>
                <p:spPr bwMode="auto">
                  <a:xfrm>
                    <a:off x="2763" y="2259"/>
                    <a:ext cx="1131" cy="413"/>
                  </a:xfrm>
                  <a:custGeom>
                    <a:avLst/>
                    <a:gdLst/>
                    <a:ahLst/>
                    <a:cxnLst>
                      <a:cxn ang="0">
                        <a:pos x="0" y="147"/>
                      </a:cxn>
                      <a:cxn ang="0">
                        <a:pos x="279" y="0"/>
                      </a:cxn>
                      <a:cxn ang="0">
                        <a:pos x="1131" y="228"/>
                      </a:cxn>
                      <a:cxn ang="0">
                        <a:pos x="1131" y="309"/>
                      </a:cxn>
                      <a:cxn ang="0">
                        <a:pos x="938" y="413"/>
                      </a:cxn>
                      <a:cxn ang="0">
                        <a:pos x="0" y="147"/>
                      </a:cxn>
                    </a:cxnLst>
                    <a:rect l="0" t="0" r="r" b="b"/>
                    <a:pathLst>
                      <a:path w="1131" h="413">
                        <a:moveTo>
                          <a:pt x="0" y="147"/>
                        </a:moveTo>
                        <a:lnTo>
                          <a:pt x="279" y="0"/>
                        </a:lnTo>
                        <a:lnTo>
                          <a:pt x="1131" y="228"/>
                        </a:lnTo>
                        <a:lnTo>
                          <a:pt x="1131" y="309"/>
                        </a:lnTo>
                        <a:lnTo>
                          <a:pt x="938" y="413"/>
                        </a:lnTo>
                        <a:lnTo>
                          <a:pt x="0" y="147"/>
                        </a:lnTo>
                        <a:close/>
                      </a:path>
                    </a:pathLst>
                  </a:custGeom>
                  <a:gradFill rotWithShape="0">
                    <a:gsLst>
                      <a:gs pos="0">
                        <a:srgbClr val="B2B2B2">
                          <a:gamma/>
                          <a:tint val="60784"/>
                          <a:invGamma/>
                        </a:srgbClr>
                      </a:gs>
                      <a:gs pos="100000">
                        <a:srgbClr val="B2B2B2"/>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185" name="Freeform 25"/>
                  <p:cNvSpPr>
                    <a:spLocks/>
                  </p:cNvSpPr>
                  <p:nvPr/>
                </p:nvSpPr>
                <p:spPr bwMode="auto">
                  <a:xfrm>
                    <a:off x="3699" y="2559"/>
                    <a:ext cx="195" cy="216"/>
                  </a:xfrm>
                  <a:custGeom>
                    <a:avLst/>
                    <a:gdLst/>
                    <a:ahLst/>
                    <a:cxnLst>
                      <a:cxn ang="0">
                        <a:pos x="0" y="114"/>
                      </a:cxn>
                      <a:cxn ang="0">
                        <a:pos x="0" y="216"/>
                      </a:cxn>
                      <a:cxn ang="0">
                        <a:pos x="195" y="96"/>
                      </a:cxn>
                      <a:cxn ang="0">
                        <a:pos x="195" y="0"/>
                      </a:cxn>
                      <a:cxn ang="0">
                        <a:pos x="0" y="114"/>
                      </a:cxn>
                    </a:cxnLst>
                    <a:rect l="0" t="0" r="r" b="b"/>
                    <a:pathLst>
                      <a:path w="195" h="216">
                        <a:moveTo>
                          <a:pt x="0" y="114"/>
                        </a:moveTo>
                        <a:lnTo>
                          <a:pt x="0" y="216"/>
                        </a:lnTo>
                        <a:lnTo>
                          <a:pt x="195" y="96"/>
                        </a:lnTo>
                        <a:lnTo>
                          <a:pt x="195" y="0"/>
                        </a:lnTo>
                        <a:lnTo>
                          <a:pt x="0" y="114"/>
                        </a:lnTo>
                        <a:close/>
                      </a:path>
                    </a:pathLst>
                  </a:custGeom>
                  <a:gradFill rotWithShape="0">
                    <a:gsLst>
                      <a:gs pos="0">
                        <a:srgbClr val="B2B2B2"/>
                      </a:gs>
                      <a:gs pos="100000">
                        <a:srgbClr val="B2B2B2">
                          <a:gamma/>
                          <a:tint val="34118"/>
                          <a:invGamma/>
                        </a:srgbClr>
                      </a:gs>
                    </a:gsLst>
                    <a:path path="rect">
                      <a:fillToRect l="100000" t="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2186" name="Line 26"/>
                  <p:cNvSpPr>
                    <a:spLocks noChangeShapeType="1"/>
                  </p:cNvSpPr>
                  <p:nvPr/>
                </p:nvSpPr>
                <p:spPr bwMode="auto">
                  <a:xfrm flipV="1">
                    <a:off x="3704" y="2607"/>
                    <a:ext cx="187" cy="110"/>
                  </a:xfrm>
                  <a:prstGeom prst="line">
                    <a:avLst/>
                  </a:prstGeom>
                  <a:noFill/>
                  <a:ln w="9525">
                    <a:solidFill>
                      <a:schemeClr val="tx1"/>
                    </a:solidFill>
                    <a:round/>
                    <a:headEnd/>
                    <a:tailEnd/>
                  </a:ln>
                  <a:effectLst/>
                </p:spPr>
                <p:txBody>
                  <a:bodyPr/>
                  <a:lstStyle/>
                  <a:p>
                    <a:endParaRPr lang="fr-FR"/>
                  </a:p>
                </p:txBody>
              </p:sp>
            </p:grpSp>
            <p:grpSp>
              <p:nvGrpSpPr>
                <p:cNvPr id="92187" name="Group 27"/>
                <p:cNvGrpSpPr>
                  <a:grpSpLocks/>
                </p:cNvGrpSpPr>
                <p:nvPr/>
              </p:nvGrpSpPr>
              <p:grpSpPr bwMode="auto">
                <a:xfrm>
                  <a:off x="1379" y="1338"/>
                  <a:ext cx="940" cy="885"/>
                  <a:chOff x="2004" y="885"/>
                  <a:chExt cx="714" cy="672"/>
                </a:xfrm>
              </p:grpSpPr>
              <p:sp>
                <p:nvSpPr>
                  <p:cNvPr id="92188" name="Freeform 28"/>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92189" name="Freeform 29"/>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92190" name="Oval 30"/>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92191" name="Freeform 31"/>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92192" name="Freeform 32"/>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92193" name="Freeform 33"/>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92194" name="Freeform 34"/>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92195" name="Freeform 35"/>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92196" name="Freeform 36"/>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92197" name="Freeform 37"/>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92198" name="Line 38"/>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grpSp>
          <p:nvGrpSpPr>
            <p:cNvPr id="92199" name="Group 39"/>
            <p:cNvGrpSpPr>
              <a:grpSpLocks/>
            </p:cNvGrpSpPr>
            <p:nvPr/>
          </p:nvGrpSpPr>
          <p:grpSpPr bwMode="auto">
            <a:xfrm>
              <a:off x="353" y="1161"/>
              <a:ext cx="876" cy="1352"/>
              <a:chOff x="445" y="1245"/>
              <a:chExt cx="737" cy="1138"/>
            </a:xfrm>
          </p:grpSpPr>
          <p:sp>
            <p:nvSpPr>
              <p:cNvPr id="92200" name="Freeform 40"/>
              <p:cNvSpPr>
                <a:spLocks/>
              </p:cNvSpPr>
              <p:nvPr/>
            </p:nvSpPr>
            <p:spPr bwMode="auto">
              <a:xfrm>
                <a:off x="946" y="2051"/>
                <a:ext cx="236" cy="263"/>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01" name="Freeform 41"/>
              <p:cNvSpPr>
                <a:spLocks/>
              </p:cNvSpPr>
              <p:nvPr/>
            </p:nvSpPr>
            <p:spPr bwMode="auto">
              <a:xfrm>
                <a:off x="795" y="2022"/>
                <a:ext cx="211" cy="16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02" name="Freeform 42"/>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92203" name="Freeform 43"/>
              <p:cNvSpPr>
                <a:spLocks/>
              </p:cNvSpPr>
              <p:nvPr/>
            </p:nvSpPr>
            <p:spPr bwMode="auto">
              <a:xfrm flipH="1">
                <a:off x="445" y="1681"/>
                <a:ext cx="666" cy="702"/>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92204" name="Freeform 44"/>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92205" name="Freeform 45"/>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92206" name="Freeform 46"/>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92207" name="Freeform 47"/>
              <p:cNvSpPr>
                <a:spLocks/>
              </p:cNvSpPr>
              <p:nvPr/>
            </p:nvSpPr>
            <p:spPr bwMode="auto">
              <a:xfrm>
                <a:off x="498" y="1626"/>
                <a:ext cx="291" cy="311"/>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92208" name="Freeform 48"/>
              <p:cNvSpPr>
                <a:spLocks noEditPoints="1"/>
              </p:cNvSpPr>
              <p:nvPr/>
            </p:nvSpPr>
            <p:spPr bwMode="auto">
              <a:xfrm>
                <a:off x="446" y="1245"/>
                <a:ext cx="599" cy="1138"/>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grpSp>
      <p:grpSp>
        <p:nvGrpSpPr>
          <p:cNvPr id="92209" name="Group 49"/>
          <p:cNvGrpSpPr>
            <a:grpSpLocks/>
          </p:cNvGrpSpPr>
          <p:nvPr/>
        </p:nvGrpSpPr>
        <p:grpSpPr bwMode="auto">
          <a:xfrm>
            <a:off x="5246010" y="1020309"/>
            <a:ext cx="3752850" cy="2720975"/>
            <a:chOff x="2995" y="791"/>
            <a:chExt cx="2364" cy="1714"/>
          </a:xfrm>
        </p:grpSpPr>
        <p:sp>
          <p:nvSpPr>
            <p:cNvPr id="92210" name="Rectangle 50"/>
            <p:cNvSpPr>
              <a:spLocks noChangeArrowheads="1"/>
            </p:cNvSpPr>
            <p:nvPr/>
          </p:nvSpPr>
          <p:spPr bwMode="auto">
            <a:xfrm flipH="1">
              <a:off x="2995" y="791"/>
              <a:ext cx="2364" cy="1714"/>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8100000" algn="ctr" rotWithShape="0">
                <a:srgbClr val="C0C0C0"/>
              </a:outerShdw>
            </a:effectLst>
          </p:spPr>
          <p:txBody>
            <a:bodyPr tIns="27432" bIns="27432"/>
            <a:lstStyle/>
            <a:p>
              <a:r>
                <a:rPr lang="en-US"/>
                <a:t>Imprimante locale</a:t>
              </a:r>
            </a:p>
          </p:txBody>
        </p:sp>
        <p:sp>
          <p:nvSpPr>
            <p:cNvPr id="92211" name="Freeform 51"/>
            <p:cNvSpPr>
              <a:spLocks/>
            </p:cNvSpPr>
            <p:nvPr/>
          </p:nvSpPr>
          <p:spPr bwMode="auto">
            <a:xfrm>
              <a:off x="4130" y="1382"/>
              <a:ext cx="1205" cy="827"/>
            </a:xfrm>
            <a:custGeom>
              <a:avLst/>
              <a:gdLst/>
              <a:ahLst/>
              <a:cxnLst>
                <a:cxn ang="0">
                  <a:pos x="0" y="797"/>
                </a:cxn>
                <a:cxn ang="0">
                  <a:pos x="347" y="845"/>
                </a:cxn>
                <a:cxn ang="0">
                  <a:pos x="884" y="813"/>
                </a:cxn>
                <a:cxn ang="0">
                  <a:pos x="931" y="742"/>
                </a:cxn>
                <a:cxn ang="0">
                  <a:pos x="939" y="521"/>
                </a:cxn>
                <a:cxn ang="0">
                  <a:pos x="1026" y="474"/>
                </a:cxn>
                <a:cxn ang="0">
                  <a:pos x="1350" y="411"/>
                </a:cxn>
                <a:cxn ang="0">
                  <a:pos x="1476" y="292"/>
                </a:cxn>
                <a:cxn ang="0">
                  <a:pos x="1507" y="213"/>
                </a:cxn>
                <a:cxn ang="0">
                  <a:pos x="1484" y="56"/>
                </a:cxn>
                <a:cxn ang="0">
                  <a:pos x="1428" y="16"/>
                </a:cxn>
                <a:cxn ang="0">
                  <a:pos x="1381" y="0"/>
                </a:cxn>
              </a:cxnLst>
              <a:rect l="0" t="0" r="r" b="b"/>
              <a:pathLst>
                <a:path w="1523" h="913">
                  <a:moveTo>
                    <a:pt x="0" y="797"/>
                  </a:moveTo>
                  <a:cubicBezTo>
                    <a:pt x="123" y="803"/>
                    <a:pt x="228" y="821"/>
                    <a:pt x="347" y="845"/>
                  </a:cubicBezTo>
                  <a:cubicBezTo>
                    <a:pt x="477" y="843"/>
                    <a:pt x="735" y="913"/>
                    <a:pt x="884" y="813"/>
                  </a:cubicBezTo>
                  <a:cubicBezTo>
                    <a:pt x="921" y="758"/>
                    <a:pt x="906" y="782"/>
                    <a:pt x="931" y="742"/>
                  </a:cubicBezTo>
                  <a:cubicBezTo>
                    <a:pt x="934" y="668"/>
                    <a:pt x="929" y="594"/>
                    <a:pt x="939" y="521"/>
                  </a:cubicBezTo>
                  <a:cubicBezTo>
                    <a:pt x="943" y="489"/>
                    <a:pt x="1005" y="482"/>
                    <a:pt x="1026" y="474"/>
                  </a:cubicBezTo>
                  <a:cubicBezTo>
                    <a:pt x="1131" y="435"/>
                    <a:pt x="1240" y="433"/>
                    <a:pt x="1350" y="411"/>
                  </a:cubicBezTo>
                  <a:cubicBezTo>
                    <a:pt x="1413" y="363"/>
                    <a:pt x="1431" y="351"/>
                    <a:pt x="1476" y="292"/>
                  </a:cubicBezTo>
                  <a:cubicBezTo>
                    <a:pt x="1485" y="265"/>
                    <a:pt x="1498" y="240"/>
                    <a:pt x="1507" y="213"/>
                  </a:cubicBezTo>
                  <a:cubicBezTo>
                    <a:pt x="1503" y="138"/>
                    <a:pt x="1523" y="103"/>
                    <a:pt x="1484" y="56"/>
                  </a:cubicBezTo>
                  <a:cubicBezTo>
                    <a:pt x="1465" y="33"/>
                    <a:pt x="1456" y="27"/>
                    <a:pt x="1428" y="16"/>
                  </a:cubicBezTo>
                  <a:cubicBezTo>
                    <a:pt x="1413" y="10"/>
                    <a:pt x="1381" y="0"/>
                    <a:pt x="1381" y="0"/>
                  </a:cubicBezTo>
                </a:path>
              </a:pathLst>
            </a:custGeom>
            <a:noFill/>
            <a:ln w="38100" cmpd="sng">
              <a:solidFill>
                <a:srgbClr val="808080"/>
              </a:solidFill>
              <a:round/>
              <a:headEnd/>
              <a:tailEnd/>
            </a:ln>
            <a:effectLst/>
          </p:spPr>
          <p:txBody>
            <a:bodyPr/>
            <a:lstStyle/>
            <a:p>
              <a:endParaRPr lang="fr-FR"/>
            </a:p>
          </p:txBody>
        </p:sp>
        <p:grpSp>
          <p:nvGrpSpPr>
            <p:cNvPr id="92212" name="Group 52"/>
            <p:cNvGrpSpPr>
              <a:grpSpLocks/>
            </p:cNvGrpSpPr>
            <p:nvPr/>
          </p:nvGrpSpPr>
          <p:grpSpPr bwMode="auto">
            <a:xfrm>
              <a:off x="4333" y="880"/>
              <a:ext cx="947" cy="694"/>
              <a:chOff x="3826" y="946"/>
              <a:chExt cx="811" cy="595"/>
            </a:xfrm>
          </p:grpSpPr>
          <p:sp>
            <p:nvSpPr>
              <p:cNvPr id="92213" name="Freeform 53"/>
              <p:cNvSpPr>
                <a:spLocks/>
              </p:cNvSpPr>
              <p:nvPr/>
            </p:nvSpPr>
            <p:spPr bwMode="auto">
              <a:xfrm>
                <a:off x="3892" y="1085"/>
                <a:ext cx="545" cy="456"/>
              </a:xfrm>
              <a:custGeom>
                <a:avLst/>
                <a:gdLst/>
                <a:ahLst/>
                <a:cxnLst>
                  <a:cxn ang="0">
                    <a:pos x="542" y="78"/>
                  </a:cxn>
                  <a:cxn ang="0">
                    <a:pos x="1" y="0"/>
                  </a:cxn>
                  <a:cxn ang="0">
                    <a:pos x="0" y="355"/>
                  </a:cxn>
                  <a:cxn ang="0">
                    <a:pos x="542" y="453"/>
                  </a:cxn>
                  <a:cxn ang="0">
                    <a:pos x="542" y="78"/>
                  </a:cxn>
                </a:cxnLst>
                <a:rect l="0" t="0" r="r" b="b"/>
                <a:pathLst>
                  <a:path w="542" h="453">
                    <a:moveTo>
                      <a:pt x="542" y="78"/>
                    </a:moveTo>
                    <a:lnTo>
                      <a:pt x="1" y="0"/>
                    </a:lnTo>
                    <a:lnTo>
                      <a:pt x="0" y="355"/>
                    </a:lnTo>
                    <a:lnTo>
                      <a:pt x="542" y="453"/>
                    </a:lnTo>
                    <a:lnTo>
                      <a:pt x="542" y="78"/>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14" name="Freeform 54"/>
              <p:cNvSpPr>
                <a:spLocks/>
              </p:cNvSpPr>
              <p:nvPr/>
            </p:nvSpPr>
            <p:spPr bwMode="auto">
              <a:xfrm>
                <a:off x="4437" y="1005"/>
                <a:ext cx="200" cy="536"/>
              </a:xfrm>
              <a:custGeom>
                <a:avLst/>
                <a:gdLst/>
                <a:ahLst/>
                <a:cxnLst>
                  <a:cxn ang="0">
                    <a:pos x="409" y="0"/>
                  </a:cxn>
                  <a:cxn ang="0">
                    <a:pos x="0" y="329"/>
                  </a:cxn>
                  <a:cxn ang="0">
                    <a:pos x="0" y="1100"/>
                  </a:cxn>
                  <a:cxn ang="0">
                    <a:pos x="409" y="693"/>
                  </a:cxn>
                  <a:cxn ang="0">
                    <a:pos x="409" y="0"/>
                  </a:cxn>
                </a:cxnLst>
                <a:rect l="0" t="0" r="r" b="b"/>
                <a:pathLst>
                  <a:path w="410" h="1101">
                    <a:moveTo>
                      <a:pt x="409" y="0"/>
                    </a:moveTo>
                    <a:lnTo>
                      <a:pt x="0" y="329"/>
                    </a:lnTo>
                    <a:lnTo>
                      <a:pt x="0" y="1100"/>
                    </a:lnTo>
                    <a:lnTo>
                      <a:pt x="409" y="693"/>
                    </a:lnTo>
                    <a:lnTo>
                      <a:pt x="409" y="0"/>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15" name="Freeform 55"/>
              <p:cNvSpPr>
                <a:spLocks/>
              </p:cNvSpPr>
              <p:nvPr/>
            </p:nvSpPr>
            <p:spPr bwMode="auto">
              <a:xfrm>
                <a:off x="3892" y="946"/>
                <a:ext cx="743" cy="220"/>
              </a:xfrm>
              <a:custGeom>
                <a:avLst/>
                <a:gdLst/>
                <a:ahLst/>
                <a:cxnLst>
                  <a:cxn ang="0">
                    <a:pos x="1522" y="125"/>
                  </a:cxn>
                  <a:cxn ang="0">
                    <a:pos x="1113" y="451"/>
                  </a:cxn>
                  <a:cxn ang="0">
                    <a:pos x="0" y="284"/>
                  </a:cxn>
                  <a:cxn ang="0">
                    <a:pos x="509" y="0"/>
                  </a:cxn>
                  <a:cxn ang="0">
                    <a:pos x="1522" y="122"/>
                  </a:cxn>
                </a:cxnLst>
                <a:rect l="0" t="0" r="r" b="b"/>
                <a:pathLst>
                  <a:path w="1522" h="451">
                    <a:moveTo>
                      <a:pt x="1522" y="125"/>
                    </a:moveTo>
                    <a:lnTo>
                      <a:pt x="1113" y="451"/>
                    </a:lnTo>
                    <a:lnTo>
                      <a:pt x="0" y="284"/>
                    </a:lnTo>
                    <a:lnTo>
                      <a:pt x="509" y="0"/>
                    </a:lnTo>
                    <a:lnTo>
                      <a:pt x="1522" y="122"/>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92216" name="Freeform 56"/>
              <p:cNvSpPr>
                <a:spLocks/>
              </p:cNvSpPr>
              <p:nvPr/>
            </p:nvSpPr>
            <p:spPr bwMode="auto">
              <a:xfrm>
                <a:off x="4055" y="972"/>
                <a:ext cx="339" cy="86"/>
              </a:xfrm>
              <a:custGeom>
                <a:avLst/>
                <a:gdLst/>
                <a:ahLst/>
                <a:cxnLst>
                  <a:cxn ang="0">
                    <a:pos x="210" y="0"/>
                  </a:cxn>
                  <a:cxn ang="0">
                    <a:pos x="0" y="121"/>
                  </a:cxn>
                  <a:cxn ang="0">
                    <a:pos x="497" y="177"/>
                  </a:cxn>
                  <a:cxn ang="0">
                    <a:pos x="693" y="54"/>
                  </a:cxn>
                  <a:cxn ang="0">
                    <a:pos x="210" y="0"/>
                  </a:cxn>
                </a:cxnLst>
                <a:rect l="0" t="0" r="r" b="b"/>
                <a:pathLst>
                  <a:path w="694" h="178">
                    <a:moveTo>
                      <a:pt x="210" y="0"/>
                    </a:moveTo>
                    <a:lnTo>
                      <a:pt x="0" y="121"/>
                    </a:lnTo>
                    <a:lnTo>
                      <a:pt x="497" y="177"/>
                    </a:lnTo>
                    <a:lnTo>
                      <a:pt x="693" y="54"/>
                    </a:lnTo>
                    <a:lnTo>
                      <a:pt x="210" y="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92217" name="Freeform 57"/>
              <p:cNvSpPr>
                <a:spLocks/>
              </p:cNvSpPr>
              <p:nvPr/>
            </p:nvSpPr>
            <p:spPr bwMode="auto">
              <a:xfrm>
                <a:off x="4276" y="997"/>
                <a:ext cx="197" cy="117"/>
              </a:xfrm>
              <a:custGeom>
                <a:avLst/>
                <a:gdLst/>
                <a:ahLst/>
                <a:cxnLst>
                  <a:cxn ang="0">
                    <a:pos x="0" y="240"/>
                  </a:cxn>
                  <a:cxn ang="0">
                    <a:pos x="350" y="0"/>
                  </a:cxn>
                  <a:cxn ang="0">
                    <a:pos x="403" y="0"/>
                  </a:cxn>
                  <a:cxn ang="0">
                    <a:pos x="0" y="240"/>
                  </a:cxn>
                </a:cxnLst>
                <a:rect l="0" t="0" r="r" b="b"/>
                <a:pathLst>
                  <a:path w="404" h="241">
                    <a:moveTo>
                      <a:pt x="0" y="240"/>
                    </a:moveTo>
                    <a:lnTo>
                      <a:pt x="350" y="0"/>
                    </a:lnTo>
                    <a:lnTo>
                      <a:pt x="403" y="0"/>
                    </a:lnTo>
                    <a:lnTo>
                      <a:pt x="0" y="24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92218" name="Freeform 58"/>
              <p:cNvSpPr>
                <a:spLocks/>
              </p:cNvSpPr>
              <p:nvPr/>
            </p:nvSpPr>
            <p:spPr bwMode="auto">
              <a:xfrm>
                <a:off x="4185" y="1082"/>
                <a:ext cx="83" cy="25"/>
              </a:xfrm>
              <a:custGeom>
                <a:avLst/>
                <a:gdLst/>
                <a:ahLst/>
                <a:cxnLst>
                  <a:cxn ang="0">
                    <a:pos x="167" y="8"/>
                  </a:cxn>
                  <a:cxn ang="0">
                    <a:pos x="88" y="0"/>
                  </a:cxn>
                  <a:cxn ang="0">
                    <a:pos x="0" y="47"/>
                  </a:cxn>
                  <a:cxn ang="0">
                    <a:pos x="83" y="51"/>
                  </a:cxn>
                  <a:cxn ang="0">
                    <a:pos x="167" y="8"/>
                  </a:cxn>
                </a:cxnLst>
                <a:rect l="0" t="0" r="r" b="b"/>
                <a:pathLst>
                  <a:path w="168" h="52">
                    <a:moveTo>
                      <a:pt x="167" y="8"/>
                    </a:moveTo>
                    <a:lnTo>
                      <a:pt x="88" y="0"/>
                    </a:lnTo>
                    <a:lnTo>
                      <a:pt x="0" y="47"/>
                    </a:lnTo>
                    <a:lnTo>
                      <a:pt x="83" y="51"/>
                    </a:lnTo>
                    <a:lnTo>
                      <a:pt x="167" y="8"/>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92219" name="Line 59"/>
              <p:cNvSpPr>
                <a:spLocks noChangeShapeType="1"/>
              </p:cNvSpPr>
              <p:nvPr/>
            </p:nvSpPr>
            <p:spPr bwMode="auto">
              <a:xfrm flipH="1">
                <a:off x="4443" y="1064"/>
                <a:ext cx="183" cy="142"/>
              </a:xfrm>
              <a:prstGeom prst="line">
                <a:avLst/>
              </a:prstGeom>
              <a:noFill/>
              <a:ln w="6350">
                <a:solidFill>
                  <a:srgbClr val="777777"/>
                </a:solidFill>
                <a:round/>
                <a:headEnd/>
                <a:tailEnd/>
              </a:ln>
              <a:effectLst/>
            </p:spPr>
            <p:txBody>
              <a:bodyPr wrap="none" anchor="ctr"/>
              <a:lstStyle/>
              <a:p>
                <a:endParaRPr lang="fr-FR"/>
              </a:p>
            </p:txBody>
          </p:sp>
          <p:sp>
            <p:nvSpPr>
              <p:cNvPr id="92220" name="Line 60"/>
              <p:cNvSpPr>
                <a:spLocks noChangeShapeType="1"/>
              </p:cNvSpPr>
              <p:nvPr/>
            </p:nvSpPr>
            <p:spPr bwMode="auto">
              <a:xfrm flipH="1" flipV="1">
                <a:off x="3899" y="1121"/>
                <a:ext cx="533" cy="87"/>
              </a:xfrm>
              <a:prstGeom prst="line">
                <a:avLst/>
              </a:prstGeom>
              <a:noFill/>
              <a:ln w="6350">
                <a:solidFill>
                  <a:srgbClr val="777777"/>
                </a:solidFill>
                <a:round/>
                <a:headEnd/>
                <a:tailEnd/>
              </a:ln>
              <a:effectLst/>
            </p:spPr>
            <p:txBody>
              <a:bodyPr wrap="none" anchor="ctr"/>
              <a:lstStyle/>
              <a:p>
                <a:endParaRPr lang="fr-FR"/>
              </a:p>
            </p:txBody>
          </p:sp>
          <p:sp>
            <p:nvSpPr>
              <p:cNvPr id="92221" name="Line 61"/>
              <p:cNvSpPr>
                <a:spLocks noChangeShapeType="1"/>
              </p:cNvSpPr>
              <p:nvPr/>
            </p:nvSpPr>
            <p:spPr bwMode="auto">
              <a:xfrm flipV="1">
                <a:off x="4459" y="1333"/>
                <a:ext cx="156" cy="155"/>
              </a:xfrm>
              <a:prstGeom prst="line">
                <a:avLst/>
              </a:prstGeom>
              <a:noFill/>
              <a:ln w="6350">
                <a:solidFill>
                  <a:srgbClr val="777777"/>
                </a:solidFill>
                <a:round/>
                <a:headEnd/>
                <a:tailEnd/>
              </a:ln>
              <a:effectLst/>
            </p:spPr>
            <p:txBody>
              <a:bodyPr wrap="none" anchor="ctr"/>
              <a:lstStyle/>
              <a:p>
                <a:endParaRPr lang="fr-FR"/>
              </a:p>
            </p:txBody>
          </p:sp>
          <p:sp>
            <p:nvSpPr>
              <p:cNvPr id="92222" name="Line 62"/>
              <p:cNvSpPr>
                <a:spLocks noChangeShapeType="1"/>
              </p:cNvSpPr>
              <p:nvPr/>
            </p:nvSpPr>
            <p:spPr bwMode="auto">
              <a:xfrm flipV="1">
                <a:off x="4459" y="1311"/>
                <a:ext cx="156" cy="153"/>
              </a:xfrm>
              <a:prstGeom prst="line">
                <a:avLst/>
              </a:prstGeom>
              <a:noFill/>
              <a:ln w="6350">
                <a:solidFill>
                  <a:srgbClr val="777777"/>
                </a:solidFill>
                <a:round/>
                <a:headEnd/>
                <a:tailEnd/>
              </a:ln>
              <a:effectLst/>
            </p:spPr>
            <p:txBody>
              <a:bodyPr wrap="none" anchor="ctr"/>
              <a:lstStyle/>
              <a:p>
                <a:endParaRPr lang="fr-FR"/>
              </a:p>
            </p:txBody>
          </p:sp>
          <p:sp>
            <p:nvSpPr>
              <p:cNvPr id="92223" name="Line 63"/>
              <p:cNvSpPr>
                <a:spLocks noChangeShapeType="1"/>
              </p:cNvSpPr>
              <p:nvPr/>
            </p:nvSpPr>
            <p:spPr bwMode="auto">
              <a:xfrm flipV="1">
                <a:off x="4459" y="1284"/>
                <a:ext cx="156" cy="154"/>
              </a:xfrm>
              <a:prstGeom prst="line">
                <a:avLst/>
              </a:prstGeom>
              <a:noFill/>
              <a:ln w="6350">
                <a:solidFill>
                  <a:srgbClr val="777777"/>
                </a:solidFill>
                <a:round/>
                <a:headEnd/>
                <a:tailEnd/>
              </a:ln>
              <a:effectLst/>
            </p:spPr>
            <p:txBody>
              <a:bodyPr wrap="none" anchor="ctr"/>
              <a:lstStyle/>
              <a:p>
                <a:endParaRPr lang="fr-FR"/>
              </a:p>
            </p:txBody>
          </p:sp>
          <p:sp>
            <p:nvSpPr>
              <p:cNvPr id="92224" name="Line 64"/>
              <p:cNvSpPr>
                <a:spLocks noChangeShapeType="1"/>
              </p:cNvSpPr>
              <p:nvPr/>
            </p:nvSpPr>
            <p:spPr bwMode="auto">
              <a:xfrm flipV="1">
                <a:off x="4459" y="1256"/>
                <a:ext cx="156" cy="154"/>
              </a:xfrm>
              <a:prstGeom prst="line">
                <a:avLst/>
              </a:prstGeom>
              <a:noFill/>
              <a:ln w="6350">
                <a:solidFill>
                  <a:srgbClr val="777777"/>
                </a:solidFill>
                <a:round/>
                <a:headEnd/>
                <a:tailEnd/>
              </a:ln>
              <a:effectLst/>
            </p:spPr>
            <p:txBody>
              <a:bodyPr wrap="none" anchor="ctr"/>
              <a:lstStyle/>
              <a:p>
                <a:endParaRPr lang="fr-FR"/>
              </a:p>
            </p:txBody>
          </p:sp>
          <p:sp>
            <p:nvSpPr>
              <p:cNvPr id="92225" name="Freeform 65"/>
              <p:cNvSpPr>
                <a:spLocks/>
              </p:cNvSpPr>
              <p:nvPr/>
            </p:nvSpPr>
            <p:spPr bwMode="auto">
              <a:xfrm>
                <a:off x="3933" y="1324"/>
                <a:ext cx="254" cy="112"/>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grpSp>
            <p:nvGrpSpPr>
              <p:cNvPr id="92226" name="Group 66"/>
              <p:cNvGrpSpPr>
                <a:grpSpLocks/>
              </p:cNvGrpSpPr>
              <p:nvPr/>
            </p:nvGrpSpPr>
            <p:grpSpPr bwMode="auto">
              <a:xfrm>
                <a:off x="3826" y="1336"/>
                <a:ext cx="357" cy="180"/>
                <a:chOff x="752" y="3672"/>
                <a:chExt cx="732" cy="372"/>
              </a:xfrm>
            </p:grpSpPr>
            <p:sp>
              <p:nvSpPr>
                <p:cNvPr id="92227" name="Freeform 67"/>
                <p:cNvSpPr>
                  <a:spLocks/>
                </p:cNvSpPr>
                <p:nvPr/>
              </p:nvSpPr>
              <p:spPr bwMode="auto">
                <a:xfrm>
                  <a:off x="752" y="3800"/>
                  <a:ext cx="548" cy="244"/>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28" name="Freeform 68"/>
                <p:cNvSpPr>
                  <a:spLocks/>
                </p:cNvSpPr>
                <p:nvPr/>
              </p:nvSpPr>
              <p:spPr bwMode="auto">
                <a:xfrm>
                  <a:off x="1300" y="3757"/>
                  <a:ext cx="182" cy="287"/>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29" name="Freeform 69"/>
                <p:cNvSpPr>
                  <a:spLocks/>
                </p:cNvSpPr>
                <p:nvPr/>
              </p:nvSpPr>
              <p:spPr bwMode="auto">
                <a:xfrm>
                  <a:off x="756" y="3672"/>
                  <a:ext cx="728" cy="230"/>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92230" name="Freeform 70"/>
                <p:cNvSpPr>
                  <a:spLocks/>
                </p:cNvSpPr>
                <p:nvPr/>
              </p:nvSpPr>
              <p:spPr bwMode="auto">
                <a:xfrm>
                  <a:off x="752" y="3821"/>
                  <a:ext cx="725" cy="150"/>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sp>
            <p:nvSpPr>
              <p:cNvPr id="92231" name="Freeform 71"/>
              <p:cNvSpPr>
                <a:spLocks/>
              </p:cNvSpPr>
              <p:nvPr/>
            </p:nvSpPr>
            <p:spPr bwMode="auto">
              <a:xfrm>
                <a:off x="3933" y="1181"/>
                <a:ext cx="254" cy="113"/>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sp>
            <p:nvSpPr>
              <p:cNvPr id="92232" name="Freeform 72"/>
              <p:cNvSpPr>
                <a:spLocks/>
              </p:cNvSpPr>
              <p:nvPr/>
            </p:nvSpPr>
            <p:spPr bwMode="auto">
              <a:xfrm>
                <a:off x="3826" y="1255"/>
                <a:ext cx="267" cy="120"/>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33" name="Freeform 73"/>
              <p:cNvSpPr>
                <a:spLocks/>
              </p:cNvSpPr>
              <p:nvPr/>
            </p:nvSpPr>
            <p:spPr bwMode="auto">
              <a:xfrm>
                <a:off x="4093" y="1234"/>
                <a:ext cx="88" cy="141"/>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34" name="Freeform 74"/>
              <p:cNvSpPr>
                <a:spLocks/>
              </p:cNvSpPr>
              <p:nvPr/>
            </p:nvSpPr>
            <p:spPr bwMode="auto">
              <a:xfrm>
                <a:off x="3828" y="1193"/>
                <a:ext cx="355" cy="112"/>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92235" name="Freeform 75"/>
              <p:cNvSpPr>
                <a:spLocks/>
              </p:cNvSpPr>
              <p:nvPr/>
            </p:nvSpPr>
            <p:spPr bwMode="auto">
              <a:xfrm>
                <a:off x="3826" y="1266"/>
                <a:ext cx="353" cy="73"/>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nvGrpSpPr>
              <p:cNvPr id="92236" name="Group 76"/>
              <p:cNvGrpSpPr>
                <a:grpSpLocks/>
              </p:cNvGrpSpPr>
              <p:nvPr/>
            </p:nvGrpSpPr>
            <p:grpSpPr bwMode="auto">
              <a:xfrm>
                <a:off x="4242" y="1206"/>
                <a:ext cx="174" cy="108"/>
                <a:chOff x="4242" y="1206"/>
                <a:chExt cx="174" cy="108"/>
              </a:xfrm>
            </p:grpSpPr>
            <p:sp>
              <p:nvSpPr>
                <p:cNvPr id="92237" name="Freeform 77"/>
                <p:cNvSpPr>
                  <a:spLocks/>
                </p:cNvSpPr>
                <p:nvPr/>
              </p:nvSpPr>
              <p:spPr bwMode="auto">
                <a:xfrm>
                  <a:off x="4244" y="1228"/>
                  <a:ext cx="172" cy="86"/>
                </a:xfrm>
                <a:custGeom>
                  <a:avLst/>
                  <a:gdLst/>
                  <a:ahLst/>
                  <a:cxnLst>
                    <a:cxn ang="0">
                      <a:pos x="172" y="0"/>
                    </a:cxn>
                    <a:cxn ang="0">
                      <a:pos x="172" y="45"/>
                    </a:cxn>
                    <a:cxn ang="0">
                      <a:pos x="148" y="86"/>
                    </a:cxn>
                    <a:cxn ang="0">
                      <a:pos x="0" y="65"/>
                    </a:cxn>
                    <a:cxn ang="0">
                      <a:pos x="1" y="49"/>
                    </a:cxn>
                  </a:cxnLst>
                  <a:rect l="0" t="0" r="r" b="b"/>
                  <a:pathLst>
                    <a:path w="172" h="86">
                      <a:moveTo>
                        <a:pt x="172" y="0"/>
                      </a:moveTo>
                      <a:lnTo>
                        <a:pt x="172" y="45"/>
                      </a:lnTo>
                      <a:lnTo>
                        <a:pt x="148" y="86"/>
                      </a:lnTo>
                      <a:lnTo>
                        <a:pt x="0" y="65"/>
                      </a:lnTo>
                      <a:lnTo>
                        <a:pt x="1" y="49"/>
                      </a:lnTo>
                    </a:path>
                  </a:pathLst>
                </a:custGeom>
                <a:solidFill>
                  <a:srgbClr val="969696"/>
                </a:soli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92238" name="Freeform 78"/>
                <p:cNvSpPr>
                  <a:spLocks/>
                </p:cNvSpPr>
                <p:nvPr/>
              </p:nvSpPr>
              <p:spPr bwMode="auto">
                <a:xfrm>
                  <a:off x="4242" y="1206"/>
                  <a:ext cx="174" cy="100"/>
                </a:xfrm>
                <a:custGeom>
                  <a:avLst/>
                  <a:gdLst/>
                  <a:ahLst/>
                  <a:cxnLst>
                    <a:cxn ang="0">
                      <a:pos x="357" y="41"/>
                    </a:cxn>
                    <a:cxn ang="0">
                      <a:pos x="55" y="0"/>
                    </a:cxn>
                    <a:cxn ang="0">
                      <a:pos x="0" y="158"/>
                    </a:cxn>
                    <a:cxn ang="0">
                      <a:pos x="302" y="203"/>
                    </a:cxn>
                    <a:cxn ang="0">
                      <a:pos x="357" y="41"/>
                    </a:cxn>
                  </a:cxnLst>
                  <a:rect l="0" t="0" r="r" b="b"/>
                  <a:pathLst>
                    <a:path w="358" h="204">
                      <a:moveTo>
                        <a:pt x="357" y="41"/>
                      </a:moveTo>
                      <a:lnTo>
                        <a:pt x="55" y="0"/>
                      </a:lnTo>
                      <a:lnTo>
                        <a:pt x="0" y="158"/>
                      </a:lnTo>
                      <a:lnTo>
                        <a:pt x="302" y="203"/>
                      </a:lnTo>
                      <a:lnTo>
                        <a:pt x="357" y="41"/>
                      </a:lnTo>
                    </a:path>
                  </a:pathLst>
                </a:custGeom>
                <a:solidFill>
                  <a:srgbClr val="FCFEB9"/>
                </a:solidFill>
                <a:ln w="3175" cap="rnd" cmpd="sng">
                  <a:solidFill>
                    <a:schemeClr val="tx1"/>
                  </a:solidFill>
                  <a:prstDash val="solid"/>
                  <a:round/>
                  <a:headEnd type="none" w="med" len="med"/>
                  <a:tailEnd type="none" w="med" len="med"/>
                </a:ln>
                <a:effectLst/>
              </p:spPr>
              <p:txBody>
                <a:bodyPr/>
                <a:lstStyle/>
                <a:p>
                  <a:endParaRPr lang="fr-FR"/>
                </a:p>
              </p:txBody>
            </p:sp>
            <p:sp>
              <p:nvSpPr>
                <p:cNvPr id="92239" name="Freeform 79"/>
                <p:cNvSpPr>
                  <a:spLocks/>
                </p:cNvSpPr>
                <p:nvPr/>
              </p:nvSpPr>
              <p:spPr bwMode="auto">
                <a:xfrm>
                  <a:off x="4363" y="1253"/>
                  <a:ext cx="30" cy="19"/>
                </a:xfrm>
                <a:custGeom>
                  <a:avLst/>
                  <a:gdLst/>
                  <a:ahLst/>
                  <a:cxnLst>
                    <a:cxn ang="0">
                      <a:pos x="59" y="8"/>
                    </a:cxn>
                    <a:cxn ang="0">
                      <a:pos x="12" y="0"/>
                    </a:cxn>
                    <a:cxn ang="0">
                      <a:pos x="0" y="31"/>
                    </a:cxn>
                    <a:cxn ang="0">
                      <a:pos x="47" y="39"/>
                    </a:cxn>
                    <a:cxn ang="0">
                      <a:pos x="59" y="8"/>
                    </a:cxn>
                  </a:cxnLst>
                  <a:rect l="0" t="0" r="r" b="b"/>
                  <a:pathLst>
                    <a:path w="60" h="40">
                      <a:moveTo>
                        <a:pt x="59" y="8"/>
                      </a:moveTo>
                      <a:lnTo>
                        <a:pt x="12" y="0"/>
                      </a:lnTo>
                      <a:lnTo>
                        <a:pt x="0" y="31"/>
                      </a:lnTo>
                      <a:lnTo>
                        <a:pt x="47"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0" name="Freeform 80"/>
                <p:cNvSpPr>
                  <a:spLocks/>
                </p:cNvSpPr>
                <p:nvPr/>
              </p:nvSpPr>
              <p:spPr bwMode="auto">
                <a:xfrm>
                  <a:off x="4275" y="1216"/>
                  <a:ext cx="125" cy="32"/>
                </a:xfrm>
                <a:custGeom>
                  <a:avLst/>
                  <a:gdLst/>
                  <a:ahLst/>
                  <a:cxnLst>
                    <a:cxn ang="0">
                      <a:pos x="258" y="35"/>
                    </a:cxn>
                    <a:cxn ang="0">
                      <a:pos x="8" y="0"/>
                    </a:cxn>
                    <a:cxn ang="0">
                      <a:pos x="0" y="27"/>
                    </a:cxn>
                    <a:cxn ang="0">
                      <a:pos x="246" y="66"/>
                    </a:cxn>
                    <a:cxn ang="0">
                      <a:pos x="258" y="35"/>
                    </a:cxn>
                  </a:cxnLst>
                  <a:rect l="0" t="0" r="r" b="b"/>
                  <a:pathLst>
                    <a:path w="259" h="67">
                      <a:moveTo>
                        <a:pt x="258" y="35"/>
                      </a:moveTo>
                      <a:lnTo>
                        <a:pt x="8" y="0"/>
                      </a:lnTo>
                      <a:lnTo>
                        <a:pt x="0" y="27"/>
                      </a:lnTo>
                      <a:lnTo>
                        <a:pt x="246" y="66"/>
                      </a:lnTo>
                      <a:lnTo>
                        <a:pt x="258" y="35"/>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1" name="Freeform 81"/>
                <p:cNvSpPr>
                  <a:spLocks/>
                </p:cNvSpPr>
                <p:nvPr/>
              </p:nvSpPr>
              <p:spPr bwMode="auto">
                <a:xfrm>
                  <a:off x="4355" y="1274"/>
                  <a:ext cx="29" cy="20"/>
                </a:xfrm>
                <a:custGeom>
                  <a:avLst/>
                  <a:gdLst/>
                  <a:ahLst/>
                  <a:cxnLst>
                    <a:cxn ang="0">
                      <a:pos x="59" y="8"/>
                    </a:cxn>
                    <a:cxn ang="0">
                      <a:pos x="12" y="0"/>
                    </a:cxn>
                    <a:cxn ang="0">
                      <a:pos x="0" y="31"/>
                    </a:cxn>
                    <a:cxn ang="0">
                      <a:pos x="49" y="39"/>
                    </a:cxn>
                    <a:cxn ang="0">
                      <a:pos x="59" y="8"/>
                    </a:cxn>
                  </a:cxnLst>
                  <a:rect l="0" t="0" r="r" b="b"/>
                  <a:pathLst>
                    <a:path w="60" h="40">
                      <a:moveTo>
                        <a:pt x="59" y="8"/>
                      </a:moveTo>
                      <a:lnTo>
                        <a:pt x="12" y="0"/>
                      </a:lnTo>
                      <a:lnTo>
                        <a:pt x="0" y="31"/>
                      </a:lnTo>
                      <a:lnTo>
                        <a:pt x="49"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2" name="Freeform 82"/>
                <p:cNvSpPr>
                  <a:spLocks/>
                </p:cNvSpPr>
                <p:nvPr/>
              </p:nvSpPr>
              <p:spPr bwMode="auto">
                <a:xfrm>
                  <a:off x="4329" y="1248"/>
                  <a:ext cx="32" cy="19"/>
                </a:xfrm>
                <a:custGeom>
                  <a:avLst/>
                  <a:gdLst/>
                  <a:ahLst/>
                  <a:cxnLst>
                    <a:cxn ang="0">
                      <a:pos x="61" y="8"/>
                    </a:cxn>
                    <a:cxn ang="0">
                      <a:pos x="12" y="0"/>
                    </a:cxn>
                    <a:cxn ang="0">
                      <a:pos x="0" y="30"/>
                    </a:cxn>
                    <a:cxn ang="0">
                      <a:pos x="51" y="38"/>
                    </a:cxn>
                    <a:cxn ang="0">
                      <a:pos x="61" y="8"/>
                    </a:cxn>
                  </a:cxnLst>
                  <a:rect l="0" t="0" r="r" b="b"/>
                  <a:pathLst>
                    <a:path w="62" h="39">
                      <a:moveTo>
                        <a:pt x="61" y="8"/>
                      </a:moveTo>
                      <a:lnTo>
                        <a:pt x="12" y="0"/>
                      </a:lnTo>
                      <a:lnTo>
                        <a:pt x="0" y="30"/>
                      </a:lnTo>
                      <a:lnTo>
                        <a:pt x="51" y="38"/>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3" name="Freeform 83"/>
                <p:cNvSpPr>
                  <a:spLocks/>
                </p:cNvSpPr>
                <p:nvPr/>
              </p:nvSpPr>
              <p:spPr bwMode="auto">
                <a:xfrm>
                  <a:off x="4324" y="1269"/>
                  <a:ext cx="29" cy="18"/>
                </a:xfrm>
                <a:custGeom>
                  <a:avLst/>
                  <a:gdLst/>
                  <a:ahLst/>
                  <a:cxnLst>
                    <a:cxn ang="0">
                      <a:pos x="59" y="8"/>
                    </a:cxn>
                    <a:cxn ang="0">
                      <a:pos x="10" y="0"/>
                    </a:cxn>
                    <a:cxn ang="0">
                      <a:pos x="0" y="31"/>
                    </a:cxn>
                    <a:cxn ang="0">
                      <a:pos x="49" y="37"/>
                    </a:cxn>
                    <a:cxn ang="0">
                      <a:pos x="59" y="8"/>
                    </a:cxn>
                  </a:cxnLst>
                  <a:rect l="0" t="0" r="r" b="b"/>
                  <a:pathLst>
                    <a:path w="60" h="38">
                      <a:moveTo>
                        <a:pt x="59" y="8"/>
                      </a:moveTo>
                      <a:lnTo>
                        <a:pt x="10" y="0"/>
                      </a:lnTo>
                      <a:lnTo>
                        <a:pt x="0" y="31"/>
                      </a:lnTo>
                      <a:lnTo>
                        <a:pt x="49" y="37"/>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4" name="Freeform 84"/>
                <p:cNvSpPr>
                  <a:spLocks/>
                </p:cNvSpPr>
                <p:nvPr/>
              </p:nvSpPr>
              <p:spPr bwMode="auto">
                <a:xfrm>
                  <a:off x="4298" y="1244"/>
                  <a:ext cx="30" cy="17"/>
                </a:xfrm>
                <a:custGeom>
                  <a:avLst/>
                  <a:gdLst/>
                  <a:ahLst/>
                  <a:cxnLst>
                    <a:cxn ang="0">
                      <a:pos x="61" y="8"/>
                    </a:cxn>
                    <a:cxn ang="0">
                      <a:pos x="12" y="0"/>
                    </a:cxn>
                    <a:cxn ang="0">
                      <a:pos x="0" y="30"/>
                    </a:cxn>
                    <a:cxn ang="0">
                      <a:pos x="49" y="36"/>
                    </a:cxn>
                    <a:cxn ang="0">
                      <a:pos x="61" y="8"/>
                    </a:cxn>
                  </a:cxnLst>
                  <a:rect l="0" t="0" r="r" b="b"/>
                  <a:pathLst>
                    <a:path w="62" h="37">
                      <a:moveTo>
                        <a:pt x="61" y="8"/>
                      </a:moveTo>
                      <a:lnTo>
                        <a:pt x="12" y="0"/>
                      </a:lnTo>
                      <a:lnTo>
                        <a:pt x="0" y="30"/>
                      </a:lnTo>
                      <a:lnTo>
                        <a:pt x="49" y="36"/>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5" name="Freeform 85"/>
                <p:cNvSpPr>
                  <a:spLocks/>
                </p:cNvSpPr>
                <p:nvPr/>
              </p:nvSpPr>
              <p:spPr bwMode="auto">
                <a:xfrm>
                  <a:off x="4290" y="1266"/>
                  <a:ext cx="31" cy="18"/>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6" name="Freeform 86"/>
                <p:cNvSpPr>
                  <a:spLocks/>
                </p:cNvSpPr>
                <p:nvPr/>
              </p:nvSpPr>
              <p:spPr bwMode="auto">
                <a:xfrm>
                  <a:off x="4268" y="1239"/>
                  <a:ext cx="28" cy="17"/>
                </a:xfrm>
                <a:custGeom>
                  <a:avLst/>
                  <a:gdLst/>
                  <a:ahLst/>
                  <a:cxnLst>
                    <a:cxn ang="0">
                      <a:pos x="59" y="6"/>
                    </a:cxn>
                    <a:cxn ang="0">
                      <a:pos x="10" y="0"/>
                    </a:cxn>
                    <a:cxn ang="0">
                      <a:pos x="0" y="29"/>
                    </a:cxn>
                    <a:cxn ang="0">
                      <a:pos x="47" y="37"/>
                    </a:cxn>
                    <a:cxn ang="0">
                      <a:pos x="59" y="6"/>
                    </a:cxn>
                  </a:cxnLst>
                  <a:rect l="0" t="0" r="r" b="b"/>
                  <a:pathLst>
                    <a:path w="60" h="38">
                      <a:moveTo>
                        <a:pt x="59" y="6"/>
                      </a:moveTo>
                      <a:lnTo>
                        <a:pt x="10" y="0"/>
                      </a:lnTo>
                      <a:lnTo>
                        <a:pt x="0" y="29"/>
                      </a:lnTo>
                      <a:lnTo>
                        <a:pt x="47" y="37"/>
                      </a:lnTo>
                      <a:lnTo>
                        <a:pt x="59" y="6"/>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92247" name="Freeform 87"/>
                <p:cNvSpPr>
                  <a:spLocks/>
                </p:cNvSpPr>
                <p:nvPr/>
              </p:nvSpPr>
              <p:spPr bwMode="auto">
                <a:xfrm>
                  <a:off x="4259" y="1260"/>
                  <a:ext cx="29" cy="19"/>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grpSp>
        </p:grpSp>
        <p:grpSp>
          <p:nvGrpSpPr>
            <p:cNvPr id="92248" name="Group 88"/>
            <p:cNvGrpSpPr>
              <a:grpSpLocks/>
            </p:cNvGrpSpPr>
            <p:nvPr/>
          </p:nvGrpSpPr>
          <p:grpSpPr bwMode="auto">
            <a:xfrm>
              <a:off x="3363" y="1395"/>
              <a:ext cx="1035" cy="1028"/>
              <a:chOff x="816" y="1017"/>
              <a:chExt cx="1175" cy="1167"/>
            </a:xfrm>
          </p:grpSpPr>
          <p:sp>
            <p:nvSpPr>
              <p:cNvPr id="92249" name="Freeform 89"/>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92250" name="Freeform 90"/>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92251" name="Freeform 91"/>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92252" name="Freeform 92"/>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92253" name="Freeform 93"/>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92254" name="Freeform 94"/>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92255" name="Line 95"/>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92256" name="Line 96"/>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92257" name="Line 97"/>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92258" name="Freeform 98"/>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92259" name="Freeform 99"/>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60" name="Freeform 100"/>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61" name="Freeform 101"/>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62" name="Freeform 102"/>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92263" name="Freeform 103"/>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92264" name="Group 104"/>
            <p:cNvGrpSpPr>
              <a:grpSpLocks/>
            </p:cNvGrpSpPr>
            <p:nvPr/>
          </p:nvGrpSpPr>
          <p:grpSpPr bwMode="auto">
            <a:xfrm>
              <a:off x="3020" y="1122"/>
              <a:ext cx="876" cy="1352"/>
              <a:chOff x="445" y="1245"/>
              <a:chExt cx="737" cy="1138"/>
            </a:xfrm>
          </p:grpSpPr>
          <p:sp>
            <p:nvSpPr>
              <p:cNvPr id="92265" name="Freeform 105"/>
              <p:cNvSpPr>
                <a:spLocks/>
              </p:cNvSpPr>
              <p:nvPr/>
            </p:nvSpPr>
            <p:spPr bwMode="auto">
              <a:xfrm>
                <a:off x="946" y="2051"/>
                <a:ext cx="236" cy="263"/>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66" name="Freeform 106"/>
              <p:cNvSpPr>
                <a:spLocks/>
              </p:cNvSpPr>
              <p:nvPr/>
            </p:nvSpPr>
            <p:spPr bwMode="auto">
              <a:xfrm>
                <a:off x="795" y="2022"/>
                <a:ext cx="211" cy="16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67" name="Freeform 107"/>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92268" name="Freeform 108"/>
              <p:cNvSpPr>
                <a:spLocks/>
              </p:cNvSpPr>
              <p:nvPr/>
            </p:nvSpPr>
            <p:spPr bwMode="auto">
              <a:xfrm flipH="1">
                <a:off x="445" y="1681"/>
                <a:ext cx="666" cy="702"/>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92269" name="Freeform 109"/>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92270" name="Freeform 110"/>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92271" name="Freeform 111"/>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92272" name="Freeform 112"/>
              <p:cNvSpPr>
                <a:spLocks/>
              </p:cNvSpPr>
              <p:nvPr/>
            </p:nvSpPr>
            <p:spPr bwMode="auto">
              <a:xfrm>
                <a:off x="498" y="1626"/>
                <a:ext cx="291" cy="311"/>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92273" name="Freeform 113"/>
              <p:cNvSpPr>
                <a:spLocks noEditPoints="1"/>
              </p:cNvSpPr>
              <p:nvPr/>
            </p:nvSpPr>
            <p:spPr bwMode="auto">
              <a:xfrm>
                <a:off x="446" y="1245"/>
                <a:ext cx="599" cy="1138"/>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grpSp>
      <p:grpSp>
        <p:nvGrpSpPr>
          <p:cNvPr id="92274" name="Group 114"/>
          <p:cNvGrpSpPr>
            <a:grpSpLocks/>
          </p:cNvGrpSpPr>
          <p:nvPr/>
        </p:nvGrpSpPr>
        <p:grpSpPr bwMode="auto">
          <a:xfrm>
            <a:off x="2890826" y="3895725"/>
            <a:ext cx="3298825" cy="2600325"/>
            <a:chOff x="3240" y="2352"/>
            <a:chExt cx="1908" cy="1504"/>
          </a:xfrm>
        </p:grpSpPr>
        <p:sp>
          <p:nvSpPr>
            <p:cNvPr id="92275" name="Rectangle 115"/>
            <p:cNvSpPr>
              <a:spLocks noChangeArrowheads="1"/>
            </p:cNvSpPr>
            <p:nvPr/>
          </p:nvSpPr>
          <p:spPr bwMode="auto">
            <a:xfrm flipH="1">
              <a:off x="3240" y="2352"/>
              <a:ext cx="1908" cy="1398"/>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a:outerShdw dist="53882" dir="2700000" algn="ctr" rotWithShape="0">
                <a:srgbClr val="C0C0C0"/>
              </a:outerShdw>
            </a:effectLst>
          </p:spPr>
          <p:txBody>
            <a:bodyPr tIns="27432" bIns="27432"/>
            <a:lstStyle/>
            <a:p>
              <a:r>
                <a:rPr lang="en-US"/>
                <a:t>Modem sans fil</a:t>
              </a:r>
            </a:p>
          </p:txBody>
        </p:sp>
        <p:grpSp>
          <p:nvGrpSpPr>
            <p:cNvPr id="92276" name="Group 116"/>
            <p:cNvGrpSpPr>
              <a:grpSpLocks/>
            </p:cNvGrpSpPr>
            <p:nvPr/>
          </p:nvGrpSpPr>
          <p:grpSpPr bwMode="auto">
            <a:xfrm flipH="1">
              <a:off x="3817" y="2469"/>
              <a:ext cx="1275" cy="1251"/>
              <a:chOff x="1325" y="1912"/>
              <a:chExt cx="1061" cy="1042"/>
            </a:xfrm>
          </p:grpSpPr>
          <p:grpSp>
            <p:nvGrpSpPr>
              <p:cNvPr id="92277" name="Group 117"/>
              <p:cNvGrpSpPr>
                <a:grpSpLocks/>
              </p:cNvGrpSpPr>
              <p:nvPr/>
            </p:nvGrpSpPr>
            <p:grpSpPr bwMode="auto">
              <a:xfrm>
                <a:off x="1635" y="2128"/>
                <a:ext cx="751" cy="745"/>
                <a:chOff x="816" y="1017"/>
                <a:chExt cx="1175" cy="1167"/>
              </a:xfrm>
            </p:grpSpPr>
            <p:sp>
              <p:nvSpPr>
                <p:cNvPr id="92278" name="Freeform 118"/>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92279" name="Freeform 119"/>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92280" name="Freeform 120"/>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92281" name="Freeform 121"/>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92282" name="Freeform 122"/>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92283" name="Freeform 123"/>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92284" name="Line 124"/>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92285" name="Line 125"/>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92286" name="Line 126"/>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92287" name="Freeform 127"/>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92288" name="Freeform 128"/>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89" name="Freeform 129"/>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90" name="Freeform 130"/>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92291" name="Freeform 131"/>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92292" name="Freeform 132"/>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92293" name="Group 133"/>
              <p:cNvGrpSpPr>
                <a:grpSpLocks/>
              </p:cNvGrpSpPr>
              <p:nvPr/>
            </p:nvGrpSpPr>
            <p:grpSpPr bwMode="auto">
              <a:xfrm>
                <a:off x="1325" y="1912"/>
                <a:ext cx="675" cy="1042"/>
                <a:chOff x="445" y="1245"/>
                <a:chExt cx="737" cy="1138"/>
              </a:xfrm>
            </p:grpSpPr>
            <p:sp>
              <p:nvSpPr>
                <p:cNvPr id="92294" name="Freeform 134"/>
                <p:cNvSpPr>
                  <a:spLocks/>
                </p:cNvSpPr>
                <p:nvPr/>
              </p:nvSpPr>
              <p:spPr bwMode="auto">
                <a:xfrm>
                  <a:off x="946" y="2051"/>
                  <a:ext cx="236" cy="263"/>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95" name="Freeform 135"/>
                <p:cNvSpPr>
                  <a:spLocks/>
                </p:cNvSpPr>
                <p:nvPr/>
              </p:nvSpPr>
              <p:spPr bwMode="auto">
                <a:xfrm>
                  <a:off x="795" y="2022"/>
                  <a:ext cx="211" cy="16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92296" name="Freeform 136"/>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92297" name="Freeform 137"/>
                <p:cNvSpPr>
                  <a:spLocks/>
                </p:cNvSpPr>
                <p:nvPr/>
              </p:nvSpPr>
              <p:spPr bwMode="auto">
                <a:xfrm flipH="1">
                  <a:off x="445" y="1681"/>
                  <a:ext cx="666" cy="702"/>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92298" name="Freeform 138"/>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92299" name="Freeform 139"/>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92300" name="Freeform 140"/>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92301" name="Freeform 141"/>
                <p:cNvSpPr>
                  <a:spLocks/>
                </p:cNvSpPr>
                <p:nvPr/>
              </p:nvSpPr>
              <p:spPr bwMode="auto">
                <a:xfrm>
                  <a:off x="498" y="1626"/>
                  <a:ext cx="291" cy="311"/>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92302" name="Freeform 142"/>
                <p:cNvSpPr>
                  <a:spLocks noEditPoints="1"/>
                </p:cNvSpPr>
                <p:nvPr/>
              </p:nvSpPr>
              <p:spPr bwMode="auto">
                <a:xfrm>
                  <a:off x="446" y="1245"/>
                  <a:ext cx="599" cy="1138"/>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grpSp>
        <p:pic>
          <p:nvPicPr>
            <p:cNvPr id="92303" name="Picture 143" descr="ATTACHE"/>
            <p:cNvPicPr>
              <a:picLocks noChangeAspect="1" noChangeArrowheads="1"/>
            </p:cNvPicPr>
            <p:nvPr/>
          </p:nvPicPr>
          <p:blipFill>
            <a:blip r:embed="rId3"/>
            <a:srcRect/>
            <a:stretch>
              <a:fillRect/>
            </a:stretch>
          </p:blipFill>
          <p:spPr bwMode="auto">
            <a:xfrm>
              <a:off x="3293" y="2921"/>
              <a:ext cx="906" cy="935"/>
            </a:xfrm>
            <a:prstGeom prst="rect">
              <a:avLst/>
            </a:prstGeom>
            <a:noFill/>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301752" y="286656"/>
            <a:ext cx="8534400" cy="758952"/>
          </a:xfrm>
        </p:spPr>
        <p:txBody>
          <a:bodyPr>
            <a:noAutofit/>
          </a:bodyPr>
          <a:lstStyle/>
          <a:p>
            <a:pPr marL="439738" indent="-439738"/>
            <a:r>
              <a:rPr lang="fr-FR" sz="2600" dirty="0" smtClean="0">
                <a:cs typeface="Times New Roman" pitchFamily="18" charset="0"/>
              </a:rPr>
              <a:t>2. Configuration </a:t>
            </a:r>
            <a:r>
              <a:rPr lang="fr-FR" sz="2600" dirty="0">
                <a:cs typeface="Times New Roman" pitchFamily="18" charset="0"/>
              </a:rPr>
              <a:t>des options de gestion de l'alimentation pour l'informatique mobile</a:t>
            </a:r>
            <a:endParaRPr lang="en-US" sz="2600" dirty="0">
              <a:cs typeface="Times New Roman" pitchFamily="18" charset="0"/>
            </a:endParaRPr>
          </a:p>
        </p:txBody>
      </p:sp>
      <p:sp>
        <p:nvSpPr>
          <p:cNvPr id="94211" name="Rectangle 3"/>
          <p:cNvSpPr>
            <a:spLocks noGrp="1" noChangeArrowheads="1"/>
          </p:cNvSpPr>
          <p:nvPr>
            <p:ph sz="quarter" idx="1"/>
          </p:nvPr>
        </p:nvSpPr>
        <p:spPr>
          <a:xfrm>
            <a:off x="258209" y="2368876"/>
            <a:ext cx="8503920" cy="1303238"/>
          </a:xfrm>
        </p:spPr>
        <p:txBody>
          <a:bodyPr>
            <a:normAutofit/>
          </a:bodyPr>
          <a:lstStyle/>
          <a:p>
            <a:r>
              <a:rPr lang="fr-FR" sz="2800" dirty="0">
                <a:cs typeface="Times New Roman" pitchFamily="18" charset="0"/>
              </a:rPr>
              <a:t>Choix d'un mode de gestion de l'alimentation </a:t>
            </a:r>
            <a:r>
              <a:rPr lang="en-US" sz="2800" dirty="0">
                <a:cs typeface="Times New Roman" pitchFamily="18" charset="0"/>
              </a:rPr>
              <a:t> </a:t>
            </a:r>
          </a:p>
          <a:p>
            <a:r>
              <a:rPr lang="fr-FR" sz="2800" dirty="0">
                <a:cs typeface="Times New Roman" pitchFamily="18" charset="0"/>
              </a:rPr>
              <a:t>Utilisation des options de gestion de l'alimentation</a:t>
            </a:r>
            <a:endParaRPr lang="en-US" sz="2800" dirty="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72" name="Picture 16" descr="P2272bW11_05a"/>
          <p:cNvPicPr>
            <a:picLocks noChangeAspect="1" noChangeArrowheads="1"/>
          </p:cNvPicPr>
          <p:nvPr/>
        </p:nvPicPr>
        <p:blipFill>
          <a:blip r:embed="rId3"/>
          <a:srcRect/>
          <a:stretch>
            <a:fillRect/>
          </a:stretch>
        </p:blipFill>
        <p:spPr bwMode="auto">
          <a:xfrm>
            <a:off x="335648" y="1220329"/>
            <a:ext cx="5189538" cy="5407025"/>
          </a:xfrm>
          <a:prstGeom prst="rect">
            <a:avLst/>
          </a:prstGeom>
          <a:noFill/>
        </p:spPr>
      </p:pic>
      <p:sp>
        <p:nvSpPr>
          <p:cNvPr id="96259" name="Rectangle 3"/>
          <p:cNvSpPr>
            <a:spLocks noGrp="1" noChangeArrowheads="1"/>
          </p:cNvSpPr>
          <p:nvPr>
            <p:ph type="title"/>
          </p:nvPr>
        </p:nvSpPr>
        <p:spPr>
          <a:xfrm>
            <a:off x="203200" y="228600"/>
            <a:ext cx="8737600" cy="758952"/>
          </a:xfrm>
          <a:noFill/>
          <a:ln/>
        </p:spPr>
        <p:txBody>
          <a:bodyPr>
            <a:normAutofit fontScale="90000"/>
          </a:bodyPr>
          <a:lstStyle/>
          <a:p>
            <a:r>
              <a:rPr lang="fr-FR" dirty="0">
                <a:solidFill>
                  <a:srgbClr val="C00000"/>
                </a:solidFill>
                <a:cs typeface="Times New Roman" pitchFamily="18" charset="0"/>
              </a:rPr>
              <a:t>Choix d'un mode de gestion de </a:t>
            </a:r>
            <a:r>
              <a:rPr lang="fr-FR" dirty="0" smtClean="0">
                <a:solidFill>
                  <a:srgbClr val="C00000"/>
                </a:solidFill>
                <a:cs typeface="Times New Roman" pitchFamily="18" charset="0"/>
              </a:rPr>
              <a:t>l'alimentation</a:t>
            </a:r>
            <a:endParaRPr lang="en-US" dirty="0">
              <a:solidFill>
                <a:srgbClr val="C00000"/>
              </a:solidFill>
              <a:cs typeface="Times New Roman" pitchFamily="18" charset="0"/>
            </a:endParaRPr>
          </a:p>
        </p:txBody>
      </p:sp>
      <p:sp>
        <p:nvSpPr>
          <p:cNvPr id="96260" name="Text Box 4"/>
          <p:cNvSpPr txBox="1">
            <a:spLocks noChangeArrowheads="1"/>
          </p:cNvSpPr>
          <p:nvPr/>
        </p:nvSpPr>
        <p:spPr bwMode="auto">
          <a:xfrm>
            <a:off x="4992920" y="1030509"/>
            <a:ext cx="3889828" cy="1526495"/>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pPr>
              <a:spcBef>
                <a:spcPct val="20000"/>
              </a:spcBef>
              <a:spcAft>
                <a:spcPct val="20000"/>
              </a:spcAft>
              <a:buClr>
                <a:srgbClr val="D60093"/>
              </a:buClr>
              <a:buSzPct val="70000"/>
              <a:buFont typeface="Wingdings" pitchFamily="2" charset="2"/>
              <a:buNone/>
            </a:pPr>
            <a:r>
              <a:rPr lang="fr-FR" sz="2000" dirty="0"/>
              <a:t>Un mode de gestion de l'alimentation est un ensemble de paramètres qui régissent l'utilisation de l'alimentation </a:t>
            </a:r>
            <a:br>
              <a:rPr lang="fr-FR" sz="2000" dirty="0"/>
            </a:br>
            <a:r>
              <a:rPr lang="fr-FR" sz="2000" dirty="0"/>
              <a:t>de l'ordinateur </a:t>
            </a:r>
            <a:endParaRPr lang="en-US" sz="2000" dirty="0"/>
          </a:p>
        </p:txBody>
      </p:sp>
      <p:grpSp>
        <p:nvGrpSpPr>
          <p:cNvPr id="96261" name="Group 5"/>
          <p:cNvGrpSpPr>
            <a:grpSpLocks/>
          </p:cNvGrpSpPr>
          <p:nvPr/>
        </p:nvGrpSpPr>
        <p:grpSpPr bwMode="auto">
          <a:xfrm>
            <a:off x="4137711" y="2741154"/>
            <a:ext cx="3117850" cy="1362075"/>
            <a:chOff x="3086" y="1545"/>
            <a:chExt cx="1765" cy="858"/>
          </a:xfrm>
        </p:grpSpPr>
        <p:sp>
          <p:nvSpPr>
            <p:cNvPr id="96262" name="Rectangle 6"/>
            <p:cNvSpPr>
              <a:spLocks noChangeArrowheads="1"/>
            </p:cNvSpPr>
            <p:nvPr/>
          </p:nvSpPr>
          <p:spPr bwMode="auto">
            <a:xfrm>
              <a:off x="3086" y="1545"/>
              <a:ext cx="1765" cy="858"/>
            </a:xfrm>
            <a:prstGeom prst="rect">
              <a:avLst/>
            </a:prstGeom>
            <a:solidFill>
              <a:schemeClr val="bg1"/>
            </a:solidFill>
            <a:ln w="9525">
              <a:solidFill>
                <a:schemeClr val="tx1"/>
              </a:solidFill>
              <a:miter lim="800000"/>
              <a:headEnd/>
              <a:tailEnd/>
            </a:ln>
            <a:effectLst>
              <a:outerShdw dist="35921" dir="2700000" algn="ctr" rotWithShape="0">
                <a:srgbClr val="B2B2B2"/>
              </a:outerShdw>
            </a:effectLst>
          </p:spPr>
          <p:txBody>
            <a:bodyPr wrap="none" anchor="ctr"/>
            <a:lstStyle/>
            <a:p>
              <a:pPr>
                <a:lnSpc>
                  <a:spcPct val="95000"/>
                </a:lnSpc>
              </a:pPr>
              <a:r>
                <a:rPr lang="fr-FR" sz="1500"/>
                <a:t>PC de bureau ou familial </a:t>
              </a:r>
              <a:endParaRPr lang="en-US" sz="1500"/>
            </a:p>
            <a:p>
              <a:pPr>
                <a:lnSpc>
                  <a:spcPct val="95000"/>
                </a:lnSpc>
              </a:pPr>
              <a:r>
                <a:rPr lang="en-US" sz="1500">
                  <a:solidFill>
                    <a:schemeClr val="bg1"/>
                  </a:solidFill>
                </a:rPr>
                <a:t>Portable/Laptop</a:t>
              </a:r>
            </a:p>
            <a:p>
              <a:pPr>
                <a:lnSpc>
                  <a:spcPct val="95000"/>
                </a:lnSpc>
              </a:pPr>
              <a:r>
                <a:rPr lang="en-US" sz="1500"/>
                <a:t>Présentation</a:t>
              </a:r>
            </a:p>
            <a:p>
              <a:pPr>
                <a:lnSpc>
                  <a:spcPct val="95000"/>
                </a:lnSpc>
              </a:pPr>
              <a:r>
                <a:rPr lang="en-US" sz="1500"/>
                <a:t>Toujours actif</a:t>
              </a:r>
            </a:p>
            <a:p>
              <a:pPr>
                <a:lnSpc>
                  <a:spcPct val="95000"/>
                </a:lnSpc>
              </a:pPr>
              <a:r>
                <a:rPr lang="fr-FR" sz="1500"/>
                <a:t>Gestion d'alimentation minimale</a:t>
              </a:r>
              <a:endParaRPr lang="en-US" sz="1500"/>
            </a:p>
            <a:p>
              <a:pPr>
                <a:lnSpc>
                  <a:spcPct val="95000"/>
                </a:lnSpc>
              </a:pPr>
              <a:r>
                <a:rPr lang="fr-FR" sz="1500"/>
                <a:t>Niveau de batterie maximal</a:t>
              </a:r>
              <a:endParaRPr lang="en-US" sz="1500"/>
            </a:p>
          </p:txBody>
        </p:sp>
        <p:sp>
          <p:nvSpPr>
            <p:cNvPr id="96263" name="Rectangle 7"/>
            <p:cNvSpPr>
              <a:spLocks noChangeArrowheads="1"/>
            </p:cNvSpPr>
            <p:nvPr/>
          </p:nvSpPr>
          <p:spPr bwMode="auto">
            <a:xfrm>
              <a:off x="3094" y="1690"/>
              <a:ext cx="1733" cy="145"/>
            </a:xfrm>
            <a:prstGeom prst="rect">
              <a:avLst/>
            </a:prstGeom>
            <a:solidFill>
              <a:srgbClr val="333399"/>
            </a:solidFill>
            <a:ln w="9525">
              <a:noFill/>
              <a:miter lim="800000"/>
              <a:headEnd/>
              <a:tailEnd/>
            </a:ln>
            <a:effectLst/>
          </p:spPr>
          <p:txBody>
            <a:bodyPr wrap="none" anchor="ctr"/>
            <a:lstStyle/>
            <a:p>
              <a:pPr>
                <a:lnSpc>
                  <a:spcPct val="95000"/>
                </a:lnSpc>
              </a:pPr>
              <a:r>
                <a:rPr lang="en-US" sz="1500">
                  <a:solidFill>
                    <a:schemeClr val="bg1"/>
                  </a:solidFill>
                </a:rPr>
                <a:t>Ordinateur portable</a:t>
              </a:r>
              <a:endParaRPr lang="en-US"/>
            </a:p>
          </p:txBody>
        </p:sp>
      </p:grpSp>
      <p:sp>
        <p:nvSpPr>
          <p:cNvPr id="96264" name="AutoShape 8"/>
          <p:cNvSpPr>
            <a:spLocks noChangeArrowheads="1"/>
          </p:cNvSpPr>
          <p:nvPr/>
        </p:nvSpPr>
        <p:spPr bwMode="auto">
          <a:xfrm>
            <a:off x="4674286" y="4180109"/>
            <a:ext cx="3905250" cy="953407"/>
          </a:xfrm>
          <a:prstGeom prst="leftArrowCallout">
            <a:avLst>
              <a:gd name="adj1" fmla="val 47370"/>
              <a:gd name="adj2" fmla="val 45347"/>
              <a:gd name="adj3" fmla="val 93842"/>
              <a:gd name="adj4" fmla="val 69319"/>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lIns="274320" tIns="27432" bIns="27432" anchor="ctr"/>
          <a:lstStyle/>
          <a:p>
            <a:r>
              <a:rPr lang="en-US" sz="2000"/>
              <a:t>Sélectionnez un </a:t>
            </a:r>
            <a:br>
              <a:rPr lang="en-US" sz="2000"/>
            </a:br>
            <a:r>
              <a:rPr lang="en-US" sz="2000"/>
              <a:t>mode de gestion de l'alimentation</a:t>
            </a:r>
          </a:p>
        </p:txBody>
      </p:sp>
      <p:sp>
        <p:nvSpPr>
          <p:cNvPr id="96265" name="Rectangle 9"/>
          <p:cNvSpPr>
            <a:spLocks noChangeArrowheads="1"/>
          </p:cNvSpPr>
          <p:nvPr/>
        </p:nvSpPr>
        <p:spPr bwMode="auto">
          <a:xfrm>
            <a:off x="2123173" y="5685966"/>
            <a:ext cx="2546350" cy="349250"/>
          </a:xfrm>
          <a:prstGeom prst="rect">
            <a:avLst/>
          </a:prstGeom>
          <a:noFill/>
          <a:ln w="57150">
            <a:solidFill>
              <a:schemeClr val="accent2"/>
            </a:solidFill>
            <a:miter lim="800000"/>
            <a:headEnd/>
            <a:tailEnd/>
          </a:ln>
          <a:effectLst>
            <a:outerShdw dist="35921" dir="2700000" algn="ctr" rotWithShape="0">
              <a:srgbClr val="FFFFFF"/>
            </a:outerShdw>
          </a:effectLst>
        </p:spPr>
        <p:txBody>
          <a:bodyPr wrap="none" anchor="ctr"/>
          <a:lstStyle/>
          <a:p>
            <a:endParaRPr lang="fr-FR"/>
          </a:p>
        </p:txBody>
      </p:sp>
      <p:sp>
        <p:nvSpPr>
          <p:cNvPr id="96266" name="AutoShape 10"/>
          <p:cNvSpPr>
            <a:spLocks noChangeArrowheads="1"/>
          </p:cNvSpPr>
          <p:nvPr/>
        </p:nvSpPr>
        <p:spPr bwMode="auto">
          <a:xfrm>
            <a:off x="4165605" y="5152341"/>
            <a:ext cx="4717143" cy="1683883"/>
          </a:xfrm>
          <a:prstGeom prst="leftArrowCallout">
            <a:avLst>
              <a:gd name="adj1" fmla="val 35565"/>
              <a:gd name="adj2" fmla="val 32287"/>
              <a:gd name="adj3" fmla="val 66216"/>
              <a:gd name="adj4" fmla="val 68986"/>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lIns="274320" tIns="27432" bIns="27432" anchor="ctr"/>
          <a:lstStyle/>
          <a:p>
            <a:r>
              <a:rPr lang="en-US" sz="2000" dirty="0" err="1"/>
              <a:t>Sélectionnez</a:t>
            </a:r>
            <a:r>
              <a:rPr lang="en-US" sz="2000" dirty="0"/>
              <a:t> le moment </a:t>
            </a:r>
            <a:r>
              <a:rPr lang="en-US" sz="2000" dirty="0" err="1"/>
              <a:t>où</a:t>
            </a:r>
            <a:r>
              <a:rPr lang="en-US" sz="2000" dirty="0"/>
              <a:t> </a:t>
            </a:r>
            <a:r>
              <a:rPr lang="en-US" sz="2000" dirty="0" err="1"/>
              <a:t>l'ordinateur</a:t>
            </a:r>
            <a:r>
              <a:rPr lang="en-US" sz="2000" dirty="0"/>
              <a:t> </a:t>
            </a:r>
            <a:r>
              <a:rPr lang="en-US" sz="2000" dirty="0" err="1"/>
              <a:t>doit</a:t>
            </a:r>
            <a:r>
              <a:rPr lang="en-US" sz="2000" dirty="0"/>
              <a:t> </a:t>
            </a:r>
            <a:r>
              <a:rPr lang="en-US" sz="2000" dirty="0" err="1"/>
              <a:t>être</a:t>
            </a:r>
            <a:r>
              <a:rPr lang="en-US" sz="2000" dirty="0"/>
              <a:t> </a:t>
            </a:r>
            <a:r>
              <a:rPr lang="en-US" sz="2000" dirty="0" err="1"/>
              <a:t>mis</a:t>
            </a:r>
            <a:r>
              <a:rPr lang="en-US" sz="2000" dirty="0"/>
              <a:t> en </a:t>
            </a:r>
            <a:r>
              <a:rPr lang="en-US" sz="2000" dirty="0" err="1"/>
              <a:t>veille</a:t>
            </a:r>
            <a:r>
              <a:rPr lang="en-US" sz="2000" dirty="0"/>
              <a:t> </a:t>
            </a:r>
            <a:r>
              <a:rPr lang="en-US" sz="2000" dirty="0" err="1" smtClean="0"/>
              <a:t>prolongée</a:t>
            </a:r>
            <a:r>
              <a:rPr lang="en-US" sz="2000" dirty="0" smtClean="0"/>
              <a:t> </a:t>
            </a:r>
            <a:r>
              <a:rPr lang="en-US" sz="2000" dirty="0" err="1"/>
              <a:t>automatiquement</a:t>
            </a:r>
            <a:endParaRPr lang="en-US" sz="2000" dirty="0"/>
          </a:p>
        </p:txBody>
      </p:sp>
      <p:sp>
        <p:nvSpPr>
          <p:cNvPr id="96267" name="Freeform 11"/>
          <p:cNvSpPr>
            <a:spLocks/>
          </p:cNvSpPr>
          <p:nvPr/>
        </p:nvSpPr>
        <p:spPr bwMode="auto">
          <a:xfrm rot="21153297" flipV="1">
            <a:off x="2572436" y="2660191"/>
            <a:ext cx="1614487" cy="539750"/>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28398" dir="3806097" algn="ctr" rotWithShape="0">
              <a:srgbClr val="FFFFFF"/>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checkerboard(across)">
                                      <p:cBhvr>
                                        <p:cTn id="7" dur="1000"/>
                                        <p:tgtEl>
                                          <p:spTgt spid="9626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6267"/>
                                        </p:tgtEl>
                                        <p:attrNameLst>
                                          <p:attrName>style.visibility</p:attrName>
                                        </p:attrNameLst>
                                      </p:cBhvr>
                                      <p:to>
                                        <p:strVal val="visible"/>
                                      </p:to>
                                    </p:set>
                                    <p:animEffect transition="in" filter="checkerboard(across)">
                                      <p:cBhvr>
                                        <p:cTn id="12" dur="1000"/>
                                        <p:tgtEl>
                                          <p:spTgt spid="96267"/>
                                        </p:tgtEl>
                                      </p:cBhvr>
                                    </p:animEffect>
                                  </p:childTnLst>
                                </p:cTn>
                              </p:par>
                              <p:par>
                                <p:cTn id="13" presetID="5" presetClass="entr" presetSubtype="10" fill="hold" nodeType="withEffect">
                                  <p:stCondLst>
                                    <p:cond delay="0"/>
                                  </p:stCondLst>
                                  <p:childTnLst>
                                    <p:set>
                                      <p:cBhvr>
                                        <p:cTn id="14" dur="1" fill="hold">
                                          <p:stCondLst>
                                            <p:cond delay="0"/>
                                          </p:stCondLst>
                                        </p:cTn>
                                        <p:tgtEl>
                                          <p:spTgt spid="96261"/>
                                        </p:tgtEl>
                                        <p:attrNameLst>
                                          <p:attrName>style.visibility</p:attrName>
                                        </p:attrNameLst>
                                      </p:cBhvr>
                                      <p:to>
                                        <p:strVal val="visible"/>
                                      </p:to>
                                    </p:set>
                                    <p:animEffect transition="in" filter="checkerboard(across)">
                                      <p:cBhvr>
                                        <p:cTn id="15" dur="1000"/>
                                        <p:tgtEl>
                                          <p:spTgt spid="96261"/>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96264"/>
                                        </p:tgtEl>
                                        <p:attrNameLst>
                                          <p:attrName>style.visibility</p:attrName>
                                        </p:attrNameLst>
                                      </p:cBhvr>
                                      <p:to>
                                        <p:strVal val="visible"/>
                                      </p:to>
                                    </p:set>
                                    <p:animEffect transition="in" filter="checkerboard(across)">
                                      <p:cBhvr>
                                        <p:cTn id="20" dur="500"/>
                                        <p:tgtEl>
                                          <p:spTgt spid="96264"/>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96266"/>
                                        </p:tgtEl>
                                        <p:attrNameLst>
                                          <p:attrName>style.visibility</p:attrName>
                                        </p:attrNameLst>
                                      </p:cBhvr>
                                      <p:to>
                                        <p:strVal val="visible"/>
                                      </p:to>
                                    </p:set>
                                    <p:animEffect transition="in" filter="checkerboard(across)">
                                      <p:cBhvr>
                                        <p:cTn id="25" dur="500"/>
                                        <p:tgtEl>
                                          <p:spTgt spid="96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animBg="1"/>
      <p:bldP spid="96264" grpId="0" animBg="1"/>
      <p:bldP spid="96266" grpId="0" animBg="1"/>
      <p:bldP spid="9626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noFill/>
          <a:ln/>
        </p:spPr>
        <p:txBody>
          <a:bodyPr vert="horz" anchor="b">
            <a:normAutofit fontScale="90000"/>
          </a:bodyPr>
          <a:lstStyle/>
          <a:p>
            <a:r>
              <a:rPr lang="fr-FR" sz="3000" dirty="0" smtClean="0">
                <a:solidFill>
                  <a:srgbClr val="C00000"/>
                </a:solidFill>
                <a:cs typeface="Times New Roman" pitchFamily="18" charset="0"/>
              </a:rPr>
              <a:t>Choix d'un mode de gestion de l'alimentation</a:t>
            </a:r>
            <a:endParaRPr lang="fr-FR" sz="3000" dirty="0">
              <a:solidFill>
                <a:srgbClr val="C00000"/>
              </a:solidFill>
              <a:cs typeface="Times New Roman" pitchFamily="18" charset="0"/>
            </a:endParaRPr>
          </a:p>
        </p:txBody>
      </p:sp>
      <p:graphicFrame>
        <p:nvGraphicFramePr>
          <p:cNvPr id="5" name="Tableau 4"/>
          <p:cNvGraphicFramePr>
            <a:graphicFrameLocks noGrp="1"/>
          </p:cNvGraphicFramePr>
          <p:nvPr/>
        </p:nvGraphicFramePr>
        <p:xfrm>
          <a:off x="174168" y="1397002"/>
          <a:ext cx="8911771" cy="5364480"/>
        </p:xfrm>
        <a:graphic>
          <a:graphicData uri="http://schemas.openxmlformats.org/drawingml/2006/table">
            <a:tbl>
              <a:tblPr firstRow="1" bandRow="1">
                <a:tableStyleId>{5C22544A-7EE6-4342-B048-85BDC9FD1C3A}</a:tableStyleId>
              </a:tblPr>
              <a:tblGrid>
                <a:gridCol w="2699661"/>
                <a:gridCol w="6212110"/>
              </a:tblGrid>
              <a:tr h="69305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000" dirty="0" smtClean="0">
                          <a:solidFill>
                            <a:schemeClr val="tx1"/>
                          </a:solidFill>
                        </a:rPr>
                        <a:t>Mode de gestion de l'alimentation</a:t>
                      </a:r>
                      <a:endParaRPr lang="fr-FR" sz="2000" dirty="0">
                        <a:solidFill>
                          <a:schemeClr val="tx1"/>
                        </a:solidFill>
                      </a:endParaRPr>
                    </a:p>
                  </a:txBody>
                  <a:tcPr/>
                </a:tc>
                <a:tc>
                  <a:txBody>
                    <a:bodyPr/>
                    <a:lstStyle/>
                    <a:p>
                      <a:pPr algn="ctr"/>
                      <a:r>
                        <a:rPr lang="fr-FR" sz="2000" dirty="0" smtClean="0">
                          <a:solidFill>
                            <a:schemeClr val="tx1"/>
                          </a:solidFill>
                        </a:rPr>
                        <a:t>Description</a:t>
                      </a:r>
                      <a:endParaRPr lang="fr-FR" sz="2000" dirty="0">
                        <a:solidFill>
                          <a:schemeClr val="tx1"/>
                        </a:solidFill>
                      </a:endParaRPr>
                    </a:p>
                  </a:txBody>
                  <a:tcPr/>
                </a:tc>
              </a:tr>
              <a:tr h="370840">
                <a:tc>
                  <a:txBody>
                    <a:bodyPr/>
                    <a:lstStyle/>
                    <a:p>
                      <a:r>
                        <a:rPr lang="fr-FR" sz="1800" dirty="0" smtClean="0"/>
                        <a:t>PC de bureau ou familial</a:t>
                      </a:r>
                    </a:p>
                    <a:p>
                      <a:endParaRPr lang="fr-FR" sz="1800" dirty="0"/>
                    </a:p>
                  </a:txBody>
                  <a:tcPr/>
                </a:tc>
                <a:tc>
                  <a:txBody>
                    <a:bodyPr/>
                    <a:lstStyle/>
                    <a:p>
                      <a:r>
                        <a:rPr lang="fr-FR" sz="1800" dirty="0" smtClean="0"/>
                        <a:t>Maintient une alimentation constante du disque  dur et du système lorsque l'ordinateur est connecté.</a:t>
                      </a:r>
                      <a:endParaRPr lang="fr-FR" sz="1800" dirty="0"/>
                    </a:p>
                  </a:txBody>
                  <a:tcPr/>
                </a:tc>
              </a:tr>
              <a:tr h="370840">
                <a:tc>
                  <a:txBody>
                    <a:bodyPr/>
                    <a:lstStyle/>
                    <a:p>
                      <a:r>
                        <a:rPr lang="fr-FR" sz="1800" dirty="0" smtClean="0"/>
                        <a:t>Ordinateur portable</a:t>
                      </a:r>
                      <a:endParaRPr lang="fr-FR"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800" dirty="0" smtClean="0"/>
                        <a:t>Désactive tous les paramètres après 5 à 30 minutes d'inactivité.</a:t>
                      </a:r>
                      <a:endParaRPr lang="fr-FR" sz="1800" dirty="0"/>
                    </a:p>
                  </a:txBody>
                  <a:tcPr/>
                </a:tc>
              </a:tr>
              <a:tr h="1055253">
                <a:tc>
                  <a:txBody>
                    <a:bodyPr/>
                    <a:lstStyle/>
                    <a:p>
                      <a:r>
                        <a:rPr lang="fr-FR" sz="1800" dirty="0" smtClean="0"/>
                        <a:t>Présentation</a:t>
                      </a:r>
                      <a:endParaRPr lang="fr-FR" sz="1800" dirty="0"/>
                    </a:p>
                  </a:txBody>
                  <a:tcPr/>
                </a:tc>
                <a:tc>
                  <a:txBody>
                    <a:bodyPr/>
                    <a:lstStyle/>
                    <a:p>
                      <a:r>
                        <a:rPr lang="fr-FR" sz="1800" dirty="0" smtClean="0"/>
                        <a:t>Maintient une alimentation constante du moniteur, que l'ordinateur soit alimenté par le secteur ou fonctionne sur batteries. Maintient une alimentation constante du disque dur et du système lorsque  l'ordinateur est connecté.</a:t>
                      </a:r>
                      <a:endParaRPr lang="fr-FR" sz="1800" dirty="0"/>
                    </a:p>
                  </a:txBody>
                  <a:tcPr/>
                </a:tc>
              </a:tr>
              <a:tr h="370840">
                <a:tc>
                  <a:txBody>
                    <a:bodyPr/>
                    <a:lstStyle/>
                    <a:p>
                      <a:r>
                        <a:rPr lang="fr-FR" sz="1800" dirty="0" smtClean="0"/>
                        <a:t>Toujours actif</a:t>
                      </a:r>
                    </a:p>
                    <a:p>
                      <a:endParaRPr lang="fr-FR" sz="1800" dirty="0"/>
                    </a:p>
                  </a:txBody>
                  <a:tcPr/>
                </a:tc>
                <a:tc>
                  <a:txBody>
                    <a:bodyPr/>
                    <a:lstStyle/>
                    <a:p>
                      <a:r>
                        <a:rPr lang="fr-FR" sz="1800" dirty="0" smtClean="0"/>
                        <a:t>Maintient une alimentation constante du système, que l'ordinateur soit alimenté par le secteur ou fonctionne sur batteries.</a:t>
                      </a:r>
                      <a:endParaRPr lang="fr-FR" sz="1800" dirty="0"/>
                    </a:p>
                  </a:txBody>
                  <a:tcPr/>
                </a:tc>
              </a:tr>
              <a:tr h="370840">
                <a:tc>
                  <a:txBody>
                    <a:bodyPr/>
                    <a:lstStyle/>
                    <a:p>
                      <a:r>
                        <a:rPr kumimoji="0" lang="fr-FR" sz="1800" kern="1200" dirty="0" smtClean="0">
                          <a:solidFill>
                            <a:schemeClr val="dk1"/>
                          </a:solidFill>
                          <a:latin typeface="+mn-lt"/>
                          <a:ea typeface="+mn-ea"/>
                          <a:cs typeface="+mn-cs"/>
                        </a:rPr>
                        <a:t>Gestion d'alimentation</a:t>
                      </a:r>
                    </a:p>
                    <a:p>
                      <a:r>
                        <a:rPr kumimoji="0" lang="fr-FR" sz="1800" kern="1200" dirty="0" smtClean="0">
                          <a:solidFill>
                            <a:schemeClr val="dk1"/>
                          </a:solidFill>
                          <a:latin typeface="+mn-lt"/>
                          <a:ea typeface="+mn-ea"/>
                          <a:cs typeface="+mn-cs"/>
                        </a:rPr>
                        <a:t>minimale</a:t>
                      </a:r>
                    </a:p>
                  </a:txBody>
                  <a:tcPr/>
                </a:tc>
                <a:tc>
                  <a:txBody>
                    <a:bodyPr/>
                    <a:lstStyle/>
                    <a:p>
                      <a:r>
                        <a:rPr kumimoji="0" lang="fr-FR" sz="1800" kern="1200" baseline="0" dirty="0" smtClean="0">
                          <a:solidFill>
                            <a:schemeClr val="dk1"/>
                          </a:solidFill>
                          <a:latin typeface="+mn-lt"/>
                          <a:ea typeface="+mn-ea"/>
                          <a:cs typeface="+mn-cs"/>
                        </a:rPr>
                        <a:t>Maintient une alimentation constante du disque dur et du</a:t>
                      </a:r>
                    </a:p>
                    <a:p>
                      <a:r>
                        <a:rPr kumimoji="0" lang="fr-FR" sz="1800" kern="1200" baseline="0" dirty="0" smtClean="0">
                          <a:solidFill>
                            <a:schemeClr val="dk1"/>
                          </a:solidFill>
                          <a:latin typeface="+mn-lt"/>
                          <a:ea typeface="+mn-ea"/>
                          <a:cs typeface="+mn-cs"/>
                        </a:rPr>
                        <a:t>système lorsque l'ordinateur est connecté.</a:t>
                      </a:r>
                      <a:endParaRPr lang="fr-FR" sz="1800" dirty="0"/>
                    </a:p>
                  </a:txBody>
                  <a:tcPr/>
                </a:tc>
              </a:tr>
              <a:tr h="370840">
                <a:tc>
                  <a:txBody>
                    <a:bodyPr/>
                    <a:lstStyle/>
                    <a:p>
                      <a:r>
                        <a:rPr kumimoji="0" lang="fr-FR" sz="1800" kern="1200" dirty="0" smtClean="0">
                          <a:solidFill>
                            <a:schemeClr val="dk1"/>
                          </a:solidFill>
                          <a:latin typeface="+mn-lt"/>
                          <a:ea typeface="+mn-ea"/>
                          <a:cs typeface="+mn-cs"/>
                        </a:rPr>
                        <a:t>Niveau de batterie maximal</a:t>
                      </a:r>
                    </a:p>
                  </a:txBody>
                  <a:tcPr/>
                </a:tc>
                <a:tc>
                  <a:txBody>
                    <a:bodyPr/>
                    <a:lstStyle/>
                    <a:p>
                      <a:r>
                        <a:rPr kumimoji="0" lang="fr-FR" sz="1800" kern="1200" baseline="0" dirty="0" smtClean="0">
                          <a:solidFill>
                            <a:schemeClr val="dk1"/>
                          </a:solidFill>
                          <a:latin typeface="+mn-lt"/>
                          <a:ea typeface="+mn-ea"/>
                          <a:cs typeface="+mn-cs"/>
                        </a:rPr>
                        <a:t>Maintient une alimentation constante du disque dur</a:t>
                      </a:r>
                    </a:p>
                    <a:p>
                      <a:r>
                        <a:rPr kumimoji="0" lang="fr-FR" sz="1800" kern="1200" baseline="0" dirty="0" smtClean="0">
                          <a:solidFill>
                            <a:schemeClr val="dk1"/>
                          </a:solidFill>
                          <a:latin typeface="+mn-lt"/>
                          <a:ea typeface="+mn-ea"/>
                          <a:cs typeface="+mn-cs"/>
                        </a:rPr>
                        <a:t>lorsque l'ordinateur est connecté</a:t>
                      </a:r>
                      <a:endParaRPr lang="fr-FR" sz="1800"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p:cNvSpPr>
            <a:spLocks noChangeArrowheads="1"/>
          </p:cNvSpPr>
          <p:nvPr/>
        </p:nvSpPr>
        <p:spPr bwMode="auto">
          <a:xfrm>
            <a:off x="333829" y="4281708"/>
            <a:ext cx="7814809" cy="2035175"/>
          </a:xfrm>
          <a:prstGeom prst="rect">
            <a:avLst/>
          </a:prstGeom>
          <a:gradFill rotWithShape="0">
            <a:gsLst>
              <a:gs pos="0">
                <a:srgbClr val="FCFEBC"/>
              </a:gs>
              <a:gs pos="100000">
                <a:srgbClr val="FFFFEB"/>
              </a:gs>
            </a:gsLst>
            <a:lin ang="5400000" scaled="1"/>
          </a:gradFill>
          <a:ln w="9525">
            <a:noFill/>
            <a:miter lim="800000"/>
            <a:headEnd/>
            <a:tailEnd/>
          </a:ln>
          <a:effectLst/>
        </p:spPr>
        <p:txBody>
          <a:bodyPr wrap="none" tIns="137160"/>
          <a:lstStyle/>
          <a:p>
            <a:pPr marL="166688" indent="-166688">
              <a:spcAft>
                <a:spcPct val="10000"/>
              </a:spcAft>
              <a:buClr>
                <a:schemeClr val="accent2"/>
              </a:buClr>
              <a:buSzPct val="70000"/>
              <a:buFont typeface="Wingdings" pitchFamily="2" charset="2"/>
              <a:buChar char="n"/>
            </a:pPr>
            <a:r>
              <a:rPr lang="fr-FR" sz="2200" dirty="0">
                <a:latin typeface="Arial Narrow" pitchFamily="34" charset="0"/>
              </a:rPr>
              <a:t> </a:t>
            </a:r>
            <a:r>
              <a:rPr lang="fr-FR" sz="2000" dirty="0"/>
              <a:t>Veille prolongée</a:t>
            </a:r>
          </a:p>
          <a:p>
            <a:pPr marL="630238" lvl="1" indent="-277813" eaLnBrk="1" hangingPunct="1">
              <a:spcAft>
                <a:spcPct val="10000"/>
              </a:spcAft>
              <a:buClr>
                <a:schemeClr val="accent2"/>
              </a:buClr>
              <a:buSzPct val="60000"/>
              <a:buFont typeface="Wingdings" pitchFamily="2" charset="2"/>
              <a:buChar char="l"/>
            </a:pPr>
            <a:r>
              <a:rPr lang="fr-FR" sz="2000" b="0" dirty="0"/>
              <a:t>Pour les périodes prolongées de non-utilisation</a:t>
            </a:r>
          </a:p>
          <a:p>
            <a:pPr marL="630238" lvl="1" indent="-277813" eaLnBrk="1" hangingPunct="1">
              <a:spcAft>
                <a:spcPct val="10000"/>
              </a:spcAft>
              <a:buClr>
                <a:schemeClr val="accent2"/>
              </a:buClr>
              <a:buSzPct val="60000"/>
              <a:buFont typeface="Wingdings" pitchFamily="2" charset="2"/>
              <a:buChar char="l"/>
            </a:pPr>
            <a:r>
              <a:rPr lang="fr-FR" sz="2000" b="0" dirty="0"/>
              <a:t>Le bureau est enregistré sur le disque dur</a:t>
            </a:r>
          </a:p>
          <a:p>
            <a:pPr marL="630238" lvl="1" indent="-277813" eaLnBrk="1" hangingPunct="1">
              <a:spcAft>
                <a:spcPct val="10000"/>
              </a:spcAft>
              <a:buClr>
                <a:schemeClr val="accent2"/>
              </a:buClr>
              <a:buSzPct val="60000"/>
              <a:buFont typeface="Wingdings" pitchFamily="2" charset="2"/>
              <a:buChar char="l"/>
            </a:pPr>
            <a:r>
              <a:rPr lang="fr-FR" sz="2000" b="0" dirty="0" smtClean="0"/>
              <a:t>Le </a:t>
            </a:r>
            <a:r>
              <a:rPr lang="fr-FR" sz="2000" b="0" dirty="0"/>
              <a:t>moniteur et les disques </a:t>
            </a:r>
            <a:r>
              <a:rPr lang="fr-FR" sz="2000" b="0" dirty="0" smtClean="0"/>
              <a:t>durs sont </a:t>
            </a:r>
            <a:r>
              <a:rPr lang="fr-FR" sz="2000" b="0" dirty="0"/>
              <a:t>arrêtés automatiquement</a:t>
            </a:r>
          </a:p>
          <a:p>
            <a:pPr marL="630238" lvl="1" indent="-277813" eaLnBrk="1" hangingPunct="1">
              <a:spcAft>
                <a:spcPct val="10000"/>
              </a:spcAft>
              <a:buClr>
                <a:schemeClr val="accent2"/>
              </a:buClr>
              <a:buSzPct val="60000"/>
              <a:buFont typeface="Wingdings" pitchFamily="2" charset="2"/>
              <a:buChar char="l"/>
            </a:pPr>
            <a:r>
              <a:rPr lang="fr-FR" sz="2000" b="0" dirty="0"/>
              <a:t>Le système s'arrête</a:t>
            </a:r>
          </a:p>
        </p:txBody>
      </p:sp>
      <p:sp>
        <p:nvSpPr>
          <p:cNvPr id="98309" name="Rectangle 5"/>
          <p:cNvSpPr>
            <a:spLocks noChangeArrowheads="1"/>
          </p:cNvSpPr>
          <p:nvPr/>
        </p:nvSpPr>
        <p:spPr bwMode="auto">
          <a:xfrm>
            <a:off x="319314" y="2224308"/>
            <a:ext cx="7829324" cy="1949450"/>
          </a:xfrm>
          <a:prstGeom prst="rect">
            <a:avLst/>
          </a:prstGeom>
          <a:gradFill rotWithShape="0">
            <a:gsLst>
              <a:gs pos="0">
                <a:srgbClr val="FCFEBC"/>
              </a:gs>
              <a:gs pos="100000">
                <a:srgbClr val="FFFFEB"/>
              </a:gs>
            </a:gsLst>
            <a:lin ang="5400000" scaled="1"/>
          </a:gradFill>
          <a:ln w="9525">
            <a:noFill/>
            <a:miter lim="800000"/>
            <a:headEnd/>
            <a:tailEnd/>
          </a:ln>
          <a:effectLst/>
        </p:spPr>
        <p:txBody>
          <a:bodyPr wrap="square" tIns="137160"/>
          <a:lstStyle/>
          <a:p>
            <a:pPr marL="166688" indent="-166688">
              <a:spcAft>
                <a:spcPct val="10000"/>
              </a:spcAft>
              <a:buClr>
                <a:schemeClr val="accent2"/>
              </a:buClr>
              <a:buSzPct val="70000"/>
              <a:buFont typeface="Wingdings" pitchFamily="2" charset="2"/>
              <a:buChar char="n"/>
            </a:pPr>
            <a:r>
              <a:rPr lang="fr-FR" sz="2200" dirty="0">
                <a:latin typeface="Arial Narrow" pitchFamily="34" charset="0"/>
              </a:rPr>
              <a:t> </a:t>
            </a:r>
            <a:r>
              <a:rPr lang="fr-FR" sz="2000" dirty="0"/>
              <a:t>Veille</a:t>
            </a:r>
          </a:p>
          <a:p>
            <a:pPr marL="633413" lvl="1" indent="-280988" eaLnBrk="1" hangingPunct="1">
              <a:spcAft>
                <a:spcPct val="10000"/>
              </a:spcAft>
              <a:buClr>
                <a:schemeClr val="accent2"/>
              </a:buClr>
              <a:buSzPct val="60000"/>
              <a:buFont typeface="Wingdings" pitchFamily="2" charset="2"/>
              <a:buChar char="l"/>
            </a:pPr>
            <a:r>
              <a:rPr lang="fr-FR" sz="2000" b="0" dirty="0"/>
              <a:t>Pour les courtes périodes de non-utilisation</a:t>
            </a:r>
          </a:p>
          <a:p>
            <a:pPr marL="633413" lvl="1" indent="-280988" eaLnBrk="1" hangingPunct="1">
              <a:spcAft>
                <a:spcPct val="10000"/>
              </a:spcAft>
              <a:buClr>
                <a:schemeClr val="accent2"/>
              </a:buClr>
              <a:buSzPct val="60000"/>
              <a:buFont typeface="Wingdings" pitchFamily="2" charset="2"/>
              <a:buChar char="l"/>
            </a:pPr>
            <a:r>
              <a:rPr lang="fr-FR" sz="2000" b="0" dirty="0"/>
              <a:t>Le moniteur et les disques durs sont arrêtés </a:t>
            </a:r>
            <a:r>
              <a:rPr lang="fr-FR" sz="2000" b="0" dirty="0" smtClean="0"/>
              <a:t>automatiquement</a:t>
            </a:r>
            <a:endParaRPr lang="fr-FR" sz="2000" b="0" dirty="0"/>
          </a:p>
          <a:p>
            <a:pPr marL="633413" lvl="1" indent="-280988" eaLnBrk="1" hangingPunct="1">
              <a:spcAft>
                <a:spcPct val="10000"/>
              </a:spcAft>
              <a:buClr>
                <a:schemeClr val="accent2"/>
              </a:buClr>
              <a:buSzPct val="60000"/>
              <a:buFont typeface="Wingdings" pitchFamily="2" charset="2"/>
              <a:buChar char="l"/>
            </a:pPr>
            <a:r>
              <a:rPr lang="fr-FR" sz="2000" b="0" dirty="0"/>
              <a:t>Le système d'exploitation continue de </a:t>
            </a:r>
            <a:r>
              <a:rPr lang="fr-FR" sz="2000" b="0" dirty="0" smtClean="0"/>
              <a:t>fonctionner </a:t>
            </a:r>
            <a:r>
              <a:rPr lang="fr-FR" sz="2000" b="0" dirty="0"/>
              <a:t>en mode de consommation réduite</a:t>
            </a:r>
          </a:p>
        </p:txBody>
      </p:sp>
      <p:sp>
        <p:nvSpPr>
          <p:cNvPr id="98310" name="Rectangle 6"/>
          <p:cNvSpPr>
            <a:spLocks noGrp="1" noChangeArrowheads="1"/>
          </p:cNvSpPr>
          <p:nvPr>
            <p:ph type="title"/>
          </p:nvPr>
        </p:nvSpPr>
        <p:spPr>
          <a:xfrm>
            <a:off x="301752" y="228599"/>
            <a:ext cx="8534400" cy="830943"/>
          </a:xfrm>
          <a:noFill/>
          <a:ln/>
        </p:spPr>
        <p:txBody>
          <a:bodyPr vert="horz" anchor="b">
            <a:normAutofit fontScale="90000"/>
          </a:bodyPr>
          <a:lstStyle/>
          <a:p>
            <a:r>
              <a:rPr lang="fr-FR" sz="3000" dirty="0">
                <a:solidFill>
                  <a:srgbClr val="C00000"/>
                </a:solidFill>
                <a:cs typeface="Times New Roman" pitchFamily="18" charset="0"/>
              </a:rPr>
              <a:t>Utilisation des options de gestion de l'alimentation</a:t>
            </a:r>
            <a:endParaRPr lang="en-US" sz="3000" dirty="0">
              <a:solidFill>
                <a:srgbClr val="C00000"/>
              </a:solidFill>
              <a:cs typeface="Times New Roman" pitchFamily="18" charset="0"/>
            </a:endParaRPr>
          </a:p>
        </p:txBody>
      </p:sp>
      <p:sp>
        <p:nvSpPr>
          <p:cNvPr id="98311" name="Rectangle 7"/>
          <p:cNvSpPr>
            <a:spLocks noChangeArrowheads="1"/>
          </p:cNvSpPr>
          <p:nvPr/>
        </p:nvSpPr>
        <p:spPr bwMode="auto">
          <a:xfrm>
            <a:off x="207056" y="1427388"/>
            <a:ext cx="8719230" cy="695325"/>
          </a:xfrm>
          <a:prstGeom prst="rect">
            <a:avLst/>
          </a:prstGeom>
          <a:noFill/>
          <a:ln w="9525">
            <a:noFill/>
            <a:miter lim="800000"/>
            <a:headEnd/>
            <a:tailEnd/>
          </a:ln>
          <a:effectLst/>
        </p:spPr>
        <p:txBody>
          <a:bodyPr wrap="square">
            <a:spAutoFit/>
          </a:bodyPr>
          <a:lstStyle/>
          <a:p>
            <a:pPr>
              <a:lnSpc>
                <a:spcPct val="90000"/>
              </a:lnSpc>
              <a:spcBef>
                <a:spcPct val="60000"/>
              </a:spcBef>
              <a:buClr>
                <a:srgbClr val="D60093"/>
              </a:buClr>
              <a:buSzPct val="70000"/>
              <a:buFont typeface="Wingdings" pitchFamily="2" charset="2"/>
              <a:buNone/>
            </a:pPr>
            <a:r>
              <a:rPr lang="fr-FR" sz="2200" dirty="0"/>
              <a:t>Les options de gestion de l'alimentation permettent de réduire la consommation :</a:t>
            </a:r>
          </a:p>
        </p:txBody>
      </p:sp>
      <p:grpSp>
        <p:nvGrpSpPr>
          <p:cNvPr id="98312" name="Group 8"/>
          <p:cNvGrpSpPr>
            <a:grpSpLocks/>
          </p:cNvGrpSpPr>
          <p:nvPr/>
        </p:nvGrpSpPr>
        <p:grpSpPr bwMode="auto">
          <a:xfrm>
            <a:off x="7467600" y="3880522"/>
            <a:ext cx="1676400" cy="1585912"/>
            <a:chOff x="3336" y="1544"/>
            <a:chExt cx="869" cy="761"/>
          </a:xfrm>
        </p:grpSpPr>
        <p:grpSp>
          <p:nvGrpSpPr>
            <p:cNvPr id="98313" name="Group 9"/>
            <p:cNvGrpSpPr>
              <a:grpSpLocks/>
            </p:cNvGrpSpPr>
            <p:nvPr/>
          </p:nvGrpSpPr>
          <p:grpSpPr bwMode="auto">
            <a:xfrm>
              <a:off x="3336" y="1544"/>
              <a:ext cx="869" cy="761"/>
              <a:chOff x="3336" y="1544"/>
              <a:chExt cx="869" cy="761"/>
            </a:xfrm>
          </p:grpSpPr>
          <p:sp>
            <p:nvSpPr>
              <p:cNvPr id="98314" name="Freeform 10"/>
              <p:cNvSpPr>
                <a:spLocks/>
              </p:cNvSpPr>
              <p:nvPr/>
            </p:nvSpPr>
            <p:spPr bwMode="auto">
              <a:xfrm>
                <a:off x="3608" y="1592"/>
                <a:ext cx="597" cy="582"/>
              </a:xfrm>
              <a:custGeom>
                <a:avLst/>
                <a:gdLst/>
                <a:ahLst/>
                <a:cxnLst>
                  <a:cxn ang="0">
                    <a:pos x="425" y="582"/>
                  </a:cxn>
                  <a:cxn ang="0">
                    <a:pos x="597" y="478"/>
                  </a:cxn>
                  <a:cxn ang="0">
                    <a:pos x="597" y="65"/>
                  </a:cxn>
                  <a:cxn ang="0">
                    <a:pos x="240" y="0"/>
                  </a:cxn>
                  <a:cxn ang="0">
                    <a:pos x="0" y="4"/>
                  </a:cxn>
                </a:cxnLst>
                <a:rect l="0" t="0" r="r" b="b"/>
                <a:pathLst>
                  <a:path w="597" h="582">
                    <a:moveTo>
                      <a:pt x="425" y="582"/>
                    </a:moveTo>
                    <a:lnTo>
                      <a:pt x="597" y="478"/>
                    </a:lnTo>
                    <a:lnTo>
                      <a:pt x="597" y="65"/>
                    </a:lnTo>
                    <a:lnTo>
                      <a:pt x="240" y="0"/>
                    </a:lnTo>
                    <a:lnTo>
                      <a:pt x="0" y="4"/>
                    </a:lnTo>
                  </a:path>
                </a:pathLst>
              </a:custGeom>
              <a:solidFill>
                <a:srgbClr val="DDDDDD"/>
              </a:solidFill>
              <a:ln w="3175" cap="rnd" cmpd="sng">
                <a:solidFill>
                  <a:schemeClr val="tx1"/>
                </a:solidFill>
                <a:prstDash val="solid"/>
                <a:round/>
                <a:headEnd type="none" w="med" len="med"/>
                <a:tailEnd type="none" w="med" len="med"/>
              </a:ln>
              <a:effectLst/>
            </p:spPr>
            <p:txBody>
              <a:bodyPr/>
              <a:lstStyle/>
              <a:p>
                <a:endParaRPr lang="fr-FR"/>
              </a:p>
            </p:txBody>
          </p:sp>
          <p:sp>
            <p:nvSpPr>
              <p:cNvPr id="98315" name="Freeform 11"/>
              <p:cNvSpPr>
                <a:spLocks/>
              </p:cNvSpPr>
              <p:nvPr/>
            </p:nvSpPr>
            <p:spPr bwMode="auto">
              <a:xfrm>
                <a:off x="3336" y="1544"/>
                <a:ext cx="721" cy="172"/>
              </a:xfrm>
              <a:custGeom>
                <a:avLst/>
                <a:gdLst/>
                <a:ahLst/>
                <a:cxnLst>
                  <a:cxn ang="0">
                    <a:pos x="591" y="169"/>
                  </a:cxn>
                  <a:cxn ang="0">
                    <a:pos x="0" y="40"/>
                  </a:cxn>
                  <a:cxn ang="0">
                    <a:pos x="176" y="0"/>
                  </a:cxn>
                  <a:cxn ang="0">
                    <a:pos x="721" y="123"/>
                  </a:cxn>
                  <a:cxn ang="0">
                    <a:pos x="591" y="172"/>
                  </a:cxn>
                </a:cxnLst>
                <a:rect l="0" t="0" r="r" b="b"/>
                <a:pathLst>
                  <a:path w="721" h="172">
                    <a:moveTo>
                      <a:pt x="591" y="169"/>
                    </a:moveTo>
                    <a:lnTo>
                      <a:pt x="0" y="40"/>
                    </a:lnTo>
                    <a:lnTo>
                      <a:pt x="176" y="0"/>
                    </a:lnTo>
                    <a:lnTo>
                      <a:pt x="721" y="123"/>
                    </a:lnTo>
                    <a:lnTo>
                      <a:pt x="591" y="172"/>
                    </a:lnTo>
                  </a:path>
                </a:pathLst>
              </a:custGeom>
              <a:solidFill>
                <a:srgbClr val="EAEAEA"/>
              </a:solidFill>
              <a:ln w="3175" cap="rnd" cmpd="sng">
                <a:solidFill>
                  <a:schemeClr val="tx1"/>
                </a:solidFill>
                <a:prstDash val="solid"/>
                <a:round/>
                <a:headEnd type="none" w="med" len="med"/>
                <a:tailEnd type="none" w="med" len="med"/>
              </a:ln>
              <a:effectLst/>
            </p:spPr>
            <p:txBody>
              <a:bodyPr/>
              <a:lstStyle/>
              <a:p>
                <a:endParaRPr lang="fr-FR"/>
              </a:p>
            </p:txBody>
          </p:sp>
          <p:sp>
            <p:nvSpPr>
              <p:cNvPr id="98316" name="Freeform 12"/>
              <p:cNvSpPr>
                <a:spLocks/>
              </p:cNvSpPr>
              <p:nvPr/>
            </p:nvSpPr>
            <p:spPr bwMode="auto">
              <a:xfrm flipH="1">
                <a:off x="3338" y="1581"/>
                <a:ext cx="592" cy="724"/>
              </a:xfrm>
              <a:custGeom>
                <a:avLst/>
                <a:gdLst/>
                <a:ahLst/>
                <a:cxnLst>
                  <a:cxn ang="0">
                    <a:pos x="0" y="899"/>
                  </a:cxn>
                  <a:cxn ang="0">
                    <a:pos x="0" y="159"/>
                  </a:cxn>
                  <a:cxn ang="0">
                    <a:pos x="801" y="0"/>
                  </a:cxn>
                  <a:cxn ang="0">
                    <a:pos x="801" y="691"/>
                  </a:cxn>
                  <a:cxn ang="0">
                    <a:pos x="1" y="902"/>
                  </a:cxn>
                </a:cxnLst>
                <a:rect l="0" t="0" r="r" b="b"/>
                <a:pathLst>
                  <a:path w="801" h="902">
                    <a:moveTo>
                      <a:pt x="0" y="899"/>
                    </a:moveTo>
                    <a:lnTo>
                      <a:pt x="0" y="159"/>
                    </a:lnTo>
                    <a:lnTo>
                      <a:pt x="801" y="0"/>
                    </a:lnTo>
                    <a:lnTo>
                      <a:pt x="801" y="691"/>
                    </a:lnTo>
                    <a:lnTo>
                      <a:pt x="1" y="902"/>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98317" name="Freeform 13"/>
              <p:cNvSpPr>
                <a:spLocks/>
              </p:cNvSpPr>
              <p:nvPr/>
            </p:nvSpPr>
            <p:spPr bwMode="auto">
              <a:xfrm flipH="1">
                <a:off x="3930" y="1666"/>
                <a:ext cx="127" cy="638"/>
              </a:xfrm>
              <a:custGeom>
                <a:avLst/>
                <a:gdLst/>
                <a:ahLst/>
                <a:cxnLst>
                  <a:cxn ang="0">
                    <a:pos x="173" y="795"/>
                  </a:cxn>
                  <a:cxn ang="0">
                    <a:pos x="173" y="54"/>
                  </a:cxn>
                  <a:cxn ang="0">
                    <a:pos x="0" y="0"/>
                  </a:cxn>
                  <a:cxn ang="0">
                    <a:pos x="0" y="705"/>
                  </a:cxn>
                  <a:cxn ang="0">
                    <a:pos x="173" y="795"/>
                  </a:cxn>
                </a:cxnLst>
                <a:rect l="0" t="0" r="r" b="b"/>
                <a:pathLst>
                  <a:path w="173" h="795">
                    <a:moveTo>
                      <a:pt x="173" y="795"/>
                    </a:moveTo>
                    <a:lnTo>
                      <a:pt x="173" y="54"/>
                    </a:lnTo>
                    <a:lnTo>
                      <a:pt x="0" y="0"/>
                    </a:lnTo>
                    <a:lnTo>
                      <a:pt x="0" y="705"/>
                    </a:lnTo>
                    <a:lnTo>
                      <a:pt x="173" y="795"/>
                    </a:lnTo>
                  </a:path>
                </a:pathLst>
              </a:custGeom>
              <a:gradFill rotWithShape="0">
                <a:gsLst>
                  <a:gs pos="0">
                    <a:srgbClr val="B2B2B2"/>
                  </a:gs>
                  <a:gs pos="100000">
                    <a:srgbClr val="B2B2B2">
                      <a:gamma/>
                      <a:tint val="54510"/>
                      <a:invGamma/>
                    </a:srgbClr>
                  </a:gs>
                </a:gsLst>
                <a:path path="rect">
                  <a:fillToRect t="100000" r="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8318" name="Freeform 14"/>
              <p:cNvSpPr>
                <a:spLocks/>
              </p:cNvSpPr>
              <p:nvPr/>
            </p:nvSpPr>
            <p:spPr bwMode="auto">
              <a:xfrm flipH="1">
                <a:off x="3386" y="1641"/>
                <a:ext cx="482" cy="583"/>
              </a:xfrm>
              <a:custGeom>
                <a:avLst/>
                <a:gdLst/>
                <a:ahLst/>
                <a:cxnLst>
                  <a:cxn ang="0">
                    <a:pos x="0" y="649"/>
                  </a:cxn>
                  <a:cxn ang="0">
                    <a:pos x="0" y="122"/>
                  </a:cxn>
                  <a:cxn ang="0">
                    <a:pos x="582" y="0"/>
                  </a:cxn>
                  <a:cxn ang="0">
                    <a:pos x="582" y="494"/>
                  </a:cxn>
                  <a:cxn ang="0">
                    <a:pos x="0" y="649"/>
                  </a:cxn>
                </a:cxnLst>
                <a:rect l="0" t="0" r="r" b="b"/>
                <a:pathLst>
                  <a:path w="583" h="650">
                    <a:moveTo>
                      <a:pt x="0" y="649"/>
                    </a:moveTo>
                    <a:lnTo>
                      <a:pt x="0" y="122"/>
                    </a:lnTo>
                    <a:lnTo>
                      <a:pt x="582" y="0"/>
                    </a:lnTo>
                    <a:lnTo>
                      <a:pt x="582" y="494"/>
                    </a:lnTo>
                    <a:lnTo>
                      <a:pt x="0" y="649"/>
                    </a:lnTo>
                  </a:path>
                </a:pathLst>
              </a:custGeom>
              <a:solidFill>
                <a:srgbClr val="CECECE"/>
              </a:solidFill>
              <a:ln w="3175" cap="rnd" cmpd="sng">
                <a:solidFill>
                  <a:srgbClr val="808080"/>
                </a:solidFill>
                <a:prstDash val="solid"/>
                <a:round/>
                <a:headEnd type="none" w="med" len="med"/>
                <a:tailEnd type="none" w="med" len="med"/>
              </a:ln>
              <a:effectLst/>
            </p:spPr>
            <p:txBody>
              <a:bodyPr/>
              <a:lstStyle/>
              <a:p>
                <a:endParaRPr lang="fr-FR"/>
              </a:p>
            </p:txBody>
          </p:sp>
          <p:sp>
            <p:nvSpPr>
              <p:cNvPr id="98319" name="Freeform 15"/>
              <p:cNvSpPr>
                <a:spLocks/>
              </p:cNvSpPr>
              <p:nvPr/>
            </p:nvSpPr>
            <p:spPr bwMode="auto">
              <a:xfrm>
                <a:off x="3420" y="1687"/>
                <a:ext cx="429" cy="499"/>
              </a:xfrm>
              <a:custGeom>
                <a:avLst/>
                <a:gdLst/>
                <a:ahLst/>
                <a:cxnLst>
                  <a:cxn ang="0">
                    <a:pos x="0" y="0"/>
                  </a:cxn>
                  <a:cxn ang="0">
                    <a:pos x="0" y="423"/>
                  </a:cxn>
                  <a:cxn ang="0">
                    <a:pos x="521" y="556"/>
                  </a:cxn>
                  <a:cxn ang="0">
                    <a:pos x="521" y="112"/>
                  </a:cxn>
                  <a:cxn ang="0">
                    <a:pos x="0" y="0"/>
                  </a:cxn>
                </a:cxnLst>
                <a:rect l="0" t="0" r="r" b="b"/>
                <a:pathLst>
                  <a:path w="521" h="556">
                    <a:moveTo>
                      <a:pt x="0" y="0"/>
                    </a:moveTo>
                    <a:lnTo>
                      <a:pt x="0" y="423"/>
                    </a:lnTo>
                    <a:lnTo>
                      <a:pt x="521" y="556"/>
                    </a:lnTo>
                    <a:lnTo>
                      <a:pt x="521" y="112"/>
                    </a:lnTo>
                    <a:lnTo>
                      <a:pt x="0" y="0"/>
                    </a:lnTo>
                    <a:close/>
                  </a:path>
                </a:pathLst>
              </a:custGeom>
              <a:gradFill rotWithShape="0">
                <a:gsLst>
                  <a:gs pos="0">
                    <a:srgbClr val="012379"/>
                  </a:gs>
                  <a:gs pos="100000">
                    <a:srgbClr val="012379">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rgbClr val="3333FF"/>
                </a:outerShdw>
              </a:effectLst>
            </p:spPr>
            <p:txBody>
              <a:bodyPr wrap="none" anchor="ctr"/>
              <a:lstStyle/>
              <a:p>
                <a:endParaRPr lang="fr-FR"/>
              </a:p>
            </p:txBody>
          </p:sp>
          <p:sp>
            <p:nvSpPr>
              <p:cNvPr id="98320" name="Freeform 16"/>
              <p:cNvSpPr>
                <a:spLocks/>
              </p:cNvSpPr>
              <p:nvPr/>
            </p:nvSpPr>
            <p:spPr bwMode="auto">
              <a:xfrm flipH="1">
                <a:off x="3419" y="1687"/>
                <a:ext cx="424" cy="378"/>
              </a:xfrm>
              <a:custGeom>
                <a:avLst/>
                <a:gdLst/>
                <a:ahLst/>
                <a:cxnLst>
                  <a:cxn ang="0">
                    <a:pos x="0" y="111"/>
                  </a:cxn>
                  <a:cxn ang="0">
                    <a:pos x="513" y="0"/>
                  </a:cxn>
                  <a:cxn ang="0">
                    <a:pos x="513" y="420"/>
                  </a:cxn>
                </a:cxnLst>
                <a:rect l="0" t="0" r="r" b="b"/>
                <a:pathLst>
                  <a:path w="514" h="421">
                    <a:moveTo>
                      <a:pt x="0" y="111"/>
                    </a:moveTo>
                    <a:lnTo>
                      <a:pt x="513" y="0"/>
                    </a:lnTo>
                    <a:lnTo>
                      <a:pt x="513" y="420"/>
                    </a:lnTo>
                  </a:path>
                </a:pathLst>
              </a:custGeom>
              <a:noFill/>
              <a:ln w="12700" cap="rnd" cmpd="sng">
                <a:solidFill>
                  <a:srgbClr val="676767"/>
                </a:solidFill>
                <a:prstDash val="solid"/>
                <a:round/>
                <a:headEnd type="none" w="med" len="med"/>
                <a:tailEnd type="none" w="med" len="med"/>
              </a:ln>
              <a:effectLst/>
            </p:spPr>
            <p:txBody>
              <a:bodyPr/>
              <a:lstStyle/>
              <a:p>
                <a:endParaRPr lang="fr-FR"/>
              </a:p>
            </p:txBody>
          </p:sp>
        </p:grpSp>
        <p:sp>
          <p:nvSpPr>
            <p:cNvPr id="98321" name="AutoShape 17"/>
            <p:cNvSpPr>
              <a:spLocks noChangeArrowheads="1"/>
            </p:cNvSpPr>
            <p:nvPr/>
          </p:nvSpPr>
          <p:spPr bwMode="auto">
            <a:xfrm>
              <a:off x="3520" y="1788"/>
              <a:ext cx="196" cy="292"/>
            </a:xfrm>
            <a:prstGeom prst="moon">
              <a:avLst>
                <a:gd name="adj" fmla="val 50000"/>
              </a:avLst>
            </a:prstGeom>
            <a:solidFill>
              <a:srgbClr val="FFFF00"/>
            </a:solidFill>
            <a:ln w="12700">
              <a:noFill/>
              <a:miter lim="800000"/>
              <a:headEnd/>
              <a:tailEnd/>
            </a:ln>
            <a:effectLst/>
          </p:spPr>
          <p:txBody>
            <a:bodyPr wrap="none" tIns="27432" bIns="27432" anchor="ctr">
              <a:spAutoFit/>
            </a:bodyPr>
            <a:lstStyle/>
            <a:p>
              <a:endParaRPr lang="fr-FR"/>
            </a:p>
          </p:txBody>
        </p:sp>
      </p:grpSp>
      <p:grpSp>
        <p:nvGrpSpPr>
          <p:cNvPr id="98322" name="Group 18"/>
          <p:cNvGrpSpPr>
            <a:grpSpLocks/>
          </p:cNvGrpSpPr>
          <p:nvPr/>
        </p:nvGrpSpPr>
        <p:grpSpPr bwMode="auto">
          <a:xfrm>
            <a:off x="7467600" y="1744657"/>
            <a:ext cx="1676400" cy="1585912"/>
            <a:chOff x="4020" y="1355"/>
            <a:chExt cx="1056" cy="999"/>
          </a:xfrm>
        </p:grpSpPr>
        <p:grpSp>
          <p:nvGrpSpPr>
            <p:cNvPr id="98323" name="Group 19"/>
            <p:cNvGrpSpPr>
              <a:grpSpLocks/>
            </p:cNvGrpSpPr>
            <p:nvPr/>
          </p:nvGrpSpPr>
          <p:grpSpPr bwMode="auto">
            <a:xfrm>
              <a:off x="4020" y="1355"/>
              <a:ext cx="1056" cy="999"/>
              <a:chOff x="3336" y="1544"/>
              <a:chExt cx="869" cy="761"/>
            </a:xfrm>
          </p:grpSpPr>
          <p:sp>
            <p:nvSpPr>
              <p:cNvPr id="98324" name="Freeform 20"/>
              <p:cNvSpPr>
                <a:spLocks/>
              </p:cNvSpPr>
              <p:nvPr/>
            </p:nvSpPr>
            <p:spPr bwMode="auto">
              <a:xfrm>
                <a:off x="3608" y="1592"/>
                <a:ext cx="597" cy="582"/>
              </a:xfrm>
              <a:custGeom>
                <a:avLst/>
                <a:gdLst/>
                <a:ahLst/>
                <a:cxnLst>
                  <a:cxn ang="0">
                    <a:pos x="425" y="582"/>
                  </a:cxn>
                  <a:cxn ang="0">
                    <a:pos x="597" y="478"/>
                  </a:cxn>
                  <a:cxn ang="0">
                    <a:pos x="597" y="65"/>
                  </a:cxn>
                  <a:cxn ang="0">
                    <a:pos x="240" y="0"/>
                  </a:cxn>
                  <a:cxn ang="0">
                    <a:pos x="0" y="4"/>
                  </a:cxn>
                </a:cxnLst>
                <a:rect l="0" t="0" r="r" b="b"/>
                <a:pathLst>
                  <a:path w="597" h="582">
                    <a:moveTo>
                      <a:pt x="425" y="582"/>
                    </a:moveTo>
                    <a:lnTo>
                      <a:pt x="597" y="478"/>
                    </a:lnTo>
                    <a:lnTo>
                      <a:pt x="597" y="65"/>
                    </a:lnTo>
                    <a:lnTo>
                      <a:pt x="240" y="0"/>
                    </a:lnTo>
                    <a:lnTo>
                      <a:pt x="0" y="4"/>
                    </a:lnTo>
                  </a:path>
                </a:pathLst>
              </a:custGeom>
              <a:solidFill>
                <a:srgbClr val="DDDDDD"/>
              </a:solidFill>
              <a:ln w="3175" cap="rnd" cmpd="sng">
                <a:solidFill>
                  <a:schemeClr val="tx1"/>
                </a:solidFill>
                <a:prstDash val="solid"/>
                <a:round/>
                <a:headEnd type="none" w="med" len="med"/>
                <a:tailEnd type="none" w="med" len="med"/>
              </a:ln>
              <a:effectLst/>
            </p:spPr>
            <p:txBody>
              <a:bodyPr/>
              <a:lstStyle/>
              <a:p>
                <a:endParaRPr lang="fr-FR"/>
              </a:p>
            </p:txBody>
          </p:sp>
          <p:sp>
            <p:nvSpPr>
              <p:cNvPr id="98325" name="Freeform 21"/>
              <p:cNvSpPr>
                <a:spLocks/>
              </p:cNvSpPr>
              <p:nvPr/>
            </p:nvSpPr>
            <p:spPr bwMode="auto">
              <a:xfrm>
                <a:off x="3336" y="1544"/>
                <a:ext cx="721" cy="172"/>
              </a:xfrm>
              <a:custGeom>
                <a:avLst/>
                <a:gdLst/>
                <a:ahLst/>
                <a:cxnLst>
                  <a:cxn ang="0">
                    <a:pos x="591" y="169"/>
                  </a:cxn>
                  <a:cxn ang="0">
                    <a:pos x="0" y="40"/>
                  </a:cxn>
                  <a:cxn ang="0">
                    <a:pos x="176" y="0"/>
                  </a:cxn>
                  <a:cxn ang="0">
                    <a:pos x="721" y="123"/>
                  </a:cxn>
                  <a:cxn ang="0">
                    <a:pos x="591" y="172"/>
                  </a:cxn>
                </a:cxnLst>
                <a:rect l="0" t="0" r="r" b="b"/>
                <a:pathLst>
                  <a:path w="721" h="172">
                    <a:moveTo>
                      <a:pt x="591" y="169"/>
                    </a:moveTo>
                    <a:lnTo>
                      <a:pt x="0" y="40"/>
                    </a:lnTo>
                    <a:lnTo>
                      <a:pt x="176" y="0"/>
                    </a:lnTo>
                    <a:lnTo>
                      <a:pt x="721" y="123"/>
                    </a:lnTo>
                    <a:lnTo>
                      <a:pt x="591" y="172"/>
                    </a:lnTo>
                  </a:path>
                </a:pathLst>
              </a:custGeom>
              <a:solidFill>
                <a:srgbClr val="EAEAEA"/>
              </a:solidFill>
              <a:ln w="3175" cap="rnd" cmpd="sng">
                <a:solidFill>
                  <a:schemeClr val="tx1"/>
                </a:solidFill>
                <a:prstDash val="solid"/>
                <a:round/>
                <a:headEnd type="none" w="med" len="med"/>
                <a:tailEnd type="none" w="med" len="med"/>
              </a:ln>
              <a:effectLst/>
            </p:spPr>
            <p:txBody>
              <a:bodyPr/>
              <a:lstStyle/>
              <a:p>
                <a:endParaRPr lang="fr-FR"/>
              </a:p>
            </p:txBody>
          </p:sp>
          <p:sp>
            <p:nvSpPr>
              <p:cNvPr id="98326" name="Freeform 22"/>
              <p:cNvSpPr>
                <a:spLocks/>
              </p:cNvSpPr>
              <p:nvPr/>
            </p:nvSpPr>
            <p:spPr bwMode="auto">
              <a:xfrm flipH="1">
                <a:off x="3338" y="1581"/>
                <a:ext cx="592" cy="724"/>
              </a:xfrm>
              <a:custGeom>
                <a:avLst/>
                <a:gdLst/>
                <a:ahLst/>
                <a:cxnLst>
                  <a:cxn ang="0">
                    <a:pos x="0" y="899"/>
                  </a:cxn>
                  <a:cxn ang="0">
                    <a:pos x="0" y="159"/>
                  </a:cxn>
                  <a:cxn ang="0">
                    <a:pos x="801" y="0"/>
                  </a:cxn>
                  <a:cxn ang="0">
                    <a:pos x="801" y="691"/>
                  </a:cxn>
                  <a:cxn ang="0">
                    <a:pos x="1" y="902"/>
                  </a:cxn>
                </a:cxnLst>
                <a:rect l="0" t="0" r="r" b="b"/>
                <a:pathLst>
                  <a:path w="801" h="902">
                    <a:moveTo>
                      <a:pt x="0" y="899"/>
                    </a:moveTo>
                    <a:lnTo>
                      <a:pt x="0" y="159"/>
                    </a:lnTo>
                    <a:lnTo>
                      <a:pt x="801" y="0"/>
                    </a:lnTo>
                    <a:lnTo>
                      <a:pt x="801" y="691"/>
                    </a:lnTo>
                    <a:lnTo>
                      <a:pt x="1" y="902"/>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98327" name="Freeform 23"/>
              <p:cNvSpPr>
                <a:spLocks/>
              </p:cNvSpPr>
              <p:nvPr/>
            </p:nvSpPr>
            <p:spPr bwMode="auto">
              <a:xfrm flipH="1">
                <a:off x="3930" y="1666"/>
                <a:ext cx="127" cy="638"/>
              </a:xfrm>
              <a:custGeom>
                <a:avLst/>
                <a:gdLst/>
                <a:ahLst/>
                <a:cxnLst>
                  <a:cxn ang="0">
                    <a:pos x="173" y="795"/>
                  </a:cxn>
                  <a:cxn ang="0">
                    <a:pos x="173" y="54"/>
                  </a:cxn>
                  <a:cxn ang="0">
                    <a:pos x="0" y="0"/>
                  </a:cxn>
                  <a:cxn ang="0">
                    <a:pos x="0" y="705"/>
                  </a:cxn>
                  <a:cxn ang="0">
                    <a:pos x="173" y="795"/>
                  </a:cxn>
                </a:cxnLst>
                <a:rect l="0" t="0" r="r" b="b"/>
                <a:pathLst>
                  <a:path w="173" h="795">
                    <a:moveTo>
                      <a:pt x="173" y="795"/>
                    </a:moveTo>
                    <a:lnTo>
                      <a:pt x="173" y="54"/>
                    </a:lnTo>
                    <a:lnTo>
                      <a:pt x="0" y="0"/>
                    </a:lnTo>
                    <a:lnTo>
                      <a:pt x="0" y="705"/>
                    </a:lnTo>
                    <a:lnTo>
                      <a:pt x="173" y="795"/>
                    </a:lnTo>
                  </a:path>
                </a:pathLst>
              </a:custGeom>
              <a:gradFill rotWithShape="0">
                <a:gsLst>
                  <a:gs pos="0">
                    <a:srgbClr val="B2B2B2"/>
                  </a:gs>
                  <a:gs pos="100000">
                    <a:srgbClr val="B2B2B2">
                      <a:gamma/>
                      <a:tint val="54510"/>
                      <a:invGamma/>
                    </a:srgbClr>
                  </a:gs>
                </a:gsLst>
                <a:path path="rect">
                  <a:fillToRect t="100000" r="100000"/>
                </a:path>
              </a:gradFill>
              <a:ln w="3175" cap="rnd" cmpd="sng">
                <a:solidFill>
                  <a:srgbClr val="000000"/>
                </a:solidFill>
                <a:prstDash val="solid"/>
                <a:round/>
                <a:headEnd type="none" w="med" len="med"/>
                <a:tailEnd type="none" w="med" len="med"/>
              </a:ln>
              <a:effectLst/>
            </p:spPr>
            <p:txBody>
              <a:bodyPr/>
              <a:lstStyle/>
              <a:p>
                <a:endParaRPr lang="fr-FR"/>
              </a:p>
            </p:txBody>
          </p:sp>
          <p:sp>
            <p:nvSpPr>
              <p:cNvPr id="98328" name="Freeform 24"/>
              <p:cNvSpPr>
                <a:spLocks/>
              </p:cNvSpPr>
              <p:nvPr/>
            </p:nvSpPr>
            <p:spPr bwMode="auto">
              <a:xfrm flipH="1">
                <a:off x="3386" y="1641"/>
                <a:ext cx="482" cy="583"/>
              </a:xfrm>
              <a:custGeom>
                <a:avLst/>
                <a:gdLst/>
                <a:ahLst/>
                <a:cxnLst>
                  <a:cxn ang="0">
                    <a:pos x="0" y="649"/>
                  </a:cxn>
                  <a:cxn ang="0">
                    <a:pos x="0" y="122"/>
                  </a:cxn>
                  <a:cxn ang="0">
                    <a:pos x="582" y="0"/>
                  </a:cxn>
                  <a:cxn ang="0">
                    <a:pos x="582" y="494"/>
                  </a:cxn>
                  <a:cxn ang="0">
                    <a:pos x="0" y="649"/>
                  </a:cxn>
                </a:cxnLst>
                <a:rect l="0" t="0" r="r" b="b"/>
                <a:pathLst>
                  <a:path w="583" h="650">
                    <a:moveTo>
                      <a:pt x="0" y="649"/>
                    </a:moveTo>
                    <a:lnTo>
                      <a:pt x="0" y="122"/>
                    </a:lnTo>
                    <a:lnTo>
                      <a:pt x="582" y="0"/>
                    </a:lnTo>
                    <a:lnTo>
                      <a:pt x="582" y="494"/>
                    </a:lnTo>
                    <a:lnTo>
                      <a:pt x="0" y="649"/>
                    </a:lnTo>
                  </a:path>
                </a:pathLst>
              </a:custGeom>
              <a:solidFill>
                <a:srgbClr val="CECECE"/>
              </a:solidFill>
              <a:ln w="3175" cap="rnd" cmpd="sng">
                <a:solidFill>
                  <a:srgbClr val="808080"/>
                </a:solidFill>
                <a:prstDash val="solid"/>
                <a:round/>
                <a:headEnd type="none" w="med" len="med"/>
                <a:tailEnd type="none" w="med" len="med"/>
              </a:ln>
              <a:effectLst/>
            </p:spPr>
            <p:txBody>
              <a:bodyPr/>
              <a:lstStyle/>
              <a:p>
                <a:endParaRPr lang="fr-FR"/>
              </a:p>
            </p:txBody>
          </p:sp>
          <p:sp>
            <p:nvSpPr>
              <p:cNvPr id="98329" name="Freeform 25"/>
              <p:cNvSpPr>
                <a:spLocks/>
              </p:cNvSpPr>
              <p:nvPr/>
            </p:nvSpPr>
            <p:spPr bwMode="auto">
              <a:xfrm>
                <a:off x="3420" y="1687"/>
                <a:ext cx="429" cy="499"/>
              </a:xfrm>
              <a:custGeom>
                <a:avLst/>
                <a:gdLst/>
                <a:ahLst/>
                <a:cxnLst>
                  <a:cxn ang="0">
                    <a:pos x="0" y="0"/>
                  </a:cxn>
                  <a:cxn ang="0">
                    <a:pos x="0" y="423"/>
                  </a:cxn>
                  <a:cxn ang="0">
                    <a:pos x="521" y="556"/>
                  </a:cxn>
                  <a:cxn ang="0">
                    <a:pos x="521" y="112"/>
                  </a:cxn>
                  <a:cxn ang="0">
                    <a:pos x="0" y="0"/>
                  </a:cxn>
                </a:cxnLst>
                <a:rect l="0" t="0" r="r" b="b"/>
                <a:pathLst>
                  <a:path w="521" h="556">
                    <a:moveTo>
                      <a:pt x="0" y="0"/>
                    </a:moveTo>
                    <a:lnTo>
                      <a:pt x="0" y="423"/>
                    </a:lnTo>
                    <a:lnTo>
                      <a:pt x="521" y="556"/>
                    </a:lnTo>
                    <a:lnTo>
                      <a:pt x="521" y="112"/>
                    </a:lnTo>
                    <a:lnTo>
                      <a:pt x="0" y="0"/>
                    </a:lnTo>
                    <a:close/>
                  </a:path>
                </a:pathLst>
              </a:custGeom>
              <a:gradFill rotWithShape="0">
                <a:gsLst>
                  <a:gs pos="0">
                    <a:srgbClr val="012379"/>
                  </a:gs>
                  <a:gs pos="100000">
                    <a:srgbClr val="012379">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rgbClr val="3333FF"/>
                </a:outerShdw>
              </a:effectLst>
            </p:spPr>
            <p:txBody>
              <a:bodyPr wrap="none" anchor="ctr"/>
              <a:lstStyle/>
              <a:p>
                <a:endParaRPr lang="fr-FR"/>
              </a:p>
            </p:txBody>
          </p:sp>
          <p:sp>
            <p:nvSpPr>
              <p:cNvPr id="98330" name="Freeform 26"/>
              <p:cNvSpPr>
                <a:spLocks/>
              </p:cNvSpPr>
              <p:nvPr/>
            </p:nvSpPr>
            <p:spPr bwMode="auto">
              <a:xfrm flipH="1">
                <a:off x="3419" y="1687"/>
                <a:ext cx="424" cy="378"/>
              </a:xfrm>
              <a:custGeom>
                <a:avLst/>
                <a:gdLst/>
                <a:ahLst/>
                <a:cxnLst>
                  <a:cxn ang="0">
                    <a:pos x="0" y="111"/>
                  </a:cxn>
                  <a:cxn ang="0">
                    <a:pos x="513" y="0"/>
                  </a:cxn>
                  <a:cxn ang="0">
                    <a:pos x="513" y="420"/>
                  </a:cxn>
                </a:cxnLst>
                <a:rect l="0" t="0" r="r" b="b"/>
                <a:pathLst>
                  <a:path w="514" h="421">
                    <a:moveTo>
                      <a:pt x="0" y="111"/>
                    </a:moveTo>
                    <a:lnTo>
                      <a:pt x="513" y="0"/>
                    </a:lnTo>
                    <a:lnTo>
                      <a:pt x="513" y="420"/>
                    </a:lnTo>
                  </a:path>
                </a:pathLst>
              </a:custGeom>
              <a:noFill/>
              <a:ln w="12700" cap="rnd" cmpd="sng">
                <a:solidFill>
                  <a:srgbClr val="676767"/>
                </a:solidFill>
                <a:prstDash val="solid"/>
                <a:round/>
                <a:headEnd type="none" w="med" len="med"/>
                <a:tailEnd type="none" w="med" len="med"/>
              </a:ln>
              <a:effectLst/>
            </p:spPr>
            <p:txBody>
              <a:bodyPr/>
              <a:lstStyle/>
              <a:p>
                <a:endParaRPr lang="fr-FR"/>
              </a:p>
            </p:txBody>
          </p:sp>
        </p:grpSp>
        <p:sp>
          <p:nvSpPr>
            <p:cNvPr id="98331" name="Text Box 27"/>
            <p:cNvSpPr txBox="1">
              <a:spLocks noChangeArrowheads="1"/>
            </p:cNvSpPr>
            <p:nvPr/>
          </p:nvSpPr>
          <p:spPr bwMode="auto">
            <a:xfrm>
              <a:off x="4104" y="1670"/>
              <a:ext cx="572" cy="365"/>
            </a:xfrm>
            <a:prstGeom prst="rect">
              <a:avLst/>
            </a:prstGeom>
            <a:noFill/>
            <a:ln w="9525">
              <a:noFill/>
              <a:miter lim="800000"/>
              <a:headEnd/>
              <a:tailEnd/>
            </a:ln>
            <a:effectLst/>
          </p:spPr>
          <p:txBody>
            <a:bodyPr wrap="none">
              <a:spAutoFit/>
            </a:bodyPr>
            <a:lstStyle/>
            <a:p>
              <a:r>
                <a:rPr lang="en-US" sz="3200">
                  <a:solidFill>
                    <a:srgbClr val="FFFF00"/>
                  </a:solidFill>
                  <a:latin typeface="Times New Roman" pitchFamily="18" charset="0"/>
                </a:rPr>
                <a:t>zzzz</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checkerboard(across)">
                                      <p:cBhvr>
                                        <p:cTn id="7" dur="1000"/>
                                        <p:tgtEl>
                                          <p:spTgt spid="98309"/>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98322"/>
                                        </p:tgtEl>
                                        <p:attrNameLst>
                                          <p:attrName>style.visibility</p:attrName>
                                        </p:attrNameLst>
                                      </p:cBhvr>
                                      <p:to>
                                        <p:strVal val="visible"/>
                                      </p:to>
                                    </p:set>
                                    <p:animEffect transition="in" filter="checkerboard(across)">
                                      <p:cBhvr>
                                        <p:cTn id="11" dur="1000"/>
                                        <p:tgtEl>
                                          <p:spTgt spid="98322"/>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98307"/>
                                        </p:tgtEl>
                                        <p:attrNameLst>
                                          <p:attrName>style.visibility</p:attrName>
                                        </p:attrNameLst>
                                      </p:cBhvr>
                                      <p:to>
                                        <p:strVal val="visible"/>
                                      </p:to>
                                    </p:set>
                                    <p:animEffect transition="in" filter="checkerboard(across)">
                                      <p:cBhvr>
                                        <p:cTn id="16" dur="1000"/>
                                        <p:tgtEl>
                                          <p:spTgt spid="98307"/>
                                        </p:tgtEl>
                                      </p:cBhvr>
                                    </p:animEffect>
                                  </p:childTnLst>
                                </p:cTn>
                              </p:par>
                            </p:childTnLst>
                          </p:cTn>
                        </p:par>
                        <p:par>
                          <p:cTn id="17" fill="hold">
                            <p:stCondLst>
                              <p:cond delay="1000"/>
                            </p:stCondLst>
                            <p:childTnLst>
                              <p:par>
                                <p:cTn id="18" presetID="5" presetClass="entr" presetSubtype="10" fill="hold" nodeType="afterEffect">
                                  <p:stCondLst>
                                    <p:cond delay="0"/>
                                  </p:stCondLst>
                                  <p:childTnLst>
                                    <p:set>
                                      <p:cBhvr>
                                        <p:cTn id="19" dur="1" fill="hold">
                                          <p:stCondLst>
                                            <p:cond delay="0"/>
                                          </p:stCondLst>
                                        </p:cTn>
                                        <p:tgtEl>
                                          <p:spTgt spid="98312"/>
                                        </p:tgtEl>
                                        <p:attrNameLst>
                                          <p:attrName>style.visibility</p:attrName>
                                        </p:attrNameLst>
                                      </p:cBhvr>
                                      <p:to>
                                        <p:strVal val="visible"/>
                                      </p:to>
                                    </p:set>
                                    <p:animEffect transition="in" filter="checkerboard(across)">
                                      <p:cBhvr>
                                        <p:cTn id="20" dur="1000"/>
                                        <p:tgtEl>
                                          <p:spTgt spid="98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animBg="1"/>
      <p:bldP spid="9830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Grp="1" noChangeArrowheads="1"/>
          </p:cNvSpPr>
          <p:nvPr>
            <p:ph type="title"/>
          </p:nvPr>
        </p:nvSpPr>
        <p:spPr>
          <a:xfrm>
            <a:off x="178808" y="264824"/>
            <a:ext cx="8882062" cy="841375"/>
          </a:xfrm>
          <a:noFill/>
          <a:ln/>
        </p:spPr>
        <p:txBody>
          <a:bodyPr vert="horz" anchor="b">
            <a:noAutofit/>
          </a:bodyPr>
          <a:lstStyle/>
          <a:p>
            <a:pPr marL="544513" indent="-544513"/>
            <a:r>
              <a:rPr lang="fr-FR" sz="2600" dirty="0" smtClean="0">
                <a:cs typeface="Times New Roman" pitchFamily="18" charset="0"/>
              </a:rPr>
              <a:t>3. Mise </a:t>
            </a:r>
            <a:r>
              <a:rPr lang="fr-FR" sz="2600" dirty="0">
                <a:cs typeface="Times New Roman" pitchFamily="18" charset="0"/>
              </a:rPr>
              <a:t>à disposition des fichiers, dossiers et pages Web pour une utilisation </a:t>
            </a:r>
            <a:r>
              <a:rPr lang="fr-FR" sz="2600" dirty="0" smtClean="0">
                <a:cs typeface="Times New Roman" pitchFamily="18" charset="0"/>
              </a:rPr>
              <a:t>hors connexion</a:t>
            </a:r>
            <a:endParaRPr lang="en-US" sz="2600" dirty="0">
              <a:cs typeface="Times New Roman" pitchFamily="18" charset="0"/>
            </a:endParaRPr>
          </a:p>
        </p:txBody>
      </p:sp>
      <p:sp>
        <p:nvSpPr>
          <p:cNvPr id="102405" name="Rectangle 5"/>
          <p:cNvSpPr>
            <a:spLocks noGrp="1" noChangeArrowheads="1"/>
          </p:cNvSpPr>
          <p:nvPr>
            <p:ph sz="quarter" idx="1"/>
          </p:nvPr>
        </p:nvSpPr>
        <p:spPr>
          <a:xfrm>
            <a:off x="274043" y="1942684"/>
            <a:ext cx="8503920" cy="4014770"/>
          </a:xfrm>
        </p:spPr>
        <p:txBody>
          <a:bodyPr/>
          <a:lstStyle/>
          <a:p>
            <a:pPr>
              <a:buClr>
                <a:schemeClr val="tx1"/>
              </a:buClr>
              <a:buFont typeface="Wingdings" pitchFamily="2" charset="2"/>
              <a:buChar char="q"/>
            </a:pPr>
            <a:r>
              <a:rPr lang="fr-FR" dirty="0">
                <a:cs typeface="Times New Roman" pitchFamily="18" charset="0"/>
              </a:rPr>
              <a:t>Examen de fichiers et de dossiers hors connexion</a:t>
            </a:r>
            <a:r>
              <a:rPr lang="fr-FR" dirty="0"/>
              <a:t> </a:t>
            </a:r>
            <a:endParaRPr lang="en-US" dirty="0"/>
          </a:p>
          <a:p>
            <a:pPr>
              <a:buClr>
                <a:schemeClr val="tx1"/>
              </a:buClr>
              <a:buFont typeface="Wingdings" pitchFamily="2" charset="2"/>
              <a:buChar char="q"/>
            </a:pPr>
            <a:r>
              <a:rPr lang="fr-FR" dirty="0">
                <a:cs typeface="Times New Roman" pitchFamily="18" charset="0"/>
              </a:rPr>
              <a:t>Configuration de fichiers et de dossiers pour une utilisation hors connexion</a:t>
            </a:r>
            <a:r>
              <a:rPr lang="fr-FR" dirty="0"/>
              <a:t> </a:t>
            </a:r>
            <a:endParaRPr lang="en-US" dirty="0"/>
          </a:p>
          <a:p>
            <a:pPr>
              <a:buClr>
                <a:schemeClr val="tx1"/>
              </a:buClr>
              <a:buFont typeface="Wingdings" pitchFamily="2" charset="2"/>
              <a:buChar char="q"/>
            </a:pPr>
            <a:r>
              <a:rPr lang="fr-FR" dirty="0">
                <a:cs typeface="Times New Roman" pitchFamily="18" charset="0"/>
              </a:rPr>
              <a:t>Configuration des paramètres de mise en cache pour les fichiers hors connexion</a:t>
            </a:r>
            <a:r>
              <a:rPr lang="fr-FR" dirty="0"/>
              <a:t> </a:t>
            </a:r>
            <a:endParaRPr lang="en-US" dirty="0"/>
          </a:p>
          <a:p>
            <a:pPr>
              <a:buClr>
                <a:schemeClr val="tx1"/>
              </a:buClr>
              <a:buFont typeface="Wingdings" pitchFamily="2" charset="2"/>
              <a:buChar char="q"/>
            </a:pPr>
            <a:r>
              <a:rPr lang="fr-FR" dirty="0">
                <a:cs typeface="Times New Roman" pitchFamily="18" charset="0"/>
              </a:rPr>
              <a:t>Mise à disposition de pages Web en vue d'une utilisation hors connexion</a:t>
            </a:r>
            <a:r>
              <a:rPr lang="fr-FR" dirty="0"/>
              <a:t> </a:t>
            </a:r>
            <a:endParaRPr lang="en-US" dirty="0"/>
          </a:p>
          <a:p>
            <a:pPr>
              <a:buClr>
                <a:schemeClr val="tx1"/>
              </a:buClr>
              <a:buFont typeface="Wingdings" pitchFamily="2" charset="2"/>
              <a:buChar char="q"/>
            </a:pPr>
            <a:r>
              <a:rPr lang="fr-FR" dirty="0">
                <a:cs typeface="Times New Roman" pitchFamily="18" charset="0"/>
              </a:rPr>
              <a:t>Gestion de la synchronisation des fichiers</a:t>
            </a:r>
            <a:r>
              <a:rPr lang="fr-FR" dirty="0"/>
              <a:t>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647700" y="188686"/>
            <a:ext cx="8189913" cy="882195"/>
          </a:xfrm>
          <a:noFill/>
          <a:ln/>
        </p:spPr>
        <p:txBody>
          <a:bodyPr vert="horz" anchor="b">
            <a:normAutofit fontScale="90000"/>
          </a:bodyPr>
          <a:lstStyle/>
          <a:p>
            <a:r>
              <a:rPr lang="fr-FR" sz="3000" dirty="0">
                <a:solidFill>
                  <a:srgbClr val="C00000"/>
                </a:solidFill>
                <a:cs typeface="Times New Roman" pitchFamily="18" charset="0"/>
              </a:rPr>
              <a:t>Examen de fichiers et de dossiers hors connexion</a:t>
            </a:r>
            <a:endParaRPr lang="en-US" sz="3000" dirty="0">
              <a:solidFill>
                <a:srgbClr val="C00000"/>
              </a:solidFill>
              <a:cs typeface="Times New Roman" pitchFamily="18" charset="0"/>
            </a:endParaRPr>
          </a:p>
        </p:txBody>
      </p:sp>
      <p:sp>
        <p:nvSpPr>
          <p:cNvPr id="104452" name="Rectangle 4"/>
          <p:cNvSpPr>
            <a:spLocks noChangeArrowheads="1"/>
          </p:cNvSpPr>
          <p:nvPr/>
        </p:nvSpPr>
        <p:spPr bwMode="auto">
          <a:xfrm>
            <a:off x="203200" y="4629150"/>
            <a:ext cx="8047038" cy="1571625"/>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pPr>
              <a:buClr>
                <a:schemeClr val="accent2"/>
              </a:buClr>
              <a:buSzPct val="70000"/>
              <a:buFont typeface="Wingdings" pitchFamily="2" charset="2"/>
              <a:buNone/>
            </a:pPr>
            <a:r>
              <a:rPr lang="en-US" sz="2200" dirty="0" err="1"/>
              <a:t>L'utilisateur</a:t>
            </a:r>
            <a:r>
              <a:rPr lang="en-US" sz="2200" dirty="0"/>
              <a:t> </a:t>
            </a:r>
            <a:r>
              <a:rPr lang="en-US" sz="2200" dirty="0" err="1" smtClean="0"/>
              <a:t>ouvre</a:t>
            </a:r>
            <a:r>
              <a:rPr lang="en-US" sz="2200" dirty="0" smtClean="0"/>
              <a:t> </a:t>
            </a:r>
            <a:r>
              <a:rPr lang="en-US" sz="2200" dirty="0" err="1" smtClean="0"/>
              <a:t>une</a:t>
            </a:r>
            <a:r>
              <a:rPr lang="en-US" sz="2200" dirty="0" smtClean="0"/>
              <a:t> </a:t>
            </a:r>
            <a:r>
              <a:rPr lang="en-US" sz="2200" dirty="0"/>
              <a:t>session</a:t>
            </a:r>
          </a:p>
        </p:txBody>
      </p:sp>
      <p:sp>
        <p:nvSpPr>
          <p:cNvPr id="104453" name="Rectangle 5"/>
          <p:cNvSpPr>
            <a:spLocks noChangeArrowheads="1"/>
          </p:cNvSpPr>
          <p:nvPr/>
        </p:nvSpPr>
        <p:spPr bwMode="auto">
          <a:xfrm>
            <a:off x="188686" y="1096963"/>
            <a:ext cx="8055202" cy="1558925"/>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pPr>
              <a:buClr>
                <a:schemeClr val="accent2"/>
              </a:buClr>
              <a:buSzPct val="70000"/>
              <a:buFont typeface="Wingdings" pitchFamily="2" charset="2"/>
              <a:buNone/>
            </a:pPr>
            <a:r>
              <a:rPr lang="en-US" sz="2200" dirty="0" err="1"/>
              <a:t>L'utilisateur</a:t>
            </a:r>
            <a:r>
              <a:rPr lang="en-US" sz="2200" dirty="0"/>
              <a:t> </a:t>
            </a:r>
            <a:r>
              <a:rPr lang="en-US" sz="2200" dirty="0" err="1"/>
              <a:t>ferme</a:t>
            </a:r>
            <a:r>
              <a:rPr lang="en-US" sz="2200" dirty="0"/>
              <a:t> </a:t>
            </a:r>
            <a:r>
              <a:rPr lang="en-US" sz="2200" dirty="0" smtClean="0"/>
              <a:t>la </a:t>
            </a:r>
            <a:r>
              <a:rPr lang="en-US" sz="2200" dirty="0"/>
              <a:t>session</a:t>
            </a:r>
            <a:endParaRPr lang="en-US" sz="2200" b="0" dirty="0"/>
          </a:p>
        </p:txBody>
      </p:sp>
      <p:sp>
        <p:nvSpPr>
          <p:cNvPr id="104454" name="Text Box 6"/>
          <p:cNvSpPr txBox="1">
            <a:spLocks noChangeArrowheads="1"/>
          </p:cNvSpPr>
          <p:nvPr/>
        </p:nvSpPr>
        <p:spPr bwMode="auto">
          <a:xfrm>
            <a:off x="232229" y="1582740"/>
            <a:ext cx="3757880" cy="1107996"/>
          </a:xfrm>
          <a:prstGeom prst="rect">
            <a:avLst/>
          </a:prstGeom>
          <a:noFill/>
          <a:ln w="9525">
            <a:noFill/>
            <a:miter lim="800000"/>
            <a:headEnd/>
            <a:tailEnd/>
          </a:ln>
          <a:effectLst/>
        </p:spPr>
        <p:txBody>
          <a:bodyPr wrap="square">
            <a:spAutoFit/>
          </a:bodyPr>
          <a:lstStyle/>
          <a:p>
            <a:r>
              <a:rPr lang="en-US" sz="2200" b="0" dirty="0"/>
              <a:t>Les </a:t>
            </a:r>
            <a:r>
              <a:rPr lang="en-US" sz="2200" b="0" dirty="0" err="1"/>
              <a:t>fichiers</a:t>
            </a:r>
            <a:r>
              <a:rPr lang="en-US" sz="2200" b="0" dirty="0"/>
              <a:t> </a:t>
            </a:r>
            <a:r>
              <a:rPr lang="en-US" sz="2200" b="0" dirty="0" err="1"/>
              <a:t>locaux</a:t>
            </a:r>
            <a:r>
              <a:rPr lang="en-US" sz="2200" b="0" dirty="0"/>
              <a:t> </a:t>
            </a:r>
            <a:r>
              <a:rPr lang="en-US" sz="2200" b="0" dirty="0" err="1"/>
              <a:t>sont</a:t>
            </a:r>
            <a:r>
              <a:rPr lang="en-US" sz="2200" b="0" dirty="0"/>
              <a:t/>
            </a:r>
            <a:br>
              <a:rPr lang="en-US" sz="2200" b="0" dirty="0"/>
            </a:br>
            <a:r>
              <a:rPr lang="en-US" sz="2200" b="0" dirty="0" err="1"/>
              <a:t>synchronisés</a:t>
            </a:r>
            <a:r>
              <a:rPr lang="en-US" sz="2200" b="0" dirty="0"/>
              <a:t> avec </a:t>
            </a:r>
            <a:r>
              <a:rPr lang="en-US" sz="2200" b="0" dirty="0" smtClean="0"/>
              <a:t>les </a:t>
            </a:r>
            <a:r>
              <a:rPr lang="en-US" sz="2200" b="0" dirty="0" err="1"/>
              <a:t>fichiers</a:t>
            </a:r>
            <a:r>
              <a:rPr lang="en-US" sz="2200" b="0" dirty="0"/>
              <a:t> du </a:t>
            </a:r>
            <a:r>
              <a:rPr lang="en-US" sz="2200" b="0" dirty="0" err="1"/>
              <a:t>serveur</a:t>
            </a:r>
            <a:endParaRPr lang="en-US" sz="2200" b="0" dirty="0"/>
          </a:p>
        </p:txBody>
      </p:sp>
      <p:sp>
        <p:nvSpPr>
          <p:cNvPr id="104455" name="Rectangle 7"/>
          <p:cNvSpPr>
            <a:spLocks noChangeArrowheads="1"/>
          </p:cNvSpPr>
          <p:nvPr/>
        </p:nvSpPr>
        <p:spPr bwMode="auto">
          <a:xfrm>
            <a:off x="203200" y="2963863"/>
            <a:ext cx="8027988" cy="1584325"/>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lstStyle/>
          <a:p>
            <a:pPr marL="177800" indent="-177800">
              <a:buClr>
                <a:schemeClr val="accent2"/>
              </a:buClr>
              <a:buSzPct val="70000"/>
              <a:buFont typeface="Wingdings" pitchFamily="2" charset="2"/>
              <a:buNone/>
            </a:pPr>
            <a:r>
              <a:rPr lang="en-US" sz="2200" dirty="0" err="1"/>
              <a:t>L'utilisateur</a:t>
            </a:r>
            <a:r>
              <a:rPr lang="en-US" sz="2200" dirty="0"/>
              <a:t> </a:t>
            </a:r>
            <a:r>
              <a:rPr lang="en-US" sz="2200" dirty="0" err="1"/>
              <a:t>est</a:t>
            </a:r>
            <a:r>
              <a:rPr lang="en-US" sz="2200" dirty="0"/>
              <a:t> </a:t>
            </a:r>
            <a:r>
              <a:rPr lang="en-US" sz="2200" dirty="0" err="1"/>
              <a:t>déconnecté</a:t>
            </a:r>
            <a:r>
              <a:rPr lang="en-US" sz="2200" dirty="0"/>
              <a:t> du </a:t>
            </a:r>
            <a:r>
              <a:rPr lang="en-US" sz="2200" dirty="0" err="1"/>
              <a:t>réseau</a:t>
            </a:r>
            <a:endParaRPr lang="en-US" sz="2200" dirty="0"/>
          </a:p>
        </p:txBody>
      </p:sp>
      <p:sp>
        <p:nvSpPr>
          <p:cNvPr id="104456" name="Text Box 8"/>
          <p:cNvSpPr txBox="1">
            <a:spLocks noChangeArrowheads="1"/>
          </p:cNvSpPr>
          <p:nvPr/>
        </p:nvSpPr>
        <p:spPr bwMode="auto">
          <a:xfrm>
            <a:off x="232230" y="3478213"/>
            <a:ext cx="4889046" cy="769441"/>
          </a:xfrm>
          <a:prstGeom prst="rect">
            <a:avLst/>
          </a:prstGeom>
          <a:noFill/>
          <a:ln w="9525">
            <a:noFill/>
            <a:miter lim="800000"/>
            <a:headEnd/>
            <a:tailEnd/>
          </a:ln>
          <a:effectLst/>
        </p:spPr>
        <p:txBody>
          <a:bodyPr wrap="square">
            <a:spAutoFit/>
          </a:bodyPr>
          <a:lstStyle/>
          <a:p>
            <a:pPr>
              <a:buClr>
                <a:schemeClr val="accent2"/>
              </a:buClr>
              <a:buSzPct val="70000"/>
              <a:buFont typeface="Wingdings" pitchFamily="2" charset="2"/>
              <a:buNone/>
            </a:pPr>
            <a:r>
              <a:rPr lang="en-US" sz="2200" b="0" dirty="0" err="1"/>
              <a:t>L'utilisateur</a:t>
            </a:r>
            <a:r>
              <a:rPr lang="en-US" sz="2200" b="0" dirty="0"/>
              <a:t> </a:t>
            </a:r>
            <a:r>
              <a:rPr lang="en-US" sz="2200" b="0" dirty="0" err="1"/>
              <a:t>travaille</a:t>
            </a:r>
            <a:r>
              <a:rPr lang="en-US" sz="2200" b="0" dirty="0"/>
              <a:t> </a:t>
            </a:r>
            <a:r>
              <a:rPr lang="en-US" sz="2200" b="0" dirty="0" err="1"/>
              <a:t>sur</a:t>
            </a:r>
            <a:r>
              <a:rPr lang="en-US" sz="2200" b="0" dirty="0"/>
              <a:t> la </a:t>
            </a:r>
            <a:r>
              <a:rPr lang="en-US" sz="2200" b="0" dirty="0" err="1"/>
              <a:t>copie</a:t>
            </a:r>
            <a:r>
              <a:rPr lang="en-US" sz="2200" b="0" dirty="0"/>
              <a:t> </a:t>
            </a:r>
            <a:r>
              <a:rPr lang="en-US" sz="2200" b="0" dirty="0" smtClean="0"/>
              <a:t>locale </a:t>
            </a:r>
            <a:r>
              <a:rPr lang="en-US" sz="2200" b="0" dirty="0" err="1" smtClean="0"/>
              <a:t>marquée</a:t>
            </a:r>
            <a:r>
              <a:rPr lang="en-US" sz="2200" b="0" dirty="0" smtClean="0"/>
              <a:t> </a:t>
            </a:r>
            <a:r>
              <a:rPr lang="en-US" sz="2200" b="0" dirty="0"/>
              <a:t>du </a:t>
            </a:r>
            <a:r>
              <a:rPr lang="en-US" sz="2200" b="0" dirty="0" err="1"/>
              <a:t>fichier</a:t>
            </a:r>
            <a:endParaRPr lang="en-US" sz="2200" b="0" dirty="0"/>
          </a:p>
        </p:txBody>
      </p:sp>
      <p:sp>
        <p:nvSpPr>
          <p:cNvPr id="104457" name="Text Box 9"/>
          <p:cNvSpPr txBox="1">
            <a:spLocks noChangeArrowheads="1"/>
          </p:cNvSpPr>
          <p:nvPr/>
        </p:nvSpPr>
        <p:spPr bwMode="auto">
          <a:xfrm>
            <a:off x="304799" y="5088392"/>
            <a:ext cx="3990109" cy="1107996"/>
          </a:xfrm>
          <a:prstGeom prst="rect">
            <a:avLst/>
          </a:prstGeom>
          <a:noFill/>
          <a:ln w="9525">
            <a:noFill/>
            <a:miter lim="800000"/>
            <a:headEnd/>
            <a:tailEnd/>
          </a:ln>
          <a:effectLst/>
        </p:spPr>
        <p:txBody>
          <a:bodyPr wrap="square">
            <a:spAutoFit/>
          </a:bodyPr>
          <a:lstStyle/>
          <a:p>
            <a:r>
              <a:rPr lang="en-US" sz="2200" b="0" dirty="0"/>
              <a:t>Les </a:t>
            </a:r>
            <a:r>
              <a:rPr lang="en-US" sz="2200" b="0" dirty="0" err="1"/>
              <a:t>fichiers</a:t>
            </a:r>
            <a:r>
              <a:rPr lang="en-US" sz="2200" b="0" dirty="0"/>
              <a:t> </a:t>
            </a:r>
            <a:r>
              <a:rPr lang="en-US" sz="2200" b="0" dirty="0" err="1"/>
              <a:t>locaux</a:t>
            </a:r>
            <a:r>
              <a:rPr lang="en-US" sz="2200" b="0" dirty="0"/>
              <a:t> </a:t>
            </a:r>
            <a:r>
              <a:rPr lang="en-US" sz="2200" b="0" dirty="0" err="1"/>
              <a:t>sont</a:t>
            </a:r>
            <a:r>
              <a:rPr lang="en-US" sz="2200" b="0" dirty="0"/>
              <a:t/>
            </a:r>
            <a:br>
              <a:rPr lang="en-US" sz="2200" b="0" dirty="0"/>
            </a:br>
            <a:r>
              <a:rPr lang="en-US" sz="2200" b="0" dirty="0" err="1"/>
              <a:t>synchronisés</a:t>
            </a:r>
            <a:r>
              <a:rPr lang="en-US" sz="2200" b="0" dirty="0"/>
              <a:t> avec </a:t>
            </a:r>
            <a:r>
              <a:rPr lang="en-US" sz="2200" b="0" dirty="0" smtClean="0"/>
              <a:t> les </a:t>
            </a:r>
            <a:r>
              <a:rPr lang="en-US" sz="2200" b="0" dirty="0" err="1"/>
              <a:t>fichiers</a:t>
            </a:r>
            <a:r>
              <a:rPr lang="en-US" sz="2200" b="0" dirty="0"/>
              <a:t> du </a:t>
            </a:r>
            <a:r>
              <a:rPr lang="en-US" sz="2200" b="0" dirty="0" err="1" smtClean="0"/>
              <a:t>serveur</a:t>
            </a:r>
            <a:endParaRPr lang="en-US" sz="2200" b="0" dirty="0"/>
          </a:p>
        </p:txBody>
      </p:sp>
      <p:sp>
        <p:nvSpPr>
          <p:cNvPr id="104460" name="Freeform 12"/>
          <p:cNvSpPr>
            <a:spLocks noChangeAspect="1"/>
          </p:cNvSpPr>
          <p:nvPr/>
        </p:nvSpPr>
        <p:spPr bwMode="auto">
          <a:xfrm>
            <a:off x="4475900" y="1308100"/>
            <a:ext cx="1484313" cy="1473200"/>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104461" name="Freeform 13"/>
          <p:cNvSpPr>
            <a:spLocks noChangeAspect="1"/>
          </p:cNvSpPr>
          <p:nvPr/>
        </p:nvSpPr>
        <p:spPr bwMode="auto">
          <a:xfrm>
            <a:off x="5096613" y="1433513"/>
            <a:ext cx="706437" cy="65881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104462" name="Freeform 14"/>
          <p:cNvSpPr>
            <a:spLocks noChangeAspect="1"/>
          </p:cNvSpPr>
          <p:nvPr/>
        </p:nvSpPr>
        <p:spPr bwMode="auto">
          <a:xfrm>
            <a:off x="5018825" y="1327150"/>
            <a:ext cx="903288" cy="696913"/>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104463" name="Freeform 15"/>
          <p:cNvSpPr>
            <a:spLocks noChangeAspect="1"/>
          </p:cNvSpPr>
          <p:nvPr/>
        </p:nvSpPr>
        <p:spPr bwMode="auto">
          <a:xfrm>
            <a:off x="4504475" y="2093913"/>
            <a:ext cx="1012825" cy="571500"/>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464" name="Freeform 16"/>
          <p:cNvSpPr>
            <a:spLocks noChangeAspect="1"/>
          </p:cNvSpPr>
          <p:nvPr/>
        </p:nvSpPr>
        <p:spPr bwMode="auto">
          <a:xfrm>
            <a:off x="5672875" y="2378075"/>
            <a:ext cx="22225" cy="19050"/>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04465" name="Freeform 17"/>
          <p:cNvSpPr>
            <a:spLocks noChangeAspect="1"/>
          </p:cNvSpPr>
          <p:nvPr/>
        </p:nvSpPr>
        <p:spPr bwMode="auto">
          <a:xfrm>
            <a:off x="5703038" y="2032000"/>
            <a:ext cx="61912" cy="217488"/>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104466" name="Line 18"/>
          <p:cNvSpPr>
            <a:spLocks noChangeAspect="1" noChangeShapeType="1"/>
          </p:cNvSpPr>
          <p:nvPr/>
        </p:nvSpPr>
        <p:spPr bwMode="auto">
          <a:xfrm flipH="1" flipV="1">
            <a:off x="4783875" y="2152650"/>
            <a:ext cx="625475" cy="323850"/>
          </a:xfrm>
          <a:prstGeom prst="line">
            <a:avLst/>
          </a:prstGeom>
          <a:noFill/>
          <a:ln w="12700">
            <a:solidFill>
              <a:srgbClr val="808080"/>
            </a:solidFill>
            <a:round/>
            <a:headEnd/>
            <a:tailEnd/>
          </a:ln>
          <a:effectLst/>
        </p:spPr>
        <p:txBody>
          <a:bodyPr wrap="none" anchor="ctr"/>
          <a:lstStyle/>
          <a:p>
            <a:endParaRPr lang="fr-FR"/>
          </a:p>
        </p:txBody>
      </p:sp>
      <p:sp>
        <p:nvSpPr>
          <p:cNvPr id="104467" name="Line 19"/>
          <p:cNvSpPr>
            <a:spLocks noChangeAspect="1" noChangeShapeType="1"/>
          </p:cNvSpPr>
          <p:nvPr/>
        </p:nvSpPr>
        <p:spPr bwMode="auto">
          <a:xfrm flipH="1" flipV="1">
            <a:off x="4720375" y="2208213"/>
            <a:ext cx="592138" cy="319087"/>
          </a:xfrm>
          <a:prstGeom prst="line">
            <a:avLst/>
          </a:prstGeom>
          <a:noFill/>
          <a:ln w="12700">
            <a:solidFill>
              <a:srgbClr val="808080"/>
            </a:solidFill>
            <a:round/>
            <a:headEnd/>
            <a:tailEnd/>
          </a:ln>
          <a:effectLst/>
        </p:spPr>
        <p:txBody>
          <a:bodyPr wrap="none" anchor="ctr"/>
          <a:lstStyle/>
          <a:p>
            <a:endParaRPr lang="fr-FR"/>
          </a:p>
        </p:txBody>
      </p:sp>
      <p:sp>
        <p:nvSpPr>
          <p:cNvPr id="104468" name="Line 20"/>
          <p:cNvSpPr>
            <a:spLocks noChangeAspect="1" noChangeShapeType="1"/>
          </p:cNvSpPr>
          <p:nvPr/>
        </p:nvSpPr>
        <p:spPr bwMode="auto">
          <a:xfrm flipH="1" flipV="1">
            <a:off x="4612425" y="2249488"/>
            <a:ext cx="600075" cy="333375"/>
          </a:xfrm>
          <a:prstGeom prst="line">
            <a:avLst/>
          </a:prstGeom>
          <a:noFill/>
          <a:ln w="12700">
            <a:solidFill>
              <a:srgbClr val="808080"/>
            </a:solidFill>
            <a:round/>
            <a:headEnd/>
            <a:tailEnd/>
          </a:ln>
          <a:effectLst/>
        </p:spPr>
        <p:txBody>
          <a:bodyPr wrap="none" anchor="ctr"/>
          <a:lstStyle/>
          <a:p>
            <a:endParaRPr lang="fr-FR"/>
          </a:p>
        </p:txBody>
      </p:sp>
      <p:sp>
        <p:nvSpPr>
          <p:cNvPr id="104469" name="Freeform 21"/>
          <p:cNvSpPr>
            <a:spLocks noChangeAspect="1"/>
          </p:cNvSpPr>
          <p:nvPr/>
        </p:nvSpPr>
        <p:spPr bwMode="auto">
          <a:xfrm>
            <a:off x="4839438" y="1997075"/>
            <a:ext cx="833437" cy="423863"/>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470" name="Freeform 22"/>
          <p:cNvSpPr>
            <a:spLocks noChangeAspect="1"/>
          </p:cNvSpPr>
          <p:nvPr/>
        </p:nvSpPr>
        <p:spPr bwMode="auto">
          <a:xfrm>
            <a:off x="5574450" y="2216150"/>
            <a:ext cx="131763" cy="107950"/>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471" name="Freeform 23"/>
          <p:cNvSpPr>
            <a:spLocks noChangeAspect="1"/>
          </p:cNvSpPr>
          <p:nvPr/>
        </p:nvSpPr>
        <p:spPr bwMode="auto">
          <a:xfrm>
            <a:off x="5128363" y="2014538"/>
            <a:ext cx="388937" cy="223837"/>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472" name="Freeform 24"/>
          <p:cNvSpPr>
            <a:spLocks noChangeAspect="1"/>
          </p:cNvSpPr>
          <p:nvPr/>
        </p:nvSpPr>
        <p:spPr bwMode="auto">
          <a:xfrm>
            <a:off x="4934688" y="1927225"/>
            <a:ext cx="131762" cy="107950"/>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473" name="Freeform 25"/>
          <p:cNvSpPr>
            <a:spLocks/>
          </p:cNvSpPr>
          <p:nvPr/>
        </p:nvSpPr>
        <p:spPr bwMode="auto">
          <a:xfrm>
            <a:off x="5096613" y="1433513"/>
            <a:ext cx="706437" cy="43497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104474" name="Freeform 26"/>
          <p:cNvSpPr>
            <a:spLocks/>
          </p:cNvSpPr>
          <p:nvPr/>
        </p:nvSpPr>
        <p:spPr bwMode="auto">
          <a:xfrm>
            <a:off x="5099788" y="1633538"/>
            <a:ext cx="703262" cy="46037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sp>
        <p:nvSpPr>
          <p:cNvPr id="104475" name="Text Box 27"/>
          <p:cNvSpPr txBox="1">
            <a:spLocks noChangeArrowheads="1"/>
          </p:cNvSpPr>
          <p:nvPr/>
        </p:nvSpPr>
        <p:spPr bwMode="auto">
          <a:xfrm rot="1159458">
            <a:off x="4950563" y="1562100"/>
            <a:ext cx="906462" cy="361950"/>
          </a:xfrm>
          <a:prstGeom prst="rect">
            <a:avLst/>
          </a:prstGeom>
          <a:noFill/>
          <a:ln w="9525">
            <a:noFill/>
            <a:miter lim="800000"/>
            <a:headEnd/>
            <a:tailEnd/>
          </a:ln>
          <a:effectLst/>
        </p:spPr>
        <p:txBody>
          <a:bodyPr wrap="none">
            <a:spAutoFit/>
          </a:bodyPr>
          <a:lstStyle/>
          <a:p>
            <a:pPr>
              <a:lnSpc>
                <a:spcPct val="80000"/>
              </a:lnSpc>
            </a:pPr>
            <a:r>
              <a:rPr lang="en-US" sz="1100"/>
              <a:t>Fermeture </a:t>
            </a:r>
            <a:br>
              <a:rPr lang="en-US" sz="1100"/>
            </a:br>
            <a:r>
              <a:rPr lang="en-US" sz="1100"/>
              <a:t>de session</a:t>
            </a:r>
          </a:p>
        </p:txBody>
      </p:sp>
      <p:grpSp>
        <p:nvGrpSpPr>
          <p:cNvPr id="104476" name="Group 28"/>
          <p:cNvGrpSpPr>
            <a:grpSpLocks/>
          </p:cNvGrpSpPr>
          <p:nvPr/>
        </p:nvGrpSpPr>
        <p:grpSpPr bwMode="auto">
          <a:xfrm>
            <a:off x="7443788" y="1081088"/>
            <a:ext cx="1035050" cy="1670050"/>
            <a:chOff x="1279" y="896"/>
            <a:chExt cx="633" cy="1021"/>
          </a:xfrm>
        </p:grpSpPr>
        <p:sp>
          <p:nvSpPr>
            <p:cNvPr id="104477" name="Freeform 29"/>
            <p:cNvSpPr>
              <a:spLocks/>
            </p:cNvSpPr>
            <p:nvPr/>
          </p:nvSpPr>
          <p:spPr bwMode="auto">
            <a:xfrm flipH="1">
              <a:off x="1280" y="896"/>
              <a:ext cx="630" cy="219"/>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04478" name="Freeform 30"/>
            <p:cNvSpPr>
              <a:spLocks/>
            </p:cNvSpPr>
            <p:nvPr/>
          </p:nvSpPr>
          <p:spPr bwMode="auto">
            <a:xfrm flipH="1">
              <a:off x="1289" y="1656"/>
              <a:ext cx="611" cy="261"/>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104479" name="Freeform 31"/>
            <p:cNvSpPr>
              <a:spLocks/>
            </p:cNvSpPr>
            <p:nvPr/>
          </p:nvSpPr>
          <p:spPr bwMode="auto">
            <a:xfrm flipH="1">
              <a:off x="1279" y="957"/>
              <a:ext cx="356" cy="934"/>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04480" name="Freeform 32"/>
            <p:cNvSpPr>
              <a:spLocks/>
            </p:cNvSpPr>
            <p:nvPr/>
          </p:nvSpPr>
          <p:spPr bwMode="auto">
            <a:xfrm flipH="1">
              <a:off x="1631" y="1045"/>
              <a:ext cx="281" cy="843"/>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04481" name="Line 33"/>
            <p:cNvSpPr>
              <a:spLocks noChangeShapeType="1"/>
            </p:cNvSpPr>
            <p:nvPr/>
          </p:nvSpPr>
          <p:spPr bwMode="auto">
            <a:xfrm flipH="1">
              <a:off x="1679" y="1754"/>
              <a:ext cx="194" cy="51"/>
            </a:xfrm>
            <a:prstGeom prst="line">
              <a:avLst/>
            </a:prstGeom>
            <a:noFill/>
            <a:ln w="6350">
              <a:solidFill>
                <a:srgbClr val="676767"/>
              </a:solidFill>
              <a:round/>
              <a:headEnd/>
              <a:tailEnd/>
            </a:ln>
            <a:effectLst/>
          </p:spPr>
          <p:txBody>
            <a:bodyPr wrap="none" anchor="ctr"/>
            <a:lstStyle/>
            <a:p>
              <a:endParaRPr lang="fr-FR"/>
            </a:p>
          </p:txBody>
        </p:sp>
        <p:sp>
          <p:nvSpPr>
            <p:cNvPr id="104482" name="Oval 34"/>
            <p:cNvSpPr>
              <a:spLocks noChangeArrowheads="1"/>
            </p:cNvSpPr>
            <p:nvPr/>
          </p:nvSpPr>
          <p:spPr bwMode="auto">
            <a:xfrm flipH="1">
              <a:off x="1663" y="1130"/>
              <a:ext cx="32" cy="18"/>
            </a:xfrm>
            <a:prstGeom prst="ellipse">
              <a:avLst/>
            </a:prstGeom>
            <a:solidFill>
              <a:srgbClr val="D60093"/>
            </a:solidFill>
            <a:ln w="12700">
              <a:noFill/>
              <a:round/>
              <a:headEnd/>
              <a:tailEnd/>
            </a:ln>
            <a:effectLst/>
          </p:spPr>
          <p:txBody>
            <a:bodyPr wrap="none" anchor="ctr"/>
            <a:lstStyle/>
            <a:p>
              <a:endParaRPr lang="fr-FR"/>
            </a:p>
          </p:txBody>
        </p:sp>
        <p:sp>
          <p:nvSpPr>
            <p:cNvPr id="104483" name="Line 35"/>
            <p:cNvSpPr>
              <a:spLocks noChangeShapeType="1"/>
            </p:cNvSpPr>
            <p:nvPr/>
          </p:nvSpPr>
          <p:spPr bwMode="auto">
            <a:xfrm flipH="1">
              <a:off x="1679" y="1715"/>
              <a:ext cx="194" cy="52"/>
            </a:xfrm>
            <a:prstGeom prst="line">
              <a:avLst/>
            </a:prstGeom>
            <a:noFill/>
            <a:ln w="6350">
              <a:solidFill>
                <a:srgbClr val="676767"/>
              </a:solidFill>
              <a:round/>
              <a:headEnd/>
              <a:tailEnd/>
            </a:ln>
            <a:effectLst/>
          </p:spPr>
          <p:txBody>
            <a:bodyPr wrap="none" anchor="ctr"/>
            <a:lstStyle/>
            <a:p>
              <a:endParaRPr lang="fr-FR"/>
            </a:p>
          </p:txBody>
        </p:sp>
        <p:sp>
          <p:nvSpPr>
            <p:cNvPr id="104484" name="Line 36"/>
            <p:cNvSpPr>
              <a:spLocks noChangeShapeType="1"/>
            </p:cNvSpPr>
            <p:nvPr/>
          </p:nvSpPr>
          <p:spPr bwMode="auto">
            <a:xfrm flipH="1">
              <a:off x="1679" y="1676"/>
              <a:ext cx="194" cy="53"/>
            </a:xfrm>
            <a:prstGeom prst="line">
              <a:avLst/>
            </a:prstGeom>
            <a:noFill/>
            <a:ln w="6350">
              <a:solidFill>
                <a:srgbClr val="676767"/>
              </a:solidFill>
              <a:round/>
              <a:headEnd/>
              <a:tailEnd/>
            </a:ln>
            <a:effectLst/>
          </p:spPr>
          <p:txBody>
            <a:bodyPr wrap="none" anchor="ctr"/>
            <a:lstStyle/>
            <a:p>
              <a:endParaRPr lang="fr-FR"/>
            </a:p>
          </p:txBody>
        </p:sp>
        <p:sp>
          <p:nvSpPr>
            <p:cNvPr id="104485" name="Line 37"/>
            <p:cNvSpPr>
              <a:spLocks noChangeShapeType="1"/>
            </p:cNvSpPr>
            <p:nvPr/>
          </p:nvSpPr>
          <p:spPr bwMode="auto">
            <a:xfrm flipH="1">
              <a:off x="1679" y="1639"/>
              <a:ext cx="194" cy="52"/>
            </a:xfrm>
            <a:prstGeom prst="line">
              <a:avLst/>
            </a:prstGeom>
            <a:noFill/>
            <a:ln w="6350">
              <a:solidFill>
                <a:srgbClr val="676767"/>
              </a:solidFill>
              <a:round/>
              <a:headEnd/>
              <a:tailEnd/>
            </a:ln>
            <a:effectLst/>
          </p:spPr>
          <p:txBody>
            <a:bodyPr wrap="none" anchor="ctr"/>
            <a:lstStyle/>
            <a:p>
              <a:endParaRPr lang="fr-FR"/>
            </a:p>
          </p:txBody>
        </p:sp>
        <p:sp>
          <p:nvSpPr>
            <p:cNvPr id="104486" name="Line 38"/>
            <p:cNvSpPr>
              <a:spLocks noChangeShapeType="1"/>
            </p:cNvSpPr>
            <p:nvPr/>
          </p:nvSpPr>
          <p:spPr bwMode="auto">
            <a:xfrm flipH="1">
              <a:off x="1679" y="1601"/>
              <a:ext cx="194" cy="51"/>
            </a:xfrm>
            <a:prstGeom prst="line">
              <a:avLst/>
            </a:prstGeom>
            <a:noFill/>
            <a:ln w="6350">
              <a:solidFill>
                <a:srgbClr val="676767"/>
              </a:solidFill>
              <a:round/>
              <a:headEnd/>
              <a:tailEnd/>
            </a:ln>
            <a:effectLst/>
          </p:spPr>
          <p:txBody>
            <a:bodyPr wrap="none" anchor="ctr"/>
            <a:lstStyle/>
            <a:p>
              <a:endParaRPr lang="fr-FR"/>
            </a:p>
          </p:txBody>
        </p:sp>
        <p:sp>
          <p:nvSpPr>
            <p:cNvPr id="104487" name="Freeform 39"/>
            <p:cNvSpPr>
              <a:spLocks/>
            </p:cNvSpPr>
            <p:nvPr/>
          </p:nvSpPr>
          <p:spPr bwMode="auto">
            <a:xfrm flipH="1">
              <a:off x="1677" y="1233"/>
              <a:ext cx="193" cy="358"/>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104488" name="Freeform 40"/>
            <p:cNvSpPr>
              <a:spLocks/>
            </p:cNvSpPr>
            <p:nvPr/>
          </p:nvSpPr>
          <p:spPr bwMode="auto">
            <a:xfrm flipH="1">
              <a:off x="1670" y="1162"/>
              <a:ext cx="220" cy="624"/>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104489" name="Freeform 41"/>
            <p:cNvSpPr>
              <a:spLocks/>
            </p:cNvSpPr>
            <p:nvPr/>
          </p:nvSpPr>
          <p:spPr bwMode="auto">
            <a:xfrm flipH="1">
              <a:off x="1679" y="1186"/>
              <a:ext cx="197" cy="355"/>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104490" name="Line 42"/>
            <p:cNvSpPr>
              <a:spLocks noChangeShapeType="1"/>
            </p:cNvSpPr>
            <p:nvPr/>
          </p:nvSpPr>
          <p:spPr bwMode="auto">
            <a:xfrm flipH="1">
              <a:off x="1686" y="1266"/>
              <a:ext cx="189" cy="45"/>
            </a:xfrm>
            <a:prstGeom prst="line">
              <a:avLst/>
            </a:prstGeom>
            <a:noFill/>
            <a:ln w="6350">
              <a:solidFill>
                <a:srgbClr val="676767"/>
              </a:solidFill>
              <a:round/>
              <a:headEnd/>
              <a:tailEnd/>
            </a:ln>
            <a:effectLst/>
          </p:spPr>
          <p:txBody>
            <a:bodyPr wrap="none" anchor="ctr"/>
            <a:lstStyle/>
            <a:p>
              <a:endParaRPr lang="fr-FR"/>
            </a:p>
          </p:txBody>
        </p:sp>
        <p:sp>
          <p:nvSpPr>
            <p:cNvPr id="104491" name="Line 43"/>
            <p:cNvSpPr>
              <a:spLocks noChangeShapeType="1"/>
            </p:cNvSpPr>
            <p:nvPr/>
          </p:nvSpPr>
          <p:spPr bwMode="auto">
            <a:xfrm flipH="1">
              <a:off x="1683" y="1343"/>
              <a:ext cx="192" cy="43"/>
            </a:xfrm>
            <a:prstGeom prst="line">
              <a:avLst/>
            </a:prstGeom>
            <a:noFill/>
            <a:ln w="6350">
              <a:solidFill>
                <a:srgbClr val="676767"/>
              </a:solidFill>
              <a:round/>
              <a:headEnd/>
              <a:tailEnd/>
            </a:ln>
            <a:effectLst/>
          </p:spPr>
          <p:txBody>
            <a:bodyPr wrap="none" anchor="ctr"/>
            <a:lstStyle/>
            <a:p>
              <a:endParaRPr lang="fr-FR"/>
            </a:p>
          </p:txBody>
        </p:sp>
        <p:sp>
          <p:nvSpPr>
            <p:cNvPr id="104492" name="Line 44"/>
            <p:cNvSpPr>
              <a:spLocks noChangeShapeType="1"/>
            </p:cNvSpPr>
            <p:nvPr/>
          </p:nvSpPr>
          <p:spPr bwMode="auto">
            <a:xfrm flipH="1">
              <a:off x="1692" y="1436"/>
              <a:ext cx="183" cy="45"/>
            </a:xfrm>
            <a:prstGeom prst="line">
              <a:avLst/>
            </a:prstGeom>
            <a:noFill/>
            <a:ln w="6350">
              <a:solidFill>
                <a:srgbClr val="676767"/>
              </a:solidFill>
              <a:round/>
              <a:headEnd/>
              <a:tailEnd/>
            </a:ln>
            <a:effectLst/>
          </p:spPr>
          <p:txBody>
            <a:bodyPr wrap="none" anchor="ctr"/>
            <a:lstStyle/>
            <a:p>
              <a:endParaRPr lang="fr-FR"/>
            </a:p>
          </p:txBody>
        </p:sp>
        <p:sp>
          <p:nvSpPr>
            <p:cNvPr id="104493" name="Freeform 45"/>
            <p:cNvSpPr>
              <a:spLocks/>
            </p:cNvSpPr>
            <p:nvPr/>
          </p:nvSpPr>
          <p:spPr bwMode="auto">
            <a:xfrm flipH="1">
              <a:off x="1743" y="1230"/>
              <a:ext cx="76"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104494" name="Line 46"/>
            <p:cNvSpPr>
              <a:spLocks noChangeShapeType="1"/>
            </p:cNvSpPr>
            <p:nvPr/>
          </p:nvSpPr>
          <p:spPr bwMode="auto">
            <a:xfrm flipH="1">
              <a:off x="1708" y="1236"/>
              <a:ext cx="139" cy="30"/>
            </a:xfrm>
            <a:prstGeom prst="line">
              <a:avLst/>
            </a:prstGeom>
            <a:noFill/>
            <a:ln w="6350">
              <a:solidFill>
                <a:srgbClr val="919191"/>
              </a:solidFill>
              <a:round/>
              <a:headEnd/>
              <a:tailEnd/>
            </a:ln>
            <a:effectLst/>
          </p:spPr>
          <p:txBody>
            <a:bodyPr wrap="none" anchor="ctr"/>
            <a:lstStyle/>
            <a:p>
              <a:endParaRPr lang="fr-FR"/>
            </a:p>
          </p:txBody>
        </p:sp>
        <p:sp>
          <p:nvSpPr>
            <p:cNvPr id="104495" name="Freeform 47"/>
            <p:cNvSpPr>
              <a:spLocks/>
            </p:cNvSpPr>
            <p:nvPr/>
          </p:nvSpPr>
          <p:spPr bwMode="auto">
            <a:xfrm flipH="1">
              <a:off x="1693" y="1375"/>
              <a:ext cx="168"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496" name="Freeform 48"/>
            <p:cNvSpPr>
              <a:spLocks/>
            </p:cNvSpPr>
            <p:nvPr/>
          </p:nvSpPr>
          <p:spPr bwMode="auto">
            <a:xfrm flipH="1">
              <a:off x="1692" y="1468"/>
              <a:ext cx="169" cy="84"/>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497" name="Freeform 49"/>
            <p:cNvSpPr>
              <a:spLocks/>
            </p:cNvSpPr>
            <p:nvPr/>
          </p:nvSpPr>
          <p:spPr bwMode="auto">
            <a:xfrm flipH="1">
              <a:off x="1693" y="1289"/>
              <a:ext cx="171" cy="78"/>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498" name="Line 50"/>
            <p:cNvSpPr>
              <a:spLocks noChangeShapeType="1"/>
            </p:cNvSpPr>
            <p:nvPr/>
          </p:nvSpPr>
          <p:spPr bwMode="auto">
            <a:xfrm flipV="1">
              <a:off x="1817" y="1491"/>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sp>
          <p:nvSpPr>
            <p:cNvPr id="104499" name="Line 51"/>
            <p:cNvSpPr>
              <a:spLocks noChangeShapeType="1"/>
            </p:cNvSpPr>
            <p:nvPr/>
          </p:nvSpPr>
          <p:spPr bwMode="auto">
            <a:xfrm flipV="1">
              <a:off x="1819" y="1397"/>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sp>
          <p:nvSpPr>
            <p:cNvPr id="104500" name="Line 52"/>
            <p:cNvSpPr>
              <a:spLocks noChangeShapeType="1"/>
            </p:cNvSpPr>
            <p:nvPr/>
          </p:nvSpPr>
          <p:spPr bwMode="auto">
            <a:xfrm flipV="1">
              <a:off x="1823" y="1308"/>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grpSp>
      <p:sp>
        <p:nvSpPr>
          <p:cNvPr id="104501" name="AutoShape 53"/>
          <p:cNvSpPr>
            <a:spLocks noChangeArrowheads="1"/>
          </p:cNvSpPr>
          <p:nvPr/>
        </p:nvSpPr>
        <p:spPr bwMode="auto">
          <a:xfrm flipV="1">
            <a:off x="7045325" y="1398588"/>
            <a:ext cx="663575" cy="903287"/>
          </a:xfrm>
          <a:prstGeom prst="foldedCorner">
            <a:avLst>
              <a:gd name="adj" fmla="val 26292"/>
            </a:avLst>
          </a:prstGeom>
          <a:solidFill>
            <a:srgbClr val="FFFFFF"/>
          </a:solidFill>
          <a:ln w="9525">
            <a:solidFill>
              <a:schemeClr val="tx1"/>
            </a:solidFill>
            <a:round/>
            <a:headEnd/>
            <a:tailEnd/>
          </a:ln>
          <a:effectLst>
            <a:outerShdw dist="53882" dir="2700000" algn="ctr" rotWithShape="0">
              <a:srgbClr val="C0C0C0"/>
            </a:outerShdw>
          </a:effectLst>
        </p:spPr>
        <p:txBody>
          <a:bodyPr wrap="none" anchor="ctr"/>
          <a:lstStyle/>
          <a:p>
            <a:endParaRPr lang="fr-FR"/>
          </a:p>
        </p:txBody>
      </p:sp>
      <p:sp>
        <p:nvSpPr>
          <p:cNvPr id="104502" name="Freeform 54"/>
          <p:cNvSpPr>
            <a:spLocks/>
          </p:cNvSpPr>
          <p:nvPr/>
        </p:nvSpPr>
        <p:spPr bwMode="auto">
          <a:xfrm>
            <a:off x="5503013" y="2000250"/>
            <a:ext cx="1074737" cy="750888"/>
          </a:xfrm>
          <a:custGeom>
            <a:avLst/>
            <a:gdLst/>
            <a:ahLst/>
            <a:cxnLst>
              <a:cxn ang="0">
                <a:pos x="0" y="996"/>
              </a:cxn>
              <a:cxn ang="0">
                <a:pos x="0" y="94"/>
              </a:cxn>
              <a:cxn ang="0">
                <a:pos x="79" y="0"/>
              </a:cxn>
              <a:cxn ang="0">
                <a:pos x="467" y="0"/>
              </a:cxn>
              <a:cxn ang="0">
                <a:pos x="526" y="93"/>
              </a:cxn>
              <a:cxn ang="0">
                <a:pos x="1248" y="94"/>
              </a:cxn>
              <a:cxn ang="0">
                <a:pos x="1248" y="996"/>
              </a:cxn>
              <a:cxn ang="0">
                <a:pos x="0" y="996"/>
              </a:cxn>
            </a:cxnLst>
            <a:rect l="0" t="0" r="r" b="b"/>
            <a:pathLst>
              <a:path w="1248" h="996">
                <a:moveTo>
                  <a:pt x="0" y="996"/>
                </a:moveTo>
                <a:lnTo>
                  <a:pt x="0" y="94"/>
                </a:lnTo>
                <a:lnTo>
                  <a:pt x="79" y="0"/>
                </a:lnTo>
                <a:lnTo>
                  <a:pt x="467" y="0"/>
                </a:lnTo>
                <a:lnTo>
                  <a:pt x="526" y="93"/>
                </a:lnTo>
                <a:lnTo>
                  <a:pt x="1248" y="94"/>
                </a:lnTo>
                <a:lnTo>
                  <a:pt x="1248" y="996"/>
                </a:lnTo>
                <a:lnTo>
                  <a:pt x="0" y="996"/>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28398" dir="1593903" algn="ctr" rotWithShape="0">
              <a:srgbClr val="969696"/>
            </a:outerShdw>
          </a:effectLst>
        </p:spPr>
        <p:txBody>
          <a:bodyPr wrap="none" tIns="27432" bIns="27432" anchor="ctr"/>
          <a:lstStyle/>
          <a:p>
            <a:endParaRPr lang="fr-FR"/>
          </a:p>
        </p:txBody>
      </p:sp>
      <p:sp>
        <p:nvSpPr>
          <p:cNvPr id="104503" name="AutoShape 55"/>
          <p:cNvSpPr>
            <a:spLocks noChangeArrowheads="1"/>
          </p:cNvSpPr>
          <p:nvPr/>
        </p:nvSpPr>
        <p:spPr bwMode="auto">
          <a:xfrm flipV="1">
            <a:off x="5752250" y="1398588"/>
            <a:ext cx="663575" cy="903287"/>
          </a:xfrm>
          <a:prstGeom prst="foldedCorner">
            <a:avLst>
              <a:gd name="adj" fmla="val 26292"/>
            </a:avLst>
          </a:prstGeom>
          <a:solidFill>
            <a:srgbClr val="FFFFFF"/>
          </a:solidFill>
          <a:ln w="9525">
            <a:solidFill>
              <a:schemeClr val="tx1"/>
            </a:solidFill>
            <a:round/>
            <a:headEnd/>
            <a:tailEnd/>
          </a:ln>
          <a:effectLst>
            <a:outerShdw dist="53882" dir="2700000" algn="ctr" rotWithShape="0">
              <a:srgbClr val="C0C0C0"/>
            </a:outerShdw>
          </a:effectLst>
        </p:spPr>
        <p:txBody>
          <a:bodyPr wrap="none" anchor="ctr"/>
          <a:lstStyle/>
          <a:p>
            <a:endParaRPr lang="fr-FR"/>
          </a:p>
        </p:txBody>
      </p:sp>
      <p:sp>
        <p:nvSpPr>
          <p:cNvPr id="104504" name="AutoShape 56"/>
          <p:cNvSpPr>
            <a:spLocks noChangeArrowheads="1"/>
          </p:cNvSpPr>
          <p:nvPr/>
        </p:nvSpPr>
        <p:spPr bwMode="auto">
          <a:xfrm flipH="1">
            <a:off x="5279175" y="2198688"/>
            <a:ext cx="1289050" cy="593725"/>
          </a:xfrm>
          <a:prstGeom prst="parallelogram">
            <a:avLst>
              <a:gd name="adj" fmla="val 24124"/>
            </a:avLst>
          </a:prstGeom>
          <a:gradFill rotWithShape="0">
            <a:gsLst>
              <a:gs pos="0">
                <a:srgbClr val="FFFF99"/>
              </a:gs>
              <a:gs pos="100000">
                <a:srgbClr val="FFCC00"/>
              </a:gs>
            </a:gsLst>
            <a:lin ang="2700000" scaled="1"/>
          </a:gradFill>
          <a:ln w="9525">
            <a:solidFill>
              <a:schemeClr val="tx1"/>
            </a:solidFill>
            <a:miter lim="800000"/>
            <a:headEnd/>
            <a:tailEnd/>
          </a:ln>
          <a:effectLst>
            <a:outerShdw dist="28398" dir="1593903" algn="ctr" rotWithShape="0">
              <a:srgbClr val="969696"/>
            </a:outerShdw>
          </a:effectLst>
        </p:spPr>
        <p:txBody>
          <a:bodyPr wrap="none" lIns="0" tIns="27432" rIns="64008" bIns="27432" anchor="ctr"/>
          <a:lstStyle/>
          <a:p>
            <a:pPr algn="ctr"/>
            <a:endParaRPr lang="fr-FR" sz="1600">
              <a:latin typeface="Arial Narrow" pitchFamily="34" charset="0"/>
            </a:endParaRPr>
          </a:p>
        </p:txBody>
      </p:sp>
      <p:sp>
        <p:nvSpPr>
          <p:cNvPr id="104505" name="AutoShape 57"/>
          <p:cNvSpPr>
            <a:spLocks noChangeArrowheads="1"/>
          </p:cNvSpPr>
          <p:nvPr/>
        </p:nvSpPr>
        <p:spPr bwMode="auto">
          <a:xfrm>
            <a:off x="5902036" y="1603375"/>
            <a:ext cx="1733839" cy="533400"/>
          </a:xfrm>
          <a:prstGeom prst="leftRightArrow">
            <a:avLst>
              <a:gd name="adj1" fmla="val 50000"/>
              <a:gd name="adj2" fmla="val 81548"/>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gn="ctr"/>
            <a:r>
              <a:rPr lang="en-US" sz="1600" dirty="0" err="1">
                <a:solidFill>
                  <a:srgbClr val="FFFFFF"/>
                </a:solidFill>
                <a:effectLst>
                  <a:outerShdw blurRad="38100" dist="38100" dir="2700000" algn="tl">
                    <a:srgbClr val="000000"/>
                  </a:outerShdw>
                </a:effectLst>
              </a:rPr>
              <a:t>Synchronisation</a:t>
            </a:r>
            <a:endParaRPr lang="en-US" sz="1600" dirty="0">
              <a:solidFill>
                <a:srgbClr val="FFFFFF"/>
              </a:solidFill>
              <a:effectLst>
                <a:outerShdw blurRad="38100" dist="38100" dir="2700000" algn="tl">
                  <a:srgbClr val="000000"/>
                </a:outerShdw>
              </a:effectLst>
            </a:endParaRPr>
          </a:p>
        </p:txBody>
      </p:sp>
      <p:grpSp>
        <p:nvGrpSpPr>
          <p:cNvPr id="104506" name="Group 58"/>
          <p:cNvGrpSpPr>
            <a:grpSpLocks/>
          </p:cNvGrpSpPr>
          <p:nvPr/>
        </p:nvGrpSpPr>
        <p:grpSpPr bwMode="auto">
          <a:xfrm>
            <a:off x="4052038" y="914400"/>
            <a:ext cx="1157287" cy="1785938"/>
            <a:chOff x="2657" y="2265"/>
            <a:chExt cx="982" cy="1516"/>
          </a:xfrm>
        </p:grpSpPr>
        <p:sp>
          <p:nvSpPr>
            <p:cNvPr id="104507" name="Freeform 59"/>
            <p:cNvSpPr>
              <a:spLocks/>
            </p:cNvSpPr>
            <p:nvPr/>
          </p:nvSpPr>
          <p:spPr bwMode="auto">
            <a:xfrm>
              <a:off x="3324" y="3338"/>
              <a:ext cx="315" cy="350"/>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508" name="Freeform 60"/>
            <p:cNvSpPr>
              <a:spLocks/>
            </p:cNvSpPr>
            <p:nvPr/>
          </p:nvSpPr>
          <p:spPr bwMode="auto">
            <a:xfrm>
              <a:off x="3123" y="3300"/>
              <a:ext cx="282" cy="220"/>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509" name="Freeform 61"/>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104510" name="Freeform 62"/>
            <p:cNvSpPr>
              <a:spLocks/>
            </p:cNvSpPr>
            <p:nvPr/>
          </p:nvSpPr>
          <p:spPr bwMode="auto">
            <a:xfrm flipH="1">
              <a:off x="2657" y="2845"/>
              <a:ext cx="887" cy="935"/>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104511" name="Freeform 63"/>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104512" name="Freeform 64"/>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104513" name="Freeform 65"/>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104514" name="Freeform 66"/>
            <p:cNvSpPr>
              <a:spLocks/>
            </p:cNvSpPr>
            <p:nvPr/>
          </p:nvSpPr>
          <p:spPr bwMode="auto">
            <a:xfrm>
              <a:off x="2728" y="2772"/>
              <a:ext cx="387" cy="415"/>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104515" name="Freeform 67"/>
            <p:cNvSpPr>
              <a:spLocks noEditPoints="1"/>
            </p:cNvSpPr>
            <p:nvPr/>
          </p:nvSpPr>
          <p:spPr bwMode="auto">
            <a:xfrm>
              <a:off x="2659" y="2265"/>
              <a:ext cx="798" cy="1516"/>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grpSp>
        <p:nvGrpSpPr>
          <p:cNvPr id="104516" name="Group 68"/>
          <p:cNvGrpSpPr>
            <a:grpSpLocks/>
          </p:cNvGrpSpPr>
          <p:nvPr/>
        </p:nvGrpSpPr>
        <p:grpSpPr bwMode="auto">
          <a:xfrm>
            <a:off x="6070600" y="2895600"/>
            <a:ext cx="1960563" cy="1830388"/>
            <a:chOff x="3840" y="1824"/>
            <a:chExt cx="1235" cy="1153"/>
          </a:xfrm>
        </p:grpSpPr>
        <p:grpSp>
          <p:nvGrpSpPr>
            <p:cNvPr id="104517" name="Group 69"/>
            <p:cNvGrpSpPr>
              <a:grpSpLocks/>
            </p:cNvGrpSpPr>
            <p:nvPr/>
          </p:nvGrpSpPr>
          <p:grpSpPr bwMode="auto">
            <a:xfrm>
              <a:off x="4139" y="2049"/>
              <a:ext cx="935" cy="928"/>
              <a:chOff x="816" y="1017"/>
              <a:chExt cx="1175" cy="1167"/>
            </a:xfrm>
          </p:grpSpPr>
          <p:sp>
            <p:nvSpPr>
              <p:cNvPr id="104518" name="Freeform 70"/>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104519" name="Freeform 71"/>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104520" name="Freeform 72"/>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104521" name="Freeform 73"/>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522" name="Freeform 74"/>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04523" name="Freeform 75"/>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104524" name="Line 76"/>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104525" name="Line 77"/>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104526" name="Line 78"/>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104527" name="Freeform 79"/>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528" name="Freeform 80"/>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29" name="Freeform 81"/>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30" name="Freeform 82"/>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31" name="Freeform 83"/>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104532" name="Freeform 84"/>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sp>
          <p:nvSpPr>
            <p:cNvPr id="104533" name="AutoShape 85"/>
            <p:cNvSpPr>
              <a:spLocks noChangeArrowheads="1"/>
            </p:cNvSpPr>
            <p:nvPr/>
          </p:nvSpPr>
          <p:spPr bwMode="auto">
            <a:xfrm flipV="1">
              <a:off x="4657" y="1890"/>
              <a:ext cx="418" cy="569"/>
            </a:xfrm>
            <a:prstGeom prst="foldedCorner">
              <a:avLst>
                <a:gd name="adj" fmla="val 26292"/>
              </a:avLst>
            </a:prstGeom>
            <a:solidFill>
              <a:srgbClr val="FFFFFF"/>
            </a:solidFill>
            <a:ln w="9525">
              <a:solidFill>
                <a:schemeClr val="tx1"/>
              </a:solidFill>
              <a:round/>
              <a:headEnd/>
              <a:tailEnd/>
            </a:ln>
            <a:effectLst>
              <a:outerShdw dist="53882" dir="2700000" algn="ctr" rotWithShape="0">
                <a:srgbClr val="C0C0C0"/>
              </a:outerShdw>
            </a:effectLst>
          </p:spPr>
          <p:txBody>
            <a:bodyPr wrap="none" anchor="ctr"/>
            <a:lstStyle/>
            <a:p>
              <a:endParaRPr lang="fr-FR"/>
            </a:p>
          </p:txBody>
        </p:sp>
        <p:grpSp>
          <p:nvGrpSpPr>
            <p:cNvPr id="104534" name="Group 86"/>
            <p:cNvGrpSpPr>
              <a:grpSpLocks/>
            </p:cNvGrpSpPr>
            <p:nvPr/>
          </p:nvGrpSpPr>
          <p:grpSpPr bwMode="auto">
            <a:xfrm>
              <a:off x="4714" y="2068"/>
              <a:ext cx="326" cy="341"/>
              <a:chOff x="4520" y="2068"/>
              <a:chExt cx="326" cy="341"/>
            </a:xfrm>
          </p:grpSpPr>
          <p:sp>
            <p:nvSpPr>
              <p:cNvPr id="104535" name="Rectangle 87"/>
              <p:cNvSpPr>
                <a:spLocks noChangeArrowheads="1"/>
              </p:cNvSpPr>
              <p:nvPr/>
            </p:nvSpPr>
            <p:spPr bwMode="auto">
              <a:xfrm>
                <a:off x="4520" y="2068"/>
                <a:ext cx="326" cy="37"/>
              </a:xfrm>
              <a:prstGeom prst="rect">
                <a:avLst/>
              </a:prstGeom>
              <a:solidFill>
                <a:srgbClr val="3333FF"/>
              </a:solidFill>
              <a:ln w="9525">
                <a:noFill/>
                <a:miter lim="800000"/>
                <a:headEnd/>
                <a:tailEnd/>
              </a:ln>
              <a:effectLst/>
            </p:spPr>
            <p:txBody>
              <a:bodyPr wrap="none" anchor="ctr"/>
              <a:lstStyle/>
              <a:p>
                <a:endParaRPr lang="fr-FR"/>
              </a:p>
            </p:txBody>
          </p:sp>
          <p:sp>
            <p:nvSpPr>
              <p:cNvPr id="104536" name="Rectangle 88"/>
              <p:cNvSpPr>
                <a:spLocks noChangeArrowheads="1"/>
              </p:cNvSpPr>
              <p:nvPr/>
            </p:nvSpPr>
            <p:spPr bwMode="auto">
              <a:xfrm>
                <a:off x="4520" y="2167"/>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537" name="Rectangle 89"/>
              <p:cNvSpPr>
                <a:spLocks noChangeArrowheads="1"/>
              </p:cNvSpPr>
              <p:nvPr/>
            </p:nvSpPr>
            <p:spPr bwMode="auto">
              <a:xfrm>
                <a:off x="4520" y="2265"/>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538" name="Rectangle 90"/>
              <p:cNvSpPr>
                <a:spLocks noChangeArrowheads="1"/>
              </p:cNvSpPr>
              <p:nvPr/>
            </p:nvSpPr>
            <p:spPr bwMode="auto">
              <a:xfrm>
                <a:off x="4520" y="2372"/>
                <a:ext cx="321" cy="37"/>
              </a:xfrm>
              <a:prstGeom prst="rect">
                <a:avLst/>
              </a:prstGeom>
              <a:solidFill>
                <a:srgbClr val="3333FF"/>
              </a:solidFill>
              <a:ln w="9525">
                <a:noFill/>
                <a:miter lim="800000"/>
                <a:headEnd/>
                <a:tailEnd/>
              </a:ln>
              <a:effectLst/>
            </p:spPr>
            <p:txBody>
              <a:bodyPr wrap="none" anchor="ctr"/>
              <a:lstStyle/>
              <a:p>
                <a:endParaRPr lang="fr-FR"/>
              </a:p>
            </p:txBody>
          </p:sp>
        </p:grpSp>
        <p:grpSp>
          <p:nvGrpSpPr>
            <p:cNvPr id="104539" name="Group 91"/>
            <p:cNvGrpSpPr>
              <a:grpSpLocks/>
            </p:cNvGrpSpPr>
            <p:nvPr/>
          </p:nvGrpSpPr>
          <p:grpSpPr bwMode="auto">
            <a:xfrm>
              <a:off x="3840" y="1824"/>
              <a:ext cx="729" cy="1125"/>
              <a:chOff x="2657" y="2265"/>
              <a:chExt cx="982" cy="1516"/>
            </a:xfrm>
          </p:grpSpPr>
          <p:sp>
            <p:nvSpPr>
              <p:cNvPr id="104540" name="Freeform 92"/>
              <p:cNvSpPr>
                <a:spLocks/>
              </p:cNvSpPr>
              <p:nvPr/>
            </p:nvSpPr>
            <p:spPr bwMode="auto">
              <a:xfrm>
                <a:off x="3324" y="3338"/>
                <a:ext cx="315" cy="350"/>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541" name="Freeform 93"/>
              <p:cNvSpPr>
                <a:spLocks/>
              </p:cNvSpPr>
              <p:nvPr/>
            </p:nvSpPr>
            <p:spPr bwMode="auto">
              <a:xfrm>
                <a:off x="3123" y="3300"/>
                <a:ext cx="282" cy="220"/>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542" name="Freeform 94"/>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104543" name="Freeform 95"/>
              <p:cNvSpPr>
                <a:spLocks/>
              </p:cNvSpPr>
              <p:nvPr/>
            </p:nvSpPr>
            <p:spPr bwMode="auto">
              <a:xfrm flipH="1">
                <a:off x="2657" y="2845"/>
                <a:ext cx="887" cy="935"/>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104544" name="Freeform 96"/>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104545" name="Freeform 97"/>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104546" name="Freeform 98"/>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104547" name="Freeform 99"/>
              <p:cNvSpPr>
                <a:spLocks/>
              </p:cNvSpPr>
              <p:nvPr/>
            </p:nvSpPr>
            <p:spPr bwMode="auto">
              <a:xfrm>
                <a:off x="2728" y="2772"/>
                <a:ext cx="387" cy="415"/>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104548" name="Freeform 100"/>
              <p:cNvSpPr>
                <a:spLocks noEditPoints="1"/>
              </p:cNvSpPr>
              <p:nvPr/>
            </p:nvSpPr>
            <p:spPr bwMode="auto">
              <a:xfrm>
                <a:off x="2659" y="2265"/>
                <a:ext cx="798" cy="1516"/>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grpSp>
      <p:grpSp>
        <p:nvGrpSpPr>
          <p:cNvPr id="104550" name="Group 102"/>
          <p:cNvGrpSpPr>
            <a:grpSpLocks/>
          </p:cNvGrpSpPr>
          <p:nvPr/>
        </p:nvGrpSpPr>
        <p:grpSpPr bwMode="auto">
          <a:xfrm>
            <a:off x="4722398" y="4929188"/>
            <a:ext cx="1484313" cy="1473200"/>
            <a:chOff x="816" y="1017"/>
            <a:chExt cx="1175" cy="1167"/>
          </a:xfrm>
        </p:grpSpPr>
        <p:sp>
          <p:nvSpPr>
            <p:cNvPr id="104551" name="Freeform 103"/>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104552" name="Freeform 104"/>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104553" name="Freeform 105"/>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104554" name="Freeform 106"/>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555" name="Freeform 107"/>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04556" name="Freeform 108"/>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104557" name="Line 109"/>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104558" name="Line 110"/>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104559" name="Line 111"/>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104560" name="Freeform 112"/>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104561" name="Freeform 113"/>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62" name="Freeform 114"/>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63" name="Freeform 115"/>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04564" name="Freeform 116"/>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104565" name="Freeform 117"/>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sp>
        <p:nvSpPr>
          <p:cNvPr id="104566" name="Text Box 118"/>
          <p:cNvSpPr txBox="1">
            <a:spLocks noChangeArrowheads="1"/>
          </p:cNvSpPr>
          <p:nvPr/>
        </p:nvSpPr>
        <p:spPr bwMode="auto">
          <a:xfrm rot="1159458">
            <a:off x="5095463" y="5168900"/>
            <a:ext cx="906462" cy="361950"/>
          </a:xfrm>
          <a:prstGeom prst="rect">
            <a:avLst/>
          </a:prstGeom>
          <a:noFill/>
          <a:ln w="9525">
            <a:noFill/>
            <a:miter lim="800000"/>
            <a:headEnd/>
            <a:tailEnd/>
          </a:ln>
          <a:effectLst/>
        </p:spPr>
        <p:txBody>
          <a:bodyPr wrap="none">
            <a:spAutoFit/>
          </a:bodyPr>
          <a:lstStyle/>
          <a:p>
            <a:pPr>
              <a:lnSpc>
                <a:spcPct val="80000"/>
              </a:lnSpc>
            </a:pPr>
            <a:r>
              <a:rPr lang="en-US" sz="1100"/>
              <a:t>Ouverture </a:t>
            </a:r>
            <a:br>
              <a:rPr lang="en-US" sz="1100"/>
            </a:br>
            <a:r>
              <a:rPr lang="en-US" sz="1100"/>
              <a:t>de session</a:t>
            </a:r>
          </a:p>
        </p:txBody>
      </p:sp>
      <p:grpSp>
        <p:nvGrpSpPr>
          <p:cNvPr id="104567" name="Group 119"/>
          <p:cNvGrpSpPr>
            <a:grpSpLocks/>
          </p:cNvGrpSpPr>
          <p:nvPr/>
        </p:nvGrpSpPr>
        <p:grpSpPr bwMode="auto">
          <a:xfrm>
            <a:off x="7450138" y="4727575"/>
            <a:ext cx="1035050" cy="1670050"/>
            <a:chOff x="1279" y="896"/>
            <a:chExt cx="633" cy="1021"/>
          </a:xfrm>
        </p:grpSpPr>
        <p:sp>
          <p:nvSpPr>
            <p:cNvPr id="104568" name="Freeform 120"/>
            <p:cNvSpPr>
              <a:spLocks/>
            </p:cNvSpPr>
            <p:nvPr/>
          </p:nvSpPr>
          <p:spPr bwMode="auto">
            <a:xfrm flipH="1">
              <a:off x="1280" y="896"/>
              <a:ext cx="630" cy="219"/>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04569" name="Freeform 121"/>
            <p:cNvSpPr>
              <a:spLocks/>
            </p:cNvSpPr>
            <p:nvPr/>
          </p:nvSpPr>
          <p:spPr bwMode="auto">
            <a:xfrm flipH="1">
              <a:off x="1289" y="1656"/>
              <a:ext cx="611" cy="261"/>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104570" name="Freeform 122"/>
            <p:cNvSpPr>
              <a:spLocks/>
            </p:cNvSpPr>
            <p:nvPr/>
          </p:nvSpPr>
          <p:spPr bwMode="auto">
            <a:xfrm flipH="1">
              <a:off x="1279" y="957"/>
              <a:ext cx="356" cy="934"/>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04571" name="Freeform 123"/>
            <p:cNvSpPr>
              <a:spLocks/>
            </p:cNvSpPr>
            <p:nvPr/>
          </p:nvSpPr>
          <p:spPr bwMode="auto">
            <a:xfrm flipH="1">
              <a:off x="1631" y="1045"/>
              <a:ext cx="281" cy="843"/>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04572" name="Line 124"/>
            <p:cNvSpPr>
              <a:spLocks noChangeShapeType="1"/>
            </p:cNvSpPr>
            <p:nvPr/>
          </p:nvSpPr>
          <p:spPr bwMode="auto">
            <a:xfrm flipH="1">
              <a:off x="1679" y="1754"/>
              <a:ext cx="194" cy="51"/>
            </a:xfrm>
            <a:prstGeom prst="line">
              <a:avLst/>
            </a:prstGeom>
            <a:noFill/>
            <a:ln w="6350">
              <a:solidFill>
                <a:srgbClr val="676767"/>
              </a:solidFill>
              <a:round/>
              <a:headEnd/>
              <a:tailEnd/>
            </a:ln>
            <a:effectLst/>
          </p:spPr>
          <p:txBody>
            <a:bodyPr wrap="none" anchor="ctr"/>
            <a:lstStyle/>
            <a:p>
              <a:endParaRPr lang="fr-FR"/>
            </a:p>
          </p:txBody>
        </p:sp>
        <p:sp>
          <p:nvSpPr>
            <p:cNvPr id="104573" name="Oval 125"/>
            <p:cNvSpPr>
              <a:spLocks noChangeArrowheads="1"/>
            </p:cNvSpPr>
            <p:nvPr/>
          </p:nvSpPr>
          <p:spPr bwMode="auto">
            <a:xfrm flipH="1">
              <a:off x="1663" y="1130"/>
              <a:ext cx="32" cy="18"/>
            </a:xfrm>
            <a:prstGeom prst="ellipse">
              <a:avLst/>
            </a:prstGeom>
            <a:solidFill>
              <a:srgbClr val="D60093"/>
            </a:solidFill>
            <a:ln w="12700">
              <a:noFill/>
              <a:round/>
              <a:headEnd/>
              <a:tailEnd/>
            </a:ln>
            <a:effectLst/>
          </p:spPr>
          <p:txBody>
            <a:bodyPr wrap="none" anchor="ctr"/>
            <a:lstStyle/>
            <a:p>
              <a:endParaRPr lang="fr-FR"/>
            </a:p>
          </p:txBody>
        </p:sp>
        <p:sp>
          <p:nvSpPr>
            <p:cNvPr id="104574" name="Line 126"/>
            <p:cNvSpPr>
              <a:spLocks noChangeShapeType="1"/>
            </p:cNvSpPr>
            <p:nvPr/>
          </p:nvSpPr>
          <p:spPr bwMode="auto">
            <a:xfrm flipH="1">
              <a:off x="1679" y="1715"/>
              <a:ext cx="194" cy="52"/>
            </a:xfrm>
            <a:prstGeom prst="line">
              <a:avLst/>
            </a:prstGeom>
            <a:noFill/>
            <a:ln w="6350">
              <a:solidFill>
                <a:srgbClr val="676767"/>
              </a:solidFill>
              <a:round/>
              <a:headEnd/>
              <a:tailEnd/>
            </a:ln>
            <a:effectLst/>
          </p:spPr>
          <p:txBody>
            <a:bodyPr wrap="none" anchor="ctr"/>
            <a:lstStyle/>
            <a:p>
              <a:endParaRPr lang="fr-FR"/>
            </a:p>
          </p:txBody>
        </p:sp>
        <p:sp>
          <p:nvSpPr>
            <p:cNvPr id="104575" name="Line 127"/>
            <p:cNvSpPr>
              <a:spLocks noChangeShapeType="1"/>
            </p:cNvSpPr>
            <p:nvPr/>
          </p:nvSpPr>
          <p:spPr bwMode="auto">
            <a:xfrm flipH="1">
              <a:off x="1679" y="1676"/>
              <a:ext cx="194" cy="53"/>
            </a:xfrm>
            <a:prstGeom prst="line">
              <a:avLst/>
            </a:prstGeom>
            <a:noFill/>
            <a:ln w="6350">
              <a:solidFill>
                <a:srgbClr val="676767"/>
              </a:solidFill>
              <a:round/>
              <a:headEnd/>
              <a:tailEnd/>
            </a:ln>
            <a:effectLst/>
          </p:spPr>
          <p:txBody>
            <a:bodyPr wrap="none" anchor="ctr"/>
            <a:lstStyle/>
            <a:p>
              <a:endParaRPr lang="fr-FR"/>
            </a:p>
          </p:txBody>
        </p:sp>
        <p:sp>
          <p:nvSpPr>
            <p:cNvPr id="104576" name="Line 128"/>
            <p:cNvSpPr>
              <a:spLocks noChangeShapeType="1"/>
            </p:cNvSpPr>
            <p:nvPr/>
          </p:nvSpPr>
          <p:spPr bwMode="auto">
            <a:xfrm flipH="1">
              <a:off x="1679" y="1639"/>
              <a:ext cx="194" cy="52"/>
            </a:xfrm>
            <a:prstGeom prst="line">
              <a:avLst/>
            </a:prstGeom>
            <a:noFill/>
            <a:ln w="6350">
              <a:solidFill>
                <a:srgbClr val="676767"/>
              </a:solidFill>
              <a:round/>
              <a:headEnd/>
              <a:tailEnd/>
            </a:ln>
            <a:effectLst/>
          </p:spPr>
          <p:txBody>
            <a:bodyPr wrap="none" anchor="ctr"/>
            <a:lstStyle/>
            <a:p>
              <a:endParaRPr lang="fr-FR"/>
            </a:p>
          </p:txBody>
        </p:sp>
        <p:sp>
          <p:nvSpPr>
            <p:cNvPr id="104577" name="Line 129"/>
            <p:cNvSpPr>
              <a:spLocks noChangeShapeType="1"/>
            </p:cNvSpPr>
            <p:nvPr/>
          </p:nvSpPr>
          <p:spPr bwMode="auto">
            <a:xfrm flipH="1">
              <a:off x="1679" y="1601"/>
              <a:ext cx="194" cy="51"/>
            </a:xfrm>
            <a:prstGeom prst="line">
              <a:avLst/>
            </a:prstGeom>
            <a:noFill/>
            <a:ln w="6350">
              <a:solidFill>
                <a:srgbClr val="676767"/>
              </a:solidFill>
              <a:round/>
              <a:headEnd/>
              <a:tailEnd/>
            </a:ln>
            <a:effectLst/>
          </p:spPr>
          <p:txBody>
            <a:bodyPr wrap="none" anchor="ctr"/>
            <a:lstStyle/>
            <a:p>
              <a:endParaRPr lang="fr-FR"/>
            </a:p>
          </p:txBody>
        </p:sp>
        <p:sp>
          <p:nvSpPr>
            <p:cNvPr id="104578" name="Freeform 130"/>
            <p:cNvSpPr>
              <a:spLocks/>
            </p:cNvSpPr>
            <p:nvPr/>
          </p:nvSpPr>
          <p:spPr bwMode="auto">
            <a:xfrm flipH="1">
              <a:off x="1677" y="1233"/>
              <a:ext cx="193" cy="358"/>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104579" name="Freeform 131"/>
            <p:cNvSpPr>
              <a:spLocks/>
            </p:cNvSpPr>
            <p:nvPr/>
          </p:nvSpPr>
          <p:spPr bwMode="auto">
            <a:xfrm flipH="1">
              <a:off x="1670" y="1162"/>
              <a:ext cx="220" cy="624"/>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104580" name="Freeform 132"/>
            <p:cNvSpPr>
              <a:spLocks/>
            </p:cNvSpPr>
            <p:nvPr/>
          </p:nvSpPr>
          <p:spPr bwMode="auto">
            <a:xfrm flipH="1">
              <a:off x="1679" y="1186"/>
              <a:ext cx="197" cy="355"/>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104581" name="Line 133"/>
            <p:cNvSpPr>
              <a:spLocks noChangeShapeType="1"/>
            </p:cNvSpPr>
            <p:nvPr/>
          </p:nvSpPr>
          <p:spPr bwMode="auto">
            <a:xfrm flipH="1">
              <a:off x="1686" y="1266"/>
              <a:ext cx="189" cy="45"/>
            </a:xfrm>
            <a:prstGeom prst="line">
              <a:avLst/>
            </a:prstGeom>
            <a:noFill/>
            <a:ln w="6350">
              <a:solidFill>
                <a:srgbClr val="676767"/>
              </a:solidFill>
              <a:round/>
              <a:headEnd/>
              <a:tailEnd/>
            </a:ln>
            <a:effectLst/>
          </p:spPr>
          <p:txBody>
            <a:bodyPr wrap="none" anchor="ctr"/>
            <a:lstStyle/>
            <a:p>
              <a:endParaRPr lang="fr-FR"/>
            </a:p>
          </p:txBody>
        </p:sp>
        <p:sp>
          <p:nvSpPr>
            <p:cNvPr id="104582" name="Line 134"/>
            <p:cNvSpPr>
              <a:spLocks noChangeShapeType="1"/>
            </p:cNvSpPr>
            <p:nvPr/>
          </p:nvSpPr>
          <p:spPr bwMode="auto">
            <a:xfrm flipH="1">
              <a:off x="1683" y="1343"/>
              <a:ext cx="192" cy="43"/>
            </a:xfrm>
            <a:prstGeom prst="line">
              <a:avLst/>
            </a:prstGeom>
            <a:noFill/>
            <a:ln w="6350">
              <a:solidFill>
                <a:srgbClr val="676767"/>
              </a:solidFill>
              <a:round/>
              <a:headEnd/>
              <a:tailEnd/>
            </a:ln>
            <a:effectLst/>
          </p:spPr>
          <p:txBody>
            <a:bodyPr wrap="none" anchor="ctr"/>
            <a:lstStyle/>
            <a:p>
              <a:endParaRPr lang="fr-FR"/>
            </a:p>
          </p:txBody>
        </p:sp>
        <p:sp>
          <p:nvSpPr>
            <p:cNvPr id="104583" name="Line 135"/>
            <p:cNvSpPr>
              <a:spLocks noChangeShapeType="1"/>
            </p:cNvSpPr>
            <p:nvPr/>
          </p:nvSpPr>
          <p:spPr bwMode="auto">
            <a:xfrm flipH="1">
              <a:off x="1692" y="1436"/>
              <a:ext cx="183" cy="45"/>
            </a:xfrm>
            <a:prstGeom prst="line">
              <a:avLst/>
            </a:prstGeom>
            <a:noFill/>
            <a:ln w="6350">
              <a:solidFill>
                <a:srgbClr val="676767"/>
              </a:solidFill>
              <a:round/>
              <a:headEnd/>
              <a:tailEnd/>
            </a:ln>
            <a:effectLst/>
          </p:spPr>
          <p:txBody>
            <a:bodyPr wrap="none" anchor="ctr"/>
            <a:lstStyle/>
            <a:p>
              <a:endParaRPr lang="fr-FR"/>
            </a:p>
          </p:txBody>
        </p:sp>
        <p:sp>
          <p:nvSpPr>
            <p:cNvPr id="104584" name="Freeform 136"/>
            <p:cNvSpPr>
              <a:spLocks/>
            </p:cNvSpPr>
            <p:nvPr/>
          </p:nvSpPr>
          <p:spPr bwMode="auto">
            <a:xfrm flipH="1">
              <a:off x="1743" y="1230"/>
              <a:ext cx="76"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104585" name="Line 137"/>
            <p:cNvSpPr>
              <a:spLocks noChangeShapeType="1"/>
            </p:cNvSpPr>
            <p:nvPr/>
          </p:nvSpPr>
          <p:spPr bwMode="auto">
            <a:xfrm flipH="1">
              <a:off x="1708" y="1236"/>
              <a:ext cx="139" cy="30"/>
            </a:xfrm>
            <a:prstGeom prst="line">
              <a:avLst/>
            </a:prstGeom>
            <a:noFill/>
            <a:ln w="6350">
              <a:solidFill>
                <a:srgbClr val="919191"/>
              </a:solidFill>
              <a:round/>
              <a:headEnd/>
              <a:tailEnd/>
            </a:ln>
            <a:effectLst/>
          </p:spPr>
          <p:txBody>
            <a:bodyPr wrap="none" anchor="ctr"/>
            <a:lstStyle/>
            <a:p>
              <a:endParaRPr lang="fr-FR"/>
            </a:p>
          </p:txBody>
        </p:sp>
        <p:sp>
          <p:nvSpPr>
            <p:cNvPr id="104586" name="Freeform 138"/>
            <p:cNvSpPr>
              <a:spLocks/>
            </p:cNvSpPr>
            <p:nvPr/>
          </p:nvSpPr>
          <p:spPr bwMode="auto">
            <a:xfrm flipH="1">
              <a:off x="1693" y="1375"/>
              <a:ext cx="168"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587" name="Freeform 139"/>
            <p:cNvSpPr>
              <a:spLocks/>
            </p:cNvSpPr>
            <p:nvPr/>
          </p:nvSpPr>
          <p:spPr bwMode="auto">
            <a:xfrm flipH="1">
              <a:off x="1692" y="1468"/>
              <a:ext cx="169" cy="84"/>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588" name="Freeform 140"/>
            <p:cNvSpPr>
              <a:spLocks/>
            </p:cNvSpPr>
            <p:nvPr/>
          </p:nvSpPr>
          <p:spPr bwMode="auto">
            <a:xfrm flipH="1">
              <a:off x="1693" y="1289"/>
              <a:ext cx="171" cy="78"/>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04589" name="Line 141"/>
            <p:cNvSpPr>
              <a:spLocks noChangeShapeType="1"/>
            </p:cNvSpPr>
            <p:nvPr/>
          </p:nvSpPr>
          <p:spPr bwMode="auto">
            <a:xfrm flipV="1">
              <a:off x="1817" y="1491"/>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sp>
          <p:nvSpPr>
            <p:cNvPr id="104590" name="Line 142"/>
            <p:cNvSpPr>
              <a:spLocks noChangeShapeType="1"/>
            </p:cNvSpPr>
            <p:nvPr/>
          </p:nvSpPr>
          <p:spPr bwMode="auto">
            <a:xfrm flipV="1">
              <a:off x="1819" y="1397"/>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sp>
          <p:nvSpPr>
            <p:cNvPr id="104591" name="Line 143"/>
            <p:cNvSpPr>
              <a:spLocks noChangeShapeType="1"/>
            </p:cNvSpPr>
            <p:nvPr/>
          </p:nvSpPr>
          <p:spPr bwMode="auto">
            <a:xfrm flipV="1">
              <a:off x="1823" y="1308"/>
              <a:ext cx="36" cy="8"/>
            </a:xfrm>
            <a:prstGeom prst="line">
              <a:avLst/>
            </a:prstGeom>
            <a:noFill/>
            <a:ln w="6350">
              <a:solidFill>
                <a:srgbClr val="D60093"/>
              </a:solidFill>
              <a:round/>
              <a:headEnd/>
              <a:tailEnd/>
            </a:ln>
            <a:effectLst/>
          </p:spPr>
          <p:txBody>
            <a:bodyPr wrap="none" tIns="27432" bIns="27432" anchor="ctr">
              <a:spAutoFit/>
            </a:bodyPr>
            <a:lstStyle/>
            <a:p>
              <a:endParaRPr lang="fr-FR"/>
            </a:p>
          </p:txBody>
        </p:sp>
      </p:grpSp>
      <p:sp>
        <p:nvSpPr>
          <p:cNvPr id="104592" name="AutoShape 144"/>
          <p:cNvSpPr>
            <a:spLocks noChangeArrowheads="1"/>
          </p:cNvSpPr>
          <p:nvPr/>
        </p:nvSpPr>
        <p:spPr bwMode="auto">
          <a:xfrm flipV="1">
            <a:off x="7051675" y="5083175"/>
            <a:ext cx="663575" cy="903288"/>
          </a:xfrm>
          <a:prstGeom prst="foldedCorner">
            <a:avLst>
              <a:gd name="adj" fmla="val 26292"/>
            </a:avLst>
          </a:prstGeom>
          <a:solidFill>
            <a:srgbClr val="FFFFFF"/>
          </a:solidFill>
          <a:ln w="9525">
            <a:solidFill>
              <a:schemeClr val="tx1"/>
            </a:solidFill>
            <a:round/>
            <a:headEnd/>
            <a:tailEnd/>
          </a:ln>
          <a:effectLst>
            <a:outerShdw dist="53882" dir="2700000" algn="ctr" rotWithShape="0">
              <a:srgbClr val="C0C0C0"/>
            </a:outerShdw>
          </a:effectLst>
        </p:spPr>
        <p:txBody>
          <a:bodyPr wrap="none" anchor="ctr"/>
          <a:lstStyle/>
          <a:p>
            <a:endParaRPr lang="fr-FR"/>
          </a:p>
        </p:txBody>
      </p:sp>
      <p:sp>
        <p:nvSpPr>
          <p:cNvPr id="104593" name="AutoShape 145"/>
          <p:cNvSpPr>
            <a:spLocks noChangeArrowheads="1"/>
          </p:cNvSpPr>
          <p:nvPr/>
        </p:nvSpPr>
        <p:spPr bwMode="auto">
          <a:xfrm flipV="1">
            <a:off x="5897150" y="5083175"/>
            <a:ext cx="663575" cy="903288"/>
          </a:xfrm>
          <a:prstGeom prst="foldedCorner">
            <a:avLst>
              <a:gd name="adj" fmla="val 26292"/>
            </a:avLst>
          </a:prstGeom>
          <a:solidFill>
            <a:srgbClr val="FFFFFF"/>
          </a:solidFill>
          <a:ln w="9525">
            <a:solidFill>
              <a:schemeClr val="tx1"/>
            </a:solidFill>
            <a:round/>
            <a:headEnd/>
            <a:tailEnd/>
          </a:ln>
          <a:effectLst>
            <a:outerShdw dist="53882" dir="2700000" algn="ctr" rotWithShape="0">
              <a:srgbClr val="C0C0C0"/>
            </a:outerShdw>
          </a:effectLst>
        </p:spPr>
        <p:txBody>
          <a:bodyPr wrap="none" anchor="ctr"/>
          <a:lstStyle/>
          <a:p>
            <a:endParaRPr lang="fr-FR"/>
          </a:p>
        </p:txBody>
      </p:sp>
      <p:grpSp>
        <p:nvGrpSpPr>
          <p:cNvPr id="104594" name="Group 146"/>
          <p:cNvGrpSpPr>
            <a:grpSpLocks/>
          </p:cNvGrpSpPr>
          <p:nvPr/>
        </p:nvGrpSpPr>
        <p:grpSpPr bwMode="auto">
          <a:xfrm>
            <a:off x="5976525" y="5327650"/>
            <a:ext cx="517525" cy="541338"/>
            <a:chOff x="3192" y="3276"/>
            <a:chExt cx="326" cy="341"/>
          </a:xfrm>
        </p:grpSpPr>
        <p:sp>
          <p:nvSpPr>
            <p:cNvPr id="104595" name="Rectangle 147"/>
            <p:cNvSpPr>
              <a:spLocks noChangeArrowheads="1"/>
            </p:cNvSpPr>
            <p:nvPr/>
          </p:nvSpPr>
          <p:spPr bwMode="auto">
            <a:xfrm>
              <a:off x="3192" y="3276"/>
              <a:ext cx="326" cy="37"/>
            </a:xfrm>
            <a:prstGeom prst="rect">
              <a:avLst/>
            </a:prstGeom>
            <a:solidFill>
              <a:srgbClr val="3333FF"/>
            </a:solidFill>
            <a:ln w="9525">
              <a:noFill/>
              <a:miter lim="800000"/>
              <a:headEnd/>
              <a:tailEnd/>
            </a:ln>
            <a:effectLst/>
          </p:spPr>
          <p:txBody>
            <a:bodyPr wrap="none" anchor="ctr"/>
            <a:lstStyle/>
            <a:p>
              <a:endParaRPr lang="fr-FR"/>
            </a:p>
          </p:txBody>
        </p:sp>
        <p:sp>
          <p:nvSpPr>
            <p:cNvPr id="104596" name="Rectangle 148"/>
            <p:cNvSpPr>
              <a:spLocks noChangeArrowheads="1"/>
            </p:cNvSpPr>
            <p:nvPr/>
          </p:nvSpPr>
          <p:spPr bwMode="auto">
            <a:xfrm>
              <a:off x="3192" y="3375"/>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597" name="Rectangle 149"/>
            <p:cNvSpPr>
              <a:spLocks noChangeArrowheads="1"/>
            </p:cNvSpPr>
            <p:nvPr/>
          </p:nvSpPr>
          <p:spPr bwMode="auto">
            <a:xfrm>
              <a:off x="3192" y="3473"/>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598" name="Rectangle 150"/>
            <p:cNvSpPr>
              <a:spLocks noChangeArrowheads="1"/>
            </p:cNvSpPr>
            <p:nvPr/>
          </p:nvSpPr>
          <p:spPr bwMode="auto">
            <a:xfrm>
              <a:off x="3192" y="3580"/>
              <a:ext cx="321" cy="37"/>
            </a:xfrm>
            <a:prstGeom prst="rect">
              <a:avLst/>
            </a:prstGeom>
            <a:solidFill>
              <a:srgbClr val="3333FF"/>
            </a:solidFill>
            <a:ln w="9525">
              <a:noFill/>
              <a:miter lim="800000"/>
              <a:headEnd/>
              <a:tailEnd/>
            </a:ln>
            <a:effectLst/>
          </p:spPr>
          <p:txBody>
            <a:bodyPr wrap="none" anchor="ctr"/>
            <a:lstStyle/>
            <a:p>
              <a:endParaRPr lang="fr-FR"/>
            </a:p>
          </p:txBody>
        </p:sp>
      </p:grpSp>
      <p:grpSp>
        <p:nvGrpSpPr>
          <p:cNvPr id="104599" name="Group 151"/>
          <p:cNvGrpSpPr>
            <a:grpSpLocks/>
          </p:cNvGrpSpPr>
          <p:nvPr/>
        </p:nvGrpSpPr>
        <p:grpSpPr bwMode="auto">
          <a:xfrm>
            <a:off x="7124700" y="5326063"/>
            <a:ext cx="517525" cy="541337"/>
            <a:chOff x="3192" y="3276"/>
            <a:chExt cx="326" cy="341"/>
          </a:xfrm>
        </p:grpSpPr>
        <p:sp>
          <p:nvSpPr>
            <p:cNvPr id="104600" name="Rectangle 152"/>
            <p:cNvSpPr>
              <a:spLocks noChangeArrowheads="1"/>
            </p:cNvSpPr>
            <p:nvPr/>
          </p:nvSpPr>
          <p:spPr bwMode="auto">
            <a:xfrm>
              <a:off x="3192" y="3276"/>
              <a:ext cx="326" cy="37"/>
            </a:xfrm>
            <a:prstGeom prst="rect">
              <a:avLst/>
            </a:prstGeom>
            <a:solidFill>
              <a:srgbClr val="3333FF"/>
            </a:solidFill>
            <a:ln w="9525">
              <a:noFill/>
              <a:miter lim="800000"/>
              <a:headEnd/>
              <a:tailEnd/>
            </a:ln>
            <a:effectLst/>
          </p:spPr>
          <p:txBody>
            <a:bodyPr wrap="none" anchor="ctr"/>
            <a:lstStyle/>
            <a:p>
              <a:endParaRPr lang="fr-FR"/>
            </a:p>
          </p:txBody>
        </p:sp>
        <p:sp>
          <p:nvSpPr>
            <p:cNvPr id="104601" name="Rectangle 153"/>
            <p:cNvSpPr>
              <a:spLocks noChangeArrowheads="1"/>
            </p:cNvSpPr>
            <p:nvPr/>
          </p:nvSpPr>
          <p:spPr bwMode="auto">
            <a:xfrm>
              <a:off x="3192" y="3375"/>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602" name="Rectangle 154"/>
            <p:cNvSpPr>
              <a:spLocks noChangeArrowheads="1"/>
            </p:cNvSpPr>
            <p:nvPr/>
          </p:nvSpPr>
          <p:spPr bwMode="auto">
            <a:xfrm>
              <a:off x="3192" y="3473"/>
              <a:ext cx="321" cy="37"/>
            </a:xfrm>
            <a:prstGeom prst="rect">
              <a:avLst/>
            </a:prstGeom>
            <a:solidFill>
              <a:srgbClr val="3333FF"/>
            </a:solidFill>
            <a:ln w="9525">
              <a:noFill/>
              <a:miter lim="800000"/>
              <a:headEnd/>
              <a:tailEnd/>
            </a:ln>
            <a:effectLst/>
          </p:spPr>
          <p:txBody>
            <a:bodyPr wrap="none" anchor="ctr"/>
            <a:lstStyle/>
            <a:p>
              <a:endParaRPr lang="fr-FR"/>
            </a:p>
          </p:txBody>
        </p:sp>
        <p:sp>
          <p:nvSpPr>
            <p:cNvPr id="104603" name="Rectangle 155"/>
            <p:cNvSpPr>
              <a:spLocks noChangeArrowheads="1"/>
            </p:cNvSpPr>
            <p:nvPr/>
          </p:nvSpPr>
          <p:spPr bwMode="auto">
            <a:xfrm>
              <a:off x="3192" y="3580"/>
              <a:ext cx="321" cy="37"/>
            </a:xfrm>
            <a:prstGeom prst="rect">
              <a:avLst/>
            </a:prstGeom>
            <a:solidFill>
              <a:srgbClr val="3333FF"/>
            </a:solidFill>
            <a:ln w="9525">
              <a:noFill/>
              <a:miter lim="800000"/>
              <a:headEnd/>
              <a:tailEnd/>
            </a:ln>
            <a:effectLst/>
          </p:spPr>
          <p:txBody>
            <a:bodyPr wrap="none" anchor="ctr"/>
            <a:lstStyle/>
            <a:p>
              <a:endParaRPr lang="fr-FR"/>
            </a:p>
          </p:txBody>
        </p:sp>
      </p:grpSp>
      <p:sp>
        <p:nvSpPr>
          <p:cNvPr id="104604" name="AutoShape 156"/>
          <p:cNvSpPr>
            <a:spLocks noChangeArrowheads="1"/>
          </p:cNvSpPr>
          <p:nvPr/>
        </p:nvSpPr>
        <p:spPr bwMode="auto">
          <a:xfrm>
            <a:off x="5791200" y="5311775"/>
            <a:ext cx="1773238" cy="533400"/>
          </a:xfrm>
          <a:prstGeom prst="rightArrow">
            <a:avLst>
              <a:gd name="adj1" fmla="val 50000"/>
              <a:gd name="adj2" fmla="val 98586"/>
            </a:avLst>
          </a:pr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gn="ctr"/>
            <a:r>
              <a:rPr lang="en-US" sz="1600" dirty="0" err="1">
                <a:solidFill>
                  <a:srgbClr val="FFFFFF"/>
                </a:solidFill>
                <a:effectLst>
                  <a:outerShdw blurRad="38100" dist="38100" dir="2700000" algn="tl">
                    <a:srgbClr val="000000"/>
                  </a:outerShdw>
                </a:effectLst>
              </a:rPr>
              <a:t>Synchronisation</a:t>
            </a:r>
            <a:endParaRPr lang="en-US" sz="1600" dirty="0">
              <a:solidFill>
                <a:srgbClr val="FFFFFF"/>
              </a:solidFill>
              <a:effectLst>
                <a:outerShdw blurRad="38100" dist="38100" dir="2700000" algn="tl">
                  <a:srgbClr val="000000"/>
                </a:outerShdw>
              </a:effectLst>
            </a:endParaRPr>
          </a:p>
        </p:txBody>
      </p:sp>
      <p:grpSp>
        <p:nvGrpSpPr>
          <p:cNvPr id="104605" name="Group 157"/>
          <p:cNvGrpSpPr>
            <a:grpSpLocks/>
          </p:cNvGrpSpPr>
          <p:nvPr/>
        </p:nvGrpSpPr>
        <p:grpSpPr bwMode="auto">
          <a:xfrm>
            <a:off x="4335046" y="4560888"/>
            <a:ext cx="1157288" cy="1785937"/>
            <a:chOff x="2657" y="2265"/>
            <a:chExt cx="982" cy="1516"/>
          </a:xfrm>
        </p:grpSpPr>
        <p:sp>
          <p:nvSpPr>
            <p:cNvPr id="104606" name="Freeform 158"/>
            <p:cNvSpPr>
              <a:spLocks/>
            </p:cNvSpPr>
            <p:nvPr/>
          </p:nvSpPr>
          <p:spPr bwMode="auto">
            <a:xfrm>
              <a:off x="3324" y="3338"/>
              <a:ext cx="315" cy="350"/>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607" name="Freeform 159"/>
            <p:cNvSpPr>
              <a:spLocks/>
            </p:cNvSpPr>
            <p:nvPr/>
          </p:nvSpPr>
          <p:spPr bwMode="auto">
            <a:xfrm>
              <a:off x="3123" y="3300"/>
              <a:ext cx="282" cy="220"/>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a:p>
          </p:txBody>
        </p:sp>
        <p:sp>
          <p:nvSpPr>
            <p:cNvPr id="104608" name="Freeform 160"/>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a:p>
          </p:txBody>
        </p:sp>
        <p:sp>
          <p:nvSpPr>
            <p:cNvPr id="104609" name="Freeform 161"/>
            <p:cNvSpPr>
              <a:spLocks/>
            </p:cNvSpPr>
            <p:nvPr/>
          </p:nvSpPr>
          <p:spPr bwMode="auto">
            <a:xfrm flipH="1">
              <a:off x="2657" y="2845"/>
              <a:ext cx="887" cy="935"/>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a:p>
          </p:txBody>
        </p:sp>
        <p:sp>
          <p:nvSpPr>
            <p:cNvPr id="104610" name="Freeform 162"/>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a:p>
          </p:txBody>
        </p:sp>
        <p:sp>
          <p:nvSpPr>
            <p:cNvPr id="104611" name="Freeform 163"/>
            <p:cNvSpPr>
              <a:spLocks/>
            </p:cNvSpPr>
            <p:nvPr/>
          </p:nvSpPr>
          <p:spPr bwMode="auto">
            <a:xfrm>
              <a:off x="3001" y="2560"/>
              <a:ext cx="117" cy="176"/>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a:p>
          </p:txBody>
        </p:sp>
        <p:sp>
          <p:nvSpPr>
            <p:cNvPr id="104612" name="Freeform 164"/>
            <p:cNvSpPr>
              <a:spLocks/>
            </p:cNvSpPr>
            <p:nvPr/>
          </p:nvSpPr>
          <p:spPr bwMode="auto">
            <a:xfrm>
              <a:off x="2785" y="2278"/>
              <a:ext cx="575" cy="718"/>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a:p>
          </p:txBody>
        </p:sp>
        <p:sp>
          <p:nvSpPr>
            <p:cNvPr id="104613" name="Freeform 165"/>
            <p:cNvSpPr>
              <a:spLocks/>
            </p:cNvSpPr>
            <p:nvPr/>
          </p:nvSpPr>
          <p:spPr bwMode="auto">
            <a:xfrm>
              <a:off x="2728" y="2772"/>
              <a:ext cx="387" cy="415"/>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a:p>
          </p:txBody>
        </p:sp>
        <p:sp>
          <p:nvSpPr>
            <p:cNvPr id="104614" name="Freeform 166"/>
            <p:cNvSpPr>
              <a:spLocks noEditPoints="1"/>
            </p:cNvSpPr>
            <p:nvPr/>
          </p:nvSpPr>
          <p:spPr bwMode="auto">
            <a:xfrm>
              <a:off x="2659" y="2265"/>
              <a:ext cx="798" cy="1516"/>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4453"/>
                                        </p:tgtEl>
                                        <p:attrNameLst>
                                          <p:attrName>style.visibility</p:attrName>
                                        </p:attrNameLst>
                                      </p:cBhvr>
                                      <p:to>
                                        <p:strVal val="visible"/>
                                      </p:to>
                                    </p:set>
                                    <p:animEffect transition="in" filter="checkerboard(across)">
                                      <p:cBhvr>
                                        <p:cTn id="7" dur="1000"/>
                                        <p:tgtEl>
                                          <p:spTgt spid="10445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4454"/>
                                        </p:tgtEl>
                                        <p:attrNameLst>
                                          <p:attrName>style.visibility</p:attrName>
                                        </p:attrNameLst>
                                      </p:cBhvr>
                                      <p:to>
                                        <p:strVal val="visible"/>
                                      </p:to>
                                    </p:set>
                                    <p:animEffect transition="in" filter="checkerboard(across)">
                                      <p:cBhvr>
                                        <p:cTn id="10" dur="1000"/>
                                        <p:tgtEl>
                                          <p:spTgt spid="10445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04460"/>
                                        </p:tgtEl>
                                        <p:attrNameLst>
                                          <p:attrName>style.visibility</p:attrName>
                                        </p:attrNameLst>
                                      </p:cBhvr>
                                      <p:to>
                                        <p:strVal val="visible"/>
                                      </p:to>
                                    </p:set>
                                    <p:animEffect transition="in" filter="checkerboard(across)">
                                      <p:cBhvr>
                                        <p:cTn id="13" dur="1000"/>
                                        <p:tgtEl>
                                          <p:spTgt spid="104460"/>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04461"/>
                                        </p:tgtEl>
                                        <p:attrNameLst>
                                          <p:attrName>style.visibility</p:attrName>
                                        </p:attrNameLst>
                                      </p:cBhvr>
                                      <p:to>
                                        <p:strVal val="visible"/>
                                      </p:to>
                                    </p:set>
                                    <p:animEffect transition="in" filter="checkerboard(across)">
                                      <p:cBhvr>
                                        <p:cTn id="16" dur="1000"/>
                                        <p:tgtEl>
                                          <p:spTgt spid="104461"/>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04462"/>
                                        </p:tgtEl>
                                        <p:attrNameLst>
                                          <p:attrName>style.visibility</p:attrName>
                                        </p:attrNameLst>
                                      </p:cBhvr>
                                      <p:to>
                                        <p:strVal val="visible"/>
                                      </p:to>
                                    </p:set>
                                    <p:animEffect transition="in" filter="checkerboard(across)">
                                      <p:cBhvr>
                                        <p:cTn id="19" dur="1000"/>
                                        <p:tgtEl>
                                          <p:spTgt spid="104462"/>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04463"/>
                                        </p:tgtEl>
                                        <p:attrNameLst>
                                          <p:attrName>style.visibility</p:attrName>
                                        </p:attrNameLst>
                                      </p:cBhvr>
                                      <p:to>
                                        <p:strVal val="visible"/>
                                      </p:to>
                                    </p:set>
                                    <p:animEffect transition="in" filter="checkerboard(across)">
                                      <p:cBhvr>
                                        <p:cTn id="22" dur="1000"/>
                                        <p:tgtEl>
                                          <p:spTgt spid="10446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04464"/>
                                        </p:tgtEl>
                                        <p:attrNameLst>
                                          <p:attrName>style.visibility</p:attrName>
                                        </p:attrNameLst>
                                      </p:cBhvr>
                                      <p:to>
                                        <p:strVal val="visible"/>
                                      </p:to>
                                    </p:set>
                                    <p:animEffect transition="in" filter="checkerboard(across)">
                                      <p:cBhvr>
                                        <p:cTn id="25" dur="1000"/>
                                        <p:tgtEl>
                                          <p:spTgt spid="104464"/>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104465"/>
                                        </p:tgtEl>
                                        <p:attrNameLst>
                                          <p:attrName>style.visibility</p:attrName>
                                        </p:attrNameLst>
                                      </p:cBhvr>
                                      <p:to>
                                        <p:strVal val="visible"/>
                                      </p:to>
                                    </p:set>
                                    <p:animEffect transition="in" filter="checkerboard(across)">
                                      <p:cBhvr>
                                        <p:cTn id="28" dur="1000"/>
                                        <p:tgtEl>
                                          <p:spTgt spid="104465"/>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104466"/>
                                        </p:tgtEl>
                                        <p:attrNameLst>
                                          <p:attrName>style.visibility</p:attrName>
                                        </p:attrNameLst>
                                      </p:cBhvr>
                                      <p:to>
                                        <p:strVal val="visible"/>
                                      </p:to>
                                    </p:set>
                                    <p:animEffect transition="in" filter="checkerboard(across)">
                                      <p:cBhvr>
                                        <p:cTn id="31" dur="1000"/>
                                        <p:tgtEl>
                                          <p:spTgt spid="104466"/>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04467"/>
                                        </p:tgtEl>
                                        <p:attrNameLst>
                                          <p:attrName>style.visibility</p:attrName>
                                        </p:attrNameLst>
                                      </p:cBhvr>
                                      <p:to>
                                        <p:strVal val="visible"/>
                                      </p:to>
                                    </p:set>
                                    <p:animEffect transition="in" filter="checkerboard(across)">
                                      <p:cBhvr>
                                        <p:cTn id="34" dur="1000"/>
                                        <p:tgtEl>
                                          <p:spTgt spid="104467"/>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04468"/>
                                        </p:tgtEl>
                                        <p:attrNameLst>
                                          <p:attrName>style.visibility</p:attrName>
                                        </p:attrNameLst>
                                      </p:cBhvr>
                                      <p:to>
                                        <p:strVal val="visible"/>
                                      </p:to>
                                    </p:set>
                                    <p:animEffect transition="in" filter="checkerboard(across)">
                                      <p:cBhvr>
                                        <p:cTn id="37" dur="1000"/>
                                        <p:tgtEl>
                                          <p:spTgt spid="104468"/>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04469"/>
                                        </p:tgtEl>
                                        <p:attrNameLst>
                                          <p:attrName>style.visibility</p:attrName>
                                        </p:attrNameLst>
                                      </p:cBhvr>
                                      <p:to>
                                        <p:strVal val="visible"/>
                                      </p:to>
                                    </p:set>
                                    <p:animEffect transition="in" filter="checkerboard(across)">
                                      <p:cBhvr>
                                        <p:cTn id="40" dur="1000"/>
                                        <p:tgtEl>
                                          <p:spTgt spid="104469"/>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04470"/>
                                        </p:tgtEl>
                                        <p:attrNameLst>
                                          <p:attrName>style.visibility</p:attrName>
                                        </p:attrNameLst>
                                      </p:cBhvr>
                                      <p:to>
                                        <p:strVal val="visible"/>
                                      </p:to>
                                    </p:set>
                                    <p:animEffect transition="in" filter="checkerboard(across)">
                                      <p:cBhvr>
                                        <p:cTn id="43" dur="1000"/>
                                        <p:tgtEl>
                                          <p:spTgt spid="104470"/>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04471"/>
                                        </p:tgtEl>
                                        <p:attrNameLst>
                                          <p:attrName>style.visibility</p:attrName>
                                        </p:attrNameLst>
                                      </p:cBhvr>
                                      <p:to>
                                        <p:strVal val="visible"/>
                                      </p:to>
                                    </p:set>
                                    <p:animEffect transition="in" filter="checkerboard(across)">
                                      <p:cBhvr>
                                        <p:cTn id="46" dur="1000"/>
                                        <p:tgtEl>
                                          <p:spTgt spid="104471"/>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04472"/>
                                        </p:tgtEl>
                                        <p:attrNameLst>
                                          <p:attrName>style.visibility</p:attrName>
                                        </p:attrNameLst>
                                      </p:cBhvr>
                                      <p:to>
                                        <p:strVal val="visible"/>
                                      </p:to>
                                    </p:set>
                                    <p:animEffect transition="in" filter="checkerboard(across)">
                                      <p:cBhvr>
                                        <p:cTn id="49" dur="1000"/>
                                        <p:tgtEl>
                                          <p:spTgt spid="104472"/>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04473"/>
                                        </p:tgtEl>
                                        <p:attrNameLst>
                                          <p:attrName>style.visibility</p:attrName>
                                        </p:attrNameLst>
                                      </p:cBhvr>
                                      <p:to>
                                        <p:strVal val="visible"/>
                                      </p:to>
                                    </p:set>
                                    <p:animEffect transition="in" filter="checkerboard(across)">
                                      <p:cBhvr>
                                        <p:cTn id="52" dur="1000"/>
                                        <p:tgtEl>
                                          <p:spTgt spid="104473"/>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04474"/>
                                        </p:tgtEl>
                                        <p:attrNameLst>
                                          <p:attrName>style.visibility</p:attrName>
                                        </p:attrNameLst>
                                      </p:cBhvr>
                                      <p:to>
                                        <p:strVal val="visible"/>
                                      </p:to>
                                    </p:set>
                                    <p:animEffect transition="in" filter="checkerboard(across)">
                                      <p:cBhvr>
                                        <p:cTn id="55" dur="1000"/>
                                        <p:tgtEl>
                                          <p:spTgt spid="104474"/>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04475"/>
                                        </p:tgtEl>
                                        <p:attrNameLst>
                                          <p:attrName>style.visibility</p:attrName>
                                        </p:attrNameLst>
                                      </p:cBhvr>
                                      <p:to>
                                        <p:strVal val="visible"/>
                                      </p:to>
                                    </p:set>
                                    <p:animEffect transition="in" filter="checkerboard(across)">
                                      <p:cBhvr>
                                        <p:cTn id="58" dur="1000"/>
                                        <p:tgtEl>
                                          <p:spTgt spid="104475"/>
                                        </p:tgtEl>
                                      </p:cBhvr>
                                    </p:animEffect>
                                  </p:childTnLst>
                                </p:cTn>
                              </p:par>
                              <p:par>
                                <p:cTn id="59" presetID="5" presetClass="entr" presetSubtype="10" fill="hold" nodeType="withEffect">
                                  <p:stCondLst>
                                    <p:cond delay="0"/>
                                  </p:stCondLst>
                                  <p:childTnLst>
                                    <p:set>
                                      <p:cBhvr>
                                        <p:cTn id="60" dur="1" fill="hold">
                                          <p:stCondLst>
                                            <p:cond delay="0"/>
                                          </p:stCondLst>
                                        </p:cTn>
                                        <p:tgtEl>
                                          <p:spTgt spid="104476"/>
                                        </p:tgtEl>
                                        <p:attrNameLst>
                                          <p:attrName>style.visibility</p:attrName>
                                        </p:attrNameLst>
                                      </p:cBhvr>
                                      <p:to>
                                        <p:strVal val="visible"/>
                                      </p:to>
                                    </p:set>
                                    <p:animEffect transition="in" filter="checkerboard(across)">
                                      <p:cBhvr>
                                        <p:cTn id="61" dur="1000"/>
                                        <p:tgtEl>
                                          <p:spTgt spid="104476"/>
                                        </p:tgtEl>
                                      </p:cBhvr>
                                    </p:animEffect>
                                  </p:childTnLst>
                                </p:cTn>
                              </p:par>
                              <p:par>
                                <p:cTn id="62" presetID="5" presetClass="entr" presetSubtype="10" fill="hold" grpId="0" nodeType="withEffect">
                                  <p:stCondLst>
                                    <p:cond delay="0"/>
                                  </p:stCondLst>
                                  <p:childTnLst>
                                    <p:set>
                                      <p:cBhvr>
                                        <p:cTn id="63" dur="1" fill="hold">
                                          <p:stCondLst>
                                            <p:cond delay="0"/>
                                          </p:stCondLst>
                                        </p:cTn>
                                        <p:tgtEl>
                                          <p:spTgt spid="104501"/>
                                        </p:tgtEl>
                                        <p:attrNameLst>
                                          <p:attrName>style.visibility</p:attrName>
                                        </p:attrNameLst>
                                      </p:cBhvr>
                                      <p:to>
                                        <p:strVal val="visible"/>
                                      </p:to>
                                    </p:set>
                                    <p:animEffect transition="in" filter="checkerboard(across)">
                                      <p:cBhvr>
                                        <p:cTn id="64" dur="1000"/>
                                        <p:tgtEl>
                                          <p:spTgt spid="104501"/>
                                        </p:tgtEl>
                                      </p:cBhvr>
                                    </p:animEffect>
                                  </p:childTnLst>
                                </p:cTn>
                              </p:par>
                              <p:par>
                                <p:cTn id="65" presetID="5" presetClass="entr" presetSubtype="10" fill="hold" grpId="0" nodeType="withEffect">
                                  <p:stCondLst>
                                    <p:cond delay="0"/>
                                  </p:stCondLst>
                                  <p:childTnLst>
                                    <p:set>
                                      <p:cBhvr>
                                        <p:cTn id="66" dur="1" fill="hold">
                                          <p:stCondLst>
                                            <p:cond delay="0"/>
                                          </p:stCondLst>
                                        </p:cTn>
                                        <p:tgtEl>
                                          <p:spTgt spid="104502"/>
                                        </p:tgtEl>
                                        <p:attrNameLst>
                                          <p:attrName>style.visibility</p:attrName>
                                        </p:attrNameLst>
                                      </p:cBhvr>
                                      <p:to>
                                        <p:strVal val="visible"/>
                                      </p:to>
                                    </p:set>
                                    <p:animEffect transition="in" filter="checkerboard(across)">
                                      <p:cBhvr>
                                        <p:cTn id="67" dur="1000"/>
                                        <p:tgtEl>
                                          <p:spTgt spid="104502"/>
                                        </p:tgtEl>
                                      </p:cBhvr>
                                    </p:animEffect>
                                  </p:childTnLst>
                                </p:cTn>
                              </p:par>
                              <p:par>
                                <p:cTn id="68" presetID="5" presetClass="entr" presetSubtype="10" fill="hold" grpId="0" nodeType="withEffect">
                                  <p:stCondLst>
                                    <p:cond delay="0"/>
                                  </p:stCondLst>
                                  <p:childTnLst>
                                    <p:set>
                                      <p:cBhvr>
                                        <p:cTn id="69" dur="1" fill="hold">
                                          <p:stCondLst>
                                            <p:cond delay="0"/>
                                          </p:stCondLst>
                                        </p:cTn>
                                        <p:tgtEl>
                                          <p:spTgt spid="104503"/>
                                        </p:tgtEl>
                                        <p:attrNameLst>
                                          <p:attrName>style.visibility</p:attrName>
                                        </p:attrNameLst>
                                      </p:cBhvr>
                                      <p:to>
                                        <p:strVal val="visible"/>
                                      </p:to>
                                    </p:set>
                                    <p:animEffect transition="in" filter="checkerboard(across)">
                                      <p:cBhvr>
                                        <p:cTn id="70" dur="1000"/>
                                        <p:tgtEl>
                                          <p:spTgt spid="104503"/>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104504"/>
                                        </p:tgtEl>
                                        <p:attrNameLst>
                                          <p:attrName>style.visibility</p:attrName>
                                        </p:attrNameLst>
                                      </p:cBhvr>
                                      <p:to>
                                        <p:strVal val="visible"/>
                                      </p:to>
                                    </p:set>
                                    <p:animEffect transition="in" filter="checkerboard(across)">
                                      <p:cBhvr>
                                        <p:cTn id="73" dur="1000"/>
                                        <p:tgtEl>
                                          <p:spTgt spid="104504"/>
                                        </p:tgtEl>
                                      </p:cBhvr>
                                    </p:animEffect>
                                  </p:childTnLst>
                                </p:cTn>
                              </p:par>
                              <p:par>
                                <p:cTn id="74" presetID="5" presetClass="entr" presetSubtype="10" fill="hold" nodeType="withEffect">
                                  <p:stCondLst>
                                    <p:cond delay="0"/>
                                  </p:stCondLst>
                                  <p:childTnLst>
                                    <p:set>
                                      <p:cBhvr>
                                        <p:cTn id="75" dur="1" fill="hold">
                                          <p:stCondLst>
                                            <p:cond delay="0"/>
                                          </p:stCondLst>
                                        </p:cTn>
                                        <p:tgtEl>
                                          <p:spTgt spid="104506"/>
                                        </p:tgtEl>
                                        <p:attrNameLst>
                                          <p:attrName>style.visibility</p:attrName>
                                        </p:attrNameLst>
                                      </p:cBhvr>
                                      <p:to>
                                        <p:strVal val="visible"/>
                                      </p:to>
                                    </p:set>
                                    <p:animEffect transition="in" filter="checkerboard(across)">
                                      <p:cBhvr>
                                        <p:cTn id="76" dur="1000"/>
                                        <p:tgtEl>
                                          <p:spTgt spid="104506"/>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37" fill="hold" grpId="0" nodeType="clickEffect">
                                  <p:stCondLst>
                                    <p:cond delay="0"/>
                                  </p:stCondLst>
                                  <p:childTnLst>
                                    <p:set>
                                      <p:cBhvr>
                                        <p:cTn id="80" dur="1" fill="hold">
                                          <p:stCondLst>
                                            <p:cond delay="0"/>
                                          </p:stCondLst>
                                        </p:cTn>
                                        <p:tgtEl>
                                          <p:spTgt spid="104505"/>
                                        </p:tgtEl>
                                        <p:attrNameLst>
                                          <p:attrName>style.visibility</p:attrName>
                                        </p:attrNameLst>
                                      </p:cBhvr>
                                      <p:to>
                                        <p:strVal val="visible"/>
                                      </p:to>
                                    </p:set>
                                    <p:animEffect transition="in" filter="barn(outVertical)">
                                      <p:cBhvr>
                                        <p:cTn id="81" dur="500"/>
                                        <p:tgtEl>
                                          <p:spTgt spid="104505"/>
                                        </p:tgtEl>
                                      </p:cBhvr>
                                    </p:animEffect>
                                  </p:childTnLst>
                                </p:cTn>
                              </p:par>
                            </p:childTnLst>
                          </p:cTn>
                        </p:par>
                      </p:childTnLst>
                    </p:cTn>
                  </p:par>
                  <p:par>
                    <p:cTn id="82" fill="hold">
                      <p:stCondLst>
                        <p:cond delay="indefinite"/>
                      </p:stCondLst>
                      <p:childTnLst>
                        <p:par>
                          <p:cTn id="83" fill="hold">
                            <p:stCondLst>
                              <p:cond delay="0"/>
                            </p:stCondLst>
                            <p:childTnLst>
                              <p:par>
                                <p:cTn id="84" presetID="5" presetClass="entr" presetSubtype="10" fill="hold" grpId="0" nodeType="clickEffect">
                                  <p:stCondLst>
                                    <p:cond delay="0"/>
                                  </p:stCondLst>
                                  <p:childTnLst>
                                    <p:set>
                                      <p:cBhvr>
                                        <p:cTn id="85" dur="1" fill="hold">
                                          <p:stCondLst>
                                            <p:cond delay="0"/>
                                          </p:stCondLst>
                                        </p:cTn>
                                        <p:tgtEl>
                                          <p:spTgt spid="104455"/>
                                        </p:tgtEl>
                                        <p:attrNameLst>
                                          <p:attrName>style.visibility</p:attrName>
                                        </p:attrNameLst>
                                      </p:cBhvr>
                                      <p:to>
                                        <p:strVal val="visible"/>
                                      </p:to>
                                    </p:set>
                                    <p:animEffect transition="in" filter="checkerboard(across)">
                                      <p:cBhvr>
                                        <p:cTn id="86" dur="500"/>
                                        <p:tgtEl>
                                          <p:spTgt spid="104455"/>
                                        </p:tgtEl>
                                      </p:cBhvr>
                                    </p:animEffect>
                                  </p:childTnLst>
                                </p:cTn>
                              </p:par>
                              <p:par>
                                <p:cTn id="87" presetID="5" presetClass="entr" presetSubtype="10" fill="hold" grpId="0" nodeType="withEffect">
                                  <p:stCondLst>
                                    <p:cond delay="0"/>
                                  </p:stCondLst>
                                  <p:childTnLst>
                                    <p:set>
                                      <p:cBhvr>
                                        <p:cTn id="88" dur="1" fill="hold">
                                          <p:stCondLst>
                                            <p:cond delay="0"/>
                                          </p:stCondLst>
                                        </p:cTn>
                                        <p:tgtEl>
                                          <p:spTgt spid="104456"/>
                                        </p:tgtEl>
                                        <p:attrNameLst>
                                          <p:attrName>style.visibility</p:attrName>
                                        </p:attrNameLst>
                                      </p:cBhvr>
                                      <p:to>
                                        <p:strVal val="visible"/>
                                      </p:to>
                                    </p:set>
                                    <p:animEffect transition="in" filter="checkerboard(across)">
                                      <p:cBhvr>
                                        <p:cTn id="89" dur="500"/>
                                        <p:tgtEl>
                                          <p:spTgt spid="104456"/>
                                        </p:tgtEl>
                                      </p:cBhvr>
                                    </p:animEffect>
                                  </p:childTnLst>
                                </p:cTn>
                              </p:par>
                              <p:par>
                                <p:cTn id="90" presetID="5" presetClass="entr" presetSubtype="10" fill="hold" nodeType="withEffect">
                                  <p:stCondLst>
                                    <p:cond delay="0"/>
                                  </p:stCondLst>
                                  <p:childTnLst>
                                    <p:set>
                                      <p:cBhvr>
                                        <p:cTn id="91" dur="1" fill="hold">
                                          <p:stCondLst>
                                            <p:cond delay="0"/>
                                          </p:stCondLst>
                                        </p:cTn>
                                        <p:tgtEl>
                                          <p:spTgt spid="104516"/>
                                        </p:tgtEl>
                                        <p:attrNameLst>
                                          <p:attrName>style.visibility</p:attrName>
                                        </p:attrNameLst>
                                      </p:cBhvr>
                                      <p:to>
                                        <p:strVal val="visible"/>
                                      </p:to>
                                    </p:set>
                                    <p:animEffect transition="in" filter="checkerboard(across)">
                                      <p:cBhvr>
                                        <p:cTn id="92" dur="500"/>
                                        <p:tgtEl>
                                          <p:spTgt spid="104516"/>
                                        </p:tgtEl>
                                      </p:cBhvr>
                                    </p:animEffect>
                                  </p:childTnLst>
                                </p:cTn>
                              </p:par>
                            </p:childTnLst>
                          </p:cTn>
                        </p:par>
                      </p:childTnLst>
                    </p:cTn>
                  </p:par>
                  <p:par>
                    <p:cTn id="93" fill="hold">
                      <p:stCondLst>
                        <p:cond delay="indefinite"/>
                      </p:stCondLst>
                      <p:childTnLst>
                        <p:par>
                          <p:cTn id="94" fill="hold">
                            <p:stCondLst>
                              <p:cond delay="0"/>
                            </p:stCondLst>
                            <p:childTnLst>
                              <p:par>
                                <p:cTn id="95" presetID="5" presetClass="entr" presetSubtype="10" fill="hold" grpId="0" nodeType="clickEffect">
                                  <p:stCondLst>
                                    <p:cond delay="0"/>
                                  </p:stCondLst>
                                  <p:childTnLst>
                                    <p:set>
                                      <p:cBhvr>
                                        <p:cTn id="96" dur="1" fill="hold">
                                          <p:stCondLst>
                                            <p:cond delay="0"/>
                                          </p:stCondLst>
                                        </p:cTn>
                                        <p:tgtEl>
                                          <p:spTgt spid="104452"/>
                                        </p:tgtEl>
                                        <p:attrNameLst>
                                          <p:attrName>style.visibility</p:attrName>
                                        </p:attrNameLst>
                                      </p:cBhvr>
                                      <p:to>
                                        <p:strVal val="visible"/>
                                      </p:to>
                                    </p:set>
                                    <p:animEffect transition="in" filter="checkerboard(across)">
                                      <p:cBhvr>
                                        <p:cTn id="97" dur="1000"/>
                                        <p:tgtEl>
                                          <p:spTgt spid="104452"/>
                                        </p:tgtEl>
                                      </p:cBhvr>
                                    </p:animEffect>
                                  </p:childTnLst>
                                </p:cTn>
                              </p:par>
                              <p:par>
                                <p:cTn id="98" presetID="5" presetClass="entr" presetSubtype="10" fill="hold" grpId="0" nodeType="withEffect">
                                  <p:stCondLst>
                                    <p:cond delay="0"/>
                                  </p:stCondLst>
                                  <p:childTnLst>
                                    <p:set>
                                      <p:cBhvr>
                                        <p:cTn id="99" dur="1" fill="hold">
                                          <p:stCondLst>
                                            <p:cond delay="0"/>
                                          </p:stCondLst>
                                        </p:cTn>
                                        <p:tgtEl>
                                          <p:spTgt spid="104457"/>
                                        </p:tgtEl>
                                        <p:attrNameLst>
                                          <p:attrName>style.visibility</p:attrName>
                                        </p:attrNameLst>
                                      </p:cBhvr>
                                      <p:to>
                                        <p:strVal val="visible"/>
                                      </p:to>
                                    </p:set>
                                    <p:animEffect transition="in" filter="checkerboard(across)">
                                      <p:cBhvr>
                                        <p:cTn id="100" dur="1000"/>
                                        <p:tgtEl>
                                          <p:spTgt spid="104457"/>
                                        </p:tgtEl>
                                      </p:cBhvr>
                                    </p:animEffect>
                                  </p:childTnLst>
                                </p:cTn>
                              </p:par>
                              <p:par>
                                <p:cTn id="101" presetID="5" presetClass="entr" presetSubtype="10" fill="hold" nodeType="withEffect">
                                  <p:stCondLst>
                                    <p:cond delay="0"/>
                                  </p:stCondLst>
                                  <p:childTnLst>
                                    <p:set>
                                      <p:cBhvr>
                                        <p:cTn id="102" dur="1" fill="hold">
                                          <p:stCondLst>
                                            <p:cond delay="0"/>
                                          </p:stCondLst>
                                        </p:cTn>
                                        <p:tgtEl>
                                          <p:spTgt spid="104550"/>
                                        </p:tgtEl>
                                        <p:attrNameLst>
                                          <p:attrName>style.visibility</p:attrName>
                                        </p:attrNameLst>
                                      </p:cBhvr>
                                      <p:to>
                                        <p:strVal val="visible"/>
                                      </p:to>
                                    </p:set>
                                    <p:animEffect transition="in" filter="checkerboard(across)">
                                      <p:cBhvr>
                                        <p:cTn id="103" dur="1000"/>
                                        <p:tgtEl>
                                          <p:spTgt spid="104550"/>
                                        </p:tgtEl>
                                      </p:cBhvr>
                                    </p:animEffect>
                                  </p:childTnLst>
                                </p:cTn>
                              </p:par>
                              <p:par>
                                <p:cTn id="104" presetID="5" presetClass="entr" presetSubtype="10" fill="hold" grpId="0" nodeType="withEffect">
                                  <p:stCondLst>
                                    <p:cond delay="0"/>
                                  </p:stCondLst>
                                  <p:childTnLst>
                                    <p:set>
                                      <p:cBhvr>
                                        <p:cTn id="105" dur="1" fill="hold">
                                          <p:stCondLst>
                                            <p:cond delay="0"/>
                                          </p:stCondLst>
                                        </p:cTn>
                                        <p:tgtEl>
                                          <p:spTgt spid="104566"/>
                                        </p:tgtEl>
                                        <p:attrNameLst>
                                          <p:attrName>style.visibility</p:attrName>
                                        </p:attrNameLst>
                                      </p:cBhvr>
                                      <p:to>
                                        <p:strVal val="visible"/>
                                      </p:to>
                                    </p:set>
                                    <p:animEffect transition="in" filter="checkerboard(across)">
                                      <p:cBhvr>
                                        <p:cTn id="106" dur="1000"/>
                                        <p:tgtEl>
                                          <p:spTgt spid="104566"/>
                                        </p:tgtEl>
                                      </p:cBhvr>
                                    </p:animEffect>
                                  </p:childTnLst>
                                </p:cTn>
                              </p:par>
                              <p:par>
                                <p:cTn id="107" presetID="5" presetClass="entr" presetSubtype="10" fill="hold" nodeType="withEffect">
                                  <p:stCondLst>
                                    <p:cond delay="0"/>
                                  </p:stCondLst>
                                  <p:childTnLst>
                                    <p:set>
                                      <p:cBhvr>
                                        <p:cTn id="108" dur="1" fill="hold">
                                          <p:stCondLst>
                                            <p:cond delay="0"/>
                                          </p:stCondLst>
                                        </p:cTn>
                                        <p:tgtEl>
                                          <p:spTgt spid="104567"/>
                                        </p:tgtEl>
                                        <p:attrNameLst>
                                          <p:attrName>style.visibility</p:attrName>
                                        </p:attrNameLst>
                                      </p:cBhvr>
                                      <p:to>
                                        <p:strVal val="visible"/>
                                      </p:to>
                                    </p:set>
                                    <p:animEffect transition="in" filter="checkerboard(across)">
                                      <p:cBhvr>
                                        <p:cTn id="109" dur="1000"/>
                                        <p:tgtEl>
                                          <p:spTgt spid="104567"/>
                                        </p:tgtEl>
                                      </p:cBhvr>
                                    </p:animEffect>
                                  </p:childTnLst>
                                </p:cTn>
                              </p:par>
                              <p:par>
                                <p:cTn id="110" presetID="5" presetClass="entr" presetSubtype="10" fill="hold" grpId="0" nodeType="withEffect">
                                  <p:stCondLst>
                                    <p:cond delay="0"/>
                                  </p:stCondLst>
                                  <p:childTnLst>
                                    <p:set>
                                      <p:cBhvr>
                                        <p:cTn id="111" dur="1" fill="hold">
                                          <p:stCondLst>
                                            <p:cond delay="0"/>
                                          </p:stCondLst>
                                        </p:cTn>
                                        <p:tgtEl>
                                          <p:spTgt spid="104592"/>
                                        </p:tgtEl>
                                        <p:attrNameLst>
                                          <p:attrName>style.visibility</p:attrName>
                                        </p:attrNameLst>
                                      </p:cBhvr>
                                      <p:to>
                                        <p:strVal val="visible"/>
                                      </p:to>
                                    </p:set>
                                    <p:animEffect transition="in" filter="checkerboard(across)">
                                      <p:cBhvr>
                                        <p:cTn id="112" dur="1000"/>
                                        <p:tgtEl>
                                          <p:spTgt spid="104592"/>
                                        </p:tgtEl>
                                      </p:cBhvr>
                                    </p:animEffect>
                                  </p:childTnLst>
                                </p:cTn>
                              </p:par>
                              <p:par>
                                <p:cTn id="113" presetID="5" presetClass="entr" presetSubtype="10" fill="hold" grpId="0" nodeType="withEffect">
                                  <p:stCondLst>
                                    <p:cond delay="0"/>
                                  </p:stCondLst>
                                  <p:childTnLst>
                                    <p:set>
                                      <p:cBhvr>
                                        <p:cTn id="114" dur="1" fill="hold">
                                          <p:stCondLst>
                                            <p:cond delay="0"/>
                                          </p:stCondLst>
                                        </p:cTn>
                                        <p:tgtEl>
                                          <p:spTgt spid="104593"/>
                                        </p:tgtEl>
                                        <p:attrNameLst>
                                          <p:attrName>style.visibility</p:attrName>
                                        </p:attrNameLst>
                                      </p:cBhvr>
                                      <p:to>
                                        <p:strVal val="visible"/>
                                      </p:to>
                                    </p:set>
                                    <p:animEffect transition="in" filter="checkerboard(across)">
                                      <p:cBhvr>
                                        <p:cTn id="115" dur="1000"/>
                                        <p:tgtEl>
                                          <p:spTgt spid="104593"/>
                                        </p:tgtEl>
                                      </p:cBhvr>
                                    </p:animEffect>
                                  </p:childTnLst>
                                </p:cTn>
                              </p:par>
                              <p:par>
                                <p:cTn id="116" presetID="5" presetClass="entr" presetSubtype="10" fill="hold" nodeType="withEffect">
                                  <p:stCondLst>
                                    <p:cond delay="0"/>
                                  </p:stCondLst>
                                  <p:childTnLst>
                                    <p:set>
                                      <p:cBhvr>
                                        <p:cTn id="117" dur="1" fill="hold">
                                          <p:stCondLst>
                                            <p:cond delay="0"/>
                                          </p:stCondLst>
                                        </p:cTn>
                                        <p:tgtEl>
                                          <p:spTgt spid="104594"/>
                                        </p:tgtEl>
                                        <p:attrNameLst>
                                          <p:attrName>style.visibility</p:attrName>
                                        </p:attrNameLst>
                                      </p:cBhvr>
                                      <p:to>
                                        <p:strVal val="visible"/>
                                      </p:to>
                                    </p:set>
                                    <p:animEffect transition="in" filter="checkerboard(across)">
                                      <p:cBhvr>
                                        <p:cTn id="118" dur="1000"/>
                                        <p:tgtEl>
                                          <p:spTgt spid="104594"/>
                                        </p:tgtEl>
                                      </p:cBhvr>
                                    </p:animEffect>
                                  </p:childTnLst>
                                </p:cTn>
                              </p:par>
                              <p:par>
                                <p:cTn id="119" presetID="5" presetClass="entr" presetSubtype="10" fill="hold" nodeType="withEffect">
                                  <p:stCondLst>
                                    <p:cond delay="0"/>
                                  </p:stCondLst>
                                  <p:childTnLst>
                                    <p:set>
                                      <p:cBhvr>
                                        <p:cTn id="120" dur="1" fill="hold">
                                          <p:stCondLst>
                                            <p:cond delay="0"/>
                                          </p:stCondLst>
                                        </p:cTn>
                                        <p:tgtEl>
                                          <p:spTgt spid="104599"/>
                                        </p:tgtEl>
                                        <p:attrNameLst>
                                          <p:attrName>style.visibility</p:attrName>
                                        </p:attrNameLst>
                                      </p:cBhvr>
                                      <p:to>
                                        <p:strVal val="visible"/>
                                      </p:to>
                                    </p:set>
                                    <p:animEffect transition="in" filter="checkerboard(across)">
                                      <p:cBhvr>
                                        <p:cTn id="121" dur="1000"/>
                                        <p:tgtEl>
                                          <p:spTgt spid="104599"/>
                                        </p:tgtEl>
                                      </p:cBhvr>
                                    </p:animEffect>
                                  </p:childTnLst>
                                </p:cTn>
                              </p:par>
                              <p:par>
                                <p:cTn id="122" presetID="5" presetClass="entr" presetSubtype="10" fill="hold" nodeType="withEffect">
                                  <p:stCondLst>
                                    <p:cond delay="0"/>
                                  </p:stCondLst>
                                  <p:childTnLst>
                                    <p:set>
                                      <p:cBhvr>
                                        <p:cTn id="123" dur="1" fill="hold">
                                          <p:stCondLst>
                                            <p:cond delay="0"/>
                                          </p:stCondLst>
                                        </p:cTn>
                                        <p:tgtEl>
                                          <p:spTgt spid="104605"/>
                                        </p:tgtEl>
                                        <p:attrNameLst>
                                          <p:attrName>style.visibility</p:attrName>
                                        </p:attrNameLst>
                                      </p:cBhvr>
                                      <p:to>
                                        <p:strVal val="visible"/>
                                      </p:to>
                                    </p:set>
                                    <p:animEffect transition="in" filter="checkerboard(across)">
                                      <p:cBhvr>
                                        <p:cTn id="124" dur="1000"/>
                                        <p:tgtEl>
                                          <p:spTgt spid="104605"/>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04604"/>
                                        </p:tgtEl>
                                        <p:attrNameLst>
                                          <p:attrName>style.visibility</p:attrName>
                                        </p:attrNameLst>
                                      </p:cBhvr>
                                      <p:to>
                                        <p:strVal val="visible"/>
                                      </p:to>
                                    </p:set>
                                    <p:animEffect transition="in" filter="wipe(left)">
                                      <p:cBhvr>
                                        <p:cTn id="129" dur="1000"/>
                                        <p:tgtEl>
                                          <p:spTgt spid="104604"/>
                                        </p:tgtEl>
                                      </p:cBhvr>
                                    </p:animEffect>
                                  </p:childTnLst>
                                </p:cTn>
                              </p:par>
                            </p:childTnLst>
                          </p:cTn>
                        </p:par>
                        <p:par>
                          <p:cTn id="130" fill="hold">
                            <p:stCondLst>
                              <p:cond delay="1000"/>
                            </p:stCondLst>
                            <p:childTnLst>
                              <p:par>
                                <p:cTn id="131" presetID="22" presetClass="entr" presetSubtype="8" fill="hold" nodeType="afterEffect">
                                  <p:stCondLst>
                                    <p:cond delay="0"/>
                                  </p:stCondLst>
                                  <p:childTnLst>
                                    <p:set>
                                      <p:cBhvr>
                                        <p:cTn id="132" dur="1" fill="hold">
                                          <p:stCondLst>
                                            <p:cond delay="0"/>
                                          </p:stCondLst>
                                        </p:cTn>
                                        <p:tgtEl>
                                          <p:spTgt spid="104599"/>
                                        </p:tgtEl>
                                        <p:attrNameLst>
                                          <p:attrName>style.visibility</p:attrName>
                                        </p:attrNameLst>
                                      </p:cBhvr>
                                      <p:to>
                                        <p:strVal val="visible"/>
                                      </p:to>
                                    </p:set>
                                    <p:animEffect transition="in" filter="wipe(left)">
                                      <p:cBhvr>
                                        <p:cTn id="133" dur="1000"/>
                                        <p:tgtEl>
                                          <p:spTgt spid="104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animBg="1"/>
      <p:bldP spid="104453" grpId="0" animBg="1"/>
      <p:bldP spid="104454" grpId="0"/>
      <p:bldP spid="104455" grpId="0" animBg="1"/>
      <p:bldP spid="104456" grpId="0"/>
      <p:bldP spid="104457" grpId="0"/>
      <p:bldP spid="104460" grpId="0" animBg="1"/>
      <p:bldP spid="104461" grpId="0" animBg="1"/>
      <p:bldP spid="104462" grpId="0" animBg="1"/>
      <p:bldP spid="104463" grpId="0" animBg="1"/>
      <p:bldP spid="104464" grpId="0" animBg="1"/>
      <p:bldP spid="104465" grpId="0" animBg="1"/>
      <p:bldP spid="104466" grpId="0" animBg="1"/>
      <p:bldP spid="104467" grpId="0" animBg="1"/>
      <p:bldP spid="104468" grpId="0" animBg="1"/>
      <p:bldP spid="104469" grpId="0" animBg="1"/>
      <p:bldP spid="104470" grpId="0" animBg="1"/>
      <p:bldP spid="104471" grpId="0" animBg="1"/>
      <p:bldP spid="104472" grpId="0" animBg="1"/>
      <p:bldP spid="104473" grpId="0" animBg="1"/>
      <p:bldP spid="104474" grpId="0" animBg="1"/>
      <p:bldP spid="104475" grpId="0"/>
      <p:bldP spid="104501" grpId="0" animBg="1"/>
      <p:bldP spid="104502" grpId="0" animBg="1"/>
      <p:bldP spid="104503" grpId="0" animBg="1"/>
      <p:bldP spid="104504" grpId="0" animBg="1"/>
      <p:bldP spid="104505" grpId="0" animBg="1" autoUpdateAnimBg="0"/>
      <p:bldP spid="104566" grpId="0"/>
      <p:bldP spid="104592" grpId="0" animBg="1"/>
      <p:bldP spid="104593" grpId="0" animBg="1"/>
      <p:bldP spid="10460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4"/>
          <p:cNvSpPr>
            <a:spLocks noGrp="1" noChangeArrowheads="1"/>
          </p:cNvSpPr>
          <p:nvPr>
            <p:ph type="title"/>
          </p:nvPr>
        </p:nvSpPr>
        <p:spPr>
          <a:noFill/>
          <a:ln/>
        </p:spPr>
        <p:txBody>
          <a:bodyPr vert="horz" anchor="b">
            <a:normAutofit fontScale="90000"/>
          </a:bodyPr>
          <a:lstStyle/>
          <a:p>
            <a:r>
              <a:rPr lang="fr-FR" sz="3000">
                <a:solidFill>
                  <a:srgbClr val="C00000"/>
                </a:solidFill>
                <a:cs typeface="Times New Roman" pitchFamily="18" charset="0"/>
              </a:rPr>
              <a:t>Configuration de fichiers et de dossiers pour une utilisation hors connexion</a:t>
            </a:r>
            <a:endParaRPr lang="en-US" sz="3000">
              <a:solidFill>
                <a:srgbClr val="C00000"/>
              </a:solidFill>
              <a:cs typeface="Times New Roman" pitchFamily="18" charset="0"/>
            </a:endParaRPr>
          </a:p>
        </p:txBody>
      </p:sp>
      <p:pic>
        <p:nvPicPr>
          <p:cNvPr id="106503" name="Picture 7" descr="P2272bW11_10a"/>
          <p:cNvPicPr>
            <a:picLocks noGrp="1" noChangeAspect="1" noChangeArrowheads="1"/>
          </p:cNvPicPr>
          <p:nvPr>
            <p:ph sz="half" idx="1"/>
          </p:nvPr>
        </p:nvPicPr>
        <p:blipFill>
          <a:blip r:embed="rId3"/>
          <a:srcRect/>
          <a:stretch>
            <a:fillRect/>
          </a:stretch>
        </p:blipFill>
        <p:spPr>
          <a:xfrm>
            <a:off x="334963" y="1052513"/>
            <a:ext cx="5033962" cy="5195887"/>
          </a:xfrm>
          <a:noFill/>
          <a:ln/>
        </p:spPr>
      </p:pic>
      <p:pic>
        <p:nvPicPr>
          <p:cNvPr id="106505" name="Picture 9" descr="P2272bW11_10b"/>
          <p:cNvPicPr>
            <a:picLocks noGrp="1" noChangeAspect="1" noChangeArrowheads="1"/>
          </p:cNvPicPr>
          <p:nvPr>
            <p:ph sz="half" idx="2"/>
          </p:nvPr>
        </p:nvPicPr>
        <p:blipFill>
          <a:blip r:embed="rId4"/>
          <a:stretch>
            <a:fillRect/>
          </a:stretch>
        </p:blipFill>
        <p:spPr>
          <a:xfrm>
            <a:off x="4991100" y="1406426"/>
            <a:ext cx="4152900" cy="4120455"/>
          </a:xfrm>
          <a:noFill/>
          <a:ln/>
        </p:spPr>
      </p:pic>
      <p:sp>
        <p:nvSpPr>
          <p:cNvPr id="106502" name="Freeform 6"/>
          <p:cNvSpPr>
            <a:spLocks/>
          </p:cNvSpPr>
          <p:nvPr/>
        </p:nvSpPr>
        <p:spPr bwMode="auto">
          <a:xfrm rot="20402370" flipV="1">
            <a:off x="4010025" y="4459288"/>
            <a:ext cx="1300163" cy="493712"/>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noFill/>
          <a:ln/>
        </p:spPr>
        <p:txBody>
          <a:bodyPr vert="horz" anchor="b">
            <a:normAutofit fontScale="90000"/>
          </a:bodyPr>
          <a:lstStyle/>
          <a:p>
            <a:r>
              <a:rPr lang="fr-FR" sz="3000">
                <a:solidFill>
                  <a:srgbClr val="C00000"/>
                </a:solidFill>
                <a:cs typeface="Times New Roman" pitchFamily="18" charset="0"/>
              </a:rPr>
              <a:t>Configuration des paramètres de mise en cache pour les fichiers hors connexion</a:t>
            </a:r>
            <a:endParaRPr lang="en-US" sz="3000">
              <a:solidFill>
                <a:srgbClr val="C00000"/>
              </a:solidFill>
              <a:cs typeface="Times New Roman" pitchFamily="18" charset="0"/>
            </a:endParaRPr>
          </a:p>
        </p:txBody>
      </p:sp>
      <p:sp>
        <p:nvSpPr>
          <p:cNvPr id="108547" name="Rectangle 3"/>
          <p:cNvSpPr>
            <a:spLocks noChangeArrowheads="1"/>
          </p:cNvSpPr>
          <p:nvPr/>
        </p:nvSpPr>
        <p:spPr bwMode="auto">
          <a:xfrm>
            <a:off x="838200" y="1491336"/>
            <a:ext cx="7391400" cy="5029200"/>
          </a:xfrm>
          <a:prstGeom prst="rect">
            <a:avLst/>
          </a:prstGeom>
          <a:gradFill rotWithShape="0">
            <a:gsLst>
              <a:gs pos="0">
                <a:srgbClr val="FFCC66"/>
              </a:gs>
              <a:gs pos="100000">
                <a:srgbClr val="FCFEBC"/>
              </a:gs>
            </a:gsLst>
            <a:lin ang="5400000" scaled="1"/>
          </a:gradFill>
          <a:ln w="9525">
            <a:noFill/>
            <a:miter lim="800000"/>
            <a:headEnd/>
            <a:tailEnd/>
          </a:ln>
          <a:effectLst/>
        </p:spPr>
        <p:txBody>
          <a:bodyPr wrap="none" anchor="ctr"/>
          <a:lstStyle/>
          <a:p>
            <a:endParaRPr lang="fr-FR"/>
          </a:p>
        </p:txBody>
      </p:sp>
      <p:sp>
        <p:nvSpPr>
          <p:cNvPr id="108548" name="Rectangle 4"/>
          <p:cNvSpPr>
            <a:spLocks noChangeArrowheads="1"/>
          </p:cNvSpPr>
          <p:nvPr/>
        </p:nvSpPr>
        <p:spPr bwMode="auto">
          <a:xfrm>
            <a:off x="922338" y="4935303"/>
            <a:ext cx="2133600" cy="1371600"/>
          </a:xfrm>
          <a:prstGeom prst="rect">
            <a:avLst/>
          </a:prstGeom>
          <a:gradFill rotWithShape="0">
            <a:gsLst>
              <a:gs pos="0">
                <a:srgbClr val="6699FF">
                  <a:gamma/>
                  <a:shade val="46275"/>
                  <a:invGamma/>
                </a:srgbClr>
              </a:gs>
              <a:gs pos="100000">
                <a:srgbClr val="6699FF"/>
              </a:gs>
            </a:gsLst>
            <a:lin ang="0" scaled="1"/>
          </a:gradFill>
          <a:ln w="28575">
            <a:solidFill>
              <a:srgbClr val="FF9900"/>
            </a:solidFill>
            <a:miter lim="800000"/>
            <a:headEnd/>
            <a:tailEnd/>
          </a:ln>
          <a:effectLst/>
        </p:spPr>
        <p:txBody>
          <a:bodyPr lIns="137160" rIns="45720" anchor="ctr"/>
          <a:lstStyle/>
          <a:p>
            <a:pPr algn="ctr"/>
            <a:r>
              <a:rPr lang="en-US" sz="2000">
                <a:solidFill>
                  <a:schemeClr val="bg1"/>
                </a:solidFill>
                <a:effectLst>
                  <a:outerShdw blurRad="38100" dist="38100" dir="2700000" algn="tl">
                    <a:srgbClr val="000000"/>
                  </a:outerShdw>
                </a:effectLst>
                <a:cs typeface="Times New Roman" pitchFamily="18" charset="0"/>
              </a:rPr>
              <a:t>Mise en cache manuelle</a:t>
            </a:r>
          </a:p>
        </p:txBody>
      </p:sp>
      <p:sp>
        <p:nvSpPr>
          <p:cNvPr id="108549" name="Rectangle 5"/>
          <p:cNvSpPr>
            <a:spLocks noChangeArrowheads="1"/>
          </p:cNvSpPr>
          <p:nvPr/>
        </p:nvSpPr>
        <p:spPr bwMode="auto">
          <a:xfrm>
            <a:off x="3055938" y="4935303"/>
            <a:ext cx="4953000" cy="1371600"/>
          </a:xfrm>
          <a:prstGeom prst="rect">
            <a:avLst/>
          </a:prstGeom>
          <a:gradFill rotWithShape="0">
            <a:gsLst>
              <a:gs pos="0">
                <a:srgbClr val="FFFFCC"/>
              </a:gs>
              <a:gs pos="100000">
                <a:srgbClr val="FFFFFF"/>
              </a:gs>
            </a:gsLst>
            <a:lin ang="0" scaled="1"/>
          </a:gradFill>
          <a:ln w="28575">
            <a:solidFill>
              <a:srgbClr val="FF9900"/>
            </a:solidFill>
            <a:miter lim="800000"/>
            <a:headEnd/>
            <a:tailEnd/>
          </a:ln>
          <a:effectLst/>
        </p:spPr>
        <p:txBody>
          <a:bodyPr tIns="0" bIns="0" anchor="ctr"/>
          <a:lstStyle/>
          <a:p>
            <a:pPr>
              <a:lnSpc>
                <a:spcPct val="90000"/>
              </a:lnSpc>
              <a:spcAft>
                <a:spcPct val="35000"/>
              </a:spcAft>
              <a:buClr>
                <a:srgbClr val="D60093"/>
              </a:buClr>
              <a:buSzPct val="65000"/>
              <a:buFont typeface="Wingdings" pitchFamily="2" charset="2"/>
              <a:buNone/>
            </a:pPr>
            <a:r>
              <a:rPr lang="en-US" sz="2000" b="0">
                <a:cs typeface="Times New Roman" pitchFamily="18" charset="0"/>
              </a:rPr>
              <a:t>Seuls les fichiers marqués par l'utilisateur seront mis en cache</a:t>
            </a:r>
            <a:endParaRPr lang="en-US"/>
          </a:p>
        </p:txBody>
      </p:sp>
      <p:grpSp>
        <p:nvGrpSpPr>
          <p:cNvPr id="108550" name="Group 6"/>
          <p:cNvGrpSpPr>
            <a:grpSpLocks/>
          </p:cNvGrpSpPr>
          <p:nvPr/>
        </p:nvGrpSpPr>
        <p:grpSpPr bwMode="auto">
          <a:xfrm>
            <a:off x="920750" y="1776178"/>
            <a:ext cx="7075488" cy="3013075"/>
            <a:chOff x="631" y="1872"/>
            <a:chExt cx="4457" cy="1898"/>
          </a:xfrm>
        </p:grpSpPr>
        <p:sp>
          <p:nvSpPr>
            <p:cNvPr id="108551" name="Rectangle 7"/>
            <p:cNvSpPr>
              <a:spLocks noChangeArrowheads="1"/>
            </p:cNvSpPr>
            <p:nvPr/>
          </p:nvSpPr>
          <p:spPr bwMode="auto">
            <a:xfrm>
              <a:off x="631" y="1872"/>
              <a:ext cx="1337" cy="890"/>
            </a:xfrm>
            <a:prstGeom prst="rect">
              <a:avLst/>
            </a:prstGeom>
            <a:gradFill rotWithShape="0">
              <a:gsLst>
                <a:gs pos="0">
                  <a:srgbClr val="6699FF">
                    <a:gamma/>
                    <a:shade val="46275"/>
                    <a:invGamma/>
                  </a:srgbClr>
                </a:gs>
                <a:gs pos="100000">
                  <a:srgbClr val="6699FF"/>
                </a:gs>
              </a:gsLst>
              <a:lin ang="0" scaled="1"/>
            </a:gradFill>
            <a:ln w="28575">
              <a:solidFill>
                <a:srgbClr val="FF9900"/>
              </a:solidFill>
              <a:miter lim="800000"/>
              <a:headEnd/>
              <a:tailEnd/>
            </a:ln>
            <a:effectLst/>
          </p:spPr>
          <p:txBody>
            <a:bodyPr lIns="137160" rIns="45720" anchor="ctr"/>
            <a:lstStyle/>
            <a:p>
              <a:pPr algn="ctr"/>
              <a:r>
                <a:rPr lang="en-US" sz="2000">
                  <a:solidFill>
                    <a:schemeClr val="bg1"/>
                  </a:solidFill>
                  <a:effectLst>
                    <a:outerShdw blurRad="38100" dist="38100" dir="2700000" algn="tl">
                      <a:srgbClr val="000000"/>
                    </a:outerShdw>
                  </a:effectLst>
                  <a:cs typeface="Times New Roman" pitchFamily="18" charset="0"/>
                </a:rPr>
                <a:t>Mise en cache automatique</a:t>
              </a:r>
            </a:p>
          </p:txBody>
        </p:sp>
        <p:sp>
          <p:nvSpPr>
            <p:cNvPr id="108552" name="Rectangle 8"/>
            <p:cNvSpPr>
              <a:spLocks noChangeArrowheads="1"/>
            </p:cNvSpPr>
            <p:nvPr/>
          </p:nvSpPr>
          <p:spPr bwMode="auto">
            <a:xfrm>
              <a:off x="1985" y="1872"/>
              <a:ext cx="3103" cy="890"/>
            </a:xfrm>
            <a:prstGeom prst="rect">
              <a:avLst/>
            </a:prstGeom>
            <a:gradFill rotWithShape="0">
              <a:gsLst>
                <a:gs pos="0">
                  <a:srgbClr val="FFFFCC"/>
                </a:gs>
                <a:gs pos="100000">
                  <a:srgbClr val="FFFFFF"/>
                </a:gs>
              </a:gsLst>
              <a:lin ang="0" scaled="1"/>
            </a:gradFill>
            <a:ln w="28575">
              <a:solidFill>
                <a:srgbClr val="FF9900"/>
              </a:solidFill>
              <a:miter lim="800000"/>
              <a:headEnd/>
              <a:tailEnd/>
            </a:ln>
            <a:effectLst/>
          </p:spPr>
          <p:txBody>
            <a:bodyPr tIns="0" bIns="0" anchor="ctr"/>
            <a:lstStyle/>
            <a:p>
              <a:pPr>
                <a:lnSpc>
                  <a:spcPct val="90000"/>
                </a:lnSpc>
                <a:spcAft>
                  <a:spcPct val="35000"/>
                </a:spcAft>
                <a:buClr>
                  <a:srgbClr val="D60093"/>
                </a:buClr>
                <a:buSzPct val="65000"/>
                <a:buFont typeface="Wingdings" pitchFamily="2" charset="2"/>
                <a:buNone/>
              </a:pPr>
              <a:r>
                <a:rPr lang="en-US" sz="2000" b="0">
                  <a:cs typeface="Times New Roman" pitchFamily="18" charset="0"/>
                </a:rPr>
                <a:t>Les fichiers seront automatiquement mis en cache à la première ouverture</a:t>
              </a:r>
            </a:p>
          </p:txBody>
        </p:sp>
        <p:sp>
          <p:nvSpPr>
            <p:cNvPr id="108553" name="Rectangle 9"/>
            <p:cNvSpPr>
              <a:spLocks noChangeArrowheads="1"/>
            </p:cNvSpPr>
            <p:nvPr/>
          </p:nvSpPr>
          <p:spPr bwMode="auto">
            <a:xfrm>
              <a:off x="631" y="2880"/>
              <a:ext cx="1337" cy="890"/>
            </a:xfrm>
            <a:prstGeom prst="rect">
              <a:avLst/>
            </a:prstGeom>
            <a:gradFill rotWithShape="0">
              <a:gsLst>
                <a:gs pos="0">
                  <a:srgbClr val="6699FF">
                    <a:gamma/>
                    <a:shade val="46275"/>
                    <a:invGamma/>
                  </a:srgbClr>
                </a:gs>
                <a:gs pos="100000">
                  <a:srgbClr val="6699FF"/>
                </a:gs>
              </a:gsLst>
              <a:lin ang="0" scaled="1"/>
            </a:gradFill>
            <a:ln w="28575">
              <a:solidFill>
                <a:srgbClr val="FF9900"/>
              </a:solidFill>
              <a:miter lim="800000"/>
              <a:headEnd/>
              <a:tailEnd/>
            </a:ln>
            <a:effectLst/>
          </p:spPr>
          <p:txBody>
            <a:bodyPr lIns="137160" rIns="45720" anchor="ctr"/>
            <a:lstStyle/>
            <a:p>
              <a:pPr algn="ctr"/>
              <a:r>
                <a:rPr lang="en-US" sz="2000">
                  <a:solidFill>
                    <a:schemeClr val="bg1"/>
                  </a:solidFill>
                  <a:effectLst>
                    <a:outerShdw blurRad="38100" dist="38100" dir="2700000" algn="tl">
                      <a:srgbClr val="000000"/>
                    </a:outerShdw>
                  </a:effectLst>
                  <a:cs typeface="Times New Roman" pitchFamily="18" charset="0"/>
                </a:rPr>
                <a:t>Mise en cache des programmes</a:t>
              </a:r>
            </a:p>
          </p:txBody>
        </p:sp>
        <p:sp>
          <p:nvSpPr>
            <p:cNvPr id="108554" name="Rectangle 10"/>
            <p:cNvSpPr>
              <a:spLocks noChangeArrowheads="1"/>
            </p:cNvSpPr>
            <p:nvPr/>
          </p:nvSpPr>
          <p:spPr bwMode="auto">
            <a:xfrm>
              <a:off x="1985" y="2880"/>
              <a:ext cx="3103" cy="890"/>
            </a:xfrm>
            <a:prstGeom prst="rect">
              <a:avLst/>
            </a:prstGeom>
            <a:gradFill rotWithShape="0">
              <a:gsLst>
                <a:gs pos="0">
                  <a:srgbClr val="FFFFCC"/>
                </a:gs>
                <a:gs pos="100000">
                  <a:srgbClr val="FFFFFF"/>
                </a:gs>
              </a:gsLst>
              <a:lin ang="0" scaled="1"/>
            </a:gradFill>
            <a:ln w="28575">
              <a:solidFill>
                <a:srgbClr val="FF9900"/>
              </a:solidFill>
              <a:miter lim="800000"/>
              <a:headEnd/>
              <a:tailEnd/>
            </a:ln>
            <a:effectLst/>
          </p:spPr>
          <p:txBody>
            <a:bodyPr tIns="0" bIns="0" anchor="ctr"/>
            <a:lstStyle/>
            <a:p>
              <a:pPr>
                <a:lnSpc>
                  <a:spcPct val="90000"/>
                </a:lnSpc>
                <a:spcAft>
                  <a:spcPct val="35000"/>
                </a:spcAft>
                <a:buClr>
                  <a:srgbClr val="D60093"/>
                </a:buClr>
                <a:buSzPct val="65000"/>
                <a:buFont typeface="Wingdings" pitchFamily="2" charset="2"/>
                <a:buNone/>
              </a:pPr>
              <a:r>
                <a:rPr lang="en-US" sz="2000" b="0">
                  <a:cs typeface="Times New Roman" pitchFamily="18" charset="0"/>
                </a:rPr>
                <a:t>Les fichiers en lecture seule seront mis en cache une fois ; ensuite, les copies locales seront utilisées</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606" name="Picture 14" descr="P2272bW11_12a"/>
          <p:cNvPicPr>
            <a:picLocks noChangeAspect="1" noChangeArrowheads="1"/>
          </p:cNvPicPr>
          <p:nvPr/>
        </p:nvPicPr>
        <p:blipFill>
          <a:blip r:embed="rId3"/>
          <a:srcRect/>
          <a:stretch>
            <a:fillRect/>
          </a:stretch>
        </p:blipFill>
        <p:spPr bwMode="auto">
          <a:xfrm>
            <a:off x="568325" y="1008063"/>
            <a:ext cx="4972050" cy="1646237"/>
          </a:xfrm>
          <a:prstGeom prst="rect">
            <a:avLst/>
          </a:prstGeom>
          <a:noFill/>
        </p:spPr>
      </p:pic>
      <p:sp>
        <p:nvSpPr>
          <p:cNvPr id="110595" name="Rectangle 3"/>
          <p:cNvSpPr>
            <a:spLocks noGrp="1" noChangeArrowheads="1"/>
          </p:cNvSpPr>
          <p:nvPr>
            <p:ph type="title"/>
          </p:nvPr>
        </p:nvSpPr>
        <p:spPr>
          <a:noFill/>
          <a:ln/>
        </p:spPr>
        <p:txBody>
          <a:bodyPr vert="horz" anchor="b">
            <a:normAutofit fontScale="90000"/>
          </a:bodyPr>
          <a:lstStyle/>
          <a:p>
            <a:r>
              <a:rPr lang="fr-FR" sz="3000">
                <a:solidFill>
                  <a:srgbClr val="C00000"/>
                </a:solidFill>
                <a:cs typeface="Times New Roman" pitchFamily="18" charset="0"/>
              </a:rPr>
              <a:t>Mise à disposition de pages Web en vue d'une utilisation hors connexion</a:t>
            </a:r>
            <a:endParaRPr lang="en-US" sz="3000">
              <a:solidFill>
                <a:srgbClr val="C00000"/>
              </a:solidFill>
              <a:cs typeface="Times New Roman" pitchFamily="18" charset="0"/>
            </a:endParaRPr>
          </a:p>
        </p:txBody>
      </p:sp>
      <p:sp>
        <p:nvSpPr>
          <p:cNvPr id="110598" name="Rectangle 6"/>
          <p:cNvSpPr>
            <a:spLocks noChangeArrowheads="1"/>
          </p:cNvSpPr>
          <p:nvPr/>
        </p:nvSpPr>
        <p:spPr bwMode="auto">
          <a:xfrm>
            <a:off x="1149350" y="2185988"/>
            <a:ext cx="3114675" cy="342900"/>
          </a:xfrm>
          <a:prstGeom prst="rect">
            <a:avLst/>
          </a:prstGeom>
          <a:noFill/>
          <a:ln w="38100">
            <a:solidFill>
              <a:srgbClr val="D2007D"/>
            </a:solidFill>
            <a:miter lim="800000"/>
            <a:headEnd/>
            <a:tailEnd/>
          </a:ln>
          <a:effectLst/>
        </p:spPr>
        <p:txBody>
          <a:bodyPr wrap="none" anchor="ctr"/>
          <a:lstStyle/>
          <a:p>
            <a:endParaRPr lang="fr-FR"/>
          </a:p>
        </p:txBody>
      </p:sp>
      <p:pic>
        <p:nvPicPr>
          <p:cNvPr id="110608" name="Picture 16" descr="P2272bW11_12b"/>
          <p:cNvPicPr>
            <a:picLocks noChangeAspect="1" noChangeArrowheads="1"/>
          </p:cNvPicPr>
          <p:nvPr/>
        </p:nvPicPr>
        <p:blipFill>
          <a:blip r:embed="rId4"/>
          <a:srcRect/>
          <a:stretch>
            <a:fillRect/>
          </a:stretch>
        </p:blipFill>
        <p:spPr bwMode="auto">
          <a:xfrm>
            <a:off x="3421063" y="2552700"/>
            <a:ext cx="5108575" cy="3965575"/>
          </a:xfrm>
          <a:prstGeom prst="rect">
            <a:avLst/>
          </a:prstGeom>
          <a:noFill/>
        </p:spPr>
      </p:pic>
      <p:sp>
        <p:nvSpPr>
          <p:cNvPr id="110600" name="Freeform 8"/>
          <p:cNvSpPr>
            <a:spLocks/>
          </p:cNvSpPr>
          <p:nvPr/>
        </p:nvSpPr>
        <p:spPr bwMode="auto">
          <a:xfrm rot="1007429" flipV="1">
            <a:off x="4133850" y="1806575"/>
            <a:ext cx="1500188" cy="587375"/>
          </a:xfrm>
          <a:custGeom>
            <a:avLst/>
            <a:gdLst/>
            <a:ahLst/>
            <a:cxnLst>
              <a:cxn ang="0">
                <a:pos x="0" y="58"/>
              </a:cxn>
              <a:cxn ang="0">
                <a:pos x="69" y="87"/>
              </a:cxn>
              <a:cxn ang="0">
                <a:pos x="123" y="110"/>
              </a:cxn>
              <a:cxn ang="0">
                <a:pos x="148" y="120"/>
              </a:cxn>
              <a:cxn ang="0">
                <a:pos x="171" y="125"/>
              </a:cxn>
              <a:cxn ang="0">
                <a:pos x="192" y="131"/>
              </a:cxn>
              <a:cxn ang="0">
                <a:pos x="215" y="133"/>
              </a:cxn>
              <a:cxn ang="0">
                <a:pos x="236" y="133"/>
              </a:cxn>
              <a:cxn ang="0">
                <a:pos x="259" y="131"/>
              </a:cxn>
              <a:cxn ang="0">
                <a:pos x="284" y="125"/>
              </a:cxn>
              <a:cxn ang="0">
                <a:pos x="311" y="118"/>
              </a:cxn>
              <a:cxn ang="0">
                <a:pos x="342" y="108"/>
              </a:cxn>
              <a:cxn ang="0">
                <a:pos x="375" y="95"/>
              </a:cxn>
              <a:cxn ang="0">
                <a:pos x="411" y="77"/>
              </a:cxn>
              <a:cxn ang="0">
                <a:pos x="454" y="58"/>
              </a:cxn>
              <a:cxn ang="0">
                <a:pos x="411" y="0"/>
              </a:cxn>
              <a:cxn ang="0">
                <a:pos x="640" y="12"/>
              </a:cxn>
              <a:cxn ang="0">
                <a:pos x="532" y="214"/>
              </a:cxn>
              <a:cxn ang="0">
                <a:pos x="509" y="154"/>
              </a:cxn>
              <a:cxn ang="0">
                <a:pos x="465" y="172"/>
              </a:cxn>
              <a:cxn ang="0">
                <a:pos x="421" y="187"/>
              </a:cxn>
              <a:cxn ang="0">
                <a:pos x="383" y="197"/>
              </a:cxn>
              <a:cxn ang="0">
                <a:pos x="346" y="204"/>
              </a:cxn>
              <a:cxn ang="0">
                <a:pos x="309" y="208"/>
              </a:cxn>
              <a:cxn ang="0">
                <a:pos x="277" y="208"/>
              </a:cxn>
              <a:cxn ang="0">
                <a:pos x="246" y="206"/>
              </a:cxn>
              <a:cxn ang="0">
                <a:pos x="217" y="201"/>
              </a:cxn>
              <a:cxn ang="0">
                <a:pos x="188" y="191"/>
              </a:cxn>
              <a:cxn ang="0">
                <a:pos x="160" y="179"/>
              </a:cxn>
              <a:cxn ang="0">
                <a:pos x="133" y="166"/>
              </a:cxn>
              <a:cxn ang="0">
                <a:pos x="108" y="149"/>
              </a:cxn>
              <a:cxn ang="0">
                <a:pos x="81" y="129"/>
              </a:cxn>
              <a:cxn ang="0">
                <a:pos x="54" y="108"/>
              </a:cxn>
              <a:cxn ang="0">
                <a:pos x="27" y="83"/>
              </a:cxn>
              <a:cxn ang="0">
                <a:pos x="0" y="58"/>
              </a:cxn>
            </a:cxnLst>
            <a:rect l="0" t="0" r="r" b="b"/>
            <a:pathLst>
              <a:path w="640" h="214">
                <a:moveTo>
                  <a:pt x="0" y="58"/>
                </a:moveTo>
                <a:lnTo>
                  <a:pt x="69" y="87"/>
                </a:lnTo>
                <a:lnTo>
                  <a:pt x="123" y="110"/>
                </a:lnTo>
                <a:lnTo>
                  <a:pt x="148" y="120"/>
                </a:lnTo>
                <a:lnTo>
                  <a:pt x="171" y="125"/>
                </a:lnTo>
                <a:lnTo>
                  <a:pt x="192" y="131"/>
                </a:lnTo>
                <a:lnTo>
                  <a:pt x="215" y="133"/>
                </a:lnTo>
                <a:lnTo>
                  <a:pt x="236" y="133"/>
                </a:lnTo>
                <a:lnTo>
                  <a:pt x="259" y="131"/>
                </a:lnTo>
                <a:lnTo>
                  <a:pt x="284" y="125"/>
                </a:lnTo>
                <a:lnTo>
                  <a:pt x="311" y="118"/>
                </a:lnTo>
                <a:lnTo>
                  <a:pt x="342" y="108"/>
                </a:lnTo>
                <a:lnTo>
                  <a:pt x="375" y="95"/>
                </a:lnTo>
                <a:lnTo>
                  <a:pt x="411" y="77"/>
                </a:lnTo>
                <a:lnTo>
                  <a:pt x="454" y="58"/>
                </a:lnTo>
                <a:lnTo>
                  <a:pt x="411" y="0"/>
                </a:lnTo>
                <a:lnTo>
                  <a:pt x="640" y="12"/>
                </a:lnTo>
                <a:lnTo>
                  <a:pt x="532" y="214"/>
                </a:lnTo>
                <a:lnTo>
                  <a:pt x="509" y="154"/>
                </a:lnTo>
                <a:lnTo>
                  <a:pt x="465" y="172"/>
                </a:lnTo>
                <a:lnTo>
                  <a:pt x="421" y="187"/>
                </a:lnTo>
                <a:lnTo>
                  <a:pt x="383" y="197"/>
                </a:lnTo>
                <a:lnTo>
                  <a:pt x="346" y="204"/>
                </a:lnTo>
                <a:lnTo>
                  <a:pt x="309" y="208"/>
                </a:lnTo>
                <a:lnTo>
                  <a:pt x="277" y="208"/>
                </a:lnTo>
                <a:lnTo>
                  <a:pt x="246" y="206"/>
                </a:lnTo>
                <a:lnTo>
                  <a:pt x="217" y="201"/>
                </a:lnTo>
                <a:lnTo>
                  <a:pt x="188" y="191"/>
                </a:lnTo>
                <a:lnTo>
                  <a:pt x="160" y="179"/>
                </a:lnTo>
                <a:lnTo>
                  <a:pt x="133" y="166"/>
                </a:lnTo>
                <a:lnTo>
                  <a:pt x="108" y="149"/>
                </a:lnTo>
                <a:lnTo>
                  <a:pt x="81" y="129"/>
                </a:lnTo>
                <a:lnTo>
                  <a:pt x="54" y="108"/>
                </a:lnTo>
                <a:lnTo>
                  <a:pt x="27" y="83"/>
                </a:lnTo>
                <a:lnTo>
                  <a:pt x="0" y="58"/>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noFill/>
          <a:ln/>
        </p:spPr>
        <p:txBody>
          <a:bodyPr vert="horz" anchor="b">
            <a:normAutofit/>
          </a:bodyPr>
          <a:lstStyle/>
          <a:p>
            <a:r>
              <a:rPr lang="fr-FR" sz="3000">
                <a:solidFill>
                  <a:srgbClr val="C00000"/>
                </a:solidFill>
                <a:cs typeface="Times New Roman" pitchFamily="18" charset="0"/>
              </a:rPr>
              <a:t>Gestion de la synchronisation des fichiers</a:t>
            </a:r>
            <a:endParaRPr lang="en-US" sz="3000">
              <a:solidFill>
                <a:srgbClr val="C00000"/>
              </a:solidFill>
              <a:cs typeface="Times New Roman" pitchFamily="18" charset="0"/>
            </a:endParaRPr>
          </a:p>
        </p:txBody>
      </p:sp>
      <p:sp>
        <p:nvSpPr>
          <p:cNvPr id="112644" name="Rectangle 4"/>
          <p:cNvSpPr>
            <a:spLocks noChangeArrowheads="1"/>
          </p:cNvSpPr>
          <p:nvPr/>
        </p:nvSpPr>
        <p:spPr bwMode="auto">
          <a:xfrm>
            <a:off x="809625" y="1427163"/>
            <a:ext cx="7451725" cy="4757737"/>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nchor="ctr"/>
          <a:lstStyle/>
          <a:p>
            <a:endParaRPr lang="fr-FR"/>
          </a:p>
        </p:txBody>
      </p:sp>
      <p:sp>
        <p:nvSpPr>
          <p:cNvPr id="112645" name="Rectangle 5"/>
          <p:cNvSpPr>
            <a:spLocks noChangeArrowheads="1"/>
          </p:cNvSpPr>
          <p:nvPr/>
        </p:nvSpPr>
        <p:spPr bwMode="auto">
          <a:xfrm>
            <a:off x="598488" y="1004888"/>
            <a:ext cx="7891462" cy="639762"/>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a:outerShdw dist="71842" dir="2700000" algn="ctr" rotWithShape="0">
              <a:srgbClr val="969696"/>
            </a:outerShdw>
          </a:effectLst>
        </p:spPr>
        <p:txBody>
          <a:bodyPr wrap="none" lIns="45720" rIns="45720" anchor="ctr"/>
          <a:lstStyle/>
          <a:p>
            <a:pPr algn="ctr"/>
            <a:r>
              <a:rPr lang="fr-FR" sz="2400">
                <a:solidFill>
                  <a:schemeClr val="bg1"/>
                </a:solidFill>
                <a:effectLst>
                  <a:outerShdw blurRad="38100" dist="38100" dir="2700000" algn="tl">
                    <a:srgbClr val="000000"/>
                  </a:outerShdw>
                </a:effectLst>
              </a:rPr>
              <a:t>Pour configurer les paramètres de synchronisation :</a:t>
            </a:r>
          </a:p>
        </p:txBody>
      </p:sp>
      <p:sp>
        <p:nvSpPr>
          <p:cNvPr id="112646" name="Rectangle 6"/>
          <p:cNvSpPr>
            <a:spLocks noChangeArrowheads="1"/>
          </p:cNvSpPr>
          <p:nvPr/>
        </p:nvSpPr>
        <p:spPr bwMode="auto">
          <a:xfrm>
            <a:off x="927100" y="1768475"/>
            <a:ext cx="7229475" cy="762000"/>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nchor="ctr"/>
          <a:lstStyle/>
          <a:p>
            <a:pPr eaLnBrk="1" hangingPunct="1"/>
            <a:r>
              <a:rPr lang="fr-FR"/>
              <a:t>Commencez la synchronisation à partir du menu Accessoires</a:t>
            </a:r>
          </a:p>
        </p:txBody>
      </p:sp>
      <p:sp>
        <p:nvSpPr>
          <p:cNvPr id="112647" name="Freeform 7"/>
          <p:cNvSpPr>
            <a:spLocks/>
          </p:cNvSpPr>
          <p:nvPr/>
        </p:nvSpPr>
        <p:spPr bwMode="auto">
          <a:xfrm>
            <a:off x="1090613" y="1943100"/>
            <a:ext cx="290512" cy="381000"/>
          </a:xfrm>
          <a:custGeom>
            <a:avLst/>
            <a:gdLst/>
            <a:ahLst/>
            <a:cxnLst>
              <a:cxn ang="0">
                <a:pos x="14" y="859"/>
              </a:cxn>
              <a:cxn ang="0">
                <a:pos x="130" y="855"/>
              </a:cxn>
              <a:cxn ang="0">
                <a:pos x="157" y="850"/>
              </a:cxn>
              <a:cxn ang="0">
                <a:pos x="176" y="843"/>
              </a:cxn>
              <a:cxn ang="0">
                <a:pos x="193" y="833"/>
              </a:cxn>
              <a:cxn ang="0">
                <a:pos x="206" y="820"/>
              </a:cxn>
              <a:cxn ang="0">
                <a:pos x="215" y="800"/>
              </a:cxn>
              <a:cxn ang="0">
                <a:pos x="221" y="772"/>
              </a:cxn>
              <a:cxn ang="0">
                <a:pos x="224" y="738"/>
              </a:cxn>
              <a:cxn ang="0">
                <a:pos x="224" y="294"/>
              </a:cxn>
              <a:cxn ang="0">
                <a:pos x="222" y="265"/>
              </a:cxn>
              <a:cxn ang="0">
                <a:pos x="218" y="242"/>
              </a:cxn>
              <a:cxn ang="0">
                <a:pos x="212" y="223"/>
              </a:cxn>
              <a:cxn ang="0">
                <a:pos x="203" y="211"/>
              </a:cxn>
              <a:cxn ang="0">
                <a:pos x="189" y="203"/>
              </a:cxn>
              <a:cxn ang="0">
                <a:pos x="164" y="197"/>
              </a:cxn>
              <a:cxn ang="0">
                <a:pos x="130" y="194"/>
              </a:cxn>
              <a:cxn ang="0">
                <a:pos x="89" y="193"/>
              </a:cxn>
              <a:cxn ang="0">
                <a:pos x="72" y="193"/>
              </a:cxn>
              <a:cxn ang="0">
                <a:pos x="57" y="193"/>
              </a:cxn>
              <a:cxn ang="0">
                <a:pos x="44" y="193"/>
              </a:cxn>
              <a:cxn ang="0">
                <a:pos x="34" y="193"/>
              </a:cxn>
              <a:cxn ang="0">
                <a:pos x="26" y="193"/>
              </a:cxn>
              <a:cxn ang="0">
                <a:pos x="17" y="194"/>
              </a:cxn>
              <a:cxn ang="0">
                <a:pos x="9" y="194"/>
              </a:cxn>
              <a:cxn ang="0">
                <a:pos x="0" y="194"/>
              </a:cxn>
              <a:cxn ang="0">
                <a:pos x="34" y="145"/>
              </a:cxn>
              <a:cxn ang="0">
                <a:pos x="98" y="136"/>
              </a:cxn>
              <a:cxn ang="0">
                <a:pos x="163" y="124"/>
              </a:cxn>
              <a:cxn ang="0">
                <a:pos x="224" y="108"/>
              </a:cxn>
              <a:cxn ang="0">
                <a:pos x="285" y="88"/>
              </a:cxn>
              <a:cxn ang="0">
                <a:pos x="345" y="67"/>
              </a:cxn>
              <a:cxn ang="0">
                <a:pos x="405" y="42"/>
              </a:cxn>
              <a:cxn ang="0">
                <a:pos x="463" y="15"/>
              </a:cxn>
              <a:cxn ang="0">
                <a:pos x="493" y="746"/>
              </a:cxn>
              <a:cxn ang="0">
                <a:pos x="494" y="774"/>
              </a:cxn>
              <a:cxn ang="0">
                <a:pos x="497" y="797"/>
              </a:cxn>
              <a:cxn ang="0">
                <a:pos x="503" y="815"/>
              </a:cxn>
              <a:cxn ang="0">
                <a:pos x="511" y="827"/>
              </a:cxn>
              <a:cxn ang="0">
                <a:pos x="522" y="835"/>
              </a:cxn>
              <a:cxn ang="0">
                <a:pos x="535" y="843"/>
              </a:cxn>
              <a:cxn ang="0">
                <a:pos x="554" y="847"/>
              </a:cxn>
              <a:cxn ang="0">
                <a:pos x="577" y="850"/>
              </a:cxn>
              <a:cxn ang="0">
                <a:pos x="692" y="910"/>
              </a:cxn>
            </a:cxnLst>
            <a:rect l="0" t="0" r="r" b="b"/>
            <a:pathLst>
              <a:path w="692" h="910">
                <a:moveTo>
                  <a:pt x="14" y="910"/>
                </a:moveTo>
                <a:lnTo>
                  <a:pt x="14" y="859"/>
                </a:lnTo>
                <a:lnTo>
                  <a:pt x="115" y="856"/>
                </a:lnTo>
                <a:lnTo>
                  <a:pt x="130" y="855"/>
                </a:lnTo>
                <a:lnTo>
                  <a:pt x="143" y="853"/>
                </a:lnTo>
                <a:lnTo>
                  <a:pt x="157" y="850"/>
                </a:lnTo>
                <a:lnTo>
                  <a:pt x="167" y="847"/>
                </a:lnTo>
                <a:lnTo>
                  <a:pt x="176" y="843"/>
                </a:lnTo>
                <a:lnTo>
                  <a:pt x="186" y="838"/>
                </a:lnTo>
                <a:lnTo>
                  <a:pt x="193" y="833"/>
                </a:lnTo>
                <a:lnTo>
                  <a:pt x="199" y="827"/>
                </a:lnTo>
                <a:lnTo>
                  <a:pt x="206" y="820"/>
                </a:lnTo>
                <a:lnTo>
                  <a:pt x="210" y="810"/>
                </a:lnTo>
                <a:lnTo>
                  <a:pt x="215" y="800"/>
                </a:lnTo>
                <a:lnTo>
                  <a:pt x="218" y="787"/>
                </a:lnTo>
                <a:lnTo>
                  <a:pt x="221" y="772"/>
                </a:lnTo>
                <a:lnTo>
                  <a:pt x="222" y="757"/>
                </a:lnTo>
                <a:lnTo>
                  <a:pt x="224" y="738"/>
                </a:lnTo>
                <a:lnTo>
                  <a:pt x="224" y="720"/>
                </a:lnTo>
                <a:lnTo>
                  <a:pt x="224" y="294"/>
                </a:lnTo>
                <a:lnTo>
                  <a:pt x="224" y="278"/>
                </a:lnTo>
                <a:lnTo>
                  <a:pt x="222" y="265"/>
                </a:lnTo>
                <a:lnTo>
                  <a:pt x="221" y="252"/>
                </a:lnTo>
                <a:lnTo>
                  <a:pt x="218" y="242"/>
                </a:lnTo>
                <a:lnTo>
                  <a:pt x="216" y="233"/>
                </a:lnTo>
                <a:lnTo>
                  <a:pt x="212" y="223"/>
                </a:lnTo>
                <a:lnTo>
                  <a:pt x="209" y="217"/>
                </a:lnTo>
                <a:lnTo>
                  <a:pt x="203" y="211"/>
                </a:lnTo>
                <a:lnTo>
                  <a:pt x="196" y="206"/>
                </a:lnTo>
                <a:lnTo>
                  <a:pt x="189" y="203"/>
                </a:lnTo>
                <a:lnTo>
                  <a:pt x="178" y="200"/>
                </a:lnTo>
                <a:lnTo>
                  <a:pt x="164" y="197"/>
                </a:lnTo>
                <a:lnTo>
                  <a:pt x="149" y="196"/>
                </a:lnTo>
                <a:lnTo>
                  <a:pt x="130" y="194"/>
                </a:lnTo>
                <a:lnTo>
                  <a:pt x="110" y="193"/>
                </a:lnTo>
                <a:lnTo>
                  <a:pt x="89" y="193"/>
                </a:lnTo>
                <a:lnTo>
                  <a:pt x="80" y="193"/>
                </a:lnTo>
                <a:lnTo>
                  <a:pt x="72" y="193"/>
                </a:lnTo>
                <a:lnTo>
                  <a:pt x="64" y="193"/>
                </a:lnTo>
                <a:lnTo>
                  <a:pt x="57" y="193"/>
                </a:lnTo>
                <a:lnTo>
                  <a:pt x="51" y="193"/>
                </a:lnTo>
                <a:lnTo>
                  <a:pt x="44" y="193"/>
                </a:lnTo>
                <a:lnTo>
                  <a:pt x="38" y="193"/>
                </a:lnTo>
                <a:lnTo>
                  <a:pt x="34" y="193"/>
                </a:lnTo>
                <a:lnTo>
                  <a:pt x="29" y="193"/>
                </a:lnTo>
                <a:lnTo>
                  <a:pt x="26" y="193"/>
                </a:lnTo>
                <a:lnTo>
                  <a:pt x="21" y="194"/>
                </a:lnTo>
                <a:lnTo>
                  <a:pt x="17" y="194"/>
                </a:lnTo>
                <a:lnTo>
                  <a:pt x="12" y="194"/>
                </a:lnTo>
                <a:lnTo>
                  <a:pt x="9" y="194"/>
                </a:lnTo>
                <a:lnTo>
                  <a:pt x="5" y="194"/>
                </a:lnTo>
                <a:lnTo>
                  <a:pt x="0" y="194"/>
                </a:lnTo>
                <a:lnTo>
                  <a:pt x="0" y="150"/>
                </a:lnTo>
                <a:lnTo>
                  <a:pt x="34" y="145"/>
                </a:lnTo>
                <a:lnTo>
                  <a:pt x="66" y="141"/>
                </a:lnTo>
                <a:lnTo>
                  <a:pt x="98" y="136"/>
                </a:lnTo>
                <a:lnTo>
                  <a:pt x="130" y="130"/>
                </a:lnTo>
                <a:lnTo>
                  <a:pt x="163" y="124"/>
                </a:lnTo>
                <a:lnTo>
                  <a:pt x="193" y="116"/>
                </a:lnTo>
                <a:lnTo>
                  <a:pt x="224" y="108"/>
                </a:lnTo>
                <a:lnTo>
                  <a:pt x="255" y="99"/>
                </a:lnTo>
                <a:lnTo>
                  <a:pt x="285" y="88"/>
                </a:lnTo>
                <a:lnTo>
                  <a:pt x="316" y="79"/>
                </a:lnTo>
                <a:lnTo>
                  <a:pt x="345" y="67"/>
                </a:lnTo>
                <a:lnTo>
                  <a:pt x="376" y="55"/>
                </a:lnTo>
                <a:lnTo>
                  <a:pt x="405" y="42"/>
                </a:lnTo>
                <a:lnTo>
                  <a:pt x="434" y="29"/>
                </a:lnTo>
                <a:lnTo>
                  <a:pt x="463" y="15"/>
                </a:lnTo>
                <a:lnTo>
                  <a:pt x="493" y="0"/>
                </a:lnTo>
                <a:lnTo>
                  <a:pt x="493" y="746"/>
                </a:lnTo>
                <a:lnTo>
                  <a:pt x="493" y="761"/>
                </a:lnTo>
                <a:lnTo>
                  <a:pt x="494" y="774"/>
                </a:lnTo>
                <a:lnTo>
                  <a:pt x="496" y="786"/>
                </a:lnTo>
                <a:lnTo>
                  <a:pt x="497" y="797"/>
                </a:lnTo>
                <a:lnTo>
                  <a:pt x="500" y="806"/>
                </a:lnTo>
                <a:lnTo>
                  <a:pt x="503" y="815"/>
                </a:lnTo>
                <a:lnTo>
                  <a:pt x="506" y="821"/>
                </a:lnTo>
                <a:lnTo>
                  <a:pt x="511" y="827"/>
                </a:lnTo>
                <a:lnTo>
                  <a:pt x="516" y="832"/>
                </a:lnTo>
                <a:lnTo>
                  <a:pt x="522" y="835"/>
                </a:lnTo>
                <a:lnTo>
                  <a:pt x="528" y="839"/>
                </a:lnTo>
                <a:lnTo>
                  <a:pt x="535" y="843"/>
                </a:lnTo>
                <a:lnTo>
                  <a:pt x="545" y="846"/>
                </a:lnTo>
                <a:lnTo>
                  <a:pt x="554" y="847"/>
                </a:lnTo>
                <a:lnTo>
                  <a:pt x="565" y="849"/>
                </a:lnTo>
                <a:lnTo>
                  <a:pt x="577" y="850"/>
                </a:lnTo>
                <a:lnTo>
                  <a:pt x="692" y="859"/>
                </a:lnTo>
                <a:lnTo>
                  <a:pt x="692" y="910"/>
                </a:lnTo>
                <a:lnTo>
                  <a:pt x="14" y="910"/>
                </a:lnTo>
              </a:path>
            </a:pathLst>
          </a:custGeom>
          <a:gradFill rotWithShape="0">
            <a:gsLst>
              <a:gs pos="0">
                <a:srgbClr val="6699FF">
                  <a:gamma/>
                  <a:tint val="42745"/>
                  <a:invGamma/>
                </a:srgbClr>
              </a:gs>
              <a:gs pos="100000">
                <a:srgbClr val="6699FF"/>
              </a:gs>
            </a:gsLst>
            <a:lin ang="5400000" scaled="1"/>
          </a:gradFill>
          <a:ln w="0" cap="sq">
            <a:noFill/>
            <a:prstDash val="solid"/>
            <a:miter lim="800000"/>
            <a:headEnd/>
            <a:tailEnd/>
          </a:ln>
          <a:effectLst>
            <a:outerShdw dist="35921" dir="2700000" algn="ctr" rotWithShape="0">
              <a:srgbClr val="919191"/>
            </a:outerShdw>
          </a:effectLst>
        </p:spPr>
        <p:txBody>
          <a:bodyPr/>
          <a:lstStyle/>
          <a:p>
            <a:endParaRPr lang="fr-FR"/>
          </a:p>
        </p:txBody>
      </p:sp>
      <p:sp>
        <p:nvSpPr>
          <p:cNvPr id="112648" name="Rectangle 8"/>
          <p:cNvSpPr>
            <a:spLocks noChangeArrowheads="1"/>
          </p:cNvSpPr>
          <p:nvPr/>
        </p:nvSpPr>
        <p:spPr bwMode="auto">
          <a:xfrm>
            <a:off x="927100" y="2660650"/>
            <a:ext cx="7229475" cy="762000"/>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nchor="ctr"/>
          <a:lstStyle/>
          <a:p>
            <a:r>
              <a:rPr lang="fr-FR"/>
              <a:t>Sélectionnez les éléments hors connexion à synchroniser</a:t>
            </a:r>
          </a:p>
        </p:txBody>
      </p:sp>
      <p:sp>
        <p:nvSpPr>
          <p:cNvPr id="112649" name="Freeform 9"/>
          <p:cNvSpPr>
            <a:spLocks/>
          </p:cNvSpPr>
          <p:nvPr/>
        </p:nvSpPr>
        <p:spPr bwMode="auto">
          <a:xfrm>
            <a:off x="1071563" y="2836863"/>
            <a:ext cx="328612" cy="381000"/>
          </a:xfrm>
          <a:custGeom>
            <a:avLst/>
            <a:gdLst/>
            <a:ahLst/>
            <a:cxnLst>
              <a:cxn ang="0">
                <a:pos x="100" y="783"/>
              </a:cxn>
              <a:cxn ang="0">
                <a:pos x="229" y="667"/>
              </a:cxn>
              <a:cxn ang="0">
                <a:pos x="332" y="550"/>
              </a:cxn>
              <a:cxn ang="0">
                <a:pos x="404" y="437"/>
              </a:cxn>
              <a:cxn ang="0">
                <a:pos x="433" y="366"/>
              </a:cxn>
              <a:cxn ang="0">
                <a:pos x="446" y="315"/>
              </a:cxn>
              <a:cxn ang="0">
                <a:pos x="451" y="268"/>
              </a:cxn>
              <a:cxn ang="0">
                <a:pos x="445" y="218"/>
              </a:cxn>
              <a:cxn ang="0">
                <a:pos x="429" y="177"/>
              </a:cxn>
              <a:cxn ang="0">
                <a:pos x="401" y="143"/>
              </a:cxn>
              <a:cxn ang="0">
                <a:pos x="367" y="122"/>
              </a:cxn>
              <a:cxn ang="0">
                <a:pos x="323" y="111"/>
              </a:cxn>
              <a:cxn ang="0">
                <a:pos x="267" y="114"/>
              </a:cxn>
              <a:cxn ang="0">
                <a:pos x="213" y="132"/>
              </a:cxn>
              <a:cxn ang="0">
                <a:pos x="168" y="163"/>
              </a:cxn>
              <a:cxn ang="0">
                <a:pos x="135" y="210"/>
              </a:cxn>
              <a:cxn ang="0">
                <a:pos x="114" y="266"/>
              </a:cxn>
              <a:cxn ang="0">
                <a:pos x="84" y="315"/>
              </a:cxn>
              <a:cxn ang="0">
                <a:pos x="68" y="75"/>
              </a:cxn>
              <a:cxn ang="0">
                <a:pos x="138" y="46"/>
              </a:cxn>
              <a:cxn ang="0">
                <a:pos x="207" y="25"/>
              </a:cxn>
              <a:cxn ang="0">
                <a:pos x="275" y="10"/>
              </a:cxn>
              <a:cxn ang="0">
                <a:pos x="343" y="1"/>
              </a:cxn>
              <a:cxn ang="0">
                <a:pos x="423" y="1"/>
              </a:cxn>
              <a:cxn ang="0">
                <a:pos x="522" y="17"/>
              </a:cxn>
              <a:cxn ang="0">
                <a:pos x="604" y="52"/>
              </a:cxn>
              <a:cxn ang="0">
                <a:pos x="648" y="85"/>
              </a:cxn>
              <a:cxn ang="0">
                <a:pos x="674" y="113"/>
              </a:cxn>
              <a:cxn ang="0">
                <a:pos x="694" y="145"/>
              </a:cxn>
              <a:cxn ang="0">
                <a:pos x="708" y="179"/>
              </a:cxn>
              <a:cxn ang="0">
                <a:pos x="716" y="217"/>
              </a:cxn>
              <a:cxn ang="0">
                <a:pos x="716" y="268"/>
              </a:cxn>
              <a:cxn ang="0">
                <a:pos x="701" y="337"/>
              </a:cxn>
              <a:cxn ang="0">
                <a:pos x="668" y="407"/>
              </a:cxn>
              <a:cxn ang="0">
                <a:pos x="611" y="477"/>
              </a:cxn>
              <a:cxn ang="0">
                <a:pos x="520" y="567"/>
              </a:cxn>
              <a:cxn ang="0">
                <a:pos x="391" y="676"/>
              </a:cxn>
              <a:cxn ang="0">
                <a:pos x="630" y="674"/>
              </a:cxn>
              <a:cxn ang="0">
                <a:pos x="662" y="670"/>
              </a:cxn>
              <a:cxn ang="0">
                <a:pos x="687" y="660"/>
              </a:cxn>
              <a:cxn ang="0">
                <a:pos x="707" y="645"/>
              </a:cxn>
              <a:cxn ang="0">
                <a:pos x="723" y="625"/>
              </a:cxn>
              <a:cxn ang="0">
                <a:pos x="761" y="615"/>
              </a:cxn>
              <a:cxn ang="0">
                <a:pos x="649" y="877"/>
              </a:cxn>
              <a:cxn ang="0">
                <a:pos x="642" y="870"/>
              </a:cxn>
              <a:cxn ang="0">
                <a:pos x="633" y="865"/>
              </a:cxn>
              <a:cxn ang="0">
                <a:pos x="621" y="862"/>
              </a:cxn>
              <a:cxn ang="0">
                <a:pos x="607" y="861"/>
              </a:cxn>
              <a:cxn ang="0">
                <a:pos x="0" y="859"/>
              </a:cxn>
            </a:cxnLst>
            <a:rect l="0" t="0" r="r" b="b"/>
            <a:pathLst>
              <a:path w="761" h="883">
                <a:moveTo>
                  <a:pt x="0" y="859"/>
                </a:moveTo>
                <a:lnTo>
                  <a:pt x="52" y="822"/>
                </a:lnTo>
                <a:lnTo>
                  <a:pt x="100" y="783"/>
                </a:lnTo>
                <a:lnTo>
                  <a:pt x="146" y="745"/>
                </a:lnTo>
                <a:lnTo>
                  <a:pt x="190" y="706"/>
                </a:lnTo>
                <a:lnTo>
                  <a:pt x="229" y="667"/>
                </a:lnTo>
                <a:lnTo>
                  <a:pt x="267" y="629"/>
                </a:lnTo>
                <a:lnTo>
                  <a:pt x="300" y="589"/>
                </a:lnTo>
                <a:lnTo>
                  <a:pt x="332" y="550"/>
                </a:lnTo>
                <a:lnTo>
                  <a:pt x="359" y="512"/>
                </a:lnTo>
                <a:lnTo>
                  <a:pt x="384" y="473"/>
                </a:lnTo>
                <a:lnTo>
                  <a:pt x="404" y="437"/>
                </a:lnTo>
                <a:lnTo>
                  <a:pt x="420" y="401"/>
                </a:lnTo>
                <a:lnTo>
                  <a:pt x="427" y="383"/>
                </a:lnTo>
                <a:lnTo>
                  <a:pt x="433" y="366"/>
                </a:lnTo>
                <a:lnTo>
                  <a:pt x="439" y="349"/>
                </a:lnTo>
                <a:lnTo>
                  <a:pt x="443" y="333"/>
                </a:lnTo>
                <a:lnTo>
                  <a:pt x="446" y="315"/>
                </a:lnTo>
                <a:lnTo>
                  <a:pt x="449" y="299"/>
                </a:lnTo>
                <a:lnTo>
                  <a:pt x="451" y="284"/>
                </a:lnTo>
                <a:lnTo>
                  <a:pt x="451" y="268"/>
                </a:lnTo>
                <a:lnTo>
                  <a:pt x="451" y="250"/>
                </a:lnTo>
                <a:lnTo>
                  <a:pt x="448" y="234"/>
                </a:lnTo>
                <a:lnTo>
                  <a:pt x="445" y="218"/>
                </a:lnTo>
                <a:lnTo>
                  <a:pt x="440" y="204"/>
                </a:lnTo>
                <a:lnTo>
                  <a:pt x="435" y="190"/>
                </a:lnTo>
                <a:lnTo>
                  <a:pt x="429" y="177"/>
                </a:lnTo>
                <a:lnTo>
                  <a:pt x="420" y="165"/>
                </a:lnTo>
                <a:lnTo>
                  <a:pt x="411" y="153"/>
                </a:lnTo>
                <a:lnTo>
                  <a:pt x="401" y="143"/>
                </a:lnTo>
                <a:lnTo>
                  <a:pt x="390" y="135"/>
                </a:lnTo>
                <a:lnTo>
                  <a:pt x="378" y="127"/>
                </a:lnTo>
                <a:lnTo>
                  <a:pt x="367" y="122"/>
                </a:lnTo>
                <a:lnTo>
                  <a:pt x="352" y="116"/>
                </a:lnTo>
                <a:lnTo>
                  <a:pt x="339" y="113"/>
                </a:lnTo>
                <a:lnTo>
                  <a:pt x="323" y="111"/>
                </a:lnTo>
                <a:lnTo>
                  <a:pt x="307" y="110"/>
                </a:lnTo>
                <a:lnTo>
                  <a:pt x="287" y="111"/>
                </a:lnTo>
                <a:lnTo>
                  <a:pt x="267" y="114"/>
                </a:lnTo>
                <a:lnTo>
                  <a:pt x="248" y="117"/>
                </a:lnTo>
                <a:lnTo>
                  <a:pt x="229" y="123"/>
                </a:lnTo>
                <a:lnTo>
                  <a:pt x="213" y="132"/>
                </a:lnTo>
                <a:lnTo>
                  <a:pt x="197" y="140"/>
                </a:lnTo>
                <a:lnTo>
                  <a:pt x="181" y="150"/>
                </a:lnTo>
                <a:lnTo>
                  <a:pt x="168" y="163"/>
                </a:lnTo>
                <a:lnTo>
                  <a:pt x="155" y="178"/>
                </a:lnTo>
                <a:lnTo>
                  <a:pt x="145" y="192"/>
                </a:lnTo>
                <a:lnTo>
                  <a:pt x="135" y="210"/>
                </a:lnTo>
                <a:lnTo>
                  <a:pt x="126" y="227"/>
                </a:lnTo>
                <a:lnTo>
                  <a:pt x="120" y="246"/>
                </a:lnTo>
                <a:lnTo>
                  <a:pt x="114" y="266"/>
                </a:lnTo>
                <a:lnTo>
                  <a:pt x="112" y="288"/>
                </a:lnTo>
                <a:lnTo>
                  <a:pt x="109" y="311"/>
                </a:lnTo>
                <a:lnTo>
                  <a:pt x="84" y="315"/>
                </a:lnTo>
                <a:lnTo>
                  <a:pt x="22" y="98"/>
                </a:lnTo>
                <a:lnTo>
                  <a:pt x="45" y="87"/>
                </a:lnTo>
                <a:lnTo>
                  <a:pt x="68" y="75"/>
                </a:lnTo>
                <a:lnTo>
                  <a:pt x="91" y="65"/>
                </a:lnTo>
                <a:lnTo>
                  <a:pt x="114" y="55"/>
                </a:lnTo>
                <a:lnTo>
                  <a:pt x="138" y="46"/>
                </a:lnTo>
                <a:lnTo>
                  <a:pt x="161" y="39"/>
                </a:lnTo>
                <a:lnTo>
                  <a:pt x="184" y="32"/>
                </a:lnTo>
                <a:lnTo>
                  <a:pt x="207" y="25"/>
                </a:lnTo>
                <a:lnTo>
                  <a:pt x="230" y="19"/>
                </a:lnTo>
                <a:lnTo>
                  <a:pt x="254" y="14"/>
                </a:lnTo>
                <a:lnTo>
                  <a:pt x="275" y="10"/>
                </a:lnTo>
                <a:lnTo>
                  <a:pt x="298" y="7"/>
                </a:lnTo>
                <a:lnTo>
                  <a:pt x="320" y="4"/>
                </a:lnTo>
                <a:lnTo>
                  <a:pt x="343" y="1"/>
                </a:lnTo>
                <a:lnTo>
                  <a:pt x="365" y="1"/>
                </a:lnTo>
                <a:lnTo>
                  <a:pt x="387" y="0"/>
                </a:lnTo>
                <a:lnTo>
                  <a:pt x="423" y="1"/>
                </a:lnTo>
                <a:lnTo>
                  <a:pt x="458" y="4"/>
                </a:lnTo>
                <a:lnTo>
                  <a:pt x="491" y="10"/>
                </a:lnTo>
                <a:lnTo>
                  <a:pt x="522" y="17"/>
                </a:lnTo>
                <a:lnTo>
                  <a:pt x="550" y="26"/>
                </a:lnTo>
                <a:lnTo>
                  <a:pt x="578" y="38"/>
                </a:lnTo>
                <a:lnTo>
                  <a:pt x="604" y="52"/>
                </a:lnTo>
                <a:lnTo>
                  <a:pt x="627" y="68"/>
                </a:lnTo>
                <a:lnTo>
                  <a:pt x="637" y="77"/>
                </a:lnTo>
                <a:lnTo>
                  <a:pt x="648" y="85"/>
                </a:lnTo>
                <a:lnTo>
                  <a:pt x="658" y="94"/>
                </a:lnTo>
                <a:lnTo>
                  <a:pt x="666" y="104"/>
                </a:lnTo>
                <a:lnTo>
                  <a:pt x="674" y="113"/>
                </a:lnTo>
                <a:lnTo>
                  <a:pt x="682" y="124"/>
                </a:lnTo>
                <a:lnTo>
                  <a:pt x="688" y="135"/>
                </a:lnTo>
                <a:lnTo>
                  <a:pt x="694" y="145"/>
                </a:lnTo>
                <a:lnTo>
                  <a:pt x="700" y="156"/>
                </a:lnTo>
                <a:lnTo>
                  <a:pt x="704" y="168"/>
                </a:lnTo>
                <a:lnTo>
                  <a:pt x="708" y="179"/>
                </a:lnTo>
                <a:lnTo>
                  <a:pt x="711" y="192"/>
                </a:lnTo>
                <a:lnTo>
                  <a:pt x="714" y="205"/>
                </a:lnTo>
                <a:lnTo>
                  <a:pt x="716" y="217"/>
                </a:lnTo>
                <a:lnTo>
                  <a:pt x="717" y="231"/>
                </a:lnTo>
                <a:lnTo>
                  <a:pt x="717" y="245"/>
                </a:lnTo>
                <a:lnTo>
                  <a:pt x="716" y="268"/>
                </a:lnTo>
                <a:lnTo>
                  <a:pt x="713" y="291"/>
                </a:lnTo>
                <a:lnTo>
                  <a:pt x="708" y="314"/>
                </a:lnTo>
                <a:lnTo>
                  <a:pt x="701" y="337"/>
                </a:lnTo>
                <a:lnTo>
                  <a:pt x="691" y="360"/>
                </a:lnTo>
                <a:lnTo>
                  <a:pt x="681" y="383"/>
                </a:lnTo>
                <a:lnTo>
                  <a:pt x="668" y="407"/>
                </a:lnTo>
                <a:lnTo>
                  <a:pt x="652" y="428"/>
                </a:lnTo>
                <a:lnTo>
                  <a:pt x="635" y="451"/>
                </a:lnTo>
                <a:lnTo>
                  <a:pt x="611" y="477"/>
                </a:lnTo>
                <a:lnTo>
                  <a:pt x="585" y="505"/>
                </a:lnTo>
                <a:lnTo>
                  <a:pt x="555" y="535"/>
                </a:lnTo>
                <a:lnTo>
                  <a:pt x="520" y="567"/>
                </a:lnTo>
                <a:lnTo>
                  <a:pt x="481" y="600"/>
                </a:lnTo>
                <a:lnTo>
                  <a:pt x="437" y="637"/>
                </a:lnTo>
                <a:lnTo>
                  <a:pt x="391" y="676"/>
                </a:lnTo>
                <a:lnTo>
                  <a:pt x="604" y="676"/>
                </a:lnTo>
                <a:lnTo>
                  <a:pt x="617" y="676"/>
                </a:lnTo>
                <a:lnTo>
                  <a:pt x="630" y="674"/>
                </a:lnTo>
                <a:lnTo>
                  <a:pt x="640" y="673"/>
                </a:lnTo>
                <a:lnTo>
                  <a:pt x="652" y="671"/>
                </a:lnTo>
                <a:lnTo>
                  <a:pt x="662" y="670"/>
                </a:lnTo>
                <a:lnTo>
                  <a:pt x="671" y="667"/>
                </a:lnTo>
                <a:lnTo>
                  <a:pt x="679" y="663"/>
                </a:lnTo>
                <a:lnTo>
                  <a:pt x="687" y="660"/>
                </a:lnTo>
                <a:lnTo>
                  <a:pt x="694" y="655"/>
                </a:lnTo>
                <a:lnTo>
                  <a:pt x="701" y="651"/>
                </a:lnTo>
                <a:lnTo>
                  <a:pt x="707" y="645"/>
                </a:lnTo>
                <a:lnTo>
                  <a:pt x="713" y="639"/>
                </a:lnTo>
                <a:lnTo>
                  <a:pt x="719" y="632"/>
                </a:lnTo>
                <a:lnTo>
                  <a:pt x="723" y="625"/>
                </a:lnTo>
                <a:lnTo>
                  <a:pt x="727" y="616"/>
                </a:lnTo>
                <a:lnTo>
                  <a:pt x="730" y="609"/>
                </a:lnTo>
                <a:lnTo>
                  <a:pt x="761" y="615"/>
                </a:lnTo>
                <a:lnTo>
                  <a:pt x="655" y="883"/>
                </a:lnTo>
                <a:lnTo>
                  <a:pt x="652" y="880"/>
                </a:lnTo>
                <a:lnTo>
                  <a:pt x="649" y="877"/>
                </a:lnTo>
                <a:lnTo>
                  <a:pt x="648" y="874"/>
                </a:lnTo>
                <a:lnTo>
                  <a:pt x="645" y="872"/>
                </a:lnTo>
                <a:lnTo>
                  <a:pt x="642" y="870"/>
                </a:lnTo>
                <a:lnTo>
                  <a:pt x="639" y="868"/>
                </a:lnTo>
                <a:lnTo>
                  <a:pt x="636" y="867"/>
                </a:lnTo>
                <a:lnTo>
                  <a:pt x="633" y="865"/>
                </a:lnTo>
                <a:lnTo>
                  <a:pt x="629" y="864"/>
                </a:lnTo>
                <a:lnTo>
                  <a:pt x="626" y="862"/>
                </a:lnTo>
                <a:lnTo>
                  <a:pt x="621" y="862"/>
                </a:lnTo>
                <a:lnTo>
                  <a:pt x="617" y="861"/>
                </a:lnTo>
                <a:lnTo>
                  <a:pt x="613" y="861"/>
                </a:lnTo>
                <a:lnTo>
                  <a:pt x="607" y="861"/>
                </a:lnTo>
                <a:lnTo>
                  <a:pt x="603" y="859"/>
                </a:lnTo>
                <a:lnTo>
                  <a:pt x="597" y="859"/>
                </a:lnTo>
                <a:lnTo>
                  <a:pt x="0" y="859"/>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
        <p:nvSpPr>
          <p:cNvPr id="112650" name="Rectangle 10"/>
          <p:cNvSpPr>
            <a:spLocks noChangeArrowheads="1"/>
          </p:cNvSpPr>
          <p:nvPr/>
        </p:nvSpPr>
        <p:spPr bwMode="auto">
          <a:xfrm>
            <a:off x="927100" y="3552825"/>
            <a:ext cx="7229475" cy="1012825"/>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lstStyle/>
          <a:p>
            <a:r>
              <a:rPr lang="fr-FR" dirty="0"/>
              <a:t>Choisissez une connexion réseau</a:t>
            </a:r>
          </a:p>
          <a:p>
            <a:pPr>
              <a:buClr>
                <a:schemeClr val="accent2"/>
              </a:buClr>
              <a:buSzPct val="65000"/>
              <a:buFont typeface="Wingdings" pitchFamily="2" charset="2"/>
              <a:buChar char="l"/>
            </a:pPr>
            <a:r>
              <a:rPr lang="fr-FR" dirty="0"/>
              <a:t>  </a:t>
            </a:r>
            <a:r>
              <a:rPr lang="fr-FR" sz="2000" b="0" dirty="0"/>
              <a:t>Locale</a:t>
            </a:r>
          </a:p>
          <a:p>
            <a:pPr>
              <a:buClr>
                <a:schemeClr val="accent2"/>
              </a:buClr>
              <a:buSzPct val="65000"/>
              <a:buFont typeface="Wingdings" pitchFamily="2" charset="2"/>
              <a:buChar char="l"/>
            </a:pPr>
            <a:r>
              <a:rPr lang="fr-FR" sz="2000" b="0" dirty="0"/>
              <a:t>  Accès à distance</a:t>
            </a:r>
          </a:p>
        </p:txBody>
      </p:sp>
      <p:sp>
        <p:nvSpPr>
          <p:cNvPr id="112651" name="Freeform 11"/>
          <p:cNvSpPr>
            <a:spLocks/>
          </p:cNvSpPr>
          <p:nvPr/>
        </p:nvSpPr>
        <p:spPr bwMode="auto">
          <a:xfrm>
            <a:off x="1082675" y="3668713"/>
            <a:ext cx="304800" cy="377825"/>
          </a:xfrm>
          <a:custGeom>
            <a:avLst/>
            <a:gdLst/>
            <a:ahLst/>
            <a:cxnLst>
              <a:cxn ang="0">
                <a:pos x="169" y="771"/>
              </a:cxn>
              <a:cxn ang="0">
                <a:pos x="165" y="785"/>
              </a:cxn>
              <a:cxn ang="0">
                <a:pos x="163" y="800"/>
              </a:cxn>
              <a:cxn ang="0">
                <a:pos x="161" y="812"/>
              </a:cxn>
              <a:cxn ang="0">
                <a:pos x="161" y="823"/>
              </a:cxn>
              <a:cxn ang="0">
                <a:pos x="159" y="835"/>
              </a:cxn>
              <a:cxn ang="0">
                <a:pos x="165" y="881"/>
              </a:cxn>
              <a:cxn ang="0">
                <a:pos x="184" y="935"/>
              </a:cxn>
              <a:cxn ang="0">
                <a:pos x="222" y="981"/>
              </a:cxn>
              <a:cxn ang="0">
                <a:pos x="276" y="1013"/>
              </a:cxn>
              <a:cxn ang="0">
                <a:pos x="341" y="1031"/>
              </a:cxn>
              <a:cxn ang="0">
                <a:pos x="420" y="1032"/>
              </a:cxn>
              <a:cxn ang="0">
                <a:pos x="495" y="1017"/>
              </a:cxn>
              <a:cxn ang="0">
                <a:pos x="560" y="985"/>
              </a:cxn>
              <a:cxn ang="0">
                <a:pos x="612" y="937"/>
              </a:cxn>
              <a:cxn ang="0">
                <a:pos x="645" y="879"/>
              </a:cxn>
              <a:cxn ang="0">
                <a:pos x="654" y="814"/>
              </a:cxn>
              <a:cxn ang="0">
                <a:pos x="643" y="743"/>
              </a:cxn>
              <a:cxn ang="0">
                <a:pos x="604" y="681"/>
              </a:cxn>
              <a:cxn ang="0">
                <a:pos x="541" y="631"/>
              </a:cxn>
              <a:cxn ang="0">
                <a:pos x="462" y="599"/>
              </a:cxn>
              <a:cxn ang="0">
                <a:pos x="366" y="583"/>
              </a:cxn>
              <a:cxn ang="0">
                <a:pos x="316" y="581"/>
              </a:cxn>
              <a:cxn ang="0">
                <a:pos x="293" y="583"/>
              </a:cxn>
              <a:cxn ang="0">
                <a:pos x="269" y="585"/>
              </a:cxn>
              <a:cxn ang="0">
                <a:pos x="244" y="589"/>
              </a:cxn>
              <a:cxn ang="0">
                <a:pos x="217" y="593"/>
              </a:cxn>
              <a:cxn ang="0">
                <a:pos x="608" y="249"/>
              </a:cxn>
              <a:cxn ang="0">
                <a:pos x="219" y="249"/>
              </a:cxn>
              <a:cxn ang="0">
                <a:pos x="196" y="255"/>
              </a:cxn>
              <a:cxn ang="0">
                <a:pos x="176" y="265"/>
              </a:cxn>
              <a:cxn ang="0">
                <a:pos x="157" y="282"/>
              </a:cxn>
              <a:cxn ang="0">
                <a:pos x="138" y="307"/>
              </a:cxn>
              <a:cxn ang="0">
                <a:pos x="88" y="319"/>
              </a:cxn>
              <a:cxn ang="0">
                <a:pos x="207" y="6"/>
              </a:cxn>
              <a:cxn ang="0">
                <a:pos x="217" y="13"/>
              </a:cxn>
              <a:cxn ang="0">
                <a:pos x="226" y="17"/>
              </a:cxn>
              <a:cxn ang="0">
                <a:pos x="238" y="21"/>
              </a:cxn>
              <a:cxn ang="0">
                <a:pos x="253" y="23"/>
              </a:cxn>
              <a:cxn ang="0">
                <a:pos x="850" y="23"/>
              </a:cxn>
              <a:cxn ang="0">
                <a:pos x="648" y="393"/>
              </a:cxn>
              <a:cxn ang="0">
                <a:pos x="756" y="424"/>
              </a:cxn>
              <a:cxn ang="0">
                <a:pos x="842" y="478"/>
              </a:cxn>
              <a:cxn ang="0">
                <a:pos x="909" y="551"/>
              </a:cxn>
              <a:cxn ang="0">
                <a:pos x="952" y="639"/>
              </a:cxn>
              <a:cxn ang="0">
                <a:pos x="965" y="741"/>
              </a:cxn>
              <a:cxn ang="0">
                <a:pos x="959" y="808"/>
              </a:cxn>
              <a:cxn ang="0">
                <a:pos x="944" y="869"/>
              </a:cxn>
              <a:cxn ang="0">
                <a:pos x="917" y="927"/>
              </a:cxn>
              <a:cxn ang="0">
                <a:pos x="882" y="979"/>
              </a:cxn>
              <a:cxn ang="0">
                <a:pos x="836" y="1029"/>
              </a:cxn>
              <a:cxn ang="0">
                <a:pos x="781" y="1071"/>
              </a:cxn>
              <a:cxn ang="0">
                <a:pos x="717" y="1105"/>
              </a:cxn>
              <a:cxn ang="0">
                <a:pos x="650" y="1132"/>
              </a:cxn>
              <a:cxn ang="0">
                <a:pos x="576" y="1150"/>
              </a:cxn>
              <a:cxn ang="0">
                <a:pos x="497" y="1161"/>
              </a:cxn>
              <a:cxn ang="0">
                <a:pos x="409" y="1161"/>
              </a:cxn>
              <a:cxn ang="0">
                <a:pos x="318" y="1153"/>
              </a:cxn>
              <a:cxn ang="0">
                <a:pos x="234" y="1138"/>
              </a:cxn>
              <a:cxn ang="0">
                <a:pos x="153" y="1113"/>
              </a:cxn>
              <a:cxn ang="0">
                <a:pos x="75" y="1079"/>
              </a:cxn>
              <a:cxn ang="0">
                <a:pos x="0" y="1034"/>
              </a:cxn>
            </a:cxnLst>
            <a:rect l="0" t="0" r="r" b="b"/>
            <a:pathLst>
              <a:path w="965" h="1163">
                <a:moveTo>
                  <a:pt x="0" y="1034"/>
                </a:moveTo>
                <a:lnTo>
                  <a:pt x="132" y="754"/>
                </a:lnTo>
                <a:lnTo>
                  <a:pt x="169" y="771"/>
                </a:lnTo>
                <a:lnTo>
                  <a:pt x="167" y="775"/>
                </a:lnTo>
                <a:lnTo>
                  <a:pt x="167" y="781"/>
                </a:lnTo>
                <a:lnTo>
                  <a:pt x="165" y="785"/>
                </a:lnTo>
                <a:lnTo>
                  <a:pt x="165" y="791"/>
                </a:lnTo>
                <a:lnTo>
                  <a:pt x="163" y="794"/>
                </a:lnTo>
                <a:lnTo>
                  <a:pt x="163" y="800"/>
                </a:lnTo>
                <a:lnTo>
                  <a:pt x="163" y="804"/>
                </a:lnTo>
                <a:lnTo>
                  <a:pt x="163" y="808"/>
                </a:lnTo>
                <a:lnTo>
                  <a:pt x="161" y="812"/>
                </a:lnTo>
                <a:lnTo>
                  <a:pt x="161" y="816"/>
                </a:lnTo>
                <a:lnTo>
                  <a:pt x="161" y="819"/>
                </a:lnTo>
                <a:lnTo>
                  <a:pt x="161" y="823"/>
                </a:lnTo>
                <a:lnTo>
                  <a:pt x="161" y="827"/>
                </a:lnTo>
                <a:lnTo>
                  <a:pt x="161" y="831"/>
                </a:lnTo>
                <a:lnTo>
                  <a:pt x="159" y="835"/>
                </a:lnTo>
                <a:lnTo>
                  <a:pt x="159" y="839"/>
                </a:lnTo>
                <a:lnTo>
                  <a:pt x="161" y="860"/>
                </a:lnTo>
                <a:lnTo>
                  <a:pt x="165" y="881"/>
                </a:lnTo>
                <a:lnTo>
                  <a:pt x="169" y="900"/>
                </a:lnTo>
                <a:lnTo>
                  <a:pt x="176" y="917"/>
                </a:lnTo>
                <a:lnTo>
                  <a:pt x="184" y="935"/>
                </a:lnTo>
                <a:lnTo>
                  <a:pt x="196" y="952"/>
                </a:lnTo>
                <a:lnTo>
                  <a:pt x="209" y="967"/>
                </a:lnTo>
                <a:lnTo>
                  <a:pt x="222" y="981"/>
                </a:lnTo>
                <a:lnTo>
                  <a:pt x="240" y="992"/>
                </a:lnTo>
                <a:lnTo>
                  <a:pt x="257" y="1004"/>
                </a:lnTo>
                <a:lnTo>
                  <a:pt x="276" y="1013"/>
                </a:lnTo>
                <a:lnTo>
                  <a:pt x="297" y="1019"/>
                </a:lnTo>
                <a:lnTo>
                  <a:pt x="318" y="1025"/>
                </a:lnTo>
                <a:lnTo>
                  <a:pt x="341" y="1031"/>
                </a:lnTo>
                <a:lnTo>
                  <a:pt x="366" y="1032"/>
                </a:lnTo>
                <a:lnTo>
                  <a:pt x="393" y="1032"/>
                </a:lnTo>
                <a:lnTo>
                  <a:pt x="420" y="1032"/>
                </a:lnTo>
                <a:lnTo>
                  <a:pt x="447" y="1029"/>
                </a:lnTo>
                <a:lnTo>
                  <a:pt x="472" y="1025"/>
                </a:lnTo>
                <a:lnTo>
                  <a:pt x="495" y="1017"/>
                </a:lnTo>
                <a:lnTo>
                  <a:pt x="518" y="1008"/>
                </a:lnTo>
                <a:lnTo>
                  <a:pt x="539" y="998"/>
                </a:lnTo>
                <a:lnTo>
                  <a:pt x="560" y="985"/>
                </a:lnTo>
                <a:lnTo>
                  <a:pt x="579" y="969"/>
                </a:lnTo>
                <a:lnTo>
                  <a:pt x="597" y="954"/>
                </a:lnTo>
                <a:lnTo>
                  <a:pt x="612" y="937"/>
                </a:lnTo>
                <a:lnTo>
                  <a:pt x="625" y="917"/>
                </a:lnTo>
                <a:lnTo>
                  <a:pt x="637" y="900"/>
                </a:lnTo>
                <a:lnTo>
                  <a:pt x="645" y="879"/>
                </a:lnTo>
                <a:lnTo>
                  <a:pt x="650" y="858"/>
                </a:lnTo>
                <a:lnTo>
                  <a:pt x="654" y="837"/>
                </a:lnTo>
                <a:lnTo>
                  <a:pt x="654" y="814"/>
                </a:lnTo>
                <a:lnTo>
                  <a:pt x="654" y="789"/>
                </a:lnTo>
                <a:lnTo>
                  <a:pt x="648" y="766"/>
                </a:lnTo>
                <a:lnTo>
                  <a:pt x="643" y="743"/>
                </a:lnTo>
                <a:lnTo>
                  <a:pt x="633" y="722"/>
                </a:lnTo>
                <a:lnTo>
                  <a:pt x="620" y="700"/>
                </a:lnTo>
                <a:lnTo>
                  <a:pt x="604" y="681"/>
                </a:lnTo>
                <a:lnTo>
                  <a:pt x="585" y="664"/>
                </a:lnTo>
                <a:lnTo>
                  <a:pt x="564" y="647"/>
                </a:lnTo>
                <a:lnTo>
                  <a:pt x="541" y="631"/>
                </a:lnTo>
                <a:lnTo>
                  <a:pt x="516" y="618"/>
                </a:lnTo>
                <a:lnTo>
                  <a:pt x="491" y="606"/>
                </a:lnTo>
                <a:lnTo>
                  <a:pt x="462" y="599"/>
                </a:lnTo>
                <a:lnTo>
                  <a:pt x="432" y="591"/>
                </a:lnTo>
                <a:lnTo>
                  <a:pt x="401" y="585"/>
                </a:lnTo>
                <a:lnTo>
                  <a:pt x="366" y="583"/>
                </a:lnTo>
                <a:lnTo>
                  <a:pt x="332" y="581"/>
                </a:lnTo>
                <a:lnTo>
                  <a:pt x="324" y="581"/>
                </a:lnTo>
                <a:lnTo>
                  <a:pt x="316" y="581"/>
                </a:lnTo>
                <a:lnTo>
                  <a:pt x="309" y="581"/>
                </a:lnTo>
                <a:lnTo>
                  <a:pt x="301" y="583"/>
                </a:lnTo>
                <a:lnTo>
                  <a:pt x="293" y="583"/>
                </a:lnTo>
                <a:lnTo>
                  <a:pt x="286" y="583"/>
                </a:lnTo>
                <a:lnTo>
                  <a:pt x="276" y="585"/>
                </a:lnTo>
                <a:lnTo>
                  <a:pt x="269" y="585"/>
                </a:lnTo>
                <a:lnTo>
                  <a:pt x="261" y="587"/>
                </a:lnTo>
                <a:lnTo>
                  <a:pt x="251" y="587"/>
                </a:lnTo>
                <a:lnTo>
                  <a:pt x="244" y="589"/>
                </a:lnTo>
                <a:lnTo>
                  <a:pt x="234" y="589"/>
                </a:lnTo>
                <a:lnTo>
                  <a:pt x="226" y="591"/>
                </a:lnTo>
                <a:lnTo>
                  <a:pt x="217" y="593"/>
                </a:lnTo>
                <a:lnTo>
                  <a:pt x="207" y="595"/>
                </a:lnTo>
                <a:lnTo>
                  <a:pt x="199" y="597"/>
                </a:lnTo>
                <a:lnTo>
                  <a:pt x="608" y="249"/>
                </a:lnTo>
                <a:lnTo>
                  <a:pt x="236" y="249"/>
                </a:lnTo>
                <a:lnTo>
                  <a:pt x="228" y="249"/>
                </a:lnTo>
                <a:lnTo>
                  <a:pt x="219" y="249"/>
                </a:lnTo>
                <a:lnTo>
                  <a:pt x="211" y="251"/>
                </a:lnTo>
                <a:lnTo>
                  <a:pt x="203" y="253"/>
                </a:lnTo>
                <a:lnTo>
                  <a:pt x="196" y="255"/>
                </a:lnTo>
                <a:lnTo>
                  <a:pt x="190" y="257"/>
                </a:lnTo>
                <a:lnTo>
                  <a:pt x="182" y="261"/>
                </a:lnTo>
                <a:lnTo>
                  <a:pt x="176" y="265"/>
                </a:lnTo>
                <a:lnTo>
                  <a:pt x="171" y="271"/>
                </a:lnTo>
                <a:lnTo>
                  <a:pt x="163" y="276"/>
                </a:lnTo>
                <a:lnTo>
                  <a:pt x="157" y="282"/>
                </a:lnTo>
                <a:lnTo>
                  <a:pt x="151" y="290"/>
                </a:lnTo>
                <a:lnTo>
                  <a:pt x="146" y="297"/>
                </a:lnTo>
                <a:lnTo>
                  <a:pt x="138" y="307"/>
                </a:lnTo>
                <a:lnTo>
                  <a:pt x="132" y="317"/>
                </a:lnTo>
                <a:lnTo>
                  <a:pt x="125" y="328"/>
                </a:lnTo>
                <a:lnTo>
                  <a:pt x="88" y="319"/>
                </a:lnTo>
                <a:lnTo>
                  <a:pt x="199" y="0"/>
                </a:lnTo>
                <a:lnTo>
                  <a:pt x="203" y="2"/>
                </a:lnTo>
                <a:lnTo>
                  <a:pt x="207" y="6"/>
                </a:lnTo>
                <a:lnTo>
                  <a:pt x="209" y="8"/>
                </a:lnTo>
                <a:lnTo>
                  <a:pt x="213" y="11"/>
                </a:lnTo>
                <a:lnTo>
                  <a:pt x="217" y="13"/>
                </a:lnTo>
                <a:lnTo>
                  <a:pt x="221" y="15"/>
                </a:lnTo>
                <a:lnTo>
                  <a:pt x="224" y="17"/>
                </a:lnTo>
                <a:lnTo>
                  <a:pt x="226" y="17"/>
                </a:lnTo>
                <a:lnTo>
                  <a:pt x="230" y="19"/>
                </a:lnTo>
                <a:lnTo>
                  <a:pt x="234" y="21"/>
                </a:lnTo>
                <a:lnTo>
                  <a:pt x="238" y="21"/>
                </a:lnTo>
                <a:lnTo>
                  <a:pt x="244" y="21"/>
                </a:lnTo>
                <a:lnTo>
                  <a:pt x="247" y="23"/>
                </a:lnTo>
                <a:lnTo>
                  <a:pt x="253" y="23"/>
                </a:lnTo>
                <a:lnTo>
                  <a:pt x="259" y="23"/>
                </a:lnTo>
                <a:lnTo>
                  <a:pt x="263" y="23"/>
                </a:lnTo>
                <a:lnTo>
                  <a:pt x="850" y="23"/>
                </a:lnTo>
                <a:lnTo>
                  <a:pt x="906" y="155"/>
                </a:lnTo>
                <a:lnTo>
                  <a:pt x="608" y="390"/>
                </a:lnTo>
                <a:lnTo>
                  <a:pt x="648" y="393"/>
                </a:lnTo>
                <a:lnTo>
                  <a:pt x="687" y="403"/>
                </a:lnTo>
                <a:lnTo>
                  <a:pt x="721" y="413"/>
                </a:lnTo>
                <a:lnTo>
                  <a:pt x="756" y="424"/>
                </a:lnTo>
                <a:lnTo>
                  <a:pt x="787" y="439"/>
                </a:lnTo>
                <a:lnTo>
                  <a:pt x="815" y="459"/>
                </a:lnTo>
                <a:lnTo>
                  <a:pt x="842" y="478"/>
                </a:lnTo>
                <a:lnTo>
                  <a:pt x="869" y="501"/>
                </a:lnTo>
                <a:lnTo>
                  <a:pt x="890" y="526"/>
                </a:lnTo>
                <a:lnTo>
                  <a:pt x="909" y="551"/>
                </a:lnTo>
                <a:lnTo>
                  <a:pt x="927" y="580"/>
                </a:lnTo>
                <a:lnTo>
                  <a:pt x="940" y="608"/>
                </a:lnTo>
                <a:lnTo>
                  <a:pt x="952" y="639"/>
                </a:lnTo>
                <a:lnTo>
                  <a:pt x="957" y="672"/>
                </a:lnTo>
                <a:lnTo>
                  <a:pt x="963" y="704"/>
                </a:lnTo>
                <a:lnTo>
                  <a:pt x="965" y="741"/>
                </a:lnTo>
                <a:lnTo>
                  <a:pt x="963" y="764"/>
                </a:lnTo>
                <a:lnTo>
                  <a:pt x="961" y="785"/>
                </a:lnTo>
                <a:lnTo>
                  <a:pt x="959" y="808"/>
                </a:lnTo>
                <a:lnTo>
                  <a:pt x="955" y="829"/>
                </a:lnTo>
                <a:lnTo>
                  <a:pt x="950" y="848"/>
                </a:lnTo>
                <a:lnTo>
                  <a:pt x="944" y="869"/>
                </a:lnTo>
                <a:lnTo>
                  <a:pt x="936" y="889"/>
                </a:lnTo>
                <a:lnTo>
                  <a:pt x="929" y="908"/>
                </a:lnTo>
                <a:lnTo>
                  <a:pt x="917" y="927"/>
                </a:lnTo>
                <a:lnTo>
                  <a:pt x="907" y="944"/>
                </a:lnTo>
                <a:lnTo>
                  <a:pt x="896" y="961"/>
                </a:lnTo>
                <a:lnTo>
                  <a:pt x="882" y="979"/>
                </a:lnTo>
                <a:lnTo>
                  <a:pt x="867" y="996"/>
                </a:lnTo>
                <a:lnTo>
                  <a:pt x="852" y="1011"/>
                </a:lnTo>
                <a:lnTo>
                  <a:pt x="836" y="1029"/>
                </a:lnTo>
                <a:lnTo>
                  <a:pt x="817" y="1042"/>
                </a:lnTo>
                <a:lnTo>
                  <a:pt x="800" y="1057"/>
                </a:lnTo>
                <a:lnTo>
                  <a:pt x="781" y="1071"/>
                </a:lnTo>
                <a:lnTo>
                  <a:pt x="760" y="1084"/>
                </a:lnTo>
                <a:lnTo>
                  <a:pt x="741" y="1096"/>
                </a:lnTo>
                <a:lnTo>
                  <a:pt x="717" y="1105"/>
                </a:lnTo>
                <a:lnTo>
                  <a:pt x="696" y="1115"/>
                </a:lnTo>
                <a:lnTo>
                  <a:pt x="673" y="1125"/>
                </a:lnTo>
                <a:lnTo>
                  <a:pt x="650" y="1132"/>
                </a:lnTo>
                <a:lnTo>
                  <a:pt x="625" y="1140"/>
                </a:lnTo>
                <a:lnTo>
                  <a:pt x="602" y="1146"/>
                </a:lnTo>
                <a:lnTo>
                  <a:pt x="576" y="1150"/>
                </a:lnTo>
                <a:lnTo>
                  <a:pt x="551" y="1155"/>
                </a:lnTo>
                <a:lnTo>
                  <a:pt x="524" y="1157"/>
                </a:lnTo>
                <a:lnTo>
                  <a:pt x="497" y="1161"/>
                </a:lnTo>
                <a:lnTo>
                  <a:pt x="468" y="1161"/>
                </a:lnTo>
                <a:lnTo>
                  <a:pt x="439" y="1163"/>
                </a:lnTo>
                <a:lnTo>
                  <a:pt x="409" y="1161"/>
                </a:lnTo>
                <a:lnTo>
                  <a:pt x="378" y="1161"/>
                </a:lnTo>
                <a:lnTo>
                  <a:pt x="349" y="1157"/>
                </a:lnTo>
                <a:lnTo>
                  <a:pt x="318" y="1153"/>
                </a:lnTo>
                <a:lnTo>
                  <a:pt x="290" y="1150"/>
                </a:lnTo>
                <a:lnTo>
                  <a:pt x="263" y="1144"/>
                </a:lnTo>
                <a:lnTo>
                  <a:pt x="234" y="1138"/>
                </a:lnTo>
                <a:lnTo>
                  <a:pt x="207" y="1130"/>
                </a:lnTo>
                <a:lnTo>
                  <a:pt x="180" y="1123"/>
                </a:lnTo>
                <a:lnTo>
                  <a:pt x="153" y="1113"/>
                </a:lnTo>
                <a:lnTo>
                  <a:pt x="127" y="1102"/>
                </a:lnTo>
                <a:lnTo>
                  <a:pt x="102" y="1090"/>
                </a:lnTo>
                <a:lnTo>
                  <a:pt x="75" y="1079"/>
                </a:lnTo>
                <a:lnTo>
                  <a:pt x="50" y="1065"/>
                </a:lnTo>
                <a:lnTo>
                  <a:pt x="25" y="1050"/>
                </a:lnTo>
                <a:lnTo>
                  <a:pt x="0" y="1034"/>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
        <p:nvSpPr>
          <p:cNvPr id="112652" name="Rectangle 12"/>
          <p:cNvSpPr>
            <a:spLocks noChangeArrowheads="1"/>
          </p:cNvSpPr>
          <p:nvPr/>
        </p:nvSpPr>
        <p:spPr bwMode="auto">
          <a:xfrm>
            <a:off x="927100" y="4681538"/>
            <a:ext cx="7229475" cy="1617662"/>
          </a:xfrm>
          <a:prstGeom prst="rect">
            <a:avLst/>
          </a:prstGeom>
          <a:gradFill rotWithShape="0">
            <a:gsLst>
              <a:gs pos="0">
                <a:srgbClr val="FFFFFF"/>
              </a:gs>
              <a:gs pos="100000">
                <a:srgbClr val="FFFFCC"/>
              </a:gs>
            </a:gsLst>
            <a:lin ang="0" scaled="1"/>
          </a:gradFill>
          <a:ln w="9525">
            <a:noFill/>
            <a:miter lim="800000"/>
            <a:headEnd/>
            <a:tailEnd/>
          </a:ln>
          <a:effectLst/>
        </p:spPr>
        <p:txBody>
          <a:bodyPr lIns="640080"/>
          <a:lstStyle/>
          <a:p>
            <a:r>
              <a:rPr lang="fr-FR" dirty="0"/>
              <a:t>Choisissez le moment de la synchronisation</a:t>
            </a:r>
          </a:p>
          <a:p>
            <a:pPr>
              <a:buClr>
                <a:schemeClr val="accent2"/>
              </a:buClr>
              <a:buSzPct val="65000"/>
              <a:buFont typeface="Wingdings" pitchFamily="2" charset="2"/>
              <a:buChar char="l"/>
            </a:pPr>
            <a:r>
              <a:rPr lang="fr-FR" dirty="0"/>
              <a:t>  </a:t>
            </a:r>
            <a:r>
              <a:rPr lang="fr-FR" sz="2000" b="0" dirty="0"/>
              <a:t>Quand une connexion particulière existe</a:t>
            </a:r>
          </a:p>
          <a:p>
            <a:pPr>
              <a:buClr>
                <a:schemeClr val="accent2"/>
              </a:buClr>
              <a:buSzPct val="65000"/>
              <a:buFont typeface="Wingdings" pitchFamily="2" charset="2"/>
              <a:buChar char="l"/>
            </a:pPr>
            <a:r>
              <a:rPr lang="fr-FR" sz="2000" b="0" dirty="0"/>
              <a:t>  À l'ouverture ou à la fermeture de session</a:t>
            </a:r>
          </a:p>
          <a:p>
            <a:pPr>
              <a:buClr>
                <a:schemeClr val="accent2"/>
              </a:buClr>
              <a:buSzPct val="65000"/>
              <a:buFont typeface="Wingdings" pitchFamily="2" charset="2"/>
              <a:buChar char="l"/>
            </a:pPr>
            <a:r>
              <a:rPr lang="fr-FR" sz="2000" b="0" dirty="0"/>
              <a:t>  Demander à l'utilisateur</a:t>
            </a:r>
          </a:p>
          <a:p>
            <a:pPr>
              <a:buClr>
                <a:schemeClr val="accent2"/>
              </a:buClr>
              <a:buSzPct val="65000"/>
              <a:buFont typeface="Wingdings" pitchFamily="2" charset="2"/>
              <a:buChar char="l"/>
            </a:pPr>
            <a:r>
              <a:rPr lang="fr-FR" sz="2000" b="0" dirty="0"/>
              <a:t>  En fonction d'une planification</a:t>
            </a:r>
          </a:p>
        </p:txBody>
      </p:sp>
      <p:sp>
        <p:nvSpPr>
          <p:cNvPr id="112653" name="Freeform 13"/>
          <p:cNvSpPr>
            <a:spLocks/>
          </p:cNvSpPr>
          <p:nvPr/>
        </p:nvSpPr>
        <p:spPr bwMode="auto">
          <a:xfrm>
            <a:off x="1044575" y="4778375"/>
            <a:ext cx="381000" cy="415925"/>
          </a:xfrm>
          <a:custGeom>
            <a:avLst/>
            <a:gdLst/>
            <a:ahLst/>
            <a:cxnLst>
              <a:cxn ang="0">
                <a:pos x="436" y="1205"/>
              </a:cxn>
              <a:cxn ang="0">
                <a:pos x="470" y="1189"/>
              </a:cxn>
              <a:cxn ang="0">
                <a:pos x="495" y="1166"/>
              </a:cxn>
              <a:cxn ang="0">
                <a:pos x="507" y="1135"/>
              </a:cxn>
              <a:cxn ang="0">
                <a:pos x="60" y="986"/>
              </a:cxn>
              <a:cxn ang="0">
                <a:pos x="44" y="988"/>
              </a:cxn>
              <a:cxn ang="0">
                <a:pos x="29" y="991"/>
              </a:cxn>
              <a:cxn ang="0">
                <a:pos x="15" y="995"/>
              </a:cxn>
              <a:cxn ang="0">
                <a:pos x="2" y="1003"/>
              </a:cxn>
              <a:cxn ang="0">
                <a:pos x="2" y="995"/>
              </a:cxn>
              <a:cxn ang="0">
                <a:pos x="0" y="988"/>
              </a:cxn>
              <a:cxn ang="0">
                <a:pos x="0" y="978"/>
              </a:cxn>
              <a:cxn ang="0">
                <a:pos x="13" y="909"/>
              </a:cxn>
              <a:cxn ang="0">
                <a:pos x="63" y="797"/>
              </a:cxn>
              <a:cxn ang="0">
                <a:pos x="142" y="674"/>
              </a:cxn>
              <a:cxn ang="0">
                <a:pos x="219" y="540"/>
              </a:cxn>
              <a:cxn ang="0">
                <a:pos x="261" y="446"/>
              </a:cxn>
              <a:cxn ang="0">
                <a:pos x="280" y="367"/>
              </a:cxn>
              <a:cxn ang="0">
                <a:pos x="282" y="317"/>
              </a:cxn>
              <a:cxn ang="0">
                <a:pos x="278" y="294"/>
              </a:cxn>
              <a:cxn ang="0">
                <a:pos x="267" y="279"/>
              </a:cxn>
              <a:cxn ang="0">
                <a:pos x="248" y="263"/>
              </a:cxn>
              <a:cxn ang="0">
                <a:pos x="280" y="221"/>
              </a:cxn>
              <a:cxn ang="0">
                <a:pos x="359" y="154"/>
              </a:cxn>
              <a:cxn ang="0">
                <a:pos x="422" y="90"/>
              </a:cxn>
              <a:cxn ang="0">
                <a:pos x="476" y="31"/>
              </a:cxn>
              <a:cxn ang="0">
                <a:pos x="511" y="17"/>
              </a:cxn>
              <a:cxn ang="0">
                <a:pos x="526" y="56"/>
              </a:cxn>
              <a:cxn ang="0">
                <a:pos x="536" y="96"/>
              </a:cxn>
              <a:cxn ang="0">
                <a:pos x="541" y="142"/>
              </a:cxn>
              <a:cxn ang="0">
                <a:pos x="538" y="219"/>
              </a:cxn>
              <a:cxn ang="0">
                <a:pos x="505" y="336"/>
              </a:cxn>
              <a:cxn ang="0">
                <a:pos x="440" y="471"/>
              </a:cxn>
              <a:cxn ang="0">
                <a:pos x="340" y="624"/>
              </a:cxn>
              <a:cxn ang="0">
                <a:pos x="246" y="749"/>
              </a:cxn>
              <a:cxn ang="0">
                <a:pos x="192" y="818"/>
              </a:cxn>
              <a:cxn ang="0">
                <a:pos x="509" y="463"/>
              </a:cxn>
              <a:cxn ang="0">
                <a:pos x="616" y="417"/>
              </a:cxn>
              <a:cxn ang="0">
                <a:pos x="705" y="352"/>
              </a:cxn>
              <a:cxn ang="0">
                <a:pos x="776" y="265"/>
              </a:cxn>
              <a:cxn ang="0">
                <a:pos x="829" y="156"/>
              </a:cxn>
              <a:cxn ang="0">
                <a:pos x="845" y="200"/>
              </a:cxn>
              <a:cxn ang="0">
                <a:pos x="837" y="255"/>
              </a:cxn>
              <a:cxn ang="0">
                <a:pos x="831" y="309"/>
              </a:cxn>
              <a:cxn ang="0">
                <a:pos x="829" y="361"/>
              </a:cxn>
              <a:cxn ang="0">
                <a:pos x="908" y="845"/>
              </a:cxn>
              <a:cxn ang="0">
                <a:pos x="943" y="843"/>
              </a:cxn>
              <a:cxn ang="0">
                <a:pos x="973" y="834"/>
              </a:cxn>
              <a:cxn ang="0">
                <a:pos x="996" y="817"/>
              </a:cxn>
              <a:cxn ang="0">
                <a:pos x="1017" y="793"/>
              </a:cxn>
              <a:cxn ang="0">
                <a:pos x="958" y="1026"/>
              </a:cxn>
              <a:cxn ang="0">
                <a:pos x="952" y="1007"/>
              </a:cxn>
              <a:cxn ang="0">
                <a:pos x="941" y="995"/>
              </a:cxn>
              <a:cxn ang="0">
                <a:pos x="921" y="988"/>
              </a:cxn>
              <a:cxn ang="0">
                <a:pos x="829" y="986"/>
              </a:cxn>
              <a:cxn ang="0">
                <a:pos x="833" y="1143"/>
              </a:cxn>
              <a:cxn ang="0">
                <a:pos x="849" y="1172"/>
              </a:cxn>
              <a:cxn ang="0">
                <a:pos x="875" y="1193"/>
              </a:cxn>
              <a:cxn ang="0">
                <a:pos x="912" y="1209"/>
              </a:cxn>
            </a:cxnLst>
            <a:rect l="0" t="0" r="r" b="b"/>
            <a:pathLst>
              <a:path w="1050" h="1270">
                <a:moveTo>
                  <a:pt x="415" y="1270"/>
                </a:moveTo>
                <a:lnTo>
                  <a:pt x="415" y="1210"/>
                </a:lnTo>
                <a:lnTo>
                  <a:pt x="426" y="1209"/>
                </a:lnTo>
                <a:lnTo>
                  <a:pt x="436" y="1205"/>
                </a:lnTo>
                <a:lnTo>
                  <a:pt x="445" y="1203"/>
                </a:lnTo>
                <a:lnTo>
                  <a:pt x="455" y="1199"/>
                </a:lnTo>
                <a:lnTo>
                  <a:pt x="463" y="1193"/>
                </a:lnTo>
                <a:lnTo>
                  <a:pt x="470" y="1189"/>
                </a:lnTo>
                <a:lnTo>
                  <a:pt x="478" y="1184"/>
                </a:lnTo>
                <a:lnTo>
                  <a:pt x="484" y="1178"/>
                </a:lnTo>
                <a:lnTo>
                  <a:pt x="490" y="1172"/>
                </a:lnTo>
                <a:lnTo>
                  <a:pt x="495" y="1166"/>
                </a:lnTo>
                <a:lnTo>
                  <a:pt x="499" y="1159"/>
                </a:lnTo>
                <a:lnTo>
                  <a:pt x="503" y="1151"/>
                </a:lnTo>
                <a:lnTo>
                  <a:pt x="505" y="1143"/>
                </a:lnTo>
                <a:lnTo>
                  <a:pt x="507" y="1135"/>
                </a:lnTo>
                <a:lnTo>
                  <a:pt x="509" y="1128"/>
                </a:lnTo>
                <a:lnTo>
                  <a:pt x="509" y="1118"/>
                </a:lnTo>
                <a:lnTo>
                  <a:pt x="509" y="986"/>
                </a:lnTo>
                <a:lnTo>
                  <a:pt x="60" y="986"/>
                </a:lnTo>
                <a:lnTo>
                  <a:pt x="56" y="986"/>
                </a:lnTo>
                <a:lnTo>
                  <a:pt x="52" y="988"/>
                </a:lnTo>
                <a:lnTo>
                  <a:pt x="48" y="988"/>
                </a:lnTo>
                <a:lnTo>
                  <a:pt x="44" y="988"/>
                </a:lnTo>
                <a:lnTo>
                  <a:pt x="40" y="988"/>
                </a:lnTo>
                <a:lnTo>
                  <a:pt x="36" y="989"/>
                </a:lnTo>
                <a:lnTo>
                  <a:pt x="33" y="989"/>
                </a:lnTo>
                <a:lnTo>
                  <a:pt x="29" y="991"/>
                </a:lnTo>
                <a:lnTo>
                  <a:pt x="25" y="991"/>
                </a:lnTo>
                <a:lnTo>
                  <a:pt x="21" y="993"/>
                </a:lnTo>
                <a:lnTo>
                  <a:pt x="17" y="993"/>
                </a:lnTo>
                <a:lnTo>
                  <a:pt x="15" y="995"/>
                </a:lnTo>
                <a:lnTo>
                  <a:pt x="12" y="997"/>
                </a:lnTo>
                <a:lnTo>
                  <a:pt x="8" y="999"/>
                </a:lnTo>
                <a:lnTo>
                  <a:pt x="6" y="1001"/>
                </a:lnTo>
                <a:lnTo>
                  <a:pt x="2" y="1003"/>
                </a:lnTo>
                <a:lnTo>
                  <a:pt x="2" y="1001"/>
                </a:lnTo>
                <a:lnTo>
                  <a:pt x="2" y="999"/>
                </a:lnTo>
                <a:lnTo>
                  <a:pt x="2" y="997"/>
                </a:lnTo>
                <a:lnTo>
                  <a:pt x="2" y="995"/>
                </a:lnTo>
                <a:lnTo>
                  <a:pt x="0" y="993"/>
                </a:lnTo>
                <a:lnTo>
                  <a:pt x="0" y="991"/>
                </a:lnTo>
                <a:lnTo>
                  <a:pt x="0" y="989"/>
                </a:lnTo>
                <a:lnTo>
                  <a:pt x="0" y="988"/>
                </a:lnTo>
                <a:lnTo>
                  <a:pt x="0" y="986"/>
                </a:lnTo>
                <a:lnTo>
                  <a:pt x="0" y="984"/>
                </a:lnTo>
                <a:lnTo>
                  <a:pt x="0" y="982"/>
                </a:lnTo>
                <a:lnTo>
                  <a:pt x="0" y="978"/>
                </a:lnTo>
                <a:lnTo>
                  <a:pt x="0" y="976"/>
                </a:lnTo>
                <a:lnTo>
                  <a:pt x="2" y="955"/>
                </a:lnTo>
                <a:lnTo>
                  <a:pt x="6" y="934"/>
                </a:lnTo>
                <a:lnTo>
                  <a:pt x="13" y="909"/>
                </a:lnTo>
                <a:lnTo>
                  <a:pt x="21" y="884"/>
                </a:lnTo>
                <a:lnTo>
                  <a:pt x="33" y="857"/>
                </a:lnTo>
                <a:lnTo>
                  <a:pt x="48" y="828"/>
                </a:lnTo>
                <a:lnTo>
                  <a:pt x="63" y="797"/>
                </a:lnTo>
                <a:lnTo>
                  <a:pt x="83" y="767"/>
                </a:lnTo>
                <a:lnTo>
                  <a:pt x="88" y="757"/>
                </a:lnTo>
                <a:lnTo>
                  <a:pt x="117" y="715"/>
                </a:lnTo>
                <a:lnTo>
                  <a:pt x="142" y="674"/>
                </a:lnTo>
                <a:lnTo>
                  <a:pt x="163" y="636"/>
                </a:lnTo>
                <a:lnTo>
                  <a:pt x="184" y="601"/>
                </a:lnTo>
                <a:lnTo>
                  <a:pt x="202" y="569"/>
                </a:lnTo>
                <a:lnTo>
                  <a:pt x="219" y="540"/>
                </a:lnTo>
                <a:lnTo>
                  <a:pt x="232" y="513"/>
                </a:lnTo>
                <a:lnTo>
                  <a:pt x="244" y="490"/>
                </a:lnTo>
                <a:lnTo>
                  <a:pt x="253" y="467"/>
                </a:lnTo>
                <a:lnTo>
                  <a:pt x="261" y="446"/>
                </a:lnTo>
                <a:lnTo>
                  <a:pt x="267" y="425"/>
                </a:lnTo>
                <a:lnTo>
                  <a:pt x="273" y="403"/>
                </a:lnTo>
                <a:lnTo>
                  <a:pt x="278" y="384"/>
                </a:lnTo>
                <a:lnTo>
                  <a:pt x="280" y="367"/>
                </a:lnTo>
                <a:lnTo>
                  <a:pt x="282" y="350"/>
                </a:lnTo>
                <a:lnTo>
                  <a:pt x="284" y="332"/>
                </a:lnTo>
                <a:lnTo>
                  <a:pt x="284" y="325"/>
                </a:lnTo>
                <a:lnTo>
                  <a:pt x="282" y="317"/>
                </a:lnTo>
                <a:lnTo>
                  <a:pt x="282" y="311"/>
                </a:lnTo>
                <a:lnTo>
                  <a:pt x="280" y="305"/>
                </a:lnTo>
                <a:lnTo>
                  <a:pt x="278" y="300"/>
                </a:lnTo>
                <a:lnTo>
                  <a:pt x="278" y="294"/>
                </a:lnTo>
                <a:lnTo>
                  <a:pt x="275" y="290"/>
                </a:lnTo>
                <a:lnTo>
                  <a:pt x="273" y="286"/>
                </a:lnTo>
                <a:lnTo>
                  <a:pt x="271" y="282"/>
                </a:lnTo>
                <a:lnTo>
                  <a:pt x="267" y="279"/>
                </a:lnTo>
                <a:lnTo>
                  <a:pt x="263" y="275"/>
                </a:lnTo>
                <a:lnTo>
                  <a:pt x="257" y="271"/>
                </a:lnTo>
                <a:lnTo>
                  <a:pt x="253" y="267"/>
                </a:lnTo>
                <a:lnTo>
                  <a:pt x="248" y="263"/>
                </a:lnTo>
                <a:lnTo>
                  <a:pt x="242" y="259"/>
                </a:lnTo>
                <a:lnTo>
                  <a:pt x="234" y="257"/>
                </a:lnTo>
                <a:lnTo>
                  <a:pt x="257" y="238"/>
                </a:lnTo>
                <a:lnTo>
                  <a:pt x="280" y="221"/>
                </a:lnTo>
                <a:lnTo>
                  <a:pt x="301" y="204"/>
                </a:lnTo>
                <a:lnTo>
                  <a:pt x="321" y="186"/>
                </a:lnTo>
                <a:lnTo>
                  <a:pt x="340" y="169"/>
                </a:lnTo>
                <a:lnTo>
                  <a:pt x="359" y="154"/>
                </a:lnTo>
                <a:lnTo>
                  <a:pt x="376" y="138"/>
                </a:lnTo>
                <a:lnTo>
                  <a:pt x="392" y="121"/>
                </a:lnTo>
                <a:lnTo>
                  <a:pt x="407" y="106"/>
                </a:lnTo>
                <a:lnTo>
                  <a:pt x="422" y="90"/>
                </a:lnTo>
                <a:lnTo>
                  <a:pt x="438" y="75"/>
                </a:lnTo>
                <a:lnTo>
                  <a:pt x="451" y="59"/>
                </a:lnTo>
                <a:lnTo>
                  <a:pt x="465" y="44"/>
                </a:lnTo>
                <a:lnTo>
                  <a:pt x="476" y="31"/>
                </a:lnTo>
                <a:lnTo>
                  <a:pt x="490" y="15"/>
                </a:lnTo>
                <a:lnTo>
                  <a:pt x="501" y="0"/>
                </a:lnTo>
                <a:lnTo>
                  <a:pt x="505" y="8"/>
                </a:lnTo>
                <a:lnTo>
                  <a:pt x="511" y="17"/>
                </a:lnTo>
                <a:lnTo>
                  <a:pt x="514" y="27"/>
                </a:lnTo>
                <a:lnTo>
                  <a:pt x="518" y="36"/>
                </a:lnTo>
                <a:lnTo>
                  <a:pt x="522" y="46"/>
                </a:lnTo>
                <a:lnTo>
                  <a:pt x="526" y="56"/>
                </a:lnTo>
                <a:lnTo>
                  <a:pt x="530" y="65"/>
                </a:lnTo>
                <a:lnTo>
                  <a:pt x="532" y="75"/>
                </a:lnTo>
                <a:lnTo>
                  <a:pt x="534" y="84"/>
                </a:lnTo>
                <a:lnTo>
                  <a:pt x="536" y="96"/>
                </a:lnTo>
                <a:lnTo>
                  <a:pt x="538" y="106"/>
                </a:lnTo>
                <a:lnTo>
                  <a:pt x="539" y="117"/>
                </a:lnTo>
                <a:lnTo>
                  <a:pt x="541" y="129"/>
                </a:lnTo>
                <a:lnTo>
                  <a:pt x="541" y="142"/>
                </a:lnTo>
                <a:lnTo>
                  <a:pt x="541" y="154"/>
                </a:lnTo>
                <a:lnTo>
                  <a:pt x="541" y="167"/>
                </a:lnTo>
                <a:lnTo>
                  <a:pt x="541" y="192"/>
                </a:lnTo>
                <a:lnTo>
                  <a:pt x="538" y="219"/>
                </a:lnTo>
                <a:lnTo>
                  <a:pt x="534" y="246"/>
                </a:lnTo>
                <a:lnTo>
                  <a:pt x="526" y="275"/>
                </a:lnTo>
                <a:lnTo>
                  <a:pt x="516" y="304"/>
                </a:lnTo>
                <a:lnTo>
                  <a:pt x="505" y="336"/>
                </a:lnTo>
                <a:lnTo>
                  <a:pt x="491" y="367"/>
                </a:lnTo>
                <a:lnTo>
                  <a:pt x="476" y="402"/>
                </a:lnTo>
                <a:lnTo>
                  <a:pt x="459" y="434"/>
                </a:lnTo>
                <a:lnTo>
                  <a:pt x="440" y="471"/>
                </a:lnTo>
                <a:lnTo>
                  <a:pt x="417" y="507"/>
                </a:lnTo>
                <a:lnTo>
                  <a:pt x="394" y="546"/>
                </a:lnTo>
                <a:lnTo>
                  <a:pt x="367" y="584"/>
                </a:lnTo>
                <a:lnTo>
                  <a:pt x="340" y="624"/>
                </a:lnTo>
                <a:lnTo>
                  <a:pt x="309" y="665"/>
                </a:lnTo>
                <a:lnTo>
                  <a:pt x="278" y="707"/>
                </a:lnTo>
                <a:lnTo>
                  <a:pt x="261" y="728"/>
                </a:lnTo>
                <a:lnTo>
                  <a:pt x="246" y="749"/>
                </a:lnTo>
                <a:lnTo>
                  <a:pt x="230" y="769"/>
                </a:lnTo>
                <a:lnTo>
                  <a:pt x="217" y="786"/>
                </a:lnTo>
                <a:lnTo>
                  <a:pt x="205" y="803"/>
                </a:lnTo>
                <a:lnTo>
                  <a:pt x="192" y="818"/>
                </a:lnTo>
                <a:lnTo>
                  <a:pt x="182" y="834"/>
                </a:lnTo>
                <a:lnTo>
                  <a:pt x="173" y="845"/>
                </a:lnTo>
                <a:lnTo>
                  <a:pt x="509" y="845"/>
                </a:lnTo>
                <a:lnTo>
                  <a:pt x="509" y="463"/>
                </a:lnTo>
                <a:lnTo>
                  <a:pt x="538" y="453"/>
                </a:lnTo>
                <a:lnTo>
                  <a:pt x="564" y="442"/>
                </a:lnTo>
                <a:lnTo>
                  <a:pt x="591" y="430"/>
                </a:lnTo>
                <a:lnTo>
                  <a:pt x="616" y="417"/>
                </a:lnTo>
                <a:lnTo>
                  <a:pt x="639" y="403"/>
                </a:lnTo>
                <a:lnTo>
                  <a:pt x="662" y="388"/>
                </a:lnTo>
                <a:lnTo>
                  <a:pt x="683" y="371"/>
                </a:lnTo>
                <a:lnTo>
                  <a:pt x="705" y="352"/>
                </a:lnTo>
                <a:lnTo>
                  <a:pt x="724" y="332"/>
                </a:lnTo>
                <a:lnTo>
                  <a:pt x="741" y="311"/>
                </a:lnTo>
                <a:lnTo>
                  <a:pt x="758" y="288"/>
                </a:lnTo>
                <a:lnTo>
                  <a:pt x="776" y="265"/>
                </a:lnTo>
                <a:lnTo>
                  <a:pt x="791" y="240"/>
                </a:lnTo>
                <a:lnTo>
                  <a:pt x="804" y="213"/>
                </a:lnTo>
                <a:lnTo>
                  <a:pt x="818" y="186"/>
                </a:lnTo>
                <a:lnTo>
                  <a:pt x="829" y="156"/>
                </a:lnTo>
                <a:lnTo>
                  <a:pt x="850" y="156"/>
                </a:lnTo>
                <a:lnTo>
                  <a:pt x="849" y="171"/>
                </a:lnTo>
                <a:lnTo>
                  <a:pt x="847" y="186"/>
                </a:lnTo>
                <a:lnTo>
                  <a:pt x="845" y="200"/>
                </a:lnTo>
                <a:lnTo>
                  <a:pt x="843" y="213"/>
                </a:lnTo>
                <a:lnTo>
                  <a:pt x="841" y="229"/>
                </a:lnTo>
                <a:lnTo>
                  <a:pt x="839" y="242"/>
                </a:lnTo>
                <a:lnTo>
                  <a:pt x="837" y="255"/>
                </a:lnTo>
                <a:lnTo>
                  <a:pt x="835" y="269"/>
                </a:lnTo>
                <a:lnTo>
                  <a:pt x="833" y="282"/>
                </a:lnTo>
                <a:lnTo>
                  <a:pt x="833" y="296"/>
                </a:lnTo>
                <a:lnTo>
                  <a:pt x="831" y="309"/>
                </a:lnTo>
                <a:lnTo>
                  <a:pt x="831" y="321"/>
                </a:lnTo>
                <a:lnTo>
                  <a:pt x="831" y="334"/>
                </a:lnTo>
                <a:lnTo>
                  <a:pt x="829" y="348"/>
                </a:lnTo>
                <a:lnTo>
                  <a:pt x="829" y="361"/>
                </a:lnTo>
                <a:lnTo>
                  <a:pt x="829" y="375"/>
                </a:lnTo>
                <a:lnTo>
                  <a:pt x="829" y="402"/>
                </a:lnTo>
                <a:lnTo>
                  <a:pt x="829" y="845"/>
                </a:lnTo>
                <a:lnTo>
                  <a:pt x="908" y="845"/>
                </a:lnTo>
                <a:lnTo>
                  <a:pt x="916" y="845"/>
                </a:lnTo>
                <a:lnTo>
                  <a:pt x="925" y="845"/>
                </a:lnTo>
                <a:lnTo>
                  <a:pt x="935" y="843"/>
                </a:lnTo>
                <a:lnTo>
                  <a:pt x="943" y="843"/>
                </a:lnTo>
                <a:lnTo>
                  <a:pt x="950" y="842"/>
                </a:lnTo>
                <a:lnTo>
                  <a:pt x="958" y="840"/>
                </a:lnTo>
                <a:lnTo>
                  <a:pt x="966" y="836"/>
                </a:lnTo>
                <a:lnTo>
                  <a:pt x="973" y="834"/>
                </a:lnTo>
                <a:lnTo>
                  <a:pt x="979" y="830"/>
                </a:lnTo>
                <a:lnTo>
                  <a:pt x="985" y="826"/>
                </a:lnTo>
                <a:lnTo>
                  <a:pt x="991" y="822"/>
                </a:lnTo>
                <a:lnTo>
                  <a:pt x="996" y="817"/>
                </a:lnTo>
                <a:lnTo>
                  <a:pt x="1002" y="811"/>
                </a:lnTo>
                <a:lnTo>
                  <a:pt x="1008" y="807"/>
                </a:lnTo>
                <a:lnTo>
                  <a:pt x="1014" y="799"/>
                </a:lnTo>
                <a:lnTo>
                  <a:pt x="1017" y="793"/>
                </a:lnTo>
                <a:lnTo>
                  <a:pt x="1050" y="795"/>
                </a:lnTo>
                <a:lnTo>
                  <a:pt x="987" y="1038"/>
                </a:lnTo>
                <a:lnTo>
                  <a:pt x="958" y="1032"/>
                </a:lnTo>
                <a:lnTo>
                  <a:pt x="958" y="1026"/>
                </a:lnTo>
                <a:lnTo>
                  <a:pt x="958" y="1020"/>
                </a:lnTo>
                <a:lnTo>
                  <a:pt x="956" y="1016"/>
                </a:lnTo>
                <a:lnTo>
                  <a:pt x="954" y="1011"/>
                </a:lnTo>
                <a:lnTo>
                  <a:pt x="952" y="1007"/>
                </a:lnTo>
                <a:lnTo>
                  <a:pt x="950" y="1003"/>
                </a:lnTo>
                <a:lnTo>
                  <a:pt x="946" y="1001"/>
                </a:lnTo>
                <a:lnTo>
                  <a:pt x="944" y="997"/>
                </a:lnTo>
                <a:lnTo>
                  <a:pt x="941" y="995"/>
                </a:lnTo>
                <a:lnTo>
                  <a:pt x="937" y="993"/>
                </a:lnTo>
                <a:lnTo>
                  <a:pt x="933" y="991"/>
                </a:lnTo>
                <a:lnTo>
                  <a:pt x="927" y="989"/>
                </a:lnTo>
                <a:lnTo>
                  <a:pt x="921" y="988"/>
                </a:lnTo>
                <a:lnTo>
                  <a:pt x="918" y="988"/>
                </a:lnTo>
                <a:lnTo>
                  <a:pt x="910" y="986"/>
                </a:lnTo>
                <a:lnTo>
                  <a:pt x="904" y="986"/>
                </a:lnTo>
                <a:lnTo>
                  <a:pt x="829" y="986"/>
                </a:lnTo>
                <a:lnTo>
                  <a:pt x="829" y="1118"/>
                </a:lnTo>
                <a:lnTo>
                  <a:pt x="829" y="1128"/>
                </a:lnTo>
                <a:lnTo>
                  <a:pt x="831" y="1135"/>
                </a:lnTo>
                <a:lnTo>
                  <a:pt x="833" y="1143"/>
                </a:lnTo>
                <a:lnTo>
                  <a:pt x="835" y="1151"/>
                </a:lnTo>
                <a:lnTo>
                  <a:pt x="839" y="1159"/>
                </a:lnTo>
                <a:lnTo>
                  <a:pt x="843" y="1166"/>
                </a:lnTo>
                <a:lnTo>
                  <a:pt x="849" y="1172"/>
                </a:lnTo>
                <a:lnTo>
                  <a:pt x="854" y="1178"/>
                </a:lnTo>
                <a:lnTo>
                  <a:pt x="860" y="1184"/>
                </a:lnTo>
                <a:lnTo>
                  <a:pt x="868" y="1189"/>
                </a:lnTo>
                <a:lnTo>
                  <a:pt x="875" y="1193"/>
                </a:lnTo>
                <a:lnTo>
                  <a:pt x="883" y="1199"/>
                </a:lnTo>
                <a:lnTo>
                  <a:pt x="891" y="1203"/>
                </a:lnTo>
                <a:lnTo>
                  <a:pt x="900" y="1205"/>
                </a:lnTo>
                <a:lnTo>
                  <a:pt x="912" y="1209"/>
                </a:lnTo>
                <a:lnTo>
                  <a:pt x="921" y="1210"/>
                </a:lnTo>
                <a:lnTo>
                  <a:pt x="921" y="1270"/>
                </a:lnTo>
                <a:lnTo>
                  <a:pt x="415" y="1270"/>
                </a:lnTo>
              </a:path>
            </a:pathLst>
          </a:custGeom>
          <a:gradFill rotWithShape="0">
            <a:gsLst>
              <a:gs pos="0">
                <a:srgbClr val="6699FF">
                  <a:gamma/>
                  <a:tint val="42745"/>
                  <a:invGamma/>
                </a:srgbClr>
              </a:gs>
              <a:gs pos="100000">
                <a:srgbClr val="6699FF"/>
              </a:gs>
            </a:gsLst>
            <a:lin ang="5400000" scaled="1"/>
          </a:gradFill>
          <a:ln w="0" cap="sq" cmpd="sng">
            <a:noFill/>
            <a:prstDash val="solid"/>
            <a:miter lim="800000"/>
            <a:headEnd type="none" w="med" len="med"/>
            <a:tailEnd type="none" w="med" len="med"/>
          </a:ln>
          <a:effectLst>
            <a:outerShdw dist="35921" dir="2700000" algn="ctr" rotWithShape="0">
              <a:srgbClr val="919191"/>
            </a:outerShdw>
          </a:effectLst>
        </p:spPr>
        <p:txBody>
          <a:bodyPr/>
          <a:lstStyle/>
          <a:p>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2241388"/>
          </a:xfrm>
        </p:spPr>
        <p:txBody>
          <a:bodyPr/>
          <a:lstStyle/>
          <a:p>
            <a:pPr>
              <a:buNone/>
            </a:pPr>
            <a:r>
              <a:rPr lang="fr-FR" dirty="0" smtClean="0"/>
              <a:t>1. Un utilisateur mobile vous informe que lorsqu'il se sert de son </a:t>
            </a:r>
            <a:r>
              <a:rPr lang="fr-FR" dirty="0" smtClean="0"/>
              <a:t>ordinateur mobile </a:t>
            </a:r>
            <a:r>
              <a:rPr lang="fr-FR" dirty="0" smtClean="0"/>
              <a:t>depuis son domicile, certaines des applications sont inutilisables </a:t>
            </a:r>
            <a:r>
              <a:rPr lang="fr-FR" dirty="0" smtClean="0"/>
              <a:t>à cause </a:t>
            </a:r>
            <a:r>
              <a:rPr lang="fr-FR" dirty="0" smtClean="0"/>
              <a:t>des paramètres de résolution. Indiquez une solution possible.</a:t>
            </a:r>
            <a:endParaRPr lang="fr-FR" dirty="0"/>
          </a:p>
        </p:txBody>
      </p:sp>
      <p:sp>
        <p:nvSpPr>
          <p:cNvPr id="4" name="Rectangle 3"/>
          <p:cNvSpPr/>
          <p:nvPr/>
        </p:nvSpPr>
        <p:spPr>
          <a:xfrm>
            <a:off x="443345" y="3923345"/>
            <a:ext cx="8271163" cy="1200329"/>
          </a:xfrm>
          <a:prstGeom prst="rect">
            <a:avLst/>
          </a:prstGeom>
        </p:spPr>
        <p:txBody>
          <a:bodyPr wrap="square">
            <a:spAutoFit/>
          </a:bodyPr>
          <a:lstStyle/>
          <a:p>
            <a:r>
              <a:rPr lang="fr-FR" sz="2400" dirty="0" smtClean="0"/>
              <a:t>Créez un profil matériel connecté et non connecté à la station d'accueil </a:t>
            </a:r>
            <a:r>
              <a:rPr lang="fr-FR" sz="2400" dirty="0" smtClean="0"/>
              <a:t>; spécifiez </a:t>
            </a:r>
            <a:r>
              <a:rPr lang="fr-FR" sz="2400" dirty="0" smtClean="0"/>
              <a:t>la résolution appropriée pour chaque situation.</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2241388"/>
          </a:xfrm>
        </p:spPr>
        <p:txBody>
          <a:bodyPr>
            <a:normAutofit/>
          </a:bodyPr>
          <a:lstStyle/>
          <a:p>
            <a:pPr>
              <a:buNone/>
            </a:pPr>
            <a:r>
              <a:rPr lang="fr-FR" dirty="0" smtClean="0"/>
              <a:t>2. Une </a:t>
            </a:r>
            <a:r>
              <a:rPr lang="fr-FR" dirty="0" smtClean="0"/>
              <a:t>utilisatrice se plaint que lorsqu'elle travaille sur son ordinateur </a:t>
            </a:r>
            <a:r>
              <a:rPr lang="fr-FR" dirty="0" smtClean="0"/>
              <a:t>mobile déconnecté </a:t>
            </a:r>
            <a:r>
              <a:rPr lang="fr-FR" dirty="0" smtClean="0"/>
              <a:t>de la station d'accueil puis l'arrête, la batterie est faible </a:t>
            </a:r>
            <a:r>
              <a:rPr lang="fr-FR" dirty="0" smtClean="0"/>
              <a:t>ou épuisée </a:t>
            </a:r>
            <a:r>
              <a:rPr lang="fr-FR" dirty="0" smtClean="0"/>
              <a:t>à la prochaine utilisation. Quels sont les problèmes éventuels </a:t>
            </a:r>
            <a:r>
              <a:rPr lang="fr-FR" dirty="0" smtClean="0"/>
              <a:t>et quelles </a:t>
            </a:r>
            <a:r>
              <a:rPr lang="fr-FR" dirty="0" smtClean="0"/>
              <a:t>sont les solutions possibles ?</a:t>
            </a:r>
            <a:endParaRPr lang="fr-FR" dirty="0"/>
          </a:p>
        </p:txBody>
      </p:sp>
      <p:sp>
        <p:nvSpPr>
          <p:cNvPr id="4" name="Rectangle 3"/>
          <p:cNvSpPr/>
          <p:nvPr/>
        </p:nvSpPr>
        <p:spPr>
          <a:xfrm>
            <a:off x="443345" y="3923345"/>
            <a:ext cx="8271163" cy="2308324"/>
          </a:xfrm>
          <a:prstGeom prst="rect">
            <a:avLst/>
          </a:prstGeom>
        </p:spPr>
        <p:txBody>
          <a:bodyPr wrap="square">
            <a:spAutoFit/>
          </a:bodyPr>
          <a:lstStyle/>
          <a:p>
            <a:r>
              <a:rPr lang="fr-FR" sz="2400" dirty="0" smtClean="0"/>
              <a:t>L'ordinateur de l'utilisatrice n'entre probablement pas en veille ou </a:t>
            </a:r>
            <a:r>
              <a:rPr lang="fr-FR" sz="2400" dirty="0" smtClean="0"/>
              <a:t>en veille </a:t>
            </a:r>
            <a:r>
              <a:rPr lang="fr-FR" sz="2400" dirty="0" smtClean="0"/>
              <a:t>prolongée assez rapidement, ce qui peut entraîner l'épuisement </a:t>
            </a:r>
            <a:r>
              <a:rPr lang="fr-FR" sz="2400" dirty="0" smtClean="0"/>
              <a:t>de la </a:t>
            </a:r>
            <a:r>
              <a:rPr lang="fr-FR" sz="2400" dirty="0" smtClean="0"/>
              <a:t>batterie. Vérifiez les options Boutons d'alimentation dans l'onglet</a:t>
            </a:r>
          </a:p>
          <a:p>
            <a:r>
              <a:rPr lang="fr-FR" sz="2400" dirty="0" smtClean="0"/>
              <a:t>Avancé de la page de propriétés des options </a:t>
            </a:r>
            <a:r>
              <a:rPr lang="fr-FR" sz="2400" dirty="0" smtClean="0"/>
              <a:t>l'alimentation</a:t>
            </a:r>
            <a:r>
              <a:rPr lang="fr-FR" sz="2400" dirty="0" smtClean="0"/>
              <a:t>.</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2241388"/>
          </a:xfrm>
        </p:spPr>
        <p:txBody>
          <a:bodyPr>
            <a:normAutofit fontScale="92500"/>
          </a:bodyPr>
          <a:lstStyle/>
          <a:p>
            <a:pPr>
              <a:buNone/>
            </a:pPr>
            <a:r>
              <a:rPr lang="fr-FR" dirty="0" smtClean="0"/>
              <a:t>3. Un utilisateur essaie de rendre certains fichiers disponibles hors connexion</a:t>
            </a:r>
            <a:r>
              <a:rPr lang="fr-FR" dirty="0" smtClean="0"/>
              <a:t>. Cependant</a:t>
            </a:r>
            <a:r>
              <a:rPr lang="fr-FR" dirty="0" smtClean="0"/>
              <a:t>, dans l'affichage Dossier, l'option Rendre disponible </a:t>
            </a:r>
            <a:r>
              <a:rPr lang="fr-FR" dirty="0" smtClean="0"/>
              <a:t>hors connexion </a:t>
            </a:r>
            <a:r>
              <a:rPr lang="fr-FR" dirty="0" smtClean="0"/>
              <a:t>n'apparaît pas. Pourquoi l'option Rendre disponible </a:t>
            </a:r>
            <a:r>
              <a:rPr lang="fr-FR" dirty="0" smtClean="0"/>
              <a:t>hors connexion </a:t>
            </a:r>
            <a:r>
              <a:rPr lang="fr-FR" dirty="0" smtClean="0"/>
              <a:t>n'apparaît pas et quelle est la solution ?</a:t>
            </a:r>
            <a:endParaRPr lang="fr-FR" dirty="0"/>
          </a:p>
        </p:txBody>
      </p:sp>
      <p:sp>
        <p:nvSpPr>
          <p:cNvPr id="4" name="Rectangle 3"/>
          <p:cNvSpPr/>
          <p:nvPr/>
        </p:nvSpPr>
        <p:spPr>
          <a:xfrm>
            <a:off x="443345" y="3923345"/>
            <a:ext cx="8271163" cy="2308324"/>
          </a:xfrm>
          <a:prstGeom prst="rect">
            <a:avLst/>
          </a:prstGeom>
        </p:spPr>
        <p:txBody>
          <a:bodyPr wrap="square">
            <a:spAutoFit/>
          </a:bodyPr>
          <a:lstStyle/>
          <a:p>
            <a:r>
              <a:rPr lang="fr-FR" sz="2400" dirty="0" smtClean="0"/>
              <a:t>L'option Rendre disponible hors connexion apparaît uniquement </a:t>
            </a:r>
            <a:r>
              <a:rPr lang="fr-FR" sz="2400" dirty="0" smtClean="0"/>
              <a:t>si l'ordinateur </a:t>
            </a:r>
            <a:r>
              <a:rPr lang="fr-FR" sz="2400" dirty="0" smtClean="0"/>
              <a:t>a été configuré pour utiliser des fichiers hors connexion </a:t>
            </a:r>
            <a:r>
              <a:rPr lang="fr-FR" sz="2400" dirty="0" smtClean="0"/>
              <a:t>et si </a:t>
            </a:r>
            <a:r>
              <a:rPr lang="fr-FR" sz="2400" dirty="0" smtClean="0"/>
              <a:t>le fichier ou le dossier est en ligne. Pour activer cette option, </a:t>
            </a:r>
            <a:r>
              <a:rPr lang="fr-FR" sz="2400" dirty="0" smtClean="0"/>
              <a:t>aidez l'utilisateur </a:t>
            </a:r>
            <a:r>
              <a:rPr lang="fr-FR" sz="2400" dirty="0" smtClean="0"/>
              <a:t>à configurer l'ordinateur pour les fichiers hors </a:t>
            </a:r>
            <a:r>
              <a:rPr lang="fr-FR" sz="2400" dirty="0" smtClean="0"/>
              <a:t>connexion</a:t>
            </a:r>
            <a:r>
              <a:rPr lang="fr-FR" sz="2400" dirty="0" smtClean="0"/>
              <a:t>.</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7"/>
            <a:ext cx="8503920" cy="2449207"/>
          </a:xfrm>
        </p:spPr>
        <p:txBody>
          <a:bodyPr>
            <a:normAutofit fontScale="85000" lnSpcReduction="20000"/>
          </a:bodyPr>
          <a:lstStyle/>
          <a:p>
            <a:pPr>
              <a:buNone/>
            </a:pPr>
            <a:r>
              <a:rPr lang="fr-FR" dirty="0" smtClean="0"/>
              <a:t>4. Un problème de réseau récent a déconnecté un groupe d'utilisateurs </a:t>
            </a:r>
            <a:r>
              <a:rPr lang="fr-FR" dirty="0" smtClean="0"/>
              <a:t>du réseau</a:t>
            </a:r>
            <a:r>
              <a:rPr lang="fr-FR" dirty="0" smtClean="0"/>
              <a:t>, mais ils ne se sont pas rendus compte qu'ils étaient déconnectés. </a:t>
            </a:r>
            <a:r>
              <a:rPr lang="fr-FR" dirty="0" smtClean="0"/>
              <a:t>Ils ont </a:t>
            </a:r>
            <a:r>
              <a:rPr lang="fr-FR" dirty="0" smtClean="0"/>
              <a:t>continué à travailler sur des documents mis en cache local </a:t>
            </a:r>
            <a:r>
              <a:rPr lang="fr-FR" dirty="0" smtClean="0"/>
              <a:t>qu'ils croyaient </a:t>
            </a:r>
            <a:r>
              <a:rPr lang="fr-FR" dirty="0" smtClean="0"/>
              <a:t>résider sur un partage réseau. Quand ils se sont aperçus </a:t>
            </a:r>
            <a:r>
              <a:rPr lang="fr-FR" dirty="0" smtClean="0"/>
              <a:t>qu'ils étaient </a:t>
            </a:r>
            <a:r>
              <a:rPr lang="fr-FR" dirty="0" smtClean="0"/>
              <a:t>déconnectés du réseau, ils vous ont appelé pour vous </a:t>
            </a:r>
            <a:r>
              <a:rPr lang="fr-FR" dirty="0" smtClean="0"/>
              <a:t>demander comment </a:t>
            </a:r>
            <a:r>
              <a:rPr lang="fr-FR" dirty="0" smtClean="0"/>
              <a:t>éviter ce problème à l'avenir. Que leur conseillez-vous de faire ?</a:t>
            </a:r>
            <a:endParaRPr lang="fr-FR" dirty="0"/>
          </a:p>
        </p:txBody>
      </p:sp>
      <p:sp>
        <p:nvSpPr>
          <p:cNvPr id="4" name="Rectangle 3"/>
          <p:cNvSpPr/>
          <p:nvPr/>
        </p:nvSpPr>
        <p:spPr>
          <a:xfrm>
            <a:off x="443345" y="3923345"/>
            <a:ext cx="8271163" cy="1938992"/>
          </a:xfrm>
          <a:prstGeom prst="rect">
            <a:avLst/>
          </a:prstGeom>
        </p:spPr>
        <p:txBody>
          <a:bodyPr wrap="square">
            <a:spAutoFit/>
          </a:bodyPr>
          <a:lstStyle/>
          <a:p>
            <a:r>
              <a:rPr lang="fr-FR" sz="2400" dirty="0" smtClean="0"/>
              <a:t>Pour éviter ce problème, modifiez le comportement des fichiers </a:t>
            </a:r>
            <a:r>
              <a:rPr lang="fr-FR" sz="2400" dirty="0" smtClean="0"/>
              <a:t>hors connexion </a:t>
            </a:r>
            <a:r>
              <a:rPr lang="fr-FR" sz="2400" dirty="0" smtClean="0"/>
              <a:t>lors de la déconnexion du réseau pour que les </a:t>
            </a:r>
            <a:r>
              <a:rPr lang="fr-FR" sz="2400" dirty="0" smtClean="0"/>
              <a:t>utilisateurs soient </a:t>
            </a:r>
            <a:r>
              <a:rPr lang="fr-FR" sz="2400" dirty="0" smtClean="0"/>
              <a:t>notifiés dès qu'ils sont déconnectés et soient informés de </a:t>
            </a:r>
            <a:r>
              <a:rPr lang="fr-FR" sz="2400" dirty="0" smtClean="0"/>
              <a:t>la déconnexion </a:t>
            </a:r>
            <a:r>
              <a:rPr lang="fr-FR" sz="2400" dirty="0" smtClean="0"/>
              <a:t>à des intervalles de temps définis.</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7"/>
            <a:ext cx="8503920" cy="2449207"/>
          </a:xfrm>
        </p:spPr>
        <p:txBody>
          <a:bodyPr>
            <a:normAutofit/>
          </a:bodyPr>
          <a:lstStyle/>
          <a:p>
            <a:pPr>
              <a:buNone/>
            </a:pPr>
            <a:r>
              <a:rPr lang="fr-FR" dirty="0" smtClean="0"/>
              <a:t>5. Un utilisateur mobile a configuré son ordinateur de façon à utiliser </a:t>
            </a:r>
            <a:r>
              <a:rPr lang="fr-FR" dirty="0" smtClean="0"/>
              <a:t>des fichiers </a:t>
            </a:r>
            <a:r>
              <a:rPr lang="fr-FR" dirty="0" smtClean="0"/>
              <a:t>hors connexion. Il se plaint que les fichiers ne sont pas mis à </a:t>
            </a:r>
            <a:r>
              <a:rPr lang="fr-FR" dirty="0" smtClean="0"/>
              <a:t>jour après </a:t>
            </a:r>
            <a:r>
              <a:rPr lang="fr-FR" dirty="0" smtClean="0"/>
              <a:t>la modification hors connexion et la </a:t>
            </a:r>
            <a:r>
              <a:rPr lang="fr-FR" dirty="0" smtClean="0"/>
              <a:t>reconnexion </a:t>
            </a:r>
            <a:r>
              <a:rPr lang="fr-FR" dirty="0" smtClean="0"/>
              <a:t>au réseau. </a:t>
            </a:r>
            <a:r>
              <a:rPr lang="fr-FR" dirty="0" smtClean="0"/>
              <a:t>Quels sont </a:t>
            </a:r>
            <a:r>
              <a:rPr lang="fr-FR" dirty="0" smtClean="0"/>
              <a:t>les paramètres à vérifier ?</a:t>
            </a:r>
            <a:endParaRPr lang="fr-FR" dirty="0"/>
          </a:p>
        </p:txBody>
      </p:sp>
      <p:sp>
        <p:nvSpPr>
          <p:cNvPr id="4" name="Rectangle 3"/>
          <p:cNvSpPr/>
          <p:nvPr/>
        </p:nvSpPr>
        <p:spPr>
          <a:xfrm>
            <a:off x="443345" y="3923345"/>
            <a:ext cx="8271163" cy="1938992"/>
          </a:xfrm>
          <a:prstGeom prst="rect">
            <a:avLst/>
          </a:prstGeom>
        </p:spPr>
        <p:txBody>
          <a:bodyPr wrap="square">
            <a:spAutoFit/>
          </a:bodyPr>
          <a:lstStyle/>
          <a:p>
            <a:r>
              <a:rPr lang="fr-FR" sz="2400" dirty="0" smtClean="0"/>
              <a:t>Dans le Gestionnaire de synchronisation, vérifiez que les cases à </a:t>
            </a:r>
            <a:r>
              <a:rPr lang="fr-FR" sz="2400" dirty="0" smtClean="0"/>
              <a:t>cocher "Lorsque </a:t>
            </a:r>
            <a:r>
              <a:rPr lang="fr-FR" sz="2400" dirty="0" smtClean="0"/>
              <a:t>je connecte mon </a:t>
            </a:r>
            <a:r>
              <a:rPr lang="fr-FR" sz="2400" dirty="0" smtClean="0"/>
              <a:t>ordinateur" </a:t>
            </a:r>
            <a:r>
              <a:rPr lang="fr-FR" sz="2400" dirty="0" smtClean="0"/>
              <a:t>et </a:t>
            </a:r>
            <a:r>
              <a:rPr lang="fr-FR" sz="2400" dirty="0" smtClean="0"/>
              <a:t>"Lorsque </a:t>
            </a:r>
            <a:r>
              <a:rPr lang="fr-FR" sz="2400" dirty="0" smtClean="0"/>
              <a:t>je déconnecte </a:t>
            </a:r>
            <a:r>
              <a:rPr lang="fr-FR" sz="2400" dirty="0" smtClean="0"/>
              <a:t>mon ordinateur" </a:t>
            </a:r>
            <a:r>
              <a:rPr lang="fr-FR" sz="2400" dirty="0" smtClean="0"/>
              <a:t>sont activées. Dans le cas contraire, l'utilisateur </a:t>
            </a:r>
            <a:r>
              <a:rPr lang="fr-FR" sz="2400" dirty="0" smtClean="0"/>
              <a:t>devra manuellement </a:t>
            </a:r>
            <a:r>
              <a:rPr lang="fr-FR" sz="2400" dirty="0" smtClean="0"/>
              <a:t>synchroniser les fichiers.</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2821</TotalTime>
  <Words>1057</Words>
  <Application>Microsoft PowerPoint</Application>
  <PresentationFormat>Affichage à l'écran (4:3)</PresentationFormat>
  <Paragraphs>120</Paragraphs>
  <Slides>18</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Arial</vt:lpstr>
      <vt:lpstr>Times New Roman</vt:lpstr>
      <vt:lpstr>Georgia</vt:lpstr>
      <vt:lpstr>Wingdings 2</vt:lpstr>
      <vt:lpstr>Wingdings</vt:lpstr>
      <vt:lpstr>Arial Narrow</vt:lpstr>
      <vt:lpstr>Civil</vt:lpstr>
      <vt:lpstr>Chapitre 11  Configuration de Windows XP Professionnel pour l'informatique mobile </vt:lpstr>
      <vt:lpstr>Plan du cours</vt:lpstr>
      <vt:lpstr>1. Configuration de matériel pour l'informatique mobile</vt:lpstr>
      <vt:lpstr>2. Configuration des options de gestion de l'alimentation pour l'informatique mobile</vt:lpstr>
      <vt:lpstr>Choix d'un mode de gestion de l'alimentation</vt:lpstr>
      <vt:lpstr>Choix d'un mode de gestion de l'alimentation</vt:lpstr>
      <vt:lpstr>Utilisation des options de gestion de l'alimentation</vt:lpstr>
      <vt:lpstr>3. Mise à disposition des fichiers, dossiers et pages Web pour une utilisation hors connexion</vt:lpstr>
      <vt:lpstr>Examen de fichiers et de dossiers hors connexion</vt:lpstr>
      <vt:lpstr>Configuration de fichiers et de dossiers pour une utilisation hors connexion</vt:lpstr>
      <vt:lpstr>Configuration des paramètres de mise en cache pour les fichiers hors connexion</vt:lpstr>
      <vt:lpstr>Mise à disposition de pages Web en vue d'une utilisation hors connexion</vt:lpstr>
      <vt:lpstr>Gestion de la synchronisation des fichiers</vt:lpstr>
      <vt:lpstr>Exercices</vt:lpstr>
      <vt:lpstr>Exercices</vt:lpstr>
      <vt:lpstr>Exercices</vt:lpstr>
      <vt:lpstr>Exercices</vt:lpstr>
      <vt:lpstr>Exercices</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bwinter</dc:creator>
  <cp:lastModifiedBy>Halima</cp:lastModifiedBy>
  <cp:revision>90</cp:revision>
  <dcterms:created xsi:type="dcterms:W3CDTF">2001-02-08T22:48:37Z</dcterms:created>
  <dcterms:modified xsi:type="dcterms:W3CDTF">2014-12-28T20:03:40Z</dcterms:modified>
  <cp:contentStatus/>
</cp:coreProperties>
</file>