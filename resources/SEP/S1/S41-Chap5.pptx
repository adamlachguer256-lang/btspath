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1" r:id="rId1"/>
  </p:sldMasterIdLst>
  <p:notesMasterIdLst>
    <p:notesMasterId r:id="rId29"/>
  </p:notesMasterIdLst>
  <p:sldIdLst>
    <p:sldId id="335" r:id="rId2"/>
    <p:sldId id="336" r:id="rId3"/>
    <p:sldId id="337" r:id="rId4"/>
    <p:sldId id="338" r:id="rId5"/>
    <p:sldId id="355" r:id="rId6"/>
    <p:sldId id="358" r:id="rId7"/>
    <p:sldId id="340" r:id="rId8"/>
    <p:sldId id="341" r:id="rId9"/>
    <p:sldId id="342" r:id="rId10"/>
    <p:sldId id="356" r:id="rId11"/>
    <p:sldId id="288" r:id="rId12"/>
    <p:sldId id="344" r:id="rId13"/>
    <p:sldId id="357" r:id="rId14"/>
    <p:sldId id="346" r:id="rId15"/>
    <p:sldId id="348" r:id="rId16"/>
    <p:sldId id="349" r:id="rId17"/>
    <p:sldId id="350" r:id="rId18"/>
    <p:sldId id="351" r:id="rId19"/>
    <p:sldId id="359" r:id="rId20"/>
    <p:sldId id="360" r:id="rId21"/>
    <p:sldId id="361" r:id="rId22"/>
    <p:sldId id="362" r:id="rId23"/>
    <p:sldId id="363" r:id="rId24"/>
    <p:sldId id="364" r:id="rId25"/>
    <p:sldId id="365" r:id="rId26"/>
    <p:sldId id="366" r:id="rId27"/>
    <p:sldId id="367" r:id="rId28"/>
  </p:sldIdLst>
  <p:sldSz cx="9144000" cy="6858000" type="screen4x3"/>
  <p:notesSz cx="6858000" cy="9144000"/>
  <p:embeddedFontLst>
    <p:embeddedFont>
      <p:font typeface="Arial Narrow" panose="020B0606020202030204" pitchFamily="34" charset="0"/>
      <p:regular r:id="rId30"/>
      <p:bold r:id="rId31"/>
      <p:italic r:id="rId32"/>
      <p:boldItalic r:id="rId33"/>
    </p:embeddedFont>
    <p:embeddedFont>
      <p:font typeface="Georgia" panose="02040502050405020303" pitchFamily="18" charset="0"/>
      <p:regular r:id="rId34"/>
      <p:bold r:id="rId35"/>
      <p:italic r:id="rId36"/>
      <p:boldItalic r:id="rId37"/>
    </p:embeddedFont>
    <p:embeddedFont>
      <p:font typeface="Wingdings 2" panose="05020102010507070707" pitchFamily="18" charset="2"/>
      <p:regular r:id="rId38"/>
    </p:embeddedFont>
  </p:embeddedFontLst>
  <p:defaultTextStyle>
    <a:defPPr>
      <a:defRPr lang="en-US"/>
    </a:defPPr>
    <a:lvl1pPr algn="l" rtl="0" eaLnBrk="0" fontAlgn="base" hangingPunct="0">
      <a:spcBef>
        <a:spcPct val="0"/>
      </a:spcBef>
      <a:spcAft>
        <a:spcPct val="0"/>
      </a:spcAft>
      <a:defRPr sz="3000" kern="1200">
        <a:solidFill>
          <a:schemeClr val="tx1"/>
        </a:solidFill>
        <a:latin typeface="Arial Narrow" pitchFamily="34" charset="0"/>
        <a:ea typeface="+mn-ea"/>
        <a:cs typeface="+mn-cs"/>
      </a:defRPr>
    </a:lvl1pPr>
    <a:lvl2pPr marL="457200" algn="l" rtl="0" eaLnBrk="0" fontAlgn="base" hangingPunct="0">
      <a:spcBef>
        <a:spcPct val="0"/>
      </a:spcBef>
      <a:spcAft>
        <a:spcPct val="0"/>
      </a:spcAft>
      <a:defRPr sz="3000" kern="1200">
        <a:solidFill>
          <a:schemeClr val="tx1"/>
        </a:solidFill>
        <a:latin typeface="Arial Narrow" pitchFamily="34" charset="0"/>
        <a:ea typeface="+mn-ea"/>
        <a:cs typeface="+mn-cs"/>
      </a:defRPr>
    </a:lvl2pPr>
    <a:lvl3pPr marL="914400" algn="l" rtl="0" eaLnBrk="0" fontAlgn="base" hangingPunct="0">
      <a:spcBef>
        <a:spcPct val="0"/>
      </a:spcBef>
      <a:spcAft>
        <a:spcPct val="0"/>
      </a:spcAft>
      <a:defRPr sz="3000" kern="1200">
        <a:solidFill>
          <a:schemeClr val="tx1"/>
        </a:solidFill>
        <a:latin typeface="Arial Narrow" pitchFamily="34" charset="0"/>
        <a:ea typeface="+mn-ea"/>
        <a:cs typeface="+mn-cs"/>
      </a:defRPr>
    </a:lvl3pPr>
    <a:lvl4pPr marL="1371600" algn="l" rtl="0" eaLnBrk="0" fontAlgn="base" hangingPunct="0">
      <a:spcBef>
        <a:spcPct val="0"/>
      </a:spcBef>
      <a:spcAft>
        <a:spcPct val="0"/>
      </a:spcAft>
      <a:defRPr sz="3000" kern="1200">
        <a:solidFill>
          <a:schemeClr val="tx1"/>
        </a:solidFill>
        <a:latin typeface="Arial Narrow" pitchFamily="34" charset="0"/>
        <a:ea typeface="+mn-ea"/>
        <a:cs typeface="+mn-cs"/>
      </a:defRPr>
    </a:lvl4pPr>
    <a:lvl5pPr marL="1828800" algn="l" rtl="0" eaLnBrk="0" fontAlgn="base" hangingPunct="0">
      <a:spcBef>
        <a:spcPct val="0"/>
      </a:spcBef>
      <a:spcAft>
        <a:spcPct val="0"/>
      </a:spcAft>
      <a:defRPr sz="3000" kern="1200">
        <a:solidFill>
          <a:schemeClr val="tx1"/>
        </a:solidFill>
        <a:latin typeface="Arial Narrow" pitchFamily="34" charset="0"/>
        <a:ea typeface="+mn-ea"/>
        <a:cs typeface="+mn-cs"/>
      </a:defRPr>
    </a:lvl5pPr>
    <a:lvl6pPr marL="2286000" algn="l" defTabSz="914400" rtl="0" eaLnBrk="1" latinLnBrk="0" hangingPunct="1">
      <a:defRPr sz="3000" kern="1200">
        <a:solidFill>
          <a:schemeClr val="tx1"/>
        </a:solidFill>
        <a:latin typeface="Arial Narrow" pitchFamily="34" charset="0"/>
        <a:ea typeface="+mn-ea"/>
        <a:cs typeface="+mn-cs"/>
      </a:defRPr>
    </a:lvl6pPr>
    <a:lvl7pPr marL="2743200" algn="l" defTabSz="914400" rtl="0" eaLnBrk="1" latinLnBrk="0" hangingPunct="1">
      <a:defRPr sz="3000" kern="1200">
        <a:solidFill>
          <a:schemeClr val="tx1"/>
        </a:solidFill>
        <a:latin typeface="Arial Narrow" pitchFamily="34" charset="0"/>
        <a:ea typeface="+mn-ea"/>
        <a:cs typeface="+mn-cs"/>
      </a:defRPr>
    </a:lvl7pPr>
    <a:lvl8pPr marL="3200400" algn="l" defTabSz="914400" rtl="0" eaLnBrk="1" latinLnBrk="0" hangingPunct="1">
      <a:defRPr sz="3000" kern="1200">
        <a:solidFill>
          <a:schemeClr val="tx1"/>
        </a:solidFill>
        <a:latin typeface="Arial Narrow" pitchFamily="34" charset="0"/>
        <a:ea typeface="+mn-ea"/>
        <a:cs typeface="+mn-cs"/>
      </a:defRPr>
    </a:lvl8pPr>
    <a:lvl9pPr marL="3657600" algn="l" defTabSz="914400" rtl="0" eaLnBrk="1" latinLnBrk="0" hangingPunct="1">
      <a:defRPr sz="3000"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autoAdjust="0"/>
    <p:restoredTop sz="94660" autoAdjust="0"/>
  </p:normalViewPr>
  <p:slideViewPr>
    <p:cSldViewPr snapToGrid="0">
      <p:cViewPr varScale="1">
        <p:scale>
          <a:sx n="47" d="100"/>
          <a:sy n="47" d="100"/>
        </p:scale>
        <p:origin x="1570" y="51"/>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Lst>
  </p:outlineViewPr>
  <p:notesTextViewPr>
    <p:cViewPr>
      <p:scale>
        <a:sx n="100" d="100"/>
        <a:sy n="100" d="100"/>
      </p:scale>
      <p:origin x="0" y="0"/>
    </p:cViewPr>
  </p:notesTextViewPr>
  <p:sorterViewPr>
    <p:cViewPr>
      <p:scale>
        <a:sx n="75" d="100"/>
        <a:sy n="75" d="100"/>
      </p:scale>
      <p:origin x="0" y="146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s>
</file>

<file path=ppt/_rels/viewProps.xml.rels><?xml version="1.0" encoding="UTF-8" standalone="yes"?>
<Relationships xmlns="http://schemas.openxmlformats.org/package/2006/relationships"><Relationship Id="rId8" Type="http://schemas.openxmlformats.org/officeDocument/2006/relationships/slide" Target="slides/slide16.xml"/><Relationship Id="rId3" Type="http://schemas.openxmlformats.org/officeDocument/2006/relationships/slide" Target="slides/slide4.xml"/><Relationship Id="rId7" Type="http://schemas.openxmlformats.org/officeDocument/2006/relationships/slide" Target="slides/slide15.xml"/><Relationship Id="rId2" Type="http://schemas.openxmlformats.org/officeDocument/2006/relationships/slide" Target="slides/slide3.xml"/><Relationship Id="rId1" Type="http://schemas.openxmlformats.org/officeDocument/2006/relationships/slide" Target="slides/slide2.xml"/><Relationship Id="rId6" Type="http://schemas.openxmlformats.org/officeDocument/2006/relationships/slide" Target="slides/slide9.xml"/><Relationship Id="rId5" Type="http://schemas.openxmlformats.org/officeDocument/2006/relationships/slide" Target="slides/slide7.xml"/><Relationship Id="rId4"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7680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768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7680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680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7680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9281035-0885-4E47-A51A-FCC1C1E5F410}"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74A3C4-06A7-429C-9C0D-FC0AAD59FA8C}" type="slidenum">
              <a:rPr lang="en-US"/>
              <a:pPr/>
              <a:t>4</a:t>
            </a:fld>
            <a:endParaRPr lang="en-US"/>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41B317-6C2B-49BC-9D3E-71CEE056A5CE}" type="slidenum">
              <a:rPr lang="en-US"/>
              <a:pPr/>
              <a:t>7</a:t>
            </a:fld>
            <a:endParaRPr lang="en-US"/>
          </a:p>
        </p:txBody>
      </p:sp>
      <p:sp>
        <p:nvSpPr>
          <p:cNvPr id="133122" name="Rectangle 2"/>
          <p:cNvSpPr>
            <a:spLocks noGrp="1" noRot="1" noChangeAspect="1" noChangeArrowheads="1" noTextEdit="1"/>
          </p:cNvSpPr>
          <p:nvPr>
            <p:ph type="sldImg"/>
          </p:nvPr>
        </p:nvSpPr>
        <p:spPr>
          <a:ln/>
        </p:spPr>
      </p:sp>
      <p:sp>
        <p:nvSpPr>
          <p:cNvPr id="13312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p>
            <a:fld id="{58DAA637-A4C5-469E-9EC4-9A525D7EBADF}" type="slidenum">
              <a:rPr lang="en-US" smtClean="0">
                <a:latin typeface="Arial" pitchFamily="34" charset="0"/>
                <a:cs typeface="Arial" pitchFamily="34" charset="0"/>
              </a:rPr>
              <a:pPr/>
              <a:t>10</a:t>
            </a:fld>
            <a:endParaRPr lang="en-US">
              <a:latin typeface="Arial" pitchFamily="34" charset="0"/>
              <a:cs typeface="Arial"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xfrm>
            <a:off x="307492" y="2145467"/>
            <a:ext cx="6149837" cy="6734644"/>
          </a:xfrm>
          <a:noFill/>
          <a:ln/>
        </p:spPr>
        <p:txBody>
          <a:bodyPr/>
          <a:lstStyle/>
          <a:p>
            <a:r>
              <a:rPr lang="en-US" dirty="0">
                <a:latin typeface="Arial" pitchFamily="34" charset="0"/>
              </a:rPr>
              <a:t>This slide has an animated graphic that requires one click. </a:t>
            </a:r>
            <a:br>
              <a:rPr lang="en-US" dirty="0">
                <a:latin typeface="Arial" pitchFamily="34" charset="0"/>
              </a:rPr>
            </a:br>
            <a:endParaRPr lang="en-US" dirty="0">
              <a:latin typeface="Arial" pitchFamily="34" charset="0"/>
            </a:endParaRPr>
          </a:p>
          <a:p>
            <a:r>
              <a:rPr lang="en-US" dirty="0">
                <a:latin typeface="Arial" pitchFamily="34" charset="0"/>
              </a:rPr>
              <a:t>The first click displays the graphic of a file prior to compression, and then the graphic of the same file after compression. </a:t>
            </a:r>
            <a:br>
              <a:rPr lang="en-US" dirty="0">
                <a:latin typeface="Arial" pitchFamily="34" charset="0"/>
              </a:rPr>
            </a:br>
            <a:endParaRPr lang="en-US" dirty="0">
              <a:latin typeface="Arial" pitchFamily="34" charset="0"/>
            </a:endParaRPr>
          </a:p>
          <a:p>
            <a:r>
              <a:rPr lang="en-US" dirty="0">
                <a:latin typeface="Arial" pitchFamily="34" charset="0"/>
              </a:rPr>
              <a:t>Review each of the features and limitations of NTFS file compression that are listed in the Student Guide.</a:t>
            </a:r>
            <a:br>
              <a:rPr lang="en-US" dirty="0">
                <a:latin typeface="Arial" pitchFamily="34" charset="0"/>
              </a:rPr>
            </a:br>
            <a:endParaRPr lang="en-US" dirty="0">
              <a:latin typeface="Arial" pitchFamily="34" charset="0"/>
            </a:endParaRPr>
          </a:p>
          <a:p>
            <a:r>
              <a:rPr lang="en-US" dirty="0">
                <a:latin typeface="Arial" pitchFamily="34" charset="0"/>
              </a:rPr>
              <a:t>One of the main points that IT professionals must remember from this is that volumes, folders, and files on an NTFS file system are either compressed or uncompressed. Compression is an attribute of a file or folder.</a:t>
            </a:r>
            <a:br>
              <a:rPr lang="en-US" dirty="0">
                <a:latin typeface="Arial" pitchFamily="34" charset="0"/>
              </a:rPr>
            </a:br>
            <a:endParaRPr lang="en-US" dirty="0">
              <a:latin typeface="Arial" pitchFamily="34" charset="0"/>
            </a:endParaRPr>
          </a:p>
          <a:p>
            <a:r>
              <a:rPr lang="en-US" b="1" dirty="0">
                <a:latin typeface="Arial" pitchFamily="34" charset="0"/>
              </a:rPr>
              <a:t>Discussion prompt: </a:t>
            </a:r>
            <a:r>
              <a:rPr lang="en-US" dirty="0">
                <a:latin typeface="Arial" pitchFamily="34" charset="0"/>
              </a:rPr>
              <a:t>Ask students when they might consider implementing NTFS file system compression and ask them to consider alternatives, such as third-party compression technologies. Discuss each solution’s advantages and disadvantages.</a:t>
            </a:r>
          </a:p>
          <a:p>
            <a:endParaRPr lang="en-US" sz="800" dirty="0">
              <a:latin typeface="Arial" pitchFamily="34" charset="0"/>
            </a:endParaRPr>
          </a:p>
        </p:txBody>
      </p:sp>
      <p:sp>
        <p:nvSpPr>
          <p:cNvPr id="87045" name="Rectangle 4"/>
          <p:cNvSpPr>
            <a:spLocks noChangeArrowheads="1"/>
          </p:cNvSpPr>
          <p:nvPr/>
        </p:nvSpPr>
        <p:spPr bwMode="auto">
          <a:xfrm>
            <a:off x="0" y="28107"/>
            <a:ext cx="3429000" cy="644604"/>
          </a:xfrm>
          <a:prstGeom prst="rect">
            <a:avLst/>
          </a:prstGeom>
          <a:noFill/>
          <a:ln w="9525">
            <a:noFill/>
            <a:miter lim="800000"/>
            <a:headEnd/>
            <a:tailEnd/>
          </a:ln>
        </p:spPr>
        <p:txBody>
          <a:bodyPr lIns="89730" tIns="44865" rIns="89730" bIns="44865">
            <a:spAutoFit/>
          </a:bodyPr>
          <a:lstStyle/>
          <a:p>
            <a:r>
              <a:rPr lang="en-US" sz="1200" dirty="0">
                <a:latin typeface="Arial" pitchFamily="34" charset="0"/>
              </a:rPr>
              <a:t>Course 6292A</a:t>
            </a:r>
          </a:p>
          <a:p>
            <a:r>
              <a:rPr lang="en-US" sz="1200" dirty="0">
                <a:latin typeface="Arial" pitchFamily="34" charset="0"/>
              </a:rPr>
              <a:t>Module 3: Configuring File Access and Printers on Windows 7 Clients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a:extLst>
              <a:ext uri="{FF2B5EF4-FFF2-40B4-BE49-F238E27FC236}">
                <a16:creationId xmlns:a16="http://schemas.microsoft.com/office/drawing/2014/main" id="{7B7F1403-B695-4A6A-9C36-06A057369EFF}"/>
              </a:ext>
            </a:extLst>
          </p:cNvPr>
          <p:cNvSpPr>
            <a:spLocks noGrp="1" noRot="1" noChangeAspect="1" noTextEdit="1"/>
          </p:cNvSpPr>
          <p:nvPr>
            <p:ph type="sldImg"/>
          </p:nvPr>
        </p:nvSpPr>
        <p:spPr>
          <a:ln/>
        </p:spPr>
      </p:sp>
      <p:sp>
        <p:nvSpPr>
          <p:cNvPr id="91139" name="Notes Placeholder 2">
            <a:extLst>
              <a:ext uri="{FF2B5EF4-FFF2-40B4-BE49-F238E27FC236}">
                <a16:creationId xmlns:a16="http://schemas.microsoft.com/office/drawing/2014/main" id="{FB19B20B-0D03-4ACD-9BBD-05A4E285C854}"/>
              </a:ext>
            </a:extLst>
          </p:cNvPr>
          <p:cNvSpPr>
            <a:spLocks noGrp="1"/>
          </p:cNvSpPr>
          <p:nvPr>
            <p:ph type="body" idx="1"/>
          </p:nvPr>
        </p:nvSpPr>
        <p:spPr>
          <a:xfrm>
            <a:off x="314325" y="2082800"/>
            <a:ext cx="6286500" cy="6945313"/>
          </a:xfrm>
          <a:ln/>
        </p:spPr>
        <p:txBody>
          <a:bodyPr/>
          <a:lstStyle/>
          <a:p>
            <a:pPr>
              <a:defRPr/>
            </a:pPr>
            <a:r>
              <a:rPr lang="en-US" dirty="0"/>
              <a:t>This is a build slide. Only one click is needed to complete the animation.</a:t>
            </a:r>
          </a:p>
          <a:p>
            <a:pPr>
              <a:defRPr/>
            </a:pPr>
            <a:r>
              <a:rPr lang="en-US" dirty="0"/>
              <a:t>The original slide shows a file titled ClienSideCustomizations.xml that is 428 KB in size. The file is selected, and the </a:t>
            </a:r>
            <a:r>
              <a:rPr lang="en-US" b="1" dirty="0"/>
              <a:t>Send To &gt; Compressed (zipped) Folder </a:t>
            </a:r>
            <a:r>
              <a:rPr lang="en-US" dirty="0"/>
              <a:t>option is shown in the screen shot.</a:t>
            </a:r>
            <a:br>
              <a:rPr lang="en-US" dirty="0"/>
            </a:br>
            <a:endParaRPr lang="en-US" dirty="0"/>
          </a:p>
          <a:p>
            <a:pPr>
              <a:defRPr/>
            </a:pPr>
            <a:r>
              <a:rPr lang="en-US" dirty="0"/>
              <a:t>Click 1: shows the result of performing the Send To &gt;Compressed (zipped) Folder command, which is the creation of a ClientSideCustomizations.zip file that has been compressed down to 34 KB.</a:t>
            </a:r>
            <a:br>
              <a:rPr lang="en-US" dirty="0"/>
            </a:br>
            <a:endParaRPr lang="en-US" dirty="0"/>
          </a:p>
          <a:p>
            <a:pPr>
              <a:defRPr/>
            </a:pPr>
            <a:r>
              <a:rPr lang="en-US" dirty="0"/>
              <a:t>Features of compressed folders include:</a:t>
            </a:r>
          </a:p>
          <a:p>
            <a:pPr marL="112713" indent="-112713">
              <a:buFontTx/>
              <a:buChar char="•"/>
              <a:defRPr/>
            </a:pPr>
            <a:r>
              <a:rPr lang="en-US" dirty="0"/>
              <a:t>Those files and folders that you compress by using the Compressed (zipped) Folders feature are ones that you can compress on FAT and NTFS drives.</a:t>
            </a:r>
          </a:p>
          <a:p>
            <a:pPr marL="112713" indent="-112713">
              <a:buFontTx/>
              <a:buChar char="•"/>
              <a:defRPr/>
            </a:pPr>
            <a:r>
              <a:rPr lang="en-US" dirty="0"/>
              <a:t>You can open files directly from these compressed folders.</a:t>
            </a:r>
          </a:p>
          <a:p>
            <a:pPr marL="112713" indent="-112713">
              <a:buFontTx/>
              <a:buChar char="•"/>
              <a:defRPr/>
            </a:pPr>
            <a:r>
              <a:rPr lang="en-US" dirty="0"/>
              <a:t>You can run some programs directly from these compressed folders without uncompressing them.</a:t>
            </a:r>
          </a:p>
          <a:p>
            <a:pPr>
              <a:buFontTx/>
              <a:buChar char="•"/>
              <a:defRPr/>
            </a:pPr>
            <a:endParaRPr lang="en-US" dirty="0"/>
          </a:p>
          <a:p>
            <a:pPr>
              <a:defRPr/>
            </a:pPr>
            <a:r>
              <a:rPr lang="en-US" dirty="0"/>
              <a:t>Note that most of the students are probably familiar with zipped files, so you may not need to spend  much time on this slide.</a:t>
            </a:r>
            <a:br>
              <a:rPr lang="en-US" dirty="0"/>
            </a:br>
            <a:endParaRPr lang="en-US" dirty="0"/>
          </a:p>
          <a:p>
            <a:pPr>
              <a:defRPr/>
            </a:pPr>
            <a:r>
              <a:rPr lang="en-US" b="1" dirty="0"/>
              <a:t>Discussion prompt: </a:t>
            </a:r>
            <a:r>
              <a:rPr lang="en-US" dirty="0"/>
              <a:t>Ask students to consider this method as an alternative to compressing on NTFS volumes. What do they think are each solution’s merits?</a:t>
            </a:r>
          </a:p>
          <a:p>
            <a:pPr>
              <a:defRPr/>
            </a:pPr>
            <a:endParaRPr lang="en-US" dirty="0"/>
          </a:p>
        </p:txBody>
      </p:sp>
      <p:sp>
        <p:nvSpPr>
          <p:cNvPr id="5" name="Date Placeholder 4">
            <a:extLst>
              <a:ext uri="{FF2B5EF4-FFF2-40B4-BE49-F238E27FC236}">
                <a16:creationId xmlns:a16="http://schemas.microsoft.com/office/drawing/2014/main" id="{BBBC7631-EF20-4F93-B1EF-E7C3DD792FA6}"/>
              </a:ext>
            </a:extLst>
          </p:cNvPr>
          <p:cNvSpPr>
            <a:spLocks noGrp="1"/>
          </p:cNvSpPr>
          <p:nvPr>
            <p:ph type="dt" sz="quarter" idx="1"/>
          </p:nvPr>
        </p:nvSpPr>
        <p:spPr/>
        <p:txBody>
          <a:bodyPr/>
          <a:lstStyle/>
          <a:p>
            <a:pPr>
              <a:defRPr/>
            </a:pPr>
            <a:r>
              <a:rPr lang="en-US" dirty="0"/>
              <a:t>Course 6292A</a:t>
            </a:r>
          </a:p>
          <a:p>
            <a:pPr>
              <a:defRPr/>
            </a:pPr>
            <a:r>
              <a:rPr lang="en-US" dirty="0"/>
              <a:t>Module 3: Configuring File Access and Printers on Windows 7 Clients</a:t>
            </a:r>
          </a:p>
        </p:txBody>
      </p:sp>
      <p:sp>
        <p:nvSpPr>
          <p:cNvPr id="91141" name="Slide Number Placeholder 5">
            <a:extLst>
              <a:ext uri="{FF2B5EF4-FFF2-40B4-BE49-F238E27FC236}">
                <a16:creationId xmlns:a16="http://schemas.microsoft.com/office/drawing/2014/main" id="{351A3123-5CFD-41E9-88B3-22565A6E49C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fld id="{2D9DF1C4-E5AA-4AA5-8D57-AD1ED328ADB4}" type="slidenum">
              <a:rPr lang="en-US" altLang="fr-FR" b="0">
                <a:latin typeface="Arial" panose="020B0604020202020204" pitchFamily="34" charset="0"/>
              </a:rPr>
              <a:pPr eaLnBrk="1" hangingPunct="1"/>
              <a:t>11</a:t>
            </a:fld>
            <a:endParaRPr lang="en-US" altLang="fr-FR" b="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108D01-B8E6-45FA-84DF-F7F609A9AB7D}" type="slidenum">
              <a:rPr lang="en-US"/>
              <a:pPr/>
              <a:t>12</a:t>
            </a:fld>
            <a:endParaRPr lang="en-US"/>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p>
            <a:fld id="{768FBB21-6B12-487F-B5A2-7CCC516B6437}" type="slidenum">
              <a:rPr lang="en-US" smtClean="0">
                <a:latin typeface="Arial" pitchFamily="34" charset="0"/>
                <a:cs typeface="Arial" pitchFamily="34" charset="0"/>
              </a:rPr>
              <a:pPr/>
              <a:t>13</a:t>
            </a:fld>
            <a:endParaRPr lang="en-US">
              <a:latin typeface="Arial" pitchFamily="34" charset="0"/>
              <a:cs typeface="Arial" pitchFamily="34"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xfrm>
            <a:off x="307492" y="1958090"/>
            <a:ext cx="6149837" cy="6922021"/>
          </a:xfrm>
          <a:noFill/>
          <a:ln/>
        </p:spPr>
        <p:txBody>
          <a:bodyPr/>
          <a:lstStyle/>
          <a:p>
            <a:r>
              <a:rPr lang="en-US" dirty="0">
                <a:latin typeface="Arial" pitchFamily="34" charset="0"/>
              </a:rPr>
              <a:t>This is an animated slide. The primary point of this topic is that moving and copying compressed files and folders can change their compression state. All file activities result in the retargeted file inheriting its new parent’s compression status, with the exception of moves between folders on the same partition.</a:t>
            </a:r>
          </a:p>
          <a:p>
            <a:r>
              <a:rPr lang="en-US" dirty="0">
                <a:latin typeface="Arial" pitchFamily="34" charset="0"/>
              </a:rPr>
              <a:t>Review the Student Guide and discuss the four scenarios and outcomes. For each scenario, ask the students the question, and then once they have discussed the answer, click to display the answer graphically.  </a:t>
            </a:r>
            <a:br>
              <a:rPr lang="en-US" dirty="0">
                <a:latin typeface="Arial" pitchFamily="34" charset="0"/>
              </a:rPr>
            </a:br>
            <a:br>
              <a:rPr lang="en-US" dirty="0">
                <a:latin typeface="Arial" pitchFamily="34" charset="0"/>
              </a:rPr>
            </a:br>
            <a:r>
              <a:rPr lang="en-US" b="1" dirty="0">
                <a:latin typeface="Arial" pitchFamily="34" charset="0"/>
              </a:rPr>
              <a:t>Note:</a:t>
            </a:r>
            <a:r>
              <a:rPr lang="en-US" dirty="0">
                <a:latin typeface="Arial" pitchFamily="34" charset="0"/>
              </a:rPr>
              <a:t>  Due to space limitations, there is no clock image on this slide that indicates the length of the discussion. However, allocate approximately ten minutes to complete this discussion.</a:t>
            </a:r>
          </a:p>
          <a:p>
            <a:r>
              <a:rPr lang="en-US" b="1" dirty="0">
                <a:latin typeface="Arial" pitchFamily="34" charset="0"/>
              </a:rPr>
              <a:t>Question A: </a:t>
            </a:r>
            <a:r>
              <a:rPr lang="en-US" dirty="0">
                <a:latin typeface="Arial" pitchFamily="34" charset="0"/>
              </a:rPr>
              <a:t>What happens to the compression state of a file or folder when you copy it within an NTFS partition? </a:t>
            </a:r>
          </a:p>
          <a:p>
            <a:r>
              <a:rPr lang="en-US" i="1" dirty="0">
                <a:latin typeface="Arial" pitchFamily="34" charset="0"/>
              </a:rPr>
              <a:t>After discussion, click to show graphic answer. </a:t>
            </a:r>
            <a:br>
              <a:rPr lang="en-US" i="1" dirty="0">
                <a:latin typeface="Arial" pitchFamily="34" charset="0"/>
              </a:rPr>
            </a:br>
            <a:r>
              <a:rPr lang="en-US" dirty="0">
                <a:latin typeface="Arial" pitchFamily="34" charset="0"/>
              </a:rPr>
              <a:t>Answer: the file or folder inherits the compression state of the target folder. For example, if you copy a compressed file or folder to an uncompressed folder, the file or folder is automatically uncompressed.</a:t>
            </a:r>
            <a:br>
              <a:rPr lang="en-US" dirty="0">
                <a:latin typeface="Arial" pitchFamily="34" charset="0"/>
              </a:rPr>
            </a:br>
            <a:br>
              <a:rPr lang="en-US" dirty="0">
                <a:latin typeface="Arial" pitchFamily="34" charset="0"/>
              </a:rPr>
            </a:br>
            <a:r>
              <a:rPr lang="en-US" b="1" dirty="0">
                <a:latin typeface="Arial" pitchFamily="34" charset="0"/>
              </a:rPr>
              <a:t>Question B:</a:t>
            </a:r>
            <a:r>
              <a:rPr lang="en-US" dirty="0">
                <a:latin typeface="Arial" pitchFamily="34" charset="0"/>
              </a:rPr>
              <a:t> What happens when you move a file or folder within an NTFS partition?</a:t>
            </a:r>
          </a:p>
          <a:p>
            <a:r>
              <a:rPr lang="en-US" i="1" dirty="0">
                <a:latin typeface="Arial" pitchFamily="34" charset="0"/>
              </a:rPr>
              <a:t>After discussion, click to show graphic answer</a:t>
            </a:r>
            <a:r>
              <a:rPr lang="en-US" dirty="0">
                <a:latin typeface="Arial" pitchFamily="34" charset="0"/>
              </a:rPr>
              <a:t>. </a:t>
            </a:r>
            <a:br>
              <a:rPr lang="en-US" dirty="0">
                <a:latin typeface="Arial" pitchFamily="34" charset="0"/>
              </a:rPr>
            </a:br>
            <a:r>
              <a:rPr lang="en-US" dirty="0">
                <a:latin typeface="Arial" pitchFamily="34" charset="0"/>
              </a:rPr>
              <a:t>Answer: the file or folder retains its original compression state. For example, if you move a compressed file or folder to an uncompressed folder, the file remains compressed.</a:t>
            </a:r>
            <a:br>
              <a:rPr lang="en-US" dirty="0">
                <a:latin typeface="Arial" pitchFamily="34" charset="0"/>
              </a:rPr>
            </a:br>
            <a:endParaRPr lang="en-US" dirty="0">
              <a:latin typeface="Arial" pitchFamily="34" charset="0"/>
            </a:endParaRPr>
          </a:p>
          <a:p>
            <a:r>
              <a:rPr lang="en-US" b="1" dirty="0">
                <a:latin typeface="Arial" pitchFamily="34" charset="0"/>
              </a:rPr>
              <a:t>Question C: </a:t>
            </a:r>
            <a:r>
              <a:rPr lang="en-US" dirty="0">
                <a:latin typeface="Arial" pitchFamily="34" charset="0"/>
              </a:rPr>
              <a:t>What happens to the compression state of a file or folder when you copy or move it between NTFS partitions?</a:t>
            </a:r>
          </a:p>
          <a:p>
            <a:r>
              <a:rPr lang="en-US" i="1" dirty="0">
                <a:latin typeface="Arial" pitchFamily="34" charset="0"/>
              </a:rPr>
              <a:t>After discussion, click to show graphic answer. </a:t>
            </a:r>
            <a:br>
              <a:rPr lang="en-US" i="1" dirty="0">
                <a:latin typeface="Arial" pitchFamily="34" charset="0"/>
              </a:rPr>
            </a:br>
            <a:r>
              <a:rPr lang="en-US" dirty="0">
                <a:latin typeface="Arial" pitchFamily="34" charset="0"/>
              </a:rPr>
              <a:t>Answer: When you move a file or folder between NTFS partitions, the file or folder inherits the compression state of the target folder. Because Windows 7 treats a move between partitions as a copy followed by a delete operation, the files inherit the compression state of the target folder.</a:t>
            </a:r>
          </a:p>
          <a:p>
            <a:r>
              <a:rPr lang="en-US" dirty="0">
                <a:latin typeface="Arial" pitchFamily="34" charset="0"/>
              </a:rPr>
              <a:t>When you copy a file to a folder that already contains a file of the same name, the copied file takes on the compression attribute of the target file, regardless of the compression state of the folder.</a:t>
            </a:r>
            <a:br>
              <a:rPr lang="en-US" dirty="0">
                <a:latin typeface="Arial" pitchFamily="34" charset="0"/>
              </a:rPr>
            </a:br>
            <a:endParaRPr lang="en-US" b="1" dirty="0">
              <a:latin typeface="Arial" pitchFamily="34" charset="0"/>
            </a:endParaRPr>
          </a:p>
          <a:p>
            <a:r>
              <a:rPr lang="en-US" b="1" dirty="0">
                <a:latin typeface="Arial" pitchFamily="34" charset="0"/>
              </a:rPr>
              <a:t>Question D: </a:t>
            </a:r>
            <a:r>
              <a:rPr lang="en-US" dirty="0">
                <a:latin typeface="Arial" pitchFamily="34" charset="0"/>
              </a:rPr>
              <a:t>What happens to the compression state of a file that you copy or move between FAT and NTFS volumes?</a:t>
            </a:r>
          </a:p>
          <a:p>
            <a:r>
              <a:rPr lang="en-US" i="1" dirty="0">
                <a:latin typeface="Arial" pitchFamily="34" charset="0"/>
              </a:rPr>
              <a:t>After discussion, click to show graphic answer</a:t>
            </a:r>
            <a:r>
              <a:rPr lang="en-US" dirty="0">
                <a:latin typeface="Arial" pitchFamily="34" charset="0"/>
              </a:rPr>
              <a:t>. </a:t>
            </a:r>
            <a:br>
              <a:rPr lang="en-US" dirty="0">
                <a:latin typeface="Arial" pitchFamily="34" charset="0"/>
              </a:rPr>
            </a:br>
            <a:r>
              <a:rPr lang="en-US" dirty="0">
                <a:latin typeface="Arial" pitchFamily="34" charset="0"/>
              </a:rPr>
              <a:t>Answer: Compressed files that you copy to a FAT partition are uncompressed because FAT volumes do not support compression. However, when you copy or move files from a FAT partition to an NTFS partition, they inherit the compression attribute of the folder into which you copy them. Because Windows 7 treats a move between partitions as a copy followed by a delete operation, the files inherit the compression state of the target folder. When you copy files, the NTFS file system calculates disk space based on the size of the uncompressed file. This is important because files are uncompressed during the copy process and the system must ensure there is enough space. If you copy a compressed file to an NTFS partition that does not have enough space for the uncompressed file, an error message notifies you that there is not enough disk space for the file.</a:t>
            </a:r>
          </a:p>
          <a:p>
            <a:endParaRPr lang="en-US" dirty="0">
              <a:latin typeface="Arial" pitchFamily="34" charset="0"/>
            </a:endParaRPr>
          </a:p>
          <a:p>
            <a:pPr>
              <a:buFontTx/>
              <a:buChar char="-"/>
            </a:pPr>
            <a:endParaRPr lang="en-US" sz="800" dirty="0">
              <a:latin typeface="Arial" pitchFamily="34" charset="0"/>
            </a:endParaRPr>
          </a:p>
          <a:p>
            <a:pPr>
              <a:buFontTx/>
              <a:buChar char="-"/>
            </a:pPr>
            <a:endParaRPr lang="en-US" sz="800" dirty="0">
              <a:latin typeface="Arial" pitchFamily="34" charset="0"/>
            </a:endParaRPr>
          </a:p>
          <a:p>
            <a:endParaRPr lang="en-US" sz="800" dirty="0">
              <a:latin typeface="Arial" pitchFamily="34" charset="0"/>
            </a:endParaRPr>
          </a:p>
        </p:txBody>
      </p:sp>
      <p:sp>
        <p:nvSpPr>
          <p:cNvPr id="89093" name="Rectangle 4"/>
          <p:cNvSpPr>
            <a:spLocks noChangeArrowheads="1"/>
          </p:cNvSpPr>
          <p:nvPr/>
        </p:nvSpPr>
        <p:spPr bwMode="auto">
          <a:xfrm>
            <a:off x="9318" y="28107"/>
            <a:ext cx="3429000" cy="644604"/>
          </a:xfrm>
          <a:prstGeom prst="rect">
            <a:avLst/>
          </a:prstGeom>
          <a:noFill/>
          <a:ln w="9525">
            <a:noFill/>
            <a:miter lim="800000"/>
            <a:headEnd/>
            <a:tailEnd/>
          </a:ln>
        </p:spPr>
        <p:txBody>
          <a:bodyPr lIns="89730" tIns="44865" rIns="89730" bIns="44865">
            <a:spAutoFit/>
          </a:bodyPr>
          <a:lstStyle/>
          <a:p>
            <a:r>
              <a:rPr lang="en-US" sz="1200" dirty="0">
                <a:latin typeface="Arial" pitchFamily="34" charset="0"/>
              </a:rPr>
              <a:t>Course 6292A</a:t>
            </a:r>
          </a:p>
          <a:p>
            <a:r>
              <a:rPr lang="en-US" sz="1200" dirty="0">
                <a:latin typeface="Arial" pitchFamily="34" charset="0"/>
              </a:rPr>
              <a:t>Module 3: Configuring File Access and Printers on Windows 7 Clients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29B74E-F217-4C0F-BC61-98A27C66DCE6}" type="slidenum">
              <a:rPr lang="en-US"/>
              <a:pPr/>
              <a:t>14</a:t>
            </a:fld>
            <a:endParaRPr lang="en-US"/>
          </a:p>
        </p:txBody>
      </p:sp>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3B585AB-C878-47DC-BEFB-2EE06C9746F1}" type="slidenum">
              <a:rPr lang="en-US"/>
              <a:pPr/>
              <a:t>16</a:t>
            </a:fld>
            <a:endParaRPr lang="en-US"/>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endParaRPr lang="fr-F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D28E4A-8D8F-4BB3-BCF4-DAC8AECCAE08}" type="slidenum">
              <a:rPr lang="en-US"/>
              <a:pPr/>
              <a:t>17</a:t>
            </a:fld>
            <a:endParaRPr lang="en-US"/>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638066-F0EE-4303-8BBF-337C77E1FABE}" type="slidenum">
              <a:rPr lang="en-US"/>
              <a:pPr/>
              <a:t>18</a:t>
            </a:fld>
            <a:endParaRPr lang="en-US"/>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5A4FAEC-2D65-4669-8B9A-5766656E50C8}" type="slidenum">
              <a:rPr lang="en-US"/>
              <a:pPr/>
              <a:t>19</a:t>
            </a:fld>
            <a:endParaRPr lang="en-US"/>
          </a:p>
        </p:txBody>
      </p:sp>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BDA944-5D4C-4742-AC99-03B2BC819017}" type="slidenum">
              <a:rPr lang="en-US"/>
              <a:pPr/>
              <a:t>20</a:t>
            </a:fld>
            <a:endParaRPr lang="en-US"/>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endParaRPr lang="fr-F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0225789-8893-4C54-8A69-D03B11E550A9}" type="slidenum">
              <a:rPr lang="en-US"/>
              <a:pPr/>
              <a:t>21</a:t>
            </a:fld>
            <a:endParaRPr lang="en-US"/>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p:txBody>
          <a:bodyPr/>
          <a:lstStyle/>
          <a:p>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12/1/2024</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a:t>Cliquez pour modifier le style du titre</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12/1/2024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12/1/2024</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12/1/2024</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12/1/2024</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12/1/2024</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12/1/2024</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12/1/2024</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12/1/2024</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12/1/2024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12/1/2024</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828675" y="0"/>
            <a:ext cx="7400925" cy="842963"/>
          </a:xfrm>
        </p:spPr>
        <p:txBody>
          <a:bodyPr/>
          <a:lstStyle/>
          <a:p>
            <a:r>
              <a:rPr lang="en-US"/>
              <a:t>Click to edit Master title style</a:t>
            </a:r>
            <a:endParaRPr lang="en-GB"/>
          </a:p>
        </p:txBody>
      </p:sp>
      <p:sp>
        <p:nvSpPr>
          <p:cNvPr id="3" name="Text Placeholder 2"/>
          <p:cNvSpPr>
            <a:spLocks noGrp="1"/>
          </p:cNvSpPr>
          <p:nvPr>
            <p:ph type="body" sz="half" idx="1"/>
          </p:nvPr>
        </p:nvSpPr>
        <p:spPr>
          <a:xfrm>
            <a:off x="1047750" y="1465263"/>
            <a:ext cx="7029450" cy="2262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1047750" y="3879850"/>
            <a:ext cx="7029450" cy="2262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12/1/2024</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
        <p:nvSpPr>
          <p:cNvPr id="20" name="ZoneTexte 19"/>
          <p:cNvSpPr txBox="1"/>
          <p:nvPr userDrawn="1"/>
        </p:nvSpPr>
        <p:spPr>
          <a:xfrm>
            <a:off x="171450" y="6386514"/>
            <a:ext cx="1957387" cy="285750"/>
          </a:xfrm>
          <a:prstGeom prst="rect">
            <a:avLst/>
          </a:prstGeom>
          <a:noFill/>
        </p:spPr>
        <p:txBody>
          <a:bodyPr wrap="square" rtlCol="0">
            <a:spAutoFit/>
          </a:bodyPr>
          <a:lstStyle/>
          <a:p>
            <a:r>
              <a:rPr lang="fr-FR" sz="1200" b="1" dirty="0"/>
              <a:t>Professeur: Halima HOUSNY</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832860" y="1981199"/>
            <a:ext cx="7524750" cy="2791836"/>
          </a:xfrm>
          <a:noFill/>
          <a:ln/>
        </p:spPr>
        <p:txBody>
          <a:bodyPr lIns="90488" tIns="44450" rIns="90488" bIns="44450"/>
          <a:lstStyle/>
          <a:p>
            <a:pPr algn="ctr">
              <a:lnSpc>
                <a:spcPct val="95000"/>
              </a:lnSpc>
            </a:pPr>
            <a:r>
              <a:rPr lang="fr-FR" sz="5000" dirty="0">
                <a:solidFill>
                  <a:schemeClr val="tx1"/>
                </a:solidFill>
                <a:latin typeface="Arial" pitchFamily="34" charset="0"/>
                <a:cs typeface="Arial" pitchFamily="34" charset="0"/>
              </a:rPr>
              <a:t>Chapitre 5 </a:t>
            </a:r>
            <a:br>
              <a:rPr lang="fr-FR" sz="5000" dirty="0">
                <a:solidFill>
                  <a:schemeClr val="tx1"/>
                </a:solidFill>
                <a:latin typeface="Arial" pitchFamily="34" charset="0"/>
                <a:cs typeface="Arial" pitchFamily="34" charset="0"/>
              </a:rPr>
            </a:br>
            <a:r>
              <a:rPr lang="fr-FR" sz="5000" dirty="0">
                <a:solidFill>
                  <a:schemeClr val="tx1"/>
                </a:solidFill>
                <a:latin typeface="Arial" pitchFamily="34" charset="0"/>
                <a:cs typeface="Arial" pitchFamily="34" charset="0"/>
              </a:rPr>
              <a:t> Configuration et gestion des systèmes de fichiers</a:t>
            </a:r>
            <a:endParaRPr lang="en-US" sz="5000" dirty="0">
              <a:solidFill>
                <a:schemeClr val="tx1"/>
              </a:solidFill>
              <a:latin typeface="Arial" pitchFamily="34" charset="0"/>
              <a:cs typeface="Arial" pitchFamily="34" charset="0"/>
            </a:endParaRPr>
          </a:p>
        </p:txBody>
      </p:sp>
      <p:sp>
        <p:nvSpPr>
          <p:cNvPr id="3" name="Rectangle 2"/>
          <p:cNvSpPr/>
          <p:nvPr/>
        </p:nvSpPr>
        <p:spPr>
          <a:xfrm>
            <a:off x="2690945" y="227156"/>
            <a:ext cx="3751421" cy="923330"/>
          </a:xfrm>
          <a:prstGeom prst="rect">
            <a:avLst/>
          </a:prstGeom>
        </p:spPr>
        <p:txBody>
          <a:bodyPr wrap="square">
            <a:spAutoFit/>
          </a:bodyPr>
          <a:lstStyle/>
          <a:p>
            <a:r>
              <a:rPr lang="fr-FR" sz="5400" b="1" dirty="0">
                <a:solidFill>
                  <a:schemeClr val="tx1"/>
                </a:solidFill>
                <a:latin typeface="Times New Roman" pitchFamily="18" charset="0"/>
                <a:cs typeface="Times New Roman" pitchFamily="18" charset="0"/>
              </a:rPr>
              <a:t>Module S41</a:t>
            </a:r>
            <a:endParaRPr lang="fr-FR" sz="5400" b="1"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r>
              <a:rPr lang="en-US" dirty="0">
                <a:solidFill>
                  <a:schemeClr val="tx1"/>
                </a:solidFill>
                <a:cs typeface="Times New Roman" pitchFamily="18" charset="0"/>
              </a:rPr>
              <a:t>Plan du </a:t>
            </a:r>
            <a:r>
              <a:rPr lang="en-US" dirty="0" err="1">
                <a:solidFill>
                  <a:schemeClr val="tx1"/>
                </a:solidFill>
                <a:cs typeface="Times New Roman" pitchFamily="18" charset="0"/>
              </a:rPr>
              <a:t>cours</a:t>
            </a:r>
            <a:endParaRPr lang="en-US" dirty="0">
              <a:solidFill>
                <a:schemeClr val="tx1"/>
              </a:solidFill>
            </a:endParaRPr>
          </a:p>
        </p:txBody>
      </p:sp>
      <p:sp>
        <p:nvSpPr>
          <p:cNvPr id="126979" name="Rectangle 3"/>
          <p:cNvSpPr>
            <a:spLocks noGrp="1" noChangeArrowheads="1"/>
          </p:cNvSpPr>
          <p:nvPr>
            <p:ph sz="quarter" idx="1"/>
          </p:nvPr>
        </p:nvSpPr>
        <p:spPr>
          <a:xfrm>
            <a:off x="274043" y="2579993"/>
            <a:ext cx="8503920" cy="1992007"/>
          </a:xfrm>
        </p:spPr>
        <p:txBody>
          <a:bodyPr>
            <a:normAutofit/>
          </a:bodyPr>
          <a:lstStyle/>
          <a:p>
            <a:pPr marL="514350" indent="-514350">
              <a:buClr>
                <a:schemeClr val="tx1"/>
              </a:buClr>
              <a:buFont typeface="+mj-lt"/>
              <a:buAutoNum type="arabicPeriod"/>
            </a:pPr>
            <a:r>
              <a:rPr lang="en-US" sz="2800" dirty="0" err="1">
                <a:cs typeface="Times New Roman" pitchFamily="18" charset="0"/>
              </a:rPr>
              <a:t>Utilisation</a:t>
            </a:r>
            <a:r>
              <a:rPr lang="en-US" sz="2800" dirty="0">
                <a:cs typeface="Times New Roman" pitchFamily="18" charset="0"/>
              </a:rPr>
              <a:t> des </a:t>
            </a:r>
            <a:r>
              <a:rPr lang="en-US" sz="2800" dirty="0" err="1">
                <a:cs typeface="Times New Roman" pitchFamily="18" charset="0"/>
              </a:rPr>
              <a:t>systèmes</a:t>
            </a:r>
            <a:r>
              <a:rPr lang="en-US" sz="2800" dirty="0">
                <a:cs typeface="Times New Roman" pitchFamily="18" charset="0"/>
              </a:rPr>
              <a:t> de </a:t>
            </a:r>
            <a:r>
              <a:rPr lang="en-US" sz="2800" dirty="0" err="1">
                <a:cs typeface="Times New Roman" pitchFamily="18" charset="0"/>
              </a:rPr>
              <a:t>fichiers</a:t>
            </a:r>
            <a:endParaRPr lang="en-US" sz="2800" dirty="0"/>
          </a:p>
          <a:p>
            <a:pPr marL="514350" indent="-514350">
              <a:buClr>
                <a:schemeClr val="tx1"/>
              </a:buClr>
              <a:buFont typeface="+mj-lt"/>
              <a:buAutoNum type="arabicPeriod"/>
            </a:pPr>
            <a:r>
              <a:rPr lang="en-US" sz="2800" dirty="0" err="1">
                <a:cs typeface="Times New Roman" pitchFamily="18" charset="0"/>
              </a:rPr>
              <a:t>Gestion</a:t>
            </a:r>
            <a:r>
              <a:rPr lang="en-US" sz="2800" dirty="0">
                <a:cs typeface="Times New Roman" pitchFamily="18" charset="0"/>
              </a:rPr>
              <a:t> de la compression des </a:t>
            </a:r>
            <a:r>
              <a:rPr lang="en-US" sz="2800" dirty="0" err="1">
                <a:cs typeface="Times New Roman" pitchFamily="18" charset="0"/>
              </a:rPr>
              <a:t>données</a:t>
            </a:r>
            <a:endParaRPr lang="en-US" sz="2800" dirty="0"/>
          </a:p>
          <a:p>
            <a:pPr marL="514350" indent="-514350">
              <a:buClr>
                <a:schemeClr val="tx1"/>
              </a:buClr>
              <a:buFont typeface="+mj-lt"/>
              <a:buAutoNum type="arabicPeriod"/>
            </a:pPr>
            <a:r>
              <a:rPr lang="en-US" sz="2800" dirty="0" err="1">
                <a:cs typeface="Times New Roman" pitchFamily="18" charset="0"/>
              </a:rPr>
              <a:t>Sécurisation</a:t>
            </a:r>
            <a:r>
              <a:rPr lang="en-US" sz="2800" dirty="0">
                <a:cs typeface="Times New Roman" pitchFamily="18" charset="0"/>
              </a:rPr>
              <a:t> de </a:t>
            </a:r>
            <a:r>
              <a:rPr lang="en-US" sz="2800" dirty="0" err="1">
                <a:cs typeface="Times New Roman" pitchFamily="18" charset="0"/>
              </a:rPr>
              <a:t>données</a:t>
            </a:r>
            <a:r>
              <a:rPr lang="en-US" sz="2800" dirty="0">
                <a:cs typeface="Times New Roman" pitchFamily="18" charset="0"/>
              </a:rPr>
              <a:t> à </a:t>
            </a:r>
            <a:r>
              <a:rPr lang="en-US" sz="2800" dirty="0" err="1">
                <a:cs typeface="Times New Roman" pitchFamily="18" charset="0"/>
              </a:rPr>
              <a:t>l'aide</a:t>
            </a:r>
            <a:r>
              <a:rPr lang="en-US" sz="2800" dirty="0">
                <a:cs typeface="Times New Roman" pitchFamily="18" charset="0"/>
              </a:rPr>
              <a:t> du </a:t>
            </a:r>
            <a:r>
              <a:rPr lang="en-US" sz="2800" dirty="0" err="1">
                <a:cs typeface="Times New Roman" pitchFamily="18" charset="0"/>
              </a:rPr>
              <a:t>système</a:t>
            </a:r>
            <a:r>
              <a:rPr lang="en-US" sz="2800" dirty="0">
                <a:cs typeface="Times New Roman" pitchFamily="18" charset="0"/>
              </a:rPr>
              <a:t> EFS</a:t>
            </a:r>
            <a:endParaRPr lang="en-US" sz="2800" dirty="0"/>
          </a:p>
          <a:p>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pPr marL="460375" indent="-460375">
              <a:buClr>
                <a:schemeClr val="accent2"/>
              </a:buClr>
            </a:pPr>
            <a:r>
              <a:rPr lang="en-US" dirty="0">
                <a:solidFill>
                  <a:schemeClr val="tx1"/>
                </a:solidFill>
                <a:cs typeface="Times New Roman" pitchFamily="18" charset="0"/>
              </a:rPr>
              <a:t>1. </a:t>
            </a:r>
            <a:r>
              <a:rPr lang="en-US" dirty="0" err="1">
                <a:solidFill>
                  <a:schemeClr val="tx1"/>
                </a:solidFill>
                <a:cs typeface="Times New Roman" pitchFamily="18" charset="0"/>
              </a:rPr>
              <a:t>Utilisation</a:t>
            </a:r>
            <a:r>
              <a:rPr lang="en-US" dirty="0">
                <a:solidFill>
                  <a:schemeClr val="tx1"/>
                </a:solidFill>
                <a:cs typeface="Times New Roman" pitchFamily="18" charset="0"/>
              </a:rPr>
              <a:t> des </a:t>
            </a:r>
            <a:r>
              <a:rPr lang="en-US" dirty="0" err="1">
                <a:solidFill>
                  <a:schemeClr val="tx1"/>
                </a:solidFill>
                <a:cs typeface="Times New Roman" pitchFamily="18" charset="0"/>
              </a:rPr>
              <a:t>systèmes</a:t>
            </a:r>
            <a:r>
              <a:rPr lang="en-US" dirty="0">
                <a:solidFill>
                  <a:schemeClr val="tx1"/>
                </a:solidFill>
                <a:cs typeface="Times New Roman" pitchFamily="18" charset="0"/>
              </a:rPr>
              <a:t> de </a:t>
            </a:r>
            <a:r>
              <a:rPr lang="en-US" dirty="0" err="1">
                <a:solidFill>
                  <a:schemeClr val="tx1"/>
                </a:solidFill>
                <a:cs typeface="Times New Roman" pitchFamily="18" charset="0"/>
              </a:rPr>
              <a:t>fichiers</a:t>
            </a:r>
            <a:endParaRPr lang="en-US" dirty="0">
              <a:solidFill>
                <a:schemeClr val="tx1"/>
              </a:solidFill>
            </a:endParaRPr>
          </a:p>
        </p:txBody>
      </p:sp>
      <p:sp>
        <p:nvSpPr>
          <p:cNvPr id="128003" name="Rectangle 3"/>
          <p:cNvSpPr>
            <a:spLocks noGrp="1" noChangeArrowheads="1"/>
          </p:cNvSpPr>
          <p:nvPr>
            <p:ph sz="quarter" idx="1"/>
          </p:nvPr>
        </p:nvSpPr>
        <p:spPr>
          <a:xfrm>
            <a:off x="315606" y="2441448"/>
            <a:ext cx="8503920" cy="2310661"/>
          </a:xfrm>
        </p:spPr>
        <p:txBody>
          <a:bodyPr/>
          <a:lstStyle/>
          <a:p>
            <a:pPr>
              <a:buClrTx/>
              <a:buFont typeface="Symbol" pitchFamily="18" charset="2"/>
              <a:buChar char="®"/>
            </a:pPr>
            <a:r>
              <a:rPr lang="fr-FR" dirty="0"/>
              <a:t>Utilisation des systèmes de fichiers FAT ou FAT32 </a:t>
            </a:r>
            <a:endParaRPr lang="en-US" dirty="0"/>
          </a:p>
          <a:p>
            <a:pPr>
              <a:buClrTx/>
              <a:buFont typeface="Symbol" pitchFamily="18" charset="2"/>
              <a:buChar char="®"/>
            </a:pPr>
            <a:r>
              <a:rPr lang="fr-FR" dirty="0"/>
              <a:t>Utilisation du système de fichiers NTFS </a:t>
            </a:r>
            <a:endParaRPr lang="en-US" dirty="0"/>
          </a:p>
          <a:p>
            <a:pPr>
              <a:buClrTx/>
              <a:buFont typeface="Symbol" pitchFamily="18" charset="2"/>
              <a:buChar char="®"/>
            </a:pPr>
            <a:r>
              <a:rPr lang="fr-FR" dirty="0"/>
              <a:t>Choix d'un système de fichiers </a:t>
            </a:r>
            <a:endParaRPr lang="en-US" dirty="0"/>
          </a:p>
          <a:p>
            <a:pPr>
              <a:buClrTx/>
              <a:buFont typeface="Symbol" pitchFamily="18" charset="2"/>
              <a:buChar char="®"/>
            </a:pPr>
            <a:r>
              <a:rPr lang="fr-FR" dirty="0"/>
              <a:t>Conversion des systèmes de fichiers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163" name="Rectangle 139"/>
          <p:cNvSpPr>
            <a:spLocks noGrp="1" noChangeArrowheads="1"/>
          </p:cNvSpPr>
          <p:nvPr>
            <p:ph type="title"/>
          </p:nvPr>
        </p:nvSpPr>
        <p:spPr>
          <a:xfrm>
            <a:off x="190915" y="180108"/>
            <a:ext cx="8534400" cy="1042970"/>
          </a:xfrm>
        </p:spPr>
        <p:txBody>
          <a:bodyPr>
            <a:normAutofit fontScale="90000"/>
          </a:bodyPr>
          <a:lstStyle/>
          <a:p>
            <a:r>
              <a:rPr lang="fr-FR" b="1" dirty="0">
                <a:solidFill>
                  <a:srgbClr val="C00000"/>
                </a:solidFill>
              </a:rPr>
              <a:t>Utilisation des systèmes de fichiers FAT ou FAT32</a:t>
            </a:r>
            <a:endParaRPr lang="en-US" b="1" dirty="0">
              <a:solidFill>
                <a:srgbClr val="C00000"/>
              </a:solidFill>
            </a:endParaRPr>
          </a:p>
        </p:txBody>
      </p:sp>
      <p:sp>
        <p:nvSpPr>
          <p:cNvPr id="129164" name="Rectangle 140"/>
          <p:cNvSpPr>
            <a:spLocks noGrp="1" noChangeArrowheads="1"/>
          </p:cNvSpPr>
          <p:nvPr>
            <p:ph sz="quarter" idx="1"/>
          </p:nvPr>
        </p:nvSpPr>
        <p:spPr>
          <a:xfrm>
            <a:off x="429492" y="1524443"/>
            <a:ext cx="8409708" cy="4820939"/>
          </a:xfrm>
        </p:spPr>
        <p:txBody>
          <a:bodyPr/>
          <a:lstStyle/>
          <a:p>
            <a:pPr>
              <a:buFont typeface="Wingdings" pitchFamily="2" charset="2"/>
              <a:buNone/>
            </a:pPr>
            <a:r>
              <a:rPr lang="en-US" dirty="0"/>
              <a:t>FAT </a:t>
            </a:r>
            <a:r>
              <a:rPr lang="en-US" dirty="0" err="1"/>
              <a:t>ou</a:t>
            </a:r>
            <a:r>
              <a:rPr lang="en-US" dirty="0"/>
              <a:t> FAT32 :</a:t>
            </a:r>
          </a:p>
          <a:p>
            <a:r>
              <a:rPr lang="en-US" dirty="0" err="1"/>
              <a:t>Adaptés</a:t>
            </a:r>
            <a:r>
              <a:rPr lang="en-US" dirty="0"/>
              <a:t> aux </a:t>
            </a:r>
            <a:r>
              <a:rPr lang="fr-FR" dirty="0"/>
              <a:t>petits disques</a:t>
            </a:r>
            <a:endParaRPr lang="en-US" dirty="0"/>
          </a:p>
          <a:p>
            <a:r>
              <a:rPr lang="en-US" dirty="0" err="1"/>
              <a:t>Prennent</a:t>
            </a:r>
            <a:r>
              <a:rPr lang="en-US" dirty="0"/>
              <a:t> en charge les configurations à double </a:t>
            </a:r>
            <a:r>
              <a:rPr lang="en-US" dirty="0" err="1"/>
              <a:t>amorçage</a:t>
            </a:r>
            <a:endParaRPr lang="en-US" dirty="0"/>
          </a:p>
          <a:p>
            <a:endParaRPr lang="en-US" dirty="0"/>
          </a:p>
        </p:txBody>
      </p:sp>
      <p:grpSp>
        <p:nvGrpSpPr>
          <p:cNvPr id="129029" name="Group 5"/>
          <p:cNvGrpSpPr>
            <a:grpSpLocks/>
          </p:cNvGrpSpPr>
          <p:nvPr/>
        </p:nvGrpSpPr>
        <p:grpSpPr bwMode="auto">
          <a:xfrm>
            <a:off x="1695450" y="3642895"/>
            <a:ext cx="6380163" cy="2667000"/>
            <a:chOff x="816" y="1998"/>
            <a:chExt cx="4019" cy="1680"/>
          </a:xfrm>
        </p:grpSpPr>
        <p:sp>
          <p:nvSpPr>
            <p:cNvPr id="129030" name="Freeform 6"/>
            <p:cNvSpPr>
              <a:spLocks/>
            </p:cNvSpPr>
            <p:nvPr/>
          </p:nvSpPr>
          <p:spPr bwMode="auto">
            <a:xfrm>
              <a:off x="2888" y="2170"/>
              <a:ext cx="221" cy="702"/>
            </a:xfrm>
            <a:custGeom>
              <a:avLst/>
              <a:gdLst/>
              <a:ahLst/>
              <a:cxnLst>
                <a:cxn ang="0">
                  <a:pos x="0" y="615"/>
                </a:cxn>
                <a:cxn ang="0">
                  <a:pos x="0" y="0"/>
                </a:cxn>
                <a:cxn ang="0">
                  <a:pos x="434" y="0"/>
                </a:cxn>
              </a:cxnLst>
              <a:rect l="0" t="0" r="r" b="b"/>
              <a:pathLst>
                <a:path w="434" h="615">
                  <a:moveTo>
                    <a:pt x="0" y="615"/>
                  </a:moveTo>
                  <a:lnTo>
                    <a:pt x="0" y="0"/>
                  </a:lnTo>
                  <a:lnTo>
                    <a:pt x="434" y="0"/>
                  </a:lnTo>
                </a:path>
              </a:pathLst>
            </a:custGeom>
            <a:noFill/>
            <a:ln w="38100" cap="flat" cmpd="sng">
              <a:solidFill>
                <a:srgbClr val="3333CC"/>
              </a:solidFill>
              <a:prstDash val="solid"/>
              <a:round/>
              <a:headEnd/>
              <a:tailEnd/>
            </a:ln>
            <a:effectLst/>
          </p:spPr>
          <p:txBody>
            <a:bodyPr anchor="ctr"/>
            <a:lstStyle/>
            <a:p>
              <a:endParaRPr lang="fr-FR"/>
            </a:p>
          </p:txBody>
        </p:sp>
        <p:sp>
          <p:nvSpPr>
            <p:cNvPr id="129031" name="Text Box 7"/>
            <p:cNvSpPr txBox="1">
              <a:spLocks noChangeArrowheads="1"/>
            </p:cNvSpPr>
            <p:nvPr/>
          </p:nvSpPr>
          <p:spPr bwMode="auto">
            <a:xfrm>
              <a:off x="3421" y="1998"/>
              <a:ext cx="1414" cy="346"/>
            </a:xfrm>
            <a:prstGeom prst="rect">
              <a:avLst/>
            </a:prstGeom>
            <a:noFill/>
            <a:ln w="12700">
              <a:noFill/>
              <a:miter lim="800000"/>
              <a:headEnd/>
              <a:tailEnd/>
            </a:ln>
            <a:effectLst/>
          </p:spPr>
          <p:txBody>
            <a:bodyPr tIns="27432" bIns="27432" anchor="ctr">
              <a:spAutoFit/>
            </a:bodyPr>
            <a:lstStyle/>
            <a:p>
              <a:pPr>
                <a:lnSpc>
                  <a:spcPct val="90000"/>
                </a:lnSpc>
              </a:pPr>
              <a:r>
                <a:rPr lang="en-US" sz="1800" b="1">
                  <a:solidFill>
                    <a:srgbClr val="3333CC"/>
                  </a:solidFill>
                  <a:latin typeface="Arial" charset="0"/>
                </a:rPr>
                <a:t>Windows XP Professionnel</a:t>
              </a:r>
            </a:p>
          </p:txBody>
        </p:sp>
        <p:grpSp>
          <p:nvGrpSpPr>
            <p:cNvPr id="129032" name="Group 8"/>
            <p:cNvGrpSpPr>
              <a:grpSpLocks/>
            </p:cNvGrpSpPr>
            <p:nvPr/>
          </p:nvGrpSpPr>
          <p:grpSpPr bwMode="auto">
            <a:xfrm>
              <a:off x="3174" y="2050"/>
              <a:ext cx="252" cy="227"/>
              <a:chOff x="800" y="3248"/>
              <a:chExt cx="310" cy="257"/>
            </a:xfrm>
          </p:grpSpPr>
          <p:sp>
            <p:nvSpPr>
              <p:cNvPr id="129033" name="Freeform 9"/>
              <p:cNvSpPr>
                <a:spLocks/>
              </p:cNvSpPr>
              <p:nvPr/>
            </p:nvSpPr>
            <p:spPr bwMode="auto">
              <a:xfrm>
                <a:off x="953" y="3365"/>
                <a:ext cx="53" cy="95"/>
              </a:xfrm>
              <a:custGeom>
                <a:avLst/>
                <a:gdLst/>
                <a:ahLst/>
                <a:cxnLst>
                  <a:cxn ang="0">
                    <a:pos x="52" y="0"/>
                  </a:cxn>
                  <a:cxn ang="0">
                    <a:pos x="52" y="77"/>
                  </a:cxn>
                  <a:cxn ang="0">
                    <a:pos x="43" y="78"/>
                  </a:cxn>
                  <a:cxn ang="0">
                    <a:pos x="34" y="80"/>
                  </a:cxn>
                  <a:cxn ang="0">
                    <a:pos x="23" y="84"/>
                  </a:cxn>
                  <a:cxn ang="0">
                    <a:pos x="14" y="87"/>
                  </a:cxn>
                  <a:cxn ang="0">
                    <a:pos x="8" y="90"/>
                  </a:cxn>
                  <a:cxn ang="0">
                    <a:pos x="0" y="94"/>
                  </a:cxn>
                  <a:cxn ang="0">
                    <a:pos x="0" y="17"/>
                  </a:cxn>
                  <a:cxn ang="0">
                    <a:pos x="8" y="12"/>
                  </a:cxn>
                  <a:cxn ang="0">
                    <a:pos x="19" y="9"/>
                  </a:cxn>
                  <a:cxn ang="0">
                    <a:pos x="27" y="6"/>
                  </a:cxn>
                  <a:cxn ang="0">
                    <a:pos x="38" y="2"/>
                  </a:cxn>
                  <a:cxn ang="0">
                    <a:pos x="47" y="1"/>
                  </a:cxn>
                  <a:cxn ang="0">
                    <a:pos x="52" y="0"/>
                  </a:cxn>
                </a:cxnLst>
                <a:rect l="0" t="0" r="r" b="b"/>
                <a:pathLst>
                  <a:path w="53" h="95">
                    <a:moveTo>
                      <a:pt x="52" y="0"/>
                    </a:moveTo>
                    <a:lnTo>
                      <a:pt x="52" y="77"/>
                    </a:lnTo>
                    <a:lnTo>
                      <a:pt x="43" y="78"/>
                    </a:lnTo>
                    <a:lnTo>
                      <a:pt x="34" y="80"/>
                    </a:lnTo>
                    <a:lnTo>
                      <a:pt x="23" y="84"/>
                    </a:lnTo>
                    <a:lnTo>
                      <a:pt x="14" y="87"/>
                    </a:lnTo>
                    <a:lnTo>
                      <a:pt x="8" y="90"/>
                    </a:lnTo>
                    <a:lnTo>
                      <a:pt x="0" y="94"/>
                    </a:lnTo>
                    <a:lnTo>
                      <a:pt x="0" y="17"/>
                    </a:lnTo>
                    <a:lnTo>
                      <a:pt x="8" y="12"/>
                    </a:lnTo>
                    <a:lnTo>
                      <a:pt x="19" y="9"/>
                    </a:lnTo>
                    <a:lnTo>
                      <a:pt x="27" y="6"/>
                    </a:lnTo>
                    <a:lnTo>
                      <a:pt x="38" y="2"/>
                    </a:lnTo>
                    <a:lnTo>
                      <a:pt x="47" y="1"/>
                    </a:lnTo>
                    <a:lnTo>
                      <a:pt x="52" y="0"/>
                    </a:lnTo>
                  </a:path>
                </a:pathLst>
              </a:custGeom>
              <a:solidFill>
                <a:schemeClr val="hlink"/>
              </a:solidFill>
              <a:ln w="12700" cap="rnd" cmpd="sng">
                <a:noFill/>
                <a:prstDash val="solid"/>
                <a:round/>
                <a:headEnd type="none" w="med" len="med"/>
                <a:tailEnd type="none" w="med" len="med"/>
              </a:ln>
              <a:effectLst/>
            </p:spPr>
            <p:txBody>
              <a:bodyPr/>
              <a:lstStyle/>
              <a:p>
                <a:endParaRPr lang="fr-FR"/>
              </a:p>
            </p:txBody>
          </p:sp>
          <p:sp>
            <p:nvSpPr>
              <p:cNvPr id="129034" name="Freeform 10"/>
              <p:cNvSpPr>
                <a:spLocks/>
              </p:cNvSpPr>
              <p:nvPr/>
            </p:nvSpPr>
            <p:spPr bwMode="auto">
              <a:xfrm>
                <a:off x="953" y="3279"/>
                <a:ext cx="53" cy="84"/>
              </a:xfrm>
              <a:custGeom>
                <a:avLst/>
                <a:gdLst/>
                <a:ahLst/>
                <a:cxnLst>
                  <a:cxn ang="0">
                    <a:pos x="52" y="0"/>
                  </a:cxn>
                  <a:cxn ang="0">
                    <a:pos x="52" y="68"/>
                  </a:cxn>
                  <a:cxn ang="0">
                    <a:pos x="43" y="69"/>
                  </a:cxn>
                  <a:cxn ang="0">
                    <a:pos x="34" y="71"/>
                  </a:cxn>
                  <a:cxn ang="0">
                    <a:pos x="23" y="74"/>
                  </a:cxn>
                  <a:cxn ang="0">
                    <a:pos x="14" y="77"/>
                  </a:cxn>
                  <a:cxn ang="0">
                    <a:pos x="8" y="79"/>
                  </a:cxn>
                  <a:cxn ang="0">
                    <a:pos x="0" y="83"/>
                  </a:cxn>
                  <a:cxn ang="0">
                    <a:pos x="0" y="15"/>
                  </a:cxn>
                  <a:cxn ang="0">
                    <a:pos x="8" y="11"/>
                  </a:cxn>
                  <a:cxn ang="0">
                    <a:pos x="19" y="8"/>
                  </a:cxn>
                  <a:cxn ang="0">
                    <a:pos x="27" y="5"/>
                  </a:cxn>
                  <a:cxn ang="0">
                    <a:pos x="38" y="2"/>
                  </a:cxn>
                  <a:cxn ang="0">
                    <a:pos x="47" y="1"/>
                  </a:cxn>
                  <a:cxn ang="0">
                    <a:pos x="52" y="0"/>
                  </a:cxn>
                </a:cxnLst>
                <a:rect l="0" t="0" r="r" b="b"/>
                <a:pathLst>
                  <a:path w="53" h="84">
                    <a:moveTo>
                      <a:pt x="52" y="0"/>
                    </a:moveTo>
                    <a:lnTo>
                      <a:pt x="52" y="68"/>
                    </a:lnTo>
                    <a:lnTo>
                      <a:pt x="43" y="69"/>
                    </a:lnTo>
                    <a:lnTo>
                      <a:pt x="34" y="71"/>
                    </a:lnTo>
                    <a:lnTo>
                      <a:pt x="23" y="74"/>
                    </a:lnTo>
                    <a:lnTo>
                      <a:pt x="14" y="77"/>
                    </a:lnTo>
                    <a:lnTo>
                      <a:pt x="8" y="79"/>
                    </a:lnTo>
                    <a:lnTo>
                      <a:pt x="0" y="83"/>
                    </a:lnTo>
                    <a:lnTo>
                      <a:pt x="0" y="15"/>
                    </a:lnTo>
                    <a:lnTo>
                      <a:pt x="8" y="11"/>
                    </a:lnTo>
                    <a:lnTo>
                      <a:pt x="19" y="8"/>
                    </a:lnTo>
                    <a:lnTo>
                      <a:pt x="27" y="5"/>
                    </a:lnTo>
                    <a:lnTo>
                      <a:pt x="38" y="2"/>
                    </a:lnTo>
                    <a:lnTo>
                      <a:pt x="47" y="1"/>
                    </a:lnTo>
                    <a:lnTo>
                      <a:pt x="52"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35" name="Freeform 11"/>
              <p:cNvSpPr>
                <a:spLocks/>
              </p:cNvSpPr>
              <p:nvPr/>
            </p:nvSpPr>
            <p:spPr bwMode="auto">
              <a:xfrm>
                <a:off x="800" y="3273"/>
                <a:ext cx="17" cy="16"/>
              </a:xfrm>
              <a:custGeom>
                <a:avLst/>
                <a:gdLst/>
                <a:ahLst/>
                <a:cxnLst>
                  <a:cxn ang="0">
                    <a:pos x="16" y="0"/>
                  </a:cxn>
                  <a:cxn ang="0">
                    <a:pos x="16" y="10"/>
                  </a:cxn>
                  <a:cxn ang="0">
                    <a:pos x="0" y="15"/>
                  </a:cxn>
                  <a:cxn ang="0">
                    <a:pos x="0" y="5"/>
                  </a:cxn>
                  <a:cxn ang="0">
                    <a:pos x="16" y="0"/>
                  </a:cxn>
                </a:cxnLst>
                <a:rect l="0" t="0" r="r" b="b"/>
                <a:pathLst>
                  <a:path w="17" h="16">
                    <a:moveTo>
                      <a:pt x="16" y="0"/>
                    </a:moveTo>
                    <a:lnTo>
                      <a:pt x="16" y="10"/>
                    </a:lnTo>
                    <a:lnTo>
                      <a:pt x="0" y="15"/>
                    </a:lnTo>
                    <a:lnTo>
                      <a:pt x="0" y="5"/>
                    </a:lnTo>
                    <a:lnTo>
                      <a:pt x="16"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36" name="Freeform 12"/>
              <p:cNvSpPr>
                <a:spLocks/>
              </p:cNvSpPr>
              <p:nvPr/>
            </p:nvSpPr>
            <p:spPr bwMode="auto">
              <a:xfrm>
                <a:off x="802" y="3305"/>
                <a:ext cx="13" cy="17"/>
              </a:xfrm>
              <a:custGeom>
                <a:avLst/>
                <a:gdLst/>
                <a:ahLst/>
                <a:cxnLst>
                  <a:cxn ang="0">
                    <a:pos x="12" y="0"/>
                  </a:cxn>
                  <a:cxn ang="0">
                    <a:pos x="12" y="11"/>
                  </a:cxn>
                  <a:cxn ang="0">
                    <a:pos x="0" y="16"/>
                  </a:cxn>
                  <a:cxn ang="0">
                    <a:pos x="0" y="5"/>
                  </a:cxn>
                  <a:cxn ang="0">
                    <a:pos x="12" y="0"/>
                  </a:cxn>
                </a:cxnLst>
                <a:rect l="0" t="0" r="r" b="b"/>
                <a:pathLst>
                  <a:path w="13" h="17">
                    <a:moveTo>
                      <a:pt x="12" y="0"/>
                    </a:moveTo>
                    <a:lnTo>
                      <a:pt x="12" y="11"/>
                    </a:lnTo>
                    <a:lnTo>
                      <a:pt x="0" y="16"/>
                    </a:lnTo>
                    <a:lnTo>
                      <a:pt x="0" y="5"/>
                    </a:lnTo>
                    <a:lnTo>
                      <a:pt x="12"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37" name="Freeform 13"/>
              <p:cNvSpPr>
                <a:spLocks/>
              </p:cNvSpPr>
              <p:nvPr/>
            </p:nvSpPr>
            <p:spPr bwMode="auto">
              <a:xfrm>
                <a:off x="802" y="3339"/>
                <a:ext cx="13" cy="14"/>
              </a:xfrm>
              <a:custGeom>
                <a:avLst/>
                <a:gdLst/>
                <a:ahLst/>
                <a:cxnLst>
                  <a:cxn ang="0">
                    <a:pos x="12" y="0"/>
                  </a:cxn>
                  <a:cxn ang="0">
                    <a:pos x="12" y="9"/>
                  </a:cxn>
                  <a:cxn ang="0">
                    <a:pos x="0" y="13"/>
                  </a:cxn>
                  <a:cxn ang="0">
                    <a:pos x="0" y="4"/>
                  </a:cxn>
                  <a:cxn ang="0">
                    <a:pos x="12" y="0"/>
                  </a:cxn>
                </a:cxnLst>
                <a:rect l="0" t="0" r="r" b="b"/>
                <a:pathLst>
                  <a:path w="13" h="14">
                    <a:moveTo>
                      <a:pt x="12" y="0"/>
                    </a:moveTo>
                    <a:lnTo>
                      <a:pt x="12" y="9"/>
                    </a:lnTo>
                    <a:lnTo>
                      <a:pt x="0" y="13"/>
                    </a:lnTo>
                    <a:lnTo>
                      <a:pt x="0" y="4"/>
                    </a:lnTo>
                    <a:lnTo>
                      <a:pt x="12"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38" name="Freeform 14"/>
              <p:cNvSpPr>
                <a:spLocks/>
              </p:cNvSpPr>
              <p:nvPr/>
            </p:nvSpPr>
            <p:spPr bwMode="auto">
              <a:xfrm>
                <a:off x="800" y="3368"/>
                <a:ext cx="11" cy="17"/>
              </a:xfrm>
              <a:custGeom>
                <a:avLst/>
                <a:gdLst/>
                <a:ahLst/>
                <a:cxnLst>
                  <a:cxn ang="0">
                    <a:pos x="10" y="0"/>
                  </a:cxn>
                  <a:cxn ang="0">
                    <a:pos x="10" y="10"/>
                  </a:cxn>
                  <a:cxn ang="0">
                    <a:pos x="0" y="16"/>
                  </a:cxn>
                  <a:cxn ang="0">
                    <a:pos x="0" y="5"/>
                  </a:cxn>
                  <a:cxn ang="0">
                    <a:pos x="10" y="0"/>
                  </a:cxn>
                </a:cxnLst>
                <a:rect l="0" t="0" r="r" b="b"/>
                <a:pathLst>
                  <a:path w="11" h="17">
                    <a:moveTo>
                      <a:pt x="10" y="0"/>
                    </a:moveTo>
                    <a:lnTo>
                      <a:pt x="10" y="10"/>
                    </a:lnTo>
                    <a:lnTo>
                      <a:pt x="0" y="16"/>
                    </a:lnTo>
                    <a:lnTo>
                      <a:pt x="0" y="5"/>
                    </a:lnTo>
                    <a:lnTo>
                      <a:pt x="1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39" name="Freeform 15"/>
              <p:cNvSpPr>
                <a:spLocks/>
              </p:cNvSpPr>
              <p:nvPr/>
            </p:nvSpPr>
            <p:spPr bwMode="auto">
              <a:xfrm>
                <a:off x="802" y="3404"/>
                <a:ext cx="13" cy="16"/>
              </a:xfrm>
              <a:custGeom>
                <a:avLst/>
                <a:gdLst/>
                <a:ahLst/>
                <a:cxnLst>
                  <a:cxn ang="0">
                    <a:pos x="12" y="0"/>
                  </a:cxn>
                  <a:cxn ang="0">
                    <a:pos x="12" y="10"/>
                  </a:cxn>
                  <a:cxn ang="0">
                    <a:pos x="0" y="15"/>
                  </a:cxn>
                  <a:cxn ang="0">
                    <a:pos x="0" y="5"/>
                  </a:cxn>
                  <a:cxn ang="0">
                    <a:pos x="12" y="0"/>
                  </a:cxn>
                </a:cxnLst>
                <a:rect l="0" t="0" r="r" b="b"/>
                <a:pathLst>
                  <a:path w="13" h="16">
                    <a:moveTo>
                      <a:pt x="12" y="0"/>
                    </a:moveTo>
                    <a:lnTo>
                      <a:pt x="12" y="10"/>
                    </a:lnTo>
                    <a:lnTo>
                      <a:pt x="0" y="15"/>
                    </a:lnTo>
                    <a:lnTo>
                      <a:pt x="0" y="5"/>
                    </a:lnTo>
                    <a:lnTo>
                      <a:pt x="12"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40" name="Freeform 16"/>
              <p:cNvSpPr>
                <a:spLocks/>
              </p:cNvSpPr>
              <p:nvPr/>
            </p:nvSpPr>
            <p:spPr bwMode="auto">
              <a:xfrm>
                <a:off x="802" y="3437"/>
                <a:ext cx="13" cy="15"/>
              </a:xfrm>
              <a:custGeom>
                <a:avLst/>
                <a:gdLst/>
                <a:ahLst/>
                <a:cxnLst>
                  <a:cxn ang="0">
                    <a:pos x="12" y="0"/>
                  </a:cxn>
                  <a:cxn ang="0">
                    <a:pos x="12" y="9"/>
                  </a:cxn>
                  <a:cxn ang="0">
                    <a:pos x="0" y="14"/>
                  </a:cxn>
                  <a:cxn ang="0">
                    <a:pos x="0" y="4"/>
                  </a:cxn>
                  <a:cxn ang="0">
                    <a:pos x="12" y="0"/>
                  </a:cxn>
                </a:cxnLst>
                <a:rect l="0" t="0" r="r" b="b"/>
                <a:pathLst>
                  <a:path w="13" h="15">
                    <a:moveTo>
                      <a:pt x="12" y="0"/>
                    </a:moveTo>
                    <a:lnTo>
                      <a:pt x="12" y="9"/>
                    </a:lnTo>
                    <a:lnTo>
                      <a:pt x="0" y="14"/>
                    </a:lnTo>
                    <a:lnTo>
                      <a:pt x="0" y="4"/>
                    </a:lnTo>
                    <a:lnTo>
                      <a:pt x="12"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41" name="Freeform 17"/>
              <p:cNvSpPr>
                <a:spLocks/>
              </p:cNvSpPr>
              <p:nvPr/>
            </p:nvSpPr>
            <p:spPr bwMode="auto">
              <a:xfrm>
                <a:off x="800" y="3467"/>
                <a:ext cx="17" cy="19"/>
              </a:xfrm>
              <a:custGeom>
                <a:avLst/>
                <a:gdLst/>
                <a:ahLst/>
                <a:cxnLst>
                  <a:cxn ang="0">
                    <a:pos x="16" y="0"/>
                  </a:cxn>
                  <a:cxn ang="0">
                    <a:pos x="16" y="12"/>
                  </a:cxn>
                  <a:cxn ang="0">
                    <a:pos x="0" y="18"/>
                  </a:cxn>
                  <a:cxn ang="0">
                    <a:pos x="0" y="6"/>
                  </a:cxn>
                  <a:cxn ang="0">
                    <a:pos x="16" y="0"/>
                  </a:cxn>
                </a:cxnLst>
                <a:rect l="0" t="0" r="r" b="b"/>
                <a:pathLst>
                  <a:path w="17" h="19">
                    <a:moveTo>
                      <a:pt x="16" y="0"/>
                    </a:moveTo>
                    <a:lnTo>
                      <a:pt x="16" y="12"/>
                    </a:lnTo>
                    <a:lnTo>
                      <a:pt x="0" y="18"/>
                    </a:lnTo>
                    <a:lnTo>
                      <a:pt x="0" y="6"/>
                    </a:lnTo>
                    <a:lnTo>
                      <a:pt x="16"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42" name="Freeform 18"/>
              <p:cNvSpPr>
                <a:spLocks/>
              </p:cNvSpPr>
              <p:nvPr/>
            </p:nvSpPr>
            <p:spPr bwMode="auto">
              <a:xfrm>
                <a:off x="824" y="3278"/>
                <a:ext cx="26" cy="24"/>
              </a:xfrm>
              <a:custGeom>
                <a:avLst/>
                <a:gdLst/>
                <a:ahLst/>
                <a:cxnLst>
                  <a:cxn ang="0">
                    <a:pos x="25" y="0"/>
                  </a:cxn>
                  <a:cxn ang="0">
                    <a:pos x="25" y="14"/>
                  </a:cxn>
                  <a:cxn ang="0">
                    <a:pos x="0" y="23"/>
                  </a:cxn>
                  <a:cxn ang="0">
                    <a:pos x="0" y="9"/>
                  </a:cxn>
                  <a:cxn ang="0">
                    <a:pos x="25" y="0"/>
                  </a:cxn>
                </a:cxnLst>
                <a:rect l="0" t="0" r="r" b="b"/>
                <a:pathLst>
                  <a:path w="26" h="24">
                    <a:moveTo>
                      <a:pt x="25" y="0"/>
                    </a:moveTo>
                    <a:lnTo>
                      <a:pt x="25" y="14"/>
                    </a:lnTo>
                    <a:lnTo>
                      <a:pt x="0" y="23"/>
                    </a:lnTo>
                    <a:lnTo>
                      <a:pt x="0" y="9"/>
                    </a:lnTo>
                    <a:lnTo>
                      <a:pt x="25"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43" name="Freeform 19"/>
              <p:cNvSpPr>
                <a:spLocks/>
              </p:cNvSpPr>
              <p:nvPr/>
            </p:nvSpPr>
            <p:spPr bwMode="auto">
              <a:xfrm>
                <a:off x="828" y="3314"/>
                <a:ext cx="20" cy="19"/>
              </a:xfrm>
              <a:custGeom>
                <a:avLst/>
                <a:gdLst/>
                <a:ahLst/>
                <a:cxnLst>
                  <a:cxn ang="0">
                    <a:pos x="19" y="0"/>
                  </a:cxn>
                  <a:cxn ang="0">
                    <a:pos x="19" y="12"/>
                  </a:cxn>
                  <a:cxn ang="0">
                    <a:pos x="0" y="18"/>
                  </a:cxn>
                  <a:cxn ang="0">
                    <a:pos x="0" y="6"/>
                  </a:cxn>
                  <a:cxn ang="0">
                    <a:pos x="19" y="0"/>
                  </a:cxn>
                </a:cxnLst>
                <a:rect l="0" t="0" r="r" b="b"/>
                <a:pathLst>
                  <a:path w="20" h="19">
                    <a:moveTo>
                      <a:pt x="19" y="0"/>
                    </a:moveTo>
                    <a:lnTo>
                      <a:pt x="19" y="12"/>
                    </a:lnTo>
                    <a:lnTo>
                      <a:pt x="0" y="18"/>
                    </a:lnTo>
                    <a:lnTo>
                      <a:pt x="0" y="6"/>
                    </a:lnTo>
                    <a:lnTo>
                      <a:pt x="19"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44" name="Freeform 20"/>
              <p:cNvSpPr>
                <a:spLocks/>
              </p:cNvSpPr>
              <p:nvPr/>
            </p:nvSpPr>
            <p:spPr bwMode="auto">
              <a:xfrm>
                <a:off x="828" y="3346"/>
                <a:ext cx="20" cy="19"/>
              </a:xfrm>
              <a:custGeom>
                <a:avLst/>
                <a:gdLst/>
                <a:ahLst/>
                <a:cxnLst>
                  <a:cxn ang="0">
                    <a:pos x="19" y="0"/>
                  </a:cxn>
                  <a:cxn ang="0">
                    <a:pos x="19" y="11"/>
                  </a:cxn>
                  <a:cxn ang="0">
                    <a:pos x="0" y="18"/>
                  </a:cxn>
                  <a:cxn ang="0">
                    <a:pos x="0" y="6"/>
                  </a:cxn>
                  <a:cxn ang="0">
                    <a:pos x="19" y="0"/>
                  </a:cxn>
                </a:cxnLst>
                <a:rect l="0" t="0" r="r" b="b"/>
                <a:pathLst>
                  <a:path w="20" h="19">
                    <a:moveTo>
                      <a:pt x="19" y="0"/>
                    </a:moveTo>
                    <a:lnTo>
                      <a:pt x="19" y="11"/>
                    </a:lnTo>
                    <a:lnTo>
                      <a:pt x="0" y="18"/>
                    </a:lnTo>
                    <a:lnTo>
                      <a:pt x="0" y="6"/>
                    </a:lnTo>
                    <a:lnTo>
                      <a:pt x="19"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45" name="Freeform 21"/>
              <p:cNvSpPr>
                <a:spLocks/>
              </p:cNvSpPr>
              <p:nvPr/>
            </p:nvSpPr>
            <p:spPr bwMode="auto">
              <a:xfrm>
                <a:off x="824" y="3376"/>
                <a:ext cx="20" cy="19"/>
              </a:xfrm>
              <a:custGeom>
                <a:avLst/>
                <a:gdLst/>
                <a:ahLst/>
                <a:cxnLst>
                  <a:cxn ang="0">
                    <a:pos x="19" y="0"/>
                  </a:cxn>
                  <a:cxn ang="0">
                    <a:pos x="19" y="11"/>
                  </a:cxn>
                  <a:cxn ang="0">
                    <a:pos x="0" y="18"/>
                  </a:cxn>
                  <a:cxn ang="0">
                    <a:pos x="0" y="7"/>
                  </a:cxn>
                  <a:cxn ang="0">
                    <a:pos x="19" y="0"/>
                  </a:cxn>
                </a:cxnLst>
                <a:rect l="0" t="0" r="r" b="b"/>
                <a:pathLst>
                  <a:path w="20" h="19">
                    <a:moveTo>
                      <a:pt x="19" y="0"/>
                    </a:moveTo>
                    <a:lnTo>
                      <a:pt x="19" y="11"/>
                    </a:lnTo>
                    <a:lnTo>
                      <a:pt x="0" y="18"/>
                    </a:lnTo>
                    <a:lnTo>
                      <a:pt x="0" y="7"/>
                    </a:lnTo>
                    <a:lnTo>
                      <a:pt x="1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46" name="Freeform 22"/>
              <p:cNvSpPr>
                <a:spLocks/>
              </p:cNvSpPr>
              <p:nvPr/>
            </p:nvSpPr>
            <p:spPr bwMode="auto">
              <a:xfrm>
                <a:off x="828" y="3411"/>
                <a:ext cx="20" cy="19"/>
              </a:xfrm>
              <a:custGeom>
                <a:avLst/>
                <a:gdLst/>
                <a:ahLst/>
                <a:cxnLst>
                  <a:cxn ang="0">
                    <a:pos x="19" y="0"/>
                  </a:cxn>
                  <a:cxn ang="0">
                    <a:pos x="19" y="11"/>
                  </a:cxn>
                  <a:cxn ang="0">
                    <a:pos x="0" y="18"/>
                  </a:cxn>
                  <a:cxn ang="0">
                    <a:pos x="0" y="6"/>
                  </a:cxn>
                  <a:cxn ang="0">
                    <a:pos x="19" y="0"/>
                  </a:cxn>
                </a:cxnLst>
                <a:rect l="0" t="0" r="r" b="b"/>
                <a:pathLst>
                  <a:path w="20" h="19">
                    <a:moveTo>
                      <a:pt x="19" y="0"/>
                    </a:moveTo>
                    <a:lnTo>
                      <a:pt x="19" y="11"/>
                    </a:lnTo>
                    <a:lnTo>
                      <a:pt x="0" y="18"/>
                    </a:lnTo>
                    <a:lnTo>
                      <a:pt x="0" y="6"/>
                    </a:lnTo>
                    <a:lnTo>
                      <a:pt x="19"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47" name="Freeform 23"/>
              <p:cNvSpPr>
                <a:spLocks/>
              </p:cNvSpPr>
              <p:nvPr/>
            </p:nvSpPr>
            <p:spPr bwMode="auto">
              <a:xfrm>
                <a:off x="828" y="3443"/>
                <a:ext cx="20" cy="20"/>
              </a:xfrm>
              <a:custGeom>
                <a:avLst/>
                <a:gdLst/>
                <a:ahLst/>
                <a:cxnLst>
                  <a:cxn ang="0">
                    <a:pos x="19" y="0"/>
                  </a:cxn>
                  <a:cxn ang="0">
                    <a:pos x="19" y="12"/>
                  </a:cxn>
                  <a:cxn ang="0">
                    <a:pos x="0" y="19"/>
                  </a:cxn>
                  <a:cxn ang="0">
                    <a:pos x="0" y="7"/>
                  </a:cxn>
                  <a:cxn ang="0">
                    <a:pos x="19" y="0"/>
                  </a:cxn>
                </a:cxnLst>
                <a:rect l="0" t="0" r="r" b="b"/>
                <a:pathLst>
                  <a:path w="20" h="20">
                    <a:moveTo>
                      <a:pt x="19" y="0"/>
                    </a:moveTo>
                    <a:lnTo>
                      <a:pt x="19" y="12"/>
                    </a:lnTo>
                    <a:lnTo>
                      <a:pt x="0" y="19"/>
                    </a:lnTo>
                    <a:lnTo>
                      <a:pt x="0" y="7"/>
                    </a:lnTo>
                    <a:lnTo>
                      <a:pt x="19"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48" name="Freeform 24"/>
              <p:cNvSpPr>
                <a:spLocks/>
              </p:cNvSpPr>
              <p:nvPr/>
            </p:nvSpPr>
            <p:spPr bwMode="auto">
              <a:xfrm>
                <a:off x="824" y="3474"/>
                <a:ext cx="26" cy="23"/>
              </a:xfrm>
              <a:custGeom>
                <a:avLst/>
                <a:gdLst/>
                <a:ahLst/>
                <a:cxnLst>
                  <a:cxn ang="0">
                    <a:pos x="25" y="0"/>
                  </a:cxn>
                  <a:cxn ang="0">
                    <a:pos x="25" y="14"/>
                  </a:cxn>
                  <a:cxn ang="0">
                    <a:pos x="0" y="22"/>
                  </a:cxn>
                  <a:cxn ang="0">
                    <a:pos x="0" y="8"/>
                  </a:cxn>
                  <a:cxn ang="0">
                    <a:pos x="25" y="0"/>
                  </a:cxn>
                </a:cxnLst>
                <a:rect l="0" t="0" r="r" b="b"/>
                <a:pathLst>
                  <a:path w="26" h="23">
                    <a:moveTo>
                      <a:pt x="25" y="0"/>
                    </a:moveTo>
                    <a:lnTo>
                      <a:pt x="25" y="14"/>
                    </a:lnTo>
                    <a:lnTo>
                      <a:pt x="0" y="22"/>
                    </a:lnTo>
                    <a:lnTo>
                      <a:pt x="0" y="8"/>
                    </a:lnTo>
                    <a:lnTo>
                      <a:pt x="25"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49" name="Freeform 25"/>
              <p:cNvSpPr>
                <a:spLocks/>
              </p:cNvSpPr>
              <p:nvPr/>
            </p:nvSpPr>
            <p:spPr bwMode="auto">
              <a:xfrm>
                <a:off x="855" y="3278"/>
                <a:ext cx="28" cy="30"/>
              </a:xfrm>
              <a:custGeom>
                <a:avLst/>
                <a:gdLst/>
                <a:ahLst/>
                <a:cxnLst>
                  <a:cxn ang="0">
                    <a:pos x="27" y="0"/>
                  </a:cxn>
                  <a:cxn ang="0">
                    <a:pos x="27" y="19"/>
                  </a:cxn>
                  <a:cxn ang="0">
                    <a:pos x="0" y="29"/>
                  </a:cxn>
                  <a:cxn ang="0">
                    <a:pos x="0" y="11"/>
                  </a:cxn>
                  <a:cxn ang="0">
                    <a:pos x="27" y="0"/>
                  </a:cxn>
                </a:cxnLst>
                <a:rect l="0" t="0" r="r" b="b"/>
                <a:pathLst>
                  <a:path w="28" h="30">
                    <a:moveTo>
                      <a:pt x="27" y="0"/>
                    </a:moveTo>
                    <a:lnTo>
                      <a:pt x="27" y="19"/>
                    </a:lnTo>
                    <a:lnTo>
                      <a:pt x="0" y="29"/>
                    </a:lnTo>
                    <a:lnTo>
                      <a:pt x="0" y="11"/>
                    </a:lnTo>
                    <a:lnTo>
                      <a:pt x="27"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50" name="Freeform 26"/>
              <p:cNvSpPr>
                <a:spLocks/>
              </p:cNvSpPr>
              <p:nvPr/>
            </p:nvSpPr>
            <p:spPr bwMode="auto">
              <a:xfrm>
                <a:off x="858" y="3312"/>
                <a:ext cx="22" cy="25"/>
              </a:xfrm>
              <a:custGeom>
                <a:avLst/>
                <a:gdLst/>
                <a:ahLst/>
                <a:cxnLst>
                  <a:cxn ang="0">
                    <a:pos x="21" y="0"/>
                  </a:cxn>
                  <a:cxn ang="0">
                    <a:pos x="21" y="16"/>
                  </a:cxn>
                  <a:cxn ang="0">
                    <a:pos x="0" y="24"/>
                  </a:cxn>
                  <a:cxn ang="0">
                    <a:pos x="0" y="8"/>
                  </a:cxn>
                  <a:cxn ang="0">
                    <a:pos x="21" y="0"/>
                  </a:cxn>
                </a:cxnLst>
                <a:rect l="0" t="0" r="r" b="b"/>
                <a:pathLst>
                  <a:path w="22" h="25">
                    <a:moveTo>
                      <a:pt x="21" y="0"/>
                    </a:moveTo>
                    <a:lnTo>
                      <a:pt x="21" y="16"/>
                    </a:lnTo>
                    <a:lnTo>
                      <a:pt x="0" y="24"/>
                    </a:lnTo>
                    <a:lnTo>
                      <a:pt x="0" y="8"/>
                    </a:lnTo>
                    <a:lnTo>
                      <a:pt x="21"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51" name="Freeform 27"/>
              <p:cNvSpPr>
                <a:spLocks/>
              </p:cNvSpPr>
              <p:nvPr/>
            </p:nvSpPr>
            <p:spPr bwMode="auto">
              <a:xfrm>
                <a:off x="858" y="3344"/>
                <a:ext cx="22" cy="25"/>
              </a:xfrm>
              <a:custGeom>
                <a:avLst/>
                <a:gdLst/>
                <a:ahLst/>
                <a:cxnLst>
                  <a:cxn ang="0">
                    <a:pos x="21" y="0"/>
                  </a:cxn>
                  <a:cxn ang="0">
                    <a:pos x="21" y="16"/>
                  </a:cxn>
                  <a:cxn ang="0">
                    <a:pos x="0" y="24"/>
                  </a:cxn>
                  <a:cxn ang="0">
                    <a:pos x="0" y="8"/>
                  </a:cxn>
                  <a:cxn ang="0">
                    <a:pos x="21" y="0"/>
                  </a:cxn>
                </a:cxnLst>
                <a:rect l="0" t="0" r="r" b="b"/>
                <a:pathLst>
                  <a:path w="22" h="25">
                    <a:moveTo>
                      <a:pt x="21" y="0"/>
                    </a:moveTo>
                    <a:lnTo>
                      <a:pt x="21" y="16"/>
                    </a:lnTo>
                    <a:lnTo>
                      <a:pt x="0" y="24"/>
                    </a:lnTo>
                    <a:lnTo>
                      <a:pt x="0" y="8"/>
                    </a:lnTo>
                    <a:lnTo>
                      <a:pt x="21"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52" name="Freeform 28"/>
              <p:cNvSpPr>
                <a:spLocks/>
              </p:cNvSpPr>
              <p:nvPr/>
            </p:nvSpPr>
            <p:spPr bwMode="auto">
              <a:xfrm>
                <a:off x="855" y="3376"/>
                <a:ext cx="19" cy="25"/>
              </a:xfrm>
              <a:custGeom>
                <a:avLst/>
                <a:gdLst/>
                <a:ahLst/>
                <a:cxnLst>
                  <a:cxn ang="0">
                    <a:pos x="18" y="0"/>
                  </a:cxn>
                  <a:cxn ang="0">
                    <a:pos x="18" y="16"/>
                  </a:cxn>
                  <a:cxn ang="0">
                    <a:pos x="0" y="24"/>
                  </a:cxn>
                  <a:cxn ang="0">
                    <a:pos x="0" y="9"/>
                  </a:cxn>
                  <a:cxn ang="0">
                    <a:pos x="18" y="0"/>
                  </a:cxn>
                </a:cxnLst>
                <a:rect l="0" t="0" r="r" b="b"/>
                <a:pathLst>
                  <a:path w="19" h="25">
                    <a:moveTo>
                      <a:pt x="18" y="0"/>
                    </a:moveTo>
                    <a:lnTo>
                      <a:pt x="18" y="16"/>
                    </a:lnTo>
                    <a:lnTo>
                      <a:pt x="0" y="24"/>
                    </a:lnTo>
                    <a:lnTo>
                      <a:pt x="0" y="9"/>
                    </a:lnTo>
                    <a:lnTo>
                      <a:pt x="18"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53" name="Freeform 29"/>
              <p:cNvSpPr>
                <a:spLocks/>
              </p:cNvSpPr>
              <p:nvPr/>
            </p:nvSpPr>
            <p:spPr bwMode="auto">
              <a:xfrm>
                <a:off x="858" y="3410"/>
                <a:ext cx="22" cy="27"/>
              </a:xfrm>
              <a:custGeom>
                <a:avLst/>
                <a:gdLst/>
                <a:ahLst/>
                <a:cxnLst>
                  <a:cxn ang="0">
                    <a:pos x="21" y="0"/>
                  </a:cxn>
                  <a:cxn ang="0">
                    <a:pos x="21" y="17"/>
                  </a:cxn>
                  <a:cxn ang="0">
                    <a:pos x="0" y="26"/>
                  </a:cxn>
                  <a:cxn ang="0">
                    <a:pos x="0" y="9"/>
                  </a:cxn>
                  <a:cxn ang="0">
                    <a:pos x="21" y="0"/>
                  </a:cxn>
                </a:cxnLst>
                <a:rect l="0" t="0" r="r" b="b"/>
                <a:pathLst>
                  <a:path w="22" h="27">
                    <a:moveTo>
                      <a:pt x="21" y="0"/>
                    </a:moveTo>
                    <a:lnTo>
                      <a:pt x="21" y="17"/>
                    </a:lnTo>
                    <a:lnTo>
                      <a:pt x="0" y="26"/>
                    </a:lnTo>
                    <a:lnTo>
                      <a:pt x="0" y="9"/>
                    </a:lnTo>
                    <a:lnTo>
                      <a:pt x="21"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54" name="Freeform 30"/>
              <p:cNvSpPr>
                <a:spLocks/>
              </p:cNvSpPr>
              <p:nvPr/>
            </p:nvSpPr>
            <p:spPr bwMode="auto">
              <a:xfrm>
                <a:off x="858" y="3441"/>
                <a:ext cx="22" cy="27"/>
              </a:xfrm>
              <a:custGeom>
                <a:avLst/>
                <a:gdLst/>
                <a:ahLst/>
                <a:cxnLst>
                  <a:cxn ang="0">
                    <a:pos x="21" y="0"/>
                  </a:cxn>
                  <a:cxn ang="0">
                    <a:pos x="21" y="17"/>
                  </a:cxn>
                  <a:cxn ang="0">
                    <a:pos x="0" y="26"/>
                  </a:cxn>
                  <a:cxn ang="0">
                    <a:pos x="0" y="9"/>
                  </a:cxn>
                  <a:cxn ang="0">
                    <a:pos x="21" y="0"/>
                  </a:cxn>
                </a:cxnLst>
                <a:rect l="0" t="0" r="r" b="b"/>
                <a:pathLst>
                  <a:path w="22" h="27">
                    <a:moveTo>
                      <a:pt x="21" y="0"/>
                    </a:moveTo>
                    <a:lnTo>
                      <a:pt x="21" y="17"/>
                    </a:lnTo>
                    <a:lnTo>
                      <a:pt x="0" y="26"/>
                    </a:lnTo>
                    <a:lnTo>
                      <a:pt x="0" y="9"/>
                    </a:lnTo>
                    <a:lnTo>
                      <a:pt x="21"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55" name="Freeform 31"/>
              <p:cNvSpPr>
                <a:spLocks/>
              </p:cNvSpPr>
              <p:nvPr/>
            </p:nvSpPr>
            <p:spPr bwMode="auto">
              <a:xfrm>
                <a:off x="855" y="3473"/>
                <a:ext cx="28" cy="28"/>
              </a:xfrm>
              <a:custGeom>
                <a:avLst/>
                <a:gdLst/>
                <a:ahLst/>
                <a:cxnLst>
                  <a:cxn ang="0">
                    <a:pos x="27" y="0"/>
                  </a:cxn>
                  <a:cxn ang="0">
                    <a:pos x="27" y="17"/>
                  </a:cxn>
                  <a:cxn ang="0">
                    <a:pos x="0" y="27"/>
                  </a:cxn>
                  <a:cxn ang="0">
                    <a:pos x="0" y="10"/>
                  </a:cxn>
                  <a:cxn ang="0">
                    <a:pos x="27" y="0"/>
                  </a:cxn>
                </a:cxnLst>
                <a:rect l="0" t="0" r="r" b="b"/>
                <a:pathLst>
                  <a:path w="28" h="28">
                    <a:moveTo>
                      <a:pt x="27" y="0"/>
                    </a:moveTo>
                    <a:lnTo>
                      <a:pt x="27" y="17"/>
                    </a:lnTo>
                    <a:lnTo>
                      <a:pt x="0" y="27"/>
                    </a:lnTo>
                    <a:lnTo>
                      <a:pt x="0" y="10"/>
                    </a:lnTo>
                    <a:lnTo>
                      <a:pt x="27"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56" name="Freeform 32"/>
              <p:cNvSpPr>
                <a:spLocks/>
              </p:cNvSpPr>
              <p:nvPr/>
            </p:nvSpPr>
            <p:spPr bwMode="auto">
              <a:xfrm>
                <a:off x="885" y="3275"/>
                <a:ext cx="31" cy="35"/>
              </a:xfrm>
              <a:custGeom>
                <a:avLst/>
                <a:gdLst/>
                <a:ahLst/>
                <a:cxnLst>
                  <a:cxn ang="0">
                    <a:pos x="30" y="0"/>
                  </a:cxn>
                  <a:cxn ang="0">
                    <a:pos x="30" y="23"/>
                  </a:cxn>
                  <a:cxn ang="0">
                    <a:pos x="0" y="34"/>
                  </a:cxn>
                  <a:cxn ang="0">
                    <a:pos x="0" y="11"/>
                  </a:cxn>
                  <a:cxn ang="0">
                    <a:pos x="30" y="0"/>
                  </a:cxn>
                </a:cxnLst>
                <a:rect l="0" t="0" r="r" b="b"/>
                <a:pathLst>
                  <a:path w="31" h="35">
                    <a:moveTo>
                      <a:pt x="30" y="0"/>
                    </a:moveTo>
                    <a:lnTo>
                      <a:pt x="30" y="23"/>
                    </a:lnTo>
                    <a:lnTo>
                      <a:pt x="0" y="34"/>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57" name="Freeform 33"/>
              <p:cNvSpPr>
                <a:spLocks/>
              </p:cNvSpPr>
              <p:nvPr/>
            </p:nvSpPr>
            <p:spPr bwMode="auto">
              <a:xfrm>
                <a:off x="889" y="3311"/>
                <a:ext cx="26" cy="30"/>
              </a:xfrm>
              <a:custGeom>
                <a:avLst/>
                <a:gdLst/>
                <a:ahLst/>
                <a:cxnLst>
                  <a:cxn ang="0">
                    <a:pos x="25" y="0"/>
                  </a:cxn>
                  <a:cxn ang="0">
                    <a:pos x="25" y="20"/>
                  </a:cxn>
                  <a:cxn ang="0">
                    <a:pos x="0" y="29"/>
                  </a:cxn>
                  <a:cxn ang="0">
                    <a:pos x="0" y="9"/>
                  </a:cxn>
                  <a:cxn ang="0">
                    <a:pos x="25" y="0"/>
                  </a:cxn>
                </a:cxnLst>
                <a:rect l="0" t="0" r="r" b="b"/>
                <a:pathLst>
                  <a:path w="26" h="30">
                    <a:moveTo>
                      <a:pt x="25" y="0"/>
                    </a:moveTo>
                    <a:lnTo>
                      <a:pt x="25" y="20"/>
                    </a:lnTo>
                    <a:lnTo>
                      <a:pt x="0" y="29"/>
                    </a:lnTo>
                    <a:lnTo>
                      <a:pt x="0" y="9"/>
                    </a:lnTo>
                    <a:lnTo>
                      <a:pt x="25"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58" name="Freeform 34"/>
              <p:cNvSpPr>
                <a:spLocks/>
              </p:cNvSpPr>
              <p:nvPr/>
            </p:nvSpPr>
            <p:spPr bwMode="auto">
              <a:xfrm>
                <a:off x="889" y="3341"/>
                <a:ext cx="26" cy="32"/>
              </a:xfrm>
              <a:custGeom>
                <a:avLst/>
                <a:gdLst/>
                <a:ahLst/>
                <a:cxnLst>
                  <a:cxn ang="0">
                    <a:pos x="25" y="0"/>
                  </a:cxn>
                  <a:cxn ang="0">
                    <a:pos x="25" y="21"/>
                  </a:cxn>
                  <a:cxn ang="0">
                    <a:pos x="0" y="31"/>
                  </a:cxn>
                  <a:cxn ang="0">
                    <a:pos x="0" y="10"/>
                  </a:cxn>
                  <a:cxn ang="0">
                    <a:pos x="25" y="0"/>
                  </a:cxn>
                </a:cxnLst>
                <a:rect l="0" t="0" r="r" b="b"/>
                <a:pathLst>
                  <a:path w="26" h="32">
                    <a:moveTo>
                      <a:pt x="25" y="0"/>
                    </a:moveTo>
                    <a:lnTo>
                      <a:pt x="25" y="21"/>
                    </a:lnTo>
                    <a:lnTo>
                      <a:pt x="0" y="31"/>
                    </a:lnTo>
                    <a:lnTo>
                      <a:pt x="0" y="10"/>
                    </a:lnTo>
                    <a:lnTo>
                      <a:pt x="25"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59" name="Freeform 35"/>
              <p:cNvSpPr>
                <a:spLocks/>
              </p:cNvSpPr>
              <p:nvPr/>
            </p:nvSpPr>
            <p:spPr bwMode="auto">
              <a:xfrm>
                <a:off x="885" y="3372"/>
                <a:ext cx="31" cy="37"/>
              </a:xfrm>
              <a:custGeom>
                <a:avLst/>
                <a:gdLst/>
                <a:ahLst/>
                <a:cxnLst>
                  <a:cxn ang="0">
                    <a:pos x="30" y="0"/>
                  </a:cxn>
                  <a:cxn ang="0">
                    <a:pos x="30" y="24"/>
                  </a:cxn>
                  <a:cxn ang="0">
                    <a:pos x="0" y="36"/>
                  </a:cxn>
                  <a:cxn ang="0">
                    <a:pos x="0" y="12"/>
                  </a:cxn>
                  <a:cxn ang="0">
                    <a:pos x="30" y="0"/>
                  </a:cxn>
                </a:cxnLst>
                <a:rect l="0" t="0" r="r" b="b"/>
                <a:pathLst>
                  <a:path w="31" h="37">
                    <a:moveTo>
                      <a:pt x="30" y="0"/>
                    </a:moveTo>
                    <a:lnTo>
                      <a:pt x="30" y="24"/>
                    </a:lnTo>
                    <a:lnTo>
                      <a:pt x="0" y="36"/>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60" name="Freeform 36"/>
              <p:cNvSpPr>
                <a:spLocks/>
              </p:cNvSpPr>
              <p:nvPr/>
            </p:nvSpPr>
            <p:spPr bwMode="auto">
              <a:xfrm>
                <a:off x="889" y="3408"/>
                <a:ext cx="26" cy="30"/>
              </a:xfrm>
              <a:custGeom>
                <a:avLst/>
                <a:gdLst/>
                <a:ahLst/>
                <a:cxnLst>
                  <a:cxn ang="0">
                    <a:pos x="25" y="0"/>
                  </a:cxn>
                  <a:cxn ang="0">
                    <a:pos x="25" y="20"/>
                  </a:cxn>
                  <a:cxn ang="0">
                    <a:pos x="0" y="29"/>
                  </a:cxn>
                  <a:cxn ang="0">
                    <a:pos x="0" y="10"/>
                  </a:cxn>
                  <a:cxn ang="0">
                    <a:pos x="25" y="0"/>
                  </a:cxn>
                </a:cxnLst>
                <a:rect l="0" t="0" r="r" b="b"/>
                <a:pathLst>
                  <a:path w="26" h="30">
                    <a:moveTo>
                      <a:pt x="25" y="0"/>
                    </a:moveTo>
                    <a:lnTo>
                      <a:pt x="25" y="20"/>
                    </a:lnTo>
                    <a:lnTo>
                      <a:pt x="0" y="29"/>
                    </a:lnTo>
                    <a:lnTo>
                      <a:pt x="0" y="10"/>
                    </a:lnTo>
                    <a:lnTo>
                      <a:pt x="25"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61" name="Freeform 37"/>
              <p:cNvSpPr>
                <a:spLocks/>
              </p:cNvSpPr>
              <p:nvPr/>
            </p:nvSpPr>
            <p:spPr bwMode="auto">
              <a:xfrm>
                <a:off x="889" y="3440"/>
                <a:ext cx="26" cy="30"/>
              </a:xfrm>
              <a:custGeom>
                <a:avLst/>
                <a:gdLst/>
                <a:ahLst/>
                <a:cxnLst>
                  <a:cxn ang="0">
                    <a:pos x="25" y="0"/>
                  </a:cxn>
                  <a:cxn ang="0">
                    <a:pos x="25" y="20"/>
                  </a:cxn>
                  <a:cxn ang="0">
                    <a:pos x="0" y="29"/>
                  </a:cxn>
                  <a:cxn ang="0">
                    <a:pos x="0" y="9"/>
                  </a:cxn>
                  <a:cxn ang="0">
                    <a:pos x="25" y="0"/>
                  </a:cxn>
                </a:cxnLst>
                <a:rect l="0" t="0" r="r" b="b"/>
                <a:pathLst>
                  <a:path w="26" h="30">
                    <a:moveTo>
                      <a:pt x="25" y="0"/>
                    </a:moveTo>
                    <a:lnTo>
                      <a:pt x="25" y="20"/>
                    </a:lnTo>
                    <a:lnTo>
                      <a:pt x="0" y="29"/>
                    </a:lnTo>
                    <a:lnTo>
                      <a:pt x="0" y="9"/>
                    </a:lnTo>
                    <a:lnTo>
                      <a:pt x="25"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62" name="Freeform 38"/>
              <p:cNvSpPr>
                <a:spLocks/>
              </p:cNvSpPr>
              <p:nvPr/>
            </p:nvSpPr>
            <p:spPr bwMode="auto">
              <a:xfrm>
                <a:off x="885" y="3469"/>
                <a:ext cx="31" cy="36"/>
              </a:xfrm>
              <a:custGeom>
                <a:avLst/>
                <a:gdLst/>
                <a:ahLst/>
                <a:cxnLst>
                  <a:cxn ang="0">
                    <a:pos x="30" y="0"/>
                  </a:cxn>
                  <a:cxn ang="0">
                    <a:pos x="30" y="24"/>
                  </a:cxn>
                  <a:cxn ang="0">
                    <a:pos x="0" y="35"/>
                  </a:cxn>
                  <a:cxn ang="0">
                    <a:pos x="0" y="12"/>
                  </a:cxn>
                  <a:cxn ang="0">
                    <a:pos x="30" y="0"/>
                  </a:cxn>
                </a:cxnLst>
                <a:rect l="0" t="0" r="r" b="b"/>
                <a:pathLst>
                  <a:path w="31" h="36">
                    <a:moveTo>
                      <a:pt x="30" y="0"/>
                    </a:moveTo>
                    <a:lnTo>
                      <a:pt x="30" y="24"/>
                    </a:lnTo>
                    <a:lnTo>
                      <a:pt x="0" y="35"/>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63" name="Freeform 39"/>
              <p:cNvSpPr>
                <a:spLocks/>
              </p:cNvSpPr>
              <p:nvPr/>
            </p:nvSpPr>
            <p:spPr bwMode="auto">
              <a:xfrm>
                <a:off x="919" y="3262"/>
                <a:ext cx="31" cy="47"/>
              </a:xfrm>
              <a:custGeom>
                <a:avLst/>
                <a:gdLst/>
                <a:ahLst/>
                <a:cxnLst>
                  <a:cxn ang="0">
                    <a:pos x="30" y="0"/>
                  </a:cxn>
                  <a:cxn ang="0">
                    <a:pos x="30" y="33"/>
                  </a:cxn>
                  <a:cxn ang="0">
                    <a:pos x="0" y="46"/>
                  </a:cxn>
                  <a:cxn ang="0">
                    <a:pos x="0" y="15"/>
                  </a:cxn>
                  <a:cxn ang="0">
                    <a:pos x="2" y="14"/>
                  </a:cxn>
                  <a:cxn ang="0">
                    <a:pos x="4" y="13"/>
                  </a:cxn>
                  <a:cxn ang="0">
                    <a:pos x="6" y="12"/>
                  </a:cxn>
                  <a:cxn ang="0">
                    <a:pos x="8" y="11"/>
                  </a:cxn>
                  <a:cxn ang="0">
                    <a:pos x="10" y="10"/>
                  </a:cxn>
                  <a:cxn ang="0">
                    <a:pos x="12" y="9"/>
                  </a:cxn>
                  <a:cxn ang="0">
                    <a:pos x="14" y="8"/>
                  </a:cxn>
                  <a:cxn ang="0">
                    <a:pos x="16" y="7"/>
                  </a:cxn>
                  <a:cxn ang="0">
                    <a:pos x="17" y="6"/>
                  </a:cxn>
                  <a:cxn ang="0">
                    <a:pos x="19" y="5"/>
                  </a:cxn>
                  <a:cxn ang="0">
                    <a:pos x="21" y="4"/>
                  </a:cxn>
                  <a:cxn ang="0">
                    <a:pos x="23" y="3"/>
                  </a:cxn>
                  <a:cxn ang="0">
                    <a:pos x="25" y="2"/>
                  </a:cxn>
                  <a:cxn ang="0">
                    <a:pos x="27" y="2"/>
                  </a:cxn>
                  <a:cxn ang="0">
                    <a:pos x="28" y="1"/>
                  </a:cxn>
                  <a:cxn ang="0">
                    <a:pos x="30" y="0"/>
                  </a:cxn>
                </a:cxnLst>
                <a:rect l="0" t="0" r="r" b="b"/>
                <a:pathLst>
                  <a:path w="31" h="47">
                    <a:moveTo>
                      <a:pt x="30" y="0"/>
                    </a:moveTo>
                    <a:lnTo>
                      <a:pt x="30" y="33"/>
                    </a:lnTo>
                    <a:lnTo>
                      <a:pt x="0" y="46"/>
                    </a:lnTo>
                    <a:lnTo>
                      <a:pt x="0" y="15"/>
                    </a:lnTo>
                    <a:lnTo>
                      <a:pt x="2" y="14"/>
                    </a:lnTo>
                    <a:lnTo>
                      <a:pt x="4" y="13"/>
                    </a:lnTo>
                    <a:lnTo>
                      <a:pt x="6" y="12"/>
                    </a:lnTo>
                    <a:lnTo>
                      <a:pt x="8" y="11"/>
                    </a:lnTo>
                    <a:lnTo>
                      <a:pt x="10" y="10"/>
                    </a:lnTo>
                    <a:lnTo>
                      <a:pt x="12" y="9"/>
                    </a:lnTo>
                    <a:lnTo>
                      <a:pt x="14" y="8"/>
                    </a:lnTo>
                    <a:lnTo>
                      <a:pt x="16" y="7"/>
                    </a:lnTo>
                    <a:lnTo>
                      <a:pt x="17" y="6"/>
                    </a:lnTo>
                    <a:lnTo>
                      <a:pt x="19" y="5"/>
                    </a:lnTo>
                    <a:lnTo>
                      <a:pt x="21" y="4"/>
                    </a:lnTo>
                    <a:lnTo>
                      <a:pt x="23" y="3"/>
                    </a:lnTo>
                    <a:lnTo>
                      <a:pt x="25" y="2"/>
                    </a:lnTo>
                    <a:lnTo>
                      <a:pt x="27" y="2"/>
                    </a:lnTo>
                    <a:lnTo>
                      <a:pt x="28" y="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64" name="Freeform 40"/>
              <p:cNvSpPr>
                <a:spLocks/>
              </p:cNvSpPr>
              <p:nvPr/>
            </p:nvSpPr>
            <p:spPr bwMode="auto">
              <a:xfrm>
                <a:off x="919" y="3299"/>
                <a:ext cx="31" cy="38"/>
              </a:xfrm>
              <a:custGeom>
                <a:avLst/>
                <a:gdLst/>
                <a:ahLst/>
                <a:cxnLst>
                  <a:cxn ang="0">
                    <a:pos x="30" y="0"/>
                  </a:cxn>
                  <a:cxn ang="0">
                    <a:pos x="30" y="26"/>
                  </a:cxn>
                  <a:cxn ang="0">
                    <a:pos x="0" y="37"/>
                  </a:cxn>
                  <a:cxn ang="0">
                    <a:pos x="0" y="11"/>
                  </a:cxn>
                  <a:cxn ang="0">
                    <a:pos x="30" y="0"/>
                  </a:cxn>
                </a:cxnLst>
                <a:rect l="0" t="0" r="r" b="b"/>
                <a:pathLst>
                  <a:path w="31" h="38">
                    <a:moveTo>
                      <a:pt x="30" y="0"/>
                    </a:moveTo>
                    <a:lnTo>
                      <a:pt x="30" y="26"/>
                    </a:lnTo>
                    <a:lnTo>
                      <a:pt x="0" y="37"/>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65" name="Freeform 41"/>
              <p:cNvSpPr>
                <a:spLocks/>
              </p:cNvSpPr>
              <p:nvPr/>
            </p:nvSpPr>
            <p:spPr bwMode="auto">
              <a:xfrm>
                <a:off x="919" y="3331"/>
                <a:ext cx="31" cy="38"/>
              </a:xfrm>
              <a:custGeom>
                <a:avLst/>
                <a:gdLst/>
                <a:ahLst/>
                <a:cxnLst>
                  <a:cxn ang="0">
                    <a:pos x="30" y="0"/>
                  </a:cxn>
                  <a:cxn ang="0">
                    <a:pos x="30" y="26"/>
                  </a:cxn>
                  <a:cxn ang="0">
                    <a:pos x="0" y="37"/>
                  </a:cxn>
                  <a:cxn ang="0">
                    <a:pos x="0" y="11"/>
                  </a:cxn>
                  <a:cxn ang="0">
                    <a:pos x="30" y="0"/>
                  </a:cxn>
                </a:cxnLst>
                <a:rect l="0" t="0" r="r" b="b"/>
                <a:pathLst>
                  <a:path w="31" h="38">
                    <a:moveTo>
                      <a:pt x="30" y="0"/>
                    </a:moveTo>
                    <a:lnTo>
                      <a:pt x="30" y="26"/>
                    </a:lnTo>
                    <a:lnTo>
                      <a:pt x="0" y="37"/>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66" name="Freeform 42"/>
              <p:cNvSpPr>
                <a:spLocks/>
              </p:cNvSpPr>
              <p:nvPr/>
            </p:nvSpPr>
            <p:spPr bwMode="auto">
              <a:xfrm>
                <a:off x="919" y="3362"/>
                <a:ext cx="31" cy="42"/>
              </a:xfrm>
              <a:custGeom>
                <a:avLst/>
                <a:gdLst/>
                <a:ahLst/>
                <a:cxnLst>
                  <a:cxn ang="0">
                    <a:pos x="30" y="0"/>
                  </a:cxn>
                  <a:cxn ang="0">
                    <a:pos x="30" y="28"/>
                  </a:cxn>
                  <a:cxn ang="0">
                    <a:pos x="0" y="41"/>
                  </a:cxn>
                  <a:cxn ang="0">
                    <a:pos x="0" y="12"/>
                  </a:cxn>
                  <a:cxn ang="0">
                    <a:pos x="30" y="0"/>
                  </a:cxn>
                </a:cxnLst>
                <a:rect l="0" t="0" r="r" b="b"/>
                <a:pathLst>
                  <a:path w="31" h="42">
                    <a:moveTo>
                      <a:pt x="30" y="0"/>
                    </a:moveTo>
                    <a:lnTo>
                      <a:pt x="30" y="28"/>
                    </a:lnTo>
                    <a:lnTo>
                      <a:pt x="0" y="41"/>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67" name="Freeform 43"/>
              <p:cNvSpPr>
                <a:spLocks/>
              </p:cNvSpPr>
              <p:nvPr/>
            </p:nvSpPr>
            <p:spPr bwMode="auto">
              <a:xfrm>
                <a:off x="919" y="3394"/>
                <a:ext cx="31" cy="41"/>
              </a:xfrm>
              <a:custGeom>
                <a:avLst/>
                <a:gdLst/>
                <a:ahLst/>
                <a:cxnLst>
                  <a:cxn ang="0">
                    <a:pos x="30" y="0"/>
                  </a:cxn>
                  <a:cxn ang="0">
                    <a:pos x="30" y="28"/>
                  </a:cxn>
                  <a:cxn ang="0">
                    <a:pos x="0" y="40"/>
                  </a:cxn>
                  <a:cxn ang="0">
                    <a:pos x="0" y="12"/>
                  </a:cxn>
                  <a:cxn ang="0">
                    <a:pos x="30" y="0"/>
                  </a:cxn>
                </a:cxnLst>
                <a:rect l="0" t="0" r="r" b="b"/>
                <a:pathLst>
                  <a:path w="31" h="41">
                    <a:moveTo>
                      <a:pt x="30" y="0"/>
                    </a:moveTo>
                    <a:lnTo>
                      <a:pt x="30" y="28"/>
                    </a:lnTo>
                    <a:lnTo>
                      <a:pt x="0" y="40"/>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68" name="Freeform 44"/>
              <p:cNvSpPr>
                <a:spLocks/>
              </p:cNvSpPr>
              <p:nvPr/>
            </p:nvSpPr>
            <p:spPr bwMode="auto">
              <a:xfrm>
                <a:off x="919" y="3429"/>
                <a:ext cx="31" cy="39"/>
              </a:xfrm>
              <a:custGeom>
                <a:avLst/>
                <a:gdLst/>
                <a:ahLst/>
                <a:cxnLst>
                  <a:cxn ang="0">
                    <a:pos x="30" y="0"/>
                  </a:cxn>
                  <a:cxn ang="0">
                    <a:pos x="30" y="26"/>
                  </a:cxn>
                  <a:cxn ang="0">
                    <a:pos x="0" y="38"/>
                  </a:cxn>
                  <a:cxn ang="0">
                    <a:pos x="0" y="11"/>
                  </a:cxn>
                  <a:cxn ang="0">
                    <a:pos x="30" y="0"/>
                  </a:cxn>
                </a:cxnLst>
                <a:rect l="0" t="0" r="r" b="b"/>
                <a:pathLst>
                  <a:path w="31" h="39">
                    <a:moveTo>
                      <a:pt x="30" y="0"/>
                    </a:moveTo>
                    <a:lnTo>
                      <a:pt x="30" y="26"/>
                    </a:lnTo>
                    <a:lnTo>
                      <a:pt x="0" y="38"/>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69" name="Freeform 45"/>
              <p:cNvSpPr>
                <a:spLocks/>
              </p:cNvSpPr>
              <p:nvPr/>
            </p:nvSpPr>
            <p:spPr bwMode="auto">
              <a:xfrm>
                <a:off x="919" y="3461"/>
                <a:ext cx="31" cy="40"/>
              </a:xfrm>
              <a:custGeom>
                <a:avLst/>
                <a:gdLst/>
                <a:ahLst/>
                <a:cxnLst>
                  <a:cxn ang="0">
                    <a:pos x="30" y="0"/>
                  </a:cxn>
                  <a:cxn ang="0">
                    <a:pos x="30" y="27"/>
                  </a:cxn>
                  <a:cxn ang="0">
                    <a:pos x="28" y="28"/>
                  </a:cxn>
                  <a:cxn ang="0">
                    <a:pos x="26" y="29"/>
                  </a:cxn>
                  <a:cxn ang="0">
                    <a:pos x="24" y="29"/>
                  </a:cxn>
                  <a:cxn ang="0">
                    <a:pos x="22" y="30"/>
                  </a:cxn>
                  <a:cxn ang="0">
                    <a:pos x="20" y="31"/>
                  </a:cxn>
                  <a:cxn ang="0">
                    <a:pos x="18" y="32"/>
                  </a:cxn>
                  <a:cxn ang="0">
                    <a:pos x="16" y="32"/>
                  </a:cxn>
                  <a:cxn ang="0">
                    <a:pos x="14" y="33"/>
                  </a:cxn>
                  <a:cxn ang="0">
                    <a:pos x="12" y="34"/>
                  </a:cxn>
                  <a:cxn ang="0">
                    <a:pos x="10" y="35"/>
                  </a:cxn>
                  <a:cxn ang="0">
                    <a:pos x="8" y="35"/>
                  </a:cxn>
                  <a:cxn ang="0">
                    <a:pos x="7" y="36"/>
                  </a:cxn>
                  <a:cxn ang="0">
                    <a:pos x="5" y="37"/>
                  </a:cxn>
                  <a:cxn ang="0">
                    <a:pos x="3" y="38"/>
                  </a:cxn>
                  <a:cxn ang="0">
                    <a:pos x="2" y="38"/>
                  </a:cxn>
                  <a:cxn ang="0">
                    <a:pos x="0" y="39"/>
                  </a:cxn>
                  <a:cxn ang="0">
                    <a:pos x="0" y="11"/>
                  </a:cxn>
                  <a:cxn ang="0">
                    <a:pos x="30" y="0"/>
                  </a:cxn>
                </a:cxnLst>
                <a:rect l="0" t="0" r="r" b="b"/>
                <a:pathLst>
                  <a:path w="31" h="40">
                    <a:moveTo>
                      <a:pt x="30" y="0"/>
                    </a:moveTo>
                    <a:lnTo>
                      <a:pt x="30" y="27"/>
                    </a:lnTo>
                    <a:lnTo>
                      <a:pt x="28" y="28"/>
                    </a:lnTo>
                    <a:lnTo>
                      <a:pt x="26" y="29"/>
                    </a:lnTo>
                    <a:lnTo>
                      <a:pt x="24" y="29"/>
                    </a:lnTo>
                    <a:lnTo>
                      <a:pt x="22" y="30"/>
                    </a:lnTo>
                    <a:lnTo>
                      <a:pt x="20" y="31"/>
                    </a:lnTo>
                    <a:lnTo>
                      <a:pt x="18" y="32"/>
                    </a:lnTo>
                    <a:lnTo>
                      <a:pt x="16" y="32"/>
                    </a:lnTo>
                    <a:lnTo>
                      <a:pt x="14" y="33"/>
                    </a:lnTo>
                    <a:lnTo>
                      <a:pt x="12" y="34"/>
                    </a:lnTo>
                    <a:lnTo>
                      <a:pt x="10" y="35"/>
                    </a:lnTo>
                    <a:lnTo>
                      <a:pt x="8" y="35"/>
                    </a:lnTo>
                    <a:lnTo>
                      <a:pt x="7" y="36"/>
                    </a:lnTo>
                    <a:lnTo>
                      <a:pt x="5" y="37"/>
                    </a:lnTo>
                    <a:lnTo>
                      <a:pt x="3" y="38"/>
                    </a:lnTo>
                    <a:lnTo>
                      <a:pt x="2" y="38"/>
                    </a:lnTo>
                    <a:lnTo>
                      <a:pt x="0" y="39"/>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70" name="Freeform 46"/>
              <p:cNvSpPr>
                <a:spLocks/>
              </p:cNvSpPr>
              <p:nvPr/>
            </p:nvSpPr>
            <p:spPr bwMode="auto">
              <a:xfrm>
                <a:off x="953" y="3248"/>
                <a:ext cx="157" cy="244"/>
              </a:xfrm>
              <a:custGeom>
                <a:avLst/>
                <a:gdLst/>
                <a:ahLst/>
                <a:cxnLst>
                  <a:cxn ang="0">
                    <a:pos x="152" y="241"/>
                  </a:cxn>
                  <a:cxn ang="0">
                    <a:pos x="144" y="237"/>
                  </a:cxn>
                  <a:cxn ang="0">
                    <a:pos x="136" y="233"/>
                  </a:cxn>
                  <a:cxn ang="0">
                    <a:pos x="127" y="230"/>
                  </a:cxn>
                  <a:cxn ang="0">
                    <a:pos x="118" y="228"/>
                  </a:cxn>
                  <a:cxn ang="0">
                    <a:pos x="108" y="226"/>
                  </a:cxn>
                  <a:cxn ang="0">
                    <a:pos x="98" y="225"/>
                  </a:cxn>
                  <a:cxn ang="0">
                    <a:pos x="88" y="225"/>
                  </a:cxn>
                  <a:cxn ang="0">
                    <a:pos x="78" y="224"/>
                  </a:cxn>
                  <a:cxn ang="0">
                    <a:pos x="68" y="225"/>
                  </a:cxn>
                  <a:cxn ang="0">
                    <a:pos x="58" y="226"/>
                  </a:cxn>
                  <a:cxn ang="0">
                    <a:pos x="48" y="227"/>
                  </a:cxn>
                  <a:cxn ang="0">
                    <a:pos x="38" y="229"/>
                  </a:cxn>
                  <a:cxn ang="0">
                    <a:pos x="27" y="230"/>
                  </a:cxn>
                  <a:cxn ang="0">
                    <a:pos x="17" y="233"/>
                  </a:cxn>
                  <a:cxn ang="0">
                    <a:pos x="6" y="236"/>
                  </a:cxn>
                  <a:cxn ang="0">
                    <a:pos x="3" y="204"/>
                  </a:cxn>
                  <a:cxn ang="0">
                    <a:pos x="15" y="200"/>
                  </a:cxn>
                  <a:cxn ang="0">
                    <a:pos x="27" y="197"/>
                  </a:cxn>
                  <a:cxn ang="0">
                    <a:pos x="40" y="194"/>
                  </a:cxn>
                  <a:cxn ang="0">
                    <a:pos x="50" y="120"/>
                  </a:cxn>
                  <a:cxn ang="0">
                    <a:pos x="38" y="122"/>
                  </a:cxn>
                  <a:cxn ang="0">
                    <a:pos x="26" y="126"/>
                  </a:cxn>
                  <a:cxn ang="0">
                    <a:pos x="13" y="130"/>
                  </a:cxn>
                  <a:cxn ang="0">
                    <a:pos x="0" y="136"/>
                  </a:cxn>
                  <a:cxn ang="0">
                    <a:pos x="9" y="110"/>
                  </a:cxn>
                  <a:cxn ang="0">
                    <a:pos x="21" y="106"/>
                  </a:cxn>
                  <a:cxn ang="0">
                    <a:pos x="34" y="102"/>
                  </a:cxn>
                  <a:cxn ang="0">
                    <a:pos x="46" y="99"/>
                  </a:cxn>
                  <a:cxn ang="0">
                    <a:pos x="44" y="33"/>
                  </a:cxn>
                  <a:cxn ang="0">
                    <a:pos x="32" y="36"/>
                  </a:cxn>
                  <a:cxn ang="0">
                    <a:pos x="19" y="39"/>
                  </a:cxn>
                  <a:cxn ang="0">
                    <a:pos x="6" y="43"/>
                  </a:cxn>
                  <a:cxn ang="0">
                    <a:pos x="3" y="13"/>
                  </a:cxn>
                  <a:cxn ang="0">
                    <a:pos x="13" y="10"/>
                  </a:cxn>
                  <a:cxn ang="0">
                    <a:pos x="23" y="7"/>
                  </a:cxn>
                  <a:cxn ang="0">
                    <a:pos x="33" y="5"/>
                  </a:cxn>
                  <a:cxn ang="0">
                    <a:pos x="43" y="3"/>
                  </a:cxn>
                  <a:cxn ang="0">
                    <a:pos x="53" y="2"/>
                  </a:cxn>
                  <a:cxn ang="0">
                    <a:pos x="62" y="1"/>
                  </a:cxn>
                  <a:cxn ang="0">
                    <a:pos x="72" y="0"/>
                  </a:cxn>
                  <a:cxn ang="0">
                    <a:pos x="82" y="0"/>
                  </a:cxn>
                  <a:cxn ang="0">
                    <a:pos x="92" y="1"/>
                  </a:cxn>
                  <a:cxn ang="0">
                    <a:pos x="102" y="2"/>
                  </a:cxn>
                  <a:cxn ang="0">
                    <a:pos x="112" y="3"/>
                  </a:cxn>
                  <a:cxn ang="0">
                    <a:pos x="122" y="6"/>
                  </a:cxn>
                  <a:cxn ang="0">
                    <a:pos x="131" y="8"/>
                  </a:cxn>
                  <a:cxn ang="0">
                    <a:pos x="140" y="12"/>
                  </a:cxn>
                  <a:cxn ang="0">
                    <a:pos x="149" y="16"/>
                  </a:cxn>
                </a:cxnLst>
                <a:rect l="0" t="0" r="r" b="b"/>
                <a:pathLst>
                  <a:path w="157" h="244">
                    <a:moveTo>
                      <a:pt x="156" y="19"/>
                    </a:moveTo>
                    <a:lnTo>
                      <a:pt x="156" y="243"/>
                    </a:lnTo>
                    <a:lnTo>
                      <a:pt x="154" y="242"/>
                    </a:lnTo>
                    <a:lnTo>
                      <a:pt x="152" y="241"/>
                    </a:lnTo>
                    <a:lnTo>
                      <a:pt x="150" y="240"/>
                    </a:lnTo>
                    <a:lnTo>
                      <a:pt x="148" y="238"/>
                    </a:lnTo>
                    <a:lnTo>
                      <a:pt x="146" y="238"/>
                    </a:lnTo>
                    <a:lnTo>
                      <a:pt x="144" y="237"/>
                    </a:lnTo>
                    <a:lnTo>
                      <a:pt x="142" y="236"/>
                    </a:lnTo>
                    <a:lnTo>
                      <a:pt x="140" y="235"/>
                    </a:lnTo>
                    <a:lnTo>
                      <a:pt x="138" y="234"/>
                    </a:lnTo>
                    <a:lnTo>
                      <a:pt x="136" y="233"/>
                    </a:lnTo>
                    <a:lnTo>
                      <a:pt x="134" y="232"/>
                    </a:lnTo>
                    <a:lnTo>
                      <a:pt x="132" y="232"/>
                    </a:lnTo>
                    <a:lnTo>
                      <a:pt x="129" y="231"/>
                    </a:lnTo>
                    <a:lnTo>
                      <a:pt x="127" y="230"/>
                    </a:lnTo>
                    <a:lnTo>
                      <a:pt x="125" y="230"/>
                    </a:lnTo>
                    <a:lnTo>
                      <a:pt x="123" y="229"/>
                    </a:lnTo>
                    <a:lnTo>
                      <a:pt x="120" y="229"/>
                    </a:lnTo>
                    <a:lnTo>
                      <a:pt x="118" y="228"/>
                    </a:lnTo>
                    <a:lnTo>
                      <a:pt x="116" y="227"/>
                    </a:lnTo>
                    <a:lnTo>
                      <a:pt x="113" y="227"/>
                    </a:lnTo>
                    <a:lnTo>
                      <a:pt x="111" y="227"/>
                    </a:lnTo>
                    <a:lnTo>
                      <a:pt x="108" y="226"/>
                    </a:lnTo>
                    <a:lnTo>
                      <a:pt x="106" y="226"/>
                    </a:lnTo>
                    <a:lnTo>
                      <a:pt x="103" y="226"/>
                    </a:lnTo>
                    <a:lnTo>
                      <a:pt x="101" y="225"/>
                    </a:lnTo>
                    <a:lnTo>
                      <a:pt x="98" y="225"/>
                    </a:lnTo>
                    <a:lnTo>
                      <a:pt x="96" y="225"/>
                    </a:lnTo>
                    <a:lnTo>
                      <a:pt x="93" y="225"/>
                    </a:lnTo>
                    <a:lnTo>
                      <a:pt x="90" y="225"/>
                    </a:lnTo>
                    <a:lnTo>
                      <a:pt x="88" y="225"/>
                    </a:lnTo>
                    <a:lnTo>
                      <a:pt x="85" y="224"/>
                    </a:lnTo>
                    <a:lnTo>
                      <a:pt x="82" y="224"/>
                    </a:lnTo>
                    <a:lnTo>
                      <a:pt x="80" y="224"/>
                    </a:lnTo>
                    <a:lnTo>
                      <a:pt x="78" y="224"/>
                    </a:lnTo>
                    <a:lnTo>
                      <a:pt x="75" y="225"/>
                    </a:lnTo>
                    <a:lnTo>
                      <a:pt x="73" y="225"/>
                    </a:lnTo>
                    <a:lnTo>
                      <a:pt x="70" y="225"/>
                    </a:lnTo>
                    <a:lnTo>
                      <a:pt x="68" y="225"/>
                    </a:lnTo>
                    <a:lnTo>
                      <a:pt x="66" y="225"/>
                    </a:lnTo>
                    <a:lnTo>
                      <a:pt x="63" y="225"/>
                    </a:lnTo>
                    <a:lnTo>
                      <a:pt x="61" y="226"/>
                    </a:lnTo>
                    <a:lnTo>
                      <a:pt x="58" y="226"/>
                    </a:lnTo>
                    <a:lnTo>
                      <a:pt x="56" y="226"/>
                    </a:lnTo>
                    <a:lnTo>
                      <a:pt x="53" y="226"/>
                    </a:lnTo>
                    <a:lnTo>
                      <a:pt x="51" y="227"/>
                    </a:lnTo>
                    <a:lnTo>
                      <a:pt x="48" y="227"/>
                    </a:lnTo>
                    <a:lnTo>
                      <a:pt x="46" y="227"/>
                    </a:lnTo>
                    <a:lnTo>
                      <a:pt x="43" y="228"/>
                    </a:lnTo>
                    <a:lnTo>
                      <a:pt x="41" y="228"/>
                    </a:lnTo>
                    <a:lnTo>
                      <a:pt x="38" y="229"/>
                    </a:lnTo>
                    <a:lnTo>
                      <a:pt x="35" y="229"/>
                    </a:lnTo>
                    <a:lnTo>
                      <a:pt x="33" y="229"/>
                    </a:lnTo>
                    <a:lnTo>
                      <a:pt x="30" y="230"/>
                    </a:lnTo>
                    <a:lnTo>
                      <a:pt x="27" y="230"/>
                    </a:lnTo>
                    <a:lnTo>
                      <a:pt x="25" y="231"/>
                    </a:lnTo>
                    <a:lnTo>
                      <a:pt x="22" y="232"/>
                    </a:lnTo>
                    <a:lnTo>
                      <a:pt x="19" y="232"/>
                    </a:lnTo>
                    <a:lnTo>
                      <a:pt x="17" y="233"/>
                    </a:lnTo>
                    <a:lnTo>
                      <a:pt x="14" y="234"/>
                    </a:lnTo>
                    <a:lnTo>
                      <a:pt x="11" y="234"/>
                    </a:lnTo>
                    <a:lnTo>
                      <a:pt x="8" y="235"/>
                    </a:lnTo>
                    <a:lnTo>
                      <a:pt x="6" y="236"/>
                    </a:lnTo>
                    <a:lnTo>
                      <a:pt x="3" y="237"/>
                    </a:lnTo>
                    <a:lnTo>
                      <a:pt x="0" y="237"/>
                    </a:lnTo>
                    <a:lnTo>
                      <a:pt x="0" y="205"/>
                    </a:lnTo>
                    <a:lnTo>
                      <a:pt x="3" y="204"/>
                    </a:lnTo>
                    <a:lnTo>
                      <a:pt x="6" y="203"/>
                    </a:lnTo>
                    <a:lnTo>
                      <a:pt x="9" y="202"/>
                    </a:lnTo>
                    <a:lnTo>
                      <a:pt x="12" y="201"/>
                    </a:lnTo>
                    <a:lnTo>
                      <a:pt x="15" y="200"/>
                    </a:lnTo>
                    <a:lnTo>
                      <a:pt x="18" y="199"/>
                    </a:lnTo>
                    <a:lnTo>
                      <a:pt x="21" y="198"/>
                    </a:lnTo>
                    <a:lnTo>
                      <a:pt x="24" y="198"/>
                    </a:lnTo>
                    <a:lnTo>
                      <a:pt x="27" y="197"/>
                    </a:lnTo>
                    <a:lnTo>
                      <a:pt x="30" y="196"/>
                    </a:lnTo>
                    <a:lnTo>
                      <a:pt x="33" y="195"/>
                    </a:lnTo>
                    <a:lnTo>
                      <a:pt x="37" y="195"/>
                    </a:lnTo>
                    <a:lnTo>
                      <a:pt x="40" y="194"/>
                    </a:lnTo>
                    <a:lnTo>
                      <a:pt x="43" y="193"/>
                    </a:lnTo>
                    <a:lnTo>
                      <a:pt x="46" y="193"/>
                    </a:lnTo>
                    <a:lnTo>
                      <a:pt x="50" y="192"/>
                    </a:lnTo>
                    <a:lnTo>
                      <a:pt x="50" y="120"/>
                    </a:lnTo>
                    <a:lnTo>
                      <a:pt x="47" y="121"/>
                    </a:lnTo>
                    <a:lnTo>
                      <a:pt x="44" y="121"/>
                    </a:lnTo>
                    <a:lnTo>
                      <a:pt x="41" y="122"/>
                    </a:lnTo>
                    <a:lnTo>
                      <a:pt x="38" y="122"/>
                    </a:lnTo>
                    <a:lnTo>
                      <a:pt x="35" y="123"/>
                    </a:lnTo>
                    <a:lnTo>
                      <a:pt x="32" y="124"/>
                    </a:lnTo>
                    <a:lnTo>
                      <a:pt x="29" y="125"/>
                    </a:lnTo>
                    <a:lnTo>
                      <a:pt x="26" y="126"/>
                    </a:lnTo>
                    <a:lnTo>
                      <a:pt x="23" y="127"/>
                    </a:lnTo>
                    <a:lnTo>
                      <a:pt x="20" y="128"/>
                    </a:lnTo>
                    <a:lnTo>
                      <a:pt x="17" y="129"/>
                    </a:lnTo>
                    <a:lnTo>
                      <a:pt x="13" y="130"/>
                    </a:lnTo>
                    <a:lnTo>
                      <a:pt x="10" y="132"/>
                    </a:lnTo>
                    <a:lnTo>
                      <a:pt x="7" y="133"/>
                    </a:lnTo>
                    <a:lnTo>
                      <a:pt x="3" y="135"/>
                    </a:lnTo>
                    <a:lnTo>
                      <a:pt x="0" y="136"/>
                    </a:lnTo>
                    <a:lnTo>
                      <a:pt x="0" y="114"/>
                    </a:lnTo>
                    <a:lnTo>
                      <a:pt x="3" y="113"/>
                    </a:lnTo>
                    <a:lnTo>
                      <a:pt x="6" y="111"/>
                    </a:lnTo>
                    <a:lnTo>
                      <a:pt x="9" y="110"/>
                    </a:lnTo>
                    <a:lnTo>
                      <a:pt x="12" y="109"/>
                    </a:lnTo>
                    <a:lnTo>
                      <a:pt x="15" y="108"/>
                    </a:lnTo>
                    <a:lnTo>
                      <a:pt x="18" y="107"/>
                    </a:lnTo>
                    <a:lnTo>
                      <a:pt x="21" y="106"/>
                    </a:lnTo>
                    <a:lnTo>
                      <a:pt x="24" y="105"/>
                    </a:lnTo>
                    <a:lnTo>
                      <a:pt x="27" y="104"/>
                    </a:lnTo>
                    <a:lnTo>
                      <a:pt x="30" y="103"/>
                    </a:lnTo>
                    <a:lnTo>
                      <a:pt x="34" y="102"/>
                    </a:lnTo>
                    <a:lnTo>
                      <a:pt x="37" y="101"/>
                    </a:lnTo>
                    <a:lnTo>
                      <a:pt x="40" y="101"/>
                    </a:lnTo>
                    <a:lnTo>
                      <a:pt x="43" y="100"/>
                    </a:lnTo>
                    <a:lnTo>
                      <a:pt x="46" y="99"/>
                    </a:lnTo>
                    <a:lnTo>
                      <a:pt x="50" y="99"/>
                    </a:lnTo>
                    <a:lnTo>
                      <a:pt x="50" y="32"/>
                    </a:lnTo>
                    <a:lnTo>
                      <a:pt x="47" y="32"/>
                    </a:lnTo>
                    <a:lnTo>
                      <a:pt x="44" y="33"/>
                    </a:lnTo>
                    <a:lnTo>
                      <a:pt x="41" y="34"/>
                    </a:lnTo>
                    <a:lnTo>
                      <a:pt x="38" y="34"/>
                    </a:lnTo>
                    <a:lnTo>
                      <a:pt x="35" y="35"/>
                    </a:lnTo>
                    <a:lnTo>
                      <a:pt x="32" y="36"/>
                    </a:lnTo>
                    <a:lnTo>
                      <a:pt x="29" y="37"/>
                    </a:lnTo>
                    <a:lnTo>
                      <a:pt x="26" y="38"/>
                    </a:lnTo>
                    <a:lnTo>
                      <a:pt x="22" y="38"/>
                    </a:lnTo>
                    <a:lnTo>
                      <a:pt x="19" y="39"/>
                    </a:lnTo>
                    <a:lnTo>
                      <a:pt x="16" y="40"/>
                    </a:lnTo>
                    <a:lnTo>
                      <a:pt x="13" y="41"/>
                    </a:lnTo>
                    <a:lnTo>
                      <a:pt x="10" y="42"/>
                    </a:lnTo>
                    <a:lnTo>
                      <a:pt x="6" y="43"/>
                    </a:lnTo>
                    <a:lnTo>
                      <a:pt x="3" y="45"/>
                    </a:lnTo>
                    <a:lnTo>
                      <a:pt x="0" y="46"/>
                    </a:lnTo>
                    <a:lnTo>
                      <a:pt x="0" y="14"/>
                    </a:lnTo>
                    <a:lnTo>
                      <a:pt x="3" y="13"/>
                    </a:lnTo>
                    <a:lnTo>
                      <a:pt x="5" y="12"/>
                    </a:lnTo>
                    <a:lnTo>
                      <a:pt x="8" y="11"/>
                    </a:lnTo>
                    <a:lnTo>
                      <a:pt x="10" y="10"/>
                    </a:lnTo>
                    <a:lnTo>
                      <a:pt x="13" y="10"/>
                    </a:lnTo>
                    <a:lnTo>
                      <a:pt x="15" y="9"/>
                    </a:lnTo>
                    <a:lnTo>
                      <a:pt x="18" y="8"/>
                    </a:lnTo>
                    <a:lnTo>
                      <a:pt x="20" y="8"/>
                    </a:lnTo>
                    <a:lnTo>
                      <a:pt x="23" y="7"/>
                    </a:lnTo>
                    <a:lnTo>
                      <a:pt x="25" y="6"/>
                    </a:lnTo>
                    <a:lnTo>
                      <a:pt x="28" y="6"/>
                    </a:lnTo>
                    <a:lnTo>
                      <a:pt x="30" y="5"/>
                    </a:lnTo>
                    <a:lnTo>
                      <a:pt x="33" y="5"/>
                    </a:lnTo>
                    <a:lnTo>
                      <a:pt x="35" y="4"/>
                    </a:lnTo>
                    <a:lnTo>
                      <a:pt x="38" y="4"/>
                    </a:lnTo>
                    <a:lnTo>
                      <a:pt x="40" y="4"/>
                    </a:lnTo>
                    <a:lnTo>
                      <a:pt x="43" y="3"/>
                    </a:lnTo>
                    <a:lnTo>
                      <a:pt x="45" y="3"/>
                    </a:lnTo>
                    <a:lnTo>
                      <a:pt x="48" y="2"/>
                    </a:lnTo>
                    <a:lnTo>
                      <a:pt x="50" y="2"/>
                    </a:lnTo>
                    <a:lnTo>
                      <a:pt x="53" y="2"/>
                    </a:lnTo>
                    <a:lnTo>
                      <a:pt x="55" y="1"/>
                    </a:lnTo>
                    <a:lnTo>
                      <a:pt x="57" y="1"/>
                    </a:lnTo>
                    <a:lnTo>
                      <a:pt x="60" y="1"/>
                    </a:lnTo>
                    <a:lnTo>
                      <a:pt x="62" y="1"/>
                    </a:lnTo>
                    <a:lnTo>
                      <a:pt x="65" y="1"/>
                    </a:lnTo>
                    <a:lnTo>
                      <a:pt x="67" y="0"/>
                    </a:lnTo>
                    <a:lnTo>
                      <a:pt x="69" y="0"/>
                    </a:lnTo>
                    <a:lnTo>
                      <a:pt x="72" y="0"/>
                    </a:lnTo>
                    <a:lnTo>
                      <a:pt x="74" y="0"/>
                    </a:lnTo>
                    <a:lnTo>
                      <a:pt x="77" y="0"/>
                    </a:lnTo>
                    <a:lnTo>
                      <a:pt x="79" y="0"/>
                    </a:lnTo>
                    <a:lnTo>
                      <a:pt x="82" y="0"/>
                    </a:lnTo>
                    <a:lnTo>
                      <a:pt x="84" y="0"/>
                    </a:lnTo>
                    <a:lnTo>
                      <a:pt x="87" y="0"/>
                    </a:lnTo>
                    <a:lnTo>
                      <a:pt x="89" y="0"/>
                    </a:lnTo>
                    <a:lnTo>
                      <a:pt x="92" y="1"/>
                    </a:lnTo>
                    <a:lnTo>
                      <a:pt x="94" y="1"/>
                    </a:lnTo>
                    <a:lnTo>
                      <a:pt x="97" y="1"/>
                    </a:lnTo>
                    <a:lnTo>
                      <a:pt x="99" y="1"/>
                    </a:lnTo>
                    <a:lnTo>
                      <a:pt x="102" y="2"/>
                    </a:lnTo>
                    <a:lnTo>
                      <a:pt x="104" y="2"/>
                    </a:lnTo>
                    <a:lnTo>
                      <a:pt x="107" y="2"/>
                    </a:lnTo>
                    <a:lnTo>
                      <a:pt x="109" y="3"/>
                    </a:lnTo>
                    <a:lnTo>
                      <a:pt x="112" y="3"/>
                    </a:lnTo>
                    <a:lnTo>
                      <a:pt x="114" y="4"/>
                    </a:lnTo>
                    <a:lnTo>
                      <a:pt x="117" y="4"/>
                    </a:lnTo>
                    <a:lnTo>
                      <a:pt x="119" y="5"/>
                    </a:lnTo>
                    <a:lnTo>
                      <a:pt x="122" y="6"/>
                    </a:lnTo>
                    <a:lnTo>
                      <a:pt x="124" y="6"/>
                    </a:lnTo>
                    <a:lnTo>
                      <a:pt x="126" y="7"/>
                    </a:lnTo>
                    <a:lnTo>
                      <a:pt x="129" y="8"/>
                    </a:lnTo>
                    <a:lnTo>
                      <a:pt x="131" y="8"/>
                    </a:lnTo>
                    <a:lnTo>
                      <a:pt x="133" y="9"/>
                    </a:lnTo>
                    <a:lnTo>
                      <a:pt x="136" y="10"/>
                    </a:lnTo>
                    <a:lnTo>
                      <a:pt x="138" y="11"/>
                    </a:lnTo>
                    <a:lnTo>
                      <a:pt x="140" y="12"/>
                    </a:lnTo>
                    <a:lnTo>
                      <a:pt x="143" y="13"/>
                    </a:lnTo>
                    <a:lnTo>
                      <a:pt x="145" y="14"/>
                    </a:lnTo>
                    <a:lnTo>
                      <a:pt x="147" y="15"/>
                    </a:lnTo>
                    <a:lnTo>
                      <a:pt x="149" y="16"/>
                    </a:lnTo>
                    <a:lnTo>
                      <a:pt x="151" y="17"/>
                    </a:lnTo>
                    <a:lnTo>
                      <a:pt x="154" y="18"/>
                    </a:lnTo>
                    <a:lnTo>
                      <a:pt x="156" y="19"/>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71" name="Freeform 47"/>
              <p:cNvSpPr>
                <a:spLocks/>
              </p:cNvSpPr>
              <p:nvPr/>
            </p:nvSpPr>
            <p:spPr bwMode="auto">
              <a:xfrm>
                <a:off x="1027" y="3282"/>
                <a:ext cx="54" cy="75"/>
              </a:xfrm>
              <a:custGeom>
                <a:avLst/>
                <a:gdLst/>
                <a:ahLst/>
                <a:cxnLst>
                  <a:cxn ang="0">
                    <a:pos x="53" y="10"/>
                  </a:cxn>
                  <a:cxn ang="0">
                    <a:pos x="53" y="10"/>
                  </a:cxn>
                  <a:cxn ang="0">
                    <a:pos x="51" y="9"/>
                  </a:cxn>
                  <a:cxn ang="0">
                    <a:pos x="48" y="7"/>
                  </a:cxn>
                  <a:cxn ang="0">
                    <a:pos x="45" y="7"/>
                  </a:cxn>
                  <a:cxn ang="0">
                    <a:pos x="43" y="6"/>
                  </a:cxn>
                  <a:cxn ang="0">
                    <a:pos x="40" y="5"/>
                  </a:cxn>
                  <a:cxn ang="0">
                    <a:pos x="37" y="4"/>
                  </a:cxn>
                  <a:cxn ang="0">
                    <a:pos x="34" y="3"/>
                  </a:cxn>
                  <a:cxn ang="0">
                    <a:pos x="32" y="3"/>
                  </a:cxn>
                  <a:cxn ang="0">
                    <a:pos x="29" y="2"/>
                  </a:cxn>
                  <a:cxn ang="0">
                    <a:pos x="26" y="1"/>
                  </a:cxn>
                  <a:cxn ang="0">
                    <a:pos x="22" y="1"/>
                  </a:cxn>
                  <a:cxn ang="0">
                    <a:pos x="19" y="1"/>
                  </a:cxn>
                  <a:cxn ang="0">
                    <a:pos x="16" y="0"/>
                  </a:cxn>
                  <a:cxn ang="0">
                    <a:pos x="13" y="0"/>
                  </a:cxn>
                  <a:cxn ang="0">
                    <a:pos x="9" y="0"/>
                  </a:cxn>
                  <a:cxn ang="0">
                    <a:pos x="6" y="0"/>
                  </a:cxn>
                  <a:cxn ang="0">
                    <a:pos x="5" y="0"/>
                  </a:cxn>
                  <a:cxn ang="0">
                    <a:pos x="4" y="0"/>
                  </a:cxn>
                  <a:cxn ang="0">
                    <a:pos x="4" y="0"/>
                  </a:cxn>
                  <a:cxn ang="0">
                    <a:pos x="3" y="0"/>
                  </a:cxn>
                  <a:cxn ang="0">
                    <a:pos x="2" y="0"/>
                  </a:cxn>
                  <a:cxn ang="0">
                    <a:pos x="2" y="0"/>
                  </a:cxn>
                  <a:cxn ang="0">
                    <a:pos x="1" y="0"/>
                  </a:cxn>
                  <a:cxn ang="0">
                    <a:pos x="0" y="0"/>
                  </a:cxn>
                  <a:cxn ang="0">
                    <a:pos x="0" y="67"/>
                  </a:cxn>
                  <a:cxn ang="0">
                    <a:pos x="6" y="67"/>
                  </a:cxn>
                  <a:cxn ang="0">
                    <a:pos x="9" y="67"/>
                  </a:cxn>
                  <a:cxn ang="0">
                    <a:pos x="12" y="67"/>
                  </a:cxn>
                  <a:cxn ang="0">
                    <a:pos x="15" y="67"/>
                  </a:cxn>
                  <a:cxn ang="0">
                    <a:pos x="18" y="68"/>
                  </a:cxn>
                  <a:cxn ang="0">
                    <a:pos x="21" y="68"/>
                  </a:cxn>
                  <a:cxn ang="0">
                    <a:pos x="24" y="68"/>
                  </a:cxn>
                  <a:cxn ang="0">
                    <a:pos x="27" y="68"/>
                  </a:cxn>
                  <a:cxn ang="0">
                    <a:pos x="30" y="69"/>
                  </a:cxn>
                  <a:cxn ang="0">
                    <a:pos x="33" y="69"/>
                  </a:cxn>
                  <a:cxn ang="0">
                    <a:pos x="36" y="70"/>
                  </a:cxn>
                  <a:cxn ang="0">
                    <a:pos x="39" y="70"/>
                  </a:cxn>
                  <a:cxn ang="0">
                    <a:pos x="42" y="71"/>
                  </a:cxn>
                  <a:cxn ang="0">
                    <a:pos x="44" y="72"/>
                  </a:cxn>
                  <a:cxn ang="0">
                    <a:pos x="47" y="72"/>
                  </a:cxn>
                  <a:cxn ang="0">
                    <a:pos x="50" y="73"/>
                  </a:cxn>
                  <a:cxn ang="0">
                    <a:pos x="53" y="74"/>
                  </a:cxn>
                  <a:cxn ang="0">
                    <a:pos x="53" y="10"/>
                  </a:cxn>
                </a:cxnLst>
                <a:rect l="0" t="0" r="r" b="b"/>
                <a:pathLst>
                  <a:path w="54" h="75">
                    <a:moveTo>
                      <a:pt x="53" y="10"/>
                    </a:moveTo>
                    <a:lnTo>
                      <a:pt x="53" y="10"/>
                    </a:lnTo>
                    <a:lnTo>
                      <a:pt x="51" y="9"/>
                    </a:lnTo>
                    <a:lnTo>
                      <a:pt x="48" y="7"/>
                    </a:lnTo>
                    <a:lnTo>
                      <a:pt x="45" y="7"/>
                    </a:lnTo>
                    <a:lnTo>
                      <a:pt x="43" y="6"/>
                    </a:lnTo>
                    <a:lnTo>
                      <a:pt x="40" y="5"/>
                    </a:lnTo>
                    <a:lnTo>
                      <a:pt x="37" y="4"/>
                    </a:lnTo>
                    <a:lnTo>
                      <a:pt x="34" y="3"/>
                    </a:lnTo>
                    <a:lnTo>
                      <a:pt x="32" y="3"/>
                    </a:lnTo>
                    <a:lnTo>
                      <a:pt x="29" y="2"/>
                    </a:lnTo>
                    <a:lnTo>
                      <a:pt x="26" y="1"/>
                    </a:lnTo>
                    <a:lnTo>
                      <a:pt x="22" y="1"/>
                    </a:lnTo>
                    <a:lnTo>
                      <a:pt x="19" y="1"/>
                    </a:lnTo>
                    <a:lnTo>
                      <a:pt x="16" y="0"/>
                    </a:lnTo>
                    <a:lnTo>
                      <a:pt x="13" y="0"/>
                    </a:lnTo>
                    <a:lnTo>
                      <a:pt x="9" y="0"/>
                    </a:lnTo>
                    <a:lnTo>
                      <a:pt x="6" y="0"/>
                    </a:lnTo>
                    <a:lnTo>
                      <a:pt x="5" y="0"/>
                    </a:lnTo>
                    <a:lnTo>
                      <a:pt x="4" y="0"/>
                    </a:lnTo>
                    <a:lnTo>
                      <a:pt x="4" y="0"/>
                    </a:lnTo>
                    <a:lnTo>
                      <a:pt x="3" y="0"/>
                    </a:lnTo>
                    <a:lnTo>
                      <a:pt x="2" y="0"/>
                    </a:lnTo>
                    <a:lnTo>
                      <a:pt x="2" y="0"/>
                    </a:lnTo>
                    <a:lnTo>
                      <a:pt x="1" y="0"/>
                    </a:lnTo>
                    <a:lnTo>
                      <a:pt x="0" y="0"/>
                    </a:lnTo>
                    <a:lnTo>
                      <a:pt x="0" y="67"/>
                    </a:lnTo>
                    <a:lnTo>
                      <a:pt x="6" y="67"/>
                    </a:lnTo>
                    <a:lnTo>
                      <a:pt x="9" y="67"/>
                    </a:lnTo>
                    <a:lnTo>
                      <a:pt x="12" y="67"/>
                    </a:lnTo>
                    <a:lnTo>
                      <a:pt x="15" y="67"/>
                    </a:lnTo>
                    <a:lnTo>
                      <a:pt x="18" y="68"/>
                    </a:lnTo>
                    <a:lnTo>
                      <a:pt x="21" y="68"/>
                    </a:lnTo>
                    <a:lnTo>
                      <a:pt x="24" y="68"/>
                    </a:lnTo>
                    <a:lnTo>
                      <a:pt x="27" y="68"/>
                    </a:lnTo>
                    <a:lnTo>
                      <a:pt x="30" y="69"/>
                    </a:lnTo>
                    <a:lnTo>
                      <a:pt x="33" y="69"/>
                    </a:lnTo>
                    <a:lnTo>
                      <a:pt x="36" y="70"/>
                    </a:lnTo>
                    <a:lnTo>
                      <a:pt x="39" y="70"/>
                    </a:lnTo>
                    <a:lnTo>
                      <a:pt x="42" y="71"/>
                    </a:lnTo>
                    <a:lnTo>
                      <a:pt x="44" y="72"/>
                    </a:lnTo>
                    <a:lnTo>
                      <a:pt x="47" y="72"/>
                    </a:lnTo>
                    <a:lnTo>
                      <a:pt x="50" y="73"/>
                    </a:lnTo>
                    <a:lnTo>
                      <a:pt x="53" y="74"/>
                    </a:lnTo>
                    <a:lnTo>
                      <a:pt x="53" y="10"/>
                    </a:lnTo>
                  </a:path>
                </a:pathLst>
              </a:custGeom>
              <a:solidFill>
                <a:srgbClr val="037C03"/>
              </a:solidFill>
              <a:ln w="12700" cap="rnd" cmpd="sng">
                <a:noFill/>
                <a:prstDash val="solid"/>
                <a:round/>
                <a:headEnd type="none" w="med" len="med"/>
                <a:tailEnd type="none" w="med" len="med"/>
              </a:ln>
              <a:effectLst/>
            </p:spPr>
            <p:txBody>
              <a:bodyPr/>
              <a:lstStyle/>
              <a:p>
                <a:endParaRPr lang="fr-FR"/>
              </a:p>
            </p:txBody>
          </p:sp>
          <p:sp>
            <p:nvSpPr>
              <p:cNvPr id="129072" name="Freeform 48"/>
              <p:cNvSpPr>
                <a:spLocks/>
              </p:cNvSpPr>
              <p:nvPr/>
            </p:nvSpPr>
            <p:spPr bwMode="auto">
              <a:xfrm>
                <a:off x="1026" y="3368"/>
                <a:ext cx="54" cy="80"/>
              </a:xfrm>
              <a:custGeom>
                <a:avLst/>
                <a:gdLst/>
                <a:ahLst/>
                <a:cxnLst>
                  <a:cxn ang="0">
                    <a:pos x="53" y="8"/>
                  </a:cxn>
                  <a:cxn ang="0">
                    <a:pos x="53" y="8"/>
                  </a:cxn>
                  <a:cxn ang="0">
                    <a:pos x="50" y="7"/>
                  </a:cxn>
                  <a:cxn ang="0">
                    <a:pos x="48" y="6"/>
                  </a:cxn>
                  <a:cxn ang="0">
                    <a:pos x="45" y="5"/>
                  </a:cxn>
                  <a:cxn ang="0">
                    <a:pos x="42" y="5"/>
                  </a:cxn>
                  <a:cxn ang="0">
                    <a:pos x="39" y="4"/>
                  </a:cxn>
                  <a:cxn ang="0">
                    <a:pos x="37" y="3"/>
                  </a:cxn>
                  <a:cxn ang="0">
                    <a:pos x="34" y="3"/>
                  </a:cxn>
                  <a:cxn ang="0">
                    <a:pos x="31" y="2"/>
                  </a:cxn>
                  <a:cxn ang="0">
                    <a:pos x="28" y="2"/>
                  </a:cxn>
                  <a:cxn ang="0">
                    <a:pos x="25" y="1"/>
                  </a:cxn>
                  <a:cxn ang="0">
                    <a:pos x="22" y="1"/>
                  </a:cxn>
                  <a:cxn ang="0">
                    <a:pos x="19" y="1"/>
                  </a:cxn>
                  <a:cxn ang="0">
                    <a:pos x="16" y="0"/>
                  </a:cxn>
                  <a:cxn ang="0">
                    <a:pos x="13" y="0"/>
                  </a:cxn>
                  <a:cxn ang="0">
                    <a:pos x="10" y="0"/>
                  </a:cxn>
                  <a:cxn ang="0">
                    <a:pos x="6" y="0"/>
                  </a:cxn>
                  <a:cxn ang="0">
                    <a:pos x="6" y="0"/>
                  </a:cxn>
                  <a:cxn ang="0">
                    <a:pos x="5" y="0"/>
                  </a:cxn>
                  <a:cxn ang="0">
                    <a:pos x="4" y="0"/>
                  </a:cxn>
                  <a:cxn ang="0">
                    <a:pos x="3" y="0"/>
                  </a:cxn>
                  <a:cxn ang="0">
                    <a:pos x="2" y="0"/>
                  </a:cxn>
                  <a:cxn ang="0">
                    <a:pos x="2" y="0"/>
                  </a:cxn>
                  <a:cxn ang="0">
                    <a:pos x="1" y="0"/>
                  </a:cxn>
                  <a:cxn ang="0">
                    <a:pos x="0" y="0"/>
                  </a:cxn>
                  <a:cxn ang="0">
                    <a:pos x="0" y="73"/>
                  </a:cxn>
                  <a:cxn ang="0">
                    <a:pos x="6" y="73"/>
                  </a:cxn>
                  <a:cxn ang="0">
                    <a:pos x="10" y="73"/>
                  </a:cxn>
                  <a:cxn ang="0">
                    <a:pos x="13" y="73"/>
                  </a:cxn>
                  <a:cxn ang="0">
                    <a:pos x="16" y="73"/>
                  </a:cxn>
                  <a:cxn ang="0">
                    <a:pos x="19" y="73"/>
                  </a:cxn>
                  <a:cxn ang="0">
                    <a:pos x="22" y="73"/>
                  </a:cxn>
                  <a:cxn ang="0">
                    <a:pos x="25" y="74"/>
                  </a:cxn>
                  <a:cxn ang="0">
                    <a:pos x="28" y="74"/>
                  </a:cxn>
                  <a:cxn ang="0">
                    <a:pos x="31" y="74"/>
                  </a:cxn>
                  <a:cxn ang="0">
                    <a:pos x="34" y="75"/>
                  </a:cxn>
                  <a:cxn ang="0">
                    <a:pos x="37" y="75"/>
                  </a:cxn>
                  <a:cxn ang="0">
                    <a:pos x="40" y="76"/>
                  </a:cxn>
                  <a:cxn ang="0">
                    <a:pos x="42" y="76"/>
                  </a:cxn>
                  <a:cxn ang="0">
                    <a:pos x="45" y="77"/>
                  </a:cxn>
                  <a:cxn ang="0">
                    <a:pos x="48" y="78"/>
                  </a:cxn>
                  <a:cxn ang="0">
                    <a:pos x="50" y="78"/>
                  </a:cxn>
                  <a:cxn ang="0">
                    <a:pos x="53" y="79"/>
                  </a:cxn>
                  <a:cxn ang="0">
                    <a:pos x="53" y="8"/>
                  </a:cxn>
                </a:cxnLst>
                <a:rect l="0" t="0" r="r" b="b"/>
                <a:pathLst>
                  <a:path w="54" h="80">
                    <a:moveTo>
                      <a:pt x="53" y="8"/>
                    </a:moveTo>
                    <a:lnTo>
                      <a:pt x="53" y="8"/>
                    </a:lnTo>
                    <a:lnTo>
                      <a:pt x="50" y="7"/>
                    </a:lnTo>
                    <a:lnTo>
                      <a:pt x="48" y="6"/>
                    </a:lnTo>
                    <a:lnTo>
                      <a:pt x="45" y="5"/>
                    </a:lnTo>
                    <a:lnTo>
                      <a:pt x="42" y="5"/>
                    </a:lnTo>
                    <a:lnTo>
                      <a:pt x="39" y="4"/>
                    </a:lnTo>
                    <a:lnTo>
                      <a:pt x="37" y="3"/>
                    </a:lnTo>
                    <a:lnTo>
                      <a:pt x="34" y="3"/>
                    </a:lnTo>
                    <a:lnTo>
                      <a:pt x="31" y="2"/>
                    </a:lnTo>
                    <a:lnTo>
                      <a:pt x="28" y="2"/>
                    </a:lnTo>
                    <a:lnTo>
                      <a:pt x="25" y="1"/>
                    </a:lnTo>
                    <a:lnTo>
                      <a:pt x="22" y="1"/>
                    </a:lnTo>
                    <a:lnTo>
                      <a:pt x="19" y="1"/>
                    </a:lnTo>
                    <a:lnTo>
                      <a:pt x="16" y="0"/>
                    </a:lnTo>
                    <a:lnTo>
                      <a:pt x="13" y="0"/>
                    </a:lnTo>
                    <a:lnTo>
                      <a:pt x="10" y="0"/>
                    </a:lnTo>
                    <a:lnTo>
                      <a:pt x="6" y="0"/>
                    </a:lnTo>
                    <a:lnTo>
                      <a:pt x="6" y="0"/>
                    </a:lnTo>
                    <a:lnTo>
                      <a:pt x="5" y="0"/>
                    </a:lnTo>
                    <a:lnTo>
                      <a:pt x="4" y="0"/>
                    </a:lnTo>
                    <a:lnTo>
                      <a:pt x="3" y="0"/>
                    </a:lnTo>
                    <a:lnTo>
                      <a:pt x="2" y="0"/>
                    </a:lnTo>
                    <a:lnTo>
                      <a:pt x="2" y="0"/>
                    </a:lnTo>
                    <a:lnTo>
                      <a:pt x="1" y="0"/>
                    </a:lnTo>
                    <a:lnTo>
                      <a:pt x="0" y="0"/>
                    </a:lnTo>
                    <a:lnTo>
                      <a:pt x="0" y="73"/>
                    </a:lnTo>
                    <a:lnTo>
                      <a:pt x="6" y="73"/>
                    </a:lnTo>
                    <a:lnTo>
                      <a:pt x="10" y="73"/>
                    </a:lnTo>
                    <a:lnTo>
                      <a:pt x="13" y="73"/>
                    </a:lnTo>
                    <a:lnTo>
                      <a:pt x="16" y="73"/>
                    </a:lnTo>
                    <a:lnTo>
                      <a:pt x="19" y="73"/>
                    </a:lnTo>
                    <a:lnTo>
                      <a:pt x="22" y="73"/>
                    </a:lnTo>
                    <a:lnTo>
                      <a:pt x="25" y="74"/>
                    </a:lnTo>
                    <a:lnTo>
                      <a:pt x="28" y="74"/>
                    </a:lnTo>
                    <a:lnTo>
                      <a:pt x="31" y="74"/>
                    </a:lnTo>
                    <a:lnTo>
                      <a:pt x="34" y="75"/>
                    </a:lnTo>
                    <a:lnTo>
                      <a:pt x="37" y="75"/>
                    </a:lnTo>
                    <a:lnTo>
                      <a:pt x="40" y="76"/>
                    </a:lnTo>
                    <a:lnTo>
                      <a:pt x="42" y="76"/>
                    </a:lnTo>
                    <a:lnTo>
                      <a:pt x="45" y="77"/>
                    </a:lnTo>
                    <a:lnTo>
                      <a:pt x="48" y="78"/>
                    </a:lnTo>
                    <a:lnTo>
                      <a:pt x="50" y="78"/>
                    </a:lnTo>
                    <a:lnTo>
                      <a:pt x="53" y="79"/>
                    </a:lnTo>
                    <a:lnTo>
                      <a:pt x="53" y="8"/>
                    </a:lnTo>
                  </a:path>
                </a:pathLst>
              </a:custGeom>
              <a:solidFill>
                <a:srgbClr val="FAFD00"/>
              </a:solidFill>
              <a:ln w="12700" cap="rnd" cmpd="sng">
                <a:noFill/>
                <a:prstDash val="solid"/>
                <a:round/>
                <a:headEnd type="none" w="med" len="med"/>
                <a:tailEnd type="none" w="med" len="med"/>
              </a:ln>
              <a:effectLst/>
            </p:spPr>
            <p:txBody>
              <a:bodyPr/>
              <a:lstStyle/>
              <a:p>
                <a:endParaRPr lang="fr-FR"/>
              </a:p>
            </p:txBody>
          </p:sp>
        </p:grpSp>
        <p:sp>
          <p:nvSpPr>
            <p:cNvPr id="129073" name="Text Box 49"/>
            <p:cNvSpPr txBox="1">
              <a:spLocks noChangeArrowheads="1"/>
            </p:cNvSpPr>
            <p:nvPr/>
          </p:nvSpPr>
          <p:spPr bwMode="auto">
            <a:xfrm>
              <a:off x="3628" y="2416"/>
              <a:ext cx="1135" cy="207"/>
            </a:xfrm>
            <a:prstGeom prst="rect">
              <a:avLst/>
            </a:prstGeom>
            <a:noFill/>
            <a:ln w="12700">
              <a:noFill/>
              <a:miter lim="800000"/>
              <a:headEnd/>
              <a:tailEnd/>
            </a:ln>
            <a:effectLst/>
          </p:spPr>
          <p:txBody>
            <a:bodyPr tIns="27432" bIns="27432" anchor="ctr">
              <a:spAutoFit/>
            </a:bodyPr>
            <a:lstStyle/>
            <a:p>
              <a:r>
                <a:rPr lang="en-US" sz="1800" b="1">
                  <a:solidFill>
                    <a:srgbClr val="3333CC"/>
                  </a:solidFill>
                  <a:latin typeface="Arial" charset="0"/>
                </a:rPr>
                <a:t>Windows 98</a:t>
              </a:r>
            </a:p>
          </p:txBody>
        </p:sp>
        <p:sp>
          <p:nvSpPr>
            <p:cNvPr id="129074" name="Line 50"/>
            <p:cNvSpPr>
              <a:spLocks noChangeShapeType="1"/>
            </p:cNvSpPr>
            <p:nvPr/>
          </p:nvSpPr>
          <p:spPr bwMode="auto">
            <a:xfrm>
              <a:off x="2896" y="2549"/>
              <a:ext cx="379" cy="0"/>
            </a:xfrm>
            <a:prstGeom prst="line">
              <a:avLst/>
            </a:prstGeom>
            <a:noFill/>
            <a:ln w="38100">
              <a:solidFill>
                <a:srgbClr val="3333CC"/>
              </a:solidFill>
              <a:round/>
              <a:headEnd/>
              <a:tailEnd/>
            </a:ln>
            <a:effectLst/>
          </p:spPr>
          <p:txBody>
            <a:bodyPr anchor="ctr"/>
            <a:lstStyle/>
            <a:p>
              <a:endParaRPr lang="fr-FR"/>
            </a:p>
          </p:txBody>
        </p:sp>
        <p:grpSp>
          <p:nvGrpSpPr>
            <p:cNvPr id="129075" name="Group 51"/>
            <p:cNvGrpSpPr>
              <a:grpSpLocks/>
            </p:cNvGrpSpPr>
            <p:nvPr/>
          </p:nvGrpSpPr>
          <p:grpSpPr bwMode="auto">
            <a:xfrm>
              <a:off x="3340" y="2429"/>
              <a:ext cx="252" cy="227"/>
              <a:chOff x="800" y="3248"/>
              <a:chExt cx="310" cy="257"/>
            </a:xfrm>
          </p:grpSpPr>
          <p:sp>
            <p:nvSpPr>
              <p:cNvPr id="129076" name="Freeform 52"/>
              <p:cNvSpPr>
                <a:spLocks/>
              </p:cNvSpPr>
              <p:nvPr/>
            </p:nvSpPr>
            <p:spPr bwMode="auto">
              <a:xfrm>
                <a:off x="953" y="3365"/>
                <a:ext cx="53" cy="95"/>
              </a:xfrm>
              <a:custGeom>
                <a:avLst/>
                <a:gdLst/>
                <a:ahLst/>
                <a:cxnLst>
                  <a:cxn ang="0">
                    <a:pos x="52" y="0"/>
                  </a:cxn>
                  <a:cxn ang="0">
                    <a:pos x="52" y="77"/>
                  </a:cxn>
                  <a:cxn ang="0">
                    <a:pos x="43" y="78"/>
                  </a:cxn>
                  <a:cxn ang="0">
                    <a:pos x="34" y="80"/>
                  </a:cxn>
                  <a:cxn ang="0">
                    <a:pos x="23" y="84"/>
                  </a:cxn>
                  <a:cxn ang="0">
                    <a:pos x="14" y="87"/>
                  </a:cxn>
                  <a:cxn ang="0">
                    <a:pos x="8" y="90"/>
                  </a:cxn>
                  <a:cxn ang="0">
                    <a:pos x="0" y="94"/>
                  </a:cxn>
                  <a:cxn ang="0">
                    <a:pos x="0" y="17"/>
                  </a:cxn>
                  <a:cxn ang="0">
                    <a:pos x="8" y="12"/>
                  </a:cxn>
                  <a:cxn ang="0">
                    <a:pos x="19" y="9"/>
                  </a:cxn>
                  <a:cxn ang="0">
                    <a:pos x="27" y="6"/>
                  </a:cxn>
                  <a:cxn ang="0">
                    <a:pos x="38" y="2"/>
                  </a:cxn>
                  <a:cxn ang="0">
                    <a:pos x="47" y="1"/>
                  </a:cxn>
                  <a:cxn ang="0">
                    <a:pos x="52" y="0"/>
                  </a:cxn>
                </a:cxnLst>
                <a:rect l="0" t="0" r="r" b="b"/>
                <a:pathLst>
                  <a:path w="53" h="95">
                    <a:moveTo>
                      <a:pt x="52" y="0"/>
                    </a:moveTo>
                    <a:lnTo>
                      <a:pt x="52" y="77"/>
                    </a:lnTo>
                    <a:lnTo>
                      <a:pt x="43" y="78"/>
                    </a:lnTo>
                    <a:lnTo>
                      <a:pt x="34" y="80"/>
                    </a:lnTo>
                    <a:lnTo>
                      <a:pt x="23" y="84"/>
                    </a:lnTo>
                    <a:lnTo>
                      <a:pt x="14" y="87"/>
                    </a:lnTo>
                    <a:lnTo>
                      <a:pt x="8" y="90"/>
                    </a:lnTo>
                    <a:lnTo>
                      <a:pt x="0" y="94"/>
                    </a:lnTo>
                    <a:lnTo>
                      <a:pt x="0" y="17"/>
                    </a:lnTo>
                    <a:lnTo>
                      <a:pt x="8" y="12"/>
                    </a:lnTo>
                    <a:lnTo>
                      <a:pt x="19" y="9"/>
                    </a:lnTo>
                    <a:lnTo>
                      <a:pt x="27" y="6"/>
                    </a:lnTo>
                    <a:lnTo>
                      <a:pt x="38" y="2"/>
                    </a:lnTo>
                    <a:lnTo>
                      <a:pt x="47" y="1"/>
                    </a:lnTo>
                    <a:lnTo>
                      <a:pt x="52" y="0"/>
                    </a:lnTo>
                  </a:path>
                </a:pathLst>
              </a:custGeom>
              <a:solidFill>
                <a:schemeClr val="hlink"/>
              </a:solidFill>
              <a:ln w="12700" cap="rnd" cmpd="sng">
                <a:noFill/>
                <a:prstDash val="solid"/>
                <a:round/>
                <a:headEnd type="none" w="med" len="med"/>
                <a:tailEnd type="none" w="med" len="med"/>
              </a:ln>
              <a:effectLst/>
            </p:spPr>
            <p:txBody>
              <a:bodyPr/>
              <a:lstStyle/>
              <a:p>
                <a:endParaRPr lang="fr-FR"/>
              </a:p>
            </p:txBody>
          </p:sp>
          <p:sp>
            <p:nvSpPr>
              <p:cNvPr id="129077" name="Freeform 53"/>
              <p:cNvSpPr>
                <a:spLocks/>
              </p:cNvSpPr>
              <p:nvPr/>
            </p:nvSpPr>
            <p:spPr bwMode="auto">
              <a:xfrm>
                <a:off x="953" y="3279"/>
                <a:ext cx="53" cy="84"/>
              </a:xfrm>
              <a:custGeom>
                <a:avLst/>
                <a:gdLst/>
                <a:ahLst/>
                <a:cxnLst>
                  <a:cxn ang="0">
                    <a:pos x="52" y="0"/>
                  </a:cxn>
                  <a:cxn ang="0">
                    <a:pos x="52" y="68"/>
                  </a:cxn>
                  <a:cxn ang="0">
                    <a:pos x="43" y="69"/>
                  </a:cxn>
                  <a:cxn ang="0">
                    <a:pos x="34" y="71"/>
                  </a:cxn>
                  <a:cxn ang="0">
                    <a:pos x="23" y="74"/>
                  </a:cxn>
                  <a:cxn ang="0">
                    <a:pos x="14" y="77"/>
                  </a:cxn>
                  <a:cxn ang="0">
                    <a:pos x="8" y="79"/>
                  </a:cxn>
                  <a:cxn ang="0">
                    <a:pos x="0" y="83"/>
                  </a:cxn>
                  <a:cxn ang="0">
                    <a:pos x="0" y="15"/>
                  </a:cxn>
                  <a:cxn ang="0">
                    <a:pos x="8" y="11"/>
                  </a:cxn>
                  <a:cxn ang="0">
                    <a:pos x="19" y="8"/>
                  </a:cxn>
                  <a:cxn ang="0">
                    <a:pos x="27" y="5"/>
                  </a:cxn>
                  <a:cxn ang="0">
                    <a:pos x="38" y="2"/>
                  </a:cxn>
                  <a:cxn ang="0">
                    <a:pos x="47" y="1"/>
                  </a:cxn>
                  <a:cxn ang="0">
                    <a:pos x="52" y="0"/>
                  </a:cxn>
                </a:cxnLst>
                <a:rect l="0" t="0" r="r" b="b"/>
                <a:pathLst>
                  <a:path w="53" h="84">
                    <a:moveTo>
                      <a:pt x="52" y="0"/>
                    </a:moveTo>
                    <a:lnTo>
                      <a:pt x="52" y="68"/>
                    </a:lnTo>
                    <a:lnTo>
                      <a:pt x="43" y="69"/>
                    </a:lnTo>
                    <a:lnTo>
                      <a:pt x="34" y="71"/>
                    </a:lnTo>
                    <a:lnTo>
                      <a:pt x="23" y="74"/>
                    </a:lnTo>
                    <a:lnTo>
                      <a:pt x="14" y="77"/>
                    </a:lnTo>
                    <a:lnTo>
                      <a:pt x="8" y="79"/>
                    </a:lnTo>
                    <a:lnTo>
                      <a:pt x="0" y="83"/>
                    </a:lnTo>
                    <a:lnTo>
                      <a:pt x="0" y="15"/>
                    </a:lnTo>
                    <a:lnTo>
                      <a:pt x="8" y="11"/>
                    </a:lnTo>
                    <a:lnTo>
                      <a:pt x="19" y="8"/>
                    </a:lnTo>
                    <a:lnTo>
                      <a:pt x="27" y="5"/>
                    </a:lnTo>
                    <a:lnTo>
                      <a:pt x="38" y="2"/>
                    </a:lnTo>
                    <a:lnTo>
                      <a:pt x="47" y="1"/>
                    </a:lnTo>
                    <a:lnTo>
                      <a:pt x="52"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78" name="Freeform 54"/>
              <p:cNvSpPr>
                <a:spLocks/>
              </p:cNvSpPr>
              <p:nvPr/>
            </p:nvSpPr>
            <p:spPr bwMode="auto">
              <a:xfrm>
                <a:off x="800" y="3273"/>
                <a:ext cx="17" cy="16"/>
              </a:xfrm>
              <a:custGeom>
                <a:avLst/>
                <a:gdLst/>
                <a:ahLst/>
                <a:cxnLst>
                  <a:cxn ang="0">
                    <a:pos x="16" y="0"/>
                  </a:cxn>
                  <a:cxn ang="0">
                    <a:pos x="16" y="10"/>
                  </a:cxn>
                  <a:cxn ang="0">
                    <a:pos x="0" y="15"/>
                  </a:cxn>
                  <a:cxn ang="0">
                    <a:pos x="0" y="5"/>
                  </a:cxn>
                  <a:cxn ang="0">
                    <a:pos x="16" y="0"/>
                  </a:cxn>
                </a:cxnLst>
                <a:rect l="0" t="0" r="r" b="b"/>
                <a:pathLst>
                  <a:path w="17" h="16">
                    <a:moveTo>
                      <a:pt x="16" y="0"/>
                    </a:moveTo>
                    <a:lnTo>
                      <a:pt x="16" y="10"/>
                    </a:lnTo>
                    <a:lnTo>
                      <a:pt x="0" y="15"/>
                    </a:lnTo>
                    <a:lnTo>
                      <a:pt x="0" y="5"/>
                    </a:lnTo>
                    <a:lnTo>
                      <a:pt x="16"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79" name="Freeform 55"/>
              <p:cNvSpPr>
                <a:spLocks/>
              </p:cNvSpPr>
              <p:nvPr/>
            </p:nvSpPr>
            <p:spPr bwMode="auto">
              <a:xfrm>
                <a:off x="802" y="3305"/>
                <a:ext cx="13" cy="17"/>
              </a:xfrm>
              <a:custGeom>
                <a:avLst/>
                <a:gdLst/>
                <a:ahLst/>
                <a:cxnLst>
                  <a:cxn ang="0">
                    <a:pos x="12" y="0"/>
                  </a:cxn>
                  <a:cxn ang="0">
                    <a:pos x="12" y="11"/>
                  </a:cxn>
                  <a:cxn ang="0">
                    <a:pos x="0" y="16"/>
                  </a:cxn>
                  <a:cxn ang="0">
                    <a:pos x="0" y="5"/>
                  </a:cxn>
                  <a:cxn ang="0">
                    <a:pos x="12" y="0"/>
                  </a:cxn>
                </a:cxnLst>
                <a:rect l="0" t="0" r="r" b="b"/>
                <a:pathLst>
                  <a:path w="13" h="17">
                    <a:moveTo>
                      <a:pt x="12" y="0"/>
                    </a:moveTo>
                    <a:lnTo>
                      <a:pt x="12" y="11"/>
                    </a:lnTo>
                    <a:lnTo>
                      <a:pt x="0" y="16"/>
                    </a:lnTo>
                    <a:lnTo>
                      <a:pt x="0" y="5"/>
                    </a:lnTo>
                    <a:lnTo>
                      <a:pt x="12"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80" name="Freeform 56"/>
              <p:cNvSpPr>
                <a:spLocks/>
              </p:cNvSpPr>
              <p:nvPr/>
            </p:nvSpPr>
            <p:spPr bwMode="auto">
              <a:xfrm>
                <a:off x="802" y="3339"/>
                <a:ext cx="13" cy="14"/>
              </a:xfrm>
              <a:custGeom>
                <a:avLst/>
                <a:gdLst/>
                <a:ahLst/>
                <a:cxnLst>
                  <a:cxn ang="0">
                    <a:pos x="12" y="0"/>
                  </a:cxn>
                  <a:cxn ang="0">
                    <a:pos x="12" y="9"/>
                  </a:cxn>
                  <a:cxn ang="0">
                    <a:pos x="0" y="13"/>
                  </a:cxn>
                  <a:cxn ang="0">
                    <a:pos x="0" y="4"/>
                  </a:cxn>
                  <a:cxn ang="0">
                    <a:pos x="12" y="0"/>
                  </a:cxn>
                </a:cxnLst>
                <a:rect l="0" t="0" r="r" b="b"/>
                <a:pathLst>
                  <a:path w="13" h="14">
                    <a:moveTo>
                      <a:pt x="12" y="0"/>
                    </a:moveTo>
                    <a:lnTo>
                      <a:pt x="12" y="9"/>
                    </a:lnTo>
                    <a:lnTo>
                      <a:pt x="0" y="13"/>
                    </a:lnTo>
                    <a:lnTo>
                      <a:pt x="0" y="4"/>
                    </a:lnTo>
                    <a:lnTo>
                      <a:pt x="12"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81" name="Freeform 57"/>
              <p:cNvSpPr>
                <a:spLocks/>
              </p:cNvSpPr>
              <p:nvPr/>
            </p:nvSpPr>
            <p:spPr bwMode="auto">
              <a:xfrm>
                <a:off x="800" y="3368"/>
                <a:ext cx="11" cy="17"/>
              </a:xfrm>
              <a:custGeom>
                <a:avLst/>
                <a:gdLst/>
                <a:ahLst/>
                <a:cxnLst>
                  <a:cxn ang="0">
                    <a:pos x="10" y="0"/>
                  </a:cxn>
                  <a:cxn ang="0">
                    <a:pos x="10" y="10"/>
                  </a:cxn>
                  <a:cxn ang="0">
                    <a:pos x="0" y="16"/>
                  </a:cxn>
                  <a:cxn ang="0">
                    <a:pos x="0" y="5"/>
                  </a:cxn>
                  <a:cxn ang="0">
                    <a:pos x="10" y="0"/>
                  </a:cxn>
                </a:cxnLst>
                <a:rect l="0" t="0" r="r" b="b"/>
                <a:pathLst>
                  <a:path w="11" h="17">
                    <a:moveTo>
                      <a:pt x="10" y="0"/>
                    </a:moveTo>
                    <a:lnTo>
                      <a:pt x="10" y="10"/>
                    </a:lnTo>
                    <a:lnTo>
                      <a:pt x="0" y="16"/>
                    </a:lnTo>
                    <a:lnTo>
                      <a:pt x="0" y="5"/>
                    </a:lnTo>
                    <a:lnTo>
                      <a:pt x="1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82" name="Freeform 58"/>
              <p:cNvSpPr>
                <a:spLocks/>
              </p:cNvSpPr>
              <p:nvPr/>
            </p:nvSpPr>
            <p:spPr bwMode="auto">
              <a:xfrm>
                <a:off x="802" y="3404"/>
                <a:ext cx="13" cy="16"/>
              </a:xfrm>
              <a:custGeom>
                <a:avLst/>
                <a:gdLst/>
                <a:ahLst/>
                <a:cxnLst>
                  <a:cxn ang="0">
                    <a:pos x="12" y="0"/>
                  </a:cxn>
                  <a:cxn ang="0">
                    <a:pos x="12" y="10"/>
                  </a:cxn>
                  <a:cxn ang="0">
                    <a:pos x="0" y="15"/>
                  </a:cxn>
                  <a:cxn ang="0">
                    <a:pos x="0" y="5"/>
                  </a:cxn>
                  <a:cxn ang="0">
                    <a:pos x="12" y="0"/>
                  </a:cxn>
                </a:cxnLst>
                <a:rect l="0" t="0" r="r" b="b"/>
                <a:pathLst>
                  <a:path w="13" h="16">
                    <a:moveTo>
                      <a:pt x="12" y="0"/>
                    </a:moveTo>
                    <a:lnTo>
                      <a:pt x="12" y="10"/>
                    </a:lnTo>
                    <a:lnTo>
                      <a:pt x="0" y="15"/>
                    </a:lnTo>
                    <a:lnTo>
                      <a:pt x="0" y="5"/>
                    </a:lnTo>
                    <a:lnTo>
                      <a:pt x="12"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83" name="Freeform 59"/>
              <p:cNvSpPr>
                <a:spLocks/>
              </p:cNvSpPr>
              <p:nvPr/>
            </p:nvSpPr>
            <p:spPr bwMode="auto">
              <a:xfrm>
                <a:off x="802" y="3437"/>
                <a:ext cx="13" cy="15"/>
              </a:xfrm>
              <a:custGeom>
                <a:avLst/>
                <a:gdLst/>
                <a:ahLst/>
                <a:cxnLst>
                  <a:cxn ang="0">
                    <a:pos x="12" y="0"/>
                  </a:cxn>
                  <a:cxn ang="0">
                    <a:pos x="12" y="9"/>
                  </a:cxn>
                  <a:cxn ang="0">
                    <a:pos x="0" y="14"/>
                  </a:cxn>
                  <a:cxn ang="0">
                    <a:pos x="0" y="4"/>
                  </a:cxn>
                  <a:cxn ang="0">
                    <a:pos x="12" y="0"/>
                  </a:cxn>
                </a:cxnLst>
                <a:rect l="0" t="0" r="r" b="b"/>
                <a:pathLst>
                  <a:path w="13" h="15">
                    <a:moveTo>
                      <a:pt x="12" y="0"/>
                    </a:moveTo>
                    <a:lnTo>
                      <a:pt x="12" y="9"/>
                    </a:lnTo>
                    <a:lnTo>
                      <a:pt x="0" y="14"/>
                    </a:lnTo>
                    <a:lnTo>
                      <a:pt x="0" y="4"/>
                    </a:lnTo>
                    <a:lnTo>
                      <a:pt x="12"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84" name="Freeform 60"/>
              <p:cNvSpPr>
                <a:spLocks/>
              </p:cNvSpPr>
              <p:nvPr/>
            </p:nvSpPr>
            <p:spPr bwMode="auto">
              <a:xfrm>
                <a:off x="800" y="3467"/>
                <a:ext cx="17" cy="19"/>
              </a:xfrm>
              <a:custGeom>
                <a:avLst/>
                <a:gdLst/>
                <a:ahLst/>
                <a:cxnLst>
                  <a:cxn ang="0">
                    <a:pos x="16" y="0"/>
                  </a:cxn>
                  <a:cxn ang="0">
                    <a:pos x="16" y="12"/>
                  </a:cxn>
                  <a:cxn ang="0">
                    <a:pos x="0" y="18"/>
                  </a:cxn>
                  <a:cxn ang="0">
                    <a:pos x="0" y="6"/>
                  </a:cxn>
                  <a:cxn ang="0">
                    <a:pos x="16" y="0"/>
                  </a:cxn>
                </a:cxnLst>
                <a:rect l="0" t="0" r="r" b="b"/>
                <a:pathLst>
                  <a:path w="17" h="19">
                    <a:moveTo>
                      <a:pt x="16" y="0"/>
                    </a:moveTo>
                    <a:lnTo>
                      <a:pt x="16" y="12"/>
                    </a:lnTo>
                    <a:lnTo>
                      <a:pt x="0" y="18"/>
                    </a:lnTo>
                    <a:lnTo>
                      <a:pt x="0" y="6"/>
                    </a:lnTo>
                    <a:lnTo>
                      <a:pt x="16"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85" name="Freeform 61"/>
              <p:cNvSpPr>
                <a:spLocks/>
              </p:cNvSpPr>
              <p:nvPr/>
            </p:nvSpPr>
            <p:spPr bwMode="auto">
              <a:xfrm>
                <a:off x="824" y="3278"/>
                <a:ext cx="26" cy="24"/>
              </a:xfrm>
              <a:custGeom>
                <a:avLst/>
                <a:gdLst/>
                <a:ahLst/>
                <a:cxnLst>
                  <a:cxn ang="0">
                    <a:pos x="25" y="0"/>
                  </a:cxn>
                  <a:cxn ang="0">
                    <a:pos x="25" y="14"/>
                  </a:cxn>
                  <a:cxn ang="0">
                    <a:pos x="0" y="23"/>
                  </a:cxn>
                  <a:cxn ang="0">
                    <a:pos x="0" y="9"/>
                  </a:cxn>
                  <a:cxn ang="0">
                    <a:pos x="25" y="0"/>
                  </a:cxn>
                </a:cxnLst>
                <a:rect l="0" t="0" r="r" b="b"/>
                <a:pathLst>
                  <a:path w="26" h="24">
                    <a:moveTo>
                      <a:pt x="25" y="0"/>
                    </a:moveTo>
                    <a:lnTo>
                      <a:pt x="25" y="14"/>
                    </a:lnTo>
                    <a:lnTo>
                      <a:pt x="0" y="23"/>
                    </a:lnTo>
                    <a:lnTo>
                      <a:pt x="0" y="9"/>
                    </a:lnTo>
                    <a:lnTo>
                      <a:pt x="25"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86" name="Freeform 62"/>
              <p:cNvSpPr>
                <a:spLocks/>
              </p:cNvSpPr>
              <p:nvPr/>
            </p:nvSpPr>
            <p:spPr bwMode="auto">
              <a:xfrm>
                <a:off x="828" y="3314"/>
                <a:ext cx="20" cy="19"/>
              </a:xfrm>
              <a:custGeom>
                <a:avLst/>
                <a:gdLst/>
                <a:ahLst/>
                <a:cxnLst>
                  <a:cxn ang="0">
                    <a:pos x="19" y="0"/>
                  </a:cxn>
                  <a:cxn ang="0">
                    <a:pos x="19" y="12"/>
                  </a:cxn>
                  <a:cxn ang="0">
                    <a:pos x="0" y="18"/>
                  </a:cxn>
                  <a:cxn ang="0">
                    <a:pos x="0" y="6"/>
                  </a:cxn>
                  <a:cxn ang="0">
                    <a:pos x="19" y="0"/>
                  </a:cxn>
                </a:cxnLst>
                <a:rect l="0" t="0" r="r" b="b"/>
                <a:pathLst>
                  <a:path w="20" h="19">
                    <a:moveTo>
                      <a:pt x="19" y="0"/>
                    </a:moveTo>
                    <a:lnTo>
                      <a:pt x="19" y="12"/>
                    </a:lnTo>
                    <a:lnTo>
                      <a:pt x="0" y="18"/>
                    </a:lnTo>
                    <a:lnTo>
                      <a:pt x="0" y="6"/>
                    </a:lnTo>
                    <a:lnTo>
                      <a:pt x="19"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87" name="Freeform 63"/>
              <p:cNvSpPr>
                <a:spLocks/>
              </p:cNvSpPr>
              <p:nvPr/>
            </p:nvSpPr>
            <p:spPr bwMode="auto">
              <a:xfrm>
                <a:off x="828" y="3346"/>
                <a:ext cx="20" cy="19"/>
              </a:xfrm>
              <a:custGeom>
                <a:avLst/>
                <a:gdLst/>
                <a:ahLst/>
                <a:cxnLst>
                  <a:cxn ang="0">
                    <a:pos x="19" y="0"/>
                  </a:cxn>
                  <a:cxn ang="0">
                    <a:pos x="19" y="11"/>
                  </a:cxn>
                  <a:cxn ang="0">
                    <a:pos x="0" y="18"/>
                  </a:cxn>
                  <a:cxn ang="0">
                    <a:pos x="0" y="6"/>
                  </a:cxn>
                  <a:cxn ang="0">
                    <a:pos x="19" y="0"/>
                  </a:cxn>
                </a:cxnLst>
                <a:rect l="0" t="0" r="r" b="b"/>
                <a:pathLst>
                  <a:path w="20" h="19">
                    <a:moveTo>
                      <a:pt x="19" y="0"/>
                    </a:moveTo>
                    <a:lnTo>
                      <a:pt x="19" y="11"/>
                    </a:lnTo>
                    <a:lnTo>
                      <a:pt x="0" y="18"/>
                    </a:lnTo>
                    <a:lnTo>
                      <a:pt x="0" y="6"/>
                    </a:lnTo>
                    <a:lnTo>
                      <a:pt x="19"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88" name="Freeform 64"/>
              <p:cNvSpPr>
                <a:spLocks/>
              </p:cNvSpPr>
              <p:nvPr/>
            </p:nvSpPr>
            <p:spPr bwMode="auto">
              <a:xfrm>
                <a:off x="824" y="3376"/>
                <a:ext cx="20" cy="19"/>
              </a:xfrm>
              <a:custGeom>
                <a:avLst/>
                <a:gdLst/>
                <a:ahLst/>
                <a:cxnLst>
                  <a:cxn ang="0">
                    <a:pos x="19" y="0"/>
                  </a:cxn>
                  <a:cxn ang="0">
                    <a:pos x="19" y="11"/>
                  </a:cxn>
                  <a:cxn ang="0">
                    <a:pos x="0" y="18"/>
                  </a:cxn>
                  <a:cxn ang="0">
                    <a:pos x="0" y="7"/>
                  </a:cxn>
                  <a:cxn ang="0">
                    <a:pos x="19" y="0"/>
                  </a:cxn>
                </a:cxnLst>
                <a:rect l="0" t="0" r="r" b="b"/>
                <a:pathLst>
                  <a:path w="20" h="19">
                    <a:moveTo>
                      <a:pt x="19" y="0"/>
                    </a:moveTo>
                    <a:lnTo>
                      <a:pt x="19" y="11"/>
                    </a:lnTo>
                    <a:lnTo>
                      <a:pt x="0" y="18"/>
                    </a:lnTo>
                    <a:lnTo>
                      <a:pt x="0" y="7"/>
                    </a:lnTo>
                    <a:lnTo>
                      <a:pt x="19"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89" name="Freeform 65"/>
              <p:cNvSpPr>
                <a:spLocks/>
              </p:cNvSpPr>
              <p:nvPr/>
            </p:nvSpPr>
            <p:spPr bwMode="auto">
              <a:xfrm>
                <a:off x="828" y="3411"/>
                <a:ext cx="20" cy="19"/>
              </a:xfrm>
              <a:custGeom>
                <a:avLst/>
                <a:gdLst/>
                <a:ahLst/>
                <a:cxnLst>
                  <a:cxn ang="0">
                    <a:pos x="19" y="0"/>
                  </a:cxn>
                  <a:cxn ang="0">
                    <a:pos x="19" y="11"/>
                  </a:cxn>
                  <a:cxn ang="0">
                    <a:pos x="0" y="18"/>
                  </a:cxn>
                  <a:cxn ang="0">
                    <a:pos x="0" y="6"/>
                  </a:cxn>
                  <a:cxn ang="0">
                    <a:pos x="19" y="0"/>
                  </a:cxn>
                </a:cxnLst>
                <a:rect l="0" t="0" r="r" b="b"/>
                <a:pathLst>
                  <a:path w="20" h="19">
                    <a:moveTo>
                      <a:pt x="19" y="0"/>
                    </a:moveTo>
                    <a:lnTo>
                      <a:pt x="19" y="11"/>
                    </a:lnTo>
                    <a:lnTo>
                      <a:pt x="0" y="18"/>
                    </a:lnTo>
                    <a:lnTo>
                      <a:pt x="0" y="6"/>
                    </a:lnTo>
                    <a:lnTo>
                      <a:pt x="19"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90" name="Freeform 66"/>
              <p:cNvSpPr>
                <a:spLocks/>
              </p:cNvSpPr>
              <p:nvPr/>
            </p:nvSpPr>
            <p:spPr bwMode="auto">
              <a:xfrm>
                <a:off x="828" y="3443"/>
                <a:ext cx="20" cy="20"/>
              </a:xfrm>
              <a:custGeom>
                <a:avLst/>
                <a:gdLst/>
                <a:ahLst/>
                <a:cxnLst>
                  <a:cxn ang="0">
                    <a:pos x="19" y="0"/>
                  </a:cxn>
                  <a:cxn ang="0">
                    <a:pos x="19" y="12"/>
                  </a:cxn>
                  <a:cxn ang="0">
                    <a:pos x="0" y="19"/>
                  </a:cxn>
                  <a:cxn ang="0">
                    <a:pos x="0" y="7"/>
                  </a:cxn>
                  <a:cxn ang="0">
                    <a:pos x="19" y="0"/>
                  </a:cxn>
                </a:cxnLst>
                <a:rect l="0" t="0" r="r" b="b"/>
                <a:pathLst>
                  <a:path w="20" h="20">
                    <a:moveTo>
                      <a:pt x="19" y="0"/>
                    </a:moveTo>
                    <a:lnTo>
                      <a:pt x="19" y="12"/>
                    </a:lnTo>
                    <a:lnTo>
                      <a:pt x="0" y="19"/>
                    </a:lnTo>
                    <a:lnTo>
                      <a:pt x="0" y="7"/>
                    </a:lnTo>
                    <a:lnTo>
                      <a:pt x="19"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91" name="Freeform 67"/>
              <p:cNvSpPr>
                <a:spLocks/>
              </p:cNvSpPr>
              <p:nvPr/>
            </p:nvSpPr>
            <p:spPr bwMode="auto">
              <a:xfrm>
                <a:off x="824" y="3474"/>
                <a:ext cx="26" cy="23"/>
              </a:xfrm>
              <a:custGeom>
                <a:avLst/>
                <a:gdLst/>
                <a:ahLst/>
                <a:cxnLst>
                  <a:cxn ang="0">
                    <a:pos x="25" y="0"/>
                  </a:cxn>
                  <a:cxn ang="0">
                    <a:pos x="25" y="14"/>
                  </a:cxn>
                  <a:cxn ang="0">
                    <a:pos x="0" y="22"/>
                  </a:cxn>
                  <a:cxn ang="0">
                    <a:pos x="0" y="8"/>
                  </a:cxn>
                  <a:cxn ang="0">
                    <a:pos x="25" y="0"/>
                  </a:cxn>
                </a:cxnLst>
                <a:rect l="0" t="0" r="r" b="b"/>
                <a:pathLst>
                  <a:path w="26" h="23">
                    <a:moveTo>
                      <a:pt x="25" y="0"/>
                    </a:moveTo>
                    <a:lnTo>
                      <a:pt x="25" y="14"/>
                    </a:lnTo>
                    <a:lnTo>
                      <a:pt x="0" y="22"/>
                    </a:lnTo>
                    <a:lnTo>
                      <a:pt x="0" y="8"/>
                    </a:lnTo>
                    <a:lnTo>
                      <a:pt x="25"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92" name="Freeform 68"/>
              <p:cNvSpPr>
                <a:spLocks/>
              </p:cNvSpPr>
              <p:nvPr/>
            </p:nvSpPr>
            <p:spPr bwMode="auto">
              <a:xfrm>
                <a:off x="855" y="3278"/>
                <a:ext cx="28" cy="30"/>
              </a:xfrm>
              <a:custGeom>
                <a:avLst/>
                <a:gdLst/>
                <a:ahLst/>
                <a:cxnLst>
                  <a:cxn ang="0">
                    <a:pos x="27" y="0"/>
                  </a:cxn>
                  <a:cxn ang="0">
                    <a:pos x="27" y="19"/>
                  </a:cxn>
                  <a:cxn ang="0">
                    <a:pos x="0" y="29"/>
                  </a:cxn>
                  <a:cxn ang="0">
                    <a:pos x="0" y="11"/>
                  </a:cxn>
                  <a:cxn ang="0">
                    <a:pos x="27" y="0"/>
                  </a:cxn>
                </a:cxnLst>
                <a:rect l="0" t="0" r="r" b="b"/>
                <a:pathLst>
                  <a:path w="28" h="30">
                    <a:moveTo>
                      <a:pt x="27" y="0"/>
                    </a:moveTo>
                    <a:lnTo>
                      <a:pt x="27" y="19"/>
                    </a:lnTo>
                    <a:lnTo>
                      <a:pt x="0" y="29"/>
                    </a:lnTo>
                    <a:lnTo>
                      <a:pt x="0" y="11"/>
                    </a:lnTo>
                    <a:lnTo>
                      <a:pt x="27"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93" name="Freeform 69"/>
              <p:cNvSpPr>
                <a:spLocks/>
              </p:cNvSpPr>
              <p:nvPr/>
            </p:nvSpPr>
            <p:spPr bwMode="auto">
              <a:xfrm>
                <a:off x="858" y="3312"/>
                <a:ext cx="22" cy="25"/>
              </a:xfrm>
              <a:custGeom>
                <a:avLst/>
                <a:gdLst/>
                <a:ahLst/>
                <a:cxnLst>
                  <a:cxn ang="0">
                    <a:pos x="21" y="0"/>
                  </a:cxn>
                  <a:cxn ang="0">
                    <a:pos x="21" y="16"/>
                  </a:cxn>
                  <a:cxn ang="0">
                    <a:pos x="0" y="24"/>
                  </a:cxn>
                  <a:cxn ang="0">
                    <a:pos x="0" y="8"/>
                  </a:cxn>
                  <a:cxn ang="0">
                    <a:pos x="21" y="0"/>
                  </a:cxn>
                </a:cxnLst>
                <a:rect l="0" t="0" r="r" b="b"/>
                <a:pathLst>
                  <a:path w="22" h="25">
                    <a:moveTo>
                      <a:pt x="21" y="0"/>
                    </a:moveTo>
                    <a:lnTo>
                      <a:pt x="21" y="16"/>
                    </a:lnTo>
                    <a:lnTo>
                      <a:pt x="0" y="24"/>
                    </a:lnTo>
                    <a:lnTo>
                      <a:pt x="0" y="8"/>
                    </a:lnTo>
                    <a:lnTo>
                      <a:pt x="21"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94" name="Freeform 70"/>
              <p:cNvSpPr>
                <a:spLocks/>
              </p:cNvSpPr>
              <p:nvPr/>
            </p:nvSpPr>
            <p:spPr bwMode="auto">
              <a:xfrm>
                <a:off x="858" y="3344"/>
                <a:ext cx="22" cy="25"/>
              </a:xfrm>
              <a:custGeom>
                <a:avLst/>
                <a:gdLst/>
                <a:ahLst/>
                <a:cxnLst>
                  <a:cxn ang="0">
                    <a:pos x="21" y="0"/>
                  </a:cxn>
                  <a:cxn ang="0">
                    <a:pos x="21" y="16"/>
                  </a:cxn>
                  <a:cxn ang="0">
                    <a:pos x="0" y="24"/>
                  </a:cxn>
                  <a:cxn ang="0">
                    <a:pos x="0" y="8"/>
                  </a:cxn>
                  <a:cxn ang="0">
                    <a:pos x="21" y="0"/>
                  </a:cxn>
                </a:cxnLst>
                <a:rect l="0" t="0" r="r" b="b"/>
                <a:pathLst>
                  <a:path w="22" h="25">
                    <a:moveTo>
                      <a:pt x="21" y="0"/>
                    </a:moveTo>
                    <a:lnTo>
                      <a:pt x="21" y="16"/>
                    </a:lnTo>
                    <a:lnTo>
                      <a:pt x="0" y="24"/>
                    </a:lnTo>
                    <a:lnTo>
                      <a:pt x="0" y="8"/>
                    </a:lnTo>
                    <a:lnTo>
                      <a:pt x="21"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095" name="Freeform 71"/>
              <p:cNvSpPr>
                <a:spLocks/>
              </p:cNvSpPr>
              <p:nvPr/>
            </p:nvSpPr>
            <p:spPr bwMode="auto">
              <a:xfrm>
                <a:off x="855" y="3376"/>
                <a:ext cx="19" cy="25"/>
              </a:xfrm>
              <a:custGeom>
                <a:avLst/>
                <a:gdLst/>
                <a:ahLst/>
                <a:cxnLst>
                  <a:cxn ang="0">
                    <a:pos x="18" y="0"/>
                  </a:cxn>
                  <a:cxn ang="0">
                    <a:pos x="18" y="16"/>
                  </a:cxn>
                  <a:cxn ang="0">
                    <a:pos x="0" y="24"/>
                  </a:cxn>
                  <a:cxn ang="0">
                    <a:pos x="0" y="9"/>
                  </a:cxn>
                  <a:cxn ang="0">
                    <a:pos x="18" y="0"/>
                  </a:cxn>
                </a:cxnLst>
                <a:rect l="0" t="0" r="r" b="b"/>
                <a:pathLst>
                  <a:path w="19" h="25">
                    <a:moveTo>
                      <a:pt x="18" y="0"/>
                    </a:moveTo>
                    <a:lnTo>
                      <a:pt x="18" y="16"/>
                    </a:lnTo>
                    <a:lnTo>
                      <a:pt x="0" y="24"/>
                    </a:lnTo>
                    <a:lnTo>
                      <a:pt x="0" y="9"/>
                    </a:lnTo>
                    <a:lnTo>
                      <a:pt x="18"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96" name="Freeform 72"/>
              <p:cNvSpPr>
                <a:spLocks/>
              </p:cNvSpPr>
              <p:nvPr/>
            </p:nvSpPr>
            <p:spPr bwMode="auto">
              <a:xfrm>
                <a:off x="858" y="3410"/>
                <a:ext cx="22" cy="27"/>
              </a:xfrm>
              <a:custGeom>
                <a:avLst/>
                <a:gdLst/>
                <a:ahLst/>
                <a:cxnLst>
                  <a:cxn ang="0">
                    <a:pos x="21" y="0"/>
                  </a:cxn>
                  <a:cxn ang="0">
                    <a:pos x="21" y="17"/>
                  </a:cxn>
                  <a:cxn ang="0">
                    <a:pos x="0" y="26"/>
                  </a:cxn>
                  <a:cxn ang="0">
                    <a:pos x="0" y="9"/>
                  </a:cxn>
                  <a:cxn ang="0">
                    <a:pos x="21" y="0"/>
                  </a:cxn>
                </a:cxnLst>
                <a:rect l="0" t="0" r="r" b="b"/>
                <a:pathLst>
                  <a:path w="22" h="27">
                    <a:moveTo>
                      <a:pt x="21" y="0"/>
                    </a:moveTo>
                    <a:lnTo>
                      <a:pt x="21" y="17"/>
                    </a:lnTo>
                    <a:lnTo>
                      <a:pt x="0" y="26"/>
                    </a:lnTo>
                    <a:lnTo>
                      <a:pt x="0" y="9"/>
                    </a:lnTo>
                    <a:lnTo>
                      <a:pt x="21"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97" name="Freeform 73"/>
              <p:cNvSpPr>
                <a:spLocks/>
              </p:cNvSpPr>
              <p:nvPr/>
            </p:nvSpPr>
            <p:spPr bwMode="auto">
              <a:xfrm>
                <a:off x="858" y="3441"/>
                <a:ext cx="22" cy="27"/>
              </a:xfrm>
              <a:custGeom>
                <a:avLst/>
                <a:gdLst/>
                <a:ahLst/>
                <a:cxnLst>
                  <a:cxn ang="0">
                    <a:pos x="21" y="0"/>
                  </a:cxn>
                  <a:cxn ang="0">
                    <a:pos x="21" y="17"/>
                  </a:cxn>
                  <a:cxn ang="0">
                    <a:pos x="0" y="26"/>
                  </a:cxn>
                  <a:cxn ang="0">
                    <a:pos x="0" y="9"/>
                  </a:cxn>
                  <a:cxn ang="0">
                    <a:pos x="21" y="0"/>
                  </a:cxn>
                </a:cxnLst>
                <a:rect l="0" t="0" r="r" b="b"/>
                <a:pathLst>
                  <a:path w="22" h="27">
                    <a:moveTo>
                      <a:pt x="21" y="0"/>
                    </a:moveTo>
                    <a:lnTo>
                      <a:pt x="21" y="17"/>
                    </a:lnTo>
                    <a:lnTo>
                      <a:pt x="0" y="26"/>
                    </a:lnTo>
                    <a:lnTo>
                      <a:pt x="0" y="9"/>
                    </a:lnTo>
                    <a:lnTo>
                      <a:pt x="21"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098" name="Freeform 74"/>
              <p:cNvSpPr>
                <a:spLocks/>
              </p:cNvSpPr>
              <p:nvPr/>
            </p:nvSpPr>
            <p:spPr bwMode="auto">
              <a:xfrm>
                <a:off x="855" y="3473"/>
                <a:ext cx="28" cy="28"/>
              </a:xfrm>
              <a:custGeom>
                <a:avLst/>
                <a:gdLst/>
                <a:ahLst/>
                <a:cxnLst>
                  <a:cxn ang="0">
                    <a:pos x="27" y="0"/>
                  </a:cxn>
                  <a:cxn ang="0">
                    <a:pos x="27" y="17"/>
                  </a:cxn>
                  <a:cxn ang="0">
                    <a:pos x="0" y="27"/>
                  </a:cxn>
                  <a:cxn ang="0">
                    <a:pos x="0" y="10"/>
                  </a:cxn>
                  <a:cxn ang="0">
                    <a:pos x="27" y="0"/>
                  </a:cxn>
                </a:cxnLst>
                <a:rect l="0" t="0" r="r" b="b"/>
                <a:pathLst>
                  <a:path w="28" h="28">
                    <a:moveTo>
                      <a:pt x="27" y="0"/>
                    </a:moveTo>
                    <a:lnTo>
                      <a:pt x="27" y="17"/>
                    </a:lnTo>
                    <a:lnTo>
                      <a:pt x="0" y="27"/>
                    </a:lnTo>
                    <a:lnTo>
                      <a:pt x="0" y="10"/>
                    </a:lnTo>
                    <a:lnTo>
                      <a:pt x="27"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099" name="Freeform 75"/>
              <p:cNvSpPr>
                <a:spLocks/>
              </p:cNvSpPr>
              <p:nvPr/>
            </p:nvSpPr>
            <p:spPr bwMode="auto">
              <a:xfrm>
                <a:off x="885" y="3275"/>
                <a:ext cx="31" cy="35"/>
              </a:xfrm>
              <a:custGeom>
                <a:avLst/>
                <a:gdLst/>
                <a:ahLst/>
                <a:cxnLst>
                  <a:cxn ang="0">
                    <a:pos x="30" y="0"/>
                  </a:cxn>
                  <a:cxn ang="0">
                    <a:pos x="30" y="23"/>
                  </a:cxn>
                  <a:cxn ang="0">
                    <a:pos x="0" y="34"/>
                  </a:cxn>
                  <a:cxn ang="0">
                    <a:pos x="0" y="11"/>
                  </a:cxn>
                  <a:cxn ang="0">
                    <a:pos x="30" y="0"/>
                  </a:cxn>
                </a:cxnLst>
                <a:rect l="0" t="0" r="r" b="b"/>
                <a:pathLst>
                  <a:path w="31" h="35">
                    <a:moveTo>
                      <a:pt x="30" y="0"/>
                    </a:moveTo>
                    <a:lnTo>
                      <a:pt x="30" y="23"/>
                    </a:lnTo>
                    <a:lnTo>
                      <a:pt x="0" y="34"/>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00" name="Freeform 76"/>
              <p:cNvSpPr>
                <a:spLocks/>
              </p:cNvSpPr>
              <p:nvPr/>
            </p:nvSpPr>
            <p:spPr bwMode="auto">
              <a:xfrm>
                <a:off x="889" y="3311"/>
                <a:ext cx="26" cy="30"/>
              </a:xfrm>
              <a:custGeom>
                <a:avLst/>
                <a:gdLst/>
                <a:ahLst/>
                <a:cxnLst>
                  <a:cxn ang="0">
                    <a:pos x="25" y="0"/>
                  </a:cxn>
                  <a:cxn ang="0">
                    <a:pos x="25" y="20"/>
                  </a:cxn>
                  <a:cxn ang="0">
                    <a:pos x="0" y="29"/>
                  </a:cxn>
                  <a:cxn ang="0">
                    <a:pos x="0" y="9"/>
                  </a:cxn>
                  <a:cxn ang="0">
                    <a:pos x="25" y="0"/>
                  </a:cxn>
                </a:cxnLst>
                <a:rect l="0" t="0" r="r" b="b"/>
                <a:pathLst>
                  <a:path w="26" h="30">
                    <a:moveTo>
                      <a:pt x="25" y="0"/>
                    </a:moveTo>
                    <a:lnTo>
                      <a:pt x="25" y="20"/>
                    </a:lnTo>
                    <a:lnTo>
                      <a:pt x="0" y="29"/>
                    </a:lnTo>
                    <a:lnTo>
                      <a:pt x="0" y="9"/>
                    </a:lnTo>
                    <a:lnTo>
                      <a:pt x="25"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101" name="Freeform 77"/>
              <p:cNvSpPr>
                <a:spLocks/>
              </p:cNvSpPr>
              <p:nvPr/>
            </p:nvSpPr>
            <p:spPr bwMode="auto">
              <a:xfrm>
                <a:off x="889" y="3341"/>
                <a:ext cx="26" cy="32"/>
              </a:xfrm>
              <a:custGeom>
                <a:avLst/>
                <a:gdLst/>
                <a:ahLst/>
                <a:cxnLst>
                  <a:cxn ang="0">
                    <a:pos x="25" y="0"/>
                  </a:cxn>
                  <a:cxn ang="0">
                    <a:pos x="25" y="21"/>
                  </a:cxn>
                  <a:cxn ang="0">
                    <a:pos x="0" y="31"/>
                  </a:cxn>
                  <a:cxn ang="0">
                    <a:pos x="0" y="10"/>
                  </a:cxn>
                  <a:cxn ang="0">
                    <a:pos x="25" y="0"/>
                  </a:cxn>
                </a:cxnLst>
                <a:rect l="0" t="0" r="r" b="b"/>
                <a:pathLst>
                  <a:path w="26" h="32">
                    <a:moveTo>
                      <a:pt x="25" y="0"/>
                    </a:moveTo>
                    <a:lnTo>
                      <a:pt x="25" y="21"/>
                    </a:lnTo>
                    <a:lnTo>
                      <a:pt x="0" y="31"/>
                    </a:lnTo>
                    <a:lnTo>
                      <a:pt x="0" y="10"/>
                    </a:lnTo>
                    <a:lnTo>
                      <a:pt x="25" y="0"/>
                    </a:lnTo>
                  </a:path>
                </a:pathLst>
              </a:custGeom>
              <a:solidFill>
                <a:srgbClr val="FF5008"/>
              </a:solidFill>
              <a:ln w="12700" cap="rnd" cmpd="sng">
                <a:noFill/>
                <a:prstDash val="solid"/>
                <a:round/>
                <a:headEnd type="none" w="med" len="med"/>
                <a:tailEnd type="none" w="med" len="med"/>
              </a:ln>
              <a:effectLst/>
            </p:spPr>
            <p:txBody>
              <a:bodyPr/>
              <a:lstStyle/>
              <a:p>
                <a:endParaRPr lang="fr-FR"/>
              </a:p>
            </p:txBody>
          </p:sp>
          <p:sp>
            <p:nvSpPr>
              <p:cNvPr id="129102" name="Freeform 78"/>
              <p:cNvSpPr>
                <a:spLocks/>
              </p:cNvSpPr>
              <p:nvPr/>
            </p:nvSpPr>
            <p:spPr bwMode="auto">
              <a:xfrm>
                <a:off x="885" y="3372"/>
                <a:ext cx="31" cy="37"/>
              </a:xfrm>
              <a:custGeom>
                <a:avLst/>
                <a:gdLst/>
                <a:ahLst/>
                <a:cxnLst>
                  <a:cxn ang="0">
                    <a:pos x="30" y="0"/>
                  </a:cxn>
                  <a:cxn ang="0">
                    <a:pos x="30" y="24"/>
                  </a:cxn>
                  <a:cxn ang="0">
                    <a:pos x="0" y="36"/>
                  </a:cxn>
                  <a:cxn ang="0">
                    <a:pos x="0" y="12"/>
                  </a:cxn>
                  <a:cxn ang="0">
                    <a:pos x="30" y="0"/>
                  </a:cxn>
                </a:cxnLst>
                <a:rect l="0" t="0" r="r" b="b"/>
                <a:pathLst>
                  <a:path w="31" h="37">
                    <a:moveTo>
                      <a:pt x="30" y="0"/>
                    </a:moveTo>
                    <a:lnTo>
                      <a:pt x="30" y="24"/>
                    </a:lnTo>
                    <a:lnTo>
                      <a:pt x="0" y="36"/>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03" name="Freeform 79"/>
              <p:cNvSpPr>
                <a:spLocks/>
              </p:cNvSpPr>
              <p:nvPr/>
            </p:nvSpPr>
            <p:spPr bwMode="auto">
              <a:xfrm>
                <a:off x="889" y="3408"/>
                <a:ext cx="26" cy="30"/>
              </a:xfrm>
              <a:custGeom>
                <a:avLst/>
                <a:gdLst/>
                <a:ahLst/>
                <a:cxnLst>
                  <a:cxn ang="0">
                    <a:pos x="25" y="0"/>
                  </a:cxn>
                  <a:cxn ang="0">
                    <a:pos x="25" y="20"/>
                  </a:cxn>
                  <a:cxn ang="0">
                    <a:pos x="0" y="29"/>
                  </a:cxn>
                  <a:cxn ang="0">
                    <a:pos x="0" y="10"/>
                  </a:cxn>
                  <a:cxn ang="0">
                    <a:pos x="25" y="0"/>
                  </a:cxn>
                </a:cxnLst>
                <a:rect l="0" t="0" r="r" b="b"/>
                <a:pathLst>
                  <a:path w="26" h="30">
                    <a:moveTo>
                      <a:pt x="25" y="0"/>
                    </a:moveTo>
                    <a:lnTo>
                      <a:pt x="25" y="20"/>
                    </a:lnTo>
                    <a:lnTo>
                      <a:pt x="0" y="29"/>
                    </a:lnTo>
                    <a:lnTo>
                      <a:pt x="0" y="10"/>
                    </a:lnTo>
                    <a:lnTo>
                      <a:pt x="25"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104" name="Freeform 80"/>
              <p:cNvSpPr>
                <a:spLocks/>
              </p:cNvSpPr>
              <p:nvPr/>
            </p:nvSpPr>
            <p:spPr bwMode="auto">
              <a:xfrm>
                <a:off x="889" y="3440"/>
                <a:ext cx="26" cy="30"/>
              </a:xfrm>
              <a:custGeom>
                <a:avLst/>
                <a:gdLst/>
                <a:ahLst/>
                <a:cxnLst>
                  <a:cxn ang="0">
                    <a:pos x="25" y="0"/>
                  </a:cxn>
                  <a:cxn ang="0">
                    <a:pos x="25" y="20"/>
                  </a:cxn>
                  <a:cxn ang="0">
                    <a:pos x="0" y="29"/>
                  </a:cxn>
                  <a:cxn ang="0">
                    <a:pos x="0" y="9"/>
                  </a:cxn>
                  <a:cxn ang="0">
                    <a:pos x="25" y="0"/>
                  </a:cxn>
                </a:cxnLst>
                <a:rect l="0" t="0" r="r" b="b"/>
                <a:pathLst>
                  <a:path w="26" h="30">
                    <a:moveTo>
                      <a:pt x="25" y="0"/>
                    </a:moveTo>
                    <a:lnTo>
                      <a:pt x="25" y="20"/>
                    </a:lnTo>
                    <a:lnTo>
                      <a:pt x="0" y="29"/>
                    </a:lnTo>
                    <a:lnTo>
                      <a:pt x="0" y="9"/>
                    </a:lnTo>
                    <a:lnTo>
                      <a:pt x="25" y="0"/>
                    </a:lnTo>
                  </a:path>
                </a:pathLst>
              </a:custGeom>
              <a:solidFill>
                <a:srgbClr val="114FFB"/>
              </a:solidFill>
              <a:ln w="12700" cap="rnd" cmpd="sng">
                <a:noFill/>
                <a:prstDash val="solid"/>
                <a:round/>
                <a:headEnd type="none" w="med" len="med"/>
                <a:tailEnd type="none" w="med" len="med"/>
              </a:ln>
              <a:effectLst/>
            </p:spPr>
            <p:txBody>
              <a:bodyPr/>
              <a:lstStyle/>
              <a:p>
                <a:endParaRPr lang="fr-FR"/>
              </a:p>
            </p:txBody>
          </p:sp>
          <p:sp>
            <p:nvSpPr>
              <p:cNvPr id="129105" name="Freeform 81"/>
              <p:cNvSpPr>
                <a:spLocks/>
              </p:cNvSpPr>
              <p:nvPr/>
            </p:nvSpPr>
            <p:spPr bwMode="auto">
              <a:xfrm>
                <a:off x="885" y="3469"/>
                <a:ext cx="31" cy="36"/>
              </a:xfrm>
              <a:custGeom>
                <a:avLst/>
                <a:gdLst/>
                <a:ahLst/>
                <a:cxnLst>
                  <a:cxn ang="0">
                    <a:pos x="30" y="0"/>
                  </a:cxn>
                  <a:cxn ang="0">
                    <a:pos x="30" y="24"/>
                  </a:cxn>
                  <a:cxn ang="0">
                    <a:pos x="0" y="35"/>
                  </a:cxn>
                  <a:cxn ang="0">
                    <a:pos x="0" y="12"/>
                  </a:cxn>
                  <a:cxn ang="0">
                    <a:pos x="30" y="0"/>
                  </a:cxn>
                </a:cxnLst>
                <a:rect l="0" t="0" r="r" b="b"/>
                <a:pathLst>
                  <a:path w="31" h="36">
                    <a:moveTo>
                      <a:pt x="30" y="0"/>
                    </a:moveTo>
                    <a:lnTo>
                      <a:pt x="30" y="24"/>
                    </a:lnTo>
                    <a:lnTo>
                      <a:pt x="0" y="35"/>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06" name="Freeform 82"/>
              <p:cNvSpPr>
                <a:spLocks/>
              </p:cNvSpPr>
              <p:nvPr/>
            </p:nvSpPr>
            <p:spPr bwMode="auto">
              <a:xfrm>
                <a:off x="919" y="3262"/>
                <a:ext cx="31" cy="47"/>
              </a:xfrm>
              <a:custGeom>
                <a:avLst/>
                <a:gdLst/>
                <a:ahLst/>
                <a:cxnLst>
                  <a:cxn ang="0">
                    <a:pos x="30" y="0"/>
                  </a:cxn>
                  <a:cxn ang="0">
                    <a:pos x="30" y="33"/>
                  </a:cxn>
                  <a:cxn ang="0">
                    <a:pos x="0" y="46"/>
                  </a:cxn>
                  <a:cxn ang="0">
                    <a:pos x="0" y="15"/>
                  </a:cxn>
                  <a:cxn ang="0">
                    <a:pos x="2" y="14"/>
                  </a:cxn>
                  <a:cxn ang="0">
                    <a:pos x="4" y="13"/>
                  </a:cxn>
                  <a:cxn ang="0">
                    <a:pos x="6" y="12"/>
                  </a:cxn>
                  <a:cxn ang="0">
                    <a:pos x="8" y="11"/>
                  </a:cxn>
                  <a:cxn ang="0">
                    <a:pos x="10" y="10"/>
                  </a:cxn>
                  <a:cxn ang="0">
                    <a:pos x="12" y="9"/>
                  </a:cxn>
                  <a:cxn ang="0">
                    <a:pos x="14" y="8"/>
                  </a:cxn>
                  <a:cxn ang="0">
                    <a:pos x="16" y="7"/>
                  </a:cxn>
                  <a:cxn ang="0">
                    <a:pos x="17" y="6"/>
                  </a:cxn>
                  <a:cxn ang="0">
                    <a:pos x="19" y="5"/>
                  </a:cxn>
                  <a:cxn ang="0">
                    <a:pos x="21" y="4"/>
                  </a:cxn>
                  <a:cxn ang="0">
                    <a:pos x="23" y="3"/>
                  </a:cxn>
                  <a:cxn ang="0">
                    <a:pos x="25" y="2"/>
                  </a:cxn>
                  <a:cxn ang="0">
                    <a:pos x="27" y="2"/>
                  </a:cxn>
                  <a:cxn ang="0">
                    <a:pos x="28" y="1"/>
                  </a:cxn>
                  <a:cxn ang="0">
                    <a:pos x="30" y="0"/>
                  </a:cxn>
                </a:cxnLst>
                <a:rect l="0" t="0" r="r" b="b"/>
                <a:pathLst>
                  <a:path w="31" h="47">
                    <a:moveTo>
                      <a:pt x="30" y="0"/>
                    </a:moveTo>
                    <a:lnTo>
                      <a:pt x="30" y="33"/>
                    </a:lnTo>
                    <a:lnTo>
                      <a:pt x="0" y="46"/>
                    </a:lnTo>
                    <a:lnTo>
                      <a:pt x="0" y="15"/>
                    </a:lnTo>
                    <a:lnTo>
                      <a:pt x="2" y="14"/>
                    </a:lnTo>
                    <a:lnTo>
                      <a:pt x="4" y="13"/>
                    </a:lnTo>
                    <a:lnTo>
                      <a:pt x="6" y="12"/>
                    </a:lnTo>
                    <a:lnTo>
                      <a:pt x="8" y="11"/>
                    </a:lnTo>
                    <a:lnTo>
                      <a:pt x="10" y="10"/>
                    </a:lnTo>
                    <a:lnTo>
                      <a:pt x="12" y="9"/>
                    </a:lnTo>
                    <a:lnTo>
                      <a:pt x="14" y="8"/>
                    </a:lnTo>
                    <a:lnTo>
                      <a:pt x="16" y="7"/>
                    </a:lnTo>
                    <a:lnTo>
                      <a:pt x="17" y="6"/>
                    </a:lnTo>
                    <a:lnTo>
                      <a:pt x="19" y="5"/>
                    </a:lnTo>
                    <a:lnTo>
                      <a:pt x="21" y="4"/>
                    </a:lnTo>
                    <a:lnTo>
                      <a:pt x="23" y="3"/>
                    </a:lnTo>
                    <a:lnTo>
                      <a:pt x="25" y="2"/>
                    </a:lnTo>
                    <a:lnTo>
                      <a:pt x="27" y="2"/>
                    </a:lnTo>
                    <a:lnTo>
                      <a:pt x="28" y="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07" name="Freeform 83"/>
              <p:cNvSpPr>
                <a:spLocks/>
              </p:cNvSpPr>
              <p:nvPr/>
            </p:nvSpPr>
            <p:spPr bwMode="auto">
              <a:xfrm>
                <a:off x="919" y="3299"/>
                <a:ext cx="31" cy="38"/>
              </a:xfrm>
              <a:custGeom>
                <a:avLst/>
                <a:gdLst/>
                <a:ahLst/>
                <a:cxnLst>
                  <a:cxn ang="0">
                    <a:pos x="30" y="0"/>
                  </a:cxn>
                  <a:cxn ang="0">
                    <a:pos x="30" y="26"/>
                  </a:cxn>
                  <a:cxn ang="0">
                    <a:pos x="0" y="37"/>
                  </a:cxn>
                  <a:cxn ang="0">
                    <a:pos x="0" y="11"/>
                  </a:cxn>
                  <a:cxn ang="0">
                    <a:pos x="30" y="0"/>
                  </a:cxn>
                </a:cxnLst>
                <a:rect l="0" t="0" r="r" b="b"/>
                <a:pathLst>
                  <a:path w="31" h="38">
                    <a:moveTo>
                      <a:pt x="30" y="0"/>
                    </a:moveTo>
                    <a:lnTo>
                      <a:pt x="30" y="26"/>
                    </a:lnTo>
                    <a:lnTo>
                      <a:pt x="0" y="37"/>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08" name="Freeform 84"/>
              <p:cNvSpPr>
                <a:spLocks/>
              </p:cNvSpPr>
              <p:nvPr/>
            </p:nvSpPr>
            <p:spPr bwMode="auto">
              <a:xfrm>
                <a:off x="919" y="3331"/>
                <a:ext cx="31" cy="38"/>
              </a:xfrm>
              <a:custGeom>
                <a:avLst/>
                <a:gdLst/>
                <a:ahLst/>
                <a:cxnLst>
                  <a:cxn ang="0">
                    <a:pos x="30" y="0"/>
                  </a:cxn>
                  <a:cxn ang="0">
                    <a:pos x="30" y="26"/>
                  </a:cxn>
                  <a:cxn ang="0">
                    <a:pos x="0" y="37"/>
                  </a:cxn>
                  <a:cxn ang="0">
                    <a:pos x="0" y="11"/>
                  </a:cxn>
                  <a:cxn ang="0">
                    <a:pos x="30" y="0"/>
                  </a:cxn>
                </a:cxnLst>
                <a:rect l="0" t="0" r="r" b="b"/>
                <a:pathLst>
                  <a:path w="31" h="38">
                    <a:moveTo>
                      <a:pt x="30" y="0"/>
                    </a:moveTo>
                    <a:lnTo>
                      <a:pt x="30" y="26"/>
                    </a:lnTo>
                    <a:lnTo>
                      <a:pt x="0" y="37"/>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09" name="Freeform 85"/>
              <p:cNvSpPr>
                <a:spLocks/>
              </p:cNvSpPr>
              <p:nvPr/>
            </p:nvSpPr>
            <p:spPr bwMode="auto">
              <a:xfrm>
                <a:off x="919" y="3362"/>
                <a:ext cx="31" cy="42"/>
              </a:xfrm>
              <a:custGeom>
                <a:avLst/>
                <a:gdLst/>
                <a:ahLst/>
                <a:cxnLst>
                  <a:cxn ang="0">
                    <a:pos x="30" y="0"/>
                  </a:cxn>
                  <a:cxn ang="0">
                    <a:pos x="30" y="28"/>
                  </a:cxn>
                  <a:cxn ang="0">
                    <a:pos x="0" y="41"/>
                  </a:cxn>
                  <a:cxn ang="0">
                    <a:pos x="0" y="12"/>
                  </a:cxn>
                  <a:cxn ang="0">
                    <a:pos x="30" y="0"/>
                  </a:cxn>
                </a:cxnLst>
                <a:rect l="0" t="0" r="r" b="b"/>
                <a:pathLst>
                  <a:path w="31" h="42">
                    <a:moveTo>
                      <a:pt x="30" y="0"/>
                    </a:moveTo>
                    <a:lnTo>
                      <a:pt x="30" y="28"/>
                    </a:lnTo>
                    <a:lnTo>
                      <a:pt x="0" y="41"/>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10" name="Freeform 86"/>
              <p:cNvSpPr>
                <a:spLocks/>
              </p:cNvSpPr>
              <p:nvPr/>
            </p:nvSpPr>
            <p:spPr bwMode="auto">
              <a:xfrm>
                <a:off x="919" y="3394"/>
                <a:ext cx="31" cy="41"/>
              </a:xfrm>
              <a:custGeom>
                <a:avLst/>
                <a:gdLst/>
                <a:ahLst/>
                <a:cxnLst>
                  <a:cxn ang="0">
                    <a:pos x="30" y="0"/>
                  </a:cxn>
                  <a:cxn ang="0">
                    <a:pos x="30" y="28"/>
                  </a:cxn>
                  <a:cxn ang="0">
                    <a:pos x="0" y="40"/>
                  </a:cxn>
                  <a:cxn ang="0">
                    <a:pos x="0" y="12"/>
                  </a:cxn>
                  <a:cxn ang="0">
                    <a:pos x="30" y="0"/>
                  </a:cxn>
                </a:cxnLst>
                <a:rect l="0" t="0" r="r" b="b"/>
                <a:pathLst>
                  <a:path w="31" h="41">
                    <a:moveTo>
                      <a:pt x="30" y="0"/>
                    </a:moveTo>
                    <a:lnTo>
                      <a:pt x="30" y="28"/>
                    </a:lnTo>
                    <a:lnTo>
                      <a:pt x="0" y="40"/>
                    </a:lnTo>
                    <a:lnTo>
                      <a:pt x="0" y="12"/>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11" name="Freeform 87"/>
              <p:cNvSpPr>
                <a:spLocks/>
              </p:cNvSpPr>
              <p:nvPr/>
            </p:nvSpPr>
            <p:spPr bwMode="auto">
              <a:xfrm>
                <a:off x="919" y="3429"/>
                <a:ext cx="31" cy="39"/>
              </a:xfrm>
              <a:custGeom>
                <a:avLst/>
                <a:gdLst/>
                <a:ahLst/>
                <a:cxnLst>
                  <a:cxn ang="0">
                    <a:pos x="30" y="0"/>
                  </a:cxn>
                  <a:cxn ang="0">
                    <a:pos x="30" y="26"/>
                  </a:cxn>
                  <a:cxn ang="0">
                    <a:pos x="0" y="38"/>
                  </a:cxn>
                  <a:cxn ang="0">
                    <a:pos x="0" y="11"/>
                  </a:cxn>
                  <a:cxn ang="0">
                    <a:pos x="30" y="0"/>
                  </a:cxn>
                </a:cxnLst>
                <a:rect l="0" t="0" r="r" b="b"/>
                <a:pathLst>
                  <a:path w="31" h="39">
                    <a:moveTo>
                      <a:pt x="30" y="0"/>
                    </a:moveTo>
                    <a:lnTo>
                      <a:pt x="30" y="26"/>
                    </a:lnTo>
                    <a:lnTo>
                      <a:pt x="0" y="38"/>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12" name="Freeform 88"/>
              <p:cNvSpPr>
                <a:spLocks/>
              </p:cNvSpPr>
              <p:nvPr/>
            </p:nvSpPr>
            <p:spPr bwMode="auto">
              <a:xfrm>
                <a:off x="919" y="3461"/>
                <a:ext cx="31" cy="40"/>
              </a:xfrm>
              <a:custGeom>
                <a:avLst/>
                <a:gdLst/>
                <a:ahLst/>
                <a:cxnLst>
                  <a:cxn ang="0">
                    <a:pos x="30" y="0"/>
                  </a:cxn>
                  <a:cxn ang="0">
                    <a:pos x="30" y="27"/>
                  </a:cxn>
                  <a:cxn ang="0">
                    <a:pos x="28" y="28"/>
                  </a:cxn>
                  <a:cxn ang="0">
                    <a:pos x="26" y="29"/>
                  </a:cxn>
                  <a:cxn ang="0">
                    <a:pos x="24" y="29"/>
                  </a:cxn>
                  <a:cxn ang="0">
                    <a:pos x="22" y="30"/>
                  </a:cxn>
                  <a:cxn ang="0">
                    <a:pos x="20" y="31"/>
                  </a:cxn>
                  <a:cxn ang="0">
                    <a:pos x="18" y="32"/>
                  </a:cxn>
                  <a:cxn ang="0">
                    <a:pos x="16" y="32"/>
                  </a:cxn>
                  <a:cxn ang="0">
                    <a:pos x="14" y="33"/>
                  </a:cxn>
                  <a:cxn ang="0">
                    <a:pos x="12" y="34"/>
                  </a:cxn>
                  <a:cxn ang="0">
                    <a:pos x="10" y="35"/>
                  </a:cxn>
                  <a:cxn ang="0">
                    <a:pos x="8" y="35"/>
                  </a:cxn>
                  <a:cxn ang="0">
                    <a:pos x="7" y="36"/>
                  </a:cxn>
                  <a:cxn ang="0">
                    <a:pos x="5" y="37"/>
                  </a:cxn>
                  <a:cxn ang="0">
                    <a:pos x="3" y="38"/>
                  </a:cxn>
                  <a:cxn ang="0">
                    <a:pos x="2" y="38"/>
                  </a:cxn>
                  <a:cxn ang="0">
                    <a:pos x="0" y="39"/>
                  </a:cxn>
                  <a:cxn ang="0">
                    <a:pos x="0" y="11"/>
                  </a:cxn>
                  <a:cxn ang="0">
                    <a:pos x="30" y="0"/>
                  </a:cxn>
                </a:cxnLst>
                <a:rect l="0" t="0" r="r" b="b"/>
                <a:pathLst>
                  <a:path w="31" h="40">
                    <a:moveTo>
                      <a:pt x="30" y="0"/>
                    </a:moveTo>
                    <a:lnTo>
                      <a:pt x="30" y="27"/>
                    </a:lnTo>
                    <a:lnTo>
                      <a:pt x="28" y="28"/>
                    </a:lnTo>
                    <a:lnTo>
                      <a:pt x="26" y="29"/>
                    </a:lnTo>
                    <a:lnTo>
                      <a:pt x="24" y="29"/>
                    </a:lnTo>
                    <a:lnTo>
                      <a:pt x="22" y="30"/>
                    </a:lnTo>
                    <a:lnTo>
                      <a:pt x="20" y="31"/>
                    </a:lnTo>
                    <a:lnTo>
                      <a:pt x="18" y="32"/>
                    </a:lnTo>
                    <a:lnTo>
                      <a:pt x="16" y="32"/>
                    </a:lnTo>
                    <a:lnTo>
                      <a:pt x="14" y="33"/>
                    </a:lnTo>
                    <a:lnTo>
                      <a:pt x="12" y="34"/>
                    </a:lnTo>
                    <a:lnTo>
                      <a:pt x="10" y="35"/>
                    </a:lnTo>
                    <a:lnTo>
                      <a:pt x="8" y="35"/>
                    </a:lnTo>
                    <a:lnTo>
                      <a:pt x="7" y="36"/>
                    </a:lnTo>
                    <a:lnTo>
                      <a:pt x="5" y="37"/>
                    </a:lnTo>
                    <a:lnTo>
                      <a:pt x="3" y="38"/>
                    </a:lnTo>
                    <a:lnTo>
                      <a:pt x="2" y="38"/>
                    </a:lnTo>
                    <a:lnTo>
                      <a:pt x="0" y="39"/>
                    </a:lnTo>
                    <a:lnTo>
                      <a:pt x="0" y="11"/>
                    </a:lnTo>
                    <a:lnTo>
                      <a:pt x="30" y="0"/>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13" name="Freeform 89"/>
              <p:cNvSpPr>
                <a:spLocks/>
              </p:cNvSpPr>
              <p:nvPr/>
            </p:nvSpPr>
            <p:spPr bwMode="auto">
              <a:xfrm>
                <a:off x="953" y="3248"/>
                <a:ext cx="157" cy="244"/>
              </a:xfrm>
              <a:custGeom>
                <a:avLst/>
                <a:gdLst/>
                <a:ahLst/>
                <a:cxnLst>
                  <a:cxn ang="0">
                    <a:pos x="152" y="241"/>
                  </a:cxn>
                  <a:cxn ang="0">
                    <a:pos x="144" y="237"/>
                  </a:cxn>
                  <a:cxn ang="0">
                    <a:pos x="136" y="233"/>
                  </a:cxn>
                  <a:cxn ang="0">
                    <a:pos x="127" y="230"/>
                  </a:cxn>
                  <a:cxn ang="0">
                    <a:pos x="118" y="228"/>
                  </a:cxn>
                  <a:cxn ang="0">
                    <a:pos x="108" y="226"/>
                  </a:cxn>
                  <a:cxn ang="0">
                    <a:pos x="98" y="225"/>
                  </a:cxn>
                  <a:cxn ang="0">
                    <a:pos x="88" y="225"/>
                  </a:cxn>
                  <a:cxn ang="0">
                    <a:pos x="78" y="224"/>
                  </a:cxn>
                  <a:cxn ang="0">
                    <a:pos x="68" y="225"/>
                  </a:cxn>
                  <a:cxn ang="0">
                    <a:pos x="58" y="226"/>
                  </a:cxn>
                  <a:cxn ang="0">
                    <a:pos x="48" y="227"/>
                  </a:cxn>
                  <a:cxn ang="0">
                    <a:pos x="38" y="229"/>
                  </a:cxn>
                  <a:cxn ang="0">
                    <a:pos x="27" y="230"/>
                  </a:cxn>
                  <a:cxn ang="0">
                    <a:pos x="17" y="233"/>
                  </a:cxn>
                  <a:cxn ang="0">
                    <a:pos x="6" y="236"/>
                  </a:cxn>
                  <a:cxn ang="0">
                    <a:pos x="3" y="204"/>
                  </a:cxn>
                  <a:cxn ang="0">
                    <a:pos x="15" y="200"/>
                  </a:cxn>
                  <a:cxn ang="0">
                    <a:pos x="27" y="197"/>
                  </a:cxn>
                  <a:cxn ang="0">
                    <a:pos x="40" y="194"/>
                  </a:cxn>
                  <a:cxn ang="0">
                    <a:pos x="50" y="120"/>
                  </a:cxn>
                  <a:cxn ang="0">
                    <a:pos x="38" y="122"/>
                  </a:cxn>
                  <a:cxn ang="0">
                    <a:pos x="26" y="126"/>
                  </a:cxn>
                  <a:cxn ang="0">
                    <a:pos x="13" y="130"/>
                  </a:cxn>
                  <a:cxn ang="0">
                    <a:pos x="0" y="136"/>
                  </a:cxn>
                  <a:cxn ang="0">
                    <a:pos x="9" y="110"/>
                  </a:cxn>
                  <a:cxn ang="0">
                    <a:pos x="21" y="106"/>
                  </a:cxn>
                  <a:cxn ang="0">
                    <a:pos x="34" y="102"/>
                  </a:cxn>
                  <a:cxn ang="0">
                    <a:pos x="46" y="99"/>
                  </a:cxn>
                  <a:cxn ang="0">
                    <a:pos x="44" y="33"/>
                  </a:cxn>
                  <a:cxn ang="0">
                    <a:pos x="32" y="36"/>
                  </a:cxn>
                  <a:cxn ang="0">
                    <a:pos x="19" y="39"/>
                  </a:cxn>
                  <a:cxn ang="0">
                    <a:pos x="6" y="43"/>
                  </a:cxn>
                  <a:cxn ang="0">
                    <a:pos x="3" y="13"/>
                  </a:cxn>
                  <a:cxn ang="0">
                    <a:pos x="13" y="10"/>
                  </a:cxn>
                  <a:cxn ang="0">
                    <a:pos x="23" y="7"/>
                  </a:cxn>
                  <a:cxn ang="0">
                    <a:pos x="33" y="5"/>
                  </a:cxn>
                  <a:cxn ang="0">
                    <a:pos x="43" y="3"/>
                  </a:cxn>
                  <a:cxn ang="0">
                    <a:pos x="53" y="2"/>
                  </a:cxn>
                  <a:cxn ang="0">
                    <a:pos x="62" y="1"/>
                  </a:cxn>
                  <a:cxn ang="0">
                    <a:pos x="72" y="0"/>
                  </a:cxn>
                  <a:cxn ang="0">
                    <a:pos x="82" y="0"/>
                  </a:cxn>
                  <a:cxn ang="0">
                    <a:pos x="92" y="1"/>
                  </a:cxn>
                  <a:cxn ang="0">
                    <a:pos x="102" y="2"/>
                  </a:cxn>
                  <a:cxn ang="0">
                    <a:pos x="112" y="3"/>
                  </a:cxn>
                  <a:cxn ang="0">
                    <a:pos x="122" y="6"/>
                  </a:cxn>
                  <a:cxn ang="0">
                    <a:pos x="131" y="8"/>
                  </a:cxn>
                  <a:cxn ang="0">
                    <a:pos x="140" y="12"/>
                  </a:cxn>
                  <a:cxn ang="0">
                    <a:pos x="149" y="16"/>
                  </a:cxn>
                </a:cxnLst>
                <a:rect l="0" t="0" r="r" b="b"/>
                <a:pathLst>
                  <a:path w="157" h="244">
                    <a:moveTo>
                      <a:pt x="156" y="19"/>
                    </a:moveTo>
                    <a:lnTo>
                      <a:pt x="156" y="243"/>
                    </a:lnTo>
                    <a:lnTo>
                      <a:pt x="154" y="242"/>
                    </a:lnTo>
                    <a:lnTo>
                      <a:pt x="152" y="241"/>
                    </a:lnTo>
                    <a:lnTo>
                      <a:pt x="150" y="240"/>
                    </a:lnTo>
                    <a:lnTo>
                      <a:pt x="148" y="238"/>
                    </a:lnTo>
                    <a:lnTo>
                      <a:pt x="146" y="238"/>
                    </a:lnTo>
                    <a:lnTo>
                      <a:pt x="144" y="237"/>
                    </a:lnTo>
                    <a:lnTo>
                      <a:pt x="142" y="236"/>
                    </a:lnTo>
                    <a:lnTo>
                      <a:pt x="140" y="235"/>
                    </a:lnTo>
                    <a:lnTo>
                      <a:pt x="138" y="234"/>
                    </a:lnTo>
                    <a:lnTo>
                      <a:pt x="136" y="233"/>
                    </a:lnTo>
                    <a:lnTo>
                      <a:pt x="134" y="232"/>
                    </a:lnTo>
                    <a:lnTo>
                      <a:pt x="132" y="232"/>
                    </a:lnTo>
                    <a:lnTo>
                      <a:pt x="129" y="231"/>
                    </a:lnTo>
                    <a:lnTo>
                      <a:pt x="127" y="230"/>
                    </a:lnTo>
                    <a:lnTo>
                      <a:pt x="125" y="230"/>
                    </a:lnTo>
                    <a:lnTo>
                      <a:pt x="123" y="229"/>
                    </a:lnTo>
                    <a:lnTo>
                      <a:pt x="120" y="229"/>
                    </a:lnTo>
                    <a:lnTo>
                      <a:pt x="118" y="228"/>
                    </a:lnTo>
                    <a:lnTo>
                      <a:pt x="116" y="227"/>
                    </a:lnTo>
                    <a:lnTo>
                      <a:pt x="113" y="227"/>
                    </a:lnTo>
                    <a:lnTo>
                      <a:pt x="111" y="227"/>
                    </a:lnTo>
                    <a:lnTo>
                      <a:pt x="108" y="226"/>
                    </a:lnTo>
                    <a:lnTo>
                      <a:pt x="106" y="226"/>
                    </a:lnTo>
                    <a:lnTo>
                      <a:pt x="103" y="226"/>
                    </a:lnTo>
                    <a:lnTo>
                      <a:pt x="101" y="225"/>
                    </a:lnTo>
                    <a:lnTo>
                      <a:pt x="98" y="225"/>
                    </a:lnTo>
                    <a:lnTo>
                      <a:pt x="96" y="225"/>
                    </a:lnTo>
                    <a:lnTo>
                      <a:pt x="93" y="225"/>
                    </a:lnTo>
                    <a:lnTo>
                      <a:pt x="90" y="225"/>
                    </a:lnTo>
                    <a:lnTo>
                      <a:pt x="88" y="225"/>
                    </a:lnTo>
                    <a:lnTo>
                      <a:pt x="85" y="224"/>
                    </a:lnTo>
                    <a:lnTo>
                      <a:pt x="82" y="224"/>
                    </a:lnTo>
                    <a:lnTo>
                      <a:pt x="80" y="224"/>
                    </a:lnTo>
                    <a:lnTo>
                      <a:pt x="78" y="224"/>
                    </a:lnTo>
                    <a:lnTo>
                      <a:pt x="75" y="225"/>
                    </a:lnTo>
                    <a:lnTo>
                      <a:pt x="73" y="225"/>
                    </a:lnTo>
                    <a:lnTo>
                      <a:pt x="70" y="225"/>
                    </a:lnTo>
                    <a:lnTo>
                      <a:pt x="68" y="225"/>
                    </a:lnTo>
                    <a:lnTo>
                      <a:pt x="66" y="225"/>
                    </a:lnTo>
                    <a:lnTo>
                      <a:pt x="63" y="225"/>
                    </a:lnTo>
                    <a:lnTo>
                      <a:pt x="61" y="226"/>
                    </a:lnTo>
                    <a:lnTo>
                      <a:pt x="58" y="226"/>
                    </a:lnTo>
                    <a:lnTo>
                      <a:pt x="56" y="226"/>
                    </a:lnTo>
                    <a:lnTo>
                      <a:pt x="53" y="226"/>
                    </a:lnTo>
                    <a:lnTo>
                      <a:pt x="51" y="227"/>
                    </a:lnTo>
                    <a:lnTo>
                      <a:pt x="48" y="227"/>
                    </a:lnTo>
                    <a:lnTo>
                      <a:pt x="46" y="227"/>
                    </a:lnTo>
                    <a:lnTo>
                      <a:pt x="43" y="228"/>
                    </a:lnTo>
                    <a:lnTo>
                      <a:pt x="41" y="228"/>
                    </a:lnTo>
                    <a:lnTo>
                      <a:pt x="38" y="229"/>
                    </a:lnTo>
                    <a:lnTo>
                      <a:pt x="35" y="229"/>
                    </a:lnTo>
                    <a:lnTo>
                      <a:pt x="33" y="229"/>
                    </a:lnTo>
                    <a:lnTo>
                      <a:pt x="30" y="230"/>
                    </a:lnTo>
                    <a:lnTo>
                      <a:pt x="27" y="230"/>
                    </a:lnTo>
                    <a:lnTo>
                      <a:pt x="25" y="231"/>
                    </a:lnTo>
                    <a:lnTo>
                      <a:pt x="22" y="232"/>
                    </a:lnTo>
                    <a:lnTo>
                      <a:pt x="19" y="232"/>
                    </a:lnTo>
                    <a:lnTo>
                      <a:pt x="17" y="233"/>
                    </a:lnTo>
                    <a:lnTo>
                      <a:pt x="14" y="234"/>
                    </a:lnTo>
                    <a:lnTo>
                      <a:pt x="11" y="234"/>
                    </a:lnTo>
                    <a:lnTo>
                      <a:pt x="8" y="235"/>
                    </a:lnTo>
                    <a:lnTo>
                      <a:pt x="6" y="236"/>
                    </a:lnTo>
                    <a:lnTo>
                      <a:pt x="3" y="237"/>
                    </a:lnTo>
                    <a:lnTo>
                      <a:pt x="0" y="237"/>
                    </a:lnTo>
                    <a:lnTo>
                      <a:pt x="0" y="205"/>
                    </a:lnTo>
                    <a:lnTo>
                      <a:pt x="3" y="204"/>
                    </a:lnTo>
                    <a:lnTo>
                      <a:pt x="6" y="203"/>
                    </a:lnTo>
                    <a:lnTo>
                      <a:pt x="9" y="202"/>
                    </a:lnTo>
                    <a:lnTo>
                      <a:pt x="12" y="201"/>
                    </a:lnTo>
                    <a:lnTo>
                      <a:pt x="15" y="200"/>
                    </a:lnTo>
                    <a:lnTo>
                      <a:pt x="18" y="199"/>
                    </a:lnTo>
                    <a:lnTo>
                      <a:pt x="21" y="198"/>
                    </a:lnTo>
                    <a:lnTo>
                      <a:pt x="24" y="198"/>
                    </a:lnTo>
                    <a:lnTo>
                      <a:pt x="27" y="197"/>
                    </a:lnTo>
                    <a:lnTo>
                      <a:pt x="30" y="196"/>
                    </a:lnTo>
                    <a:lnTo>
                      <a:pt x="33" y="195"/>
                    </a:lnTo>
                    <a:lnTo>
                      <a:pt x="37" y="195"/>
                    </a:lnTo>
                    <a:lnTo>
                      <a:pt x="40" y="194"/>
                    </a:lnTo>
                    <a:lnTo>
                      <a:pt x="43" y="193"/>
                    </a:lnTo>
                    <a:lnTo>
                      <a:pt x="46" y="193"/>
                    </a:lnTo>
                    <a:lnTo>
                      <a:pt x="50" y="192"/>
                    </a:lnTo>
                    <a:lnTo>
                      <a:pt x="50" y="120"/>
                    </a:lnTo>
                    <a:lnTo>
                      <a:pt x="47" y="121"/>
                    </a:lnTo>
                    <a:lnTo>
                      <a:pt x="44" y="121"/>
                    </a:lnTo>
                    <a:lnTo>
                      <a:pt x="41" y="122"/>
                    </a:lnTo>
                    <a:lnTo>
                      <a:pt x="38" y="122"/>
                    </a:lnTo>
                    <a:lnTo>
                      <a:pt x="35" y="123"/>
                    </a:lnTo>
                    <a:lnTo>
                      <a:pt x="32" y="124"/>
                    </a:lnTo>
                    <a:lnTo>
                      <a:pt x="29" y="125"/>
                    </a:lnTo>
                    <a:lnTo>
                      <a:pt x="26" y="126"/>
                    </a:lnTo>
                    <a:lnTo>
                      <a:pt x="23" y="127"/>
                    </a:lnTo>
                    <a:lnTo>
                      <a:pt x="20" y="128"/>
                    </a:lnTo>
                    <a:lnTo>
                      <a:pt x="17" y="129"/>
                    </a:lnTo>
                    <a:lnTo>
                      <a:pt x="13" y="130"/>
                    </a:lnTo>
                    <a:lnTo>
                      <a:pt x="10" y="132"/>
                    </a:lnTo>
                    <a:lnTo>
                      <a:pt x="7" y="133"/>
                    </a:lnTo>
                    <a:lnTo>
                      <a:pt x="3" y="135"/>
                    </a:lnTo>
                    <a:lnTo>
                      <a:pt x="0" y="136"/>
                    </a:lnTo>
                    <a:lnTo>
                      <a:pt x="0" y="114"/>
                    </a:lnTo>
                    <a:lnTo>
                      <a:pt x="3" y="113"/>
                    </a:lnTo>
                    <a:lnTo>
                      <a:pt x="6" y="111"/>
                    </a:lnTo>
                    <a:lnTo>
                      <a:pt x="9" y="110"/>
                    </a:lnTo>
                    <a:lnTo>
                      <a:pt x="12" y="109"/>
                    </a:lnTo>
                    <a:lnTo>
                      <a:pt x="15" y="108"/>
                    </a:lnTo>
                    <a:lnTo>
                      <a:pt x="18" y="107"/>
                    </a:lnTo>
                    <a:lnTo>
                      <a:pt x="21" y="106"/>
                    </a:lnTo>
                    <a:lnTo>
                      <a:pt x="24" y="105"/>
                    </a:lnTo>
                    <a:lnTo>
                      <a:pt x="27" y="104"/>
                    </a:lnTo>
                    <a:lnTo>
                      <a:pt x="30" y="103"/>
                    </a:lnTo>
                    <a:lnTo>
                      <a:pt x="34" y="102"/>
                    </a:lnTo>
                    <a:lnTo>
                      <a:pt x="37" y="101"/>
                    </a:lnTo>
                    <a:lnTo>
                      <a:pt x="40" y="101"/>
                    </a:lnTo>
                    <a:lnTo>
                      <a:pt x="43" y="100"/>
                    </a:lnTo>
                    <a:lnTo>
                      <a:pt x="46" y="99"/>
                    </a:lnTo>
                    <a:lnTo>
                      <a:pt x="50" y="99"/>
                    </a:lnTo>
                    <a:lnTo>
                      <a:pt x="50" y="32"/>
                    </a:lnTo>
                    <a:lnTo>
                      <a:pt x="47" y="32"/>
                    </a:lnTo>
                    <a:lnTo>
                      <a:pt x="44" y="33"/>
                    </a:lnTo>
                    <a:lnTo>
                      <a:pt x="41" y="34"/>
                    </a:lnTo>
                    <a:lnTo>
                      <a:pt x="38" y="34"/>
                    </a:lnTo>
                    <a:lnTo>
                      <a:pt x="35" y="35"/>
                    </a:lnTo>
                    <a:lnTo>
                      <a:pt x="32" y="36"/>
                    </a:lnTo>
                    <a:lnTo>
                      <a:pt x="29" y="37"/>
                    </a:lnTo>
                    <a:lnTo>
                      <a:pt x="26" y="38"/>
                    </a:lnTo>
                    <a:lnTo>
                      <a:pt x="22" y="38"/>
                    </a:lnTo>
                    <a:lnTo>
                      <a:pt x="19" y="39"/>
                    </a:lnTo>
                    <a:lnTo>
                      <a:pt x="16" y="40"/>
                    </a:lnTo>
                    <a:lnTo>
                      <a:pt x="13" y="41"/>
                    </a:lnTo>
                    <a:lnTo>
                      <a:pt x="10" y="42"/>
                    </a:lnTo>
                    <a:lnTo>
                      <a:pt x="6" y="43"/>
                    </a:lnTo>
                    <a:lnTo>
                      <a:pt x="3" y="45"/>
                    </a:lnTo>
                    <a:lnTo>
                      <a:pt x="0" y="46"/>
                    </a:lnTo>
                    <a:lnTo>
                      <a:pt x="0" y="14"/>
                    </a:lnTo>
                    <a:lnTo>
                      <a:pt x="3" y="13"/>
                    </a:lnTo>
                    <a:lnTo>
                      <a:pt x="5" y="12"/>
                    </a:lnTo>
                    <a:lnTo>
                      <a:pt x="8" y="11"/>
                    </a:lnTo>
                    <a:lnTo>
                      <a:pt x="10" y="10"/>
                    </a:lnTo>
                    <a:lnTo>
                      <a:pt x="13" y="10"/>
                    </a:lnTo>
                    <a:lnTo>
                      <a:pt x="15" y="9"/>
                    </a:lnTo>
                    <a:lnTo>
                      <a:pt x="18" y="8"/>
                    </a:lnTo>
                    <a:lnTo>
                      <a:pt x="20" y="8"/>
                    </a:lnTo>
                    <a:lnTo>
                      <a:pt x="23" y="7"/>
                    </a:lnTo>
                    <a:lnTo>
                      <a:pt x="25" y="6"/>
                    </a:lnTo>
                    <a:lnTo>
                      <a:pt x="28" y="6"/>
                    </a:lnTo>
                    <a:lnTo>
                      <a:pt x="30" y="5"/>
                    </a:lnTo>
                    <a:lnTo>
                      <a:pt x="33" y="5"/>
                    </a:lnTo>
                    <a:lnTo>
                      <a:pt x="35" y="4"/>
                    </a:lnTo>
                    <a:lnTo>
                      <a:pt x="38" y="4"/>
                    </a:lnTo>
                    <a:lnTo>
                      <a:pt x="40" y="4"/>
                    </a:lnTo>
                    <a:lnTo>
                      <a:pt x="43" y="3"/>
                    </a:lnTo>
                    <a:lnTo>
                      <a:pt x="45" y="3"/>
                    </a:lnTo>
                    <a:lnTo>
                      <a:pt x="48" y="2"/>
                    </a:lnTo>
                    <a:lnTo>
                      <a:pt x="50" y="2"/>
                    </a:lnTo>
                    <a:lnTo>
                      <a:pt x="53" y="2"/>
                    </a:lnTo>
                    <a:lnTo>
                      <a:pt x="55" y="1"/>
                    </a:lnTo>
                    <a:lnTo>
                      <a:pt x="57" y="1"/>
                    </a:lnTo>
                    <a:lnTo>
                      <a:pt x="60" y="1"/>
                    </a:lnTo>
                    <a:lnTo>
                      <a:pt x="62" y="1"/>
                    </a:lnTo>
                    <a:lnTo>
                      <a:pt x="65" y="1"/>
                    </a:lnTo>
                    <a:lnTo>
                      <a:pt x="67" y="0"/>
                    </a:lnTo>
                    <a:lnTo>
                      <a:pt x="69" y="0"/>
                    </a:lnTo>
                    <a:lnTo>
                      <a:pt x="72" y="0"/>
                    </a:lnTo>
                    <a:lnTo>
                      <a:pt x="74" y="0"/>
                    </a:lnTo>
                    <a:lnTo>
                      <a:pt x="77" y="0"/>
                    </a:lnTo>
                    <a:lnTo>
                      <a:pt x="79" y="0"/>
                    </a:lnTo>
                    <a:lnTo>
                      <a:pt x="82" y="0"/>
                    </a:lnTo>
                    <a:lnTo>
                      <a:pt x="84" y="0"/>
                    </a:lnTo>
                    <a:lnTo>
                      <a:pt x="87" y="0"/>
                    </a:lnTo>
                    <a:lnTo>
                      <a:pt x="89" y="0"/>
                    </a:lnTo>
                    <a:lnTo>
                      <a:pt x="92" y="1"/>
                    </a:lnTo>
                    <a:lnTo>
                      <a:pt x="94" y="1"/>
                    </a:lnTo>
                    <a:lnTo>
                      <a:pt x="97" y="1"/>
                    </a:lnTo>
                    <a:lnTo>
                      <a:pt x="99" y="1"/>
                    </a:lnTo>
                    <a:lnTo>
                      <a:pt x="102" y="2"/>
                    </a:lnTo>
                    <a:lnTo>
                      <a:pt x="104" y="2"/>
                    </a:lnTo>
                    <a:lnTo>
                      <a:pt x="107" y="2"/>
                    </a:lnTo>
                    <a:lnTo>
                      <a:pt x="109" y="3"/>
                    </a:lnTo>
                    <a:lnTo>
                      <a:pt x="112" y="3"/>
                    </a:lnTo>
                    <a:lnTo>
                      <a:pt x="114" y="4"/>
                    </a:lnTo>
                    <a:lnTo>
                      <a:pt x="117" y="4"/>
                    </a:lnTo>
                    <a:lnTo>
                      <a:pt x="119" y="5"/>
                    </a:lnTo>
                    <a:lnTo>
                      <a:pt x="122" y="6"/>
                    </a:lnTo>
                    <a:lnTo>
                      <a:pt x="124" y="6"/>
                    </a:lnTo>
                    <a:lnTo>
                      <a:pt x="126" y="7"/>
                    </a:lnTo>
                    <a:lnTo>
                      <a:pt x="129" y="8"/>
                    </a:lnTo>
                    <a:lnTo>
                      <a:pt x="131" y="8"/>
                    </a:lnTo>
                    <a:lnTo>
                      <a:pt x="133" y="9"/>
                    </a:lnTo>
                    <a:lnTo>
                      <a:pt x="136" y="10"/>
                    </a:lnTo>
                    <a:lnTo>
                      <a:pt x="138" y="11"/>
                    </a:lnTo>
                    <a:lnTo>
                      <a:pt x="140" y="12"/>
                    </a:lnTo>
                    <a:lnTo>
                      <a:pt x="143" y="13"/>
                    </a:lnTo>
                    <a:lnTo>
                      <a:pt x="145" y="14"/>
                    </a:lnTo>
                    <a:lnTo>
                      <a:pt x="147" y="15"/>
                    </a:lnTo>
                    <a:lnTo>
                      <a:pt x="149" y="16"/>
                    </a:lnTo>
                    <a:lnTo>
                      <a:pt x="151" y="17"/>
                    </a:lnTo>
                    <a:lnTo>
                      <a:pt x="154" y="18"/>
                    </a:lnTo>
                    <a:lnTo>
                      <a:pt x="156" y="19"/>
                    </a:lnTo>
                  </a:path>
                </a:pathLst>
              </a:custGeom>
              <a:solidFill>
                <a:schemeClr val="tx1"/>
              </a:solidFill>
              <a:ln w="12700" cap="rnd" cmpd="sng">
                <a:noFill/>
                <a:prstDash val="solid"/>
                <a:round/>
                <a:headEnd type="none" w="med" len="med"/>
                <a:tailEnd type="none" w="med" len="med"/>
              </a:ln>
              <a:effectLst/>
            </p:spPr>
            <p:txBody>
              <a:bodyPr/>
              <a:lstStyle/>
              <a:p>
                <a:endParaRPr lang="fr-FR"/>
              </a:p>
            </p:txBody>
          </p:sp>
          <p:sp>
            <p:nvSpPr>
              <p:cNvPr id="129114" name="Freeform 90"/>
              <p:cNvSpPr>
                <a:spLocks/>
              </p:cNvSpPr>
              <p:nvPr/>
            </p:nvSpPr>
            <p:spPr bwMode="auto">
              <a:xfrm>
                <a:off x="1027" y="3282"/>
                <a:ext cx="54" cy="75"/>
              </a:xfrm>
              <a:custGeom>
                <a:avLst/>
                <a:gdLst/>
                <a:ahLst/>
                <a:cxnLst>
                  <a:cxn ang="0">
                    <a:pos x="53" y="10"/>
                  </a:cxn>
                  <a:cxn ang="0">
                    <a:pos x="53" y="10"/>
                  </a:cxn>
                  <a:cxn ang="0">
                    <a:pos x="51" y="9"/>
                  </a:cxn>
                  <a:cxn ang="0">
                    <a:pos x="48" y="7"/>
                  </a:cxn>
                  <a:cxn ang="0">
                    <a:pos x="45" y="7"/>
                  </a:cxn>
                  <a:cxn ang="0">
                    <a:pos x="43" y="6"/>
                  </a:cxn>
                  <a:cxn ang="0">
                    <a:pos x="40" y="5"/>
                  </a:cxn>
                  <a:cxn ang="0">
                    <a:pos x="37" y="4"/>
                  </a:cxn>
                  <a:cxn ang="0">
                    <a:pos x="34" y="3"/>
                  </a:cxn>
                  <a:cxn ang="0">
                    <a:pos x="32" y="3"/>
                  </a:cxn>
                  <a:cxn ang="0">
                    <a:pos x="29" y="2"/>
                  </a:cxn>
                  <a:cxn ang="0">
                    <a:pos x="26" y="1"/>
                  </a:cxn>
                  <a:cxn ang="0">
                    <a:pos x="22" y="1"/>
                  </a:cxn>
                  <a:cxn ang="0">
                    <a:pos x="19" y="1"/>
                  </a:cxn>
                  <a:cxn ang="0">
                    <a:pos x="16" y="0"/>
                  </a:cxn>
                  <a:cxn ang="0">
                    <a:pos x="13" y="0"/>
                  </a:cxn>
                  <a:cxn ang="0">
                    <a:pos x="9" y="0"/>
                  </a:cxn>
                  <a:cxn ang="0">
                    <a:pos x="6" y="0"/>
                  </a:cxn>
                  <a:cxn ang="0">
                    <a:pos x="5" y="0"/>
                  </a:cxn>
                  <a:cxn ang="0">
                    <a:pos x="4" y="0"/>
                  </a:cxn>
                  <a:cxn ang="0">
                    <a:pos x="4" y="0"/>
                  </a:cxn>
                  <a:cxn ang="0">
                    <a:pos x="3" y="0"/>
                  </a:cxn>
                  <a:cxn ang="0">
                    <a:pos x="2" y="0"/>
                  </a:cxn>
                  <a:cxn ang="0">
                    <a:pos x="2" y="0"/>
                  </a:cxn>
                  <a:cxn ang="0">
                    <a:pos x="1" y="0"/>
                  </a:cxn>
                  <a:cxn ang="0">
                    <a:pos x="0" y="0"/>
                  </a:cxn>
                  <a:cxn ang="0">
                    <a:pos x="0" y="67"/>
                  </a:cxn>
                  <a:cxn ang="0">
                    <a:pos x="6" y="67"/>
                  </a:cxn>
                  <a:cxn ang="0">
                    <a:pos x="9" y="67"/>
                  </a:cxn>
                  <a:cxn ang="0">
                    <a:pos x="12" y="67"/>
                  </a:cxn>
                  <a:cxn ang="0">
                    <a:pos x="15" y="67"/>
                  </a:cxn>
                  <a:cxn ang="0">
                    <a:pos x="18" y="68"/>
                  </a:cxn>
                  <a:cxn ang="0">
                    <a:pos x="21" y="68"/>
                  </a:cxn>
                  <a:cxn ang="0">
                    <a:pos x="24" y="68"/>
                  </a:cxn>
                  <a:cxn ang="0">
                    <a:pos x="27" y="68"/>
                  </a:cxn>
                  <a:cxn ang="0">
                    <a:pos x="30" y="69"/>
                  </a:cxn>
                  <a:cxn ang="0">
                    <a:pos x="33" y="69"/>
                  </a:cxn>
                  <a:cxn ang="0">
                    <a:pos x="36" y="70"/>
                  </a:cxn>
                  <a:cxn ang="0">
                    <a:pos x="39" y="70"/>
                  </a:cxn>
                  <a:cxn ang="0">
                    <a:pos x="42" y="71"/>
                  </a:cxn>
                  <a:cxn ang="0">
                    <a:pos x="44" y="72"/>
                  </a:cxn>
                  <a:cxn ang="0">
                    <a:pos x="47" y="72"/>
                  </a:cxn>
                  <a:cxn ang="0">
                    <a:pos x="50" y="73"/>
                  </a:cxn>
                  <a:cxn ang="0">
                    <a:pos x="53" y="74"/>
                  </a:cxn>
                  <a:cxn ang="0">
                    <a:pos x="53" y="10"/>
                  </a:cxn>
                </a:cxnLst>
                <a:rect l="0" t="0" r="r" b="b"/>
                <a:pathLst>
                  <a:path w="54" h="75">
                    <a:moveTo>
                      <a:pt x="53" y="10"/>
                    </a:moveTo>
                    <a:lnTo>
                      <a:pt x="53" y="10"/>
                    </a:lnTo>
                    <a:lnTo>
                      <a:pt x="51" y="9"/>
                    </a:lnTo>
                    <a:lnTo>
                      <a:pt x="48" y="7"/>
                    </a:lnTo>
                    <a:lnTo>
                      <a:pt x="45" y="7"/>
                    </a:lnTo>
                    <a:lnTo>
                      <a:pt x="43" y="6"/>
                    </a:lnTo>
                    <a:lnTo>
                      <a:pt x="40" y="5"/>
                    </a:lnTo>
                    <a:lnTo>
                      <a:pt x="37" y="4"/>
                    </a:lnTo>
                    <a:lnTo>
                      <a:pt x="34" y="3"/>
                    </a:lnTo>
                    <a:lnTo>
                      <a:pt x="32" y="3"/>
                    </a:lnTo>
                    <a:lnTo>
                      <a:pt x="29" y="2"/>
                    </a:lnTo>
                    <a:lnTo>
                      <a:pt x="26" y="1"/>
                    </a:lnTo>
                    <a:lnTo>
                      <a:pt x="22" y="1"/>
                    </a:lnTo>
                    <a:lnTo>
                      <a:pt x="19" y="1"/>
                    </a:lnTo>
                    <a:lnTo>
                      <a:pt x="16" y="0"/>
                    </a:lnTo>
                    <a:lnTo>
                      <a:pt x="13" y="0"/>
                    </a:lnTo>
                    <a:lnTo>
                      <a:pt x="9" y="0"/>
                    </a:lnTo>
                    <a:lnTo>
                      <a:pt x="6" y="0"/>
                    </a:lnTo>
                    <a:lnTo>
                      <a:pt x="5" y="0"/>
                    </a:lnTo>
                    <a:lnTo>
                      <a:pt x="4" y="0"/>
                    </a:lnTo>
                    <a:lnTo>
                      <a:pt x="4" y="0"/>
                    </a:lnTo>
                    <a:lnTo>
                      <a:pt x="3" y="0"/>
                    </a:lnTo>
                    <a:lnTo>
                      <a:pt x="2" y="0"/>
                    </a:lnTo>
                    <a:lnTo>
                      <a:pt x="2" y="0"/>
                    </a:lnTo>
                    <a:lnTo>
                      <a:pt x="1" y="0"/>
                    </a:lnTo>
                    <a:lnTo>
                      <a:pt x="0" y="0"/>
                    </a:lnTo>
                    <a:lnTo>
                      <a:pt x="0" y="67"/>
                    </a:lnTo>
                    <a:lnTo>
                      <a:pt x="6" y="67"/>
                    </a:lnTo>
                    <a:lnTo>
                      <a:pt x="9" y="67"/>
                    </a:lnTo>
                    <a:lnTo>
                      <a:pt x="12" y="67"/>
                    </a:lnTo>
                    <a:lnTo>
                      <a:pt x="15" y="67"/>
                    </a:lnTo>
                    <a:lnTo>
                      <a:pt x="18" y="68"/>
                    </a:lnTo>
                    <a:lnTo>
                      <a:pt x="21" y="68"/>
                    </a:lnTo>
                    <a:lnTo>
                      <a:pt x="24" y="68"/>
                    </a:lnTo>
                    <a:lnTo>
                      <a:pt x="27" y="68"/>
                    </a:lnTo>
                    <a:lnTo>
                      <a:pt x="30" y="69"/>
                    </a:lnTo>
                    <a:lnTo>
                      <a:pt x="33" y="69"/>
                    </a:lnTo>
                    <a:lnTo>
                      <a:pt x="36" y="70"/>
                    </a:lnTo>
                    <a:lnTo>
                      <a:pt x="39" y="70"/>
                    </a:lnTo>
                    <a:lnTo>
                      <a:pt x="42" y="71"/>
                    </a:lnTo>
                    <a:lnTo>
                      <a:pt x="44" y="72"/>
                    </a:lnTo>
                    <a:lnTo>
                      <a:pt x="47" y="72"/>
                    </a:lnTo>
                    <a:lnTo>
                      <a:pt x="50" y="73"/>
                    </a:lnTo>
                    <a:lnTo>
                      <a:pt x="53" y="74"/>
                    </a:lnTo>
                    <a:lnTo>
                      <a:pt x="53" y="10"/>
                    </a:lnTo>
                  </a:path>
                </a:pathLst>
              </a:custGeom>
              <a:solidFill>
                <a:srgbClr val="037C03"/>
              </a:solidFill>
              <a:ln w="12700" cap="rnd" cmpd="sng">
                <a:noFill/>
                <a:prstDash val="solid"/>
                <a:round/>
                <a:headEnd type="none" w="med" len="med"/>
                <a:tailEnd type="none" w="med" len="med"/>
              </a:ln>
              <a:effectLst/>
            </p:spPr>
            <p:txBody>
              <a:bodyPr/>
              <a:lstStyle/>
              <a:p>
                <a:endParaRPr lang="fr-FR"/>
              </a:p>
            </p:txBody>
          </p:sp>
          <p:sp>
            <p:nvSpPr>
              <p:cNvPr id="129115" name="Freeform 91"/>
              <p:cNvSpPr>
                <a:spLocks/>
              </p:cNvSpPr>
              <p:nvPr/>
            </p:nvSpPr>
            <p:spPr bwMode="auto">
              <a:xfrm>
                <a:off x="1026" y="3368"/>
                <a:ext cx="54" cy="80"/>
              </a:xfrm>
              <a:custGeom>
                <a:avLst/>
                <a:gdLst/>
                <a:ahLst/>
                <a:cxnLst>
                  <a:cxn ang="0">
                    <a:pos x="53" y="8"/>
                  </a:cxn>
                  <a:cxn ang="0">
                    <a:pos x="53" y="8"/>
                  </a:cxn>
                  <a:cxn ang="0">
                    <a:pos x="50" y="7"/>
                  </a:cxn>
                  <a:cxn ang="0">
                    <a:pos x="48" y="6"/>
                  </a:cxn>
                  <a:cxn ang="0">
                    <a:pos x="45" y="5"/>
                  </a:cxn>
                  <a:cxn ang="0">
                    <a:pos x="42" y="5"/>
                  </a:cxn>
                  <a:cxn ang="0">
                    <a:pos x="39" y="4"/>
                  </a:cxn>
                  <a:cxn ang="0">
                    <a:pos x="37" y="3"/>
                  </a:cxn>
                  <a:cxn ang="0">
                    <a:pos x="34" y="3"/>
                  </a:cxn>
                  <a:cxn ang="0">
                    <a:pos x="31" y="2"/>
                  </a:cxn>
                  <a:cxn ang="0">
                    <a:pos x="28" y="2"/>
                  </a:cxn>
                  <a:cxn ang="0">
                    <a:pos x="25" y="1"/>
                  </a:cxn>
                  <a:cxn ang="0">
                    <a:pos x="22" y="1"/>
                  </a:cxn>
                  <a:cxn ang="0">
                    <a:pos x="19" y="1"/>
                  </a:cxn>
                  <a:cxn ang="0">
                    <a:pos x="16" y="0"/>
                  </a:cxn>
                  <a:cxn ang="0">
                    <a:pos x="13" y="0"/>
                  </a:cxn>
                  <a:cxn ang="0">
                    <a:pos x="10" y="0"/>
                  </a:cxn>
                  <a:cxn ang="0">
                    <a:pos x="6" y="0"/>
                  </a:cxn>
                  <a:cxn ang="0">
                    <a:pos x="6" y="0"/>
                  </a:cxn>
                  <a:cxn ang="0">
                    <a:pos x="5" y="0"/>
                  </a:cxn>
                  <a:cxn ang="0">
                    <a:pos x="4" y="0"/>
                  </a:cxn>
                  <a:cxn ang="0">
                    <a:pos x="3" y="0"/>
                  </a:cxn>
                  <a:cxn ang="0">
                    <a:pos x="2" y="0"/>
                  </a:cxn>
                  <a:cxn ang="0">
                    <a:pos x="2" y="0"/>
                  </a:cxn>
                  <a:cxn ang="0">
                    <a:pos x="1" y="0"/>
                  </a:cxn>
                  <a:cxn ang="0">
                    <a:pos x="0" y="0"/>
                  </a:cxn>
                  <a:cxn ang="0">
                    <a:pos x="0" y="73"/>
                  </a:cxn>
                  <a:cxn ang="0">
                    <a:pos x="6" y="73"/>
                  </a:cxn>
                  <a:cxn ang="0">
                    <a:pos x="10" y="73"/>
                  </a:cxn>
                  <a:cxn ang="0">
                    <a:pos x="13" y="73"/>
                  </a:cxn>
                  <a:cxn ang="0">
                    <a:pos x="16" y="73"/>
                  </a:cxn>
                  <a:cxn ang="0">
                    <a:pos x="19" y="73"/>
                  </a:cxn>
                  <a:cxn ang="0">
                    <a:pos x="22" y="73"/>
                  </a:cxn>
                  <a:cxn ang="0">
                    <a:pos x="25" y="74"/>
                  </a:cxn>
                  <a:cxn ang="0">
                    <a:pos x="28" y="74"/>
                  </a:cxn>
                  <a:cxn ang="0">
                    <a:pos x="31" y="74"/>
                  </a:cxn>
                  <a:cxn ang="0">
                    <a:pos x="34" y="75"/>
                  </a:cxn>
                  <a:cxn ang="0">
                    <a:pos x="37" y="75"/>
                  </a:cxn>
                  <a:cxn ang="0">
                    <a:pos x="40" y="76"/>
                  </a:cxn>
                  <a:cxn ang="0">
                    <a:pos x="42" y="76"/>
                  </a:cxn>
                  <a:cxn ang="0">
                    <a:pos x="45" y="77"/>
                  </a:cxn>
                  <a:cxn ang="0">
                    <a:pos x="48" y="78"/>
                  </a:cxn>
                  <a:cxn ang="0">
                    <a:pos x="50" y="78"/>
                  </a:cxn>
                  <a:cxn ang="0">
                    <a:pos x="53" y="79"/>
                  </a:cxn>
                  <a:cxn ang="0">
                    <a:pos x="53" y="8"/>
                  </a:cxn>
                </a:cxnLst>
                <a:rect l="0" t="0" r="r" b="b"/>
                <a:pathLst>
                  <a:path w="54" h="80">
                    <a:moveTo>
                      <a:pt x="53" y="8"/>
                    </a:moveTo>
                    <a:lnTo>
                      <a:pt x="53" y="8"/>
                    </a:lnTo>
                    <a:lnTo>
                      <a:pt x="50" y="7"/>
                    </a:lnTo>
                    <a:lnTo>
                      <a:pt x="48" y="6"/>
                    </a:lnTo>
                    <a:lnTo>
                      <a:pt x="45" y="5"/>
                    </a:lnTo>
                    <a:lnTo>
                      <a:pt x="42" y="5"/>
                    </a:lnTo>
                    <a:lnTo>
                      <a:pt x="39" y="4"/>
                    </a:lnTo>
                    <a:lnTo>
                      <a:pt x="37" y="3"/>
                    </a:lnTo>
                    <a:lnTo>
                      <a:pt x="34" y="3"/>
                    </a:lnTo>
                    <a:lnTo>
                      <a:pt x="31" y="2"/>
                    </a:lnTo>
                    <a:lnTo>
                      <a:pt x="28" y="2"/>
                    </a:lnTo>
                    <a:lnTo>
                      <a:pt x="25" y="1"/>
                    </a:lnTo>
                    <a:lnTo>
                      <a:pt x="22" y="1"/>
                    </a:lnTo>
                    <a:lnTo>
                      <a:pt x="19" y="1"/>
                    </a:lnTo>
                    <a:lnTo>
                      <a:pt x="16" y="0"/>
                    </a:lnTo>
                    <a:lnTo>
                      <a:pt x="13" y="0"/>
                    </a:lnTo>
                    <a:lnTo>
                      <a:pt x="10" y="0"/>
                    </a:lnTo>
                    <a:lnTo>
                      <a:pt x="6" y="0"/>
                    </a:lnTo>
                    <a:lnTo>
                      <a:pt x="6" y="0"/>
                    </a:lnTo>
                    <a:lnTo>
                      <a:pt x="5" y="0"/>
                    </a:lnTo>
                    <a:lnTo>
                      <a:pt x="4" y="0"/>
                    </a:lnTo>
                    <a:lnTo>
                      <a:pt x="3" y="0"/>
                    </a:lnTo>
                    <a:lnTo>
                      <a:pt x="2" y="0"/>
                    </a:lnTo>
                    <a:lnTo>
                      <a:pt x="2" y="0"/>
                    </a:lnTo>
                    <a:lnTo>
                      <a:pt x="1" y="0"/>
                    </a:lnTo>
                    <a:lnTo>
                      <a:pt x="0" y="0"/>
                    </a:lnTo>
                    <a:lnTo>
                      <a:pt x="0" y="73"/>
                    </a:lnTo>
                    <a:lnTo>
                      <a:pt x="6" y="73"/>
                    </a:lnTo>
                    <a:lnTo>
                      <a:pt x="10" y="73"/>
                    </a:lnTo>
                    <a:lnTo>
                      <a:pt x="13" y="73"/>
                    </a:lnTo>
                    <a:lnTo>
                      <a:pt x="16" y="73"/>
                    </a:lnTo>
                    <a:lnTo>
                      <a:pt x="19" y="73"/>
                    </a:lnTo>
                    <a:lnTo>
                      <a:pt x="22" y="73"/>
                    </a:lnTo>
                    <a:lnTo>
                      <a:pt x="25" y="74"/>
                    </a:lnTo>
                    <a:lnTo>
                      <a:pt x="28" y="74"/>
                    </a:lnTo>
                    <a:lnTo>
                      <a:pt x="31" y="74"/>
                    </a:lnTo>
                    <a:lnTo>
                      <a:pt x="34" y="75"/>
                    </a:lnTo>
                    <a:lnTo>
                      <a:pt x="37" y="75"/>
                    </a:lnTo>
                    <a:lnTo>
                      <a:pt x="40" y="76"/>
                    </a:lnTo>
                    <a:lnTo>
                      <a:pt x="42" y="76"/>
                    </a:lnTo>
                    <a:lnTo>
                      <a:pt x="45" y="77"/>
                    </a:lnTo>
                    <a:lnTo>
                      <a:pt x="48" y="78"/>
                    </a:lnTo>
                    <a:lnTo>
                      <a:pt x="50" y="78"/>
                    </a:lnTo>
                    <a:lnTo>
                      <a:pt x="53" y="79"/>
                    </a:lnTo>
                    <a:lnTo>
                      <a:pt x="53" y="8"/>
                    </a:lnTo>
                  </a:path>
                </a:pathLst>
              </a:custGeom>
              <a:solidFill>
                <a:srgbClr val="FAFD00"/>
              </a:solidFill>
              <a:ln w="12700" cap="rnd" cmpd="sng">
                <a:noFill/>
                <a:prstDash val="solid"/>
                <a:round/>
                <a:headEnd type="none" w="med" len="med"/>
                <a:tailEnd type="none" w="med" len="med"/>
              </a:ln>
              <a:effectLst/>
            </p:spPr>
            <p:txBody>
              <a:bodyPr/>
              <a:lstStyle/>
              <a:p>
                <a:endParaRPr lang="fr-FR"/>
              </a:p>
            </p:txBody>
          </p:sp>
        </p:grpSp>
        <p:grpSp>
          <p:nvGrpSpPr>
            <p:cNvPr id="129116" name="Group 92"/>
            <p:cNvGrpSpPr>
              <a:grpSpLocks/>
            </p:cNvGrpSpPr>
            <p:nvPr/>
          </p:nvGrpSpPr>
          <p:grpSpPr bwMode="auto">
            <a:xfrm>
              <a:off x="1862" y="2321"/>
              <a:ext cx="1260" cy="1357"/>
              <a:chOff x="2760" y="481"/>
              <a:chExt cx="1040" cy="1120"/>
            </a:xfrm>
          </p:grpSpPr>
          <p:grpSp>
            <p:nvGrpSpPr>
              <p:cNvPr id="129117" name="Group 93"/>
              <p:cNvGrpSpPr>
                <a:grpSpLocks/>
              </p:cNvGrpSpPr>
              <p:nvPr/>
            </p:nvGrpSpPr>
            <p:grpSpPr bwMode="auto">
              <a:xfrm>
                <a:off x="2760" y="481"/>
                <a:ext cx="626" cy="1012"/>
                <a:chOff x="2760" y="481"/>
                <a:chExt cx="626" cy="1012"/>
              </a:xfrm>
            </p:grpSpPr>
            <p:sp>
              <p:nvSpPr>
                <p:cNvPr id="129118" name="Freeform 94"/>
                <p:cNvSpPr>
                  <a:spLocks/>
                </p:cNvSpPr>
                <p:nvPr/>
              </p:nvSpPr>
              <p:spPr bwMode="auto">
                <a:xfrm>
                  <a:off x="2772" y="1234"/>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a:p>
              </p:txBody>
            </p:sp>
            <p:sp>
              <p:nvSpPr>
                <p:cNvPr id="129119" name="Freeform 95"/>
                <p:cNvSpPr>
                  <a:spLocks/>
                </p:cNvSpPr>
                <p:nvPr/>
              </p:nvSpPr>
              <p:spPr bwMode="auto">
                <a:xfrm>
                  <a:off x="2762" y="481"/>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129120" name="Freeform 96"/>
                <p:cNvSpPr>
                  <a:spLocks/>
                </p:cNvSpPr>
                <p:nvPr/>
              </p:nvSpPr>
              <p:spPr bwMode="auto">
                <a:xfrm>
                  <a:off x="3034" y="541"/>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29121" name="Freeform 97"/>
                <p:cNvSpPr>
                  <a:spLocks/>
                </p:cNvSpPr>
                <p:nvPr/>
              </p:nvSpPr>
              <p:spPr bwMode="auto">
                <a:xfrm>
                  <a:off x="2760" y="629"/>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a:p>
              </p:txBody>
            </p:sp>
            <p:sp>
              <p:nvSpPr>
                <p:cNvPr id="129122" name="Line 98"/>
                <p:cNvSpPr>
                  <a:spLocks noChangeShapeType="1"/>
                </p:cNvSpPr>
                <p:nvPr/>
              </p:nvSpPr>
              <p:spPr bwMode="auto">
                <a:xfrm>
                  <a:off x="2799" y="1331"/>
                  <a:ext cx="192" cy="51"/>
                </a:xfrm>
                <a:prstGeom prst="line">
                  <a:avLst/>
                </a:prstGeom>
                <a:noFill/>
                <a:ln w="6350">
                  <a:solidFill>
                    <a:srgbClr val="676767"/>
                  </a:solidFill>
                  <a:round/>
                  <a:headEnd/>
                  <a:tailEnd/>
                </a:ln>
                <a:effectLst/>
              </p:spPr>
              <p:txBody>
                <a:bodyPr wrap="none" anchor="ctr"/>
                <a:lstStyle/>
                <a:p>
                  <a:endParaRPr lang="fr-FR"/>
                </a:p>
              </p:txBody>
            </p:sp>
            <p:sp>
              <p:nvSpPr>
                <p:cNvPr id="129123" name="Oval 99"/>
                <p:cNvSpPr>
                  <a:spLocks noChangeArrowheads="1"/>
                </p:cNvSpPr>
                <p:nvPr/>
              </p:nvSpPr>
              <p:spPr bwMode="auto">
                <a:xfrm>
                  <a:off x="2792" y="670"/>
                  <a:ext cx="31" cy="17"/>
                </a:xfrm>
                <a:prstGeom prst="ellipse">
                  <a:avLst/>
                </a:prstGeom>
                <a:solidFill>
                  <a:srgbClr val="D60093"/>
                </a:solidFill>
                <a:ln w="12700">
                  <a:noFill/>
                  <a:round/>
                  <a:headEnd/>
                  <a:tailEnd/>
                </a:ln>
                <a:effectLst/>
              </p:spPr>
              <p:txBody>
                <a:bodyPr wrap="none" anchor="ctr"/>
                <a:lstStyle/>
                <a:p>
                  <a:endParaRPr lang="fr-FR"/>
                </a:p>
              </p:txBody>
            </p:sp>
            <p:sp>
              <p:nvSpPr>
                <p:cNvPr id="129124" name="Line 100"/>
                <p:cNvSpPr>
                  <a:spLocks noChangeShapeType="1"/>
                </p:cNvSpPr>
                <p:nvPr/>
              </p:nvSpPr>
              <p:spPr bwMode="auto">
                <a:xfrm>
                  <a:off x="2799" y="1293"/>
                  <a:ext cx="192" cy="51"/>
                </a:xfrm>
                <a:prstGeom prst="line">
                  <a:avLst/>
                </a:prstGeom>
                <a:noFill/>
                <a:ln w="6350">
                  <a:solidFill>
                    <a:srgbClr val="676767"/>
                  </a:solidFill>
                  <a:round/>
                  <a:headEnd/>
                  <a:tailEnd/>
                </a:ln>
                <a:effectLst/>
              </p:spPr>
              <p:txBody>
                <a:bodyPr wrap="none" anchor="ctr"/>
                <a:lstStyle/>
                <a:p>
                  <a:endParaRPr lang="fr-FR"/>
                </a:p>
              </p:txBody>
            </p:sp>
            <p:sp>
              <p:nvSpPr>
                <p:cNvPr id="129125" name="Line 101"/>
                <p:cNvSpPr>
                  <a:spLocks noChangeShapeType="1"/>
                </p:cNvSpPr>
                <p:nvPr/>
              </p:nvSpPr>
              <p:spPr bwMode="auto">
                <a:xfrm>
                  <a:off x="2799" y="1255"/>
                  <a:ext cx="192" cy="52"/>
                </a:xfrm>
                <a:prstGeom prst="line">
                  <a:avLst/>
                </a:prstGeom>
                <a:noFill/>
                <a:ln w="6350">
                  <a:solidFill>
                    <a:srgbClr val="676767"/>
                  </a:solidFill>
                  <a:round/>
                  <a:headEnd/>
                  <a:tailEnd/>
                </a:ln>
                <a:effectLst/>
              </p:spPr>
              <p:txBody>
                <a:bodyPr wrap="none" anchor="ctr"/>
                <a:lstStyle/>
                <a:p>
                  <a:endParaRPr lang="fr-FR"/>
                </a:p>
              </p:txBody>
            </p:sp>
            <p:sp>
              <p:nvSpPr>
                <p:cNvPr id="129126" name="Line 102"/>
                <p:cNvSpPr>
                  <a:spLocks noChangeShapeType="1"/>
                </p:cNvSpPr>
                <p:nvPr/>
              </p:nvSpPr>
              <p:spPr bwMode="auto">
                <a:xfrm>
                  <a:off x="2799" y="1218"/>
                  <a:ext cx="192" cy="51"/>
                </a:xfrm>
                <a:prstGeom prst="line">
                  <a:avLst/>
                </a:prstGeom>
                <a:noFill/>
                <a:ln w="6350">
                  <a:solidFill>
                    <a:srgbClr val="676767"/>
                  </a:solidFill>
                  <a:round/>
                  <a:headEnd/>
                  <a:tailEnd/>
                </a:ln>
                <a:effectLst/>
              </p:spPr>
              <p:txBody>
                <a:bodyPr wrap="none" anchor="ctr"/>
                <a:lstStyle/>
                <a:p>
                  <a:endParaRPr lang="fr-FR"/>
                </a:p>
              </p:txBody>
            </p:sp>
            <p:sp>
              <p:nvSpPr>
                <p:cNvPr id="129127" name="Line 103"/>
                <p:cNvSpPr>
                  <a:spLocks noChangeShapeType="1"/>
                </p:cNvSpPr>
                <p:nvPr/>
              </p:nvSpPr>
              <p:spPr bwMode="auto">
                <a:xfrm>
                  <a:off x="2799" y="1179"/>
                  <a:ext cx="192" cy="51"/>
                </a:xfrm>
                <a:prstGeom prst="line">
                  <a:avLst/>
                </a:prstGeom>
                <a:noFill/>
                <a:ln w="6350">
                  <a:solidFill>
                    <a:srgbClr val="676767"/>
                  </a:solidFill>
                  <a:round/>
                  <a:headEnd/>
                  <a:tailEnd/>
                </a:ln>
                <a:effectLst/>
              </p:spPr>
              <p:txBody>
                <a:bodyPr wrap="none" anchor="ctr"/>
                <a:lstStyle/>
                <a:p>
                  <a:endParaRPr lang="fr-FR"/>
                </a:p>
              </p:txBody>
            </p:sp>
            <p:sp>
              <p:nvSpPr>
                <p:cNvPr id="129128" name="Freeform 104"/>
                <p:cNvSpPr>
                  <a:spLocks/>
                </p:cNvSpPr>
                <p:nvPr/>
              </p:nvSpPr>
              <p:spPr bwMode="auto">
                <a:xfrm>
                  <a:off x="2802" y="815"/>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a:p>
              </p:txBody>
            </p:sp>
            <p:sp>
              <p:nvSpPr>
                <p:cNvPr id="129129" name="Freeform 105"/>
                <p:cNvSpPr>
                  <a:spLocks/>
                </p:cNvSpPr>
                <p:nvPr/>
              </p:nvSpPr>
              <p:spPr bwMode="auto">
                <a:xfrm>
                  <a:off x="2782" y="745"/>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rgbClr val="808080"/>
                  </a:solidFill>
                  <a:prstDash val="solid"/>
                  <a:round/>
                  <a:headEnd type="none" w="med" len="med"/>
                  <a:tailEnd type="none" w="med" len="med"/>
                </a:ln>
                <a:effectLst/>
              </p:spPr>
              <p:txBody>
                <a:bodyPr/>
                <a:lstStyle/>
                <a:p>
                  <a:endParaRPr lang="fr-FR"/>
                </a:p>
              </p:txBody>
            </p:sp>
            <p:sp>
              <p:nvSpPr>
                <p:cNvPr id="129130" name="Freeform 106"/>
                <p:cNvSpPr>
                  <a:spLocks/>
                </p:cNvSpPr>
                <p:nvPr/>
              </p:nvSpPr>
              <p:spPr bwMode="auto">
                <a:xfrm>
                  <a:off x="2796" y="768"/>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a:p>
              </p:txBody>
            </p:sp>
            <p:sp>
              <p:nvSpPr>
                <p:cNvPr id="129131" name="Line 107"/>
                <p:cNvSpPr>
                  <a:spLocks noChangeShapeType="1"/>
                </p:cNvSpPr>
                <p:nvPr/>
              </p:nvSpPr>
              <p:spPr bwMode="auto">
                <a:xfrm>
                  <a:off x="2797" y="849"/>
                  <a:ext cx="187" cy="43"/>
                </a:xfrm>
                <a:prstGeom prst="line">
                  <a:avLst/>
                </a:prstGeom>
                <a:noFill/>
                <a:ln w="3175">
                  <a:solidFill>
                    <a:srgbClr val="676767"/>
                  </a:solidFill>
                  <a:round/>
                  <a:headEnd/>
                  <a:tailEnd/>
                </a:ln>
                <a:effectLst/>
              </p:spPr>
              <p:txBody>
                <a:bodyPr wrap="none" anchor="ctr"/>
                <a:lstStyle/>
                <a:p>
                  <a:endParaRPr lang="fr-FR"/>
                </a:p>
              </p:txBody>
            </p:sp>
            <p:sp>
              <p:nvSpPr>
                <p:cNvPr id="129132" name="Line 108"/>
                <p:cNvSpPr>
                  <a:spLocks noChangeShapeType="1"/>
                </p:cNvSpPr>
                <p:nvPr/>
              </p:nvSpPr>
              <p:spPr bwMode="auto">
                <a:xfrm>
                  <a:off x="2797" y="924"/>
                  <a:ext cx="189" cy="43"/>
                </a:xfrm>
                <a:prstGeom prst="line">
                  <a:avLst/>
                </a:prstGeom>
                <a:noFill/>
                <a:ln w="3175">
                  <a:solidFill>
                    <a:srgbClr val="676767"/>
                  </a:solidFill>
                  <a:round/>
                  <a:headEnd/>
                  <a:tailEnd/>
                </a:ln>
                <a:effectLst/>
              </p:spPr>
              <p:txBody>
                <a:bodyPr wrap="none" anchor="ctr"/>
                <a:lstStyle/>
                <a:p>
                  <a:endParaRPr lang="fr-FR"/>
                </a:p>
              </p:txBody>
            </p:sp>
            <p:sp>
              <p:nvSpPr>
                <p:cNvPr id="129133" name="Line 109"/>
                <p:cNvSpPr>
                  <a:spLocks noChangeShapeType="1"/>
                </p:cNvSpPr>
                <p:nvPr/>
              </p:nvSpPr>
              <p:spPr bwMode="auto">
                <a:xfrm>
                  <a:off x="2797" y="1017"/>
                  <a:ext cx="180" cy="43"/>
                </a:xfrm>
                <a:prstGeom prst="line">
                  <a:avLst/>
                </a:prstGeom>
                <a:noFill/>
                <a:ln w="3175">
                  <a:solidFill>
                    <a:srgbClr val="676767"/>
                  </a:solidFill>
                  <a:round/>
                  <a:headEnd/>
                  <a:tailEnd/>
                </a:ln>
                <a:effectLst/>
              </p:spPr>
              <p:txBody>
                <a:bodyPr wrap="none" anchor="ctr"/>
                <a:lstStyle/>
                <a:p>
                  <a:endParaRPr lang="fr-FR"/>
                </a:p>
              </p:txBody>
            </p:sp>
            <p:sp>
              <p:nvSpPr>
                <p:cNvPr id="129134" name="Freeform 110"/>
                <p:cNvSpPr>
                  <a:spLocks/>
                </p:cNvSpPr>
                <p:nvPr/>
              </p:nvSpPr>
              <p:spPr bwMode="auto">
                <a:xfrm>
                  <a:off x="2853" y="812"/>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a:p>
              </p:txBody>
            </p:sp>
            <p:sp>
              <p:nvSpPr>
                <p:cNvPr id="129135" name="Line 111"/>
                <p:cNvSpPr>
                  <a:spLocks noChangeShapeType="1"/>
                </p:cNvSpPr>
                <p:nvPr/>
              </p:nvSpPr>
              <p:spPr bwMode="auto">
                <a:xfrm>
                  <a:off x="2824" y="818"/>
                  <a:ext cx="138" cy="30"/>
                </a:xfrm>
                <a:prstGeom prst="line">
                  <a:avLst/>
                </a:prstGeom>
                <a:noFill/>
                <a:ln w="6350">
                  <a:solidFill>
                    <a:srgbClr val="919191"/>
                  </a:solidFill>
                  <a:round/>
                  <a:headEnd/>
                  <a:tailEnd/>
                </a:ln>
                <a:effectLst/>
              </p:spPr>
              <p:txBody>
                <a:bodyPr wrap="none" anchor="ctr"/>
                <a:lstStyle/>
                <a:p>
                  <a:endParaRPr lang="fr-FR"/>
                </a:p>
              </p:txBody>
            </p:sp>
            <p:sp>
              <p:nvSpPr>
                <p:cNvPr id="129136" name="Freeform 112"/>
                <p:cNvSpPr>
                  <a:spLocks/>
                </p:cNvSpPr>
                <p:nvPr/>
              </p:nvSpPr>
              <p:spPr bwMode="auto">
                <a:xfrm>
                  <a:off x="2810" y="955"/>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129137" name="Freeform 113"/>
                <p:cNvSpPr>
                  <a:spLocks/>
                </p:cNvSpPr>
                <p:nvPr/>
              </p:nvSpPr>
              <p:spPr bwMode="auto">
                <a:xfrm>
                  <a:off x="2810" y="1048"/>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129138" name="Freeform 114"/>
                <p:cNvSpPr>
                  <a:spLocks/>
                </p:cNvSpPr>
                <p:nvPr/>
              </p:nvSpPr>
              <p:spPr bwMode="auto">
                <a:xfrm>
                  <a:off x="2807" y="871"/>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a:p>
              </p:txBody>
            </p:sp>
            <p:sp>
              <p:nvSpPr>
                <p:cNvPr id="129139" name="Line 115"/>
                <p:cNvSpPr>
                  <a:spLocks noChangeShapeType="1"/>
                </p:cNvSpPr>
                <p:nvPr/>
              </p:nvSpPr>
              <p:spPr bwMode="auto">
                <a:xfrm flipH="1" flipV="1">
                  <a:off x="2929" y="918"/>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129140" name="Line 116"/>
                <p:cNvSpPr>
                  <a:spLocks noChangeShapeType="1"/>
                </p:cNvSpPr>
                <p:nvPr/>
              </p:nvSpPr>
              <p:spPr bwMode="auto">
                <a:xfrm flipH="1" flipV="1">
                  <a:off x="2929" y="1000"/>
                  <a:ext cx="33" cy="7"/>
                </a:xfrm>
                <a:prstGeom prst="line">
                  <a:avLst/>
                </a:prstGeom>
                <a:noFill/>
                <a:ln w="9525">
                  <a:solidFill>
                    <a:srgbClr val="D60093"/>
                  </a:solidFill>
                  <a:round/>
                  <a:headEnd/>
                  <a:tailEnd/>
                </a:ln>
                <a:effectLst/>
              </p:spPr>
              <p:txBody>
                <a:bodyPr wrap="none" tIns="27432" bIns="27432" anchor="ctr">
                  <a:spAutoFit/>
                </a:bodyPr>
                <a:lstStyle/>
                <a:p>
                  <a:endParaRPr lang="fr-FR"/>
                </a:p>
              </p:txBody>
            </p:sp>
            <p:sp>
              <p:nvSpPr>
                <p:cNvPr id="129141" name="Line 117"/>
                <p:cNvSpPr>
                  <a:spLocks noChangeShapeType="1"/>
                </p:cNvSpPr>
                <p:nvPr/>
              </p:nvSpPr>
              <p:spPr bwMode="auto">
                <a:xfrm flipH="1" flipV="1">
                  <a:off x="2929" y="1099"/>
                  <a:ext cx="33" cy="8"/>
                </a:xfrm>
                <a:prstGeom prst="line">
                  <a:avLst/>
                </a:prstGeom>
                <a:noFill/>
                <a:ln w="9525">
                  <a:solidFill>
                    <a:srgbClr val="D60093"/>
                  </a:solidFill>
                  <a:round/>
                  <a:headEnd/>
                  <a:tailEnd/>
                </a:ln>
                <a:effectLst/>
              </p:spPr>
              <p:txBody>
                <a:bodyPr wrap="none" tIns="27432" bIns="27432" anchor="ctr">
                  <a:spAutoFit/>
                </a:bodyPr>
                <a:lstStyle/>
                <a:p>
                  <a:endParaRPr lang="fr-FR"/>
                </a:p>
              </p:txBody>
            </p:sp>
          </p:grpSp>
          <p:grpSp>
            <p:nvGrpSpPr>
              <p:cNvPr id="129142" name="Group 118"/>
              <p:cNvGrpSpPr>
                <a:grpSpLocks/>
              </p:cNvGrpSpPr>
              <p:nvPr/>
            </p:nvGrpSpPr>
            <p:grpSpPr bwMode="auto">
              <a:xfrm>
                <a:off x="3086" y="929"/>
                <a:ext cx="714" cy="672"/>
                <a:chOff x="2004" y="885"/>
                <a:chExt cx="714" cy="672"/>
              </a:xfrm>
            </p:grpSpPr>
            <p:sp>
              <p:nvSpPr>
                <p:cNvPr id="129143" name="Freeform 119"/>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129144" name="Freeform 120"/>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129145" name="Oval 121"/>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129146" name="Freeform 122"/>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129147" name="Freeform 123"/>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29148" name="Freeform 124"/>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29149" name="Freeform 125"/>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129150" name="Freeform 126"/>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29151" name="Freeform 127"/>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129152" name="Freeform 128"/>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129153" name="Line 129"/>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
          <p:nvSpPr>
            <p:cNvPr id="129154" name="AutoShape 130"/>
            <p:cNvSpPr>
              <a:spLocks noChangeArrowheads="1"/>
            </p:cNvSpPr>
            <p:nvPr/>
          </p:nvSpPr>
          <p:spPr bwMode="auto">
            <a:xfrm>
              <a:off x="816" y="3148"/>
              <a:ext cx="1117" cy="449"/>
            </a:xfrm>
            <a:prstGeom prst="can">
              <a:avLst>
                <a:gd name="adj" fmla="val 50000"/>
              </a:avLst>
            </a:prstGeom>
            <a:gradFill rotWithShape="0">
              <a:gsLst>
                <a:gs pos="0">
                  <a:srgbClr val="6699FF">
                    <a:gamma/>
                    <a:shade val="46275"/>
                    <a:invGamma/>
                  </a:srgbClr>
                </a:gs>
                <a:gs pos="50000">
                  <a:srgbClr val="6699FF"/>
                </a:gs>
                <a:gs pos="100000">
                  <a:srgbClr val="6699FF">
                    <a:gamma/>
                    <a:shade val="46275"/>
                    <a:invGamma/>
                  </a:srgbClr>
                </a:gs>
              </a:gsLst>
              <a:lin ang="0" scaled="1"/>
            </a:gradFill>
            <a:ln w="9525">
              <a:solidFill>
                <a:schemeClr val="tx1"/>
              </a:solidFill>
              <a:round/>
              <a:headEnd/>
              <a:tailEnd/>
            </a:ln>
            <a:effectLst>
              <a:outerShdw dist="52363" dir="4557825" algn="ctr" rotWithShape="0">
                <a:srgbClr val="C0C0C0"/>
              </a:outerShdw>
            </a:effectLst>
          </p:spPr>
          <p:txBody>
            <a:bodyPr wrap="none" lIns="45720" tIns="228600" rIns="45720" anchor="ctr"/>
            <a:lstStyle/>
            <a:p>
              <a:pPr algn="ctr"/>
              <a:r>
                <a:rPr lang="en-US" sz="2200" b="1">
                  <a:solidFill>
                    <a:srgbClr val="FFFFFF"/>
                  </a:solidFill>
                  <a:effectLst>
                    <a:outerShdw blurRad="38100" dist="38100" dir="2700000" algn="tl">
                      <a:srgbClr val="000000"/>
                    </a:outerShdw>
                  </a:effectLst>
                </a:rPr>
                <a:t>FAT/FAT32</a:t>
              </a:r>
            </a:p>
          </p:txBody>
        </p:sp>
        <p:grpSp>
          <p:nvGrpSpPr>
            <p:cNvPr id="129155" name="Group 131"/>
            <p:cNvGrpSpPr>
              <a:grpSpLocks/>
            </p:cNvGrpSpPr>
            <p:nvPr/>
          </p:nvGrpSpPr>
          <p:grpSpPr bwMode="auto">
            <a:xfrm>
              <a:off x="968" y="2485"/>
              <a:ext cx="654" cy="794"/>
              <a:chOff x="4267" y="2784"/>
              <a:chExt cx="869" cy="1055"/>
            </a:xfrm>
          </p:grpSpPr>
          <p:sp>
            <p:nvSpPr>
              <p:cNvPr id="129156" name="Freeform 132"/>
              <p:cNvSpPr>
                <a:spLocks/>
              </p:cNvSpPr>
              <p:nvPr/>
            </p:nvSpPr>
            <p:spPr bwMode="auto">
              <a:xfrm>
                <a:off x="4518" y="3061"/>
                <a:ext cx="350" cy="269"/>
              </a:xfrm>
              <a:custGeom>
                <a:avLst/>
                <a:gdLst/>
                <a:ahLst/>
                <a:cxnLst>
                  <a:cxn ang="0">
                    <a:pos x="0" y="0"/>
                  </a:cxn>
                  <a:cxn ang="0">
                    <a:pos x="0" y="480"/>
                  </a:cxn>
                  <a:cxn ang="0">
                    <a:pos x="624" y="480"/>
                  </a:cxn>
                </a:cxnLst>
                <a:rect l="0" t="0" r="r" b="b"/>
                <a:pathLst>
                  <a:path w="624" h="480">
                    <a:moveTo>
                      <a:pt x="0" y="0"/>
                    </a:moveTo>
                    <a:lnTo>
                      <a:pt x="0" y="480"/>
                    </a:lnTo>
                    <a:lnTo>
                      <a:pt x="624" y="480"/>
                    </a:lnTo>
                  </a:path>
                </a:pathLst>
              </a:custGeom>
              <a:noFill/>
              <a:ln w="28575" cap="flat" cmpd="sng">
                <a:solidFill>
                  <a:schemeClr val="tx1"/>
                </a:solidFill>
                <a:prstDash val="sysDot"/>
                <a:round/>
                <a:headEnd/>
                <a:tailEnd/>
              </a:ln>
              <a:effectLst/>
            </p:spPr>
            <p:txBody>
              <a:bodyPr wrap="none" anchor="ctr"/>
              <a:lstStyle/>
              <a:p>
                <a:endParaRPr lang="fr-FR"/>
              </a:p>
            </p:txBody>
          </p:sp>
          <p:sp>
            <p:nvSpPr>
              <p:cNvPr id="129157" name="Freeform 133"/>
              <p:cNvSpPr>
                <a:spLocks/>
              </p:cNvSpPr>
              <p:nvPr/>
            </p:nvSpPr>
            <p:spPr bwMode="auto">
              <a:xfrm>
                <a:off x="4518" y="3362"/>
                <a:ext cx="350" cy="336"/>
              </a:xfrm>
              <a:custGeom>
                <a:avLst/>
                <a:gdLst/>
                <a:ahLst/>
                <a:cxnLst>
                  <a:cxn ang="0">
                    <a:pos x="0" y="0"/>
                  </a:cxn>
                  <a:cxn ang="0">
                    <a:pos x="0" y="480"/>
                  </a:cxn>
                  <a:cxn ang="0">
                    <a:pos x="624" y="480"/>
                  </a:cxn>
                </a:cxnLst>
                <a:rect l="0" t="0" r="r" b="b"/>
                <a:pathLst>
                  <a:path w="624" h="480">
                    <a:moveTo>
                      <a:pt x="0" y="0"/>
                    </a:moveTo>
                    <a:lnTo>
                      <a:pt x="0" y="480"/>
                    </a:lnTo>
                    <a:lnTo>
                      <a:pt x="624" y="480"/>
                    </a:lnTo>
                  </a:path>
                </a:pathLst>
              </a:custGeom>
              <a:noFill/>
              <a:ln w="28575" cap="flat" cmpd="sng">
                <a:solidFill>
                  <a:schemeClr val="tx1"/>
                </a:solidFill>
                <a:prstDash val="sysDot"/>
                <a:round/>
                <a:headEnd/>
                <a:tailEnd/>
              </a:ln>
              <a:effectLst/>
            </p:spPr>
            <p:txBody>
              <a:bodyPr wrap="none" anchor="ctr"/>
              <a:lstStyle/>
              <a:p>
                <a:endParaRPr lang="fr-FR"/>
              </a:p>
            </p:txBody>
          </p:sp>
          <p:grpSp>
            <p:nvGrpSpPr>
              <p:cNvPr id="129158" name="Group 134"/>
              <p:cNvGrpSpPr>
                <a:grpSpLocks/>
              </p:cNvGrpSpPr>
              <p:nvPr/>
            </p:nvGrpSpPr>
            <p:grpSpPr bwMode="auto">
              <a:xfrm>
                <a:off x="4267" y="2784"/>
                <a:ext cx="432" cy="336"/>
                <a:chOff x="2331" y="732"/>
                <a:chExt cx="432" cy="336"/>
              </a:xfrm>
            </p:grpSpPr>
            <p:sp>
              <p:nvSpPr>
                <p:cNvPr id="129159" name="Freeform 135"/>
                <p:cNvSpPr>
                  <a:spLocks/>
                </p:cNvSpPr>
                <p:nvPr/>
              </p:nvSpPr>
              <p:spPr bwMode="auto">
                <a:xfrm>
                  <a:off x="2382" y="732"/>
                  <a:ext cx="381" cy="336"/>
                </a:xfrm>
                <a:custGeom>
                  <a:avLst/>
                  <a:gdLst/>
                  <a:ahLst/>
                  <a:cxnLst>
                    <a:cxn ang="0">
                      <a:pos x="0" y="720"/>
                    </a:cxn>
                    <a:cxn ang="0">
                      <a:pos x="816" y="720"/>
                    </a:cxn>
                    <a:cxn ang="0">
                      <a:pos x="816" y="144"/>
                    </a:cxn>
                    <a:cxn ang="0">
                      <a:pos x="480" y="144"/>
                    </a:cxn>
                    <a:cxn ang="0">
                      <a:pos x="384" y="0"/>
                    </a:cxn>
                    <a:cxn ang="0">
                      <a:pos x="96" y="0"/>
                    </a:cxn>
                    <a:cxn ang="0">
                      <a:pos x="0" y="144"/>
                    </a:cxn>
                    <a:cxn ang="0">
                      <a:pos x="0" y="720"/>
                    </a:cxn>
                  </a:cxnLst>
                  <a:rect l="0" t="0" r="r" b="b"/>
                  <a:pathLst>
                    <a:path w="816" h="720">
                      <a:moveTo>
                        <a:pt x="0" y="720"/>
                      </a:moveTo>
                      <a:lnTo>
                        <a:pt x="816" y="720"/>
                      </a:lnTo>
                      <a:lnTo>
                        <a:pt x="816" y="144"/>
                      </a:lnTo>
                      <a:lnTo>
                        <a:pt x="480" y="144"/>
                      </a:lnTo>
                      <a:lnTo>
                        <a:pt x="384" y="0"/>
                      </a:lnTo>
                      <a:lnTo>
                        <a:pt x="96" y="0"/>
                      </a:lnTo>
                      <a:lnTo>
                        <a:pt x="0" y="144"/>
                      </a:lnTo>
                      <a:lnTo>
                        <a:pt x="0" y="720"/>
                      </a:lnTo>
                      <a:close/>
                    </a:path>
                  </a:pathLst>
                </a:custGeom>
                <a:gradFill rotWithShape="0">
                  <a:gsLst>
                    <a:gs pos="0">
                      <a:srgbClr val="FFFF99"/>
                    </a:gs>
                    <a:gs pos="100000">
                      <a:srgbClr val="FFCC00"/>
                    </a:gs>
                  </a:gsLst>
                  <a:lin ang="2700000" scaled="1"/>
                </a:gradFill>
                <a:ln w="9525" cap="flat" cmpd="sng">
                  <a:solidFill>
                    <a:schemeClr val="tx1"/>
                  </a:solidFill>
                  <a:prstDash val="solid"/>
                  <a:round/>
                  <a:headEnd type="none" w="med" len="med"/>
                  <a:tailEnd type="none" w="med" len="med"/>
                </a:ln>
                <a:effectLst>
                  <a:outerShdw dist="45791" dir="2021404" algn="ctr" rotWithShape="0">
                    <a:srgbClr val="777777"/>
                  </a:outerShdw>
                </a:effectLst>
              </p:spPr>
              <p:txBody>
                <a:bodyPr wrap="none" tIns="27432" bIns="27432" anchor="ctr"/>
                <a:lstStyle/>
                <a:p>
                  <a:endParaRPr lang="fr-FR"/>
                </a:p>
              </p:txBody>
            </p:sp>
            <p:sp>
              <p:nvSpPr>
                <p:cNvPr id="129160" name="AutoShape 136"/>
                <p:cNvSpPr>
                  <a:spLocks noChangeArrowheads="1"/>
                </p:cNvSpPr>
                <p:nvPr/>
              </p:nvSpPr>
              <p:spPr bwMode="auto">
                <a:xfrm flipH="1">
                  <a:off x="2331" y="841"/>
                  <a:ext cx="426" cy="225"/>
                </a:xfrm>
                <a:prstGeom prst="parallelogram">
                  <a:avLst>
                    <a:gd name="adj" fmla="val 21037"/>
                  </a:avLst>
                </a:prstGeom>
                <a:gradFill rotWithShape="0">
                  <a:gsLst>
                    <a:gs pos="0">
                      <a:srgbClr val="FFFF99"/>
                    </a:gs>
                    <a:gs pos="100000">
                      <a:srgbClr val="FFCC00"/>
                    </a:gs>
                  </a:gsLst>
                  <a:lin ang="2700000" scaled="1"/>
                </a:gradFill>
                <a:ln w="9525">
                  <a:solidFill>
                    <a:schemeClr val="tx1"/>
                  </a:solidFill>
                  <a:miter lim="800000"/>
                  <a:headEnd/>
                  <a:tailEnd/>
                </a:ln>
                <a:effectLst>
                  <a:outerShdw dist="45791" dir="2021404" algn="ctr" rotWithShape="0">
                    <a:srgbClr val="777777"/>
                  </a:outerShdw>
                </a:effectLst>
              </p:spPr>
              <p:txBody>
                <a:bodyPr wrap="none" tIns="27432" bIns="27432" anchor="ctr"/>
                <a:lstStyle/>
                <a:p>
                  <a:pPr algn="ctr"/>
                  <a:endParaRPr lang="fr-FR" sz="1800" b="1"/>
                </a:p>
              </p:txBody>
            </p:sp>
          </p:grpSp>
          <p:sp>
            <p:nvSpPr>
              <p:cNvPr id="129161" name="Freeform 137"/>
              <p:cNvSpPr>
                <a:spLocks/>
              </p:cNvSpPr>
              <p:nvPr/>
            </p:nvSpPr>
            <p:spPr bwMode="auto">
              <a:xfrm>
                <a:off x="4778" y="3161"/>
                <a:ext cx="358" cy="286"/>
              </a:xfrm>
              <a:custGeom>
                <a:avLst/>
                <a:gdLst/>
                <a:ahLst/>
                <a:cxnLst>
                  <a:cxn ang="0">
                    <a:pos x="0" y="996"/>
                  </a:cxn>
                  <a:cxn ang="0">
                    <a:pos x="0" y="94"/>
                  </a:cxn>
                  <a:cxn ang="0">
                    <a:pos x="79" y="0"/>
                  </a:cxn>
                  <a:cxn ang="0">
                    <a:pos x="467" y="0"/>
                  </a:cxn>
                  <a:cxn ang="0">
                    <a:pos x="526" y="93"/>
                  </a:cxn>
                  <a:cxn ang="0">
                    <a:pos x="1248" y="94"/>
                  </a:cxn>
                  <a:cxn ang="0">
                    <a:pos x="1248" y="996"/>
                  </a:cxn>
                  <a:cxn ang="0">
                    <a:pos x="0" y="996"/>
                  </a:cxn>
                </a:cxnLst>
                <a:rect l="0" t="0" r="r" b="b"/>
                <a:pathLst>
                  <a:path w="1248" h="996">
                    <a:moveTo>
                      <a:pt x="0" y="996"/>
                    </a:moveTo>
                    <a:lnTo>
                      <a:pt x="0" y="94"/>
                    </a:lnTo>
                    <a:lnTo>
                      <a:pt x="79" y="0"/>
                    </a:lnTo>
                    <a:lnTo>
                      <a:pt x="467" y="0"/>
                    </a:lnTo>
                    <a:lnTo>
                      <a:pt x="526" y="93"/>
                    </a:lnTo>
                    <a:lnTo>
                      <a:pt x="1248" y="94"/>
                    </a:lnTo>
                    <a:lnTo>
                      <a:pt x="1248" y="996"/>
                    </a:lnTo>
                    <a:lnTo>
                      <a:pt x="0" y="996"/>
                    </a:lnTo>
                    <a:close/>
                  </a:path>
                </a:pathLst>
              </a:custGeom>
              <a:gradFill rotWithShape="0">
                <a:gsLst>
                  <a:gs pos="0">
                    <a:srgbClr val="FFFF99"/>
                  </a:gs>
                  <a:gs pos="100000">
                    <a:srgbClr val="FFCC00"/>
                  </a:gs>
                </a:gsLst>
                <a:lin ang="2700000" scaled="1"/>
              </a:gradFill>
              <a:ln w="9525" cap="flat" cmpd="sng">
                <a:solidFill>
                  <a:schemeClr val="tx1"/>
                </a:solidFill>
                <a:prstDash val="solid"/>
                <a:round/>
                <a:headEnd type="none" w="med" len="med"/>
                <a:tailEnd type="none" w="med" len="med"/>
              </a:ln>
              <a:effectLst>
                <a:outerShdw dist="45791" dir="2021404" algn="ctr" rotWithShape="0">
                  <a:srgbClr val="969696"/>
                </a:outerShdw>
              </a:effectLst>
            </p:spPr>
            <p:txBody>
              <a:bodyPr wrap="none" tIns="27432" bIns="27432" anchor="ctr"/>
              <a:lstStyle/>
              <a:p>
                <a:endParaRPr lang="fr-FR"/>
              </a:p>
            </p:txBody>
          </p:sp>
          <p:sp>
            <p:nvSpPr>
              <p:cNvPr id="129162" name="Freeform 138"/>
              <p:cNvSpPr>
                <a:spLocks/>
              </p:cNvSpPr>
              <p:nvPr/>
            </p:nvSpPr>
            <p:spPr bwMode="auto">
              <a:xfrm>
                <a:off x="4778" y="3553"/>
                <a:ext cx="358" cy="286"/>
              </a:xfrm>
              <a:custGeom>
                <a:avLst/>
                <a:gdLst/>
                <a:ahLst/>
                <a:cxnLst>
                  <a:cxn ang="0">
                    <a:pos x="0" y="996"/>
                  </a:cxn>
                  <a:cxn ang="0">
                    <a:pos x="0" y="94"/>
                  </a:cxn>
                  <a:cxn ang="0">
                    <a:pos x="79" y="0"/>
                  </a:cxn>
                  <a:cxn ang="0">
                    <a:pos x="467" y="0"/>
                  </a:cxn>
                  <a:cxn ang="0">
                    <a:pos x="526" y="93"/>
                  </a:cxn>
                  <a:cxn ang="0">
                    <a:pos x="1248" y="94"/>
                  </a:cxn>
                  <a:cxn ang="0">
                    <a:pos x="1248" y="996"/>
                  </a:cxn>
                  <a:cxn ang="0">
                    <a:pos x="0" y="996"/>
                  </a:cxn>
                </a:cxnLst>
                <a:rect l="0" t="0" r="r" b="b"/>
                <a:pathLst>
                  <a:path w="1248" h="996">
                    <a:moveTo>
                      <a:pt x="0" y="996"/>
                    </a:moveTo>
                    <a:lnTo>
                      <a:pt x="0" y="94"/>
                    </a:lnTo>
                    <a:lnTo>
                      <a:pt x="79" y="0"/>
                    </a:lnTo>
                    <a:lnTo>
                      <a:pt x="467" y="0"/>
                    </a:lnTo>
                    <a:lnTo>
                      <a:pt x="526" y="93"/>
                    </a:lnTo>
                    <a:lnTo>
                      <a:pt x="1248" y="94"/>
                    </a:lnTo>
                    <a:lnTo>
                      <a:pt x="1248" y="996"/>
                    </a:lnTo>
                    <a:lnTo>
                      <a:pt x="0" y="996"/>
                    </a:lnTo>
                    <a:close/>
                  </a:path>
                </a:pathLst>
              </a:custGeom>
              <a:gradFill rotWithShape="0">
                <a:gsLst>
                  <a:gs pos="0">
                    <a:srgbClr val="FFFF99"/>
                  </a:gs>
                  <a:gs pos="100000">
                    <a:srgbClr val="FFCC00"/>
                  </a:gs>
                </a:gsLst>
                <a:lin ang="2700000" scaled="1"/>
              </a:gradFill>
              <a:ln w="9525" cap="flat" cmpd="sng">
                <a:solidFill>
                  <a:schemeClr val="tx1"/>
                </a:solidFill>
                <a:prstDash val="solid"/>
                <a:round/>
                <a:headEnd type="none" w="med" len="med"/>
                <a:tailEnd type="none" w="med" len="med"/>
              </a:ln>
              <a:effectLst>
                <a:outerShdw dist="45791" dir="2021404" algn="ctr" rotWithShape="0">
                  <a:srgbClr val="969696"/>
                </a:outerShdw>
              </a:effectLst>
            </p:spPr>
            <p:txBody>
              <a:bodyPr wrap="none" tIns="27432" bIns="27432" anchor="ctr"/>
              <a:lstStyle/>
              <a:p>
                <a:endParaRPr lang="fr-FR"/>
              </a:p>
            </p:txBody>
          </p: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au 4"/>
          <p:cNvGraphicFramePr>
            <a:graphicFrameLocks noGrp="1"/>
          </p:cNvGraphicFramePr>
          <p:nvPr/>
        </p:nvGraphicFramePr>
        <p:xfrm>
          <a:off x="249380" y="1397000"/>
          <a:ext cx="8631384" cy="4084320"/>
        </p:xfrm>
        <a:graphic>
          <a:graphicData uri="http://schemas.openxmlformats.org/drawingml/2006/table">
            <a:tbl>
              <a:tblPr firstRow="1" bandRow="1">
                <a:tableStyleId>{5C22544A-7EE6-4342-B048-85BDC9FD1C3A}</a:tableStyleId>
              </a:tblPr>
              <a:tblGrid>
                <a:gridCol w="4315692">
                  <a:extLst>
                    <a:ext uri="{9D8B030D-6E8A-4147-A177-3AD203B41FA5}">
                      <a16:colId xmlns:a16="http://schemas.microsoft.com/office/drawing/2014/main" val="20000"/>
                    </a:ext>
                  </a:extLst>
                </a:gridCol>
                <a:gridCol w="4315692">
                  <a:extLst>
                    <a:ext uri="{9D8B030D-6E8A-4147-A177-3AD203B41FA5}">
                      <a16:colId xmlns:a16="http://schemas.microsoft.com/office/drawing/2014/main" val="20001"/>
                    </a:ext>
                  </a:extLst>
                </a:gridCol>
              </a:tblGrid>
              <a:tr h="404091">
                <a:tc>
                  <a:txBody>
                    <a:bodyPr/>
                    <a:lstStyle/>
                    <a:p>
                      <a:pPr algn="ctr"/>
                      <a:r>
                        <a:rPr lang="fr-FR" sz="2400" b="1" dirty="0">
                          <a:solidFill>
                            <a:schemeClr val="tx1"/>
                          </a:solidFill>
                        </a:rPr>
                        <a:t>FAT </a:t>
                      </a:r>
                      <a:endParaRPr lang="fr-FR" sz="2400" dirty="0">
                        <a:solidFill>
                          <a:schemeClr val="tx1"/>
                        </a:solidFill>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fr-FR" sz="2400" b="1" dirty="0">
                          <a:solidFill>
                            <a:schemeClr val="tx1"/>
                          </a:solidFill>
                        </a:rPr>
                        <a:t>FAT32</a:t>
                      </a:r>
                      <a:endParaRPr lang="fr-FR" sz="2400" dirty="0">
                        <a:solidFill>
                          <a:schemeClr val="tx1"/>
                        </a:solidFill>
                      </a:endParaRPr>
                    </a:p>
                  </a:txBody>
                  <a:tcPr/>
                </a:tc>
                <a:extLst>
                  <a:ext uri="{0D108BD9-81ED-4DB2-BD59-A6C34878D82A}">
                    <a16:rowId xmlns:a16="http://schemas.microsoft.com/office/drawing/2014/main" val="10000"/>
                  </a:ext>
                </a:extLst>
              </a:tr>
              <a:tr h="1082964">
                <a:tc>
                  <a:txBody>
                    <a:bodyPr/>
                    <a:lstStyle/>
                    <a:p>
                      <a:r>
                        <a:rPr lang="fr-FR" sz="2200" dirty="0"/>
                        <a:t>Prend en charge des tailles de volume de 2 Go au plus.</a:t>
                      </a:r>
                    </a:p>
                    <a:p>
                      <a:endParaRPr lang="fr-FR" sz="2200" dirty="0"/>
                    </a:p>
                  </a:txBody>
                  <a:tcPr/>
                </a:tc>
                <a:tc>
                  <a:txBody>
                    <a:bodyPr/>
                    <a:lstStyle/>
                    <a:p>
                      <a:r>
                        <a:rPr lang="fr-FR" sz="2200" dirty="0"/>
                        <a:t>Prend en charge des tailles de volume de 32 Go au plus. </a:t>
                      </a:r>
                    </a:p>
                  </a:txBody>
                  <a:tcPr/>
                </a:tc>
                <a:extLst>
                  <a:ext uri="{0D108BD9-81ED-4DB2-BD59-A6C34878D82A}">
                    <a16:rowId xmlns:a16="http://schemas.microsoft.com/office/drawing/2014/main" val="10001"/>
                  </a:ext>
                </a:extLst>
              </a:tr>
              <a:tr h="963793">
                <a:tc>
                  <a:txBody>
                    <a:bodyPr/>
                    <a:lstStyle/>
                    <a:p>
                      <a:r>
                        <a:rPr kumimoji="0" lang="fr-FR" sz="2200" kern="1200" baseline="0" dirty="0">
                          <a:solidFill>
                            <a:schemeClr val="dk1"/>
                          </a:solidFill>
                          <a:latin typeface="+mn-lt"/>
                          <a:ea typeface="+mn-ea"/>
                          <a:cs typeface="+mn-cs"/>
                        </a:rPr>
                        <a:t>Prend en charge des tailles de cluster de 64 kilo-octets (Ko) au plus</a:t>
                      </a:r>
                    </a:p>
                  </a:txBody>
                  <a:tcPr/>
                </a:tc>
                <a:tc>
                  <a:txBody>
                    <a:bodyPr/>
                    <a:lstStyle/>
                    <a:p>
                      <a:r>
                        <a:rPr kumimoji="0" lang="fr-FR" sz="2200" kern="1200" baseline="0" dirty="0">
                          <a:solidFill>
                            <a:schemeClr val="dk1"/>
                          </a:solidFill>
                          <a:latin typeface="+mn-lt"/>
                          <a:ea typeface="+mn-ea"/>
                          <a:cs typeface="+mn-cs"/>
                        </a:rPr>
                        <a:t>Prend en charge des tailles de cluster plus petites n'excédant pas 16 Ko. </a:t>
                      </a:r>
                      <a:endParaRPr lang="fr-FR" sz="2200" dirty="0"/>
                    </a:p>
                    <a:p>
                      <a:endParaRPr lang="fr-FR" sz="2200" dirty="0"/>
                    </a:p>
                  </a:txBody>
                  <a:tcPr/>
                </a:tc>
                <a:extLst>
                  <a:ext uri="{0D108BD9-81ED-4DB2-BD59-A6C34878D82A}">
                    <a16:rowId xmlns:a16="http://schemas.microsoft.com/office/drawing/2014/main" val="10002"/>
                  </a:ext>
                </a:extLst>
              </a:tr>
              <a:tr h="963793">
                <a:tc>
                  <a:txBody>
                    <a:bodyPr/>
                    <a:lstStyle/>
                    <a:p>
                      <a:r>
                        <a:rPr kumimoji="0" lang="fr-FR" sz="2200" kern="1200" baseline="0" dirty="0">
                          <a:solidFill>
                            <a:schemeClr val="dk1"/>
                          </a:solidFill>
                          <a:latin typeface="+mn-lt"/>
                          <a:ea typeface="+mn-ea"/>
                          <a:cs typeface="+mn-cs"/>
                        </a:rPr>
                        <a:t>Prend en charge des configurations à double  amorçage.</a:t>
                      </a:r>
                    </a:p>
                  </a:txBody>
                  <a:tcPr/>
                </a:tc>
                <a:tc>
                  <a:txBody>
                    <a:bodyPr/>
                    <a:lstStyle/>
                    <a:p>
                      <a:r>
                        <a:rPr kumimoji="0" lang="fr-FR" sz="2200" kern="1200" baseline="0" dirty="0">
                          <a:solidFill>
                            <a:schemeClr val="dk1"/>
                          </a:solidFill>
                          <a:latin typeface="+mn-lt"/>
                          <a:ea typeface="+mn-ea"/>
                          <a:cs typeface="+mn-cs"/>
                        </a:rPr>
                        <a:t>Prend en charge des configurations à double amorçage</a:t>
                      </a:r>
                      <a:endParaRPr lang="fr-FR" sz="2200" dirty="0"/>
                    </a:p>
                  </a:txBody>
                  <a:tcPr/>
                </a:tc>
                <a:extLst>
                  <a:ext uri="{0D108BD9-81ED-4DB2-BD59-A6C34878D82A}">
                    <a16:rowId xmlns:a16="http://schemas.microsoft.com/office/drawing/2014/main" val="10003"/>
                  </a:ext>
                </a:extLst>
              </a:tr>
            </a:tbl>
          </a:graphicData>
        </a:graphic>
      </p:graphicFrame>
      <p:sp>
        <p:nvSpPr>
          <p:cNvPr id="6" name="Rectangle 139"/>
          <p:cNvSpPr>
            <a:spLocks noGrp="1" noChangeArrowheads="1"/>
          </p:cNvSpPr>
          <p:nvPr>
            <p:ph type="title"/>
          </p:nvPr>
        </p:nvSpPr>
        <p:spPr>
          <a:xfrm>
            <a:off x="190915" y="166253"/>
            <a:ext cx="8534400" cy="1042970"/>
          </a:xfrm>
        </p:spPr>
        <p:txBody>
          <a:bodyPr>
            <a:normAutofit fontScale="90000"/>
          </a:bodyPr>
          <a:lstStyle/>
          <a:p>
            <a:r>
              <a:rPr lang="fr-FR" b="1" dirty="0">
                <a:solidFill>
                  <a:srgbClr val="C00000"/>
                </a:solidFill>
              </a:rPr>
              <a:t>Utilisation des systèmes de fichiers FAT ou FAT32</a:t>
            </a:r>
            <a:endParaRPr lang="en-US" b="1" dirty="0">
              <a:solidFill>
                <a:srgbClr val="C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vert="horz" anchor="b">
            <a:normAutofit/>
          </a:bodyPr>
          <a:lstStyle/>
          <a:p>
            <a:r>
              <a:rPr lang="fr-FR" sz="3000" b="1" dirty="0">
                <a:solidFill>
                  <a:srgbClr val="C00000"/>
                </a:solidFill>
              </a:rPr>
              <a:t>Utilisation du système de fichiers NTFS</a:t>
            </a:r>
            <a:endParaRPr lang="en-US" sz="3000" b="1" dirty="0">
              <a:solidFill>
                <a:srgbClr val="C00000"/>
              </a:solidFill>
            </a:endParaRPr>
          </a:p>
        </p:txBody>
      </p:sp>
      <p:sp>
        <p:nvSpPr>
          <p:cNvPr id="131075" name="Rectangle 3"/>
          <p:cNvSpPr>
            <a:spLocks noGrp="1" noChangeArrowheads="1"/>
          </p:cNvSpPr>
          <p:nvPr>
            <p:ph sz="quarter" idx="1"/>
          </p:nvPr>
        </p:nvSpPr>
        <p:spPr>
          <a:xfrm>
            <a:off x="152397" y="1440873"/>
            <a:ext cx="8936183" cy="4932218"/>
          </a:xfrm>
        </p:spPr>
        <p:txBody>
          <a:bodyPr>
            <a:normAutofit/>
          </a:bodyPr>
          <a:lstStyle/>
          <a:p>
            <a:r>
              <a:rPr lang="en-US" sz="2600" b="1" u="sng" dirty="0" err="1"/>
              <a:t>Fiabilité</a:t>
            </a:r>
            <a:r>
              <a:rPr lang="en-US" b="1" dirty="0"/>
              <a:t>:</a:t>
            </a:r>
            <a:r>
              <a:rPr lang="en-US" dirty="0"/>
              <a:t>  </a:t>
            </a:r>
          </a:p>
          <a:p>
            <a:pPr lvl="1"/>
            <a:r>
              <a:rPr lang="en-US" sz="2400" dirty="0"/>
              <a:t>Identification et non </a:t>
            </a:r>
            <a:r>
              <a:rPr lang="en-US" sz="2400" dirty="0" err="1"/>
              <a:t>utilisation</a:t>
            </a:r>
            <a:r>
              <a:rPr lang="en-US" sz="2400" dirty="0"/>
              <a:t> des </a:t>
            </a:r>
            <a:r>
              <a:rPr lang="en-US" sz="2400" dirty="0" err="1"/>
              <a:t>secteurs</a:t>
            </a:r>
            <a:r>
              <a:rPr lang="en-US" sz="2400" dirty="0"/>
              <a:t> </a:t>
            </a:r>
            <a:r>
              <a:rPr lang="en-US" sz="2400" dirty="0" err="1"/>
              <a:t>défectueux</a:t>
            </a:r>
            <a:endParaRPr lang="en-US" sz="2400" dirty="0"/>
          </a:p>
          <a:p>
            <a:r>
              <a:rPr lang="en-US" sz="2600" b="1" u="sng" dirty="0" err="1"/>
              <a:t>Sécurité</a:t>
            </a:r>
            <a:r>
              <a:rPr lang="en-US" sz="2600" b="1" u="sng" dirty="0"/>
              <a:t> </a:t>
            </a:r>
            <a:r>
              <a:rPr lang="en-US" sz="2600" b="1" u="sng" dirty="0" err="1"/>
              <a:t>renforcée</a:t>
            </a:r>
            <a:r>
              <a:rPr lang="en-US" b="1" dirty="0"/>
              <a:t>:</a:t>
            </a:r>
            <a:r>
              <a:rPr lang="en-US" dirty="0"/>
              <a:t> </a:t>
            </a:r>
          </a:p>
          <a:p>
            <a:pPr lvl="1"/>
            <a:r>
              <a:rPr lang="en-US" sz="2400" dirty="0"/>
              <a:t>EFS et les </a:t>
            </a:r>
            <a:r>
              <a:rPr lang="en-US" sz="2400" dirty="0" err="1"/>
              <a:t>autorisations</a:t>
            </a:r>
            <a:r>
              <a:rPr lang="en-US" sz="2400" dirty="0"/>
              <a:t> </a:t>
            </a:r>
            <a:r>
              <a:rPr lang="en-US" sz="2400" dirty="0" err="1"/>
              <a:t>sur</a:t>
            </a:r>
            <a:r>
              <a:rPr lang="en-US" sz="2400" dirty="0"/>
              <a:t> les </a:t>
            </a:r>
            <a:r>
              <a:rPr lang="en-US" sz="2400" dirty="0" err="1"/>
              <a:t>fichiers</a:t>
            </a:r>
            <a:endParaRPr lang="en-US" sz="2400" dirty="0"/>
          </a:p>
          <a:p>
            <a:r>
              <a:rPr lang="en-US" sz="2600" b="1" u="sng" dirty="0" err="1"/>
              <a:t>Gestion</a:t>
            </a:r>
            <a:r>
              <a:rPr lang="en-US" sz="2600" b="1" u="sng" dirty="0"/>
              <a:t> </a:t>
            </a:r>
            <a:r>
              <a:rPr lang="en-US" sz="2600" b="1" u="sng" dirty="0" err="1"/>
              <a:t>améliorée</a:t>
            </a:r>
            <a:r>
              <a:rPr lang="en-US" sz="2600" b="1" u="sng" dirty="0"/>
              <a:t> de la </a:t>
            </a:r>
            <a:r>
              <a:rPr lang="en-US" sz="2600" b="1" u="sng" dirty="0" err="1"/>
              <a:t>croissance</a:t>
            </a:r>
            <a:r>
              <a:rPr lang="en-US" sz="2600" b="1" u="sng" dirty="0"/>
              <a:t> de </a:t>
            </a:r>
            <a:r>
              <a:rPr lang="en-US" sz="2600" b="1" u="sng" dirty="0" err="1"/>
              <a:t>stockage</a:t>
            </a:r>
            <a:r>
              <a:rPr lang="en-US" b="1" u="sng" dirty="0"/>
              <a:t>:</a:t>
            </a:r>
            <a:r>
              <a:rPr lang="en-US" dirty="0"/>
              <a:t> </a:t>
            </a:r>
          </a:p>
          <a:p>
            <a:pPr lvl="1"/>
            <a:r>
              <a:rPr lang="en-US" sz="2400" dirty="0"/>
              <a:t>Quotas de </a:t>
            </a:r>
            <a:r>
              <a:rPr lang="en-US" sz="2400" dirty="0" err="1"/>
              <a:t>disque</a:t>
            </a:r>
            <a:endParaRPr lang="en-US" sz="2400" dirty="0"/>
          </a:p>
          <a:p>
            <a:r>
              <a:rPr lang="fr-FR" sz="2600" b="1" u="sng" dirty="0"/>
              <a:t>Prise en charge de tailles de volume supérieures : </a:t>
            </a:r>
          </a:p>
          <a:p>
            <a:pPr lvl="1"/>
            <a:r>
              <a:rPr lang="fr-FR" sz="2400" dirty="0"/>
              <a:t>Formatage des volumes jusqu'à 32 Exaoctets </a:t>
            </a:r>
          </a:p>
          <a:p>
            <a:pPr lvl="1"/>
            <a:r>
              <a:rPr lang="fr-FR" sz="2400" dirty="0"/>
              <a:t>Clusters de 4 Ko</a:t>
            </a:r>
            <a:endParaRPr lang="en-US" sz="2400" b="1" u="sng" dirty="0"/>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31075">
                                            <p:txEl>
                                              <p:pRg st="0" end="0"/>
                                            </p:txEl>
                                          </p:spTgt>
                                        </p:tgtEl>
                                        <p:attrNameLst>
                                          <p:attrName>style.visibility</p:attrName>
                                        </p:attrNameLst>
                                      </p:cBhvr>
                                      <p:to>
                                        <p:strVal val="visible"/>
                                      </p:to>
                                    </p:set>
                                    <p:animEffect transition="in" filter="checkerboard(across)">
                                      <p:cBhvr>
                                        <p:cTn id="7" dur="2000"/>
                                        <p:tgtEl>
                                          <p:spTgt spid="131075">
                                            <p:txEl>
                                              <p:pRg st="0" end="0"/>
                                            </p:txEl>
                                          </p:spTgt>
                                        </p:tgtEl>
                                      </p:cBhvr>
                                    </p:animEffect>
                                  </p:childTnLst>
                                </p:cTn>
                              </p:par>
                            </p:childTnLst>
                          </p:cTn>
                        </p:par>
                        <p:par>
                          <p:cTn id="8" fill="hold">
                            <p:stCondLst>
                              <p:cond delay="2000"/>
                            </p:stCondLst>
                            <p:childTnLst>
                              <p:par>
                                <p:cTn id="9" presetID="5" presetClass="entr" presetSubtype="10" fill="hold" nodeType="afterEffect">
                                  <p:stCondLst>
                                    <p:cond delay="0"/>
                                  </p:stCondLst>
                                  <p:childTnLst>
                                    <p:set>
                                      <p:cBhvr>
                                        <p:cTn id="10" dur="1" fill="hold">
                                          <p:stCondLst>
                                            <p:cond delay="0"/>
                                          </p:stCondLst>
                                        </p:cTn>
                                        <p:tgtEl>
                                          <p:spTgt spid="131075">
                                            <p:txEl>
                                              <p:pRg st="1" end="1"/>
                                            </p:txEl>
                                          </p:spTgt>
                                        </p:tgtEl>
                                        <p:attrNameLst>
                                          <p:attrName>style.visibility</p:attrName>
                                        </p:attrNameLst>
                                      </p:cBhvr>
                                      <p:to>
                                        <p:strVal val="visible"/>
                                      </p:to>
                                    </p:set>
                                    <p:animEffect transition="in" filter="checkerboard(across)">
                                      <p:cBhvr>
                                        <p:cTn id="11" dur="2000"/>
                                        <p:tgtEl>
                                          <p:spTgt spid="13107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131075">
                                            <p:txEl>
                                              <p:pRg st="2" end="2"/>
                                            </p:txEl>
                                          </p:spTgt>
                                        </p:tgtEl>
                                        <p:attrNameLst>
                                          <p:attrName>style.visibility</p:attrName>
                                        </p:attrNameLst>
                                      </p:cBhvr>
                                      <p:to>
                                        <p:strVal val="visible"/>
                                      </p:to>
                                    </p:set>
                                    <p:animEffect transition="in" filter="checkerboard(across)">
                                      <p:cBhvr>
                                        <p:cTn id="16" dur="2000"/>
                                        <p:tgtEl>
                                          <p:spTgt spid="131075">
                                            <p:txEl>
                                              <p:pRg st="2" end="2"/>
                                            </p:txEl>
                                          </p:spTgt>
                                        </p:tgtEl>
                                      </p:cBhvr>
                                    </p:animEffect>
                                  </p:childTnLst>
                                </p:cTn>
                              </p:par>
                            </p:childTnLst>
                          </p:cTn>
                        </p:par>
                        <p:par>
                          <p:cTn id="17" fill="hold">
                            <p:stCondLst>
                              <p:cond delay="2000"/>
                            </p:stCondLst>
                            <p:childTnLst>
                              <p:par>
                                <p:cTn id="18" presetID="5" presetClass="entr" presetSubtype="10" fill="hold" nodeType="afterEffect">
                                  <p:stCondLst>
                                    <p:cond delay="0"/>
                                  </p:stCondLst>
                                  <p:childTnLst>
                                    <p:set>
                                      <p:cBhvr>
                                        <p:cTn id="19" dur="1" fill="hold">
                                          <p:stCondLst>
                                            <p:cond delay="0"/>
                                          </p:stCondLst>
                                        </p:cTn>
                                        <p:tgtEl>
                                          <p:spTgt spid="131075">
                                            <p:txEl>
                                              <p:pRg st="3" end="3"/>
                                            </p:txEl>
                                          </p:spTgt>
                                        </p:tgtEl>
                                        <p:attrNameLst>
                                          <p:attrName>style.visibility</p:attrName>
                                        </p:attrNameLst>
                                      </p:cBhvr>
                                      <p:to>
                                        <p:strVal val="visible"/>
                                      </p:to>
                                    </p:set>
                                    <p:animEffect transition="in" filter="checkerboard(across)">
                                      <p:cBhvr>
                                        <p:cTn id="20" dur="2000"/>
                                        <p:tgtEl>
                                          <p:spTgt spid="13107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131075">
                                            <p:txEl>
                                              <p:pRg st="4" end="4"/>
                                            </p:txEl>
                                          </p:spTgt>
                                        </p:tgtEl>
                                        <p:attrNameLst>
                                          <p:attrName>style.visibility</p:attrName>
                                        </p:attrNameLst>
                                      </p:cBhvr>
                                      <p:to>
                                        <p:strVal val="visible"/>
                                      </p:to>
                                    </p:set>
                                    <p:animEffect transition="in" filter="checkerboard(across)">
                                      <p:cBhvr>
                                        <p:cTn id="25" dur="2000"/>
                                        <p:tgtEl>
                                          <p:spTgt spid="131075">
                                            <p:txEl>
                                              <p:pRg st="4" end="4"/>
                                            </p:txEl>
                                          </p:spTgt>
                                        </p:tgtEl>
                                      </p:cBhvr>
                                    </p:animEffect>
                                  </p:childTnLst>
                                </p:cTn>
                              </p:par>
                            </p:childTnLst>
                          </p:cTn>
                        </p:par>
                        <p:par>
                          <p:cTn id="26" fill="hold">
                            <p:stCondLst>
                              <p:cond delay="2000"/>
                            </p:stCondLst>
                            <p:childTnLst>
                              <p:par>
                                <p:cTn id="27" presetID="5" presetClass="entr" presetSubtype="10" fill="hold" nodeType="afterEffect">
                                  <p:stCondLst>
                                    <p:cond delay="0"/>
                                  </p:stCondLst>
                                  <p:childTnLst>
                                    <p:set>
                                      <p:cBhvr>
                                        <p:cTn id="28" dur="1" fill="hold">
                                          <p:stCondLst>
                                            <p:cond delay="0"/>
                                          </p:stCondLst>
                                        </p:cTn>
                                        <p:tgtEl>
                                          <p:spTgt spid="131075">
                                            <p:txEl>
                                              <p:pRg st="5" end="5"/>
                                            </p:txEl>
                                          </p:spTgt>
                                        </p:tgtEl>
                                        <p:attrNameLst>
                                          <p:attrName>style.visibility</p:attrName>
                                        </p:attrNameLst>
                                      </p:cBhvr>
                                      <p:to>
                                        <p:strVal val="visible"/>
                                      </p:to>
                                    </p:set>
                                    <p:animEffect transition="in" filter="checkerboard(across)">
                                      <p:cBhvr>
                                        <p:cTn id="29" dur="2000"/>
                                        <p:tgtEl>
                                          <p:spTgt spid="131075">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131075">
                                            <p:txEl>
                                              <p:pRg st="6" end="6"/>
                                            </p:txEl>
                                          </p:spTgt>
                                        </p:tgtEl>
                                        <p:attrNameLst>
                                          <p:attrName>style.visibility</p:attrName>
                                        </p:attrNameLst>
                                      </p:cBhvr>
                                      <p:to>
                                        <p:strVal val="visible"/>
                                      </p:to>
                                    </p:set>
                                    <p:animEffect transition="in" filter="checkerboard(across)">
                                      <p:cBhvr>
                                        <p:cTn id="34" dur="2000"/>
                                        <p:tgtEl>
                                          <p:spTgt spid="131075">
                                            <p:txEl>
                                              <p:pRg st="6" end="6"/>
                                            </p:txEl>
                                          </p:spTgt>
                                        </p:tgtEl>
                                      </p:cBhvr>
                                    </p:animEffect>
                                  </p:childTnLst>
                                </p:cTn>
                              </p:par>
                            </p:childTnLst>
                          </p:cTn>
                        </p:par>
                        <p:par>
                          <p:cTn id="35" fill="hold">
                            <p:stCondLst>
                              <p:cond delay="2000"/>
                            </p:stCondLst>
                            <p:childTnLst>
                              <p:par>
                                <p:cTn id="36" presetID="5" presetClass="entr" presetSubtype="10" fill="hold" nodeType="afterEffect">
                                  <p:stCondLst>
                                    <p:cond delay="0"/>
                                  </p:stCondLst>
                                  <p:childTnLst>
                                    <p:set>
                                      <p:cBhvr>
                                        <p:cTn id="37" dur="1" fill="hold">
                                          <p:stCondLst>
                                            <p:cond delay="0"/>
                                          </p:stCondLst>
                                        </p:cTn>
                                        <p:tgtEl>
                                          <p:spTgt spid="131075">
                                            <p:txEl>
                                              <p:pRg st="7" end="7"/>
                                            </p:txEl>
                                          </p:spTgt>
                                        </p:tgtEl>
                                        <p:attrNameLst>
                                          <p:attrName>style.visibility</p:attrName>
                                        </p:attrNameLst>
                                      </p:cBhvr>
                                      <p:to>
                                        <p:strVal val="visible"/>
                                      </p:to>
                                    </p:set>
                                    <p:animEffect transition="in" filter="checkerboard(across)">
                                      <p:cBhvr>
                                        <p:cTn id="38" dur="2000"/>
                                        <p:tgtEl>
                                          <p:spTgt spid="131075">
                                            <p:txEl>
                                              <p:pRg st="7" end="7"/>
                                            </p:txEl>
                                          </p:spTgt>
                                        </p:tgtEl>
                                      </p:cBhvr>
                                    </p:animEffect>
                                  </p:childTnLst>
                                </p:cTn>
                              </p:par>
                            </p:childTnLst>
                          </p:cTn>
                        </p:par>
                        <p:par>
                          <p:cTn id="39" fill="hold">
                            <p:stCondLst>
                              <p:cond delay="4000"/>
                            </p:stCondLst>
                            <p:childTnLst>
                              <p:par>
                                <p:cTn id="40" presetID="5" presetClass="entr" presetSubtype="10" fill="hold" nodeType="afterEffect">
                                  <p:stCondLst>
                                    <p:cond delay="0"/>
                                  </p:stCondLst>
                                  <p:childTnLst>
                                    <p:set>
                                      <p:cBhvr>
                                        <p:cTn id="41" dur="1" fill="hold">
                                          <p:stCondLst>
                                            <p:cond delay="0"/>
                                          </p:stCondLst>
                                        </p:cTn>
                                        <p:tgtEl>
                                          <p:spTgt spid="131075">
                                            <p:txEl>
                                              <p:pRg st="8" end="8"/>
                                            </p:txEl>
                                          </p:spTgt>
                                        </p:tgtEl>
                                        <p:attrNameLst>
                                          <p:attrName>style.visibility</p:attrName>
                                        </p:attrNameLst>
                                      </p:cBhvr>
                                      <p:to>
                                        <p:strVal val="visible"/>
                                      </p:to>
                                    </p:set>
                                    <p:animEffect transition="in" filter="checkerboard(across)">
                                      <p:cBhvr>
                                        <p:cTn id="42" dur="2000"/>
                                        <p:tgtEl>
                                          <p:spTgt spid="13107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10" name="Rectangle 14"/>
          <p:cNvSpPr>
            <a:spLocks noGrp="1" noChangeArrowheads="1"/>
          </p:cNvSpPr>
          <p:nvPr>
            <p:ph type="title"/>
          </p:nvPr>
        </p:nvSpPr>
        <p:spPr/>
        <p:txBody>
          <a:bodyPr vert="horz" anchor="b">
            <a:normAutofit/>
          </a:bodyPr>
          <a:lstStyle/>
          <a:p>
            <a:r>
              <a:rPr lang="fr-FR" sz="3000" b="1" dirty="0">
                <a:solidFill>
                  <a:srgbClr val="C00000"/>
                </a:solidFill>
              </a:rPr>
              <a:t>Choix d'un système de fichiers</a:t>
            </a:r>
            <a:endParaRPr lang="en-US" sz="3000" b="1" dirty="0">
              <a:solidFill>
                <a:srgbClr val="C00000"/>
              </a:solidFill>
            </a:endParaRPr>
          </a:p>
        </p:txBody>
      </p:sp>
      <p:sp>
        <p:nvSpPr>
          <p:cNvPr id="132111" name="Rectangle 15"/>
          <p:cNvSpPr>
            <a:spLocks noGrp="1" noChangeArrowheads="1"/>
          </p:cNvSpPr>
          <p:nvPr>
            <p:ph sz="quarter" idx="1"/>
          </p:nvPr>
        </p:nvSpPr>
        <p:spPr/>
        <p:txBody>
          <a:bodyPr/>
          <a:lstStyle/>
          <a:p>
            <a:pPr>
              <a:buFont typeface="Wingdings" pitchFamily="2" charset="2"/>
              <a:buNone/>
            </a:pPr>
            <a:r>
              <a:rPr lang="en-US"/>
              <a:t>Pour choisir un système de fichiers, déterminez :</a:t>
            </a:r>
          </a:p>
          <a:p>
            <a:r>
              <a:rPr lang="en-US"/>
              <a:t>Comment l'ordinateur est utilisé </a:t>
            </a:r>
          </a:p>
          <a:p>
            <a:r>
              <a:rPr lang="en-US"/>
              <a:t>Le nombre et la taille de disques installés localement</a:t>
            </a:r>
          </a:p>
          <a:p>
            <a:r>
              <a:rPr lang="fr-FR"/>
              <a:t>Les éléments à prendre en considération en matière de sécurité </a:t>
            </a:r>
            <a:endParaRPr lang="en-US"/>
          </a:p>
          <a:p>
            <a:r>
              <a:rPr lang="fr-FR"/>
              <a:t>Si vous avez des avantages à utiliser des fonctionnalités de système de fichiers avancées </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vert="horz" anchor="b">
            <a:normAutofit/>
          </a:bodyPr>
          <a:lstStyle/>
          <a:p>
            <a:r>
              <a:rPr lang="fr-FR" sz="3000" b="1" dirty="0">
                <a:solidFill>
                  <a:srgbClr val="C00000"/>
                </a:solidFill>
              </a:rPr>
              <a:t>Conversion des systèmes de fichiers</a:t>
            </a:r>
            <a:endParaRPr lang="en-US" sz="3000" b="1" dirty="0">
              <a:solidFill>
                <a:srgbClr val="C00000"/>
              </a:solidFill>
            </a:endParaRPr>
          </a:p>
        </p:txBody>
      </p:sp>
      <p:sp>
        <p:nvSpPr>
          <p:cNvPr id="134151" name="Rectangle 7"/>
          <p:cNvSpPr>
            <a:spLocks noChangeArrowheads="1"/>
          </p:cNvSpPr>
          <p:nvPr/>
        </p:nvSpPr>
        <p:spPr bwMode="auto">
          <a:xfrm>
            <a:off x="344758" y="1974785"/>
            <a:ext cx="2501900" cy="965200"/>
          </a:xfrm>
          <a:prstGeom prst="rect">
            <a:avLst/>
          </a:prstGeom>
          <a:solidFill>
            <a:srgbClr val="FFFFFF"/>
          </a:solidFill>
          <a:ln w="9525">
            <a:solidFill>
              <a:schemeClr val="tx1"/>
            </a:solidFill>
            <a:miter lim="800000"/>
            <a:headEnd/>
            <a:tailEnd/>
          </a:ln>
          <a:effectLst>
            <a:outerShdw dist="71842" dir="2700000" algn="ctr" rotWithShape="0">
              <a:srgbClr val="B2B2B2"/>
            </a:outerShdw>
          </a:effectLst>
        </p:spPr>
        <p:txBody>
          <a:bodyPr anchor="ctr"/>
          <a:lstStyle/>
          <a:p>
            <a:pPr algn="ctr"/>
            <a:r>
              <a:rPr lang="en-US" sz="2000" b="1" dirty="0">
                <a:latin typeface="Arial" charset="0"/>
              </a:rPr>
              <a:t>FAT</a:t>
            </a:r>
          </a:p>
        </p:txBody>
      </p:sp>
      <p:sp>
        <p:nvSpPr>
          <p:cNvPr id="134152" name="Rectangle 8"/>
          <p:cNvSpPr>
            <a:spLocks noChangeArrowheads="1"/>
          </p:cNvSpPr>
          <p:nvPr/>
        </p:nvSpPr>
        <p:spPr bwMode="auto">
          <a:xfrm>
            <a:off x="344758" y="4929040"/>
            <a:ext cx="2501900" cy="965200"/>
          </a:xfrm>
          <a:prstGeom prst="rect">
            <a:avLst/>
          </a:prstGeom>
          <a:solidFill>
            <a:srgbClr val="FFFFFF"/>
          </a:solidFill>
          <a:ln w="9525">
            <a:solidFill>
              <a:schemeClr val="tx1"/>
            </a:solidFill>
            <a:miter lim="800000"/>
            <a:headEnd/>
            <a:tailEnd/>
          </a:ln>
          <a:effectLst>
            <a:outerShdw dist="71842" dir="2700000" algn="ctr" rotWithShape="0">
              <a:srgbClr val="B2B2B2"/>
            </a:outerShdw>
          </a:effectLst>
        </p:spPr>
        <p:txBody>
          <a:bodyPr anchor="ctr"/>
          <a:lstStyle/>
          <a:p>
            <a:pPr algn="ctr"/>
            <a:r>
              <a:rPr lang="en-US" sz="2000" b="1">
                <a:latin typeface="Arial" charset="0"/>
              </a:rPr>
              <a:t>FAT</a:t>
            </a:r>
          </a:p>
        </p:txBody>
      </p:sp>
      <p:sp>
        <p:nvSpPr>
          <p:cNvPr id="134155" name="AutoShape 11"/>
          <p:cNvSpPr>
            <a:spLocks noChangeArrowheads="1"/>
          </p:cNvSpPr>
          <p:nvPr/>
        </p:nvSpPr>
        <p:spPr bwMode="auto">
          <a:xfrm>
            <a:off x="2854037" y="1952560"/>
            <a:ext cx="3643746" cy="1044575"/>
          </a:xfrm>
          <a:prstGeom prst="rightArrow">
            <a:avLst>
              <a:gd name="adj1" fmla="val 70824"/>
              <a:gd name="adj2" fmla="val 63373"/>
            </a:avLst>
          </a:prstGeom>
          <a:gradFill rotWithShape="0">
            <a:gsLst>
              <a:gs pos="0">
                <a:schemeClr val="accent2"/>
              </a:gs>
              <a:gs pos="100000">
                <a:schemeClr val="accent2">
                  <a:gamma/>
                  <a:tint val="47451"/>
                  <a:invGamma/>
                </a:schemeClr>
              </a:gs>
            </a:gsLst>
            <a:lin ang="0" scaled="1"/>
          </a:gradFill>
          <a:ln w="6350">
            <a:solidFill>
              <a:srgbClr val="800080"/>
            </a:solidFill>
            <a:miter lim="800000"/>
            <a:headEnd/>
            <a:tailEnd/>
          </a:ln>
          <a:effectLst>
            <a:outerShdw dist="63500" dir="3187806" algn="ctr" rotWithShape="0">
              <a:srgbClr val="C0C0C0"/>
            </a:outerShdw>
          </a:effectLst>
        </p:spPr>
        <p:txBody>
          <a:bodyPr tIns="27432" bIns="27432" anchor="ctr"/>
          <a:lstStyle/>
          <a:p>
            <a:pPr algn="ctr">
              <a:lnSpc>
                <a:spcPct val="85000"/>
              </a:lnSpc>
            </a:pPr>
            <a:r>
              <a:rPr lang="en-US" sz="2000" b="1" dirty="0" err="1">
                <a:latin typeface="Arial" charset="0"/>
              </a:rPr>
              <a:t>Utilisez</a:t>
            </a:r>
            <a:r>
              <a:rPr lang="en-US" sz="2000" b="1" dirty="0">
                <a:latin typeface="Arial" charset="0"/>
              </a:rPr>
              <a:t> </a:t>
            </a:r>
            <a:r>
              <a:rPr lang="en-US" sz="2000" b="1" dirty="0" err="1">
                <a:latin typeface="Arial" charset="0"/>
              </a:rPr>
              <a:t>une</a:t>
            </a:r>
            <a:r>
              <a:rPr lang="en-US" sz="2000" b="1" dirty="0">
                <a:latin typeface="Arial" charset="0"/>
              </a:rPr>
              <a:t> </a:t>
            </a:r>
            <a:r>
              <a:rPr lang="en-US" sz="2000" b="1" dirty="0" err="1">
                <a:latin typeface="Arial" charset="0"/>
              </a:rPr>
              <a:t>commande</a:t>
            </a:r>
            <a:r>
              <a:rPr lang="en-US" sz="2000" b="1" dirty="0">
                <a:latin typeface="Arial" charset="0"/>
              </a:rPr>
              <a:t> de conversion</a:t>
            </a:r>
          </a:p>
        </p:txBody>
      </p:sp>
      <p:sp>
        <p:nvSpPr>
          <p:cNvPr id="134156" name="AutoShape 12"/>
          <p:cNvSpPr>
            <a:spLocks noChangeArrowheads="1"/>
          </p:cNvSpPr>
          <p:nvPr/>
        </p:nvSpPr>
        <p:spPr bwMode="auto">
          <a:xfrm flipH="1">
            <a:off x="2895599" y="4871601"/>
            <a:ext cx="3560617" cy="1168970"/>
          </a:xfrm>
          <a:prstGeom prst="rightArrow">
            <a:avLst>
              <a:gd name="adj1" fmla="val 63222"/>
              <a:gd name="adj2" fmla="val 67026"/>
            </a:avLst>
          </a:prstGeom>
          <a:gradFill rotWithShape="0">
            <a:gsLst>
              <a:gs pos="0">
                <a:schemeClr val="accent2">
                  <a:gamma/>
                  <a:tint val="47451"/>
                  <a:invGamma/>
                </a:schemeClr>
              </a:gs>
              <a:gs pos="100000">
                <a:schemeClr val="accent2"/>
              </a:gs>
            </a:gsLst>
            <a:lin ang="0" scaled="1"/>
          </a:gradFill>
          <a:ln w="6350">
            <a:solidFill>
              <a:srgbClr val="800080"/>
            </a:solidFill>
            <a:miter lim="800000"/>
            <a:headEnd/>
            <a:tailEnd/>
          </a:ln>
          <a:effectLst>
            <a:outerShdw dist="63500" dir="3187806" algn="ctr" rotWithShape="0">
              <a:srgbClr val="C0C0C0"/>
            </a:outerShdw>
          </a:effectLst>
        </p:spPr>
        <p:txBody>
          <a:bodyPr wrap="none" tIns="27432" bIns="27432" anchor="ctr"/>
          <a:lstStyle/>
          <a:p>
            <a:pPr algn="ctr"/>
            <a:endParaRPr lang="fr-FR" sz="1800" b="1">
              <a:solidFill>
                <a:srgbClr val="C00000"/>
              </a:solidFill>
              <a:latin typeface="Arial" charset="0"/>
            </a:endParaRPr>
          </a:p>
        </p:txBody>
      </p:sp>
      <p:sp>
        <p:nvSpPr>
          <p:cNvPr id="134157" name="AutoShape 13"/>
          <p:cNvSpPr>
            <a:spLocks noChangeArrowheads="1"/>
          </p:cNvSpPr>
          <p:nvPr/>
        </p:nvSpPr>
        <p:spPr bwMode="auto">
          <a:xfrm>
            <a:off x="4394343" y="4992255"/>
            <a:ext cx="935037" cy="935038"/>
          </a:xfrm>
          <a:custGeom>
            <a:avLst/>
            <a:gdLst>
              <a:gd name="G0" fmla="+- 2700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FF0000"/>
          </a:solidFill>
          <a:ln w="9525">
            <a:noFill/>
            <a:miter lim="800000"/>
            <a:headEnd/>
            <a:tailEnd/>
          </a:ln>
          <a:effectLst>
            <a:outerShdw dist="17961" dir="2700000" algn="ctr" rotWithShape="0">
              <a:schemeClr val="tx1"/>
            </a:outerShdw>
          </a:effectLst>
        </p:spPr>
        <p:txBody>
          <a:bodyPr wrap="none" anchor="ctr"/>
          <a:lstStyle/>
          <a:p>
            <a:endParaRPr lang="fr-FR"/>
          </a:p>
        </p:txBody>
      </p:sp>
      <p:sp>
        <p:nvSpPr>
          <p:cNvPr id="134158" name="Text Box 14"/>
          <p:cNvSpPr txBox="1">
            <a:spLocks noChangeArrowheads="1"/>
          </p:cNvSpPr>
          <p:nvPr/>
        </p:nvSpPr>
        <p:spPr bwMode="auto">
          <a:xfrm>
            <a:off x="3618413" y="5265631"/>
            <a:ext cx="2812472" cy="400110"/>
          </a:xfrm>
          <a:prstGeom prst="rect">
            <a:avLst/>
          </a:prstGeom>
          <a:noFill/>
          <a:ln w="9525">
            <a:noFill/>
            <a:miter lim="800000"/>
            <a:headEnd/>
            <a:tailEnd/>
          </a:ln>
          <a:effectLst/>
        </p:spPr>
        <p:txBody>
          <a:bodyPr wrap="square">
            <a:spAutoFit/>
          </a:bodyPr>
          <a:lstStyle/>
          <a:p>
            <a:pPr algn="ctr"/>
            <a:r>
              <a:rPr lang="en-US" sz="2000" b="1" dirty="0" err="1">
                <a:latin typeface="Arial" charset="0"/>
              </a:rPr>
              <a:t>Aucune</a:t>
            </a:r>
            <a:r>
              <a:rPr lang="en-US" sz="2000" b="1" dirty="0">
                <a:latin typeface="Arial" charset="0"/>
              </a:rPr>
              <a:t> conversion</a:t>
            </a:r>
          </a:p>
        </p:txBody>
      </p:sp>
      <p:sp>
        <p:nvSpPr>
          <p:cNvPr id="134161" name="Rectangle 17"/>
          <p:cNvSpPr>
            <a:spLocks noChangeArrowheads="1"/>
          </p:cNvSpPr>
          <p:nvPr/>
        </p:nvSpPr>
        <p:spPr bwMode="auto">
          <a:xfrm>
            <a:off x="6479473" y="1974785"/>
            <a:ext cx="2232025" cy="965200"/>
          </a:xfrm>
          <a:prstGeom prst="rect">
            <a:avLst/>
          </a:prstGeom>
          <a:solidFill>
            <a:srgbClr val="FFFFFF"/>
          </a:solidFill>
          <a:ln w="9525">
            <a:solidFill>
              <a:schemeClr val="tx1"/>
            </a:solidFill>
            <a:miter lim="800000"/>
            <a:headEnd/>
            <a:tailEnd/>
          </a:ln>
          <a:effectLst>
            <a:outerShdw dist="71842" dir="2700000" algn="ctr" rotWithShape="0">
              <a:srgbClr val="B2B2B2"/>
            </a:outerShdw>
          </a:effectLst>
        </p:spPr>
        <p:txBody>
          <a:bodyPr anchor="ctr"/>
          <a:lstStyle/>
          <a:p>
            <a:pPr algn="ctr"/>
            <a:r>
              <a:rPr lang="en-US" sz="2000" b="1">
                <a:latin typeface="Arial" charset="0"/>
              </a:rPr>
              <a:t>Volume NTFS</a:t>
            </a:r>
          </a:p>
        </p:txBody>
      </p:sp>
      <p:sp>
        <p:nvSpPr>
          <p:cNvPr id="134162" name="Rectangle 18"/>
          <p:cNvSpPr>
            <a:spLocks noChangeArrowheads="1"/>
          </p:cNvSpPr>
          <p:nvPr/>
        </p:nvSpPr>
        <p:spPr bwMode="auto">
          <a:xfrm>
            <a:off x="6479473" y="4929040"/>
            <a:ext cx="2232025" cy="965200"/>
          </a:xfrm>
          <a:prstGeom prst="rect">
            <a:avLst/>
          </a:prstGeom>
          <a:solidFill>
            <a:srgbClr val="FFFFFF"/>
          </a:solidFill>
          <a:ln w="9525">
            <a:solidFill>
              <a:schemeClr val="tx1"/>
            </a:solidFill>
            <a:miter lim="800000"/>
            <a:headEnd/>
            <a:tailEnd/>
          </a:ln>
          <a:effectLst>
            <a:outerShdw dist="71842" dir="2700000" algn="ctr" rotWithShape="0">
              <a:srgbClr val="B2B2B2"/>
            </a:outerShdw>
          </a:effectLst>
        </p:spPr>
        <p:txBody>
          <a:bodyPr anchor="ctr"/>
          <a:lstStyle/>
          <a:p>
            <a:pPr algn="ctr"/>
            <a:r>
              <a:rPr lang="en-US" sz="2000" b="1">
                <a:latin typeface="Arial" charset="0"/>
              </a:rPr>
              <a:t>Volume NTFS</a:t>
            </a:r>
          </a:p>
        </p:txBody>
      </p:sp>
      <p:sp>
        <p:nvSpPr>
          <p:cNvPr id="21" name="Rectangle 20"/>
          <p:cNvSpPr/>
          <p:nvPr/>
        </p:nvSpPr>
        <p:spPr>
          <a:xfrm>
            <a:off x="540328" y="3297382"/>
            <a:ext cx="7384473" cy="830997"/>
          </a:xfrm>
          <a:prstGeom prst="rect">
            <a:avLst/>
          </a:prstGeom>
        </p:spPr>
        <p:txBody>
          <a:bodyPr wrap="square">
            <a:spAutoFit/>
          </a:bodyPr>
          <a:lstStyle/>
          <a:p>
            <a:pPr algn="ctr"/>
            <a:r>
              <a:rPr lang="fr-FR" sz="2400" b="1" dirty="0" err="1">
                <a:latin typeface="Arial" pitchFamily="34" charset="0"/>
                <a:cs typeface="Arial" pitchFamily="34" charset="0"/>
              </a:rPr>
              <a:t>convert</a:t>
            </a:r>
            <a:r>
              <a:rPr lang="fr-FR" sz="2400" b="1" dirty="0">
                <a:latin typeface="Arial" pitchFamily="34" charset="0"/>
                <a:cs typeface="Arial" pitchFamily="34" charset="0"/>
              </a:rPr>
              <a:t> lettre-lecteur: /</a:t>
            </a:r>
            <a:r>
              <a:rPr lang="fr-FR" sz="2400" b="1" dirty="0" err="1">
                <a:latin typeface="Arial" pitchFamily="34" charset="0"/>
                <a:cs typeface="Arial" pitchFamily="34" charset="0"/>
              </a:rPr>
              <a:t>fs:ntfs</a:t>
            </a:r>
            <a:br>
              <a:rPr lang="fr-FR" sz="2400" dirty="0">
                <a:latin typeface="Arial" pitchFamily="34" charset="0"/>
                <a:cs typeface="Arial" pitchFamily="34" charset="0"/>
              </a:rPr>
            </a:br>
            <a:r>
              <a:rPr lang="fr-FR" sz="2400" dirty="0">
                <a:latin typeface="Arial" pitchFamily="34" charset="0"/>
                <a:cs typeface="Arial" pitchFamily="34" charset="0"/>
              </a:rPr>
              <a:t>Exemple:        </a:t>
            </a:r>
            <a:r>
              <a:rPr lang="fr-FR" sz="2400" dirty="0" err="1">
                <a:latin typeface="Arial" pitchFamily="34" charset="0"/>
                <a:cs typeface="Arial" pitchFamily="34" charset="0"/>
              </a:rPr>
              <a:t>convert</a:t>
            </a:r>
            <a:r>
              <a:rPr lang="fr-FR" sz="2400" dirty="0">
                <a:latin typeface="Arial" pitchFamily="34" charset="0"/>
                <a:cs typeface="Arial" pitchFamily="34" charset="0"/>
              </a:rPr>
              <a:t> d: /</a:t>
            </a:r>
            <a:r>
              <a:rPr lang="fr-FR" sz="2400" dirty="0" err="1">
                <a:latin typeface="Arial" pitchFamily="34" charset="0"/>
                <a:cs typeface="Arial" pitchFamily="34" charset="0"/>
              </a:rPr>
              <a:t>fs:ntfs</a:t>
            </a:r>
            <a:endParaRPr lang="fr-FR" sz="2400" dirty="0">
              <a:latin typeface="Arial" pitchFamily="34" charset="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4151"/>
                                        </p:tgtEl>
                                        <p:attrNameLst>
                                          <p:attrName>style.visibility</p:attrName>
                                        </p:attrNameLst>
                                      </p:cBhvr>
                                      <p:to>
                                        <p:strVal val="visible"/>
                                      </p:to>
                                    </p:set>
                                    <p:animEffect transition="in" filter="checkerboard(across)">
                                      <p:cBhvr>
                                        <p:cTn id="7" dur="500"/>
                                        <p:tgtEl>
                                          <p:spTgt spid="13415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34155"/>
                                        </p:tgtEl>
                                        <p:attrNameLst>
                                          <p:attrName>style.visibility</p:attrName>
                                        </p:attrNameLst>
                                      </p:cBhvr>
                                      <p:to>
                                        <p:strVal val="visible"/>
                                      </p:to>
                                    </p:set>
                                    <p:animEffect transition="in" filter="checkerboard(across)">
                                      <p:cBhvr>
                                        <p:cTn id="10" dur="500"/>
                                        <p:tgtEl>
                                          <p:spTgt spid="13415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34161"/>
                                        </p:tgtEl>
                                        <p:attrNameLst>
                                          <p:attrName>style.visibility</p:attrName>
                                        </p:attrNameLst>
                                      </p:cBhvr>
                                      <p:to>
                                        <p:strVal val="visible"/>
                                      </p:to>
                                    </p:set>
                                    <p:animEffect transition="in" filter="checkerboard(across)">
                                      <p:cBhvr>
                                        <p:cTn id="13" dur="500"/>
                                        <p:tgtEl>
                                          <p:spTgt spid="134161"/>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checkerboard(across)">
                                      <p:cBhvr>
                                        <p:cTn id="18" dur="5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34152"/>
                                        </p:tgtEl>
                                        <p:attrNameLst>
                                          <p:attrName>style.visibility</p:attrName>
                                        </p:attrNameLst>
                                      </p:cBhvr>
                                      <p:to>
                                        <p:strVal val="visible"/>
                                      </p:to>
                                    </p:set>
                                    <p:animEffect transition="in" filter="checkerboard(across)">
                                      <p:cBhvr>
                                        <p:cTn id="23" dur="500"/>
                                        <p:tgtEl>
                                          <p:spTgt spid="134152"/>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34156"/>
                                        </p:tgtEl>
                                        <p:attrNameLst>
                                          <p:attrName>style.visibility</p:attrName>
                                        </p:attrNameLst>
                                      </p:cBhvr>
                                      <p:to>
                                        <p:strVal val="visible"/>
                                      </p:to>
                                    </p:set>
                                    <p:animEffect transition="in" filter="checkerboard(across)">
                                      <p:cBhvr>
                                        <p:cTn id="26" dur="500"/>
                                        <p:tgtEl>
                                          <p:spTgt spid="134156"/>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34157"/>
                                        </p:tgtEl>
                                        <p:attrNameLst>
                                          <p:attrName>style.visibility</p:attrName>
                                        </p:attrNameLst>
                                      </p:cBhvr>
                                      <p:to>
                                        <p:strVal val="visible"/>
                                      </p:to>
                                    </p:set>
                                    <p:animEffect transition="in" filter="checkerboard(across)">
                                      <p:cBhvr>
                                        <p:cTn id="29" dur="500"/>
                                        <p:tgtEl>
                                          <p:spTgt spid="134157"/>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134158"/>
                                        </p:tgtEl>
                                        <p:attrNameLst>
                                          <p:attrName>style.visibility</p:attrName>
                                        </p:attrNameLst>
                                      </p:cBhvr>
                                      <p:to>
                                        <p:strVal val="visible"/>
                                      </p:to>
                                    </p:set>
                                    <p:animEffect transition="in" filter="checkerboard(across)">
                                      <p:cBhvr>
                                        <p:cTn id="32" dur="500"/>
                                        <p:tgtEl>
                                          <p:spTgt spid="134158"/>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134162"/>
                                        </p:tgtEl>
                                        <p:attrNameLst>
                                          <p:attrName>style.visibility</p:attrName>
                                        </p:attrNameLst>
                                      </p:cBhvr>
                                      <p:to>
                                        <p:strVal val="visible"/>
                                      </p:to>
                                    </p:set>
                                    <p:animEffect transition="in" filter="checkerboard(across)">
                                      <p:cBhvr>
                                        <p:cTn id="35" dur="500"/>
                                        <p:tgtEl>
                                          <p:spTgt spid="134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51" grpId="0" animBg="1"/>
      <p:bldP spid="134152" grpId="0" animBg="1"/>
      <p:bldP spid="134155" grpId="0" animBg="1"/>
      <p:bldP spid="134156" grpId="0" animBg="1"/>
      <p:bldP spid="134157" grpId="0" animBg="1"/>
      <p:bldP spid="134158" grpId="0"/>
      <p:bldP spid="134161" grpId="0" animBg="1"/>
      <p:bldP spid="134162" grpId="0" animBg="1"/>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Rectangle 4"/>
          <p:cNvSpPr>
            <a:spLocks noGrp="1" noChangeArrowheads="1"/>
          </p:cNvSpPr>
          <p:nvPr>
            <p:ph type="title"/>
          </p:nvPr>
        </p:nvSpPr>
        <p:spPr/>
        <p:txBody>
          <a:bodyPr/>
          <a:lstStyle/>
          <a:p>
            <a:r>
              <a:rPr lang="en-US" dirty="0">
                <a:solidFill>
                  <a:schemeClr val="tx1"/>
                </a:solidFill>
                <a:cs typeface="Times New Roman" pitchFamily="18" charset="0"/>
              </a:rPr>
              <a:t>2. </a:t>
            </a:r>
            <a:r>
              <a:rPr lang="en-US" dirty="0" err="1">
                <a:solidFill>
                  <a:schemeClr val="tx1"/>
                </a:solidFill>
                <a:cs typeface="Times New Roman" pitchFamily="18" charset="0"/>
              </a:rPr>
              <a:t>Gestion</a:t>
            </a:r>
            <a:r>
              <a:rPr lang="en-US" dirty="0">
                <a:solidFill>
                  <a:schemeClr val="tx1"/>
                </a:solidFill>
                <a:cs typeface="Times New Roman" pitchFamily="18" charset="0"/>
              </a:rPr>
              <a:t> de la compression des </a:t>
            </a:r>
            <a:r>
              <a:rPr lang="en-US" dirty="0" err="1">
                <a:solidFill>
                  <a:schemeClr val="tx1"/>
                </a:solidFill>
                <a:cs typeface="Times New Roman" pitchFamily="18" charset="0"/>
              </a:rPr>
              <a:t>données</a:t>
            </a:r>
            <a:endParaRPr lang="en-US" dirty="0">
              <a:solidFill>
                <a:schemeClr val="tx1"/>
              </a:solidFill>
            </a:endParaRPr>
          </a:p>
        </p:txBody>
      </p:sp>
      <p:sp>
        <p:nvSpPr>
          <p:cNvPr id="135173" name="Rectangle 5"/>
          <p:cNvSpPr>
            <a:spLocks noGrp="1" noChangeArrowheads="1"/>
          </p:cNvSpPr>
          <p:nvPr>
            <p:ph sz="quarter" idx="1"/>
          </p:nvPr>
        </p:nvSpPr>
        <p:spPr>
          <a:xfrm>
            <a:off x="274043" y="2261339"/>
            <a:ext cx="8503920" cy="3058807"/>
          </a:xfrm>
        </p:spPr>
        <p:txBody>
          <a:bodyPr/>
          <a:lstStyle/>
          <a:p>
            <a:pPr>
              <a:buClrTx/>
              <a:buFont typeface="Symbol" pitchFamily="18" charset="2"/>
              <a:buChar char="®"/>
            </a:pPr>
            <a:r>
              <a:rPr lang="fr-FR" dirty="0"/>
              <a:t>Définition des fichiers et des dossiers compressés </a:t>
            </a:r>
            <a:endParaRPr lang="en-US" dirty="0"/>
          </a:p>
          <a:p>
            <a:pPr>
              <a:buClrTx/>
              <a:buFont typeface="Symbol" pitchFamily="18" charset="2"/>
              <a:buChar char="®"/>
            </a:pPr>
            <a:r>
              <a:rPr lang="fr-FR" dirty="0"/>
              <a:t>Compression des fichiers et des dossiers </a:t>
            </a:r>
            <a:endParaRPr lang="en-US" dirty="0"/>
          </a:p>
          <a:p>
            <a:pPr>
              <a:buClrTx/>
              <a:buFont typeface="Symbol" pitchFamily="18" charset="2"/>
              <a:buChar char="®"/>
            </a:pPr>
            <a:r>
              <a:rPr lang="fr-FR" dirty="0"/>
              <a:t>Copie et déplacement des fichiers et des dossiers compressés </a:t>
            </a:r>
            <a:endParaRPr lang="en-US" dirty="0"/>
          </a:p>
          <a:p>
            <a:pPr>
              <a:buClrTx/>
              <a:buFont typeface="Symbol" pitchFamily="18" charset="2"/>
              <a:buChar char="®"/>
            </a:pPr>
            <a:r>
              <a:rPr lang="fr-FR" dirty="0"/>
              <a:t>Conseils pratiques en matière de gestion de la compression des données </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8" name="Picture 4" descr="Volume01"/>
          <p:cNvPicPr>
            <a:picLocks noChangeAspect="1" noChangeArrowheads="1"/>
          </p:cNvPicPr>
          <p:nvPr/>
        </p:nvPicPr>
        <p:blipFill>
          <a:blip r:embed="rId3"/>
          <a:srcRect/>
          <a:stretch>
            <a:fillRect/>
          </a:stretch>
        </p:blipFill>
        <p:spPr bwMode="auto">
          <a:xfrm>
            <a:off x="6538913" y="2930225"/>
            <a:ext cx="1909762" cy="1543050"/>
          </a:xfrm>
          <a:prstGeom prst="rect">
            <a:avLst/>
          </a:prstGeom>
          <a:noFill/>
          <a:ln w="9525">
            <a:noFill/>
            <a:miter lim="800000"/>
            <a:headEnd/>
            <a:tailEnd/>
          </a:ln>
        </p:spPr>
      </p:pic>
      <p:grpSp>
        <p:nvGrpSpPr>
          <p:cNvPr id="2" name="Group 5"/>
          <p:cNvGrpSpPr>
            <a:grpSpLocks/>
          </p:cNvGrpSpPr>
          <p:nvPr/>
        </p:nvGrpSpPr>
        <p:grpSpPr bwMode="auto">
          <a:xfrm>
            <a:off x="5378451" y="1593551"/>
            <a:ext cx="3571876" cy="1871663"/>
            <a:chOff x="3388" y="1222"/>
            <a:chExt cx="2250" cy="1179"/>
          </a:xfrm>
        </p:grpSpPr>
        <p:sp>
          <p:nvSpPr>
            <p:cNvPr id="492552" name="AutoShape 8"/>
            <p:cNvSpPr>
              <a:spLocks noChangeArrowheads="1"/>
            </p:cNvSpPr>
            <p:nvPr/>
          </p:nvSpPr>
          <p:spPr bwMode="auto">
            <a:xfrm>
              <a:off x="3826" y="1222"/>
              <a:ext cx="1812" cy="567"/>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gn="ctr">
                <a:defRPr/>
              </a:pPr>
              <a:r>
                <a:rPr lang="en-US" sz="2000" b="1" dirty="0" err="1">
                  <a:cs typeface="Arial" charset="0"/>
                </a:rPr>
                <a:t>Fichier</a:t>
              </a:r>
              <a:r>
                <a:rPr lang="en-US" sz="2000" b="1" dirty="0">
                  <a:cs typeface="Arial" charset="0"/>
                </a:rPr>
                <a:t> </a:t>
              </a:r>
              <a:r>
                <a:rPr lang="en-US" sz="2000" b="1" dirty="0" err="1">
                  <a:cs typeface="Arial" charset="0"/>
                </a:rPr>
                <a:t>avant</a:t>
              </a:r>
              <a:r>
                <a:rPr lang="en-US" sz="2000" b="1" dirty="0">
                  <a:cs typeface="Arial" charset="0"/>
                </a:rPr>
                <a:t> la compression</a:t>
              </a:r>
            </a:p>
          </p:txBody>
        </p:sp>
        <p:sp>
          <p:nvSpPr>
            <p:cNvPr id="31765" name="Freeform 6"/>
            <p:cNvSpPr>
              <a:spLocks/>
            </p:cNvSpPr>
            <p:nvPr/>
          </p:nvSpPr>
          <p:spPr bwMode="auto">
            <a:xfrm>
              <a:off x="3698" y="1582"/>
              <a:ext cx="811" cy="819"/>
            </a:xfrm>
            <a:custGeom>
              <a:avLst/>
              <a:gdLst>
                <a:gd name="T0" fmla="*/ 479 w 811"/>
                <a:gd name="T1" fmla="*/ 819 h 819"/>
                <a:gd name="T2" fmla="*/ 811 w 811"/>
                <a:gd name="T3" fmla="*/ 501 h 819"/>
                <a:gd name="T4" fmla="*/ 0 w 811"/>
                <a:gd name="T5" fmla="*/ 0 h 819"/>
                <a:gd name="T6" fmla="*/ 171 w 811"/>
                <a:gd name="T7" fmla="*/ 811 h 819"/>
                <a:gd name="T8" fmla="*/ 479 w 811"/>
                <a:gd name="T9" fmla="*/ 819 h 819"/>
                <a:gd name="T10" fmla="*/ 0 60000 65536"/>
                <a:gd name="T11" fmla="*/ 0 60000 65536"/>
                <a:gd name="T12" fmla="*/ 0 60000 65536"/>
                <a:gd name="T13" fmla="*/ 0 60000 65536"/>
                <a:gd name="T14" fmla="*/ 0 60000 65536"/>
                <a:gd name="T15" fmla="*/ 0 w 811"/>
                <a:gd name="T16" fmla="*/ 0 h 819"/>
                <a:gd name="T17" fmla="*/ 811 w 811"/>
                <a:gd name="T18" fmla="*/ 819 h 819"/>
              </a:gdLst>
              <a:ahLst/>
              <a:cxnLst>
                <a:cxn ang="T10">
                  <a:pos x="T0" y="T1"/>
                </a:cxn>
                <a:cxn ang="T11">
                  <a:pos x="T2" y="T3"/>
                </a:cxn>
                <a:cxn ang="T12">
                  <a:pos x="T4" y="T5"/>
                </a:cxn>
                <a:cxn ang="T13">
                  <a:pos x="T6" y="T7"/>
                </a:cxn>
                <a:cxn ang="T14">
                  <a:pos x="T8" y="T9"/>
                </a:cxn>
              </a:cxnLst>
              <a:rect l="T15" t="T16" r="T17" b="T18"/>
              <a:pathLst>
                <a:path w="811" h="819">
                  <a:moveTo>
                    <a:pt x="479" y="819"/>
                  </a:moveTo>
                  <a:lnTo>
                    <a:pt x="811" y="501"/>
                  </a:lnTo>
                  <a:lnTo>
                    <a:pt x="0" y="0"/>
                  </a:lnTo>
                  <a:lnTo>
                    <a:pt x="171" y="811"/>
                  </a:lnTo>
                  <a:lnTo>
                    <a:pt x="479" y="819"/>
                  </a:lnTo>
                  <a:close/>
                </a:path>
              </a:pathLst>
            </a:custGeom>
            <a:solidFill>
              <a:srgbClr val="DFE8F2"/>
            </a:solidFill>
            <a:ln w="9525">
              <a:noFill/>
              <a:round/>
              <a:headEnd/>
              <a:tailEnd/>
            </a:ln>
          </p:spPr>
          <p:txBody>
            <a:bodyPr wrap="none" anchor="ctr"/>
            <a:lstStyle/>
            <a:p>
              <a:endParaRPr lang="fr-FR"/>
            </a:p>
          </p:txBody>
        </p:sp>
        <p:pic>
          <p:nvPicPr>
            <p:cNvPr id="31766" name="Picture 7" descr="Document_Document01"/>
            <p:cNvPicPr>
              <a:picLocks noChangeAspect="1" noChangeArrowheads="1"/>
            </p:cNvPicPr>
            <p:nvPr/>
          </p:nvPicPr>
          <p:blipFill>
            <a:blip r:embed="rId4"/>
            <a:srcRect/>
            <a:stretch>
              <a:fillRect/>
            </a:stretch>
          </p:blipFill>
          <p:spPr bwMode="auto">
            <a:xfrm>
              <a:off x="3388" y="1499"/>
              <a:ext cx="531" cy="900"/>
            </a:xfrm>
            <a:prstGeom prst="rect">
              <a:avLst/>
            </a:prstGeom>
            <a:noFill/>
            <a:ln w="9525">
              <a:noFill/>
              <a:miter lim="800000"/>
              <a:headEnd/>
              <a:tailEnd/>
            </a:ln>
          </p:spPr>
        </p:pic>
      </p:grpSp>
      <p:grpSp>
        <p:nvGrpSpPr>
          <p:cNvPr id="3" name="Group 9"/>
          <p:cNvGrpSpPr>
            <a:grpSpLocks/>
          </p:cNvGrpSpPr>
          <p:nvPr/>
        </p:nvGrpSpPr>
        <p:grpSpPr bwMode="auto">
          <a:xfrm>
            <a:off x="4997453" y="3620790"/>
            <a:ext cx="3036889" cy="2378076"/>
            <a:chOff x="3148" y="2499"/>
            <a:chExt cx="1913" cy="1498"/>
          </a:xfrm>
        </p:grpSpPr>
        <p:sp>
          <p:nvSpPr>
            <p:cNvPr id="31761" name="Freeform 10"/>
            <p:cNvSpPr>
              <a:spLocks/>
            </p:cNvSpPr>
            <p:nvPr/>
          </p:nvSpPr>
          <p:spPr bwMode="auto">
            <a:xfrm>
              <a:off x="3285" y="2499"/>
              <a:ext cx="1265" cy="600"/>
            </a:xfrm>
            <a:custGeom>
              <a:avLst/>
              <a:gdLst>
                <a:gd name="T0" fmla="*/ 1265 w 1265"/>
                <a:gd name="T1" fmla="*/ 16 h 600"/>
                <a:gd name="T2" fmla="*/ 1127 w 1265"/>
                <a:gd name="T3" fmla="*/ 0 h 600"/>
                <a:gd name="T4" fmla="*/ 0 w 1265"/>
                <a:gd name="T5" fmla="*/ 356 h 600"/>
                <a:gd name="T6" fmla="*/ 665 w 1265"/>
                <a:gd name="T7" fmla="*/ 600 h 600"/>
                <a:gd name="T8" fmla="*/ 1265 w 1265"/>
                <a:gd name="T9" fmla="*/ 16 h 600"/>
                <a:gd name="T10" fmla="*/ 0 60000 65536"/>
                <a:gd name="T11" fmla="*/ 0 60000 65536"/>
                <a:gd name="T12" fmla="*/ 0 60000 65536"/>
                <a:gd name="T13" fmla="*/ 0 60000 65536"/>
                <a:gd name="T14" fmla="*/ 0 60000 65536"/>
                <a:gd name="T15" fmla="*/ 0 w 1265"/>
                <a:gd name="T16" fmla="*/ 0 h 600"/>
                <a:gd name="T17" fmla="*/ 1265 w 1265"/>
                <a:gd name="T18" fmla="*/ 600 h 600"/>
              </a:gdLst>
              <a:ahLst/>
              <a:cxnLst>
                <a:cxn ang="T10">
                  <a:pos x="T0" y="T1"/>
                </a:cxn>
                <a:cxn ang="T11">
                  <a:pos x="T2" y="T3"/>
                </a:cxn>
                <a:cxn ang="T12">
                  <a:pos x="T4" y="T5"/>
                </a:cxn>
                <a:cxn ang="T13">
                  <a:pos x="T6" y="T7"/>
                </a:cxn>
                <a:cxn ang="T14">
                  <a:pos x="T8" y="T9"/>
                </a:cxn>
              </a:cxnLst>
              <a:rect l="T15" t="T16" r="T17" b="T18"/>
              <a:pathLst>
                <a:path w="1265" h="600">
                  <a:moveTo>
                    <a:pt x="1265" y="16"/>
                  </a:moveTo>
                  <a:lnTo>
                    <a:pt x="1127" y="0"/>
                  </a:lnTo>
                  <a:lnTo>
                    <a:pt x="0" y="356"/>
                  </a:lnTo>
                  <a:lnTo>
                    <a:pt x="665" y="600"/>
                  </a:lnTo>
                  <a:lnTo>
                    <a:pt x="1265" y="16"/>
                  </a:lnTo>
                  <a:close/>
                </a:path>
              </a:pathLst>
            </a:custGeom>
            <a:solidFill>
              <a:srgbClr val="DFE8F2"/>
            </a:solidFill>
            <a:ln w="9525">
              <a:noFill/>
              <a:round/>
              <a:headEnd/>
              <a:tailEnd/>
            </a:ln>
          </p:spPr>
          <p:txBody>
            <a:bodyPr wrap="none" anchor="ctr"/>
            <a:lstStyle/>
            <a:p>
              <a:endParaRPr lang="fr-FR"/>
            </a:p>
          </p:txBody>
        </p:sp>
        <p:pic>
          <p:nvPicPr>
            <p:cNvPr id="31762" name="Picture 11" descr="Vise_CompressedFile01"/>
            <p:cNvPicPr>
              <a:picLocks noChangeAspect="1" noChangeArrowheads="1"/>
            </p:cNvPicPr>
            <p:nvPr/>
          </p:nvPicPr>
          <p:blipFill>
            <a:blip r:embed="rId5"/>
            <a:srcRect/>
            <a:stretch>
              <a:fillRect/>
            </a:stretch>
          </p:blipFill>
          <p:spPr bwMode="auto">
            <a:xfrm>
              <a:off x="3148" y="2755"/>
              <a:ext cx="1110" cy="738"/>
            </a:xfrm>
            <a:prstGeom prst="rect">
              <a:avLst/>
            </a:prstGeom>
            <a:noFill/>
            <a:ln w="9525">
              <a:noFill/>
              <a:miter lim="800000"/>
              <a:headEnd/>
              <a:tailEnd/>
            </a:ln>
          </p:spPr>
        </p:pic>
        <p:sp>
          <p:nvSpPr>
            <p:cNvPr id="492556" name="AutoShape 12"/>
            <p:cNvSpPr>
              <a:spLocks noChangeArrowheads="1"/>
            </p:cNvSpPr>
            <p:nvPr/>
          </p:nvSpPr>
          <p:spPr bwMode="auto">
            <a:xfrm>
              <a:off x="3189" y="3552"/>
              <a:ext cx="1872" cy="445"/>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gn="ctr">
                <a:defRPr/>
              </a:pPr>
              <a:r>
                <a:rPr lang="en-US" sz="2000" b="1" dirty="0" err="1">
                  <a:cs typeface="Arial" charset="0"/>
                </a:rPr>
                <a:t>Fichier</a:t>
              </a:r>
              <a:r>
                <a:rPr lang="en-US" sz="2000" b="1" dirty="0">
                  <a:cs typeface="Arial" charset="0"/>
                </a:rPr>
                <a:t> après la compression</a:t>
              </a:r>
            </a:p>
          </p:txBody>
        </p:sp>
      </p:grpSp>
      <p:sp>
        <p:nvSpPr>
          <p:cNvPr id="492557" name="Arc 13"/>
          <p:cNvSpPr>
            <a:spLocks/>
          </p:cNvSpPr>
          <p:nvPr/>
        </p:nvSpPr>
        <p:spPr bwMode="auto">
          <a:xfrm>
            <a:off x="6988175" y="3298525"/>
            <a:ext cx="501650" cy="371475"/>
          </a:xfrm>
          <a:custGeom>
            <a:avLst/>
            <a:gdLst>
              <a:gd name="T0" fmla="*/ 2147483647 w 11578"/>
              <a:gd name="T1" fmla="*/ 2147483647 h 20808"/>
              <a:gd name="T2" fmla="*/ 0 w 11578"/>
              <a:gd name="T3" fmla="*/ 2147483647 h 20808"/>
              <a:gd name="T4" fmla="*/ 2147483647 w 11578"/>
              <a:gd name="T5" fmla="*/ 0 h 20808"/>
              <a:gd name="T6" fmla="*/ 0 60000 65536"/>
              <a:gd name="T7" fmla="*/ 0 60000 65536"/>
              <a:gd name="T8" fmla="*/ 0 60000 65536"/>
              <a:gd name="T9" fmla="*/ 0 w 11578"/>
              <a:gd name="T10" fmla="*/ 0 h 20808"/>
              <a:gd name="T11" fmla="*/ 11578 w 11578"/>
              <a:gd name="T12" fmla="*/ 20808 h 20808"/>
            </a:gdLst>
            <a:ahLst/>
            <a:cxnLst>
              <a:cxn ang="T6">
                <a:pos x="T0" y="T1"/>
              </a:cxn>
              <a:cxn ang="T7">
                <a:pos x="T2" y="T3"/>
              </a:cxn>
              <a:cxn ang="T8">
                <a:pos x="T4" y="T5"/>
              </a:cxn>
            </a:cxnLst>
            <a:rect l="T9" t="T10" r="T11" b="T12"/>
            <a:pathLst>
              <a:path w="11578" h="20808" fill="none" extrusionOk="0">
                <a:moveTo>
                  <a:pt x="5781" y="20807"/>
                </a:moveTo>
                <a:cubicBezTo>
                  <a:pt x="3738" y="20238"/>
                  <a:pt x="1790" y="19371"/>
                  <a:pt x="0" y="18234"/>
                </a:cubicBezTo>
              </a:path>
              <a:path w="11578" h="20808" stroke="0" extrusionOk="0">
                <a:moveTo>
                  <a:pt x="5781" y="20807"/>
                </a:moveTo>
                <a:cubicBezTo>
                  <a:pt x="3738" y="20238"/>
                  <a:pt x="1790" y="19371"/>
                  <a:pt x="0" y="18234"/>
                </a:cubicBezTo>
                <a:lnTo>
                  <a:pt x="11578" y="0"/>
                </a:lnTo>
                <a:lnTo>
                  <a:pt x="5781" y="20807"/>
                </a:lnTo>
                <a:close/>
              </a:path>
            </a:pathLst>
          </a:custGeom>
          <a:solidFill>
            <a:srgbClr val="666699"/>
          </a:solidFill>
          <a:ln w="9525">
            <a:noFill/>
            <a:round/>
            <a:headEnd/>
            <a:tailEnd/>
          </a:ln>
        </p:spPr>
        <p:txBody>
          <a:bodyPr wrap="none" anchor="ctr"/>
          <a:lstStyle/>
          <a:p>
            <a:endParaRPr lang="fr-FR"/>
          </a:p>
        </p:txBody>
      </p:sp>
      <p:sp>
        <p:nvSpPr>
          <p:cNvPr id="492558" name="Arc 14"/>
          <p:cNvSpPr>
            <a:spLocks/>
          </p:cNvSpPr>
          <p:nvPr/>
        </p:nvSpPr>
        <p:spPr bwMode="auto">
          <a:xfrm>
            <a:off x="6554788" y="2950863"/>
            <a:ext cx="935037" cy="506412"/>
          </a:xfrm>
          <a:custGeom>
            <a:avLst/>
            <a:gdLst>
              <a:gd name="T0" fmla="*/ 2147483647 w 21600"/>
              <a:gd name="T1" fmla="*/ 2147483647 h 28376"/>
              <a:gd name="T2" fmla="*/ 2147483647 w 21600"/>
              <a:gd name="T3" fmla="*/ 0 h 28376"/>
              <a:gd name="T4" fmla="*/ 2147483647 w 21600"/>
              <a:gd name="T5" fmla="*/ 2147483647 h 28376"/>
              <a:gd name="T6" fmla="*/ 0 60000 65536"/>
              <a:gd name="T7" fmla="*/ 0 60000 65536"/>
              <a:gd name="T8" fmla="*/ 0 60000 65536"/>
              <a:gd name="T9" fmla="*/ 0 w 21600"/>
              <a:gd name="T10" fmla="*/ 0 h 28376"/>
              <a:gd name="T11" fmla="*/ 21600 w 21600"/>
              <a:gd name="T12" fmla="*/ 28376 h 28376"/>
            </a:gdLst>
            <a:ahLst/>
            <a:cxnLst>
              <a:cxn ang="T6">
                <a:pos x="T0" y="T1"/>
              </a:cxn>
              <a:cxn ang="T7">
                <a:pos x="T2" y="T3"/>
              </a:cxn>
              <a:cxn ang="T8">
                <a:pos x="T4" y="T5"/>
              </a:cxn>
            </a:cxnLst>
            <a:rect l="T9" t="T10" r="T11" b="T12"/>
            <a:pathLst>
              <a:path w="21600" h="28376" fill="none" extrusionOk="0">
                <a:moveTo>
                  <a:pt x="1635" y="28375"/>
                </a:moveTo>
                <a:cubicBezTo>
                  <a:pt x="555" y="25761"/>
                  <a:pt x="0" y="22959"/>
                  <a:pt x="0" y="20131"/>
                </a:cubicBezTo>
                <a:cubicBezTo>
                  <a:pt x="-1" y="11222"/>
                  <a:pt x="5469" y="3228"/>
                  <a:pt x="13771" y="-1"/>
                </a:cubicBezTo>
              </a:path>
              <a:path w="21600" h="28376" stroke="0" extrusionOk="0">
                <a:moveTo>
                  <a:pt x="1635" y="28375"/>
                </a:moveTo>
                <a:cubicBezTo>
                  <a:pt x="555" y="25761"/>
                  <a:pt x="0" y="22959"/>
                  <a:pt x="0" y="20131"/>
                </a:cubicBezTo>
                <a:cubicBezTo>
                  <a:pt x="-1" y="11222"/>
                  <a:pt x="5469" y="3228"/>
                  <a:pt x="13771" y="-1"/>
                </a:cubicBezTo>
                <a:lnTo>
                  <a:pt x="21600" y="20131"/>
                </a:lnTo>
                <a:lnTo>
                  <a:pt x="1635" y="28375"/>
                </a:lnTo>
                <a:close/>
              </a:path>
            </a:pathLst>
          </a:custGeom>
          <a:solidFill>
            <a:srgbClr val="666699"/>
          </a:solidFill>
          <a:ln w="9525">
            <a:noFill/>
            <a:round/>
            <a:headEnd/>
            <a:tailEnd/>
          </a:ln>
        </p:spPr>
        <p:txBody>
          <a:bodyPr wrap="none" anchor="ctr"/>
          <a:lstStyle/>
          <a:p>
            <a:endParaRPr lang="fr-FR"/>
          </a:p>
        </p:txBody>
      </p:sp>
      <p:sp>
        <p:nvSpPr>
          <p:cNvPr id="24" name="Rectangle 2"/>
          <p:cNvSpPr>
            <a:spLocks noGrp="1" noChangeArrowheads="1"/>
          </p:cNvSpPr>
          <p:nvPr>
            <p:ph type="title"/>
          </p:nvPr>
        </p:nvSpPr>
        <p:spPr>
          <a:xfrm>
            <a:off x="177061" y="270174"/>
            <a:ext cx="8800684" cy="758952"/>
          </a:xfrm>
        </p:spPr>
        <p:txBody>
          <a:bodyPr vert="horz" anchor="b">
            <a:normAutofit/>
          </a:bodyPr>
          <a:lstStyle/>
          <a:p>
            <a:r>
              <a:rPr lang="fr-FR" sz="3000" b="1" dirty="0">
                <a:solidFill>
                  <a:srgbClr val="C00000"/>
                </a:solidFill>
              </a:rPr>
              <a:t>Qu'est-ce</a:t>
            </a:r>
            <a:r>
              <a:rPr lang="fr-FR" sz="2800" b="1" dirty="0"/>
              <a:t> </a:t>
            </a:r>
            <a:r>
              <a:rPr lang="fr-FR" sz="3000" b="1" dirty="0">
                <a:solidFill>
                  <a:srgbClr val="C00000"/>
                </a:solidFill>
              </a:rPr>
              <a:t>que la compression NTFS ?</a:t>
            </a:r>
          </a:p>
        </p:txBody>
      </p:sp>
      <p:sp>
        <p:nvSpPr>
          <p:cNvPr id="27" name="Rectangle 4"/>
          <p:cNvSpPr>
            <a:spLocks noGrp="1" noChangeArrowheads="1"/>
          </p:cNvSpPr>
          <p:nvPr>
            <p:ph sz="quarter" idx="1"/>
          </p:nvPr>
        </p:nvSpPr>
        <p:spPr>
          <a:xfrm>
            <a:off x="166247" y="1552861"/>
            <a:ext cx="5153898" cy="1952344"/>
          </a:xfrm>
          <a:noFill/>
          <a:ln/>
        </p:spPr>
        <p:txBody>
          <a:bodyPr>
            <a:noAutofit/>
          </a:bodyPr>
          <a:lstStyle/>
          <a:p>
            <a:pPr>
              <a:lnSpc>
                <a:spcPct val="85000"/>
              </a:lnSpc>
              <a:spcBef>
                <a:spcPct val="45000"/>
              </a:spcBef>
              <a:buClrTx/>
              <a:buFont typeface="Symbol" pitchFamily="18" charset="2"/>
              <a:buChar char="®"/>
            </a:pPr>
            <a:r>
              <a:rPr lang="fr-FR" sz="2400" dirty="0"/>
              <a:t>Les fichiers et dossiers NTFS présentent un état de compression</a:t>
            </a:r>
          </a:p>
          <a:p>
            <a:pPr>
              <a:lnSpc>
                <a:spcPct val="85000"/>
              </a:lnSpc>
              <a:spcBef>
                <a:spcPct val="45000"/>
              </a:spcBef>
              <a:buClrTx/>
              <a:buFont typeface="Symbol" pitchFamily="18" charset="2"/>
              <a:buChar char="®"/>
            </a:pPr>
            <a:r>
              <a:rPr lang="fr-FR" sz="2400" dirty="0"/>
              <a:t>Les fichiers sont automatiquement décompressés quand l'utilisateur y accède</a:t>
            </a:r>
          </a:p>
        </p:txBody>
      </p:sp>
      <p:sp>
        <p:nvSpPr>
          <p:cNvPr id="28" name="Rectangle 27"/>
          <p:cNvSpPr/>
          <p:nvPr/>
        </p:nvSpPr>
        <p:spPr>
          <a:xfrm>
            <a:off x="193962" y="3505200"/>
            <a:ext cx="4738256" cy="2142125"/>
          </a:xfrm>
          <a:prstGeom prst="rect">
            <a:avLst/>
          </a:prstGeom>
        </p:spPr>
        <p:txBody>
          <a:bodyPr wrap="square">
            <a:spAutoFit/>
          </a:bodyPr>
          <a:lstStyle/>
          <a:p>
            <a:pPr>
              <a:lnSpc>
                <a:spcPct val="85000"/>
              </a:lnSpc>
              <a:spcBef>
                <a:spcPct val="45000"/>
              </a:spcBef>
              <a:buClrTx/>
              <a:buFont typeface="Symbol" pitchFamily="18" charset="2"/>
              <a:buChar char="®"/>
            </a:pPr>
            <a:r>
              <a:rPr lang="fr-FR" sz="2400" dirty="0">
                <a:latin typeface="+mn-lt"/>
              </a:rPr>
              <a:t>L'allocation d'espace dépend de la taille des fichiers non compressés</a:t>
            </a:r>
          </a:p>
          <a:p>
            <a:pPr>
              <a:lnSpc>
                <a:spcPct val="85000"/>
              </a:lnSpc>
              <a:spcBef>
                <a:spcPct val="45000"/>
              </a:spcBef>
              <a:buClrTx/>
              <a:buFont typeface="Symbol" pitchFamily="18" charset="2"/>
              <a:buChar char="®"/>
            </a:pPr>
            <a:r>
              <a:rPr lang="fr-FR" sz="2400" dirty="0">
                <a:latin typeface="+mn-lt"/>
              </a:rPr>
              <a:t>Les fichiers et dossiers compressés peuvent être désignés par une couleur différente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492558"/>
                                        </p:tgtEl>
                                        <p:attrNameLst>
                                          <p:attrName>style.visibility</p:attrName>
                                        </p:attrNameLst>
                                      </p:cBhvr>
                                      <p:to>
                                        <p:strVal val="visible"/>
                                      </p:to>
                                    </p:set>
                                    <p:animEffect transition="in" filter="wipe(right)">
                                      <p:cBhvr>
                                        <p:cTn id="7" dur="500"/>
                                        <p:tgtEl>
                                          <p:spTgt spid="492558"/>
                                        </p:tgtEl>
                                      </p:cBhvr>
                                    </p:animEffect>
                                  </p:childTnLst>
                                </p:cTn>
                              </p:par>
                            </p:childTnLst>
                          </p:cTn>
                        </p:par>
                        <p:par>
                          <p:cTn id="8" fill="hold" nodeType="afterGroup">
                            <p:stCondLst>
                              <p:cond delay="500"/>
                            </p:stCondLst>
                            <p:childTnLst>
                              <p:par>
                                <p:cTn id="9" presetID="22" presetClass="entr" presetSubtype="2"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right)">
                                      <p:cBhvr>
                                        <p:cTn id="11" dur="500"/>
                                        <p:tgtEl>
                                          <p:spTgt spid="2"/>
                                        </p:tgtEl>
                                      </p:cBhvr>
                                    </p:animEffect>
                                  </p:childTnLst>
                                </p:cTn>
                              </p:par>
                            </p:childTnLst>
                          </p:cTn>
                        </p:par>
                        <p:par>
                          <p:cTn id="12" fill="hold" nodeType="afterGroup">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492557"/>
                                        </p:tgtEl>
                                        <p:attrNameLst>
                                          <p:attrName>style.visibility</p:attrName>
                                        </p:attrNameLst>
                                      </p:cBhvr>
                                      <p:to>
                                        <p:strVal val="visible"/>
                                      </p:to>
                                    </p:set>
                                    <p:animEffect transition="in" filter="wipe(right)">
                                      <p:cBhvr>
                                        <p:cTn id="15" dur="500"/>
                                        <p:tgtEl>
                                          <p:spTgt spid="492557"/>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up)">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27">
                                            <p:txEl>
                                              <p:pRg st="0" end="0"/>
                                            </p:txEl>
                                          </p:spTgt>
                                        </p:tgtEl>
                                        <p:attrNameLst>
                                          <p:attrName>style.visibility</p:attrName>
                                        </p:attrNameLst>
                                      </p:cBhvr>
                                      <p:to>
                                        <p:strVal val="visible"/>
                                      </p:to>
                                    </p:set>
                                    <p:animEffect transition="in" filter="checkerboard(across)">
                                      <p:cBhvr>
                                        <p:cTn id="24" dur="500"/>
                                        <p:tgtEl>
                                          <p:spTgt spid="27">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27">
                                            <p:txEl>
                                              <p:pRg st="1" end="1"/>
                                            </p:txEl>
                                          </p:spTgt>
                                        </p:tgtEl>
                                        <p:attrNameLst>
                                          <p:attrName>style.visibility</p:attrName>
                                        </p:attrNameLst>
                                      </p:cBhvr>
                                      <p:to>
                                        <p:strVal val="visible"/>
                                      </p:to>
                                    </p:set>
                                    <p:animEffect transition="in" filter="checkerboard(across)">
                                      <p:cBhvr>
                                        <p:cTn id="29" dur="500"/>
                                        <p:tgtEl>
                                          <p:spTgt spid="27">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nodeType="clickEffect">
                                  <p:stCondLst>
                                    <p:cond delay="0"/>
                                  </p:stCondLst>
                                  <p:childTnLst>
                                    <p:set>
                                      <p:cBhvr>
                                        <p:cTn id="33" dur="1" fill="hold">
                                          <p:stCondLst>
                                            <p:cond delay="0"/>
                                          </p:stCondLst>
                                        </p:cTn>
                                        <p:tgtEl>
                                          <p:spTgt spid="28">
                                            <p:txEl>
                                              <p:pRg st="0" end="0"/>
                                            </p:txEl>
                                          </p:spTgt>
                                        </p:tgtEl>
                                        <p:attrNameLst>
                                          <p:attrName>style.visibility</p:attrName>
                                        </p:attrNameLst>
                                      </p:cBhvr>
                                      <p:to>
                                        <p:strVal val="visible"/>
                                      </p:to>
                                    </p:set>
                                    <p:animEffect transition="in" filter="checkerboard(across)">
                                      <p:cBhvr>
                                        <p:cTn id="34" dur="500"/>
                                        <p:tgtEl>
                                          <p:spTgt spid="28">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5" presetClass="entr" presetSubtype="10" fill="hold" nodeType="clickEffect">
                                  <p:stCondLst>
                                    <p:cond delay="0"/>
                                  </p:stCondLst>
                                  <p:childTnLst>
                                    <p:set>
                                      <p:cBhvr>
                                        <p:cTn id="38" dur="1" fill="hold">
                                          <p:stCondLst>
                                            <p:cond delay="0"/>
                                          </p:stCondLst>
                                        </p:cTn>
                                        <p:tgtEl>
                                          <p:spTgt spid="28">
                                            <p:txEl>
                                              <p:pRg st="1" end="1"/>
                                            </p:txEl>
                                          </p:spTgt>
                                        </p:tgtEl>
                                        <p:attrNameLst>
                                          <p:attrName>style.visibility</p:attrName>
                                        </p:attrNameLst>
                                      </p:cBhvr>
                                      <p:to>
                                        <p:strVal val="visible"/>
                                      </p:to>
                                    </p:set>
                                    <p:animEffect transition="in" filter="checkerboard(across)">
                                      <p:cBhvr>
                                        <p:cTn id="39" dur="500"/>
                                        <p:tgtEl>
                                          <p:spTgt spid="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557" grpId="0" animBg="1"/>
      <p:bldP spid="49255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end To Compressed File.png">
            <a:extLst>
              <a:ext uri="{FF2B5EF4-FFF2-40B4-BE49-F238E27FC236}">
                <a16:creationId xmlns:a16="http://schemas.microsoft.com/office/drawing/2014/main" id="{51A5CB5A-02E0-4BC1-ADDC-C8B1AB5AD4B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58775" y="2291593"/>
            <a:ext cx="8521700" cy="4029075"/>
          </a:xfrm>
          <a:prstGeom prst="rect">
            <a:avLst/>
          </a:prstGeom>
          <a:noFill/>
          <a:ln w="9525">
            <a:solidFill>
              <a:srgbClr val="002060"/>
            </a:solidFill>
            <a:miter lim="800000"/>
            <a:headEnd/>
            <a:tailEnd/>
          </a:ln>
          <a:extLst>
            <a:ext uri="{909E8E84-426E-40DD-AFC4-6F175D3DCCD1}">
              <a14:hiddenFill xmlns:a14="http://schemas.microsoft.com/office/drawing/2010/main">
                <a:solidFill>
                  <a:srgbClr val="FFFFFF"/>
                </a:solidFill>
              </a14:hiddenFill>
            </a:ext>
          </a:extLst>
        </p:spPr>
      </p:pic>
      <p:pic>
        <p:nvPicPr>
          <p:cNvPr id="12" name="Picture 11" descr="Send To Compressed File 2.png">
            <a:extLst>
              <a:ext uri="{FF2B5EF4-FFF2-40B4-BE49-F238E27FC236}">
                <a16:creationId xmlns:a16="http://schemas.microsoft.com/office/drawing/2014/main" id="{0156465C-B840-4437-931F-82622F8D84A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27012" y="2012190"/>
            <a:ext cx="8689975" cy="4329112"/>
          </a:xfrm>
          <a:prstGeom prst="rect">
            <a:avLst/>
          </a:prstGeom>
          <a:noFill/>
          <a:ln w="9525">
            <a:solidFill>
              <a:srgbClr val="002060"/>
            </a:solidFill>
            <a:miter lim="800000"/>
            <a:headEnd/>
            <a:tailEnd/>
          </a:ln>
          <a:extLst>
            <a:ext uri="{909E8E84-426E-40DD-AFC4-6F175D3DCCD1}">
              <a14:hiddenFill xmlns:a14="http://schemas.microsoft.com/office/drawing/2010/main">
                <a:solidFill>
                  <a:srgbClr val="FFFFFF"/>
                </a:solidFill>
              </a14:hiddenFill>
            </a:ext>
          </a:extLst>
        </p:spPr>
      </p:pic>
      <p:grpSp>
        <p:nvGrpSpPr>
          <p:cNvPr id="4" name="Group 18">
            <a:extLst>
              <a:ext uri="{FF2B5EF4-FFF2-40B4-BE49-F238E27FC236}">
                <a16:creationId xmlns:a16="http://schemas.microsoft.com/office/drawing/2014/main" id="{4EDF5232-C4D2-4EDC-99FB-5C39FE0E26B6}"/>
              </a:ext>
            </a:extLst>
          </p:cNvPr>
          <p:cNvGrpSpPr>
            <a:grpSpLocks/>
          </p:cNvGrpSpPr>
          <p:nvPr/>
        </p:nvGrpSpPr>
        <p:grpSpPr bwMode="auto">
          <a:xfrm>
            <a:off x="2184400" y="2620205"/>
            <a:ext cx="6591300" cy="519113"/>
            <a:chOff x="2183642" y="1528549"/>
            <a:chExt cx="6591867" cy="518616"/>
          </a:xfrm>
        </p:grpSpPr>
        <p:sp>
          <p:nvSpPr>
            <p:cNvPr id="14" name="Rectangle 13">
              <a:extLst>
                <a:ext uri="{FF2B5EF4-FFF2-40B4-BE49-F238E27FC236}">
                  <a16:creationId xmlns:a16="http://schemas.microsoft.com/office/drawing/2014/main" id="{56CCD46C-DE07-4887-BBEB-BC380D3BA199}"/>
                </a:ext>
              </a:extLst>
            </p:cNvPr>
            <p:cNvSpPr>
              <a:spLocks noChangeArrowheads="1"/>
            </p:cNvSpPr>
            <p:nvPr/>
          </p:nvSpPr>
          <p:spPr bwMode="auto">
            <a:xfrm>
              <a:off x="2183642" y="1528549"/>
              <a:ext cx="5636110" cy="504342"/>
            </a:xfrm>
            <a:prstGeom prst="rect">
              <a:avLst/>
            </a:prstGeom>
            <a:noFill/>
            <a:ln w="25400" algn="ctr">
              <a:solidFill>
                <a:srgbClr val="FF0000"/>
              </a:solidFill>
              <a:prstDash val="sysDash"/>
              <a:round/>
              <a:headEnd/>
              <a:tailEnd/>
            </a:ln>
            <a:effectLst>
              <a:outerShdw dist="35921" dir="2700000" algn="ctr" rotWithShape="0">
                <a:srgbClr val="AFAFAF"/>
              </a:outerShdw>
            </a:effectLst>
          </p:spPr>
          <p:txBody>
            <a:bodyPr lIns="182880" rIns="182880" anchor="ctr"/>
            <a:lstStyle/>
            <a:p>
              <a:pPr algn="ctr" eaLnBrk="0" hangingPunct="0">
                <a:defRPr/>
              </a:pPr>
              <a:endParaRPr lang="en-US" sz="2000">
                <a:cs typeface="Arial" charset="0"/>
              </a:endParaRPr>
            </a:p>
          </p:txBody>
        </p:sp>
        <p:sp>
          <p:nvSpPr>
            <p:cNvPr id="13" name="Rectangle 12">
              <a:extLst>
                <a:ext uri="{FF2B5EF4-FFF2-40B4-BE49-F238E27FC236}">
                  <a16:creationId xmlns:a16="http://schemas.microsoft.com/office/drawing/2014/main" id="{8CBC81D4-8C1B-4A0A-933B-76731222338D}"/>
                </a:ext>
              </a:extLst>
            </p:cNvPr>
            <p:cNvSpPr>
              <a:spLocks noChangeArrowheads="1"/>
            </p:cNvSpPr>
            <p:nvPr/>
          </p:nvSpPr>
          <p:spPr bwMode="auto">
            <a:xfrm>
              <a:off x="7807051" y="1528549"/>
              <a:ext cx="968458" cy="518616"/>
            </a:xfrm>
            <a:prstGeom prst="rect">
              <a:avLst/>
            </a:prstGeom>
            <a:noFill/>
            <a:ln w="25400" algn="ctr">
              <a:solidFill>
                <a:srgbClr val="FF0000"/>
              </a:solidFill>
              <a:round/>
              <a:headEnd/>
              <a:tailEnd/>
            </a:ln>
            <a:effectLst>
              <a:outerShdw dist="35921" dir="2700000" algn="ctr" rotWithShape="0">
                <a:srgbClr val="AFAFAF"/>
              </a:outerShdw>
            </a:effectLst>
          </p:spPr>
          <p:txBody>
            <a:bodyPr lIns="182880" rIns="182880" anchor="ctr"/>
            <a:lstStyle/>
            <a:p>
              <a:pPr algn="ctr" eaLnBrk="0" hangingPunct="0">
                <a:defRPr/>
              </a:pPr>
              <a:endParaRPr lang="en-US" sz="2000">
                <a:cs typeface="Arial" charset="0"/>
              </a:endParaRPr>
            </a:p>
          </p:txBody>
        </p:sp>
      </p:grpSp>
      <p:sp>
        <p:nvSpPr>
          <p:cNvPr id="16" name="Freeform 5">
            <a:extLst>
              <a:ext uri="{FF2B5EF4-FFF2-40B4-BE49-F238E27FC236}">
                <a16:creationId xmlns:a16="http://schemas.microsoft.com/office/drawing/2014/main" id="{DFBA690D-71FF-466A-8714-470829B1FF9E}"/>
              </a:ext>
            </a:extLst>
          </p:cNvPr>
          <p:cNvSpPr>
            <a:spLocks/>
          </p:cNvSpPr>
          <p:nvPr/>
        </p:nvSpPr>
        <p:spPr bwMode="auto">
          <a:xfrm rot="5400000">
            <a:off x="4256053" y="-2913729"/>
            <a:ext cx="631896" cy="8961120"/>
          </a:xfrm>
          <a:prstGeom prst="rect">
            <a:avLst/>
          </a:prstGeom>
          <a:gradFill>
            <a:gsLst>
              <a:gs pos="0">
                <a:srgbClr val="8DACD0"/>
              </a:gs>
              <a:gs pos="100000">
                <a:srgbClr val="DEE7F1"/>
              </a:gs>
            </a:gsLst>
            <a:lin ang="2700000" scaled="1"/>
          </a:gradFill>
          <a:ln w="38100">
            <a:noFill/>
          </a:ln>
          <a:effectLst/>
          <a:scene3d>
            <a:camera prst="orthographicFront"/>
            <a:lightRig rig="flat" dir="t">
              <a:rot lat="0" lon="0" rev="5400000"/>
            </a:lightRig>
          </a:scene3d>
          <a:sp3d>
            <a:bevelB w="38100" h="38100"/>
          </a:sp3d>
        </p:spPr>
        <p:style>
          <a:lnRef idx="2">
            <a:schemeClr val="accent1">
              <a:shade val="50000"/>
            </a:schemeClr>
          </a:lnRef>
          <a:fillRef idx="1">
            <a:schemeClr val="accent1"/>
          </a:fillRef>
          <a:effectRef idx="0">
            <a:schemeClr val="accent1"/>
          </a:effectRef>
          <a:fontRef idx="minor">
            <a:schemeClr val="lt1"/>
          </a:fontRef>
        </p:style>
        <p:txBody>
          <a:bodyPr lIns="0" tIns="45718" rIns="0" bIns="0" anchor="ctr"/>
          <a:lstStyle/>
          <a:p>
            <a:pPr defTabSz="912813">
              <a:lnSpc>
                <a:spcPct val="85000"/>
              </a:lnSpc>
              <a:defRPr/>
            </a:pPr>
            <a:endParaRPr lang="en-US" altLang="zh-CN" sz="2000">
              <a:solidFill>
                <a:srgbClr val="FFFFFF"/>
              </a:solidFill>
              <a:effectLst>
                <a:outerShdw blurRad="38100" dist="38100" dir="2700000" algn="tl">
                  <a:srgbClr val="C0C0C0"/>
                </a:outerShdw>
              </a:effectLst>
              <a:latin typeface="Segoe Semibold" pitchFamily="34" charset="0"/>
              <a:ea typeface="宋体" pitchFamily="2" charset="-122"/>
              <a:cs typeface="Arial" charset="0"/>
            </a:endParaRPr>
          </a:p>
        </p:txBody>
      </p:sp>
      <p:sp>
        <p:nvSpPr>
          <p:cNvPr id="35851" name="TextBox 16">
            <a:extLst>
              <a:ext uri="{FF2B5EF4-FFF2-40B4-BE49-F238E27FC236}">
                <a16:creationId xmlns:a16="http://schemas.microsoft.com/office/drawing/2014/main" id="{C159A94A-E7D0-4195-B852-84147AFB8EFD}"/>
              </a:ext>
            </a:extLst>
          </p:cNvPr>
          <p:cNvSpPr txBox="1">
            <a:spLocks noChangeArrowheads="1"/>
          </p:cNvSpPr>
          <p:nvPr/>
        </p:nvSpPr>
        <p:spPr bwMode="auto">
          <a:xfrm>
            <a:off x="250824" y="1240973"/>
            <a:ext cx="86661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1800" dirty="0"/>
              <a:t>Un dossier </a:t>
            </a:r>
            <a:r>
              <a:rPr lang="en-US" altLang="fr-FR" sz="1800" dirty="0" err="1"/>
              <a:t>compressé</a:t>
            </a:r>
            <a:r>
              <a:rPr lang="en-US" altLang="fr-FR" sz="1800" dirty="0"/>
              <a:t>  </a:t>
            </a:r>
            <a:r>
              <a:rPr lang="en-US" altLang="fr-FR" sz="1800" dirty="0" err="1"/>
              <a:t>peut</a:t>
            </a:r>
            <a:r>
              <a:rPr lang="en-US" altLang="fr-FR" sz="1800" dirty="0"/>
              <a:t> </a:t>
            </a:r>
            <a:r>
              <a:rPr lang="en-US" altLang="fr-FR" sz="1800" dirty="0" err="1"/>
              <a:t>contenir</a:t>
            </a:r>
            <a:r>
              <a:rPr lang="en-US" altLang="fr-FR" sz="1800" dirty="0"/>
              <a:t> </a:t>
            </a:r>
            <a:r>
              <a:rPr lang="en-US" altLang="fr-FR" sz="1800" dirty="0" err="1"/>
              <a:t>plusieurs</a:t>
            </a:r>
            <a:r>
              <a:rPr lang="en-US" altLang="fr-FR" sz="1800" dirty="0"/>
              <a:t> </a:t>
            </a:r>
            <a:r>
              <a:rPr lang="en-US" altLang="fr-FR" sz="1800" dirty="0" err="1"/>
              <a:t>fichiers</a:t>
            </a:r>
            <a:r>
              <a:rPr lang="en-US" altLang="fr-FR" sz="1800" dirty="0"/>
              <a:t> et sous dossiers </a:t>
            </a:r>
            <a:r>
              <a:rPr lang="en-US" altLang="fr-FR" sz="1800" dirty="0" err="1"/>
              <a:t>compressé</a:t>
            </a:r>
            <a:r>
              <a:rPr lang="en-US" altLang="fr-FR" sz="1800" dirty="0"/>
              <a:t> pour </a:t>
            </a:r>
            <a:r>
              <a:rPr lang="en-US" altLang="fr-FR" sz="1800" dirty="0" err="1"/>
              <a:t>réduire</a:t>
            </a:r>
            <a:r>
              <a:rPr lang="en-US" altLang="fr-FR" sz="1800" dirty="0"/>
              <a:t> la </a:t>
            </a:r>
            <a:r>
              <a:rPr lang="en-US" altLang="fr-FR" sz="1800" dirty="0" err="1"/>
              <a:t>taille</a:t>
            </a:r>
            <a:r>
              <a:rPr lang="en-US" altLang="fr-FR" sz="1800" dirty="0"/>
              <a:t> </a:t>
            </a:r>
            <a:r>
              <a:rPr lang="en-US" altLang="fr-FR" sz="1800" dirty="0" err="1"/>
              <a:t>alloué</a:t>
            </a:r>
            <a:r>
              <a:rPr lang="en-US" altLang="fr-FR" sz="1800" dirty="0"/>
              <a:t> sur le </a:t>
            </a:r>
            <a:r>
              <a:rPr lang="en-US" altLang="fr-FR" sz="1800" dirty="0" err="1"/>
              <a:t>système</a:t>
            </a:r>
            <a:r>
              <a:rPr lang="en-US" altLang="fr-FR" sz="1800" dirty="0"/>
              <a:t>. </a:t>
            </a:r>
          </a:p>
        </p:txBody>
      </p:sp>
      <p:grpSp>
        <p:nvGrpSpPr>
          <p:cNvPr id="8" name="Group 20">
            <a:extLst>
              <a:ext uri="{FF2B5EF4-FFF2-40B4-BE49-F238E27FC236}">
                <a16:creationId xmlns:a16="http://schemas.microsoft.com/office/drawing/2014/main" id="{CF4364FE-E4F5-4848-925A-60AA34A77507}"/>
              </a:ext>
            </a:extLst>
          </p:cNvPr>
          <p:cNvGrpSpPr>
            <a:grpSpLocks/>
          </p:cNvGrpSpPr>
          <p:nvPr/>
        </p:nvGrpSpPr>
        <p:grpSpPr bwMode="auto">
          <a:xfrm>
            <a:off x="2838450" y="4558543"/>
            <a:ext cx="5664200" cy="1015663"/>
            <a:chOff x="2838734" y="4080676"/>
            <a:chExt cx="5663821" cy="1016706"/>
          </a:xfrm>
        </p:grpSpPr>
        <p:sp>
          <p:nvSpPr>
            <p:cNvPr id="19" name="Rounded Rectangle 18">
              <a:extLst>
                <a:ext uri="{FF2B5EF4-FFF2-40B4-BE49-F238E27FC236}">
                  <a16:creationId xmlns:a16="http://schemas.microsoft.com/office/drawing/2014/main" id="{E452426C-A5C4-4BD3-9EEB-52C656414C8E}"/>
                </a:ext>
              </a:extLst>
            </p:cNvPr>
            <p:cNvSpPr>
              <a:spLocks noChangeArrowheads="1"/>
            </p:cNvSpPr>
            <p:nvPr/>
          </p:nvSpPr>
          <p:spPr bwMode="auto">
            <a:xfrm>
              <a:off x="2838734" y="4080676"/>
              <a:ext cx="5663821" cy="928052"/>
            </a:xfrm>
            <a:prstGeom prst="roundRect">
              <a:avLst>
                <a:gd name="adj" fmla="val 16667"/>
              </a:avLst>
            </a:prstGeom>
            <a:gradFill rotWithShape="1">
              <a:gsLst>
                <a:gs pos="0">
                  <a:srgbClr val="E4CD9A"/>
                </a:gs>
                <a:gs pos="100000">
                  <a:srgbClr val="EEEFD7"/>
                </a:gs>
              </a:gsLst>
              <a:lin ang="2700000" scaled="1"/>
            </a:gradFill>
            <a:ln w="9525" algn="ctr">
              <a:noFill/>
              <a:round/>
              <a:headEnd/>
              <a:tailEnd/>
            </a:ln>
            <a:effectLst>
              <a:outerShdw dist="35921" dir="2700000" algn="ctr" rotWithShape="0">
                <a:srgbClr val="AFAFAF"/>
              </a:outerShdw>
            </a:effectLst>
          </p:spPr>
          <p:txBody>
            <a:bodyPr lIns="182880" rIns="182880" anchor="ctr"/>
            <a:lstStyle/>
            <a:p>
              <a:pPr algn="ctr" eaLnBrk="0" hangingPunct="0">
                <a:defRPr/>
              </a:pPr>
              <a:endParaRPr lang="en-US" sz="2000">
                <a:cs typeface="Arial" charset="0"/>
              </a:endParaRPr>
            </a:p>
          </p:txBody>
        </p:sp>
        <p:sp>
          <p:nvSpPr>
            <p:cNvPr id="35854" name="TextBox 19">
              <a:extLst>
                <a:ext uri="{FF2B5EF4-FFF2-40B4-BE49-F238E27FC236}">
                  <a16:creationId xmlns:a16="http://schemas.microsoft.com/office/drawing/2014/main" id="{B439712B-A053-4D24-943E-0D70EDB4C837}"/>
                </a:ext>
              </a:extLst>
            </p:cNvPr>
            <p:cNvSpPr txBox="1">
              <a:spLocks noChangeArrowheads="1"/>
            </p:cNvSpPr>
            <p:nvPr/>
          </p:nvSpPr>
          <p:spPr bwMode="auto">
            <a:xfrm>
              <a:off x="3016155" y="4080676"/>
              <a:ext cx="5336275" cy="1016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Verdana" panose="020B0604030504040204" pitchFamily="34" charset="0"/>
                  <a:cs typeface="Arial" panose="020B0604020202020204" pitchFamily="34" charset="0"/>
                </a:defRPr>
              </a:lvl1pPr>
              <a:lvl2pPr marL="742950" indent="-285750" eaLnBrk="0" hangingPunct="0">
                <a:defRPr b="1">
                  <a:solidFill>
                    <a:schemeClr val="tx1"/>
                  </a:solidFill>
                  <a:latin typeface="Verdana" panose="020B0604030504040204" pitchFamily="34" charset="0"/>
                  <a:cs typeface="Arial" panose="020B0604020202020204" pitchFamily="34" charset="0"/>
                </a:defRPr>
              </a:lvl2pPr>
              <a:lvl3pPr marL="1143000" indent="-228600" eaLnBrk="0" hangingPunct="0">
                <a:defRPr b="1">
                  <a:solidFill>
                    <a:schemeClr val="tx1"/>
                  </a:solidFill>
                  <a:latin typeface="Verdana" panose="020B0604030504040204" pitchFamily="34" charset="0"/>
                  <a:cs typeface="Arial" panose="020B0604020202020204" pitchFamily="34" charset="0"/>
                </a:defRPr>
              </a:lvl3pPr>
              <a:lvl4pPr marL="1600200" indent="-228600" eaLnBrk="0" hangingPunct="0">
                <a:defRPr b="1">
                  <a:solidFill>
                    <a:schemeClr val="tx1"/>
                  </a:solidFill>
                  <a:latin typeface="Verdana" panose="020B0604030504040204" pitchFamily="34" charset="0"/>
                  <a:cs typeface="Arial" panose="020B0604020202020204" pitchFamily="34" charset="0"/>
                </a:defRPr>
              </a:lvl4pPr>
              <a:lvl5pPr marL="2057400" indent="-228600" eaLnBrk="0" hangingPunct="0">
                <a:defRPr b="1">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Verdana" panose="020B0604030504040204" pitchFamily="34" charset="0"/>
                  <a:cs typeface="Arial" panose="020B0604020202020204" pitchFamily="34" charset="0"/>
                </a:defRPr>
              </a:lvl9pPr>
            </a:lstStyle>
            <a:p>
              <a:pPr eaLnBrk="1" hangingPunct="1"/>
              <a:r>
                <a:rPr lang="en-US" altLang="fr-FR" sz="2000" dirty="0"/>
                <a:t>Un </a:t>
              </a:r>
              <a:r>
                <a:rPr lang="en-US" altLang="fr-FR" sz="2000" dirty="0" err="1"/>
                <a:t>fichier</a:t>
              </a:r>
              <a:r>
                <a:rPr lang="en-US" altLang="fr-FR" sz="2000" dirty="0"/>
                <a:t> </a:t>
              </a:r>
              <a:r>
                <a:rPr lang="en-US" altLang="fr-FR" sz="2000" dirty="0" err="1"/>
                <a:t>ou</a:t>
              </a:r>
              <a:r>
                <a:rPr lang="en-US" altLang="fr-FR" sz="2000" dirty="0"/>
                <a:t> dossier </a:t>
              </a:r>
              <a:r>
                <a:rPr lang="en-US" altLang="fr-FR" sz="2000" dirty="0" err="1"/>
                <a:t>compressé</a:t>
              </a:r>
              <a:r>
                <a:rPr lang="en-US" altLang="fr-FR" sz="2000" dirty="0"/>
                <a:t> a </a:t>
              </a:r>
              <a:r>
                <a:rPr lang="en-US" altLang="fr-FR" sz="2000" dirty="0" err="1"/>
                <a:t>une</a:t>
              </a:r>
              <a:r>
                <a:rPr lang="en-US" altLang="fr-FR" sz="2000" dirty="0"/>
                <a:t> extension .zip. </a:t>
              </a:r>
              <a:r>
                <a:rPr lang="en-US" altLang="fr-FR" sz="2000" dirty="0" err="1"/>
                <a:t>Noter</a:t>
              </a:r>
              <a:r>
                <a:rPr lang="en-US" altLang="fr-FR" sz="2000" dirty="0"/>
                <a:t> la reduction de la </a:t>
              </a:r>
              <a:r>
                <a:rPr lang="en-US" altLang="fr-FR" sz="2000" dirty="0" err="1"/>
                <a:t>taille</a:t>
              </a:r>
              <a:r>
                <a:rPr lang="en-US" altLang="fr-FR" sz="2000" dirty="0"/>
                <a:t> du </a:t>
              </a:r>
              <a:r>
                <a:rPr lang="en-US" altLang="fr-FR" sz="2000" dirty="0" err="1"/>
                <a:t>fichier</a:t>
              </a:r>
              <a:endParaRPr lang="en-US" altLang="fr-FR" sz="2000" dirty="0"/>
            </a:p>
          </p:txBody>
        </p:sp>
      </p:grpSp>
      <p:sp>
        <p:nvSpPr>
          <p:cNvPr id="23" name="Rectangle 2">
            <a:extLst>
              <a:ext uri="{FF2B5EF4-FFF2-40B4-BE49-F238E27FC236}">
                <a16:creationId xmlns:a16="http://schemas.microsoft.com/office/drawing/2014/main" id="{F543ECB6-0671-44D1-AC40-1717218594F7}"/>
              </a:ext>
            </a:extLst>
          </p:cNvPr>
          <p:cNvSpPr>
            <a:spLocks noGrp="1" noChangeArrowheads="1"/>
          </p:cNvSpPr>
          <p:nvPr>
            <p:ph type="title"/>
          </p:nvPr>
        </p:nvSpPr>
        <p:spPr>
          <a:xfrm>
            <a:off x="177061" y="270174"/>
            <a:ext cx="8800684" cy="758952"/>
          </a:xfrm>
        </p:spPr>
        <p:txBody>
          <a:bodyPr vert="horz" anchor="b">
            <a:normAutofit/>
          </a:bodyPr>
          <a:lstStyle/>
          <a:p>
            <a:r>
              <a:rPr lang="fr-FR" sz="3000" b="1" dirty="0">
                <a:solidFill>
                  <a:srgbClr val="C00000"/>
                </a:solidFill>
              </a:rPr>
              <a:t>Qu'est-ce</a:t>
            </a:r>
            <a:r>
              <a:rPr lang="fr-FR" sz="2800" b="1" dirty="0"/>
              <a:t> </a:t>
            </a:r>
            <a:r>
              <a:rPr lang="fr-FR" sz="3000" b="1" dirty="0">
                <a:solidFill>
                  <a:srgbClr val="C00000"/>
                </a:solidFill>
              </a:rPr>
              <a:t>que la compression NTFS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nodeType="clickEffect">
                                  <p:stCondLst>
                                    <p:cond delay="0"/>
                                  </p:stCondLst>
                                  <p:childTnLst>
                                    <p:animEffect transition="out" filter="checkerboard(across)">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3" presetClass="entr" presetSubtype="1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par>
                          <p:cTn id="11" fill="hold" nodeType="afterGroup">
                            <p:stCondLst>
                              <p:cond delay="500"/>
                            </p:stCondLst>
                            <p:childTnLst>
                              <p:par>
                                <p:cTn id="12" presetID="20" presetClass="entr" presetSubtype="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edge">
                                      <p:cBhvr>
                                        <p:cTn id="14" dur="2000"/>
                                        <p:tgtEl>
                                          <p:spTgt spid="4"/>
                                        </p:tgtEl>
                                      </p:cBhvr>
                                    </p:animEffect>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vert="horz" anchor="b">
            <a:normAutofit/>
          </a:bodyPr>
          <a:lstStyle/>
          <a:p>
            <a:r>
              <a:rPr lang="fr-FR" sz="3000" b="1" dirty="0">
                <a:solidFill>
                  <a:srgbClr val="C00000"/>
                </a:solidFill>
              </a:rPr>
              <a:t>Compression des fichiers et des dossiers</a:t>
            </a:r>
            <a:endParaRPr lang="en-US" sz="3000" b="1" dirty="0">
              <a:solidFill>
                <a:srgbClr val="C00000"/>
              </a:solidFill>
            </a:endParaRPr>
          </a:p>
        </p:txBody>
      </p:sp>
      <p:pic>
        <p:nvPicPr>
          <p:cNvPr id="138255" name="Picture 15" descr="P2272bW05_10b"/>
          <p:cNvPicPr>
            <a:picLocks noGrp="1" noChangeAspect="1" noChangeArrowheads="1"/>
          </p:cNvPicPr>
          <p:nvPr>
            <p:ph sz="quarter" idx="1"/>
          </p:nvPr>
        </p:nvPicPr>
        <p:blipFill>
          <a:blip r:embed="rId3"/>
          <a:srcRect/>
          <a:stretch>
            <a:fillRect/>
          </a:stretch>
        </p:blipFill>
        <p:spPr>
          <a:xfrm>
            <a:off x="4266488" y="1835150"/>
            <a:ext cx="4389437" cy="3760788"/>
          </a:xfrm>
          <a:noFill/>
          <a:ln/>
        </p:spPr>
      </p:pic>
      <p:pic>
        <p:nvPicPr>
          <p:cNvPr id="138253" name="Picture 13" descr="P2272bW05_10a"/>
          <p:cNvPicPr>
            <a:picLocks noChangeAspect="1" noChangeArrowheads="1"/>
          </p:cNvPicPr>
          <p:nvPr/>
        </p:nvPicPr>
        <p:blipFill>
          <a:blip r:embed="rId4"/>
          <a:srcRect/>
          <a:stretch>
            <a:fillRect/>
          </a:stretch>
        </p:blipFill>
        <p:spPr bwMode="auto">
          <a:xfrm>
            <a:off x="185015" y="1321660"/>
            <a:ext cx="3971925" cy="5356225"/>
          </a:xfrm>
          <a:prstGeom prst="rect">
            <a:avLst/>
          </a:prstGeom>
          <a:noFill/>
        </p:spPr>
      </p:pic>
      <p:sp>
        <p:nvSpPr>
          <p:cNvPr id="138246" name="Freeform 6"/>
          <p:cNvSpPr>
            <a:spLocks/>
          </p:cNvSpPr>
          <p:nvPr/>
        </p:nvSpPr>
        <p:spPr bwMode="auto">
          <a:xfrm rot="18246181" flipH="1">
            <a:off x="2711016" y="3582554"/>
            <a:ext cx="1736725" cy="552450"/>
          </a:xfrm>
          <a:custGeom>
            <a:avLst/>
            <a:gdLst/>
            <a:ahLst/>
            <a:cxnLst>
              <a:cxn ang="0">
                <a:pos x="115" y="20"/>
              </a:cxn>
              <a:cxn ang="0">
                <a:pos x="0" y="428"/>
              </a:cxn>
              <a:cxn ang="0">
                <a:pos x="384" y="449"/>
              </a:cxn>
              <a:cxn ang="0">
                <a:pos x="299" y="314"/>
              </a:cxn>
              <a:cxn ang="0">
                <a:pos x="700" y="177"/>
              </a:cxn>
              <a:cxn ang="0">
                <a:pos x="1498" y="374"/>
              </a:cxn>
              <a:cxn ang="0">
                <a:pos x="750" y="28"/>
              </a:cxn>
              <a:cxn ang="0">
                <a:pos x="181" y="140"/>
              </a:cxn>
              <a:cxn ang="0">
                <a:pos x="115" y="20"/>
              </a:cxn>
            </a:cxnLst>
            <a:rect l="0" t="0" r="r" b="b"/>
            <a:pathLst>
              <a:path w="1498" h="449">
                <a:moveTo>
                  <a:pt x="115" y="20"/>
                </a:moveTo>
                <a:cubicBezTo>
                  <a:pt x="60" y="168"/>
                  <a:pt x="24" y="254"/>
                  <a:pt x="0" y="428"/>
                </a:cubicBezTo>
                <a:cubicBezTo>
                  <a:pt x="144" y="432"/>
                  <a:pt x="292" y="434"/>
                  <a:pt x="384" y="449"/>
                </a:cubicBezTo>
                <a:cubicBezTo>
                  <a:pt x="319" y="351"/>
                  <a:pt x="324" y="365"/>
                  <a:pt x="299" y="314"/>
                </a:cubicBezTo>
                <a:cubicBezTo>
                  <a:pt x="353" y="290"/>
                  <a:pt x="517" y="191"/>
                  <a:pt x="700" y="177"/>
                </a:cubicBezTo>
                <a:cubicBezTo>
                  <a:pt x="1004" y="191"/>
                  <a:pt x="1210" y="272"/>
                  <a:pt x="1498" y="374"/>
                </a:cubicBezTo>
                <a:cubicBezTo>
                  <a:pt x="1188" y="156"/>
                  <a:pt x="990" y="64"/>
                  <a:pt x="750" y="28"/>
                </a:cubicBezTo>
                <a:cubicBezTo>
                  <a:pt x="460" y="0"/>
                  <a:pt x="296" y="92"/>
                  <a:pt x="181" y="140"/>
                </a:cubicBezTo>
                <a:cubicBezTo>
                  <a:pt x="146" y="72"/>
                  <a:pt x="168" y="114"/>
                  <a:pt x="115" y="20"/>
                </a:cubicBezTo>
                <a:close/>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round/>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sp>
        <p:nvSpPr>
          <p:cNvPr id="138247" name="AutoShape 7"/>
          <p:cNvSpPr>
            <a:spLocks noChangeArrowheads="1"/>
          </p:cNvSpPr>
          <p:nvPr/>
        </p:nvSpPr>
        <p:spPr bwMode="auto">
          <a:xfrm flipH="1">
            <a:off x="8369600" y="4268065"/>
            <a:ext cx="684213" cy="606425"/>
          </a:xfrm>
          <a:prstGeom prst="rightArrow">
            <a:avLst>
              <a:gd name="adj1" fmla="val 49741"/>
              <a:gd name="adj2" fmla="val 63873"/>
            </a:avLst>
          </a:prstGeom>
          <a:gradFill rotWithShape="0">
            <a:gsLst>
              <a:gs pos="0">
                <a:srgbClr val="D20091">
                  <a:gamma/>
                  <a:tint val="47451"/>
                  <a:invGamma/>
                </a:srgbClr>
              </a:gs>
              <a:gs pos="100000">
                <a:srgbClr val="D20091"/>
              </a:gs>
            </a:gsLst>
            <a:lin ang="0" scaled="1"/>
          </a:gradFill>
          <a:ln w="6350">
            <a:solidFill>
              <a:srgbClr val="800080"/>
            </a:solidFill>
            <a:miter lim="800000"/>
            <a:headEnd/>
            <a:tailEnd/>
          </a:ln>
          <a:effectLst>
            <a:outerShdw dist="71842" dir="2700000" algn="ctr" rotWithShape="0">
              <a:srgbClr val="C0C0C0"/>
            </a:outerShdw>
          </a:effectLst>
        </p:spPr>
        <p:txBody>
          <a:bodyPr wrap="none" tIns="27432" bIns="27432" anchor="ctr"/>
          <a:lstStyle/>
          <a:p>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8246"/>
                                        </p:tgtEl>
                                        <p:attrNameLst>
                                          <p:attrName>style.visibility</p:attrName>
                                        </p:attrNameLst>
                                      </p:cBhvr>
                                      <p:to>
                                        <p:strVal val="visible"/>
                                      </p:to>
                                    </p:set>
                                    <p:animEffect transition="in" filter="checkerboard(across)">
                                      <p:cBhvr>
                                        <p:cTn id="7" dur="500"/>
                                        <p:tgtEl>
                                          <p:spTgt spid="13824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38255"/>
                                        </p:tgtEl>
                                        <p:attrNameLst>
                                          <p:attrName>style.visibility</p:attrName>
                                        </p:attrNameLst>
                                      </p:cBhvr>
                                      <p:to>
                                        <p:strVal val="visible"/>
                                      </p:to>
                                    </p:set>
                                    <p:animEffect transition="in" filter="checkerboard(across)">
                                      <p:cBhvr>
                                        <p:cTn id="12" dur="500"/>
                                        <p:tgtEl>
                                          <p:spTgt spid="13825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38247"/>
                                        </p:tgtEl>
                                        <p:attrNameLst>
                                          <p:attrName>style.visibility</p:attrName>
                                        </p:attrNameLst>
                                      </p:cBhvr>
                                      <p:to>
                                        <p:strVal val="visible"/>
                                      </p:to>
                                    </p:set>
                                    <p:animEffect transition="in" filter="checkerboard(across)">
                                      <p:cBhvr>
                                        <p:cTn id="17" dur="500"/>
                                        <p:tgtEl>
                                          <p:spTgt spid="138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6" grpId="0" animBg="1"/>
      <p:bldP spid="13824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21674" y="4725988"/>
            <a:ext cx="8728362" cy="1668462"/>
            <a:chOff x="458" y="3007"/>
            <a:chExt cx="4802" cy="1051"/>
          </a:xfrm>
        </p:grpSpPr>
        <p:sp>
          <p:nvSpPr>
            <p:cNvPr id="496644" name="AutoShape 4"/>
            <p:cNvSpPr>
              <a:spLocks noChangeArrowheads="1"/>
            </p:cNvSpPr>
            <p:nvPr/>
          </p:nvSpPr>
          <p:spPr bwMode="auto">
            <a:xfrm>
              <a:off x="458" y="3007"/>
              <a:ext cx="2361" cy="1051"/>
            </a:xfrm>
            <a:prstGeom prst="roundRect">
              <a:avLst>
                <a:gd name="adj" fmla="val 2931"/>
              </a:avLst>
            </a:prstGeom>
            <a:solidFill>
              <a:srgbClr val="DFE8F2"/>
            </a:solidFill>
            <a:ln w="9525" algn="ctr">
              <a:solidFill>
                <a:srgbClr val="808080"/>
              </a:solidFill>
              <a:round/>
              <a:headEnd/>
              <a:tailEnd/>
            </a:ln>
            <a:effectLst>
              <a:outerShdw dist="35921" dir="2700000" algn="ctr" rotWithShape="0">
                <a:srgbClr val="C0C0C0"/>
              </a:outerShdw>
            </a:effectLst>
          </p:spPr>
          <p:txBody>
            <a:bodyPr wrap="none"/>
            <a:lstStyle/>
            <a:p>
              <a:pPr algn="ctr">
                <a:defRPr/>
              </a:pPr>
              <a:r>
                <a:rPr lang="en-US" sz="2200" dirty="0">
                  <a:cs typeface="Arial" charset="0"/>
                </a:rPr>
                <a:t>A </a:t>
              </a:r>
              <a:r>
                <a:rPr lang="en-US" sz="2200" dirty="0" err="1">
                  <a:cs typeface="Arial" charset="0"/>
                </a:rPr>
                <a:t>partir</a:t>
              </a:r>
              <a:r>
                <a:rPr lang="en-US" sz="2200" dirty="0">
                  <a:cs typeface="Arial" charset="0"/>
                </a:rPr>
                <a:t> </a:t>
              </a:r>
              <a:r>
                <a:rPr lang="en-US" sz="2200" dirty="0" err="1">
                  <a:cs typeface="Arial" charset="0"/>
                </a:rPr>
                <a:t>d’une</a:t>
              </a:r>
              <a:r>
                <a:rPr lang="en-US" sz="2200" dirty="0">
                  <a:cs typeface="Arial" charset="0"/>
                </a:rPr>
                <a:t> partition NTFS</a:t>
              </a:r>
            </a:p>
            <a:p>
              <a:pPr algn="ctr">
                <a:defRPr/>
              </a:pPr>
              <a:endParaRPr lang="en-US" sz="2200" dirty="0">
                <a:cs typeface="Arial" charset="0"/>
              </a:endParaRPr>
            </a:p>
          </p:txBody>
        </p:sp>
        <p:sp>
          <p:nvSpPr>
            <p:cNvPr id="496645" name="AutoShape 5"/>
            <p:cNvSpPr>
              <a:spLocks noChangeArrowheads="1"/>
            </p:cNvSpPr>
            <p:nvPr/>
          </p:nvSpPr>
          <p:spPr bwMode="auto">
            <a:xfrm>
              <a:off x="2899" y="3007"/>
              <a:ext cx="2361" cy="1051"/>
            </a:xfrm>
            <a:prstGeom prst="roundRect">
              <a:avLst>
                <a:gd name="adj" fmla="val 2931"/>
              </a:avLst>
            </a:prstGeom>
            <a:solidFill>
              <a:srgbClr val="DFE8F2"/>
            </a:solidFill>
            <a:ln w="9525" algn="ctr">
              <a:solidFill>
                <a:srgbClr val="808080"/>
              </a:solidFill>
              <a:round/>
              <a:headEnd/>
              <a:tailEnd/>
            </a:ln>
            <a:effectLst>
              <a:outerShdw dist="35921" dir="2700000" algn="ctr" rotWithShape="0">
                <a:srgbClr val="C0C0C0"/>
              </a:outerShdw>
            </a:effectLst>
          </p:spPr>
          <p:txBody>
            <a:bodyPr wrap="none"/>
            <a:lstStyle/>
            <a:p>
              <a:pPr algn="ctr">
                <a:defRPr/>
              </a:pPr>
              <a:r>
                <a:rPr lang="en-US" sz="2200" dirty="0" err="1">
                  <a:cs typeface="Arial" charset="0"/>
                </a:rPr>
                <a:t>Vers</a:t>
              </a:r>
              <a:r>
                <a:rPr lang="en-US" sz="2200" dirty="0">
                  <a:cs typeface="Arial" charset="0"/>
                </a:rPr>
                <a:t> </a:t>
              </a:r>
              <a:r>
                <a:rPr lang="en-US" sz="2200" dirty="0" err="1">
                  <a:cs typeface="Arial" charset="0"/>
                </a:rPr>
                <a:t>une</a:t>
              </a:r>
              <a:r>
                <a:rPr lang="en-US" sz="2200" dirty="0">
                  <a:cs typeface="Arial" charset="0"/>
                </a:rPr>
                <a:t> partition FAT</a:t>
              </a:r>
            </a:p>
            <a:p>
              <a:pPr algn="ctr">
                <a:defRPr/>
              </a:pPr>
              <a:endParaRPr lang="en-US" sz="2200" dirty="0">
                <a:cs typeface="Arial" charset="0"/>
              </a:endParaRPr>
            </a:p>
          </p:txBody>
        </p:sp>
        <p:sp>
          <p:nvSpPr>
            <p:cNvPr id="33846" name="AutoShape 6"/>
            <p:cNvSpPr>
              <a:spLocks noChangeArrowheads="1"/>
            </p:cNvSpPr>
            <p:nvPr/>
          </p:nvSpPr>
          <p:spPr bwMode="auto">
            <a:xfrm>
              <a:off x="492" y="3050"/>
              <a:ext cx="207" cy="207"/>
            </a:xfrm>
            <a:prstGeom prst="roundRect">
              <a:avLst>
                <a:gd name="adj" fmla="val 16667"/>
              </a:avLst>
            </a:prstGeom>
            <a:solidFill>
              <a:srgbClr val="8DACD0"/>
            </a:solidFill>
            <a:ln w="9525">
              <a:solidFill>
                <a:srgbClr val="333333"/>
              </a:solidFill>
              <a:round/>
              <a:headEnd/>
              <a:tailEnd/>
            </a:ln>
          </p:spPr>
          <p:txBody>
            <a:bodyPr wrap="none" anchor="ctr"/>
            <a:lstStyle/>
            <a:p>
              <a:pPr algn="ctr"/>
              <a:r>
                <a:rPr lang="en-US" sz="2200"/>
                <a:t>D</a:t>
              </a:r>
            </a:p>
          </p:txBody>
        </p:sp>
        <p:pic>
          <p:nvPicPr>
            <p:cNvPr id="33847" name="Picture 7" descr="Folder_Closed01"/>
            <p:cNvPicPr>
              <a:picLocks noChangeAspect="1" noChangeArrowheads="1"/>
            </p:cNvPicPr>
            <p:nvPr/>
          </p:nvPicPr>
          <p:blipFill>
            <a:blip r:embed="rId3"/>
            <a:srcRect/>
            <a:stretch>
              <a:fillRect/>
            </a:stretch>
          </p:blipFill>
          <p:spPr bwMode="auto">
            <a:xfrm>
              <a:off x="3750" y="3322"/>
              <a:ext cx="603" cy="638"/>
            </a:xfrm>
            <a:prstGeom prst="rect">
              <a:avLst/>
            </a:prstGeom>
            <a:noFill/>
            <a:ln w="9525">
              <a:noFill/>
              <a:miter lim="800000"/>
              <a:headEnd/>
              <a:tailEnd/>
            </a:ln>
          </p:spPr>
        </p:pic>
        <p:pic>
          <p:nvPicPr>
            <p:cNvPr id="33848" name="Picture 8" descr="Vise_CompressedFile01"/>
            <p:cNvPicPr>
              <a:picLocks noChangeAspect="1" noChangeArrowheads="1"/>
            </p:cNvPicPr>
            <p:nvPr/>
          </p:nvPicPr>
          <p:blipFill>
            <a:blip r:embed="rId4"/>
            <a:srcRect/>
            <a:stretch>
              <a:fillRect/>
            </a:stretch>
          </p:blipFill>
          <p:spPr bwMode="auto">
            <a:xfrm>
              <a:off x="1215" y="3347"/>
              <a:ext cx="799" cy="571"/>
            </a:xfrm>
            <a:prstGeom prst="rect">
              <a:avLst/>
            </a:prstGeom>
            <a:noFill/>
            <a:ln w="9525">
              <a:noFill/>
              <a:miter lim="800000"/>
              <a:headEnd/>
              <a:tailEnd/>
            </a:ln>
          </p:spPr>
        </p:pic>
      </p:grpSp>
      <p:grpSp>
        <p:nvGrpSpPr>
          <p:cNvPr id="3" name="Group 9"/>
          <p:cNvGrpSpPr>
            <a:grpSpLocks/>
          </p:cNvGrpSpPr>
          <p:nvPr/>
        </p:nvGrpSpPr>
        <p:grpSpPr bwMode="auto">
          <a:xfrm>
            <a:off x="4587874" y="2943225"/>
            <a:ext cx="4348308" cy="1666875"/>
            <a:chOff x="2899" y="1884"/>
            <a:chExt cx="2361" cy="1050"/>
          </a:xfrm>
        </p:grpSpPr>
        <p:sp>
          <p:nvSpPr>
            <p:cNvPr id="496650" name="AutoShape 10"/>
            <p:cNvSpPr>
              <a:spLocks noChangeArrowheads="1"/>
            </p:cNvSpPr>
            <p:nvPr/>
          </p:nvSpPr>
          <p:spPr bwMode="auto">
            <a:xfrm>
              <a:off x="2899" y="1884"/>
              <a:ext cx="2361" cy="1050"/>
            </a:xfrm>
            <a:prstGeom prst="roundRect">
              <a:avLst>
                <a:gd name="adj" fmla="val 2931"/>
              </a:avLst>
            </a:prstGeom>
            <a:solidFill>
              <a:srgbClr val="DFE8F2"/>
            </a:solidFill>
            <a:ln w="9525" algn="ctr">
              <a:solidFill>
                <a:srgbClr val="808080"/>
              </a:solidFill>
              <a:round/>
              <a:headEnd/>
              <a:tailEnd/>
            </a:ln>
            <a:effectLst>
              <a:outerShdw dist="35921" dir="2700000" algn="ctr" rotWithShape="0">
                <a:srgbClr val="C0C0C0"/>
              </a:outerShdw>
            </a:effectLst>
          </p:spPr>
          <p:txBody>
            <a:bodyPr wrap="none"/>
            <a:lstStyle/>
            <a:p>
              <a:pPr algn="ctr">
                <a:defRPr/>
              </a:pPr>
              <a:r>
                <a:rPr lang="en-US" sz="2200" b="0" dirty="0" err="1">
                  <a:cs typeface="Arial" charset="0"/>
                </a:rPr>
                <a:t>Vers</a:t>
              </a:r>
              <a:r>
                <a:rPr lang="en-US" sz="2200" b="0" dirty="0">
                  <a:cs typeface="Arial" charset="0"/>
                </a:rPr>
                <a:t> des partitions NTFS</a:t>
              </a:r>
            </a:p>
            <a:p>
              <a:pPr algn="ctr">
                <a:defRPr/>
              </a:pPr>
              <a:endParaRPr lang="en-US" sz="2200" dirty="0">
                <a:cs typeface="Arial" charset="0"/>
              </a:endParaRPr>
            </a:p>
          </p:txBody>
        </p:sp>
        <p:pic>
          <p:nvPicPr>
            <p:cNvPr id="33843" name="Picture 11" descr="Folder_Closed01"/>
            <p:cNvPicPr>
              <a:picLocks noChangeAspect="1" noChangeArrowheads="1"/>
            </p:cNvPicPr>
            <p:nvPr/>
          </p:nvPicPr>
          <p:blipFill>
            <a:blip r:embed="rId3"/>
            <a:srcRect/>
            <a:stretch>
              <a:fillRect/>
            </a:stretch>
          </p:blipFill>
          <p:spPr bwMode="auto">
            <a:xfrm>
              <a:off x="3750" y="2170"/>
              <a:ext cx="603" cy="638"/>
            </a:xfrm>
            <a:prstGeom prst="rect">
              <a:avLst/>
            </a:prstGeom>
            <a:noFill/>
            <a:ln w="9525">
              <a:noFill/>
              <a:miter lim="800000"/>
              <a:headEnd/>
              <a:tailEnd/>
            </a:ln>
          </p:spPr>
        </p:pic>
      </p:grpSp>
      <p:grpSp>
        <p:nvGrpSpPr>
          <p:cNvPr id="4" name="Group 12"/>
          <p:cNvGrpSpPr>
            <a:grpSpLocks/>
          </p:cNvGrpSpPr>
          <p:nvPr/>
        </p:nvGrpSpPr>
        <p:grpSpPr bwMode="auto">
          <a:xfrm>
            <a:off x="193964" y="2957513"/>
            <a:ext cx="4266912" cy="1666875"/>
            <a:chOff x="458" y="1884"/>
            <a:chExt cx="2361" cy="1050"/>
          </a:xfrm>
        </p:grpSpPr>
        <p:sp>
          <p:nvSpPr>
            <p:cNvPr id="496653" name="AutoShape 13"/>
            <p:cNvSpPr>
              <a:spLocks noChangeArrowheads="1"/>
            </p:cNvSpPr>
            <p:nvPr/>
          </p:nvSpPr>
          <p:spPr bwMode="auto">
            <a:xfrm>
              <a:off x="458" y="1884"/>
              <a:ext cx="2361" cy="1050"/>
            </a:xfrm>
            <a:prstGeom prst="roundRect">
              <a:avLst>
                <a:gd name="adj" fmla="val 2931"/>
              </a:avLst>
            </a:prstGeom>
            <a:solidFill>
              <a:srgbClr val="DFE8F2"/>
            </a:solidFill>
            <a:ln w="9525" algn="ctr">
              <a:solidFill>
                <a:srgbClr val="808080"/>
              </a:solidFill>
              <a:round/>
              <a:headEnd/>
              <a:tailEnd/>
            </a:ln>
            <a:effectLst>
              <a:outerShdw dist="35921" dir="2700000" algn="ctr" rotWithShape="0">
                <a:srgbClr val="C0C0C0"/>
              </a:outerShdw>
            </a:effectLst>
          </p:spPr>
          <p:txBody>
            <a:bodyPr wrap="none"/>
            <a:lstStyle/>
            <a:p>
              <a:pPr algn="ctr">
                <a:defRPr/>
              </a:pPr>
              <a:r>
                <a:rPr lang="en-US" sz="2200" b="0" dirty="0">
                  <a:cs typeface="Arial" charset="0"/>
                </a:rPr>
                <a:t>A </a:t>
              </a:r>
              <a:r>
                <a:rPr lang="en-US" sz="2200" b="0" dirty="0" err="1">
                  <a:cs typeface="Arial" charset="0"/>
                </a:rPr>
                <a:t>partir</a:t>
              </a:r>
              <a:r>
                <a:rPr lang="en-US" sz="2200" b="0" dirty="0">
                  <a:cs typeface="Arial" charset="0"/>
                </a:rPr>
                <a:t> des partitions NTFS</a:t>
              </a:r>
            </a:p>
          </p:txBody>
        </p:sp>
        <p:sp>
          <p:nvSpPr>
            <p:cNvPr id="33840" name="AutoShape 14"/>
            <p:cNvSpPr>
              <a:spLocks noChangeArrowheads="1"/>
            </p:cNvSpPr>
            <p:nvPr/>
          </p:nvSpPr>
          <p:spPr bwMode="auto">
            <a:xfrm>
              <a:off x="492" y="1930"/>
              <a:ext cx="207" cy="207"/>
            </a:xfrm>
            <a:prstGeom prst="roundRect">
              <a:avLst>
                <a:gd name="adj" fmla="val 16667"/>
              </a:avLst>
            </a:prstGeom>
            <a:solidFill>
              <a:srgbClr val="8DACD0"/>
            </a:solidFill>
            <a:ln w="9525">
              <a:solidFill>
                <a:srgbClr val="333333"/>
              </a:solidFill>
              <a:round/>
              <a:headEnd/>
              <a:tailEnd/>
            </a:ln>
          </p:spPr>
          <p:txBody>
            <a:bodyPr wrap="none" anchor="ctr"/>
            <a:lstStyle/>
            <a:p>
              <a:pPr algn="ctr"/>
              <a:r>
                <a:rPr lang="en-US" sz="2200"/>
                <a:t>C</a:t>
              </a:r>
            </a:p>
          </p:txBody>
        </p:sp>
        <p:pic>
          <p:nvPicPr>
            <p:cNvPr id="33841" name="Picture 15" descr="Vise_CompressedFile01"/>
            <p:cNvPicPr>
              <a:picLocks noChangeAspect="1" noChangeArrowheads="1"/>
            </p:cNvPicPr>
            <p:nvPr/>
          </p:nvPicPr>
          <p:blipFill>
            <a:blip r:embed="rId4"/>
            <a:srcRect/>
            <a:stretch>
              <a:fillRect/>
            </a:stretch>
          </p:blipFill>
          <p:spPr bwMode="auto">
            <a:xfrm>
              <a:off x="1215" y="2204"/>
              <a:ext cx="799" cy="571"/>
            </a:xfrm>
            <a:prstGeom prst="rect">
              <a:avLst/>
            </a:prstGeom>
            <a:noFill/>
            <a:ln w="9525">
              <a:noFill/>
              <a:miter lim="800000"/>
              <a:headEnd/>
              <a:tailEnd/>
            </a:ln>
          </p:spPr>
        </p:pic>
      </p:grpSp>
      <p:sp>
        <p:nvSpPr>
          <p:cNvPr id="496657" name="AutoShape 17"/>
          <p:cNvSpPr>
            <a:spLocks noChangeArrowheads="1"/>
          </p:cNvSpPr>
          <p:nvPr/>
        </p:nvSpPr>
        <p:spPr bwMode="auto">
          <a:xfrm>
            <a:off x="4560165" y="1174318"/>
            <a:ext cx="4376017" cy="1668462"/>
          </a:xfrm>
          <a:prstGeom prst="roundRect">
            <a:avLst>
              <a:gd name="adj" fmla="val 2931"/>
            </a:avLst>
          </a:prstGeom>
          <a:solidFill>
            <a:srgbClr val="DFE8F2"/>
          </a:solidFill>
          <a:ln w="9525" algn="ctr">
            <a:solidFill>
              <a:srgbClr val="808080"/>
            </a:solidFill>
            <a:round/>
            <a:headEnd/>
            <a:tailEnd/>
          </a:ln>
          <a:effectLst>
            <a:outerShdw dist="35921" dir="2700000" algn="ctr" rotWithShape="0">
              <a:srgbClr val="C0C0C0"/>
            </a:outerShdw>
          </a:effectLst>
        </p:spPr>
        <p:txBody>
          <a:bodyPr wrap="none"/>
          <a:lstStyle/>
          <a:p>
            <a:pPr algn="ctr">
              <a:defRPr/>
            </a:pPr>
            <a:r>
              <a:rPr lang="en-US" sz="2200" dirty="0">
                <a:cs typeface="Arial" charset="0"/>
              </a:rPr>
              <a:t>Au </a:t>
            </a:r>
            <a:r>
              <a:rPr lang="en-US" sz="2200" dirty="0" err="1">
                <a:cs typeface="Arial" charset="0"/>
              </a:rPr>
              <a:t>sein</a:t>
            </a:r>
            <a:r>
              <a:rPr lang="en-US" sz="2200" dirty="0">
                <a:cs typeface="Arial" charset="0"/>
              </a:rPr>
              <a:t> </a:t>
            </a:r>
            <a:r>
              <a:rPr lang="en-US" sz="2200" dirty="0" err="1">
                <a:cs typeface="Arial" charset="0"/>
              </a:rPr>
              <a:t>d’une</a:t>
            </a:r>
            <a:r>
              <a:rPr lang="en-US" sz="2200" dirty="0">
                <a:cs typeface="Arial" charset="0"/>
              </a:rPr>
              <a:t> partition NTFS</a:t>
            </a:r>
          </a:p>
        </p:txBody>
      </p:sp>
      <p:sp>
        <p:nvSpPr>
          <p:cNvPr id="33835" name="AutoShape 18"/>
          <p:cNvSpPr>
            <a:spLocks noChangeArrowheads="1"/>
          </p:cNvSpPr>
          <p:nvPr/>
        </p:nvSpPr>
        <p:spPr bwMode="auto">
          <a:xfrm>
            <a:off x="4610208" y="1226705"/>
            <a:ext cx="383666" cy="328612"/>
          </a:xfrm>
          <a:prstGeom prst="roundRect">
            <a:avLst>
              <a:gd name="adj" fmla="val 16667"/>
            </a:avLst>
          </a:prstGeom>
          <a:solidFill>
            <a:srgbClr val="8DACD0"/>
          </a:solidFill>
          <a:ln w="9525">
            <a:solidFill>
              <a:srgbClr val="333333"/>
            </a:solidFill>
            <a:round/>
            <a:headEnd/>
            <a:tailEnd/>
          </a:ln>
        </p:spPr>
        <p:txBody>
          <a:bodyPr wrap="none" anchor="ctr"/>
          <a:lstStyle/>
          <a:p>
            <a:pPr algn="ctr"/>
            <a:r>
              <a:rPr lang="en-US"/>
              <a:t>B</a:t>
            </a:r>
          </a:p>
        </p:txBody>
      </p:sp>
      <p:pic>
        <p:nvPicPr>
          <p:cNvPr id="33836" name="Picture 19" descr="Vise_CompressedFile01"/>
          <p:cNvPicPr>
            <a:picLocks noChangeAspect="1" noChangeArrowheads="1"/>
          </p:cNvPicPr>
          <p:nvPr/>
        </p:nvPicPr>
        <p:blipFill>
          <a:blip r:embed="rId5"/>
          <a:srcRect/>
          <a:stretch>
            <a:fillRect/>
          </a:stretch>
        </p:blipFill>
        <p:spPr bwMode="auto">
          <a:xfrm>
            <a:off x="4634303" y="1660093"/>
            <a:ext cx="1228843" cy="752475"/>
          </a:xfrm>
          <a:prstGeom prst="rect">
            <a:avLst/>
          </a:prstGeom>
          <a:noFill/>
          <a:ln w="9525">
            <a:noFill/>
            <a:miter lim="800000"/>
            <a:headEnd/>
            <a:tailEnd/>
          </a:ln>
        </p:spPr>
      </p:pic>
      <p:pic>
        <p:nvPicPr>
          <p:cNvPr id="33837" name="Picture 20" descr="Folder_Closed01"/>
          <p:cNvPicPr>
            <a:picLocks noChangeAspect="1" noChangeArrowheads="1"/>
          </p:cNvPicPr>
          <p:nvPr/>
        </p:nvPicPr>
        <p:blipFill>
          <a:blip r:embed="rId6"/>
          <a:srcRect/>
          <a:stretch>
            <a:fillRect/>
          </a:stretch>
        </p:blipFill>
        <p:spPr bwMode="auto">
          <a:xfrm>
            <a:off x="7855615" y="1580718"/>
            <a:ext cx="1006428" cy="911225"/>
          </a:xfrm>
          <a:prstGeom prst="rect">
            <a:avLst/>
          </a:prstGeom>
          <a:noFill/>
          <a:ln w="9525">
            <a:noFill/>
            <a:miter lim="800000"/>
            <a:headEnd/>
            <a:tailEnd/>
          </a:ln>
        </p:spPr>
      </p:pic>
      <p:pic>
        <p:nvPicPr>
          <p:cNvPr id="33838" name="Picture 21" descr="Vise_CompressedFile01"/>
          <p:cNvPicPr>
            <a:picLocks noChangeAspect="1" noChangeArrowheads="1"/>
          </p:cNvPicPr>
          <p:nvPr/>
        </p:nvPicPr>
        <p:blipFill>
          <a:blip r:embed="rId7"/>
          <a:srcRect/>
          <a:stretch>
            <a:fillRect/>
          </a:stretch>
        </p:blipFill>
        <p:spPr bwMode="auto">
          <a:xfrm>
            <a:off x="7931607" y="1769630"/>
            <a:ext cx="876686" cy="534987"/>
          </a:xfrm>
          <a:prstGeom prst="rect">
            <a:avLst/>
          </a:prstGeom>
          <a:noFill/>
          <a:ln w="9525">
            <a:noFill/>
            <a:miter lim="800000"/>
            <a:headEnd/>
            <a:tailEnd/>
          </a:ln>
        </p:spPr>
      </p:pic>
      <p:grpSp>
        <p:nvGrpSpPr>
          <p:cNvPr id="6" name="Group 22"/>
          <p:cNvGrpSpPr>
            <a:grpSpLocks/>
          </p:cNvGrpSpPr>
          <p:nvPr/>
        </p:nvGrpSpPr>
        <p:grpSpPr bwMode="auto">
          <a:xfrm>
            <a:off x="193964" y="1160463"/>
            <a:ext cx="4266912" cy="1668462"/>
            <a:chOff x="458" y="761"/>
            <a:chExt cx="2361" cy="1051"/>
          </a:xfrm>
        </p:grpSpPr>
        <p:sp>
          <p:nvSpPr>
            <p:cNvPr id="496663" name="AutoShape 23"/>
            <p:cNvSpPr>
              <a:spLocks noChangeArrowheads="1"/>
            </p:cNvSpPr>
            <p:nvPr/>
          </p:nvSpPr>
          <p:spPr bwMode="auto">
            <a:xfrm>
              <a:off x="458" y="761"/>
              <a:ext cx="2361" cy="1051"/>
            </a:xfrm>
            <a:prstGeom prst="roundRect">
              <a:avLst>
                <a:gd name="adj" fmla="val 2931"/>
              </a:avLst>
            </a:prstGeom>
            <a:solidFill>
              <a:srgbClr val="DFE8F2"/>
            </a:solidFill>
            <a:ln w="9525" algn="ctr">
              <a:solidFill>
                <a:srgbClr val="808080"/>
              </a:solidFill>
              <a:round/>
              <a:headEnd/>
              <a:tailEnd/>
            </a:ln>
            <a:effectLst>
              <a:outerShdw dist="35921" dir="2700000" algn="ctr" rotWithShape="0">
                <a:srgbClr val="C0C0C0"/>
              </a:outerShdw>
            </a:effectLst>
          </p:spPr>
          <p:txBody>
            <a:bodyPr wrap="none"/>
            <a:lstStyle/>
            <a:p>
              <a:pPr algn="ctr">
                <a:defRPr/>
              </a:pPr>
              <a:r>
                <a:rPr lang="en-US" sz="2200" b="0" dirty="0">
                  <a:cs typeface="Arial" charset="0"/>
                </a:rPr>
                <a:t>Au </a:t>
              </a:r>
              <a:r>
                <a:rPr lang="en-US" sz="2200" b="0" dirty="0" err="1">
                  <a:cs typeface="Arial" charset="0"/>
                </a:rPr>
                <a:t>sein</a:t>
              </a:r>
              <a:r>
                <a:rPr lang="en-US" sz="2200" b="0" dirty="0">
                  <a:cs typeface="Arial" charset="0"/>
                </a:rPr>
                <a:t> </a:t>
              </a:r>
              <a:r>
                <a:rPr lang="en-US" sz="2200" b="0" dirty="0" err="1">
                  <a:cs typeface="Arial" charset="0"/>
                </a:rPr>
                <a:t>d’une</a:t>
              </a:r>
              <a:r>
                <a:rPr lang="en-US" sz="2200" b="0" dirty="0">
                  <a:cs typeface="Arial" charset="0"/>
                </a:rPr>
                <a:t> partition NTFS</a:t>
              </a:r>
            </a:p>
          </p:txBody>
        </p:sp>
        <p:sp>
          <p:nvSpPr>
            <p:cNvPr id="33831" name="AutoShape 24"/>
            <p:cNvSpPr>
              <a:spLocks noChangeArrowheads="1"/>
            </p:cNvSpPr>
            <p:nvPr/>
          </p:nvSpPr>
          <p:spPr bwMode="auto">
            <a:xfrm>
              <a:off x="492" y="794"/>
              <a:ext cx="207" cy="207"/>
            </a:xfrm>
            <a:prstGeom prst="roundRect">
              <a:avLst>
                <a:gd name="adj" fmla="val 16667"/>
              </a:avLst>
            </a:prstGeom>
            <a:solidFill>
              <a:srgbClr val="8DACD0"/>
            </a:solidFill>
            <a:ln w="9525">
              <a:solidFill>
                <a:srgbClr val="333333"/>
              </a:solidFill>
              <a:round/>
              <a:headEnd/>
              <a:tailEnd/>
            </a:ln>
          </p:spPr>
          <p:txBody>
            <a:bodyPr wrap="none" anchor="ctr"/>
            <a:lstStyle/>
            <a:p>
              <a:pPr algn="ctr"/>
              <a:r>
                <a:rPr lang="en-US" sz="2200"/>
                <a:t>A</a:t>
              </a:r>
            </a:p>
          </p:txBody>
        </p:sp>
        <p:pic>
          <p:nvPicPr>
            <p:cNvPr id="33832" name="Picture 25" descr="Vise_CompressedFile01"/>
            <p:cNvPicPr>
              <a:picLocks noChangeAspect="1" noChangeArrowheads="1"/>
            </p:cNvPicPr>
            <p:nvPr/>
          </p:nvPicPr>
          <p:blipFill>
            <a:blip r:embed="rId5"/>
            <a:srcRect/>
            <a:stretch>
              <a:fillRect/>
            </a:stretch>
          </p:blipFill>
          <p:spPr bwMode="auto">
            <a:xfrm>
              <a:off x="503" y="1119"/>
              <a:ext cx="663" cy="474"/>
            </a:xfrm>
            <a:prstGeom prst="rect">
              <a:avLst/>
            </a:prstGeom>
            <a:noFill/>
            <a:ln w="9525">
              <a:noFill/>
              <a:miter lim="800000"/>
              <a:headEnd/>
              <a:tailEnd/>
            </a:ln>
          </p:spPr>
        </p:pic>
        <p:pic>
          <p:nvPicPr>
            <p:cNvPr id="33833" name="Picture 26" descr="Folder_Closed01"/>
            <p:cNvPicPr>
              <a:picLocks noChangeAspect="1" noChangeArrowheads="1"/>
            </p:cNvPicPr>
            <p:nvPr/>
          </p:nvPicPr>
          <p:blipFill>
            <a:blip r:embed="rId6"/>
            <a:srcRect/>
            <a:stretch>
              <a:fillRect/>
            </a:stretch>
          </p:blipFill>
          <p:spPr bwMode="auto">
            <a:xfrm>
              <a:off x="2226" y="1069"/>
              <a:ext cx="543" cy="574"/>
            </a:xfrm>
            <a:prstGeom prst="rect">
              <a:avLst/>
            </a:prstGeom>
            <a:noFill/>
            <a:ln w="9525">
              <a:noFill/>
              <a:miter lim="800000"/>
              <a:headEnd/>
              <a:tailEnd/>
            </a:ln>
          </p:spPr>
        </p:pic>
      </p:grpSp>
      <p:grpSp>
        <p:nvGrpSpPr>
          <p:cNvPr id="7" name="Group 39"/>
          <p:cNvGrpSpPr>
            <a:grpSpLocks/>
          </p:cNvGrpSpPr>
          <p:nvPr/>
        </p:nvGrpSpPr>
        <p:grpSpPr bwMode="auto">
          <a:xfrm>
            <a:off x="609600" y="6051550"/>
            <a:ext cx="914400" cy="425450"/>
            <a:chOff x="384" y="3024"/>
            <a:chExt cx="720" cy="336"/>
          </a:xfrm>
        </p:grpSpPr>
        <p:sp>
          <p:nvSpPr>
            <p:cNvPr id="496680" name="Oval 4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pPr>
                <a:defRPr/>
              </a:pPr>
              <a:endParaRPr lang="en-GB">
                <a:cs typeface="Arial" charset="0"/>
              </a:endParaRPr>
            </a:p>
          </p:txBody>
        </p:sp>
        <p:grpSp>
          <p:nvGrpSpPr>
            <p:cNvPr id="8" name="Group 41"/>
            <p:cNvGrpSpPr>
              <a:grpSpLocks/>
            </p:cNvGrpSpPr>
            <p:nvPr/>
          </p:nvGrpSpPr>
          <p:grpSpPr bwMode="auto">
            <a:xfrm>
              <a:off x="480" y="3096"/>
              <a:ext cx="240" cy="192"/>
              <a:chOff x="480" y="3096"/>
              <a:chExt cx="240" cy="192"/>
            </a:xfrm>
          </p:grpSpPr>
          <p:sp>
            <p:nvSpPr>
              <p:cNvPr id="33828" name="Oval 4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496683" name="Freeform 43"/>
              <p:cNvSpPr>
                <a:spLocks/>
              </p:cNvSpPr>
              <p:nvPr/>
            </p:nvSpPr>
            <p:spPr bwMode="auto">
              <a:xfrm>
                <a:off x="539" y="3123"/>
                <a:ext cx="139" cy="133"/>
              </a:xfrm>
              <a:custGeom>
                <a:avLst/>
                <a:gdLst>
                  <a:gd name="T0" fmla="*/ 0 w 432"/>
                  <a:gd name="T1" fmla="*/ 0 h 576"/>
                  <a:gd name="T2" fmla="*/ 0 w 432"/>
                  <a:gd name="T3" fmla="*/ 576 h 576"/>
                  <a:gd name="T4" fmla="*/ 432 w 432"/>
                  <a:gd name="T5" fmla="*/ 288 h 576"/>
                  <a:gd name="T6" fmla="*/ 0 w 432"/>
                  <a:gd name="T7" fmla="*/ 0 h 576"/>
                  <a:gd name="T8" fmla="*/ 0 60000 65536"/>
                  <a:gd name="T9" fmla="*/ 0 60000 65536"/>
                  <a:gd name="T10" fmla="*/ 0 60000 65536"/>
                  <a:gd name="T11" fmla="*/ 0 60000 65536"/>
                  <a:gd name="T12" fmla="*/ 0 w 432"/>
                  <a:gd name="T13" fmla="*/ 0 h 576"/>
                  <a:gd name="T14" fmla="*/ 432 w 432"/>
                  <a:gd name="T15" fmla="*/ 576 h 576"/>
                </a:gdLst>
                <a:ahLst/>
                <a:cxnLst>
                  <a:cxn ang="T8">
                    <a:pos x="T0" y="T1"/>
                  </a:cxn>
                  <a:cxn ang="T9">
                    <a:pos x="T2" y="T3"/>
                  </a:cxn>
                  <a:cxn ang="T10">
                    <a:pos x="T4" y="T5"/>
                  </a:cxn>
                  <a:cxn ang="T11">
                    <a:pos x="T6" y="T7"/>
                  </a:cxn>
                </a:cxnLst>
                <a:rect l="T12" t="T13" r="T14" b="T15"/>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pPr>
                  <a:defRPr/>
                </a:pPr>
                <a:endParaRPr lang="en-US">
                  <a:cs typeface="Arial" charset="0"/>
                </a:endParaRPr>
              </a:p>
            </p:txBody>
          </p:sp>
        </p:grpSp>
      </p:grpSp>
      <p:grpSp>
        <p:nvGrpSpPr>
          <p:cNvPr id="9" name="Group 44"/>
          <p:cNvGrpSpPr>
            <a:grpSpLocks/>
          </p:cNvGrpSpPr>
          <p:nvPr/>
        </p:nvGrpSpPr>
        <p:grpSpPr bwMode="auto">
          <a:xfrm>
            <a:off x="1096963" y="6142038"/>
            <a:ext cx="304800" cy="244475"/>
            <a:chOff x="768" y="3096"/>
            <a:chExt cx="240" cy="192"/>
          </a:xfrm>
        </p:grpSpPr>
        <p:sp>
          <p:nvSpPr>
            <p:cNvPr id="33824" name="Oval 4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p:spPr>
          <p:txBody>
            <a:bodyPr wrap="none" anchor="ctr"/>
            <a:lstStyle/>
            <a:p>
              <a:endParaRPr lang="en-GB"/>
            </a:p>
          </p:txBody>
        </p:sp>
        <p:sp>
          <p:nvSpPr>
            <p:cNvPr id="496686" name="Rectangle 46"/>
            <p:cNvSpPr>
              <a:spLocks noChangeArrowheads="1"/>
            </p:cNvSpPr>
            <p:nvPr/>
          </p:nvSpPr>
          <p:spPr bwMode="auto">
            <a:xfrm>
              <a:off x="841" y="3145"/>
              <a:ext cx="95"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pPr>
                <a:defRPr/>
              </a:pPr>
              <a:endParaRPr lang="en-GB">
                <a:cs typeface="Arial" charset="0"/>
              </a:endParaRPr>
            </a:p>
          </p:txBody>
        </p:sp>
      </p:grpSp>
      <p:sp>
        <p:nvSpPr>
          <p:cNvPr id="59" name="Rectangle 101"/>
          <p:cNvSpPr>
            <a:spLocks noGrp="1" noChangeArrowheads="1"/>
          </p:cNvSpPr>
          <p:nvPr>
            <p:ph type="title"/>
          </p:nvPr>
        </p:nvSpPr>
        <p:spPr>
          <a:xfrm>
            <a:off x="260186" y="256299"/>
            <a:ext cx="8534400" cy="758952"/>
          </a:xfrm>
        </p:spPr>
        <p:txBody>
          <a:bodyPr vert="horz" anchor="b">
            <a:normAutofit fontScale="90000"/>
          </a:bodyPr>
          <a:lstStyle/>
          <a:p>
            <a:r>
              <a:rPr lang="fr-FR" sz="3000" b="1" dirty="0">
                <a:solidFill>
                  <a:srgbClr val="C00000"/>
                </a:solidFill>
              </a:rPr>
              <a:t>Copie et déplacement des fichiers et des dossiers compressés</a:t>
            </a:r>
            <a:endParaRPr lang="en-US" sz="3000" b="1" dirty="0">
              <a:solidFill>
                <a:srgbClr val="C00000"/>
              </a:solidFill>
            </a:endParaRPr>
          </a:p>
        </p:txBody>
      </p:sp>
      <p:sp>
        <p:nvSpPr>
          <p:cNvPr id="60" name="AutoShape 123"/>
          <p:cNvSpPr>
            <a:spLocks noChangeArrowheads="1"/>
          </p:cNvSpPr>
          <p:nvPr/>
        </p:nvSpPr>
        <p:spPr bwMode="auto">
          <a:xfrm>
            <a:off x="3134445" y="3797024"/>
            <a:ext cx="2809153" cy="567161"/>
          </a:xfrm>
          <a:custGeom>
            <a:avLst/>
            <a:gdLst>
              <a:gd name="G0" fmla="+- 17519 0 0"/>
              <a:gd name="G1" fmla="+- 4989 0 0"/>
              <a:gd name="G2" fmla="+- 21600 0 4989"/>
              <a:gd name="G3" fmla="+- 10800 0 4989"/>
              <a:gd name="G4" fmla="+- 21600 0 17519"/>
              <a:gd name="G5" fmla="*/ G4 G3 10800"/>
              <a:gd name="G6" fmla="+- 21600 0 G5"/>
              <a:gd name="T0" fmla="*/ 17519 w 21600"/>
              <a:gd name="T1" fmla="*/ 0 h 21600"/>
              <a:gd name="T2" fmla="*/ 0 w 21600"/>
              <a:gd name="T3" fmla="*/ 10800 h 21600"/>
              <a:gd name="T4" fmla="*/ 17519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519" y="0"/>
                </a:moveTo>
                <a:lnTo>
                  <a:pt x="17519" y="4989"/>
                </a:lnTo>
                <a:lnTo>
                  <a:pt x="3375" y="4989"/>
                </a:lnTo>
                <a:lnTo>
                  <a:pt x="3375" y="16611"/>
                </a:lnTo>
                <a:lnTo>
                  <a:pt x="17519" y="16611"/>
                </a:lnTo>
                <a:lnTo>
                  <a:pt x="17519" y="21600"/>
                </a:lnTo>
                <a:lnTo>
                  <a:pt x="21600" y="10800"/>
                </a:lnTo>
                <a:close/>
              </a:path>
              <a:path w="21600" h="21600">
                <a:moveTo>
                  <a:pt x="1350" y="4989"/>
                </a:moveTo>
                <a:lnTo>
                  <a:pt x="1350" y="16611"/>
                </a:lnTo>
                <a:lnTo>
                  <a:pt x="2700" y="16611"/>
                </a:lnTo>
                <a:lnTo>
                  <a:pt x="2700" y="4989"/>
                </a:lnTo>
                <a:close/>
              </a:path>
              <a:path w="21600" h="21600">
                <a:moveTo>
                  <a:pt x="0" y="4989"/>
                </a:moveTo>
                <a:lnTo>
                  <a:pt x="0" y="16611"/>
                </a:lnTo>
                <a:lnTo>
                  <a:pt x="675" y="16611"/>
                </a:lnTo>
                <a:lnTo>
                  <a:pt x="675" y="4989"/>
                </a:lnTo>
                <a:close/>
              </a:path>
            </a:pathLst>
          </a:cu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pPr>
              <a:lnSpc>
                <a:spcPct val="90000"/>
              </a:lnSpc>
            </a:pPr>
            <a:r>
              <a:rPr lang="en-US" sz="1600" b="1" dirty="0" err="1">
                <a:solidFill>
                  <a:srgbClr val="FFFFFF"/>
                </a:solidFill>
                <a:effectLst>
                  <a:outerShdw blurRad="38100" dist="38100" dir="2700000" algn="tl">
                    <a:srgbClr val="000000"/>
                  </a:outerShdw>
                </a:effectLst>
                <a:latin typeface="Arial" charset="0"/>
              </a:rPr>
              <a:t>Déplacement</a:t>
            </a:r>
            <a:endParaRPr lang="en-US" sz="1600" b="1" dirty="0">
              <a:solidFill>
                <a:srgbClr val="FFFFFF"/>
              </a:solidFill>
              <a:effectLst>
                <a:outerShdw blurRad="38100" dist="38100" dir="2700000" algn="tl">
                  <a:srgbClr val="000000"/>
                </a:outerShdw>
              </a:effectLst>
              <a:latin typeface="Arial" charset="0"/>
            </a:endParaRPr>
          </a:p>
        </p:txBody>
      </p:sp>
      <p:sp>
        <p:nvSpPr>
          <p:cNvPr id="61" name="AutoShape 123"/>
          <p:cNvSpPr>
            <a:spLocks noChangeArrowheads="1"/>
          </p:cNvSpPr>
          <p:nvPr/>
        </p:nvSpPr>
        <p:spPr bwMode="auto">
          <a:xfrm>
            <a:off x="3134447" y="3298261"/>
            <a:ext cx="2809153" cy="525597"/>
          </a:xfrm>
          <a:custGeom>
            <a:avLst/>
            <a:gdLst>
              <a:gd name="G0" fmla="+- 17519 0 0"/>
              <a:gd name="G1" fmla="+- 4989 0 0"/>
              <a:gd name="G2" fmla="+- 21600 0 4989"/>
              <a:gd name="G3" fmla="+- 10800 0 4989"/>
              <a:gd name="G4" fmla="+- 21600 0 17519"/>
              <a:gd name="G5" fmla="*/ G4 G3 10800"/>
              <a:gd name="G6" fmla="+- 21600 0 G5"/>
              <a:gd name="T0" fmla="*/ 17519 w 21600"/>
              <a:gd name="T1" fmla="*/ 0 h 21600"/>
              <a:gd name="T2" fmla="*/ 0 w 21600"/>
              <a:gd name="T3" fmla="*/ 10800 h 21600"/>
              <a:gd name="T4" fmla="*/ 17519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519" y="0"/>
                </a:moveTo>
                <a:lnTo>
                  <a:pt x="17519" y="4989"/>
                </a:lnTo>
                <a:lnTo>
                  <a:pt x="3375" y="4989"/>
                </a:lnTo>
                <a:lnTo>
                  <a:pt x="3375" y="16611"/>
                </a:lnTo>
                <a:lnTo>
                  <a:pt x="17519" y="16611"/>
                </a:lnTo>
                <a:lnTo>
                  <a:pt x="17519" y="21600"/>
                </a:lnTo>
                <a:lnTo>
                  <a:pt x="21600" y="10800"/>
                </a:lnTo>
                <a:close/>
              </a:path>
              <a:path w="21600" h="21600">
                <a:moveTo>
                  <a:pt x="1350" y="4989"/>
                </a:moveTo>
                <a:lnTo>
                  <a:pt x="1350" y="16611"/>
                </a:lnTo>
                <a:lnTo>
                  <a:pt x="2700" y="16611"/>
                </a:lnTo>
                <a:lnTo>
                  <a:pt x="2700" y="4989"/>
                </a:lnTo>
                <a:close/>
              </a:path>
              <a:path w="21600" h="21600">
                <a:moveTo>
                  <a:pt x="0" y="4989"/>
                </a:moveTo>
                <a:lnTo>
                  <a:pt x="0" y="16611"/>
                </a:lnTo>
                <a:lnTo>
                  <a:pt x="675" y="16611"/>
                </a:lnTo>
                <a:lnTo>
                  <a:pt x="675" y="4989"/>
                </a:lnTo>
                <a:close/>
              </a:path>
            </a:pathLst>
          </a:cu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pPr algn="ctr">
              <a:lnSpc>
                <a:spcPct val="90000"/>
              </a:lnSpc>
            </a:pPr>
            <a:r>
              <a:rPr lang="en-US" sz="1600" b="1" dirty="0" err="1">
                <a:solidFill>
                  <a:srgbClr val="FFFFFF"/>
                </a:solidFill>
                <a:effectLst>
                  <a:outerShdw blurRad="38100" dist="38100" dir="2700000" algn="tl">
                    <a:srgbClr val="000000"/>
                  </a:outerShdw>
                </a:effectLst>
                <a:latin typeface="Arial" charset="0"/>
              </a:rPr>
              <a:t>Copie</a:t>
            </a:r>
            <a:endParaRPr lang="en-US" sz="1600" b="1" dirty="0">
              <a:solidFill>
                <a:srgbClr val="FFFFFF"/>
              </a:solidFill>
              <a:effectLst>
                <a:outerShdw blurRad="38100" dist="38100" dir="2700000" algn="tl">
                  <a:srgbClr val="000000"/>
                </a:outerShdw>
              </a:effectLst>
              <a:latin typeface="Arial" charset="0"/>
            </a:endParaRPr>
          </a:p>
        </p:txBody>
      </p:sp>
      <p:sp>
        <p:nvSpPr>
          <p:cNvPr id="62" name="AutoShape 123"/>
          <p:cNvSpPr>
            <a:spLocks noChangeArrowheads="1"/>
          </p:cNvSpPr>
          <p:nvPr/>
        </p:nvSpPr>
        <p:spPr bwMode="auto">
          <a:xfrm>
            <a:off x="5919209" y="1774294"/>
            <a:ext cx="1770064" cy="567161"/>
          </a:xfrm>
          <a:custGeom>
            <a:avLst/>
            <a:gdLst>
              <a:gd name="G0" fmla="+- 17519 0 0"/>
              <a:gd name="G1" fmla="+- 4989 0 0"/>
              <a:gd name="G2" fmla="+- 21600 0 4989"/>
              <a:gd name="G3" fmla="+- 10800 0 4989"/>
              <a:gd name="G4" fmla="+- 21600 0 17519"/>
              <a:gd name="G5" fmla="*/ G4 G3 10800"/>
              <a:gd name="G6" fmla="+- 21600 0 G5"/>
              <a:gd name="T0" fmla="*/ 17519 w 21600"/>
              <a:gd name="T1" fmla="*/ 0 h 21600"/>
              <a:gd name="T2" fmla="*/ 0 w 21600"/>
              <a:gd name="T3" fmla="*/ 10800 h 21600"/>
              <a:gd name="T4" fmla="*/ 17519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519" y="0"/>
                </a:moveTo>
                <a:lnTo>
                  <a:pt x="17519" y="4989"/>
                </a:lnTo>
                <a:lnTo>
                  <a:pt x="3375" y="4989"/>
                </a:lnTo>
                <a:lnTo>
                  <a:pt x="3375" y="16611"/>
                </a:lnTo>
                <a:lnTo>
                  <a:pt x="17519" y="16611"/>
                </a:lnTo>
                <a:lnTo>
                  <a:pt x="17519" y="21600"/>
                </a:lnTo>
                <a:lnTo>
                  <a:pt x="21600" y="10800"/>
                </a:lnTo>
                <a:close/>
              </a:path>
              <a:path w="21600" h="21600">
                <a:moveTo>
                  <a:pt x="1350" y="4989"/>
                </a:moveTo>
                <a:lnTo>
                  <a:pt x="1350" y="16611"/>
                </a:lnTo>
                <a:lnTo>
                  <a:pt x="2700" y="16611"/>
                </a:lnTo>
                <a:lnTo>
                  <a:pt x="2700" y="4989"/>
                </a:lnTo>
                <a:close/>
              </a:path>
              <a:path w="21600" h="21600">
                <a:moveTo>
                  <a:pt x="0" y="4989"/>
                </a:moveTo>
                <a:lnTo>
                  <a:pt x="0" y="16611"/>
                </a:lnTo>
                <a:lnTo>
                  <a:pt x="675" y="16611"/>
                </a:lnTo>
                <a:lnTo>
                  <a:pt x="675" y="4989"/>
                </a:lnTo>
                <a:close/>
              </a:path>
            </a:pathLst>
          </a:cu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pPr>
              <a:lnSpc>
                <a:spcPct val="90000"/>
              </a:lnSpc>
            </a:pPr>
            <a:r>
              <a:rPr lang="en-US" sz="1600" b="1" dirty="0" err="1">
                <a:solidFill>
                  <a:srgbClr val="FFFFFF"/>
                </a:solidFill>
                <a:effectLst>
                  <a:outerShdw blurRad="38100" dist="38100" dir="2700000" algn="tl">
                    <a:srgbClr val="000000"/>
                  </a:outerShdw>
                </a:effectLst>
                <a:latin typeface="Arial" charset="0"/>
              </a:rPr>
              <a:t>Déplacement</a:t>
            </a:r>
            <a:endParaRPr lang="en-US" sz="1600" b="1" dirty="0">
              <a:solidFill>
                <a:srgbClr val="FFFFFF"/>
              </a:solidFill>
              <a:effectLst>
                <a:outerShdw blurRad="38100" dist="38100" dir="2700000" algn="tl">
                  <a:srgbClr val="000000"/>
                </a:outerShdw>
              </a:effectLst>
              <a:latin typeface="Arial" charset="0"/>
            </a:endParaRPr>
          </a:p>
        </p:txBody>
      </p:sp>
      <p:sp>
        <p:nvSpPr>
          <p:cNvPr id="63" name="AutoShape 123"/>
          <p:cNvSpPr>
            <a:spLocks noChangeArrowheads="1"/>
          </p:cNvSpPr>
          <p:nvPr/>
        </p:nvSpPr>
        <p:spPr bwMode="auto">
          <a:xfrm>
            <a:off x="1513465" y="1774294"/>
            <a:ext cx="1839335" cy="525597"/>
          </a:xfrm>
          <a:custGeom>
            <a:avLst/>
            <a:gdLst>
              <a:gd name="G0" fmla="+- 17519 0 0"/>
              <a:gd name="G1" fmla="+- 4989 0 0"/>
              <a:gd name="G2" fmla="+- 21600 0 4989"/>
              <a:gd name="G3" fmla="+- 10800 0 4989"/>
              <a:gd name="G4" fmla="+- 21600 0 17519"/>
              <a:gd name="G5" fmla="*/ G4 G3 10800"/>
              <a:gd name="G6" fmla="+- 21600 0 G5"/>
              <a:gd name="T0" fmla="*/ 17519 w 21600"/>
              <a:gd name="T1" fmla="*/ 0 h 21600"/>
              <a:gd name="T2" fmla="*/ 0 w 21600"/>
              <a:gd name="T3" fmla="*/ 10800 h 21600"/>
              <a:gd name="T4" fmla="*/ 17519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519" y="0"/>
                </a:moveTo>
                <a:lnTo>
                  <a:pt x="17519" y="4989"/>
                </a:lnTo>
                <a:lnTo>
                  <a:pt x="3375" y="4989"/>
                </a:lnTo>
                <a:lnTo>
                  <a:pt x="3375" y="16611"/>
                </a:lnTo>
                <a:lnTo>
                  <a:pt x="17519" y="16611"/>
                </a:lnTo>
                <a:lnTo>
                  <a:pt x="17519" y="21600"/>
                </a:lnTo>
                <a:lnTo>
                  <a:pt x="21600" y="10800"/>
                </a:lnTo>
                <a:close/>
              </a:path>
              <a:path w="21600" h="21600">
                <a:moveTo>
                  <a:pt x="1350" y="4989"/>
                </a:moveTo>
                <a:lnTo>
                  <a:pt x="1350" y="16611"/>
                </a:lnTo>
                <a:lnTo>
                  <a:pt x="2700" y="16611"/>
                </a:lnTo>
                <a:lnTo>
                  <a:pt x="2700" y="4989"/>
                </a:lnTo>
                <a:close/>
              </a:path>
              <a:path w="21600" h="21600">
                <a:moveTo>
                  <a:pt x="0" y="4989"/>
                </a:moveTo>
                <a:lnTo>
                  <a:pt x="0" y="16611"/>
                </a:lnTo>
                <a:lnTo>
                  <a:pt x="675" y="16611"/>
                </a:lnTo>
                <a:lnTo>
                  <a:pt x="675" y="4989"/>
                </a:lnTo>
                <a:close/>
              </a:path>
            </a:pathLst>
          </a:cu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pPr algn="ctr">
              <a:lnSpc>
                <a:spcPct val="90000"/>
              </a:lnSpc>
            </a:pPr>
            <a:r>
              <a:rPr lang="en-US" sz="1600" b="1" dirty="0" err="1">
                <a:solidFill>
                  <a:srgbClr val="FFFFFF"/>
                </a:solidFill>
                <a:effectLst>
                  <a:outerShdw blurRad="38100" dist="38100" dir="2700000" algn="tl">
                    <a:srgbClr val="000000"/>
                  </a:outerShdw>
                </a:effectLst>
                <a:latin typeface="Arial" charset="0"/>
              </a:rPr>
              <a:t>Copie</a:t>
            </a:r>
            <a:endParaRPr lang="en-US" sz="1600" b="1" dirty="0">
              <a:solidFill>
                <a:srgbClr val="FFFFFF"/>
              </a:solidFill>
              <a:effectLst>
                <a:outerShdw blurRad="38100" dist="38100" dir="2700000" algn="tl">
                  <a:srgbClr val="000000"/>
                </a:outerShdw>
              </a:effectLst>
              <a:latin typeface="Arial" charset="0"/>
            </a:endParaRPr>
          </a:p>
        </p:txBody>
      </p:sp>
      <p:sp>
        <p:nvSpPr>
          <p:cNvPr id="76" name="AutoShape 123"/>
          <p:cNvSpPr>
            <a:spLocks noChangeArrowheads="1"/>
          </p:cNvSpPr>
          <p:nvPr/>
        </p:nvSpPr>
        <p:spPr bwMode="auto">
          <a:xfrm>
            <a:off x="3148295" y="5584261"/>
            <a:ext cx="2809153" cy="567161"/>
          </a:xfrm>
          <a:custGeom>
            <a:avLst/>
            <a:gdLst>
              <a:gd name="G0" fmla="+- 17519 0 0"/>
              <a:gd name="G1" fmla="+- 4989 0 0"/>
              <a:gd name="G2" fmla="+- 21600 0 4989"/>
              <a:gd name="G3" fmla="+- 10800 0 4989"/>
              <a:gd name="G4" fmla="+- 21600 0 17519"/>
              <a:gd name="G5" fmla="*/ G4 G3 10800"/>
              <a:gd name="G6" fmla="+- 21600 0 G5"/>
              <a:gd name="T0" fmla="*/ 17519 w 21600"/>
              <a:gd name="T1" fmla="*/ 0 h 21600"/>
              <a:gd name="T2" fmla="*/ 0 w 21600"/>
              <a:gd name="T3" fmla="*/ 10800 h 21600"/>
              <a:gd name="T4" fmla="*/ 17519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519" y="0"/>
                </a:moveTo>
                <a:lnTo>
                  <a:pt x="17519" y="4989"/>
                </a:lnTo>
                <a:lnTo>
                  <a:pt x="3375" y="4989"/>
                </a:lnTo>
                <a:lnTo>
                  <a:pt x="3375" y="16611"/>
                </a:lnTo>
                <a:lnTo>
                  <a:pt x="17519" y="16611"/>
                </a:lnTo>
                <a:lnTo>
                  <a:pt x="17519" y="21600"/>
                </a:lnTo>
                <a:lnTo>
                  <a:pt x="21600" y="10800"/>
                </a:lnTo>
                <a:close/>
              </a:path>
              <a:path w="21600" h="21600">
                <a:moveTo>
                  <a:pt x="1350" y="4989"/>
                </a:moveTo>
                <a:lnTo>
                  <a:pt x="1350" y="16611"/>
                </a:lnTo>
                <a:lnTo>
                  <a:pt x="2700" y="16611"/>
                </a:lnTo>
                <a:lnTo>
                  <a:pt x="2700" y="4989"/>
                </a:lnTo>
                <a:close/>
              </a:path>
              <a:path w="21600" h="21600">
                <a:moveTo>
                  <a:pt x="0" y="4989"/>
                </a:moveTo>
                <a:lnTo>
                  <a:pt x="0" y="16611"/>
                </a:lnTo>
                <a:lnTo>
                  <a:pt x="675" y="16611"/>
                </a:lnTo>
                <a:lnTo>
                  <a:pt x="675" y="4989"/>
                </a:lnTo>
                <a:close/>
              </a:path>
            </a:pathLst>
          </a:cu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pPr>
              <a:lnSpc>
                <a:spcPct val="90000"/>
              </a:lnSpc>
            </a:pPr>
            <a:r>
              <a:rPr lang="en-US" sz="1600" b="1" dirty="0" err="1">
                <a:solidFill>
                  <a:srgbClr val="FFFFFF"/>
                </a:solidFill>
                <a:effectLst>
                  <a:outerShdw blurRad="38100" dist="38100" dir="2700000" algn="tl">
                    <a:srgbClr val="000000"/>
                  </a:outerShdw>
                </a:effectLst>
                <a:latin typeface="Arial" charset="0"/>
              </a:rPr>
              <a:t>Déplacement</a:t>
            </a:r>
            <a:endParaRPr lang="en-US" sz="1600" b="1" dirty="0">
              <a:solidFill>
                <a:srgbClr val="FFFFFF"/>
              </a:solidFill>
              <a:effectLst>
                <a:outerShdw blurRad="38100" dist="38100" dir="2700000" algn="tl">
                  <a:srgbClr val="000000"/>
                </a:outerShdw>
              </a:effectLst>
              <a:latin typeface="Arial" charset="0"/>
            </a:endParaRPr>
          </a:p>
        </p:txBody>
      </p:sp>
      <p:sp>
        <p:nvSpPr>
          <p:cNvPr id="77" name="AutoShape 123"/>
          <p:cNvSpPr>
            <a:spLocks noChangeArrowheads="1"/>
          </p:cNvSpPr>
          <p:nvPr/>
        </p:nvSpPr>
        <p:spPr bwMode="auto">
          <a:xfrm>
            <a:off x="3148297" y="5085498"/>
            <a:ext cx="2809153" cy="525597"/>
          </a:xfrm>
          <a:custGeom>
            <a:avLst/>
            <a:gdLst>
              <a:gd name="G0" fmla="+- 17519 0 0"/>
              <a:gd name="G1" fmla="+- 4989 0 0"/>
              <a:gd name="G2" fmla="+- 21600 0 4989"/>
              <a:gd name="G3" fmla="+- 10800 0 4989"/>
              <a:gd name="G4" fmla="+- 21600 0 17519"/>
              <a:gd name="G5" fmla="*/ G4 G3 10800"/>
              <a:gd name="G6" fmla="+- 21600 0 G5"/>
              <a:gd name="T0" fmla="*/ 17519 w 21600"/>
              <a:gd name="T1" fmla="*/ 0 h 21600"/>
              <a:gd name="T2" fmla="*/ 0 w 21600"/>
              <a:gd name="T3" fmla="*/ 10800 h 21600"/>
              <a:gd name="T4" fmla="*/ 17519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7519" y="0"/>
                </a:moveTo>
                <a:lnTo>
                  <a:pt x="17519" y="4989"/>
                </a:lnTo>
                <a:lnTo>
                  <a:pt x="3375" y="4989"/>
                </a:lnTo>
                <a:lnTo>
                  <a:pt x="3375" y="16611"/>
                </a:lnTo>
                <a:lnTo>
                  <a:pt x="17519" y="16611"/>
                </a:lnTo>
                <a:lnTo>
                  <a:pt x="17519" y="21600"/>
                </a:lnTo>
                <a:lnTo>
                  <a:pt x="21600" y="10800"/>
                </a:lnTo>
                <a:close/>
              </a:path>
              <a:path w="21600" h="21600">
                <a:moveTo>
                  <a:pt x="1350" y="4989"/>
                </a:moveTo>
                <a:lnTo>
                  <a:pt x="1350" y="16611"/>
                </a:lnTo>
                <a:lnTo>
                  <a:pt x="2700" y="16611"/>
                </a:lnTo>
                <a:lnTo>
                  <a:pt x="2700" y="4989"/>
                </a:lnTo>
                <a:close/>
              </a:path>
              <a:path w="21600" h="21600">
                <a:moveTo>
                  <a:pt x="0" y="4989"/>
                </a:moveTo>
                <a:lnTo>
                  <a:pt x="0" y="16611"/>
                </a:lnTo>
                <a:lnTo>
                  <a:pt x="675" y="16611"/>
                </a:lnTo>
                <a:lnTo>
                  <a:pt x="675" y="4989"/>
                </a:lnTo>
                <a:close/>
              </a:path>
            </a:pathLst>
          </a:custGeom>
          <a:gradFill rotWithShape="0">
            <a:gsLst>
              <a:gs pos="0">
                <a:srgbClr val="D60093">
                  <a:gamma/>
                  <a:tint val="47451"/>
                  <a:invGamma/>
                </a:srgbClr>
              </a:gs>
              <a:gs pos="100000">
                <a:srgbClr val="D60093"/>
              </a:gs>
            </a:gsLst>
            <a:lin ang="0" scaled="1"/>
          </a:gradFill>
          <a:ln w="6350">
            <a:solidFill>
              <a:srgbClr val="800080"/>
            </a:solidFill>
            <a:miter lim="800000"/>
            <a:headEnd/>
            <a:tailEnd/>
          </a:ln>
          <a:effectLst>
            <a:outerShdw dist="52363" dir="4557825" algn="ctr" rotWithShape="0">
              <a:srgbClr val="C0C0C0"/>
            </a:outerShdw>
          </a:effectLst>
        </p:spPr>
        <p:txBody>
          <a:bodyPr wrap="none" tIns="27432" bIns="27432" anchor="ctr"/>
          <a:lstStyle/>
          <a:p>
            <a:pPr algn="ctr">
              <a:lnSpc>
                <a:spcPct val="90000"/>
              </a:lnSpc>
            </a:pPr>
            <a:r>
              <a:rPr lang="en-US" sz="1600" b="1" dirty="0" err="1">
                <a:solidFill>
                  <a:srgbClr val="FFFFFF"/>
                </a:solidFill>
                <a:effectLst>
                  <a:outerShdw blurRad="38100" dist="38100" dir="2700000" algn="tl">
                    <a:srgbClr val="000000"/>
                  </a:outerShdw>
                </a:effectLst>
                <a:latin typeface="Arial" charset="0"/>
              </a:rPr>
              <a:t>Copie</a:t>
            </a:r>
            <a:endParaRPr lang="en-US" sz="1600" b="1" dirty="0">
              <a:solidFill>
                <a:srgbClr val="FFFFFF"/>
              </a:solidFill>
              <a:effectLst>
                <a:outerShdw blurRad="38100" dist="38100" dir="2700000" algn="tl">
                  <a:srgbClr val="000000"/>
                </a:outerShdw>
              </a:effectLst>
              <a:latin typeface="Arial" charset="0"/>
            </a:endParaRPr>
          </a:p>
        </p:txBody>
      </p:sp>
      <p:sp>
        <p:nvSpPr>
          <p:cNvPr id="78" name="Text Box 72"/>
          <p:cNvSpPr txBox="1">
            <a:spLocks noChangeArrowheads="1"/>
          </p:cNvSpPr>
          <p:nvPr/>
        </p:nvSpPr>
        <p:spPr bwMode="auto">
          <a:xfrm>
            <a:off x="1764725" y="2427588"/>
            <a:ext cx="1096963" cy="301759"/>
          </a:xfrm>
          <a:prstGeom prst="rect">
            <a:avLst/>
          </a:prstGeom>
          <a:solidFill>
            <a:srgbClr val="336699"/>
          </a:solidFill>
          <a:ln w="9525">
            <a:solidFill>
              <a:srgbClr val="333399"/>
            </a:solidFill>
            <a:miter lim="800000"/>
            <a:headEnd/>
            <a:tailEnd/>
          </a:ln>
          <a:effectLst/>
        </p:spPr>
        <p:txBody>
          <a:bodyPr wrap="none" anchor="ctr"/>
          <a:lstStyle/>
          <a:p>
            <a:pPr algn="ctr"/>
            <a:r>
              <a:rPr lang="en-US" sz="1800" b="1" dirty="0" err="1">
                <a:solidFill>
                  <a:schemeClr val="bg1"/>
                </a:solidFill>
                <a:effectLst>
                  <a:outerShdw blurRad="38100" dist="38100" dir="2700000" algn="tl">
                    <a:srgbClr val="000000"/>
                  </a:outerShdw>
                </a:effectLst>
                <a:latin typeface="Arial" charset="0"/>
              </a:rPr>
              <a:t>Hérite</a:t>
            </a:r>
            <a:endParaRPr lang="en-US" sz="1800" b="1" dirty="0">
              <a:solidFill>
                <a:schemeClr val="bg1"/>
              </a:solidFill>
              <a:effectLst>
                <a:outerShdw blurRad="38100" dist="38100" dir="2700000" algn="tl">
                  <a:srgbClr val="000000"/>
                </a:outerShdw>
              </a:effectLst>
              <a:latin typeface="Arial" charset="0"/>
            </a:endParaRPr>
          </a:p>
        </p:txBody>
      </p:sp>
      <p:sp>
        <p:nvSpPr>
          <p:cNvPr id="79" name="Text Box 46"/>
          <p:cNvSpPr txBox="1">
            <a:spLocks noChangeArrowheads="1"/>
          </p:cNvSpPr>
          <p:nvPr/>
        </p:nvSpPr>
        <p:spPr bwMode="auto">
          <a:xfrm>
            <a:off x="6298192" y="2399878"/>
            <a:ext cx="1096963" cy="329469"/>
          </a:xfrm>
          <a:prstGeom prst="rect">
            <a:avLst/>
          </a:prstGeom>
          <a:solidFill>
            <a:srgbClr val="336699"/>
          </a:solidFill>
          <a:ln w="9525">
            <a:solidFill>
              <a:srgbClr val="333399"/>
            </a:solidFill>
            <a:miter lim="800000"/>
            <a:headEnd/>
            <a:tailEnd/>
          </a:ln>
          <a:effectLst/>
        </p:spPr>
        <p:txBody>
          <a:bodyPr wrap="none" anchor="ctr"/>
          <a:lstStyle/>
          <a:p>
            <a:pPr algn="ctr"/>
            <a:r>
              <a:rPr lang="en-US" sz="1800" b="1" dirty="0">
                <a:solidFill>
                  <a:schemeClr val="bg1"/>
                </a:solidFill>
                <a:effectLst>
                  <a:outerShdw blurRad="38100" dist="38100" dir="2700000" algn="tl">
                    <a:srgbClr val="000000"/>
                  </a:outerShdw>
                </a:effectLst>
                <a:latin typeface="Arial" charset="0"/>
              </a:rPr>
              <a:t>Conserve</a:t>
            </a:r>
          </a:p>
        </p:txBody>
      </p:sp>
      <p:sp>
        <p:nvSpPr>
          <p:cNvPr id="80" name="Text Box 72"/>
          <p:cNvSpPr txBox="1">
            <a:spLocks noChangeArrowheads="1"/>
          </p:cNvSpPr>
          <p:nvPr/>
        </p:nvSpPr>
        <p:spPr bwMode="auto">
          <a:xfrm>
            <a:off x="3953744" y="4284099"/>
            <a:ext cx="1096963" cy="315614"/>
          </a:xfrm>
          <a:prstGeom prst="rect">
            <a:avLst/>
          </a:prstGeom>
          <a:solidFill>
            <a:srgbClr val="336699"/>
          </a:solidFill>
          <a:ln w="9525">
            <a:solidFill>
              <a:srgbClr val="333399"/>
            </a:solidFill>
            <a:miter lim="800000"/>
            <a:headEnd/>
            <a:tailEnd/>
          </a:ln>
          <a:effectLst/>
        </p:spPr>
        <p:txBody>
          <a:bodyPr wrap="none" anchor="ctr"/>
          <a:lstStyle/>
          <a:p>
            <a:pPr algn="ctr"/>
            <a:r>
              <a:rPr lang="en-US" sz="1800" b="1">
                <a:solidFill>
                  <a:schemeClr val="bg1"/>
                </a:solidFill>
                <a:effectLst>
                  <a:outerShdw blurRad="38100" dist="38100" dir="2700000" algn="tl">
                    <a:srgbClr val="000000"/>
                  </a:outerShdw>
                </a:effectLst>
                <a:latin typeface="Arial" charset="0"/>
              </a:rPr>
              <a:t>Hérite</a:t>
            </a:r>
          </a:p>
        </p:txBody>
      </p:sp>
      <p:sp>
        <p:nvSpPr>
          <p:cNvPr id="44" name="Text Box 72">
            <a:extLst>
              <a:ext uri="{FF2B5EF4-FFF2-40B4-BE49-F238E27FC236}">
                <a16:creationId xmlns:a16="http://schemas.microsoft.com/office/drawing/2014/main" id="{14EAB0C5-C461-41A5-B471-79446452874C}"/>
              </a:ext>
            </a:extLst>
          </p:cNvPr>
          <p:cNvSpPr txBox="1">
            <a:spLocks noChangeArrowheads="1"/>
          </p:cNvSpPr>
          <p:nvPr/>
        </p:nvSpPr>
        <p:spPr bwMode="auto">
          <a:xfrm>
            <a:off x="7129321" y="5917372"/>
            <a:ext cx="1802813" cy="477078"/>
          </a:xfrm>
          <a:prstGeom prst="rect">
            <a:avLst/>
          </a:prstGeom>
          <a:solidFill>
            <a:srgbClr val="336699"/>
          </a:solidFill>
          <a:ln w="9525">
            <a:solidFill>
              <a:srgbClr val="333399"/>
            </a:solidFill>
            <a:miter lim="800000"/>
            <a:headEnd/>
            <a:tailEnd/>
          </a:ln>
          <a:effectLst/>
        </p:spPr>
        <p:txBody>
          <a:bodyPr wrap="none" anchor="ctr"/>
          <a:lstStyle/>
          <a:p>
            <a:pPr algn="ctr"/>
            <a:r>
              <a:rPr lang="en-US" sz="1800" b="1" dirty="0">
                <a:solidFill>
                  <a:schemeClr val="bg1"/>
                </a:solidFill>
                <a:effectLst>
                  <a:outerShdw blurRad="38100" dist="38100" dir="2700000" algn="tl">
                    <a:srgbClr val="000000"/>
                  </a:outerShdw>
                </a:effectLst>
                <a:latin typeface="Arial" charset="0"/>
              </a:rPr>
              <a:t>Non </a:t>
            </a:r>
            <a:r>
              <a:rPr lang="en-US" sz="1800" b="1" dirty="0" err="1">
                <a:solidFill>
                  <a:schemeClr val="bg1"/>
                </a:solidFill>
                <a:effectLst>
                  <a:outerShdw blurRad="38100" dist="38100" dir="2700000" algn="tl">
                    <a:srgbClr val="000000"/>
                  </a:outerShdw>
                </a:effectLst>
                <a:latin typeface="Arial" charset="0"/>
              </a:rPr>
              <a:t>compressé</a:t>
            </a:r>
            <a:endParaRPr lang="en-US" sz="1800" b="1" dirty="0">
              <a:solidFill>
                <a:schemeClr val="bg1"/>
              </a:solidFill>
              <a:effectLst>
                <a:outerShdw blurRad="38100" dist="38100" dir="2700000" algn="tl">
                  <a:srgbClr val="000000"/>
                </a:outerShdw>
              </a:effectLst>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animEffect transition="in" filter="wipe(left)">
                                      <p:cBhvr>
                                        <p:cTn id="11" dur="500"/>
                                        <p:tgtEl>
                                          <p:spTgt spid="63"/>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78"/>
                                        </p:tgtEl>
                                        <p:attrNameLst>
                                          <p:attrName>style.visibility</p:attrName>
                                        </p:attrNameLst>
                                      </p:cBhvr>
                                      <p:to>
                                        <p:strVal val="visible"/>
                                      </p:to>
                                    </p:set>
                                    <p:animEffect transition="in" filter="checkerboard(across)">
                                      <p:cBhvr>
                                        <p:cTn id="16" dur="500"/>
                                        <p:tgtEl>
                                          <p:spTgt spid="7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2"/>
                                        </p:tgtEl>
                                        <p:attrNameLst>
                                          <p:attrName>style.visibility</p:attrName>
                                        </p:attrNameLst>
                                      </p:cBhvr>
                                      <p:to>
                                        <p:strVal val="visible"/>
                                      </p:to>
                                    </p:set>
                                    <p:animEffect transition="in" filter="wipe(left)">
                                      <p:cBhvr>
                                        <p:cTn id="21" dur="500"/>
                                        <p:tgtEl>
                                          <p:spTgt spid="62"/>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79"/>
                                        </p:tgtEl>
                                        <p:attrNameLst>
                                          <p:attrName>style.visibility</p:attrName>
                                        </p:attrNameLst>
                                      </p:cBhvr>
                                      <p:to>
                                        <p:strVal val="visible"/>
                                      </p:to>
                                    </p:set>
                                    <p:animEffect transition="in" filter="checkerboard(across)">
                                      <p:cBhvr>
                                        <p:cTn id="26" dur="500"/>
                                        <p:tgtEl>
                                          <p:spTgt spid="79"/>
                                        </p:tgtEl>
                                      </p:cBhvr>
                                    </p:animEffect>
                                  </p:childTnLst>
                                </p:cTn>
                              </p:par>
                              <p:par>
                                <p:cTn id="27" presetID="1" presetClass="entr" presetSubtype="0" fill="hold" nodeType="withEffect">
                                  <p:stCondLst>
                                    <p:cond delay="0"/>
                                  </p:stCondLst>
                                  <p:childTnLst>
                                    <p:set>
                                      <p:cBhvr>
                                        <p:cTn id="28" dur="1" fill="hold">
                                          <p:stCondLst>
                                            <p:cond delay="0"/>
                                          </p:stCondLst>
                                        </p:cTn>
                                        <p:tgtEl>
                                          <p:spTgt spid="338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1"/>
                                        </p:tgtEl>
                                        <p:attrNameLst>
                                          <p:attrName>style.visibility</p:attrName>
                                        </p:attrNameLst>
                                      </p:cBhvr>
                                      <p:to>
                                        <p:strVal val="visible"/>
                                      </p:to>
                                    </p:set>
                                    <p:animEffect transition="in" filter="wipe(left)">
                                      <p:cBhvr>
                                        <p:cTn id="33" dur="500"/>
                                        <p:tgtEl>
                                          <p:spTgt spid="61"/>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wipe(left)">
                                      <p:cBhvr>
                                        <p:cTn id="36" dur="500"/>
                                        <p:tgtEl>
                                          <p:spTgt spid="60"/>
                                        </p:tgtEl>
                                      </p:cBhvr>
                                    </p:animEffect>
                                  </p:childTnLst>
                                </p:cTn>
                              </p:par>
                            </p:childTnLst>
                          </p:cTn>
                        </p:par>
                      </p:childTnLst>
                    </p:cTn>
                  </p:par>
                  <p:par>
                    <p:cTn id="37" fill="hold">
                      <p:stCondLst>
                        <p:cond delay="indefinite"/>
                      </p:stCondLst>
                      <p:childTnLst>
                        <p:par>
                          <p:cTn id="38" fill="hold">
                            <p:stCondLst>
                              <p:cond delay="0"/>
                            </p:stCondLst>
                            <p:childTnLst>
                              <p:par>
                                <p:cTn id="39" presetID="5" presetClass="entr" presetSubtype="10" fill="hold" grpId="0" nodeType="clickEffect">
                                  <p:stCondLst>
                                    <p:cond delay="0"/>
                                  </p:stCondLst>
                                  <p:childTnLst>
                                    <p:set>
                                      <p:cBhvr>
                                        <p:cTn id="40" dur="1" fill="hold">
                                          <p:stCondLst>
                                            <p:cond delay="0"/>
                                          </p:stCondLst>
                                        </p:cTn>
                                        <p:tgtEl>
                                          <p:spTgt spid="80"/>
                                        </p:tgtEl>
                                        <p:attrNameLst>
                                          <p:attrName>style.visibility</p:attrName>
                                        </p:attrNameLst>
                                      </p:cBhvr>
                                      <p:to>
                                        <p:strVal val="visible"/>
                                      </p:to>
                                    </p:set>
                                    <p:animEffect transition="in" filter="checkerboard(across)">
                                      <p:cBhvr>
                                        <p:cTn id="41" dur="500"/>
                                        <p:tgtEl>
                                          <p:spTgt spid="8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7"/>
                                        </p:tgtEl>
                                        <p:attrNameLst>
                                          <p:attrName>style.visibility</p:attrName>
                                        </p:attrNameLst>
                                      </p:cBhvr>
                                      <p:to>
                                        <p:strVal val="visible"/>
                                      </p:to>
                                    </p:set>
                                    <p:animEffect transition="in" filter="wipe(left)">
                                      <p:cBhvr>
                                        <p:cTn id="46" dur="500"/>
                                        <p:tgtEl>
                                          <p:spTgt spid="77"/>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animEffect transition="in" filter="wipe(left)">
                                      <p:cBhvr>
                                        <p:cTn id="49" dur="500"/>
                                        <p:tgtEl>
                                          <p:spTgt spid="76"/>
                                        </p:tgtEl>
                                      </p:cBhvr>
                                    </p:animEffect>
                                  </p:childTnLst>
                                </p:cTn>
                              </p:par>
                            </p:childTnLst>
                          </p:cTn>
                        </p:par>
                      </p:childTnLst>
                    </p:cTn>
                  </p:par>
                  <p:par>
                    <p:cTn id="50" fill="hold">
                      <p:stCondLst>
                        <p:cond delay="indefinite"/>
                      </p:stCondLst>
                      <p:childTnLst>
                        <p:par>
                          <p:cTn id="51" fill="hold">
                            <p:stCondLst>
                              <p:cond delay="0"/>
                            </p:stCondLst>
                            <p:childTnLst>
                              <p:par>
                                <p:cTn id="52" presetID="5" presetClass="entr" presetSubtype="10" fill="hold" grpId="0" nodeType="clickEffect">
                                  <p:stCondLst>
                                    <p:cond delay="0"/>
                                  </p:stCondLst>
                                  <p:childTnLst>
                                    <p:set>
                                      <p:cBhvr>
                                        <p:cTn id="53" dur="1" fill="hold">
                                          <p:stCondLst>
                                            <p:cond delay="0"/>
                                          </p:stCondLst>
                                        </p:cTn>
                                        <p:tgtEl>
                                          <p:spTgt spid="44"/>
                                        </p:tgtEl>
                                        <p:attrNameLst>
                                          <p:attrName>style.visibility</p:attrName>
                                        </p:attrNameLst>
                                      </p:cBhvr>
                                      <p:to>
                                        <p:strVal val="visible"/>
                                      </p:to>
                                    </p:set>
                                    <p:animEffect transition="in" filter="checkerboard(across)">
                                      <p:cBhvr>
                                        <p:cTn id="5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autoUpdateAnimBg="0"/>
      <p:bldP spid="61" grpId="0" animBg="1" autoUpdateAnimBg="0"/>
      <p:bldP spid="62" grpId="0" animBg="1" autoUpdateAnimBg="0"/>
      <p:bldP spid="63" grpId="0" animBg="1" autoUpdateAnimBg="0"/>
      <p:bldP spid="76" grpId="0" animBg="1" autoUpdateAnimBg="0"/>
      <p:bldP spid="77" grpId="0" animBg="1" autoUpdateAnimBg="0"/>
      <p:bldP spid="78" grpId="0" animBg="1"/>
      <p:bldP spid="79" grpId="0" animBg="1"/>
      <p:bldP spid="80" grpId="0" animBg="1"/>
      <p:bldP spid="4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a:xfrm>
            <a:off x="246334" y="284011"/>
            <a:ext cx="8534400" cy="758952"/>
          </a:xfrm>
        </p:spPr>
        <p:txBody>
          <a:bodyPr vert="horz" anchor="b">
            <a:normAutofit fontScale="90000"/>
          </a:bodyPr>
          <a:lstStyle/>
          <a:p>
            <a:r>
              <a:rPr lang="fr-FR" sz="3000" b="1" dirty="0">
                <a:solidFill>
                  <a:srgbClr val="C00000"/>
                </a:solidFill>
              </a:rPr>
              <a:t>Conseils pratiques en matière de gestion de </a:t>
            </a:r>
            <a:br>
              <a:rPr lang="fr-FR" sz="3000" b="1" dirty="0">
                <a:solidFill>
                  <a:srgbClr val="C00000"/>
                </a:solidFill>
              </a:rPr>
            </a:br>
            <a:r>
              <a:rPr lang="fr-FR" sz="3000" b="1" dirty="0">
                <a:solidFill>
                  <a:srgbClr val="C00000"/>
                </a:solidFill>
              </a:rPr>
              <a:t>la compression des données</a:t>
            </a:r>
            <a:endParaRPr lang="en-US" sz="3000" b="1" dirty="0">
              <a:solidFill>
                <a:srgbClr val="C00000"/>
              </a:solidFill>
            </a:endParaRPr>
          </a:p>
        </p:txBody>
      </p:sp>
      <p:grpSp>
        <p:nvGrpSpPr>
          <p:cNvPr id="141337" name="Group 25"/>
          <p:cNvGrpSpPr>
            <a:grpSpLocks/>
          </p:cNvGrpSpPr>
          <p:nvPr/>
        </p:nvGrpSpPr>
        <p:grpSpPr bwMode="auto">
          <a:xfrm>
            <a:off x="938213" y="1631950"/>
            <a:ext cx="7150100" cy="793750"/>
            <a:chOff x="591" y="1107"/>
            <a:chExt cx="4504" cy="500"/>
          </a:xfrm>
        </p:grpSpPr>
        <p:sp>
          <p:nvSpPr>
            <p:cNvPr id="141338" name="Rectangle 26"/>
            <p:cNvSpPr>
              <a:spLocks noChangeArrowheads="1"/>
            </p:cNvSpPr>
            <p:nvPr/>
          </p:nvSpPr>
          <p:spPr bwMode="auto">
            <a:xfrm>
              <a:off x="591" y="1107"/>
              <a:ext cx="4504" cy="500"/>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wrap="none" lIns="822960" tIns="44450" rIns="90488" bIns="44450" anchor="ctr"/>
            <a:lstStyle/>
            <a:p>
              <a:r>
                <a:rPr lang="en-US" sz="1800" b="1">
                  <a:latin typeface="Arial" charset="0"/>
                </a:rPr>
                <a:t>Déterminez les types de fichiers à compresser</a:t>
              </a:r>
            </a:p>
          </p:txBody>
        </p:sp>
        <p:grpSp>
          <p:nvGrpSpPr>
            <p:cNvPr id="141339" name="Group 27"/>
            <p:cNvGrpSpPr>
              <a:grpSpLocks/>
            </p:cNvGrpSpPr>
            <p:nvPr/>
          </p:nvGrpSpPr>
          <p:grpSpPr bwMode="auto">
            <a:xfrm>
              <a:off x="635" y="1143"/>
              <a:ext cx="384" cy="378"/>
              <a:chOff x="343" y="816"/>
              <a:chExt cx="448" cy="441"/>
            </a:xfrm>
          </p:grpSpPr>
          <p:sp>
            <p:nvSpPr>
              <p:cNvPr id="141340" name="Rectangle 28"/>
              <p:cNvSpPr>
                <a:spLocks noChangeArrowheads="1"/>
              </p:cNvSpPr>
              <p:nvPr/>
            </p:nvSpPr>
            <p:spPr bwMode="auto">
              <a:xfrm>
                <a:off x="343" y="905"/>
                <a:ext cx="346" cy="352"/>
              </a:xfrm>
              <a:prstGeom prst="rect">
                <a:avLst/>
              </a:prstGeom>
              <a:solidFill>
                <a:schemeClr val="bg1"/>
              </a:solidFill>
              <a:ln w="12700">
                <a:solidFill>
                  <a:schemeClr val="tx2"/>
                </a:solidFill>
                <a:miter lim="800000"/>
                <a:headEnd/>
                <a:tailEnd/>
              </a:ln>
              <a:effectLst>
                <a:outerShdw dist="53882" dir="2700000" algn="ctr" rotWithShape="0">
                  <a:srgbClr val="969696"/>
                </a:outerShdw>
              </a:effectLst>
            </p:spPr>
            <p:txBody>
              <a:bodyPr wrap="none" anchor="ctr"/>
              <a:lstStyle/>
              <a:p>
                <a:endParaRPr lang="fr-FR"/>
              </a:p>
            </p:txBody>
          </p:sp>
          <p:sp>
            <p:nvSpPr>
              <p:cNvPr id="141341" name="Freeform 29"/>
              <p:cNvSpPr>
                <a:spLocks/>
              </p:cNvSpPr>
              <p:nvPr/>
            </p:nvSpPr>
            <p:spPr bwMode="auto">
              <a:xfrm>
                <a:off x="406" y="816"/>
                <a:ext cx="385" cy="363"/>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40161" dir="4293903" algn="ctr" rotWithShape="0">
                  <a:srgbClr val="969696"/>
                </a:outerShdw>
              </a:effectLst>
            </p:spPr>
            <p:txBody>
              <a:bodyPr/>
              <a:lstStyle/>
              <a:p>
                <a:endParaRPr lang="fr-FR"/>
              </a:p>
            </p:txBody>
          </p:sp>
        </p:grpSp>
      </p:grpSp>
      <p:grpSp>
        <p:nvGrpSpPr>
          <p:cNvPr id="141342" name="Group 30"/>
          <p:cNvGrpSpPr>
            <a:grpSpLocks/>
          </p:cNvGrpSpPr>
          <p:nvPr/>
        </p:nvGrpSpPr>
        <p:grpSpPr bwMode="auto">
          <a:xfrm>
            <a:off x="938213" y="2695575"/>
            <a:ext cx="7150100" cy="793750"/>
            <a:chOff x="591" y="1739"/>
            <a:chExt cx="4504" cy="500"/>
          </a:xfrm>
        </p:grpSpPr>
        <p:sp>
          <p:nvSpPr>
            <p:cNvPr id="141343" name="Rectangle 31"/>
            <p:cNvSpPr>
              <a:spLocks noChangeArrowheads="1"/>
            </p:cNvSpPr>
            <p:nvPr/>
          </p:nvSpPr>
          <p:spPr bwMode="auto">
            <a:xfrm>
              <a:off x="591" y="1739"/>
              <a:ext cx="4504" cy="500"/>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wrap="none" lIns="822960" tIns="44450" rIns="90488" bIns="44450" anchor="ctr"/>
            <a:lstStyle/>
            <a:p>
              <a:r>
                <a:rPr lang="en-US" sz="1800" b="1">
                  <a:latin typeface="Arial" charset="0"/>
                </a:rPr>
                <a:t>Évitez de compresser les fichiers système ou exécutables</a:t>
              </a:r>
            </a:p>
          </p:txBody>
        </p:sp>
        <p:grpSp>
          <p:nvGrpSpPr>
            <p:cNvPr id="141344" name="Group 32"/>
            <p:cNvGrpSpPr>
              <a:grpSpLocks/>
            </p:cNvGrpSpPr>
            <p:nvPr/>
          </p:nvGrpSpPr>
          <p:grpSpPr bwMode="auto">
            <a:xfrm>
              <a:off x="635" y="1775"/>
              <a:ext cx="384" cy="378"/>
              <a:chOff x="343" y="816"/>
              <a:chExt cx="448" cy="441"/>
            </a:xfrm>
          </p:grpSpPr>
          <p:sp>
            <p:nvSpPr>
              <p:cNvPr id="141345" name="Rectangle 33"/>
              <p:cNvSpPr>
                <a:spLocks noChangeArrowheads="1"/>
              </p:cNvSpPr>
              <p:nvPr/>
            </p:nvSpPr>
            <p:spPr bwMode="auto">
              <a:xfrm>
                <a:off x="343" y="905"/>
                <a:ext cx="346" cy="352"/>
              </a:xfrm>
              <a:prstGeom prst="rect">
                <a:avLst/>
              </a:prstGeom>
              <a:solidFill>
                <a:schemeClr val="bg1"/>
              </a:solidFill>
              <a:ln w="12700">
                <a:solidFill>
                  <a:schemeClr val="tx2"/>
                </a:solidFill>
                <a:miter lim="800000"/>
                <a:headEnd/>
                <a:tailEnd/>
              </a:ln>
              <a:effectLst>
                <a:outerShdw dist="53882" dir="2700000" algn="ctr" rotWithShape="0">
                  <a:srgbClr val="969696"/>
                </a:outerShdw>
              </a:effectLst>
            </p:spPr>
            <p:txBody>
              <a:bodyPr wrap="none" anchor="ctr"/>
              <a:lstStyle/>
              <a:p>
                <a:endParaRPr lang="fr-FR"/>
              </a:p>
            </p:txBody>
          </p:sp>
          <p:sp>
            <p:nvSpPr>
              <p:cNvPr id="141346" name="Freeform 34"/>
              <p:cNvSpPr>
                <a:spLocks/>
              </p:cNvSpPr>
              <p:nvPr/>
            </p:nvSpPr>
            <p:spPr bwMode="auto">
              <a:xfrm>
                <a:off x="406" y="816"/>
                <a:ext cx="385" cy="363"/>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40161" dir="4293903" algn="ctr" rotWithShape="0">
                  <a:srgbClr val="969696"/>
                </a:outerShdw>
              </a:effectLst>
            </p:spPr>
            <p:txBody>
              <a:bodyPr/>
              <a:lstStyle/>
              <a:p>
                <a:endParaRPr lang="fr-FR"/>
              </a:p>
            </p:txBody>
          </p:sp>
        </p:grpSp>
      </p:grpSp>
      <p:grpSp>
        <p:nvGrpSpPr>
          <p:cNvPr id="141347" name="Group 35"/>
          <p:cNvGrpSpPr>
            <a:grpSpLocks/>
          </p:cNvGrpSpPr>
          <p:nvPr/>
        </p:nvGrpSpPr>
        <p:grpSpPr bwMode="auto">
          <a:xfrm>
            <a:off x="938213" y="3759200"/>
            <a:ext cx="7150100" cy="793750"/>
            <a:chOff x="591" y="2372"/>
            <a:chExt cx="4504" cy="500"/>
          </a:xfrm>
        </p:grpSpPr>
        <p:sp>
          <p:nvSpPr>
            <p:cNvPr id="141348" name="Rectangle 36"/>
            <p:cNvSpPr>
              <a:spLocks noChangeArrowheads="1"/>
            </p:cNvSpPr>
            <p:nvPr/>
          </p:nvSpPr>
          <p:spPr bwMode="auto">
            <a:xfrm>
              <a:off x="591" y="2372"/>
              <a:ext cx="4504" cy="500"/>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wrap="none" lIns="822960" tIns="44450" rIns="90488" bIns="44450" anchor="ctr"/>
            <a:lstStyle/>
            <a:p>
              <a:r>
                <a:rPr lang="en-US" sz="1800" b="1">
                  <a:latin typeface="Arial" charset="0"/>
                </a:rPr>
                <a:t>Compressez les données statiques plutôt que les </a:t>
              </a:r>
              <a:br>
                <a:rPr lang="en-US" sz="1800" b="1">
                  <a:latin typeface="Arial" charset="0"/>
                </a:rPr>
              </a:br>
              <a:r>
                <a:rPr lang="en-US" sz="1800" b="1">
                  <a:latin typeface="Arial" charset="0"/>
                </a:rPr>
                <a:t>données qui changent fréquemment</a:t>
              </a:r>
            </a:p>
          </p:txBody>
        </p:sp>
        <p:grpSp>
          <p:nvGrpSpPr>
            <p:cNvPr id="141349" name="Group 37"/>
            <p:cNvGrpSpPr>
              <a:grpSpLocks/>
            </p:cNvGrpSpPr>
            <p:nvPr/>
          </p:nvGrpSpPr>
          <p:grpSpPr bwMode="auto">
            <a:xfrm>
              <a:off x="635" y="2408"/>
              <a:ext cx="384" cy="378"/>
              <a:chOff x="343" y="816"/>
              <a:chExt cx="448" cy="441"/>
            </a:xfrm>
          </p:grpSpPr>
          <p:sp>
            <p:nvSpPr>
              <p:cNvPr id="141350" name="Rectangle 38"/>
              <p:cNvSpPr>
                <a:spLocks noChangeArrowheads="1"/>
              </p:cNvSpPr>
              <p:nvPr/>
            </p:nvSpPr>
            <p:spPr bwMode="auto">
              <a:xfrm>
                <a:off x="343" y="905"/>
                <a:ext cx="346" cy="352"/>
              </a:xfrm>
              <a:prstGeom prst="rect">
                <a:avLst/>
              </a:prstGeom>
              <a:solidFill>
                <a:schemeClr val="bg1"/>
              </a:solidFill>
              <a:ln w="12700">
                <a:solidFill>
                  <a:schemeClr val="tx2"/>
                </a:solidFill>
                <a:miter lim="800000"/>
                <a:headEnd/>
                <a:tailEnd/>
              </a:ln>
              <a:effectLst>
                <a:outerShdw dist="53882" dir="2700000" algn="ctr" rotWithShape="0">
                  <a:srgbClr val="969696"/>
                </a:outerShdw>
              </a:effectLst>
            </p:spPr>
            <p:txBody>
              <a:bodyPr wrap="none" anchor="ctr"/>
              <a:lstStyle/>
              <a:p>
                <a:endParaRPr lang="fr-FR"/>
              </a:p>
            </p:txBody>
          </p:sp>
          <p:sp>
            <p:nvSpPr>
              <p:cNvPr id="141351" name="Freeform 39"/>
              <p:cNvSpPr>
                <a:spLocks/>
              </p:cNvSpPr>
              <p:nvPr/>
            </p:nvSpPr>
            <p:spPr bwMode="auto">
              <a:xfrm>
                <a:off x="406" y="816"/>
                <a:ext cx="385" cy="363"/>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40161" dir="4293903" algn="ctr" rotWithShape="0">
                  <a:srgbClr val="969696"/>
                </a:outerShdw>
              </a:effectLst>
            </p:spPr>
            <p:txBody>
              <a:bodyPr/>
              <a:lstStyle/>
              <a:p>
                <a:endParaRPr lang="fr-FR"/>
              </a:p>
            </p:txBody>
          </p:sp>
        </p:grpSp>
      </p:grpSp>
      <p:grpSp>
        <p:nvGrpSpPr>
          <p:cNvPr id="141352" name="Group 40"/>
          <p:cNvGrpSpPr>
            <a:grpSpLocks/>
          </p:cNvGrpSpPr>
          <p:nvPr/>
        </p:nvGrpSpPr>
        <p:grpSpPr bwMode="auto">
          <a:xfrm>
            <a:off x="938213" y="4822825"/>
            <a:ext cx="7150100" cy="793750"/>
            <a:chOff x="591" y="3038"/>
            <a:chExt cx="4504" cy="500"/>
          </a:xfrm>
        </p:grpSpPr>
        <p:sp>
          <p:nvSpPr>
            <p:cNvPr id="141353" name="Rectangle 41"/>
            <p:cNvSpPr>
              <a:spLocks noChangeArrowheads="1"/>
            </p:cNvSpPr>
            <p:nvPr/>
          </p:nvSpPr>
          <p:spPr bwMode="auto">
            <a:xfrm>
              <a:off x="591" y="3038"/>
              <a:ext cx="4504" cy="500"/>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wrap="none" lIns="822960" tIns="44450" rIns="90488" bIns="44450" anchor="ctr"/>
            <a:lstStyle/>
            <a:p>
              <a:r>
                <a:rPr lang="fr-FR" sz="1800" b="1">
                  <a:latin typeface="Arial" charset="0"/>
                </a:rPr>
                <a:t>Utilisez des couleurs d'affichage différentes pour les </a:t>
              </a:r>
              <a:br>
                <a:rPr lang="fr-FR" sz="1800" b="1">
                  <a:latin typeface="Arial" charset="0"/>
                </a:rPr>
              </a:br>
              <a:r>
                <a:rPr lang="fr-FR" sz="1800" b="1">
                  <a:latin typeface="Arial" charset="0"/>
                </a:rPr>
                <a:t>dossiers et les fichiers compressés</a:t>
              </a:r>
              <a:endParaRPr lang="en-US" sz="1800" b="1">
                <a:latin typeface="Arial" charset="0"/>
              </a:endParaRPr>
            </a:p>
          </p:txBody>
        </p:sp>
        <p:grpSp>
          <p:nvGrpSpPr>
            <p:cNvPr id="141354" name="Group 42"/>
            <p:cNvGrpSpPr>
              <a:grpSpLocks/>
            </p:cNvGrpSpPr>
            <p:nvPr/>
          </p:nvGrpSpPr>
          <p:grpSpPr bwMode="auto">
            <a:xfrm>
              <a:off x="635" y="3074"/>
              <a:ext cx="384" cy="378"/>
              <a:chOff x="343" y="816"/>
              <a:chExt cx="448" cy="441"/>
            </a:xfrm>
          </p:grpSpPr>
          <p:sp>
            <p:nvSpPr>
              <p:cNvPr id="141355" name="Rectangle 43"/>
              <p:cNvSpPr>
                <a:spLocks noChangeArrowheads="1"/>
              </p:cNvSpPr>
              <p:nvPr/>
            </p:nvSpPr>
            <p:spPr bwMode="auto">
              <a:xfrm>
                <a:off x="343" y="905"/>
                <a:ext cx="346" cy="352"/>
              </a:xfrm>
              <a:prstGeom prst="rect">
                <a:avLst/>
              </a:prstGeom>
              <a:solidFill>
                <a:schemeClr val="bg1"/>
              </a:solidFill>
              <a:ln w="12700">
                <a:solidFill>
                  <a:schemeClr val="tx2"/>
                </a:solidFill>
                <a:miter lim="800000"/>
                <a:headEnd/>
                <a:tailEnd/>
              </a:ln>
              <a:effectLst>
                <a:outerShdw dist="53882" dir="2700000" algn="ctr" rotWithShape="0">
                  <a:srgbClr val="969696"/>
                </a:outerShdw>
              </a:effectLst>
            </p:spPr>
            <p:txBody>
              <a:bodyPr wrap="none" anchor="ctr"/>
              <a:lstStyle/>
              <a:p>
                <a:endParaRPr lang="fr-FR"/>
              </a:p>
            </p:txBody>
          </p:sp>
          <p:sp>
            <p:nvSpPr>
              <p:cNvPr id="141356" name="Freeform 44"/>
              <p:cNvSpPr>
                <a:spLocks/>
              </p:cNvSpPr>
              <p:nvPr/>
            </p:nvSpPr>
            <p:spPr bwMode="auto">
              <a:xfrm>
                <a:off x="406" y="816"/>
                <a:ext cx="385" cy="363"/>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40161" dir="4293903" algn="ctr" rotWithShape="0">
                  <a:srgbClr val="969696"/>
                </a:outerShdw>
              </a:effectLst>
            </p:spPr>
            <p:txBody>
              <a:bodyPr/>
              <a:lstStyle/>
              <a:p>
                <a:endParaRPr lang="fr-F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41337"/>
                                        </p:tgtEl>
                                        <p:attrNameLst>
                                          <p:attrName>style.visibility</p:attrName>
                                        </p:attrNameLst>
                                      </p:cBhvr>
                                      <p:to>
                                        <p:strVal val="visible"/>
                                      </p:to>
                                    </p:set>
                                    <p:animEffect transition="in" filter="checkerboard(across)">
                                      <p:cBhvr>
                                        <p:cTn id="7" dur="500"/>
                                        <p:tgtEl>
                                          <p:spTgt spid="14133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41342"/>
                                        </p:tgtEl>
                                        <p:attrNameLst>
                                          <p:attrName>style.visibility</p:attrName>
                                        </p:attrNameLst>
                                      </p:cBhvr>
                                      <p:to>
                                        <p:strVal val="visible"/>
                                      </p:to>
                                    </p:set>
                                    <p:animEffect transition="in" filter="checkerboard(across)">
                                      <p:cBhvr>
                                        <p:cTn id="12" dur="500"/>
                                        <p:tgtEl>
                                          <p:spTgt spid="14134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41347"/>
                                        </p:tgtEl>
                                        <p:attrNameLst>
                                          <p:attrName>style.visibility</p:attrName>
                                        </p:attrNameLst>
                                      </p:cBhvr>
                                      <p:to>
                                        <p:strVal val="visible"/>
                                      </p:to>
                                    </p:set>
                                    <p:animEffect transition="in" filter="checkerboard(across)">
                                      <p:cBhvr>
                                        <p:cTn id="17" dur="500"/>
                                        <p:tgtEl>
                                          <p:spTgt spid="141347"/>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141352"/>
                                        </p:tgtEl>
                                        <p:attrNameLst>
                                          <p:attrName>style.visibility</p:attrName>
                                        </p:attrNameLst>
                                      </p:cBhvr>
                                      <p:to>
                                        <p:strVal val="visible"/>
                                      </p:to>
                                    </p:set>
                                    <p:animEffect transition="in" filter="checkerboard(across)">
                                      <p:cBhvr>
                                        <p:cTn id="22" dur="500"/>
                                        <p:tgtEl>
                                          <p:spTgt spid="141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8" name="Rectangle 4"/>
          <p:cNvSpPr>
            <a:spLocks noGrp="1" noChangeArrowheads="1"/>
          </p:cNvSpPr>
          <p:nvPr>
            <p:ph type="title"/>
          </p:nvPr>
        </p:nvSpPr>
        <p:spPr>
          <a:xfrm>
            <a:off x="193964" y="325582"/>
            <a:ext cx="8642188" cy="935182"/>
          </a:xfrm>
        </p:spPr>
        <p:txBody>
          <a:bodyPr>
            <a:normAutofit fontScale="90000"/>
          </a:bodyPr>
          <a:lstStyle/>
          <a:p>
            <a:pPr marL="439738" indent="-439738"/>
            <a:r>
              <a:rPr lang="en-US" dirty="0">
                <a:solidFill>
                  <a:schemeClr val="tx1"/>
                </a:solidFill>
                <a:cs typeface="Times New Roman" pitchFamily="18" charset="0"/>
              </a:rPr>
              <a:t>3. </a:t>
            </a:r>
            <a:r>
              <a:rPr lang="en-US" dirty="0" err="1">
                <a:solidFill>
                  <a:schemeClr val="tx1"/>
                </a:solidFill>
                <a:cs typeface="Times New Roman" pitchFamily="18" charset="0"/>
              </a:rPr>
              <a:t>Sécurisation</a:t>
            </a:r>
            <a:r>
              <a:rPr lang="en-US" dirty="0">
                <a:solidFill>
                  <a:schemeClr val="tx1"/>
                </a:solidFill>
                <a:cs typeface="Times New Roman" pitchFamily="18" charset="0"/>
              </a:rPr>
              <a:t> de </a:t>
            </a:r>
            <a:r>
              <a:rPr lang="en-US" dirty="0" err="1">
                <a:solidFill>
                  <a:schemeClr val="tx1"/>
                </a:solidFill>
                <a:cs typeface="Times New Roman" pitchFamily="18" charset="0"/>
              </a:rPr>
              <a:t>données</a:t>
            </a:r>
            <a:r>
              <a:rPr lang="en-US" dirty="0">
                <a:solidFill>
                  <a:schemeClr val="tx1"/>
                </a:solidFill>
                <a:cs typeface="Times New Roman" pitchFamily="18" charset="0"/>
              </a:rPr>
              <a:t> à </a:t>
            </a:r>
            <a:r>
              <a:rPr lang="en-US" dirty="0" err="1">
                <a:solidFill>
                  <a:schemeClr val="tx1"/>
                </a:solidFill>
                <a:cs typeface="Times New Roman" pitchFamily="18" charset="0"/>
              </a:rPr>
              <a:t>l'aide</a:t>
            </a:r>
            <a:r>
              <a:rPr lang="en-US" dirty="0">
                <a:solidFill>
                  <a:schemeClr val="tx1"/>
                </a:solidFill>
                <a:cs typeface="Times New Roman" pitchFamily="18" charset="0"/>
              </a:rPr>
              <a:t> du  </a:t>
            </a:r>
            <a:r>
              <a:rPr lang="en-US" dirty="0" err="1">
                <a:solidFill>
                  <a:schemeClr val="tx1"/>
                </a:solidFill>
                <a:cs typeface="Times New Roman" pitchFamily="18" charset="0"/>
              </a:rPr>
              <a:t>système</a:t>
            </a:r>
            <a:r>
              <a:rPr lang="en-US" dirty="0">
                <a:solidFill>
                  <a:schemeClr val="tx1"/>
                </a:solidFill>
                <a:cs typeface="Times New Roman" pitchFamily="18" charset="0"/>
              </a:rPr>
              <a:t> EFS</a:t>
            </a:r>
            <a:endParaRPr lang="en-US" dirty="0">
              <a:solidFill>
                <a:schemeClr val="tx1"/>
              </a:solidFill>
            </a:endParaRPr>
          </a:p>
        </p:txBody>
      </p:sp>
      <p:sp>
        <p:nvSpPr>
          <p:cNvPr id="144389" name="Rectangle 5"/>
          <p:cNvSpPr>
            <a:spLocks noGrp="1" noChangeArrowheads="1"/>
          </p:cNvSpPr>
          <p:nvPr>
            <p:ph sz="quarter" idx="1"/>
          </p:nvPr>
        </p:nvSpPr>
        <p:spPr>
          <a:xfrm>
            <a:off x="287897" y="1665594"/>
            <a:ext cx="8503920" cy="3696116"/>
          </a:xfrm>
        </p:spPr>
        <p:txBody>
          <a:bodyPr/>
          <a:lstStyle/>
          <a:p>
            <a:pPr marL="514350" indent="-514350">
              <a:buClrTx/>
              <a:buFont typeface="Symbol" pitchFamily="18" charset="2"/>
              <a:buChar char="®"/>
            </a:pPr>
            <a:r>
              <a:rPr lang="fr-FR" dirty="0"/>
              <a:t>Présentation du système EFS </a:t>
            </a:r>
            <a:endParaRPr lang="en-US" dirty="0"/>
          </a:p>
          <a:p>
            <a:pPr marL="514350" indent="-514350">
              <a:buClrTx/>
              <a:buFont typeface="Symbol" pitchFamily="18" charset="2"/>
              <a:buChar char="®"/>
            </a:pPr>
            <a:r>
              <a:rPr lang="fr-FR" dirty="0"/>
              <a:t>Cryptage d'un dossier ou d'un fichier </a:t>
            </a:r>
            <a:endParaRPr lang="en-US" dirty="0"/>
          </a:p>
          <a:p>
            <a:pPr marL="514350" indent="-514350">
              <a:buClrTx/>
              <a:buFont typeface="Symbol" pitchFamily="18" charset="2"/>
              <a:buChar char="®"/>
            </a:pPr>
            <a:r>
              <a:rPr lang="fr-FR" dirty="0"/>
              <a:t>Ajout d'utilisateurs autorisés </a:t>
            </a:r>
            <a:endParaRPr lang="en-US" dirty="0"/>
          </a:p>
          <a:p>
            <a:pPr marL="514350" indent="-514350">
              <a:buClrTx/>
              <a:buFont typeface="Symbol" pitchFamily="18" charset="2"/>
              <a:buChar char="®"/>
            </a:pPr>
            <a:r>
              <a:rPr lang="fr-FR" dirty="0"/>
              <a:t>Décryptage d'un dossier ou d'un fichier </a:t>
            </a:r>
            <a:endParaRPr lang="en-US" dirty="0"/>
          </a:p>
          <a:p>
            <a:pPr marL="514350" indent="-514350">
              <a:buClrTx/>
              <a:buFont typeface="Symbol" pitchFamily="18" charset="2"/>
              <a:buChar char="®"/>
            </a:pPr>
            <a:r>
              <a:rPr lang="fr-FR" dirty="0"/>
              <a:t>Récupération d'un dossier ou d'un fichier crypté </a:t>
            </a:r>
            <a:endParaRPr lang="en-US" dirty="0"/>
          </a:p>
          <a:p>
            <a:pPr marL="514350" indent="-514350">
              <a:buClrTx/>
              <a:buFont typeface="Symbol" pitchFamily="18" charset="2"/>
              <a:buChar char="®"/>
            </a:pPr>
            <a:r>
              <a:rPr lang="fr-FR" dirty="0"/>
              <a:t>Conseils pratiques en matière d'implémentation du système EFS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31" name="Rectangle 23"/>
          <p:cNvSpPr>
            <a:spLocks noGrp="1" noChangeArrowheads="1"/>
          </p:cNvSpPr>
          <p:nvPr>
            <p:ph type="title"/>
          </p:nvPr>
        </p:nvSpPr>
        <p:spPr>
          <a:xfrm>
            <a:off x="260189" y="242455"/>
            <a:ext cx="8534400" cy="758952"/>
          </a:xfrm>
        </p:spPr>
        <p:txBody>
          <a:bodyPr vert="horz" anchor="b">
            <a:normAutofit/>
          </a:bodyPr>
          <a:lstStyle/>
          <a:p>
            <a:r>
              <a:rPr lang="fr-FR" sz="3000" b="1" dirty="0">
                <a:solidFill>
                  <a:srgbClr val="C00000"/>
                </a:solidFill>
              </a:rPr>
              <a:t>Présentation du système EFS</a:t>
            </a:r>
            <a:endParaRPr lang="en-US" sz="3000" b="1" dirty="0">
              <a:solidFill>
                <a:srgbClr val="C00000"/>
              </a:solidFill>
            </a:endParaRPr>
          </a:p>
        </p:txBody>
      </p:sp>
      <p:sp>
        <p:nvSpPr>
          <p:cNvPr id="145432" name="Rectangle 24"/>
          <p:cNvSpPr>
            <a:spLocks noGrp="1" noChangeArrowheads="1"/>
          </p:cNvSpPr>
          <p:nvPr>
            <p:ph sz="quarter" idx="1"/>
          </p:nvPr>
        </p:nvSpPr>
        <p:spPr/>
        <p:txBody>
          <a:bodyPr/>
          <a:lstStyle/>
          <a:p>
            <a:r>
              <a:rPr lang="fr-FR"/>
              <a:t>Est transparent pour les utilisateurs </a:t>
            </a:r>
            <a:br>
              <a:rPr lang="fr-FR"/>
            </a:br>
            <a:r>
              <a:rPr lang="fr-FR"/>
              <a:t>et les applications</a:t>
            </a:r>
          </a:p>
          <a:p>
            <a:r>
              <a:rPr lang="fr-FR"/>
              <a:t>Est accessible uniquement aux </a:t>
            </a:r>
            <a:br>
              <a:rPr lang="fr-FR"/>
            </a:br>
            <a:r>
              <a:rPr lang="fr-FR"/>
              <a:t>utilisateurs autorisés</a:t>
            </a:r>
          </a:p>
          <a:p>
            <a:r>
              <a:rPr lang="fr-FR"/>
              <a:t>Permet la spécification d'un agent de récupération de données</a:t>
            </a:r>
          </a:p>
          <a:p>
            <a:r>
              <a:rPr lang="fr-FR"/>
              <a:t>Crypte les fichiers localement ou sur le réseau</a:t>
            </a:r>
          </a:p>
          <a:p>
            <a:r>
              <a:rPr lang="fr-FR"/>
              <a:t>Permet de désigner les fichiers et dossiers cryptés par une couleur différente</a:t>
            </a:r>
          </a:p>
          <a:p>
            <a:endParaRPr lang="fr-FR"/>
          </a:p>
        </p:txBody>
      </p:sp>
      <p:grpSp>
        <p:nvGrpSpPr>
          <p:cNvPr id="145430" name="Group 22"/>
          <p:cNvGrpSpPr>
            <a:grpSpLocks/>
          </p:cNvGrpSpPr>
          <p:nvPr/>
        </p:nvGrpSpPr>
        <p:grpSpPr bwMode="auto">
          <a:xfrm>
            <a:off x="6770688" y="1098550"/>
            <a:ext cx="1449387" cy="1895475"/>
            <a:chOff x="4572" y="692"/>
            <a:chExt cx="913" cy="1194"/>
          </a:xfrm>
        </p:grpSpPr>
        <p:grpSp>
          <p:nvGrpSpPr>
            <p:cNvPr id="145419" name="Group 11"/>
            <p:cNvGrpSpPr>
              <a:grpSpLocks/>
            </p:cNvGrpSpPr>
            <p:nvPr/>
          </p:nvGrpSpPr>
          <p:grpSpPr bwMode="auto">
            <a:xfrm>
              <a:off x="4572" y="692"/>
              <a:ext cx="553" cy="717"/>
              <a:chOff x="2180" y="2597"/>
              <a:chExt cx="560" cy="730"/>
            </a:xfrm>
          </p:grpSpPr>
          <p:sp>
            <p:nvSpPr>
              <p:cNvPr id="145420" name="AutoShape 12"/>
              <p:cNvSpPr>
                <a:spLocks noChangeArrowheads="1"/>
              </p:cNvSpPr>
              <p:nvPr/>
            </p:nvSpPr>
            <p:spPr bwMode="auto">
              <a:xfrm flipV="1">
                <a:off x="2180" y="2597"/>
                <a:ext cx="560" cy="730"/>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a:lstStyle/>
              <a:p>
                <a:pPr algn="ctr"/>
                <a:endParaRPr lang="fr-FR" sz="2600"/>
              </a:p>
            </p:txBody>
          </p:sp>
          <p:sp>
            <p:nvSpPr>
              <p:cNvPr id="145421" name="Line 13"/>
              <p:cNvSpPr>
                <a:spLocks noChangeShapeType="1"/>
              </p:cNvSpPr>
              <p:nvPr/>
            </p:nvSpPr>
            <p:spPr bwMode="auto">
              <a:xfrm>
                <a:off x="2266" y="2718"/>
                <a:ext cx="286" cy="0"/>
              </a:xfrm>
              <a:prstGeom prst="line">
                <a:avLst/>
              </a:prstGeom>
              <a:noFill/>
              <a:ln w="28575">
                <a:solidFill>
                  <a:srgbClr val="0000FF"/>
                </a:solidFill>
                <a:round/>
                <a:headEnd/>
                <a:tailEnd/>
              </a:ln>
              <a:effectLst/>
            </p:spPr>
            <p:txBody>
              <a:bodyPr wrap="none" tIns="27432" bIns="27432" anchor="ctr"/>
              <a:lstStyle/>
              <a:p>
                <a:endParaRPr lang="fr-FR"/>
              </a:p>
            </p:txBody>
          </p:sp>
          <p:sp>
            <p:nvSpPr>
              <p:cNvPr id="145422" name="Line 14"/>
              <p:cNvSpPr>
                <a:spLocks noChangeShapeType="1"/>
              </p:cNvSpPr>
              <p:nvPr/>
            </p:nvSpPr>
            <p:spPr bwMode="auto">
              <a:xfrm>
                <a:off x="2266" y="2814"/>
                <a:ext cx="286" cy="0"/>
              </a:xfrm>
              <a:prstGeom prst="line">
                <a:avLst/>
              </a:prstGeom>
              <a:noFill/>
              <a:ln w="28575">
                <a:solidFill>
                  <a:srgbClr val="0000FF"/>
                </a:solidFill>
                <a:round/>
                <a:headEnd/>
                <a:tailEnd/>
              </a:ln>
              <a:effectLst/>
            </p:spPr>
            <p:txBody>
              <a:bodyPr wrap="none" tIns="27432" bIns="27432" anchor="ctr"/>
              <a:lstStyle/>
              <a:p>
                <a:endParaRPr lang="fr-FR"/>
              </a:p>
            </p:txBody>
          </p:sp>
          <p:sp>
            <p:nvSpPr>
              <p:cNvPr id="145423" name="Line 15"/>
              <p:cNvSpPr>
                <a:spLocks noChangeShapeType="1"/>
              </p:cNvSpPr>
              <p:nvPr/>
            </p:nvSpPr>
            <p:spPr bwMode="auto">
              <a:xfrm>
                <a:off x="2266" y="2909"/>
                <a:ext cx="382" cy="0"/>
              </a:xfrm>
              <a:prstGeom prst="line">
                <a:avLst/>
              </a:prstGeom>
              <a:noFill/>
              <a:ln w="28575">
                <a:solidFill>
                  <a:srgbClr val="0000FF"/>
                </a:solidFill>
                <a:round/>
                <a:headEnd/>
                <a:tailEnd/>
              </a:ln>
              <a:effectLst/>
            </p:spPr>
            <p:txBody>
              <a:bodyPr wrap="none" tIns="27432" bIns="27432" anchor="ctr"/>
              <a:lstStyle/>
              <a:p>
                <a:endParaRPr lang="fr-FR"/>
              </a:p>
            </p:txBody>
          </p:sp>
          <p:sp>
            <p:nvSpPr>
              <p:cNvPr id="145424" name="Line 16"/>
              <p:cNvSpPr>
                <a:spLocks noChangeShapeType="1"/>
              </p:cNvSpPr>
              <p:nvPr/>
            </p:nvSpPr>
            <p:spPr bwMode="auto">
              <a:xfrm>
                <a:off x="2266" y="2998"/>
                <a:ext cx="382" cy="0"/>
              </a:xfrm>
              <a:prstGeom prst="line">
                <a:avLst/>
              </a:prstGeom>
              <a:noFill/>
              <a:ln w="28575">
                <a:solidFill>
                  <a:srgbClr val="0000FF"/>
                </a:solidFill>
                <a:round/>
                <a:headEnd/>
                <a:tailEnd/>
              </a:ln>
              <a:effectLst/>
            </p:spPr>
            <p:txBody>
              <a:bodyPr wrap="none" tIns="27432" bIns="27432" anchor="ctr"/>
              <a:lstStyle/>
              <a:p>
                <a:endParaRPr lang="fr-FR"/>
              </a:p>
            </p:txBody>
          </p:sp>
          <p:sp>
            <p:nvSpPr>
              <p:cNvPr id="145425" name="Line 17"/>
              <p:cNvSpPr>
                <a:spLocks noChangeShapeType="1"/>
              </p:cNvSpPr>
              <p:nvPr/>
            </p:nvSpPr>
            <p:spPr bwMode="auto">
              <a:xfrm>
                <a:off x="2266" y="3105"/>
                <a:ext cx="382" cy="0"/>
              </a:xfrm>
              <a:prstGeom prst="line">
                <a:avLst/>
              </a:prstGeom>
              <a:noFill/>
              <a:ln w="28575">
                <a:solidFill>
                  <a:srgbClr val="0000FF"/>
                </a:solidFill>
                <a:round/>
                <a:headEnd/>
                <a:tailEnd/>
              </a:ln>
              <a:effectLst/>
            </p:spPr>
            <p:txBody>
              <a:bodyPr wrap="none" tIns="27432" bIns="27432" anchor="ctr"/>
              <a:lstStyle/>
              <a:p>
                <a:endParaRPr lang="fr-FR"/>
              </a:p>
            </p:txBody>
          </p:sp>
          <p:sp>
            <p:nvSpPr>
              <p:cNvPr id="145426" name="Line 18"/>
              <p:cNvSpPr>
                <a:spLocks noChangeShapeType="1"/>
              </p:cNvSpPr>
              <p:nvPr/>
            </p:nvSpPr>
            <p:spPr bwMode="auto">
              <a:xfrm>
                <a:off x="2266" y="3218"/>
                <a:ext cx="382" cy="0"/>
              </a:xfrm>
              <a:prstGeom prst="line">
                <a:avLst/>
              </a:prstGeom>
              <a:noFill/>
              <a:ln w="28575">
                <a:solidFill>
                  <a:srgbClr val="0000FF"/>
                </a:solidFill>
                <a:round/>
                <a:headEnd/>
                <a:tailEnd/>
              </a:ln>
              <a:effectLst/>
            </p:spPr>
            <p:txBody>
              <a:bodyPr wrap="none" tIns="27432" bIns="27432" anchor="ctr"/>
              <a:lstStyle/>
              <a:p>
                <a:endParaRPr lang="fr-FR"/>
              </a:p>
            </p:txBody>
          </p:sp>
        </p:grpSp>
        <p:sp>
          <p:nvSpPr>
            <p:cNvPr id="145427" name="AutoShape 19"/>
            <p:cNvSpPr>
              <a:spLocks noChangeArrowheads="1"/>
            </p:cNvSpPr>
            <p:nvPr/>
          </p:nvSpPr>
          <p:spPr bwMode="auto">
            <a:xfrm flipV="1">
              <a:off x="4787" y="998"/>
              <a:ext cx="698" cy="888"/>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a:lstStyle/>
            <a:p>
              <a:pPr>
                <a:lnSpc>
                  <a:spcPct val="65000"/>
                </a:lnSpc>
              </a:pPr>
              <a:r>
                <a:rPr lang="en-US" sz="2600">
                  <a:solidFill>
                    <a:srgbClr val="E00085"/>
                  </a:solidFill>
                  <a:latin typeface="Arial" charset="0"/>
                </a:rPr>
                <a:t>~~~~</a:t>
              </a:r>
            </a:p>
            <a:p>
              <a:pPr>
                <a:lnSpc>
                  <a:spcPct val="65000"/>
                </a:lnSpc>
              </a:pPr>
              <a:r>
                <a:rPr lang="en-US" sz="2600">
                  <a:solidFill>
                    <a:srgbClr val="E00085"/>
                  </a:solidFill>
                  <a:latin typeface="Arial" charset="0"/>
                </a:rPr>
                <a:t>~~~~~</a:t>
              </a:r>
            </a:p>
            <a:p>
              <a:pPr>
                <a:lnSpc>
                  <a:spcPct val="65000"/>
                </a:lnSpc>
              </a:pPr>
              <a:r>
                <a:rPr lang="en-US" sz="2600">
                  <a:solidFill>
                    <a:srgbClr val="E00085"/>
                  </a:solidFill>
                  <a:latin typeface="Arial" charset="0"/>
                </a:rPr>
                <a:t>~~~~~</a:t>
              </a:r>
            </a:p>
            <a:p>
              <a:pPr>
                <a:lnSpc>
                  <a:spcPct val="65000"/>
                </a:lnSpc>
              </a:pPr>
              <a:r>
                <a:rPr lang="en-US" sz="2600">
                  <a:solidFill>
                    <a:srgbClr val="E00085"/>
                  </a:solidFill>
                  <a:latin typeface="Arial" charset="0"/>
                </a:rPr>
                <a:t>~~~~~</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vert="horz" anchor="b">
            <a:normAutofit/>
          </a:bodyPr>
          <a:lstStyle/>
          <a:p>
            <a:r>
              <a:rPr lang="fr-FR" sz="3000" b="1" dirty="0">
                <a:solidFill>
                  <a:srgbClr val="C00000"/>
                </a:solidFill>
              </a:rPr>
              <a:t>Cryptage d'un dossier ou d'un fichier</a:t>
            </a:r>
            <a:r>
              <a:rPr lang="en-US" sz="3000" b="1" dirty="0">
                <a:solidFill>
                  <a:srgbClr val="C00000"/>
                </a:solidFill>
              </a:rPr>
              <a:t> </a:t>
            </a:r>
          </a:p>
        </p:txBody>
      </p:sp>
      <p:sp>
        <p:nvSpPr>
          <p:cNvPr id="147459" name="Rectangle 3"/>
          <p:cNvSpPr>
            <a:spLocks noChangeArrowheads="1"/>
          </p:cNvSpPr>
          <p:nvPr/>
        </p:nvSpPr>
        <p:spPr bwMode="auto">
          <a:xfrm>
            <a:off x="111822" y="1406535"/>
            <a:ext cx="8854217" cy="5051425"/>
          </a:xfrm>
          <a:prstGeom prst="rect">
            <a:avLst/>
          </a:prstGeom>
          <a:gradFill rotWithShape="0">
            <a:gsLst>
              <a:gs pos="0">
                <a:srgbClr val="6699FF">
                  <a:gamma/>
                  <a:shade val="46275"/>
                  <a:invGamma/>
                </a:srgbClr>
              </a:gs>
              <a:gs pos="100000">
                <a:srgbClr val="6699FF"/>
              </a:gs>
            </a:gsLst>
            <a:lin ang="0" scaled="1"/>
          </a:gradFill>
          <a:ln w="9525">
            <a:noFill/>
            <a:miter lim="800000"/>
            <a:headEnd/>
            <a:tailEnd/>
          </a:ln>
          <a:effectLst/>
        </p:spPr>
        <p:txBody>
          <a:bodyPr lIns="137160" rIns="45720" anchor="ctr"/>
          <a:lstStyle/>
          <a:p>
            <a:pPr algn="ctr"/>
            <a:endParaRPr lang="fr-FR" sz="2000" b="1">
              <a:solidFill>
                <a:srgbClr val="FFFFFF"/>
              </a:solidFill>
              <a:effectLst>
                <a:outerShdw blurRad="38100" dist="38100" dir="2700000" algn="tl">
                  <a:srgbClr val="000000"/>
                </a:outerShdw>
              </a:effectLst>
              <a:latin typeface="Arial" charset="0"/>
            </a:endParaRPr>
          </a:p>
        </p:txBody>
      </p:sp>
      <p:sp>
        <p:nvSpPr>
          <p:cNvPr id="147460" name="Rectangle 4"/>
          <p:cNvSpPr>
            <a:spLocks noChangeArrowheads="1"/>
          </p:cNvSpPr>
          <p:nvPr/>
        </p:nvSpPr>
        <p:spPr bwMode="auto">
          <a:xfrm>
            <a:off x="248347" y="1538298"/>
            <a:ext cx="2943799" cy="1092200"/>
          </a:xfrm>
          <a:prstGeom prst="rect">
            <a:avLst/>
          </a:prstGeom>
          <a:gradFill rotWithShape="0">
            <a:gsLst>
              <a:gs pos="0">
                <a:srgbClr val="FCFEBC"/>
              </a:gs>
              <a:gs pos="100000">
                <a:srgbClr val="FFFFEB"/>
              </a:gs>
            </a:gsLst>
            <a:lin ang="5400000" scaled="1"/>
          </a:gradFill>
          <a:ln w="9525">
            <a:solidFill>
              <a:srgbClr val="969696"/>
            </a:solidFill>
            <a:miter lim="800000"/>
            <a:headEnd/>
            <a:tailEnd/>
          </a:ln>
          <a:effectLst>
            <a:outerShdw dist="35921" dir="2700000" algn="ctr" rotWithShape="0">
              <a:srgbClr val="969696"/>
            </a:outerShdw>
          </a:effectLst>
        </p:spPr>
        <p:txBody>
          <a:bodyPr/>
          <a:lstStyle/>
          <a:p>
            <a:endParaRPr lang="fr-FR" sz="1800" b="1">
              <a:latin typeface="Arial" charset="0"/>
            </a:endParaRPr>
          </a:p>
        </p:txBody>
      </p:sp>
      <p:sp>
        <p:nvSpPr>
          <p:cNvPr id="147461" name="Rectangle 5"/>
          <p:cNvSpPr>
            <a:spLocks noChangeArrowheads="1"/>
          </p:cNvSpPr>
          <p:nvPr/>
        </p:nvSpPr>
        <p:spPr bwMode="auto">
          <a:xfrm>
            <a:off x="2869309" y="1538298"/>
            <a:ext cx="5956036" cy="1100137"/>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pPr>
              <a:lnSpc>
                <a:spcPct val="85000"/>
              </a:lnSpc>
            </a:pPr>
            <a:r>
              <a:rPr lang="fr-FR" sz="2000" b="1">
                <a:latin typeface="Arial" charset="0"/>
                <a:cs typeface="Times New Roman" pitchFamily="18" charset="0"/>
              </a:rPr>
              <a:t>Cryptez le contenu pour sécuriser les données</a:t>
            </a:r>
          </a:p>
        </p:txBody>
      </p:sp>
      <p:sp>
        <p:nvSpPr>
          <p:cNvPr id="147462" name="Rectangle 6"/>
          <p:cNvSpPr>
            <a:spLocks noChangeArrowheads="1"/>
          </p:cNvSpPr>
          <p:nvPr/>
        </p:nvSpPr>
        <p:spPr bwMode="auto">
          <a:xfrm>
            <a:off x="248347" y="2773373"/>
            <a:ext cx="2943799" cy="1092200"/>
          </a:xfrm>
          <a:prstGeom prst="rect">
            <a:avLst/>
          </a:prstGeom>
          <a:gradFill rotWithShape="0">
            <a:gsLst>
              <a:gs pos="0">
                <a:srgbClr val="FCFEBC"/>
              </a:gs>
              <a:gs pos="100000">
                <a:srgbClr val="FFFFEB"/>
              </a:gs>
            </a:gsLst>
            <a:lin ang="5400000" scaled="1"/>
          </a:gradFill>
          <a:ln w="9525">
            <a:solidFill>
              <a:srgbClr val="969696"/>
            </a:solidFill>
            <a:miter lim="800000"/>
            <a:headEnd/>
            <a:tailEnd/>
          </a:ln>
          <a:effectLst>
            <a:outerShdw dist="35921" dir="2700000" algn="ctr" rotWithShape="0">
              <a:srgbClr val="969696"/>
            </a:outerShdw>
          </a:effectLst>
        </p:spPr>
        <p:txBody>
          <a:bodyPr/>
          <a:lstStyle/>
          <a:p>
            <a:endParaRPr lang="fr-FR" sz="1800" b="1">
              <a:latin typeface="Arial" charset="0"/>
            </a:endParaRPr>
          </a:p>
        </p:txBody>
      </p:sp>
      <p:sp>
        <p:nvSpPr>
          <p:cNvPr id="147463" name="Rectangle 7"/>
          <p:cNvSpPr>
            <a:spLocks noChangeArrowheads="1"/>
          </p:cNvSpPr>
          <p:nvPr/>
        </p:nvSpPr>
        <p:spPr bwMode="auto">
          <a:xfrm>
            <a:off x="2869309" y="2773373"/>
            <a:ext cx="5956036" cy="1100137"/>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pPr>
              <a:lnSpc>
                <a:spcPct val="85000"/>
              </a:lnSpc>
            </a:pPr>
            <a:r>
              <a:rPr lang="fr-FR" sz="2000" b="1">
                <a:latin typeface="Arial" charset="0"/>
                <a:cs typeface="Times New Roman" pitchFamily="18" charset="0"/>
              </a:rPr>
              <a:t>Quand un fichier est enregistré, il est crypté à l'aide de clés de cryptage de fichier</a:t>
            </a:r>
          </a:p>
        </p:txBody>
      </p:sp>
      <p:sp>
        <p:nvSpPr>
          <p:cNvPr id="147464" name="Rectangle 8"/>
          <p:cNvSpPr>
            <a:spLocks noChangeArrowheads="1"/>
          </p:cNvSpPr>
          <p:nvPr/>
        </p:nvSpPr>
        <p:spPr bwMode="auto">
          <a:xfrm>
            <a:off x="248347" y="5221298"/>
            <a:ext cx="2943799" cy="1092200"/>
          </a:xfrm>
          <a:prstGeom prst="rect">
            <a:avLst/>
          </a:prstGeom>
          <a:gradFill rotWithShape="0">
            <a:gsLst>
              <a:gs pos="0">
                <a:srgbClr val="FCFEBC"/>
              </a:gs>
              <a:gs pos="100000">
                <a:srgbClr val="FFFFEB"/>
              </a:gs>
            </a:gsLst>
            <a:lin ang="5400000" scaled="1"/>
          </a:gradFill>
          <a:ln w="9525">
            <a:solidFill>
              <a:srgbClr val="969696"/>
            </a:solidFill>
            <a:miter lim="800000"/>
            <a:headEnd/>
            <a:tailEnd/>
          </a:ln>
          <a:effectLst>
            <a:outerShdw dist="35921" dir="2700000" algn="ctr" rotWithShape="0">
              <a:srgbClr val="969696"/>
            </a:outerShdw>
          </a:effectLst>
        </p:spPr>
        <p:txBody>
          <a:bodyPr/>
          <a:lstStyle/>
          <a:p>
            <a:endParaRPr lang="fr-FR" sz="1800" b="1">
              <a:latin typeface="Arial" charset="0"/>
            </a:endParaRPr>
          </a:p>
        </p:txBody>
      </p:sp>
      <p:sp>
        <p:nvSpPr>
          <p:cNvPr id="147465" name="Rectangle 9"/>
          <p:cNvSpPr>
            <a:spLocks noChangeArrowheads="1"/>
          </p:cNvSpPr>
          <p:nvPr/>
        </p:nvSpPr>
        <p:spPr bwMode="auto">
          <a:xfrm>
            <a:off x="2869309" y="5221298"/>
            <a:ext cx="5956036" cy="1100137"/>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pPr>
              <a:lnSpc>
                <a:spcPct val="85000"/>
              </a:lnSpc>
            </a:pPr>
            <a:r>
              <a:rPr lang="fr-FR" sz="2000" b="1">
                <a:latin typeface="Arial" charset="0"/>
                <a:cs typeface="Times New Roman" pitchFamily="18" charset="0"/>
              </a:rPr>
              <a:t>Si un agent de récupération est désigné, sa clé de cryptage de fichier est stockée dans le champ de récupération de données de l'en-tête du fichier</a:t>
            </a:r>
          </a:p>
        </p:txBody>
      </p:sp>
      <p:grpSp>
        <p:nvGrpSpPr>
          <p:cNvPr id="147466" name="Group 10"/>
          <p:cNvGrpSpPr>
            <a:grpSpLocks/>
          </p:cNvGrpSpPr>
          <p:nvPr/>
        </p:nvGrpSpPr>
        <p:grpSpPr bwMode="auto">
          <a:xfrm>
            <a:off x="745234" y="1651010"/>
            <a:ext cx="1236091" cy="819150"/>
            <a:chOff x="2132" y="920"/>
            <a:chExt cx="849" cy="674"/>
          </a:xfrm>
        </p:grpSpPr>
        <p:sp>
          <p:nvSpPr>
            <p:cNvPr id="147467" name="Freeform 11"/>
            <p:cNvSpPr>
              <a:spLocks/>
            </p:cNvSpPr>
            <p:nvPr/>
          </p:nvSpPr>
          <p:spPr bwMode="auto">
            <a:xfrm>
              <a:off x="2231" y="920"/>
              <a:ext cx="750" cy="674"/>
            </a:xfrm>
            <a:custGeom>
              <a:avLst/>
              <a:gdLst/>
              <a:ahLst/>
              <a:cxnLst>
                <a:cxn ang="0">
                  <a:pos x="0" y="720"/>
                </a:cxn>
                <a:cxn ang="0">
                  <a:pos x="816" y="720"/>
                </a:cxn>
                <a:cxn ang="0">
                  <a:pos x="816" y="144"/>
                </a:cxn>
                <a:cxn ang="0">
                  <a:pos x="480" y="144"/>
                </a:cxn>
                <a:cxn ang="0">
                  <a:pos x="384" y="0"/>
                </a:cxn>
                <a:cxn ang="0">
                  <a:pos x="96" y="0"/>
                </a:cxn>
                <a:cxn ang="0">
                  <a:pos x="0" y="144"/>
                </a:cxn>
                <a:cxn ang="0">
                  <a:pos x="0" y="720"/>
                </a:cxn>
              </a:cxnLst>
              <a:rect l="0" t="0" r="r" b="b"/>
              <a:pathLst>
                <a:path w="816" h="720">
                  <a:moveTo>
                    <a:pt x="0" y="720"/>
                  </a:moveTo>
                  <a:lnTo>
                    <a:pt x="816" y="720"/>
                  </a:lnTo>
                  <a:lnTo>
                    <a:pt x="816" y="144"/>
                  </a:lnTo>
                  <a:lnTo>
                    <a:pt x="480" y="144"/>
                  </a:lnTo>
                  <a:lnTo>
                    <a:pt x="384" y="0"/>
                  </a:lnTo>
                  <a:lnTo>
                    <a:pt x="96" y="0"/>
                  </a:lnTo>
                  <a:lnTo>
                    <a:pt x="0" y="144"/>
                  </a:lnTo>
                  <a:lnTo>
                    <a:pt x="0" y="720"/>
                  </a:lnTo>
                  <a:close/>
                </a:path>
              </a:pathLst>
            </a:custGeom>
            <a:gradFill rotWithShape="0">
              <a:gsLst>
                <a:gs pos="0">
                  <a:srgbClr val="FFFF99"/>
                </a:gs>
                <a:gs pos="100000">
                  <a:srgbClr val="FFCC00"/>
                </a:gs>
              </a:gsLst>
              <a:lin ang="2700000" scaled="1"/>
            </a:gradFill>
            <a:ln w="9525" cap="flat" cmpd="sng">
              <a:solidFill>
                <a:schemeClr val="tx1"/>
              </a:solidFill>
              <a:prstDash val="solid"/>
              <a:round/>
              <a:headEnd type="none" w="med" len="med"/>
              <a:tailEnd type="none" w="med" len="med"/>
            </a:ln>
            <a:effectLst>
              <a:outerShdw dist="45791" dir="2021404" algn="ctr" rotWithShape="0">
                <a:srgbClr val="969696"/>
              </a:outerShdw>
            </a:effectLst>
          </p:spPr>
          <p:txBody>
            <a:bodyPr wrap="none" tIns="27432" bIns="27432" anchor="ctr"/>
            <a:lstStyle/>
            <a:p>
              <a:endParaRPr lang="fr-FR"/>
            </a:p>
          </p:txBody>
        </p:sp>
        <p:sp>
          <p:nvSpPr>
            <p:cNvPr id="147468" name="AutoShape 12"/>
            <p:cNvSpPr>
              <a:spLocks noChangeArrowheads="1"/>
            </p:cNvSpPr>
            <p:nvPr/>
          </p:nvSpPr>
          <p:spPr bwMode="auto">
            <a:xfrm flipV="1">
              <a:off x="2349" y="989"/>
              <a:ext cx="480" cy="394"/>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a:lstStyle/>
            <a:p>
              <a:pPr algn="ctr"/>
              <a:endParaRPr lang="fr-FR" sz="2600"/>
            </a:p>
          </p:txBody>
        </p:sp>
        <p:sp>
          <p:nvSpPr>
            <p:cNvPr id="147469" name="AutoShape 13"/>
            <p:cNvSpPr>
              <a:spLocks noChangeArrowheads="1"/>
            </p:cNvSpPr>
            <p:nvPr/>
          </p:nvSpPr>
          <p:spPr bwMode="auto">
            <a:xfrm flipH="1">
              <a:off x="2132" y="1139"/>
              <a:ext cx="838" cy="449"/>
            </a:xfrm>
            <a:prstGeom prst="parallelogram">
              <a:avLst>
                <a:gd name="adj" fmla="val 20737"/>
              </a:avLst>
            </a:prstGeom>
            <a:gradFill rotWithShape="0">
              <a:gsLst>
                <a:gs pos="0">
                  <a:srgbClr val="FFFF99"/>
                </a:gs>
                <a:gs pos="100000">
                  <a:srgbClr val="FFCC00"/>
                </a:gs>
              </a:gsLst>
              <a:lin ang="2700000" scaled="1"/>
            </a:gradFill>
            <a:ln w="9525">
              <a:solidFill>
                <a:schemeClr val="tx1"/>
              </a:solidFill>
              <a:miter lim="800000"/>
              <a:headEnd/>
              <a:tailEnd/>
            </a:ln>
            <a:effectLst>
              <a:outerShdw dist="45791" dir="2021404" algn="ctr" rotWithShape="0">
                <a:srgbClr val="969696"/>
              </a:outerShdw>
            </a:effectLst>
          </p:spPr>
          <p:txBody>
            <a:bodyPr wrap="none" tIns="27432" bIns="27432" anchor="ctr"/>
            <a:lstStyle/>
            <a:p>
              <a:pPr algn="ctr"/>
              <a:endParaRPr lang="fr-FR" sz="1800" b="1"/>
            </a:p>
          </p:txBody>
        </p:sp>
      </p:grpSp>
      <p:grpSp>
        <p:nvGrpSpPr>
          <p:cNvPr id="147470" name="Group 14"/>
          <p:cNvGrpSpPr>
            <a:grpSpLocks/>
          </p:cNvGrpSpPr>
          <p:nvPr/>
        </p:nvGrpSpPr>
        <p:grpSpPr bwMode="auto">
          <a:xfrm>
            <a:off x="1600898" y="1887548"/>
            <a:ext cx="648471" cy="660400"/>
            <a:chOff x="2947" y="3040"/>
            <a:chExt cx="464" cy="566"/>
          </a:xfrm>
        </p:grpSpPr>
        <p:sp>
          <p:nvSpPr>
            <p:cNvPr id="147471" name="AutoShape 15"/>
            <p:cNvSpPr>
              <a:spLocks noChangeArrowheads="1"/>
            </p:cNvSpPr>
            <p:nvPr/>
          </p:nvSpPr>
          <p:spPr bwMode="auto">
            <a:xfrm>
              <a:off x="2974" y="3216"/>
              <a:ext cx="437" cy="375"/>
            </a:xfrm>
            <a:prstGeom prst="roundRect">
              <a:avLst>
                <a:gd name="adj" fmla="val 16667"/>
              </a:avLst>
            </a:prstGeom>
            <a:solidFill>
              <a:srgbClr val="808080"/>
            </a:solidFill>
            <a:ln w="9525" cap="rnd">
              <a:solidFill>
                <a:srgbClr val="808080"/>
              </a:solidFill>
              <a:round/>
              <a:headEnd/>
              <a:tailEnd/>
            </a:ln>
            <a:effectLst/>
          </p:spPr>
          <p:txBody>
            <a:bodyPr/>
            <a:lstStyle/>
            <a:p>
              <a:endParaRPr lang="fr-FR"/>
            </a:p>
          </p:txBody>
        </p:sp>
        <p:sp>
          <p:nvSpPr>
            <p:cNvPr id="147472" name="AutoShape 16"/>
            <p:cNvSpPr>
              <a:spLocks noChangeArrowheads="1"/>
            </p:cNvSpPr>
            <p:nvPr/>
          </p:nvSpPr>
          <p:spPr bwMode="auto">
            <a:xfrm>
              <a:off x="3024" y="3040"/>
              <a:ext cx="334" cy="357"/>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solidFill>
              <a:srgbClr val="808080"/>
            </a:solidFill>
            <a:ln w="9525" cap="rnd">
              <a:solidFill>
                <a:srgbClr val="808080"/>
              </a:solidFill>
              <a:miter lim="800000"/>
              <a:headEnd/>
              <a:tailEnd/>
            </a:ln>
            <a:effectLst/>
          </p:spPr>
          <p:txBody>
            <a:bodyPr/>
            <a:lstStyle/>
            <a:p>
              <a:endParaRPr lang="fr-FR"/>
            </a:p>
          </p:txBody>
        </p:sp>
        <p:sp>
          <p:nvSpPr>
            <p:cNvPr id="147473" name="AutoShape 17"/>
            <p:cNvSpPr>
              <a:spLocks noChangeArrowheads="1"/>
            </p:cNvSpPr>
            <p:nvPr/>
          </p:nvSpPr>
          <p:spPr bwMode="auto">
            <a:xfrm>
              <a:off x="2947" y="3231"/>
              <a:ext cx="437" cy="375"/>
            </a:xfrm>
            <a:prstGeom prst="roundRect">
              <a:avLst>
                <a:gd name="adj" fmla="val 16667"/>
              </a:avLst>
            </a:prstGeom>
            <a:gradFill rotWithShape="0">
              <a:gsLst>
                <a:gs pos="0">
                  <a:srgbClr val="FFCC00">
                    <a:gamma/>
                    <a:tint val="33725"/>
                    <a:invGamma/>
                  </a:srgbClr>
                </a:gs>
                <a:gs pos="100000">
                  <a:srgbClr val="FFCC00"/>
                </a:gs>
              </a:gsLst>
              <a:lin ang="5400000" scaled="1"/>
            </a:gradFill>
            <a:ln w="9525" cap="rnd">
              <a:solidFill>
                <a:srgbClr val="666699"/>
              </a:solidFill>
              <a:round/>
              <a:headEnd/>
              <a:tailEnd/>
            </a:ln>
            <a:effectLst/>
          </p:spPr>
          <p:txBody>
            <a:bodyPr/>
            <a:lstStyle/>
            <a:p>
              <a:endParaRPr lang="fr-FR"/>
            </a:p>
          </p:txBody>
        </p:sp>
        <p:sp>
          <p:nvSpPr>
            <p:cNvPr id="147474" name="AutoShape 18"/>
            <p:cNvSpPr>
              <a:spLocks noChangeArrowheads="1"/>
            </p:cNvSpPr>
            <p:nvPr/>
          </p:nvSpPr>
          <p:spPr bwMode="auto">
            <a:xfrm>
              <a:off x="2997" y="3055"/>
              <a:ext cx="334" cy="357"/>
            </a:xfrm>
            <a:custGeom>
              <a:avLst/>
              <a:gdLst>
                <a:gd name="G0" fmla="+- 5400 0 0"/>
                <a:gd name="G1" fmla="+- 11796480 0 0"/>
                <a:gd name="G2" fmla="+- 0 0 11796480"/>
                <a:gd name="T0" fmla="*/ 0 256 1"/>
                <a:gd name="T1" fmla="*/ 180 256 1"/>
                <a:gd name="G3" fmla="+- 11796480 T0 T1"/>
                <a:gd name="T2" fmla="*/ 0 256 1"/>
                <a:gd name="T3" fmla="*/ 90 256 1"/>
                <a:gd name="G4" fmla="+- 11796480 T2 T3"/>
                <a:gd name="G5" fmla="*/ G4 2 1"/>
                <a:gd name="T4" fmla="*/ 90 256 1"/>
                <a:gd name="T5" fmla="*/ 0 256 1"/>
                <a:gd name="G6" fmla="+- 11796480 T4 T5"/>
                <a:gd name="G7" fmla="*/ G6 2 1"/>
                <a:gd name="G8" fmla="abs 1179648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5400"/>
                <a:gd name="G18" fmla="*/ 5400 1 2"/>
                <a:gd name="G19" fmla="+- G18 5400 0"/>
                <a:gd name="G20" fmla="cos G19 11796480"/>
                <a:gd name="G21" fmla="sin G19 11796480"/>
                <a:gd name="G22" fmla="+- G20 10800 0"/>
                <a:gd name="G23" fmla="+- G21 10800 0"/>
                <a:gd name="G24" fmla="+- 10800 0 G20"/>
                <a:gd name="G25" fmla="+- 5400 10800 0"/>
                <a:gd name="G26" fmla="?: G9 G17 G25"/>
                <a:gd name="G27" fmla="?: G9 0 21600"/>
                <a:gd name="G28" fmla="cos 10800 11796480"/>
                <a:gd name="G29" fmla="sin 10800 11796480"/>
                <a:gd name="G30" fmla="sin 5400 11796480"/>
                <a:gd name="G31" fmla="+- G28 10800 0"/>
                <a:gd name="G32" fmla="+- G29 10800 0"/>
                <a:gd name="G33" fmla="+- G30 10800 0"/>
                <a:gd name="G34" fmla="?: G4 0 G31"/>
                <a:gd name="G35" fmla="?: 11796480 G34 0"/>
                <a:gd name="G36" fmla="?: G6 G35 G31"/>
                <a:gd name="G37" fmla="+- 21600 0 G36"/>
                <a:gd name="G38" fmla="?: G4 0 G33"/>
                <a:gd name="G39" fmla="?: 11796480 G38 G32"/>
                <a:gd name="G40" fmla="?: G6 G39 0"/>
                <a:gd name="G41" fmla="?: G4 G32 21600"/>
                <a:gd name="G42" fmla="?: G6 G41 G33"/>
                <a:gd name="T12" fmla="*/ 10800 w 21600"/>
                <a:gd name="T13" fmla="*/ 0 h 21600"/>
                <a:gd name="T14" fmla="*/ 2700 w 21600"/>
                <a:gd name="T15" fmla="*/ 10800 h 21600"/>
                <a:gd name="T16" fmla="*/ 10800 w 21600"/>
                <a:gd name="T17" fmla="*/ 5400 h 21600"/>
                <a:gd name="T18" fmla="*/ 18900 w 21600"/>
                <a:gd name="T19" fmla="*/ 10800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5400" y="10800"/>
                  </a:moveTo>
                  <a:cubicBezTo>
                    <a:pt x="5400" y="7817"/>
                    <a:pt x="7817" y="5400"/>
                    <a:pt x="10800" y="5400"/>
                  </a:cubicBezTo>
                  <a:cubicBezTo>
                    <a:pt x="13782" y="5399"/>
                    <a:pt x="16199" y="7817"/>
                    <a:pt x="16200" y="10799"/>
                  </a:cubicBezTo>
                  <a:lnTo>
                    <a:pt x="21600" y="10800"/>
                  </a:lnTo>
                  <a:cubicBezTo>
                    <a:pt x="21600" y="4835"/>
                    <a:pt x="16764" y="0"/>
                    <a:pt x="10800" y="0"/>
                  </a:cubicBezTo>
                  <a:cubicBezTo>
                    <a:pt x="4835" y="0"/>
                    <a:pt x="0" y="4835"/>
                    <a:pt x="0" y="10800"/>
                  </a:cubicBezTo>
                  <a:close/>
                </a:path>
              </a:pathLst>
            </a:custGeom>
            <a:gradFill rotWithShape="0">
              <a:gsLst>
                <a:gs pos="0">
                  <a:srgbClr val="FFCC00">
                    <a:gamma/>
                    <a:tint val="33725"/>
                    <a:invGamma/>
                  </a:srgbClr>
                </a:gs>
                <a:gs pos="100000">
                  <a:srgbClr val="FFCC00"/>
                </a:gs>
              </a:gsLst>
              <a:lin ang="5400000" scaled="1"/>
            </a:gradFill>
            <a:ln w="9525" cap="rnd">
              <a:solidFill>
                <a:srgbClr val="666699"/>
              </a:solidFill>
              <a:miter lim="800000"/>
              <a:headEnd/>
              <a:tailEnd/>
            </a:ln>
            <a:effectLst/>
          </p:spPr>
          <p:txBody>
            <a:bodyPr/>
            <a:lstStyle/>
            <a:p>
              <a:endParaRPr lang="fr-FR"/>
            </a:p>
          </p:txBody>
        </p:sp>
        <p:sp>
          <p:nvSpPr>
            <p:cNvPr id="147475" name="Freeform 19"/>
            <p:cNvSpPr>
              <a:spLocks/>
            </p:cNvSpPr>
            <p:nvPr/>
          </p:nvSpPr>
          <p:spPr bwMode="auto">
            <a:xfrm>
              <a:off x="3119" y="3285"/>
              <a:ext cx="98" cy="246"/>
            </a:xfrm>
            <a:custGeom>
              <a:avLst/>
              <a:gdLst/>
              <a:ahLst/>
              <a:cxnLst>
                <a:cxn ang="0">
                  <a:pos x="134" y="160"/>
                </a:cxn>
                <a:cxn ang="0">
                  <a:pos x="144" y="154"/>
                </a:cxn>
                <a:cxn ang="0">
                  <a:pos x="152" y="148"/>
                </a:cxn>
                <a:cxn ang="0">
                  <a:pos x="160" y="138"/>
                </a:cxn>
                <a:cxn ang="0">
                  <a:pos x="166" y="130"/>
                </a:cxn>
                <a:cxn ang="0">
                  <a:pos x="172" y="120"/>
                </a:cxn>
                <a:cxn ang="0">
                  <a:pos x="176" y="108"/>
                </a:cxn>
                <a:cxn ang="0">
                  <a:pos x="178" y="98"/>
                </a:cxn>
                <a:cxn ang="0">
                  <a:pos x="180" y="86"/>
                </a:cxn>
                <a:cxn ang="0">
                  <a:pos x="178" y="68"/>
                </a:cxn>
                <a:cxn ang="0">
                  <a:pos x="172" y="52"/>
                </a:cxn>
                <a:cxn ang="0">
                  <a:pos x="164" y="38"/>
                </a:cxn>
                <a:cxn ang="0">
                  <a:pos x="154" y="26"/>
                </a:cxn>
                <a:cxn ang="0">
                  <a:pos x="142" y="14"/>
                </a:cxn>
                <a:cxn ang="0">
                  <a:pos x="128" y="6"/>
                </a:cxn>
                <a:cxn ang="0">
                  <a:pos x="112" y="2"/>
                </a:cxn>
                <a:cxn ang="0">
                  <a:pos x="94" y="0"/>
                </a:cxn>
                <a:cxn ang="0">
                  <a:pos x="76" y="2"/>
                </a:cxn>
                <a:cxn ang="0">
                  <a:pos x="60" y="6"/>
                </a:cxn>
                <a:cxn ang="0">
                  <a:pos x="46" y="14"/>
                </a:cxn>
                <a:cxn ang="0">
                  <a:pos x="32" y="26"/>
                </a:cxn>
                <a:cxn ang="0">
                  <a:pos x="22" y="38"/>
                </a:cxn>
                <a:cxn ang="0">
                  <a:pos x="14" y="52"/>
                </a:cxn>
                <a:cxn ang="0">
                  <a:pos x="8" y="68"/>
                </a:cxn>
                <a:cxn ang="0">
                  <a:pos x="8" y="86"/>
                </a:cxn>
                <a:cxn ang="0">
                  <a:pos x="8" y="98"/>
                </a:cxn>
                <a:cxn ang="0">
                  <a:pos x="10" y="108"/>
                </a:cxn>
                <a:cxn ang="0">
                  <a:pos x="14" y="120"/>
                </a:cxn>
                <a:cxn ang="0">
                  <a:pos x="20" y="130"/>
                </a:cxn>
                <a:cxn ang="0">
                  <a:pos x="26" y="138"/>
                </a:cxn>
                <a:cxn ang="0">
                  <a:pos x="34" y="148"/>
                </a:cxn>
                <a:cxn ang="0">
                  <a:pos x="42" y="154"/>
                </a:cxn>
                <a:cxn ang="0">
                  <a:pos x="52" y="160"/>
                </a:cxn>
                <a:cxn ang="0">
                  <a:pos x="0" y="468"/>
                </a:cxn>
                <a:cxn ang="0">
                  <a:pos x="188" y="468"/>
                </a:cxn>
                <a:cxn ang="0">
                  <a:pos x="134" y="160"/>
                </a:cxn>
              </a:cxnLst>
              <a:rect l="0" t="0" r="r" b="b"/>
              <a:pathLst>
                <a:path w="188" h="468">
                  <a:moveTo>
                    <a:pt x="134" y="160"/>
                  </a:moveTo>
                  <a:lnTo>
                    <a:pt x="144" y="154"/>
                  </a:lnTo>
                  <a:lnTo>
                    <a:pt x="152" y="148"/>
                  </a:lnTo>
                  <a:lnTo>
                    <a:pt x="160" y="138"/>
                  </a:lnTo>
                  <a:lnTo>
                    <a:pt x="166" y="130"/>
                  </a:lnTo>
                  <a:lnTo>
                    <a:pt x="172" y="120"/>
                  </a:lnTo>
                  <a:lnTo>
                    <a:pt x="176" y="108"/>
                  </a:lnTo>
                  <a:lnTo>
                    <a:pt x="178" y="98"/>
                  </a:lnTo>
                  <a:lnTo>
                    <a:pt x="180" y="86"/>
                  </a:lnTo>
                  <a:lnTo>
                    <a:pt x="178" y="68"/>
                  </a:lnTo>
                  <a:lnTo>
                    <a:pt x="172" y="52"/>
                  </a:lnTo>
                  <a:lnTo>
                    <a:pt x="164" y="38"/>
                  </a:lnTo>
                  <a:lnTo>
                    <a:pt x="154" y="26"/>
                  </a:lnTo>
                  <a:lnTo>
                    <a:pt x="142" y="14"/>
                  </a:lnTo>
                  <a:lnTo>
                    <a:pt x="128" y="6"/>
                  </a:lnTo>
                  <a:lnTo>
                    <a:pt x="112" y="2"/>
                  </a:lnTo>
                  <a:lnTo>
                    <a:pt x="94" y="0"/>
                  </a:lnTo>
                  <a:lnTo>
                    <a:pt x="76" y="2"/>
                  </a:lnTo>
                  <a:lnTo>
                    <a:pt x="60" y="6"/>
                  </a:lnTo>
                  <a:lnTo>
                    <a:pt x="46" y="14"/>
                  </a:lnTo>
                  <a:lnTo>
                    <a:pt x="32" y="26"/>
                  </a:lnTo>
                  <a:lnTo>
                    <a:pt x="22" y="38"/>
                  </a:lnTo>
                  <a:lnTo>
                    <a:pt x="14" y="52"/>
                  </a:lnTo>
                  <a:lnTo>
                    <a:pt x="8" y="68"/>
                  </a:lnTo>
                  <a:lnTo>
                    <a:pt x="8" y="86"/>
                  </a:lnTo>
                  <a:lnTo>
                    <a:pt x="8" y="98"/>
                  </a:lnTo>
                  <a:lnTo>
                    <a:pt x="10" y="108"/>
                  </a:lnTo>
                  <a:lnTo>
                    <a:pt x="14" y="120"/>
                  </a:lnTo>
                  <a:lnTo>
                    <a:pt x="20" y="130"/>
                  </a:lnTo>
                  <a:lnTo>
                    <a:pt x="26" y="138"/>
                  </a:lnTo>
                  <a:lnTo>
                    <a:pt x="34" y="148"/>
                  </a:lnTo>
                  <a:lnTo>
                    <a:pt x="42" y="154"/>
                  </a:lnTo>
                  <a:lnTo>
                    <a:pt x="52" y="160"/>
                  </a:lnTo>
                  <a:lnTo>
                    <a:pt x="0" y="468"/>
                  </a:lnTo>
                  <a:lnTo>
                    <a:pt x="188" y="468"/>
                  </a:lnTo>
                  <a:lnTo>
                    <a:pt x="134" y="160"/>
                  </a:lnTo>
                  <a:close/>
                </a:path>
              </a:pathLst>
            </a:custGeom>
            <a:solidFill>
              <a:srgbClr val="333333"/>
            </a:solidFill>
            <a:ln w="12700">
              <a:noFill/>
              <a:prstDash val="solid"/>
              <a:round/>
              <a:headEnd/>
              <a:tailEnd/>
            </a:ln>
          </p:spPr>
          <p:txBody>
            <a:bodyPr/>
            <a:lstStyle/>
            <a:p>
              <a:endParaRPr lang="fr-FR"/>
            </a:p>
          </p:txBody>
        </p:sp>
      </p:grpSp>
      <p:sp>
        <p:nvSpPr>
          <p:cNvPr id="147476" name="AutoShape 20"/>
          <p:cNvSpPr>
            <a:spLocks noChangeArrowheads="1"/>
          </p:cNvSpPr>
          <p:nvPr/>
        </p:nvSpPr>
        <p:spPr bwMode="auto">
          <a:xfrm flipV="1">
            <a:off x="1567560" y="2789245"/>
            <a:ext cx="916609" cy="974725"/>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tIns="502920"/>
          <a:lstStyle/>
          <a:p>
            <a:pPr>
              <a:lnSpc>
                <a:spcPct val="65000"/>
              </a:lnSpc>
            </a:pPr>
            <a:r>
              <a:rPr lang="en-US" sz="2200">
                <a:solidFill>
                  <a:srgbClr val="E00085"/>
                </a:solidFill>
                <a:latin typeface="Arial" charset="0"/>
              </a:rPr>
              <a:t>~~~</a:t>
            </a:r>
          </a:p>
          <a:p>
            <a:pPr>
              <a:lnSpc>
                <a:spcPct val="65000"/>
              </a:lnSpc>
            </a:pPr>
            <a:r>
              <a:rPr lang="en-US" sz="2200">
                <a:solidFill>
                  <a:srgbClr val="E00085"/>
                </a:solidFill>
                <a:latin typeface="Arial" charset="0"/>
              </a:rPr>
              <a:t>~~~~</a:t>
            </a:r>
          </a:p>
          <a:p>
            <a:pPr>
              <a:lnSpc>
                <a:spcPct val="65000"/>
              </a:lnSpc>
            </a:pPr>
            <a:r>
              <a:rPr lang="en-US" sz="2200">
                <a:solidFill>
                  <a:srgbClr val="E00085"/>
                </a:solidFill>
                <a:latin typeface="Arial" charset="0"/>
              </a:rPr>
              <a:t>~~~~</a:t>
            </a:r>
          </a:p>
          <a:p>
            <a:pPr>
              <a:lnSpc>
                <a:spcPct val="65000"/>
              </a:lnSpc>
            </a:pPr>
            <a:r>
              <a:rPr lang="en-US" sz="2200">
                <a:solidFill>
                  <a:srgbClr val="E00085"/>
                </a:solidFill>
                <a:latin typeface="Arial" charset="0"/>
              </a:rPr>
              <a:t>~~~~</a:t>
            </a:r>
          </a:p>
        </p:txBody>
      </p:sp>
      <p:sp>
        <p:nvSpPr>
          <p:cNvPr id="147477" name="AutoShape 21"/>
          <p:cNvSpPr>
            <a:spLocks noChangeArrowheads="1"/>
          </p:cNvSpPr>
          <p:nvPr/>
        </p:nvSpPr>
        <p:spPr bwMode="auto">
          <a:xfrm flipV="1">
            <a:off x="440435" y="5273682"/>
            <a:ext cx="916609" cy="974725"/>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tIns="502920"/>
          <a:lstStyle/>
          <a:p>
            <a:pPr>
              <a:lnSpc>
                <a:spcPct val="65000"/>
              </a:lnSpc>
            </a:pPr>
            <a:r>
              <a:rPr lang="en-US" sz="2200" dirty="0">
                <a:solidFill>
                  <a:srgbClr val="E00085"/>
                </a:solidFill>
                <a:latin typeface="Arial" charset="0"/>
              </a:rPr>
              <a:t>~~~</a:t>
            </a:r>
          </a:p>
          <a:p>
            <a:pPr>
              <a:lnSpc>
                <a:spcPct val="65000"/>
              </a:lnSpc>
            </a:pPr>
            <a:r>
              <a:rPr lang="en-US" sz="2200" dirty="0">
                <a:solidFill>
                  <a:srgbClr val="E00085"/>
                </a:solidFill>
                <a:latin typeface="Arial" charset="0"/>
              </a:rPr>
              <a:t>~~~~</a:t>
            </a:r>
          </a:p>
          <a:p>
            <a:pPr>
              <a:lnSpc>
                <a:spcPct val="65000"/>
              </a:lnSpc>
            </a:pPr>
            <a:r>
              <a:rPr lang="en-US" sz="2200" dirty="0">
                <a:solidFill>
                  <a:srgbClr val="E00085"/>
                </a:solidFill>
                <a:latin typeface="Arial" charset="0"/>
              </a:rPr>
              <a:t>~~~~</a:t>
            </a:r>
          </a:p>
          <a:p>
            <a:pPr>
              <a:lnSpc>
                <a:spcPct val="65000"/>
              </a:lnSpc>
            </a:pPr>
            <a:r>
              <a:rPr lang="en-US" sz="2200" dirty="0">
                <a:solidFill>
                  <a:srgbClr val="E00085"/>
                </a:solidFill>
                <a:latin typeface="Arial" charset="0"/>
              </a:rPr>
              <a:t>~~~~</a:t>
            </a:r>
          </a:p>
        </p:txBody>
      </p:sp>
      <p:sp>
        <p:nvSpPr>
          <p:cNvPr id="147478" name="Freeform 22"/>
          <p:cNvSpPr>
            <a:spLocks/>
          </p:cNvSpPr>
          <p:nvPr/>
        </p:nvSpPr>
        <p:spPr bwMode="auto">
          <a:xfrm>
            <a:off x="756347" y="5484823"/>
            <a:ext cx="1317863" cy="487362"/>
          </a:xfrm>
          <a:custGeom>
            <a:avLst/>
            <a:gdLst/>
            <a:ahLst/>
            <a:cxnLst>
              <a:cxn ang="0">
                <a:pos x="0" y="0"/>
              </a:cxn>
              <a:cxn ang="0">
                <a:pos x="693" y="162"/>
              </a:cxn>
              <a:cxn ang="0">
                <a:pos x="571" y="307"/>
              </a:cxn>
              <a:cxn ang="0">
                <a:pos x="0" y="0"/>
              </a:cxn>
            </a:cxnLst>
            <a:rect l="0" t="0" r="r" b="b"/>
            <a:pathLst>
              <a:path w="693" h="307">
                <a:moveTo>
                  <a:pt x="0" y="0"/>
                </a:moveTo>
                <a:lnTo>
                  <a:pt x="693" y="162"/>
                </a:lnTo>
                <a:lnTo>
                  <a:pt x="571" y="307"/>
                </a:lnTo>
                <a:lnTo>
                  <a:pt x="0" y="0"/>
                </a:lnTo>
                <a:close/>
              </a:path>
            </a:pathLst>
          </a:custGeom>
          <a:gradFill rotWithShape="0">
            <a:gsLst>
              <a:gs pos="0">
                <a:srgbClr val="6699FF">
                  <a:gamma/>
                  <a:shade val="46275"/>
                  <a:invGamma/>
                </a:srgbClr>
              </a:gs>
              <a:gs pos="100000">
                <a:srgbClr val="6699FF"/>
              </a:gs>
            </a:gsLst>
            <a:lin ang="0" scaled="1"/>
          </a:gradFill>
          <a:ln w="9525" cap="flat" cmpd="sng">
            <a:noFill/>
            <a:prstDash val="solid"/>
            <a:round/>
            <a:headEnd/>
            <a:tailEnd/>
          </a:ln>
          <a:effectLst/>
        </p:spPr>
        <p:txBody>
          <a:bodyPr lIns="137160" rIns="45720" anchor="ctr"/>
          <a:lstStyle/>
          <a:p>
            <a:endParaRPr lang="fr-FR"/>
          </a:p>
        </p:txBody>
      </p:sp>
      <p:sp>
        <p:nvSpPr>
          <p:cNvPr id="147479" name="Rectangle 23"/>
          <p:cNvSpPr>
            <a:spLocks noChangeArrowheads="1"/>
          </p:cNvSpPr>
          <p:nvPr/>
        </p:nvSpPr>
        <p:spPr bwMode="auto">
          <a:xfrm>
            <a:off x="1645348" y="5702310"/>
            <a:ext cx="947037" cy="274638"/>
          </a:xfrm>
          <a:prstGeom prst="rect">
            <a:avLst/>
          </a:prstGeom>
          <a:solidFill>
            <a:srgbClr val="EC008C"/>
          </a:solidFill>
          <a:ln w="9525">
            <a:solidFill>
              <a:schemeClr val="tx1"/>
            </a:solidFill>
            <a:miter lim="800000"/>
            <a:headEnd/>
            <a:tailEnd/>
          </a:ln>
          <a:effectLst/>
        </p:spPr>
        <p:txBody>
          <a:bodyPr wrap="none" anchor="ctr"/>
          <a:lstStyle/>
          <a:p>
            <a:pPr algn="ctr"/>
            <a:r>
              <a:rPr lang="en-US" sz="1800">
                <a:solidFill>
                  <a:schemeClr val="bg1"/>
                </a:solidFill>
                <a:effectLst>
                  <a:outerShdw blurRad="38100" dist="38100" dir="2700000" algn="tl">
                    <a:srgbClr val="000000"/>
                  </a:outerShdw>
                </a:effectLst>
                <a:latin typeface="Arial" charset="0"/>
              </a:rPr>
              <a:t>DRF</a:t>
            </a:r>
          </a:p>
        </p:txBody>
      </p:sp>
      <p:grpSp>
        <p:nvGrpSpPr>
          <p:cNvPr id="147480" name="Group 24"/>
          <p:cNvGrpSpPr>
            <a:grpSpLocks/>
          </p:cNvGrpSpPr>
          <p:nvPr/>
        </p:nvGrpSpPr>
        <p:grpSpPr bwMode="auto">
          <a:xfrm rot="2700000" flipH="1">
            <a:off x="541555" y="2505766"/>
            <a:ext cx="858837" cy="1323568"/>
            <a:chOff x="2133" y="454"/>
            <a:chExt cx="2589" cy="3330"/>
          </a:xfrm>
        </p:grpSpPr>
        <p:sp>
          <p:nvSpPr>
            <p:cNvPr id="147481" name="Freeform 25"/>
            <p:cNvSpPr>
              <a:spLocks/>
            </p:cNvSpPr>
            <p:nvPr/>
          </p:nvSpPr>
          <p:spPr bwMode="auto">
            <a:xfrm>
              <a:off x="3417" y="2399"/>
              <a:ext cx="799" cy="1035"/>
            </a:xfrm>
            <a:custGeom>
              <a:avLst/>
              <a:gdLst/>
              <a:ahLst/>
              <a:cxnLst>
                <a:cxn ang="0">
                  <a:pos x="555" y="466"/>
                </a:cxn>
                <a:cxn ang="0">
                  <a:pos x="466" y="284"/>
                </a:cxn>
                <a:cxn ang="0">
                  <a:pos x="502" y="257"/>
                </a:cxn>
                <a:cxn ang="0">
                  <a:pos x="510" y="249"/>
                </a:cxn>
                <a:cxn ang="0">
                  <a:pos x="515" y="235"/>
                </a:cxn>
                <a:cxn ang="0">
                  <a:pos x="515" y="226"/>
                </a:cxn>
                <a:cxn ang="0">
                  <a:pos x="515" y="217"/>
                </a:cxn>
                <a:cxn ang="0">
                  <a:pos x="515" y="204"/>
                </a:cxn>
                <a:cxn ang="0">
                  <a:pos x="510" y="195"/>
                </a:cxn>
                <a:cxn ang="0">
                  <a:pos x="502" y="182"/>
                </a:cxn>
                <a:cxn ang="0">
                  <a:pos x="373" y="0"/>
                </a:cxn>
                <a:cxn ang="0">
                  <a:pos x="0" y="262"/>
                </a:cxn>
                <a:cxn ang="0">
                  <a:pos x="124" y="444"/>
                </a:cxn>
                <a:cxn ang="0">
                  <a:pos x="137" y="453"/>
                </a:cxn>
                <a:cxn ang="0">
                  <a:pos x="146" y="462"/>
                </a:cxn>
                <a:cxn ang="0">
                  <a:pos x="160" y="471"/>
                </a:cxn>
                <a:cxn ang="0">
                  <a:pos x="173" y="471"/>
                </a:cxn>
                <a:cxn ang="0">
                  <a:pos x="182" y="475"/>
                </a:cxn>
                <a:cxn ang="0">
                  <a:pos x="195" y="475"/>
                </a:cxn>
                <a:cxn ang="0">
                  <a:pos x="204" y="471"/>
                </a:cxn>
                <a:cxn ang="0">
                  <a:pos x="213" y="471"/>
                </a:cxn>
                <a:cxn ang="0">
                  <a:pos x="248" y="444"/>
                </a:cxn>
                <a:cxn ang="0">
                  <a:pos x="377" y="599"/>
                </a:cxn>
                <a:cxn ang="0">
                  <a:pos x="404" y="582"/>
                </a:cxn>
                <a:cxn ang="0">
                  <a:pos x="733" y="1035"/>
                </a:cxn>
                <a:cxn ang="0">
                  <a:pos x="799" y="1017"/>
                </a:cxn>
                <a:cxn ang="0">
                  <a:pos x="795" y="884"/>
                </a:cxn>
                <a:cxn ang="0">
                  <a:pos x="759" y="830"/>
                </a:cxn>
                <a:cxn ang="0">
                  <a:pos x="750" y="795"/>
                </a:cxn>
                <a:cxn ang="0">
                  <a:pos x="710" y="799"/>
                </a:cxn>
                <a:cxn ang="0">
                  <a:pos x="688" y="764"/>
                </a:cxn>
                <a:cxn ang="0">
                  <a:pos x="697" y="724"/>
                </a:cxn>
                <a:cxn ang="0">
                  <a:pos x="679" y="697"/>
                </a:cxn>
                <a:cxn ang="0">
                  <a:pos x="630" y="670"/>
                </a:cxn>
                <a:cxn ang="0">
                  <a:pos x="630" y="626"/>
                </a:cxn>
                <a:cxn ang="0">
                  <a:pos x="595" y="604"/>
                </a:cxn>
                <a:cxn ang="0">
                  <a:pos x="515" y="493"/>
                </a:cxn>
                <a:cxn ang="0">
                  <a:pos x="555" y="466"/>
                </a:cxn>
              </a:cxnLst>
              <a:rect l="0" t="0" r="r" b="b"/>
              <a:pathLst>
                <a:path w="799" h="1035">
                  <a:moveTo>
                    <a:pt x="555" y="466"/>
                  </a:moveTo>
                  <a:lnTo>
                    <a:pt x="466" y="284"/>
                  </a:lnTo>
                  <a:lnTo>
                    <a:pt x="502" y="257"/>
                  </a:lnTo>
                  <a:lnTo>
                    <a:pt x="510" y="249"/>
                  </a:lnTo>
                  <a:lnTo>
                    <a:pt x="515" y="235"/>
                  </a:lnTo>
                  <a:lnTo>
                    <a:pt x="515" y="226"/>
                  </a:lnTo>
                  <a:lnTo>
                    <a:pt x="515" y="217"/>
                  </a:lnTo>
                  <a:lnTo>
                    <a:pt x="515" y="204"/>
                  </a:lnTo>
                  <a:lnTo>
                    <a:pt x="510" y="195"/>
                  </a:lnTo>
                  <a:lnTo>
                    <a:pt x="502" y="182"/>
                  </a:lnTo>
                  <a:lnTo>
                    <a:pt x="373" y="0"/>
                  </a:lnTo>
                  <a:lnTo>
                    <a:pt x="0" y="262"/>
                  </a:lnTo>
                  <a:lnTo>
                    <a:pt x="124" y="444"/>
                  </a:lnTo>
                  <a:lnTo>
                    <a:pt x="137" y="453"/>
                  </a:lnTo>
                  <a:lnTo>
                    <a:pt x="146" y="462"/>
                  </a:lnTo>
                  <a:lnTo>
                    <a:pt x="160" y="471"/>
                  </a:lnTo>
                  <a:lnTo>
                    <a:pt x="173" y="471"/>
                  </a:lnTo>
                  <a:lnTo>
                    <a:pt x="182" y="475"/>
                  </a:lnTo>
                  <a:lnTo>
                    <a:pt x="195" y="475"/>
                  </a:lnTo>
                  <a:lnTo>
                    <a:pt x="204" y="471"/>
                  </a:lnTo>
                  <a:lnTo>
                    <a:pt x="213" y="471"/>
                  </a:lnTo>
                  <a:lnTo>
                    <a:pt x="248" y="444"/>
                  </a:lnTo>
                  <a:lnTo>
                    <a:pt x="377" y="599"/>
                  </a:lnTo>
                  <a:lnTo>
                    <a:pt x="404" y="582"/>
                  </a:lnTo>
                  <a:lnTo>
                    <a:pt x="733" y="1035"/>
                  </a:lnTo>
                  <a:lnTo>
                    <a:pt x="799" y="1017"/>
                  </a:lnTo>
                  <a:lnTo>
                    <a:pt x="795" y="884"/>
                  </a:lnTo>
                  <a:lnTo>
                    <a:pt x="759" y="830"/>
                  </a:lnTo>
                  <a:lnTo>
                    <a:pt x="750" y="795"/>
                  </a:lnTo>
                  <a:lnTo>
                    <a:pt x="710" y="799"/>
                  </a:lnTo>
                  <a:lnTo>
                    <a:pt x="688" y="764"/>
                  </a:lnTo>
                  <a:lnTo>
                    <a:pt x="697" y="724"/>
                  </a:lnTo>
                  <a:lnTo>
                    <a:pt x="679" y="697"/>
                  </a:lnTo>
                  <a:lnTo>
                    <a:pt x="630" y="670"/>
                  </a:lnTo>
                  <a:lnTo>
                    <a:pt x="630" y="626"/>
                  </a:lnTo>
                  <a:lnTo>
                    <a:pt x="595" y="604"/>
                  </a:lnTo>
                  <a:lnTo>
                    <a:pt x="515" y="493"/>
                  </a:lnTo>
                  <a:lnTo>
                    <a:pt x="555" y="466"/>
                  </a:lnTo>
                  <a:close/>
                </a:path>
              </a:pathLst>
            </a:custGeom>
            <a:solidFill>
              <a:schemeClr val="bg1"/>
            </a:solidFill>
            <a:ln w="6350" cap="sq" cmpd="sng">
              <a:solidFill>
                <a:srgbClr val="000000"/>
              </a:solidFill>
              <a:prstDash val="solid"/>
              <a:miter lim="800000"/>
              <a:headEnd type="none" w="med" len="med"/>
              <a:tailEnd type="none" w="med" len="med"/>
            </a:ln>
            <a:effectLst>
              <a:outerShdw dist="35921" dir="8100000" algn="ctr" rotWithShape="0">
                <a:srgbClr val="808080"/>
              </a:outerShdw>
            </a:effectLst>
          </p:spPr>
          <p:txBody>
            <a:bodyPr/>
            <a:lstStyle/>
            <a:p>
              <a:endParaRPr lang="fr-FR"/>
            </a:p>
          </p:txBody>
        </p:sp>
        <p:sp>
          <p:nvSpPr>
            <p:cNvPr id="147482" name="Freeform 26"/>
            <p:cNvSpPr>
              <a:spLocks/>
            </p:cNvSpPr>
            <p:nvPr/>
          </p:nvSpPr>
          <p:spPr bwMode="auto">
            <a:xfrm>
              <a:off x="3390" y="1941"/>
              <a:ext cx="1332" cy="1009"/>
            </a:xfrm>
            <a:custGeom>
              <a:avLst/>
              <a:gdLst/>
              <a:ahLst/>
              <a:cxnLst>
                <a:cxn ang="0">
                  <a:pos x="418" y="613"/>
                </a:cxn>
                <a:cxn ang="0">
                  <a:pos x="373" y="667"/>
                </a:cxn>
                <a:cxn ang="0">
                  <a:pos x="351" y="675"/>
                </a:cxn>
                <a:cxn ang="0">
                  <a:pos x="324" y="675"/>
                </a:cxn>
                <a:cxn ang="0">
                  <a:pos x="298" y="667"/>
                </a:cxn>
                <a:cxn ang="0">
                  <a:pos x="67" y="507"/>
                </a:cxn>
                <a:cxn ang="0">
                  <a:pos x="40" y="489"/>
                </a:cxn>
                <a:cxn ang="0">
                  <a:pos x="13" y="467"/>
                </a:cxn>
                <a:cxn ang="0">
                  <a:pos x="0" y="440"/>
                </a:cxn>
                <a:cxn ang="0">
                  <a:pos x="4" y="413"/>
                </a:cxn>
                <a:cxn ang="0">
                  <a:pos x="18" y="382"/>
                </a:cxn>
                <a:cxn ang="0">
                  <a:pos x="36" y="351"/>
                </a:cxn>
                <a:cxn ang="0">
                  <a:pos x="49" y="320"/>
                </a:cxn>
                <a:cxn ang="0">
                  <a:pos x="53" y="293"/>
                </a:cxn>
                <a:cxn ang="0">
                  <a:pos x="49" y="271"/>
                </a:cxn>
                <a:cxn ang="0">
                  <a:pos x="40" y="240"/>
                </a:cxn>
                <a:cxn ang="0">
                  <a:pos x="36" y="205"/>
                </a:cxn>
                <a:cxn ang="0">
                  <a:pos x="49" y="165"/>
                </a:cxn>
                <a:cxn ang="0">
                  <a:pos x="93" y="187"/>
                </a:cxn>
                <a:cxn ang="0">
                  <a:pos x="80" y="214"/>
                </a:cxn>
                <a:cxn ang="0">
                  <a:pos x="80" y="236"/>
                </a:cxn>
                <a:cxn ang="0">
                  <a:pos x="93" y="258"/>
                </a:cxn>
                <a:cxn ang="0">
                  <a:pos x="116" y="276"/>
                </a:cxn>
                <a:cxn ang="0">
                  <a:pos x="138" y="285"/>
                </a:cxn>
                <a:cxn ang="0">
                  <a:pos x="164" y="271"/>
                </a:cxn>
                <a:cxn ang="0">
                  <a:pos x="187" y="240"/>
                </a:cxn>
                <a:cxn ang="0">
                  <a:pos x="195" y="214"/>
                </a:cxn>
                <a:cxn ang="0">
                  <a:pos x="195" y="196"/>
                </a:cxn>
                <a:cxn ang="0">
                  <a:pos x="178" y="174"/>
                </a:cxn>
                <a:cxn ang="0">
                  <a:pos x="160" y="165"/>
                </a:cxn>
                <a:cxn ang="0">
                  <a:pos x="133" y="160"/>
                </a:cxn>
                <a:cxn ang="0">
                  <a:pos x="107" y="174"/>
                </a:cxn>
                <a:cxn ang="0">
                  <a:pos x="53" y="160"/>
                </a:cxn>
                <a:cxn ang="0">
                  <a:pos x="71" y="138"/>
                </a:cxn>
                <a:cxn ang="0">
                  <a:pos x="102" y="120"/>
                </a:cxn>
                <a:cxn ang="0">
                  <a:pos x="138" y="116"/>
                </a:cxn>
                <a:cxn ang="0">
                  <a:pos x="169" y="111"/>
                </a:cxn>
                <a:cxn ang="0">
                  <a:pos x="195" y="102"/>
                </a:cxn>
                <a:cxn ang="0">
                  <a:pos x="218" y="80"/>
                </a:cxn>
                <a:cxn ang="0">
                  <a:pos x="240" y="49"/>
                </a:cxn>
                <a:cxn ang="0">
                  <a:pos x="258" y="18"/>
                </a:cxn>
                <a:cxn ang="0">
                  <a:pos x="284" y="0"/>
                </a:cxn>
                <a:cxn ang="0">
                  <a:pos x="311" y="5"/>
                </a:cxn>
                <a:cxn ang="0">
                  <a:pos x="342" y="18"/>
                </a:cxn>
                <a:cxn ang="0">
                  <a:pos x="373" y="36"/>
                </a:cxn>
                <a:cxn ang="0">
                  <a:pos x="600" y="187"/>
                </a:cxn>
                <a:cxn ang="0">
                  <a:pos x="626" y="218"/>
                </a:cxn>
                <a:cxn ang="0">
                  <a:pos x="640" y="245"/>
                </a:cxn>
                <a:cxn ang="0">
                  <a:pos x="640" y="276"/>
                </a:cxn>
                <a:cxn ang="0">
                  <a:pos x="635" y="298"/>
                </a:cxn>
                <a:cxn ang="0">
                  <a:pos x="795" y="502"/>
                </a:cxn>
                <a:cxn ang="0">
                  <a:pos x="1332" y="924"/>
                </a:cxn>
                <a:cxn ang="0">
                  <a:pos x="1150" y="1009"/>
                </a:cxn>
                <a:cxn ang="0">
                  <a:pos x="1044" y="951"/>
                </a:cxn>
                <a:cxn ang="0">
                  <a:pos x="1004" y="880"/>
                </a:cxn>
                <a:cxn ang="0">
                  <a:pos x="924" y="866"/>
                </a:cxn>
                <a:cxn ang="0">
                  <a:pos x="831" y="804"/>
                </a:cxn>
                <a:cxn ang="0">
                  <a:pos x="671" y="671"/>
                </a:cxn>
              </a:cxnLst>
              <a:rect l="0" t="0" r="r" b="b"/>
              <a:pathLst>
                <a:path w="1332" h="1009">
                  <a:moveTo>
                    <a:pt x="640" y="720"/>
                  </a:moveTo>
                  <a:lnTo>
                    <a:pt x="418" y="613"/>
                  </a:lnTo>
                  <a:lnTo>
                    <a:pt x="386" y="658"/>
                  </a:lnTo>
                  <a:lnTo>
                    <a:pt x="373" y="667"/>
                  </a:lnTo>
                  <a:lnTo>
                    <a:pt x="364" y="671"/>
                  </a:lnTo>
                  <a:lnTo>
                    <a:pt x="351" y="675"/>
                  </a:lnTo>
                  <a:lnTo>
                    <a:pt x="338" y="675"/>
                  </a:lnTo>
                  <a:lnTo>
                    <a:pt x="324" y="675"/>
                  </a:lnTo>
                  <a:lnTo>
                    <a:pt x="311" y="671"/>
                  </a:lnTo>
                  <a:lnTo>
                    <a:pt x="298" y="667"/>
                  </a:lnTo>
                  <a:lnTo>
                    <a:pt x="293" y="662"/>
                  </a:lnTo>
                  <a:lnTo>
                    <a:pt x="67" y="507"/>
                  </a:lnTo>
                  <a:lnTo>
                    <a:pt x="49" y="498"/>
                  </a:lnTo>
                  <a:lnTo>
                    <a:pt x="40" y="489"/>
                  </a:lnTo>
                  <a:lnTo>
                    <a:pt x="22" y="476"/>
                  </a:lnTo>
                  <a:lnTo>
                    <a:pt x="13" y="467"/>
                  </a:lnTo>
                  <a:lnTo>
                    <a:pt x="4" y="453"/>
                  </a:lnTo>
                  <a:lnTo>
                    <a:pt x="0" y="440"/>
                  </a:lnTo>
                  <a:lnTo>
                    <a:pt x="0" y="427"/>
                  </a:lnTo>
                  <a:lnTo>
                    <a:pt x="4" y="413"/>
                  </a:lnTo>
                  <a:lnTo>
                    <a:pt x="9" y="396"/>
                  </a:lnTo>
                  <a:lnTo>
                    <a:pt x="18" y="382"/>
                  </a:lnTo>
                  <a:lnTo>
                    <a:pt x="27" y="365"/>
                  </a:lnTo>
                  <a:lnTo>
                    <a:pt x="36" y="351"/>
                  </a:lnTo>
                  <a:lnTo>
                    <a:pt x="44" y="333"/>
                  </a:lnTo>
                  <a:lnTo>
                    <a:pt x="49" y="320"/>
                  </a:lnTo>
                  <a:lnTo>
                    <a:pt x="53" y="307"/>
                  </a:lnTo>
                  <a:lnTo>
                    <a:pt x="53" y="293"/>
                  </a:lnTo>
                  <a:lnTo>
                    <a:pt x="53" y="285"/>
                  </a:lnTo>
                  <a:lnTo>
                    <a:pt x="49" y="271"/>
                  </a:lnTo>
                  <a:lnTo>
                    <a:pt x="40" y="254"/>
                  </a:lnTo>
                  <a:lnTo>
                    <a:pt x="40" y="240"/>
                  </a:lnTo>
                  <a:lnTo>
                    <a:pt x="36" y="222"/>
                  </a:lnTo>
                  <a:lnTo>
                    <a:pt x="36" y="205"/>
                  </a:lnTo>
                  <a:lnTo>
                    <a:pt x="36" y="196"/>
                  </a:lnTo>
                  <a:lnTo>
                    <a:pt x="49" y="165"/>
                  </a:lnTo>
                  <a:lnTo>
                    <a:pt x="53" y="160"/>
                  </a:lnTo>
                  <a:lnTo>
                    <a:pt x="93" y="187"/>
                  </a:lnTo>
                  <a:lnTo>
                    <a:pt x="89" y="200"/>
                  </a:lnTo>
                  <a:lnTo>
                    <a:pt x="80" y="214"/>
                  </a:lnTo>
                  <a:lnTo>
                    <a:pt x="80" y="227"/>
                  </a:lnTo>
                  <a:lnTo>
                    <a:pt x="80" y="236"/>
                  </a:lnTo>
                  <a:lnTo>
                    <a:pt x="84" y="249"/>
                  </a:lnTo>
                  <a:lnTo>
                    <a:pt x="93" y="258"/>
                  </a:lnTo>
                  <a:lnTo>
                    <a:pt x="102" y="267"/>
                  </a:lnTo>
                  <a:lnTo>
                    <a:pt x="116" y="276"/>
                  </a:lnTo>
                  <a:lnTo>
                    <a:pt x="124" y="280"/>
                  </a:lnTo>
                  <a:lnTo>
                    <a:pt x="138" y="285"/>
                  </a:lnTo>
                  <a:lnTo>
                    <a:pt x="151" y="280"/>
                  </a:lnTo>
                  <a:lnTo>
                    <a:pt x="164" y="271"/>
                  </a:lnTo>
                  <a:lnTo>
                    <a:pt x="173" y="258"/>
                  </a:lnTo>
                  <a:lnTo>
                    <a:pt x="187" y="240"/>
                  </a:lnTo>
                  <a:lnTo>
                    <a:pt x="191" y="227"/>
                  </a:lnTo>
                  <a:lnTo>
                    <a:pt x="195" y="214"/>
                  </a:lnTo>
                  <a:lnTo>
                    <a:pt x="195" y="205"/>
                  </a:lnTo>
                  <a:lnTo>
                    <a:pt x="195" y="196"/>
                  </a:lnTo>
                  <a:lnTo>
                    <a:pt x="187" y="182"/>
                  </a:lnTo>
                  <a:lnTo>
                    <a:pt x="178" y="174"/>
                  </a:lnTo>
                  <a:lnTo>
                    <a:pt x="169" y="169"/>
                  </a:lnTo>
                  <a:lnTo>
                    <a:pt x="160" y="165"/>
                  </a:lnTo>
                  <a:lnTo>
                    <a:pt x="147" y="160"/>
                  </a:lnTo>
                  <a:lnTo>
                    <a:pt x="133" y="160"/>
                  </a:lnTo>
                  <a:lnTo>
                    <a:pt x="120" y="165"/>
                  </a:lnTo>
                  <a:lnTo>
                    <a:pt x="107" y="174"/>
                  </a:lnTo>
                  <a:lnTo>
                    <a:pt x="93" y="187"/>
                  </a:lnTo>
                  <a:lnTo>
                    <a:pt x="53" y="160"/>
                  </a:lnTo>
                  <a:lnTo>
                    <a:pt x="62" y="147"/>
                  </a:lnTo>
                  <a:lnTo>
                    <a:pt x="71" y="138"/>
                  </a:lnTo>
                  <a:lnTo>
                    <a:pt x="89" y="125"/>
                  </a:lnTo>
                  <a:lnTo>
                    <a:pt x="102" y="120"/>
                  </a:lnTo>
                  <a:lnTo>
                    <a:pt x="120" y="116"/>
                  </a:lnTo>
                  <a:lnTo>
                    <a:pt x="138" y="116"/>
                  </a:lnTo>
                  <a:lnTo>
                    <a:pt x="155" y="116"/>
                  </a:lnTo>
                  <a:lnTo>
                    <a:pt x="169" y="111"/>
                  </a:lnTo>
                  <a:lnTo>
                    <a:pt x="187" y="111"/>
                  </a:lnTo>
                  <a:lnTo>
                    <a:pt x="195" y="102"/>
                  </a:lnTo>
                  <a:lnTo>
                    <a:pt x="209" y="94"/>
                  </a:lnTo>
                  <a:lnTo>
                    <a:pt x="218" y="80"/>
                  </a:lnTo>
                  <a:lnTo>
                    <a:pt x="231" y="63"/>
                  </a:lnTo>
                  <a:lnTo>
                    <a:pt x="240" y="49"/>
                  </a:lnTo>
                  <a:lnTo>
                    <a:pt x="249" y="31"/>
                  </a:lnTo>
                  <a:lnTo>
                    <a:pt x="258" y="18"/>
                  </a:lnTo>
                  <a:lnTo>
                    <a:pt x="271" y="9"/>
                  </a:lnTo>
                  <a:lnTo>
                    <a:pt x="284" y="0"/>
                  </a:lnTo>
                  <a:lnTo>
                    <a:pt x="293" y="0"/>
                  </a:lnTo>
                  <a:lnTo>
                    <a:pt x="311" y="5"/>
                  </a:lnTo>
                  <a:lnTo>
                    <a:pt x="324" y="9"/>
                  </a:lnTo>
                  <a:lnTo>
                    <a:pt x="342" y="18"/>
                  </a:lnTo>
                  <a:lnTo>
                    <a:pt x="360" y="27"/>
                  </a:lnTo>
                  <a:lnTo>
                    <a:pt x="373" y="36"/>
                  </a:lnTo>
                  <a:lnTo>
                    <a:pt x="382" y="36"/>
                  </a:lnTo>
                  <a:lnTo>
                    <a:pt x="600" y="187"/>
                  </a:lnTo>
                  <a:lnTo>
                    <a:pt x="613" y="200"/>
                  </a:lnTo>
                  <a:lnTo>
                    <a:pt x="626" y="218"/>
                  </a:lnTo>
                  <a:lnTo>
                    <a:pt x="635" y="231"/>
                  </a:lnTo>
                  <a:lnTo>
                    <a:pt x="640" y="245"/>
                  </a:lnTo>
                  <a:lnTo>
                    <a:pt x="640" y="262"/>
                  </a:lnTo>
                  <a:lnTo>
                    <a:pt x="640" y="276"/>
                  </a:lnTo>
                  <a:lnTo>
                    <a:pt x="640" y="289"/>
                  </a:lnTo>
                  <a:lnTo>
                    <a:pt x="635" y="298"/>
                  </a:lnTo>
                  <a:lnTo>
                    <a:pt x="604" y="342"/>
                  </a:lnTo>
                  <a:lnTo>
                    <a:pt x="795" y="502"/>
                  </a:lnTo>
                  <a:lnTo>
                    <a:pt x="777" y="533"/>
                  </a:lnTo>
                  <a:lnTo>
                    <a:pt x="1332" y="924"/>
                  </a:lnTo>
                  <a:lnTo>
                    <a:pt x="1310" y="1009"/>
                  </a:lnTo>
                  <a:lnTo>
                    <a:pt x="1150" y="1009"/>
                  </a:lnTo>
                  <a:lnTo>
                    <a:pt x="1088" y="964"/>
                  </a:lnTo>
                  <a:lnTo>
                    <a:pt x="1044" y="951"/>
                  </a:lnTo>
                  <a:lnTo>
                    <a:pt x="1044" y="902"/>
                  </a:lnTo>
                  <a:lnTo>
                    <a:pt x="1004" y="880"/>
                  </a:lnTo>
                  <a:lnTo>
                    <a:pt x="955" y="893"/>
                  </a:lnTo>
                  <a:lnTo>
                    <a:pt x="924" y="866"/>
                  </a:lnTo>
                  <a:lnTo>
                    <a:pt x="888" y="809"/>
                  </a:lnTo>
                  <a:lnTo>
                    <a:pt x="831" y="804"/>
                  </a:lnTo>
                  <a:lnTo>
                    <a:pt x="808" y="764"/>
                  </a:lnTo>
                  <a:lnTo>
                    <a:pt x="671" y="671"/>
                  </a:lnTo>
                  <a:lnTo>
                    <a:pt x="640" y="720"/>
                  </a:lnTo>
                  <a:close/>
                </a:path>
              </a:pathLst>
            </a:custGeom>
            <a:solidFill>
              <a:schemeClr val="bg1"/>
            </a:solidFill>
            <a:ln w="6350" cap="sq" cmpd="sng">
              <a:solidFill>
                <a:srgbClr val="000000"/>
              </a:solidFill>
              <a:prstDash val="solid"/>
              <a:miter lim="800000"/>
              <a:headEnd type="none" w="med" len="med"/>
              <a:tailEnd type="none" w="med" len="med"/>
            </a:ln>
            <a:effectLst>
              <a:outerShdw dist="35921" dir="8100000" algn="ctr" rotWithShape="0">
                <a:srgbClr val="808080"/>
              </a:outerShdw>
            </a:effectLst>
          </p:spPr>
          <p:txBody>
            <a:bodyPr/>
            <a:lstStyle/>
            <a:p>
              <a:endParaRPr lang="fr-FR"/>
            </a:p>
          </p:txBody>
        </p:sp>
        <p:sp>
          <p:nvSpPr>
            <p:cNvPr id="147483" name="Freeform 27"/>
            <p:cNvSpPr>
              <a:spLocks/>
            </p:cNvSpPr>
            <p:nvPr/>
          </p:nvSpPr>
          <p:spPr bwMode="auto">
            <a:xfrm>
              <a:off x="2133" y="454"/>
              <a:ext cx="1408" cy="1141"/>
            </a:xfrm>
            <a:custGeom>
              <a:avLst/>
              <a:gdLst/>
              <a:ahLst/>
              <a:cxnLst>
                <a:cxn ang="0">
                  <a:pos x="689" y="706"/>
                </a:cxn>
                <a:cxn ang="0">
                  <a:pos x="773" y="830"/>
                </a:cxn>
                <a:cxn ang="0">
                  <a:pos x="764" y="848"/>
                </a:cxn>
                <a:cxn ang="0">
                  <a:pos x="764" y="874"/>
                </a:cxn>
                <a:cxn ang="0">
                  <a:pos x="800" y="906"/>
                </a:cxn>
                <a:cxn ang="0">
                  <a:pos x="826" y="1012"/>
                </a:cxn>
                <a:cxn ang="0">
                  <a:pos x="804" y="1074"/>
                </a:cxn>
                <a:cxn ang="0">
                  <a:pos x="826" y="1105"/>
                </a:cxn>
                <a:cxn ang="0">
                  <a:pos x="848" y="1119"/>
                </a:cxn>
                <a:cxn ang="0">
                  <a:pos x="866" y="1132"/>
                </a:cxn>
                <a:cxn ang="0">
                  <a:pos x="888" y="1141"/>
                </a:cxn>
                <a:cxn ang="0">
                  <a:pos x="906" y="1141"/>
                </a:cxn>
                <a:cxn ang="0">
                  <a:pos x="951" y="1088"/>
                </a:cxn>
                <a:cxn ang="0">
                  <a:pos x="1062" y="1057"/>
                </a:cxn>
                <a:cxn ang="0">
                  <a:pos x="1195" y="1017"/>
                </a:cxn>
                <a:cxn ang="0">
                  <a:pos x="1386" y="954"/>
                </a:cxn>
                <a:cxn ang="0">
                  <a:pos x="1319" y="981"/>
                </a:cxn>
                <a:cxn ang="0">
                  <a:pos x="1270" y="906"/>
                </a:cxn>
                <a:cxn ang="0">
                  <a:pos x="1359" y="923"/>
                </a:cxn>
                <a:cxn ang="0">
                  <a:pos x="1386" y="954"/>
                </a:cxn>
                <a:cxn ang="0">
                  <a:pos x="1337" y="799"/>
                </a:cxn>
                <a:cxn ang="0">
                  <a:pos x="1315" y="661"/>
                </a:cxn>
                <a:cxn ang="0">
                  <a:pos x="1301" y="541"/>
                </a:cxn>
                <a:cxn ang="0">
                  <a:pos x="1328" y="488"/>
                </a:cxn>
                <a:cxn ang="0">
                  <a:pos x="1306" y="457"/>
                </a:cxn>
                <a:cxn ang="0">
                  <a:pos x="1284" y="439"/>
                </a:cxn>
                <a:cxn ang="0">
                  <a:pos x="1266" y="426"/>
                </a:cxn>
                <a:cxn ang="0">
                  <a:pos x="1244" y="421"/>
                </a:cxn>
                <a:cxn ang="0">
                  <a:pos x="1217" y="421"/>
                </a:cxn>
                <a:cxn ang="0">
                  <a:pos x="1124" y="439"/>
                </a:cxn>
                <a:cxn ang="0">
                  <a:pos x="1048" y="466"/>
                </a:cxn>
                <a:cxn ang="0">
                  <a:pos x="1031" y="461"/>
                </a:cxn>
                <a:cxn ang="0">
                  <a:pos x="1008" y="470"/>
                </a:cxn>
                <a:cxn ang="0">
                  <a:pos x="880" y="413"/>
                </a:cxn>
                <a:cxn ang="0">
                  <a:pos x="720" y="373"/>
                </a:cxn>
                <a:cxn ang="0">
                  <a:pos x="76" y="0"/>
                </a:cxn>
                <a:cxn ang="0">
                  <a:pos x="67" y="213"/>
                </a:cxn>
                <a:cxn ang="0">
                  <a:pos x="169" y="302"/>
                </a:cxn>
                <a:cxn ang="0">
                  <a:pos x="311" y="368"/>
                </a:cxn>
                <a:cxn ang="0">
                  <a:pos x="418" y="417"/>
                </a:cxn>
                <a:cxn ang="0">
                  <a:pos x="600" y="568"/>
                </a:cxn>
              </a:cxnLst>
              <a:rect l="0" t="0" r="r" b="b"/>
              <a:pathLst>
                <a:path w="1408" h="1141">
                  <a:moveTo>
                    <a:pt x="569" y="621"/>
                  </a:moveTo>
                  <a:lnTo>
                    <a:pt x="689" y="706"/>
                  </a:lnTo>
                  <a:lnTo>
                    <a:pt x="657" y="755"/>
                  </a:lnTo>
                  <a:lnTo>
                    <a:pt x="773" y="830"/>
                  </a:lnTo>
                  <a:lnTo>
                    <a:pt x="768" y="839"/>
                  </a:lnTo>
                  <a:lnTo>
                    <a:pt x="764" y="848"/>
                  </a:lnTo>
                  <a:lnTo>
                    <a:pt x="764" y="861"/>
                  </a:lnTo>
                  <a:lnTo>
                    <a:pt x="764" y="874"/>
                  </a:lnTo>
                  <a:lnTo>
                    <a:pt x="773" y="883"/>
                  </a:lnTo>
                  <a:lnTo>
                    <a:pt x="800" y="906"/>
                  </a:lnTo>
                  <a:lnTo>
                    <a:pt x="782" y="968"/>
                  </a:lnTo>
                  <a:lnTo>
                    <a:pt x="826" y="1012"/>
                  </a:lnTo>
                  <a:lnTo>
                    <a:pt x="804" y="1057"/>
                  </a:lnTo>
                  <a:lnTo>
                    <a:pt x="804" y="1074"/>
                  </a:lnTo>
                  <a:lnTo>
                    <a:pt x="813" y="1088"/>
                  </a:lnTo>
                  <a:lnTo>
                    <a:pt x="826" y="1105"/>
                  </a:lnTo>
                  <a:lnTo>
                    <a:pt x="835" y="1114"/>
                  </a:lnTo>
                  <a:lnTo>
                    <a:pt x="848" y="1119"/>
                  </a:lnTo>
                  <a:lnTo>
                    <a:pt x="857" y="1128"/>
                  </a:lnTo>
                  <a:lnTo>
                    <a:pt x="866" y="1132"/>
                  </a:lnTo>
                  <a:lnTo>
                    <a:pt x="880" y="1136"/>
                  </a:lnTo>
                  <a:lnTo>
                    <a:pt x="888" y="1141"/>
                  </a:lnTo>
                  <a:lnTo>
                    <a:pt x="897" y="1141"/>
                  </a:lnTo>
                  <a:lnTo>
                    <a:pt x="906" y="1141"/>
                  </a:lnTo>
                  <a:lnTo>
                    <a:pt x="924" y="1132"/>
                  </a:lnTo>
                  <a:lnTo>
                    <a:pt x="951" y="1088"/>
                  </a:lnTo>
                  <a:lnTo>
                    <a:pt x="1026" y="1110"/>
                  </a:lnTo>
                  <a:lnTo>
                    <a:pt x="1062" y="1057"/>
                  </a:lnTo>
                  <a:lnTo>
                    <a:pt x="1155" y="1074"/>
                  </a:lnTo>
                  <a:lnTo>
                    <a:pt x="1195" y="1017"/>
                  </a:lnTo>
                  <a:lnTo>
                    <a:pt x="1337" y="1034"/>
                  </a:lnTo>
                  <a:lnTo>
                    <a:pt x="1386" y="954"/>
                  </a:lnTo>
                  <a:lnTo>
                    <a:pt x="1350" y="932"/>
                  </a:lnTo>
                  <a:lnTo>
                    <a:pt x="1319" y="981"/>
                  </a:lnTo>
                  <a:lnTo>
                    <a:pt x="1235" y="963"/>
                  </a:lnTo>
                  <a:lnTo>
                    <a:pt x="1270" y="906"/>
                  </a:lnTo>
                  <a:lnTo>
                    <a:pt x="1306" y="852"/>
                  </a:lnTo>
                  <a:lnTo>
                    <a:pt x="1359" y="923"/>
                  </a:lnTo>
                  <a:lnTo>
                    <a:pt x="1350" y="932"/>
                  </a:lnTo>
                  <a:lnTo>
                    <a:pt x="1386" y="954"/>
                  </a:lnTo>
                  <a:lnTo>
                    <a:pt x="1408" y="923"/>
                  </a:lnTo>
                  <a:lnTo>
                    <a:pt x="1337" y="799"/>
                  </a:lnTo>
                  <a:lnTo>
                    <a:pt x="1373" y="741"/>
                  </a:lnTo>
                  <a:lnTo>
                    <a:pt x="1315" y="661"/>
                  </a:lnTo>
                  <a:lnTo>
                    <a:pt x="1350" y="608"/>
                  </a:lnTo>
                  <a:lnTo>
                    <a:pt x="1301" y="541"/>
                  </a:lnTo>
                  <a:lnTo>
                    <a:pt x="1328" y="501"/>
                  </a:lnTo>
                  <a:lnTo>
                    <a:pt x="1328" y="488"/>
                  </a:lnTo>
                  <a:lnTo>
                    <a:pt x="1319" y="470"/>
                  </a:lnTo>
                  <a:lnTo>
                    <a:pt x="1306" y="457"/>
                  </a:lnTo>
                  <a:lnTo>
                    <a:pt x="1297" y="448"/>
                  </a:lnTo>
                  <a:lnTo>
                    <a:pt x="1284" y="439"/>
                  </a:lnTo>
                  <a:lnTo>
                    <a:pt x="1275" y="435"/>
                  </a:lnTo>
                  <a:lnTo>
                    <a:pt x="1266" y="426"/>
                  </a:lnTo>
                  <a:lnTo>
                    <a:pt x="1253" y="421"/>
                  </a:lnTo>
                  <a:lnTo>
                    <a:pt x="1244" y="421"/>
                  </a:lnTo>
                  <a:lnTo>
                    <a:pt x="1235" y="417"/>
                  </a:lnTo>
                  <a:lnTo>
                    <a:pt x="1217" y="421"/>
                  </a:lnTo>
                  <a:lnTo>
                    <a:pt x="1182" y="461"/>
                  </a:lnTo>
                  <a:lnTo>
                    <a:pt x="1124" y="439"/>
                  </a:lnTo>
                  <a:lnTo>
                    <a:pt x="1075" y="484"/>
                  </a:lnTo>
                  <a:lnTo>
                    <a:pt x="1048" y="466"/>
                  </a:lnTo>
                  <a:lnTo>
                    <a:pt x="1039" y="461"/>
                  </a:lnTo>
                  <a:lnTo>
                    <a:pt x="1031" y="461"/>
                  </a:lnTo>
                  <a:lnTo>
                    <a:pt x="1017" y="461"/>
                  </a:lnTo>
                  <a:lnTo>
                    <a:pt x="1008" y="470"/>
                  </a:lnTo>
                  <a:lnTo>
                    <a:pt x="995" y="484"/>
                  </a:lnTo>
                  <a:lnTo>
                    <a:pt x="880" y="413"/>
                  </a:lnTo>
                  <a:lnTo>
                    <a:pt x="848" y="457"/>
                  </a:lnTo>
                  <a:lnTo>
                    <a:pt x="720" y="373"/>
                  </a:lnTo>
                  <a:lnTo>
                    <a:pt x="697" y="404"/>
                  </a:lnTo>
                  <a:lnTo>
                    <a:pt x="76" y="0"/>
                  </a:lnTo>
                  <a:lnTo>
                    <a:pt x="0" y="53"/>
                  </a:lnTo>
                  <a:lnTo>
                    <a:pt x="67" y="213"/>
                  </a:lnTo>
                  <a:lnTo>
                    <a:pt x="147" y="239"/>
                  </a:lnTo>
                  <a:lnTo>
                    <a:pt x="169" y="302"/>
                  </a:lnTo>
                  <a:lnTo>
                    <a:pt x="235" y="315"/>
                  </a:lnTo>
                  <a:lnTo>
                    <a:pt x="311" y="368"/>
                  </a:lnTo>
                  <a:lnTo>
                    <a:pt x="333" y="417"/>
                  </a:lnTo>
                  <a:lnTo>
                    <a:pt x="418" y="417"/>
                  </a:lnTo>
                  <a:lnTo>
                    <a:pt x="453" y="466"/>
                  </a:lnTo>
                  <a:lnTo>
                    <a:pt x="600" y="568"/>
                  </a:lnTo>
                  <a:lnTo>
                    <a:pt x="569" y="621"/>
                  </a:lnTo>
                  <a:close/>
                </a:path>
              </a:pathLst>
            </a:custGeom>
            <a:solidFill>
              <a:schemeClr val="bg1"/>
            </a:solidFill>
            <a:ln w="6350" cap="sq">
              <a:solidFill>
                <a:srgbClr val="000000"/>
              </a:solidFill>
              <a:prstDash val="solid"/>
              <a:miter lim="800000"/>
              <a:headEnd/>
              <a:tailEnd/>
            </a:ln>
            <a:effectLst>
              <a:outerShdw dist="35921" dir="8100000" algn="ctr" rotWithShape="0">
                <a:srgbClr val="808080"/>
              </a:outerShdw>
            </a:effectLst>
          </p:spPr>
          <p:txBody>
            <a:bodyPr/>
            <a:lstStyle/>
            <a:p>
              <a:endParaRPr lang="fr-FR"/>
            </a:p>
          </p:txBody>
        </p:sp>
        <p:sp>
          <p:nvSpPr>
            <p:cNvPr id="147484" name="Freeform 28"/>
            <p:cNvSpPr>
              <a:spLocks/>
            </p:cNvSpPr>
            <p:nvPr/>
          </p:nvSpPr>
          <p:spPr bwMode="auto">
            <a:xfrm>
              <a:off x="3354" y="2794"/>
              <a:ext cx="405" cy="973"/>
            </a:xfrm>
            <a:custGeom>
              <a:avLst/>
              <a:gdLst/>
              <a:ahLst/>
              <a:cxnLst>
                <a:cxn ang="0">
                  <a:pos x="80" y="284"/>
                </a:cxn>
                <a:cxn ang="0">
                  <a:pos x="0" y="49"/>
                </a:cxn>
                <a:cxn ang="0">
                  <a:pos x="316" y="0"/>
                </a:cxn>
                <a:cxn ang="0">
                  <a:pos x="338" y="249"/>
                </a:cxn>
                <a:cxn ang="0">
                  <a:pos x="298" y="258"/>
                </a:cxn>
                <a:cxn ang="0">
                  <a:pos x="405" y="933"/>
                </a:cxn>
                <a:cxn ang="0">
                  <a:pos x="338" y="973"/>
                </a:cxn>
                <a:cxn ang="0">
                  <a:pos x="227" y="857"/>
                </a:cxn>
                <a:cxn ang="0">
                  <a:pos x="214" y="782"/>
                </a:cxn>
                <a:cxn ang="0">
                  <a:pos x="191" y="737"/>
                </a:cxn>
                <a:cxn ang="0">
                  <a:pos x="227" y="706"/>
                </a:cxn>
                <a:cxn ang="0">
                  <a:pos x="218" y="662"/>
                </a:cxn>
                <a:cxn ang="0">
                  <a:pos x="174" y="635"/>
                </a:cxn>
                <a:cxn ang="0">
                  <a:pos x="169" y="591"/>
                </a:cxn>
                <a:cxn ang="0">
                  <a:pos x="187" y="529"/>
                </a:cxn>
                <a:cxn ang="0">
                  <a:pos x="152" y="484"/>
                </a:cxn>
                <a:cxn ang="0">
                  <a:pos x="160" y="440"/>
                </a:cxn>
                <a:cxn ang="0">
                  <a:pos x="134" y="275"/>
                </a:cxn>
                <a:cxn ang="0">
                  <a:pos x="80" y="284"/>
                </a:cxn>
              </a:cxnLst>
              <a:rect l="0" t="0" r="r" b="b"/>
              <a:pathLst>
                <a:path w="405" h="973">
                  <a:moveTo>
                    <a:pt x="80" y="284"/>
                  </a:moveTo>
                  <a:lnTo>
                    <a:pt x="0" y="49"/>
                  </a:lnTo>
                  <a:lnTo>
                    <a:pt x="316" y="0"/>
                  </a:lnTo>
                  <a:lnTo>
                    <a:pt x="338" y="249"/>
                  </a:lnTo>
                  <a:lnTo>
                    <a:pt x="298" y="258"/>
                  </a:lnTo>
                  <a:lnTo>
                    <a:pt x="405" y="933"/>
                  </a:lnTo>
                  <a:lnTo>
                    <a:pt x="338" y="973"/>
                  </a:lnTo>
                  <a:lnTo>
                    <a:pt x="227" y="857"/>
                  </a:lnTo>
                  <a:lnTo>
                    <a:pt x="214" y="782"/>
                  </a:lnTo>
                  <a:lnTo>
                    <a:pt x="191" y="737"/>
                  </a:lnTo>
                  <a:lnTo>
                    <a:pt x="227" y="706"/>
                  </a:lnTo>
                  <a:lnTo>
                    <a:pt x="218" y="662"/>
                  </a:lnTo>
                  <a:lnTo>
                    <a:pt x="174" y="635"/>
                  </a:lnTo>
                  <a:lnTo>
                    <a:pt x="169" y="591"/>
                  </a:lnTo>
                  <a:lnTo>
                    <a:pt x="187" y="529"/>
                  </a:lnTo>
                  <a:lnTo>
                    <a:pt x="152" y="484"/>
                  </a:lnTo>
                  <a:lnTo>
                    <a:pt x="160" y="440"/>
                  </a:lnTo>
                  <a:lnTo>
                    <a:pt x="134" y="275"/>
                  </a:lnTo>
                  <a:lnTo>
                    <a:pt x="80" y="284"/>
                  </a:lnTo>
                  <a:close/>
                </a:path>
              </a:pathLst>
            </a:custGeom>
            <a:solidFill>
              <a:schemeClr val="bg1"/>
            </a:solidFill>
            <a:ln w="6350" cap="sq" cmpd="sng">
              <a:solidFill>
                <a:srgbClr val="000000"/>
              </a:solidFill>
              <a:prstDash val="solid"/>
              <a:miter lim="800000"/>
              <a:headEnd type="none" w="med" len="med"/>
              <a:tailEnd type="none" w="med" len="med"/>
            </a:ln>
            <a:effectLst>
              <a:outerShdw dist="35921" dir="8100000" algn="ctr" rotWithShape="0">
                <a:srgbClr val="808080"/>
              </a:outerShdw>
            </a:effectLst>
          </p:spPr>
          <p:txBody>
            <a:bodyPr/>
            <a:lstStyle/>
            <a:p>
              <a:endParaRPr lang="fr-FR"/>
            </a:p>
          </p:txBody>
        </p:sp>
        <p:sp>
          <p:nvSpPr>
            <p:cNvPr id="147485" name="Freeform 29"/>
            <p:cNvSpPr>
              <a:spLocks/>
            </p:cNvSpPr>
            <p:nvPr/>
          </p:nvSpPr>
          <p:spPr bwMode="auto">
            <a:xfrm>
              <a:off x="2870" y="2155"/>
              <a:ext cx="1000" cy="1629"/>
            </a:xfrm>
            <a:custGeom>
              <a:avLst/>
              <a:gdLst/>
              <a:ahLst/>
              <a:cxnLst>
                <a:cxn ang="0">
                  <a:pos x="40" y="1367"/>
                </a:cxn>
                <a:cxn ang="0">
                  <a:pos x="111" y="1239"/>
                </a:cxn>
                <a:cxn ang="0">
                  <a:pos x="174" y="1141"/>
                </a:cxn>
                <a:cxn ang="0">
                  <a:pos x="205" y="1021"/>
                </a:cxn>
                <a:cxn ang="0">
                  <a:pos x="289" y="879"/>
                </a:cxn>
                <a:cxn ang="0">
                  <a:pos x="396" y="688"/>
                </a:cxn>
                <a:cxn ang="0">
                  <a:pos x="413" y="519"/>
                </a:cxn>
                <a:cxn ang="0">
                  <a:pos x="351" y="484"/>
                </a:cxn>
                <a:cxn ang="0">
                  <a:pos x="338" y="457"/>
                </a:cxn>
                <a:cxn ang="0">
                  <a:pos x="329" y="426"/>
                </a:cxn>
                <a:cxn ang="0">
                  <a:pos x="329" y="408"/>
                </a:cxn>
                <a:cxn ang="0">
                  <a:pos x="333" y="390"/>
                </a:cxn>
                <a:cxn ang="0">
                  <a:pos x="338" y="368"/>
                </a:cxn>
                <a:cxn ang="0">
                  <a:pos x="409" y="146"/>
                </a:cxn>
                <a:cxn ang="0">
                  <a:pos x="427" y="119"/>
                </a:cxn>
                <a:cxn ang="0">
                  <a:pos x="449" y="102"/>
                </a:cxn>
                <a:cxn ang="0">
                  <a:pos x="471" y="88"/>
                </a:cxn>
                <a:cxn ang="0">
                  <a:pos x="493" y="93"/>
                </a:cxn>
                <a:cxn ang="0">
                  <a:pos x="622" y="8"/>
                </a:cxn>
                <a:cxn ang="0">
                  <a:pos x="613" y="53"/>
                </a:cxn>
                <a:cxn ang="0">
                  <a:pos x="929" y="310"/>
                </a:cxn>
                <a:cxn ang="0">
                  <a:pos x="622" y="57"/>
                </a:cxn>
                <a:cxn ang="0">
                  <a:pos x="982" y="195"/>
                </a:cxn>
                <a:cxn ang="0">
                  <a:pos x="986" y="346"/>
                </a:cxn>
                <a:cxn ang="0">
                  <a:pos x="1000" y="368"/>
                </a:cxn>
                <a:cxn ang="0">
                  <a:pos x="1000" y="395"/>
                </a:cxn>
                <a:cxn ang="0">
                  <a:pos x="986" y="426"/>
                </a:cxn>
                <a:cxn ang="0">
                  <a:pos x="831" y="635"/>
                </a:cxn>
                <a:cxn ang="0">
                  <a:pos x="809" y="657"/>
                </a:cxn>
                <a:cxn ang="0">
                  <a:pos x="782" y="675"/>
                </a:cxn>
                <a:cxn ang="0">
                  <a:pos x="755" y="679"/>
                </a:cxn>
                <a:cxn ang="0">
                  <a:pos x="733" y="675"/>
                </a:cxn>
                <a:cxn ang="0">
                  <a:pos x="613" y="786"/>
                </a:cxn>
                <a:cxn ang="0">
                  <a:pos x="484" y="897"/>
                </a:cxn>
                <a:cxn ang="0">
                  <a:pos x="400" y="1043"/>
                </a:cxn>
                <a:cxn ang="0">
                  <a:pos x="342" y="1159"/>
                </a:cxn>
                <a:cxn ang="0">
                  <a:pos x="276" y="1261"/>
                </a:cxn>
                <a:cxn ang="0">
                  <a:pos x="222" y="1367"/>
                </a:cxn>
                <a:cxn ang="0">
                  <a:pos x="174" y="1532"/>
                </a:cxn>
                <a:cxn ang="0">
                  <a:pos x="5" y="1612"/>
                </a:cxn>
              </a:cxnLst>
              <a:rect l="0" t="0" r="r" b="b"/>
              <a:pathLst>
                <a:path w="1000" h="1629">
                  <a:moveTo>
                    <a:pt x="0" y="1443"/>
                  </a:moveTo>
                  <a:lnTo>
                    <a:pt x="40" y="1367"/>
                  </a:lnTo>
                  <a:lnTo>
                    <a:pt x="103" y="1305"/>
                  </a:lnTo>
                  <a:lnTo>
                    <a:pt x="111" y="1239"/>
                  </a:lnTo>
                  <a:lnTo>
                    <a:pt x="160" y="1199"/>
                  </a:lnTo>
                  <a:lnTo>
                    <a:pt x="174" y="1141"/>
                  </a:lnTo>
                  <a:lnTo>
                    <a:pt x="200" y="1088"/>
                  </a:lnTo>
                  <a:lnTo>
                    <a:pt x="205" y="1021"/>
                  </a:lnTo>
                  <a:lnTo>
                    <a:pt x="262" y="972"/>
                  </a:lnTo>
                  <a:lnTo>
                    <a:pt x="289" y="879"/>
                  </a:lnTo>
                  <a:lnTo>
                    <a:pt x="329" y="817"/>
                  </a:lnTo>
                  <a:lnTo>
                    <a:pt x="396" y="688"/>
                  </a:lnTo>
                  <a:lnTo>
                    <a:pt x="338" y="657"/>
                  </a:lnTo>
                  <a:lnTo>
                    <a:pt x="413" y="519"/>
                  </a:lnTo>
                  <a:lnTo>
                    <a:pt x="360" y="488"/>
                  </a:lnTo>
                  <a:lnTo>
                    <a:pt x="351" y="484"/>
                  </a:lnTo>
                  <a:lnTo>
                    <a:pt x="342" y="470"/>
                  </a:lnTo>
                  <a:lnTo>
                    <a:pt x="338" y="457"/>
                  </a:lnTo>
                  <a:lnTo>
                    <a:pt x="333" y="444"/>
                  </a:lnTo>
                  <a:lnTo>
                    <a:pt x="329" y="426"/>
                  </a:lnTo>
                  <a:lnTo>
                    <a:pt x="329" y="417"/>
                  </a:lnTo>
                  <a:lnTo>
                    <a:pt x="329" y="408"/>
                  </a:lnTo>
                  <a:lnTo>
                    <a:pt x="329" y="399"/>
                  </a:lnTo>
                  <a:lnTo>
                    <a:pt x="333" y="390"/>
                  </a:lnTo>
                  <a:lnTo>
                    <a:pt x="333" y="377"/>
                  </a:lnTo>
                  <a:lnTo>
                    <a:pt x="338" y="368"/>
                  </a:lnTo>
                  <a:lnTo>
                    <a:pt x="409" y="155"/>
                  </a:lnTo>
                  <a:lnTo>
                    <a:pt x="409" y="146"/>
                  </a:lnTo>
                  <a:lnTo>
                    <a:pt x="413" y="137"/>
                  </a:lnTo>
                  <a:lnTo>
                    <a:pt x="427" y="119"/>
                  </a:lnTo>
                  <a:lnTo>
                    <a:pt x="436" y="111"/>
                  </a:lnTo>
                  <a:lnTo>
                    <a:pt x="449" y="102"/>
                  </a:lnTo>
                  <a:lnTo>
                    <a:pt x="462" y="93"/>
                  </a:lnTo>
                  <a:lnTo>
                    <a:pt x="471" y="88"/>
                  </a:lnTo>
                  <a:lnTo>
                    <a:pt x="484" y="88"/>
                  </a:lnTo>
                  <a:lnTo>
                    <a:pt x="493" y="93"/>
                  </a:lnTo>
                  <a:lnTo>
                    <a:pt x="609" y="0"/>
                  </a:lnTo>
                  <a:lnTo>
                    <a:pt x="622" y="8"/>
                  </a:lnTo>
                  <a:lnTo>
                    <a:pt x="622" y="57"/>
                  </a:lnTo>
                  <a:lnTo>
                    <a:pt x="613" y="53"/>
                  </a:lnTo>
                  <a:lnTo>
                    <a:pt x="551" y="115"/>
                  </a:lnTo>
                  <a:lnTo>
                    <a:pt x="929" y="310"/>
                  </a:lnTo>
                  <a:lnTo>
                    <a:pt x="933" y="217"/>
                  </a:lnTo>
                  <a:lnTo>
                    <a:pt x="622" y="57"/>
                  </a:lnTo>
                  <a:lnTo>
                    <a:pt x="622" y="8"/>
                  </a:lnTo>
                  <a:lnTo>
                    <a:pt x="982" y="195"/>
                  </a:lnTo>
                  <a:lnTo>
                    <a:pt x="973" y="333"/>
                  </a:lnTo>
                  <a:lnTo>
                    <a:pt x="986" y="346"/>
                  </a:lnTo>
                  <a:lnTo>
                    <a:pt x="995" y="355"/>
                  </a:lnTo>
                  <a:lnTo>
                    <a:pt x="1000" y="368"/>
                  </a:lnTo>
                  <a:lnTo>
                    <a:pt x="1000" y="381"/>
                  </a:lnTo>
                  <a:lnTo>
                    <a:pt x="1000" y="395"/>
                  </a:lnTo>
                  <a:lnTo>
                    <a:pt x="995" y="413"/>
                  </a:lnTo>
                  <a:lnTo>
                    <a:pt x="986" y="426"/>
                  </a:lnTo>
                  <a:lnTo>
                    <a:pt x="973" y="444"/>
                  </a:lnTo>
                  <a:lnTo>
                    <a:pt x="831" y="635"/>
                  </a:lnTo>
                  <a:lnTo>
                    <a:pt x="818" y="648"/>
                  </a:lnTo>
                  <a:lnTo>
                    <a:pt x="809" y="657"/>
                  </a:lnTo>
                  <a:lnTo>
                    <a:pt x="795" y="666"/>
                  </a:lnTo>
                  <a:lnTo>
                    <a:pt x="782" y="675"/>
                  </a:lnTo>
                  <a:lnTo>
                    <a:pt x="769" y="675"/>
                  </a:lnTo>
                  <a:lnTo>
                    <a:pt x="755" y="679"/>
                  </a:lnTo>
                  <a:lnTo>
                    <a:pt x="747" y="679"/>
                  </a:lnTo>
                  <a:lnTo>
                    <a:pt x="733" y="675"/>
                  </a:lnTo>
                  <a:lnTo>
                    <a:pt x="684" y="648"/>
                  </a:lnTo>
                  <a:lnTo>
                    <a:pt x="613" y="786"/>
                  </a:lnTo>
                  <a:lnTo>
                    <a:pt x="551" y="755"/>
                  </a:lnTo>
                  <a:lnTo>
                    <a:pt x="484" y="897"/>
                  </a:lnTo>
                  <a:lnTo>
                    <a:pt x="458" y="963"/>
                  </a:lnTo>
                  <a:lnTo>
                    <a:pt x="400" y="1043"/>
                  </a:lnTo>
                  <a:lnTo>
                    <a:pt x="391" y="1119"/>
                  </a:lnTo>
                  <a:lnTo>
                    <a:pt x="342" y="1159"/>
                  </a:lnTo>
                  <a:lnTo>
                    <a:pt x="316" y="1212"/>
                  </a:lnTo>
                  <a:lnTo>
                    <a:pt x="276" y="1261"/>
                  </a:lnTo>
                  <a:lnTo>
                    <a:pt x="276" y="1323"/>
                  </a:lnTo>
                  <a:lnTo>
                    <a:pt x="222" y="1367"/>
                  </a:lnTo>
                  <a:lnTo>
                    <a:pt x="214" y="1456"/>
                  </a:lnTo>
                  <a:lnTo>
                    <a:pt x="174" y="1532"/>
                  </a:lnTo>
                  <a:lnTo>
                    <a:pt x="36" y="1629"/>
                  </a:lnTo>
                  <a:lnTo>
                    <a:pt x="5" y="1612"/>
                  </a:lnTo>
                  <a:lnTo>
                    <a:pt x="0" y="1443"/>
                  </a:lnTo>
                  <a:close/>
                </a:path>
              </a:pathLst>
            </a:custGeom>
            <a:solidFill>
              <a:schemeClr val="bg1"/>
            </a:solidFill>
            <a:ln w="6350" cap="sq" cmpd="sng">
              <a:solidFill>
                <a:srgbClr val="000000"/>
              </a:solidFill>
              <a:prstDash val="solid"/>
              <a:miter lim="800000"/>
              <a:headEnd type="none" w="med" len="med"/>
              <a:tailEnd type="none" w="med" len="med"/>
            </a:ln>
            <a:effectLst>
              <a:outerShdw dist="28398" dir="3806097" algn="ctr" rotWithShape="0">
                <a:srgbClr val="808080"/>
              </a:outerShdw>
            </a:effectLst>
          </p:spPr>
          <p:txBody>
            <a:bodyPr/>
            <a:lstStyle/>
            <a:p>
              <a:endParaRPr lang="fr-FR"/>
            </a:p>
          </p:txBody>
        </p:sp>
        <p:sp>
          <p:nvSpPr>
            <p:cNvPr id="147486" name="Freeform 30"/>
            <p:cNvSpPr>
              <a:spLocks/>
            </p:cNvSpPr>
            <p:nvPr/>
          </p:nvSpPr>
          <p:spPr bwMode="auto">
            <a:xfrm>
              <a:off x="2750" y="2159"/>
              <a:ext cx="1004" cy="1261"/>
            </a:xfrm>
            <a:custGeom>
              <a:avLst/>
              <a:gdLst/>
              <a:ahLst/>
              <a:cxnLst>
                <a:cxn ang="0">
                  <a:pos x="609" y="679"/>
                </a:cxn>
                <a:cxn ang="0">
                  <a:pos x="662" y="711"/>
                </a:cxn>
                <a:cxn ang="0">
                  <a:pos x="680" y="711"/>
                </a:cxn>
                <a:cxn ang="0">
                  <a:pos x="702" y="706"/>
                </a:cxn>
                <a:cxn ang="0">
                  <a:pos x="729" y="688"/>
                </a:cxn>
                <a:cxn ang="0">
                  <a:pos x="978" y="391"/>
                </a:cxn>
                <a:cxn ang="0">
                  <a:pos x="991" y="369"/>
                </a:cxn>
                <a:cxn ang="0">
                  <a:pos x="995" y="346"/>
                </a:cxn>
                <a:cxn ang="0">
                  <a:pos x="991" y="324"/>
                </a:cxn>
                <a:cxn ang="0">
                  <a:pos x="1004" y="200"/>
                </a:cxn>
                <a:cxn ang="0">
                  <a:pos x="724" y="49"/>
                </a:cxn>
                <a:cxn ang="0">
                  <a:pos x="946" y="289"/>
                </a:cxn>
                <a:cxn ang="0">
                  <a:pos x="716" y="44"/>
                </a:cxn>
                <a:cxn ang="0">
                  <a:pos x="747" y="18"/>
                </a:cxn>
                <a:cxn ang="0">
                  <a:pos x="613" y="62"/>
                </a:cxn>
                <a:cxn ang="0">
                  <a:pos x="591" y="58"/>
                </a:cxn>
                <a:cxn ang="0">
                  <a:pos x="569" y="67"/>
                </a:cxn>
                <a:cxn ang="0">
                  <a:pos x="551" y="84"/>
                </a:cxn>
                <a:cxn ang="0">
                  <a:pos x="533" y="102"/>
                </a:cxn>
                <a:cxn ang="0">
                  <a:pos x="351" y="426"/>
                </a:cxn>
                <a:cxn ang="0">
                  <a:pos x="342" y="457"/>
                </a:cxn>
                <a:cxn ang="0">
                  <a:pos x="342" y="484"/>
                </a:cxn>
                <a:cxn ang="0">
                  <a:pos x="356" y="502"/>
                </a:cxn>
                <a:cxn ang="0">
                  <a:pos x="400" y="537"/>
                </a:cxn>
                <a:cxn ang="0">
                  <a:pos x="356" y="666"/>
                </a:cxn>
                <a:cxn ang="0">
                  <a:pos x="45" y="1261"/>
                </a:cxn>
                <a:cxn ang="0">
                  <a:pos x="227" y="1150"/>
                </a:cxn>
                <a:cxn ang="0">
                  <a:pos x="240" y="1079"/>
                </a:cxn>
                <a:cxn ang="0">
                  <a:pos x="316" y="1039"/>
                </a:cxn>
                <a:cxn ang="0">
                  <a:pos x="347" y="946"/>
                </a:cxn>
                <a:cxn ang="0">
                  <a:pos x="405" y="879"/>
                </a:cxn>
                <a:cxn ang="0">
                  <a:pos x="538" y="786"/>
                </a:cxn>
              </a:cxnLst>
              <a:rect l="0" t="0" r="r" b="b"/>
              <a:pathLst>
                <a:path w="1004" h="1261">
                  <a:moveTo>
                    <a:pt x="538" y="786"/>
                  </a:moveTo>
                  <a:lnTo>
                    <a:pt x="609" y="679"/>
                  </a:lnTo>
                  <a:lnTo>
                    <a:pt x="649" y="706"/>
                  </a:lnTo>
                  <a:lnTo>
                    <a:pt x="662" y="711"/>
                  </a:lnTo>
                  <a:lnTo>
                    <a:pt x="671" y="711"/>
                  </a:lnTo>
                  <a:lnTo>
                    <a:pt x="680" y="711"/>
                  </a:lnTo>
                  <a:lnTo>
                    <a:pt x="693" y="711"/>
                  </a:lnTo>
                  <a:lnTo>
                    <a:pt x="702" y="706"/>
                  </a:lnTo>
                  <a:lnTo>
                    <a:pt x="716" y="697"/>
                  </a:lnTo>
                  <a:lnTo>
                    <a:pt x="729" y="688"/>
                  </a:lnTo>
                  <a:lnTo>
                    <a:pt x="964" y="409"/>
                  </a:lnTo>
                  <a:lnTo>
                    <a:pt x="978" y="391"/>
                  </a:lnTo>
                  <a:lnTo>
                    <a:pt x="986" y="377"/>
                  </a:lnTo>
                  <a:lnTo>
                    <a:pt x="991" y="369"/>
                  </a:lnTo>
                  <a:lnTo>
                    <a:pt x="995" y="355"/>
                  </a:lnTo>
                  <a:lnTo>
                    <a:pt x="995" y="346"/>
                  </a:lnTo>
                  <a:lnTo>
                    <a:pt x="995" y="338"/>
                  </a:lnTo>
                  <a:lnTo>
                    <a:pt x="991" y="324"/>
                  </a:lnTo>
                  <a:lnTo>
                    <a:pt x="978" y="315"/>
                  </a:lnTo>
                  <a:lnTo>
                    <a:pt x="1004" y="200"/>
                  </a:lnTo>
                  <a:lnTo>
                    <a:pt x="747" y="18"/>
                  </a:lnTo>
                  <a:lnTo>
                    <a:pt x="724" y="49"/>
                  </a:lnTo>
                  <a:lnTo>
                    <a:pt x="960" y="213"/>
                  </a:lnTo>
                  <a:lnTo>
                    <a:pt x="946" y="289"/>
                  </a:lnTo>
                  <a:lnTo>
                    <a:pt x="658" y="89"/>
                  </a:lnTo>
                  <a:lnTo>
                    <a:pt x="716" y="44"/>
                  </a:lnTo>
                  <a:lnTo>
                    <a:pt x="724" y="49"/>
                  </a:lnTo>
                  <a:lnTo>
                    <a:pt x="747" y="18"/>
                  </a:lnTo>
                  <a:lnTo>
                    <a:pt x="720" y="0"/>
                  </a:lnTo>
                  <a:lnTo>
                    <a:pt x="613" y="62"/>
                  </a:lnTo>
                  <a:lnTo>
                    <a:pt x="600" y="58"/>
                  </a:lnTo>
                  <a:lnTo>
                    <a:pt x="591" y="58"/>
                  </a:lnTo>
                  <a:lnTo>
                    <a:pt x="582" y="62"/>
                  </a:lnTo>
                  <a:lnTo>
                    <a:pt x="569" y="67"/>
                  </a:lnTo>
                  <a:lnTo>
                    <a:pt x="560" y="75"/>
                  </a:lnTo>
                  <a:lnTo>
                    <a:pt x="551" y="84"/>
                  </a:lnTo>
                  <a:lnTo>
                    <a:pt x="538" y="98"/>
                  </a:lnTo>
                  <a:lnTo>
                    <a:pt x="533" y="102"/>
                  </a:lnTo>
                  <a:lnTo>
                    <a:pt x="360" y="409"/>
                  </a:lnTo>
                  <a:lnTo>
                    <a:pt x="351" y="426"/>
                  </a:lnTo>
                  <a:lnTo>
                    <a:pt x="347" y="440"/>
                  </a:lnTo>
                  <a:lnTo>
                    <a:pt x="342" y="457"/>
                  </a:lnTo>
                  <a:lnTo>
                    <a:pt x="342" y="471"/>
                  </a:lnTo>
                  <a:lnTo>
                    <a:pt x="342" y="484"/>
                  </a:lnTo>
                  <a:lnTo>
                    <a:pt x="347" y="497"/>
                  </a:lnTo>
                  <a:lnTo>
                    <a:pt x="356" y="502"/>
                  </a:lnTo>
                  <a:lnTo>
                    <a:pt x="360" y="511"/>
                  </a:lnTo>
                  <a:lnTo>
                    <a:pt x="400" y="537"/>
                  </a:lnTo>
                  <a:lnTo>
                    <a:pt x="325" y="644"/>
                  </a:lnTo>
                  <a:lnTo>
                    <a:pt x="356" y="666"/>
                  </a:lnTo>
                  <a:lnTo>
                    <a:pt x="0" y="1195"/>
                  </a:lnTo>
                  <a:lnTo>
                    <a:pt x="45" y="1261"/>
                  </a:lnTo>
                  <a:lnTo>
                    <a:pt x="183" y="1208"/>
                  </a:lnTo>
                  <a:lnTo>
                    <a:pt x="227" y="1150"/>
                  </a:lnTo>
                  <a:lnTo>
                    <a:pt x="263" y="1124"/>
                  </a:lnTo>
                  <a:lnTo>
                    <a:pt x="240" y="1079"/>
                  </a:lnTo>
                  <a:lnTo>
                    <a:pt x="271" y="1044"/>
                  </a:lnTo>
                  <a:lnTo>
                    <a:pt x="316" y="1039"/>
                  </a:lnTo>
                  <a:lnTo>
                    <a:pt x="338" y="1008"/>
                  </a:lnTo>
                  <a:lnTo>
                    <a:pt x="347" y="946"/>
                  </a:lnTo>
                  <a:lnTo>
                    <a:pt x="396" y="924"/>
                  </a:lnTo>
                  <a:lnTo>
                    <a:pt x="405" y="879"/>
                  </a:lnTo>
                  <a:lnTo>
                    <a:pt x="489" y="751"/>
                  </a:lnTo>
                  <a:lnTo>
                    <a:pt x="538" y="786"/>
                  </a:lnTo>
                  <a:close/>
                </a:path>
              </a:pathLst>
            </a:custGeom>
            <a:solidFill>
              <a:schemeClr val="bg1"/>
            </a:solidFill>
            <a:ln w="6350" cap="sq" cmpd="sng">
              <a:solidFill>
                <a:srgbClr val="000000"/>
              </a:solidFill>
              <a:prstDash val="solid"/>
              <a:miter lim="800000"/>
              <a:headEnd type="none" w="med" len="med"/>
              <a:tailEnd type="none" w="med" len="med"/>
            </a:ln>
            <a:effectLst>
              <a:outerShdw dist="25400" dir="5400000" algn="ctr" rotWithShape="0">
                <a:srgbClr val="808080"/>
              </a:outerShdw>
            </a:effectLst>
          </p:spPr>
          <p:txBody>
            <a:bodyPr/>
            <a:lstStyle/>
            <a:p>
              <a:endParaRPr lang="fr-FR"/>
            </a:p>
          </p:txBody>
        </p:sp>
        <p:sp>
          <p:nvSpPr>
            <p:cNvPr id="147487" name="Freeform 31"/>
            <p:cNvSpPr>
              <a:spLocks/>
            </p:cNvSpPr>
            <p:nvPr/>
          </p:nvSpPr>
          <p:spPr bwMode="auto">
            <a:xfrm>
              <a:off x="2240" y="2004"/>
              <a:ext cx="1266" cy="1025"/>
            </a:xfrm>
            <a:custGeom>
              <a:avLst/>
              <a:gdLst/>
              <a:ahLst/>
              <a:cxnLst>
                <a:cxn ang="0">
                  <a:pos x="790" y="626"/>
                </a:cxn>
                <a:cxn ang="0">
                  <a:pos x="924" y="586"/>
                </a:cxn>
                <a:cxn ang="0">
                  <a:pos x="941" y="604"/>
                </a:cxn>
                <a:cxn ang="0">
                  <a:pos x="963" y="604"/>
                </a:cxn>
                <a:cxn ang="0">
                  <a:pos x="995" y="581"/>
                </a:cxn>
                <a:cxn ang="0">
                  <a:pos x="1097" y="595"/>
                </a:cxn>
                <a:cxn ang="0">
                  <a:pos x="1141" y="630"/>
                </a:cxn>
                <a:cxn ang="0">
                  <a:pos x="1168" y="626"/>
                </a:cxn>
                <a:cxn ang="0">
                  <a:pos x="1186" y="617"/>
                </a:cxn>
                <a:cxn ang="0">
                  <a:pos x="1212" y="595"/>
                </a:cxn>
                <a:cxn ang="0">
                  <a:pos x="1230" y="564"/>
                </a:cxn>
                <a:cxn ang="0">
                  <a:pos x="1199" y="510"/>
                </a:cxn>
                <a:cxn ang="0">
                  <a:pos x="1203" y="404"/>
                </a:cxn>
                <a:cxn ang="0">
                  <a:pos x="1208" y="270"/>
                </a:cxn>
                <a:cxn ang="0">
                  <a:pos x="1194" y="62"/>
                </a:cxn>
                <a:cxn ang="0">
                  <a:pos x="1217" y="155"/>
                </a:cxn>
                <a:cxn ang="0">
                  <a:pos x="1137" y="173"/>
                </a:cxn>
                <a:cxn ang="0">
                  <a:pos x="1177" y="102"/>
                </a:cxn>
                <a:cxn ang="0">
                  <a:pos x="1194" y="62"/>
                </a:cxn>
                <a:cxn ang="0">
                  <a:pos x="1026" y="35"/>
                </a:cxn>
                <a:cxn ang="0">
                  <a:pos x="901" y="17"/>
                </a:cxn>
                <a:cxn ang="0">
                  <a:pos x="808" y="4"/>
                </a:cxn>
                <a:cxn ang="0">
                  <a:pos x="777" y="0"/>
                </a:cxn>
                <a:cxn ang="0">
                  <a:pos x="759" y="8"/>
                </a:cxn>
                <a:cxn ang="0">
                  <a:pos x="737" y="22"/>
                </a:cxn>
                <a:cxn ang="0">
                  <a:pos x="710" y="53"/>
                </a:cxn>
                <a:cxn ang="0">
                  <a:pos x="706" y="84"/>
                </a:cxn>
                <a:cxn ang="0">
                  <a:pos x="693" y="164"/>
                </a:cxn>
                <a:cxn ang="0">
                  <a:pos x="688" y="239"/>
                </a:cxn>
                <a:cxn ang="0">
                  <a:pos x="679" y="257"/>
                </a:cxn>
                <a:cxn ang="0">
                  <a:pos x="684" y="284"/>
                </a:cxn>
                <a:cxn ang="0">
                  <a:pos x="595" y="368"/>
                </a:cxn>
                <a:cxn ang="0">
                  <a:pos x="510" y="497"/>
                </a:cxn>
                <a:cxn ang="0">
                  <a:pos x="0" y="946"/>
                </a:cxn>
                <a:cxn ang="0">
                  <a:pos x="182" y="1021"/>
                </a:cxn>
                <a:cxn ang="0">
                  <a:pos x="288" y="959"/>
                </a:cxn>
                <a:cxn ang="0">
                  <a:pos x="319" y="883"/>
                </a:cxn>
                <a:cxn ang="0">
                  <a:pos x="404" y="866"/>
                </a:cxn>
                <a:cxn ang="0">
                  <a:pos x="515" y="759"/>
                </a:cxn>
                <a:cxn ang="0">
                  <a:pos x="679" y="706"/>
                </a:cxn>
              </a:cxnLst>
              <a:rect l="0" t="0" r="r" b="b"/>
              <a:pathLst>
                <a:path w="1266" h="1025">
                  <a:moveTo>
                    <a:pt x="679" y="706"/>
                  </a:moveTo>
                  <a:lnTo>
                    <a:pt x="790" y="626"/>
                  </a:lnTo>
                  <a:lnTo>
                    <a:pt x="821" y="666"/>
                  </a:lnTo>
                  <a:lnTo>
                    <a:pt x="924" y="586"/>
                  </a:lnTo>
                  <a:lnTo>
                    <a:pt x="932" y="595"/>
                  </a:lnTo>
                  <a:lnTo>
                    <a:pt x="941" y="604"/>
                  </a:lnTo>
                  <a:lnTo>
                    <a:pt x="955" y="608"/>
                  </a:lnTo>
                  <a:lnTo>
                    <a:pt x="963" y="604"/>
                  </a:lnTo>
                  <a:lnTo>
                    <a:pt x="972" y="599"/>
                  </a:lnTo>
                  <a:lnTo>
                    <a:pt x="995" y="581"/>
                  </a:lnTo>
                  <a:lnTo>
                    <a:pt x="1043" y="617"/>
                  </a:lnTo>
                  <a:lnTo>
                    <a:pt x="1097" y="595"/>
                  </a:lnTo>
                  <a:lnTo>
                    <a:pt x="1128" y="626"/>
                  </a:lnTo>
                  <a:lnTo>
                    <a:pt x="1141" y="630"/>
                  </a:lnTo>
                  <a:lnTo>
                    <a:pt x="1159" y="630"/>
                  </a:lnTo>
                  <a:lnTo>
                    <a:pt x="1168" y="626"/>
                  </a:lnTo>
                  <a:lnTo>
                    <a:pt x="1177" y="621"/>
                  </a:lnTo>
                  <a:lnTo>
                    <a:pt x="1186" y="617"/>
                  </a:lnTo>
                  <a:lnTo>
                    <a:pt x="1194" y="608"/>
                  </a:lnTo>
                  <a:lnTo>
                    <a:pt x="1212" y="595"/>
                  </a:lnTo>
                  <a:lnTo>
                    <a:pt x="1221" y="577"/>
                  </a:lnTo>
                  <a:lnTo>
                    <a:pt x="1230" y="564"/>
                  </a:lnTo>
                  <a:lnTo>
                    <a:pt x="1230" y="546"/>
                  </a:lnTo>
                  <a:lnTo>
                    <a:pt x="1199" y="510"/>
                  </a:lnTo>
                  <a:lnTo>
                    <a:pt x="1239" y="444"/>
                  </a:lnTo>
                  <a:lnTo>
                    <a:pt x="1203" y="404"/>
                  </a:lnTo>
                  <a:lnTo>
                    <a:pt x="1248" y="324"/>
                  </a:lnTo>
                  <a:lnTo>
                    <a:pt x="1208" y="270"/>
                  </a:lnTo>
                  <a:lnTo>
                    <a:pt x="1266" y="155"/>
                  </a:lnTo>
                  <a:lnTo>
                    <a:pt x="1194" y="62"/>
                  </a:lnTo>
                  <a:lnTo>
                    <a:pt x="1181" y="111"/>
                  </a:lnTo>
                  <a:lnTo>
                    <a:pt x="1217" y="155"/>
                  </a:lnTo>
                  <a:lnTo>
                    <a:pt x="1177" y="222"/>
                  </a:lnTo>
                  <a:lnTo>
                    <a:pt x="1137" y="173"/>
                  </a:lnTo>
                  <a:lnTo>
                    <a:pt x="1101" y="128"/>
                  </a:lnTo>
                  <a:lnTo>
                    <a:pt x="1177" y="102"/>
                  </a:lnTo>
                  <a:lnTo>
                    <a:pt x="1181" y="111"/>
                  </a:lnTo>
                  <a:lnTo>
                    <a:pt x="1194" y="62"/>
                  </a:lnTo>
                  <a:lnTo>
                    <a:pt x="1066" y="84"/>
                  </a:lnTo>
                  <a:lnTo>
                    <a:pt x="1026" y="35"/>
                  </a:lnTo>
                  <a:lnTo>
                    <a:pt x="937" y="62"/>
                  </a:lnTo>
                  <a:lnTo>
                    <a:pt x="901" y="17"/>
                  </a:lnTo>
                  <a:lnTo>
                    <a:pt x="835" y="39"/>
                  </a:lnTo>
                  <a:lnTo>
                    <a:pt x="808" y="4"/>
                  </a:lnTo>
                  <a:lnTo>
                    <a:pt x="795" y="0"/>
                  </a:lnTo>
                  <a:lnTo>
                    <a:pt x="777" y="0"/>
                  </a:lnTo>
                  <a:lnTo>
                    <a:pt x="768" y="4"/>
                  </a:lnTo>
                  <a:lnTo>
                    <a:pt x="759" y="8"/>
                  </a:lnTo>
                  <a:lnTo>
                    <a:pt x="746" y="17"/>
                  </a:lnTo>
                  <a:lnTo>
                    <a:pt x="737" y="22"/>
                  </a:lnTo>
                  <a:lnTo>
                    <a:pt x="724" y="35"/>
                  </a:lnTo>
                  <a:lnTo>
                    <a:pt x="710" y="53"/>
                  </a:lnTo>
                  <a:lnTo>
                    <a:pt x="701" y="71"/>
                  </a:lnTo>
                  <a:lnTo>
                    <a:pt x="706" y="84"/>
                  </a:lnTo>
                  <a:lnTo>
                    <a:pt x="724" y="119"/>
                  </a:lnTo>
                  <a:lnTo>
                    <a:pt x="693" y="164"/>
                  </a:lnTo>
                  <a:lnTo>
                    <a:pt x="710" y="222"/>
                  </a:lnTo>
                  <a:lnTo>
                    <a:pt x="688" y="239"/>
                  </a:lnTo>
                  <a:lnTo>
                    <a:pt x="679" y="248"/>
                  </a:lnTo>
                  <a:lnTo>
                    <a:pt x="679" y="257"/>
                  </a:lnTo>
                  <a:lnTo>
                    <a:pt x="679" y="270"/>
                  </a:lnTo>
                  <a:lnTo>
                    <a:pt x="684" y="284"/>
                  </a:lnTo>
                  <a:lnTo>
                    <a:pt x="693" y="293"/>
                  </a:lnTo>
                  <a:lnTo>
                    <a:pt x="595" y="368"/>
                  </a:lnTo>
                  <a:lnTo>
                    <a:pt x="626" y="413"/>
                  </a:lnTo>
                  <a:lnTo>
                    <a:pt x="510" y="497"/>
                  </a:lnTo>
                  <a:lnTo>
                    <a:pt x="533" y="524"/>
                  </a:lnTo>
                  <a:lnTo>
                    <a:pt x="0" y="946"/>
                  </a:lnTo>
                  <a:lnTo>
                    <a:pt x="22" y="1025"/>
                  </a:lnTo>
                  <a:lnTo>
                    <a:pt x="182" y="1021"/>
                  </a:lnTo>
                  <a:lnTo>
                    <a:pt x="244" y="977"/>
                  </a:lnTo>
                  <a:lnTo>
                    <a:pt x="288" y="959"/>
                  </a:lnTo>
                  <a:lnTo>
                    <a:pt x="284" y="910"/>
                  </a:lnTo>
                  <a:lnTo>
                    <a:pt x="319" y="883"/>
                  </a:lnTo>
                  <a:lnTo>
                    <a:pt x="373" y="892"/>
                  </a:lnTo>
                  <a:lnTo>
                    <a:pt x="404" y="866"/>
                  </a:lnTo>
                  <a:lnTo>
                    <a:pt x="435" y="808"/>
                  </a:lnTo>
                  <a:lnTo>
                    <a:pt x="515" y="759"/>
                  </a:lnTo>
                  <a:lnTo>
                    <a:pt x="644" y="657"/>
                  </a:lnTo>
                  <a:lnTo>
                    <a:pt x="679" y="706"/>
                  </a:lnTo>
                  <a:close/>
                </a:path>
              </a:pathLst>
            </a:custGeom>
            <a:solidFill>
              <a:schemeClr val="bg1"/>
            </a:solidFill>
            <a:ln w="6350" cap="sq" cmpd="sng">
              <a:solidFill>
                <a:srgbClr val="000000"/>
              </a:solidFill>
              <a:prstDash val="solid"/>
              <a:miter lim="800000"/>
              <a:headEnd type="none" w="med" len="med"/>
              <a:tailEnd type="none" w="med" len="med"/>
            </a:ln>
            <a:effectLst>
              <a:outerShdw dist="28398" dir="6993903" algn="ctr" rotWithShape="0">
                <a:srgbClr val="808080"/>
              </a:outerShdw>
            </a:effectLst>
          </p:spPr>
          <p:txBody>
            <a:bodyPr/>
            <a:lstStyle/>
            <a:p>
              <a:endParaRPr lang="fr-FR"/>
            </a:p>
          </p:txBody>
        </p:sp>
        <p:sp>
          <p:nvSpPr>
            <p:cNvPr id="147488" name="Freeform 32"/>
            <p:cNvSpPr>
              <a:spLocks/>
            </p:cNvSpPr>
            <p:nvPr/>
          </p:nvSpPr>
          <p:spPr bwMode="auto">
            <a:xfrm>
              <a:off x="3381" y="1471"/>
              <a:ext cx="58" cy="746"/>
            </a:xfrm>
            <a:custGeom>
              <a:avLst/>
              <a:gdLst/>
              <a:ahLst/>
              <a:cxnLst>
                <a:cxn ang="0">
                  <a:pos x="58" y="8"/>
                </a:cxn>
                <a:cxn ang="0">
                  <a:pos x="0" y="0"/>
                </a:cxn>
                <a:cxn ang="0">
                  <a:pos x="0" y="461"/>
                </a:cxn>
                <a:cxn ang="0">
                  <a:pos x="0" y="710"/>
                </a:cxn>
                <a:cxn ang="0">
                  <a:pos x="27" y="746"/>
                </a:cxn>
                <a:cxn ang="0">
                  <a:pos x="58" y="710"/>
                </a:cxn>
                <a:cxn ang="0">
                  <a:pos x="58" y="8"/>
                </a:cxn>
              </a:cxnLst>
              <a:rect l="0" t="0" r="r" b="b"/>
              <a:pathLst>
                <a:path w="58" h="746">
                  <a:moveTo>
                    <a:pt x="58" y="8"/>
                  </a:moveTo>
                  <a:lnTo>
                    <a:pt x="0" y="0"/>
                  </a:lnTo>
                  <a:lnTo>
                    <a:pt x="0" y="461"/>
                  </a:lnTo>
                  <a:lnTo>
                    <a:pt x="0" y="710"/>
                  </a:lnTo>
                  <a:lnTo>
                    <a:pt x="27" y="746"/>
                  </a:lnTo>
                  <a:lnTo>
                    <a:pt x="58" y="710"/>
                  </a:lnTo>
                  <a:lnTo>
                    <a:pt x="58" y="8"/>
                  </a:lnTo>
                  <a:close/>
                </a:path>
              </a:pathLst>
            </a:custGeom>
            <a:solidFill>
              <a:srgbClr val="C0C0C0"/>
            </a:solidFill>
            <a:ln w="0" cap="sq" cmpd="sng">
              <a:solidFill>
                <a:srgbClr val="000000"/>
              </a:solidFill>
              <a:prstDash val="solid"/>
              <a:miter lim="800000"/>
              <a:headEnd type="none" w="med" len="med"/>
              <a:tailEnd type="none" w="med" len="med"/>
            </a:ln>
            <a:effectLst/>
          </p:spPr>
          <p:txBody>
            <a:bodyPr/>
            <a:lstStyle/>
            <a:p>
              <a:endParaRPr lang="fr-FR"/>
            </a:p>
          </p:txBody>
        </p:sp>
        <p:sp>
          <p:nvSpPr>
            <p:cNvPr id="147489" name="Freeform 33"/>
            <p:cNvSpPr>
              <a:spLocks/>
            </p:cNvSpPr>
            <p:nvPr/>
          </p:nvSpPr>
          <p:spPr bwMode="auto">
            <a:xfrm>
              <a:off x="3359" y="1594"/>
              <a:ext cx="107" cy="187"/>
            </a:xfrm>
            <a:custGeom>
              <a:avLst/>
              <a:gdLst/>
              <a:ahLst/>
              <a:cxnLst>
                <a:cxn ang="0">
                  <a:pos x="9" y="0"/>
                </a:cxn>
                <a:cxn ang="0">
                  <a:pos x="94" y="0"/>
                </a:cxn>
                <a:cxn ang="0">
                  <a:pos x="107" y="5"/>
                </a:cxn>
                <a:cxn ang="0">
                  <a:pos x="107" y="178"/>
                </a:cxn>
                <a:cxn ang="0">
                  <a:pos x="103" y="187"/>
                </a:cxn>
                <a:cxn ang="0">
                  <a:pos x="9" y="187"/>
                </a:cxn>
                <a:cxn ang="0">
                  <a:pos x="0" y="183"/>
                </a:cxn>
                <a:cxn ang="0">
                  <a:pos x="0" y="178"/>
                </a:cxn>
                <a:cxn ang="0">
                  <a:pos x="0" y="9"/>
                </a:cxn>
                <a:cxn ang="0">
                  <a:pos x="5" y="0"/>
                </a:cxn>
                <a:cxn ang="0">
                  <a:pos x="9" y="0"/>
                </a:cxn>
              </a:cxnLst>
              <a:rect l="0" t="0" r="r" b="b"/>
              <a:pathLst>
                <a:path w="107" h="187">
                  <a:moveTo>
                    <a:pt x="9" y="0"/>
                  </a:moveTo>
                  <a:lnTo>
                    <a:pt x="94" y="0"/>
                  </a:lnTo>
                  <a:lnTo>
                    <a:pt x="107" y="5"/>
                  </a:lnTo>
                  <a:lnTo>
                    <a:pt x="107" y="178"/>
                  </a:lnTo>
                  <a:lnTo>
                    <a:pt x="103" y="187"/>
                  </a:lnTo>
                  <a:lnTo>
                    <a:pt x="9" y="187"/>
                  </a:lnTo>
                  <a:lnTo>
                    <a:pt x="0" y="183"/>
                  </a:lnTo>
                  <a:lnTo>
                    <a:pt x="0" y="178"/>
                  </a:lnTo>
                  <a:lnTo>
                    <a:pt x="0" y="9"/>
                  </a:lnTo>
                  <a:lnTo>
                    <a:pt x="5" y="0"/>
                  </a:lnTo>
                  <a:lnTo>
                    <a:pt x="9" y="0"/>
                  </a:lnTo>
                  <a:close/>
                </a:path>
              </a:pathLst>
            </a:custGeom>
            <a:solidFill>
              <a:srgbClr val="ABABAB"/>
            </a:solidFill>
            <a:ln w="0" cap="sq">
              <a:solidFill>
                <a:srgbClr val="000000"/>
              </a:solidFill>
              <a:prstDash val="solid"/>
              <a:miter lim="800000"/>
              <a:headEnd/>
              <a:tailEnd/>
            </a:ln>
          </p:spPr>
          <p:txBody>
            <a:bodyPr/>
            <a:lstStyle/>
            <a:p>
              <a:endParaRPr lang="fr-FR"/>
            </a:p>
          </p:txBody>
        </p:sp>
        <p:sp>
          <p:nvSpPr>
            <p:cNvPr id="147490" name="Freeform 34"/>
            <p:cNvSpPr>
              <a:spLocks/>
            </p:cNvSpPr>
            <p:nvPr/>
          </p:nvSpPr>
          <p:spPr bwMode="auto">
            <a:xfrm>
              <a:off x="3386" y="1360"/>
              <a:ext cx="199" cy="843"/>
            </a:xfrm>
            <a:custGeom>
              <a:avLst/>
              <a:gdLst/>
              <a:ahLst/>
              <a:cxnLst>
                <a:cxn ang="0">
                  <a:pos x="53" y="71"/>
                </a:cxn>
                <a:cxn ang="0">
                  <a:pos x="0" y="62"/>
                </a:cxn>
                <a:cxn ang="0">
                  <a:pos x="4" y="48"/>
                </a:cxn>
                <a:cxn ang="0">
                  <a:pos x="17" y="35"/>
                </a:cxn>
                <a:cxn ang="0">
                  <a:pos x="26" y="22"/>
                </a:cxn>
                <a:cxn ang="0">
                  <a:pos x="35" y="13"/>
                </a:cxn>
                <a:cxn ang="0">
                  <a:pos x="53" y="8"/>
                </a:cxn>
                <a:cxn ang="0">
                  <a:pos x="66" y="4"/>
                </a:cxn>
                <a:cxn ang="0">
                  <a:pos x="80" y="0"/>
                </a:cxn>
                <a:cxn ang="0">
                  <a:pos x="97" y="0"/>
                </a:cxn>
                <a:cxn ang="0">
                  <a:pos x="106" y="0"/>
                </a:cxn>
                <a:cxn ang="0">
                  <a:pos x="115" y="0"/>
                </a:cxn>
                <a:cxn ang="0">
                  <a:pos x="128" y="4"/>
                </a:cxn>
                <a:cxn ang="0">
                  <a:pos x="137" y="8"/>
                </a:cxn>
                <a:cxn ang="0">
                  <a:pos x="155" y="17"/>
                </a:cxn>
                <a:cxn ang="0">
                  <a:pos x="168" y="31"/>
                </a:cxn>
                <a:cxn ang="0">
                  <a:pos x="182" y="44"/>
                </a:cxn>
                <a:cxn ang="0">
                  <a:pos x="191" y="62"/>
                </a:cxn>
                <a:cxn ang="0">
                  <a:pos x="195" y="75"/>
                </a:cxn>
                <a:cxn ang="0">
                  <a:pos x="195" y="84"/>
                </a:cxn>
                <a:cxn ang="0">
                  <a:pos x="199" y="93"/>
                </a:cxn>
                <a:cxn ang="0">
                  <a:pos x="199" y="102"/>
                </a:cxn>
                <a:cxn ang="0">
                  <a:pos x="199" y="435"/>
                </a:cxn>
                <a:cxn ang="0">
                  <a:pos x="199" y="781"/>
                </a:cxn>
                <a:cxn ang="0">
                  <a:pos x="195" y="790"/>
                </a:cxn>
                <a:cxn ang="0">
                  <a:pos x="195" y="799"/>
                </a:cxn>
                <a:cxn ang="0">
                  <a:pos x="191" y="812"/>
                </a:cxn>
                <a:cxn ang="0">
                  <a:pos x="186" y="826"/>
                </a:cxn>
                <a:cxn ang="0">
                  <a:pos x="182" y="835"/>
                </a:cxn>
                <a:cxn ang="0">
                  <a:pos x="177" y="843"/>
                </a:cxn>
                <a:cxn ang="0">
                  <a:pos x="146" y="821"/>
                </a:cxn>
                <a:cxn ang="0">
                  <a:pos x="146" y="97"/>
                </a:cxn>
                <a:cxn ang="0">
                  <a:pos x="142" y="88"/>
                </a:cxn>
                <a:cxn ang="0">
                  <a:pos x="142" y="79"/>
                </a:cxn>
                <a:cxn ang="0">
                  <a:pos x="128" y="66"/>
                </a:cxn>
                <a:cxn ang="0">
                  <a:pos x="115" y="57"/>
                </a:cxn>
                <a:cxn ang="0">
                  <a:pos x="102" y="53"/>
                </a:cxn>
                <a:cxn ang="0">
                  <a:pos x="84" y="53"/>
                </a:cxn>
                <a:cxn ang="0">
                  <a:pos x="71" y="57"/>
                </a:cxn>
                <a:cxn ang="0">
                  <a:pos x="57" y="62"/>
                </a:cxn>
                <a:cxn ang="0">
                  <a:pos x="53" y="71"/>
                </a:cxn>
              </a:cxnLst>
              <a:rect l="0" t="0" r="r" b="b"/>
              <a:pathLst>
                <a:path w="199" h="843">
                  <a:moveTo>
                    <a:pt x="53" y="71"/>
                  </a:moveTo>
                  <a:lnTo>
                    <a:pt x="0" y="62"/>
                  </a:lnTo>
                  <a:lnTo>
                    <a:pt x="4" y="48"/>
                  </a:lnTo>
                  <a:lnTo>
                    <a:pt x="17" y="35"/>
                  </a:lnTo>
                  <a:lnTo>
                    <a:pt x="26" y="22"/>
                  </a:lnTo>
                  <a:lnTo>
                    <a:pt x="35" y="13"/>
                  </a:lnTo>
                  <a:lnTo>
                    <a:pt x="53" y="8"/>
                  </a:lnTo>
                  <a:lnTo>
                    <a:pt x="66" y="4"/>
                  </a:lnTo>
                  <a:lnTo>
                    <a:pt x="80" y="0"/>
                  </a:lnTo>
                  <a:lnTo>
                    <a:pt x="97" y="0"/>
                  </a:lnTo>
                  <a:lnTo>
                    <a:pt x="106" y="0"/>
                  </a:lnTo>
                  <a:lnTo>
                    <a:pt x="115" y="0"/>
                  </a:lnTo>
                  <a:lnTo>
                    <a:pt x="128" y="4"/>
                  </a:lnTo>
                  <a:lnTo>
                    <a:pt x="137" y="8"/>
                  </a:lnTo>
                  <a:lnTo>
                    <a:pt x="155" y="17"/>
                  </a:lnTo>
                  <a:lnTo>
                    <a:pt x="168" y="31"/>
                  </a:lnTo>
                  <a:lnTo>
                    <a:pt x="182" y="44"/>
                  </a:lnTo>
                  <a:lnTo>
                    <a:pt x="191" y="62"/>
                  </a:lnTo>
                  <a:lnTo>
                    <a:pt x="195" y="75"/>
                  </a:lnTo>
                  <a:lnTo>
                    <a:pt x="195" y="84"/>
                  </a:lnTo>
                  <a:lnTo>
                    <a:pt x="199" y="93"/>
                  </a:lnTo>
                  <a:lnTo>
                    <a:pt x="199" y="102"/>
                  </a:lnTo>
                  <a:lnTo>
                    <a:pt x="199" y="435"/>
                  </a:lnTo>
                  <a:lnTo>
                    <a:pt x="199" y="781"/>
                  </a:lnTo>
                  <a:lnTo>
                    <a:pt x="195" y="790"/>
                  </a:lnTo>
                  <a:lnTo>
                    <a:pt x="195" y="799"/>
                  </a:lnTo>
                  <a:lnTo>
                    <a:pt x="191" y="812"/>
                  </a:lnTo>
                  <a:lnTo>
                    <a:pt x="186" y="826"/>
                  </a:lnTo>
                  <a:lnTo>
                    <a:pt x="182" y="835"/>
                  </a:lnTo>
                  <a:lnTo>
                    <a:pt x="177" y="843"/>
                  </a:lnTo>
                  <a:lnTo>
                    <a:pt x="146" y="821"/>
                  </a:lnTo>
                  <a:lnTo>
                    <a:pt x="146" y="97"/>
                  </a:lnTo>
                  <a:lnTo>
                    <a:pt x="142" y="88"/>
                  </a:lnTo>
                  <a:lnTo>
                    <a:pt x="142" y="79"/>
                  </a:lnTo>
                  <a:lnTo>
                    <a:pt x="128" y="66"/>
                  </a:lnTo>
                  <a:lnTo>
                    <a:pt x="115" y="57"/>
                  </a:lnTo>
                  <a:lnTo>
                    <a:pt x="102" y="53"/>
                  </a:lnTo>
                  <a:lnTo>
                    <a:pt x="84" y="53"/>
                  </a:lnTo>
                  <a:lnTo>
                    <a:pt x="71" y="57"/>
                  </a:lnTo>
                  <a:lnTo>
                    <a:pt x="57" y="62"/>
                  </a:lnTo>
                  <a:lnTo>
                    <a:pt x="53" y="71"/>
                  </a:lnTo>
                  <a:close/>
                </a:path>
              </a:pathLst>
            </a:custGeom>
            <a:solidFill>
              <a:srgbClr val="C0C0C0"/>
            </a:solidFill>
            <a:ln w="0" cap="sq">
              <a:solidFill>
                <a:srgbClr val="000000"/>
              </a:solidFill>
              <a:prstDash val="solid"/>
              <a:miter lim="800000"/>
              <a:headEnd/>
              <a:tailEnd/>
            </a:ln>
          </p:spPr>
          <p:txBody>
            <a:bodyPr/>
            <a:lstStyle/>
            <a:p>
              <a:endParaRPr lang="fr-FR"/>
            </a:p>
          </p:txBody>
        </p:sp>
      </p:grpSp>
      <p:sp>
        <p:nvSpPr>
          <p:cNvPr id="147491" name="Rectangle 35"/>
          <p:cNvSpPr>
            <a:spLocks noChangeArrowheads="1"/>
          </p:cNvSpPr>
          <p:nvPr/>
        </p:nvSpPr>
        <p:spPr bwMode="auto">
          <a:xfrm>
            <a:off x="248347" y="3995748"/>
            <a:ext cx="2943799" cy="1092200"/>
          </a:xfrm>
          <a:prstGeom prst="rect">
            <a:avLst/>
          </a:prstGeom>
          <a:gradFill rotWithShape="0">
            <a:gsLst>
              <a:gs pos="0">
                <a:srgbClr val="FCFEBC"/>
              </a:gs>
              <a:gs pos="100000">
                <a:srgbClr val="FFFFEB"/>
              </a:gs>
            </a:gsLst>
            <a:lin ang="5400000" scaled="1"/>
          </a:gradFill>
          <a:ln w="9525">
            <a:solidFill>
              <a:srgbClr val="969696"/>
            </a:solidFill>
            <a:miter lim="800000"/>
            <a:headEnd/>
            <a:tailEnd/>
          </a:ln>
          <a:effectLst>
            <a:outerShdw dist="35921" dir="2700000" algn="ctr" rotWithShape="0">
              <a:srgbClr val="969696"/>
            </a:outerShdw>
          </a:effectLst>
        </p:spPr>
        <p:txBody>
          <a:bodyPr/>
          <a:lstStyle/>
          <a:p>
            <a:endParaRPr lang="fr-FR" sz="1800" b="1">
              <a:latin typeface="Arial" charset="0"/>
            </a:endParaRPr>
          </a:p>
        </p:txBody>
      </p:sp>
      <p:sp>
        <p:nvSpPr>
          <p:cNvPr id="147492" name="Rectangle 36"/>
          <p:cNvSpPr>
            <a:spLocks noChangeArrowheads="1"/>
          </p:cNvSpPr>
          <p:nvPr/>
        </p:nvSpPr>
        <p:spPr bwMode="auto">
          <a:xfrm>
            <a:off x="2869309" y="3995748"/>
            <a:ext cx="5956036" cy="1100137"/>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pPr>
              <a:lnSpc>
                <a:spcPct val="85000"/>
              </a:lnSpc>
            </a:pPr>
            <a:r>
              <a:rPr lang="fr-FR" sz="2000" b="1">
                <a:latin typeface="Arial" charset="0"/>
                <a:cs typeface="Times New Roman" pitchFamily="18" charset="0"/>
              </a:rPr>
              <a:t>La clé de cryptage de fichier de l'utilisateur est stockée dans le champ de décryptage de données</a:t>
            </a:r>
          </a:p>
        </p:txBody>
      </p:sp>
      <p:sp>
        <p:nvSpPr>
          <p:cNvPr id="147493" name="AutoShape 37"/>
          <p:cNvSpPr>
            <a:spLocks noChangeArrowheads="1"/>
          </p:cNvSpPr>
          <p:nvPr/>
        </p:nvSpPr>
        <p:spPr bwMode="auto">
          <a:xfrm flipV="1">
            <a:off x="459485" y="4048132"/>
            <a:ext cx="916609" cy="974725"/>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tIns="502920"/>
          <a:lstStyle/>
          <a:p>
            <a:pPr>
              <a:lnSpc>
                <a:spcPct val="65000"/>
              </a:lnSpc>
            </a:pPr>
            <a:r>
              <a:rPr lang="en-US" sz="2200" dirty="0">
                <a:solidFill>
                  <a:srgbClr val="E00085"/>
                </a:solidFill>
                <a:latin typeface="Arial" charset="0"/>
              </a:rPr>
              <a:t>~~~</a:t>
            </a:r>
          </a:p>
          <a:p>
            <a:pPr>
              <a:lnSpc>
                <a:spcPct val="65000"/>
              </a:lnSpc>
            </a:pPr>
            <a:r>
              <a:rPr lang="en-US" sz="2200" dirty="0">
                <a:solidFill>
                  <a:srgbClr val="E00085"/>
                </a:solidFill>
                <a:latin typeface="Arial" charset="0"/>
              </a:rPr>
              <a:t>~~~~</a:t>
            </a:r>
          </a:p>
          <a:p>
            <a:pPr>
              <a:lnSpc>
                <a:spcPct val="65000"/>
              </a:lnSpc>
            </a:pPr>
            <a:r>
              <a:rPr lang="en-US" sz="2200" dirty="0">
                <a:solidFill>
                  <a:srgbClr val="E00085"/>
                </a:solidFill>
                <a:latin typeface="Arial" charset="0"/>
              </a:rPr>
              <a:t>~~~~</a:t>
            </a:r>
          </a:p>
          <a:p>
            <a:pPr>
              <a:lnSpc>
                <a:spcPct val="65000"/>
              </a:lnSpc>
            </a:pPr>
            <a:r>
              <a:rPr lang="en-US" sz="2200" dirty="0">
                <a:solidFill>
                  <a:srgbClr val="E00085"/>
                </a:solidFill>
                <a:latin typeface="Arial" charset="0"/>
              </a:rPr>
              <a:t>~~~~</a:t>
            </a:r>
          </a:p>
        </p:txBody>
      </p:sp>
      <p:sp>
        <p:nvSpPr>
          <p:cNvPr id="147494" name="Freeform 38"/>
          <p:cNvSpPr>
            <a:spLocks/>
          </p:cNvSpPr>
          <p:nvPr/>
        </p:nvSpPr>
        <p:spPr bwMode="auto">
          <a:xfrm>
            <a:off x="756347" y="4102110"/>
            <a:ext cx="964150" cy="274638"/>
          </a:xfrm>
          <a:custGeom>
            <a:avLst/>
            <a:gdLst/>
            <a:ahLst/>
            <a:cxnLst>
              <a:cxn ang="0">
                <a:pos x="0" y="60"/>
              </a:cxn>
              <a:cxn ang="0">
                <a:pos x="500" y="0"/>
              </a:cxn>
              <a:cxn ang="0">
                <a:pos x="507" y="173"/>
              </a:cxn>
              <a:cxn ang="0">
                <a:pos x="0" y="60"/>
              </a:cxn>
            </a:cxnLst>
            <a:rect l="0" t="0" r="r" b="b"/>
            <a:pathLst>
              <a:path w="507" h="173">
                <a:moveTo>
                  <a:pt x="0" y="60"/>
                </a:moveTo>
                <a:lnTo>
                  <a:pt x="500" y="0"/>
                </a:lnTo>
                <a:lnTo>
                  <a:pt x="507" y="173"/>
                </a:lnTo>
                <a:lnTo>
                  <a:pt x="0" y="60"/>
                </a:lnTo>
                <a:close/>
              </a:path>
            </a:pathLst>
          </a:custGeom>
          <a:gradFill rotWithShape="0">
            <a:gsLst>
              <a:gs pos="0">
                <a:srgbClr val="6699FF">
                  <a:gamma/>
                  <a:shade val="46275"/>
                  <a:invGamma/>
                </a:srgbClr>
              </a:gs>
              <a:gs pos="100000">
                <a:srgbClr val="6699FF"/>
              </a:gs>
            </a:gsLst>
            <a:lin ang="0" scaled="1"/>
          </a:gradFill>
          <a:ln w="9525" cap="flat" cmpd="sng">
            <a:noFill/>
            <a:prstDash val="solid"/>
            <a:round/>
            <a:headEnd/>
            <a:tailEnd/>
          </a:ln>
          <a:effectLst/>
        </p:spPr>
        <p:txBody>
          <a:bodyPr lIns="137160" rIns="45720" anchor="ctr"/>
          <a:lstStyle/>
          <a:p>
            <a:endParaRPr lang="fr-FR"/>
          </a:p>
        </p:txBody>
      </p:sp>
      <p:sp>
        <p:nvSpPr>
          <p:cNvPr id="147495" name="Rectangle 39"/>
          <p:cNvSpPr>
            <a:spLocks noChangeArrowheads="1"/>
          </p:cNvSpPr>
          <p:nvPr/>
        </p:nvSpPr>
        <p:spPr bwMode="auto">
          <a:xfrm>
            <a:off x="1502473" y="4102110"/>
            <a:ext cx="947037" cy="274638"/>
          </a:xfrm>
          <a:prstGeom prst="rect">
            <a:avLst/>
          </a:prstGeom>
          <a:solidFill>
            <a:srgbClr val="EC008C"/>
          </a:solidFill>
          <a:ln w="9525">
            <a:solidFill>
              <a:schemeClr val="tx1"/>
            </a:solidFill>
            <a:miter lim="800000"/>
            <a:headEnd/>
            <a:tailEnd/>
          </a:ln>
          <a:effectLst/>
        </p:spPr>
        <p:txBody>
          <a:bodyPr wrap="none" anchor="ctr"/>
          <a:lstStyle/>
          <a:p>
            <a:pPr algn="ctr"/>
            <a:r>
              <a:rPr lang="en-US" sz="1800">
                <a:solidFill>
                  <a:schemeClr val="bg1"/>
                </a:solidFill>
                <a:effectLst>
                  <a:outerShdw blurRad="38100" dist="38100" dir="2700000" algn="tl">
                    <a:srgbClr val="000000"/>
                  </a:outerShdw>
                </a:effectLst>
                <a:latin typeface="Arial" charset="0"/>
              </a:rPr>
              <a:t>DDF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7460"/>
                                        </p:tgtEl>
                                        <p:attrNameLst>
                                          <p:attrName>style.visibility</p:attrName>
                                        </p:attrNameLst>
                                      </p:cBhvr>
                                      <p:to>
                                        <p:strVal val="visible"/>
                                      </p:to>
                                    </p:set>
                                    <p:animEffect transition="in" filter="checkerboard(across)">
                                      <p:cBhvr>
                                        <p:cTn id="7" dur="500"/>
                                        <p:tgtEl>
                                          <p:spTgt spid="147460"/>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47461"/>
                                        </p:tgtEl>
                                        <p:attrNameLst>
                                          <p:attrName>style.visibility</p:attrName>
                                        </p:attrNameLst>
                                      </p:cBhvr>
                                      <p:to>
                                        <p:strVal val="visible"/>
                                      </p:to>
                                    </p:set>
                                    <p:animEffect transition="in" filter="checkerboard(across)">
                                      <p:cBhvr>
                                        <p:cTn id="10" dur="500"/>
                                        <p:tgtEl>
                                          <p:spTgt spid="147461"/>
                                        </p:tgtEl>
                                      </p:cBhvr>
                                    </p:animEffect>
                                  </p:childTnLst>
                                </p:cTn>
                              </p:par>
                              <p:par>
                                <p:cTn id="11" presetID="5" presetClass="entr" presetSubtype="10" fill="hold" nodeType="withEffect">
                                  <p:stCondLst>
                                    <p:cond delay="0"/>
                                  </p:stCondLst>
                                  <p:childTnLst>
                                    <p:set>
                                      <p:cBhvr>
                                        <p:cTn id="12" dur="1" fill="hold">
                                          <p:stCondLst>
                                            <p:cond delay="0"/>
                                          </p:stCondLst>
                                        </p:cTn>
                                        <p:tgtEl>
                                          <p:spTgt spid="147466"/>
                                        </p:tgtEl>
                                        <p:attrNameLst>
                                          <p:attrName>style.visibility</p:attrName>
                                        </p:attrNameLst>
                                      </p:cBhvr>
                                      <p:to>
                                        <p:strVal val="visible"/>
                                      </p:to>
                                    </p:set>
                                    <p:animEffect transition="in" filter="checkerboard(across)">
                                      <p:cBhvr>
                                        <p:cTn id="13" dur="500"/>
                                        <p:tgtEl>
                                          <p:spTgt spid="147466"/>
                                        </p:tgtEl>
                                      </p:cBhvr>
                                    </p:animEffect>
                                  </p:childTnLst>
                                </p:cTn>
                              </p:par>
                              <p:par>
                                <p:cTn id="14" presetID="5" presetClass="entr" presetSubtype="10" fill="hold" nodeType="withEffect">
                                  <p:stCondLst>
                                    <p:cond delay="0"/>
                                  </p:stCondLst>
                                  <p:childTnLst>
                                    <p:set>
                                      <p:cBhvr>
                                        <p:cTn id="15" dur="1" fill="hold">
                                          <p:stCondLst>
                                            <p:cond delay="0"/>
                                          </p:stCondLst>
                                        </p:cTn>
                                        <p:tgtEl>
                                          <p:spTgt spid="147470"/>
                                        </p:tgtEl>
                                        <p:attrNameLst>
                                          <p:attrName>style.visibility</p:attrName>
                                        </p:attrNameLst>
                                      </p:cBhvr>
                                      <p:to>
                                        <p:strVal val="visible"/>
                                      </p:to>
                                    </p:set>
                                    <p:animEffect transition="in" filter="checkerboard(across)">
                                      <p:cBhvr>
                                        <p:cTn id="16" dur="500"/>
                                        <p:tgtEl>
                                          <p:spTgt spid="147470"/>
                                        </p:tgtEl>
                                      </p:cBhvr>
                                    </p:animEffect>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147462"/>
                                        </p:tgtEl>
                                        <p:attrNameLst>
                                          <p:attrName>style.visibility</p:attrName>
                                        </p:attrNameLst>
                                      </p:cBhvr>
                                      <p:to>
                                        <p:strVal val="visible"/>
                                      </p:to>
                                    </p:set>
                                    <p:animEffect transition="in" filter="checkerboard(across)">
                                      <p:cBhvr>
                                        <p:cTn id="21" dur="500"/>
                                        <p:tgtEl>
                                          <p:spTgt spid="147462"/>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147463"/>
                                        </p:tgtEl>
                                        <p:attrNameLst>
                                          <p:attrName>style.visibility</p:attrName>
                                        </p:attrNameLst>
                                      </p:cBhvr>
                                      <p:to>
                                        <p:strVal val="visible"/>
                                      </p:to>
                                    </p:set>
                                    <p:animEffect transition="in" filter="checkerboard(across)">
                                      <p:cBhvr>
                                        <p:cTn id="24" dur="500"/>
                                        <p:tgtEl>
                                          <p:spTgt spid="147463"/>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147476"/>
                                        </p:tgtEl>
                                        <p:attrNameLst>
                                          <p:attrName>style.visibility</p:attrName>
                                        </p:attrNameLst>
                                      </p:cBhvr>
                                      <p:to>
                                        <p:strVal val="visible"/>
                                      </p:to>
                                    </p:set>
                                    <p:animEffect transition="in" filter="checkerboard(across)">
                                      <p:cBhvr>
                                        <p:cTn id="27" dur="500"/>
                                        <p:tgtEl>
                                          <p:spTgt spid="147476"/>
                                        </p:tgtEl>
                                      </p:cBhvr>
                                    </p:animEffect>
                                  </p:childTnLst>
                                </p:cTn>
                              </p:par>
                              <p:par>
                                <p:cTn id="28" presetID="1" presetClass="entr" presetSubtype="0" fill="hold" nodeType="withEffect">
                                  <p:stCondLst>
                                    <p:cond delay="0"/>
                                  </p:stCondLst>
                                  <p:childTnLst>
                                    <p:set>
                                      <p:cBhvr>
                                        <p:cTn id="29" dur="1" fill="hold">
                                          <p:stCondLst>
                                            <p:cond delay="0"/>
                                          </p:stCondLst>
                                        </p:cTn>
                                        <p:tgtEl>
                                          <p:spTgt spid="147480"/>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47491"/>
                                        </p:tgtEl>
                                        <p:attrNameLst>
                                          <p:attrName>style.visibility</p:attrName>
                                        </p:attrNameLst>
                                      </p:cBhvr>
                                      <p:to>
                                        <p:strVal val="visible"/>
                                      </p:to>
                                    </p:set>
                                    <p:animEffect transition="in" filter="checkerboard(across)">
                                      <p:cBhvr>
                                        <p:cTn id="34" dur="500"/>
                                        <p:tgtEl>
                                          <p:spTgt spid="147491"/>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47492"/>
                                        </p:tgtEl>
                                        <p:attrNameLst>
                                          <p:attrName>style.visibility</p:attrName>
                                        </p:attrNameLst>
                                      </p:cBhvr>
                                      <p:to>
                                        <p:strVal val="visible"/>
                                      </p:to>
                                    </p:set>
                                    <p:animEffect transition="in" filter="checkerboard(across)">
                                      <p:cBhvr>
                                        <p:cTn id="37" dur="500"/>
                                        <p:tgtEl>
                                          <p:spTgt spid="147492"/>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47493"/>
                                        </p:tgtEl>
                                        <p:attrNameLst>
                                          <p:attrName>style.visibility</p:attrName>
                                        </p:attrNameLst>
                                      </p:cBhvr>
                                      <p:to>
                                        <p:strVal val="visible"/>
                                      </p:to>
                                    </p:set>
                                    <p:animEffect transition="in" filter="checkerboard(across)">
                                      <p:cBhvr>
                                        <p:cTn id="40" dur="500"/>
                                        <p:tgtEl>
                                          <p:spTgt spid="147493"/>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47494"/>
                                        </p:tgtEl>
                                        <p:attrNameLst>
                                          <p:attrName>style.visibility</p:attrName>
                                        </p:attrNameLst>
                                      </p:cBhvr>
                                      <p:to>
                                        <p:strVal val="visible"/>
                                      </p:to>
                                    </p:set>
                                    <p:animEffect transition="in" filter="checkerboard(across)">
                                      <p:cBhvr>
                                        <p:cTn id="43" dur="500"/>
                                        <p:tgtEl>
                                          <p:spTgt spid="147494"/>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47495"/>
                                        </p:tgtEl>
                                        <p:attrNameLst>
                                          <p:attrName>style.visibility</p:attrName>
                                        </p:attrNameLst>
                                      </p:cBhvr>
                                      <p:to>
                                        <p:strVal val="visible"/>
                                      </p:to>
                                    </p:set>
                                    <p:animEffect transition="in" filter="checkerboard(across)">
                                      <p:cBhvr>
                                        <p:cTn id="46" dur="500"/>
                                        <p:tgtEl>
                                          <p:spTgt spid="147495"/>
                                        </p:tgtEl>
                                      </p:cBhvr>
                                    </p:animEffect>
                                  </p:childTnLst>
                                </p:cTn>
                              </p:par>
                            </p:childTnLst>
                          </p:cTn>
                        </p:par>
                      </p:childTnLst>
                    </p:cTn>
                  </p:par>
                  <p:par>
                    <p:cTn id="47" fill="hold">
                      <p:stCondLst>
                        <p:cond delay="indefinite"/>
                      </p:stCondLst>
                      <p:childTnLst>
                        <p:par>
                          <p:cTn id="48" fill="hold">
                            <p:stCondLst>
                              <p:cond delay="0"/>
                            </p:stCondLst>
                            <p:childTnLst>
                              <p:par>
                                <p:cTn id="49" presetID="5" presetClass="entr" presetSubtype="10" fill="hold" grpId="0" nodeType="clickEffect">
                                  <p:stCondLst>
                                    <p:cond delay="0"/>
                                  </p:stCondLst>
                                  <p:childTnLst>
                                    <p:set>
                                      <p:cBhvr>
                                        <p:cTn id="50" dur="1" fill="hold">
                                          <p:stCondLst>
                                            <p:cond delay="0"/>
                                          </p:stCondLst>
                                        </p:cTn>
                                        <p:tgtEl>
                                          <p:spTgt spid="147464"/>
                                        </p:tgtEl>
                                        <p:attrNameLst>
                                          <p:attrName>style.visibility</p:attrName>
                                        </p:attrNameLst>
                                      </p:cBhvr>
                                      <p:to>
                                        <p:strVal val="visible"/>
                                      </p:to>
                                    </p:set>
                                    <p:animEffect transition="in" filter="checkerboard(across)">
                                      <p:cBhvr>
                                        <p:cTn id="51" dur="500"/>
                                        <p:tgtEl>
                                          <p:spTgt spid="147464"/>
                                        </p:tgtEl>
                                      </p:cBhvr>
                                    </p:animEffect>
                                  </p:childTnLst>
                                </p:cTn>
                              </p:par>
                              <p:par>
                                <p:cTn id="52" presetID="5" presetClass="entr" presetSubtype="10" fill="hold" grpId="0" nodeType="withEffect">
                                  <p:stCondLst>
                                    <p:cond delay="0"/>
                                  </p:stCondLst>
                                  <p:childTnLst>
                                    <p:set>
                                      <p:cBhvr>
                                        <p:cTn id="53" dur="1" fill="hold">
                                          <p:stCondLst>
                                            <p:cond delay="0"/>
                                          </p:stCondLst>
                                        </p:cTn>
                                        <p:tgtEl>
                                          <p:spTgt spid="147465"/>
                                        </p:tgtEl>
                                        <p:attrNameLst>
                                          <p:attrName>style.visibility</p:attrName>
                                        </p:attrNameLst>
                                      </p:cBhvr>
                                      <p:to>
                                        <p:strVal val="visible"/>
                                      </p:to>
                                    </p:set>
                                    <p:animEffect transition="in" filter="checkerboard(across)">
                                      <p:cBhvr>
                                        <p:cTn id="54" dur="500"/>
                                        <p:tgtEl>
                                          <p:spTgt spid="147465"/>
                                        </p:tgtEl>
                                      </p:cBhvr>
                                    </p:animEffect>
                                  </p:childTnLst>
                                </p:cTn>
                              </p:par>
                              <p:par>
                                <p:cTn id="55" presetID="5" presetClass="entr" presetSubtype="10" fill="hold" grpId="0" nodeType="withEffect">
                                  <p:stCondLst>
                                    <p:cond delay="0"/>
                                  </p:stCondLst>
                                  <p:childTnLst>
                                    <p:set>
                                      <p:cBhvr>
                                        <p:cTn id="56" dur="1" fill="hold">
                                          <p:stCondLst>
                                            <p:cond delay="0"/>
                                          </p:stCondLst>
                                        </p:cTn>
                                        <p:tgtEl>
                                          <p:spTgt spid="147477"/>
                                        </p:tgtEl>
                                        <p:attrNameLst>
                                          <p:attrName>style.visibility</p:attrName>
                                        </p:attrNameLst>
                                      </p:cBhvr>
                                      <p:to>
                                        <p:strVal val="visible"/>
                                      </p:to>
                                    </p:set>
                                    <p:animEffect transition="in" filter="checkerboard(across)">
                                      <p:cBhvr>
                                        <p:cTn id="57" dur="500"/>
                                        <p:tgtEl>
                                          <p:spTgt spid="147477"/>
                                        </p:tgtEl>
                                      </p:cBhvr>
                                    </p:animEffect>
                                  </p:childTnLst>
                                </p:cTn>
                              </p:par>
                              <p:par>
                                <p:cTn id="58" presetID="5" presetClass="entr" presetSubtype="10" fill="hold" grpId="0" nodeType="withEffect">
                                  <p:stCondLst>
                                    <p:cond delay="0"/>
                                  </p:stCondLst>
                                  <p:childTnLst>
                                    <p:set>
                                      <p:cBhvr>
                                        <p:cTn id="59" dur="1" fill="hold">
                                          <p:stCondLst>
                                            <p:cond delay="0"/>
                                          </p:stCondLst>
                                        </p:cTn>
                                        <p:tgtEl>
                                          <p:spTgt spid="147478"/>
                                        </p:tgtEl>
                                        <p:attrNameLst>
                                          <p:attrName>style.visibility</p:attrName>
                                        </p:attrNameLst>
                                      </p:cBhvr>
                                      <p:to>
                                        <p:strVal val="visible"/>
                                      </p:to>
                                    </p:set>
                                    <p:animEffect transition="in" filter="checkerboard(across)">
                                      <p:cBhvr>
                                        <p:cTn id="60" dur="500"/>
                                        <p:tgtEl>
                                          <p:spTgt spid="147478"/>
                                        </p:tgtEl>
                                      </p:cBhvr>
                                    </p:animEffect>
                                  </p:childTnLst>
                                </p:cTn>
                              </p:par>
                              <p:par>
                                <p:cTn id="61" presetID="5" presetClass="entr" presetSubtype="10" fill="hold" grpId="0" nodeType="withEffect">
                                  <p:stCondLst>
                                    <p:cond delay="0"/>
                                  </p:stCondLst>
                                  <p:childTnLst>
                                    <p:set>
                                      <p:cBhvr>
                                        <p:cTn id="62" dur="1" fill="hold">
                                          <p:stCondLst>
                                            <p:cond delay="0"/>
                                          </p:stCondLst>
                                        </p:cTn>
                                        <p:tgtEl>
                                          <p:spTgt spid="147479"/>
                                        </p:tgtEl>
                                        <p:attrNameLst>
                                          <p:attrName>style.visibility</p:attrName>
                                        </p:attrNameLst>
                                      </p:cBhvr>
                                      <p:to>
                                        <p:strVal val="visible"/>
                                      </p:to>
                                    </p:set>
                                    <p:animEffect transition="in" filter="checkerboard(across)">
                                      <p:cBhvr>
                                        <p:cTn id="63" dur="500"/>
                                        <p:tgtEl>
                                          <p:spTgt spid="1474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0" grpId="0" animBg="1"/>
      <p:bldP spid="147461" grpId="0" animBg="1"/>
      <p:bldP spid="147462" grpId="0" animBg="1"/>
      <p:bldP spid="147463" grpId="0" animBg="1"/>
      <p:bldP spid="147464" grpId="0" animBg="1"/>
      <p:bldP spid="147465" grpId="0" animBg="1"/>
      <p:bldP spid="147476" grpId="0" animBg="1"/>
      <p:bldP spid="147477" grpId="0" animBg="1"/>
      <p:bldP spid="147478" grpId="0" animBg="1"/>
      <p:bldP spid="147479" grpId="0" animBg="1"/>
      <p:bldP spid="147491" grpId="0" animBg="1"/>
      <p:bldP spid="147492" grpId="0" animBg="1"/>
      <p:bldP spid="147493" grpId="0" animBg="1"/>
      <p:bldP spid="147494" grpId="0" animBg="1"/>
      <p:bldP spid="14749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9532" name="Picture 28" descr="P2272bW05-17b"/>
          <p:cNvPicPr>
            <a:picLocks noChangeAspect="1" noChangeArrowheads="1"/>
          </p:cNvPicPr>
          <p:nvPr/>
        </p:nvPicPr>
        <p:blipFill>
          <a:blip r:embed="rId3"/>
          <a:srcRect/>
          <a:stretch>
            <a:fillRect/>
          </a:stretch>
        </p:blipFill>
        <p:spPr bwMode="auto">
          <a:xfrm>
            <a:off x="520700" y="1851040"/>
            <a:ext cx="4756150" cy="4887913"/>
          </a:xfrm>
          <a:prstGeom prst="rect">
            <a:avLst/>
          </a:prstGeom>
          <a:noFill/>
        </p:spPr>
      </p:pic>
      <p:sp>
        <p:nvSpPr>
          <p:cNvPr id="149507" name="Rectangle 3"/>
          <p:cNvSpPr>
            <a:spLocks noGrp="1" noChangeArrowheads="1"/>
          </p:cNvSpPr>
          <p:nvPr>
            <p:ph type="title"/>
          </p:nvPr>
        </p:nvSpPr>
        <p:spPr/>
        <p:txBody>
          <a:bodyPr vert="horz" anchor="b">
            <a:normAutofit/>
          </a:bodyPr>
          <a:lstStyle/>
          <a:p>
            <a:r>
              <a:rPr lang="fr-FR" sz="3000" b="1" dirty="0">
                <a:solidFill>
                  <a:srgbClr val="C00000"/>
                </a:solidFill>
              </a:rPr>
              <a:t>Ajout d'utilisateurs autorisés</a:t>
            </a:r>
            <a:endParaRPr lang="en-US" sz="3000" b="1" dirty="0">
              <a:solidFill>
                <a:srgbClr val="C00000"/>
              </a:solidFill>
            </a:endParaRPr>
          </a:p>
        </p:txBody>
      </p:sp>
      <p:pic>
        <p:nvPicPr>
          <p:cNvPr id="149530" name="Picture 26" descr="P2272bW05-17a"/>
          <p:cNvPicPr>
            <a:picLocks noGrp="1" noChangeAspect="1" noChangeArrowheads="1"/>
          </p:cNvPicPr>
          <p:nvPr>
            <p:ph sz="quarter" idx="1"/>
          </p:nvPr>
        </p:nvPicPr>
        <p:blipFill>
          <a:blip r:embed="rId4"/>
          <a:srcRect/>
          <a:stretch>
            <a:fillRect/>
          </a:stretch>
        </p:blipFill>
        <p:spPr>
          <a:xfrm>
            <a:off x="3140075" y="1346215"/>
            <a:ext cx="4675188" cy="1117600"/>
          </a:xfrm>
          <a:noFill/>
          <a:ln w="25400">
            <a:solidFill>
              <a:srgbClr val="0000FF"/>
            </a:solidFill>
          </a:ln>
        </p:spPr>
      </p:pic>
      <p:pic>
        <p:nvPicPr>
          <p:cNvPr id="149534" name="Picture 30" descr="P2272bW05-17c"/>
          <p:cNvPicPr>
            <a:picLocks noChangeAspect="1" noChangeArrowheads="1"/>
          </p:cNvPicPr>
          <p:nvPr/>
        </p:nvPicPr>
        <p:blipFill>
          <a:blip r:embed="rId5"/>
          <a:srcRect/>
          <a:stretch>
            <a:fillRect/>
          </a:stretch>
        </p:blipFill>
        <p:spPr bwMode="auto">
          <a:xfrm>
            <a:off x="3795713" y="3036903"/>
            <a:ext cx="4835525" cy="3279775"/>
          </a:xfrm>
          <a:prstGeom prst="rect">
            <a:avLst/>
          </a:prstGeom>
          <a:noFill/>
        </p:spPr>
      </p:pic>
      <p:sp>
        <p:nvSpPr>
          <p:cNvPr id="149523" name="Freeform 19"/>
          <p:cNvSpPr>
            <a:spLocks/>
          </p:cNvSpPr>
          <p:nvPr/>
        </p:nvSpPr>
        <p:spPr bwMode="auto">
          <a:xfrm rot="19639213" flipH="1">
            <a:off x="2284413" y="3479815"/>
            <a:ext cx="1698625" cy="525463"/>
          </a:xfrm>
          <a:custGeom>
            <a:avLst/>
            <a:gdLst/>
            <a:ahLst/>
            <a:cxnLst>
              <a:cxn ang="0">
                <a:pos x="115" y="20"/>
              </a:cxn>
              <a:cxn ang="0">
                <a:pos x="0" y="428"/>
              </a:cxn>
              <a:cxn ang="0">
                <a:pos x="384" y="449"/>
              </a:cxn>
              <a:cxn ang="0">
                <a:pos x="299" y="314"/>
              </a:cxn>
              <a:cxn ang="0">
                <a:pos x="700" y="177"/>
              </a:cxn>
              <a:cxn ang="0">
                <a:pos x="1498" y="374"/>
              </a:cxn>
              <a:cxn ang="0">
                <a:pos x="750" y="28"/>
              </a:cxn>
              <a:cxn ang="0">
                <a:pos x="181" y="140"/>
              </a:cxn>
              <a:cxn ang="0">
                <a:pos x="115" y="20"/>
              </a:cxn>
            </a:cxnLst>
            <a:rect l="0" t="0" r="r" b="b"/>
            <a:pathLst>
              <a:path w="1498" h="449">
                <a:moveTo>
                  <a:pt x="115" y="20"/>
                </a:moveTo>
                <a:cubicBezTo>
                  <a:pt x="60" y="168"/>
                  <a:pt x="24" y="254"/>
                  <a:pt x="0" y="428"/>
                </a:cubicBezTo>
                <a:cubicBezTo>
                  <a:pt x="144" y="432"/>
                  <a:pt x="292" y="434"/>
                  <a:pt x="384" y="449"/>
                </a:cubicBezTo>
                <a:cubicBezTo>
                  <a:pt x="319" y="351"/>
                  <a:pt x="324" y="365"/>
                  <a:pt x="299" y="314"/>
                </a:cubicBezTo>
                <a:cubicBezTo>
                  <a:pt x="353" y="290"/>
                  <a:pt x="517" y="191"/>
                  <a:pt x="700" y="177"/>
                </a:cubicBezTo>
                <a:cubicBezTo>
                  <a:pt x="1004" y="191"/>
                  <a:pt x="1210" y="272"/>
                  <a:pt x="1498" y="374"/>
                </a:cubicBezTo>
                <a:cubicBezTo>
                  <a:pt x="1188" y="156"/>
                  <a:pt x="990" y="64"/>
                  <a:pt x="750" y="28"/>
                </a:cubicBezTo>
                <a:cubicBezTo>
                  <a:pt x="460" y="0"/>
                  <a:pt x="296" y="92"/>
                  <a:pt x="181" y="140"/>
                </a:cubicBezTo>
                <a:cubicBezTo>
                  <a:pt x="146" y="72"/>
                  <a:pt x="168" y="114"/>
                  <a:pt x="115" y="20"/>
                </a:cubicBezTo>
                <a:close/>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round/>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sp>
        <p:nvSpPr>
          <p:cNvPr id="149524" name="Oval 20"/>
          <p:cNvSpPr>
            <a:spLocks noChangeArrowheads="1"/>
          </p:cNvSpPr>
          <p:nvPr/>
        </p:nvSpPr>
        <p:spPr bwMode="auto">
          <a:xfrm>
            <a:off x="2568575" y="3687778"/>
            <a:ext cx="476250" cy="476250"/>
          </a:xfrm>
          <a:prstGeom prst="ellipse">
            <a:avLst/>
          </a:prstGeom>
          <a:solidFill>
            <a:srgbClr val="3366FF"/>
          </a:solidFill>
          <a:ln w="9525">
            <a:solidFill>
              <a:schemeClr val="tx1"/>
            </a:solidFill>
            <a:round/>
            <a:headEnd/>
            <a:tailEnd/>
          </a:ln>
          <a:effectLst/>
        </p:spPr>
        <p:txBody>
          <a:bodyPr wrap="none" anchor="ctr"/>
          <a:lstStyle/>
          <a:p>
            <a:pPr algn="ctr"/>
            <a:r>
              <a:rPr lang="en-US" b="1" dirty="0">
                <a:solidFill>
                  <a:schemeClr val="bg1"/>
                </a:solidFill>
                <a:effectLst>
                  <a:outerShdw blurRad="38100" dist="38100" dir="2700000" algn="tl">
                    <a:srgbClr val="000000"/>
                  </a:outerShdw>
                </a:effectLst>
                <a:latin typeface="Arial" charset="0"/>
              </a:rPr>
              <a:t>2</a:t>
            </a:r>
          </a:p>
        </p:txBody>
      </p:sp>
      <p:sp>
        <p:nvSpPr>
          <p:cNvPr id="149528" name="Freeform 24"/>
          <p:cNvSpPr>
            <a:spLocks/>
          </p:cNvSpPr>
          <p:nvPr/>
        </p:nvSpPr>
        <p:spPr bwMode="auto">
          <a:xfrm rot="20310313" flipV="1">
            <a:off x="5116513" y="2452703"/>
            <a:ext cx="1698625" cy="525462"/>
          </a:xfrm>
          <a:custGeom>
            <a:avLst/>
            <a:gdLst/>
            <a:ahLst/>
            <a:cxnLst>
              <a:cxn ang="0">
                <a:pos x="115" y="20"/>
              </a:cxn>
              <a:cxn ang="0">
                <a:pos x="0" y="428"/>
              </a:cxn>
              <a:cxn ang="0">
                <a:pos x="384" y="449"/>
              </a:cxn>
              <a:cxn ang="0">
                <a:pos x="299" y="314"/>
              </a:cxn>
              <a:cxn ang="0">
                <a:pos x="700" y="177"/>
              </a:cxn>
              <a:cxn ang="0">
                <a:pos x="1498" y="374"/>
              </a:cxn>
              <a:cxn ang="0">
                <a:pos x="750" y="28"/>
              </a:cxn>
              <a:cxn ang="0">
                <a:pos x="181" y="140"/>
              </a:cxn>
              <a:cxn ang="0">
                <a:pos x="115" y="20"/>
              </a:cxn>
            </a:cxnLst>
            <a:rect l="0" t="0" r="r" b="b"/>
            <a:pathLst>
              <a:path w="1498" h="449">
                <a:moveTo>
                  <a:pt x="115" y="20"/>
                </a:moveTo>
                <a:cubicBezTo>
                  <a:pt x="60" y="168"/>
                  <a:pt x="24" y="254"/>
                  <a:pt x="0" y="428"/>
                </a:cubicBezTo>
                <a:cubicBezTo>
                  <a:pt x="144" y="432"/>
                  <a:pt x="292" y="434"/>
                  <a:pt x="384" y="449"/>
                </a:cubicBezTo>
                <a:cubicBezTo>
                  <a:pt x="319" y="351"/>
                  <a:pt x="324" y="365"/>
                  <a:pt x="299" y="314"/>
                </a:cubicBezTo>
                <a:cubicBezTo>
                  <a:pt x="353" y="290"/>
                  <a:pt x="517" y="191"/>
                  <a:pt x="700" y="177"/>
                </a:cubicBezTo>
                <a:cubicBezTo>
                  <a:pt x="1004" y="191"/>
                  <a:pt x="1210" y="272"/>
                  <a:pt x="1498" y="374"/>
                </a:cubicBezTo>
                <a:cubicBezTo>
                  <a:pt x="1188" y="156"/>
                  <a:pt x="990" y="64"/>
                  <a:pt x="750" y="28"/>
                </a:cubicBezTo>
                <a:cubicBezTo>
                  <a:pt x="460" y="0"/>
                  <a:pt x="296" y="92"/>
                  <a:pt x="181" y="140"/>
                </a:cubicBezTo>
                <a:cubicBezTo>
                  <a:pt x="146" y="72"/>
                  <a:pt x="168" y="114"/>
                  <a:pt x="115" y="20"/>
                </a:cubicBezTo>
                <a:close/>
              </a:path>
            </a:pathLst>
          </a:custGeom>
          <a:gradFill rotWithShape="0">
            <a:gsLst>
              <a:gs pos="0">
                <a:srgbClr val="D60093">
                  <a:gamma/>
                  <a:tint val="47451"/>
                  <a:invGamma/>
                </a:srgbClr>
              </a:gs>
              <a:gs pos="100000">
                <a:srgbClr val="D60093"/>
              </a:gs>
            </a:gsLst>
            <a:lin ang="0" scaled="1"/>
          </a:gradFill>
          <a:ln w="6350" cap="flat" cmpd="sng">
            <a:solidFill>
              <a:srgbClr val="800080"/>
            </a:solidFill>
            <a:prstDash val="solid"/>
            <a:round/>
            <a:headEnd type="none" w="med" len="med"/>
            <a:tailEnd type="none" w="med" len="med"/>
          </a:ln>
          <a:effectLst>
            <a:outerShdw dist="52363" dir="4557825" algn="ctr" rotWithShape="0">
              <a:srgbClr val="C0C0C0"/>
            </a:outerShdw>
          </a:effectLst>
        </p:spPr>
        <p:txBody>
          <a:bodyPr wrap="none" tIns="27432" bIns="27432" anchor="ctr"/>
          <a:lstStyle/>
          <a:p>
            <a:endParaRPr lang="fr-FR"/>
          </a:p>
        </p:txBody>
      </p:sp>
      <p:sp>
        <p:nvSpPr>
          <p:cNvPr id="149529" name="Oval 25"/>
          <p:cNvSpPr>
            <a:spLocks noChangeArrowheads="1"/>
          </p:cNvSpPr>
          <p:nvPr/>
        </p:nvSpPr>
        <p:spPr bwMode="auto">
          <a:xfrm>
            <a:off x="6100763" y="2435240"/>
            <a:ext cx="476250" cy="476250"/>
          </a:xfrm>
          <a:prstGeom prst="ellipse">
            <a:avLst/>
          </a:prstGeom>
          <a:solidFill>
            <a:srgbClr val="3366FF"/>
          </a:solidFill>
          <a:ln w="9525">
            <a:solidFill>
              <a:schemeClr val="tx1"/>
            </a:solidFill>
            <a:round/>
            <a:headEnd/>
            <a:tailEnd/>
          </a:ln>
          <a:effectLst/>
        </p:spPr>
        <p:txBody>
          <a:bodyPr wrap="none" anchor="ctr"/>
          <a:lstStyle/>
          <a:p>
            <a:pPr algn="ctr"/>
            <a:r>
              <a:rPr lang="en-US" b="1">
                <a:solidFill>
                  <a:schemeClr val="bg1"/>
                </a:solidFill>
                <a:effectLst>
                  <a:outerShdw blurRad="38100" dist="38100" dir="2700000" algn="tl">
                    <a:srgbClr val="000000"/>
                  </a:outerShdw>
                </a:effectLst>
                <a:latin typeface="Arial" charset="0"/>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9529"/>
                                        </p:tgtEl>
                                        <p:attrNameLst>
                                          <p:attrName>style.visibility</p:attrName>
                                        </p:attrNameLst>
                                      </p:cBhvr>
                                      <p:to>
                                        <p:strVal val="visible"/>
                                      </p:to>
                                    </p:set>
                                    <p:animEffect transition="in" filter="checkerboard(across)">
                                      <p:cBhvr>
                                        <p:cTn id="7" dur="2000"/>
                                        <p:tgtEl>
                                          <p:spTgt spid="149529"/>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49528"/>
                                        </p:tgtEl>
                                        <p:attrNameLst>
                                          <p:attrName>style.visibility</p:attrName>
                                        </p:attrNameLst>
                                      </p:cBhvr>
                                      <p:to>
                                        <p:strVal val="visible"/>
                                      </p:to>
                                    </p:set>
                                    <p:animEffect transition="in" filter="checkerboard(across)">
                                      <p:cBhvr>
                                        <p:cTn id="10" dur="2000"/>
                                        <p:tgtEl>
                                          <p:spTgt spid="149528"/>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149532"/>
                                        </p:tgtEl>
                                        <p:attrNameLst>
                                          <p:attrName>style.visibility</p:attrName>
                                        </p:attrNameLst>
                                      </p:cBhvr>
                                      <p:to>
                                        <p:strVal val="visible"/>
                                      </p:to>
                                    </p:set>
                                    <p:anim calcmode="lin" valueType="num">
                                      <p:cBhvr additive="base">
                                        <p:cTn id="15" dur="2000" fill="hold"/>
                                        <p:tgtEl>
                                          <p:spTgt spid="149532"/>
                                        </p:tgtEl>
                                        <p:attrNameLst>
                                          <p:attrName>ppt_x</p:attrName>
                                        </p:attrNameLst>
                                      </p:cBhvr>
                                      <p:tavLst>
                                        <p:tav tm="0">
                                          <p:val>
                                            <p:strVal val="0-#ppt_w/2"/>
                                          </p:val>
                                        </p:tav>
                                        <p:tav tm="100000">
                                          <p:val>
                                            <p:strVal val="#ppt_x"/>
                                          </p:val>
                                        </p:tav>
                                      </p:tavLst>
                                    </p:anim>
                                    <p:anim calcmode="lin" valueType="num">
                                      <p:cBhvr additive="base">
                                        <p:cTn id="16" dur="2000" fill="hold"/>
                                        <p:tgtEl>
                                          <p:spTgt spid="149532"/>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149524"/>
                                        </p:tgtEl>
                                        <p:attrNameLst>
                                          <p:attrName>style.visibility</p:attrName>
                                        </p:attrNameLst>
                                      </p:cBhvr>
                                      <p:to>
                                        <p:strVal val="visible"/>
                                      </p:to>
                                    </p:set>
                                    <p:animEffect transition="in" filter="checkerboard(across)">
                                      <p:cBhvr>
                                        <p:cTn id="21" dur="2000"/>
                                        <p:tgtEl>
                                          <p:spTgt spid="149524"/>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149523"/>
                                        </p:tgtEl>
                                        <p:attrNameLst>
                                          <p:attrName>style.visibility</p:attrName>
                                        </p:attrNameLst>
                                      </p:cBhvr>
                                      <p:to>
                                        <p:strVal val="visible"/>
                                      </p:to>
                                    </p:set>
                                    <p:animEffect transition="in" filter="checkerboard(across)">
                                      <p:cBhvr>
                                        <p:cTn id="24" dur="2000"/>
                                        <p:tgtEl>
                                          <p:spTgt spid="14952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149534"/>
                                        </p:tgtEl>
                                        <p:attrNameLst>
                                          <p:attrName>style.visibility</p:attrName>
                                        </p:attrNameLst>
                                      </p:cBhvr>
                                      <p:to>
                                        <p:strVal val="visible"/>
                                      </p:to>
                                    </p:set>
                                    <p:anim calcmode="lin" valueType="num">
                                      <p:cBhvr additive="base">
                                        <p:cTn id="29" dur="2000" fill="hold"/>
                                        <p:tgtEl>
                                          <p:spTgt spid="149534"/>
                                        </p:tgtEl>
                                        <p:attrNameLst>
                                          <p:attrName>ppt_x</p:attrName>
                                        </p:attrNameLst>
                                      </p:cBhvr>
                                      <p:tavLst>
                                        <p:tav tm="0">
                                          <p:val>
                                            <p:strVal val="1+#ppt_w/2"/>
                                          </p:val>
                                        </p:tav>
                                        <p:tav tm="100000">
                                          <p:val>
                                            <p:strVal val="#ppt_x"/>
                                          </p:val>
                                        </p:tav>
                                      </p:tavLst>
                                    </p:anim>
                                    <p:anim calcmode="lin" valueType="num">
                                      <p:cBhvr additive="base">
                                        <p:cTn id="30" dur="2000" fill="hold"/>
                                        <p:tgtEl>
                                          <p:spTgt spid="1495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23" grpId="0" animBg="1"/>
      <p:bldP spid="149524" grpId="0" animBg="1"/>
      <p:bldP spid="149528" grpId="0" animBg="1"/>
      <p:bldP spid="14952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301752" y="173182"/>
            <a:ext cx="8534400" cy="758952"/>
          </a:xfrm>
        </p:spPr>
        <p:txBody>
          <a:bodyPr vert="horz" anchor="b">
            <a:normAutofit/>
          </a:bodyPr>
          <a:lstStyle/>
          <a:p>
            <a:r>
              <a:rPr lang="fr-FR" sz="3000" b="1" dirty="0">
                <a:solidFill>
                  <a:srgbClr val="C00000"/>
                </a:solidFill>
              </a:rPr>
              <a:t>Décryptage d'un dossier ou d'un fichier</a:t>
            </a:r>
            <a:endParaRPr lang="en-US" sz="3000" b="1" dirty="0">
              <a:solidFill>
                <a:srgbClr val="C00000"/>
              </a:solidFill>
            </a:endParaRPr>
          </a:p>
        </p:txBody>
      </p:sp>
      <p:sp>
        <p:nvSpPr>
          <p:cNvPr id="151556" name="Rectangle 4"/>
          <p:cNvSpPr>
            <a:spLocks noChangeArrowheads="1"/>
          </p:cNvSpPr>
          <p:nvPr/>
        </p:nvSpPr>
        <p:spPr bwMode="auto">
          <a:xfrm>
            <a:off x="221673" y="1600505"/>
            <a:ext cx="8756071" cy="5051425"/>
          </a:xfrm>
          <a:prstGeom prst="rect">
            <a:avLst/>
          </a:prstGeom>
          <a:gradFill rotWithShape="0">
            <a:gsLst>
              <a:gs pos="0">
                <a:srgbClr val="6699FF">
                  <a:gamma/>
                  <a:shade val="46275"/>
                  <a:invGamma/>
                </a:srgbClr>
              </a:gs>
              <a:gs pos="100000">
                <a:srgbClr val="6699FF"/>
              </a:gs>
            </a:gsLst>
            <a:lin ang="0" scaled="1"/>
          </a:gradFill>
          <a:ln w="9525">
            <a:noFill/>
            <a:miter lim="800000"/>
            <a:headEnd/>
            <a:tailEnd/>
          </a:ln>
          <a:effectLst/>
        </p:spPr>
        <p:txBody>
          <a:bodyPr lIns="137160" rIns="45720" anchor="ctr"/>
          <a:lstStyle/>
          <a:p>
            <a:pPr algn="ctr"/>
            <a:endParaRPr lang="fr-FR" sz="2000" b="1">
              <a:solidFill>
                <a:srgbClr val="FFFFFF"/>
              </a:solidFill>
              <a:effectLst>
                <a:outerShdw blurRad="38100" dist="38100" dir="2700000" algn="tl">
                  <a:srgbClr val="000000"/>
                </a:outerShdw>
              </a:effectLst>
              <a:latin typeface="Arial" charset="0"/>
            </a:endParaRPr>
          </a:p>
        </p:txBody>
      </p:sp>
      <p:grpSp>
        <p:nvGrpSpPr>
          <p:cNvPr id="2" name="Groupe 66"/>
          <p:cNvGrpSpPr/>
          <p:nvPr/>
        </p:nvGrpSpPr>
        <p:grpSpPr>
          <a:xfrm>
            <a:off x="383405" y="5075543"/>
            <a:ext cx="8419444" cy="1412875"/>
            <a:chOff x="383405" y="5075543"/>
            <a:chExt cx="8419444" cy="1412875"/>
          </a:xfrm>
        </p:grpSpPr>
        <p:sp>
          <p:nvSpPr>
            <p:cNvPr id="151557" name="Rectangle 5"/>
            <p:cNvSpPr>
              <a:spLocks noChangeArrowheads="1"/>
            </p:cNvSpPr>
            <p:nvPr/>
          </p:nvSpPr>
          <p:spPr bwMode="auto">
            <a:xfrm>
              <a:off x="383405" y="5077130"/>
              <a:ext cx="3606990" cy="1401763"/>
            </a:xfrm>
            <a:prstGeom prst="rect">
              <a:avLst/>
            </a:prstGeom>
            <a:gradFill rotWithShape="0">
              <a:gsLst>
                <a:gs pos="0">
                  <a:srgbClr val="FCFEBC"/>
                </a:gs>
                <a:gs pos="100000">
                  <a:srgbClr val="FFFFEB"/>
                </a:gs>
              </a:gsLst>
              <a:lin ang="5400000" scaled="1"/>
            </a:gradFill>
            <a:ln w="9525">
              <a:solidFill>
                <a:srgbClr val="969696"/>
              </a:solidFill>
              <a:miter lim="800000"/>
              <a:headEnd/>
              <a:tailEnd/>
            </a:ln>
            <a:effectLst>
              <a:outerShdw dist="35921" dir="2700000" algn="ctr" rotWithShape="0">
                <a:srgbClr val="969696"/>
              </a:outerShdw>
            </a:effectLst>
          </p:spPr>
          <p:txBody>
            <a:bodyPr/>
            <a:lstStyle/>
            <a:p>
              <a:endParaRPr lang="fr-FR" sz="1800" b="1">
                <a:latin typeface="Arial" charset="0"/>
              </a:endParaRPr>
            </a:p>
          </p:txBody>
        </p:sp>
        <p:sp>
          <p:nvSpPr>
            <p:cNvPr id="151558" name="Rectangle 6"/>
            <p:cNvSpPr>
              <a:spLocks noChangeArrowheads="1"/>
            </p:cNvSpPr>
            <p:nvPr/>
          </p:nvSpPr>
          <p:spPr bwMode="auto">
            <a:xfrm>
              <a:off x="4129559" y="5075543"/>
              <a:ext cx="4673290" cy="1412875"/>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r>
                <a:rPr lang="fr-FR" sz="2200" b="1">
                  <a:latin typeface="Arial" charset="0"/>
                  <a:cs typeface="Times New Roman" pitchFamily="18" charset="0"/>
                </a:rPr>
                <a:t>Le contenu du fichier s'affiche à l'écran sous forme de texte brut</a:t>
              </a:r>
            </a:p>
          </p:txBody>
        </p:sp>
        <p:grpSp>
          <p:nvGrpSpPr>
            <p:cNvPr id="3" name="Group 7"/>
            <p:cNvGrpSpPr>
              <a:grpSpLocks/>
            </p:cNvGrpSpPr>
            <p:nvPr/>
          </p:nvGrpSpPr>
          <p:grpSpPr bwMode="auto">
            <a:xfrm>
              <a:off x="992719" y="5329543"/>
              <a:ext cx="1105792" cy="1030288"/>
              <a:chOff x="2967" y="2733"/>
              <a:chExt cx="789" cy="870"/>
            </a:xfrm>
          </p:grpSpPr>
          <p:grpSp>
            <p:nvGrpSpPr>
              <p:cNvPr id="4" name="Group 8"/>
              <p:cNvGrpSpPr>
                <a:grpSpLocks/>
              </p:cNvGrpSpPr>
              <p:nvPr/>
            </p:nvGrpSpPr>
            <p:grpSpPr bwMode="auto">
              <a:xfrm>
                <a:off x="2967" y="3191"/>
                <a:ext cx="763" cy="412"/>
                <a:chOff x="1929" y="1343"/>
                <a:chExt cx="763" cy="412"/>
              </a:xfrm>
            </p:grpSpPr>
            <p:sp>
              <p:nvSpPr>
                <p:cNvPr id="151561" name="Freeform 9"/>
                <p:cNvSpPr>
                  <a:spLocks noChangeAspect="1"/>
                </p:cNvSpPr>
                <p:nvPr/>
              </p:nvSpPr>
              <p:spPr bwMode="auto">
                <a:xfrm>
                  <a:off x="2428" y="1450"/>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51562" name="Freeform 10"/>
                <p:cNvSpPr>
                  <a:spLocks noChangeAspect="1"/>
                </p:cNvSpPr>
                <p:nvPr/>
              </p:nvSpPr>
              <p:spPr bwMode="auto">
                <a:xfrm>
                  <a:off x="1929" y="1343"/>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51563" name="Freeform 11"/>
                <p:cNvSpPr>
                  <a:spLocks noChangeAspect="1"/>
                </p:cNvSpPr>
                <p:nvPr/>
              </p:nvSpPr>
              <p:spPr bwMode="auto">
                <a:xfrm>
                  <a:off x="1929" y="1473"/>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51564" name="Freeform 12"/>
                <p:cNvSpPr>
                  <a:spLocks noChangeAspect="1"/>
                </p:cNvSpPr>
                <p:nvPr/>
              </p:nvSpPr>
              <p:spPr bwMode="auto">
                <a:xfrm>
                  <a:off x="2190" y="1573"/>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a:p>
              </p:txBody>
            </p:sp>
            <p:sp>
              <p:nvSpPr>
                <p:cNvPr id="151565" name="Freeform 13"/>
                <p:cNvSpPr>
                  <a:spLocks noChangeAspect="1" noChangeArrowheads="1"/>
                </p:cNvSpPr>
                <p:nvPr/>
              </p:nvSpPr>
              <p:spPr bwMode="auto">
                <a:xfrm>
                  <a:off x="2194" y="1624"/>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a:p>
              </p:txBody>
            </p:sp>
            <p:sp>
              <p:nvSpPr>
                <p:cNvPr id="151566" name="Freeform 14"/>
                <p:cNvSpPr>
                  <a:spLocks/>
                </p:cNvSpPr>
                <p:nvPr/>
              </p:nvSpPr>
              <p:spPr bwMode="auto">
                <a:xfrm>
                  <a:off x="2190" y="1572"/>
                  <a:ext cx="195" cy="84"/>
                </a:xfrm>
                <a:custGeom>
                  <a:avLst/>
                  <a:gdLst/>
                  <a:ahLst/>
                  <a:cxnLst>
                    <a:cxn ang="0">
                      <a:pos x="0" y="84"/>
                    </a:cxn>
                    <a:cxn ang="0">
                      <a:pos x="0" y="0"/>
                    </a:cxn>
                    <a:cxn ang="0">
                      <a:pos x="195" y="54"/>
                    </a:cxn>
                  </a:cxnLst>
                  <a:rect l="0" t="0" r="r" b="b"/>
                  <a:pathLst>
                    <a:path w="195" h="84">
                      <a:moveTo>
                        <a:pt x="0" y="84"/>
                      </a:moveTo>
                      <a:lnTo>
                        <a:pt x="0" y="0"/>
                      </a:lnTo>
                      <a:lnTo>
                        <a:pt x="195" y="54"/>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a:p>
              </p:txBody>
            </p:sp>
            <p:sp>
              <p:nvSpPr>
                <p:cNvPr id="151567" name="Line 15"/>
                <p:cNvSpPr>
                  <a:spLocks noChangeShapeType="1"/>
                </p:cNvSpPr>
                <p:nvPr/>
              </p:nvSpPr>
              <p:spPr bwMode="auto">
                <a:xfrm>
                  <a:off x="2207" y="1600"/>
                  <a:ext cx="153" cy="38"/>
                </a:xfrm>
                <a:prstGeom prst="line">
                  <a:avLst/>
                </a:prstGeom>
                <a:noFill/>
                <a:ln w="3175">
                  <a:solidFill>
                    <a:srgbClr val="777777"/>
                  </a:solidFill>
                  <a:round/>
                  <a:headEnd/>
                  <a:tailEnd/>
                </a:ln>
                <a:effectLst/>
              </p:spPr>
              <p:txBody>
                <a:bodyPr wrap="none" tIns="27432" bIns="27432" anchor="ctr">
                  <a:spAutoFit/>
                </a:bodyPr>
                <a:lstStyle/>
                <a:p>
                  <a:endParaRPr lang="fr-FR"/>
                </a:p>
              </p:txBody>
            </p:sp>
            <p:sp>
              <p:nvSpPr>
                <p:cNvPr id="151568" name="Line 16"/>
                <p:cNvSpPr>
                  <a:spLocks noChangeShapeType="1"/>
                </p:cNvSpPr>
                <p:nvPr/>
              </p:nvSpPr>
              <p:spPr bwMode="auto">
                <a:xfrm>
                  <a:off x="2337" y="1678"/>
                  <a:ext cx="29" cy="6"/>
                </a:xfrm>
                <a:prstGeom prst="line">
                  <a:avLst/>
                </a:prstGeom>
                <a:noFill/>
                <a:ln w="19050">
                  <a:solidFill>
                    <a:srgbClr val="D60093"/>
                  </a:solidFill>
                  <a:round/>
                  <a:headEnd/>
                  <a:tailEnd/>
                </a:ln>
                <a:effectLst/>
              </p:spPr>
              <p:txBody>
                <a:bodyPr wrap="none" tIns="27432" bIns="27432" anchor="ctr">
                  <a:spAutoFit/>
                </a:bodyPr>
                <a:lstStyle/>
                <a:p>
                  <a:endParaRPr lang="fr-FR"/>
                </a:p>
              </p:txBody>
            </p:sp>
            <p:sp>
              <p:nvSpPr>
                <p:cNvPr id="151569" name="Freeform 17"/>
                <p:cNvSpPr>
                  <a:spLocks/>
                </p:cNvSpPr>
                <p:nvPr/>
              </p:nvSpPr>
              <p:spPr bwMode="auto">
                <a:xfrm>
                  <a:off x="2255" y="1610"/>
                  <a:ext cx="47" cy="2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a:p>
              </p:txBody>
            </p:sp>
            <p:sp>
              <p:nvSpPr>
                <p:cNvPr id="151570" name="Line 18"/>
                <p:cNvSpPr>
                  <a:spLocks noChangeShapeType="1"/>
                </p:cNvSpPr>
                <p:nvPr/>
              </p:nvSpPr>
              <p:spPr bwMode="auto">
                <a:xfrm>
                  <a:off x="1942" y="1503"/>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51571" name="Line 19"/>
                <p:cNvSpPr>
                  <a:spLocks noChangeShapeType="1"/>
                </p:cNvSpPr>
                <p:nvPr/>
              </p:nvSpPr>
              <p:spPr bwMode="auto">
                <a:xfrm>
                  <a:off x="1942" y="1525"/>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51572" name="Line 20"/>
                <p:cNvSpPr>
                  <a:spLocks noChangeShapeType="1"/>
                </p:cNvSpPr>
                <p:nvPr/>
              </p:nvSpPr>
              <p:spPr bwMode="auto">
                <a:xfrm>
                  <a:off x="1942" y="1548"/>
                  <a:ext cx="202" cy="57"/>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51573" name="Line 21"/>
                <p:cNvSpPr>
                  <a:spLocks noChangeShapeType="1"/>
                </p:cNvSpPr>
                <p:nvPr/>
              </p:nvSpPr>
              <p:spPr bwMode="auto">
                <a:xfrm>
                  <a:off x="1942" y="1570"/>
                  <a:ext cx="202" cy="56"/>
                </a:xfrm>
                <a:prstGeom prst="line">
                  <a:avLst/>
                </a:prstGeom>
                <a:noFill/>
                <a:ln w="6350">
                  <a:solidFill>
                    <a:srgbClr val="777777"/>
                  </a:solidFill>
                  <a:round/>
                  <a:headEnd/>
                  <a:tailEnd/>
                </a:ln>
                <a:effectLst/>
              </p:spPr>
              <p:txBody>
                <a:bodyPr tIns="27432" bIns="27432" anchor="ctr">
                  <a:spAutoFit/>
                </a:bodyPr>
                <a:lstStyle/>
                <a:p>
                  <a:endParaRPr lang="fr-FR"/>
                </a:p>
              </p:txBody>
            </p:sp>
            <p:sp>
              <p:nvSpPr>
                <p:cNvPr id="151574" name="Freeform 22"/>
                <p:cNvSpPr>
                  <a:spLocks/>
                </p:cNvSpPr>
                <p:nvPr/>
              </p:nvSpPr>
              <p:spPr bwMode="auto">
                <a:xfrm>
                  <a:off x="2192" y="1632"/>
                  <a:ext cx="198" cy="84"/>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a:p>
              </p:txBody>
            </p:sp>
          </p:grpSp>
          <p:grpSp>
            <p:nvGrpSpPr>
              <p:cNvPr id="5" name="Group 23"/>
              <p:cNvGrpSpPr>
                <a:grpSpLocks/>
              </p:cNvGrpSpPr>
              <p:nvPr/>
            </p:nvGrpSpPr>
            <p:grpSpPr bwMode="auto">
              <a:xfrm>
                <a:off x="3042" y="2733"/>
                <a:ext cx="714" cy="672"/>
                <a:chOff x="2004" y="885"/>
                <a:chExt cx="714" cy="672"/>
              </a:xfrm>
            </p:grpSpPr>
            <p:sp>
              <p:nvSpPr>
                <p:cNvPr id="151576" name="Freeform 24"/>
                <p:cNvSpPr>
                  <a:spLocks/>
                </p:cNvSpPr>
                <p:nvPr/>
              </p:nvSpPr>
              <p:spPr bwMode="auto">
                <a:xfrm>
                  <a:off x="2058" y="1322"/>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a:p>
              </p:txBody>
            </p:sp>
            <p:sp>
              <p:nvSpPr>
                <p:cNvPr id="151577" name="Freeform 25"/>
                <p:cNvSpPr>
                  <a:spLocks/>
                </p:cNvSpPr>
                <p:nvPr/>
              </p:nvSpPr>
              <p:spPr bwMode="auto">
                <a:xfrm>
                  <a:off x="2065" y="1327"/>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a:p>
              </p:txBody>
            </p:sp>
            <p:sp>
              <p:nvSpPr>
                <p:cNvPr id="151578" name="Oval 26"/>
                <p:cNvSpPr>
                  <a:spLocks noChangeArrowheads="1"/>
                </p:cNvSpPr>
                <p:nvPr/>
              </p:nvSpPr>
              <p:spPr bwMode="auto">
                <a:xfrm>
                  <a:off x="2199" y="1378"/>
                  <a:ext cx="280" cy="112"/>
                </a:xfrm>
                <a:prstGeom prst="ellipse">
                  <a:avLst/>
                </a:prstGeom>
                <a:solidFill>
                  <a:srgbClr val="B2B2B2"/>
                </a:solidFill>
                <a:ln w="3175" cap="rnd">
                  <a:solidFill>
                    <a:schemeClr val="tx1"/>
                  </a:solidFill>
                  <a:round/>
                  <a:headEnd/>
                  <a:tailEnd/>
                </a:ln>
                <a:effectLst/>
              </p:spPr>
              <p:txBody>
                <a:bodyPr/>
                <a:lstStyle/>
                <a:p>
                  <a:endParaRPr lang="fr-FR"/>
                </a:p>
              </p:txBody>
            </p:sp>
            <p:sp>
              <p:nvSpPr>
                <p:cNvPr id="151579" name="Freeform 27"/>
                <p:cNvSpPr>
                  <a:spLocks/>
                </p:cNvSpPr>
                <p:nvPr/>
              </p:nvSpPr>
              <p:spPr bwMode="auto">
                <a:xfrm>
                  <a:off x="2046" y="1382"/>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a:p>
              </p:txBody>
            </p:sp>
            <p:sp>
              <p:nvSpPr>
                <p:cNvPr id="151580" name="Freeform 28"/>
                <p:cNvSpPr>
                  <a:spLocks noChangeAspect="1"/>
                </p:cNvSpPr>
                <p:nvPr/>
              </p:nvSpPr>
              <p:spPr bwMode="auto">
                <a:xfrm>
                  <a:off x="2154" y="885"/>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51581" name="Freeform 29"/>
                <p:cNvSpPr>
                  <a:spLocks noChangeAspect="1"/>
                </p:cNvSpPr>
                <p:nvPr/>
              </p:nvSpPr>
              <p:spPr bwMode="auto">
                <a:xfrm>
                  <a:off x="2506" y="1000"/>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51582" name="Freeform 30"/>
                <p:cNvSpPr>
                  <a:spLocks noChangeAspect="1"/>
                </p:cNvSpPr>
                <p:nvPr/>
              </p:nvSpPr>
              <p:spPr bwMode="auto">
                <a:xfrm>
                  <a:off x="2004" y="891"/>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a:p>
              </p:txBody>
            </p:sp>
            <p:sp>
              <p:nvSpPr>
                <p:cNvPr id="151583" name="Freeform 31"/>
                <p:cNvSpPr>
                  <a:spLocks noChangeAspect="1"/>
                </p:cNvSpPr>
                <p:nvPr/>
              </p:nvSpPr>
              <p:spPr bwMode="auto">
                <a:xfrm>
                  <a:off x="2004" y="942"/>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a:p>
              </p:txBody>
            </p:sp>
            <p:sp>
              <p:nvSpPr>
                <p:cNvPr id="151584" name="Freeform 32"/>
                <p:cNvSpPr>
                  <a:spLocks noChangeAspect="1"/>
                </p:cNvSpPr>
                <p:nvPr/>
              </p:nvSpPr>
              <p:spPr bwMode="auto">
                <a:xfrm>
                  <a:off x="2043" y="992"/>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a:p>
              </p:txBody>
            </p:sp>
            <p:sp>
              <p:nvSpPr>
                <p:cNvPr id="151585" name="Freeform 33"/>
                <p:cNvSpPr>
                  <a:spLocks/>
                </p:cNvSpPr>
                <p:nvPr/>
              </p:nvSpPr>
              <p:spPr bwMode="auto">
                <a:xfrm>
                  <a:off x="2069" y="1023"/>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a:p>
              </p:txBody>
            </p:sp>
            <p:sp>
              <p:nvSpPr>
                <p:cNvPr id="151586" name="Line 34"/>
                <p:cNvSpPr>
                  <a:spLocks noChangeShapeType="1"/>
                </p:cNvSpPr>
                <p:nvPr/>
              </p:nvSpPr>
              <p:spPr bwMode="auto">
                <a:xfrm>
                  <a:off x="2102" y="1056"/>
                  <a:ext cx="0" cy="61"/>
                </a:xfrm>
                <a:prstGeom prst="line">
                  <a:avLst/>
                </a:prstGeom>
                <a:noFill/>
                <a:ln w="25400">
                  <a:solidFill>
                    <a:schemeClr val="bg1"/>
                  </a:solidFill>
                  <a:round/>
                  <a:headEnd/>
                  <a:tailEnd/>
                </a:ln>
                <a:effectLst/>
              </p:spPr>
              <p:txBody>
                <a:bodyPr wrap="none" anchor="ctr"/>
                <a:lstStyle/>
                <a:p>
                  <a:endParaRPr lang="fr-FR"/>
                </a:p>
              </p:txBody>
            </p:sp>
          </p:grpSp>
        </p:grpSp>
        <p:sp>
          <p:nvSpPr>
            <p:cNvPr id="151587" name="Freeform 35"/>
            <p:cNvSpPr>
              <a:spLocks/>
            </p:cNvSpPr>
            <p:nvPr/>
          </p:nvSpPr>
          <p:spPr bwMode="auto">
            <a:xfrm>
              <a:off x="1519287" y="5354943"/>
              <a:ext cx="1179136" cy="949325"/>
            </a:xfrm>
            <a:custGeom>
              <a:avLst/>
              <a:gdLst/>
              <a:ahLst/>
              <a:cxnLst>
                <a:cxn ang="0">
                  <a:pos x="495" y="0"/>
                </a:cxn>
                <a:cxn ang="0">
                  <a:pos x="0" y="247"/>
                </a:cxn>
                <a:cxn ang="0">
                  <a:pos x="517" y="598"/>
                </a:cxn>
              </a:cxnLst>
              <a:rect l="0" t="0" r="r" b="b"/>
              <a:pathLst>
                <a:path w="517" h="598">
                  <a:moveTo>
                    <a:pt x="495" y="0"/>
                  </a:moveTo>
                  <a:lnTo>
                    <a:pt x="0" y="247"/>
                  </a:lnTo>
                  <a:lnTo>
                    <a:pt x="517" y="598"/>
                  </a:lnTo>
                </a:path>
              </a:pathLst>
            </a:custGeom>
            <a:gradFill rotWithShape="0">
              <a:gsLst>
                <a:gs pos="0">
                  <a:srgbClr val="6699FF">
                    <a:gamma/>
                    <a:shade val="46275"/>
                    <a:invGamma/>
                  </a:srgbClr>
                </a:gs>
                <a:gs pos="100000">
                  <a:srgbClr val="6699FF"/>
                </a:gs>
              </a:gsLst>
              <a:lin ang="0" scaled="1"/>
            </a:gradFill>
            <a:ln w="9525" cap="flat" cmpd="sng">
              <a:noFill/>
              <a:prstDash val="solid"/>
              <a:round/>
              <a:headEnd type="none" w="med" len="med"/>
              <a:tailEnd type="none" w="med" len="med"/>
            </a:ln>
            <a:effectLst/>
          </p:spPr>
          <p:txBody>
            <a:bodyPr lIns="137160" rIns="45720" anchor="ctr"/>
            <a:lstStyle/>
            <a:p>
              <a:endParaRPr lang="fr-FR"/>
            </a:p>
          </p:txBody>
        </p:sp>
        <p:grpSp>
          <p:nvGrpSpPr>
            <p:cNvPr id="6" name="Group 36"/>
            <p:cNvGrpSpPr>
              <a:grpSpLocks/>
            </p:cNvGrpSpPr>
            <p:nvPr/>
          </p:nvGrpSpPr>
          <p:grpSpPr bwMode="auto">
            <a:xfrm>
              <a:off x="2465228" y="5235880"/>
              <a:ext cx="1100151" cy="1157288"/>
              <a:chOff x="2180" y="2597"/>
              <a:chExt cx="560" cy="730"/>
            </a:xfrm>
          </p:grpSpPr>
          <p:sp>
            <p:nvSpPr>
              <p:cNvPr id="151589" name="AutoShape 37"/>
              <p:cNvSpPr>
                <a:spLocks noChangeArrowheads="1"/>
              </p:cNvSpPr>
              <p:nvPr/>
            </p:nvSpPr>
            <p:spPr bwMode="auto">
              <a:xfrm flipV="1">
                <a:off x="2180" y="2597"/>
                <a:ext cx="560" cy="730"/>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a:lstStyle/>
              <a:p>
                <a:pPr algn="ctr"/>
                <a:endParaRPr lang="fr-FR" sz="2600"/>
              </a:p>
            </p:txBody>
          </p:sp>
          <p:sp>
            <p:nvSpPr>
              <p:cNvPr id="151590" name="Line 38"/>
              <p:cNvSpPr>
                <a:spLocks noChangeShapeType="1"/>
              </p:cNvSpPr>
              <p:nvPr/>
            </p:nvSpPr>
            <p:spPr bwMode="auto">
              <a:xfrm>
                <a:off x="2266" y="2718"/>
                <a:ext cx="286" cy="0"/>
              </a:xfrm>
              <a:prstGeom prst="line">
                <a:avLst/>
              </a:prstGeom>
              <a:noFill/>
              <a:ln w="28575">
                <a:solidFill>
                  <a:srgbClr val="0000FF"/>
                </a:solidFill>
                <a:round/>
                <a:headEnd/>
                <a:tailEnd/>
              </a:ln>
              <a:effectLst/>
            </p:spPr>
            <p:txBody>
              <a:bodyPr wrap="none" tIns="27432" bIns="27432" anchor="ctr"/>
              <a:lstStyle/>
              <a:p>
                <a:endParaRPr lang="fr-FR"/>
              </a:p>
            </p:txBody>
          </p:sp>
          <p:sp>
            <p:nvSpPr>
              <p:cNvPr id="151591" name="Line 39"/>
              <p:cNvSpPr>
                <a:spLocks noChangeShapeType="1"/>
              </p:cNvSpPr>
              <p:nvPr/>
            </p:nvSpPr>
            <p:spPr bwMode="auto">
              <a:xfrm>
                <a:off x="2266" y="2814"/>
                <a:ext cx="286" cy="0"/>
              </a:xfrm>
              <a:prstGeom prst="line">
                <a:avLst/>
              </a:prstGeom>
              <a:noFill/>
              <a:ln w="28575">
                <a:solidFill>
                  <a:srgbClr val="0000FF"/>
                </a:solidFill>
                <a:round/>
                <a:headEnd/>
                <a:tailEnd/>
              </a:ln>
              <a:effectLst/>
            </p:spPr>
            <p:txBody>
              <a:bodyPr wrap="none" tIns="27432" bIns="27432" anchor="ctr"/>
              <a:lstStyle/>
              <a:p>
                <a:endParaRPr lang="fr-FR"/>
              </a:p>
            </p:txBody>
          </p:sp>
          <p:sp>
            <p:nvSpPr>
              <p:cNvPr id="151592" name="Line 40"/>
              <p:cNvSpPr>
                <a:spLocks noChangeShapeType="1"/>
              </p:cNvSpPr>
              <p:nvPr/>
            </p:nvSpPr>
            <p:spPr bwMode="auto">
              <a:xfrm>
                <a:off x="2266" y="2909"/>
                <a:ext cx="382" cy="0"/>
              </a:xfrm>
              <a:prstGeom prst="line">
                <a:avLst/>
              </a:prstGeom>
              <a:noFill/>
              <a:ln w="28575">
                <a:solidFill>
                  <a:srgbClr val="0000FF"/>
                </a:solidFill>
                <a:round/>
                <a:headEnd/>
                <a:tailEnd/>
              </a:ln>
              <a:effectLst/>
            </p:spPr>
            <p:txBody>
              <a:bodyPr wrap="none" tIns="27432" bIns="27432" anchor="ctr"/>
              <a:lstStyle/>
              <a:p>
                <a:endParaRPr lang="fr-FR"/>
              </a:p>
            </p:txBody>
          </p:sp>
          <p:sp>
            <p:nvSpPr>
              <p:cNvPr id="151593" name="Line 41"/>
              <p:cNvSpPr>
                <a:spLocks noChangeShapeType="1"/>
              </p:cNvSpPr>
              <p:nvPr/>
            </p:nvSpPr>
            <p:spPr bwMode="auto">
              <a:xfrm>
                <a:off x="2266" y="2998"/>
                <a:ext cx="382" cy="0"/>
              </a:xfrm>
              <a:prstGeom prst="line">
                <a:avLst/>
              </a:prstGeom>
              <a:noFill/>
              <a:ln w="28575">
                <a:solidFill>
                  <a:srgbClr val="0000FF"/>
                </a:solidFill>
                <a:round/>
                <a:headEnd/>
                <a:tailEnd/>
              </a:ln>
              <a:effectLst/>
            </p:spPr>
            <p:txBody>
              <a:bodyPr wrap="none" tIns="27432" bIns="27432" anchor="ctr"/>
              <a:lstStyle/>
              <a:p>
                <a:endParaRPr lang="fr-FR"/>
              </a:p>
            </p:txBody>
          </p:sp>
          <p:sp>
            <p:nvSpPr>
              <p:cNvPr id="151594" name="Line 42"/>
              <p:cNvSpPr>
                <a:spLocks noChangeShapeType="1"/>
              </p:cNvSpPr>
              <p:nvPr/>
            </p:nvSpPr>
            <p:spPr bwMode="auto">
              <a:xfrm>
                <a:off x="2266" y="3105"/>
                <a:ext cx="382" cy="0"/>
              </a:xfrm>
              <a:prstGeom prst="line">
                <a:avLst/>
              </a:prstGeom>
              <a:noFill/>
              <a:ln w="28575">
                <a:solidFill>
                  <a:srgbClr val="0000FF"/>
                </a:solidFill>
                <a:round/>
                <a:headEnd/>
                <a:tailEnd/>
              </a:ln>
              <a:effectLst/>
            </p:spPr>
            <p:txBody>
              <a:bodyPr wrap="none" tIns="27432" bIns="27432" anchor="ctr"/>
              <a:lstStyle/>
              <a:p>
                <a:endParaRPr lang="fr-FR"/>
              </a:p>
            </p:txBody>
          </p:sp>
          <p:sp>
            <p:nvSpPr>
              <p:cNvPr id="151595" name="Line 43"/>
              <p:cNvSpPr>
                <a:spLocks noChangeShapeType="1"/>
              </p:cNvSpPr>
              <p:nvPr/>
            </p:nvSpPr>
            <p:spPr bwMode="auto">
              <a:xfrm>
                <a:off x="2266" y="3218"/>
                <a:ext cx="382" cy="0"/>
              </a:xfrm>
              <a:prstGeom prst="line">
                <a:avLst/>
              </a:prstGeom>
              <a:noFill/>
              <a:ln w="28575">
                <a:solidFill>
                  <a:srgbClr val="0000FF"/>
                </a:solidFill>
                <a:round/>
                <a:headEnd/>
                <a:tailEnd/>
              </a:ln>
              <a:effectLst/>
            </p:spPr>
            <p:txBody>
              <a:bodyPr wrap="none" tIns="27432" bIns="27432" anchor="ctr"/>
              <a:lstStyle/>
              <a:p>
                <a:endParaRPr lang="fr-FR"/>
              </a:p>
            </p:txBody>
          </p:sp>
        </p:grpSp>
      </p:grpSp>
      <p:grpSp>
        <p:nvGrpSpPr>
          <p:cNvPr id="7" name="Groupe 65"/>
          <p:cNvGrpSpPr/>
          <p:nvPr/>
        </p:nvGrpSpPr>
        <p:grpSpPr>
          <a:xfrm>
            <a:off x="383405" y="3446768"/>
            <a:ext cx="8419444" cy="1465263"/>
            <a:chOff x="383405" y="3446768"/>
            <a:chExt cx="8419444" cy="1465263"/>
          </a:xfrm>
        </p:grpSpPr>
        <p:sp>
          <p:nvSpPr>
            <p:cNvPr id="151596" name="Rectangle 44"/>
            <p:cNvSpPr>
              <a:spLocks noChangeArrowheads="1"/>
            </p:cNvSpPr>
            <p:nvPr/>
          </p:nvSpPr>
          <p:spPr bwMode="auto">
            <a:xfrm>
              <a:off x="383405" y="3448355"/>
              <a:ext cx="3606990" cy="1455738"/>
            </a:xfrm>
            <a:prstGeom prst="rect">
              <a:avLst/>
            </a:prstGeom>
            <a:gradFill rotWithShape="0">
              <a:gsLst>
                <a:gs pos="0">
                  <a:srgbClr val="FCFEBC"/>
                </a:gs>
                <a:gs pos="100000">
                  <a:srgbClr val="FFFFEB"/>
                </a:gs>
              </a:gsLst>
              <a:lin ang="5400000" scaled="1"/>
            </a:gradFill>
            <a:ln w="9525">
              <a:solidFill>
                <a:srgbClr val="969696"/>
              </a:solidFill>
              <a:miter lim="800000"/>
              <a:headEnd/>
              <a:tailEnd/>
            </a:ln>
            <a:effectLst>
              <a:outerShdw dist="35921" dir="2700000" algn="ctr" rotWithShape="0">
                <a:srgbClr val="969696"/>
              </a:outerShdw>
            </a:effectLst>
          </p:spPr>
          <p:txBody>
            <a:bodyPr/>
            <a:lstStyle/>
            <a:p>
              <a:endParaRPr lang="fr-FR" sz="1800" b="1">
                <a:latin typeface="Arial" charset="0"/>
              </a:endParaRPr>
            </a:p>
          </p:txBody>
        </p:sp>
        <p:sp>
          <p:nvSpPr>
            <p:cNvPr id="151597" name="Rectangle 45"/>
            <p:cNvSpPr>
              <a:spLocks noChangeArrowheads="1"/>
            </p:cNvSpPr>
            <p:nvPr/>
          </p:nvSpPr>
          <p:spPr bwMode="auto">
            <a:xfrm>
              <a:off x="4129559" y="3446768"/>
              <a:ext cx="4673290" cy="1465263"/>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r>
                <a:rPr lang="fr-FR" sz="2200" b="1">
                  <a:latin typeface="Arial" charset="0"/>
                  <a:cs typeface="Times New Roman" pitchFamily="18" charset="0"/>
                </a:rPr>
                <a:t>Votre clé privée est appliquée au champ DDF</a:t>
              </a:r>
            </a:p>
          </p:txBody>
        </p:sp>
        <p:sp>
          <p:nvSpPr>
            <p:cNvPr id="151611" name="AutoShape 59"/>
            <p:cNvSpPr>
              <a:spLocks noChangeArrowheads="1"/>
            </p:cNvSpPr>
            <p:nvPr/>
          </p:nvSpPr>
          <p:spPr bwMode="auto">
            <a:xfrm flipV="1">
              <a:off x="981435" y="3522968"/>
              <a:ext cx="1102031" cy="1184275"/>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a:lstStyle/>
            <a:p>
              <a:pPr>
                <a:lnSpc>
                  <a:spcPct val="65000"/>
                </a:lnSpc>
              </a:pPr>
              <a:r>
                <a:rPr lang="fr-FR" sz="2200">
                  <a:solidFill>
                    <a:srgbClr val="E00085"/>
                  </a:solidFill>
                  <a:latin typeface="Arial" charset="0"/>
                </a:rPr>
                <a:t>~~~~</a:t>
              </a:r>
            </a:p>
            <a:p>
              <a:pPr>
                <a:lnSpc>
                  <a:spcPct val="65000"/>
                </a:lnSpc>
              </a:pPr>
              <a:r>
                <a:rPr lang="fr-FR" sz="2200">
                  <a:solidFill>
                    <a:srgbClr val="E00085"/>
                  </a:solidFill>
                  <a:latin typeface="Arial" charset="0"/>
                </a:rPr>
                <a:t>~~~~~</a:t>
              </a:r>
            </a:p>
            <a:p>
              <a:pPr>
                <a:lnSpc>
                  <a:spcPct val="65000"/>
                </a:lnSpc>
              </a:pPr>
              <a:r>
                <a:rPr lang="fr-FR" sz="2200">
                  <a:solidFill>
                    <a:srgbClr val="E00085"/>
                  </a:solidFill>
                  <a:latin typeface="Arial" charset="0"/>
                </a:rPr>
                <a:t>~~~~~</a:t>
              </a:r>
            </a:p>
            <a:p>
              <a:pPr>
                <a:lnSpc>
                  <a:spcPct val="65000"/>
                </a:lnSpc>
              </a:pPr>
              <a:r>
                <a:rPr lang="fr-FR" sz="2200">
                  <a:solidFill>
                    <a:srgbClr val="E00085"/>
                  </a:solidFill>
                  <a:latin typeface="Arial" charset="0"/>
                </a:rPr>
                <a:t>~~~~~</a:t>
              </a:r>
            </a:p>
          </p:txBody>
        </p:sp>
        <p:sp>
          <p:nvSpPr>
            <p:cNvPr id="151612" name="Freeform 60"/>
            <p:cNvSpPr>
              <a:spLocks/>
            </p:cNvSpPr>
            <p:nvPr/>
          </p:nvSpPr>
          <p:spPr bwMode="auto">
            <a:xfrm>
              <a:off x="1613317" y="3565830"/>
              <a:ext cx="953464" cy="311150"/>
            </a:xfrm>
            <a:custGeom>
              <a:avLst/>
              <a:gdLst/>
              <a:ahLst/>
              <a:cxnLst>
                <a:cxn ang="0">
                  <a:pos x="0" y="60"/>
                </a:cxn>
                <a:cxn ang="0">
                  <a:pos x="500" y="0"/>
                </a:cxn>
                <a:cxn ang="0">
                  <a:pos x="507" y="173"/>
                </a:cxn>
                <a:cxn ang="0">
                  <a:pos x="0" y="60"/>
                </a:cxn>
              </a:cxnLst>
              <a:rect l="0" t="0" r="r" b="b"/>
              <a:pathLst>
                <a:path w="507" h="173">
                  <a:moveTo>
                    <a:pt x="0" y="60"/>
                  </a:moveTo>
                  <a:lnTo>
                    <a:pt x="500" y="0"/>
                  </a:lnTo>
                  <a:lnTo>
                    <a:pt x="507" y="173"/>
                  </a:lnTo>
                  <a:lnTo>
                    <a:pt x="0" y="60"/>
                  </a:lnTo>
                  <a:close/>
                </a:path>
              </a:pathLst>
            </a:custGeom>
            <a:gradFill rotWithShape="0">
              <a:gsLst>
                <a:gs pos="0">
                  <a:srgbClr val="6699FF">
                    <a:gamma/>
                    <a:shade val="46275"/>
                    <a:invGamma/>
                  </a:srgbClr>
                </a:gs>
                <a:gs pos="100000">
                  <a:srgbClr val="6699FF"/>
                </a:gs>
              </a:gsLst>
              <a:lin ang="0" scaled="1"/>
            </a:gradFill>
            <a:ln w="9525" cap="flat" cmpd="sng">
              <a:noFill/>
              <a:prstDash val="solid"/>
              <a:round/>
              <a:headEnd/>
              <a:tailEnd/>
            </a:ln>
            <a:effectLst/>
          </p:spPr>
          <p:txBody>
            <a:bodyPr lIns="137160" rIns="45720" anchor="ctr"/>
            <a:lstStyle/>
            <a:p>
              <a:endParaRPr lang="fr-FR"/>
            </a:p>
          </p:txBody>
        </p:sp>
        <p:sp>
          <p:nvSpPr>
            <p:cNvPr id="151613" name="Rectangle 61"/>
            <p:cNvSpPr>
              <a:spLocks noChangeArrowheads="1"/>
            </p:cNvSpPr>
            <p:nvPr/>
          </p:nvSpPr>
          <p:spPr bwMode="auto">
            <a:xfrm>
              <a:off x="2467109" y="3576943"/>
              <a:ext cx="1152807" cy="338138"/>
            </a:xfrm>
            <a:prstGeom prst="rect">
              <a:avLst/>
            </a:prstGeom>
            <a:solidFill>
              <a:srgbClr val="EC008C"/>
            </a:solidFill>
            <a:ln w="9525">
              <a:solidFill>
                <a:schemeClr val="tx1"/>
              </a:solidFill>
              <a:miter lim="800000"/>
              <a:headEnd/>
              <a:tailEnd/>
            </a:ln>
            <a:effectLst/>
          </p:spPr>
          <p:txBody>
            <a:bodyPr wrap="none" anchor="ctr"/>
            <a:lstStyle/>
            <a:p>
              <a:pPr algn="ctr"/>
              <a:r>
                <a:rPr lang="fr-FR" sz="1800" b="1">
                  <a:solidFill>
                    <a:schemeClr val="bg1"/>
                  </a:solidFill>
                  <a:effectLst>
                    <a:outerShdw blurRad="38100" dist="38100" dir="2700000" algn="tl">
                      <a:srgbClr val="000000"/>
                    </a:outerShdw>
                  </a:effectLst>
                  <a:latin typeface="Arial" charset="0"/>
                </a:rPr>
                <a:t>DDF</a:t>
              </a:r>
            </a:p>
          </p:txBody>
        </p:sp>
        <p:sp>
          <p:nvSpPr>
            <p:cNvPr id="151614" name="Freeform 62"/>
            <p:cNvSpPr>
              <a:spLocks/>
            </p:cNvSpPr>
            <p:nvPr/>
          </p:nvSpPr>
          <p:spPr bwMode="auto">
            <a:xfrm>
              <a:off x="2318541" y="3981755"/>
              <a:ext cx="1606032" cy="763588"/>
            </a:xfrm>
            <a:custGeom>
              <a:avLst/>
              <a:gdLst/>
              <a:ahLst/>
              <a:cxnLst>
                <a:cxn ang="0">
                  <a:pos x="68" y="288"/>
                </a:cxn>
                <a:cxn ang="0">
                  <a:pos x="91" y="260"/>
                </a:cxn>
                <a:cxn ang="0">
                  <a:pos x="124" y="250"/>
                </a:cxn>
                <a:cxn ang="0">
                  <a:pos x="158" y="260"/>
                </a:cxn>
                <a:cxn ang="0">
                  <a:pos x="178" y="288"/>
                </a:cxn>
                <a:cxn ang="0">
                  <a:pos x="180" y="326"/>
                </a:cxn>
                <a:cxn ang="0">
                  <a:pos x="165" y="359"/>
                </a:cxn>
                <a:cxn ang="0">
                  <a:pos x="135" y="374"/>
                </a:cxn>
                <a:cxn ang="0">
                  <a:pos x="99" y="372"/>
                </a:cxn>
                <a:cxn ang="0">
                  <a:pos x="74" y="349"/>
                </a:cxn>
                <a:cxn ang="0">
                  <a:pos x="66" y="313"/>
                </a:cxn>
                <a:cxn ang="0">
                  <a:pos x="12" y="367"/>
                </a:cxn>
                <a:cxn ang="0">
                  <a:pos x="66" y="405"/>
                </a:cxn>
                <a:cxn ang="0">
                  <a:pos x="117" y="418"/>
                </a:cxn>
                <a:cxn ang="0">
                  <a:pos x="140" y="436"/>
                </a:cxn>
                <a:cxn ang="0">
                  <a:pos x="145" y="471"/>
                </a:cxn>
                <a:cxn ang="0">
                  <a:pos x="147" y="538"/>
                </a:cxn>
                <a:cxn ang="0">
                  <a:pos x="247" y="614"/>
                </a:cxn>
                <a:cxn ang="0">
                  <a:pos x="371" y="555"/>
                </a:cxn>
                <a:cxn ang="0">
                  <a:pos x="438" y="408"/>
                </a:cxn>
                <a:cxn ang="0">
                  <a:pos x="504" y="390"/>
                </a:cxn>
                <a:cxn ang="0">
                  <a:pos x="537" y="425"/>
                </a:cxn>
                <a:cxn ang="0">
                  <a:pos x="552" y="443"/>
                </a:cxn>
                <a:cxn ang="0">
                  <a:pos x="588" y="430"/>
                </a:cxn>
                <a:cxn ang="0">
                  <a:pos x="789" y="397"/>
                </a:cxn>
                <a:cxn ang="0">
                  <a:pos x="820" y="377"/>
                </a:cxn>
                <a:cxn ang="0">
                  <a:pos x="848" y="382"/>
                </a:cxn>
                <a:cxn ang="0">
                  <a:pos x="955" y="400"/>
                </a:cxn>
                <a:cxn ang="0">
                  <a:pos x="973" y="374"/>
                </a:cxn>
                <a:cxn ang="0">
                  <a:pos x="990" y="367"/>
                </a:cxn>
                <a:cxn ang="0">
                  <a:pos x="1044" y="351"/>
                </a:cxn>
                <a:cxn ang="0">
                  <a:pos x="1057" y="323"/>
                </a:cxn>
                <a:cxn ang="0">
                  <a:pos x="1080" y="326"/>
                </a:cxn>
                <a:cxn ang="0">
                  <a:pos x="1164" y="267"/>
                </a:cxn>
                <a:cxn ang="0">
                  <a:pos x="606" y="216"/>
                </a:cxn>
                <a:cxn ang="0">
                  <a:pos x="575" y="176"/>
                </a:cxn>
                <a:cxn ang="0">
                  <a:pos x="545" y="173"/>
                </a:cxn>
                <a:cxn ang="0">
                  <a:pos x="532" y="199"/>
                </a:cxn>
                <a:cxn ang="0">
                  <a:pos x="481" y="229"/>
                </a:cxn>
                <a:cxn ang="0">
                  <a:pos x="415" y="173"/>
                </a:cxn>
                <a:cxn ang="0">
                  <a:pos x="341" y="20"/>
                </a:cxn>
                <a:cxn ang="0">
                  <a:pos x="208" y="12"/>
                </a:cxn>
                <a:cxn ang="0">
                  <a:pos x="145" y="120"/>
                </a:cxn>
                <a:cxn ang="0">
                  <a:pos x="145" y="155"/>
                </a:cxn>
                <a:cxn ang="0">
                  <a:pos x="132" y="193"/>
                </a:cxn>
                <a:cxn ang="0">
                  <a:pos x="99" y="209"/>
                </a:cxn>
                <a:cxn ang="0">
                  <a:pos x="45" y="229"/>
                </a:cxn>
                <a:cxn ang="0">
                  <a:pos x="5" y="285"/>
                </a:cxn>
              </a:cxnLst>
              <a:rect l="0" t="0" r="r" b="b"/>
              <a:pathLst>
                <a:path w="1164" h="614">
                  <a:moveTo>
                    <a:pt x="66" y="313"/>
                  </a:moveTo>
                  <a:lnTo>
                    <a:pt x="66" y="300"/>
                  </a:lnTo>
                  <a:lnTo>
                    <a:pt x="68" y="288"/>
                  </a:lnTo>
                  <a:lnTo>
                    <a:pt x="74" y="278"/>
                  </a:lnTo>
                  <a:lnTo>
                    <a:pt x="81" y="267"/>
                  </a:lnTo>
                  <a:lnTo>
                    <a:pt x="91" y="260"/>
                  </a:lnTo>
                  <a:lnTo>
                    <a:pt x="102" y="255"/>
                  </a:lnTo>
                  <a:lnTo>
                    <a:pt x="112" y="250"/>
                  </a:lnTo>
                  <a:lnTo>
                    <a:pt x="124" y="250"/>
                  </a:lnTo>
                  <a:lnTo>
                    <a:pt x="135" y="250"/>
                  </a:lnTo>
                  <a:lnTo>
                    <a:pt x="147" y="255"/>
                  </a:lnTo>
                  <a:lnTo>
                    <a:pt x="158" y="260"/>
                  </a:lnTo>
                  <a:lnTo>
                    <a:pt x="165" y="267"/>
                  </a:lnTo>
                  <a:lnTo>
                    <a:pt x="173" y="278"/>
                  </a:lnTo>
                  <a:lnTo>
                    <a:pt x="178" y="288"/>
                  </a:lnTo>
                  <a:lnTo>
                    <a:pt x="180" y="300"/>
                  </a:lnTo>
                  <a:lnTo>
                    <a:pt x="183" y="313"/>
                  </a:lnTo>
                  <a:lnTo>
                    <a:pt x="180" y="326"/>
                  </a:lnTo>
                  <a:lnTo>
                    <a:pt x="178" y="336"/>
                  </a:lnTo>
                  <a:lnTo>
                    <a:pt x="173" y="349"/>
                  </a:lnTo>
                  <a:lnTo>
                    <a:pt x="165" y="359"/>
                  </a:lnTo>
                  <a:lnTo>
                    <a:pt x="155" y="364"/>
                  </a:lnTo>
                  <a:lnTo>
                    <a:pt x="147" y="372"/>
                  </a:lnTo>
                  <a:lnTo>
                    <a:pt x="135" y="374"/>
                  </a:lnTo>
                  <a:lnTo>
                    <a:pt x="124" y="377"/>
                  </a:lnTo>
                  <a:lnTo>
                    <a:pt x="112" y="374"/>
                  </a:lnTo>
                  <a:lnTo>
                    <a:pt x="99" y="372"/>
                  </a:lnTo>
                  <a:lnTo>
                    <a:pt x="91" y="364"/>
                  </a:lnTo>
                  <a:lnTo>
                    <a:pt x="81" y="359"/>
                  </a:lnTo>
                  <a:lnTo>
                    <a:pt x="74" y="349"/>
                  </a:lnTo>
                  <a:lnTo>
                    <a:pt x="68" y="336"/>
                  </a:lnTo>
                  <a:lnTo>
                    <a:pt x="66" y="326"/>
                  </a:lnTo>
                  <a:lnTo>
                    <a:pt x="66" y="313"/>
                  </a:lnTo>
                  <a:lnTo>
                    <a:pt x="0" y="316"/>
                  </a:lnTo>
                  <a:lnTo>
                    <a:pt x="5" y="344"/>
                  </a:lnTo>
                  <a:lnTo>
                    <a:pt x="12" y="367"/>
                  </a:lnTo>
                  <a:lnTo>
                    <a:pt x="28" y="382"/>
                  </a:lnTo>
                  <a:lnTo>
                    <a:pt x="45" y="397"/>
                  </a:lnTo>
                  <a:lnTo>
                    <a:pt x="66" y="405"/>
                  </a:lnTo>
                  <a:lnTo>
                    <a:pt x="84" y="410"/>
                  </a:lnTo>
                  <a:lnTo>
                    <a:pt x="102" y="415"/>
                  </a:lnTo>
                  <a:lnTo>
                    <a:pt x="117" y="418"/>
                  </a:lnTo>
                  <a:lnTo>
                    <a:pt x="124" y="420"/>
                  </a:lnTo>
                  <a:lnTo>
                    <a:pt x="135" y="425"/>
                  </a:lnTo>
                  <a:lnTo>
                    <a:pt x="140" y="436"/>
                  </a:lnTo>
                  <a:lnTo>
                    <a:pt x="142" y="448"/>
                  </a:lnTo>
                  <a:lnTo>
                    <a:pt x="145" y="459"/>
                  </a:lnTo>
                  <a:lnTo>
                    <a:pt x="145" y="471"/>
                  </a:lnTo>
                  <a:lnTo>
                    <a:pt x="145" y="484"/>
                  </a:lnTo>
                  <a:lnTo>
                    <a:pt x="145" y="494"/>
                  </a:lnTo>
                  <a:lnTo>
                    <a:pt x="147" y="538"/>
                  </a:lnTo>
                  <a:lnTo>
                    <a:pt x="170" y="573"/>
                  </a:lnTo>
                  <a:lnTo>
                    <a:pt x="203" y="599"/>
                  </a:lnTo>
                  <a:lnTo>
                    <a:pt x="247" y="614"/>
                  </a:lnTo>
                  <a:lnTo>
                    <a:pt x="290" y="611"/>
                  </a:lnTo>
                  <a:lnTo>
                    <a:pt x="333" y="591"/>
                  </a:lnTo>
                  <a:lnTo>
                    <a:pt x="371" y="555"/>
                  </a:lnTo>
                  <a:lnTo>
                    <a:pt x="397" y="497"/>
                  </a:lnTo>
                  <a:lnTo>
                    <a:pt x="417" y="441"/>
                  </a:lnTo>
                  <a:lnTo>
                    <a:pt x="438" y="408"/>
                  </a:lnTo>
                  <a:lnTo>
                    <a:pt x="461" y="390"/>
                  </a:lnTo>
                  <a:lnTo>
                    <a:pt x="484" y="387"/>
                  </a:lnTo>
                  <a:lnTo>
                    <a:pt x="504" y="390"/>
                  </a:lnTo>
                  <a:lnTo>
                    <a:pt x="522" y="402"/>
                  </a:lnTo>
                  <a:lnTo>
                    <a:pt x="532" y="415"/>
                  </a:lnTo>
                  <a:lnTo>
                    <a:pt x="537" y="425"/>
                  </a:lnTo>
                  <a:lnTo>
                    <a:pt x="537" y="433"/>
                  </a:lnTo>
                  <a:lnTo>
                    <a:pt x="545" y="441"/>
                  </a:lnTo>
                  <a:lnTo>
                    <a:pt x="552" y="443"/>
                  </a:lnTo>
                  <a:lnTo>
                    <a:pt x="565" y="443"/>
                  </a:lnTo>
                  <a:lnTo>
                    <a:pt x="575" y="438"/>
                  </a:lnTo>
                  <a:lnTo>
                    <a:pt x="588" y="430"/>
                  </a:lnTo>
                  <a:lnTo>
                    <a:pt x="598" y="418"/>
                  </a:lnTo>
                  <a:lnTo>
                    <a:pt x="606" y="397"/>
                  </a:lnTo>
                  <a:lnTo>
                    <a:pt x="789" y="397"/>
                  </a:lnTo>
                  <a:lnTo>
                    <a:pt x="799" y="387"/>
                  </a:lnTo>
                  <a:lnTo>
                    <a:pt x="810" y="380"/>
                  </a:lnTo>
                  <a:lnTo>
                    <a:pt x="820" y="377"/>
                  </a:lnTo>
                  <a:lnTo>
                    <a:pt x="830" y="377"/>
                  </a:lnTo>
                  <a:lnTo>
                    <a:pt x="838" y="377"/>
                  </a:lnTo>
                  <a:lnTo>
                    <a:pt x="848" y="382"/>
                  </a:lnTo>
                  <a:lnTo>
                    <a:pt x="855" y="390"/>
                  </a:lnTo>
                  <a:lnTo>
                    <a:pt x="863" y="400"/>
                  </a:lnTo>
                  <a:lnTo>
                    <a:pt x="955" y="400"/>
                  </a:lnTo>
                  <a:lnTo>
                    <a:pt x="960" y="390"/>
                  </a:lnTo>
                  <a:lnTo>
                    <a:pt x="965" y="382"/>
                  </a:lnTo>
                  <a:lnTo>
                    <a:pt x="973" y="374"/>
                  </a:lnTo>
                  <a:lnTo>
                    <a:pt x="978" y="369"/>
                  </a:lnTo>
                  <a:lnTo>
                    <a:pt x="985" y="367"/>
                  </a:lnTo>
                  <a:lnTo>
                    <a:pt x="990" y="367"/>
                  </a:lnTo>
                  <a:lnTo>
                    <a:pt x="998" y="367"/>
                  </a:lnTo>
                  <a:lnTo>
                    <a:pt x="1003" y="369"/>
                  </a:lnTo>
                  <a:lnTo>
                    <a:pt x="1044" y="351"/>
                  </a:lnTo>
                  <a:lnTo>
                    <a:pt x="1044" y="339"/>
                  </a:lnTo>
                  <a:lnTo>
                    <a:pt x="1049" y="329"/>
                  </a:lnTo>
                  <a:lnTo>
                    <a:pt x="1057" y="323"/>
                  </a:lnTo>
                  <a:lnTo>
                    <a:pt x="1064" y="321"/>
                  </a:lnTo>
                  <a:lnTo>
                    <a:pt x="1072" y="321"/>
                  </a:lnTo>
                  <a:lnTo>
                    <a:pt x="1080" y="326"/>
                  </a:lnTo>
                  <a:lnTo>
                    <a:pt x="1085" y="336"/>
                  </a:lnTo>
                  <a:lnTo>
                    <a:pt x="1085" y="351"/>
                  </a:lnTo>
                  <a:lnTo>
                    <a:pt x="1164" y="267"/>
                  </a:lnTo>
                  <a:lnTo>
                    <a:pt x="1151" y="260"/>
                  </a:lnTo>
                  <a:lnTo>
                    <a:pt x="1148" y="219"/>
                  </a:lnTo>
                  <a:lnTo>
                    <a:pt x="606" y="216"/>
                  </a:lnTo>
                  <a:lnTo>
                    <a:pt x="598" y="199"/>
                  </a:lnTo>
                  <a:lnTo>
                    <a:pt x="588" y="183"/>
                  </a:lnTo>
                  <a:lnTo>
                    <a:pt x="575" y="176"/>
                  </a:lnTo>
                  <a:lnTo>
                    <a:pt x="565" y="171"/>
                  </a:lnTo>
                  <a:lnTo>
                    <a:pt x="555" y="171"/>
                  </a:lnTo>
                  <a:lnTo>
                    <a:pt x="545" y="173"/>
                  </a:lnTo>
                  <a:lnTo>
                    <a:pt x="540" y="181"/>
                  </a:lnTo>
                  <a:lnTo>
                    <a:pt x="537" y="188"/>
                  </a:lnTo>
                  <a:lnTo>
                    <a:pt x="532" y="199"/>
                  </a:lnTo>
                  <a:lnTo>
                    <a:pt x="519" y="211"/>
                  </a:lnTo>
                  <a:lnTo>
                    <a:pt x="501" y="224"/>
                  </a:lnTo>
                  <a:lnTo>
                    <a:pt x="481" y="229"/>
                  </a:lnTo>
                  <a:lnTo>
                    <a:pt x="458" y="224"/>
                  </a:lnTo>
                  <a:lnTo>
                    <a:pt x="435" y="206"/>
                  </a:lnTo>
                  <a:lnTo>
                    <a:pt x="415" y="173"/>
                  </a:lnTo>
                  <a:lnTo>
                    <a:pt x="400" y="120"/>
                  </a:lnTo>
                  <a:lnTo>
                    <a:pt x="377" y="58"/>
                  </a:lnTo>
                  <a:lnTo>
                    <a:pt x="341" y="20"/>
                  </a:lnTo>
                  <a:lnTo>
                    <a:pt x="298" y="0"/>
                  </a:lnTo>
                  <a:lnTo>
                    <a:pt x="252" y="0"/>
                  </a:lnTo>
                  <a:lnTo>
                    <a:pt x="208" y="12"/>
                  </a:lnTo>
                  <a:lnTo>
                    <a:pt x="173" y="38"/>
                  </a:lnTo>
                  <a:lnTo>
                    <a:pt x="150" y="74"/>
                  </a:lnTo>
                  <a:lnTo>
                    <a:pt x="145" y="120"/>
                  </a:lnTo>
                  <a:lnTo>
                    <a:pt x="145" y="130"/>
                  </a:lnTo>
                  <a:lnTo>
                    <a:pt x="145" y="142"/>
                  </a:lnTo>
                  <a:lnTo>
                    <a:pt x="145" y="155"/>
                  </a:lnTo>
                  <a:lnTo>
                    <a:pt x="142" y="171"/>
                  </a:lnTo>
                  <a:lnTo>
                    <a:pt x="137" y="183"/>
                  </a:lnTo>
                  <a:lnTo>
                    <a:pt x="132" y="193"/>
                  </a:lnTo>
                  <a:lnTo>
                    <a:pt x="124" y="201"/>
                  </a:lnTo>
                  <a:lnTo>
                    <a:pt x="112" y="206"/>
                  </a:lnTo>
                  <a:lnTo>
                    <a:pt x="99" y="209"/>
                  </a:lnTo>
                  <a:lnTo>
                    <a:pt x="81" y="211"/>
                  </a:lnTo>
                  <a:lnTo>
                    <a:pt x="63" y="219"/>
                  </a:lnTo>
                  <a:lnTo>
                    <a:pt x="45" y="229"/>
                  </a:lnTo>
                  <a:lnTo>
                    <a:pt x="28" y="244"/>
                  </a:lnTo>
                  <a:lnTo>
                    <a:pt x="12" y="262"/>
                  </a:lnTo>
                  <a:lnTo>
                    <a:pt x="5" y="285"/>
                  </a:lnTo>
                  <a:lnTo>
                    <a:pt x="0" y="316"/>
                  </a:lnTo>
                  <a:lnTo>
                    <a:pt x="66" y="313"/>
                  </a:lnTo>
                  <a:close/>
                </a:path>
              </a:pathLst>
            </a:custGeom>
            <a:gradFill rotWithShape="0">
              <a:gsLst>
                <a:gs pos="0">
                  <a:srgbClr val="D9BF40"/>
                </a:gs>
                <a:gs pos="100000">
                  <a:srgbClr val="FFFF99"/>
                </a:gs>
              </a:gsLst>
              <a:lin ang="18900000" scaled="1"/>
            </a:gradFill>
            <a:ln w="9525">
              <a:solidFill>
                <a:srgbClr val="FF9900"/>
              </a:solidFill>
              <a:round/>
              <a:headEnd/>
              <a:tailEnd/>
            </a:ln>
            <a:effectLst>
              <a:outerShdw dist="53882" dir="2700000" algn="ctr" rotWithShape="0">
                <a:srgbClr val="808080"/>
              </a:outerShdw>
            </a:effectLst>
          </p:spPr>
          <p:txBody>
            <a:bodyPr/>
            <a:lstStyle/>
            <a:p>
              <a:endParaRPr lang="fr-FR"/>
            </a:p>
          </p:txBody>
        </p:sp>
      </p:grpSp>
      <p:grpSp>
        <p:nvGrpSpPr>
          <p:cNvPr id="8" name="Groupe 64"/>
          <p:cNvGrpSpPr/>
          <p:nvPr/>
        </p:nvGrpSpPr>
        <p:grpSpPr>
          <a:xfrm>
            <a:off x="383405" y="1757668"/>
            <a:ext cx="8419444" cy="1525588"/>
            <a:chOff x="383405" y="1757668"/>
            <a:chExt cx="8419444" cy="1525588"/>
          </a:xfrm>
        </p:grpSpPr>
        <p:sp>
          <p:nvSpPr>
            <p:cNvPr id="151598" name="Rectangle 46"/>
            <p:cNvSpPr>
              <a:spLocks noChangeArrowheads="1"/>
            </p:cNvSpPr>
            <p:nvPr/>
          </p:nvSpPr>
          <p:spPr bwMode="auto">
            <a:xfrm>
              <a:off x="383405" y="1757668"/>
              <a:ext cx="3606990" cy="1514475"/>
            </a:xfrm>
            <a:prstGeom prst="rect">
              <a:avLst/>
            </a:prstGeom>
            <a:gradFill rotWithShape="0">
              <a:gsLst>
                <a:gs pos="0">
                  <a:srgbClr val="FCFEBC"/>
                </a:gs>
                <a:gs pos="100000">
                  <a:srgbClr val="FFFFEB"/>
                </a:gs>
              </a:gsLst>
              <a:lin ang="5400000" scaled="1"/>
            </a:gradFill>
            <a:ln w="9525">
              <a:solidFill>
                <a:srgbClr val="969696"/>
              </a:solidFill>
              <a:miter lim="800000"/>
              <a:headEnd/>
              <a:tailEnd/>
            </a:ln>
            <a:effectLst>
              <a:outerShdw dist="35921" dir="2700000" algn="ctr" rotWithShape="0">
                <a:srgbClr val="969696"/>
              </a:outerShdw>
            </a:effectLst>
          </p:spPr>
          <p:txBody>
            <a:bodyPr/>
            <a:lstStyle/>
            <a:p>
              <a:endParaRPr lang="fr-FR" sz="1800" b="1">
                <a:latin typeface="Arial" charset="0"/>
              </a:endParaRPr>
            </a:p>
          </p:txBody>
        </p:sp>
        <p:sp>
          <p:nvSpPr>
            <p:cNvPr id="151599" name="Rectangle 47"/>
            <p:cNvSpPr>
              <a:spLocks noChangeArrowheads="1"/>
            </p:cNvSpPr>
            <p:nvPr/>
          </p:nvSpPr>
          <p:spPr bwMode="auto">
            <a:xfrm>
              <a:off x="4129559" y="1757668"/>
              <a:ext cx="4673290" cy="1525588"/>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r>
                <a:rPr lang="fr-FR" sz="2200" b="1" dirty="0">
                  <a:latin typeface="Arial" charset="0"/>
                  <a:cs typeface="Times New Roman" pitchFamily="18" charset="0"/>
                </a:rPr>
                <a:t>EFS détecte automatiquement le cryptage, et localise le certificat d'utilisateur et la clé privée associée</a:t>
              </a:r>
            </a:p>
          </p:txBody>
        </p:sp>
        <p:grpSp>
          <p:nvGrpSpPr>
            <p:cNvPr id="9" name="Group 48"/>
            <p:cNvGrpSpPr>
              <a:grpSpLocks/>
            </p:cNvGrpSpPr>
            <p:nvPr/>
          </p:nvGrpSpPr>
          <p:grpSpPr bwMode="auto">
            <a:xfrm>
              <a:off x="1455346" y="2048180"/>
              <a:ext cx="2006600" cy="1001713"/>
              <a:chOff x="1661" y="1109"/>
              <a:chExt cx="893" cy="528"/>
            </a:xfrm>
          </p:grpSpPr>
          <p:grpSp>
            <p:nvGrpSpPr>
              <p:cNvPr id="10" name="Group 49"/>
              <p:cNvGrpSpPr>
                <a:grpSpLocks/>
              </p:cNvGrpSpPr>
              <p:nvPr/>
            </p:nvGrpSpPr>
            <p:grpSpPr bwMode="auto">
              <a:xfrm>
                <a:off x="1834" y="1109"/>
                <a:ext cx="720" cy="528"/>
                <a:chOff x="4144" y="1360"/>
                <a:chExt cx="720" cy="528"/>
              </a:xfrm>
            </p:grpSpPr>
            <p:sp>
              <p:nvSpPr>
                <p:cNvPr id="151602" name="Rectangle 50"/>
                <p:cNvSpPr>
                  <a:spLocks noChangeArrowheads="1"/>
                </p:cNvSpPr>
                <p:nvPr/>
              </p:nvSpPr>
              <p:spPr bwMode="auto">
                <a:xfrm>
                  <a:off x="4144" y="1360"/>
                  <a:ext cx="720" cy="528"/>
                </a:xfrm>
                <a:prstGeom prst="rect">
                  <a:avLst/>
                </a:prstGeom>
                <a:solidFill>
                  <a:srgbClr val="FFFFFF"/>
                </a:solidFill>
                <a:ln w="9525">
                  <a:solidFill>
                    <a:schemeClr val="tx1"/>
                  </a:solidFill>
                  <a:miter lim="800000"/>
                  <a:headEnd/>
                  <a:tailEnd/>
                </a:ln>
                <a:effectLst>
                  <a:outerShdw dist="35921" dir="2700000" algn="ctr" rotWithShape="0">
                    <a:srgbClr val="C0C0C0"/>
                  </a:outerShdw>
                </a:effectLst>
              </p:spPr>
              <p:txBody>
                <a:bodyPr wrap="none" anchor="ctr"/>
                <a:lstStyle/>
                <a:p>
                  <a:endParaRPr lang="fr-FR"/>
                </a:p>
              </p:txBody>
            </p:sp>
            <p:sp>
              <p:nvSpPr>
                <p:cNvPr id="151603" name="Rectangle 51"/>
                <p:cNvSpPr>
                  <a:spLocks noChangeArrowheads="1"/>
                </p:cNvSpPr>
                <p:nvPr/>
              </p:nvSpPr>
              <p:spPr bwMode="auto">
                <a:xfrm>
                  <a:off x="4192" y="1408"/>
                  <a:ext cx="624" cy="432"/>
                </a:xfrm>
                <a:prstGeom prst="rect">
                  <a:avLst/>
                </a:prstGeom>
                <a:solidFill>
                  <a:srgbClr val="CCFFFF"/>
                </a:solidFill>
                <a:ln w="9525">
                  <a:noFill/>
                  <a:miter lim="800000"/>
                  <a:headEnd/>
                  <a:tailEnd/>
                </a:ln>
                <a:effectLst/>
              </p:spPr>
              <p:txBody>
                <a:bodyPr wrap="none" anchor="ctr"/>
                <a:lstStyle/>
                <a:p>
                  <a:endParaRPr lang="fr-FR"/>
                </a:p>
              </p:txBody>
            </p:sp>
            <p:sp>
              <p:nvSpPr>
                <p:cNvPr id="151604" name="Rectangle 52"/>
                <p:cNvSpPr>
                  <a:spLocks noChangeArrowheads="1"/>
                </p:cNvSpPr>
                <p:nvPr/>
              </p:nvSpPr>
              <p:spPr bwMode="auto">
                <a:xfrm>
                  <a:off x="4240" y="1456"/>
                  <a:ext cx="524" cy="64"/>
                </a:xfrm>
                <a:prstGeom prst="rect">
                  <a:avLst/>
                </a:prstGeom>
                <a:solidFill>
                  <a:srgbClr val="33CCCC"/>
                </a:solidFill>
                <a:ln w="9525">
                  <a:noFill/>
                  <a:miter lim="800000"/>
                  <a:headEnd/>
                  <a:tailEnd/>
                </a:ln>
                <a:effectLst/>
              </p:spPr>
              <p:txBody>
                <a:bodyPr wrap="none" anchor="ctr"/>
                <a:lstStyle/>
                <a:p>
                  <a:endParaRPr lang="fr-FR"/>
                </a:p>
              </p:txBody>
            </p:sp>
            <p:sp>
              <p:nvSpPr>
                <p:cNvPr id="151605" name="Line 53"/>
                <p:cNvSpPr>
                  <a:spLocks noChangeShapeType="1"/>
                </p:cNvSpPr>
                <p:nvPr/>
              </p:nvSpPr>
              <p:spPr bwMode="auto">
                <a:xfrm>
                  <a:off x="4240" y="1588"/>
                  <a:ext cx="528" cy="0"/>
                </a:xfrm>
                <a:prstGeom prst="line">
                  <a:avLst/>
                </a:prstGeom>
                <a:noFill/>
                <a:ln w="28575">
                  <a:solidFill>
                    <a:srgbClr val="969696"/>
                  </a:solidFill>
                  <a:round/>
                  <a:headEnd/>
                  <a:tailEnd/>
                </a:ln>
                <a:effectLst/>
              </p:spPr>
              <p:txBody>
                <a:bodyPr wrap="none" anchor="ctr"/>
                <a:lstStyle/>
                <a:p>
                  <a:endParaRPr lang="fr-FR"/>
                </a:p>
              </p:txBody>
            </p:sp>
            <p:sp>
              <p:nvSpPr>
                <p:cNvPr id="151606" name="Line 54"/>
                <p:cNvSpPr>
                  <a:spLocks noChangeShapeType="1"/>
                </p:cNvSpPr>
                <p:nvPr/>
              </p:nvSpPr>
              <p:spPr bwMode="auto">
                <a:xfrm>
                  <a:off x="4240" y="1656"/>
                  <a:ext cx="528" cy="0"/>
                </a:xfrm>
                <a:prstGeom prst="line">
                  <a:avLst/>
                </a:prstGeom>
                <a:noFill/>
                <a:ln w="28575">
                  <a:solidFill>
                    <a:srgbClr val="969696"/>
                  </a:solidFill>
                  <a:round/>
                  <a:headEnd/>
                  <a:tailEnd/>
                </a:ln>
                <a:effectLst/>
              </p:spPr>
              <p:txBody>
                <a:bodyPr wrap="none" anchor="ctr"/>
                <a:lstStyle/>
                <a:p>
                  <a:endParaRPr lang="fr-FR"/>
                </a:p>
              </p:txBody>
            </p:sp>
            <p:sp>
              <p:nvSpPr>
                <p:cNvPr id="151607" name="Line 55"/>
                <p:cNvSpPr>
                  <a:spLocks noChangeShapeType="1"/>
                </p:cNvSpPr>
                <p:nvPr/>
              </p:nvSpPr>
              <p:spPr bwMode="auto">
                <a:xfrm>
                  <a:off x="4240" y="1724"/>
                  <a:ext cx="528" cy="0"/>
                </a:xfrm>
                <a:prstGeom prst="line">
                  <a:avLst/>
                </a:prstGeom>
                <a:noFill/>
                <a:ln w="28575">
                  <a:solidFill>
                    <a:srgbClr val="969696"/>
                  </a:solidFill>
                  <a:round/>
                  <a:headEnd/>
                  <a:tailEnd/>
                </a:ln>
                <a:effectLst/>
              </p:spPr>
              <p:txBody>
                <a:bodyPr wrap="none" anchor="ctr"/>
                <a:lstStyle/>
                <a:p>
                  <a:endParaRPr lang="fr-FR"/>
                </a:p>
              </p:txBody>
            </p:sp>
            <p:sp>
              <p:nvSpPr>
                <p:cNvPr id="151608" name="Line 56"/>
                <p:cNvSpPr>
                  <a:spLocks noChangeShapeType="1"/>
                </p:cNvSpPr>
                <p:nvPr/>
              </p:nvSpPr>
              <p:spPr bwMode="auto">
                <a:xfrm>
                  <a:off x="4240" y="1792"/>
                  <a:ext cx="528" cy="0"/>
                </a:xfrm>
                <a:prstGeom prst="line">
                  <a:avLst/>
                </a:prstGeom>
                <a:noFill/>
                <a:ln w="28575">
                  <a:solidFill>
                    <a:srgbClr val="969696"/>
                  </a:solidFill>
                  <a:round/>
                  <a:headEnd/>
                  <a:tailEnd/>
                </a:ln>
                <a:effectLst/>
              </p:spPr>
              <p:txBody>
                <a:bodyPr wrap="none" anchor="ctr"/>
                <a:lstStyle/>
                <a:p>
                  <a:endParaRPr lang="fr-FR"/>
                </a:p>
              </p:txBody>
            </p:sp>
            <p:sp>
              <p:nvSpPr>
                <p:cNvPr id="151609" name="AutoShape 57"/>
                <p:cNvSpPr>
                  <a:spLocks noChangeArrowheads="1"/>
                </p:cNvSpPr>
                <p:nvPr/>
              </p:nvSpPr>
              <p:spPr bwMode="auto">
                <a:xfrm>
                  <a:off x="4640" y="1688"/>
                  <a:ext cx="172" cy="172"/>
                </a:xfrm>
                <a:prstGeom prst="star16">
                  <a:avLst>
                    <a:gd name="adj" fmla="val 37500"/>
                  </a:avLst>
                </a:prstGeom>
                <a:solidFill>
                  <a:srgbClr val="FFCC00"/>
                </a:solidFill>
                <a:ln w="3175">
                  <a:solidFill>
                    <a:schemeClr val="tx1"/>
                  </a:solidFill>
                  <a:miter lim="800000"/>
                  <a:headEnd/>
                  <a:tailEnd/>
                </a:ln>
                <a:effectLst/>
              </p:spPr>
              <p:txBody>
                <a:bodyPr wrap="none" anchor="ctr"/>
                <a:lstStyle/>
                <a:p>
                  <a:endParaRPr lang="fr-FR"/>
                </a:p>
              </p:txBody>
            </p:sp>
          </p:grpSp>
          <p:sp>
            <p:nvSpPr>
              <p:cNvPr id="151610" name="Freeform 58"/>
              <p:cNvSpPr>
                <a:spLocks/>
              </p:cNvSpPr>
              <p:nvPr/>
            </p:nvSpPr>
            <p:spPr bwMode="auto">
              <a:xfrm rot="-1800000">
                <a:off x="1661" y="1202"/>
                <a:ext cx="671" cy="378"/>
              </a:xfrm>
              <a:custGeom>
                <a:avLst/>
                <a:gdLst/>
                <a:ahLst/>
                <a:cxnLst>
                  <a:cxn ang="0">
                    <a:pos x="68" y="288"/>
                  </a:cxn>
                  <a:cxn ang="0">
                    <a:pos x="91" y="260"/>
                  </a:cxn>
                  <a:cxn ang="0">
                    <a:pos x="124" y="250"/>
                  </a:cxn>
                  <a:cxn ang="0">
                    <a:pos x="158" y="260"/>
                  </a:cxn>
                  <a:cxn ang="0">
                    <a:pos x="178" y="288"/>
                  </a:cxn>
                  <a:cxn ang="0">
                    <a:pos x="180" y="326"/>
                  </a:cxn>
                  <a:cxn ang="0">
                    <a:pos x="165" y="359"/>
                  </a:cxn>
                  <a:cxn ang="0">
                    <a:pos x="135" y="374"/>
                  </a:cxn>
                  <a:cxn ang="0">
                    <a:pos x="99" y="372"/>
                  </a:cxn>
                  <a:cxn ang="0">
                    <a:pos x="74" y="349"/>
                  </a:cxn>
                  <a:cxn ang="0">
                    <a:pos x="66" y="313"/>
                  </a:cxn>
                  <a:cxn ang="0">
                    <a:pos x="12" y="367"/>
                  </a:cxn>
                  <a:cxn ang="0">
                    <a:pos x="66" y="405"/>
                  </a:cxn>
                  <a:cxn ang="0">
                    <a:pos x="117" y="418"/>
                  </a:cxn>
                  <a:cxn ang="0">
                    <a:pos x="140" y="436"/>
                  </a:cxn>
                  <a:cxn ang="0">
                    <a:pos x="145" y="471"/>
                  </a:cxn>
                  <a:cxn ang="0">
                    <a:pos x="147" y="538"/>
                  </a:cxn>
                  <a:cxn ang="0">
                    <a:pos x="247" y="614"/>
                  </a:cxn>
                  <a:cxn ang="0">
                    <a:pos x="371" y="555"/>
                  </a:cxn>
                  <a:cxn ang="0">
                    <a:pos x="438" y="408"/>
                  </a:cxn>
                  <a:cxn ang="0">
                    <a:pos x="504" y="390"/>
                  </a:cxn>
                  <a:cxn ang="0">
                    <a:pos x="537" y="425"/>
                  </a:cxn>
                  <a:cxn ang="0">
                    <a:pos x="552" y="443"/>
                  </a:cxn>
                  <a:cxn ang="0">
                    <a:pos x="588" y="430"/>
                  </a:cxn>
                  <a:cxn ang="0">
                    <a:pos x="789" y="397"/>
                  </a:cxn>
                  <a:cxn ang="0">
                    <a:pos x="820" y="377"/>
                  </a:cxn>
                  <a:cxn ang="0">
                    <a:pos x="848" y="382"/>
                  </a:cxn>
                  <a:cxn ang="0">
                    <a:pos x="955" y="400"/>
                  </a:cxn>
                  <a:cxn ang="0">
                    <a:pos x="973" y="374"/>
                  </a:cxn>
                  <a:cxn ang="0">
                    <a:pos x="990" y="367"/>
                  </a:cxn>
                  <a:cxn ang="0">
                    <a:pos x="1044" y="351"/>
                  </a:cxn>
                  <a:cxn ang="0">
                    <a:pos x="1057" y="323"/>
                  </a:cxn>
                  <a:cxn ang="0">
                    <a:pos x="1080" y="326"/>
                  </a:cxn>
                  <a:cxn ang="0">
                    <a:pos x="1164" y="267"/>
                  </a:cxn>
                  <a:cxn ang="0">
                    <a:pos x="606" y="216"/>
                  </a:cxn>
                  <a:cxn ang="0">
                    <a:pos x="575" y="176"/>
                  </a:cxn>
                  <a:cxn ang="0">
                    <a:pos x="545" y="173"/>
                  </a:cxn>
                  <a:cxn ang="0">
                    <a:pos x="532" y="199"/>
                  </a:cxn>
                  <a:cxn ang="0">
                    <a:pos x="481" y="229"/>
                  </a:cxn>
                  <a:cxn ang="0">
                    <a:pos x="415" y="173"/>
                  </a:cxn>
                  <a:cxn ang="0">
                    <a:pos x="341" y="20"/>
                  </a:cxn>
                  <a:cxn ang="0">
                    <a:pos x="208" y="12"/>
                  </a:cxn>
                  <a:cxn ang="0">
                    <a:pos x="145" y="120"/>
                  </a:cxn>
                  <a:cxn ang="0">
                    <a:pos x="145" y="155"/>
                  </a:cxn>
                  <a:cxn ang="0">
                    <a:pos x="132" y="193"/>
                  </a:cxn>
                  <a:cxn ang="0">
                    <a:pos x="99" y="209"/>
                  </a:cxn>
                  <a:cxn ang="0">
                    <a:pos x="45" y="229"/>
                  </a:cxn>
                  <a:cxn ang="0">
                    <a:pos x="5" y="285"/>
                  </a:cxn>
                </a:cxnLst>
                <a:rect l="0" t="0" r="r" b="b"/>
                <a:pathLst>
                  <a:path w="1164" h="614">
                    <a:moveTo>
                      <a:pt x="66" y="313"/>
                    </a:moveTo>
                    <a:lnTo>
                      <a:pt x="66" y="300"/>
                    </a:lnTo>
                    <a:lnTo>
                      <a:pt x="68" y="288"/>
                    </a:lnTo>
                    <a:lnTo>
                      <a:pt x="74" y="278"/>
                    </a:lnTo>
                    <a:lnTo>
                      <a:pt x="81" y="267"/>
                    </a:lnTo>
                    <a:lnTo>
                      <a:pt x="91" y="260"/>
                    </a:lnTo>
                    <a:lnTo>
                      <a:pt x="102" y="255"/>
                    </a:lnTo>
                    <a:lnTo>
                      <a:pt x="112" y="250"/>
                    </a:lnTo>
                    <a:lnTo>
                      <a:pt x="124" y="250"/>
                    </a:lnTo>
                    <a:lnTo>
                      <a:pt x="135" y="250"/>
                    </a:lnTo>
                    <a:lnTo>
                      <a:pt x="147" y="255"/>
                    </a:lnTo>
                    <a:lnTo>
                      <a:pt x="158" y="260"/>
                    </a:lnTo>
                    <a:lnTo>
                      <a:pt x="165" y="267"/>
                    </a:lnTo>
                    <a:lnTo>
                      <a:pt x="173" y="278"/>
                    </a:lnTo>
                    <a:lnTo>
                      <a:pt x="178" y="288"/>
                    </a:lnTo>
                    <a:lnTo>
                      <a:pt x="180" y="300"/>
                    </a:lnTo>
                    <a:lnTo>
                      <a:pt x="183" y="313"/>
                    </a:lnTo>
                    <a:lnTo>
                      <a:pt x="180" y="326"/>
                    </a:lnTo>
                    <a:lnTo>
                      <a:pt x="178" y="336"/>
                    </a:lnTo>
                    <a:lnTo>
                      <a:pt x="173" y="349"/>
                    </a:lnTo>
                    <a:lnTo>
                      <a:pt x="165" y="359"/>
                    </a:lnTo>
                    <a:lnTo>
                      <a:pt x="155" y="364"/>
                    </a:lnTo>
                    <a:lnTo>
                      <a:pt x="147" y="372"/>
                    </a:lnTo>
                    <a:lnTo>
                      <a:pt x="135" y="374"/>
                    </a:lnTo>
                    <a:lnTo>
                      <a:pt x="124" y="377"/>
                    </a:lnTo>
                    <a:lnTo>
                      <a:pt x="112" y="374"/>
                    </a:lnTo>
                    <a:lnTo>
                      <a:pt x="99" y="372"/>
                    </a:lnTo>
                    <a:lnTo>
                      <a:pt x="91" y="364"/>
                    </a:lnTo>
                    <a:lnTo>
                      <a:pt x="81" y="359"/>
                    </a:lnTo>
                    <a:lnTo>
                      <a:pt x="74" y="349"/>
                    </a:lnTo>
                    <a:lnTo>
                      <a:pt x="68" y="336"/>
                    </a:lnTo>
                    <a:lnTo>
                      <a:pt x="66" y="326"/>
                    </a:lnTo>
                    <a:lnTo>
                      <a:pt x="66" y="313"/>
                    </a:lnTo>
                    <a:lnTo>
                      <a:pt x="0" y="316"/>
                    </a:lnTo>
                    <a:lnTo>
                      <a:pt x="5" y="344"/>
                    </a:lnTo>
                    <a:lnTo>
                      <a:pt x="12" y="367"/>
                    </a:lnTo>
                    <a:lnTo>
                      <a:pt x="28" y="382"/>
                    </a:lnTo>
                    <a:lnTo>
                      <a:pt x="45" y="397"/>
                    </a:lnTo>
                    <a:lnTo>
                      <a:pt x="66" y="405"/>
                    </a:lnTo>
                    <a:lnTo>
                      <a:pt x="84" y="410"/>
                    </a:lnTo>
                    <a:lnTo>
                      <a:pt x="102" y="415"/>
                    </a:lnTo>
                    <a:lnTo>
                      <a:pt x="117" y="418"/>
                    </a:lnTo>
                    <a:lnTo>
                      <a:pt x="124" y="420"/>
                    </a:lnTo>
                    <a:lnTo>
                      <a:pt x="135" y="425"/>
                    </a:lnTo>
                    <a:lnTo>
                      <a:pt x="140" y="436"/>
                    </a:lnTo>
                    <a:lnTo>
                      <a:pt x="142" y="448"/>
                    </a:lnTo>
                    <a:lnTo>
                      <a:pt x="145" y="459"/>
                    </a:lnTo>
                    <a:lnTo>
                      <a:pt x="145" y="471"/>
                    </a:lnTo>
                    <a:lnTo>
                      <a:pt x="145" y="484"/>
                    </a:lnTo>
                    <a:lnTo>
                      <a:pt x="145" y="494"/>
                    </a:lnTo>
                    <a:lnTo>
                      <a:pt x="147" y="538"/>
                    </a:lnTo>
                    <a:lnTo>
                      <a:pt x="170" y="573"/>
                    </a:lnTo>
                    <a:lnTo>
                      <a:pt x="203" y="599"/>
                    </a:lnTo>
                    <a:lnTo>
                      <a:pt x="247" y="614"/>
                    </a:lnTo>
                    <a:lnTo>
                      <a:pt x="290" y="611"/>
                    </a:lnTo>
                    <a:lnTo>
                      <a:pt x="333" y="591"/>
                    </a:lnTo>
                    <a:lnTo>
                      <a:pt x="371" y="555"/>
                    </a:lnTo>
                    <a:lnTo>
                      <a:pt x="397" y="497"/>
                    </a:lnTo>
                    <a:lnTo>
                      <a:pt x="417" y="441"/>
                    </a:lnTo>
                    <a:lnTo>
                      <a:pt x="438" y="408"/>
                    </a:lnTo>
                    <a:lnTo>
                      <a:pt x="461" y="390"/>
                    </a:lnTo>
                    <a:lnTo>
                      <a:pt x="484" y="387"/>
                    </a:lnTo>
                    <a:lnTo>
                      <a:pt x="504" y="390"/>
                    </a:lnTo>
                    <a:lnTo>
                      <a:pt x="522" y="402"/>
                    </a:lnTo>
                    <a:lnTo>
                      <a:pt x="532" y="415"/>
                    </a:lnTo>
                    <a:lnTo>
                      <a:pt x="537" y="425"/>
                    </a:lnTo>
                    <a:lnTo>
                      <a:pt x="537" y="433"/>
                    </a:lnTo>
                    <a:lnTo>
                      <a:pt x="545" y="441"/>
                    </a:lnTo>
                    <a:lnTo>
                      <a:pt x="552" y="443"/>
                    </a:lnTo>
                    <a:lnTo>
                      <a:pt x="565" y="443"/>
                    </a:lnTo>
                    <a:lnTo>
                      <a:pt x="575" y="438"/>
                    </a:lnTo>
                    <a:lnTo>
                      <a:pt x="588" y="430"/>
                    </a:lnTo>
                    <a:lnTo>
                      <a:pt x="598" y="418"/>
                    </a:lnTo>
                    <a:lnTo>
                      <a:pt x="606" y="397"/>
                    </a:lnTo>
                    <a:lnTo>
                      <a:pt x="789" y="397"/>
                    </a:lnTo>
                    <a:lnTo>
                      <a:pt x="799" y="387"/>
                    </a:lnTo>
                    <a:lnTo>
                      <a:pt x="810" y="380"/>
                    </a:lnTo>
                    <a:lnTo>
                      <a:pt x="820" y="377"/>
                    </a:lnTo>
                    <a:lnTo>
                      <a:pt x="830" y="377"/>
                    </a:lnTo>
                    <a:lnTo>
                      <a:pt x="838" y="377"/>
                    </a:lnTo>
                    <a:lnTo>
                      <a:pt x="848" y="382"/>
                    </a:lnTo>
                    <a:lnTo>
                      <a:pt x="855" y="390"/>
                    </a:lnTo>
                    <a:lnTo>
                      <a:pt x="863" y="400"/>
                    </a:lnTo>
                    <a:lnTo>
                      <a:pt x="955" y="400"/>
                    </a:lnTo>
                    <a:lnTo>
                      <a:pt x="960" y="390"/>
                    </a:lnTo>
                    <a:lnTo>
                      <a:pt x="965" y="382"/>
                    </a:lnTo>
                    <a:lnTo>
                      <a:pt x="973" y="374"/>
                    </a:lnTo>
                    <a:lnTo>
                      <a:pt x="978" y="369"/>
                    </a:lnTo>
                    <a:lnTo>
                      <a:pt x="985" y="367"/>
                    </a:lnTo>
                    <a:lnTo>
                      <a:pt x="990" y="367"/>
                    </a:lnTo>
                    <a:lnTo>
                      <a:pt x="998" y="367"/>
                    </a:lnTo>
                    <a:lnTo>
                      <a:pt x="1003" y="369"/>
                    </a:lnTo>
                    <a:lnTo>
                      <a:pt x="1044" y="351"/>
                    </a:lnTo>
                    <a:lnTo>
                      <a:pt x="1044" y="339"/>
                    </a:lnTo>
                    <a:lnTo>
                      <a:pt x="1049" y="329"/>
                    </a:lnTo>
                    <a:lnTo>
                      <a:pt x="1057" y="323"/>
                    </a:lnTo>
                    <a:lnTo>
                      <a:pt x="1064" y="321"/>
                    </a:lnTo>
                    <a:lnTo>
                      <a:pt x="1072" y="321"/>
                    </a:lnTo>
                    <a:lnTo>
                      <a:pt x="1080" y="326"/>
                    </a:lnTo>
                    <a:lnTo>
                      <a:pt x="1085" y="336"/>
                    </a:lnTo>
                    <a:lnTo>
                      <a:pt x="1085" y="351"/>
                    </a:lnTo>
                    <a:lnTo>
                      <a:pt x="1164" y="267"/>
                    </a:lnTo>
                    <a:lnTo>
                      <a:pt x="1151" y="260"/>
                    </a:lnTo>
                    <a:lnTo>
                      <a:pt x="1148" y="219"/>
                    </a:lnTo>
                    <a:lnTo>
                      <a:pt x="606" y="216"/>
                    </a:lnTo>
                    <a:lnTo>
                      <a:pt x="598" y="199"/>
                    </a:lnTo>
                    <a:lnTo>
                      <a:pt x="588" y="183"/>
                    </a:lnTo>
                    <a:lnTo>
                      <a:pt x="575" y="176"/>
                    </a:lnTo>
                    <a:lnTo>
                      <a:pt x="565" y="171"/>
                    </a:lnTo>
                    <a:lnTo>
                      <a:pt x="555" y="171"/>
                    </a:lnTo>
                    <a:lnTo>
                      <a:pt x="545" y="173"/>
                    </a:lnTo>
                    <a:lnTo>
                      <a:pt x="540" y="181"/>
                    </a:lnTo>
                    <a:lnTo>
                      <a:pt x="537" y="188"/>
                    </a:lnTo>
                    <a:lnTo>
                      <a:pt x="532" y="199"/>
                    </a:lnTo>
                    <a:lnTo>
                      <a:pt x="519" y="211"/>
                    </a:lnTo>
                    <a:lnTo>
                      <a:pt x="501" y="224"/>
                    </a:lnTo>
                    <a:lnTo>
                      <a:pt x="481" y="229"/>
                    </a:lnTo>
                    <a:lnTo>
                      <a:pt x="458" y="224"/>
                    </a:lnTo>
                    <a:lnTo>
                      <a:pt x="435" y="206"/>
                    </a:lnTo>
                    <a:lnTo>
                      <a:pt x="415" y="173"/>
                    </a:lnTo>
                    <a:lnTo>
                      <a:pt x="400" y="120"/>
                    </a:lnTo>
                    <a:lnTo>
                      <a:pt x="377" y="58"/>
                    </a:lnTo>
                    <a:lnTo>
                      <a:pt x="341" y="20"/>
                    </a:lnTo>
                    <a:lnTo>
                      <a:pt x="298" y="0"/>
                    </a:lnTo>
                    <a:lnTo>
                      <a:pt x="252" y="0"/>
                    </a:lnTo>
                    <a:lnTo>
                      <a:pt x="208" y="12"/>
                    </a:lnTo>
                    <a:lnTo>
                      <a:pt x="173" y="38"/>
                    </a:lnTo>
                    <a:lnTo>
                      <a:pt x="150" y="74"/>
                    </a:lnTo>
                    <a:lnTo>
                      <a:pt x="145" y="120"/>
                    </a:lnTo>
                    <a:lnTo>
                      <a:pt x="145" y="130"/>
                    </a:lnTo>
                    <a:lnTo>
                      <a:pt x="145" y="142"/>
                    </a:lnTo>
                    <a:lnTo>
                      <a:pt x="145" y="155"/>
                    </a:lnTo>
                    <a:lnTo>
                      <a:pt x="142" y="171"/>
                    </a:lnTo>
                    <a:lnTo>
                      <a:pt x="137" y="183"/>
                    </a:lnTo>
                    <a:lnTo>
                      <a:pt x="132" y="193"/>
                    </a:lnTo>
                    <a:lnTo>
                      <a:pt x="124" y="201"/>
                    </a:lnTo>
                    <a:lnTo>
                      <a:pt x="112" y="206"/>
                    </a:lnTo>
                    <a:lnTo>
                      <a:pt x="99" y="209"/>
                    </a:lnTo>
                    <a:lnTo>
                      <a:pt x="81" y="211"/>
                    </a:lnTo>
                    <a:lnTo>
                      <a:pt x="63" y="219"/>
                    </a:lnTo>
                    <a:lnTo>
                      <a:pt x="45" y="229"/>
                    </a:lnTo>
                    <a:lnTo>
                      <a:pt x="28" y="244"/>
                    </a:lnTo>
                    <a:lnTo>
                      <a:pt x="12" y="262"/>
                    </a:lnTo>
                    <a:lnTo>
                      <a:pt x="5" y="285"/>
                    </a:lnTo>
                    <a:lnTo>
                      <a:pt x="0" y="316"/>
                    </a:lnTo>
                    <a:lnTo>
                      <a:pt x="66" y="313"/>
                    </a:lnTo>
                    <a:close/>
                  </a:path>
                </a:pathLst>
              </a:custGeom>
              <a:gradFill rotWithShape="0">
                <a:gsLst>
                  <a:gs pos="0">
                    <a:srgbClr val="D9BF40"/>
                  </a:gs>
                  <a:gs pos="100000">
                    <a:srgbClr val="FFFF99"/>
                  </a:gs>
                </a:gsLst>
                <a:lin ang="18900000" scaled="1"/>
              </a:gradFill>
              <a:ln w="9525">
                <a:solidFill>
                  <a:srgbClr val="FF9900"/>
                </a:solidFill>
                <a:round/>
                <a:headEnd/>
                <a:tailEnd/>
              </a:ln>
              <a:effectLst>
                <a:outerShdw dist="53882" dir="2700000" algn="ctr" rotWithShape="0">
                  <a:srgbClr val="808080"/>
                </a:outerShdw>
              </a:effectLst>
            </p:spPr>
            <p:txBody>
              <a:bodyPr/>
              <a:lstStyle/>
              <a:p>
                <a:endParaRPr lang="fr-FR"/>
              </a:p>
            </p:txBody>
          </p:sp>
        </p:grpSp>
        <p:sp>
          <p:nvSpPr>
            <p:cNvPr id="151615" name="AutoShape 63"/>
            <p:cNvSpPr>
              <a:spLocks noChangeArrowheads="1"/>
            </p:cNvSpPr>
            <p:nvPr/>
          </p:nvSpPr>
          <p:spPr bwMode="auto">
            <a:xfrm flipV="1">
              <a:off x="477435" y="1856093"/>
              <a:ext cx="729673" cy="784225"/>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tIns="182880"/>
            <a:lstStyle/>
            <a:p>
              <a:pPr>
                <a:lnSpc>
                  <a:spcPct val="65000"/>
                </a:lnSpc>
              </a:pPr>
              <a:r>
                <a:rPr lang="fr-FR" sz="1600">
                  <a:solidFill>
                    <a:srgbClr val="E00085"/>
                  </a:solidFill>
                  <a:latin typeface="Arial" charset="0"/>
                </a:rPr>
                <a:t>~~~~</a:t>
              </a:r>
            </a:p>
            <a:p>
              <a:pPr>
                <a:lnSpc>
                  <a:spcPct val="65000"/>
                </a:lnSpc>
              </a:pPr>
              <a:r>
                <a:rPr lang="fr-FR" sz="1600">
                  <a:solidFill>
                    <a:srgbClr val="E00085"/>
                  </a:solidFill>
                  <a:latin typeface="Arial" charset="0"/>
                </a:rPr>
                <a:t>~~~~</a:t>
              </a:r>
            </a:p>
            <a:p>
              <a:pPr>
                <a:lnSpc>
                  <a:spcPct val="65000"/>
                </a:lnSpc>
              </a:pPr>
              <a:r>
                <a:rPr lang="fr-FR" sz="1600">
                  <a:solidFill>
                    <a:srgbClr val="E00085"/>
                  </a:solidFill>
                  <a:latin typeface="Arial" charset="0"/>
                </a:rPr>
                <a:t>~~~~</a:t>
              </a:r>
            </a:p>
            <a:p>
              <a:pPr>
                <a:lnSpc>
                  <a:spcPct val="65000"/>
                </a:lnSpc>
              </a:pPr>
              <a:r>
                <a:rPr lang="fr-FR" sz="1600">
                  <a:solidFill>
                    <a:srgbClr val="E00085"/>
                  </a:solidFill>
                  <a:latin typeface="Arial"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a:xfrm>
            <a:off x="301752" y="381005"/>
            <a:ext cx="8534400" cy="758952"/>
          </a:xfrm>
        </p:spPr>
        <p:txBody>
          <a:bodyPr vert="horz" anchor="b">
            <a:normAutofit fontScale="90000"/>
          </a:bodyPr>
          <a:lstStyle/>
          <a:p>
            <a:r>
              <a:rPr lang="fr-FR" sz="3000" b="1" dirty="0">
                <a:solidFill>
                  <a:srgbClr val="C00000"/>
                </a:solidFill>
              </a:rPr>
              <a:t>Récupération d'un dossier ou d'un fichier crypté</a:t>
            </a:r>
            <a:endParaRPr lang="en-US" sz="3000" b="1" dirty="0">
              <a:solidFill>
                <a:srgbClr val="C00000"/>
              </a:solidFill>
            </a:endParaRPr>
          </a:p>
        </p:txBody>
      </p:sp>
      <p:sp>
        <p:nvSpPr>
          <p:cNvPr id="153603" name="Rectangle 3"/>
          <p:cNvSpPr>
            <a:spLocks noChangeArrowheads="1"/>
          </p:cNvSpPr>
          <p:nvPr/>
        </p:nvSpPr>
        <p:spPr bwMode="auto">
          <a:xfrm>
            <a:off x="194952" y="1531230"/>
            <a:ext cx="8727375" cy="5051425"/>
          </a:xfrm>
          <a:prstGeom prst="rect">
            <a:avLst/>
          </a:prstGeom>
          <a:gradFill rotWithShape="0">
            <a:gsLst>
              <a:gs pos="0">
                <a:srgbClr val="6699FF">
                  <a:gamma/>
                  <a:shade val="46275"/>
                  <a:invGamma/>
                </a:srgbClr>
              </a:gs>
              <a:gs pos="100000">
                <a:srgbClr val="6699FF"/>
              </a:gs>
            </a:gsLst>
            <a:lin ang="0" scaled="1"/>
          </a:gradFill>
          <a:ln w="9525">
            <a:noFill/>
            <a:miter lim="800000"/>
            <a:headEnd/>
            <a:tailEnd/>
          </a:ln>
          <a:effectLst/>
        </p:spPr>
        <p:txBody>
          <a:bodyPr lIns="137160" rIns="45720" anchor="ctr"/>
          <a:lstStyle/>
          <a:p>
            <a:pPr algn="ctr"/>
            <a:endParaRPr lang="fr-FR" sz="2000" b="1">
              <a:solidFill>
                <a:srgbClr val="FFFFFF"/>
              </a:solidFill>
              <a:effectLst>
                <a:outerShdw blurRad="38100" dist="38100" dir="2700000" algn="tl">
                  <a:srgbClr val="000000"/>
                </a:outerShdw>
              </a:effectLst>
              <a:latin typeface="Arial" charset="0"/>
            </a:endParaRPr>
          </a:p>
        </p:txBody>
      </p:sp>
      <p:grpSp>
        <p:nvGrpSpPr>
          <p:cNvPr id="2" name="Groupe 126"/>
          <p:cNvGrpSpPr/>
          <p:nvPr/>
        </p:nvGrpSpPr>
        <p:grpSpPr>
          <a:xfrm>
            <a:off x="331478" y="1675693"/>
            <a:ext cx="8563140" cy="2276475"/>
            <a:chOff x="331478" y="1675693"/>
            <a:chExt cx="8563140" cy="2276475"/>
          </a:xfrm>
        </p:grpSpPr>
        <p:sp>
          <p:nvSpPr>
            <p:cNvPr id="153605" name="Rectangle 5"/>
            <p:cNvSpPr>
              <a:spLocks noChangeArrowheads="1"/>
            </p:cNvSpPr>
            <p:nvPr/>
          </p:nvSpPr>
          <p:spPr bwMode="auto">
            <a:xfrm>
              <a:off x="331478" y="1678868"/>
              <a:ext cx="4049177" cy="2260600"/>
            </a:xfrm>
            <a:prstGeom prst="rect">
              <a:avLst/>
            </a:prstGeom>
            <a:gradFill rotWithShape="0">
              <a:gsLst>
                <a:gs pos="0">
                  <a:srgbClr val="FCFEBC"/>
                </a:gs>
                <a:gs pos="100000">
                  <a:srgbClr val="FFFFEB"/>
                </a:gs>
              </a:gsLst>
              <a:lin ang="5400000" scaled="1"/>
            </a:gradFill>
            <a:ln w="9525">
              <a:solidFill>
                <a:srgbClr val="969696"/>
              </a:solidFill>
              <a:miter lim="800000"/>
              <a:headEnd/>
              <a:tailEnd/>
            </a:ln>
            <a:effectLst>
              <a:outerShdw dist="35921" dir="2700000" algn="ctr" rotWithShape="0">
                <a:srgbClr val="969696"/>
              </a:outerShdw>
            </a:effectLst>
          </p:spPr>
          <p:txBody>
            <a:bodyPr/>
            <a:lstStyle/>
            <a:p>
              <a:endParaRPr lang="fr-FR" sz="2400" b="1">
                <a:latin typeface="Arial" charset="0"/>
              </a:endParaRPr>
            </a:p>
          </p:txBody>
        </p:sp>
        <p:sp>
          <p:nvSpPr>
            <p:cNvPr id="153606" name="Rectangle 6"/>
            <p:cNvSpPr>
              <a:spLocks noChangeArrowheads="1"/>
            </p:cNvSpPr>
            <p:nvPr/>
          </p:nvSpPr>
          <p:spPr bwMode="auto">
            <a:xfrm>
              <a:off x="4606354" y="1675693"/>
              <a:ext cx="4288264" cy="2276475"/>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r>
                <a:rPr lang="fr-FR" sz="2400" b="1">
                  <a:latin typeface="Arial" charset="0"/>
                </a:rPr>
                <a:t>La clé du propriétaire n'est pas disponible</a:t>
              </a:r>
            </a:p>
          </p:txBody>
        </p:sp>
        <p:grpSp>
          <p:nvGrpSpPr>
            <p:cNvPr id="3" name="Group 7"/>
            <p:cNvGrpSpPr>
              <a:grpSpLocks/>
            </p:cNvGrpSpPr>
            <p:nvPr/>
          </p:nvGrpSpPr>
          <p:grpSpPr bwMode="auto">
            <a:xfrm>
              <a:off x="400335" y="2459918"/>
              <a:ext cx="2126918" cy="1409700"/>
              <a:chOff x="679" y="1255"/>
              <a:chExt cx="1112" cy="888"/>
            </a:xfrm>
          </p:grpSpPr>
          <p:grpSp>
            <p:nvGrpSpPr>
              <p:cNvPr id="4" name="Group 8"/>
              <p:cNvGrpSpPr>
                <a:grpSpLocks/>
              </p:cNvGrpSpPr>
              <p:nvPr/>
            </p:nvGrpSpPr>
            <p:grpSpPr bwMode="auto">
              <a:xfrm>
                <a:off x="979" y="1840"/>
                <a:ext cx="510" cy="275"/>
                <a:chOff x="1585" y="1673"/>
                <a:chExt cx="638" cy="345"/>
              </a:xfrm>
            </p:grpSpPr>
            <p:sp>
              <p:nvSpPr>
                <p:cNvPr id="153609" name="Freeform 9"/>
                <p:cNvSpPr>
                  <a:spLocks/>
                </p:cNvSpPr>
                <p:nvPr/>
              </p:nvSpPr>
              <p:spPr bwMode="auto">
                <a:xfrm>
                  <a:off x="1585" y="1673"/>
                  <a:ext cx="121" cy="335"/>
                </a:xfrm>
                <a:custGeom>
                  <a:avLst/>
                  <a:gdLst/>
                  <a:ahLst/>
                  <a:cxnLst>
                    <a:cxn ang="0">
                      <a:pos x="872" y="178"/>
                    </a:cxn>
                    <a:cxn ang="0">
                      <a:pos x="872" y="246"/>
                    </a:cxn>
                    <a:cxn ang="0">
                      <a:pos x="682" y="366"/>
                    </a:cxn>
                    <a:cxn ang="0">
                      <a:pos x="0" y="170"/>
                    </a:cxn>
                    <a:cxn ang="0">
                      <a:pos x="0" y="142"/>
                    </a:cxn>
                    <a:cxn ang="0">
                      <a:pos x="230" y="0"/>
                    </a:cxn>
                    <a:cxn ang="0">
                      <a:pos x="872" y="178"/>
                    </a:cxn>
                  </a:cxnLst>
                  <a:rect l="0" t="0" r="r" b="b"/>
                  <a:pathLst>
                    <a:path w="872" h="366">
                      <a:moveTo>
                        <a:pt x="872" y="178"/>
                      </a:moveTo>
                      <a:lnTo>
                        <a:pt x="872" y="246"/>
                      </a:lnTo>
                      <a:lnTo>
                        <a:pt x="682" y="366"/>
                      </a:lnTo>
                      <a:lnTo>
                        <a:pt x="0" y="170"/>
                      </a:lnTo>
                      <a:lnTo>
                        <a:pt x="0" y="142"/>
                      </a:lnTo>
                      <a:lnTo>
                        <a:pt x="230" y="0"/>
                      </a:lnTo>
                      <a:lnTo>
                        <a:pt x="872" y="178"/>
                      </a:lnTo>
                      <a:close/>
                    </a:path>
                  </a:pathLst>
                </a:custGeom>
                <a:gradFill rotWithShape="0">
                  <a:gsLst>
                    <a:gs pos="0">
                      <a:srgbClr val="B2B2B2"/>
                    </a:gs>
                    <a:gs pos="100000">
                      <a:srgbClr val="B2B2B2">
                        <a:gamma/>
                        <a:tint val="34118"/>
                        <a:invGamma/>
                      </a:srgbClr>
                    </a:gs>
                  </a:gsLst>
                  <a:path path="rect">
                    <a:fillToRect l="100000" t="100000"/>
                  </a:path>
                </a:grad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FR" sz="2400"/>
                </a:p>
              </p:txBody>
            </p:sp>
            <p:sp>
              <p:nvSpPr>
                <p:cNvPr id="153610" name="Freeform 10"/>
                <p:cNvSpPr>
                  <a:spLocks/>
                </p:cNvSpPr>
                <p:nvPr/>
              </p:nvSpPr>
              <p:spPr bwMode="auto">
                <a:xfrm>
                  <a:off x="1595" y="1682"/>
                  <a:ext cx="121" cy="336"/>
                </a:xfrm>
                <a:custGeom>
                  <a:avLst/>
                  <a:gdLst/>
                  <a:ahLst/>
                  <a:cxnLst>
                    <a:cxn ang="0">
                      <a:pos x="848" y="174"/>
                    </a:cxn>
                    <a:cxn ang="0">
                      <a:pos x="216" y="0"/>
                    </a:cxn>
                    <a:cxn ang="0">
                      <a:pos x="0" y="134"/>
                    </a:cxn>
                    <a:cxn ang="0">
                      <a:pos x="666" y="324"/>
                    </a:cxn>
                    <a:cxn ang="0">
                      <a:pos x="848" y="174"/>
                    </a:cxn>
                  </a:cxnLst>
                  <a:rect l="0" t="0" r="r" b="b"/>
                  <a:pathLst>
                    <a:path w="848" h="324">
                      <a:moveTo>
                        <a:pt x="848" y="174"/>
                      </a:moveTo>
                      <a:lnTo>
                        <a:pt x="216" y="0"/>
                      </a:lnTo>
                      <a:lnTo>
                        <a:pt x="0" y="134"/>
                      </a:lnTo>
                      <a:lnTo>
                        <a:pt x="666" y="324"/>
                      </a:lnTo>
                      <a:lnTo>
                        <a:pt x="848" y="174"/>
                      </a:lnTo>
                      <a:close/>
                    </a:path>
                  </a:pathLst>
                </a:custGeom>
                <a:solidFill>
                  <a:schemeClr val="bg1"/>
                </a:solidFill>
                <a:ln w="3175" cap="flat" cmpd="sng">
                  <a:noFill/>
                  <a:prstDash val="solid"/>
                  <a:round/>
                  <a:headEnd type="none" w="med" len="med"/>
                  <a:tailEnd type="none" w="med" len="med"/>
                </a:ln>
                <a:effectLst/>
              </p:spPr>
              <p:txBody>
                <a:bodyPr wrap="none" tIns="27432" bIns="27432" anchor="ctr">
                  <a:spAutoFit/>
                </a:bodyPr>
                <a:lstStyle/>
                <a:p>
                  <a:endParaRPr lang="fr-FR" sz="2400"/>
                </a:p>
              </p:txBody>
            </p:sp>
            <p:sp>
              <p:nvSpPr>
                <p:cNvPr id="153611" name="Freeform 11"/>
                <p:cNvSpPr>
                  <a:spLocks/>
                </p:cNvSpPr>
                <p:nvPr/>
              </p:nvSpPr>
              <p:spPr bwMode="auto">
                <a:xfrm>
                  <a:off x="1766" y="1694"/>
                  <a:ext cx="388" cy="112"/>
                </a:xfrm>
                <a:custGeom>
                  <a:avLst/>
                  <a:gdLst/>
                  <a:ahLst/>
                  <a:cxnLst>
                    <a:cxn ang="0">
                      <a:pos x="0" y="12"/>
                    </a:cxn>
                    <a:cxn ang="0">
                      <a:pos x="456" y="138"/>
                    </a:cxn>
                    <a:cxn ang="0">
                      <a:pos x="477" y="125"/>
                    </a:cxn>
                    <a:cxn ang="0">
                      <a:pos x="20" y="0"/>
                    </a:cxn>
                  </a:cxnLst>
                  <a:rect l="0" t="0" r="r" b="b"/>
                  <a:pathLst>
                    <a:path w="477" h="138">
                      <a:moveTo>
                        <a:pt x="0" y="12"/>
                      </a:moveTo>
                      <a:lnTo>
                        <a:pt x="456" y="138"/>
                      </a:lnTo>
                      <a:lnTo>
                        <a:pt x="477" y="125"/>
                      </a:lnTo>
                      <a:lnTo>
                        <a:pt x="20" y="0"/>
                      </a:lnTo>
                    </a:path>
                  </a:pathLst>
                </a:custGeom>
                <a:solidFill>
                  <a:srgbClr val="B2B2B2"/>
                </a:solidFill>
                <a:ln w="12700" cap="rnd" cmpd="sng">
                  <a:noFill/>
                  <a:prstDash val="solid"/>
                  <a:round/>
                  <a:headEnd type="none" w="med" len="med"/>
                  <a:tailEnd type="none" w="med" len="med"/>
                </a:ln>
                <a:effectLst/>
              </p:spPr>
              <p:txBody>
                <a:bodyPr/>
                <a:lstStyle/>
                <a:p>
                  <a:endParaRPr lang="fr-FR" sz="2400"/>
                </a:p>
              </p:txBody>
            </p:sp>
            <p:sp>
              <p:nvSpPr>
                <p:cNvPr id="153612" name="Freeform 12"/>
                <p:cNvSpPr>
                  <a:spLocks/>
                </p:cNvSpPr>
                <p:nvPr/>
              </p:nvSpPr>
              <p:spPr bwMode="auto">
                <a:xfrm>
                  <a:off x="1654" y="1717"/>
                  <a:ext cx="404" cy="143"/>
                </a:xfrm>
                <a:custGeom>
                  <a:avLst/>
                  <a:gdLst/>
                  <a:ahLst/>
                  <a:cxnLst>
                    <a:cxn ang="0">
                      <a:pos x="0" y="66"/>
                    </a:cxn>
                    <a:cxn ang="0">
                      <a:pos x="21" y="73"/>
                    </a:cxn>
                    <a:cxn ang="0">
                      <a:pos x="45" y="61"/>
                    </a:cxn>
                    <a:cxn ang="0">
                      <a:pos x="60" y="66"/>
                    </a:cxn>
                    <a:cxn ang="0">
                      <a:pos x="45" y="80"/>
                    </a:cxn>
                    <a:cxn ang="0">
                      <a:pos x="344" y="163"/>
                    </a:cxn>
                    <a:cxn ang="0">
                      <a:pos x="360" y="151"/>
                    </a:cxn>
                    <a:cxn ang="0">
                      <a:pos x="386" y="158"/>
                    </a:cxn>
                    <a:cxn ang="0">
                      <a:pos x="370" y="170"/>
                    </a:cxn>
                    <a:cxn ang="0">
                      <a:pos x="396" y="177"/>
                    </a:cxn>
                    <a:cxn ang="0">
                      <a:pos x="496" y="106"/>
                    </a:cxn>
                    <a:cxn ang="0">
                      <a:pos x="111" y="0"/>
                    </a:cxn>
                  </a:cxnLst>
                  <a:rect l="0" t="0" r="r" b="b"/>
                  <a:pathLst>
                    <a:path w="496" h="177">
                      <a:moveTo>
                        <a:pt x="0" y="66"/>
                      </a:moveTo>
                      <a:lnTo>
                        <a:pt x="21" y="73"/>
                      </a:lnTo>
                      <a:lnTo>
                        <a:pt x="45" y="61"/>
                      </a:lnTo>
                      <a:lnTo>
                        <a:pt x="60" y="66"/>
                      </a:lnTo>
                      <a:lnTo>
                        <a:pt x="45" y="80"/>
                      </a:lnTo>
                      <a:lnTo>
                        <a:pt x="344" y="163"/>
                      </a:lnTo>
                      <a:lnTo>
                        <a:pt x="360" y="151"/>
                      </a:lnTo>
                      <a:lnTo>
                        <a:pt x="386" y="158"/>
                      </a:lnTo>
                      <a:lnTo>
                        <a:pt x="370" y="170"/>
                      </a:lnTo>
                      <a:lnTo>
                        <a:pt x="396" y="177"/>
                      </a:lnTo>
                      <a:lnTo>
                        <a:pt x="496" y="106"/>
                      </a:lnTo>
                      <a:lnTo>
                        <a:pt x="111" y="0"/>
                      </a:lnTo>
                    </a:path>
                  </a:pathLst>
                </a:custGeom>
                <a:solidFill>
                  <a:srgbClr val="B2B2B2"/>
                </a:solidFill>
                <a:ln w="12700" cap="rnd" cmpd="sng">
                  <a:noFill/>
                  <a:prstDash val="solid"/>
                  <a:round/>
                  <a:headEnd type="none" w="med" len="med"/>
                  <a:tailEnd type="none" w="med" len="med"/>
                </a:ln>
                <a:effectLst/>
              </p:spPr>
              <p:txBody>
                <a:bodyPr/>
                <a:lstStyle/>
                <a:p>
                  <a:endParaRPr lang="fr-FR" sz="2400"/>
                </a:p>
              </p:txBody>
            </p:sp>
            <p:sp>
              <p:nvSpPr>
                <p:cNvPr id="153613" name="Freeform 13"/>
                <p:cNvSpPr>
                  <a:spLocks/>
                </p:cNvSpPr>
                <p:nvPr/>
              </p:nvSpPr>
              <p:spPr bwMode="auto">
                <a:xfrm>
                  <a:off x="2044" y="1810"/>
                  <a:ext cx="88" cy="35"/>
                </a:xfrm>
                <a:custGeom>
                  <a:avLst/>
                  <a:gdLst/>
                  <a:ahLst/>
                  <a:cxnLst>
                    <a:cxn ang="0">
                      <a:pos x="40" y="0"/>
                    </a:cxn>
                    <a:cxn ang="0">
                      <a:pos x="107" y="17"/>
                    </a:cxn>
                    <a:cxn ang="0">
                      <a:pos x="69" y="43"/>
                    </a:cxn>
                    <a:cxn ang="0">
                      <a:pos x="0" y="25"/>
                    </a:cxn>
                    <a:cxn ang="0">
                      <a:pos x="40" y="0"/>
                    </a:cxn>
                  </a:cxnLst>
                  <a:rect l="0" t="0" r="r" b="b"/>
                  <a:pathLst>
                    <a:path w="108" h="44">
                      <a:moveTo>
                        <a:pt x="40" y="0"/>
                      </a:moveTo>
                      <a:lnTo>
                        <a:pt x="107" y="17"/>
                      </a:lnTo>
                      <a:lnTo>
                        <a:pt x="69" y="43"/>
                      </a:lnTo>
                      <a:lnTo>
                        <a:pt x="0" y="25"/>
                      </a:lnTo>
                      <a:lnTo>
                        <a:pt x="40" y="0"/>
                      </a:lnTo>
                    </a:path>
                  </a:pathLst>
                </a:custGeom>
                <a:solidFill>
                  <a:srgbClr val="B2B2B2"/>
                </a:solidFill>
                <a:ln w="12700" cap="rnd" cmpd="sng">
                  <a:noFill/>
                  <a:prstDash val="solid"/>
                  <a:round/>
                  <a:headEnd type="none" w="med" len="med"/>
                  <a:tailEnd type="none" w="med" len="med"/>
                </a:ln>
                <a:effectLst/>
              </p:spPr>
              <p:txBody>
                <a:bodyPr/>
                <a:lstStyle/>
                <a:p>
                  <a:endParaRPr lang="fr-FR" sz="2400"/>
                </a:p>
              </p:txBody>
            </p:sp>
            <p:sp>
              <p:nvSpPr>
                <p:cNvPr id="153614" name="Freeform 14"/>
                <p:cNvSpPr>
                  <a:spLocks/>
                </p:cNvSpPr>
                <p:nvPr/>
              </p:nvSpPr>
              <p:spPr bwMode="auto">
                <a:xfrm>
                  <a:off x="1994" y="1848"/>
                  <a:ext cx="79" cy="34"/>
                </a:xfrm>
                <a:custGeom>
                  <a:avLst/>
                  <a:gdLst/>
                  <a:ahLst/>
                  <a:cxnLst>
                    <a:cxn ang="0">
                      <a:pos x="21" y="7"/>
                    </a:cxn>
                    <a:cxn ang="0">
                      <a:pos x="46" y="11"/>
                    </a:cxn>
                    <a:cxn ang="0">
                      <a:pos x="60" y="0"/>
                    </a:cxn>
                    <a:cxn ang="0">
                      <a:pos x="84" y="8"/>
                    </a:cxn>
                    <a:cxn ang="0">
                      <a:pos x="72" y="19"/>
                    </a:cxn>
                    <a:cxn ang="0">
                      <a:pos x="96" y="25"/>
                    </a:cxn>
                    <a:cxn ang="0">
                      <a:pos x="77" y="41"/>
                    </a:cxn>
                    <a:cxn ang="0">
                      <a:pos x="0" y="21"/>
                    </a:cxn>
                    <a:cxn ang="0">
                      <a:pos x="21" y="7"/>
                    </a:cxn>
                  </a:cxnLst>
                  <a:rect l="0" t="0" r="r" b="b"/>
                  <a:pathLst>
                    <a:path w="97" h="42">
                      <a:moveTo>
                        <a:pt x="21" y="7"/>
                      </a:moveTo>
                      <a:lnTo>
                        <a:pt x="46" y="11"/>
                      </a:lnTo>
                      <a:lnTo>
                        <a:pt x="60" y="0"/>
                      </a:lnTo>
                      <a:lnTo>
                        <a:pt x="84" y="8"/>
                      </a:lnTo>
                      <a:lnTo>
                        <a:pt x="72" y="19"/>
                      </a:lnTo>
                      <a:lnTo>
                        <a:pt x="96" y="25"/>
                      </a:lnTo>
                      <a:lnTo>
                        <a:pt x="77" y="41"/>
                      </a:lnTo>
                      <a:lnTo>
                        <a:pt x="0" y="21"/>
                      </a:lnTo>
                      <a:lnTo>
                        <a:pt x="21" y="7"/>
                      </a:lnTo>
                    </a:path>
                  </a:pathLst>
                </a:custGeom>
                <a:solidFill>
                  <a:srgbClr val="B2B2B2"/>
                </a:solidFill>
                <a:ln w="12700" cap="rnd" cmpd="sng">
                  <a:noFill/>
                  <a:prstDash val="solid"/>
                  <a:round/>
                  <a:headEnd type="none" w="med" len="med"/>
                  <a:tailEnd type="none" w="med" len="med"/>
                </a:ln>
                <a:effectLst/>
              </p:spPr>
              <p:txBody>
                <a:bodyPr/>
                <a:lstStyle/>
                <a:p>
                  <a:endParaRPr lang="fr-FR" sz="2400"/>
                </a:p>
              </p:txBody>
            </p:sp>
            <p:sp>
              <p:nvSpPr>
                <p:cNvPr id="153615" name="Freeform 15"/>
                <p:cNvSpPr>
                  <a:spLocks/>
                </p:cNvSpPr>
                <p:nvPr/>
              </p:nvSpPr>
              <p:spPr bwMode="auto">
                <a:xfrm>
                  <a:off x="2073" y="1825"/>
                  <a:ext cx="150" cy="80"/>
                </a:xfrm>
                <a:custGeom>
                  <a:avLst/>
                  <a:gdLst/>
                  <a:ahLst/>
                  <a:cxnLst>
                    <a:cxn ang="0">
                      <a:pos x="101" y="0"/>
                    </a:cxn>
                    <a:cxn ang="0">
                      <a:pos x="185" y="22"/>
                    </a:cxn>
                    <a:cxn ang="0">
                      <a:pos x="83" y="97"/>
                    </a:cxn>
                    <a:cxn ang="0">
                      <a:pos x="0" y="74"/>
                    </a:cxn>
                    <a:cxn ang="0">
                      <a:pos x="101" y="0"/>
                    </a:cxn>
                  </a:cxnLst>
                  <a:rect l="0" t="0" r="r" b="b"/>
                  <a:pathLst>
                    <a:path w="185" h="97">
                      <a:moveTo>
                        <a:pt x="101" y="0"/>
                      </a:moveTo>
                      <a:lnTo>
                        <a:pt x="185" y="22"/>
                      </a:lnTo>
                      <a:lnTo>
                        <a:pt x="83" y="97"/>
                      </a:lnTo>
                      <a:lnTo>
                        <a:pt x="0" y="74"/>
                      </a:lnTo>
                      <a:lnTo>
                        <a:pt x="101" y="0"/>
                      </a:lnTo>
                    </a:path>
                  </a:pathLst>
                </a:custGeom>
                <a:solidFill>
                  <a:srgbClr val="B2B2B2"/>
                </a:solidFill>
                <a:ln w="12700" cap="rnd" cmpd="sng">
                  <a:noFill/>
                  <a:prstDash val="solid"/>
                  <a:round/>
                  <a:headEnd type="none" w="med" len="med"/>
                  <a:tailEnd type="none" w="med" len="med"/>
                </a:ln>
                <a:effectLst/>
              </p:spPr>
              <p:txBody>
                <a:bodyPr/>
                <a:lstStyle/>
                <a:p>
                  <a:endParaRPr lang="fr-FR" sz="2400"/>
                </a:p>
              </p:txBody>
            </p:sp>
          </p:grpSp>
          <p:grpSp>
            <p:nvGrpSpPr>
              <p:cNvPr id="5" name="Group 16"/>
              <p:cNvGrpSpPr>
                <a:grpSpLocks/>
              </p:cNvGrpSpPr>
              <p:nvPr/>
            </p:nvGrpSpPr>
            <p:grpSpPr bwMode="auto">
              <a:xfrm>
                <a:off x="1146" y="1619"/>
                <a:ext cx="609" cy="499"/>
                <a:chOff x="2614" y="1299"/>
                <a:chExt cx="763" cy="626"/>
              </a:xfrm>
            </p:grpSpPr>
            <p:sp>
              <p:nvSpPr>
                <p:cNvPr id="153617" name="Freeform 17"/>
                <p:cNvSpPr>
                  <a:spLocks noChangeAspect="1"/>
                </p:cNvSpPr>
                <p:nvPr/>
              </p:nvSpPr>
              <p:spPr bwMode="auto">
                <a:xfrm>
                  <a:off x="3113" y="1406"/>
                  <a:ext cx="263" cy="305"/>
                </a:xfrm>
                <a:custGeom>
                  <a:avLst/>
                  <a:gdLst/>
                  <a:ahLst/>
                  <a:cxnLst>
                    <a:cxn ang="0">
                      <a:pos x="3" y="212"/>
                    </a:cxn>
                    <a:cxn ang="0">
                      <a:pos x="364" y="0"/>
                    </a:cxn>
                    <a:cxn ang="0">
                      <a:pos x="364" y="180"/>
                    </a:cxn>
                    <a:cxn ang="0">
                      <a:pos x="0" y="422"/>
                    </a:cxn>
                  </a:cxnLst>
                  <a:rect l="0" t="0" r="r" b="b"/>
                  <a:pathLst>
                    <a:path w="364" h="422">
                      <a:moveTo>
                        <a:pt x="3" y="212"/>
                      </a:moveTo>
                      <a:lnTo>
                        <a:pt x="364" y="0"/>
                      </a:lnTo>
                      <a:lnTo>
                        <a:pt x="364" y="180"/>
                      </a:lnTo>
                      <a:lnTo>
                        <a:pt x="0" y="422"/>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18" name="Freeform 18"/>
                <p:cNvSpPr>
                  <a:spLocks noChangeAspect="1"/>
                </p:cNvSpPr>
                <p:nvPr/>
              </p:nvSpPr>
              <p:spPr bwMode="auto">
                <a:xfrm>
                  <a:off x="2614" y="1299"/>
                  <a:ext cx="763" cy="264"/>
                </a:xfrm>
                <a:custGeom>
                  <a:avLst/>
                  <a:gdLst/>
                  <a:ahLst/>
                  <a:cxnLst>
                    <a:cxn ang="0">
                      <a:pos x="715" y="376"/>
                    </a:cxn>
                    <a:cxn ang="0">
                      <a:pos x="0" y="187"/>
                    </a:cxn>
                    <a:cxn ang="0">
                      <a:pos x="397" y="0"/>
                    </a:cxn>
                    <a:cxn ang="0">
                      <a:pos x="1090" y="152"/>
                    </a:cxn>
                    <a:cxn ang="0">
                      <a:pos x="715" y="376"/>
                    </a:cxn>
                  </a:cxnLst>
                  <a:rect l="0" t="0" r="r" b="b"/>
                  <a:pathLst>
                    <a:path w="1091" h="377">
                      <a:moveTo>
                        <a:pt x="715" y="376"/>
                      </a:moveTo>
                      <a:lnTo>
                        <a:pt x="0" y="187"/>
                      </a:lnTo>
                      <a:lnTo>
                        <a:pt x="397" y="0"/>
                      </a:lnTo>
                      <a:lnTo>
                        <a:pt x="1090" y="152"/>
                      </a:lnTo>
                      <a:lnTo>
                        <a:pt x="715" y="376"/>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19" name="Freeform 19"/>
                <p:cNvSpPr>
                  <a:spLocks noChangeAspect="1"/>
                </p:cNvSpPr>
                <p:nvPr/>
              </p:nvSpPr>
              <p:spPr bwMode="auto">
                <a:xfrm>
                  <a:off x="2614" y="1429"/>
                  <a:ext cx="499" cy="282"/>
                </a:xfrm>
                <a:custGeom>
                  <a:avLst/>
                  <a:gdLst/>
                  <a:ahLst/>
                  <a:cxnLst>
                    <a:cxn ang="0">
                      <a:pos x="0" y="5"/>
                    </a:cxn>
                    <a:cxn ang="0">
                      <a:pos x="0" y="192"/>
                    </a:cxn>
                    <a:cxn ang="0">
                      <a:pos x="690" y="390"/>
                    </a:cxn>
                    <a:cxn ang="0">
                      <a:pos x="690" y="185"/>
                    </a:cxn>
                    <a:cxn ang="0">
                      <a:pos x="4" y="0"/>
                    </a:cxn>
                  </a:cxnLst>
                  <a:rect l="0" t="0" r="r" b="b"/>
                  <a:pathLst>
                    <a:path w="690" h="390">
                      <a:moveTo>
                        <a:pt x="0" y="5"/>
                      </a:moveTo>
                      <a:lnTo>
                        <a:pt x="0" y="192"/>
                      </a:lnTo>
                      <a:lnTo>
                        <a:pt x="690" y="390"/>
                      </a:lnTo>
                      <a:lnTo>
                        <a:pt x="690" y="185"/>
                      </a:lnTo>
                      <a:lnTo>
                        <a:pt x="4" y="0"/>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20" name="Freeform 20"/>
                <p:cNvSpPr>
                  <a:spLocks noChangeAspect="1"/>
                </p:cNvSpPr>
                <p:nvPr/>
              </p:nvSpPr>
              <p:spPr bwMode="auto">
                <a:xfrm>
                  <a:off x="2875" y="1529"/>
                  <a:ext cx="196" cy="137"/>
                </a:xfrm>
                <a:custGeom>
                  <a:avLst/>
                  <a:gdLst/>
                  <a:ahLst/>
                  <a:cxnLst>
                    <a:cxn ang="0">
                      <a:pos x="0" y="0"/>
                    </a:cxn>
                    <a:cxn ang="0">
                      <a:pos x="271" y="73"/>
                    </a:cxn>
                    <a:cxn ang="0">
                      <a:pos x="271" y="189"/>
                    </a:cxn>
                    <a:cxn ang="0">
                      <a:pos x="0" y="115"/>
                    </a:cxn>
                    <a:cxn ang="0">
                      <a:pos x="0" y="0"/>
                    </a:cxn>
                  </a:cxnLst>
                  <a:rect l="0" t="0" r="r" b="b"/>
                  <a:pathLst>
                    <a:path w="271" h="189">
                      <a:moveTo>
                        <a:pt x="0" y="0"/>
                      </a:moveTo>
                      <a:lnTo>
                        <a:pt x="271" y="73"/>
                      </a:lnTo>
                      <a:lnTo>
                        <a:pt x="271" y="189"/>
                      </a:lnTo>
                      <a:lnTo>
                        <a:pt x="0" y="115"/>
                      </a:lnTo>
                      <a:lnTo>
                        <a:pt x="0" y="0"/>
                      </a:lnTo>
                    </a:path>
                  </a:pathLst>
                </a:custGeom>
                <a:gradFill rotWithShape="0">
                  <a:gsLst>
                    <a:gs pos="0">
                      <a:srgbClr val="B2B2B2"/>
                    </a:gs>
                    <a:gs pos="100000">
                      <a:srgbClr val="B2B2B2">
                        <a:gamma/>
                        <a:tint val="41176"/>
                        <a:invGamma/>
                      </a:srgbClr>
                    </a:gs>
                  </a:gsLst>
                  <a:lin ang="2700000" scaled="1"/>
                </a:gradFill>
                <a:ln w="6350" cap="rnd" cmpd="sng">
                  <a:noFill/>
                  <a:prstDash val="solid"/>
                  <a:round/>
                  <a:headEnd type="none" w="med" len="med"/>
                  <a:tailEnd type="none" w="med" len="med"/>
                </a:ln>
                <a:effectLst/>
              </p:spPr>
              <p:txBody>
                <a:bodyPr/>
                <a:lstStyle/>
                <a:p>
                  <a:endParaRPr lang="fr-FR" sz="2400"/>
                </a:p>
              </p:txBody>
            </p:sp>
            <p:sp>
              <p:nvSpPr>
                <p:cNvPr id="153621" name="Freeform 21"/>
                <p:cNvSpPr>
                  <a:spLocks noChangeAspect="1" noChangeArrowheads="1"/>
                </p:cNvSpPr>
                <p:nvPr/>
              </p:nvSpPr>
              <p:spPr bwMode="auto">
                <a:xfrm>
                  <a:off x="2879" y="1580"/>
                  <a:ext cx="189" cy="49"/>
                </a:xfrm>
                <a:custGeom>
                  <a:avLst/>
                  <a:gdLst/>
                  <a:ahLst/>
                  <a:cxnLst>
                    <a:cxn ang="0">
                      <a:pos x="0" y="0"/>
                    </a:cxn>
                    <a:cxn ang="0">
                      <a:pos x="261" y="69"/>
                    </a:cxn>
                  </a:cxnLst>
                  <a:rect l="0" t="0" r="r" b="b"/>
                  <a:pathLst>
                    <a:path w="261" h="69">
                      <a:moveTo>
                        <a:pt x="0" y="0"/>
                      </a:moveTo>
                      <a:lnTo>
                        <a:pt x="261" y="69"/>
                      </a:lnTo>
                    </a:path>
                  </a:pathLst>
                </a:custGeom>
                <a:noFill/>
                <a:ln w="3175">
                  <a:solidFill>
                    <a:srgbClr val="777777"/>
                  </a:solidFill>
                  <a:round/>
                  <a:headEnd/>
                  <a:tailEnd/>
                </a:ln>
                <a:effectLst/>
              </p:spPr>
              <p:txBody>
                <a:bodyPr wrap="none" anchor="ctr"/>
                <a:lstStyle/>
                <a:p>
                  <a:endParaRPr lang="fr-FR" sz="2400"/>
                </a:p>
              </p:txBody>
            </p:sp>
            <p:sp>
              <p:nvSpPr>
                <p:cNvPr id="153622" name="Freeform 22"/>
                <p:cNvSpPr>
                  <a:spLocks/>
                </p:cNvSpPr>
                <p:nvPr/>
              </p:nvSpPr>
              <p:spPr bwMode="auto">
                <a:xfrm>
                  <a:off x="2874" y="1528"/>
                  <a:ext cx="121" cy="335"/>
                </a:xfrm>
                <a:custGeom>
                  <a:avLst/>
                  <a:gdLst/>
                  <a:ahLst/>
                  <a:cxnLst>
                    <a:cxn ang="0">
                      <a:pos x="0" y="116"/>
                    </a:cxn>
                    <a:cxn ang="0">
                      <a:pos x="1" y="0"/>
                    </a:cxn>
                    <a:cxn ang="0">
                      <a:pos x="270" y="75"/>
                    </a:cxn>
                  </a:cxnLst>
                  <a:rect l="0" t="0" r="r" b="b"/>
                  <a:pathLst>
                    <a:path w="270" h="116">
                      <a:moveTo>
                        <a:pt x="0" y="116"/>
                      </a:moveTo>
                      <a:lnTo>
                        <a:pt x="1" y="0"/>
                      </a:lnTo>
                      <a:lnTo>
                        <a:pt x="270" y="75"/>
                      </a:lnTo>
                    </a:path>
                  </a:pathLst>
                </a:custGeom>
                <a:noFill/>
                <a:ln w="6350" cap="flat" cmpd="sng">
                  <a:solidFill>
                    <a:srgbClr val="777777"/>
                  </a:solidFill>
                  <a:prstDash val="solid"/>
                  <a:round/>
                  <a:headEnd type="none" w="med" len="med"/>
                  <a:tailEnd type="none" w="med" len="med"/>
                </a:ln>
                <a:effectLst/>
              </p:spPr>
              <p:txBody>
                <a:bodyPr wrap="none" tIns="27432" bIns="27432" anchor="ctr">
                  <a:spAutoFit/>
                </a:bodyPr>
                <a:lstStyle/>
                <a:p>
                  <a:endParaRPr lang="fr-FR" sz="2400"/>
                </a:p>
              </p:txBody>
            </p:sp>
            <p:sp>
              <p:nvSpPr>
                <p:cNvPr id="153623" name="Line 23"/>
                <p:cNvSpPr>
                  <a:spLocks noChangeShapeType="1"/>
                </p:cNvSpPr>
                <p:nvPr/>
              </p:nvSpPr>
              <p:spPr bwMode="auto">
                <a:xfrm>
                  <a:off x="2892" y="1556"/>
                  <a:ext cx="153" cy="38"/>
                </a:xfrm>
                <a:prstGeom prst="line">
                  <a:avLst/>
                </a:prstGeom>
                <a:noFill/>
                <a:ln w="3175">
                  <a:solidFill>
                    <a:srgbClr val="777777"/>
                  </a:solidFill>
                  <a:round/>
                  <a:headEnd/>
                  <a:tailEnd/>
                </a:ln>
                <a:effectLst/>
              </p:spPr>
              <p:txBody>
                <a:bodyPr wrap="none" tIns="27432" bIns="27432" anchor="ctr">
                  <a:spAutoFit/>
                </a:bodyPr>
                <a:lstStyle/>
                <a:p>
                  <a:endParaRPr lang="fr-FR" sz="2400"/>
                </a:p>
              </p:txBody>
            </p:sp>
            <p:sp>
              <p:nvSpPr>
                <p:cNvPr id="153624" name="Line 24"/>
                <p:cNvSpPr>
                  <a:spLocks noChangeShapeType="1"/>
                </p:cNvSpPr>
                <p:nvPr/>
              </p:nvSpPr>
              <p:spPr bwMode="auto">
                <a:xfrm>
                  <a:off x="3022" y="1634"/>
                  <a:ext cx="29" cy="6"/>
                </a:xfrm>
                <a:prstGeom prst="line">
                  <a:avLst/>
                </a:prstGeom>
                <a:noFill/>
                <a:ln w="19050">
                  <a:solidFill>
                    <a:schemeClr val="accent2"/>
                  </a:solidFill>
                  <a:round/>
                  <a:headEnd/>
                  <a:tailEnd/>
                </a:ln>
                <a:effectLst/>
              </p:spPr>
              <p:txBody>
                <a:bodyPr wrap="none" tIns="27432" bIns="27432" anchor="ctr">
                  <a:spAutoFit/>
                </a:bodyPr>
                <a:lstStyle/>
                <a:p>
                  <a:endParaRPr lang="fr-FR" sz="2400"/>
                </a:p>
              </p:txBody>
            </p:sp>
            <p:sp>
              <p:nvSpPr>
                <p:cNvPr id="153625" name="Freeform 25"/>
                <p:cNvSpPr>
                  <a:spLocks/>
                </p:cNvSpPr>
                <p:nvPr/>
              </p:nvSpPr>
              <p:spPr bwMode="auto">
                <a:xfrm>
                  <a:off x="2940" y="1567"/>
                  <a:ext cx="47" cy="335"/>
                </a:xfrm>
                <a:custGeom>
                  <a:avLst/>
                  <a:gdLst/>
                  <a:ahLst/>
                  <a:cxnLst>
                    <a:cxn ang="0">
                      <a:pos x="0" y="0"/>
                    </a:cxn>
                    <a:cxn ang="0">
                      <a:pos x="1" y="18"/>
                    </a:cxn>
                    <a:cxn ang="0">
                      <a:pos x="64" y="35"/>
                    </a:cxn>
                    <a:cxn ang="0">
                      <a:pos x="64" y="19"/>
                    </a:cxn>
                    <a:cxn ang="0">
                      <a:pos x="0" y="0"/>
                    </a:cxn>
                  </a:cxnLst>
                  <a:rect l="0" t="0" r="r" b="b"/>
                  <a:pathLst>
                    <a:path w="64" h="35">
                      <a:moveTo>
                        <a:pt x="0" y="0"/>
                      </a:moveTo>
                      <a:lnTo>
                        <a:pt x="1" y="18"/>
                      </a:lnTo>
                      <a:lnTo>
                        <a:pt x="64" y="35"/>
                      </a:lnTo>
                      <a:lnTo>
                        <a:pt x="64" y="19"/>
                      </a:lnTo>
                      <a:lnTo>
                        <a:pt x="0" y="0"/>
                      </a:lnTo>
                      <a:close/>
                    </a:path>
                  </a:pathLst>
                </a:custGeom>
                <a:solidFill>
                  <a:srgbClr val="777777"/>
                </a:solidFill>
                <a:ln w="19050" cap="flat" cmpd="sng">
                  <a:noFill/>
                  <a:prstDash val="solid"/>
                  <a:round/>
                  <a:headEnd type="none" w="med" len="med"/>
                  <a:tailEnd type="none" w="med" len="med"/>
                </a:ln>
                <a:effectLst/>
              </p:spPr>
              <p:txBody>
                <a:bodyPr tIns="27432" bIns="27432" anchor="ctr">
                  <a:spAutoFit/>
                </a:bodyPr>
                <a:lstStyle/>
                <a:p>
                  <a:endParaRPr lang="fr-FR" sz="2400"/>
                </a:p>
              </p:txBody>
            </p:sp>
            <p:sp>
              <p:nvSpPr>
                <p:cNvPr id="153626" name="Line 26"/>
                <p:cNvSpPr>
                  <a:spLocks noChangeShapeType="1"/>
                </p:cNvSpPr>
                <p:nvPr/>
              </p:nvSpPr>
              <p:spPr bwMode="auto">
                <a:xfrm>
                  <a:off x="2627" y="1459"/>
                  <a:ext cx="202" cy="57"/>
                </a:xfrm>
                <a:prstGeom prst="line">
                  <a:avLst/>
                </a:prstGeom>
                <a:noFill/>
                <a:ln w="6350">
                  <a:solidFill>
                    <a:srgbClr val="777777"/>
                  </a:solidFill>
                  <a:round/>
                  <a:headEnd/>
                  <a:tailEnd/>
                </a:ln>
                <a:effectLst/>
              </p:spPr>
              <p:txBody>
                <a:bodyPr tIns="27432" bIns="27432" anchor="ctr">
                  <a:spAutoFit/>
                </a:bodyPr>
                <a:lstStyle/>
                <a:p>
                  <a:endParaRPr lang="fr-FR" sz="2400"/>
                </a:p>
              </p:txBody>
            </p:sp>
            <p:sp>
              <p:nvSpPr>
                <p:cNvPr id="153627" name="Line 27"/>
                <p:cNvSpPr>
                  <a:spLocks noChangeShapeType="1"/>
                </p:cNvSpPr>
                <p:nvPr/>
              </p:nvSpPr>
              <p:spPr bwMode="auto">
                <a:xfrm>
                  <a:off x="2627" y="1481"/>
                  <a:ext cx="202" cy="56"/>
                </a:xfrm>
                <a:prstGeom prst="line">
                  <a:avLst/>
                </a:prstGeom>
                <a:noFill/>
                <a:ln w="6350">
                  <a:solidFill>
                    <a:srgbClr val="777777"/>
                  </a:solidFill>
                  <a:round/>
                  <a:headEnd/>
                  <a:tailEnd/>
                </a:ln>
                <a:effectLst/>
              </p:spPr>
              <p:txBody>
                <a:bodyPr tIns="27432" bIns="27432" anchor="ctr">
                  <a:spAutoFit/>
                </a:bodyPr>
                <a:lstStyle/>
                <a:p>
                  <a:endParaRPr lang="fr-FR" sz="2400"/>
                </a:p>
              </p:txBody>
            </p:sp>
            <p:sp>
              <p:nvSpPr>
                <p:cNvPr id="153628" name="Line 28"/>
                <p:cNvSpPr>
                  <a:spLocks noChangeShapeType="1"/>
                </p:cNvSpPr>
                <p:nvPr/>
              </p:nvSpPr>
              <p:spPr bwMode="auto">
                <a:xfrm>
                  <a:off x="2627" y="1504"/>
                  <a:ext cx="202" cy="57"/>
                </a:xfrm>
                <a:prstGeom prst="line">
                  <a:avLst/>
                </a:prstGeom>
                <a:noFill/>
                <a:ln w="6350">
                  <a:solidFill>
                    <a:srgbClr val="777777"/>
                  </a:solidFill>
                  <a:round/>
                  <a:headEnd/>
                  <a:tailEnd/>
                </a:ln>
                <a:effectLst/>
              </p:spPr>
              <p:txBody>
                <a:bodyPr tIns="27432" bIns="27432" anchor="ctr">
                  <a:spAutoFit/>
                </a:bodyPr>
                <a:lstStyle/>
                <a:p>
                  <a:endParaRPr lang="fr-FR" sz="2400"/>
                </a:p>
              </p:txBody>
            </p:sp>
            <p:sp>
              <p:nvSpPr>
                <p:cNvPr id="153629" name="Line 29"/>
                <p:cNvSpPr>
                  <a:spLocks noChangeShapeType="1"/>
                </p:cNvSpPr>
                <p:nvPr/>
              </p:nvSpPr>
              <p:spPr bwMode="auto">
                <a:xfrm>
                  <a:off x="2627" y="1526"/>
                  <a:ext cx="202" cy="56"/>
                </a:xfrm>
                <a:prstGeom prst="line">
                  <a:avLst/>
                </a:prstGeom>
                <a:noFill/>
                <a:ln w="6350">
                  <a:solidFill>
                    <a:srgbClr val="777777"/>
                  </a:solidFill>
                  <a:round/>
                  <a:headEnd/>
                  <a:tailEnd/>
                </a:ln>
                <a:effectLst/>
              </p:spPr>
              <p:txBody>
                <a:bodyPr tIns="27432" bIns="27432" anchor="ctr">
                  <a:spAutoFit/>
                </a:bodyPr>
                <a:lstStyle/>
                <a:p>
                  <a:endParaRPr lang="fr-FR" sz="2400"/>
                </a:p>
              </p:txBody>
            </p:sp>
            <p:sp>
              <p:nvSpPr>
                <p:cNvPr id="153630" name="Freeform 30"/>
                <p:cNvSpPr>
                  <a:spLocks/>
                </p:cNvSpPr>
                <p:nvPr/>
              </p:nvSpPr>
              <p:spPr bwMode="auto">
                <a:xfrm>
                  <a:off x="2877" y="1590"/>
                  <a:ext cx="121" cy="335"/>
                </a:xfrm>
                <a:custGeom>
                  <a:avLst/>
                  <a:gdLst/>
                  <a:ahLst/>
                  <a:cxnLst>
                    <a:cxn ang="0">
                      <a:pos x="0" y="40"/>
                    </a:cxn>
                    <a:cxn ang="0">
                      <a:pos x="275" y="117"/>
                    </a:cxn>
                    <a:cxn ang="0">
                      <a:pos x="275" y="0"/>
                    </a:cxn>
                  </a:cxnLst>
                  <a:rect l="0" t="0" r="r" b="b"/>
                  <a:pathLst>
                    <a:path w="275" h="117">
                      <a:moveTo>
                        <a:pt x="0" y="40"/>
                      </a:moveTo>
                      <a:lnTo>
                        <a:pt x="275" y="117"/>
                      </a:lnTo>
                      <a:lnTo>
                        <a:pt x="275" y="0"/>
                      </a:lnTo>
                    </a:path>
                  </a:pathLst>
                </a:custGeom>
                <a:noFill/>
                <a:ln w="6350" cap="flat" cmpd="sng">
                  <a:solidFill>
                    <a:schemeClr val="bg1"/>
                  </a:solidFill>
                  <a:prstDash val="solid"/>
                  <a:round/>
                  <a:headEnd type="none" w="med" len="med"/>
                  <a:tailEnd type="none" w="med" len="med"/>
                </a:ln>
                <a:effectLst/>
              </p:spPr>
              <p:txBody>
                <a:bodyPr wrap="none" tIns="27432" bIns="27432" anchor="ctr">
                  <a:spAutoFit/>
                </a:bodyPr>
                <a:lstStyle/>
                <a:p>
                  <a:endParaRPr lang="fr-FR" sz="2400"/>
                </a:p>
              </p:txBody>
            </p:sp>
          </p:grpSp>
          <p:grpSp>
            <p:nvGrpSpPr>
              <p:cNvPr id="6" name="Group 31"/>
              <p:cNvGrpSpPr>
                <a:grpSpLocks/>
              </p:cNvGrpSpPr>
              <p:nvPr/>
            </p:nvGrpSpPr>
            <p:grpSpPr bwMode="auto">
              <a:xfrm>
                <a:off x="1221" y="1255"/>
                <a:ext cx="570" cy="536"/>
                <a:chOff x="2676" y="840"/>
                <a:chExt cx="714" cy="672"/>
              </a:xfrm>
            </p:grpSpPr>
            <p:sp>
              <p:nvSpPr>
                <p:cNvPr id="153632" name="Freeform 32"/>
                <p:cNvSpPr>
                  <a:spLocks/>
                </p:cNvSpPr>
                <p:nvPr/>
              </p:nvSpPr>
              <p:spPr bwMode="auto">
                <a:xfrm>
                  <a:off x="2730" y="1277"/>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sz="2400"/>
                </a:p>
              </p:txBody>
            </p:sp>
            <p:sp>
              <p:nvSpPr>
                <p:cNvPr id="153633" name="Freeform 33"/>
                <p:cNvSpPr>
                  <a:spLocks/>
                </p:cNvSpPr>
                <p:nvPr/>
              </p:nvSpPr>
              <p:spPr bwMode="auto">
                <a:xfrm>
                  <a:off x="2737" y="1282"/>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sz="2400"/>
                </a:p>
              </p:txBody>
            </p:sp>
            <p:sp>
              <p:nvSpPr>
                <p:cNvPr id="153634" name="Oval 34"/>
                <p:cNvSpPr>
                  <a:spLocks noChangeArrowheads="1"/>
                </p:cNvSpPr>
                <p:nvPr/>
              </p:nvSpPr>
              <p:spPr bwMode="auto">
                <a:xfrm>
                  <a:off x="2871" y="1333"/>
                  <a:ext cx="280" cy="112"/>
                </a:xfrm>
                <a:prstGeom prst="ellipse">
                  <a:avLst/>
                </a:prstGeom>
                <a:solidFill>
                  <a:srgbClr val="B2B2B2"/>
                </a:solidFill>
                <a:ln w="3175" cap="rnd">
                  <a:solidFill>
                    <a:schemeClr val="tx1"/>
                  </a:solidFill>
                  <a:round/>
                  <a:headEnd/>
                  <a:tailEnd/>
                </a:ln>
                <a:effectLst/>
              </p:spPr>
              <p:txBody>
                <a:bodyPr/>
                <a:lstStyle/>
                <a:p>
                  <a:endParaRPr lang="fr-FR" sz="2400"/>
                </a:p>
              </p:txBody>
            </p:sp>
            <p:sp>
              <p:nvSpPr>
                <p:cNvPr id="153635" name="Freeform 35"/>
                <p:cNvSpPr>
                  <a:spLocks/>
                </p:cNvSpPr>
                <p:nvPr/>
              </p:nvSpPr>
              <p:spPr bwMode="auto">
                <a:xfrm>
                  <a:off x="2718" y="1337"/>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sz="2400"/>
                </a:p>
              </p:txBody>
            </p:sp>
            <p:sp>
              <p:nvSpPr>
                <p:cNvPr id="153636" name="Freeform 36"/>
                <p:cNvSpPr>
                  <a:spLocks noChangeAspect="1"/>
                </p:cNvSpPr>
                <p:nvPr/>
              </p:nvSpPr>
              <p:spPr bwMode="auto">
                <a:xfrm>
                  <a:off x="2826" y="840"/>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37" name="Freeform 37"/>
                <p:cNvSpPr>
                  <a:spLocks noChangeAspect="1"/>
                </p:cNvSpPr>
                <p:nvPr/>
              </p:nvSpPr>
              <p:spPr bwMode="auto">
                <a:xfrm>
                  <a:off x="3178" y="955"/>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38" name="Freeform 38"/>
                <p:cNvSpPr>
                  <a:spLocks noChangeAspect="1"/>
                </p:cNvSpPr>
                <p:nvPr/>
              </p:nvSpPr>
              <p:spPr bwMode="auto">
                <a:xfrm>
                  <a:off x="2676" y="846"/>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sz="2400"/>
                </a:p>
              </p:txBody>
            </p:sp>
            <p:sp>
              <p:nvSpPr>
                <p:cNvPr id="153639" name="Freeform 39"/>
                <p:cNvSpPr>
                  <a:spLocks noChangeAspect="1"/>
                </p:cNvSpPr>
                <p:nvPr/>
              </p:nvSpPr>
              <p:spPr bwMode="auto">
                <a:xfrm>
                  <a:off x="2676" y="897"/>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40" name="Freeform 40"/>
                <p:cNvSpPr>
                  <a:spLocks noChangeAspect="1"/>
                </p:cNvSpPr>
                <p:nvPr/>
              </p:nvSpPr>
              <p:spPr bwMode="auto">
                <a:xfrm>
                  <a:off x="2715" y="947"/>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sz="2400"/>
                </a:p>
              </p:txBody>
            </p:sp>
            <p:sp>
              <p:nvSpPr>
                <p:cNvPr id="153641" name="Freeform 41"/>
                <p:cNvSpPr>
                  <a:spLocks/>
                </p:cNvSpPr>
                <p:nvPr/>
              </p:nvSpPr>
              <p:spPr bwMode="auto">
                <a:xfrm>
                  <a:off x="2741" y="978"/>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sz="2400"/>
                </a:p>
              </p:txBody>
            </p:sp>
            <p:sp>
              <p:nvSpPr>
                <p:cNvPr id="153642" name="Line 42"/>
                <p:cNvSpPr>
                  <a:spLocks noChangeShapeType="1"/>
                </p:cNvSpPr>
                <p:nvPr/>
              </p:nvSpPr>
              <p:spPr bwMode="auto">
                <a:xfrm>
                  <a:off x="2774" y="1011"/>
                  <a:ext cx="0" cy="61"/>
                </a:xfrm>
                <a:prstGeom prst="line">
                  <a:avLst/>
                </a:prstGeom>
                <a:noFill/>
                <a:ln w="25400">
                  <a:solidFill>
                    <a:schemeClr val="bg1"/>
                  </a:solidFill>
                  <a:round/>
                  <a:headEnd/>
                  <a:tailEnd/>
                </a:ln>
                <a:effectLst/>
              </p:spPr>
              <p:txBody>
                <a:bodyPr wrap="none" anchor="ctr"/>
                <a:lstStyle/>
                <a:p>
                  <a:endParaRPr lang="fr-FR" sz="2400"/>
                </a:p>
              </p:txBody>
            </p:sp>
          </p:grpSp>
          <p:grpSp>
            <p:nvGrpSpPr>
              <p:cNvPr id="7" name="Group 43"/>
              <p:cNvGrpSpPr>
                <a:grpSpLocks/>
              </p:cNvGrpSpPr>
              <p:nvPr/>
            </p:nvGrpSpPr>
            <p:grpSpPr bwMode="auto">
              <a:xfrm flipH="1">
                <a:off x="679" y="1266"/>
                <a:ext cx="641" cy="877"/>
                <a:chOff x="4146" y="1294"/>
                <a:chExt cx="836" cy="1145"/>
              </a:xfrm>
            </p:grpSpPr>
            <p:sp>
              <p:nvSpPr>
                <p:cNvPr id="153644" name="Freeform 44"/>
                <p:cNvSpPr>
                  <a:spLocks/>
                </p:cNvSpPr>
                <p:nvPr/>
              </p:nvSpPr>
              <p:spPr bwMode="auto">
                <a:xfrm>
                  <a:off x="4556" y="1515"/>
                  <a:ext cx="359" cy="341"/>
                </a:xfrm>
                <a:custGeom>
                  <a:avLst/>
                  <a:gdLst/>
                  <a:ahLst/>
                  <a:cxnLst>
                    <a:cxn ang="0">
                      <a:pos x="21" y="20"/>
                    </a:cxn>
                    <a:cxn ang="0">
                      <a:pos x="18" y="39"/>
                    </a:cxn>
                    <a:cxn ang="0">
                      <a:pos x="18" y="56"/>
                    </a:cxn>
                    <a:cxn ang="0">
                      <a:pos x="19" y="78"/>
                    </a:cxn>
                    <a:cxn ang="0">
                      <a:pos x="13" y="95"/>
                    </a:cxn>
                    <a:cxn ang="0">
                      <a:pos x="6" y="107"/>
                    </a:cxn>
                    <a:cxn ang="0">
                      <a:pos x="0" y="116"/>
                    </a:cxn>
                    <a:cxn ang="0">
                      <a:pos x="0" y="125"/>
                    </a:cxn>
                    <a:cxn ang="0">
                      <a:pos x="6" y="132"/>
                    </a:cxn>
                    <a:cxn ang="0">
                      <a:pos x="19" y="136"/>
                    </a:cxn>
                    <a:cxn ang="0">
                      <a:pos x="29" y="143"/>
                    </a:cxn>
                    <a:cxn ang="0">
                      <a:pos x="30" y="147"/>
                    </a:cxn>
                    <a:cxn ang="0">
                      <a:pos x="33" y="162"/>
                    </a:cxn>
                    <a:cxn ang="0">
                      <a:pos x="33" y="176"/>
                    </a:cxn>
                    <a:cxn ang="0">
                      <a:pos x="38" y="180"/>
                    </a:cxn>
                    <a:cxn ang="0">
                      <a:pos x="45" y="183"/>
                    </a:cxn>
                    <a:cxn ang="0">
                      <a:pos x="49" y="187"/>
                    </a:cxn>
                    <a:cxn ang="0">
                      <a:pos x="46" y="194"/>
                    </a:cxn>
                    <a:cxn ang="0">
                      <a:pos x="49" y="201"/>
                    </a:cxn>
                    <a:cxn ang="0">
                      <a:pos x="55" y="208"/>
                    </a:cxn>
                    <a:cxn ang="0">
                      <a:pos x="65" y="214"/>
                    </a:cxn>
                    <a:cxn ang="0">
                      <a:pos x="67" y="224"/>
                    </a:cxn>
                    <a:cxn ang="0">
                      <a:pos x="67" y="236"/>
                    </a:cxn>
                    <a:cxn ang="0">
                      <a:pos x="70" y="248"/>
                    </a:cxn>
                    <a:cxn ang="0">
                      <a:pos x="77" y="256"/>
                    </a:cxn>
                    <a:cxn ang="0">
                      <a:pos x="90" y="262"/>
                    </a:cxn>
                    <a:cxn ang="0">
                      <a:pos x="106" y="256"/>
                    </a:cxn>
                    <a:cxn ang="0">
                      <a:pos x="129" y="252"/>
                    </a:cxn>
                    <a:cxn ang="0">
                      <a:pos x="146" y="245"/>
                    </a:cxn>
                    <a:cxn ang="0">
                      <a:pos x="161" y="241"/>
                    </a:cxn>
                    <a:cxn ang="0">
                      <a:pos x="172" y="248"/>
                    </a:cxn>
                    <a:cxn ang="0">
                      <a:pos x="187" y="265"/>
                    </a:cxn>
                    <a:cxn ang="0">
                      <a:pos x="194" y="282"/>
                    </a:cxn>
                    <a:cxn ang="0">
                      <a:pos x="206" y="300"/>
                    </a:cxn>
                    <a:cxn ang="0">
                      <a:pos x="213" y="316"/>
                    </a:cxn>
                    <a:cxn ang="0">
                      <a:pos x="219" y="329"/>
                    </a:cxn>
                    <a:cxn ang="0">
                      <a:pos x="227" y="341"/>
                    </a:cxn>
                    <a:cxn ang="0">
                      <a:pos x="238" y="321"/>
                    </a:cxn>
                    <a:cxn ang="0">
                      <a:pos x="247" y="309"/>
                    </a:cxn>
                    <a:cxn ang="0">
                      <a:pos x="259" y="296"/>
                    </a:cxn>
                    <a:cxn ang="0">
                      <a:pos x="276" y="280"/>
                    </a:cxn>
                    <a:cxn ang="0">
                      <a:pos x="359" y="231"/>
                    </a:cxn>
                    <a:cxn ang="0">
                      <a:pos x="317" y="148"/>
                    </a:cxn>
                    <a:cxn ang="0">
                      <a:pos x="97" y="0"/>
                    </a:cxn>
                    <a:cxn ang="0">
                      <a:pos x="21" y="20"/>
                    </a:cxn>
                  </a:cxnLst>
                  <a:rect l="0" t="0" r="r" b="b"/>
                  <a:pathLst>
                    <a:path w="359" h="341">
                      <a:moveTo>
                        <a:pt x="21" y="20"/>
                      </a:moveTo>
                      <a:lnTo>
                        <a:pt x="18" y="39"/>
                      </a:lnTo>
                      <a:lnTo>
                        <a:pt x="18" y="56"/>
                      </a:lnTo>
                      <a:lnTo>
                        <a:pt x="19" y="78"/>
                      </a:lnTo>
                      <a:lnTo>
                        <a:pt x="13" y="95"/>
                      </a:lnTo>
                      <a:lnTo>
                        <a:pt x="6" y="107"/>
                      </a:lnTo>
                      <a:lnTo>
                        <a:pt x="0" y="116"/>
                      </a:lnTo>
                      <a:lnTo>
                        <a:pt x="0" y="125"/>
                      </a:lnTo>
                      <a:lnTo>
                        <a:pt x="6" y="132"/>
                      </a:lnTo>
                      <a:lnTo>
                        <a:pt x="19" y="136"/>
                      </a:lnTo>
                      <a:lnTo>
                        <a:pt x="29" y="143"/>
                      </a:lnTo>
                      <a:lnTo>
                        <a:pt x="30" y="147"/>
                      </a:lnTo>
                      <a:lnTo>
                        <a:pt x="33" y="162"/>
                      </a:lnTo>
                      <a:lnTo>
                        <a:pt x="33" y="176"/>
                      </a:lnTo>
                      <a:lnTo>
                        <a:pt x="38" y="180"/>
                      </a:lnTo>
                      <a:lnTo>
                        <a:pt x="45" y="183"/>
                      </a:lnTo>
                      <a:lnTo>
                        <a:pt x="49" y="187"/>
                      </a:lnTo>
                      <a:lnTo>
                        <a:pt x="46" y="194"/>
                      </a:lnTo>
                      <a:lnTo>
                        <a:pt x="49" y="201"/>
                      </a:lnTo>
                      <a:lnTo>
                        <a:pt x="55" y="208"/>
                      </a:lnTo>
                      <a:lnTo>
                        <a:pt x="65" y="214"/>
                      </a:lnTo>
                      <a:lnTo>
                        <a:pt x="67" y="224"/>
                      </a:lnTo>
                      <a:lnTo>
                        <a:pt x="67" y="236"/>
                      </a:lnTo>
                      <a:lnTo>
                        <a:pt x="70" y="248"/>
                      </a:lnTo>
                      <a:lnTo>
                        <a:pt x="77" y="256"/>
                      </a:lnTo>
                      <a:lnTo>
                        <a:pt x="90" y="262"/>
                      </a:lnTo>
                      <a:lnTo>
                        <a:pt x="106" y="256"/>
                      </a:lnTo>
                      <a:lnTo>
                        <a:pt x="129" y="252"/>
                      </a:lnTo>
                      <a:lnTo>
                        <a:pt x="146" y="245"/>
                      </a:lnTo>
                      <a:lnTo>
                        <a:pt x="161" y="241"/>
                      </a:lnTo>
                      <a:lnTo>
                        <a:pt x="172" y="248"/>
                      </a:lnTo>
                      <a:lnTo>
                        <a:pt x="187" y="265"/>
                      </a:lnTo>
                      <a:lnTo>
                        <a:pt x="194" y="282"/>
                      </a:lnTo>
                      <a:lnTo>
                        <a:pt x="206" y="300"/>
                      </a:lnTo>
                      <a:lnTo>
                        <a:pt x="213" y="316"/>
                      </a:lnTo>
                      <a:lnTo>
                        <a:pt x="219" y="329"/>
                      </a:lnTo>
                      <a:lnTo>
                        <a:pt x="227" y="341"/>
                      </a:lnTo>
                      <a:lnTo>
                        <a:pt x="238" y="321"/>
                      </a:lnTo>
                      <a:lnTo>
                        <a:pt x="247" y="309"/>
                      </a:lnTo>
                      <a:lnTo>
                        <a:pt x="259" y="296"/>
                      </a:lnTo>
                      <a:lnTo>
                        <a:pt x="276" y="280"/>
                      </a:lnTo>
                      <a:lnTo>
                        <a:pt x="359" y="231"/>
                      </a:lnTo>
                      <a:lnTo>
                        <a:pt x="317" y="148"/>
                      </a:lnTo>
                      <a:lnTo>
                        <a:pt x="97" y="0"/>
                      </a:lnTo>
                      <a:lnTo>
                        <a:pt x="21" y="20"/>
                      </a:lnTo>
                    </a:path>
                  </a:pathLst>
                </a:custGeom>
                <a:solidFill>
                  <a:srgbClr val="FDF3CF"/>
                </a:solidFill>
                <a:ln w="3175" cap="rnd" cmpd="sng">
                  <a:solidFill>
                    <a:srgbClr val="808080"/>
                  </a:solidFill>
                  <a:prstDash val="solid"/>
                  <a:round/>
                  <a:headEnd type="none" w="med" len="med"/>
                  <a:tailEnd type="none" w="med" len="med"/>
                </a:ln>
                <a:effectLst/>
              </p:spPr>
              <p:txBody>
                <a:bodyPr/>
                <a:lstStyle/>
                <a:p>
                  <a:endParaRPr lang="fr-FR" sz="2400"/>
                </a:p>
              </p:txBody>
            </p:sp>
            <p:sp>
              <p:nvSpPr>
                <p:cNvPr id="153645" name="Freeform 45"/>
                <p:cNvSpPr>
                  <a:spLocks/>
                </p:cNvSpPr>
                <p:nvPr/>
              </p:nvSpPr>
              <p:spPr bwMode="auto">
                <a:xfrm flipH="1">
                  <a:off x="4532" y="1294"/>
                  <a:ext cx="449" cy="414"/>
                </a:xfrm>
                <a:custGeom>
                  <a:avLst/>
                  <a:gdLst/>
                  <a:ahLst/>
                  <a:cxnLst>
                    <a:cxn ang="0">
                      <a:pos x="481" y="305"/>
                    </a:cxn>
                    <a:cxn ang="0">
                      <a:pos x="503" y="281"/>
                    </a:cxn>
                    <a:cxn ang="0">
                      <a:pos x="517" y="261"/>
                    </a:cxn>
                    <a:cxn ang="0">
                      <a:pos x="526" y="237"/>
                    </a:cxn>
                    <a:cxn ang="0">
                      <a:pos x="528" y="203"/>
                    </a:cxn>
                    <a:cxn ang="0">
                      <a:pos x="526" y="185"/>
                    </a:cxn>
                    <a:cxn ang="0">
                      <a:pos x="519" y="157"/>
                    </a:cxn>
                    <a:cxn ang="0">
                      <a:pos x="508" y="126"/>
                    </a:cxn>
                    <a:cxn ang="0">
                      <a:pos x="483" y="91"/>
                    </a:cxn>
                    <a:cxn ang="0">
                      <a:pos x="457" y="59"/>
                    </a:cxn>
                    <a:cxn ang="0">
                      <a:pos x="419" y="33"/>
                    </a:cxn>
                    <a:cxn ang="0">
                      <a:pos x="399" y="20"/>
                    </a:cxn>
                    <a:cxn ang="0">
                      <a:pos x="365" y="7"/>
                    </a:cxn>
                    <a:cxn ang="0">
                      <a:pos x="330" y="0"/>
                    </a:cxn>
                    <a:cxn ang="0">
                      <a:pos x="287" y="2"/>
                    </a:cxn>
                    <a:cxn ang="0">
                      <a:pos x="234" y="7"/>
                    </a:cxn>
                    <a:cxn ang="0">
                      <a:pos x="183" y="22"/>
                    </a:cxn>
                    <a:cxn ang="0">
                      <a:pos x="125" y="61"/>
                    </a:cxn>
                    <a:cxn ang="0">
                      <a:pos x="87" y="111"/>
                    </a:cxn>
                    <a:cxn ang="0">
                      <a:pos x="62" y="148"/>
                    </a:cxn>
                    <a:cxn ang="0">
                      <a:pos x="45" y="179"/>
                    </a:cxn>
                    <a:cxn ang="0">
                      <a:pos x="31" y="242"/>
                    </a:cxn>
                    <a:cxn ang="0">
                      <a:pos x="22" y="303"/>
                    </a:cxn>
                    <a:cxn ang="0">
                      <a:pos x="9" y="333"/>
                    </a:cxn>
                    <a:cxn ang="0">
                      <a:pos x="0" y="366"/>
                    </a:cxn>
                    <a:cxn ang="0">
                      <a:pos x="9" y="401"/>
                    </a:cxn>
                    <a:cxn ang="0">
                      <a:pos x="40" y="433"/>
                    </a:cxn>
                    <a:cxn ang="0">
                      <a:pos x="96" y="457"/>
                    </a:cxn>
                    <a:cxn ang="0">
                      <a:pos x="216" y="481"/>
                    </a:cxn>
                    <a:cxn ang="0">
                      <a:pos x="307" y="486"/>
                    </a:cxn>
                    <a:cxn ang="0">
                      <a:pos x="332" y="468"/>
                    </a:cxn>
                    <a:cxn ang="0">
                      <a:pos x="345" y="468"/>
                    </a:cxn>
                    <a:cxn ang="0">
                      <a:pos x="340" y="490"/>
                    </a:cxn>
                    <a:cxn ang="0">
                      <a:pos x="380" y="488"/>
                    </a:cxn>
                    <a:cxn ang="0">
                      <a:pos x="414" y="478"/>
                    </a:cxn>
                    <a:cxn ang="0">
                      <a:pos x="374" y="440"/>
                    </a:cxn>
                    <a:cxn ang="0">
                      <a:pos x="356" y="406"/>
                    </a:cxn>
                    <a:cxn ang="0">
                      <a:pos x="356" y="358"/>
                    </a:cxn>
                    <a:cxn ang="0">
                      <a:pos x="372" y="314"/>
                    </a:cxn>
                    <a:cxn ang="0">
                      <a:pos x="388" y="297"/>
                    </a:cxn>
                    <a:cxn ang="0">
                      <a:pos x="438" y="299"/>
                    </a:cxn>
                    <a:cxn ang="0">
                      <a:pos x="481" y="305"/>
                    </a:cxn>
                  </a:cxnLst>
                  <a:rect l="0" t="0" r="r" b="b"/>
                  <a:pathLst>
                    <a:path w="529" h="491">
                      <a:moveTo>
                        <a:pt x="481" y="305"/>
                      </a:moveTo>
                      <a:lnTo>
                        <a:pt x="503" y="281"/>
                      </a:lnTo>
                      <a:lnTo>
                        <a:pt x="517" y="261"/>
                      </a:lnTo>
                      <a:lnTo>
                        <a:pt x="526" y="237"/>
                      </a:lnTo>
                      <a:lnTo>
                        <a:pt x="528" y="203"/>
                      </a:lnTo>
                      <a:lnTo>
                        <a:pt x="526" y="185"/>
                      </a:lnTo>
                      <a:lnTo>
                        <a:pt x="519" y="157"/>
                      </a:lnTo>
                      <a:lnTo>
                        <a:pt x="508" y="126"/>
                      </a:lnTo>
                      <a:lnTo>
                        <a:pt x="483" y="91"/>
                      </a:lnTo>
                      <a:lnTo>
                        <a:pt x="457" y="59"/>
                      </a:lnTo>
                      <a:lnTo>
                        <a:pt x="419" y="33"/>
                      </a:lnTo>
                      <a:lnTo>
                        <a:pt x="399" y="20"/>
                      </a:lnTo>
                      <a:lnTo>
                        <a:pt x="365" y="7"/>
                      </a:lnTo>
                      <a:lnTo>
                        <a:pt x="330" y="0"/>
                      </a:lnTo>
                      <a:lnTo>
                        <a:pt x="287" y="2"/>
                      </a:lnTo>
                      <a:lnTo>
                        <a:pt x="234" y="7"/>
                      </a:lnTo>
                      <a:lnTo>
                        <a:pt x="183" y="22"/>
                      </a:lnTo>
                      <a:lnTo>
                        <a:pt x="125" y="61"/>
                      </a:lnTo>
                      <a:lnTo>
                        <a:pt x="87" y="111"/>
                      </a:lnTo>
                      <a:lnTo>
                        <a:pt x="62" y="148"/>
                      </a:lnTo>
                      <a:lnTo>
                        <a:pt x="45" y="179"/>
                      </a:lnTo>
                      <a:lnTo>
                        <a:pt x="31" y="242"/>
                      </a:lnTo>
                      <a:lnTo>
                        <a:pt x="22" y="303"/>
                      </a:lnTo>
                      <a:lnTo>
                        <a:pt x="9" y="333"/>
                      </a:lnTo>
                      <a:lnTo>
                        <a:pt x="0" y="366"/>
                      </a:lnTo>
                      <a:lnTo>
                        <a:pt x="9" y="401"/>
                      </a:lnTo>
                      <a:lnTo>
                        <a:pt x="40" y="433"/>
                      </a:lnTo>
                      <a:lnTo>
                        <a:pt x="96" y="457"/>
                      </a:lnTo>
                      <a:lnTo>
                        <a:pt x="216" y="481"/>
                      </a:lnTo>
                      <a:lnTo>
                        <a:pt x="307" y="486"/>
                      </a:lnTo>
                      <a:lnTo>
                        <a:pt x="332" y="468"/>
                      </a:lnTo>
                      <a:lnTo>
                        <a:pt x="345" y="468"/>
                      </a:lnTo>
                      <a:lnTo>
                        <a:pt x="340" y="490"/>
                      </a:lnTo>
                      <a:lnTo>
                        <a:pt x="380" y="488"/>
                      </a:lnTo>
                      <a:lnTo>
                        <a:pt x="414" y="478"/>
                      </a:lnTo>
                      <a:lnTo>
                        <a:pt x="374" y="440"/>
                      </a:lnTo>
                      <a:lnTo>
                        <a:pt x="356" y="406"/>
                      </a:lnTo>
                      <a:lnTo>
                        <a:pt x="356" y="358"/>
                      </a:lnTo>
                      <a:lnTo>
                        <a:pt x="372" y="314"/>
                      </a:lnTo>
                      <a:lnTo>
                        <a:pt x="388" y="297"/>
                      </a:lnTo>
                      <a:lnTo>
                        <a:pt x="438" y="299"/>
                      </a:lnTo>
                      <a:lnTo>
                        <a:pt x="481" y="305"/>
                      </a:lnTo>
                    </a:path>
                  </a:pathLst>
                </a:custGeom>
                <a:gradFill rotWithShape="0">
                  <a:gsLst>
                    <a:gs pos="0">
                      <a:srgbClr val="969696"/>
                    </a:gs>
                    <a:gs pos="100000">
                      <a:srgbClr val="969696">
                        <a:gamma/>
                        <a:shade val="46275"/>
                        <a:invGamma/>
                      </a:srgbClr>
                    </a:gs>
                  </a:gsLst>
                  <a:lin ang="5400000" scaled="1"/>
                </a:gradFill>
                <a:ln w="6350" cap="rnd" cmpd="sng">
                  <a:noFill/>
                  <a:prstDash val="solid"/>
                  <a:round/>
                  <a:headEnd type="none" w="med" len="med"/>
                  <a:tailEnd type="none" w="med" len="med"/>
                </a:ln>
                <a:effectLst/>
              </p:spPr>
              <p:txBody>
                <a:bodyPr/>
                <a:lstStyle/>
                <a:p>
                  <a:endParaRPr lang="fr-FR" sz="2400"/>
                </a:p>
              </p:txBody>
            </p:sp>
            <p:sp>
              <p:nvSpPr>
                <p:cNvPr id="153646" name="Freeform 46"/>
                <p:cNvSpPr>
                  <a:spLocks/>
                </p:cNvSpPr>
                <p:nvPr/>
              </p:nvSpPr>
              <p:spPr bwMode="auto">
                <a:xfrm flipH="1">
                  <a:off x="4600" y="1582"/>
                  <a:ext cx="35" cy="13"/>
                </a:xfrm>
                <a:custGeom>
                  <a:avLst/>
                  <a:gdLst/>
                  <a:ahLst/>
                  <a:cxnLst>
                    <a:cxn ang="0">
                      <a:pos x="0" y="0"/>
                    </a:cxn>
                    <a:cxn ang="0">
                      <a:pos x="40" y="6"/>
                    </a:cxn>
                    <a:cxn ang="0">
                      <a:pos x="34" y="14"/>
                    </a:cxn>
                    <a:cxn ang="0">
                      <a:pos x="0" y="0"/>
                    </a:cxn>
                  </a:cxnLst>
                  <a:rect l="0" t="0" r="r" b="b"/>
                  <a:pathLst>
                    <a:path w="41" h="15">
                      <a:moveTo>
                        <a:pt x="0" y="0"/>
                      </a:moveTo>
                      <a:lnTo>
                        <a:pt x="40" y="6"/>
                      </a:lnTo>
                      <a:lnTo>
                        <a:pt x="34" y="14"/>
                      </a:lnTo>
                      <a:lnTo>
                        <a:pt x="0" y="0"/>
                      </a:lnTo>
                    </a:path>
                  </a:pathLst>
                </a:custGeom>
                <a:solidFill>
                  <a:srgbClr val="969696"/>
                </a:solidFill>
                <a:ln w="6350" cap="rnd" cmpd="sng">
                  <a:solidFill>
                    <a:srgbClr val="969696"/>
                  </a:solidFill>
                  <a:prstDash val="solid"/>
                  <a:round/>
                  <a:headEnd type="none" w="med" len="med"/>
                  <a:tailEnd type="none" w="med" len="med"/>
                </a:ln>
                <a:effectLst/>
              </p:spPr>
              <p:txBody>
                <a:bodyPr/>
                <a:lstStyle/>
                <a:p>
                  <a:endParaRPr lang="fr-FR" sz="2400"/>
                </a:p>
              </p:txBody>
            </p:sp>
            <p:sp>
              <p:nvSpPr>
                <p:cNvPr id="153647" name="Freeform 47"/>
                <p:cNvSpPr>
                  <a:spLocks/>
                </p:cNvSpPr>
                <p:nvPr/>
              </p:nvSpPr>
              <p:spPr bwMode="auto">
                <a:xfrm flipH="1">
                  <a:off x="4497" y="2079"/>
                  <a:ext cx="146" cy="115"/>
                </a:xfrm>
                <a:custGeom>
                  <a:avLst/>
                  <a:gdLst/>
                  <a:ahLst/>
                  <a:cxnLst>
                    <a:cxn ang="0">
                      <a:pos x="399" y="32"/>
                    </a:cxn>
                    <a:cxn ang="0">
                      <a:pos x="449" y="67"/>
                    </a:cxn>
                    <a:cxn ang="0">
                      <a:pos x="499" y="105"/>
                    </a:cxn>
                    <a:cxn ang="0">
                      <a:pos x="524" y="136"/>
                    </a:cxn>
                    <a:cxn ang="0">
                      <a:pos x="526" y="169"/>
                    </a:cxn>
                    <a:cxn ang="0">
                      <a:pos x="543" y="176"/>
                    </a:cxn>
                    <a:cxn ang="0">
                      <a:pos x="563" y="201"/>
                    </a:cxn>
                    <a:cxn ang="0">
                      <a:pos x="572" y="220"/>
                    </a:cxn>
                    <a:cxn ang="0">
                      <a:pos x="561" y="238"/>
                    </a:cxn>
                    <a:cxn ang="0">
                      <a:pos x="551" y="259"/>
                    </a:cxn>
                    <a:cxn ang="0">
                      <a:pos x="536" y="261"/>
                    </a:cxn>
                    <a:cxn ang="0">
                      <a:pos x="499" y="240"/>
                    </a:cxn>
                    <a:cxn ang="0">
                      <a:pos x="438" y="192"/>
                    </a:cxn>
                    <a:cxn ang="0">
                      <a:pos x="422" y="153"/>
                    </a:cxn>
                    <a:cxn ang="0">
                      <a:pos x="380" y="174"/>
                    </a:cxn>
                    <a:cxn ang="0">
                      <a:pos x="334" y="176"/>
                    </a:cxn>
                    <a:cxn ang="0">
                      <a:pos x="317" y="167"/>
                    </a:cxn>
                    <a:cxn ang="0">
                      <a:pos x="311" y="167"/>
                    </a:cxn>
                    <a:cxn ang="0">
                      <a:pos x="307" y="176"/>
                    </a:cxn>
                    <a:cxn ang="0">
                      <a:pos x="305" y="186"/>
                    </a:cxn>
                    <a:cxn ang="0">
                      <a:pos x="300" y="182"/>
                    </a:cxn>
                    <a:cxn ang="0">
                      <a:pos x="292" y="178"/>
                    </a:cxn>
                    <a:cxn ang="0">
                      <a:pos x="280" y="178"/>
                    </a:cxn>
                    <a:cxn ang="0">
                      <a:pos x="259" y="186"/>
                    </a:cxn>
                    <a:cxn ang="0">
                      <a:pos x="240" y="192"/>
                    </a:cxn>
                    <a:cxn ang="0">
                      <a:pos x="215" y="211"/>
                    </a:cxn>
                    <a:cxn ang="0">
                      <a:pos x="188" y="236"/>
                    </a:cxn>
                    <a:cxn ang="0">
                      <a:pos x="171" y="272"/>
                    </a:cxn>
                    <a:cxn ang="0">
                      <a:pos x="184" y="307"/>
                    </a:cxn>
                    <a:cxn ang="0">
                      <a:pos x="217" y="328"/>
                    </a:cxn>
                    <a:cxn ang="0">
                      <a:pos x="244" y="338"/>
                    </a:cxn>
                    <a:cxn ang="0">
                      <a:pos x="267" y="322"/>
                    </a:cxn>
                    <a:cxn ang="0">
                      <a:pos x="315" y="324"/>
                    </a:cxn>
                    <a:cxn ang="0">
                      <a:pos x="371" y="345"/>
                    </a:cxn>
                    <a:cxn ang="0">
                      <a:pos x="378" y="376"/>
                    </a:cxn>
                    <a:cxn ang="0">
                      <a:pos x="355" y="407"/>
                    </a:cxn>
                    <a:cxn ang="0">
                      <a:pos x="330" y="424"/>
                    </a:cxn>
                    <a:cxn ang="0">
                      <a:pos x="286" y="439"/>
                    </a:cxn>
                    <a:cxn ang="0">
                      <a:pos x="190" y="447"/>
                    </a:cxn>
                    <a:cxn ang="0">
                      <a:pos x="92" y="434"/>
                    </a:cxn>
                    <a:cxn ang="0">
                      <a:pos x="50" y="416"/>
                    </a:cxn>
                    <a:cxn ang="0">
                      <a:pos x="52" y="359"/>
                    </a:cxn>
                    <a:cxn ang="0">
                      <a:pos x="37" y="251"/>
                    </a:cxn>
                    <a:cxn ang="0">
                      <a:pos x="16" y="123"/>
                    </a:cxn>
                    <a:cxn ang="0">
                      <a:pos x="2" y="71"/>
                    </a:cxn>
                    <a:cxn ang="0">
                      <a:pos x="14" y="78"/>
                    </a:cxn>
                    <a:cxn ang="0">
                      <a:pos x="56" y="80"/>
                    </a:cxn>
                    <a:cxn ang="0">
                      <a:pos x="117" y="67"/>
                    </a:cxn>
                    <a:cxn ang="0">
                      <a:pos x="231" y="32"/>
                    </a:cxn>
                    <a:cxn ang="0">
                      <a:pos x="282" y="15"/>
                    </a:cxn>
                    <a:cxn ang="0">
                      <a:pos x="336" y="0"/>
                    </a:cxn>
                    <a:cxn ang="0">
                      <a:pos x="371" y="5"/>
                    </a:cxn>
                  </a:cxnLst>
                  <a:rect l="0" t="0" r="r" b="b"/>
                  <a:pathLst>
                    <a:path w="574" h="447">
                      <a:moveTo>
                        <a:pt x="384" y="15"/>
                      </a:moveTo>
                      <a:lnTo>
                        <a:pt x="392" y="25"/>
                      </a:lnTo>
                      <a:lnTo>
                        <a:pt x="399" y="32"/>
                      </a:lnTo>
                      <a:lnTo>
                        <a:pt x="411" y="40"/>
                      </a:lnTo>
                      <a:lnTo>
                        <a:pt x="422" y="50"/>
                      </a:lnTo>
                      <a:lnTo>
                        <a:pt x="449" y="67"/>
                      </a:lnTo>
                      <a:lnTo>
                        <a:pt x="476" y="86"/>
                      </a:lnTo>
                      <a:lnTo>
                        <a:pt x="488" y="96"/>
                      </a:lnTo>
                      <a:lnTo>
                        <a:pt x="499" y="105"/>
                      </a:lnTo>
                      <a:lnTo>
                        <a:pt x="509" y="115"/>
                      </a:lnTo>
                      <a:lnTo>
                        <a:pt x="518" y="124"/>
                      </a:lnTo>
                      <a:lnTo>
                        <a:pt x="524" y="136"/>
                      </a:lnTo>
                      <a:lnTo>
                        <a:pt x="528" y="146"/>
                      </a:lnTo>
                      <a:lnTo>
                        <a:pt x="528" y="157"/>
                      </a:lnTo>
                      <a:lnTo>
                        <a:pt x="526" y="169"/>
                      </a:lnTo>
                      <a:lnTo>
                        <a:pt x="530" y="169"/>
                      </a:lnTo>
                      <a:lnTo>
                        <a:pt x="536" y="171"/>
                      </a:lnTo>
                      <a:lnTo>
                        <a:pt x="543" y="176"/>
                      </a:lnTo>
                      <a:lnTo>
                        <a:pt x="549" y="184"/>
                      </a:lnTo>
                      <a:lnTo>
                        <a:pt x="557" y="194"/>
                      </a:lnTo>
                      <a:lnTo>
                        <a:pt x="563" y="201"/>
                      </a:lnTo>
                      <a:lnTo>
                        <a:pt x="568" y="211"/>
                      </a:lnTo>
                      <a:lnTo>
                        <a:pt x="574" y="217"/>
                      </a:lnTo>
                      <a:lnTo>
                        <a:pt x="572" y="220"/>
                      </a:lnTo>
                      <a:lnTo>
                        <a:pt x="568" y="226"/>
                      </a:lnTo>
                      <a:lnTo>
                        <a:pt x="565" y="232"/>
                      </a:lnTo>
                      <a:lnTo>
                        <a:pt x="561" y="238"/>
                      </a:lnTo>
                      <a:lnTo>
                        <a:pt x="557" y="245"/>
                      </a:lnTo>
                      <a:lnTo>
                        <a:pt x="553" y="251"/>
                      </a:lnTo>
                      <a:lnTo>
                        <a:pt x="551" y="259"/>
                      </a:lnTo>
                      <a:lnTo>
                        <a:pt x="549" y="265"/>
                      </a:lnTo>
                      <a:lnTo>
                        <a:pt x="543" y="265"/>
                      </a:lnTo>
                      <a:lnTo>
                        <a:pt x="536" y="261"/>
                      </a:lnTo>
                      <a:lnTo>
                        <a:pt x="528" y="257"/>
                      </a:lnTo>
                      <a:lnTo>
                        <a:pt x="518" y="251"/>
                      </a:lnTo>
                      <a:lnTo>
                        <a:pt x="499" y="240"/>
                      </a:lnTo>
                      <a:lnTo>
                        <a:pt x="478" y="222"/>
                      </a:lnTo>
                      <a:lnTo>
                        <a:pt x="457" y="207"/>
                      </a:lnTo>
                      <a:lnTo>
                        <a:pt x="438" y="192"/>
                      </a:lnTo>
                      <a:lnTo>
                        <a:pt x="421" y="178"/>
                      </a:lnTo>
                      <a:lnTo>
                        <a:pt x="409" y="169"/>
                      </a:lnTo>
                      <a:lnTo>
                        <a:pt x="422" y="153"/>
                      </a:lnTo>
                      <a:lnTo>
                        <a:pt x="409" y="163"/>
                      </a:lnTo>
                      <a:lnTo>
                        <a:pt x="396" y="169"/>
                      </a:lnTo>
                      <a:lnTo>
                        <a:pt x="380" y="174"/>
                      </a:lnTo>
                      <a:lnTo>
                        <a:pt x="365" y="178"/>
                      </a:lnTo>
                      <a:lnTo>
                        <a:pt x="350" y="180"/>
                      </a:lnTo>
                      <a:lnTo>
                        <a:pt x="334" y="176"/>
                      </a:lnTo>
                      <a:lnTo>
                        <a:pt x="328" y="174"/>
                      </a:lnTo>
                      <a:lnTo>
                        <a:pt x="323" y="171"/>
                      </a:lnTo>
                      <a:lnTo>
                        <a:pt x="317" y="167"/>
                      </a:lnTo>
                      <a:lnTo>
                        <a:pt x="311" y="161"/>
                      </a:lnTo>
                      <a:lnTo>
                        <a:pt x="311" y="165"/>
                      </a:lnTo>
                      <a:lnTo>
                        <a:pt x="311" y="167"/>
                      </a:lnTo>
                      <a:lnTo>
                        <a:pt x="309" y="171"/>
                      </a:lnTo>
                      <a:lnTo>
                        <a:pt x="309" y="172"/>
                      </a:lnTo>
                      <a:lnTo>
                        <a:pt x="307" y="176"/>
                      </a:lnTo>
                      <a:lnTo>
                        <a:pt x="307" y="178"/>
                      </a:lnTo>
                      <a:lnTo>
                        <a:pt x="305" y="182"/>
                      </a:lnTo>
                      <a:lnTo>
                        <a:pt x="305" y="186"/>
                      </a:lnTo>
                      <a:lnTo>
                        <a:pt x="303" y="184"/>
                      </a:lnTo>
                      <a:lnTo>
                        <a:pt x="302" y="184"/>
                      </a:lnTo>
                      <a:lnTo>
                        <a:pt x="300" y="182"/>
                      </a:lnTo>
                      <a:lnTo>
                        <a:pt x="296" y="182"/>
                      </a:lnTo>
                      <a:lnTo>
                        <a:pt x="294" y="180"/>
                      </a:lnTo>
                      <a:lnTo>
                        <a:pt x="292" y="178"/>
                      </a:lnTo>
                      <a:lnTo>
                        <a:pt x="290" y="178"/>
                      </a:lnTo>
                      <a:lnTo>
                        <a:pt x="288" y="176"/>
                      </a:lnTo>
                      <a:lnTo>
                        <a:pt x="280" y="178"/>
                      </a:lnTo>
                      <a:lnTo>
                        <a:pt x="273" y="180"/>
                      </a:lnTo>
                      <a:lnTo>
                        <a:pt x="267" y="182"/>
                      </a:lnTo>
                      <a:lnTo>
                        <a:pt x="259" y="186"/>
                      </a:lnTo>
                      <a:lnTo>
                        <a:pt x="254" y="188"/>
                      </a:lnTo>
                      <a:lnTo>
                        <a:pt x="246" y="192"/>
                      </a:lnTo>
                      <a:lnTo>
                        <a:pt x="240" y="192"/>
                      </a:lnTo>
                      <a:lnTo>
                        <a:pt x="232" y="194"/>
                      </a:lnTo>
                      <a:lnTo>
                        <a:pt x="225" y="201"/>
                      </a:lnTo>
                      <a:lnTo>
                        <a:pt x="215" y="211"/>
                      </a:lnTo>
                      <a:lnTo>
                        <a:pt x="208" y="219"/>
                      </a:lnTo>
                      <a:lnTo>
                        <a:pt x="198" y="226"/>
                      </a:lnTo>
                      <a:lnTo>
                        <a:pt x="188" y="236"/>
                      </a:lnTo>
                      <a:lnTo>
                        <a:pt x="181" y="247"/>
                      </a:lnTo>
                      <a:lnTo>
                        <a:pt x="175" y="259"/>
                      </a:lnTo>
                      <a:lnTo>
                        <a:pt x="171" y="272"/>
                      </a:lnTo>
                      <a:lnTo>
                        <a:pt x="171" y="288"/>
                      </a:lnTo>
                      <a:lnTo>
                        <a:pt x="175" y="297"/>
                      </a:lnTo>
                      <a:lnTo>
                        <a:pt x="184" y="307"/>
                      </a:lnTo>
                      <a:lnTo>
                        <a:pt x="194" y="315"/>
                      </a:lnTo>
                      <a:lnTo>
                        <a:pt x="206" y="322"/>
                      </a:lnTo>
                      <a:lnTo>
                        <a:pt x="217" y="328"/>
                      </a:lnTo>
                      <a:lnTo>
                        <a:pt x="229" y="332"/>
                      </a:lnTo>
                      <a:lnTo>
                        <a:pt x="238" y="336"/>
                      </a:lnTo>
                      <a:lnTo>
                        <a:pt x="244" y="338"/>
                      </a:lnTo>
                      <a:lnTo>
                        <a:pt x="252" y="330"/>
                      </a:lnTo>
                      <a:lnTo>
                        <a:pt x="257" y="326"/>
                      </a:lnTo>
                      <a:lnTo>
                        <a:pt x="267" y="322"/>
                      </a:lnTo>
                      <a:lnTo>
                        <a:pt x="275" y="320"/>
                      </a:lnTo>
                      <a:lnTo>
                        <a:pt x="294" y="320"/>
                      </a:lnTo>
                      <a:lnTo>
                        <a:pt x="315" y="324"/>
                      </a:lnTo>
                      <a:lnTo>
                        <a:pt x="334" y="330"/>
                      </a:lnTo>
                      <a:lnTo>
                        <a:pt x="353" y="338"/>
                      </a:lnTo>
                      <a:lnTo>
                        <a:pt x="371" y="345"/>
                      </a:lnTo>
                      <a:lnTo>
                        <a:pt x="384" y="353"/>
                      </a:lnTo>
                      <a:lnTo>
                        <a:pt x="382" y="364"/>
                      </a:lnTo>
                      <a:lnTo>
                        <a:pt x="378" y="376"/>
                      </a:lnTo>
                      <a:lnTo>
                        <a:pt x="373" y="387"/>
                      </a:lnTo>
                      <a:lnTo>
                        <a:pt x="365" y="397"/>
                      </a:lnTo>
                      <a:lnTo>
                        <a:pt x="355" y="407"/>
                      </a:lnTo>
                      <a:lnTo>
                        <a:pt x="346" y="414"/>
                      </a:lnTo>
                      <a:lnTo>
                        <a:pt x="338" y="420"/>
                      </a:lnTo>
                      <a:lnTo>
                        <a:pt x="330" y="424"/>
                      </a:lnTo>
                      <a:lnTo>
                        <a:pt x="317" y="430"/>
                      </a:lnTo>
                      <a:lnTo>
                        <a:pt x="303" y="435"/>
                      </a:lnTo>
                      <a:lnTo>
                        <a:pt x="286" y="439"/>
                      </a:lnTo>
                      <a:lnTo>
                        <a:pt x="269" y="441"/>
                      </a:lnTo>
                      <a:lnTo>
                        <a:pt x="231" y="447"/>
                      </a:lnTo>
                      <a:lnTo>
                        <a:pt x="190" y="447"/>
                      </a:lnTo>
                      <a:lnTo>
                        <a:pt x="148" y="445"/>
                      </a:lnTo>
                      <a:lnTo>
                        <a:pt x="110" y="439"/>
                      </a:lnTo>
                      <a:lnTo>
                        <a:pt x="92" y="434"/>
                      </a:lnTo>
                      <a:lnTo>
                        <a:pt x="77" y="430"/>
                      </a:lnTo>
                      <a:lnTo>
                        <a:pt x="62" y="424"/>
                      </a:lnTo>
                      <a:lnTo>
                        <a:pt x="50" y="416"/>
                      </a:lnTo>
                      <a:lnTo>
                        <a:pt x="52" y="397"/>
                      </a:lnTo>
                      <a:lnTo>
                        <a:pt x="52" y="378"/>
                      </a:lnTo>
                      <a:lnTo>
                        <a:pt x="52" y="359"/>
                      </a:lnTo>
                      <a:lnTo>
                        <a:pt x="52" y="338"/>
                      </a:lnTo>
                      <a:lnTo>
                        <a:pt x="46" y="295"/>
                      </a:lnTo>
                      <a:lnTo>
                        <a:pt x="37" y="251"/>
                      </a:lnTo>
                      <a:lnTo>
                        <a:pt x="29" y="207"/>
                      </a:lnTo>
                      <a:lnTo>
                        <a:pt x="21" y="165"/>
                      </a:lnTo>
                      <a:lnTo>
                        <a:pt x="16" y="123"/>
                      </a:lnTo>
                      <a:lnTo>
                        <a:pt x="12" y="82"/>
                      </a:lnTo>
                      <a:lnTo>
                        <a:pt x="0" y="67"/>
                      </a:lnTo>
                      <a:lnTo>
                        <a:pt x="2" y="71"/>
                      </a:lnTo>
                      <a:lnTo>
                        <a:pt x="4" y="73"/>
                      </a:lnTo>
                      <a:lnTo>
                        <a:pt x="8" y="76"/>
                      </a:lnTo>
                      <a:lnTo>
                        <a:pt x="14" y="78"/>
                      </a:lnTo>
                      <a:lnTo>
                        <a:pt x="25" y="80"/>
                      </a:lnTo>
                      <a:lnTo>
                        <a:pt x="39" y="80"/>
                      </a:lnTo>
                      <a:lnTo>
                        <a:pt x="56" y="80"/>
                      </a:lnTo>
                      <a:lnTo>
                        <a:pt x="75" y="76"/>
                      </a:lnTo>
                      <a:lnTo>
                        <a:pt x="96" y="73"/>
                      </a:lnTo>
                      <a:lnTo>
                        <a:pt x="117" y="67"/>
                      </a:lnTo>
                      <a:lnTo>
                        <a:pt x="158" y="55"/>
                      </a:lnTo>
                      <a:lnTo>
                        <a:pt x="198" y="42"/>
                      </a:lnTo>
                      <a:lnTo>
                        <a:pt x="231" y="32"/>
                      </a:lnTo>
                      <a:lnTo>
                        <a:pt x="250" y="27"/>
                      </a:lnTo>
                      <a:lnTo>
                        <a:pt x="265" y="21"/>
                      </a:lnTo>
                      <a:lnTo>
                        <a:pt x="282" y="15"/>
                      </a:lnTo>
                      <a:lnTo>
                        <a:pt x="300" y="9"/>
                      </a:lnTo>
                      <a:lnTo>
                        <a:pt x="317" y="4"/>
                      </a:lnTo>
                      <a:lnTo>
                        <a:pt x="336" y="0"/>
                      </a:lnTo>
                      <a:lnTo>
                        <a:pt x="353" y="0"/>
                      </a:lnTo>
                      <a:lnTo>
                        <a:pt x="361" y="2"/>
                      </a:lnTo>
                      <a:lnTo>
                        <a:pt x="371" y="5"/>
                      </a:lnTo>
                      <a:lnTo>
                        <a:pt x="378" y="9"/>
                      </a:lnTo>
                      <a:lnTo>
                        <a:pt x="384" y="15"/>
                      </a:lnTo>
                      <a:close/>
                    </a:path>
                  </a:pathLst>
                </a:custGeom>
                <a:solidFill>
                  <a:srgbClr val="FDF3CF"/>
                </a:solidFill>
                <a:ln w="3175" cap="rnd" cmpd="sng">
                  <a:solidFill>
                    <a:srgbClr val="969696"/>
                  </a:solidFill>
                  <a:prstDash val="solid"/>
                  <a:round/>
                  <a:headEnd type="none" w="med" len="med"/>
                  <a:tailEnd type="none" w="med" len="med"/>
                </a:ln>
                <a:effectLst/>
              </p:spPr>
              <p:txBody>
                <a:bodyPr/>
                <a:lstStyle/>
                <a:p>
                  <a:endParaRPr lang="fr-FR" sz="2400"/>
                </a:p>
              </p:txBody>
            </p:sp>
            <p:sp>
              <p:nvSpPr>
                <p:cNvPr id="153648" name="Freeform 48"/>
                <p:cNvSpPr>
                  <a:spLocks/>
                </p:cNvSpPr>
                <p:nvPr/>
              </p:nvSpPr>
              <p:spPr bwMode="auto">
                <a:xfrm rot="1622053" flipH="1">
                  <a:off x="4146" y="2220"/>
                  <a:ext cx="449" cy="153"/>
                </a:xfrm>
                <a:custGeom>
                  <a:avLst/>
                  <a:gdLst/>
                  <a:ahLst/>
                  <a:cxnLst>
                    <a:cxn ang="0">
                      <a:pos x="455" y="32"/>
                    </a:cxn>
                    <a:cxn ang="0">
                      <a:pos x="468" y="46"/>
                    </a:cxn>
                    <a:cxn ang="0">
                      <a:pos x="487" y="65"/>
                    </a:cxn>
                    <a:cxn ang="0">
                      <a:pos x="498" y="74"/>
                    </a:cxn>
                    <a:cxn ang="0">
                      <a:pos x="504" y="90"/>
                    </a:cxn>
                    <a:cxn ang="0">
                      <a:pos x="517" y="104"/>
                    </a:cxn>
                    <a:cxn ang="0">
                      <a:pos x="527" y="112"/>
                    </a:cxn>
                    <a:cxn ang="0">
                      <a:pos x="539" y="116"/>
                    </a:cxn>
                    <a:cxn ang="0">
                      <a:pos x="555" y="124"/>
                    </a:cxn>
                    <a:cxn ang="0">
                      <a:pos x="553" y="138"/>
                    </a:cxn>
                    <a:cxn ang="0">
                      <a:pos x="543" y="144"/>
                    </a:cxn>
                    <a:cxn ang="0">
                      <a:pos x="527" y="146"/>
                    </a:cxn>
                    <a:cxn ang="0">
                      <a:pos x="513" y="138"/>
                    </a:cxn>
                    <a:cxn ang="0">
                      <a:pos x="489" y="130"/>
                    </a:cxn>
                    <a:cxn ang="0">
                      <a:pos x="463" y="130"/>
                    </a:cxn>
                    <a:cxn ang="0">
                      <a:pos x="452" y="129"/>
                    </a:cxn>
                    <a:cxn ang="0">
                      <a:pos x="428" y="135"/>
                    </a:cxn>
                    <a:cxn ang="0">
                      <a:pos x="392" y="158"/>
                    </a:cxn>
                    <a:cxn ang="0">
                      <a:pos x="359" y="178"/>
                    </a:cxn>
                    <a:cxn ang="0">
                      <a:pos x="325" y="185"/>
                    </a:cxn>
                    <a:cxn ang="0">
                      <a:pos x="284" y="189"/>
                    </a:cxn>
                    <a:cxn ang="0">
                      <a:pos x="249" y="185"/>
                    </a:cxn>
                    <a:cxn ang="0">
                      <a:pos x="210" y="182"/>
                    </a:cxn>
                    <a:cxn ang="0">
                      <a:pos x="178" y="176"/>
                    </a:cxn>
                    <a:cxn ang="0">
                      <a:pos x="134" y="169"/>
                    </a:cxn>
                    <a:cxn ang="0">
                      <a:pos x="82" y="156"/>
                    </a:cxn>
                    <a:cxn ang="0">
                      <a:pos x="30" y="139"/>
                    </a:cxn>
                    <a:cxn ang="0">
                      <a:pos x="8" y="124"/>
                    </a:cxn>
                    <a:cxn ang="0">
                      <a:pos x="0" y="122"/>
                    </a:cxn>
                    <a:cxn ang="0">
                      <a:pos x="35" y="90"/>
                    </a:cxn>
                    <a:cxn ang="0">
                      <a:pos x="68" y="49"/>
                    </a:cxn>
                    <a:cxn ang="0">
                      <a:pos x="72" y="29"/>
                    </a:cxn>
                    <a:cxn ang="0">
                      <a:pos x="129" y="53"/>
                    </a:cxn>
                    <a:cxn ang="0">
                      <a:pos x="180" y="74"/>
                    </a:cxn>
                    <a:cxn ang="0">
                      <a:pos x="236" y="93"/>
                    </a:cxn>
                    <a:cxn ang="0">
                      <a:pos x="273" y="99"/>
                    </a:cxn>
                    <a:cxn ang="0">
                      <a:pos x="296" y="72"/>
                    </a:cxn>
                    <a:cxn ang="0">
                      <a:pos x="323" y="48"/>
                    </a:cxn>
                    <a:cxn ang="0">
                      <a:pos x="347" y="27"/>
                    </a:cxn>
                    <a:cxn ang="0">
                      <a:pos x="368" y="7"/>
                    </a:cxn>
                    <a:cxn ang="0">
                      <a:pos x="398" y="0"/>
                    </a:cxn>
                    <a:cxn ang="0">
                      <a:pos x="409" y="6"/>
                    </a:cxn>
                    <a:cxn ang="0">
                      <a:pos x="421" y="18"/>
                    </a:cxn>
                    <a:cxn ang="0">
                      <a:pos x="438" y="24"/>
                    </a:cxn>
                    <a:cxn ang="0">
                      <a:pos x="455" y="32"/>
                    </a:cxn>
                  </a:cxnLst>
                  <a:rect l="0" t="0" r="r" b="b"/>
                  <a:pathLst>
                    <a:path w="556" h="190">
                      <a:moveTo>
                        <a:pt x="455" y="32"/>
                      </a:moveTo>
                      <a:lnTo>
                        <a:pt x="468" y="46"/>
                      </a:lnTo>
                      <a:lnTo>
                        <a:pt x="487" y="65"/>
                      </a:lnTo>
                      <a:lnTo>
                        <a:pt x="498" y="74"/>
                      </a:lnTo>
                      <a:lnTo>
                        <a:pt x="504" y="90"/>
                      </a:lnTo>
                      <a:lnTo>
                        <a:pt x="517" y="104"/>
                      </a:lnTo>
                      <a:lnTo>
                        <a:pt x="527" y="112"/>
                      </a:lnTo>
                      <a:lnTo>
                        <a:pt x="539" y="116"/>
                      </a:lnTo>
                      <a:lnTo>
                        <a:pt x="555" y="124"/>
                      </a:lnTo>
                      <a:lnTo>
                        <a:pt x="553" y="138"/>
                      </a:lnTo>
                      <a:lnTo>
                        <a:pt x="543" y="144"/>
                      </a:lnTo>
                      <a:lnTo>
                        <a:pt x="527" y="146"/>
                      </a:lnTo>
                      <a:lnTo>
                        <a:pt x="513" y="138"/>
                      </a:lnTo>
                      <a:lnTo>
                        <a:pt x="489" y="130"/>
                      </a:lnTo>
                      <a:lnTo>
                        <a:pt x="463" y="130"/>
                      </a:lnTo>
                      <a:lnTo>
                        <a:pt x="452" y="129"/>
                      </a:lnTo>
                      <a:lnTo>
                        <a:pt x="428" y="135"/>
                      </a:lnTo>
                      <a:lnTo>
                        <a:pt x="392" y="158"/>
                      </a:lnTo>
                      <a:lnTo>
                        <a:pt x="359" y="178"/>
                      </a:lnTo>
                      <a:lnTo>
                        <a:pt x="325" y="185"/>
                      </a:lnTo>
                      <a:lnTo>
                        <a:pt x="284" y="189"/>
                      </a:lnTo>
                      <a:lnTo>
                        <a:pt x="249" y="185"/>
                      </a:lnTo>
                      <a:lnTo>
                        <a:pt x="210" y="182"/>
                      </a:lnTo>
                      <a:lnTo>
                        <a:pt x="178" y="176"/>
                      </a:lnTo>
                      <a:lnTo>
                        <a:pt x="134" y="169"/>
                      </a:lnTo>
                      <a:lnTo>
                        <a:pt x="82" y="156"/>
                      </a:lnTo>
                      <a:lnTo>
                        <a:pt x="30" y="139"/>
                      </a:lnTo>
                      <a:lnTo>
                        <a:pt x="8" y="124"/>
                      </a:lnTo>
                      <a:lnTo>
                        <a:pt x="0" y="122"/>
                      </a:lnTo>
                      <a:lnTo>
                        <a:pt x="35" y="90"/>
                      </a:lnTo>
                      <a:lnTo>
                        <a:pt x="68" y="49"/>
                      </a:lnTo>
                      <a:lnTo>
                        <a:pt x="72" y="29"/>
                      </a:lnTo>
                      <a:lnTo>
                        <a:pt x="129" y="53"/>
                      </a:lnTo>
                      <a:lnTo>
                        <a:pt x="180" y="74"/>
                      </a:lnTo>
                      <a:lnTo>
                        <a:pt x="236" y="93"/>
                      </a:lnTo>
                      <a:lnTo>
                        <a:pt x="273" y="99"/>
                      </a:lnTo>
                      <a:lnTo>
                        <a:pt x="296" y="72"/>
                      </a:lnTo>
                      <a:lnTo>
                        <a:pt x="323" y="48"/>
                      </a:lnTo>
                      <a:lnTo>
                        <a:pt x="347" y="27"/>
                      </a:lnTo>
                      <a:lnTo>
                        <a:pt x="368" y="7"/>
                      </a:lnTo>
                      <a:lnTo>
                        <a:pt x="398" y="0"/>
                      </a:lnTo>
                      <a:lnTo>
                        <a:pt x="409" y="6"/>
                      </a:lnTo>
                      <a:lnTo>
                        <a:pt x="421" y="18"/>
                      </a:lnTo>
                      <a:lnTo>
                        <a:pt x="438" y="24"/>
                      </a:lnTo>
                      <a:lnTo>
                        <a:pt x="455" y="32"/>
                      </a:lnTo>
                    </a:path>
                  </a:pathLst>
                </a:custGeom>
                <a:solidFill>
                  <a:srgbClr val="FDF3CF"/>
                </a:solidFill>
                <a:ln w="3175" cap="rnd" cmpd="sng">
                  <a:solidFill>
                    <a:srgbClr val="808080"/>
                  </a:solidFill>
                  <a:prstDash val="solid"/>
                  <a:round/>
                  <a:headEnd type="none" w="med" len="med"/>
                  <a:tailEnd type="none" w="med" len="med"/>
                </a:ln>
                <a:effectLst/>
              </p:spPr>
              <p:txBody>
                <a:bodyPr/>
                <a:lstStyle/>
                <a:p>
                  <a:endParaRPr lang="fr-FR" sz="2400"/>
                </a:p>
              </p:txBody>
            </p:sp>
            <p:sp>
              <p:nvSpPr>
                <p:cNvPr id="153649" name="Freeform 49"/>
                <p:cNvSpPr>
                  <a:spLocks/>
                </p:cNvSpPr>
                <p:nvPr/>
              </p:nvSpPr>
              <p:spPr bwMode="auto">
                <a:xfrm flipH="1">
                  <a:off x="4315" y="1726"/>
                  <a:ext cx="667" cy="713"/>
                </a:xfrm>
                <a:custGeom>
                  <a:avLst/>
                  <a:gdLst/>
                  <a:ahLst/>
                  <a:cxnLst>
                    <a:cxn ang="0">
                      <a:pos x="68" y="0"/>
                    </a:cxn>
                    <a:cxn ang="0">
                      <a:pos x="208" y="76"/>
                    </a:cxn>
                    <a:cxn ang="0">
                      <a:pos x="256" y="104"/>
                    </a:cxn>
                    <a:cxn ang="0">
                      <a:pos x="280" y="164"/>
                    </a:cxn>
                    <a:cxn ang="0">
                      <a:pos x="304" y="216"/>
                    </a:cxn>
                    <a:cxn ang="0">
                      <a:pos x="328" y="236"/>
                    </a:cxn>
                    <a:cxn ang="0">
                      <a:pos x="368" y="284"/>
                    </a:cxn>
                    <a:cxn ang="0">
                      <a:pos x="432" y="416"/>
                    </a:cxn>
                    <a:cxn ang="0">
                      <a:pos x="444" y="500"/>
                    </a:cxn>
                    <a:cxn ang="0">
                      <a:pos x="456" y="606"/>
                    </a:cxn>
                    <a:cxn ang="0">
                      <a:pos x="477" y="654"/>
                    </a:cxn>
                    <a:cxn ang="0">
                      <a:pos x="534" y="681"/>
                    </a:cxn>
                    <a:cxn ang="0">
                      <a:pos x="618" y="708"/>
                    </a:cxn>
                    <a:cxn ang="0">
                      <a:pos x="708" y="708"/>
                    </a:cxn>
                    <a:cxn ang="0">
                      <a:pos x="774" y="768"/>
                    </a:cxn>
                    <a:cxn ang="0">
                      <a:pos x="825" y="816"/>
                    </a:cxn>
                    <a:cxn ang="0">
                      <a:pos x="792" y="870"/>
                    </a:cxn>
                    <a:cxn ang="0">
                      <a:pos x="572" y="878"/>
                    </a:cxn>
                    <a:cxn ang="0">
                      <a:pos x="4" y="878"/>
                    </a:cxn>
                    <a:cxn ang="0">
                      <a:pos x="4" y="48"/>
                    </a:cxn>
                    <a:cxn ang="0">
                      <a:pos x="64" y="0"/>
                    </a:cxn>
                  </a:cxnLst>
                  <a:rect l="0" t="0" r="r" b="b"/>
                  <a:pathLst>
                    <a:path w="825" h="882">
                      <a:moveTo>
                        <a:pt x="68" y="0"/>
                      </a:moveTo>
                      <a:cubicBezTo>
                        <a:pt x="118" y="17"/>
                        <a:pt x="156" y="63"/>
                        <a:pt x="208" y="76"/>
                      </a:cubicBezTo>
                      <a:cubicBezTo>
                        <a:pt x="225" y="87"/>
                        <a:pt x="240" y="93"/>
                        <a:pt x="256" y="104"/>
                      </a:cubicBezTo>
                      <a:cubicBezTo>
                        <a:pt x="272" y="128"/>
                        <a:pt x="271" y="137"/>
                        <a:pt x="280" y="164"/>
                      </a:cubicBezTo>
                      <a:cubicBezTo>
                        <a:pt x="283" y="191"/>
                        <a:pt x="278" y="207"/>
                        <a:pt x="304" y="216"/>
                      </a:cubicBezTo>
                      <a:cubicBezTo>
                        <a:pt x="311" y="223"/>
                        <a:pt x="321" y="228"/>
                        <a:pt x="328" y="236"/>
                      </a:cubicBezTo>
                      <a:cubicBezTo>
                        <a:pt x="344" y="254"/>
                        <a:pt x="348" y="270"/>
                        <a:pt x="368" y="284"/>
                      </a:cubicBezTo>
                      <a:cubicBezTo>
                        <a:pt x="384" y="331"/>
                        <a:pt x="422" y="365"/>
                        <a:pt x="432" y="416"/>
                      </a:cubicBezTo>
                      <a:cubicBezTo>
                        <a:pt x="438" y="444"/>
                        <a:pt x="444" y="500"/>
                        <a:pt x="444" y="500"/>
                      </a:cubicBezTo>
                      <a:cubicBezTo>
                        <a:pt x="451" y="530"/>
                        <a:pt x="448" y="584"/>
                        <a:pt x="456" y="606"/>
                      </a:cubicBezTo>
                      <a:cubicBezTo>
                        <a:pt x="461" y="632"/>
                        <a:pt x="464" y="642"/>
                        <a:pt x="477" y="654"/>
                      </a:cubicBezTo>
                      <a:cubicBezTo>
                        <a:pt x="490" y="666"/>
                        <a:pt x="511" y="672"/>
                        <a:pt x="534" y="681"/>
                      </a:cubicBezTo>
                      <a:cubicBezTo>
                        <a:pt x="557" y="690"/>
                        <a:pt x="589" y="704"/>
                        <a:pt x="618" y="708"/>
                      </a:cubicBezTo>
                      <a:cubicBezTo>
                        <a:pt x="674" y="706"/>
                        <a:pt x="648" y="669"/>
                        <a:pt x="708" y="708"/>
                      </a:cubicBezTo>
                      <a:cubicBezTo>
                        <a:pt x="721" y="728"/>
                        <a:pt x="762" y="741"/>
                        <a:pt x="774" y="768"/>
                      </a:cubicBezTo>
                      <a:cubicBezTo>
                        <a:pt x="795" y="775"/>
                        <a:pt x="817" y="792"/>
                        <a:pt x="825" y="816"/>
                      </a:cubicBezTo>
                      <a:cubicBezTo>
                        <a:pt x="825" y="828"/>
                        <a:pt x="803" y="858"/>
                        <a:pt x="792" y="870"/>
                      </a:cubicBezTo>
                      <a:cubicBezTo>
                        <a:pt x="747" y="882"/>
                        <a:pt x="748" y="880"/>
                        <a:pt x="572" y="878"/>
                      </a:cubicBezTo>
                      <a:cubicBezTo>
                        <a:pt x="616" y="878"/>
                        <a:pt x="236" y="878"/>
                        <a:pt x="4" y="878"/>
                      </a:cubicBezTo>
                      <a:cubicBezTo>
                        <a:pt x="8" y="622"/>
                        <a:pt x="0" y="248"/>
                        <a:pt x="4" y="48"/>
                      </a:cubicBezTo>
                      <a:cubicBezTo>
                        <a:pt x="12" y="23"/>
                        <a:pt x="51" y="9"/>
                        <a:pt x="64" y="0"/>
                      </a:cubicBezTo>
                    </a:path>
                  </a:pathLst>
                </a:custGeom>
                <a:gradFill rotWithShape="0">
                  <a:gsLst>
                    <a:gs pos="0">
                      <a:srgbClr val="FFCC99"/>
                    </a:gs>
                    <a:gs pos="100000">
                      <a:srgbClr val="FFCC00"/>
                    </a:gs>
                  </a:gsLst>
                  <a:lin ang="5400000" scaled="1"/>
                </a:gradFill>
                <a:ln w="3175" cap="flat" cmpd="sng">
                  <a:solidFill>
                    <a:srgbClr val="777777"/>
                  </a:solidFill>
                  <a:prstDash val="solid"/>
                  <a:round/>
                  <a:headEnd type="none" w="med" len="med"/>
                  <a:tailEnd type="none" w="med" len="med"/>
                </a:ln>
                <a:effectLst/>
              </p:spPr>
              <p:txBody>
                <a:bodyPr/>
                <a:lstStyle/>
                <a:p>
                  <a:endParaRPr lang="fr-FR" sz="2400"/>
                </a:p>
              </p:txBody>
            </p:sp>
            <p:sp>
              <p:nvSpPr>
                <p:cNvPr id="153650" name="Freeform 50"/>
                <p:cNvSpPr>
                  <a:spLocks/>
                </p:cNvSpPr>
                <p:nvPr/>
              </p:nvSpPr>
              <p:spPr bwMode="auto">
                <a:xfrm flipH="1">
                  <a:off x="4685" y="1840"/>
                  <a:ext cx="291" cy="593"/>
                </a:xfrm>
                <a:custGeom>
                  <a:avLst/>
                  <a:gdLst/>
                  <a:ahLst/>
                  <a:cxnLst>
                    <a:cxn ang="0">
                      <a:pos x="3" y="732"/>
                    </a:cxn>
                    <a:cxn ang="0">
                      <a:pos x="336" y="729"/>
                    </a:cxn>
                    <a:cxn ang="0">
                      <a:pos x="292" y="713"/>
                    </a:cxn>
                    <a:cxn ang="0">
                      <a:pos x="348" y="709"/>
                    </a:cxn>
                    <a:cxn ang="0">
                      <a:pos x="312" y="695"/>
                    </a:cxn>
                    <a:cxn ang="0">
                      <a:pos x="320" y="630"/>
                    </a:cxn>
                    <a:cxn ang="0">
                      <a:pos x="308" y="634"/>
                    </a:cxn>
                    <a:cxn ang="0">
                      <a:pos x="280" y="673"/>
                    </a:cxn>
                    <a:cxn ang="0">
                      <a:pos x="236" y="569"/>
                    </a:cxn>
                    <a:cxn ang="0">
                      <a:pos x="208" y="522"/>
                    </a:cxn>
                    <a:cxn ang="0">
                      <a:pos x="192" y="313"/>
                    </a:cxn>
                    <a:cxn ang="0">
                      <a:pos x="156" y="187"/>
                    </a:cxn>
                    <a:cxn ang="0">
                      <a:pos x="140" y="288"/>
                    </a:cxn>
                    <a:cxn ang="0">
                      <a:pos x="124" y="284"/>
                    </a:cxn>
                    <a:cxn ang="0">
                      <a:pos x="116" y="277"/>
                    </a:cxn>
                    <a:cxn ang="0">
                      <a:pos x="156" y="446"/>
                    </a:cxn>
                    <a:cxn ang="0">
                      <a:pos x="176" y="497"/>
                    </a:cxn>
                    <a:cxn ang="0">
                      <a:pos x="184" y="526"/>
                    </a:cxn>
                    <a:cxn ang="0">
                      <a:pos x="220" y="619"/>
                    </a:cxn>
                    <a:cxn ang="0">
                      <a:pos x="248" y="662"/>
                    </a:cxn>
                    <a:cxn ang="0">
                      <a:pos x="208" y="648"/>
                    </a:cxn>
                    <a:cxn ang="0">
                      <a:pos x="180" y="634"/>
                    </a:cxn>
                    <a:cxn ang="0">
                      <a:pos x="156" y="619"/>
                    </a:cxn>
                    <a:cxn ang="0">
                      <a:pos x="116" y="623"/>
                    </a:cxn>
                    <a:cxn ang="0">
                      <a:pos x="48" y="425"/>
                    </a:cxn>
                    <a:cxn ang="0">
                      <a:pos x="40" y="363"/>
                    </a:cxn>
                    <a:cxn ang="0">
                      <a:pos x="36" y="338"/>
                    </a:cxn>
                    <a:cxn ang="0">
                      <a:pos x="28" y="317"/>
                    </a:cxn>
                    <a:cxn ang="0">
                      <a:pos x="32" y="111"/>
                    </a:cxn>
                    <a:cxn ang="0">
                      <a:pos x="40" y="89"/>
                    </a:cxn>
                    <a:cxn ang="0">
                      <a:pos x="96" y="32"/>
                    </a:cxn>
                    <a:cxn ang="0">
                      <a:pos x="156" y="79"/>
                    </a:cxn>
                    <a:cxn ang="0">
                      <a:pos x="236" y="126"/>
                    </a:cxn>
                    <a:cxn ang="0">
                      <a:pos x="216" y="97"/>
                    </a:cxn>
                    <a:cxn ang="0">
                      <a:pos x="136" y="53"/>
                    </a:cxn>
                    <a:cxn ang="0">
                      <a:pos x="72" y="17"/>
                    </a:cxn>
                    <a:cxn ang="0">
                      <a:pos x="40" y="10"/>
                    </a:cxn>
                    <a:cxn ang="0">
                      <a:pos x="0" y="0"/>
                    </a:cxn>
                    <a:cxn ang="0">
                      <a:pos x="3" y="732"/>
                    </a:cxn>
                  </a:cxnLst>
                  <a:rect l="0" t="0" r="r" b="b"/>
                  <a:pathLst>
                    <a:path w="360" h="734">
                      <a:moveTo>
                        <a:pt x="3" y="732"/>
                      </a:moveTo>
                      <a:cubicBezTo>
                        <a:pt x="71" y="733"/>
                        <a:pt x="334" y="734"/>
                        <a:pt x="336" y="729"/>
                      </a:cubicBezTo>
                      <a:cubicBezTo>
                        <a:pt x="301" y="728"/>
                        <a:pt x="228" y="713"/>
                        <a:pt x="292" y="713"/>
                      </a:cubicBezTo>
                      <a:cubicBezTo>
                        <a:pt x="311" y="713"/>
                        <a:pt x="330" y="716"/>
                        <a:pt x="348" y="709"/>
                      </a:cubicBezTo>
                      <a:cubicBezTo>
                        <a:pt x="360" y="705"/>
                        <a:pt x="323" y="701"/>
                        <a:pt x="312" y="695"/>
                      </a:cubicBezTo>
                      <a:cubicBezTo>
                        <a:pt x="291" y="666"/>
                        <a:pt x="309" y="660"/>
                        <a:pt x="320" y="630"/>
                      </a:cubicBezTo>
                      <a:cubicBezTo>
                        <a:pt x="321" y="626"/>
                        <a:pt x="312" y="633"/>
                        <a:pt x="308" y="634"/>
                      </a:cubicBezTo>
                      <a:cubicBezTo>
                        <a:pt x="301" y="653"/>
                        <a:pt x="299" y="662"/>
                        <a:pt x="280" y="673"/>
                      </a:cubicBezTo>
                      <a:cubicBezTo>
                        <a:pt x="252" y="648"/>
                        <a:pt x="246" y="603"/>
                        <a:pt x="236" y="569"/>
                      </a:cubicBezTo>
                      <a:cubicBezTo>
                        <a:pt x="234" y="548"/>
                        <a:pt x="242" y="501"/>
                        <a:pt x="208" y="522"/>
                      </a:cubicBezTo>
                      <a:cubicBezTo>
                        <a:pt x="184" y="436"/>
                        <a:pt x="200" y="492"/>
                        <a:pt x="192" y="313"/>
                      </a:cubicBezTo>
                      <a:cubicBezTo>
                        <a:pt x="190" y="269"/>
                        <a:pt x="171" y="227"/>
                        <a:pt x="156" y="187"/>
                      </a:cubicBezTo>
                      <a:cubicBezTo>
                        <a:pt x="132" y="219"/>
                        <a:pt x="142" y="240"/>
                        <a:pt x="140" y="288"/>
                      </a:cubicBezTo>
                      <a:cubicBezTo>
                        <a:pt x="135" y="287"/>
                        <a:pt x="128" y="288"/>
                        <a:pt x="124" y="284"/>
                      </a:cubicBezTo>
                      <a:cubicBezTo>
                        <a:pt x="115" y="274"/>
                        <a:pt x="125" y="253"/>
                        <a:pt x="116" y="277"/>
                      </a:cubicBezTo>
                      <a:cubicBezTo>
                        <a:pt x="119" y="346"/>
                        <a:pt x="123" y="387"/>
                        <a:pt x="156" y="446"/>
                      </a:cubicBezTo>
                      <a:cubicBezTo>
                        <a:pt x="160" y="466"/>
                        <a:pt x="171" y="477"/>
                        <a:pt x="176" y="497"/>
                      </a:cubicBezTo>
                      <a:cubicBezTo>
                        <a:pt x="179" y="507"/>
                        <a:pt x="184" y="526"/>
                        <a:pt x="184" y="526"/>
                      </a:cubicBezTo>
                      <a:cubicBezTo>
                        <a:pt x="188" y="554"/>
                        <a:pt x="182" y="611"/>
                        <a:pt x="220" y="619"/>
                      </a:cubicBezTo>
                      <a:cubicBezTo>
                        <a:pt x="233" y="631"/>
                        <a:pt x="242" y="646"/>
                        <a:pt x="248" y="662"/>
                      </a:cubicBezTo>
                      <a:cubicBezTo>
                        <a:pt x="218" y="670"/>
                        <a:pt x="234" y="656"/>
                        <a:pt x="208" y="648"/>
                      </a:cubicBezTo>
                      <a:cubicBezTo>
                        <a:pt x="181" y="624"/>
                        <a:pt x="212" y="648"/>
                        <a:pt x="180" y="634"/>
                      </a:cubicBezTo>
                      <a:cubicBezTo>
                        <a:pt x="171" y="630"/>
                        <a:pt x="156" y="619"/>
                        <a:pt x="156" y="619"/>
                      </a:cubicBezTo>
                      <a:cubicBezTo>
                        <a:pt x="140" y="623"/>
                        <a:pt x="132" y="627"/>
                        <a:pt x="116" y="623"/>
                      </a:cubicBezTo>
                      <a:cubicBezTo>
                        <a:pt x="72" y="583"/>
                        <a:pt x="62" y="480"/>
                        <a:pt x="48" y="425"/>
                      </a:cubicBezTo>
                      <a:cubicBezTo>
                        <a:pt x="43" y="403"/>
                        <a:pt x="43" y="388"/>
                        <a:pt x="40" y="363"/>
                      </a:cubicBezTo>
                      <a:cubicBezTo>
                        <a:pt x="39" y="355"/>
                        <a:pt x="38" y="346"/>
                        <a:pt x="36" y="338"/>
                      </a:cubicBezTo>
                      <a:cubicBezTo>
                        <a:pt x="34" y="331"/>
                        <a:pt x="28" y="317"/>
                        <a:pt x="28" y="317"/>
                      </a:cubicBezTo>
                      <a:cubicBezTo>
                        <a:pt x="29" y="248"/>
                        <a:pt x="28" y="180"/>
                        <a:pt x="32" y="111"/>
                      </a:cubicBezTo>
                      <a:cubicBezTo>
                        <a:pt x="32" y="104"/>
                        <a:pt x="40" y="89"/>
                        <a:pt x="40" y="89"/>
                      </a:cubicBezTo>
                      <a:cubicBezTo>
                        <a:pt x="44" y="26"/>
                        <a:pt x="28" y="19"/>
                        <a:pt x="96" y="32"/>
                      </a:cubicBezTo>
                      <a:cubicBezTo>
                        <a:pt x="118" y="45"/>
                        <a:pt x="131" y="67"/>
                        <a:pt x="156" y="79"/>
                      </a:cubicBezTo>
                      <a:cubicBezTo>
                        <a:pt x="188" y="93"/>
                        <a:pt x="215" y="97"/>
                        <a:pt x="236" y="126"/>
                      </a:cubicBezTo>
                      <a:cubicBezTo>
                        <a:pt x="263" y="117"/>
                        <a:pt x="230" y="101"/>
                        <a:pt x="216" y="97"/>
                      </a:cubicBezTo>
                      <a:cubicBezTo>
                        <a:pt x="194" y="77"/>
                        <a:pt x="163" y="67"/>
                        <a:pt x="136" y="53"/>
                      </a:cubicBezTo>
                      <a:cubicBezTo>
                        <a:pt x="117" y="44"/>
                        <a:pt x="93" y="24"/>
                        <a:pt x="72" y="17"/>
                      </a:cubicBezTo>
                      <a:cubicBezTo>
                        <a:pt x="36" y="7"/>
                        <a:pt x="93" y="23"/>
                        <a:pt x="40" y="10"/>
                      </a:cubicBezTo>
                      <a:cubicBezTo>
                        <a:pt x="32" y="8"/>
                        <a:pt x="0" y="0"/>
                        <a:pt x="0" y="0"/>
                      </a:cubicBezTo>
                      <a:cubicBezTo>
                        <a:pt x="3" y="124"/>
                        <a:pt x="4" y="593"/>
                        <a:pt x="3" y="732"/>
                      </a:cubicBezTo>
                      <a:close/>
                    </a:path>
                  </a:pathLst>
                </a:custGeom>
                <a:solidFill>
                  <a:srgbClr val="969696"/>
                </a:solidFill>
                <a:ln w="6350" cap="rnd" cmpd="sng">
                  <a:noFill/>
                  <a:prstDash val="solid"/>
                  <a:round/>
                  <a:headEnd type="none" w="med" len="med"/>
                  <a:tailEnd type="none" w="med" len="med"/>
                </a:ln>
                <a:effectLst/>
              </p:spPr>
              <p:txBody>
                <a:bodyPr/>
                <a:lstStyle/>
                <a:p>
                  <a:endParaRPr lang="fr-FR" sz="2400"/>
                </a:p>
              </p:txBody>
            </p:sp>
            <p:sp>
              <p:nvSpPr>
                <p:cNvPr id="153651" name="Rectangle 51"/>
                <p:cNvSpPr>
                  <a:spLocks noChangeArrowheads="1"/>
                </p:cNvSpPr>
                <p:nvPr/>
              </p:nvSpPr>
              <p:spPr bwMode="auto">
                <a:xfrm flipH="1">
                  <a:off x="4956" y="1844"/>
                  <a:ext cx="24" cy="592"/>
                </a:xfrm>
                <a:prstGeom prst="rect">
                  <a:avLst/>
                </a:prstGeom>
                <a:solidFill>
                  <a:srgbClr val="969696"/>
                </a:solidFill>
                <a:ln w="6350" cap="rnd">
                  <a:noFill/>
                  <a:miter lim="800000"/>
                  <a:headEnd/>
                  <a:tailEnd/>
                </a:ln>
                <a:effectLst/>
              </p:spPr>
              <p:txBody>
                <a:bodyPr/>
                <a:lstStyle/>
                <a:p>
                  <a:endParaRPr lang="fr-FR" sz="2400"/>
                </a:p>
              </p:txBody>
            </p:sp>
            <p:sp>
              <p:nvSpPr>
                <p:cNvPr id="153652" name="Rectangle 52"/>
                <p:cNvSpPr>
                  <a:spLocks noChangeArrowheads="1"/>
                </p:cNvSpPr>
                <p:nvPr/>
              </p:nvSpPr>
              <p:spPr bwMode="auto">
                <a:xfrm rot="16200000" flipH="1">
                  <a:off x="4864" y="2322"/>
                  <a:ext cx="24" cy="206"/>
                </a:xfrm>
                <a:prstGeom prst="rect">
                  <a:avLst/>
                </a:prstGeom>
                <a:solidFill>
                  <a:srgbClr val="969696"/>
                </a:solidFill>
                <a:ln w="6350" cap="rnd">
                  <a:noFill/>
                  <a:miter lim="800000"/>
                  <a:headEnd/>
                  <a:tailEnd/>
                </a:ln>
                <a:effectLst/>
              </p:spPr>
              <p:txBody>
                <a:bodyPr/>
                <a:lstStyle/>
                <a:p>
                  <a:endParaRPr lang="fr-FR" sz="2400"/>
                </a:p>
              </p:txBody>
            </p:sp>
            <p:sp>
              <p:nvSpPr>
                <p:cNvPr id="153653" name="Freeform 53"/>
                <p:cNvSpPr>
                  <a:spLocks/>
                </p:cNvSpPr>
                <p:nvPr/>
              </p:nvSpPr>
              <p:spPr bwMode="auto">
                <a:xfrm flipH="1">
                  <a:off x="4456" y="2283"/>
                  <a:ext cx="163" cy="66"/>
                </a:xfrm>
                <a:custGeom>
                  <a:avLst/>
                  <a:gdLst/>
                  <a:ahLst/>
                  <a:cxnLst>
                    <a:cxn ang="0">
                      <a:pos x="67" y="11"/>
                    </a:cxn>
                    <a:cxn ang="0">
                      <a:pos x="141" y="19"/>
                    </a:cxn>
                    <a:cxn ang="0">
                      <a:pos x="173" y="27"/>
                    </a:cxn>
                    <a:cxn ang="0">
                      <a:pos x="185" y="31"/>
                    </a:cxn>
                    <a:cxn ang="0">
                      <a:pos x="165" y="27"/>
                    </a:cxn>
                    <a:cxn ang="0">
                      <a:pos x="139" y="29"/>
                    </a:cxn>
                    <a:cxn ang="0">
                      <a:pos x="141" y="39"/>
                    </a:cxn>
                    <a:cxn ang="0">
                      <a:pos x="135" y="43"/>
                    </a:cxn>
                    <a:cxn ang="0">
                      <a:pos x="105" y="45"/>
                    </a:cxn>
                    <a:cxn ang="0">
                      <a:pos x="4" y="82"/>
                    </a:cxn>
                    <a:cxn ang="0">
                      <a:pos x="45" y="21"/>
                    </a:cxn>
                    <a:cxn ang="0">
                      <a:pos x="33" y="17"/>
                    </a:cxn>
                    <a:cxn ang="0">
                      <a:pos x="61" y="9"/>
                    </a:cxn>
                    <a:cxn ang="0">
                      <a:pos x="67" y="11"/>
                    </a:cxn>
                  </a:cxnLst>
                  <a:rect l="0" t="0" r="r" b="b"/>
                  <a:pathLst>
                    <a:path w="202" h="82">
                      <a:moveTo>
                        <a:pt x="67" y="11"/>
                      </a:moveTo>
                      <a:cubicBezTo>
                        <a:pt x="92" y="16"/>
                        <a:pt x="115" y="18"/>
                        <a:pt x="141" y="19"/>
                      </a:cubicBezTo>
                      <a:cubicBezTo>
                        <a:pt x="152" y="22"/>
                        <a:pt x="162" y="24"/>
                        <a:pt x="173" y="27"/>
                      </a:cubicBezTo>
                      <a:cubicBezTo>
                        <a:pt x="177" y="28"/>
                        <a:pt x="185" y="31"/>
                        <a:pt x="185" y="31"/>
                      </a:cubicBezTo>
                      <a:cubicBezTo>
                        <a:pt x="202" y="48"/>
                        <a:pt x="170" y="29"/>
                        <a:pt x="165" y="27"/>
                      </a:cubicBezTo>
                      <a:cubicBezTo>
                        <a:pt x="156" y="28"/>
                        <a:pt x="147" y="25"/>
                        <a:pt x="139" y="29"/>
                      </a:cubicBezTo>
                      <a:cubicBezTo>
                        <a:pt x="136" y="31"/>
                        <a:pt x="142" y="36"/>
                        <a:pt x="141" y="39"/>
                      </a:cubicBezTo>
                      <a:cubicBezTo>
                        <a:pt x="140" y="41"/>
                        <a:pt x="137" y="42"/>
                        <a:pt x="135" y="43"/>
                      </a:cubicBezTo>
                      <a:cubicBezTo>
                        <a:pt x="125" y="42"/>
                        <a:pt x="113" y="42"/>
                        <a:pt x="105" y="45"/>
                      </a:cubicBezTo>
                      <a:cubicBezTo>
                        <a:pt x="125" y="77"/>
                        <a:pt x="79" y="49"/>
                        <a:pt x="4" y="82"/>
                      </a:cubicBezTo>
                      <a:cubicBezTo>
                        <a:pt x="0" y="69"/>
                        <a:pt x="57" y="26"/>
                        <a:pt x="45" y="21"/>
                      </a:cubicBezTo>
                      <a:cubicBezTo>
                        <a:pt x="41" y="19"/>
                        <a:pt x="33" y="17"/>
                        <a:pt x="33" y="17"/>
                      </a:cubicBezTo>
                      <a:cubicBezTo>
                        <a:pt x="27" y="0"/>
                        <a:pt x="52" y="8"/>
                        <a:pt x="61" y="9"/>
                      </a:cubicBezTo>
                      <a:cubicBezTo>
                        <a:pt x="65" y="10"/>
                        <a:pt x="82" y="21"/>
                        <a:pt x="67" y="11"/>
                      </a:cubicBezTo>
                      <a:close/>
                    </a:path>
                  </a:pathLst>
                </a:custGeom>
                <a:solidFill>
                  <a:srgbClr val="969696"/>
                </a:solidFill>
                <a:ln w="6350" cap="rnd" cmpd="sng">
                  <a:noFill/>
                  <a:prstDash val="solid"/>
                  <a:round/>
                  <a:headEnd type="none" w="med" len="med"/>
                  <a:tailEnd type="none" w="med" len="med"/>
                </a:ln>
                <a:effectLst/>
              </p:spPr>
              <p:txBody>
                <a:bodyPr/>
                <a:lstStyle/>
                <a:p>
                  <a:endParaRPr lang="fr-FR" sz="2400"/>
                </a:p>
              </p:txBody>
            </p:sp>
          </p:grpSp>
        </p:grpSp>
        <p:sp>
          <p:nvSpPr>
            <p:cNvPr id="153654" name="AutoShape 54"/>
            <p:cNvSpPr>
              <a:spLocks noChangeArrowheads="1"/>
            </p:cNvSpPr>
            <p:nvPr/>
          </p:nvSpPr>
          <p:spPr bwMode="auto">
            <a:xfrm flipV="1">
              <a:off x="2886840" y="2451981"/>
              <a:ext cx="1120840" cy="1184275"/>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a:lstStyle/>
            <a:p>
              <a:pPr>
                <a:lnSpc>
                  <a:spcPct val="65000"/>
                </a:lnSpc>
              </a:pPr>
              <a:r>
                <a:rPr lang="fr-FR" sz="2400">
                  <a:solidFill>
                    <a:srgbClr val="E00085"/>
                  </a:solidFill>
                  <a:latin typeface="Arial" charset="0"/>
                </a:rPr>
                <a:t>~~~~</a:t>
              </a:r>
            </a:p>
            <a:p>
              <a:pPr>
                <a:lnSpc>
                  <a:spcPct val="65000"/>
                </a:lnSpc>
              </a:pPr>
              <a:r>
                <a:rPr lang="fr-FR" sz="2400">
                  <a:solidFill>
                    <a:srgbClr val="E00085"/>
                  </a:solidFill>
                  <a:latin typeface="Arial" charset="0"/>
                </a:rPr>
                <a:t>~~~~~</a:t>
              </a:r>
            </a:p>
            <a:p>
              <a:pPr>
                <a:lnSpc>
                  <a:spcPct val="65000"/>
                </a:lnSpc>
              </a:pPr>
              <a:r>
                <a:rPr lang="fr-FR" sz="2400">
                  <a:solidFill>
                    <a:srgbClr val="E00085"/>
                  </a:solidFill>
                  <a:latin typeface="Arial" charset="0"/>
                </a:rPr>
                <a:t>~~~~~</a:t>
              </a:r>
            </a:p>
            <a:p>
              <a:pPr>
                <a:lnSpc>
                  <a:spcPct val="65000"/>
                </a:lnSpc>
              </a:pPr>
              <a:r>
                <a:rPr lang="fr-FR" sz="2400">
                  <a:solidFill>
                    <a:srgbClr val="E00085"/>
                  </a:solidFill>
                  <a:latin typeface="Arial" charset="0"/>
                </a:rPr>
                <a:t>~~~~~</a:t>
              </a:r>
            </a:p>
          </p:txBody>
        </p:sp>
        <p:grpSp>
          <p:nvGrpSpPr>
            <p:cNvPr id="8" name="Group 55"/>
            <p:cNvGrpSpPr>
              <a:grpSpLocks/>
            </p:cNvGrpSpPr>
            <p:nvPr/>
          </p:nvGrpSpPr>
          <p:grpSpPr bwMode="auto">
            <a:xfrm>
              <a:off x="2309206" y="1756656"/>
              <a:ext cx="1991117" cy="884238"/>
              <a:chOff x="2614" y="1033"/>
              <a:chExt cx="1159" cy="620"/>
            </a:xfrm>
          </p:grpSpPr>
          <p:grpSp>
            <p:nvGrpSpPr>
              <p:cNvPr id="9" name="Group 56"/>
              <p:cNvGrpSpPr>
                <a:grpSpLocks/>
              </p:cNvGrpSpPr>
              <p:nvPr/>
            </p:nvGrpSpPr>
            <p:grpSpPr bwMode="auto">
              <a:xfrm rot="-27907">
                <a:off x="2614" y="1033"/>
                <a:ext cx="1024" cy="540"/>
                <a:chOff x="2354" y="1365"/>
                <a:chExt cx="1225" cy="646"/>
              </a:xfrm>
            </p:grpSpPr>
            <p:sp>
              <p:nvSpPr>
                <p:cNvPr id="153657" name="Freeform 57"/>
                <p:cNvSpPr>
                  <a:spLocks/>
                </p:cNvSpPr>
                <p:nvPr/>
              </p:nvSpPr>
              <p:spPr bwMode="auto">
                <a:xfrm>
                  <a:off x="2354" y="1365"/>
                  <a:ext cx="1225" cy="646"/>
                </a:xfrm>
                <a:custGeom>
                  <a:avLst/>
                  <a:gdLst/>
                  <a:ahLst/>
                  <a:cxnLst>
                    <a:cxn ang="0">
                      <a:pos x="68" y="288"/>
                    </a:cxn>
                    <a:cxn ang="0">
                      <a:pos x="91" y="260"/>
                    </a:cxn>
                    <a:cxn ang="0">
                      <a:pos x="124" y="250"/>
                    </a:cxn>
                    <a:cxn ang="0">
                      <a:pos x="158" y="260"/>
                    </a:cxn>
                    <a:cxn ang="0">
                      <a:pos x="178" y="288"/>
                    </a:cxn>
                    <a:cxn ang="0">
                      <a:pos x="180" y="326"/>
                    </a:cxn>
                    <a:cxn ang="0">
                      <a:pos x="165" y="359"/>
                    </a:cxn>
                    <a:cxn ang="0">
                      <a:pos x="135" y="374"/>
                    </a:cxn>
                    <a:cxn ang="0">
                      <a:pos x="99" y="372"/>
                    </a:cxn>
                    <a:cxn ang="0">
                      <a:pos x="74" y="349"/>
                    </a:cxn>
                    <a:cxn ang="0">
                      <a:pos x="66" y="313"/>
                    </a:cxn>
                    <a:cxn ang="0">
                      <a:pos x="12" y="367"/>
                    </a:cxn>
                    <a:cxn ang="0">
                      <a:pos x="66" y="405"/>
                    </a:cxn>
                    <a:cxn ang="0">
                      <a:pos x="117" y="418"/>
                    </a:cxn>
                    <a:cxn ang="0">
                      <a:pos x="140" y="436"/>
                    </a:cxn>
                    <a:cxn ang="0">
                      <a:pos x="145" y="471"/>
                    </a:cxn>
                    <a:cxn ang="0">
                      <a:pos x="147" y="538"/>
                    </a:cxn>
                    <a:cxn ang="0">
                      <a:pos x="247" y="614"/>
                    </a:cxn>
                    <a:cxn ang="0">
                      <a:pos x="371" y="555"/>
                    </a:cxn>
                    <a:cxn ang="0">
                      <a:pos x="438" y="408"/>
                    </a:cxn>
                    <a:cxn ang="0">
                      <a:pos x="504" y="390"/>
                    </a:cxn>
                    <a:cxn ang="0">
                      <a:pos x="537" y="425"/>
                    </a:cxn>
                    <a:cxn ang="0">
                      <a:pos x="552" y="443"/>
                    </a:cxn>
                    <a:cxn ang="0">
                      <a:pos x="588" y="430"/>
                    </a:cxn>
                    <a:cxn ang="0">
                      <a:pos x="789" y="397"/>
                    </a:cxn>
                    <a:cxn ang="0">
                      <a:pos x="820" y="377"/>
                    </a:cxn>
                    <a:cxn ang="0">
                      <a:pos x="848" y="382"/>
                    </a:cxn>
                    <a:cxn ang="0">
                      <a:pos x="955" y="400"/>
                    </a:cxn>
                    <a:cxn ang="0">
                      <a:pos x="973" y="374"/>
                    </a:cxn>
                    <a:cxn ang="0">
                      <a:pos x="990" y="367"/>
                    </a:cxn>
                    <a:cxn ang="0">
                      <a:pos x="1044" y="351"/>
                    </a:cxn>
                    <a:cxn ang="0">
                      <a:pos x="1057" y="323"/>
                    </a:cxn>
                    <a:cxn ang="0">
                      <a:pos x="1080" y="326"/>
                    </a:cxn>
                    <a:cxn ang="0">
                      <a:pos x="1164" y="267"/>
                    </a:cxn>
                    <a:cxn ang="0">
                      <a:pos x="606" y="216"/>
                    </a:cxn>
                    <a:cxn ang="0">
                      <a:pos x="575" y="176"/>
                    </a:cxn>
                    <a:cxn ang="0">
                      <a:pos x="545" y="173"/>
                    </a:cxn>
                    <a:cxn ang="0">
                      <a:pos x="532" y="199"/>
                    </a:cxn>
                    <a:cxn ang="0">
                      <a:pos x="481" y="229"/>
                    </a:cxn>
                    <a:cxn ang="0">
                      <a:pos x="415" y="173"/>
                    </a:cxn>
                    <a:cxn ang="0">
                      <a:pos x="341" y="20"/>
                    </a:cxn>
                    <a:cxn ang="0">
                      <a:pos x="208" y="12"/>
                    </a:cxn>
                    <a:cxn ang="0">
                      <a:pos x="145" y="120"/>
                    </a:cxn>
                    <a:cxn ang="0">
                      <a:pos x="145" y="155"/>
                    </a:cxn>
                    <a:cxn ang="0">
                      <a:pos x="132" y="193"/>
                    </a:cxn>
                    <a:cxn ang="0">
                      <a:pos x="99" y="209"/>
                    </a:cxn>
                    <a:cxn ang="0">
                      <a:pos x="45" y="229"/>
                    </a:cxn>
                    <a:cxn ang="0">
                      <a:pos x="5" y="285"/>
                    </a:cxn>
                  </a:cxnLst>
                  <a:rect l="0" t="0" r="r" b="b"/>
                  <a:pathLst>
                    <a:path w="1164" h="614">
                      <a:moveTo>
                        <a:pt x="66" y="313"/>
                      </a:moveTo>
                      <a:lnTo>
                        <a:pt x="66" y="300"/>
                      </a:lnTo>
                      <a:lnTo>
                        <a:pt x="68" y="288"/>
                      </a:lnTo>
                      <a:lnTo>
                        <a:pt x="74" y="278"/>
                      </a:lnTo>
                      <a:lnTo>
                        <a:pt x="81" y="267"/>
                      </a:lnTo>
                      <a:lnTo>
                        <a:pt x="91" y="260"/>
                      </a:lnTo>
                      <a:lnTo>
                        <a:pt x="102" y="255"/>
                      </a:lnTo>
                      <a:lnTo>
                        <a:pt x="112" y="250"/>
                      </a:lnTo>
                      <a:lnTo>
                        <a:pt x="124" y="250"/>
                      </a:lnTo>
                      <a:lnTo>
                        <a:pt x="135" y="250"/>
                      </a:lnTo>
                      <a:lnTo>
                        <a:pt x="147" y="255"/>
                      </a:lnTo>
                      <a:lnTo>
                        <a:pt x="158" y="260"/>
                      </a:lnTo>
                      <a:lnTo>
                        <a:pt x="165" y="267"/>
                      </a:lnTo>
                      <a:lnTo>
                        <a:pt x="173" y="278"/>
                      </a:lnTo>
                      <a:lnTo>
                        <a:pt x="178" y="288"/>
                      </a:lnTo>
                      <a:lnTo>
                        <a:pt x="180" y="300"/>
                      </a:lnTo>
                      <a:lnTo>
                        <a:pt x="183" y="313"/>
                      </a:lnTo>
                      <a:lnTo>
                        <a:pt x="180" y="326"/>
                      </a:lnTo>
                      <a:lnTo>
                        <a:pt x="178" y="336"/>
                      </a:lnTo>
                      <a:lnTo>
                        <a:pt x="173" y="349"/>
                      </a:lnTo>
                      <a:lnTo>
                        <a:pt x="165" y="359"/>
                      </a:lnTo>
                      <a:lnTo>
                        <a:pt x="155" y="364"/>
                      </a:lnTo>
                      <a:lnTo>
                        <a:pt x="147" y="372"/>
                      </a:lnTo>
                      <a:lnTo>
                        <a:pt x="135" y="374"/>
                      </a:lnTo>
                      <a:lnTo>
                        <a:pt x="124" y="377"/>
                      </a:lnTo>
                      <a:lnTo>
                        <a:pt x="112" y="374"/>
                      </a:lnTo>
                      <a:lnTo>
                        <a:pt x="99" y="372"/>
                      </a:lnTo>
                      <a:lnTo>
                        <a:pt x="91" y="364"/>
                      </a:lnTo>
                      <a:lnTo>
                        <a:pt x="81" y="359"/>
                      </a:lnTo>
                      <a:lnTo>
                        <a:pt x="74" y="349"/>
                      </a:lnTo>
                      <a:lnTo>
                        <a:pt x="68" y="336"/>
                      </a:lnTo>
                      <a:lnTo>
                        <a:pt x="66" y="326"/>
                      </a:lnTo>
                      <a:lnTo>
                        <a:pt x="66" y="313"/>
                      </a:lnTo>
                      <a:lnTo>
                        <a:pt x="0" y="316"/>
                      </a:lnTo>
                      <a:lnTo>
                        <a:pt x="5" y="344"/>
                      </a:lnTo>
                      <a:lnTo>
                        <a:pt x="12" y="367"/>
                      </a:lnTo>
                      <a:lnTo>
                        <a:pt x="28" y="382"/>
                      </a:lnTo>
                      <a:lnTo>
                        <a:pt x="45" y="397"/>
                      </a:lnTo>
                      <a:lnTo>
                        <a:pt x="66" y="405"/>
                      </a:lnTo>
                      <a:lnTo>
                        <a:pt x="84" y="410"/>
                      </a:lnTo>
                      <a:lnTo>
                        <a:pt x="102" y="415"/>
                      </a:lnTo>
                      <a:lnTo>
                        <a:pt x="117" y="418"/>
                      </a:lnTo>
                      <a:lnTo>
                        <a:pt x="124" y="420"/>
                      </a:lnTo>
                      <a:lnTo>
                        <a:pt x="135" y="425"/>
                      </a:lnTo>
                      <a:lnTo>
                        <a:pt x="140" y="436"/>
                      </a:lnTo>
                      <a:lnTo>
                        <a:pt x="142" y="448"/>
                      </a:lnTo>
                      <a:lnTo>
                        <a:pt x="145" y="459"/>
                      </a:lnTo>
                      <a:lnTo>
                        <a:pt x="145" y="471"/>
                      </a:lnTo>
                      <a:lnTo>
                        <a:pt x="145" y="484"/>
                      </a:lnTo>
                      <a:lnTo>
                        <a:pt x="145" y="494"/>
                      </a:lnTo>
                      <a:lnTo>
                        <a:pt x="147" y="538"/>
                      </a:lnTo>
                      <a:lnTo>
                        <a:pt x="170" y="573"/>
                      </a:lnTo>
                      <a:lnTo>
                        <a:pt x="203" y="599"/>
                      </a:lnTo>
                      <a:lnTo>
                        <a:pt x="247" y="614"/>
                      </a:lnTo>
                      <a:lnTo>
                        <a:pt x="290" y="611"/>
                      </a:lnTo>
                      <a:lnTo>
                        <a:pt x="333" y="591"/>
                      </a:lnTo>
                      <a:lnTo>
                        <a:pt x="371" y="555"/>
                      </a:lnTo>
                      <a:lnTo>
                        <a:pt x="397" y="497"/>
                      </a:lnTo>
                      <a:lnTo>
                        <a:pt x="417" y="441"/>
                      </a:lnTo>
                      <a:lnTo>
                        <a:pt x="438" y="408"/>
                      </a:lnTo>
                      <a:lnTo>
                        <a:pt x="461" y="390"/>
                      </a:lnTo>
                      <a:lnTo>
                        <a:pt x="484" y="387"/>
                      </a:lnTo>
                      <a:lnTo>
                        <a:pt x="504" y="390"/>
                      </a:lnTo>
                      <a:lnTo>
                        <a:pt x="522" y="402"/>
                      </a:lnTo>
                      <a:lnTo>
                        <a:pt x="532" y="415"/>
                      </a:lnTo>
                      <a:lnTo>
                        <a:pt x="537" y="425"/>
                      </a:lnTo>
                      <a:lnTo>
                        <a:pt x="537" y="433"/>
                      </a:lnTo>
                      <a:lnTo>
                        <a:pt x="545" y="441"/>
                      </a:lnTo>
                      <a:lnTo>
                        <a:pt x="552" y="443"/>
                      </a:lnTo>
                      <a:lnTo>
                        <a:pt x="565" y="443"/>
                      </a:lnTo>
                      <a:lnTo>
                        <a:pt x="575" y="438"/>
                      </a:lnTo>
                      <a:lnTo>
                        <a:pt x="588" y="430"/>
                      </a:lnTo>
                      <a:lnTo>
                        <a:pt x="598" y="418"/>
                      </a:lnTo>
                      <a:lnTo>
                        <a:pt x="606" y="397"/>
                      </a:lnTo>
                      <a:lnTo>
                        <a:pt x="789" y="397"/>
                      </a:lnTo>
                      <a:lnTo>
                        <a:pt x="799" y="387"/>
                      </a:lnTo>
                      <a:lnTo>
                        <a:pt x="810" y="380"/>
                      </a:lnTo>
                      <a:lnTo>
                        <a:pt x="820" y="377"/>
                      </a:lnTo>
                      <a:lnTo>
                        <a:pt x="830" y="377"/>
                      </a:lnTo>
                      <a:lnTo>
                        <a:pt x="838" y="377"/>
                      </a:lnTo>
                      <a:lnTo>
                        <a:pt x="848" y="382"/>
                      </a:lnTo>
                      <a:lnTo>
                        <a:pt x="855" y="390"/>
                      </a:lnTo>
                      <a:lnTo>
                        <a:pt x="863" y="400"/>
                      </a:lnTo>
                      <a:lnTo>
                        <a:pt x="955" y="400"/>
                      </a:lnTo>
                      <a:lnTo>
                        <a:pt x="960" y="390"/>
                      </a:lnTo>
                      <a:lnTo>
                        <a:pt x="965" y="382"/>
                      </a:lnTo>
                      <a:lnTo>
                        <a:pt x="973" y="374"/>
                      </a:lnTo>
                      <a:lnTo>
                        <a:pt x="978" y="369"/>
                      </a:lnTo>
                      <a:lnTo>
                        <a:pt x="985" y="367"/>
                      </a:lnTo>
                      <a:lnTo>
                        <a:pt x="990" y="367"/>
                      </a:lnTo>
                      <a:lnTo>
                        <a:pt x="998" y="367"/>
                      </a:lnTo>
                      <a:lnTo>
                        <a:pt x="1003" y="369"/>
                      </a:lnTo>
                      <a:lnTo>
                        <a:pt x="1044" y="351"/>
                      </a:lnTo>
                      <a:lnTo>
                        <a:pt x="1044" y="339"/>
                      </a:lnTo>
                      <a:lnTo>
                        <a:pt x="1049" y="329"/>
                      </a:lnTo>
                      <a:lnTo>
                        <a:pt x="1057" y="323"/>
                      </a:lnTo>
                      <a:lnTo>
                        <a:pt x="1064" y="321"/>
                      </a:lnTo>
                      <a:lnTo>
                        <a:pt x="1072" y="321"/>
                      </a:lnTo>
                      <a:lnTo>
                        <a:pt x="1080" y="326"/>
                      </a:lnTo>
                      <a:lnTo>
                        <a:pt x="1085" y="336"/>
                      </a:lnTo>
                      <a:lnTo>
                        <a:pt x="1085" y="351"/>
                      </a:lnTo>
                      <a:lnTo>
                        <a:pt x="1164" y="267"/>
                      </a:lnTo>
                      <a:lnTo>
                        <a:pt x="1151" y="260"/>
                      </a:lnTo>
                      <a:lnTo>
                        <a:pt x="1148" y="219"/>
                      </a:lnTo>
                      <a:lnTo>
                        <a:pt x="606" y="216"/>
                      </a:lnTo>
                      <a:lnTo>
                        <a:pt x="598" y="199"/>
                      </a:lnTo>
                      <a:lnTo>
                        <a:pt x="588" y="183"/>
                      </a:lnTo>
                      <a:lnTo>
                        <a:pt x="575" y="176"/>
                      </a:lnTo>
                      <a:lnTo>
                        <a:pt x="565" y="171"/>
                      </a:lnTo>
                      <a:lnTo>
                        <a:pt x="555" y="171"/>
                      </a:lnTo>
                      <a:lnTo>
                        <a:pt x="545" y="173"/>
                      </a:lnTo>
                      <a:lnTo>
                        <a:pt x="540" y="181"/>
                      </a:lnTo>
                      <a:lnTo>
                        <a:pt x="537" y="188"/>
                      </a:lnTo>
                      <a:lnTo>
                        <a:pt x="532" y="199"/>
                      </a:lnTo>
                      <a:lnTo>
                        <a:pt x="519" y="211"/>
                      </a:lnTo>
                      <a:lnTo>
                        <a:pt x="501" y="224"/>
                      </a:lnTo>
                      <a:lnTo>
                        <a:pt x="481" y="229"/>
                      </a:lnTo>
                      <a:lnTo>
                        <a:pt x="458" y="224"/>
                      </a:lnTo>
                      <a:lnTo>
                        <a:pt x="435" y="206"/>
                      </a:lnTo>
                      <a:lnTo>
                        <a:pt x="415" y="173"/>
                      </a:lnTo>
                      <a:lnTo>
                        <a:pt x="400" y="120"/>
                      </a:lnTo>
                      <a:lnTo>
                        <a:pt x="377" y="58"/>
                      </a:lnTo>
                      <a:lnTo>
                        <a:pt x="341" y="20"/>
                      </a:lnTo>
                      <a:lnTo>
                        <a:pt x="298" y="0"/>
                      </a:lnTo>
                      <a:lnTo>
                        <a:pt x="252" y="0"/>
                      </a:lnTo>
                      <a:lnTo>
                        <a:pt x="208" y="12"/>
                      </a:lnTo>
                      <a:lnTo>
                        <a:pt x="173" y="38"/>
                      </a:lnTo>
                      <a:lnTo>
                        <a:pt x="150" y="74"/>
                      </a:lnTo>
                      <a:lnTo>
                        <a:pt x="145" y="120"/>
                      </a:lnTo>
                      <a:lnTo>
                        <a:pt x="145" y="130"/>
                      </a:lnTo>
                      <a:lnTo>
                        <a:pt x="145" y="142"/>
                      </a:lnTo>
                      <a:lnTo>
                        <a:pt x="145" y="155"/>
                      </a:lnTo>
                      <a:lnTo>
                        <a:pt x="142" y="171"/>
                      </a:lnTo>
                      <a:lnTo>
                        <a:pt x="137" y="183"/>
                      </a:lnTo>
                      <a:lnTo>
                        <a:pt x="132" y="193"/>
                      </a:lnTo>
                      <a:lnTo>
                        <a:pt x="124" y="201"/>
                      </a:lnTo>
                      <a:lnTo>
                        <a:pt x="112" y="206"/>
                      </a:lnTo>
                      <a:lnTo>
                        <a:pt x="99" y="209"/>
                      </a:lnTo>
                      <a:lnTo>
                        <a:pt x="81" y="211"/>
                      </a:lnTo>
                      <a:lnTo>
                        <a:pt x="63" y="219"/>
                      </a:lnTo>
                      <a:lnTo>
                        <a:pt x="45" y="229"/>
                      </a:lnTo>
                      <a:lnTo>
                        <a:pt x="28" y="244"/>
                      </a:lnTo>
                      <a:lnTo>
                        <a:pt x="12" y="262"/>
                      </a:lnTo>
                      <a:lnTo>
                        <a:pt x="5" y="285"/>
                      </a:lnTo>
                      <a:lnTo>
                        <a:pt x="0" y="316"/>
                      </a:lnTo>
                      <a:lnTo>
                        <a:pt x="66" y="313"/>
                      </a:lnTo>
                      <a:close/>
                    </a:path>
                  </a:pathLst>
                </a:custGeom>
                <a:gradFill rotWithShape="0">
                  <a:gsLst>
                    <a:gs pos="0">
                      <a:srgbClr val="D9BF40"/>
                    </a:gs>
                    <a:gs pos="100000">
                      <a:srgbClr val="FFFF99"/>
                    </a:gs>
                  </a:gsLst>
                  <a:lin ang="18900000" scaled="1"/>
                </a:gradFill>
                <a:ln w="9525">
                  <a:solidFill>
                    <a:srgbClr val="FF9900"/>
                  </a:solidFill>
                  <a:round/>
                  <a:headEnd/>
                  <a:tailEnd/>
                </a:ln>
                <a:effectLst>
                  <a:outerShdw dist="53882" dir="2700000" algn="ctr" rotWithShape="0">
                    <a:srgbClr val="808080"/>
                  </a:outerShdw>
                </a:effectLst>
              </p:spPr>
              <p:txBody>
                <a:bodyPr/>
                <a:lstStyle/>
                <a:p>
                  <a:endParaRPr lang="fr-FR" sz="2400"/>
                </a:p>
              </p:txBody>
            </p:sp>
            <p:sp>
              <p:nvSpPr>
                <p:cNvPr id="153658" name="Freeform 58"/>
                <p:cNvSpPr>
                  <a:spLocks/>
                </p:cNvSpPr>
                <p:nvPr/>
              </p:nvSpPr>
              <p:spPr bwMode="auto">
                <a:xfrm>
                  <a:off x="2507" y="1440"/>
                  <a:ext cx="887" cy="326"/>
                </a:xfrm>
                <a:custGeom>
                  <a:avLst/>
                  <a:gdLst/>
                  <a:ahLst/>
                  <a:cxnLst>
                    <a:cxn ang="0">
                      <a:pos x="13" y="0"/>
                    </a:cxn>
                    <a:cxn ang="0">
                      <a:pos x="1" y="18"/>
                    </a:cxn>
                    <a:cxn ang="0">
                      <a:pos x="3" y="44"/>
                    </a:cxn>
                    <a:cxn ang="0">
                      <a:pos x="17" y="54"/>
                    </a:cxn>
                    <a:cxn ang="0">
                      <a:pos x="55" y="110"/>
                    </a:cxn>
                    <a:cxn ang="0">
                      <a:pos x="79" y="106"/>
                    </a:cxn>
                    <a:cxn ang="0">
                      <a:pos x="97" y="100"/>
                    </a:cxn>
                    <a:cxn ang="0">
                      <a:pos x="129" y="146"/>
                    </a:cxn>
                    <a:cxn ang="0">
                      <a:pos x="155" y="166"/>
                    </a:cxn>
                    <a:cxn ang="0">
                      <a:pos x="197" y="272"/>
                    </a:cxn>
                    <a:cxn ang="0">
                      <a:pos x="225" y="274"/>
                    </a:cxn>
                    <a:cxn ang="0">
                      <a:pos x="257" y="306"/>
                    </a:cxn>
                    <a:cxn ang="0">
                      <a:pos x="325" y="278"/>
                    </a:cxn>
                    <a:cxn ang="0">
                      <a:pos x="385" y="260"/>
                    </a:cxn>
                    <a:cxn ang="0">
                      <a:pos x="415" y="302"/>
                    </a:cxn>
                    <a:cxn ang="0">
                      <a:pos x="471" y="286"/>
                    </a:cxn>
                    <a:cxn ang="0">
                      <a:pos x="523" y="284"/>
                    </a:cxn>
                    <a:cxn ang="0">
                      <a:pos x="561" y="300"/>
                    </a:cxn>
                    <a:cxn ang="0">
                      <a:pos x="609" y="298"/>
                    </a:cxn>
                    <a:cxn ang="0">
                      <a:pos x="657" y="266"/>
                    </a:cxn>
                    <a:cxn ang="0">
                      <a:pos x="687" y="248"/>
                    </a:cxn>
                    <a:cxn ang="0">
                      <a:pos x="707" y="240"/>
                    </a:cxn>
                    <a:cxn ang="0">
                      <a:pos x="757" y="242"/>
                    </a:cxn>
                    <a:cxn ang="0">
                      <a:pos x="775" y="262"/>
                    </a:cxn>
                    <a:cxn ang="0">
                      <a:pos x="823" y="254"/>
                    </a:cxn>
                    <a:cxn ang="0">
                      <a:pos x="839" y="274"/>
                    </a:cxn>
                    <a:cxn ang="0">
                      <a:pos x="863" y="326"/>
                    </a:cxn>
                    <a:cxn ang="0">
                      <a:pos x="875" y="318"/>
                    </a:cxn>
                    <a:cxn ang="0">
                      <a:pos x="879" y="306"/>
                    </a:cxn>
                    <a:cxn ang="0">
                      <a:pos x="867" y="296"/>
                    </a:cxn>
                    <a:cxn ang="0">
                      <a:pos x="849" y="266"/>
                    </a:cxn>
                    <a:cxn ang="0">
                      <a:pos x="831" y="222"/>
                    </a:cxn>
                    <a:cxn ang="0">
                      <a:pos x="799" y="230"/>
                    </a:cxn>
                    <a:cxn ang="0">
                      <a:pos x="777" y="238"/>
                    </a:cxn>
                    <a:cxn ang="0">
                      <a:pos x="721" y="212"/>
                    </a:cxn>
                    <a:cxn ang="0">
                      <a:pos x="607" y="272"/>
                    </a:cxn>
                    <a:cxn ang="0">
                      <a:pos x="587" y="278"/>
                    </a:cxn>
                    <a:cxn ang="0">
                      <a:pos x="555" y="274"/>
                    </a:cxn>
                    <a:cxn ang="0">
                      <a:pos x="531" y="246"/>
                    </a:cxn>
                    <a:cxn ang="0">
                      <a:pos x="483" y="260"/>
                    </a:cxn>
                    <a:cxn ang="0">
                      <a:pos x="443" y="280"/>
                    </a:cxn>
                    <a:cxn ang="0">
                      <a:pos x="411" y="232"/>
                    </a:cxn>
                    <a:cxn ang="0">
                      <a:pos x="397" y="206"/>
                    </a:cxn>
                    <a:cxn ang="0">
                      <a:pos x="345" y="236"/>
                    </a:cxn>
                    <a:cxn ang="0">
                      <a:pos x="313" y="246"/>
                    </a:cxn>
                    <a:cxn ang="0">
                      <a:pos x="257" y="288"/>
                    </a:cxn>
                    <a:cxn ang="0">
                      <a:pos x="239" y="264"/>
                    </a:cxn>
                    <a:cxn ang="0">
                      <a:pos x="201" y="244"/>
                    </a:cxn>
                    <a:cxn ang="0">
                      <a:pos x="191" y="226"/>
                    </a:cxn>
                    <a:cxn ang="0">
                      <a:pos x="203" y="182"/>
                    </a:cxn>
                    <a:cxn ang="0">
                      <a:pos x="199" y="156"/>
                    </a:cxn>
                    <a:cxn ang="0">
                      <a:pos x="157" y="146"/>
                    </a:cxn>
                    <a:cxn ang="0">
                      <a:pos x="149" y="112"/>
                    </a:cxn>
                    <a:cxn ang="0">
                      <a:pos x="93" y="78"/>
                    </a:cxn>
                    <a:cxn ang="0">
                      <a:pos x="49" y="80"/>
                    </a:cxn>
                    <a:cxn ang="0">
                      <a:pos x="19" y="38"/>
                    </a:cxn>
                    <a:cxn ang="0">
                      <a:pos x="17" y="6"/>
                    </a:cxn>
                    <a:cxn ang="0">
                      <a:pos x="13" y="0"/>
                    </a:cxn>
                  </a:cxnLst>
                  <a:rect l="0" t="0" r="r" b="b"/>
                  <a:pathLst>
                    <a:path w="887" h="326">
                      <a:moveTo>
                        <a:pt x="13" y="0"/>
                      </a:moveTo>
                      <a:cubicBezTo>
                        <a:pt x="9" y="6"/>
                        <a:pt x="1" y="18"/>
                        <a:pt x="1" y="18"/>
                      </a:cubicBezTo>
                      <a:cubicBezTo>
                        <a:pt x="2" y="27"/>
                        <a:pt x="0" y="36"/>
                        <a:pt x="3" y="44"/>
                      </a:cubicBezTo>
                      <a:cubicBezTo>
                        <a:pt x="5" y="49"/>
                        <a:pt x="14" y="49"/>
                        <a:pt x="17" y="54"/>
                      </a:cubicBezTo>
                      <a:cubicBezTo>
                        <a:pt x="29" y="73"/>
                        <a:pt x="34" y="101"/>
                        <a:pt x="55" y="110"/>
                      </a:cubicBezTo>
                      <a:cubicBezTo>
                        <a:pt x="66" y="109"/>
                        <a:pt x="70" y="109"/>
                        <a:pt x="79" y="106"/>
                      </a:cubicBezTo>
                      <a:cubicBezTo>
                        <a:pt x="85" y="104"/>
                        <a:pt x="97" y="100"/>
                        <a:pt x="97" y="100"/>
                      </a:cubicBezTo>
                      <a:cubicBezTo>
                        <a:pt x="140" y="110"/>
                        <a:pt x="119" y="105"/>
                        <a:pt x="129" y="146"/>
                      </a:cubicBezTo>
                      <a:cubicBezTo>
                        <a:pt x="132" y="157"/>
                        <a:pt x="155" y="166"/>
                        <a:pt x="155" y="166"/>
                      </a:cubicBezTo>
                      <a:cubicBezTo>
                        <a:pt x="166" y="198"/>
                        <a:pt x="147" y="266"/>
                        <a:pt x="197" y="272"/>
                      </a:cubicBezTo>
                      <a:cubicBezTo>
                        <a:pt x="206" y="273"/>
                        <a:pt x="216" y="273"/>
                        <a:pt x="225" y="274"/>
                      </a:cubicBezTo>
                      <a:cubicBezTo>
                        <a:pt x="240" y="284"/>
                        <a:pt x="237" y="301"/>
                        <a:pt x="257" y="306"/>
                      </a:cubicBezTo>
                      <a:cubicBezTo>
                        <a:pt x="284" y="304"/>
                        <a:pt x="301" y="290"/>
                        <a:pt x="325" y="278"/>
                      </a:cubicBezTo>
                      <a:cubicBezTo>
                        <a:pt x="344" y="269"/>
                        <a:pt x="365" y="267"/>
                        <a:pt x="385" y="260"/>
                      </a:cubicBezTo>
                      <a:cubicBezTo>
                        <a:pt x="408" y="271"/>
                        <a:pt x="394" y="288"/>
                        <a:pt x="415" y="302"/>
                      </a:cubicBezTo>
                      <a:cubicBezTo>
                        <a:pt x="436" y="300"/>
                        <a:pt x="451" y="291"/>
                        <a:pt x="471" y="286"/>
                      </a:cubicBezTo>
                      <a:cubicBezTo>
                        <a:pt x="488" y="290"/>
                        <a:pt x="506" y="287"/>
                        <a:pt x="523" y="284"/>
                      </a:cubicBezTo>
                      <a:cubicBezTo>
                        <a:pt x="550" y="289"/>
                        <a:pt x="541" y="290"/>
                        <a:pt x="561" y="300"/>
                      </a:cubicBezTo>
                      <a:cubicBezTo>
                        <a:pt x="577" y="299"/>
                        <a:pt x="593" y="300"/>
                        <a:pt x="609" y="298"/>
                      </a:cubicBezTo>
                      <a:cubicBezTo>
                        <a:pt x="621" y="296"/>
                        <a:pt x="646" y="274"/>
                        <a:pt x="657" y="266"/>
                      </a:cubicBezTo>
                      <a:cubicBezTo>
                        <a:pt x="704" y="231"/>
                        <a:pt x="654" y="265"/>
                        <a:pt x="687" y="248"/>
                      </a:cubicBezTo>
                      <a:cubicBezTo>
                        <a:pt x="693" y="245"/>
                        <a:pt x="707" y="240"/>
                        <a:pt x="707" y="240"/>
                      </a:cubicBezTo>
                      <a:cubicBezTo>
                        <a:pt x="724" y="241"/>
                        <a:pt x="741" y="238"/>
                        <a:pt x="757" y="242"/>
                      </a:cubicBezTo>
                      <a:cubicBezTo>
                        <a:pt x="763" y="244"/>
                        <a:pt x="766" y="259"/>
                        <a:pt x="775" y="262"/>
                      </a:cubicBezTo>
                      <a:cubicBezTo>
                        <a:pt x="810" y="260"/>
                        <a:pt x="801" y="260"/>
                        <a:pt x="823" y="254"/>
                      </a:cubicBezTo>
                      <a:cubicBezTo>
                        <a:pt x="833" y="257"/>
                        <a:pt x="836" y="265"/>
                        <a:pt x="839" y="274"/>
                      </a:cubicBezTo>
                      <a:cubicBezTo>
                        <a:pt x="841" y="296"/>
                        <a:pt x="847" y="310"/>
                        <a:pt x="863" y="326"/>
                      </a:cubicBezTo>
                      <a:cubicBezTo>
                        <a:pt x="869" y="324"/>
                        <a:pt x="872" y="324"/>
                        <a:pt x="875" y="318"/>
                      </a:cubicBezTo>
                      <a:cubicBezTo>
                        <a:pt x="877" y="314"/>
                        <a:pt x="879" y="306"/>
                        <a:pt x="879" y="306"/>
                      </a:cubicBezTo>
                      <a:cubicBezTo>
                        <a:pt x="865" y="285"/>
                        <a:pt x="887" y="316"/>
                        <a:pt x="867" y="296"/>
                      </a:cubicBezTo>
                      <a:cubicBezTo>
                        <a:pt x="858" y="287"/>
                        <a:pt x="855" y="276"/>
                        <a:pt x="849" y="266"/>
                      </a:cubicBezTo>
                      <a:cubicBezTo>
                        <a:pt x="847" y="250"/>
                        <a:pt x="840" y="236"/>
                        <a:pt x="831" y="222"/>
                      </a:cubicBezTo>
                      <a:cubicBezTo>
                        <a:pt x="816" y="224"/>
                        <a:pt x="812" y="226"/>
                        <a:pt x="799" y="230"/>
                      </a:cubicBezTo>
                      <a:cubicBezTo>
                        <a:pt x="792" y="232"/>
                        <a:pt x="777" y="238"/>
                        <a:pt x="777" y="238"/>
                      </a:cubicBezTo>
                      <a:cubicBezTo>
                        <a:pt x="754" y="233"/>
                        <a:pt x="742" y="216"/>
                        <a:pt x="721" y="212"/>
                      </a:cubicBezTo>
                      <a:cubicBezTo>
                        <a:pt x="678" y="221"/>
                        <a:pt x="650" y="267"/>
                        <a:pt x="607" y="272"/>
                      </a:cubicBezTo>
                      <a:cubicBezTo>
                        <a:pt x="592" y="277"/>
                        <a:pt x="599" y="275"/>
                        <a:pt x="587" y="278"/>
                      </a:cubicBezTo>
                      <a:cubicBezTo>
                        <a:pt x="576" y="277"/>
                        <a:pt x="563" y="282"/>
                        <a:pt x="555" y="274"/>
                      </a:cubicBezTo>
                      <a:cubicBezTo>
                        <a:pt x="546" y="265"/>
                        <a:pt x="543" y="254"/>
                        <a:pt x="531" y="246"/>
                      </a:cubicBezTo>
                      <a:cubicBezTo>
                        <a:pt x="513" y="250"/>
                        <a:pt x="500" y="256"/>
                        <a:pt x="483" y="260"/>
                      </a:cubicBezTo>
                      <a:cubicBezTo>
                        <a:pt x="471" y="268"/>
                        <a:pt x="456" y="276"/>
                        <a:pt x="443" y="280"/>
                      </a:cubicBezTo>
                      <a:cubicBezTo>
                        <a:pt x="394" y="276"/>
                        <a:pt x="426" y="273"/>
                        <a:pt x="411" y="232"/>
                      </a:cubicBezTo>
                      <a:cubicBezTo>
                        <a:pt x="408" y="223"/>
                        <a:pt x="397" y="206"/>
                        <a:pt x="397" y="206"/>
                      </a:cubicBezTo>
                      <a:cubicBezTo>
                        <a:pt x="364" y="212"/>
                        <a:pt x="368" y="223"/>
                        <a:pt x="345" y="236"/>
                      </a:cubicBezTo>
                      <a:cubicBezTo>
                        <a:pt x="335" y="242"/>
                        <a:pt x="323" y="243"/>
                        <a:pt x="313" y="246"/>
                      </a:cubicBezTo>
                      <a:cubicBezTo>
                        <a:pt x="297" y="267"/>
                        <a:pt x="284" y="281"/>
                        <a:pt x="257" y="288"/>
                      </a:cubicBezTo>
                      <a:cubicBezTo>
                        <a:pt x="236" y="279"/>
                        <a:pt x="250" y="272"/>
                        <a:pt x="239" y="264"/>
                      </a:cubicBezTo>
                      <a:cubicBezTo>
                        <a:pt x="226" y="255"/>
                        <a:pt x="213" y="256"/>
                        <a:pt x="201" y="244"/>
                      </a:cubicBezTo>
                      <a:cubicBezTo>
                        <a:pt x="199" y="237"/>
                        <a:pt x="191" y="226"/>
                        <a:pt x="191" y="226"/>
                      </a:cubicBezTo>
                      <a:cubicBezTo>
                        <a:pt x="187" y="206"/>
                        <a:pt x="193" y="198"/>
                        <a:pt x="203" y="182"/>
                      </a:cubicBezTo>
                      <a:cubicBezTo>
                        <a:pt x="202" y="173"/>
                        <a:pt x="203" y="164"/>
                        <a:pt x="199" y="156"/>
                      </a:cubicBezTo>
                      <a:cubicBezTo>
                        <a:pt x="197" y="152"/>
                        <a:pt x="164" y="148"/>
                        <a:pt x="157" y="146"/>
                      </a:cubicBezTo>
                      <a:cubicBezTo>
                        <a:pt x="145" y="134"/>
                        <a:pt x="143" y="131"/>
                        <a:pt x="149" y="112"/>
                      </a:cubicBezTo>
                      <a:cubicBezTo>
                        <a:pt x="145" y="57"/>
                        <a:pt x="144" y="86"/>
                        <a:pt x="93" y="78"/>
                      </a:cubicBezTo>
                      <a:cubicBezTo>
                        <a:pt x="78" y="79"/>
                        <a:pt x="63" y="83"/>
                        <a:pt x="49" y="80"/>
                      </a:cubicBezTo>
                      <a:cubicBezTo>
                        <a:pt x="43" y="61"/>
                        <a:pt x="42" y="44"/>
                        <a:pt x="19" y="38"/>
                      </a:cubicBezTo>
                      <a:cubicBezTo>
                        <a:pt x="18" y="27"/>
                        <a:pt x="19" y="16"/>
                        <a:pt x="17" y="6"/>
                      </a:cubicBezTo>
                      <a:cubicBezTo>
                        <a:pt x="16" y="0"/>
                        <a:pt x="7" y="0"/>
                        <a:pt x="13" y="0"/>
                      </a:cubicBezTo>
                      <a:close/>
                    </a:path>
                  </a:pathLst>
                </a:custGeom>
                <a:solidFill>
                  <a:srgbClr val="000000"/>
                </a:solidFill>
                <a:ln w="9525" cap="flat" cmpd="sng">
                  <a:noFill/>
                  <a:prstDash val="solid"/>
                  <a:round/>
                  <a:headEnd type="none" w="med" len="med"/>
                  <a:tailEnd type="none" w="med" len="med"/>
                </a:ln>
                <a:effectLst/>
              </p:spPr>
              <p:txBody>
                <a:bodyPr wrap="none" anchor="ctr"/>
                <a:lstStyle/>
                <a:p>
                  <a:endParaRPr lang="fr-FR" sz="2400"/>
                </a:p>
              </p:txBody>
            </p:sp>
          </p:grpSp>
          <p:sp>
            <p:nvSpPr>
              <p:cNvPr id="153659" name="AutoShape 59"/>
              <p:cNvSpPr>
                <a:spLocks noChangeArrowheads="1"/>
              </p:cNvSpPr>
              <p:nvPr/>
            </p:nvSpPr>
            <p:spPr bwMode="auto">
              <a:xfrm>
                <a:off x="3271" y="1151"/>
                <a:ext cx="502" cy="502"/>
              </a:xfrm>
              <a:custGeom>
                <a:avLst/>
                <a:gdLst>
                  <a:gd name="G0" fmla="+- 2198 0 0"/>
                  <a:gd name="G1" fmla="*/ G0 2 1"/>
                  <a:gd name="G2" fmla="+- 21600 0 G1"/>
                  <a:gd name="G3" fmla="*/ G2 G2 1"/>
                  <a:gd name="G4" fmla="*/ G0 G0 1"/>
                  <a:gd name="G5" fmla="+- G3 0 G4"/>
                  <a:gd name="G6" fmla="*/ G5 1 8"/>
                  <a:gd name="G7" fmla="sqrt G6"/>
                  <a:gd name="G8" fmla="*/ G4 1 8"/>
                  <a:gd name="G9" fmla="sqrt G8"/>
                  <a:gd name="G10" fmla="+- G7 G9 0"/>
                  <a:gd name="G11" fmla="+- G7 0 G9"/>
                  <a:gd name="G12" fmla="+- G10 10800 0"/>
                  <a:gd name="G13" fmla="+- 10800 0 G10"/>
                  <a:gd name="G14" fmla="+- G11 10800 0"/>
                  <a:gd name="G15" fmla="+- 10800 0 G11"/>
                  <a:gd name="G16" fmla="+- 21600 0 G0"/>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609" y="16055"/>
                    </a:moveTo>
                    <a:cubicBezTo>
                      <a:pt x="18771" y="14550"/>
                      <a:pt x="19402" y="12701"/>
                      <a:pt x="19402" y="10800"/>
                    </a:cubicBezTo>
                    <a:cubicBezTo>
                      <a:pt x="19402" y="6049"/>
                      <a:pt x="15550" y="2198"/>
                      <a:pt x="10800" y="2198"/>
                    </a:cubicBezTo>
                    <a:cubicBezTo>
                      <a:pt x="8898" y="2197"/>
                      <a:pt x="7049" y="2828"/>
                      <a:pt x="5544" y="3990"/>
                    </a:cubicBezTo>
                    <a:close/>
                    <a:moveTo>
                      <a:pt x="3990" y="5544"/>
                    </a:moveTo>
                    <a:cubicBezTo>
                      <a:pt x="2828" y="7049"/>
                      <a:pt x="2198" y="8898"/>
                      <a:pt x="2198" y="10799"/>
                    </a:cubicBezTo>
                    <a:cubicBezTo>
                      <a:pt x="2198" y="15550"/>
                      <a:pt x="6049" y="19402"/>
                      <a:pt x="10800" y="19402"/>
                    </a:cubicBezTo>
                    <a:cubicBezTo>
                      <a:pt x="12701" y="19402"/>
                      <a:pt x="14550" y="18771"/>
                      <a:pt x="16055" y="17609"/>
                    </a:cubicBezTo>
                    <a:close/>
                  </a:path>
                </a:pathLst>
              </a:custGeom>
              <a:solidFill>
                <a:srgbClr val="FF0000"/>
              </a:solidFill>
              <a:ln w="9525">
                <a:noFill/>
                <a:miter lim="800000"/>
                <a:headEnd/>
                <a:tailEnd/>
              </a:ln>
              <a:effectLst/>
            </p:spPr>
            <p:txBody>
              <a:bodyPr wrap="none" tIns="27432" bIns="27432" anchor="ctr"/>
              <a:lstStyle/>
              <a:p>
                <a:endParaRPr lang="fr-FR" sz="2400"/>
              </a:p>
            </p:txBody>
          </p:sp>
        </p:grpSp>
      </p:grpSp>
      <p:grpSp>
        <p:nvGrpSpPr>
          <p:cNvPr id="10" name="Group 60"/>
          <p:cNvGrpSpPr>
            <a:grpSpLocks/>
          </p:cNvGrpSpPr>
          <p:nvPr/>
        </p:nvGrpSpPr>
        <p:grpSpPr bwMode="auto">
          <a:xfrm>
            <a:off x="331478" y="4208043"/>
            <a:ext cx="8549286" cy="2276475"/>
            <a:chOff x="619" y="2354"/>
            <a:chExt cx="4477" cy="1434"/>
          </a:xfrm>
        </p:grpSpPr>
        <p:sp>
          <p:nvSpPr>
            <p:cNvPr id="153661" name="Rectangle 61"/>
            <p:cNvSpPr>
              <a:spLocks noChangeArrowheads="1"/>
            </p:cNvSpPr>
            <p:nvPr/>
          </p:nvSpPr>
          <p:spPr bwMode="auto">
            <a:xfrm>
              <a:off x="619" y="2356"/>
              <a:ext cx="2117" cy="1424"/>
            </a:xfrm>
            <a:prstGeom prst="rect">
              <a:avLst/>
            </a:prstGeom>
            <a:gradFill rotWithShape="0">
              <a:gsLst>
                <a:gs pos="0">
                  <a:srgbClr val="FCFEBC"/>
                </a:gs>
                <a:gs pos="100000">
                  <a:srgbClr val="FFFFEB"/>
                </a:gs>
              </a:gsLst>
              <a:lin ang="5400000" scaled="1"/>
            </a:gradFill>
            <a:ln w="9525">
              <a:solidFill>
                <a:srgbClr val="969696"/>
              </a:solidFill>
              <a:miter lim="800000"/>
              <a:headEnd/>
              <a:tailEnd/>
            </a:ln>
            <a:effectLst>
              <a:outerShdw dist="35921" dir="2700000" algn="ctr" rotWithShape="0">
                <a:srgbClr val="969696"/>
              </a:outerShdw>
            </a:effectLst>
          </p:spPr>
          <p:txBody>
            <a:bodyPr/>
            <a:lstStyle/>
            <a:p>
              <a:endParaRPr lang="fr-FR" sz="2400" b="1">
                <a:latin typeface="Arial" charset="0"/>
              </a:endParaRPr>
            </a:p>
          </p:txBody>
        </p:sp>
        <p:sp>
          <p:nvSpPr>
            <p:cNvPr id="153662" name="Rectangle 62"/>
            <p:cNvSpPr>
              <a:spLocks noChangeArrowheads="1"/>
            </p:cNvSpPr>
            <p:nvPr/>
          </p:nvSpPr>
          <p:spPr bwMode="auto">
            <a:xfrm>
              <a:off x="2854" y="2354"/>
              <a:ext cx="2242" cy="1434"/>
            </a:xfrm>
            <a:prstGeom prst="rect">
              <a:avLst/>
            </a:prstGeom>
            <a:gradFill rotWithShape="0">
              <a:gsLst>
                <a:gs pos="0">
                  <a:srgbClr val="99CCFF">
                    <a:gamma/>
                    <a:tint val="4314"/>
                    <a:invGamma/>
                  </a:srgbClr>
                </a:gs>
                <a:gs pos="100000">
                  <a:srgbClr val="99CCFF"/>
                </a:gs>
              </a:gsLst>
              <a:lin ang="5400000" scaled="1"/>
            </a:gradFill>
            <a:ln w="9525">
              <a:noFill/>
              <a:miter lim="800000"/>
              <a:headEnd/>
              <a:tailEnd/>
            </a:ln>
            <a:effectLst/>
          </p:spPr>
          <p:txBody>
            <a:bodyPr tIns="27432" bIns="27432" anchor="ctr"/>
            <a:lstStyle/>
            <a:p>
              <a:r>
                <a:rPr lang="fr-FR" sz="2400" b="1">
                  <a:latin typeface="Arial" charset="0"/>
                </a:rPr>
                <a:t>L'agent de récupération utilise sa clé privée pour récupérer le fichier</a:t>
              </a:r>
            </a:p>
          </p:txBody>
        </p:sp>
        <p:grpSp>
          <p:nvGrpSpPr>
            <p:cNvPr id="11" name="Group 63"/>
            <p:cNvGrpSpPr>
              <a:grpSpLocks/>
            </p:cNvGrpSpPr>
            <p:nvPr/>
          </p:nvGrpSpPr>
          <p:grpSpPr bwMode="auto">
            <a:xfrm>
              <a:off x="646" y="2736"/>
              <a:ext cx="1229" cy="999"/>
              <a:chOff x="717" y="2649"/>
              <a:chExt cx="1356" cy="1102"/>
            </a:xfrm>
          </p:grpSpPr>
          <p:grpSp>
            <p:nvGrpSpPr>
              <p:cNvPr id="12" name="Group 64"/>
              <p:cNvGrpSpPr>
                <a:grpSpLocks/>
              </p:cNvGrpSpPr>
              <p:nvPr/>
            </p:nvGrpSpPr>
            <p:grpSpPr bwMode="auto">
              <a:xfrm>
                <a:off x="1030" y="2649"/>
                <a:ext cx="1043" cy="1072"/>
                <a:chOff x="658" y="763"/>
                <a:chExt cx="1208" cy="1242"/>
              </a:xfrm>
            </p:grpSpPr>
            <p:grpSp>
              <p:nvGrpSpPr>
                <p:cNvPr id="13" name="Group 65"/>
                <p:cNvGrpSpPr>
                  <a:grpSpLocks/>
                </p:cNvGrpSpPr>
                <p:nvPr/>
              </p:nvGrpSpPr>
              <p:grpSpPr bwMode="auto">
                <a:xfrm>
                  <a:off x="852" y="763"/>
                  <a:ext cx="626" cy="1012"/>
                  <a:chOff x="752" y="760"/>
                  <a:chExt cx="626" cy="1012"/>
                </a:xfrm>
              </p:grpSpPr>
              <p:sp>
                <p:nvSpPr>
                  <p:cNvPr id="153666" name="Freeform 66"/>
                  <p:cNvSpPr>
                    <a:spLocks/>
                  </p:cNvSpPr>
                  <p:nvPr/>
                </p:nvSpPr>
                <p:spPr bwMode="auto">
                  <a:xfrm>
                    <a:off x="754" y="760"/>
                    <a:ext cx="623" cy="217"/>
                  </a:xfrm>
                  <a:custGeom>
                    <a:avLst/>
                    <a:gdLst/>
                    <a:ahLst/>
                    <a:cxnLst>
                      <a:cxn ang="0">
                        <a:pos x="0" y="307"/>
                      </a:cxn>
                      <a:cxn ang="0">
                        <a:pos x="577" y="448"/>
                      </a:cxn>
                      <a:cxn ang="0">
                        <a:pos x="1290" y="127"/>
                      </a:cxn>
                      <a:cxn ang="0">
                        <a:pos x="727" y="0"/>
                      </a:cxn>
                      <a:cxn ang="0">
                        <a:pos x="0" y="307"/>
                      </a:cxn>
                    </a:cxnLst>
                    <a:rect l="0" t="0" r="r" b="b"/>
                    <a:pathLst>
                      <a:path w="1291" h="449">
                        <a:moveTo>
                          <a:pt x="0" y="307"/>
                        </a:moveTo>
                        <a:lnTo>
                          <a:pt x="577" y="448"/>
                        </a:lnTo>
                        <a:lnTo>
                          <a:pt x="1290" y="127"/>
                        </a:lnTo>
                        <a:lnTo>
                          <a:pt x="727" y="0"/>
                        </a:lnTo>
                        <a:lnTo>
                          <a:pt x="0" y="307"/>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sz="2400"/>
                  </a:p>
                </p:txBody>
              </p:sp>
              <p:sp>
                <p:nvSpPr>
                  <p:cNvPr id="153667" name="Freeform 67"/>
                  <p:cNvSpPr>
                    <a:spLocks/>
                  </p:cNvSpPr>
                  <p:nvPr/>
                </p:nvSpPr>
                <p:spPr bwMode="auto">
                  <a:xfrm>
                    <a:off x="764" y="1513"/>
                    <a:ext cx="604" cy="259"/>
                  </a:xfrm>
                  <a:custGeom>
                    <a:avLst/>
                    <a:gdLst/>
                    <a:ahLst/>
                    <a:cxnLst>
                      <a:cxn ang="0">
                        <a:pos x="0" y="292"/>
                      </a:cxn>
                      <a:cxn ang="0">
                        <a:pos x="0" y="370"/>
                      </a:cxn>
                      <a:cxn ang="0">
                        <a:pos x="567" y="535"/>
                      </a:cxn>
                      <a:cxn ang="0">
                        <a:pos x="1251" y="92"/>
                      </a:cxn>
                      <a:cxn ang="0">
                        <a:pos x="1251" y="0"/>
                      </a:cxn>
                    </a:cxnLst>
                    <a:rect l="0" t="0" r="r" b="b"/>
                    <a:pathLst>
                      <a:path w="1252" h="536">
                        <a:moveTo>
                          <a:pt x="0" y="292"/>
                        </a:moveTo>
                        <a:lnTo>
                          <a:pt x="0" y="370"/>
                        </a:lnTo>
                        <a:lnTo>
                          <a:pt x="567" y="535"/>
                        </a:lnTo>
                        <a:lnTo>
                          <a:pt x="1251" y="92"/>
                        </a:lnTo>
                        <a:lnTo>
                          <a:pt x="1251" y="0"/>
                        </a:lnTo>
                      </a:path>
                    </a:pathLst>
                  </a:custGeom>
                  <a:solidFill>
                    <a:srgbClr val="969696"/>
                  </a:solidFill>
                  <a:ln w="3175" cap="rnd" cmpd="sng">
                    <a:solidFill>
                      <a:schemeClr val="tx1"/>
                    </a:solidFill>
                    <a:prstDash val="solid"/>
                    <a:round/>
                    <a:headEnd type="none" w="med" len="med"/>
                    <a:tailEnd type="none" w="med" len="med"/>
                  </a:ln>
                  <a:effectLst/>
                </p:spPr>
                <p:txBody>
                  <a:bodyPr/>
                  <a:lstStyle/>
                  <a:p>
                    <a:endParaRPr lang="fr-FR" sz="2400"/>
                  </a:p>
                </p:txBody>
              </p:sp>
              <p:sp>
                <p:nvSpPr>
                  <p:cNvPr id="153668" name="Freeform 68"/>
                  <p:cNvSpPr>
                    <a:spLocks/>
                  </p:cNvSpPr>
                  <p:nvPr/>
                </p:nvSpPr>
                <p:spPr bwMode="auto">
                  <a:xfrm>
                    <a:off x="1026" y="820"/>
                    <a:ext cx="352" cy="927"/>
                  </a:xfrm>
                  <a:custGeom>
                    <a:avLst/>
                    <a:gdLst/>
                    <a:ahLst/>
                    <a:cxnLst>
                      <a:cxn ang="0">
                        <a:pos x="0" y="328"/>
                      </a:cxn>
                      <a:cxn ang="0">
                        <a:pos x="4" y="1915"/>
                      </a:cxn>
                      <a:cxn ang="0">
                        <a:pos x="728" y="1456"/>
                      </a:cxn>
                      <a:cxn ang="0">
                        <a:pos x="728" y="0"/>
                      </a:cxn>
                      <a:cxn ang="0">
                        <a:pos x="0" y="328"/>
                      </a:cxn>
                    </a:cxnLst>
                    <a:rect l="0" t="0" r="r" b="b"/>
                    <a:pathLst>
                      <a:path w="729" h="1916">
                        <a:moveTo>
                          <a:pt x="0" y="328"/>
                        </a:moveTo>
                        <a:lnTo>
                          <a:pt x="4" y="1915"/>
                        </a:lnTo>
                        <a:lnTo>
                          <a:pt x="728" y="1456"/>
                        </a:lnTo>
                        <a:lnTo>
                          <a:pt x="728" y="0"/>
                        </a:lnTo>
                        <a:lnTo>
                          <a:pt x="0" y="32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69" name="Freeform 69"/>
                  <p:cNvSpPr>
                    <a:spLocks/>
                  </p:cNvSpPr>
                  <p:nvPr/>
                </p:nvSpPr>
                <p:spPr bwMode="auto">
                  <a:xfrm>
                    <a:off x="752" y="908"/>
                    <a:ext cx="278" cy="834"/>
                  </a:xfrm>
                  <a:custGeom>
                    <a:avLst/>
                    <a:gdLst/>
                    <a:ahLst/>
                    <a:cxnLst>
                      <a:cxn ang="0">
                        <a:pos x="576" y="140"/>
                      </a:cxn>
                      <a:cxn ang="0">
                        <a:pos x="576" y="1727"/>
                      </a:cxn>
                      <a:cxn ang="0">
                        <a:pos x="0" y="1568"/>
                      </a:cxn>
                      <a:cxn ang="0">
                        <a:pos x="0" y="0"/>
                      </a:cxn>
                      <a:cxn ang="0">
                        <a:pos x="576" y="140"/>
                      </a:cxn>
                    </a:cxnLst>
                    <a:rect l="0" t="0" r="r" b="b"/>
                    <a:pathLst>
                      <a:path w="577" h="1728">
                        <a:moveTo>
                          <a:pt x="576" y="140"/>
                        </a:moveTo>
                        <a:lnTo>
                          <a:pt x="576" y="1727"/>
                        </a:lnTo>
                        <a:lnTo>
                          <a:pt x="0" y="1568"/>
                        </a:lnTo>
                        <a:lnTo>
                          <a:pt x="0" y="0"/>
                        </a:lnTo>
                        <a:lnTo>
                          <a:pt x="576" y="140"/>
                        </a:lnTo>
                      </a:path>
                    </a:pathLst>
                  </a:custGeom>
                  <a:gradFill rotWithShape="0">
                    <a:gsLst>
                      <a:gs pos="0">
                        <a:srgbClr val="B2B2B2">
                          <a:gamma/>
                          <a:tint val="23529"/>
                          <a:invGamma/>
                        </a:srgbClr>
                      </a:gs>
                      <a:gs pos="100000">
                        <a:srgbClr val="B2B2B2"/>
                      </a:gs>
                    </a:gsLst>
                    <a:lin ang="5400000" scaled="1"/>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70" name="Line 70"/>
                  <p:cNvSpPr>
                    <a:spLocks noChangeShapeType="1"/>
                  </p:cNvSpPr>
                  <p:nvPr/>
                </p:nvSpPr>
                <p:spPr bwMode="auto">
                  <a:xfrm>
                    <a:off x="791" y="1610"/>
                    <a:ext cx="192" cy="51"/>
                  </a:xfrm>
                  <a:prstGeom prst="line">
                    <a:avLst/>
                  </a:prstGeom>
                  <a:noFill/>
                  <a:ln w="6350">
                    <a:solidFill>
                      <a:srgbClr val="676767"/>
                    </a:solidFill>
                    <a:round/>
                    <a:headEnd/>
                    <a:tailEnd/>
                  </a:ln>
                  <a:effectLst/>
                </p:spPr>
                <p:txBody>
                  <a:bodyPr wrap="none" anchor="ctr"/>
                  <a:lstStyle/>
                  <a:p>
                    <a:endParaRPr lang="fr-FR" sz="2400"/>
                  </a:p>
                </p:txBody>
              </p:sp>
              <p:sp>
                <p:nvSpPr>
                  <p:cNvPr id="153671" name="Oval 71"/>
                  <p:cNvSpPr>
                    <a:spLocks noChangeArrowheads="1"/>
                  </p:cNvSpPr>
                  <p:nvPr/>
                </p:nvSpPr>
                <p:spPr bwMode="auto">
                  <a:xfrm>
                    <a:off x="784" y="949"/>
                    <a:ext cx="31" cy="17"/>
                  </a:xfrm>
                  <a:prstGeom prst="ellipse">
                    <a:avLst/>
                  </a:prstGeom>
                  <a:solidFill>
                    <a:schemeClr val="accent2"/>
                  </a:solidFill>
                  <a:ln w="12700">
                    <a:noFill/>
                    <a:round/>
                    <a:headEnd/>
                    <a:tailEnd/>
                  </a:ln>
                  <a:effectLst/>
                </p:spPr>
                <p:txBody>
                  <a:bodyPr wrap="none" anchor="ctr"/>
                  <a:lstStyle/>
                  <a:p>
                    <a:endParaRPr lang="fr-FR" sz="2400"/>
                  </a:p>
                </p:txBody>
              </p:sp>
              <p:sp>
                <p:nvSpPr>
                  <p:cNvPr id="153672" name="Line 72"/>
                  <p:cNvSpPr>
                    <a:spLocks noChangeShapeType="1"/>
                  </p:cNvSpPr>
                  <p:nvPr/>
                </p:nvSpPr>
                <p:spPr bwMode="auto">
                  <a:xfrm>
                    <a:off x="791" y="1572"/>
                    <a:ext cx="192" cy="51"/>
                  </a:xfrm>
                  <a:prstGeom prst="line">
                    <a:avLst/>
                  </a:prstGeom>
                  <a:noFill/>
                  <a:ln w="6350">
                    <a:solidFill>
                      <a:srgbClr val="676767"/>
                    </a:solidFill>
                    <a:round/>
                    <a:headEnd/>
                    <a:tailEnd/>
                  </a:ln>
                  <a:effectLst/>
                </p:spPr>
                <p:txBody>
                  <a:bodyPr wrap="none" anchor="ctr"/>
                  <a:lstStyle/>
                  <a:p>
                    <a:endParaRPr lang="fr-FR" sz="2400"/>
                  </a:p>
                </p:txBody>
              </p:sp>
              <p:sp>
                <p:nvSpPr>
                  <p:cNvPr id="153673" name="Line 73"/>
                  <p:cNvSpPr>
                    <a:spLocks noChangeShapeType="1"/>
                  </p:cNvSpPr>
                  <p:nvPr/>
                </p:nvSpPr>
                <p:spPr bwMode="auto">
                  <a:xfrm>
                    <a:off x="791" y="1534"/>
                    <a:ext cx="192" cy="52"/>
                  </a:xfrm>
                  <a:prstGeom prst="line">
                    <a:avLst/>
                  </a:prstGeom>
                  <a:noFill/>
                  <a:ln w="6350">
                    <a:solidFill>
                      <a:srgbClr val="676767"/>
                    </a:solidFill>
                    <a:round/>
                    <a:headEnd/>
                    <a:tailEnd/>
                  </a:ln>
                  <a:effectLst/>
                </p:spPr>
                <p:txBody>
                  <a:bodyPr wrap="none" anchor="ctr"/>
                  <a:lstStyle/>
                  <a:p>
                    <a:endParaRPr lang="fr-FR" sz="2400"/>
                  </a:p>
                </p:txBody>
              </p:sp>
              <p:sp>
                <p:nvSpPr>
                  <p:cNvPr id="153674" name="Line 74"/>
                  <p:cNvSpPr>
                    <a:spLocks noChangeShapeType="1"/>
                  </p:cNvSpPr>
                  <p:nvPr/>
                </p:nvSpPr>
                <p:spPr bwMode="auto">
                  <a:xfrm>
                    <a:off x="791" y="1497"/>
                    <a:ext cx="192" cy="51"/>
                  </a:xfrm>
                  <a:prstGeom prst="line">
                    <a:avLst/>
                  </a:prstGeom>
                  <a:noFill/>
                  <a:ln w="6350">
                    <a:solidFill>
                      <a:srgbClr val="676767"/>
                    </a:solidFill>
                    <a:round/>
                    <a:headEnd/>
                    <a:tailEnd/>
                  </a:ln>
                  <a:effectLst/>
                </p:spPr>
                <p:txBody>
                  <a:bodyPr wrap="none" anchor="ctr"/>
                  <a:lstStyle/>
                  <a:p>
                    <a:endParaRPr lang="fr-FR" sz="2400"/>
                  </a:p>
                </p:txBody>
              </p:sp>
              <p:sp>
                <p:nvSpPr>
                  <p:cNvPr id="153675" name="Line 75"/>
                  <p:cNvSpPr>
                    <a:spLocks noChangeShapeType="1"/>
                  </p:cNvSpPr>
                  <p:nvPr/>
                </p:nvSpPr>
                <p:spPr bwMode="auto">
                  <a:xfrm>
                    <a:off x="791" y="1458"/>
                    <a:ext cx="192" cy="51"/>
                  </a:xfrm>
                  <a:prstGeom prst="line">
                    <a:avLst/>
                  </a:prstGeom>
                  <a:noFill/>
                  <a:ln w="6350">
                    <a:solidFill>
                      <a:srgbClr val="676767"/>
                    </a:solidFill>
                    <a:round/>
                    <a:headEnd/>
                    <a:tailEnd/>
                  </a:ln>
                  <a:effectLst/>
                </p:spPr>
                <p:txBody>
                  <a:bodyPr wrap="none" anchor="ctr"/>
                  <a:lstStyle/>
                  <a:p>
                    <a:endParaRPr lang="fr-FR" sz="2400"/>
                  </a:p>
                </p:txBody>
              </p:sp>
              <p:sp>
                <p:nvSpPr>
                  <p:cNvPr id="153676" name="Freeform 76"/>
                  <p:cNvSpPr>
                    <a:spLocks/>
                  </p:cNvSpPr>
                  <p:nvPr/>
                </p:nvSpPr>
                <p:spPr bwMode="auto">
                  <a:xfrm>
                    <a:off x="794" y="1094"/>
                    <a:ext cx="190" cy="355"/>
                  </a:xfrm>
                  <a:custGeom>
                    <a:avLst/>
                    <a:gdLst/>
                    <a:ahLst/>
                    <a:cxnLst>
                      <a:cxn ang="0">
                        <a:pos x="0" y="628"/>
                      </a:cxn>
                      <a:cxn ang="0">
                        <a:pos x="396" y="732"/>
                      </a:cxn>
                      <a:cxn ang="0">
                        <a:pos x="396" y="0"/>
                      </a:cxn>
                    </a:cxnLst>
                    <a:rect l="0" t="0" r="r" b="b"/>
                    <a:pathLst>
                      <a:path w="397" h="733">
                        <a:moveTo>
                          <a:pt x="0" y="628"/>
                        </a:moveTo>
                        <a:lnTo>
                          <a:pt x="396" y="732"/>
                        </a:lnTo>
                        <a:lnTo>
                          <a:pt x="396" y="0"/>
                        </a:lnTo>
                      </a:path>
                    </a:pathLst>
                  </a:custGeom>
                  <a:noFill/>
                  <a:ln w="3175" cap="rnd" cmpd="sng">
                    <a:solidFill>
                      <a:srgbClr val="676767"/>
                    </a:solidFill>
                    <a:prstDash val="solid"/>
                    <a:round/>
                    <a:headEnd type="none" w="med" len="med"/>
                    <a:tailEnd type="none" w="med" len="med"/>
                  </a:ln>
                  <a:effectLst/>
                </p:spPr>
                <p:txBody>
                  <a:bodyPr/>
                  <a:lstStyle/>
                  <a:p>
                    <a:endParaRPr lang="fr-FR" sz="2400"/>
                  </a:p>
                </p:txBody>
              </p:sp>
              <p:sp>
                <p:nvSpPr>
                  <p:cNvPr id="153677" name="Freeform 77"/>
                  <p:cNvSpPr>
                    <a:spLocks/>
                  </p:cNvSpPr>
                  <p:nvPr/>
                </p:nvSpPr>
                <p:spPr bwMode="auto">
                  <a:xfrm>
                    <a:off x="774" y="1024"/>
                    <a:ext cx="218" cy="618"/>
                  </a:xfrm>
                  <a:custGeom>
                    <a:avLst/>
                    <a:gdLst/>
                    <a:ahLst/>
                    <a:cxnLst>
                      <a:cxn ang="0">
                        <a:pos x="452" y="105"/>
                      </a:cxn>
                      <a:cxn ang="0">
                        <a:pos x="0" y="0"/>
                      </a:cxn>
                      <a:cxn ang="0">
                        <a:pos x="0" y="1277"/>
                      </a:cxn>
                    </a:cxnLst>
                    <a:rect l="0" t="0" r="r" b="b"/>
                    <a:pathLst>
                      <a:path w="453" h="1278">
                        <a:moveTo>
                          <a:pt x="452" y="105"/>
                        </a:moveTo>
                        <a:lnTo>
                          <a:pt x="0" y="0"/>
                        </a:lnTo>
                        <a:lnTo>
                          <a:pt x="0" y="1277"/>
                        </a:lnTo>
                      </a:path>
                    </a:pathLst>
                  </a:custGeom>
                  <a:noFill/>
                  <a:ln w="6350" cap="rnd" cmpd="sng">
                    <a:solidFill>
                      <a:schemeClr val="tx1"/>
                    </a:solidFill>
                    <a:prstDash val="solid"/>
                    <a:round/>
                    <a:headEnd type="none" w="med" len="med"/>
                    <a:tailEnd type="none" w="med" len="med"/>
                  </a:ln>
                  <a:effectLst/>
                </p:spPr>
                <p:txBody>
                  <a:bodyPr/>
                  <a:lstStyle/>
                  <a:p>
                    <a:endParaRPr lang="fr-FR" sz="2400"/>
                  </a:p>
                </p:txBody>
              </p:sp>
              <p:sp>
                <p:nvSpPr>
                  <p:cNvPr id="153678" name="Freeform 78"/>
                  <p:cNvSpPr>
                    <a:spLocks/>
                  </p:cNvSpPr>
                  <p:nvPr/>
                </p:nvSpPr>
                <p:spPr bwMode="auto">
                  <a:xfrm>
                    <a:off x="788" y="1047"/>
                    <a:ext cx="194" cy="352"/>
                  </a:xfrm>
                  <a:custGeom>
                    <a:avLst/>
                    <a:gdLst/>
                    <a:ahLst/>
                    <a:cxnLst>
                      <a:cxn ang="0">
                        <a:pos x="401" y="96"/>
                      </a:cxn>
                      <a:cxn ang="0">
                        <a:pos x="0" y="0"/>
                      </a:cxn>
                      <a:cxn ang="0">
                        <a:pos x="0" y="725"/>
                      </a:cxn>
                    </a:cxnLst>
                    <a:rect l="0" t="0" r="r" b="b"/>
                    <a:pathLst>
                      <a:path w="402" h="726">
                        <a:moveTo>
                          <a:pt x="401" y="96"/>
                        </a:moveTo>
                        <a:lnTo>
                          <a:pt x="0" y="0"/>
                        </a:lnTo>
                        <a:lnTo>
                          <a:pt x="0" y="725"/>
                        </a:lnTo>
                      </a:path>
                    </a:pathLst>
                  </a:custGeom>
                  <a:noFill/>
                  <a:ln w="3175" cap="rnd" cmpd="sng">
                    <a:solidFill>
                      <a:schemeClr val="tx1"/>
                    </a:solidFill>
                    <a:prstDash val="solid"/>
                    <a:round/>
                    <a:headEnd type="none" w="med" len="med"/>
                    <a:tailEnd type="none" w="med" len="med"/>
                  </a:ln>
                  <a:effectLst/>
                </p:spPr>
                <p:txBody>
                  <a:bodyPr/>
                  <a:lstStyle/>
                  <a:p>
                    <a:endParaRPr lang="fr-FR" sz="2400"/>
                  </a:p>
                </p:txBody>
              </p:sp>
              <p:sp>
                <p:nvSpPr>
                  <p:cNvPr id="153679" name="Line 79"/>
                  <p:cNvSpPr>
                    <a:spLocks noChangeShapeType="1"/>
                  </p:cNvSpPr>
                  <p:nvPr/>
                </p:nvSpPr>
                <p:spPr bwMode="auto">
                  <a:xfrm>
                    <a:off x="789" y="1128"/>
                    <a:ext cx="187" cy="43"/>
                  </a:xfrm>
                  <a:prstGeom prst="line">
                    <a:avLst/>
                  </a:prstGeom>
                  <a:noFill/>
                  <a:ln w="3175">
                    <a:solidFill>
                      <a:srgbClr val="676767"/>
                    </a:solidFill>
                    <a:round/>
                    <a:headEnd/>
                    <a:tailEnd/>
                  </a:ln>
                  <a:effectLst/>
                </p:spPr>
                <p:txBody>
                  <a:bodyPr wrap="none" anchor="ctr"/>
                  <a:lstStyle/>
                  <a:p>
                    <a:endParaRPr lang="fr-FR" sz="2400"/>
                  </a:p>
                </p:txBody>
              </p:sp>
              <p:sp>
                <p:nvSpPr>
                  <p:cNvPr id="153680" name="Line 80"/>
                  <p:cNvSpPr>
                    <a:spLocks noChangeShapeType="1"/>
                  </p:cNvSpPr>
                  <p:nvPr/>
                </p:nvSpPr>
                <p:spPr bwMode="auto">
                  <a:xfrm>
                    <a:off x="789" y="1203"/>
                    <a:ext cx="189" cy="43"/>
                  </a:xfrm>
                  <a:prstGeom prst="line">
                    <a:avLst/>
                  </a:prstGeom>
                  <a:noFill/>
                  <a:ln w="3175">
                    <a:solidFill>
                      <a:srgbClr val="676767"/>
                    </a:solidFill>
                    <a:round/>
                    <a:headEnd/>
                    <a:tailEnd/>
                  </a:ln>
                  <a:effectLst/>
                </p:spPr>
                <p:txBody>
                  <a:bodyPr wrap="none" anchor="ctr"/>
                  <a:lstStyle/>
                  <a:p>
                    <a:endParaRPr lang="fr-FR" sz="2400"/>
                  </a:p>
                </p:txBody>
              </p:sp>
              <p:sp>
                <p:nvSpPr>
                  <p:cNvPr id="153681" name="Line 81"/>
                  <p:cNvSpPr>
                    <a:spLocks noChangeShapeType="1"/>
                  </p:cNvSpPr>
                  <p:nvPr/>
                </p:nvSpPr>
                <p:spPr bwMode="auto">
                  <a:xfrm>
                    <a:off x="789" y="1296"/>
                    <a:ext cx="180" cy="43"/>
                  </a:xfrm>
                  <a:prstGeom prst="line">
                    <a:avLst/>
                  </a:prstGeom>
                  <a:noFill/>
                  <a:ln w="3175">
                    <a:solidFill>
                      <a:srgbClr val="676767"/>
                    </a:solidFill>
                    <a:round/>
                    <a:headEnd/>
                    <a:tailEnd/>
                  </a:ln>
                  <a:effectLst/>
                </p:spPr>
                <p:txBody>
                  <a:bodyPr wrap="none" anchor="ctr"/>
                  <a:lstStyle/>
                  <a:p>
                    <a:endParaRPr lang="fr-FR" sz="2400"/>
                  </a:p>
                </p:txBody>
              </p:sp>
              <p:sp>
                <p:nvSpPr>
                  <p:cNvPr id="153682" name="Freeform 82"/>
                  <p:cNvSpPr>
                    <a:spLocks/>
                  </p:cNvSpPr>
                  <p:nvPr/>
                </p:nvSpPr>
                <p:spPr bwMode="auto">
                  <a:xfrm>
                    <a:off x="845" y="1091"/>
                    <a:ext cx="74" cy="40"/>
                  </a:xfrm>
                  <a:custGeom>
                    <a:avLst/>
                    <a:gdLst/>
                    <a:ahLst/>
                    <a:cxnLst>
                      <a:cxn ang="0">
                        <a:pos x="0" y="0"/>
                      </a:cxn>
                      <a:cxn ang="0">
                        <a:pos x="0" y="48"/>
                      </a:cxn>
                      <a:cxn ang="0">
                        <a:pos x="151" y="81"/>
                      </a:cxn>
                      <a:cxn ang="0">
                        <a:pos x="151" y="33"/>
                      </a:cxn>
                      <a:cxn ang="0">
                        <a:pos x="0" y="0"/>
                      </a:cxn>
                    </a:cxnLst>
                    <a:rect l="0" t="0" r="r" b="b"/>
                    <a:pathLst>
                      <a:path w="152" h="82">
                        <a:moveTo>
                          <a:pt x="0" y="0"/>
                        </a:moveTo>
                        <a:lnTo>
                          <a:pt x="0" y="48"/>
                        </a:lnTo>
                        <a:lnTo>
                          <a:pt x="151" y="81"/>
                        </a:lnTo>
                        <a:lnTo>
                          <a:pt x="151" y="33"/>
                        </a:lnTo>
                        <a:lnTo>
                          <a:pt x="0" y="0"/>
                        </a:lnTo>
                      </a:path>
                    </a:pathLst>
                  </a:custGeom>
                  <a:solidFill>
                    <a:srgbClr val="A9A9A9"/>
                  </a:solidFill>
                  <a:ln w="12700" cap="rnd" cmpd="sng">
                    <a:noFill/>
                    <a:prstDash val="solid"/>
                    <a:round/>
                    <a:headEnd type="none" w="med" len="med"/>
                    <a:tailEnd type="none" w="med" len="med"/>
                  </a:ln>
                  <a:effectLst/>
                </p:spPr>
                <p:txBody>
                  <a:bodyPr/>
                  <a:lstStyle/>
                  <a:p>
                    <a:endParaRPr lang="fr-FR" sz="2400"/>
                  </a:p>
                </p:txBody>
              </p:sp>
              <p:sp>
                <p:nvSpPr>
                  <p:cNvPr id="153683" name="Line 83"/>
                  <p:cNvSpPr>
                    <a:spLocks noChangeShapeType="1"/>
                  </p:cNvSpPr>
                  <p:nvPr/>
                </p:nvSpPr>
                <p:spPr bwMode="auto">
                  <a:xfrm>
                    <a:off x="816" y="1097"/>
                    <a:ext cx="138" cy="30"/>
                  </a:xfrm>
                  <a:prstGeom prst="line">
                    <a:avLst/>
                  </a:prstGeom>
                  <a:noFill/>
                  <a:ln w="6350">
                    <a:solidFill>
                      <a:srgbClr val="919191"/>
                    </a:solidFill>
                    <a:round/>
                    <a:headEnd/>
                    <a:tailEnd/>
                  </a:ln>
                  <a:effectLst/>
                </p:spPr>
                <p:txBody>
                  <a:bodyPr wrap="none" anchor="ctr"/>
                  <a:lstStyle/>
                  <a:p>
                    <a:endParaRPr lang="fr-FR" sz="2400"/>
                  </a:p>
                </p:txBody>
              </p:sp>
              <p:sp>
                <p:nvSpPr>
                  <p:cNvPr id="153684" name="Freeform 84"/>
                  <p:cNvSpPr>
                    <a:spLocks/>
                  </p:cNvSpPr>
                  <p:nvPr/>
                </p:nvSpPr>
                <p:spPr bwMode="auto">
                  <a:xfrm>
                    <a:off x="802" y="1234"/>
                    <a:ext cx="167" cy="75"/>
                  </a:xfrm>
                  <a:custGeom>
                    <a:avLst/>
                    <a:gdLst/>
                    <a:ahLst/>
                    <a:cxnLst>
                      <a:cxn ang="0">
                        <a:pos x="0" y="85"/>
                      </a:cxn>
                      <a:cxn ang="0">
                        <a:pos x="0" y="0"/>
                      </a:cxn>
                      <a:cxn ang="0">
                        <a:pos x="350" y="93"/>
                      </a:cxn>
                      <a:cxn ang="0">
                        <a:pos x="350" y="182"/>
                      </a:cxn>
                      <a:cxn ang="0">
                        <a:pos x="0" y="85"/>
                      </a:cxn>
                    </a:cxnLst>
                    <a:rect l="0" t="0" r="r" b="b"/>
                    <a:pathLst>
                      <a:path w="351" h="183">
                        <a:moveTo>
                          <a:pt x="0" y="85"/>
                        </a:moveTo>
                        <a:lnTo>
                          <a:pt x="0" y="0"/>
                        </a:lnTo>
                        <a:lnTo>
                          <a:pt x="350" y="93"/>
                        </a:lnTo>
                        <a:lnTo>
                          <a:pt x="350" y="182"/>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sz="2400"/>
                  </a:p>
                </p:txBody>
              </p:sp>
              <p:sp>
                <p:nvSpPr>
                  <p:cNvPr id="153685" name="Freeform 85"/>
                  <p:cNvSpPr>
                    <a:spLocks/>
                  </p:cNvSpPr>
                  <p:nvPr/>
                </p:nvSpPr>
                <p:spPr bwMode="auto">
                  <a:xfrm>
                    <a:off x="802" y="1327"/>
                    <a:ext cx="167" cy="83"/>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sz="2400"/>
                  </a:p>
                </p:txBody>
              </p:sp>
              <p:sp>
                <p:nvSpPr>
                  <p:cNvPr id="153686" name="Freeform 86"/>
                  <p:cNvSpPr>
                    <a:spLocks/>
                  </p:cNvSpPr>
                  <p:nvPr/>
                </p:nvSpPr>
                <p:spPr bwMode="auto">
                  <a:xfrm>
                    <a:off x="799" y="1150"/>
                    <a:ext cx="170" cy="77"/>
                  </a:xfrm>
                  <a:custGeom>
                    <a:avLst/>
                    <a:gdLst/>
                    <a:ahLst/>
                    <a:cxnLst>
                      <a:cxn ang="0">
                        <a:pos x="0" y="85"/>
                      </a:cxn>
                      <a:cxn ang="0">
                        <a:pos x="0" y="0"/>
                      </a:cxn>
                      <a:cxn ang="0">
                        <a:pos x="350" y="93"/>
                      </a:cxn>
                      <a:cxn ang="0">
                        <a:pos x="350" y="181"/>
                      </a:cxn>
                      <a:cxn ang="0">
                        <a:pos x="0" y="85"/>
                      </a:cxn>
                    </a:cxnLst>
                    <a:rect l="0" t="0" r="r" b="b"/>
                    <a:pathLst>
                      <a:path w="351" h="182">
                        <a:moveTo>
                          <a:pt x="0" y="85"/>
                        </a:moveTo>
                        <a:lnTo>
                          <a:pt x="0" y="0"/>
                        </a:lnTo>
                        <a:lnTo>
                          <a:pt x="350" y="93"/>
                        </a:lnTo>
                        <a:lnTo>
                          <a:pt x="350" y="181"/>
                        </a:lnTo>
                        <a:lnTo>
                          <a:pt x="0" y="85"/>
                        </a:lnTo>
                      </a:path>
                    </a:pathLst>
                  </a:custGeom>
                  <a:solidFill>
                    <a:srgbClr val="B2B2B2"/>
                  </a:solidFill>
                  <a:ln w="3175" cap="rnd" cmpd="sng">
                    <a:solidFill>
                      <a:srgbClr val="676767"/>
                    </a:solidFill>
                    <a:prstDash val="solid"/>
                    <a:round/>
                    <a:headEnd type="none" w="med" len="med"/>
                    <a:tailEnd type="none" w="med" len="med"/>
                  </a:ln>
                  <a:effectLst/>
                </p:spPr>
                <p:txBody>
                  <a:bodyPr/>
                  <a:lstStyle/>
                  <a:p>
                    <a:endParaRPr lang="fr-FR" sz="2400"/>
                  </a:p>
                </p:txBody>
              </p:sp>
              <p:sp>
                <p:nvSpPr>
                  <p:cNvPr id="153687" name="Line 87"/>
                  <p:cNvSpPr>
                    <a:spLocks noChangeShapeType="1"/>
                  </p:cNvSpPr>
                  <p:nvPr/>
                </p:nvSpPr>
                <p:spPr bwMode="auto">
                  <a:xfrm flipH="1" flipV="1">
                    <a:off x="921" y="1197"/>
                    <a:ext cx="33" cy="8"/>
                  </a:xfrm>
                  <a:prstGeom prst="line">
                    <a:avLst/>
                  </a:prstGeom>
                  <a:noFill/>
                  <a:ln w="9525">
                    <a:solidFill>
                      <a:schemeClr val="accent2"/>
                    </a:solidFill>
                    <a:round/>
                    <a:headEnd/>
                    <a:tailEnd/>
                  </a:ln>
                  <a:effectLst/>
                </p:spPr>
                <p:txBody>
                  <a:bodyPr wrap="none" tIns="27432" bIns="27432" anchor="ctr">
                    <a:spAutoFit/>
                  </a:bodyPr>
                  <a:lstStyle/>
                  <a:p>
                    <a:endParaRPr lang="fr-FR" sz="2400"/>
                  </a:p>
                </p:txBody>
              </p:sp>
              <p:sp>
                <p:nvSpPr>
                  <p:cNvPr id="153688" name="Line 88"/>
                  <p:cNvSpPr>
                    <a:spLocks noChangeShapeType="1"/>
                  </p:cNvSpPr>
                  <p:nvPr/>
                </p:nvSpPr>
                <p:spPr bwMode="auto">
                  <a:xfrm flipH="1" flipV="1">
                    <a:off x="921" y="1279"/>
                    <a:ext cx="33" cy="7"/>
                  </a:xfrm>
                  <a:prstGeom prst="line">
                    <a:avLst/>
                  </a:prstGeom>
                  <a:noFill/>
                  <a:ln w="9525">
                    <a:solidFill>
                      <a:schemeClr val="accent2"/>
                    </a:solidFill>
                    <a:round/>
                    <a:headEnd/>
                    <a:tailEnd/>
                  </a:ln>
                  <a:effectLst/>
                </p:spPr>
                <p:txBody>
                  <a:bodyPr wrap="none" tIns="27432" bIns="27432" anchor="ctr">
                    <a:spAutoFit/>
                  </a:bodyPr>
                  <a:lstStyle/>
                  <a:p>
                    <a:endParaRPr lang="fr-FR" sz="2400"/>
                  </a:p>
                </p:txBody>
              </p:sp>
              <p:sp>
                <p:nvSpPr>
                  <p:cNvPr id="153689" name="Line 89"/>
                  <p:cNvSpPr>
                    <a:spLocks noChangeShapeType="1"/>
                  </p:cNvSpPr>
                  <p:nvPr/>
                </p:nvSpPr>
                <p:spPr bwMode="auto">
                  <a:xfrm flipH="1" flipV="1">
                    <a:off x="921" y="1378"/>
                    <a:ext cx="33" cy="8"/>
                  </a:xfrm>
                  <a:prstGeom prst="line">
                    <a:avLst/>
                  </a:prstGeom>
                  <a:noFill/>
                  <a:ln w="9525">
                    <a:solidFill>
                      <a:schemeClr val="accent2"/>
                    </a:solidFill>
                    <a:round/>
                    <a:headEnd/>
                    <a:tailEnd/>
                  </a:ln>
                  <a:effectLst/>
                </p:spPr>
                <p:txBody>
                  <a:bodyPr wrap="none" tIns="27432" bIns="27432" anchor="ctr">
                    <a:spAutoFit/>
                  </a:bodyPr>
                  <a:lstStyle/>
                  <a:p>
                    <a:endParaRPr lang="fr-FR" sz="2400"/>
                  </a:p>
                </p:txBody>
              </p:sp>
            </p:grpSp>
            <p:grpSp>
              <p:nvGrpSpPr>
                <p:cNvPr id="14" name="Group 90"/>
                <p:cNvGrpSpPr>
                  <a:grpSpLocks/>
                </p:cNvGrpSpPr>
                <p:nvPr/>
              </p:nvGrpSpPr>
              <p:grpSpPr bwMode="auto">
                <a:xfrm>
                  <a:off x="1155" y="1196"/>
                  <a:ext cx="711" cy="669"/>
                  <a:chOff x="2676" y="840"/>
                  <a:chExt cx="714" cy="672"/>
                </a:xfrm>
              </p:grpSpPr>
              <p:sp>
                <p:nvSpPr>
                  <p:cNvPr id="153691" name="Freeform 91"/>
                  <p:cNvSpPr>
                    <a:spLocks/>
                  </p:cNvSpPr>
                  <p:nvPr/>
                </p:nvSpPr>
                <p:spPr bwMode="auto">
                  <a:xfrm>
                    <a:off x="2730" y="1277"/>
                    <a:ext cx="556" cy="235"/>
                  </a:xfrm>
                  <a:custGeom>
                    <a:avLst/>
                    <a:gdLst/>
                    <a:ahLst/>
                    <a:cxnLst>
                      <a:cxn ang="0">
                        <a:pos x="0" y="128"/>
                      </a:cxn>
                      <a:cxn ang="0">
                        <a:pos x="238" y="0"/>
                      </a:cxn>
                      <a:cxn ang="0">
                        <a:pos x="556" y="91"/>
                      </a:cxn>
                      <a:cxn ang="0">
                        <a:pos x="556" y="108"/>
                      </a:cxn>
                      <a:cxn ang="0">
                        <a:pos x="334" y="235"/>
                      </a:cxn>
                      <a:cxn ang="0">
                        <a:pos x="0" y="148"/>
                      </a:cxn>
                      <a:cxn ang="0">
                        <a:pos x="0" y="128"/>
                      </a:cxn>
                    </a:cxnLst>
                    <a:rect l="0" t="0" r="r" b="b"/>
                    <a:pathLst>
                      <a:path w="556" h="235">
                        <a:moveTo>
                          <a:pt x="0" y="128"/>
                        </a:moveTo>
                        <a:lnTo>
                          <a:pt x="238" y="0"/>
                        </a:lnTo>
                        <a:lnTo>
                          <a:pt x="556" y="91"/>
                        </a:lnTo>
                        <a:lnTo>
                          <a:pt x="556" y="108"/>
                        </a:lnTo>
                        <a:lnTo>
                          <a:pt x="334" y="235"/>
                        </a:lnTo>
                        <a:lnTo>
                          <a:pt x="0" y="148"/>
                        </a:lnTo>
                        <a:lnTo>
                          <a:pt x="0" y="128"/>
                        </a:lnTo>
                        <a:close/>
                      </a:path>
                    </a:pathLst>
                  </a:custGeom>
                  <a:solidFill>
                    <a:srgbClr val="DDDDDD"/>
                  </a:solidFill>
                  <a:ln w="3175" cap="rnd" cmpd="sng">
                    <a:solidFill>
                      <a:srgbClr val="000000"/>
                    </a:solidFill>
                    <a:prstDash val="solid"/>
                    <a:round/>
                    <a:headEnd type="none" w="med" len="med"/>
                    <a:tailEnd type="none" w="med" len="med"/>
                  </a:ln>
                  <a:effectLst/>
                </p:spPr>
                <p:txBody>
                  <a:bodyPr/>
                  <a:lstStyle/>
                  <a:p>
                    <a:endParaRPr lang="fr-FR" sz="2400"/>
                  </a:p>
                </p:txBody>
              </p:sp>
              <p:sp>
                <p:nvSpPr>
                  <p:cNvPr id="153692" name="Freeform 92"/>
                  <p:cNvSpPr>
                    <a:spLocks/>
                  </p:cNvSpPr>
                  <p:nvPr/>
                </p:nvSpPr>
                <p:spPr bwMode="auto">
                  <a:xfrm>
                    <a:off x="2737" y="1282"/>
                    <a:ext cx="538" cy="208"/>
                  </a:xfrm>
                  <a:custGeom>
                    <a:avLst/>
                    <a:gdLst/>
                    <a:ahLst/>
                    <a:cxnLst>
                      <a:cxn ang="0">
                        <a:pos x="0" y="124"/>
                      </a:cxn>
                      <a:cxn ang="0">
                        <a:pos x="327" y="208"/>
                      </a:cxn>
                      <a:cxn ang="0">
                        <a:pos x="538" y="86"/>
                      </a:cxn>
                      <a:cxn ang="0">
                        <a:pos x="233" y="0"/>
                      </a:cxn>
                      <a:cxn ang="0">
                        <a:pos x="0" y="124"/>
                      </a:cxn>
                    </a:cxnLst>
                    <a:rect l="0" t="0" r="r" b="b"/>
                    <a:pathLst>
                      <a:path w="538" h="208">
                        <a:moveTo>
                          <a:pt x="0" y="124"/>
                        </a:moveTo>
                        <a:lnTo>
                          <a:pt x="327" y="208"/>
                        </a:lnTo>
                        <a:lnTo>
                          <a:pt x="538" y="86"/>
                        </a:lnTo>
                        <a:lnTo>
                          <a:pt x="233" y="0"/>
                        </a:lnTo>
                        <a:lnTo>
                          <a:pt x="0" y="124"/>
                        </a:lnTo>
                        <a:close/>
                      </a:path>
                    </a:pathLst>
                  </a:custGeom>
                  <a:solidFill>
                    <a:srgbClr val="B2B2B2"/>
                  </a:solidFill>
                  <a:ln w="6350" cap="rnd" cmpd="sng">
                    <a:noFill/>
                    <a:prstDash val="solid"/>
                    <a:round/>
                    <a:headEnd type="none" w="med" len="med"/>
                    <a:tailEnd type="none" w="med" len="med"/>
                  </a:ln>
                  <a:effectLst/>
                </p:spPr>
                <p:txBody>
                  <a:bodyPr/>
                  <a:lstStyle/>
                  <a:p>
                    <a:endParaRPr lang="fr-FR" sz="2400"/>
                  </a:p>
                </p:txBody>
              </p:sp>
              <p:sp>
                <p:nvSpPr>
                  <p:cNvPr id="153693" name="Oval 93"/>
                  <p:cNvSpPr>
                    <a:spLocks noChangeArrowheads="1"/>
                  </p:cNvSpPr>
                  <p:nvPr/>
                </p:nvSpPr>
                <p:spPr bwMode="auto">
                  <a:xfrm>
                    <a:off x="2871" y="1333"/>
                    <a:ext cx="280" cy="112"/>
                  </a:xfrm>
                  <a:prstGeom prst="ellipse">
                    <a:avLst/>
                  </a:prstGeom>
                  <a:solidFill>
                    <a:srgbClr val="B2B2B2"/>
                  </a:solidFill>
                  <a:ln w="3175" cap="rnd">
                    <a:solidFill>
                      <a:schemeClr val="tx1"/>
                    </a:solidFill>
                    <a:round/>
                    <a:headEnd/>
                    <a:tailEnd/>
                  </a:ln>
                  <a:effectLst/>
                </p:spPr>
                <p:txBody>
                  <a:bodyPr/>
                  <a:lstStyle/>
                  <a:p>
                    <a:endParaRPr lang="fr-FR" sz="2400"/>
                  </a:p>
                </p:txBody>
              </p:sp>
              <p:sp>
                <p:nvSpPr>
                  <p:cNvPr id="153694" name="Freeform 94"/>
                  <p:cNvSpPr>
                    <a:spLocks/>
                  </p:cNvSpPr>
                  <p:nvPr/>
                </p:nvSpPr>
                <p:spPr bwMode="auto">
                  <a:xfrm>
                    <a:off x="2718" y="1337"/>
                    <a:ext cx="452" cy="126"/>
                  </a:xfrm>
                  <a:custGeom>
                    <a:avLst/>
                    <a:gdLst/>
                    <a:ahLst/>
                    <a:cxnLst>
                      <a:cxn ang="0">
                        <a:pos x="0" y="0"/>
                      </a:cxn>
                      <a:cxn ang="0">
                        <a:pos x="20" y="36"/>
                      </a:cxn>
                      <a:cxn ang="0">
                        <a:pos x="574" y="180"/>
                      </a:cxn>
                      <a:cxn ang="0">
                        <a:pos x="646" y="158"/>
                      </a:cxn>
                    </a:cxnLst>
                    <a:rect l="0" t="0" r="r" b="b"/>
                    <a:pathLst>
                      <a:path w="646" h="180">
                        <a:moveTo>
                          <a:pt x="0" y="0"/>
                        </a:moveTo>
                        <a:lnTo>
                          <a:pt x="20" y="36"/>
                        </a:lnTo>
                        <a:lnTo>
                          <a:pt x="574" y="180"/>
                        </a:lnTo>
                        <a:lnTo>
                          <a:pt x="646" y="158"/>
                        </a:lnTo>
                      </a:path>
                    </a:pathLst>
                  </a:custGeom>
                  <a:solidFill>
                    <a:srgbClr val="B2B2B2"/>
                  </a:solidFill>
                  <a:ln w="3175" cap="rnd" cmpd="sng">
                    <a:solidFill>
                      <a:schemeClr val="tx1"/>
                    </a:solidFill>
                    <a:prstDash val="solid"/>
                    <a:round/>
                    <a:headEnd type="none" w="med" len="med"/>
                    <a:tailEnd type="none" w="med" len="med"/>
                  </a:ln>
                  <a:effectLst/>
                </p:spPr>
                <p:txBody>
                  <a:bodyPr/>
                  <a:lstStyle/>
                  <a:p>
                    <a:endParaRPr lang="fr-FR" sz="2400"/>
                  </a:p>
                </p:txBody>
              </p:sp>
              <p:sp>
                <p:nvSpPr>
                  <p:cNvPr id="153695" name="Freeform 95"/>
                  <p:cNvSpPr>
                    <a:spLocks noChangeAspect="1"/>
                  </p:cNvSpPr>
                  <p:nvPr/>
                </p:nvSpPr>
                <p:spPr bwMode="auto">
                  <a:xfrm>
                    <a:off x="2826" y="840"/>
                    <a:ext cx="564" cy="520"/>
                  </a:xfrm>
                  <a:custGeom>
                    <a:avLst/>
                    <a:gdLst/>
                    <a:ahLst/>
                    <a:cxnLst>
                      <a:cxn ang="0">
                        <a:pos x="620" y="746"/>
                      </a:cxn>
                      <a:cxn ang="0">
                        <a:pos x="808" y="525"/>
                      </a:cxn>
                      <a:cxn ang="0">
                        <a:pos x="808" y="106"/>
                      </a:cxn>
                      <a:cxn ang="0">
                        <a:pos x="336" y="0"/>
                      </a:cxn>
                      <a:cxn ang="0">
                        <a:pos x="0" y="48"/>
                      </a:cxn>
                    </a:cxnLst>
                    <a:rect l="0" t="0" r="r" b="b"/>
                    <a:pathLst>
                      <a:path w="808" h="746">
                        <a:moveTo>
                          <a:pt x="620" y="746"/>
                        </a:moveTo>
                        <a:lnTo>
                          <a:pt x="808" y="525"/>
                        </a:lnTo>
                        <a:lnTo>
                          <a:pt x="808" y="106"/>
                        </a:lnTo>
                        <a:lnTo>
                          <a:pt x="336" y="0"/>
                        </a:lnTo>
                        <a:lnTo>
                          <a:pt x="0" y="48"/>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96" name="Freeform 96"/>
                  <p:cNvSpPr>
                    <a:spLocks noChangeAspect="1"/>
                  </p:cNvSpPr>
                  <p:nvPr/>
                </p:nvSpPr>
                <p:spPr bwMode="auto">
                  <a:xfrm>
                    <a:off x="3178" y="955"/>
                    <a:ext cx="113" cy="506"/>
                  </a:xfrm>
                  <a:custGeom>
                    <a:avLst/>
                    <a:gdLst/>
                    <a:ahLst/>
                    <a:cxnLst>
                      <a:cxn ang="0">
                        <a:pos x="0" y="644"/>
                      </a:cxn>
                      <a:cxn ang="0">
                        <a:pos x="0" y="79"/>
                      </a:cxn>
                      <a:cxn ang="0">
                        <a:pos x="144" y="0"/>
                      </a:cxn>
                      <a:cxn ang="0">
                        <a:pos x="144" y="554"/>
                      </a:cxn>
                      <a:cxn ang="0">
                        <a:pos x="0" y="644"/>
                      </a:cxn>
                    </a:cxnLst>
                    <a:rect l="0" t="0" r="r" b="b"/>
                    <a:pathLst>
                      <a:path w="144" h="644">
                        <a:moveTo>
                          <a:pt x="0" y="644"/>
                        </a:moveTo>
                        <a:lnTo>
                          <a:pt x="0" y="79"/>
                        </a:lnTo>
                        <a:lnTo>
                          <a:pt x="144" y="0"/>
                        </a:lnTo>
                        <a:lnTo>
                          <a:pt x="144" y="554"/>
                        </a:lnTo>
                        <a:lnTo>
                          <a:pt x="0" y="644"/>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97" name="Freeform 97"/>
                  <p:cNvSpPr>
                    <a:spLocks noChangeAspect="1"/>
                  </p:cNvSpPr>
                  <p:nvPr/>
                </p:nvSpPr>
                <p:spPr bwMode="auto">
                  <a:xfrm>
                    <a:off x="2676" y="846"/>
                    <a:ext cx="615" cy="172"/>
                  </a:xfrm>
                  <a:custGeom>
                    <a:avLst/>
                    <a:gdLst/>
                    <a:ahLst/>
                    <a:cxnLst>
                      <a:cxn ang="0">
                        <a:pos x="638" y="219"/>
                      </a:cxn>
                      <a:cxn ang="0">
                        <a:pos x="0" y="67"/>
                      </a:cxn>
                      <a:cxn ang="0">
                        <a:pos x="160" y="0"/>
                      </a:cxn>
                      <a:cxn ang="0">
                        <a:pos x="782" y="139"/>
                      </a:cxn>
                      <a:cxn ang="0">
                        <a:pos x="638" y="219"/>
                      </a:cxn>
                    </a:cxnLst>
                    <a:rect l="0" t="0" r="r" b="b"/>
                    <a:pathLst>
                      <a:path w="782" h="219">
                        <a:moveTo>
                          <a:pt x="638" y="219"/>
                        </a:moveTo>
                        <a:lnTo>
                          <a:pt x="0" y="67"/>
                        </a:lnTo>
                        <a:lnTo>
                          <a:pt x="160" y="0"/>
                        </a:lnTo>
                        <a:lnTo>
                          <a:pt x="782" y="139"/>
                        </a:lnTo>
                        <a:lnTo>
                          <a:pt x="638" y="219"/>
                        </a:lnTo>
                      </a:path>
                    </a:pathLst>
                  </a:custGeom>
                  <a:solidFill>
                    <a:schemeClr val="bg1"/>
                  </a:solidFill>
                  <a:ln w="3175" cap="rnd" cmpd="sng">
                    <a:solidFill>
                      <a:schemeClr val="tx1"/>
                    </a:solidFill>
                    <a:prstDash val="solid"/>
                    <a:round/>
                    <a:headEnd type="none" w="med" len="med"/>
                    <a:tailEnd type="none" w="med" len="med"/>
                  </a:ln>
                  <a:effectLst/>
                </p:spPr>
                <p:txBody>
                  <a:bodyPr/>
                  <a:lstStyle/>
                  <a:p>
                    <a:endParaRPr lang="fr-FR" sz="2400"/>
                  </a:p>
                </p:txBody>
              </p:sp>
              <p:sp>
                <p:nvSpPr>
                  <p:cNvPr id="153698" name="Freeform 98"/>
                  <p:cNvSpPr>
                    <a:spLocks noChangeAspect="1"/>
                  </p:cNvSpPr>
                  <p:nvPr/>
                </p:nvSpPr>
                <p:spPr bwMode="auto">
                  <a:xfrm>
                    <a:off x="2676" y="897"/>
                    <a:ext cx="502" cy="566"/>
                  </a:xfrm>
                  <a:custGeom>
                    <a:avLst/>
                    <a:gdLst/>
                    <a:ahLst/>
                    <a:cxnLst>
                      <a:cxn ang="0">
                        <a:pos x="671" y="753"/>
                      </a:cxn>
                      <a:cxn ang="0">
                        <a:pos x="671" y="160"/>
                      </a:cxn>
                      <a:cxn ang="0">
                        <a:pos x="0" y="0"/>
                      </a:cxn>
                      <a:cxn ang="0">
                        <a:pos x="0" y="578"/>
                      </a:cxn>
                      <a:cxn ang="0">
                        <a:pos x="671" y="753"/>
                      </a:cxn>
                    </a:cxnLst>
                    <a:rect l="0" t="0" r="r" b="b"/>
                    <a:pathLst>
                      <a:path w="672" h="754">
                        <a:moveTo>
                          <a:pt x="671" y="753"/>
                        </a:moveTo>
                        <a:lnTo>
                          <a:pt x="671" y="160"/>
                        </a:lnTo>
                        <a:lnTo>
                          <a:pt x="0" y="0"/>
                        </a:lnTo>
                        <a:lnTo>
                          <a:pt x="0" y="578"/>
                        </a:lnTo>
                        <a:lnTo>
                          <a:pt x="671" y="753"/>
                        </a:lnTo>
                      </a:path>
                    </a:pathLst>
                  </a:custGeom>
                  <a:gradFill rotWithShape="0">
                    <a:gsLst>
                      <a:gs pos="0">
                        <a:srgbClr val="B2B2B2"/>
                      </a:gs>
                      <a:gs pos="100000">
                        <a:srgbClr val="B2B2B2">
                          <a:gamma/>
                          <a:tint val="34118"/>
                          <a:invGamma/>
                        </a:srgbClr>
                      </a:gs>
                    </a:gsLst>
                    <a:path path="rect">
                      <a:fillToRect l="100000" t="100000"/>
                    </a:path>
                  </a:gradFill>
                  <a:ln w="3175" cap="rnd" cmpd="sng">
                    <a:solidFill>
                      <a:schemeClr val="tx1"/>
                    </a:solidFill>
                    <a:prstDash val="solid"/>
                    <a:round/>
                    <a:headEnd type="none" w="med" len="med"/>
                    <a:tailEnd type="none" w="med" len="med"/>
                  </a:ln>
                  <a:effectLst/>
                </p:spPr>
                <p:txBody>
                  <a:bodyPr/>
                  <a:lstStyle/>
                  <a:p>
                    <a:endParaRPr lang="fr-FR" sz="2400"/>
                  </a:p>
                </p:txBody>
              </p:sp>
              <p:sp>
                <p:nvSpPr>
                  <p:cNvPr id="153699" name="Freeform 99"/>
                  <p:cNvSpPr>
                    <a:spLocks noChangeAspect="1"/>
                  </p:cNvSpPr>
                  <p:nvPr/>
                </p:nvSpPr>
                <p:spPr bwMode="auto">
                  <a:xfrm>
                    <a:off x="2715" y="947"/>
                    <a:ext cx="425" cy="464"/>
                  </a:xfrm>
                  <a:custGeom>
                    <a:avLst/>
                    <a:gdLst/>
                    <a:ahLst/>
                    <a:cxnLst>
                      <a:cxn ang="0">
                        <a:pos x="490" y="548"/>
                      </a:cxn>
                      <a:cxn ang="0">
                        <a:pos x="490" y="117"/>
                      </a:cxn>
                      <a:cxn ang="0">
                        <a:pos x="0" y="0"/>
                      </a:cxn>
                      <a:cxn ang="0">
                        <a:pos x="0" y="424"/>
                      </a:cxn>
                      <a:cxn ang="0">
                        <a:pos x="490" y="548"/>
                      </a:cxn>
                    </a:cxnLst>
                    <a:rect l="0" t="0" r="r" b="b"/>
                    <a:pathLst>
                      <a:path w="491" h="549">
                        <a:moveTo>
                          <a:pt x="490" y="548"/>
                        </a:moveTo>
                        <a:lnTo>
                          <a:pt x="490" y="117"/>
                        </a:lnTo>
                        <a:lnTo>
                          <a:pt x="0" y="0"/>
                        </a:lnTo>
                        <a:lnTo>
                          <a:pt x="0" y="424"/>
                        </a:lnTo>
                        <a:lnTo>
                          <a:pt x="490" y="548"/>
                        </a:lnTo>
                      </a:path>
                    </a:pathLst>
                  </a:custGeom>
                  <a:solidFill>
                    <a:srgbClr val="CECECE"/>
                  </a:solidFill>
                  <a:ln w="6350" cap="rnd" cmpd="sng">
                    <a:solidFill>
                      <a:srgbClr val="808080"/>
                    </a:solidFill>
                    <a:prstDash val="solid"/>
                    <a:round/>
                    <a:headEnd type="none" w="med" len="med"/>
                    <a:tailEnd type="none" w="med" len="med"/>
                  </a:ln>
                  <a:effectLst/>
                </p:spPr>
                <p:txBody>
                  <a:bodyPr/>
                  <a:lstStyle/>
                  <a:p>
                    <a:endParaRPr lang="fr-FR" sz="2400"/>
                  </a:p>
                </p:txBody>
              </p:sp>
              <p:sp>
                <p:nvSpPr>
                  <p:cNvPr id="153700" name="Freeform 100"/>
                  <p:cNvSpPr>
                    <a:spLocks/>
                  </p:cNvSpPr>
                  <p:nvPr/>
                </p:nvSpPr>
                <p:spPr bwMode="auto">
                  <a:xfrm>
                    <a:off x="2741" y="978"/>
                    <a:ext cx="372" cy="400"/>
                  </a:xfrm>
                  <a:custGeom>
                    <a:avLst/>
                    <a:gdLst/>
                    <a:ahLst/>
                    <a:cxnLst>
                      <a:cxn ang="0">
                        <a:pos x="0" y="0"/>
                      </a:cxn>
                      <a:cxn ang="0">
                        <a:pos x="0" y="454"/>
                      </a:cxn>
                      <a:cxn ang="0">
                        <a:pos x="542" y="592"/>
                      </a:cxn>
                      <a:cxn ang="0">
                        <a:pos x="542" y="130"/>
                      </a:cxn>
                      <a:cxn ang="0">
                        <a:pos x="0" y="0"/>
                      </a:cxn>
                    </a:cxnLst>
                    <a:rect l="0" t="0" r="r" b="b"/>
                    <a:pathLst>
                      <a:path w="542" h="592">
                        <a:moveTo>
                          <a:pt x="0" y="0"/>
                        </a:moveTo>
                        <a:lnTo>
                          <a:pt x="0" y="454"/>
                        </a:lnTo>
                        <a:lnTo>
                          <a:pt x="542" y="592"/>
                        </a:lnTo>
                        <a:lnTo>
                          <a:pt x="542" y="130"/>
                        </a:lnTo>
                        <a:lnTo>
                          <a:pt x="0" y="0"/>
                        </a:lnTo>
                        <a:close/>
                      </a:path>
                    </a:pathLst>
                  </a:custGeom>
                  <a:gradFill rotWithShape="0">
                    <a:gsLst>
                      <a:gs pos="0">
                        <a:srgbClr val="618FFD"/>
                      </a:gs>
                      <a:gs pos="100000">
                        <a:srgbClr val="618FFD">
                          <a:gamma/>
                          <a:shade val="75294"/>
                          <a:invGamma/>
                        </a:srgbClr>
                      </a:gs>
                    </a:gsLst>
                    <a:path path="rect">
                      <a:fillToRect r="100000" b="100000"/>
                    </a:path>
                  </a:gradFill>
                  <a:ln w="6350" cap="flat" cmpd="sng">
                    <a:solidFill>
                      <a:srgbClr val="777777"/>
                    </a:solidFill>
                    <a:prstDash val="solid"/>
                    <a:round/>
                    <a:headEnd type="none" w="med" len="med"/>
                    <a:tailEnd type="none" w="med" len="med"/>
                  </a:ln>
                  <a:effectLst>
                    <a:outerShdw dist="17961" dir="2700000" algn="ctr" rotWithShape="0">
                      <a:schemeClr val="bg1"/>
                    </a:outerShdw>
                  </a:effectLst>
                </p:spPr>
                <p:txBody>
                  <a:bodyPr wrap="none" anchor="ctr"/>
                  <a:lstStyle/>
                  <a:p>
                    <a:endParaRPr lang="fr-FR" sz="2400"/>
                  </a:p>
                </p:txBody>
              </p:sp>
              <p:sp>
                <p:nvSpPr>
                  <p:cNvPr id="153701" name="Line 101"/>
                  <p:cNvSpPr>
                    <a:spLocks noChangeShapeType="1"/>
                  </p:cNvSpPr>
                  <p:nvPr/>
                </p:nvSpPr>
                <p:spPr bwMode="auto">
                  <a:xfrm>
                    <a:off x="2774" y="1011"/>
                    <a:ext cx="0" cy="61"/>
                  </a:xfrm>
                  <a:prstGeom prst="line">
                    <a:avLst/>
                  </a:prstGeom>
                  <a:noFill/>
                  <a:ln w="25400">
                    <a:solidFill>
                      <a:schemeClr val="bg1"/>
                    </a:solidFill>
                    <a:round/>
                    <a:headEnd/>
                    <a:tailEnd/>
                  </a:ln>
                  <a:effectLst/>
                </p:spPr>
                <p:txBody>
                  <a:bodyPr wrap="none" anchor="ctr"/>
                  <a:lstStyle/>
                  <a:p>
                    <a:endParaRPr lang="fr-FR" sz="2400"/>
                  </a:p>
                </p:txBody>
              </p:sp>
            </p:grpSp>
            <p:grpSp>
              <p:nvGrpSpPr>
                <p:cNvPr id="15" name="Group 102"/>
                <p:cNvGrpSpPr>
                  <a:grpSpLocks/>
                </p:cNvGrpSpPr>
                <p:nvPr/>
              </p:nvGrpSpPr>
              <p:grpSpPr bwMode="auto">
                <a:xfrm>
                  <a:off x="658" y="1658"/>
                  <a:ext cx="635" cy="347"/>
                  <a:chOff x="1585" y="1673"/>
                  <a:chExt cx="638" cy="348"/>
                </a:xfrm>
              </p:grpSpPr>
              <p:sp>
                <p:nvSpPr>
                  <p:cNvPr id="153703" name="Freeform 103"/>
                  <p:cNvSpPr>
                    <a:spLocks/>
                  </p:cNvSpPr>
                  <p:nvPr/>
                </p:nvSpPr>
                <p:spPr bwMode="auto">
                  <a:xfrm>
                    <a:off x="1585" y="1673"/>
                    <a:ext cx="124" cy="343"/>
                  </a:xfrm>
                  <a:custGeom>
                    <a:avLst/>
                    <a:gdLst/>
                    <a:ahLst/>
                    <a:cxnLst>
                      <a:cxn ang="0">
                        <a:pos x="872" y="178"/>
                      </a:cxn>
                      <a:cxn ang="0">
                        <a:pos x="872" y="246"/>
                      </a:cxn>
                      <a:cxn ang="0">
                        <a:pos x="682" y="366"/>
                      </a:cxn>
                      <a:cxn ang="0">
                        <a:pos x="0" y="170"/>
                      </a:cxn>
                      <a:cxn ang="0">
                        <a:pos x="0" y="142"/>
                      </a:cxn>
                      <a:cxn ang="0">
                        <a:pos x="230" y="0"/>
                      </a:cxn>
                      <a:cxn ang="0">
                        <a:pos x="872" y="178"/>
                      </a:cxn>
                    </a:cxnLst>
                    <a:rect l="0" t="0" r="r" b="b"/>
                    <a:pathLst>
                      <a:path w="872" h="366">
                        <a:moveTo>
                          <a:pt x="872" y="178"/>
                        </a:moveTo>
                        <a:lnTo>
                          <a:pt x="872" y="246"/>
                        </a:lnTo>
                        <a:lnTo>
                          <a:pt x="682" y="366"/>
                        </a:lnTo>
                        <a:lnTo>
                          <a:pt x="0" y="170"/>
                        </a:lnTo>
                        <a:lnTo>
                          <a:pt x="0" y="142"/>
                        </a:lnTo>
                        <a:lnTo>
                          <a:pt x="230" y="0"/>
                        </a:lnTo>
                        <a:lnTo>
                          <a:pt x="872" y="178"/>
                        </a:lnTo>
                        <a:close/>
                      </a:path>
                    </a:pathLst>
                  </a:custGeom>
                  <a:gradFill rotWithShape="0">
                    <a:gsLst>
                      <a:gs pos="0">
                        <a:srgbClr val="B2B2B2"/>
                      </a:gs>
                      <a:gs pos="100000">
                        <a:srgbClr val="B2B2B2">
                          <a:gamma/>
                          <a:tint val="34118"/>
                          <a:invGamma/>
                        </a:srgbClr>
                      </a:gs>
                    </a:gsLst>
                    <a:path path="rect">
                      <a:fillToRect l="100000" t="100000"/>
                    </a:path>
                  </a:gradFill>
                  <a:ln w="3175" cap="flat" cmpd="sng">
                    <a:solidFill>
                      <a:schemeClr val="tx1"/>
                    </a:solidFill>
                    <a:prstDash val="solid"/>
                    <a:round/>
                    <a:headEnd type="none" w="med" len="med"/>
                    <a:tailEnd type="none" w="med" len="med"/>
                  </a:ln>
                  <a:effectLst/>
                </p:spPr>
                <p:txBody>
                  <a:bodyPr wrap="none" tIns="27432" bIns="27432" anchor="ctr">
                    <a:spAutoFit/>
                  </a:bodyPr>
                  <a:lstStyle/>
                  <a:p>
                    <a:endParaRPr lang="fr-FR" sz="2400"/>
                  </a:p>
                </p:txBody>
              </p:sp>
              <p:sp>
                <p:nvSpPr>
                  <p:cNvPr id="153704" name="Freeform 104"/>
                  <p:cNvSpPr>
                    <a:spLocks/>
                  </p:cNvSpPr>
                  <p:nvPr/>
                </p:nvSpPr>
                <p:spPr bwMode="auto">
                  <a:xfrm>
                    <a:off x="1596" y="1678"/>
                    <a:ext cx="124" cy="343"/>
                  </a:xfrm>
                  <a:custGeom>
                    <a:avLst/>
                    <a:gdLst/>
                    <a:ahLst/>
                    <a:cxnLst>
                      <a:cxn ang="0">
                        <a:pos x="848" y="174"/>
                      </a:cxn>
                      <a:cxn ang="0">
                        <a:pos x="216" y="0"/>
                      </a:cxn>
                      <a:cxn ang="0">
                        <a:pos x="0" y="134"/>
                      </a:cxn>
                      <a:cxn ang="0">
                        <a:pos x="666" y="324"/>
                      </a:cxn>
                      <a:cxn ang="0">
                        <a:pos x="848" y="174"/>
                      </a:cxn>
                    </a:cxnLst>
                    <a:rect l="0" t="0" r="r" b="b"/>
                    <a:pathLst>
                      <a:path w="848" h="324">
                        <a:moveTo>
                          <a:pt x="848" y="174"/>
                        </a:moveTo>
                        <a:lnTo>
                          <a:pt x="216" y="0"/>
                        </a:lnTo>
                        <a:lnTo>
                          <a:pt x="0" y="134"/>
                        </a:lnTo>
                        <a:lnTo>
                          <a:pt x="666" y="324"/>
                        </a:lnTo>
                        <a:lnTo>
                          <a:pt x="848" y="174"/>
                        </a:lnTo>
                        <a:close/>
                      </a:path>
                    </a:pathLst>
                  </a:custGeom>
                  <a:solidFill>
                    <a:schemeClr val="bg1"/>
                  </a:solidFill>
                  <a:ln w="3175" cap="flat" cmpd="sng">
                    <a:noFill/>
                    <a:prstDash val="solid"/>
                    <a:round/>
                    <a:headEnd type="none" w="med" len="med"/>
                    <a:tailEnd type="none" w="med" len="med"/>
                  </a:ln>
                  <a:effectLst/>
                </p:spPr>
                <p:txBody>
                  <a:bodyPr wrap="none" tIns="27432" bIns="27432" anchor="ctr">
                    <a:spAutoFit/>
                  </a:bodyPr>
                  <a:lstStyle/>
                  <a:p>
                    <a:endParaRPr lang="fr-FR" sz="2400"/>
                  </a:p>
                </p:txBody>
              </p:sp>
              <p:sp>
                <p:nvSpPr>
                  <p:cNvPr id="153705" name="Freeform 105"/>
                  <p:cNvSpPr>
                    <a:spLocks/>
                  </p:cNvSpPr>
                  <p:nvPr/>
                </p:nvSpPr>
                <p:spPr bwMode="auto">
                  <a:xfrm>
                    <a:off x="1766" y="1694"/>
                    <a:ext cx="388" cy="112"/>
                  </a:xfrm>
                  <a:custGeom>
                    <a:avLst/>
                    <a:gdLst/>
                    <a:ahLst/>
                    <a:cxnLst>
                      <a:cxn ang="0">
                        <a:pos x="0" y="12"/>
                      </a:cxn>
                      <a:cxn ang="0">
                        <a:pos x="456" y="138"/>
                      </a:cxn>
                      <a:cxn ang="0">
                        <a:pos x="477" y="125"/>
                      </a:cxn>
                      <a:cxn ang="0">
                        <a:pos x="20" y="0"/>
                      </a:cxn>
                    </a:cxnLst>
                    <a:rect l="0" t="0" r="r" b="b"/>
                    <a:pathLst>
                      <a:path w="477" h="138">
                        <a:moveTo>
                          <a:pt x="0" y="12"/>
                        </a:moveTo>
                        <a:lnTo>
                          <a:pt x="456" y="138"/>
                        </a:lnTo>
                        <a:lnTo>
                          <a:pt x="477" y="125"/>
                        </a:lnTo>
                        <a:lnTo>
                          <a:pt x="20" y="0"/>
                        </a:lnTo>
                      </a:path>
                    </a:pathLst>
                  </a:custGeom>
                  <a:solidFill>
                    <a:srgbClr val="B2B2B2"/>
                  </a:solidFill>
                  <a:ln w="12700" cap="rnd" cmpd="sng">
                    <a:noFill/>
                    <a:prstDash val="solid"/>
                    <a:round/>
                    <a:headEnd type="none" w="med" len="med"/>
                    <a:tailEnd type="none" w="med" len="med"/>
                  </a:ln>
                  <a:effectLst/>
                </p:spPr>
                <p:txBody>
                  <a:bodyPr/>
                  <a:lstStyle/>
                  <a:p>
                    <a:endParaRPr lang="fr-FR" sz="2400"/>
                  </a:p>
                </p:txBody>
              </p:sp>
              <p:sp>
                <p:nvSpPr>
                  <p:cNvPr id="153706" name="Freeform 106"/>
                  <p:cNvSpPr>
                    <a:spLocks/>
                  </p:cNvSpPr>
                  <p:nvPr/>
                </p:nvSpPr>
                <p:spPr bwMode="auto">
                  <a:xfrm>
                    <a:off x="1654" y="1717"/>
                    <a:ext cx="404" cy="143"/>
                  </a:xfrm>
                  <a:custGeom>
                    <a:avLst/>
                    <a:gdLst/>
                    <a:ahLst/>
                    <a:cxnLst>
                      <a:cxn ang="0">
                        <a:pos x="0" y="66"/>
                      </a:cxn>
                      <a:cxn ang="0">
                        <a:pos x="21" y="73"/>
                      </a:cxn>
                      <a:cxn ang="0">
                        <a:pos x="45" y="61"/>
                      </a:cxn>
                      <a:cxn ang="0">
                        <a:pos x="60" y="66"/>
                      </a:cxn>
                      <a:cxn ang="0">
                        <a:pos x="45" y="80"/>
                      </a:cxn>
                      <a:cxn ang="0">
                        <a:pos x="344" y="163"/>
                      </a:cxn>
                      <a:cxn ang="0">
                        <a:pos x="360" y="151"/>
                      </a:cxn>
                      <a:cxn ang="0">
                        <a:pos x="386" y="158"/>
                      </a:cxn>
                      <a:cxn ang="0">
                        <a:pos x="370" y="170"/>
                      </a:cxn>
                      <a:cxn ang="0">
                        <a:pos x="396" y="177"/>
                      </a:cxn>
                      <a:cxn ang="0">
                        <a:pos x="496" y="106"/>
                      </a:cxn>
                      <a:cxn ang="0">
                        <a:pos x="111" y="0"/>
                      </a:cxn>
                    </a:cxnLst>
                    <a:rect l="0" t="0" r="r" b="b"/>
                    <a:pathLst>
                      <a:path w="496" h="177">
                        <a:moveTo>
                          <a:pt x="0" y="66"/>
                        </a:moveTo>
                        <a:lnTo>
                          <a:pt x="21" y="73"/>
                        </a:lnTo>
                        <a:lnTo>
                          <a:pt x="45" y="61"/>
                        </a:lnTo>
                        <a:lnTo>
                          <a:pt x="60" y="66"/>
                        </a:lnTo>
                        <a:lnTo>
                          <a:pt x="45" y="80"/>
                        </a:lnTo>
                        <a:lnTo>
                          <a:pt x="344" y="163"/>
                        </a:lnTo>
                        <a:lnTo>
                          <a:pt x="360" y="151"/>
                        </a:lnTo>
                        <a:lnTo>
                          <a:pt x="386" y="158"/>
                        </a:lnTo>
                        <a:lnTo>
                          <a:pt x="370" y="170"/>
                        </a:lnTo>
                        <a:lnTo>
                          <a:pt x="396" y="177"/>
                        </a:lnTo>
                        <a:lnTo>
                          <a:pt x="496" y="106"/>
                        </a:lnTo>
                        <a:lnTo>
                          <a:pt x="111" y="0"/>
                        </a:lnTo>
                      </a:path>
                    </a:pathLst>
                  </a:custGeom>
                  <a:solidFill>
                    <a:srgbClr val="B2B2B2"/>
                  </a:solidFill>
                  <a:ln w="12700" cap="rnd" cmpd="sng">
                    <a:noFill/>
                    <a:prstDash val="solid"/>
                    <a:round/>
                    <a:headEnd type="none" w="med" len="med"/>
                    <a:tailEnd type="none" w="med" len="med"/>
                  </a:ln>
                  <a:effectLst/>
                </p:spPr>
                <p:txBody>
                  <a:bodyPr/>
                  <a:lstStyle/>
                  <a:p>
                    <a:endParaRPr lang="fr-FR" sz="2400"/>
                  </a:p>
                </p:txBody>
              </p:sp>
              <p:sp>
                <p:nvSpPr>
                  <p:cNvPr id="153707" name="Freeform 107"/>
                  <p:cNvSpPr>
                    <a:spLocks/>
                  </p:cNvSpPr>
                  <p:nvPr/>
                </p:nvSpPr>
                <p:spPr bwMode="auto">
                  <a:xfrm>
                    <a:off x="2044" y="1810"/>
                    <a:ext cx="88" cy="35"/>
                  </a:xfrm>
                  <a:custGeom>
                    <a:avLst/>
                    <a:gdLst/>
                    <a:ahLst/>
                    <a:cxnLst>
                      <a:cxn ang="0">
                        <a:pos x="40" y="0"/>
                      </a:cxn>
                      <a:cxn ang="0">
                        <a:pos x="107" y="17"/>
                      </a:cxn>
                      <a:cxn ang="0">
                        <a:pos x="69" y="43"/>
                      </a:cxn>
                      <a:cxn ang="0">
                        <a:pos x="0" y="25"/>
                      </a:cxn>
                      <a:cxn ang="0">
                        <a:pos x="40" y="0"/>
                      </a:cxn>
                    </a:cxnLst>
                    <a:rect l="0" t="0" r="r" b="b"/>
                    <a:pathLst>
                      <a:path w="108" h="44">
                        <a:moveTo>
                          <a:pt x="40" y="0"/>
                        </a:moveTo>
                        <a:lnTo>
                          <a:pt x="107" y="17"/>
                        </a:lnTo>
                        <a:lnTo>
                          <a:pt x="69" y="43"/>
                        </a:lnTo>
                        <a:lnTo>
                          <a:pt x="0" y="25"/>
                        </a:lnTo>
                        <a:lnTo>
                          <a:pt x="40" y="0"/>
                        </a:lnTo>
                      </a:path>
                    </a:pathLst>
                  </a:custGeom>
                  <a:solidFill>
                    <a:srgbClr val="B2B2B2"/>
                  </a:solidFill>
                  <a:ln w="12700" cap="rnd" cmpd="sng">
                    <a:noFill/>
                    <a:prstDash val="solid"/>
                    <a:round/>
                    <a:headEnd type="none" w="med" len="med"/>
                    <a:tailEnd type="none" w="med" len="med"/>
                  </a:ln>
                  <a:effectLst/>
                </p:spPr>
                <p:txBody>
                  <a:bodyPr/>
                  <a:lstStyle/>
                  <a:p>
                    <a:endParaRPr lang="fr-FR" sz="2400"/>
                  </a:p>
                </p:txBody>
              </p:sp>
              <p:sp>
                <p:nvSpPr>
                  <p:cNvPr id="153708" name="Freeform 108"/>
                  <p:cNvSpPr>
                    <a:spLocks/>
                  </p:cNvSpPr>
                  <p:nvPr/>
                </p:nvSpPr>
                <p:spPr bwMode="auto">
                  <a:xfrm>
                    <a:off x="1994" y="1848"/>
                    <a:ext cx="79" cy="34"/>
                  </a:xfrm>
                  <a:custGeom>
                    <a:avLst/>
                    <a:gdLst/>
                    <a:ahLst/>
                    <a:cxnLst>
                      <a:cxn ang="0">
                        <a:pos x="21" y="7"/>
                      </a:cxn>
                      <a:cxn ang="0">
                        <a:pos x="46" y="11"/>
                      </a:cxn>
                      <a:cxn ang="0">
                        <a:pos x="60" y="0"/>
                      </a:cxn>
                      <a:cxn ang="0">
                        <a:pos x="84" y="8"/>
                      </a:cxn>
                      <a:cxn ang="0">
                        <a:pos x="72" y="19"/>
                      </a:cxn>
                      <a:cxn ang="0">
                        <a:pos x="96" y="25"/>
                      </a:cxn>
                      <a:cxn ang="0">
                        <a:pos x="77" y="41"/>
                      </a:cxn>
                      <a:cxn ang="0">
                        <a:pos x="0" y="21"/>
                      </a:cxn>
                      <a:cxn ang="0">
                        <a:pos x="21" y="7"/>
                      </a:cxn>
                    </a:cxnLst>
                    <a:rect l="0" t="0" r="r" b="b"/>
                    <a:pathLst>
                      <a:path w="97" h="42">
                        <a:moveTo>
                          <a:pt x="21" y="7"/>
                        </a:moveTo>
                        <a:lnTo>
                          <a:pt x="46" y="11"/>
                        </a:lnTo>
                        <a:lnTo>
                          <a:pt x="60" y="0"/>
                        </a:lnTo>
                        <a:lnTo>
                          <a:pt x="84" y="8"/>
                        </a:lnTo>
                        <a:lnTo>
                          <a:pt x="72" y="19"/>
                        </a:lnTo>
                        <a:lnTo>
                          <a:pt x="96" y="25"/>
                        </a:lnTo>
                        <a:lnTo>
                          <a:pt x="77" y="41"/>
                        </a:lnTo>
                        <a:lnTo>
                          <a:pt x="0" y="21"/>
                        </a:lnTo>
                        <a:lnTo>
                          <a:pt x="21" y="7"/>
                        </a:lnTo>
                      </a:path>
                    </a:pathLst>
                  </a:custGeom>
                  <a:solidFill>
                    <a:srgbClr val="B2B2B2"/>
                  </a:solidFill>
                  <a:ln w="12700" cap="rnd" cmpd="sng">
                    <a:noFill/>
                    <a:prstDash val="solid"/>
                    <a:round/>
                    <a:headEnd type="none" w="med" len="med"/>
                    <a:tailEnd type="none" w="med" len="med"/>
                  </a:ln>
                  <a:effectLst/>
                </p:spPr>
                <p:txBody>
                  <a:bodyPr/>
                  <a:lstStyle/>
                  <a:p>
                    <a:endParaRPr lang="fr-FR" sz="2400"/>
                  </a:p>
                </p:txBody>
              </p:sp>
              <p:sp>
                <p:nvSpPr>
                  <p:cNvPr id="153709" name="Freeform 109"/>
                  <p:cNvSpPr>
                    <a:spLocks/>
                  </p:cNvSpPr>
                  <p:nvPr/>
                </p:nvSpPr>
                <p:spPr bwMode="auto">
                  <a:xfrm>
                    <a:off x="2073" y="1825"/>
                    <a:ext cx="150" cy="80"/>
                  </a:xfrm>
                  <a:custGeom>
                    <a:avLst/>
                    <a:gdLst/>
                    <a:ahLst/>
                    <a:cxnLst>
                      <a:cxn ang="0">
                        <a:pos x="101" y="0"/>
                      </a:cxn>
                      <a:cxn ang="0">
                        <a:pos x="185" y="22"/>
                      </a:cxn>
                      <a:cxn ang="0">
                        <a:pos x="83" y="97"/>
                      </a:cxn>
                      <a:cxn ang="0">
                        <a:pos x="0" y="74"/>
                      </a:cxn>
                      <a:cxn ang="0">
                        <a:pos x="101" y="0"/>
                      </a:cxn>
                    </a:cxnLst>
                    <a:rect l="0" t="0" r="r" b="b"/>
                    <a:pathLst>
                      <a:path w="185" h="97">
                        <a:moveTo>
                          <a:pt x="101" y="0"/>
                        </a:moveTo>
                        <a:lnTo>
                          <a:pt x="185" y="22"/>
                        </a:lnTo>
                        <a:lnTo>
                          <a:pt x="83" y="97"/>
                        </a:lnTo>
                        <a:lnTo>
                          <a:pt x="0" y="74"/>
                        </a:lnTo>
                        <a:lnTo>
                          <a:pt x="101" y="0"/>
                        </a:lnTo>
                      </a:path>
                    </a:pathLst>
                  </a:custGeom>
                  <a:solidFill>
                    <a:srgbClr val="B2B2B2"/>
                  </a:solidFill>
                  <a:ln w="12700" cap="rnd" cmpd="sng">
                    <a:noFill/>
                    <a:prstDash val="solid"/>
                    <a:round/>
                    <a:headEnd type="none" w="med" len="med"/>
                    <a:tailEnd type="none" w="med" len="med"/>
                  </a:ln>
                  <a:effectLst/>
                </p:spPr>
                <p:txBody>
                  <a:bodyPr/>
                  <a:lstStyle/>
                  <a:p>
                    <a:endParaRPr lang="fr-FR" sz="2400"/>
                  </a:p>
                </p:txBody>
              </p:sp>
            </p:grpSp>
          </p:grpSp>
          <p:grpSp>
            <p:nvGrpSpPr>
              <p:cNvPr id="16" name="Group 110"/>
              <p:cNvGrpSpPr>
                <a:grpSpLocks/>
              </p:cNvGrpSpPr>
              <p:nvPr/>
            </p:nvGrpSpPr>
            <p:grpSpPr bwMode="auto">
              <a:xfrm>
                <a:off x="717" y="2768"/>
                <a:ext cx="636" cy="983"/>
                <a:chOff x="445" y="1245"/>
                <a:chExt cx="737" cy="1138"/>
              </a:xfrm>
            </p:grpSpPr>
            <p:sp>
              <p:nvSpPr>
                <p:cNvPr id="153711" name="Freeform 111"/>
                <p:cNvSpPr>
                  <a:spLocks/>
                </p:cNvSpPr>
                <p:nvPr/>
              </p:nvSpPr>
              <p:spPr bwMode="auto">
                <a:xfrm>
                  <a:off x="946" y="2051"/>
                  <a:ext cx="236" cy="263"/>
                </a:xfrm>
                <a:custGeom>
                  <a:avLst/>
                  <a:gdLst/>
                  <a:ahLst/>
                  <a:cxnLst>
                    <a:cxn ang="0">
                      <a:pos x="359" y="678"/>
                    </a:cxn>
                    <a:cxn ang="0">
                      <a:pos x="415" y="612"/>
                    </a:cxn>
                    <a:cxn ang="0">
                      <a:pos x="484" y="530"/>
                    </a:cxn>
                    <a:cxn ang="0">
                      <a:pos x="515" y="486"/>
                    </a:cxn>
                    <a:cxn ang="0">
                      <a:pos x="542" y="441"/>
                    </a:cxn>
                    <a:cxn ang="0">
                      <a:pos x="559" y="399"/>
                    </a:cxn>
                    <a:cxn ang="0">
                      <a:pos x="567" y="359"/>
                    </a:cxn>
                    <a:cxn ang="0">
                      <a:pos x="576" y="344"/>
                    </a:cxn>
                    <a:cxn ang="0">
                      <a:pos x="586" y="322"/>
                    </a:cxn>
                    <a:cxn ang="0">
                      <a:pos x="593" y="299"/>
                    </a:cxn>
                    <a:cxn ang="0">
                      <a:pos x="597" y="278"/>
                    </a:cxn>
                    <a:cxn ang="0">
                      <a:pos x="607" y="273"/>
                    </a:cxn>
                    <a:cxn ang="0">
                      <a:pos x="618" y="263"/>
                    </a:cxn>
                    <a:cxn ang="0">
                      <a:pos x="630" y="251"/>
                    </a:cxn>
                    <a:cxn ang="0">
                      <a:pos x="639" y="240"/>
                    </a:cxn>
                    <a:cxn ang="0">
                      <a:pos x="636" y="223"/>
                    </a:cxn>
                    <a:cxn ang="0">
                      <a:pos x="628" y="205"/>
                    </a:cxn>
                    <a:cxn ang="0">
                      <a:pos x="618" y="190"/>
                    </a:cxn>
                    <a:cxn ang="0">
                      <a:pos x="609" y="177"/>
                    </a:cxn>
                    <a:cxn ang="0">
                      <a:pos x="586" y="182"/>
                    </a:cxn>
                    <a:cxn ang="0">
                      <a:pos x="563" y="196"/>
                    </a:cxn>
                    <a:cxn ang="0">
                      <a:pos x="540" y="209"/>
                    </a:cxn>
                    <a:cxn ang="0">
                      <a:pos x="517" y="215"/>
                    </a:cxn>
                    <a:cxn ang="0">
                      <a:pos x="532" y="190"/>
                    </a:cxn>
                    <a:cxn ang="0">
                      <a:pos x="542" y="157"/>
                    </a:cxn>
                    <a:cxn ang="0">
                      <a:pos x="547" y="125"/>
                    </a:cxn>
                    <a:cxn ang="0">
                      <a:pos x="547" y="88"/>
                    </a:cxn>
                    <a:cxn ang="0">
                      <a:pos x="451" y="56"/>
                    </a:cxn>
                    <a:cxn ang="0">
                      <a:pos x="436" y="38"/>
                    </a:cxn>
                    <a:cxn ang="0">
                      <a:pos x="417" y="19"/>
                    </a:cxn>
                    <a:cxn ang="0">
                      <a:pos x="398" y="6"/>
                    </a:cxn>
                    <a:cxn ang="0">
                      <a:pos x="376" y="0"/>
                    </a:cxn>
                    <a:cxn ang="0">
                      <a:pos x="365" y="6"/>
                    </a:cxn>
                    <a:cxn ang="0">
                      <a:pos x="355" y="15"/>
                    </a:cxn>
                    <a:cxn ang="0">
                      <a:pos x="342" y="42"/>
                    </a:cxn>
                    <a:cxn ang="0">
                      <a:pos x="329" y="69"/>
                    </a:cxn>
                    <a:cxn ang="0">
                      <a:pos x="311" y="88"/>
                    </a:cxn>
                    <a:cxn ang="0">
                      <a:pos x="282" y="92"/>
                    </a:cxn>
                    <a:cxn ang="0">
                      <a:pos x="254" y="86"/>
                    </a:cxn>
                    <a:cxn ang="0">
                      <a:pos x="225" y="81"/>
                    </a:cxn>
                    <a:cxn ang="0">
                      <a:pos x="200" y="81"/>
                    </a:cxn>
                    <a:cxn ang="0">
                      <a:pos x="181" y="90"/>
                    </a:cxn>
                    <a:cxn ang="0">
                      <a:pos x="163" y="111"/>
                    </a:cxn>
                    <a:cxn ang="0">
                      <a:pos x="148" y="140"/>
                    </a:cxn>
                    <a:cxn ang="0">
                      <a:pos x="135" y="175"/>
                    </a:cxn>
                    <a:cxn ang="0">
                      <a:pos x="114" y="246"/>
                    </a:cxn>
                    <a:cxn ang="0">
                      <a:pos x="98" y="303"/>
                    </a:cxn>
                    <a:cxn ang="0">
                      <a:pos x="92" y="301"/>
                    </a:cxn>
                    <a:cxn ang="0">
                      <a:pos x="89" y="296"/>
                    </a:cxn>
                    <a:cxn ang="0">
                      <a:pos x="83" y="290"/>
                    </a:cxn>
                    <a:cxn ang="0">
                      <a:pos x="79" y="288"/>
                    </a:cxn>
                    <a:cxn ang="0">
                      <a:pos x="64" y="317"/>
                    </a:cxn>
                    <a:cxn ang="0">
                      <a:pos x="58" y="355"/>
                    </a:cxn>
                    <a:cxn ang="0">
                      <a:pos x="54" y="395"/>
                    </a:cxn>
                    <a:cxn ang="0">
                      <a:pos x="54" y="430"/>
                    </a:cxn>
                    <a:cxn ang="0">
                      <a:pos x="0" y="618"/>
                    </a:cxn>
                    <a:cxn ang="0">
                      <a:pos x="89" y="628"/>
                    </a:cxn>
                    <a:cxn ang="0">
                      <a:pos x="179" y="641"/>
                    </a:cxn>
                    <a:cxn ang="0">
                      <a:pos x="225" y="653"/>
                    </a:cxn>
                    <a:cxn ang="0">
                      <a:pos x="269" y="666"/>
                    </a:cxn>
                    <a:cxn ang="0">
                      <a:pos x="311" y="685"/>
                    </a:cxn>
                    <a:cxn ang="0">
                      <a:pos x="352" y="710"/>
                    </a:cxn>
                  </a:cxnLst>
                  <a:rect l="0" t="0" r="r" b="b"/>
                  <a:pathLst>
                    <a:path w="639" h="710">
                      <a:moveTo>
                        <a:pt x="352" y="710"/>
                      </a:moveTo>
                      <a:lnTo>
                        <a:pt x="359" y="678"/>
                      </a:lnTo>
                      <a:lnTo>
                        <a:pt x="384" y="647"/>
                      </a:lnTo>
                      <a:lnTo>
                        <a:pt x="415" y="612"/>
                      </a:lnTo>
                      <a:lnTo>
                        <a:pt x="449" y="572"/>
                      </a:lnTo>
                      <a:lnTo>
                        <a:pt x="484" y="530"/>
                      </a:lnTo>
                      <a:lnTo>
                        <a:pt x="499" y="509"/>
                      </a:lnTo>
                      <a:lnTo>
                        <a:pt x="515" y="486"/>
                      </a:lnTo>
                      <a:lnTo>
                        <a:pt x="530" y="465"/>
                      </a:lnTo>
                      <a:lnTo>
                        <a:pt x="542" y="441"/>
                      </a:lnTo>
                      <a:lnTo>
                        <a:pt x="551" y="420"/>
                      </a:lnTo>
                      <a:lnTo>
                        <a:pt x="559" y="399"/>
                      </a:lnTo>
                      <a:lnTo>
                        <a:pt x="565" y="378"/>
                      </a:lnTo>
                      <a:lnTo>
                        <a:pt x="567" y="359"/>
                      </a:lnTo>
                      <a:lnTo>
                        <a:pt x="570" y="351"/>
                      </a:lnTo>
                      <a:lnTo>
                        <a:pt x="576" y="344"/>
                      </a:lnTo>
                      <a:lnTo>
                        <a:pt x="582" y="334"/>
                      </a:lnTo>
                      <a:lnTo>
                        <a:pt x="586" y="322"/>
                      </a:lnTo>
                      <a:lnTo>
                        <a:pt x="590" y="311"/>
                      </a:lnTo>
                      <a:lnTo>
                        <a:pt x="593" y="299"/>
                      </a:lnTo>
                      <a:lnTo>
                        <a:pt x="595" y="290"/>
                      </a:lnTo>
                      <a:lnTo>
                        <a:pt x="597" y="278"/>
                      </a:lnTo>
                      <a:lnTo>
                        <a:pt x="601" y="276"/>
                      </a:lnTo>
                      <a:lnTo>
                        <a:pt x="607" y="273"/>
                      </a:lnTo>
                      <a:lnTo>
                        <a:pt x="613" y="267"/>
                      </a:lnTo>
                      <a:lnTo>
                        <a:pt x="618" y="263"/>
                      </a:lnTo>
                      <a:lnTo>
                        <a:pt x="624" y="257"/>
                      </a:lnTo>
                      <a:lnTo>
                        <a:pt x="630" y="251"/>
                      </a:lnTo>
                      <a:lnTo>
                        <a:pt x="636" y="246"/>
                      </a:lnTo>
                      <a:lnTo>
                        <a:pt x="639" y="240"/>
                      </a:lnTo>
                      <a:lnTo>
                        <a:pt x="639" y="230"/>
                      </a:lnTo>
                      <a:lnTo>
                        <a:pt x="636" y="223"/>
                      </a:lnTo>
                      <a:lnTo>
                        <a:pt x="634" y="213"/>
                      </a:lnTo>
                      <a:lnTo>
                        <a:pt x="628" y="205"/>
                      </a:lnTo>
                      <a:lnTo>
                        <a:pt x="624" y="198"/>
                      </a:lnTo>
                      <a:lnTo>
                        <a:pt x="618" y="190"/>
                      </a:lnTo>
                      <a:lnTo>
                        <a:pt x="615" y="182"/>
                      </a:lnTo>
                      <a:lnTo>
                        <a:pt x="609" y="177"/>
                      </a:lnTo>
                      <a:lnTo>
                        <a:pt x="597" y="178"/>
                      </a:lnTo>
                      <a:lnTo>
                        <a:pt x="586" y="182"/>
                      </a:lnTo>
                      <a:lnTo>
                        <a:pt x="574" y="188"/>
                      </a:lnTo>
                      <a:lnTo>
                        <a:pt x="563" y="196"/>
                      </a:lnTo>
                      <a:lnTo>
                        <a:pt x="551" y="203"/>
                      </a:lnTo>
                      <a:lnTo>
                        <a:pt x="540" y="209"/>
                      </a:lnTo>
                      <a:lnTo>
                        <a:pt x="528" y="215"/>
                      </a:lnTo>
                      <a:lnTo>
                        <a:pt x="517" y="215"/>
                      </a:lnTo>
                      <a:lnTo>
                        <a:pt x="526" y="203"/>
                      </a:lnTo>
                      <a:lnTo>
                        <a:pt x="532" y="190"/>
                      </a:lnTo>
                      <a:lnTo>
                        <a:pt x="538" y="175"/>
                      </a:lnTo>
                      <a:lnTo>
                        <a:pt x="542" y="157"/>
                      </a:lnTo>
                      <a:lnTo>
                        <a:pt x="545" y="142"/>
                      </a:lnTo>
                      <a:lnTo>
                        <a:pt x="547" y="125"/>
                      </a:lnTo>
                      <a:lnTo>
                        <a:pt x="547" y="106"/>
                      </a:lnTo>
                      <a:lnTo>
                        <a:pt x="547" y="88"/>
                      </a:lnTo>
                      <a:lnTo>
                        <a:pt x="524" y="56"/>
                      </a:lnTo>
                      <a:lnTo>
                        <a:pt x="451" y="56"/>
                      </a:lnTo>
                      <a:lnTo>
                        <a:pt x="444" y="48"/>
                      </a:lnTo>
                      <a:lnTo>
                        <a:pt x="436" y="38"/>
                      </a:lnTo>
                      <a:lnTo>
                        <a:pt x="426" y="29"/>
                      </a:lnTo>
                      <a:lnTo>
                        <a:pt x="417" y="19"/>
                      </a:lnTo>
                      <a:lnTo>
                        <a:pt x="407" y="11"/>
                      </a:lnTo>
                      <a:lnTo>
                        <a:pt x="398" y="6"/>
                      </a:lnTo>
                      <a:lnTo>
                        <a:pt x="386" y="2"/>
                      </a:lnTo>
                      <a:lnTo>
                        <a:pt x="376" y="0"/>
                      </a:lnTo>
                      <a:lnTo>
                        <a:pt x="371" y="2"/>
                      </a:lnTo>
                      <a:lnTo>
                        <a:pt x="365" y="6"/>
                      </a:lnTo>
                      <a:lnTo>
                        <a:pt x="361" y="10"/>
                      </a:lnTo>
                      <a:lnTo>
                        <a:pt x="355" y="15"/>
                      </a:lnTo>
                      <a:lnTo>
                        <a:pt x="348" y="29"/>
                      </a:lnTo>
                      <a:lnTo>
                        <a:pt x="342" y="42"/>
                      </a:lnTo>
                      <a:lnTo>
                        <a:pt x="336" y="56"/>
                      </a:lnTo>
                      <a:lnTo>
                        <a:pt x="329" y="69"/>
                      </a:lnTo>
                      <a:lnTo>
                        <a:pt x="321" y="81"/>
                      </a:lnTo>
                      <a:lnTo>
                        <a:pt x="311" y="88"/>
                      </a:lnTo>
                      <a:lnTo>
                        <a:pt x="296" y="92"/>
                      </a:lnTo>
                      <a:lnTo>
                        <a:pt x="282" y="92"/>
                      </a:lnTo>
                      <a:lnTo>
                        <a:pt x="267" y="90"/>
                      </a:lnTo>
                      <a:lnTo>
                        <a:pt x="254" y="86"/>
                      </a:lnTo>
                      <a:lnTo>
                        <a:pt x="238" y="84"/>
                      </a:lnTo>
                      <a:lnTo>
                        <a:pt x="225" y="81"/>
                      </a:lnTo>
                      <a:lnTo>
                        <a:pt x="213" y="79"/>
                      </a:lnTo>
                      <a:lnTo>
                        <a:pt x="200" y="81"/>
                      </a:lnTo>
                      <a:lnTo>
                        <a:pt x="190" y="84"/>
                      </a:lnTo>
                      <a:lnTo>
                        <a:pt x="181" y="90"/>
                      </a:lnTo>
                      <a:lnTo>
                        <a:pt x="173" y="100"/>
                      </a:lnTo>
                      <a:lnTo>
                        <a:pt x="163" y="111"/>
                      </a:lnTo>
                      <a:lnTo>
                        <a:pt x="156" y="125"/>
                      </a:lnTo>
                      <a:lnTo>
                        <a:pt x="148" y="140"/>
                      </a:lnTo>
                      <a:lnTo>
                        <a:pt x="142" y="155"/>
                      </a:lnTo>
                      <a:lnTo>
                        <a:pt x="135" y="175"/>
                      </a:lnTo>
                      <a:lnTo>
                        <a:pt x="123" y="209"/>
                      </a:lnTo>
                      <a:lnTo>
                        <a:pt x="114" y="246"/>
                      </a:lnTo>
                      <a:lnTo>
                        <a:pt x="104" y="278"/>
                      </a:lnTo>
                      <a:lnTo>
                        <a:pt x="98" y="303"/>
                      </a:lnTo>
                      <a:lnTo>
                        <a:pt x="94" y="301"/>
                      </a:lnTo>
                      <a:lnTo>
                        <a:pt x="92" y="301"/>
                      </a:lnTo>
                      <a:lnTo>
                        <a:pt x="90" y="298"/>
                      </a:lnTo>
                      <a:lnTo>
                        <a:pt x="89" y="296"/>
                      </a:lnTo>
                      <a:lnTo>
                        <a:pt x="85" y="292"/>
                      </a:lnTo>
                      <a:lnTo>
                        <a:pt x="83" y="290"/>
                      </a:lnTo>
                      <a:lnTo>
                        <a:pt x="81" y="288"/>
                      </a:lnTo>
                      <a:lnTo>
                        <a:pt x="79" y="288"/>
                      </a:lnTo>
                      <a:lnTo>
                        <a:pt x="71" y="301"/>
                      </a:lnTo>
                      <a:lnTo>
                        <a:pt x="64" y="317"/>
                      </a:lnTo>
                      <a:lnTo>
                        <a:pt x="60" y="336"/>
                      </a:lnTo>
                      <a:lnTo>
                        <a:pt x="58" y="355"/>
                      </a:lnTo>
                      <a:lnTo>
                        <a:pt x="56" y="376"/>
                      </a:lnTo>
                      <a:lnTo>
                        <a:pt x="54" y="395"/>
                      </a:lnTo>
                      <a:lnTo>
                        <a:pt x="54" y="415"/>
                      </a:lnTo>
                      <a:lnTo>
                        <a:pt x="54" y="430"/>
                      </a:lnTo>
                      <a:lnTo>
                        <a:pt x="90" y="478"/>
                      </a:lnTo>
                      <a:lnTo>
                        <a:pt x="0" y="618"/>
                      </a:lnTo>
                      <a:lnTo>
                        <a:pt x="44" y="624"/>
                      </a:lnTo>
                      <a:lnTo>
                        <a:pt x="89" y="628"/>
                      </a:lnTo>
                      <a:lnTo>
                        <a:pt x="135" y="633"/>
                      </a:lnTo>
                      <a:lnTo>
                        <a:pt x="179" y="641"/>
                      </a:lnTo>
                      <a:lnTo>
                        <a:pt x="202" y="647"/>
                      </a:lnTo>
                      <a:lnTo>
                        <a:pt x="225" y="653"/>
                      </a:lnTo>
                      <a:lnTo>
                        <a:pt x="248" y="658"/>
                      </a:lnTo>
                      <a:lnTo>
                        <a:pt x="269" y="666"/>
                      </a:lnTo>
                      <a:lnTo>
                        <a:pt x="290" y="676"/>
                      </a:lnTo>
                      <a:lnTo>
                        <a:pt x="311" y="685"/>
                      </a:lnTo>
                      <a:lnTo>
                        <a:pt x="332" y="697"/>
                      </a:lnTo>
                      <a:lnTo>
                        <a:pt x="352" y="710"/>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sz="2400"/>
                </a:p>
              </p:txBody>
            </p:sp>
            <p:sp>
              <p:nvSpPr>
                <p:cNvPr id="153712" name="Freeform 112"/>
                <p:cNvSpPr>
                  <a:spLocks/>
                </p:cNvSpPr>
                <p:nvPr/>
              </p:nvSpPr>
              <p:spPr bwMode="auto">
                <a:xfrm>
                  <a:off x="795" y="2022"/>
                  <a:ext cx="211" cy="165"/>
                </a:xfrm>
                <a:custGeom>
                  <a:avLst/>
                  <a:gdLst/>
                  <a:ahLst/>
                  <a:cxnLst>
                    <a:cxn ang="0">
                      <a:pos x="399" y="32"/>
                    </a:cxn>
                    <a:cxn ang="0">
                      <a:pos x="449" y="67"/>
                    </a:cxn>
                    <a:cxn ang="0">
                      <a:pos x="499" y="105"/>
                    </a:cxn>
                    <a:cxn ang="0">
                      <a:pos x="524" y="136"/>
                    </a:cxn>
                    <a:cxn ang="0">
                      <a:pos x="526" y="169"/>
                    </a:cxn>
                    <a:cxn ang="0">
                      <a:pos x="543" y="176"/>
                    </a:cxn>
                    <a:cxn ang="0">
                      <a:pos x="563" y="201"/>
                    </a:cxn>
                    <a:cxn ang="0">
                      <a:pos x="572" y="220"/>
                    </a:cxn>
                    <a:cxn ang="0">
                      <a:pos x="561" y="238"/>
                    </a:cxn>
                    <a:cxn ang="0">
                      <a:pos x="551" y="259"/>
                    </a:cxn>
                    <a:cxn ang="0">
                      <a:pos x="536" y="261"/>
                    </a:cxn>
                    <a:cxn ang="0">
                      <a:pos x="499" y="240"/>
                    </a:cxn>
                    <a:cxn ang="0">
                      <a:pos x="438" y="192"/>
                    </a:cxn>
                    <a:cxn ang="0">
                      <a:pos x="422" y="153"/>
                    </a:cxn>
                    <a:cxn ang="0">
                      <a:pos x="380" y="174"/>
                    </a:cxn>
                    <a:cxn ang="0">
                      <a:pos x="334" y="176"/>
                    </a:cxn>
                    <a:cxn ang="0">
                      <a:pos x="317" y="167"/>
                    </a:cxn>
                    <a:cxn ang="0">
                      <a:pos x="311" y="167"/>
                    </a:cxn>
                    <a:cxn ang="0">
                      <a:pos x="307" y="176"/>
                    </a:cxn>
                    <a:cxn ang="0">
                      <a:pos x="305" y="186"/>
                    </a:cxn>
                    <a:cxn ang="0">
                      <a:pos x="300" y="182"/>
                    </a:cxn>
                    <a:cxn ang="0">
                      <a:pos x="292" y="178"/>
                    </a:cxn>
                    <a:cxn ang="0">
                      <a:pos x="280" y="178"/>
                    </a:cxn>
                    <a:cxn ang="0">
                      <a:pos x="259" y="186"/>
                    </a:cxn>
                    <a:cxn ang="0">
                      <a:pos x="240" y="192"/>
                    </a:cxn>
                    <a:cxn ang="0">
                      <a:pos x="215" y="211"/>
                    </a:cxn>
                    <a:cxn ang="0">
                      <a:pos x="188" y="236"/>
                    </a:cxn>
                    <a:cxn ang="0">
                      <a:pos x="171" y="272"/>
                    </a:cxn>
                    <a:cxn ang="0">
                      <a:pos x="184" y="307"/>
                    </a:cxn>
                    <a:cxn ang="0">
                      <a:pos x="217" y="328"/>
                    </a:cxn>
                    <a:cxn ang="0">
                      <a:pos x="244" y="338"/>
                    </a:cxn>
                    <a:cxn ang="0">
                      <a:pos x="267" y="322"/>
                    </a:cxn>
                    <a:cxn ang="0">
                      <a:pos x="315" y="324"/>
                    </a:cxn>
                    <a:cxn ang="0">
                      <a:pos x="371" y="345"/>
                    </a:cxn>
                    <a:cxn ang="0">
                      <a:pos x="378" y="376"/>
                    </a:cxn>
                    <a:cxn ang="0">
                      <a:pos x="355" y="407"/>
                    </a:cxn>
                    <a:cxn ang="0">
                      <a:pos x="330" y="424"/>
                    </a:cxn>
                    <a:cxn ang="0">
                      <a:pos x="286" y="439"/>
                    </a:cxn>
                    <a:cxn ang="0">
                      <a:pos x="190" y="447"/>
                    </a:cxn>
                    <a:cxn ang="0">
                      <a:pos x="92" y="434"/>
                    </a:cxn>
                    <a:cxn ang="0">
                      <a:pos x="50" y="416"/>
                    </a:cxn>
                    <a:cxn ang="0">
                      <a:pos x="52" y="359"/>
                    </a:cxn>
                    <a:cxn ang="0">
                      <a:pos x="37" y="251"/>
                    </a:cxn>
                    <a:cxn ang="0">
                      <a:pos x="16" y="123"/>
                    </a:cxn>
                    <a:cxn ang="0">
                      <a:pos x="2" y="71"/>
                    </a:cxn>
                    <a:cxn ang="0">
                      <a:pos x="14" y="78"/>
                    </a:cxn>
                    <a:cxn ang="0">
                      <a:pos x="56" y="80"/>
                    </a:cxn>
                    <a:cxn ang="0">
                      <a:pos x="117" y="67"/>
                    </a:cxn>
                    <a:cxn ang="0">
                      <a:pos x="231" y="32"/>
                    </a:cxn>
                    <a:cxn ang="0">
                      <a:pos x="282" y="15"/>
                    </a:cxn>
                    <a:cxn ang="0">
                      <a:pos x="336" y="0"/>
                    </a:cxn>
                    <a:cxn ang="0">
                      <a:pos x="371" y="5"/>
                    </a:cxn>
                  </a:cxnLst>
                  <a:rect l="0" t="0" r="r" b="b"/>
                  <a:pathLst>
                    <a:path w="574" h="447">
                      <a:moveTo>
                        <a:pt x="384" y="15"/>
                      </a:moveTo>
                      <a:lnTo>
                        <a:pt x="392" y="25"/>
                      </a:lnTo>
                      <a:lnTo>
                        <a:pt x="399" y="32"/>
                      </a:lnTo>
                      <a:lnTo>
                        <a:pt x="411" y="40"/>
                      </a:lnTo>
                      <a:lnTo>
                        <a:pt x="422" y="50"/>
                      </a:lnTo>
                      <a:lnTo>
                        <a:pt x="449" y="67"/>
                      </a:lnTo>
                      <a:lnTo>
                        <a:pt x="476" y="86"/>
                      </a:lnTo>
                      <a:lnTo>
                        <a:pt x="488" y="96"/>
                      </a:lnTo>
                      <a:lnTo>
                        <a:pt x="499" y="105"/>
                      </a:lnTo>
                      <a:lnTo>
                        <a:pt x="509" y="115"/>
                      </a:lnTo>
                      <a:lnTo>
                        <a:pt x="518" y="124"/>
                      </a:lnTo>
                      <a:lnTo>
                        <a:pt x="524" y="136"/>
                      </a:lnTo>
                      <a:lnTo>
                        <a:pt x="528" y="146"/>
                      </a:lnTo>
                      <a:lnTo>
                        <a:pt x="528" y="157"/>
                      </a:lnTo>
                      <a:lnTo>
                        <a:pt x="526" y="169"/>
                      </a:lnTo>
                      <a:lnTo>
                        <a:pt x="530" y="169"/>
                      </a:lnTo>
                      <a:lnTo>
                        <a:pt x="536" y="171"/>
                      </a:lnTo>
                      <a:lnTo>
                        <a:pt x="543" y="176"/>
                      </a:lnTo>
                      <a:lnTo>
                        <a:pt x="549" y="184"/>
                      </a:lnTo>
                      <a:lnTo>
                        <a:pt x="557" y="194"/>
                      </a:lnTo>
                      <a:lnTo>
                        <a:pt x="563" y="201"/>
                      </a:lnTo>
                      <a:lnTo>
                        <a:pt x="568" y="211"/>
                      </a:lnTo>
                      <a:lnTo>
                        <a:pt x="574" y="217"/>
                      </a:lnTo>
                      <a:lnTo>
                        <a:pt x="572" y="220"/>
                      </a:lnTo>
                      <a:lnTo>
                        <a:pt x="568" y="226"/>
                      </a:lnTo>
                      <a:lnTo>
                        <a:pt x="565" y="232"/>
                      </a:lnTo>
                      <a:lnTo>
                        <a:pt x="561" y="238"/>
                      </a:lnTo>
                      <a:lnTo>
                        <a:pt x="557" y="245"/>
                      </a:lnTo>
                      <a:lnTo>
                        <a:pt x="553" y="251"/>
                      </a:lnTo>
                      <a:lnTo>
                        <a:pt x="551" y="259"/>
                      </a:lnTo>
                      <a:lnTo>
                        <a:pt x="549" y="265"/>
                      </a:lnTo>
                      <a:lnTo>
                        <a:pt x="543" y="265"/>
                      </a:lnTo>
                      <a:lnTo>
                        <a:pt x="536" y="261"/>
                      </a:lnTo>
                      <a:lnTo>
                        <a:pt x="528" y="257"/>
                      </a:lnTo>
                      <a:lnTo>
                        <a:pt x="518" y="251"/>
                      </a:lnTo>
                      <a:lnTo>
                        <a:pt x="499" y="240"/>
                      </a:lnTo>
                      <a:lnTo>
                        <a:pt x="478" y="222"/>
                      </a:lnTo>
                      <a:lnTo>
                        <a:pt x="457" y="207"/>
                      </a:lnTo>
                      <a:lnTo>
                        <a:pt x="438" y="192"/>
                      </a:lnTo>
                      <a:lnTo>
                        <a:pt x="421" y="178"/>
                      </a:lnTo>
                      <a:lnTo>
                        <a:pt x="409" y="169"/>
                      </a:lnTo>
                      <a:lnTo>
                        <a:pt x="422" y="153"/>
                      </a:lnTo>
                      <a:lnTo>
                        <a:pt x="409" y="163"/>
                      </a:lnTo>
                      <a:lnTo>
                        <a:pt x="396" y="169"/>
                      </a:lnTo>
                      <a:lnTo>
                        <a:pt x="380" y="174"/>
                      </a:lnTo>
                      <a:lnTo>
                        <a:pt x="365" y="178"/>
                      </a:lnTo>
                      <a:lnTo>
                        <a:pt x="350" y="180"/>
                      </a:lnTo>
                      <a:lnTo>
                        <a:pt x="334" y="176"/>
                      </a:lnTo>
                      <a:lnTo>
                        <a:pt x="328" y="174"/>
                      </a:lnTo>
                      <a:lnTo>
                        <a:pt x="323" y="171"/>
                      </a:lnTo>
                      <a:lnTo>
                        <a:pt x="317" y="167"/>
                      </a:lnTo>
                      <a:lnTo>
                        <a:pt x="311" y="161"/>
                      </a:lnTo>
                      <a:lnTo>
                        <a:pt x="311" y="165"/>
                      </a:lnTo>
                      <a:lnTo>
                        <a:pt x="311" y="167"/>
                      </a:lnTo>
                      <a:lnTo>
                        <a:pt x="309" y="171"/>
                      </a:lnTo>
                      <a:lnTo>
                        <a:pt x="309" y="172"/>
                      </a:lnTo>
                      <a:lnTo>
                        <a:pt x="307" y="176"/>
                      </a:lnTo>
                      <a:lnTo>
                        <a:pt x="307" y="178"/>
                      </a:lnTo>
                      <a:lnTo>
                        <a:pt x="305" y="182"/>
                      </a:lnTo>
                      <a:lnTo>
                        <a:pt x="305" y="186"/>
                      </a:lnTo>
                      <a:lnTo>
                        <a:pt x="303" y="184"/>
                      </a:lnTo>
                      <a:lnTo>
                        <a:pt x="302" y="184"/>
                      </a:lnTo>
                      <a:lnTo>
                        <a:pt x="300" y="182"/>
                      </a:lnTo>
                      <a:lnTo>
                        <a:pt x="296" y="182"/>
                      </a:lnTo>
                      <a:lnTo>
                        <a:pt x="294" y="180"/>
                      </a:lnTo>
                      <a:lnTo>
                        <a:pt x="292" y="178"/>
                      </a:lnTo>
                      <a:lnTo>
                        <a:pt x="290" y="178"/>
                      </a:lnTo>
                      <a:lnTo>
                        <a:pt x="288" y="176"/>
                      </a:lnTo>
                      <a:lnTo>
                        <a:pt x="280" y="178"/>
                      </a:lnTo>
                      <a:lnTo>
                        <a:pt x="273" y="180"/>
                      </a:lnTo>
                      <a:lnTo>
                        <a:pt x="267" y="182"/>
                      </a:lnTo>
                      <a:lnTo>
                        <a:pt x="259" y="186"/>
                      </a:lnTo>
                      <a:lnTo>
                        <a:pt x="254" y="188"/>
                      </a:lnTo>
                      <a:lnTo>
                        <a:pt x="246" y="192"/>
                      </a:lnTo>
                      <a:lnTo>
                        <a:pt x="240" y="192"/>
                      </a:lnTo>
                      <a:lnTo>
                        <a:pt x="232" y="194"/>
                      </a:lnTo>
                      <a:lnTo>
                        <a:pt x="225" y="201"/>
                      </a:lnTo>
                      <a:lnTo>
                        <a:pt x="215" y="211"/>
                      </a:lnTo>
                      <a:lnTo>
                        <a:pt x="208" y="219"/>
                      </a:lnTo>
                      <a:lnTo>
                        <a:pt x="198" y="226"/>
                      </a:lnTo>
                      <a:lnTo>
                        <a:pt x="188" y="236"/>
                      </a:lnTo>
                      <a:lnTo>
                        <a:pt x="181" y="247"/>
                      </a:lnTo>
                      <a:lnTo>
                        <a:pt x="175" y="259"/>
                      </a:lnTo>
                      <a:lnTo>
                        <a:pt x="171" y="272"/>
                      </a:lnTo>
                      <a:lnTo>
                        <a:pt x="171" y="288"/>
                      </a:lnTo>
                      <a:lnTo>
                        <a:pt x="175" y="297"/>
                      </a:lnTo>
                      <a:lnTo>
                        <a:pt x="184" y="307"/>
                      </a:lnTo>
                      <a:lnTo>
                        <a:pt x="194" y="315"/>
                      </a:lnTo>
                      <a:lnTo>
                        <a:pt x="206" y="322"/>
                      </a:lnTo>
                      <a:lnTo>
                        <a:pt x="217" y="328"/>
                      </a:lnTo>
                      <a:lnTo>
                        <a:pt x="229" y="332"/>
                      </a:lnTo>
                      <a:lnTo>
                        <a:pt x="238" y="336"/>
                      </a:lnTo>
                      <a:lnTo>
                        <a:pt x="244" y="338"/>
                      </a:lnTo>
                      <a:lnTo>
                        <a:pt x="252" y="330"/>
                      </a:lnTo>
                      <a:lnTo>
                        <a:pt x="257" y="326"/>
                      </a:lnTo>
                      <a:lnTo>
                        <a:pt x="267" y="322"/>
                      </a:lnTo>
                      <a:lnTo>
                        <a:pt x="275" y="320"/>
                      </a:lnTo>
                      <a:lnTo>
                        <a:pt x="294" y="320"/>
                      </a:lnTo>
                      <a:lnTo>
                        <a:pt x="315" y="324"/>
                      </a:lnTo>
                      <a:lnTo>
                        <a:pt x="334" y="330"/>
                      </a:lnTo>
                      <a:lnTo>
                        <a:pt x="353" y="338"/>
                      </a:lnTo>
                      <a:lnTo>
                        <a:pt x="371" y="345"/>
                      </a:lnTo>
                      <a:lnTo>
                        <a:pt x="384" y="353"/>
                      </a:lnTo>
                      <a:lnTo>
                        <a:pt x="382" y="364"/>
                      </a:lnTo>
                      <a:lnTo>
                        <a:pt x="378" y="376"/>
                      </a:lnTo>
                      <a:lnTo>
                        <a:pt x="373" y="387"/>
                      </a:lnTo>
                      <a:lnTo>
                        <a:pt x="365" y="397"/>
                      </a:lnTo>
                      <a:lnTo>
                        <a:pt x="355" y="407"/>
                      </a:lnTo>
                      <a:lnTo>
                        <a:pt x="346" y="414"/>
                      </a:lnTo>
                      <a:lnTo>
                        <a:pt x="338" y="420"/>
                      </a:lnTo>
                      <a:lnTo>
                        <a:pt x="330" y="424"/>
                      </a:lnTo>
                      <a:lnTo>
                        <a:pt x="317" y="430"/>
                      </a:lnTo>
                      <a:lnTo>
                        <a:pt x="303" y="435"/>
                      </a:lnTo>
                      <a:lnTo>
                        <a:pt x="286" y="439"/>
                      </a:lnTo>
                      <a:lnTo>
                        <a:pt x="269" y="441"/>
                      </a:lnTo>
                      <a:lnTo>
                        <a:pt x="231" y="447"/>
                      </a:lnTo>
                      <a:lnTo>
                        <a:pt x="190" y="447"/>
                      </a:lnTo>
                      <a:lnTo>
                        <a:pt x="148" y="445"/>
                      </a:lnTo>
                      <a:lnTo>
                        <a:pt x="110" y="439"/>
                      </a:lnTo>
                      <a:lnTo>
                        <a:pt x="92" y="434"/>
                      </a:lnTo>
                      <a:lnTo>
                        <a:pt x="77" y="430"/>
                      </a:lnTo>
                      <a:lnTo>
                        <a:pt x="62" y="424"/>
                      </a:lnTo>
                      <a:lnTo>
                        <a:pt x="50" y="416"/>
                      </a:lnTo>
                      <a:lnTo>
                        <a:pt x="52" y="397"/>
                      </a:lnTo>
                      <a:lnTo>
                        <a:pt x="52" y="378"/>
                      </a:lnTo>
                      <a:lnTo>
                        <a:pt x="52" y="359"/>
                      </a:lnTo>
                      <a:lnTo>
                        <a:pt x="52" y="338"/>
                      </a:lnTo>
                      <a:lnTo>
                        <a:pt x="46" y="295"/>
                      </a:lnTo>
                      <a:lnTo>
                        <a:pt x="37" y="251"/>
                      </a:lnTo>
                      <a:lnTo>
                        <a:pt x="29" y="207"/>
                      </a:lnTo>
                      <a:lnTo>
                        <a:pt x="21" y="165"/>
                      </a:lnTo>
                      <a:lnTo>
                        <a:pt x="16" y="123"/>
                      </a:lnTo>
                      <a:lnTo>
                        <a:pt x="12" y="82"/>
                      </a:lnTo>
                      <a:lnTo>
                        <a:pt x="0" y="67"/>
                      </a:lnTo>
                      <a:lnTo>
                        <a:pt x="2" y="71"/>
                      </a:lnTo>
                      <a:lnTo>
                        <a:pt x="4" y="73"/>
                      </a:lnTo>
                      <a:lnTo>
                        <a:pt x="8" y="76"/>
                      </a:lnTo>
                      <a:lnTo>
                        <a:pt x="14" y="78"/>
                      </a:lnTo>
                      <a:lnTo>
                        <a:pt x="25" y="80"/>
                      </a:lnTo>
                      <a:lnTo>
                        <a:pt x="39" y="80"/>
                      </a:lnTo>
                      <a:lnTo>
                        <a:pt x="56" y="80"/>
                      </a:lnTo>
                      <a:lnTo>
                        <a:pt x="75" y="76"/>
                      </a:lnTo>
                      <a:lnTo>
                        <a:pt x="96" y="73"/>
                      </a:lnTo>
                      <a:lnTo>
                        <a:pt x="117" y="67"/>
                      </a:lnTo>
                      <a:lnTo>
                        <a:pt x="158" y="55"/>
                      </a:lnTo>
                      <a:lnTo>
                        <a:pt x="198" y="42"/>
                      </a:lnTo>
                      <a:lnTo>
                        <a:pt x="231" y="32"/>
                      </a:lnTo>
                      <a:lnTo>
                        <a:pt x="250" y="27"/>
                      </a:lnTo>
                      <a:lnTo>
                        <a:pt x="265" y="21"/>
                      </a:lnTo>
                      <a:lnTo>
                        <a:pt x="282" y="15"/>
                      </a:lnTo>
                      <a:lnTo>
                        <a:pt x="300" y="9"/>
                      </a:lnTo>
                      <a:lnTo>
                        <a:pt x="317" y="4"/>
                      </a:lnTo>
                      <a:lnTo>
                        <a:pt x="336" y="0"/>
                      </a:lnTo>
                      <a:lnTo>
                        <a:pt x="353" y="0"/>
                      </a:lnTo>
                      <a:lnTo>
                        <a:pt x="361" y="2"/>
                      </a:lnTo>
                      <a:lnTo>
                        <a:pt x="371" y="5"/>
                      </a:lnTo>
                      <a:lnTo>
                        <a:pt x="378" y="9"/>
                      </a:lnTo>
                      <a:lnTo>
                        <a:pt x="384" y="15"/>
                      </a:lnTo>
                      <a:close/>
                    </a:path>
                  </a:pathLst>
                </a:custGeom>
                <a:solidFill>
                  <a:srgbClr val="EEEDD5"/>
                </a:solidFill>
                <a:ln w="9525" cap="rnd" cmpd="sng">
                  <a:solidFill>
                    <a:srgbClr val="969696"/>
                  </a:solidFill>
                  <a:prstDash val="solid"/>
                  <a:round/>
                  <a:headEnd type="none" w="med" len="med"/>
                  <a:tailEnd type="none" w="med" len="med"/>
                </a:ln>
                <a:effectLst/>
              </p:spPr>
              <p:txBody>
                <a:bodyPr/>
                <a:lstStyle/>
                <a:p>
                  <a:endParaRPr lang="fr-FR" sz="2400"/>
                </a:p>
              </p:txBody>
            </p:sp>
            <p:sp>
              <p:nvSpPr>
                <p:cNvPr id="153713" name="Freeform 113"/>
                <p:cNvSpPr>
                  <a:spLocks/>
                </p:cNvSpPr>
                <p:nvPr/>
              </p:nvSpPr>
              <p:spPr bwMode="auto">
                <a:xfrm>
                  <a:off x="541" y="1255"/>
                  <a:ext cx="432" cy="539"/>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path>
                  </a:pathLst>
                </a:custGeom>
                <a:noFill/>
                <a:ln w="0">
                  <a:solidFill>
                    <a:srgbClr val="000000"/>
                  </a:solidFill>
                  <a:prstDash val="solid"/>
                  <a:round/>
                  <a:headEnd/>
                  <a:tailEnd/>
                </a:ln>
              </p:spPr>
              <p:txBody>
                <a:bodyPr/>
                <a:lstStyle/>
                <a:p>
                  <a:endParaRPr lang="fr-FR" sz="2400"/>
                </a:p>
              </p:txBody>
            </p:sp>
            <p:sp>
              <p:nvSpPr>
                <p:cNvPr id="153714" name="Freeform 114"/>
                <p:cNvSpPr>
                  <a:spLocks/>
                </p:cNvSpPr>
                <p:nvPr/>
              </p:nvSpPr>
              <p:spPr bwMode="auto">
                <a:xfrm flipH="1">
                  <a:off x="445" y="1681"/>
                  <a:ext cx="666" cy="702"/>
                </a:xfrm>
                <a:custGeom>
                  <a:avLst/>
                  <a:gdLst/>
                  <a:ahLst/>
                  <a:cxnLst>
                    <a:cxn ang="0">
                      <a:pos x="517" y="5"/>
                    </a:cxn>
                    <a:cxn ang="0">
                      <a:pos x="534" y="5"/>
                    </a:cxn>
                    <a:cxn ang="0">
                      <a:pos x="551" y="9"/>
                    </a:cxn>
                    <a:cxn ang="0">
                      <a:pos x="554" y="12"/>
                    </a:cxn>
                    <a:cxn ang="0">
                      <a:pos x="557" y="16"/>
                    </a:cxn>
                    <a:cxn ang="0">
                      <a:pos x="560" y="590"/>
                    </a:cxn>
                    <a:cxn ang="0">
                      <a:pos x="2" y="571"/>
                    </a:cxn>
                    <a:cxn ang="0">
                      <a:pos x="0" y="558"/>
                    </a:cxn>
                    <a:cxn ang="0">
                      <a:pos x="4" y="553"/>
                    </a:cxn>
                    <a:cxn ang="0">
                      <a:pos x="25" y="539"/>
                    </a:cxn>
                    <a:cxn ang="0">
                      <a:pos x="49" y="523"/>
                    </a:cxn>
                    <a:cxn ang="0">
                      <a:pos x="80" y="509"/>
                    </a:cxn>
                    <a:cxn ang="0">
                      <a:pos x="126" y="500"/>
                    </a:cxn>
                    <a:cxn ang="0">
                      <a:pos x="170" y="496"/>
                    </a:cxn>
                    <a:cxn ang="0">
                      <a:pos x="180" y="483"/>
                    </a:cxn>
                    <a:cxn ang="0">
                      <a:pos x="191" y="467"/>
                    </a:cxn>
                    <a:cxn ang="0">
                      <a:pos x="201" y="460"/>
                    </a:cxn>
                    <a:cxn ang="0">
                      <a:pos x="219" y="458"/>
                    </a:cxn>
                    <a:cxn ang="0">
                      <a:pos x="233" y="454"/>
                    </a:cxn>
                    <a:cxn ang="0">
                      <a:pos x="237" y="447"/>
                    </a:cxn>
                    <a:cxn ang="0">
                      <a:pos x="240" y="431"/>
                    </a:cxn>
                    <a:cxn ang="0">
                      <a:pos x="241" y="413"/>
                    </a:cxn>
                    <a:cxn ang="0">
                      <a:pos x="237" y="407"/>
                    </a:cxn>
                    <a:cxn ang="0">
                      <a:pos x="240" y="391"/>
                    </a:cxn>
                    <a:cxn ang="0">
                      <a:pos x="245" y="374"/>
                    </a:cxn>
                    <a:cxn ang="0">
                      <a:pos x="247" y="359"/>
                    </a:cxn>
                    <a:cxn ang="0">
                      <a:pos x="250" y="331"/>
                    </a:cxn>
                    <a:cxn ang="0">
                      <a:pos x="256" y="302"/>
                    </a:cxn>
                    <a:cxn ang="0">
                      <a:pos x="266" y="269"/>
                    </a:cxn>
                    <a:cxn ang="0">
                      <a:pos x="283" y="229"/>
                    </a:cxn>
                    <a:cxn ang="0">
                      <a:pos x="303" y="192"/>
                    </a:cxn>
                    <a:cxn ang="0">
                      <a:pos x="325" y="160"/>
                    </a:cxn>
                    <a:cxn ang="0">
                      <a:pos x="351" y="136"/>
                    </a:cxn>
                    <a:cxn ang="0">
                      <a:pos x="365" y="127"/>
                    </a:cxn>
                    <a:cxn ang="0">
                      <a:pos x="373" y="122"/>
                    </a:cxn>
                    <a:cxn ang="0">
                      <a:pos x="376" y="112"/>
                    </a:cxn>
                    <a:cxn ang="0">
                      <a:pos x="377" y="103"/>
                    </a:cxn>
                    <a:cxn ang="0">
                      <a:pos x="397" y="79"/>
                    </a:cxn>
                    <a:cxn ang="0">
                      <a:pos x="419" y="58"/>
                    </a:cxn>
                    <a:cxn ang="0">
                      <a:pos x="444" y="42"/>
                    </a:cxn>
                    <a:cxn ang="0">
                      <a:pos x="472" y="19"/>
                    </a:cxn>
                    <a:cxn ang="0">
                      <a:pos x="487" y="10"/>
                    </a:cxn>
                    <a:cxn ang="0">
                      <a:pos x="502" y="3"/>
                    </a:cxn>
                    <a:cxn ang="0">
                      <a:pos x="513" y="1"/>
                    </a:cxn>
                    <a:cxn ang="0">
                      <a:pos x="512" y="0"/>
                    </a:cxn>
                    <a:cxn ang="0">
                      <a:pos x="508" y="2"/>
                    </a:cxn>
                  </a:cxnLst>
                  <a:rect l="0" t="0" r="r" b="b"/>
                  <a:pathLst>
                    <a:path w="560" h="590">
                      <a:moveTo>
                        <a:pt x="506" y="4"/>
                      </a:moveTo>
                      <a:lnTo>
                        <a:pt x="511" y="5"/>
                      </a:lnTo>
                      <a:lnTo>
                        <a:pt x="517" y="5"/>
                      </a:lnTo>
                      <a:lnTo>
                        <a:pt x="522" y="5"/>
                      </a:lnTo>
                      <a:lnTo>
                        <a:pt x="529" y="5"/>
                      </a:lnTo>
                      <a:lnTo>
                        <a:pt x="534" y="5"/>
                      </a:lnTo>
                      <a:lnTo>
                        <a:pt x="540" y="5"/>
                      </a:lnTo>
                      <a:lnTo>
                        <a:pt x="545" y="7"/>
                      </a:lnTo>
                      <a:lnTo>
                        <a:pt x="551" y="9"/>
                      </a:lnTo>
                      <a:lnTo>
                        <a:pt x="552" y="9"/>
                      </a:lnTo>
                      <a:lnTo>
                        <a:pt x="553" y="10"/>
                      </a:lnTo>
                      <a:lnTo>
                        <a:pt x="554" y="12"/>
                      </a:lnTo>
                      <a:lnTo>
                        <a:pt x="555" y="12"/>
                      </a:lnTo>
                      <a:lnTo>
                        <a:pt x="556" y="14"/>
                      </a:lnTo>
                      <a:lnTo>
                        <a:pt x="557" y="16"/>
                      </a:lnTo>
                      <a:lnTo>
                        <a:pt x="558" y="16"/>
                      </a:lnTo>
                      <a:lnTo>
                        <a:pt x="560" y="17"/>
                      </a:lnTo>
                      <a:lnTo>
                        <a:pt x="560" y="590"/>
                      </a:lnTo>
                      <a:lnTo>
                        <a:pt x="17" y="590"/>
                      </a:lnTo>
                      <a:lnTo>
                        <a:pt x="5" y="576"/>
                      </a:lnTo>
                      <a:lnTo>
                        <a:pt x="2" y="571"/>
                      </a:lnTo>
                      <a:lnTo>
                        <a:pt x="1" y="566"/>
                      </a:lnTo>
                      <a:lnTo>
                        <a:pt x="0" y="563"/>
                      </a:lnTo>
                      <a:lnTo>
                        <a:pt x="0" y="558"/>
                      </a:lnTo>
                      <a:lnTo>
                        <a:pt x="1" y="557"/>
                      </a:lnTo>
                      <a:lnTo>
                        <a:pt x="2" y="555"/>
                      </a:lnTo>
                      <a:lnTo>
                        <a:pt x="4" y="553"/>
                      </a:lnTo>
                      <a:lnTo>
                        <a:pt x="7" y="551"/>
                      </a:lnTo>
                      <a:lnTo>
                        <a:pt x="15" y="545"/>
                      </a:lnTo>
                      <a:lnTo>
                        <a:pt x="25" y="539"/>
                      </a:lnTo>
                      <a:lnTo>
                        <a:pt x="34" y="533"/>
                      </a:lnTo>
                      <a:lnTo>
                        <a:pt x="42" y="528"/>
                      </a:lnTo>
                      <a:lnTo>
                        <a:pt x="49" y="523"/>
                      </a:lnTo>
                      <a:lnTo>
                        <a:pt x="53" y="521"/>
                      </a:lnTo>
                      <a:lnTo>
                        <a:pt x="66" y="515"/>
                      </a:lnTo>
                      <a:lnTo>
                        <a:pt x="80" y="509"/>
                      </a:lnTo>
                      <a:lnTo>
                        <a:pt x="95" y="505"/>
                      </a:lnTo>
                      <a:lnTo>
                        <a:pt x="110" y="502"/>
                      </a:lnTo>
                      <a:lnTo>
                        <a:pt x="126" y="500"/>
                      </a:lnTo>
                      <a:lnTo>
                        <a:pt x="141" y="498"/>
                      </a:lnTo>
                      <a:lnTo>
                        <a:pt x="156" y="496"/>
                      </a:lnTo>
                      <a:lnTo>
                        <a:pt x="170" y="496"/>
                      </a:lnTo>
                      <a:lnTo>
                        <a:pt x="173" y="493"/>
                      </a:lnTo>
                      <a:lnTo>
                        <a:pt x="176" y="488"/>
                      </a:lnTo>
                      <a:lnTo>
                        <a:pt x="180" y="483"/>
                      </a:lnTo>
                      <a:lnTo>
                        <a:pt x="183" y="477"/>
                      </a:lnTo>
                      <a:lnTo>
                        <a:pt x="188" y="472"/>
                      </a:lnTo>
                      <a:lnTo>
                        <a:pt x="191" y="467"/>
                      </a:lnTo>
                      <a:lnTo>
                        <a:pt x="194" y="464"/>
                      </a:lnTo>
                      <a:lnTo>
                        <a:pt x="196" y="462"/>
                      </a:lnTo>
                      <a:lnTo>
                        <a:pt x="201" y="460"/>
                      </a:lnTo>
                      <a:lnTo>
                        <a:pt x="207" y="459"/>
                      </a:lnTo>
                      <a:lnTo>
                        <a:pt x="213" y="459"/>
                      </a:lnTo>
                      <a:lnTo>
                        <a:pt x="219" y="458"/>
                      </a:lnTo>
                      <a:lnTo>
                        <a:pt x="225" y="457"/>
                      </a:lnTo>
                      <a:lnTo>
                        <a:pt x="230" y="455"/>
                      </a:lnTo>
                      <a:lnTo>
                        <a:pt x="233" y="454"/>
                      </a:lnTo>
                      <a:lnTo>
                        <a:pt x="234" y="452"/>
                      </a:lnTo>
                      <a:lnTo>
                        <a:pt x="236" y="449"/>
                      </a:lnTo>
                      <a:lnTo>
                        <a:pt x="237" y="447"/>
                      </a:lnTo>
                      <a:lnTo>
                        <a:pt x="238" y="442"/>
                      </a:lnTo>
                      <a:lnTo>
                        <a:pt x="239" y="437"/>
                      </a:lnTo>
                      <a:lnTo>
                        <a:pt x="240" y="431"/>
                      </a:lnTo>
                      <a:lnTo>
                        <a:pt x="240" y="426"/>
                      </a:lnTo>
                      <a:lnTo>
                        <a:pt x="240" y="420"/>
                      </a:lnTo>
                      <a:lnTo>
                        <a:pt x="241" y="413"/>
                      </a:lnTo>
                      <a:lnTo>
                        <a:pt x="241" y="408"/>
                      </a:lnTo>
                      <a:lnTo>
                        <a:pt x="241" y="402"/>
                      </a:lnTo>
                      <a:lnTo>
                        <a:pt x="237" y="407"/>
                      </a:lnTo>
                      <a:lnTo>
                        <a:pt x="237" y="402"/>
                      </a:lnTo>
                      <a:lnTo>
                        <a:pt x="238" y="397"/>
                      </a:lnTo>
                      <a:lnTo>
                        <a:pt x="240" y="391"/>
                      </a:lnTo>
                      <a:lnTo>
                        <a:pt x="241" y="385"/>
                      </a:lnTo>
                      <a:lnTo>
                        <a:pt x="243" y="380"/>
                      </a:lnTo>
                      <a:lnTo>
                        <a:pt x="245" y="374"/>
                      </a:lnTo>
                      <a:lnTo>
                        <a:pt x="247" y="369"/>
                      </a:lnTo>
                      <a:lnTo>
                        <a:pt x="248" y="365"/>
                      </a:lnTo>
                      <a:lnTo>
                        <a:pt x="247" y="359"/>
                      </a:lnTo>
                      <a:lnTo>
                        <a:pt x="247" y="351"/>
                      </a:lnTo>
                      <a:lnTo>
                        <a:pt x="248" y="341"/>
                      </a:lnTo>
                      <a:lnTo>
                        <a:pt x="250" y="331"/>
                      </a:lnTo>
                      <a:lnTo>
                        <a:pt x="252" y="320"/>
                      </a:lnTo>
                      <a:lnTo>
                        <a:pt x="254" y="310"/>
                      </a:lnTo>
                      <a:lnTo>
                        <a:pt x="256" y="302"/>
                      </a:lnTo>
                      <a:lnTo>
                        <a:pt x="257" y="296"/>
                      </a:lnTo>
                      <a:lnTo>
                        <a:pt x="262" y="283"/>
                      </a:lnTo>
                      <a:lnTo>
                        <a:pt x="266" y="269"/>
                      </a:lnTo>
                      <a:lnTo>
                        <a:pt x="272" y="256"/>
                      </a:lnTo>
                      <a:lnTo>
                        <a:pt x="277" y="242"/>
                      </a:lnTo>
                      <a:lnTo>
                        <a:pt x="283" y="229"/>
                      </a:lnTo>
                      <a:lnTo>
                        <a:pt x="289" y="217"/>
                      </a:lnTo>
                      <a:lnTo>
                        <a:pt x="296" y="204"/>
                      </a:lnTo>
                      <a:lnTo>
                        <a:pt x="303" y="192"/>
                      </a:lnTo>
                      <a:lnTo>
                        <a:pt x="310" y="181"/>
                      </a:lnTo>
                      <a:lnTo>
                        <a:pt x="318" y="170"/>
                      </a:lnTo>
                      <a:lnTo>
                        <a:pt x="325" y="160"/>
                      </a:lnTo>
                      <a:lnTo>
                        <a:pt x="334" y="151"/>
                      </a:lnTo>
                      <a:lnTo>
                        <a:pt x="342" y="143"/>
                      </a:lnTo>
                      <a:lnTo>
                        <a:pt x="351" y="136"/>
                      </a:lnTo>
                      <a:lnTo>
                        <a:pt x="356" y="132"/>
                      </a:lnTo>
                      <a:lnTo>
                        <a:pt x="360" y="130"/>
                      </a:lnTo>
                      <a:lnTo>
                        <a:pt x="365" y="127"/>
                      </a:lnTo>
                      <a:lnTo>
                        <a:pt x="369" y="125"/>
                      </a:lnTo>
                      <a:lnTo>
                        <a:pt x="371" y="123"/>
                      </a:lnTo>
                      <a:lnTo>
                        <a:pt x="373" y="122"/>
                      </a:lnTo>
                      <a:lnTo>
                        <a:pt x="374" y="119"/>
                      </a:lnTo>
                      <a:lnTo>
                        <a:pt x="375" y="116"/>
                      </a:lnTo>
                      <a:lnTo>
                        <a:pt x="376" y="112"/>
                      </a:lnTo>
                      <a:lnTo>
                        <a:pt x="377" y="109"/>
                      </a:lnTo>
                      <a:lnTo>
                        <a:pt x="377" y="106"/>
                      </a:lnTo>
                      <a:lnTo>
                        <a:pt x="377" y="103"/>
                      </a:lnTo>
                      <a:lnTo>
                        <a:pt x="383" y="95"/>
                      </a:lnTo>
                      <a:lnTo>
                        <a:pt x="390" y="87"/>
                      </a:lnTo>
                      <a:lnTo>
                        <a:pt x="397" y="79"/>
                      </a:lnTo>
                      <a:lnTo>
                        <a:pt x="404" y="72"/>
                      </a:lnTo>
                      <a:lnTo>
                        <a:pt x="412" y="65"/>
                      </a:lnTo>
                      <a:lnTo>
                        <a:pt x="419" y="58"/>
                      </a:lnTo>
                      <a:lnTo>
                        <a:pt x="427" y="53"/>
                      </a:lnTo>
                      <a:lnTo>
                        <a:pt x="434" y="48"/>
                      </a:lnTo>
                      <a:lnTo>
                        <a:pt x="444" y="42"/>
                      </a:lnTo>
                      <a:lnTo>
                        <a:pt x="454" y="35"/>
                      </a:lnTo>
                      <a:lnTo>
                        <a:pt x="463" y="27"/>
                      </a:lnTo>
                      <a:lnTo>
                        <a:pt x="472" y="19"/>
                      </a:lnTo>
                      <a:lnTo>
                        <a:pt x="477" y="16"/>
                      </a:lnTo>
                      <a:lnTo>
                        <a:pt x="482" y="12"/>
                      </a:lnTo>
                      <a:lnTo>
                        <a:pt x="487" y="10"/>
                      </a:lnTo>
                      <a:lnTo>
                        <a:pt x="492" y="7"/>
                      </a:lnTo>
                      <a:lnTo>
                        <a:pt x="497" y="5"/>
                      </a:lnTo>
                      <a:lnTo>
                        <a:pt x="502" y="3"/>
                      </a:lnTo>
                      <a:lnTo>
                        <a:pt x="508" y="2"/>
                      </a:lnTo>
                      <a:lnTo>
                        <a:pt x="513" y="2"/>
                      </a:lnTo>
                      <a:lnTo>
                        <a:pt x="513" y="1"/>
                      </a:lnTo>
                      <a:lnTo>
                        <a:pt x="513" y="0"/>
                      </a:lnTo>
                      <a:lnTo>
                        <a:pt x="513" y="0"/>
                      </a:lnTo>
                      <a:lnTo>
                        <a:pt x="512" y="0"/>
                      </a:lnTo>
                      <a:lnTo>
                        <a:pt x="511" y="1"/>
                      </a:lnTo>
                      <a:lnTo>
                        <a:pt x="509" y="1"/>
                      </a:lnTo>
                      <a:lnTo>
                        <a:pt x="508" y="2"/>
                      </a:lnTo>
                      <a:lnTo>
                        <a:pt x="506" y="4"/>
                      </a:lnTo>
                      <a:close/>
                    </a:path>
                  </a:pathLst>
                </a:custGeom>
                <a:gradFill rotWithShape="0">
                  <a:gsLst>
                    <a:gs pos="0">
                      <a:srgbClr val="686853"/>
                    </a:gs>
                    <a:gs pos="100000">
                      <a:srgbClr val="E1E0B4"/>
                    </a:gs>
                  </a:gsLst>
                  <a:lin ang="5400000" scaled="1"/>
                </a:gradFill>
                <a:ln w="6350">
                  <a:solidFill>
                    <a:srgbClr val="777777"/>
                  </a:solidFill>
                  <a:round/>
                  <a:headEnd/>
                  <a:tailEnd/>
                </a:ln>
              </p:spPr>
              <p:txBody>
                <a:bodyPr/>
                <a:lstStyle/>
                <a:p>
                  <a:endParaRPr lang="fr-FR" sz="2400"/>
                </a:p>
              </p:txBody>
            </p:sp>
            <p:sp>
              <p:nvSpPr>
                <p:cNvPr id="153715" name="Freeform 115"/>
                <p:cNvSpPr>
                  <a:spLocks/>
                </p:cNvSpPr>
                <p:nvPr/>
              </p:nvSpPr>
              <p:spPr bwMode="auto">
                <a:xfrm>
                  <a:off x="703" y="1467"/>
                  <a:ext cx="88" cy="132"/>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close/>
                    </a:path>
                  </a:pathLst>
                </a:custGeom>
                <a:solidFill>
                  <a:srgbClr val="C0C0C0"/>
                </a:solidFill>
                <a:ln w="9525" cap="rnd" cmpd="sng">
                  <a:solidFill>
                    <a:srgbClr val="969696"/>
                  </a:solidFill>
                  <a:prstDash val="solid"/>
                  <a:round/>
                  <a:headEnd type="none" w="med" len="med"/>
                  <a:tailEnd type="none" w="med" len="med"/>
                </a:ln>
                <a:effectLst/>
              </p:spPr>
              <p:txBody>
                <a:bodyPr/>
                <a:lstStyle/>
                <a:p>
                  <a:endParaRPr lang="fr-FR" sz="2400"/>
                </a:p>
              </p:txBody>
            </p:sp>
            <p:sp>
              <p:nvSpPr>
                <p:cNvPr id="153716" name="Freeform 116"/>
                <p:cNvSpPr>
                  <a:spLocks/>
                </p:cNvSpPr>
                <p:nvPr/>
              </p:nvSpPr>
              <p:spPr bwMode="auto">
                <a:xfrm>
                  <a:off x="703" y="1467"/>
                  <a:ext cx="88" cy="132"/>
                </a:xfrm>
                <a:custGeom>
                  <a:avLst/>
                  <a:gdLst/>
                  <a:ahLst/>
                  <a:cxnLst>
                    <a:cxn ang="0">
                      <a:pos x="223" y="92"/>
                    </a:cxn>
                    <a:cxn ang="0">
                      <a:pos x="194" y="71"/>
                    </a:cxn>
                    <a:cxn ang="0">
                      <a:pos x="161" y="48"/>
                    </a:cxn>
                    <a:cxn ang="0">
                      <a:pos x="131" y="33"/>
                    </a:cxn>
                    <a:cxn ang="0">
                      <a:pos x="110" y="41"/>
                    </a:cxn>
                    <a:cxn ang="0">
                      <a:pos x="96" y="64"/>
                    </a:cxn>
                    <a:cxn ang="0">
                      <a:pos x="85" y="85"/>
                    </a:cxn>
                    <a:cxn ang="0">
                      <a:pos x="73" y="104"/>
                    </a:cxn>
                    <a:cxn ang="0">
                      <a:pos x="67" y="160"/>
                    </a:cxn>
                    <a:cxn ang="0">
                      <a:pos x="87" y="186"/>
                    </a:cxn>
                    <a:cxn ang="0">
                      <a:pos x="112" y="225"/>
                    </a:cxn>
                    <a:cxn ang="0">
                      <a:pos x="133" y="267"/>
                    </a:cxn>
                    <a:cxn ang="0">
                      <a:pos x="140" y="302"/>
                    </a:cxn>
                    <a:cxn ang="0">
                      <a:pos x="158" y="309"/>
                    </a:cxn>
                    <a:cxn ang="0">
                      <a:pos x="175" y="325"/>
                    </a:cxn>
                    <a:cxn ang="0">
                      <a:pos x="190" y="342"/>
                    </a:cxn>
                    <a:cxn ang="0">
                      <a:pos x="202" y="357"/>
                    </a:cxn>
                    <a:cxn ang="0">
                      <a:pos x="194" y="357"/>
                    </a:cxn>
                    <a:cxn ang="0">
                      <a:pos x="188" y="353"/>
                    </a:cxn>
                    <a:cxn ang="0">
                      <a:pos x="183" y="348"/>
                    </a:cxn>
                    <a:cxn ang="0">
                      <a:pos x="177" y="342"/>
                    </a:cxn>
                    <a:cxn ang="0">
                      <a:pos x="150" y="338"/>
                    </a:cxn>
                    <a:cxn ang="0">
                      <a:pos x="123" y="327"/>
                    </a:cxn>
                    <a:cxn ang="0">
                      <a:pos x="100" y="309"/>
                    </a:cxn>
                    <a:cxn ang="0">
                      <a:pos x="77" y="286"/>
                    </a:cxn>
                    <a:cxn ang="0">
                      <a:pos x="39" y="234"/>
                    </a:cxn>
                    <a:cxn ang="0">
                      <a:pos x="0" y="183"/>
                    </a:cxn>
                    <a:cxn ang="0">
                      <a:pos x="19" y="94"/>
                    </a:cxn>
                    <a:cxn ang="0">
                      <a:pos x="54" y="48"/>
                    </a:cxn>
                    <a:cxn ang="0">
                      <a:pos x="83" y="19"/>
                    </a:cxn>
                    <a:cxn ang="0">
                      <a:pos x="104" y="6"/>
                    </a:cxn>
                    <a:cxn ang="0">
                      <a:pos x="129" y="0"/>
                    </a:cxn>
                    <a:cxn ang="0">
                      <a:pos x="156" y="4"/>
                    </a:cxn>
                    <a:cxn ang="0">
                      <a:pos x="183" y="12"/>
                    </a:cxn>
                    <a:cxn ang="0">
                      <a:pos x="202" y="25"/>
                    </a:cxn>
                    <a:cxn ang="0">
                      <a:pos x="219" y="44"/>
                    </a:cxn>
                    <a:cxn ang="0">
                      <a:pos x="232" y="66"/>
                    </a:cxn>
                    <a:cxn ang="0">
                      <a:pos x="236" y="81"/>
                    </a:cxn>
                    <a:cxn ang="0">
                      <a:pos x="236" y="87"/>
                    </a:cxn>
                    <a:cxn ang="0">
                      <a:pos x="236" y="92"/>
                    </a:cxn>
                    <a:cxn ang="0">
                      <a:pos x="236" y="98"/>
                    </a:cxn>
                  </a:cxnLst>
                  <a:rect l="0" t="0" r="r" b="b"/>
                  <a:pathLst>
                    <a:path w="236" h="357">
                      <a:moveTo>
                        <a:pt x="234" y="100"/>
                      </a:moveTo>
                      <a:lnTo>
                        <a:pt x="223" y="92"/>
                      </a:lnTo>
                      <a:lnTo>
                        <a:pt x="208" y="83"/>
                      </a:lnTo>
                      <a:lnTo>
                        <a:pt x="194" y="71"/>
                      </a:lnTo>
                      <a:lnTo>
                        <a:pt x="177" y="60"/>
                      </a:lnTo>
                      <a:lnTo>
                        <a:pt x="161" y="48"/>
                      </a:lnTo>
                      <a:lnTo>
                        <a:pt x="146" y="41"/>
                      </a:lnTo>
                      <a:lnTo>
                        <a:pt x="131" y="33"/>
                      </a:lnTo>
                      <a:lnTo>
                        <a:pt x="117" y="31"/>
                      </a:lnTo>
                      <a:lnTo>
                        <a:pt x="110" y="41"/>
                      </a:lnTo>
                      <a:lnTo>
                        <a:pt x="104" y="52"/>
                      </a:lnTo>
                      <a:lnTo>
                        <a:pt x="96" y="64"/>
                      </a:lnTo>
                      <a:lnTo>
                        <a:pt x="90" y="75"/>
                      </a:lnTo>
                      <a:lnTo>
                        <a:pt x="85" y="85"/>
                      </a:lnTo>
                      <a:lnTo>
                        <a:pt x="79" y="96"/>
                      </a:lnTo>
                      <a:lnTo>
                        <a:pt x="73" y="104"/>
                      </a:lnTo>
                      <a:lnTo>
                        <a:pt x="67" y="112"/>
                      </a:lnTo>
                      <a:lnTo>
                        <a:pt x="67" y="160"/>
                      </a:lnTo>
                      <a:lnTo>
                        <a:pt x="77" y="171"/>
                      </a:lnTo>
                      <a:lnTo>
                        <a:pt x="87" y="186"/>
                      </a:lnTo>
                      <a:lnTo>
                        <a:pt x="98" y="204"/>
                      </a:lnTo>
                      <a:lnTo>
                        <a:pt x="112" y="225"/>
                      </a:lnTo>
                      <a:lnTo>
                        <a:pt x="123" y="246"/>
                      </a:lnTo>
                      <a:lnTo>
                        <a:pt x="133" y="267"/>
                      </a:lnTo>
                      <a:lnTo>
                        <a:pt x="138" y="286"/>
                      </a:lnTo>
                      <a:lnTo>
                        <a:pt x="140" y="302"/>
                      </a:lnTo>
                      <a:lnTo>
                        <a:pt x="148" y="304"/>
                      </a:lnTo>
                      <a:lnTo>
                        <a:pt x="158" y="309"/>
                      </a:lnTo>
                      <a:lnTo>
                        <a:pt x="165" y="315"/>
                      </a:lnTo>
                      <a:lnTo>
                        <a:pt x="175" y="325"/>
                      </a:lnTo>
                      <a:lnTo>
                        <a:pt x="183" y="334"/>
                      </a:lnTo>
                      <a:lnTo>
                        <a:pt x="190" y="342"/>
                      </a:lnTo>
                      <a:lnTo>
                        <a:pt x="196" y="352"/>
                      </a:lnTo>
                      <a:lnTo>
                        <a:pt x="202" y="357"/>
                      </a:lnTo>
                      <a:lnTo>
                        <a:pt x="198" y="357"/>
                      </a:lnTo>
                      <a:lnTo>
                        <a:pt x="194" y="357"/>
                      </a:lnTo>
                      <a:lnTo>
                        <a:pt x="190" y="355"/>
                      </a:lnTo>
                      <a:lnTo>
                        <a:pt x="188" y="353"/>
                      </a:lnTo>
                      <a:lnTo>
                        <a:pt x="184" y="352"/>
                      </a:lnTo>
                      <a:lnTo>
                        <a:pt x="183" y="348"/>
                      </a:lnTo>
                      <a:lnTo>
                        <a:pt x="181" y="346"/>
                      </a:lnTo>
                      <a:lnTo>
                        <a:pt x="177" y="342"/>
                      </a:lnTo>
                      <a:lnTo>
                        <a:pt x="163" y="342"/>
                      </a:lnTo>
                      <a:lnTo>
                        <a:pt x="150" y="338"/>
                      </a:lnTo>
                      <a:lnTo>
                        <a:pt x="137" y="332"/>
                      </a:lnTo>
                      <a:lnTo>
                        <a:pt x="123" y="327"/>
                      </a:lnTo>
                      <a:lnTo>
                        <a:pt x="112" y="319"/>
                      </a:lnTo>
                      <a:lnTo>
                        <a:pt x="100" y="309"/>
                      </a:lnTo>
                      <a:lnTo>
                        <a:pt x="89" y="298"/>
                      </a:lnTo>
                      <a:lnTo>
                        <a:pt x="77" y="286"/>
                      </a:lnTo>
                      <a:lnTo>
                        <a:pt x="58" y="261"/>
                      </a:lnTo>
                      <a:lnTo>
                        <a:pt x="39" y="234"/>
                      </a:lnTo>
                      <a:lnTo>
                        <a:pt x="19" y="208"/>
                      </a:lnTo>
                      <a:lnTo>
                        <a:pt x="0" y="183"/>
                      </a:lnTo>
                      <a:lnTo>
                        <a:pt x="0" y="119"/>
                      </a:lnTo>
                      <a:lnTo>
                        <a:pt x="19" y="94"/>
                      </a:lnTo>
                      <a:lnTo>
                        <a:pt x="37" y="71"/>
                      </a:lnTo>
                      <a:lnTo>
                        <a:pt x="54" y="48"/>
                      </a:lnTo>
                      <a:lnTo>
                        <a:pt x="73" y="27"/>
                      </a:lnTo>
                      <a:lnTo>
                        <a:pt x="83" y="19"/>
                      </a:lnTo>
                      <a:lnTo>
                        <a:pt x="92" y="12"/>
                      </a:lnTo>
                      <a:lnTo>
                        <a:pt x="104" y="6"/>
                      </a:lnTo>
                      <a:lnTo>
                        <a:pt x="115" y="2"/>
                      </a:lnTo>
                      <a:lnTo>
                        <a:pt x="129" y="0"/>
                      </a:lnTo>
                      <a:lnTo>
                        <a:pt x="142" y="0"/>
                      </a:lnTo>
                      <a:lnTo>
                        <a:pt x="156" y="4"/>
                      </a:lnTo>
                      <a:lnTo>
                        <a:pt x="171" y="8"/>
                      </a:lnTo>
                      <a:lnTo>
                        <a:pt x="183" y="12"/>
                      </a:lnTo>
                      <a:lnTo>
                        <a:pt x="192" y="18"/>
                      </a:lnTo>
                      <a:lnTo>
                        <a:pt x="202" y="25"/>
                      </a:lnTo>
                      <a:lnTo>
                        <a:pt x="211" y="33"/>
                      </a:lnTo>
                      <a:lnTo>
                        <a:pt x="219" y="44"/>
                      </a:lnTo>
                      <a:lnTo>
                        <a:pt x="227" y="54"/>
                      </a:lnTo>
                      <a:lnTo>
                        <a:pt x="232" y="66"/>
                      </a:lnTo>
                      <a:lnTo>
                        <a:pt x="236" y="77"/>
                      </a:lnTo>
                      <a:lnTo>
                        <a:pt x="236" y="81"/>
                      </a:lnTo>
                      <a:lnTo>
                        <a:pt x="236" y="83"/>
                      </a:lnTo>
                      <a:lnTo>
                        <a:pt x="236" y="87"/>
                      </a:lnTo>
                      <a:lnTo>
                        <a:pt x="236" y="90"/>
                      </a:lnTo>
                      <a:lnTo>
                        <a:pt x="236" y="92"/>
                      </a:lnTo>
                      <a:lnTo>
                        <a:pt x="236" y="96"/>
                      </a:lnTo>
                      <a:lnTo>
                        <a:pt x="236" y="98"/>
                      </a:lnTo>
                      <a:lnTo>
                        <a:pt x="234" y="100"/>
                      </a:lnTo>
                    </a:path>
                  </a:pathLst>
                </a:custGeom>
                <a:solidFill>
                  <a:srgbClr val="969696"/>
                </a:solidFill>
                <a:ln w="9525" cap="rnd" cmpd="sng">
                  <a:solidFill>
                    <a:srgbClr val="969696"/>
                  </a:solidFill>
                  <a:prstDash val="solid"/>
                  <a:round/>
                  <a:headEnd type="none" w="med" len="med"/>
                  <a:tailEnd type="none" w="med" len="med"/>
                </a:ln>
                <a:effectLst/>
              </p:spPr>
              <p:txBody>
                <a:bodyPr/>
                <a:lstStyle/>
                <a:p>
                  <a:endParaRPr lang="fr-FR" sz="2400"/>
                </a:p>
              </p:txBody>
            </p:sp>
            <p:sp>
              <p:nvSpPr>
                <p:cNvPr id="153717" name="Freeform 117"/>
                <p:cNvSpPr>
                  <a:spLocks/>
                </p:cNvSpPr>
                <p:nvPr/>
              </p:nvSpPr>
              <p:spPr bwMode="auto">
                <a:xfrm>
                  <a:off x="541" y="1255"/>
                  <a:ext cx="432" cy="539"/>
                </a:xfrm>
                <a:custGeom>
                  <a:avLst/>
                  <a:gdLst/>
                  <a:ahLst/>
                  <a:cxnLst>
                    <a:cxn ang="0">
                      <a:pos x="1046" y="365"/>
                    </a:cxn>
                    <a:cxn ang="0">
                      <a:pos x="1059" y="380"/>
                    </a:cxn>
                    <a:cxn ang="0">
                      <a:pos x="1067" y="438"/>
                    </a:cxn>
                    <a:cxn ang="0">
                      <a:pos x="1107" y="582"/>
                    </a:cxn>
                    <a:cxn ang="0">
                      <a:pos x="1126" y="682"/>
                    </a:cxn>
                    <a:cxn ang="0">
                      <a:pos x="1105" y="810"/>
                    </a:cxn>
                    <a:cxn ang="0">
                      <a:pos x="1142" y="891"/>
                    </a:cxn>
                    <a:cxn ang="0">
                      <a:pos x="1165" y="958"/>
                    </a:cxn>
                    <a:cxn ang="0">
                      <a:pos x="1149" y="987"/>
                    </a:cxn>
                    <a:cxn ang="0">
                      <a:pos x="1122" y="1002"/>
                    </a:cxn>
                    <a:cxn ang="0">
                      <a:pos x="1076" y="1002"/>
                    </a:cxn>
                    <a:cxn ang="0">
                      <a:pos x="1057" y="1014"/>
                    </a:cxn>
                    <a:cxn ang="0">
                      <a:pos x="1073" y="1091"/>
                    </a:cxn>
                    <a:cxn ang="0">
                      <a:pos x="1048" y="1094"/>
                    </a:cxn>
                    <a:cxn ang="0">
                      <a:pos x="1019" y="1098"/>
                    </a:cxn>
                    <a:cxn ang="0">
                      <a:pos x="1017" y="1140"/>
                    </a:cxn>
                    <a:cxn ang="0">
                      <a:pos x="1048" y="1169"/>
                    </a:cxn>
                    <a:cxn ang="0">
                      <a:pos x="1038" y="1194"/>
                    </a:cxn>
                    <a:cxn ang="0">
                      <a:pos x="1011" y="1219"/>
                    </a:cxn>
                    <a:cxn ang="0">
                      <a:pos x="1019" y="1317"/>
                    </a:cxn>
                    <a:cxn ang="0">
                      <a:pos x="969" y="1354"/>
                    </a:cxn>
                    <a:cxn ang="0">
                      <a:pos x="900" y="1369"/>
                    </a:cxn>
                    <a:cxn ang="0">
                      <a:pos x="781" y="1367"/>
                    </a:cxn>
                    <a:cxn ang="0">
                      <a:pos x="685" y="1380"/>
                    </a:cxn>
                    <a:cxn ang="0">
                      <a:pos x="639" y="1413"/>
                    </a:cxn>
                    <a:cxn ang="0">
                      <a:pos x="600" y="1453"/>
                    </a:cxn>
                    <a:cxn ang="0">
                      <a:pos x="547" y="1409"/>
                    </a:cxn>
                    <a:cxn ang="0">
                      <a:pos x="456" y="1304"/>
                    </a:cxn>
                    <a:cxn ang="0">
                      <a:pos x="364" y="1233"/>
                    </a:cxn>
                    <a:cxn ang="0">
                      <a:pos x="207" y="1083"/>
                    </a:cxn>
                    <a:cxn ang="0">
                      <a:pos x="113" y="1016"/>
                    </a:cxn>
                    <a:cxn ang="0">
                      <a:pos x="57" y="1000"/>
                    </a:cxn>
                    <a:cxn ang="0">
                      <a:pos x="15" y="1002"/>
                    </a:cxn>
                    <a:cxn ang="0">
                      <a:pos x="5" y="996"/>
                    </a:cxn>
                    <a:cxn ang="0">
                      <a:pos x="11" y="977"/>
                    </a:cxn>
                    <a:cxn ang="0">
                      <a:pos x="48" y="899"/>
                    </a:cxn>
                    <a:cxn ang="0">
                      <a:pos x="67" y="785"/>
                    </a:cxn>
                    <a:cxn ang="0">
                      <a:pos x="65" y="538"/>
                    </a:cxn>
                    <a:cxn ang="0">
                      <a:pos x="74" y="319"/>
                    </a:cxn>
                    <a:cxn ang="0">
                      <a:pos x="99" y="229"/>
                    </a:cxn>
                    <a:cxn ang="0">
                      <a:pos x="182" y="112"/>
                    </a:cxn>
                    <a:cxn ang="0">
                      <a:pos x="253" y="54"/>
                    </a:cxn>
                    <a:cxn ang="0">
                      <a:pos x="280" y="44"/>
                    </a:cxn>
                    <a:cxn ang="0">
                      <a:pos x="337" y="29"/>
                    </a:cxn>
                    <a:cxn ang="0">
                      <a:pos x="493" y="2"/>
                    </a:cxn>
                    <a:cxn ang="0">
                      <a:pos x="581" y="4"/>
                    </a:cxn>
                    <a:cxn ang="0">
                      <a:pos x="660" y="31"/>
                    </a:cxn>
                    <a:cxn ang="0">
                      <a:pos x="748" y="58"/>
                    </a:cxn>
                    <a:cxn ang="0">
                      <a:pos x="835" y="92"/>
                    </a:cxn>
                    <a:cxn ang="0">
                      <a:pos x="954" y="204"/>
                    </a:cxn>
                    <a:cxn ang="0">
                      <a:pos x="1009" y="279"/>
                    </a:cxn>
                    <a:cxn ang="0">
                      <a:pos x="1028" y="327"/>
                    </a:cxn>
                    <a:cxn ang="0">
                      <a:pos x="1042" y="340"/>
                    </a:cxn>
                  </a:cxnLst>
                  <a:rect l="0" t="0" r="r" b="b"/>
                  <a:pathLst>
                    <a:path w="1165" h="1455">
                      <a:moveTo>
                        <a:pt x="1036" y="357"/>
                      </a:moveTo>
                      <a:lnTo>
                        <a:pt x="1038" y="357"/>
                      </a:lnTo>
                      <a:lnTo>
                        <a:pt x="1042" y="361"/>
                      </a:lnTo>
                      <a:lnTo>
                        <a:pt x="1046" y="365"/>
                      </a:lnTo>
                      <a:lnTo>
                        <a:pt x="1050" y="369"/>
                      </a:lnTo>
                      <a:lnTo>
                        <a:pt x="1051" y="375"/>
                      </a:lnTo>
                      <a:lnTo>
                        <a:pt x="1055" y="378"/>
                      </a:lnTo>
                      <a:lnTo>
                        <a:pt x="1059" y="380"/>
                      </a:lnTo>
                      <a:lnTo>
                        <a:pt x="1061" y="380"/>
                      </a:lnTo>
                      <a:lnTo>
                        <a:pt x="1061" y="399"/>
                      </a:lnTo>
                      <a:lnTo>
                        <a:pt x="1063" y="419"/>
                      </a:lnTo>
                      <a:lnTo>
                        <a:pt x="1067" y="438"/>
                      </a:lnTo>
                      <a:lnTo>
                        <a:pt x="1071" y="457"/>
                      </a:lnTo>
                      <a:lnTo>
                        <a:pt x="1082" y="499"/>
                      </a:lnTo>
                      <a:lnTo>
                        <a:pt x="1094" y="540"/>
                      </a:lnTo>
                      <a:lnTo>
                        <a:pt x="1107" y="582"/>
                      </a:lnTo>
                      <a:lnTo>
                        <a:pt x="1117" y="624"/>
                      </a:lnTo>
                      <a:lnTo>
                        <a:pt x="1122" y="643"/>
                      </a:lnTo>
                      <a:lnTo>
                        <a:pt x="1124" y="662"/>
                      </a:lnTo>
                      <a:lnTo>
                        <a:pt x="1126" y="682"/>
                      </a:lnTo>
                      <a:lnTo>
                        <a:pt x="1128" y="699"/>
                      </a:lnTo>
                      <a:lnTo>
                        <a:pt x="1098" y="739"/>
                      </a:lnTo>
                      <a:lnTo>
                        <a:pt x="1098" y="787"/>
                      </a:lnTo>
                      <a:lnTo>
                        <a:pt x="1105" y="810"/>
                      </a:lnTo>
                      <a:lnTo>
                        <a:pt x="1113" y="831"/>
                      </a:lnTo>
                      <a:lnTo>
                        <a:pt x="1122" y="851"/>
                      </a:lnTo>
                      <a:lnTo>
                        <a:pt x="1132" y="872"/>
                      </a:lnTo>
                      <a:lnTo>
                        <a:pt x="1142" y="891"/>
                      </a:lnTo>
                      <a:lnTo>
                        <a:pt x="1151" y="912"/>
                      </a:lnTo>
                      <a:lnTo>
                        <a:pt x="1159" y="931"/>
                      </a:lnTo>
                      <a:lnTo>
                        <a:pt x="1165" y="952"/>
                      </a:lnTo>
                      <a:lnTo>
                        <a:pt x="1165" y="958"/>
                      </a:lnTo>
                      <a:lnTo>
                        <a:pt x="1163" y="964"/>
                      </a:lnTo>
                      <a:lnTo>
                        <a:pt x="1159" y="972"/>
                      </a:lnTo>
                      <a:lnTo>
                        <a:pt x="1155" y="979"/>
                      </a:lnTo>
                      <a:lnTo>
                        <a:pt x="1149" y="987"/>
                      </a:lnTo>
                      <a:lnTo>
                        <a:pt x="1144" y="993"/>
                      </a:lnTo>
                      <a:lnTo>
                        <a:pt x="1138" y="998"/>
                      </a:lnTo>
                      <a:lnTo>
                        <a:pt x="1132" y="1002"/>
                      </a:lnTo>
                      <a:lnTo>
                        <a:pt x="1122" y="1002"/>
                      </a:lnTo>
                      <a:lnTo>
                        <a:pt x="1113" y="1000"/>
                      </a:lnTo>
                      <a:lnTo>
                        <a:pt x="1101" y="1000"/>
                      </a:lnTo>
                      <a:lnTo>
                        <a:pt x="1088" y="1000"/>
                      </a:lnTo>
                      <a:lnTo>
                        <a:pt x="1076" y="1002"/>
                      </a:lnTo>
                      <a:lnTo>
                        <a:pt x="1067" y="1006"/>
                      </a:lnTo>
                      <a:lnTo>
                        <a:pt x="1063" y="1008"/>
                      </a:lnTo>
                      <a:lnTo>
                        <a:pt x="1059" y="1010"/>
                      </a:lnTo>
                      <a:lnTo>
                        <a:pt x="1057" y="1014"/>
                      </a:lnTo>
                      <a:lnTo>
                        <a:pt x="1055" y="1018"/>
                      </a:lnTo>
                      <a:lnTo>
                        <a:pt x="1055" y="1035"/>
                      </a:lnTo>
                      <a:lnTo>
                        <a:pt x="1073" y="1058"/>
                      </a:lnTo>
                      <a:lnTo>
                        <a:pt x="1073" y="1091"/>
                      </a:lnTo>
                      <a:lnTo>
                        <a:pt x="1069" y="1091"/>
                      </a:lnTo>
                      <a:lnTo>
                        <a:pt x="1061" y="1091"/>
                      </a:lnTo>
                      <a:lnTo>
                        <a:pt x="1055" y="1092"/>
                      </a:lnTo>
                      <a:lnTo>
                        <a:pt x="1048" y="1094"/>
                      </a:lnTo>
                      <a:lnTo>
                        <a:pt x="1040" y="1094"/>
                      </a:lnTo>
                      <a:lnTo>
                        <a:pt x="1032" y="1096"/>
                      </a:lnTo>
                      <a:lnTo>
                        <a:pt x="1025" y="1096"/>
                      </a:lnTo>
                      <a:lnTo>
                        <a:pt x="1019" y="1098"/>
                      </a:lnTo>
                      <a:lnTo>
                        <a:pt x="1000" y="1121"/>
                      </a:lnTo>
                      <a:lnTo>
                        <a:pt x="1005" y="1127"/>
                      </a:lnTo>
                      <a:lnTo>
                        <a:pt x="1011" y="1133"/>
                      </a:lnTo>
                      <a:lnTo>
                        <a:pt x="1017" y="1140"/>
                      </a:lnTo>
                      <a:lnTo>
                        <a:pt x="1025" y="1146"/>
                      </a:lnTo>
                      <a:lnTo>
                        <a:pt x="1032" y="1154"/>
                      </a:lnTo>
                      <a:lnTo>
                        <a:pt x="1040" y="1162"/>
                      </a:lnTo>
                      <a:lnTo>
                        <a:pt x="1048" y="1169"/>
                      </a:lnTo>
                      <a:lnTo>
                        <a:pt x="1055" y="1177"/>
                      </a:lnTo>
                      <a:lnTo>
                        <a:pt x="1050" y="1183"/>
                      </a:lnTo>
                      <a:lnTo>
                        <a:pt x="1044" y="1188"/>
                      </a:lnTo>
                      <a:lnTo>
                        <a:pt x="1038" y="1194"/>
                      </a:lnTo>
                      <a:lnTo>
                        <a:pt x="1030" y="1202"/>
                      </a:lnTo>
                      <a:lnTo>
                        <a:pt x="1023" y="1208"/>
                      </a:lnTo>
                      <a:lnTo>
                        <a:pt x="1017" y="1213"/>
                      </a:lnTo>
                      <a:lnTo>
                        <a:pt x="1011" y="1219"/>
                      </a:lnTo>
                      <a:lnTo>
                        <a:pt x="1005" y="1225"/>
                      </a:lnTo>
                      <a:lnTo>
                        <a:pt x="1030" y="1258"/>
                      </a:lnTo>
                      <a:lnTo>
                        <a:pt x="1030" y="1306"/>
                      </a:lnTo>
                      <a:lnTo>
                        <a:pt x="1019" y="1317"/>
                      </a:lnTo>
                      <a:lnTo>
                        <a:pt x="1007" y="1329"/>
                      </a:lnTo>
                      <a:lnTo>
                        <a:pt x="996" y="1338"/>
                      </a:lnTo>
                      <a:lnTo>
                        <a:pt x="982" y="1348"/>
                      </a:lnTo>
                      <a:lnTo>
                        <a:pt x="969" y="1354"/>
                      </a:lnTo>
                      <a:lnTo>
                        <a:pt x="955" y="1359"/>
                      </a:lnTo>
                      <a:lnTo>
                        <a:pt x="942" y="1363"/>
                      </a:lnTo>
                      <a:lnTo>
                        <a:pt x="929" y="1367"/>
                      </a:lnTo>
                      <a:lnTo>
                        <a:pt x="900" y="1369"/>
                      </a:lnTo>
                      <a:lnTo>
                        <a:pt x="871" y="1371"/>
                      </a:lnTo>
                      <a:lnTo>
                        <a:pt x="840" y="1369"/>
                      </a:lnTo>
                      <a:lnTo>
                        <a:pt x="812" y="1369"/>
                      </a:lnTo>
                      <a:lnTo>
                        <a:pt x="781" y="1367"/>
                      </a:lnTo>
                      <a:lnTo>
                        <a:pt x="752" y="1367"/>
                      </a:lnTo>
                      <a:lnTo>
                        <a:pt x="723" y="1371"/>
                      </a:lnTo>
                      <a:lnTo>
                        <a:pt x="698" y="1377"/>
                      </a:lnTo>
                      <a:lnTo>
                        <a:pt x="685" y="1380"/>
                      </a:lnTo>
                      <a:lnTo>
                        <a:pt x="671" y="1386"/>
                      </a:lnTo>
                      <a:lnTo>
                        <a:pt x="660" y="1394"/>
                      </a:lnTo>
                      <a:lnTo>
                        <a:pt x="648" y="1403"/>
                      </a:lnTo>
                      <a:lnTo>
                        <a:pt x="639" y="1413"/>
                      </a:lnTo>
                      <a:lnTo>
                        <a:pt x="627" y="1425"/>
                      </a:lnTo>
                      <a:lnTo>
                        <a:pt x="618" y="1440"/>
                      </a:lnTo>
                      <a:lnTo>
                        <a:pt x="610" y="1455"/>
                      </a:lnTo>
                      <a:lnTo>
                        <a:pt x="600" y="1453"/>
                      </a:lnTo>
                      <a:lnTo>
                        <a:pt x="591" y="1450"/>
                      </a:lnTo>
                      <a:lnTo>
                        <a:pt x="581" y="1442"/>
                      </a:lnTo>
                      <a:lnTo>
                        <a:pt x="570" y="1432"/>
                      </a:lnTo>
                      <a:lnTo>
                        <a:pt x="547" y="1409"/>
                      </a:lnTo>
                      <a:lnTo>
                        <a:pt x="524" y="1380"/>
                      </a:lnTo>
                      <a:lnTo>
                        <a:pt x="501" y="1352"/>
                      </a:lnTo>
                      <a:lnTo>
                        <a:pt x="478" y="1325"/>
                      </a:lnTo>
                      <a:lnTo>
                        <a:pt x="456" y="1304"/>
                      </a:lnTo>
                      <a:lnTo>
                        <a:pt x="439" y="1288"/>
                      </a:lnTo>
                      <a:lnTo>
                        <a:pt x="414" y="1273"/>
                      </a:lnTo>
                      <a:lnTo>
                        <a:pt x="389" y="1254"/>
                      </a:lnTo>
                      <a:lnTo>
                        <a:pt x="364" y="1233"/>
                      </a:lnTo>
                      <a:lnTo>
                        <a:pt x="339" y="1210"/>
                      </a:lnTo>
                      <a:lnTo>
                        <a:pt x="288" y="1158"/>
                      </a:lnTo>
                      <a:lnTo>
                        <a:pt x="234" y="1106"/>
                      </a:lnTo>
                      <a:lnTo>
                        <a:pt x="207" y="1083"/>
                      </a:lnTo>
                      <a:lnTo>
                        <a:pt x="180" y="1060"/>
                      </a:lnTo>
                      <a:lnTo>
                        <a:pt x="153" y="1041"/>
                      </a:lnTo>
                      <a:lnTo>
                        <a:pt x="126" y="1023"/>
                      </a:lnTo>
                      <a:lnTo>
                        <a:pt x="113" y="1016"/>
                      </a:lnTo>
                      <a:lnTo>
                        <a:pt x="99" y="1010"/>
                      </a:lnTo>
                      <a:lnTo>
                        <a:pt x="86" y="1006"/>
                      </a:lnTo>
                      <a:lnTo>
                        <a:pt x="71" y="1002"/>
                      </a:lnTo>
                      <a:lnTo>
                        <a:pt x="57" y="1000"/>
                      </a:lnTo>
                      <a:lnTo>
                        <a:pt x="44" y="1000"/>
                      </a:lnTo>
                      <a:lnTo>
                        <a:pt x="30" y="1000"/>
                      </a:lnTo>
                      <a:lnTo>
                        <a:pt x="17" y="1002"/>
                      </a:lnTo>
                      <a:lnTo>
                        <a:pt x="15" y="1002"/>
                      </a:lnTo>
                      <a:lnTo>
                        <a:pt x="13" y="1000"/>
                      </a:lnTo>
                      <a:lnTo>
                        <a:pt x="9" y="1000"/>
                      </a:lnTo>
                      <a:lnTo>
                        <a:pt x="7" y="998"/>
                      </a:lnTo>
                      <a:lnTo>
                        <a:pt x="5" y="996"/>
                      </a:lnTo>
                      <a:lnTo>
                        <a:pt x="3" y="995"/>
                      </a:lnTo>
                      <a:lnTo>
                        <a:pt x="1" y="995"/>
                      </a:lnTo>
                      <a:lnTo>
                        <a:pt x="0" y="995"/>
                      </a:lnTo>
                      <a:lnTo>
                        <a:pt x="11" y="977"/>
                      </a:lnTo>
                      <a:lnTo>
                        <a:pt x="23" y="958"/>
                      </a:lnTo>
                      <a:lnTo>
                        <a:pt x="32" y="939"/>
                      </a:lnTo>
                      <a:lnTo>
                        <a:pt x="40" y="920"/>
                      </a:lnTo>
                      <a:lnTo>
                        <a:pt x="48" y="899"/>
                      </a:lnTo>
                      <a:lnTo>
                        <a:pt x="53" y="877"/>
                      </a:lnTo>
                      <a:lnTo>
                        <a:pt x="57" y="854"/>
                      </a:lnTo>
                      <a:lnTo>
                        <a:pt x="61" y="833"/>
                      </a:lnTo>
                      <a:lnTo>
                        <a:pt x="67" y="785"/>
                      </a:lnTo>
                      <a:lnTo>
                        <a:pt x="71" y="737"/>
                      </a:lnTo>
                      <a:lnTo>
                        <a:pt x="71" y="689"/>
                      </a:lnTo>
                      <a:lnTo>
                        <a:pt x="69" y="639"/>
                      </a:lnTo>
                      <a:lnTo>
                        <a:pt x="65" y="538"/>
                      </a:lnTo>
                      <a:lnTo>
                        <a:pt x="65" y="438"/>
                      </a:lnTo>
                      <a:lnTo>
                        <a:pt x="67" y="390"/>
                      </a:lnTo>
                      <a:lnTo>
                        <a:pt x="71" y="342"/>
                      </a:lnTo>
                      <a:lnTo>
                        <a:pt x="74" y="319"/>
                      </a:lnTo>
                      <a:lnTo>
                        <a:pt x="78" y="298"/>
                      </a:lnTo>
                      <a:lnTo>
                        <a:pt x="84" y="275"/>
                      </a:lnTo>
                      <a:lnTo>
                        <a:pt x="90" y="254"/>
                      </a:lnTo>
                      <a:lnTo>
                        <a:pt x="99" y="229"/>
                      </a:lnTo>
                      <a:lnTo>
                        <a:pt x="115" y="200"/>
                      </a:lnTo>
                      <a:lnTo>
                        <a:pt x="136" y="169"/>
                      </a:lnTo>
                      <a:lnTo>
                        <a:pt x="157" y="138"/>
                      </a:lnTo>
                      <a:lnTo>
                        <a:pt x="182" y="112"/>
                      </a:lnTo>
                      <a:lnTo>
                        <a:pt x="205" y="87"/>
                      </a:lnTo>
                      <a:lnTo>
                        <a:pt x="228" y="67"/>
                      </a:lnTo>
                      <a:lnTo>
                        <a:pt x="249" y="54"/>
                      </a:lnTo>
                      <a:lnTo>
                        <a:pt x="253" y="54"/>
                      </a:lnTo>
                      <a:lnTo>
                        <a:pt x="261" y="52"/>
                      </a:lnTo>
                      <a:lnTo>
                        <a:pt x="266" y="50"/>
                      </a:lnTo>
                      <a:lnTo>
                        <a:pt x="274" y="46"/>
                      </a:lnTo>
                      <a:lnTo>
                        <a:pt x="280" y="44"/>
                      </a:lnTo>
                      <a:lnTo>
                        <a:pt x="288" y="41"/>
                      </a:lnTo>
                      <a:lnTo>
                        <a:pt x="293" y="41"/>
                      </a:lnTo>
                      <a:lnTo>
                        <a:pt x="297" y="39"/>
                      </a:lnTo>
                      <a:lnTo>
                        <a:pt x="337" y="29"/>
                      </a:lnTo>
                      <a:lnTo>
                        <a:pt x="382" y="19"/>
                      </a:lnTo>
                      <a:lnTo>
                        <a:pt x="426" y="10"/>
                      </a:lnTo>
                      <a:lnTo>
                        <a:pt x="472" y="4"/>
                      </a:lnTo>
                      <a:lnTo>
                        <a:pt x="493" y="2"/>
                      </a:lnTo>
                      <a:lnTo>
                        <a:pt x="516" y="0"/>
                      </a:lnTo>
                      <a:lnTo>
                        <a:pt x="539" y="0"/>
                      </a:lnTo>
                      <a:lnTo>
                        <a:pt x="560" y="2"/>
                      </a:lnTo>
                      <a:lnTo>
                        <a:pt x="581" y="4"/>
                      </a:lnTo>
                      <a:lnTo>
                        <a:pt x="600" y="10"/>
                      </a:lnTo>
                      <a:lnTo>
                        <a:pt x="621" y="16"/>
                      </a:lnTo>
                      <a:lnTo>
                        <a:pt x="641" y="23"/>
                      </a:lnTo>
                      <a:lnTo>
                        <a:pt x="660" y="31"/>
                      </a:lnTo>
                      <a:lnTo>
                        <a:pt x="681" y="39"/>
                      </a:lnTo>
                      <a:lnTo>
                        <a:pt x="702" y="44"/>
                      </a:lnTo>
                      <a:lnTo>
                        <a:pt x="725" y="50"/>
                      </a:lnTo>
                      <a:lnTo>
                        <a:pt x="748" y="58"/>
                      </a:lnTo>
                      <a:lnTo>
                        <a:pt x="769" y="64"/>
                      </a:lnTo>
                      <a:lnTo>
                        <a:pt x="790" y="71"/>
                      </a:lnTo>
                      <a:lnTo>
                        <a:pt x="810" y="79"/>
                      </a:lnTo>
                      <a:lnTo>
                        <a:pt x="835" y="92"/>
                      </a:lnTo>
                      <a:lnTo>
                        <a:pt x="865" y="117"/>
                      </a:lnTo>
                      <a:lnTo>
                        <a:pt x="900" y="148"/>
                      </a:lnTo>
                      <a:lnTo>
                        <a:pt x="936" y="185"/>
                      </a:lnTo>
                      <a:lnTo>
                        <a:pt x="954" y="204"/>
                      </a:lnTo>
                      <a:lnTo>
                        <a:pt x="969" y="223"/>
                      </a:lnTo>
                      <a:lnTo>
                        <a:pt x="984" y="242"/>
                      </a:lnTo>
                      <a:lnTo>
                        <a:pt x="998" y="259"/>
                      </a:lnTo>
                      <a:lnTo>
                        <a:pt x="1009" y="279"/>
                      </a:lnTo>
                      <a:lnTo>
                        <a:pt x="1017" y="296"/>
                      </a:lnTo>
                      <a:lnTo>
                        <a:pt x="1023" y="311"/>
                      </a:lnTo>
                      <a:lnTo>
                        <a:pt x="1025" y="325"/>
                      </a:lnTo>
                      <a:lnTo>
                        <a:pt x="1028" y="327"/>
                      </a:lnTo>
                      <a:lnTo>
                        <a:pt x="1032" y="328"/>
                      </a:lnTo>
                      <a:lnTo>
                        <a:pt x="1036" y="330"/>
                      </a:lnTo>
                      <a:lnTo>
                        <a:pt x="1040" y="336"/>
                      </a:lnTo>
                      <a:lnTo>
                        <a:pt x="1042" y="340"/>
                      </a:lnTo>
                      <a:lnTo>
                        <a:pt x="1042" y="346"/>
                      </a:lnTo>
                      <a:lnTo>
                        <a:pt x="1040" y="352"/>
                      </a:lnTo>
                      <a:lnTo>
                        <a:pt x="1036" y="357"/>
                      </a:lnTo>
                      <a:close/>
                    </a:path>
                  </a:pathLst>
                </a:custGeom>
                <a:solidFill>
                  <a:srgbClr val="F5F5E7"/>
                </a:solidFill>
                <a:ln w="9525" cap="rnd" cmpd="sng">
                  <a:solidFill>
                    <a:srgbClr val="969696"/>
                  </a:solidFill>
                  <a:prstDash val="solid"/>
                  <a:round/>
                  <a:headEnd type="none" w="med" len="med"/>
                  <a:tailEnd type="none" w="med" len="med"/>
                </a:ln>
                <a:effectLst/>
              </p:spPr>
              <p:txBody>
                <a:bodyPr/>
                <a:lstStyle/>
                <a:p>
                  <a:endParaRPr lang="fr-FR" sz="2400"/>
                </a:p>
              </p:txBody>
            </p:sp>
            <p:sp>
              <p:nvSpPr>
                <p:cNvPr id="153718" name="Freeform 118"/>
                <p:cNvSpPr>
                  <a:spLocks/>
                </p:cNvSpPr>
                <p:nvPr/>
              </p:nvSpPr>
              <p:spPr bwMode="auto">
                <a:xfrm>
                  <a:off x="498" y="1626"/>
                  <a:ext cx="291" cy="311"/>
                </a:xfrm>
                <a:custGeom>
                  <a:avLst/>
                  <a:gdLst/>
                  <a:ahLst/>
                  <a:cxnLst>
                    <a:cxn ang="0">
                      <a:pos x="113" y="2"/>
                    </a:cxn>
                    <a:cxn ang="0">
                      <a:pos x="113" y="4"/>
                    </a:cxn>
                    <a:cxn ang="0">
                      <a:pos x="123" y="4"/>
                    </a:cxn>
                    <a:cxn ang="0">
                      <a:pos x="144" y="2"/>
                    </a:cxn>
                    <a:cxn ang="0">
                      <a:pos x="167" y="2"/>
                    </a:cxn>
                    <a:cxn ang="0">
                      <a:pos x="190" y="8"/>
                    </a:cxn>
                    <a:cxn ang="0">
                      <a:pos x="223" y="16"/>
                    </a:cxn>
                    <a:cxn ang="0">
                      <a:pos x="252" y="31"/>
                    </a:cxn>
                    <a:cxn ang="0">
                      <a:pos x="280" y="50"/>
                    </a:cxn>
                    <a:cxn ang="0">
                      <a:pos x="323" y="87"/>
                    </a:cxn>
                    <a:cxn ang="0">
                      <a:pos x="378" y="140"/>
                    </a:cxn>
                    <a:cxn ang="0">
                      <a:pos x="432" y="186"/>
                    </a:cxn>
                    <a:cxn ang="0">
                      <a:pos x="490" y="233"/>
                    </a:cxn>
                    <a:cxn ang="0">
                      <a:pos x="551" y="288"/>
                    </a:cxn>
                    <a:cxn ang="0">
                      <a:pos x="614" y="350"/>
                    </a:cxn>
                    <a:cxn ang="0">
                      <a:pos x="661" y="400"/>
                    </a:cxn>
                    <a:cxn ang="0">
                      <a:pos x="693" y="436"/>
                    </a:cxn>
                    <a:cxn ang="0">
                      <a:pos x="724" y="474"/>
                    </a:cxn>
                    <a:cxn ang="0">
                      <a:pos x="757" y="515"/>
                    </a:cxn>
                    <a:cxn ang="0">
                      <a:pos x="787" y="580"/>
                    </a:cxn>
                    <a:cxn ang="0">
                      <a:pos x="766" y="630"/>
                    </a:cxn>
                    <a:cxn ang="0">
                      <a:pos x="745" y="709"/>
                    </a:cxn>
                    <a:cxn ang="0">
                      <a:pos x="728" y="789"/>
                    </a:cxn>
                    <a:cxn ang="0">
                      <a:pos x="720" y="841"/>
                    </a:cxn>
                    <a:cxn ang="0">
                      <a:pos x="710" y="826"/>
                    </a:cxn>
                    <a:cxn ang="0">
                      <a:pos x="693" y="791"/>
                    </a:cxn>
                    <a:cxn ang="0">
                      <a:pos x="674" y="755"/>
                    </a:cxn>
                    <a:cxn ang="0">
                      <a:pos x="664" y="739"/>
                    </a:cxn>
                    <a:cxn ang="0">
                      <a:pos x="645" y="735"/>
                    </a:cxn>
                    <a:cxn ang="0">
                      <a:pos x="622" y="720"/>
                    </a:cxn>
                    <a:cxn ang="0">
                      <a:pos x="582" y="680"/>
                    </a:cxn>
                    <a:cxn ang="0">
                      <a:pos x="520" y="615"/>
                    </a:cxn>
                    <a:cxn ang="0">
                      <a:pos x="478" y="572"/>
                    </a:cxn>
                    <a:cxn ang="0">
                      <a:pos x="457" y="553"/>
                    </a:cxn>
                    <a:cxn ang="0">
                      <a:pos x="432" y="540"/>
                    </a:cxn>
                    <a:cxn ang="0">
                      <a:pos x="405" y="517"/>
                    </a:cxn>
                    <a:cxn ang="0">
                      <a:pos x="375" y="474"/>
                    </a:cxn>
                    <a:cxn ang="0">
                      <a:pos x="340" y="413"/>
                    </a:cxn>
                    <a:cxn ang="0">
                      <a:pos x="309" y="371"/>
                    </a:cxn>
                    <a:cxn ang="0">
                      <a:pos x="280" y="346"/>
                    </a:cxn>
                    <a:cxn ang="0">
                      <a:pos x="233" y="315"/>
                    </a:cxn>
                    <a:cxn ang="0">
                      <a:pos x="165" y="263"/>
                    </a:cxn>
                    <a:cxn ang="0">
                      <a:pos x="94" y="209"/>
                    </a:cxn>
                    <a:cxn ang="0">
                      <a:pos x="44" y="179"/>
                    </a:cxn>
                    <a:cxn ang="0">
                      <a:pos x="14" y="167"/>
                    </a:cxn>
                    <a:cxn ang="0">
                      <a:pos x="8" y="148"/>
                    </a:cxn>
                    <a:cxn ang="0">
                      <a:pos x="39" y="108"/>
                    </a:cxn>
                    <a:cxn ang="0">
                      <a:pos x="73" y="64"/>
                    </a:cxn>
                    <a:cxn ang="0">
                      <a:pos x="104" y="21"/>
                    </a:cxn>
                  </a:cxnLst>
                  <a:rect l="0" t="0" r="r" b="b"/>
                  <a:pathLst>
                    <a:path w="787" h="841">
                      <a:moveTo>
                        <a:pt x="115" y="0"/>
                      </a:moveTo>
                      <a:lnTo>
                        <a:pt x="113" y="2"/>
                      </a:lnTo>
                      <a:lnTo>
                        <a:pt x="112" y="4"/>
                      </a:lnTo>
                      <a:lnTo>
                        <a:pt x="113" y="4"/>
                      </a:lnTo>
                      <a:lnTo>
                        <a:pt x="115" y="6"/>
                      </a:lnTo>
                      <a:lnTo>
                        <a:pt x="123" y="4"/>
                      </a:lnTo>
                      <a:lnTo>
                        <a:pt x="133" y="4"/>
                      </a:lnTo>
                      <a:lnTo>
                        <a:pt x="144" y="2"/>
                      </a:lnTo>
                      <a:lnTo>
                        <a:pt x="156" y="0"/>
                      </a:lnTo>
                      <a:lnTo>
                        <a:pt x="167" y="2"/>
                      </a:lnTo>
                      <a:lnTo>
                        <a:pt x="173" y="6"/>
                      </a:lnTo>
                      <a:lnTo>
                        <a:pt x="190" y="8"/>
                      </a:lnTo>
                      <a:lnTo>
                        <a:pt x="206" y="10"/>
                      </a:lnTo>
                      <a:lnTo>
                        <a:pt x="223" y="16"/>
                      </a:lnTo>
                      <a:lnTo>
                        <a:pt x="238" y="21"/>
                      </a:lnTo>
                      <a:lnTo>
                        <a:pt x="252" y="31"/>
                      </a:lnTo>
                      <a:lnTo>
                        <a:pt x="267" y="39"/>
                      </a:lnTo>
                      <a:lnTo>
                        <a:pt x="280" y="50"/>
                      </a:lnTo>
                      <a:lnTo>
                        <a:pt x="294" y="62"/>
                      </a:lnTo>
                      <a:lnTo>
                        <a:pt x="323" y="87"/>
                      </a:lnTo>
                      <a:lnTo>
                        <a:pt x="350" y="114"/>
                      </a:lnTo>
                      <a:lnTo>
                        <a:pt x="378" y="140"/>
                      </a:lnTo>
                      <a:lnTo>
                        <a:pt x="407" y="167"/>
                      </a:lnTo>
                      <a:lnTo>
                        <a:pt x="432" y="186"/>
                      </a:lnTo>
                      <a:lnTo>
                        <a:pt x="459" y="209"/>
                      </a:lnTo>
                      <a:lnTo>
                        <a:pt x="490" y="233"/>
                      </a:lnTo>
                      <a:lnTo>
                        <a:pt x="520" y="259"/>
                      </a:lnTo>
                      <a:lnTo>
                        <a:pt x="551" y="288"/>
                      </a:lnTo>
                      <a:lnTo>
                        <a:pt x="584" y="319"/>
                      </a:lnTo>
                      <a:lnTo>
                        <a:pt x="614" y="350"/>
                      </a:lnTo>
                      <a:lnTo>
                        <a:pt x="645" y="384"/>
                      </a:lnTo>
                      <a:lnTo>
                        <a:pt x="661" y="400"/>
                      </a:lnTo>
                      <a:lnTo>
                        <a:pt x="676" y="417"/>
                      </a:lnTo>
                      <a:lnTo>
                        <a:pt x="693" y="436"/>
                      </a:lnTo>
                      <a:lnTo>
                        <a:pt x="709" y="455"/>
                      </a:lnTo>
                      <a:lnTo>
                        <a:pt x="724" y="474"/>
                      </a:lnTo>
                      <a:lnTo>
                        <a:pt x="741" y="496"/>
                      </a:lnTo>
                      <a:lnTo>
                        <a:pt x="757" y="515"/>
                      </a:lnTo>
                      <a:lnTo>
                        <a:pt x="772" y="536"/>
                      </a:lnTo>
                      <a:lnTo>
                        <a:pt x="787" y="580"/>
                      </a:lnTo>
                      <a:lnTo>
                        <a:pt x="778" y="599"/>
                      </a:lnTo>
                      <a:lnTo>
                        <a:pt x="766" y="630"/>
                      </a:lnTo>
                      <a:lnTo>
                        <a:pt x="755" y="666"/>
                      </a:lnTo>
                      <a:lnTo>
                        <a:pt x="745" y="709"/>
                      </a:lnTo>
                      <a:lnTo>
                        <a:pt x="735" y="751"/>
                      </a:lnTo>
                      <a:lnTo>
                        <a:pt x="728" y="789"/>
                      </a:lnTo>
                      <a:lnTo>
                        <a:pt x="722" y="820"/>
                      </a:lnTo>
                      <a:lnTo>
                        <a:pt x="720" y="841"/>
                      </a:lnTo>
                      <a:lnTo>
                        <a:pt x="716" y="837"/>
                      </a:lnTo>
                      <a:lnTo>
                        <a:pt x="710" y="826"/>
                      </a:lnTo>
                      <a:lnTo>
                        <a:pt x="701" y="810"/>
                      </a:lnTo>
                      <a:lnTo>
                        <a:pt x="693" y="791"/>
                      </a:lnTo>
                      <a:lnTo>
                        <a:pt x="684" y="772"/>
                      </a:lnTo>
                      <a:lnTo>
                        <a:pt x="674" y="755"/>
                      </a:lnTo>
                      <a:lnTo>
                        <a:pt x="668" y="743"/>
                      </a:lnTo>
                      <a:lnTo>
                        <a:pt x="664" y="739"/>
                      </a:lnTo>
                      <a:lnTo>
                        <a:pt x="653" y="739"/>
                      </a:lnTo>
                      <a:lnTo>
                        <a:pt x="645" y="735"/>
                      </a:lnTo>
                      <a:lnTo>
                        <a:pt x="634" y="730"/>
                      </a:lnTo>
                      <a:lnTo>
                        <a:pt x="622" y="720"/>
                      </a:lnTo>
                      <a:lnTo>
                        <a:pt x="611" y="709"/>
                      </a:lnTo>
                      <a:lnTo>
                        <a:pt x="582" y="680"/>
                      </a:lnTo>
                      <a:lnTo>
                        <a:pt x="551" y="647"/>
                      </a:lnTo>
                      <a:lnTo>
                        <a:pt x="520" y="615"/>
                      </a:lnTo>
                      <a:lnTo>
                        <a:pt x="492" y="584"/>
                      </a:lnTo>
                      <a:lnTo>
                        <a:pt x="478" y="572"/>
                      </a:lnTo>
                      <a:lnTo>
                        <a:pt x="467" y="561"/>
                      </a:lnTo>
                      <a:lnTo>
                        <a:pt x="457" y="553"/>
                      </a:lnTo>
                      <a:lnTo>
                        <a:pt x="449" y="549"/>
                      </a:lnTo>
                      <a:lnTo>
                        <a:pt x="432" y="540"/>
                      </a:lnTo>
                      <a:lnTo>
                        <a:pt x="417" y="528"/>
                      </a:lnTo>
                      <a:lnTo>
                        <a:pt x="405" y="517"/>
                      </a:lnTo>
                      <a:lnTo>
                        <a:pt x="394" y="503"/>
                      </a:lnTo>
                      <a:lnTo>
                        <a:pt x="375" y="474"/>
                      </a:lnTo>
                      <a:lnTo>
                        <a:pt x="357" y="444"/>
                      </a:lnTo>
                      <a:lnTo>
                        <a:pt x="340" y="413"/>
                      </a:lnTo>
                      <a:lnTo>
                        <a:pt x="321" y="384"/>
                      </a:lnTo>
                      <a:lnTo>
                        <a:pt x="309" y="371"/>
                      </a:lnTo>
                      <a:lnTo>
                        <a:pt x="296" y="357"/>
                      </a:lnTo>
                      <a:lnTo>
                        <a:pt x="280" y="346"/>
                      </a:lnTo>
                      <a:lnTo>
                        <a:pt x="261" y="334"/>
                      </a:lnTo>
                      <a:lnTo>
                        <a:pt x="233" y="315"/>
                      </a:lnTo>
                      <a:lnTo>
                        <a:pt x="200" y="290"/>
                      </a:lnTo>
                      <a:lnTo>
                        <a:pt x="165" y="263"/>
                      </a:lnTo>
                      <a:lnTo>
                        <a:pt x="131" y="234"/>
                      </a:lnTo>
                      <a:lnTo>
                        <a:pt x="94" y="209"/>
                      </a:lnTo>
                      <a:lnTo>
                        <a:pt x="62" y="186"/>
                      </a:lnTo>
                      <a:lnTo>
                        <a:pt x="44" y="179"/>
                      </a:lnTo>
                      <a:lnTo>
                        <a:pt x="29" y="173"/>
                      </a:lnTo>
                      <a:lnTo>
                        <a:pt x="14" y="167"/>
                      </a:lnTo>
                      <a:lnTo>
                        <a:pt x="0" y="167"/>
                      </a:lnTo>
                      <a:lnTo>
                        <a:pt x="8" y="148"/>
                      </a:lnTo>
                      <a:lnTo>
                        <a:pt x="21" y="129"/>
                      </a:lnTo>
                      <a:lnTo>
                        <a:pt x="39" y="108"/>
                      </a:lnTo>
                      <a:lnTo>
                        <a:pt x="56" y="87"/>
                      </a:lnTo>
                      <a:lnTo>
                        <a:pt x="73" y="64"/>
                      </a:lnTo>
                      <a:lnTo>
                        <a:pt x="90" y="42"/>
                      </a:lnTo>
                      <a:lnTo>
                        <a:pt x="104" y="21"/>
                      </a:lnTo>
                      <a:lnTo>
                        <a:pt x="115" y="0"/>
                      </a:lnTo>
                      <a:close/>
                    </a:path>
                  </a:pathLst>
                </a:custGeom>
                <a:gradFill rotWithShape="0">
                  <a:gsLst>
                    <a:gs pos="0">
                      <a:srgbClr val="686853"/>
                    </a:gs>
                    <a:gs pos="100000">
                      <a:srgbClr val="E1E0B4"/>
                    </a:gs>
                  </a:gsLst>
                  <a:lin ang="5400000" scaled="1"/>
                </a:gradFill>
                <a:ln w="6350" cap="flat" cmpd="sng">
                  <a:solidFill>
                    <a:srgbClr val="777777"/>
                  </a:solidFill>
                  <a:prstDash val="solid"/>
                  <a:round/>
                  <a:headEnd type="none" w="med" len="med"/>
                  <a:tailEnd type="none" w="med" len="med"/>
                </a:ln>
                <a:effectLst/>
              </p:spPr>
              <p:txBody>
                <a:bodyPr/>
                <a:lstStyle/>
                <a:p>
                  <a:endParaRPr lang="fr-FR" sz="2400"/>
                </a:p>
              </p:txBody>
            </p:sp>
            <p:sp>
              <p:nvSpPr>
                <p:cNvPr id="153719" name="Freeform 119"/>
                <p:cNvSpPr>
                  <a:spLocks noEditPoints="1"/>
                </p:cNvSpPr>
                <p:nvPr/>
              </p:nvSpPr>
              <p:spPr bwMode="auto">
                <a:xfrm>
                  <a:off x="446" y="1245"/>
                  <a:ext cx="599" cy="1138"/>
                </a:xfrm>
                <a:custGeom>
                  <a:avLst/>
                  <a:gdLst/>
                  <a:ahLst/>
                  <a:cxnLst>
                    <a:cxn ang="0">
                      <a:pos x="677" y="17"/>
                    </a:cxn>
                    <a:cxn ang="0">
                      <a:pos x="1134" y="124"/>
                    </a:cxn>
                    <a:cxn ang="0">
                      <a:pos x="1418" y="362"/>
                    </a:cxn>
                    <a:cxn ang="0">
                      <a:pos x="1362" y="428"/>
                    </a:cxn>
                    <a:cxn ang="0">
                      <a:pos x="1211" y="454"/>
                    </a:cxn>
                    <a:cxn ang="0">
                      <a:pos x="1147" y="406"/>
                    </a:cxn>
                    <a:cxn ang="0">
                      <a:pos x="1174" y="577"/>
                    </a:cxn>
                    <a:cxn ang="0">
                      <a:pos x="1076" y="756"/>
                    </a:cxn>
                    <a:cxn ang="0">
                      <a:pos x="867" y="644"/>
                    </a:cxn>
                    <a:cxn ang="0">
                      <a:pos x="503" y="1111"/>
                    </a:cxn>
                    <a:cxn ang="0">
                      <a:pos x="218" y="961"/>
                    </a:cxn>
                    <a:cxn ang="0">
                      <a:pos x="293" y="282"/>
                    </a:cxn>
                    <a:cxn ang="0">
                      <a:pos x="900" y="719"/>
                    </a:cxn>
                    <a:cxn ang="0">
                      <a:pos x="877" y="769"/>
                    </a:cxn>
                    <a:cxn ang="0">
                      <a:pos x="881" y="702"/>
                    </a:cxn>
                    <a:cxn ang="0">
                      <a:pos x="886" y="827"/>
                    </a:cxn>
                    <a:cxn ang="0">
                      <a:pos x="934" y="838"/>
                    </a:cxn>
                    <a:cxn ang="0">
                      <a:pos x="908" y="779"/>
                    </a:cxn>
                    <a:cxn ang="0">
                      <a:pos x="925" y="1176"/>
                    </a:cxn>
                    <a:cxn ang="0">
                      <a:pos x="1222" y="1382"/>
                    </a:cxn>
                    <a:cxn ang="0">
                      <a:pos x="925" y="1426"/>
                    </a:cxn>
                    <a:cxn ang="0">
                      <a:pos x="852" y="1174"/>
                    </a:cxn>
                    <a:cxn ang="0">
                      <a:pos x="883" y="954"/>
                    </a:cxn>
                    <a:cxn ang="0">
                      <a:pos x="1339" y="1013"/>
                    </a:cxn>
                    <a:cxn ang="0">
                      <a:pos x="1339" y="785"/>
                    </a:cxn>
                    <a:cxn ang="0">
                      <a:pos x="1290" y="777"/>
                    </a:cxn>
                    <a:cxn ang="0">
                      <a:pos x="291" y="1349"/>
                    </a:cxn>
                    <a:cxn ang="0">
                      <a:pos x="240" y="1353"/>
                    </a:cxn>
                    <a:cxn ang="0">
                      <a:pos x="230" y="1374"/>
                    </a:cxn>
                    <a:cxn ang="0">
                      <a:pos x="276" y="1424"/>
                    </a:cxn>
                    <a:cxn ang="0">
                      <a:pos x="399" y="1480"/>
                    </a:cxn>
                    <a:cxn ang="0">
                      <a:pos x="493" y="1572"/>
                    </a:cxn>
                    <a:cxn ang="0">
                      <a:pos x="493" y="1723"/>
                    </a:cxn>
                    <a:cxn ang="0">
                      <a:pos x="430" y="1915"/>
                    </a:cxn>
                    <a:cxn ang="0">
                      <a:pos x="426" y="1990"/>
                    </a:cxn>
                    <a:cxn ang="0">
                      <a:pos x="504" y="2234"/>
                    </a:cxn>
                    <a:cxn ang="0">
                      <a:pos x="314" y="2053"/>
                    </a:cxn>
                    <a:cxn ang="0">
                      <a:pos x="497" y="2416"/>
                    </a:cxn>
                    <a:cxn ang="0">
                      <a:pos x="458" y="2583"/>
                    </a:cxn>
                    <a:cxn ang="0">
                      <a:pos x="218" y="2055"/>
                    </a:cxn>
                    <a:cxn ang="0">
                      <a:pos x="103" y="2017"/>
                    </a:cxn>
                    <a:cxn ang="0">
                      <a:pos x="155" y="2320"/>
                    </a:cxn>
                    <a:cxn ang="0">
                      <a:pos x="433" y="2664"/>
                    </a:cxn>
                    <a:cxn ang="0">
                      <a:pos x="431" y="2750"/>
                    </a:cxn>
                    <a:cxn ang="0">
                      <a:pos x="34" y="2363"/>
                    </a:cxn>
                    <a:cxn ang="0">
                      <a:pos x="188" y="2672"/>
                    </a:cxn>
                    <a:cxn ang="0">
                      <a:pos x="483" y="2975"/>
                    </a:cxn>
                    <a:cxn ang="0">
                      <a:pos x="71" y="1253"/>
                    </a:cxn>
                    <a:cxn ang="0">
                      <a:pos x="255" y="1278"/>
                    </a:cxn>
                    <a:cxn ang="0">
                      <a:pos x="1599" y="2973"/>
                    </a:cxn>
                    <a:cxn ang="0">
                      <a:pos x="1635" y="2879"/>
                    </a:cxn>
                    <a:cxn ang="0">
                      <a:pos x="1531" y="2846"/>
                    </a:cxn>
                    <a:cxn ang="0">
                      <a:pos x="1564" y="2858"/>
                    </a:cxn>
                    <a:cxn ang="0">
                      <a:pos x="1501" y="2852"/>
                    </a:cxn>
                    <a:cxn ang="0">
                      <a:pos x="1366" y="2817"/>
                    </a:cxn>
                    <a:cxn ang="0">
                      <a:pos x="1439" y="2846"/>
                    </a:cxn>
                    <a:cxn ang="0">
                      <a:pos x="1474" y="2816"/>
                    </a:cxn>
                    <a:cxn ang="0">
                      <a:pos x="1376" y="2883"/>
                    </a:cxn>
                    <a:cxn ang="0">
                      <a:pos x="1495" y="3025"/>
                    </a:cxn>
                    <a:cxn ang="0">
                      <a:pos x="1316" y="2831"/>
                    </a:cxn>
                    <a:cxn ang="0">
                      <a:pos x="1336" y="2913"/>
                    </a:cxn>
                    <a:cxn ang="0">
                      <a:pos x="1151" y="3055"/>
                    </a:cxn>
                    <a:cxn ang="0">
                      <a:pos x="1226" y="2879"/>
                    </a:cxn>
                  </a:cxnLst>
                  <a:rect l="0" t="0" r="r" b="b"/>
                  <a:pathLst>
                    <a:path w="1635" h="3088">
                      <a:moveTo>
                        <a:pt x="320" y="232"/>
                      </a:moveTo>
                      <a:lnTo>
                        <a:pt x="359" y="184"/>
                      </a:lnTo>
                      <a:lnTo>
                        <a:pt x="391" y="143"/>
                      </a:lnTo>
                      <a:lnTo>
                        <a:pt x="420" y="111"/>
                      </a:lnTo>
                      <a:lnTo>
                        <a:pt x="443" y="84"/>
                      </a:lnTo>
                      <a:lnTo>
                        <a:pt x="464" y="65"/>
                      </a:lnTo>
                      <a:lnTo>
                        <a:pt x="483" y="49"/>
                      </a:lnTo>
                      <a:lnTo>
                        <a:pt x="501" y="38"/>
                      </a:lnTo>
                      <a:lnTo>
                        <a:pt x="518" y="30"/>
                      </a:lnTo>
                      <a:lnTo>
                        <a:pt x="535" y="26"/>
                      </a:lnTo>
                      <a:lnTo>
                        <a:pt x="552" y="23"/>
                      </a:lnTo>
                      <a:lnTo>
                        <a:pt x="570" y="23"/>
                      </a:lnTo>
                      <a:lnTo>
                        <a:pt x="591" y="23"/>
                      </a:lnTo>
                      <a:lnTo>
                        <a:pt x="616" y="21"/>
                      </a:lnTo>
                      <a:lnTo>
                        <a:pt x="645" y="21"/>
                      </a:lnTo>
                      <a:lnTo>
                        <a:pt x="677" y="17"/>
                      </a:lnTo>
                      <a:lnTo>
                        <a:pt x="714" y="13"/>
                      </a:lnTo>
                      <a:lnTo>
                        <a:pt x="735" y="7"/>
                      </a:lnTo>
                      <a:lnTo>
                        <a:pt x="756" y="3"/>
                      </a:lnTo>
                      <a:lnTo>
                        <a:pt x="775" y="0"/>
                      </a:lnTo>
                      <a:lnTo>
                        <a:pt x="796" y="0"/>
                      </a:lnTo>
                      <a:lnTo>
                        <a:pt x="815" y="0"/>
                      </a:lnTo>
                      <a:lnTo>
                        <a:pt x="837" y="0"/>
                      </a:lnTo>
                      <a:lnTo>
                        <a:pt x="856" y="1"/>
                      </a:lnTo>
                      <a:lnTo>
                        <a:pt x="875" y="5"/>
                      </a:lnTo>
                      <a:lnTo>
                        <a:pt x="913" y="15"/>
                      </a:lnTo>
                      <a:lnTo>
                        <a:pt x="952" y="26"/>
                      </a:lnTo>
                      <a:lnTo>
                        <a:pt x="988" y="42"/>
                      </a:lnTo>
                      <a:lnTo>
                        <a:pt x="1027" y="59"/>
                      </a:lnTo>
                      <a:lnTo>
                        <a:pt x="1063" y="80"/>
                      </a:lnTo>
                      <a:lnTo>
                        <a:pt x="1099" y="101"/>
                      </a:lnTo>
                      <a:lnTo>
                        <a:pt x="1134" y="124"/>
                      </a:lnTo>
                      <a:lnTo>
                        <a:pt x="1169" y="147"/>
                      </a:lnTo>
                      <a:lnTo>
                        <a:pt x="1238" y="193"/>
                      </a:lnTo>
                      <a:lnTo>
                        <a:pt x="1305" y="238"/>
                      </a:lnTo>
                      <a:lnTo>
                        <a:pt x="1316" y="245"/>
                      </a:lnTo>
                      <a:lnTo>
                        <a:pt x="1326" y="253"/>
                      </a:lnTo>
                      <a:lnTo>
                        <a:pt x="1334" y="261"/>
                      </a:lnTo>
                      <a:lnTo>
                        <a:pt x="1339" y="270"/>
                      </a:lnTo>
                      <a:lnTo>
                        <a:pt x="1351" y="291"/>
                      </a:lnTo>
                      <a:lnTo>
                        <a:pt x="1362" y="312"/>
                      </a:lnTo>
                      <a:lnTo>
                        <a:pt x="1368" y="322"/>
                      </a:lnTo>
                      <a:lnTo>
                        <a:pt x="1374" y="332"/>
                      </a:lnTo>
                      <a:lnTo>
                        <a:pt x="1380" y="341"/>
                      </a:lnTo>
                      <a:lnTo>
                        <a:pt x="1387" y="347"/>
                      </a:lnTo>
                      <a:lnTo>
                        <a:pt x="1397" y="355"/>
                      </a:lnTo>
                      <a:lnTo>
                        <a:pt x="1407" y="358"/>
                      </a:lnTo>
                      <a:lnTo>
                        <a:pt x="1418" y="362"/>
                      </a:lnTo>
                      <a:lnTo>
                        <a:pt x="1432" y="362"/>
                      </a:lnTo>
                      <a:lnTo>
                        <a:pt x="1432" y="372"/>
                      </a:lnTo>
                      <a:lnTo>
                        <a:pt x="1430" y="382"/>
                      </a:lnTo>
                      <a:lnTo>
                        <a:pt x="1428" y="389"/>
                      </a:lnTo>
                      <a:lnTo>
                        <a:pt x="1426" y="399"/>
                      </a:lnTo>
                      <a:lnTo>
                        <a:pt x="1422" y="406"/>
                      </a:lnTo>
                      <a:lnTo>
                        <a:pt x="1420" y="414"/>
                      </a:lnTo>
                      <a:lnTo>
                        <a:pt x="1416" y="420"/>
                      </a:lnTo>
                      <a:lnTo>
                        <a:pt x="1414" y="428"/>
                      </a:lnTo>
                      <a:lnTo>
                        <a:pt x="1407" y="429"/>
                      </a:lnTo>
                      <a:lnTo>
                        <a:pt x="1397" y="429"/>
                      </a:lnTo>
                      <a:lnTo>
                        <a:pt x="1391" y="429"/>
                      </a:lnTo>
                      <a:lnTo>
                        <a:pt x="1384" y="429"/>
                      </a:lnTo>
                      <a:lnTo>
                        <a:pt x="1376" y="429"/>
                      </a:lnTo>
                      <a:lnTo>
                        <a:pt x="1370" y="428"/>
                      </a:lnTo>
                      <a:lnTo>
                        <a:pt x="1362" y="428"/>
                      </a:lnTo>
                      <a:lnTo>
                        <a:pt x="1353" y="428"/>
                      </a:lnTo>
                      <a:lnTo>
                        <a:pt x="1349" y="437"/>
                      </a:lnTo>
                      <a:lnTo>
                        <a:pt x="1343" y="449"/>
                      </a:lnTo>
                      <a:lnTo>
                        <a:pt x="1339" y="456"/>
                      </a:lnTo>
                      <a:lnTo>
                        <a:pt x="1334" y="464"/>
                      </a:lnTo>
                      <a:lnTo>
                        <a:pt x="1328" y="472"/>
                      </a:lnTo>
                      <a:lnTo>
                        <a:pt x="1320" y="477"/>
                      </a:lnTo>
                      <a:lnTo>
                        <a:pt x="1313" y="483"/>
                      </a:lnTo>
                      <a:lnTo>
                        <a:pt x="1303" y="491"/>
                      </a:lnTo>
                      <a:lnTo>
                        <a:pt x="1293" y="485"/>
                      </a:lnTo>
                      <a:lnTo>
                        <a:pt x="1280" y="479"/>
                      </a:lnTo>
                      <a:lnTo>
                        <a:pt x="1265" y="472"/>
                      </a:lnTo>
                      <a:lnTo>
                        <a:pt x="1249" y="466"/>
                      </a:lnTo>
                      <a:lnTo>
                        <a:pt x="1234" y="460"/>
                      </a:lnTo>
                      <a:lnTo>
                        <a:pt x="1218" y="456"/>
                      </a:lnTo>
                      <a:lnTo>
                        <a:pt x="1211" y="454"/>
                      </a:lnTo>
                      <a:lnTo>
                        <a:pt x="1205" y="454"/>
                      </a:lnTo>
                      <a:lnTo>
                        <a:pt x="1199" y="456"/>
                      </a:lnTo>
                      <a:lnTo>
                        <a:pt x="1194" y="458"/>
                      </a:lnTo>
                      <a:lnTo>
                        <a:pt x="1194" y="453"/>
                      </a:lnTo>
                      <a:lnTo>
                        <a:pt x="1194" y="445"/>
                      </a:lnTo>
                      <a:lnTo>
                        <a:pt x="1192" y="435"/>
                      </a:lnTo>
                      <a:lnTo>
                        <a:pt x="1192" y="426"/>
                      </a:lnTo>
                      <a:lnTo>
                        <a:pt x="1190" y="418"/>
                      </a:lnTo>
                      <a:lnTo>
                        <a:pt x="1190" y="408"/>
                      </a:lnTo>
                      <a:lnTo>
                        <a:pt x="1188" y="401"/>
                      </a:lnTo>
                      <a:lnTo>
                        <a:pt x="1188" y="395"/>
                      </a:lnTo>
                      <a:lnTo>
                        <a:pt x="1180" y="395"/>
                      </a:lnTo>
                      <a:lnTo>
                        <a:pt x="1171" y="397"/>
                      </a:lnTo>
                      <a:lnTo>
                        <a:pt x="1163" y="399"/>
                      </a:lnTo>
                      <a:lnTo>
                        <a:pt x="1155" y="401"/>
                      </a:lnTo>
                      <a:lnTo>
                        <a:pt x="1147" y="406"/>
                      </a:lnTo>
                      <a:lnTo>
                        <a:pt x="1142" y="412"/>
                      </a:lnTo>
                      <a:lnTo>
                        <a:pt x="1134" y="418"/>
                      </a:lnTo>
                      <a:lnTo>
                        <a:pt x="1126" y="428"/>
                      </a:lnTo>
                      <a:lnTo>
                        <a:pt x="1128" y="437"/>
                      </a:lnTo>
                      <a:lnTo>
                        <a:pt x="1130" y="447"/>
                      </a:lnTo>
                      <a:lnTo>
                        <a:pt x="1132" y="456"/>
                      </a:lnTo>
                      <a:lnTo>
                        <a:pt x="1136" y="466"/>
                      </a:lnTo>
                      <a:lnTo>
                        <a:pt x="1146" y="483"/>
                      </a:lnTo>
                      <a:lnTo>
                        <a:pt x="1157" y="501"/>
                      </a:lnTo>
                      <a:lnTo>
                        <a:pt x="1169" y="518"/>
                      </a:lnTo>
                      <a:lnTo>
                        <a:pt x="1178" y="535"/>
                      </a:lnTo>
                      <a:lnTo>
                        <a:pt x="1182" y="545"/>
                      </a:lnTo>
                      <a:lnTo>
                        <a:pt x="1186" y="552"/>
                      </a:lnTo>
                      <a:lnTo>
                        <a:pt x="1188" y="560"/>
                      </a:lnTo>
                      <a:lnTo>
                        <a:pt x="1188" y="570"/>
                      </a:lnTo>
                      <a:lnTo>
                        <a:pt x="1174" y="577"/>
                      </a:lnTo>
                      <a:lnTo>
                        <a:pt x="1159" y="583"/>
                      </a:lnTo>
                      <a:lnTo>
                        <a:pt x="1144" y="589"/>
                      </a:lnTo>
                      <a:lnTo>
                        <a:pt x="1126" y="593"/>
                      </a:lnTo>
                      <a:lnTo>
                        <a:pt x="1111" y="598"/>
                      </a:lnTo>
                      <a:lnTo>
                        <a:pt x="1096" y="606"/>
                      </a:lnTo>
                      <a:lnTo>
                        <a:pt x="1080" y="618"/>
                      </a:lnTo>
                      <a:lnTo>
                        <a:pt x="1067" y="633"/>
                      </a:lnTo>
                      <a:lnTo>
                        <a:pt x="1067" y="648"/>
                      </a:lnTo>
                      <a:lnTo>
                        <a:pt x="1069" y="662"/>
                      </a:lnTo>
                      <a:lnTo>
                        <a:pt x="1073" y="675"/>
                      </a:lnTo>
                      <a:lnTo>
                        <a:pt x="1075" y="689"/>
                      </a:lnTo>
                      <a:lnTo>
                        <a:pt x="1078" y="702"/>
                      </a:lnTo>
                      <a:lnTo>
                        <a:pt x="1082" y="717"/>
                      </a:lnTo>
                      <a:lnTo>
                        <a:pt x="1084" y="731"/>
                      </a:lnTo>
                      <a:lnTo>
                        <a:pt x="1084" y="746"/>
                      </a:lnTo>
                      <a:lnTo>
                        <a:pt x="1076" y="756"/>
                      </a:lnTo>
                      <a:lnTo>
                        <a:pt x="1069" y="764"/>
                      </a:lnTo>
                      <a:lnTo>
                        <a:pt x="1061" y="769"/>
                      </a:lnTo>
                      <a:lnTo>
                        <a:pt x="1053" y="775"/>
                      </a:lnTo>
                      <a:lnTo>
                        <a:pt x="1046" y="779"/>
                      </a:lnTo>
                      <a:lnTo>
                        <a:pt x="1038" y="781"/>
                      </a:lnTo>
                      <a:lnTo>
                        <a:pt x="1030" y="781"/>
                      </a:lnTo>
                      <a:lnTo>
                        <a:pt x="1023" y="781"/>
                      </a:lnTo>
                      <a:lnTo>
                        <a:pt x="1009" y="779"/>
                      </a:lnTo>
                      <a:lnTo>
                        <a:pt x="994" y="771"/>
                      </a:lnTo>
                      <a:lnTo>
                        <a:pt x="980" y="762"/>
                      </a:lnTo>
                      <a:lnTo>
                        <a:pt x="965" y="750"/>
                      </a:lnTo>
                      <a:lnTo>
                        <a:pt x="938" y="719"/>
                      </a:lnTo>
                      <a:lnTo>
                        <a:pt x="909" y="687"/>
                      </a:lnTo>
                      <a:lnTo>
                        <a:pt x="896" y="671"/>
                      </a:lnTo>
                      <a:lnTo>
                        <a:pt x="881" y="656"/>
                      </a:lnTo>
                      <a:lnTo>
                        <a:pt x="867" y="644"/>
                      </a:lnTo>
                      <a:lnTo>
                        <a:pt x="852" y="633"/>
                      </a:lnTo>
                      <a:lnTo>
                        <a:pt x="840" y="650"/>
                      </a:lnTo>
                      <a:lnTo>
                        <a:pt x="829" y="644"/>
                      </a:lnTo>
                      <a:lnTo>
                        <a:pt x="819" y="641"/>
                      </a:lnTo>
                      <a:lnTo>
                        <a:pt x="810" y="641"/>
                      </a:lnTo>
                      <a:lnTo>
                        <a:pt x="800" y="643"/>
                      </a:lnTo>
                      <a:lnTo>
                        <a:pt x="792" y="648"/>
                      </a:lnTo>
                      <a:lnTo>
                        <a:pt x="785" y="654"/>
                      </a:lnTo>
                      <a:lnTo>
                        <a:pt x="777" y="662"/>
                      </a:lnTo>
                      <a:lnTo>
                        <a:pt x="771" y="671"/>
                      </a:lnTo>
                      <a:lnTo>
                        <a:pt x="758" y="692"/>
                      </a:lnTo>
                      <a:lnTo>
                        <a:pt x="746" y="714"/>
                      </a:lnTo>
                      <a:lnTo>
                        <a:pt x="735" y="735"/>
                      </a:lnTo>
                      <a:lnTo>
                        <a:pt x="723" y="752"/>
                      </a:lnTo>
                      <a:lnTo>
                        <a:pt x="700" y="752"/>
                      </a:lnTo>
                      <a:lnTo>
                        <a:pt x="503" y="1111"/>
                      </a:lnTo>
                      <a:lnTo>
                        <a:pt x="491" y="1111"/>
                      </a:lnTo>
                      <a:lnTo>
                        <a:pt x="478" y="1109"/>
                      </a:lnTo>
                      <a:lnTo>
                        <a:pt x="464" y="1105"/>
                      </a:lnTo>
                      <a:lnTo>
                        <a:pt x="451" y="1099"/>
                      </a:lnTo>
                      <a:lnTo>
                        <a:pt x="418" y="1086"/>
                      </a:lnTo>
                      <a:lnTo>
                        <a:pt x="384" y="1073"/>
                      </a:lnTo>
                      <a:lnTo>
                        <a:pt x="351" y="1057"/>
                      </a:lnTo>
                      <a:lnTo>
                        <a:pt x="318" y="1044"/>
                      </a:lnTo>
                      <a:lnTo>
                        <a:pt x="305" y="1040"/>
                      </a:lnTo>
                      <a:lnTo>
                        <a:pt x="289" y="1034"/>
                      </a:lnTo>
                      <a:lnTo>
                        <a:pt x="278" y="1032"/>
                      </a:lnTo>
                      <a:lnTo>
                        <a:pt x="266" y="1032"/>
                      </a:lnTo>
                      <a:lnTo>
                        <a:pt x="251" y="1017"/>
                      </a:lnTo>
                      <a:lnTo>
                        <a:pt x="240" y="1002"/>
                      </a:lnTo>
                      <a:lnTo>
                        <a:pt x="228" y="982"/>
                      </a:lnTo>
                      <a:lnTo>
                        <a:pt x="218" y="961"/>
                      </a:lnTo>
                      <a:lnTo>
                        <a:pt x="211" y="938"/>
                      </a:lnTo>
                      <a:lnTo>
                        <a:pt x="203" y="913"/>
                      </a:lnTo>
                      <a:lnTo>
                        <a:pt x="199" y="886"/>
                      </a:lnTo>
                      <a:lnTo>
                        <a:pt x="195" y="859"/>
                      </a:lnTo>
                      <a:lnTo>
                        <a:pt x="193" y="831"/>
                      </a:lnTo>
                      <a:lnTo>
                        <a:pt x="192" y="800"/>
                      </a:lnTo>
                      <a:lnTo>
                        <a:pt x="192" y="769"/>
                      </a:lnTo>
                      <a:lnTo>
                        <a:pt x="193" y="739"/>
                      </a:lnTo>
                      <a:lnTo>
                        <a:pt x="197" y="673"/>
                      </a:lnTo>
                      <a:lnTo>
                        <a:pt x="207" y="608"/>
                      </a:lnTo>
                      <a:lnTo>
                        <a:pt x="218" y="545"/>
                      </a:lnTo>
                      <a:lnTo>
                        <a:pt x="232" y="481"/>
                      </a:lnTo>
                      <a:lnTo>
                        <a:pt x="245" y="422"/>
                      </a:lnTo>
                      <a:lnTo>
                        <a:pt x="261" y="368"/>
                      </a:lnTo>
                      <a:lnTo>
                        <a:pt x="278" y="322"/>
                      </a:lnTo>
                      <a:lnTo>
                        <a:pt x="293" y="282"/>
                      </a:lnTo>
                      <a:lnTo>
                        <a:pt x="307" y="251"/>
                      </a:lnTo>
                      <a:lnTo>
                        <a:pt x="320" y="232"/>
                      </a:lnTo>
                      <a:close/>
                      <a:moveTo>
                        <a:pt x="871" y="681"/>
                      </a:moveTo>
                      <a:lnTo>
                        <a:pt x="873" y="683"/>
                      </a:lnTo>
                      <a:lnTo>
                        <a:pt x="877" y="685"/>
                      </a:lnTo>
                      <a:lnTo>
                        <a:pt x="881" y="689"/>
                      </a:lnTo>
                      <a:lnTo>
                        <a:pt x="883" y="692"/>
                      </a:lnTo>
                      <a:lnTo>
                        <a:pt x="886" y="698"/>
                      </a:lnTo>
                      <a:lnTo>
                        <a:pt x="890" y="702"/>
                      </a:lnTo>
                      <a:lnTo>
                        <a:pt x="892" y="704"/>
                      </a:lnTo>
                      <a:lnTo>
                        <a:pt x="896" y="706"/>
                      </a:lnTo>
                      <a:lnTo>
                        <a:pt x="896" y="708"/>
                      </a:lnTo>
                      <a:lnTo>
                        <a:pt x="896" y="712"/>
                      </a:lnTo>
                      <a:lnTo>
                        <a:pt x="898" y="714"/>
                      </a:lnTo>
                      <a:lnTo>
                        <a:pt x="898" y="717"/>
                      </a:lnTo>
                      <a:lnTo>
                        <a:pt x="900" y="719"/>
                      </a:lnTo>
                      <a:lnTo>
                        <a:pt x="900" y="723"/>
                      </a:lnTo>
                      <a:lnTo>
                        <a:pt x="902" y="727"/>
                      </a:lnTo>
                      <a:lnTo>
                        <a:pt x="902" y="729"/>
                      </a:lnTo>
                      <a:lnTo>
                        <a:pt x="902" y="733"/>
                      </a:lnTo>
                      <a:lnTo>
                        <a:pt x="900" y="737"/>
                      </a:lnTo>
                      <a:lnTo>
                        <a:pt x="900" y="740"/>
                      </a:lnTo>
                      <a:lnTo>
                        <a:pt x="898" y="744"/>
                      </a:lnTo>
                      <a:lnTo>
                        <a:pt x="898" y="748"/>
                      </a:lnTo>
                      <a:lnTo>
                        <a:pt x="896" y="750"/>
                      </a:lnTo>
                      <a:lnTo>
                        <a:pt x="896" y="752"/>
                      </a:lnTo>
                      <a:lnTo>
                        <a:pt x="896" y="752"/>
                      </a:lnTo>
                      <a:lnTo>
                        <a:pt x="888" y="762"/>
                      </a:lnTo>
                      <a:lnTo>
                        <a:pt x="886" y="764"/>
                      </a:lnTo>
                      <a:lnTo>
                        <a:pt x="884" y="765"/>
                      </a:lnTo>
                      <a:lnTo>
                        <a:pt x="881" y="767"/>
                      </a:lnTo>
                      <a:lnTo>
                        <a:pt x="877" y="769"/>
                      </a:lnTo>
                      <a:lnTo>
                        <a:pt x="873" y="771"/>
                      </a:lnTo>
                      <a:lnTo>
                        <a:pt x="871" y="771"/>
                      </a:lnTo>
                      <a:lnTo>
                        <a:pt x="867" y="773"/>
                      </a:lnTo>
                      <a:lnTo>
                        <a:pt x="865" y="777"/>
                      </a:lnTo>
                      <a:lnTo>
                        <a:pt x="861" y="765"/>
                      </a:lnTo>
                      <a:lnTo>
                        <a:pt x="861" y="758"/>
                      </a:lnTo>
                      <a:lnTo>
                        <a:pt x="863" y="750"/>
                      </a:lnTo>
                      <a:lnTo>
                        <a:pt x="865" y="744"/>
                      </a:lnTo>
                      <a:lnTo>
                        <a:pt x="871" y="739"/>
                      </a:lnTo>
                      <a:lnTo>
                        <a:pt x="877" y="735"/>
                      </a:lnTo>
                      <a:lnTo>
                        <a:pt x="883" y="733"/>
                      </a:lnTo>
                      <a:lnTo>
                        <a:pt x="888" y="729"/>
                      </a:lnTo>
                      <a:lnTo>
                        <a:pt x="888" y="723"/>
                      </a:lnTo>
                      <a:lnTo>
                        <a:pt x="886" y="716"/>
                      </a:lnTo>
                      <a:lnTo>
                        <a:pt x="883" y="710"/>
                      </a:lnTo>
                      <a:lnTo>
                        <a:pt x="881" y="702"/>
                      </a:lnTo>
                      <a:lnTo>
                        <a:pt x="877" y="696"/>
                      </a:lnTo>
                      <a:lnTo>
                        <a:pt x="875" y="691"/>
                      </a:lnTo>
                      <a:lnTo>
                        <a:pt x="871" y="685"/>
                      </a:lnTo>
                      <a:lnTo>
                        <a:pt x="871" y="681"/>
                      </a:lnTo>
                      <a:close/>
                      <a:moveTo>
                        <a:pt x="908" y="777"/>
                      </a:moveTo>
                      <a:lnTo>
                        <a:pt x="902" y="781"/>
                      </a:lnTo>
                      <a:lnTo>
                        <a:pt x="896" y="783"/>
                      </a:lnTo>
                      <a:lnTo>
                        <a:pt x="890" y="787"/>
                      </a:lnTo>
                      <a:lnTo>
                        <a:pt x="886" y="792"/>
                      </a:lnTo>
                      <a:lnTo>
                        <a:pt x="883" y="798"/>
                      </a:lnTo>
                      <a:lnTo>
                        <a:pt x="881" y="804"/>
                      </a:lnTo>
                      <a:lnTo>
                        <a:pt x="879" y="813"/>
                      </a:lnTo>
                      <a:lnTo>
                        <a:pt x="877" y="825"/>
                      </a:lnTo>
                      <a:lnTo>
                        <a:pt x="881" y="825"/>
                      </a:lnTo>
                      <a:lnTo>
                        <a:pt x="884" y="825"/>
                      </a:lnTo>
                      <a:lnTo>
                        <a:pt x="886" y="827"/>
                      </a:lnTo>
                      <a:lnTo>
                        <a:pt x="890" y="827"/>
                      </a:lnTo>
                      <a:lnTo>
                        <a:pt x="892" y="829"/>
                      </a:lnTo>
                      <a:lnTo>
                        <a:pt x="894" y="827"/>
                      </a:lnTo>
                      <a:lnTo>
                        <a:pt x="898" y="827"/>
                      </a:lnTo>
                      <a:lnTo>
                        <a:pt x="902" y="825"/>
                      </a:lnTo>
                      <a:lnTo>
                        <a:pt x="906" y="829"/>
                      </a:lnTo>
                      <a:lnTo>
                        <a:pt x="911" y="835"/>
                      </a:lnTo>
                      <a:lnTo>
                        <a:pt x="915" y="836"/>
                      </a:lnTo>
                      <a:lnTo>
                        <a:pt x="919" y="840"/>
                      </a:lnTo>
                      <a:lnTo>
                        <a:pt x="925" y="844"/>
                      </a:lnTo>
                      <a:lnTo>
                        <a:pt x="929" y="846"/>
                      </a:lnTo>
                      <a:lnTo>
                        <a:pt x="932" y="852"/>
                      </a:lnTo>
                      <a:lnTo>
                        <a:pt x="938" y="856"/>
                      </a:lnTo>
                      <a:lnTo>
                        <a:pt x="938" y="848"/>
                      </a:lnTo>
                      <a:lnTo>
                        <a:pt x="936" y="842"/>
                      </a:lnTo>
                      <a:lnTo>
                        <a:pt x="934" y="838"/>
                      </a:lnTo>
                      <a:lnTo>
                        <a:pt x="929" y="833"/>
                      </a:lnTo>
                      <a:lnTo>
                        <a:pt x="925" y="831"/>
                      </a:lnTo>
                      <a:lnTo>
                        <a:pt x="919" y="827"/>
                      </a:lnTo>
                      <a:lnTo>
                        <a:pt x="913" y="821"/>
                      </a:lnTo>
                      <a:lnTo>
                        <a:pt x="908" y="817"/>
                      </a:lnTo>
                      <a:lnTo>
                        <a:pt x="908" y="813"/>
                      </a:lnTo>
                      <a:lnTo>
                        <a:pt x="908" y="810"/>
                      </a:lnTo>
                      <a:lnTo>
                        <a:pt x="909" y="806"/>
                      </a:lnTo>
                      <a:lnTo>
                        <a:pt x="909" y="800"/>
                      </a:lnTo>
                      <a:lnTo>
                        <a:pt x="911" y="794"/>
                      </a:lnTo>
                      <a:lnTo>
                        <a:pt x="913" y="788"/>
                      </a:lnTo>
                      <a:lnTo>
                        <a:pt x="913" y="783"/>
                      </a:lnTo>
                      <a:lnTo>
                        <a:pt x="913" y="777"/>
                      </a:lnTo>
                      <a:lnTo>
                        <a:pt x="911" y="777"/>
                      </a:lnTo>
                      <a:lnTo>
                        <a:pt x="909" y="779"/>
                      </a:lnTo>
                      <a:lnTo>
                        <a:pt x="908" y="779"/>
                      </a:lnTo>
                      <a:lnTo>
                        <a:pt x="906" y="781"/>
                      </a:lnTo>
                      <a:lnTo>
                        <a:pt x="906" y="781"/>
                      </a:lnTo>
                      <a:lnTo>
                        <a:pt x="906" y="781"/>
                      </a:lnTo>
                      <a:lnTo>
                        <a:pt x="906" y="779"/>
                      </a:lnTo>
                      <a:lnTo>
                        <a:pt x="908" y="777"/>
                      </a:lnTo>
                      <a:close/>
                      <a:moveTo>
                        <a:pt x="902" y="934"/>
                      </a:moveTo>
                      <a:lnTo>
                        <a:pt x="902" y="959"/>
                      </a:lnTo>
                      <a:lnTo>
                        <a:pt x="900" y="984"/>
                      </a:lnTo>
                      <a:lnTo>
                        <a:pt x="898" y="1009"/>
                      </a:lnTo>
                      <a:lnTo>
                        <a:pt x="896" y="1036"/>
                      </a:lnTo>
                      <a:lnTo>
                        <a:pt x="894" y="1061"/>
                      </a:lnTo>
                      <a:lnTo>
                        <a:pt x="892" y="1086"/>
                      </a:lnTo>
                      <a:lnTo>
                        <a:pt x="890" y="1111"/>
                      </a:lnTo>
                      <a:lnTo>
                        <a:pt x="890" y="1134"/>
                      </a:lnTo>
                      <a:lnTo>
                        <a:pt x="906" y="1155"/>
                      </a:lnTo>
                      <a:lnTo>
                        <a:pt x="925" y="1176"/>
                      </a:lnTo>
                      <a:lnTo>
                        <a:pt x="944" y="1197"/>
                      </a:lnTo>
                      <a:lnTo>
                        <a:pt x="965" y="1218"/>
                      </a:lnTo>
                      <a:lnTo>
                        <a:pt x="988" y="1238"/>
                      </a:lnTo>
                      <a:lnTo>
                        <a:pt x="1011" y="1257"/>
                      </a:lnTo>
                      <a:lnTo>
                        <a:pt x="1034" y="1274"/>
                      </a:lnTo>
                      <a:lnTo>
                        <a:pt x="1059" y="1291"/>
                      </a:lnTo>
                      <a:lnTo>
                        <a:pt x="1084" y="1309"/>
                      </a:lnTo>
                      <a:lnTo>
                        <a:pt x="1109" y="1322"/>
                      </a:lnTo>
                      <a:lnTo>
                        <a:pt x="1134" y="1336"/>
                      </a:lnTo>
                      <a:lnTo>
                        <a:pt x="1159" y="1345"/>
                      </a:lnTo>
                      <a:lnTo>
                        <a:pt x="1184" y="1355"/>
                      </a:lnTo>
                      <a:lnTo>
                        <a:pt x="1209" y="1360"/>
                      </a:lnTo>
                      <a:lnTo>
                        <a:pt x="1232" y="1364"/>
                      </a:lnTo>
                      <a:lnTo>
                        <a:pt x="1255" y="1366"/>
                      </a:lnTo>
                      <a:lnTo>
                        <a:pt x="1240" y="1374"/>
                      </a:lnTo>
                      <a:lnTo>
                        <a:pt x="1222" y="1382"/>
                      </a:lnTo>
                      <a:lnTo>
                        <a:pt x="1207" y="1387"/>
                      </a:lnTo>
                      <a:lnTo>
                        <a:pt x="1190" y="1393"/>
                      </a:lnTo>
                      <a:lnTo>
                        <a:pt x="1171" y="1397"/>
                      </a:lnTo>
                      <a:lnTo>
                        <a:pt x="1151" y="1399"/>
                      </a:lnTo>
                      <a:lnTo>
                        <a:pt x="1132" y="1399"/>
                      </a:lnTo>
                      <a:lnTo>
                        <a:pt x="1109" y="1397"/>
                      </a:lnTo>
                      <a:lnTo>
                        <a:pt x="1090" y="1395"/>
                      </a:lnTo>
                      <a:lnTo>
                        <a:pt x="1069" y="1395"/>
                      </a:lnTo>
                      <a:lnTo>
                        <a:pt x="1046" y="1397"/>
                      </a:lnTo>
                      <a:lnTo>
                        <a:pt x="1023" y="1397"/>
                      </a:lnTo>
                      <a:lnTo>
                        <a:pt x="1000" y="1401"/>
                      </a:lnTo>
                      <a:lnTo>
                        <a:pt x="979" y="1403"/>
                      </a:lnTo>
                      <a:lnTo>
                        <a:pt x="961" y="1403"/>
                      </a:lnTo>
                      <a:lnTo>
                        <a:pt x="948" y="1405"/>
                      </a:lnTo>
                      <a:lnTo>
                        <a:pt x="936" y="1418"/>
                      </a:lnTo>
                      <a:lnTo>
                        <a:pt x="925" y="1426"/>
                      </a:lnTo>
                      <a:lnTo>
                        <a:pt x="915" y="1432"/>
                      </a:lnTo>
                      <a:lnTo>
                        <a:pt x="908" y="1432"/>
                      </a:lnTo>
                      <a:lnTo>
                        <a:pt x="900" y="1428"/>
                      </a:lnTo>
                      <a:lnTo>
                        <a:pt x="894" y="1420"/>
                      </a:lnTo>
                      <a:lnTo>
                        <a:pt x="888" y="1410"/>
                      </a:lnTo>
                      <a:lnTo>
                        <a:pt x="884" y="1399"/>
                      </a:lnTo>
                      <a:lnTo>
                        <a:pt x="879" y="1368"/>
                      </a:lnTo>
                      <a:lnTo>
                        <a:pt x="875" y="1334"/>
                      </a:lnTo>
                      <a:lnTo>
                        <a:pt x="873" y="1297"/>
                      </a:lnTo>
                      <a:lnTo>
                        <a:pt x="871" y="1263"/>
                      </a:lnTo>
                      <a:lnTo>
                        <a:pt x="865" y="1253"/>
                      </a:lnTo>
                      <a:lnTo>
                        <a:pt x="861" y="1243"/>
                      </a:lnTo>
                      <a:lnTo>
                        <a:pt x="858" y="1232"/>
                      </a:lnTo>
                      <a:lnTo>
                        <a:pt x="854" y="1220"/>
                      </a:lnTo>
                      <a:lnTo>
                        <a:pt x="852" y="1197"/>
                      </a:lnTo>
                      <a:lnTo>
                        <a:pt x="852" y="1174"/>
                      </a:lnTo>
                      <a:lnTo>
                        <a:pt x="854" y="1149"/>
                      </a:lnTo>
                      <a:lnTo>
                        <a:pt x="856" y="1124"/>
                      </a:lnTo>
                      <a:lnTo>
                        <a:pt x="858" y="1101"/>
                      </a:lnTo>
                      <a:lnTo>
                        <a:pt x="860" y="1078"/>
                      </a:lnTo>
                      <a:lnTo>
                        <a:pt x="861" y="1074"/>
                      </a:lnTo>
                      <a:lnTo>
                        <a:pt x="863" y="1067"/>
                      </a:lnTo>
                      <a:lnTo>
                        <a:pt x="863" y="1055"/>
                      </a:lnTo>
                      <a:lnTo>
                        <a:pt x="863" y="1044"/>
                      </a:lnTo>
                      <a:lnTo>
                        <a:pt x="863" y="1032"/>
                      </a:lnTo>
                      <a:lnTo>
                        <a:pt x="865" y="1021"/>
                      </a:lnTo>
                      <a:lnTo>
                        <a:pt x="863" y="1009"/>
                      </a:lnTo>
                      <a:lnTo>
                        <a:pt x="863" y="1002"/>
                      </a:lnTo>
                      <a:lnTo>
                        <a:pt x="867" y="998"/>
                      </a:lnTo>
                      <a:lnTo>
                        <a:pt x="871" y="986"/>
                      </a:lnTo>
                      <a:lnTo>
                        <a:pt x="877" y="971"/>
                      </a:lnTo>
                      <a:lnTo>
                        <a:pt x="883" y="954"/>
                      </a:lnTo>
                      <a:lnTo>
                        <a:pt x="888" y="940"/>
                      </a:lnTo>
                      <a:lnTo>
                        <a:pt x="894" y="929"/>
                      </a:lnTo>
                      <a:lnTo>
                        <a:pt x="896" y="927"/>
                      </a:lnTo>
                      <a:lnTo>
                        <a:pt x="898" y="927"/>
                      </a:lnTo>
                      <a:lnTo>
                        <a:pt x="900" y="929"/>
                      </a:lnTo>
                      <a:lnTo>
                        <a:pt x="902" y="934"/>
                      </a:lnTo>
                      <a:close/>
                      <a:moveTo>
                        <a:pt x="1368" y="691"/>
                      </a:moveTo>
                      <a:lnTo>
                        <a:pt x="1380" y="702"/>
                      </a:lnTo>
                      <a:lnTo>
                        <a:pt x="1380" y="717"/>
                      </a:lnTo>
                      <a:lnTo>
                        <a:pt x="1380" y="731"/>
                      </a:lnTo>
                      <a:lnTo>
                        <a:pt x="1355" y="717"/>
                      </a:lnTo>
                      <a:lnTo>
                        <a:pt x="1268" y="702"/>
                      </a:lnTo>
                      <a:lnTo>
                        <a:pt x="1259" y="698"/>
                      </a:lnTo>
                      <a:lnTo>
                        <a:pt x="1368" y="691"/>
                      </a:lnTo>
                      <a:close/>
                      <a:moveTo>
                        <a:pt x="1372" y="1013"/>
                      </a:moveTo>
                      <a:lnTo>
                        <a:pt x="1339" y="1013"/>
                      </a:lnTo>
                      <a:lnTo>
                        <a:pt x="1318" y="1003"/>
                      </a:lnTo>
                      <a:lnTo>
                        <a:pt x="1349" y="990"/>
                      </a:lnTo>
                      <a:lnTo>
                        <a:pt x="1401" y="996"/>
                      </a:lnTo>
                      <a:lnTo>
                        <a:pt x="1395" y="1017"/>
                      </a:lnTo>
                      <a:lnTo>
                        <a:pt x="1359" y="1019"/>
                      </a:lnTo>
                      <a:lnTo>
                        <a:pt x="1372" y="1013"/>
                      </a:lnTo>
                      <a:close/>
                      <a:moveTo>
                        <a:pt x="1263" y="781"/>
                      </a:moveTo>
                      <a:lnTo>
                        <a:pt x="1286" y="811"/>
                      </a:lnTo>
                      <a:lnTo>
                        <a:pt x="1347" y="831"/>
                      </a:lnTo>
                      <a:lnTo>
                        <a:pt x="1293" y="810"/>
                      </a:lnTo>
                      <a:lnTo>
                        <a:pt x="1274" y="787"/>
                      </a:lnTo>
                      <a:lnTo>
                        <a:pt x="1284" y="787"/>
                      </a:lnTo>
                      <a:lnTo>
                        <a:pt x="1297" y="787"/>
                      </a:lnTo>
                      <a:lnTo>
                        <a:pt x="1311" y="787"/>
                      </a:lnTo>
                      <a:lnTo>
                        <a:pt x="1326" y="787"/>
                      </a:lnTo>
                      <a:lnTo>
                        <a:pt x="1339" y="785"/>
                      </a:lnTo>
                      <a:lnTo>
                        <a:pt x="1353" y="783"/>
                      </a:lnTo>
                      <a:lnTo>
                        <a:pt x="1364" y="779"/>
                      </a:lnTo>
                      <a:lnTo>
                        <a:pt x="1372" y="771"/>
                      </a:lnTo>
                      <a:lnTo>
                        <a:pt x="1362" y="773"/>
                      </a:lnTo>
                      <a:lnTo>
                        <a:pt x="1355" y="771"/>
                      </a:lnTo>
                      <a:lnTo>
                        <a:pt x="1349" y="769"/>
                      </a:lnTo>
                      <a:lnTo>
                        <a:pt x="1343" y="767"/>
                      </a:lnTo>
                      <a:lnTo>
                        <a:pt x="1341" y="765"/>
                      </a:lnTo>
                      <a:lnTo>
                        <a:pt x="1338" y="764"/>
                      </a:lnTo>
                      <a:lnTo>
                        <a:pt x="1338" y="762"/>
                      </a:lnTo>
                      <a:lnTo>
                        <a:pt x="1338" y="760"/>
                      </a:lnTo>
                      <a:lnTo>
                        <a:pt x="1330" y="764"/>
                      </a:lnTo>
                      <a:lnTo>
                        <a:pt x="1320" y="767"/>
                      </a:lnTo>
                      <a:lnTo>
                        <a:pt x="1311" y="771"/>
                      </a:lnTo>
                      <a:lnTo>
                        <a:pt x="1299" y="775"/>
                      </a:lnTo>
                      <a:lnTo>
                        <a:pt x="1290" y="777"/>
                      </a:lnTo>
                      <a:lnTo>
                        <a:pt x="1278" y="779"/>
                      </a:lnTo>
                      <a:lnTo>
                        <a:pt x="1270" y="781"/>
                      </a:lnTo>
                      <a:lnTo>
                        <a:pt x="1263" y="781"/>
                      </a:lnTo>
                      <a:close/>
                      <a:moveTo>
                        <a:pt x="295" y="1295"/>
                      </a:moveTo>
                      <a:lnTo>
                        <a:pt x="307" y="1303"/>
                      </a:lnTo>
                      <a:lnTo>
                        <a:pt x="314" y="1311"/>
                      </a:lnTo>
                      <a:lnTo>
                        <a:pt x="316" y="1316"/>
                      </a:lnTo>
                      <a:lnTo>
                        <a:pt x="320" y="1324"/>
                      </a:lnTo>
                      <a:lnTo>
                        <a:pt x="322" y="1328"/>
                      </a:lnTo>
                      <a:lnTo>
                        <a:pt x="326" y="1332"/>
                      </a:lnTo>
                      <a:lnTo>
                        <a:pt x="332" y="1336"/>
                      </a:lnTo>
                      <a:lnTo>
                        <a:pt x="343" y="1336"/>
                      </a:lnTo>
                      <a:lnTo>
                        <a:pt x="332" y="1341"/>
                      </a:lnTo>
                      <a:lnTo>
                        <a:pt x="318" y="1347"/>
                      </a:lnTo>
                      <a:lnTo>
                        <a:pt x="307" y="1349"/>
                      </a:lnTo>
                      <a:lnTo>
                        <a:pt x="291" y="1349"/>
                      </a:lnTo>
                      <a:lnTo>
                        <a:pt x="264" y="1349"/>
                      </a:lnTo>
                      <a:lnTo>
                        <a:pt x="234" y="1347"/>
                      </a:lnTo>
                      <a:lnTo>
                        <a:pt x="220" y="1347"/>
                      </a:lnTo>
                      <a:lnTo>
                        <a:pt x="205" y="1349"/>
                      </a:lnTo>
                      <a:lnTo>
                        <a:pt x="192" y="1349"/>
                      </a:lnTo>
                      <a:lnTo>
                        <a:pt x="176" y="1353"/>
                      </a:lnTo>
                      <a:lnTo>
                        <a:pt x="163" y="1359"/>
                      </a:lnTo>
                      <a:lnTo>
                        <a:pt x="151" y="1366"/>
                      </a:lnTo>
                      <a:lnTo>
                        <a:pt x="138" y="1376"/>
                      </a:lnTo>
                      <a:lnTo>
                        <a:pt x="126" y="1389"/>
                      </a:lnTo>
                      <a:lnTo>
                        <a:pt x="142" y="1389"/>
                      </a:lnTo>
                      <a:lnTo>
                        <a:pt x="155" y="1385"/>
                      </a:lnTo>
                      <a:lnTo>
                        <a:pt x="170" y="1382"/>
                      </a:lnTo>
                      <a:lnTo>
                        <a:pt x="184" y="1376"/>
                      </a:lnTo>
                      <a:lnTo>
                        <a:pt x="211" y="1364"/>
                      </a:lnTo>
                      <a:lnTo>
                        <a:pt x="240" y="1353"/>
                      </a:lnTo>
                      <a:lnTo>
                        <a:pt x="253" y="1347"/>
                      </a:lnTo>
                      <a:lnTo>
                        <a:pt x="268" y="1343"/>
                      </a:lnTo>
                      <a:lnTo>
                        <a:pt x="282" y="1339"/>
                      </a:lnTo>
                      <a:lnTo>
                        <a:pt x="297" y="1339"/>
                      </a:lnTo>
                      <a:lnTo>
                        <a:pt x="311" y="1339"/>
                      </a:lnTo>
                      <a:lnTo>
                        <a:pt x="326" y="1343"/>
                      </a:lnTo>
                      <a:lnTo>
                        <a:pt x="341" y="1349"/>
                      </a:lnTo>
                      <a:lnTo>
                        <a:pt x="359" y="1359"/>
                      </a:lnTo>
                      <a:lnTo>
                        <a:pt x="343" y="1357"/>
                      </a:lnTo>
                      <a:lnTo>
                        <a:pt x="322" y="1357"/>
                      </a:lnTo>
                      <a:lnTo>
                        <a:pt x="297" y="1359"/>
                      </a:lnTo>
                      <a:lnTo>
                        <a:pt x="272" y="1360"/>
                      </a:lnTo>
                      <a:lnTo>
                        <a:pt x="261" y="1362"/>
                      </a:lnTo>
                      <a:lnTo>
                        <a:pt x="249" y="1366"/>
                      </a:lnTo>
                      <a:lnTo>
                        <a:pt x="240" y="1370"/>
                      </a:lnTo>
                      <a:lnTo>
                        <a:pt x="230" y="1374"/>
                      </a:lnTo>
                      <a:lnTo>
                        <a:pt x="222" y="1380"/>
                      </a:lnTo>
                      <a:lnTo>
                        <a:pt x="217" y="1387"/>
                      </a:lnTo>
                      <a:lnTo>
                        <a:pt x="213" y="1395"/>
                      </a:lnTo>
                      <a:lnTo>
                        <a:pt x="211" y="1405"/>
                      </a:lnTo>
                      <a:lnTo>
                        <a:pt x="224" y="1410"/>
                      </a:lnTo>
                      <a:lnTo>
                        <a:pt x="243" y="1412"/>
                      </a:lnTo>
                      <a:lnTo>
                        <a:pt x="263" y="1412"/>
                      </a:lnTo>
                      <a:lnTo>
                        <a:pt x="286" y="1412"/>
                      </a:lnTo>
                      <a:lnTo>
                        <a:pt x="309" y="1410"/>
                      </a:lnTo>
                      <a:lnTo>
                        <a:pt x="332" y="1408"/>
                      </a:lnTo>
                      <a:lnTo>
                        <a:pt x="351" y="1407"/>
                      </a:lnTo>
                      <a:lnTo>
                        <a:pt x="370" y="1405"/>
                      </a:lnTo>
                      <a:lnTo>
                        <a:pt x="347" y="1410"/>
                      </a:lnTo>
                      <a:lnTo>
                        <a:pt x="322" y="1414"/>
                      </a:lnTo>
                      <a:lnTo>
                        <a:pt x="299" y="1418"/>
                      </a:lnTo>
                      <a:lnTo>
                        <a:pt x="276" y="1424"/>
                      </a:lnTo>
                      <a:lnTo>
                        <a:pt x="253" y="1430"/>
                      </a:lnTo>
                      <a:lnTo>
                        <a:pt x="232" y="1441"/>
                      </a:lnTo>
                      <a:lnTo>
                        <a:pt x="222" y="1449"/>
                      </a:lnTo>
                      <a:lnTo>
                        <a:pt x="211" y="1456"/>
                      </a:lnTo>
                      <a:lnTo>
                        <a:pt x="201" y="1466"/>
                      </a:lnTo>
                      <a:lnTo>
                        <a:pt x="193" y="1478"/>
                      </a:lnTo>
                      <a:lnTo>
                        <a:pt x="217" y="1508"/>
                      </a:lnTo>
                      <a:lnTo>
                        <a:pt x="240" y="1506"/>
                      </a:lnTo>
                      <a:lnTo>
                        <a:pt x="264" y="1504"/>
                      </a:lnTo>
                      <a:lnTo>
                        <a:pt x="288" y="1499"/>
                      </a:lnTo>
                      <a:lnTo>
                        <a:pt x="312" y="1493"/>
                      </a:lnTo>
                      <a:lnTo>
                        <a:pt x="337" y="1487"/>
                      </a:lnTo>
                      <a:lnTo>
                        <a:pt x="362" y="1481"/>
                      </a:lnTo>
                      <a:lnTo>
                        <a:pt x="387" y="1478"/>
                      </a:lnTo>
                      <a:lnTo>
                        <a:pt x="412" y="1478"/>
                      </a:lnTo>
                      <a:lnTo>
                        <a:pt x="399" y="1480"/>
                      </a:lnTo>
                      <a:lnTo>
                        <a:pt x="382" y="1483"/>
                      </a:lnTo>
                      <a:lnTo>
                        <a:pt x="366" y="1489"/>
                      </a:lnTo>
                      <a:lnTo>
                        <a:pt x="349" y="1493"/>
                      </a:lnTo>
                      <a:lnTo>
                        <a:pt x="332" y="1495"/>
                      </a:lnTo>
                      <a:lnTo>
                        <a:pt x="314" y="1499"/>
                      </a:lnTo>
                      <a:lnTo>
                        <a:pt x="299" y="1501"/>
                      </a:lnTo>
                      <a:lnTo>
                        <a:pt x="284" y="1501"/>
                      </a:lnTo>
                      <a:lnTo>
                        <a:pt x="303" y="1514"/>
                      </a:lnTo>
                      <a:lnTo>
                        <a:pt x="330" y="1526"/>
                      </a:lnTo>
                      <a:lnTo>
                        <a:pt x="359" y="1537"/>
                      </a:lnTo>
                      <a:lnTo>
                        <a:pt x="389" y="1549"/>
                      </a:lnTo>
                      <a:lnTo>
                        <a:pt x="420" y="1558"/>
                      </a:lnTo>
                      <a:lnTo>
                        <a:pt x="451" y="1566"/>
                      </a:lnTo>
                      <a:lnTo>
                        <a:pt x="476" y="1572"/>
                      </a:lnTo>
                      <a:lnTo>
                        <a:pt x="499" y="1574"/>
                      </a:lnTo>
                      <a:lnTo>
                        <a:pt x="493" y="1572"/>
                      </a:lnTo>
                      <a:lnTo>
                        <a:pt x="489" y="1572"/>
                      </a:lnTo>
                      <a:lnTo>
                        <a:pt x="483" y="1570"/>
                      </a:lnTo>
                      <a:lnTo>
                        <a:pt x="479" y="1568"/>
                      </a:lnTo>
                      <a:lnTo>
                        <a:pt x="476" y="1568"/>
                      </a:lnTo>
                      <a:lnTo>
                        <a:pt x="470" y="1566"/>
                      </a:lnTo>
                      <a:lnTo>
                        <a:pt x="466" y="1564"/>
                      </a:lnTo>
                      <a:lnTo>
                        <a:pt x="460" y="1564"/>
                      </a:lnTo>
                      <a:lnTo>
                        <a:pt x="449" y="1581"/>
                      </a:lnTo>
                      <a:lnTo>
                        <a:pt x="451" y="1600"/>
                      </a:lnTo>
                      <a:lnTo>
                        <a:pt x="453" y="1622"/>
                      </a:lnTo>
                      <a:lnTo>
                        <a:pt x="456" y="1639"/>
                      </a:lnTo>
                      <a:lnTo>
                        <a:pt x="460" y="1658"/>
                      </a:lnTo>
                      <a:lnTo>
                        <a:pt x="468" y="1675"/>
                      </a:lnTo>
                      <a:lnTo>
                        <a:pt x="476" y="1691"/>
                      </a:lnTo>
                      <a:lnTo>
                        <a:pt x="483" y="1708"/>
                      </a:lnTo>
                      <a:lnTo>
                        <a:pt x="493" y="1723"/>
                      </a:lnTo>
                      <a:lnTo>
                        <a:pt x="512" y="1752"/>
                      </a:lnTo>
                      <a:lnTo>
                        <a:pt x="533" y="1781"/>
                      </a:lnTo>
                      <a:lnTo>
                        <a:pt x="556" y="1808"/>
                      </a:lnTo>
                      <a:lnTo>
                        <a:pt x="577" y="1835"/>
                      </a:lnTo>
                      <a:lnTo>
                        <a:pt x="574" y="1833"/>
                      </a:lnTo>
                      <a:lnTo>
                        <a:pt x="568" y="1833"/>
                      </a:lnTo>
                      <a:lnTo>
                        <a:pt x="560" y="1835"/>
                      </a:lnTo>
                      <a:lnTo>
                        <a:pt x="552" y="1838"/>
                      </a:lnTo>
                      <a:lnTo>
                        <a:pt x="533" y="1850"/>
                      </a:lnTo>
                      <a:lnTo>
                        <a:pt x="510" y="1865"/>
                      </a:lnTo>
                      <a:lnTo>
                        <a:pt x="489" y="1883"/>
                      </a:lnTo>
                      <a:lnTo>
                        <a:pt x="466" y="1900"/>
                      </a:lnTo>
                      <a:lnTo>
                        <a:pt x="456" y="1906"/>
                      </a:lnTo>
                      <a:lnTo>
                        <a:pt x="447" y="1909"/>
                      </a:lnTo>
                      <a:lnTo>
                        <a:pt x="437" y="1913"/>
                      </a:lnTo>
                      <a:lnTo>
                        <a:pt x="430" y="1915"/>
                      </a:lnTo>
                      <a:lnTo>
                        <a:pt x="433" y="1915"/>
                      </a:lnTo>
                      <a:lnTo>
                        <a:pt x="435" y="1917"/>
                      </a:lnTo>
                      <a:lnTo>
                        <a:pt x="439" y="1919"/>
                      </a:lnTo>
                      <a:lnTo>
                        <a:pt x="443" y="1923"/>
                      </a:lnTo>
                      <a:lnTo>
                        <a:pt x="445" y="1927"/>
                      </a:lnTo>
                      <a:lnTo>
                        <a:pt x="447" y="1929"/>
                      </a:lnTo>
                      <a:lnTo>
                        <a:pt x="449" y="1931"/>
                      </a:lnTo>
                      <a:lnTo>
                        <a:pt x="449" y="1931"/>
                      </a:lnTo>
                      <a:lnTo>
                        <a:pt x="449" y="1963"/>
                      </a:lnTo>
                      <a:lnTo>
                        <a:pt x="449" y="1963"/>
                      </a:lnTo>
                      <a:lnTo>
                        <a:pt x="445" y="1967"/>
                      </a:lnTo>
                      <a:lnTo>
                        <a:pt x="441" y="1971"/>
                      </a:lnTo>
                      <a:lnTo>
                        <a:pt x="437" y="1975"/>
                      </a:lnTo>
                      <a:lnTo>
                        <a:pt x="431" y="1981"/>
                      </a:lnTo>
                      <a:lnTo>
                        <a:pt x="428" y="1986"/>
                      </a:lnTo>
                      <a:lnTo>
                        <a:pt x="426" y="1990"/>
                      </a:lnTo>
                      <a:lnTo>
                        <a:pt x="424" y="1994"/>
                      </a:lnTo>
                      <a:lnTo>
                        <a:pt x="424" y="2011"/>
                      </a:lnTo>
                      <a:lnTo>
                        <a:pt x="428" y="2023"/>
                      </a:lnTo>
                      <a:lnTo>
                        <a:pt x="435" y="2036"/>
                      </a:lnTo>
                      <a:lnTo>
                        <a:pt x="443" y="2048"/>
                      </a:lnTo>
                      <a:lnTo>
                        <a:pt x="455" y="2059"/>
                      </a:lnTo>
                      <a:lnTo>
                        <a:pt x="478" y="2082"/>
                      </a:lnTo>
                      <a:lnTo>
                        <a:pt x="501" y="2107"/>
                      </a:lnTo>
                      <a:lnTo>
                        <a:pt x="512" y="2119"/>
                      </a:lnTo>
                      <a:lnTo>
                        <a:pt x="520" y="2132"/>
                      </a:lnTo>
                      <a:lnTo>
                        <a:pt x="526" y="2146"/>
                      </a:lnTo>
                      <a:lnTo>
                        <a:pt x="529" y="2161"/>
                      </a:lnTo>
                      <a:lnTo>
                        <a:pt x="529" y="2178"/>
                      </a:lnTo>
                      <a:lnTo>
                        <a:pt x="526" y="2196"/>
                      </a:lnTo>
                      <a:lnTo>
                        <a:pt x="518" y="2213"/>
                      </a:lnTo>
                      <a:lnTo>
                        <a:pt x="504" y="2234"/>
                      </a:lnTo>
                      <a:lnTo>
                        <a:pt x="487" y="2215"/>
                      </a:lnTo>
                      <a:lnTo>
                        <a:pt x="468" y="2186"/>
                      </a:lnTo>
                      <a:lnTo>
                        <a:pt x="445" y="2153"/>
                      </a:lnTo>
                      <a:lnTo>
                        <a:pt x="420" y="2117"/>
                      </a:lnTo>
                      <a:lnTo>
                        <a:pt x="407" y="2100"/>
                      </a:lnTo>
                      <a:lnTo>
                        <a:pt x="393" y="2084"/>
                      </a:lnTo>
                      <a:lnTo>
                        <a:pt x="380" y="2069"/>
                      </a:lnTo>
                      <a:lnTo>
                        <a:pt x="368" y="2057"/>
                      </a:lnTo>
                      <a:lnTo>
                        <a:pt x="355" y="2048"/>
                      </a:lnTo>
                      <a:lnTo>
                        <a:pt x="343" y="2042"/>
                      </a:lnTo>
                      <a:lnTo>
                        <a:pt x="337" y="2040"/>
                      </a:lnTo>
                      <a:lnTo>
                        <a:pt x="332" y="2040"/>
                      </a:lnTo>
                      <a:lnTo>
                        <a:pt x="326" y="2040"/>
                      </a:lnTo>
                      <a:lnTo>
                        <a:pt x="320" y="2042"/>
                      </a:lnTo>
                      <a:lnTo>
                        <a:pt x="314" y="2050"/>
                      </a:lnTo>
                      <a:lnTo>
                        <a:pt x="314" y="2053"/>
                      </a:lnTo>
                      <a:lnTo>
                        <a:pt x="316" y="2059"/>
                      </a:lnTo>
                      <a:lnTo>
                        <a:pt x="316" y="2065"/>
                      </a:lnTo>
                      <a:lnTo>
                        <a:pt x="318" y="2071"/>
                      </a:lnTo>
                      <a:lnTo>
                        <a:pt x="318" y="2077"/>
                      </a:lnTo>
                      <a:lnTo>
                        <a:pt x="320" y="2082"/>
                      </a:lnTo>
                      <a:lnTo>
                        <a:pt x="320" y="2086"/>
                      </a:lnTo>
                      <a:lnTo>
                        <a:pt x="320" y="2090"/>
                      </a:lnTo>
                      <a:lnTo>
                        <a:pt x="343" y="2119"/>
                      </a:lnTo>
                      <a:lnTo>
                        <a:pt x="364" y="2151"/>
                      </a:lnTo>
                      <a:lnTo>
                        <a:pt x="385" y="2186"/>
                      </a:lnTo>
                      <a:lnTo>
                        <a:pt x="407" y="2220"/>
                      </a:lnTo>
                      <a:lnTo>
                        <a:pt x="426" y="2257"/>
                      </a:lnTo>
                      <a:lnTo>
                        <a:pt x="445" y="2295"/>
                      </a:lnTo>
                      <a:lnTo>
                        <a:pt x="464" y="2336"/>
                      </a:lnTo>
                      <a:lnTo>
                        <a:pt x="479" y="2374"/>
                      </a:lnTo>
                      <a:lnTo>
                        <a:pt x="497" y="2416"/>
                      </a:lnTo>
                      <a:lnTo>
                        <a:pt x="510" y="2457"/>
                      </a:lnTo>
                      <a:lnTo>
                        <a:pt x="522" y="2497"/>
                      </a:lnTo>
                      <a:lnTo>
                        <a:pt x="533" y="2537"/>
                      </a:lnTo>
                      <a:lnTo>
                        <a:pt x="541" y="2579"/>
                      </a:lnTo>
                      <a:lnTo>
                        <a:pt x="547" y="2618"/>
                      </a:lnTo>
                      <a:lnTo>
                        <a:pt x="551" y="2658"/>
                      </a:lnTo>
                      <a:lnTo>
                        <a:pt x="552" y="2695"/>
                      </a:lnTo>
                      <a:lnTo>
                        <a:pt x="545" y="2695"/>
                      </a:lnTo>
                      <a:lnTo>
                        <a:pt x="537" y="2693"/>
                      </a:lnTo>
                      <a:lnTo>
                        <a:pt x="531" y="2689"/>
                      </a:lnTo>
                      <a:lnTo>
                        <a:pt x="524" y="2683"/>
                      </a:lnTo>
                      <a:lnTo>
                        <a:pt x="510" y="2672"/>
                      </a:lnTo>
                      <a:lnTo>
                        <a:pt x="497" y="2654"/>
                      </a:lnTo>
                      <a:lnTo>
                        <a:pt x="483" y="2633"/>
                      </a:lnTo>
                      <a:lnTo>
                        <a:pt x="470" y="2608"/>
                      </a:lnTo>
                      <a:lnTo>
                        <a:pt x="458" y="2583"/>
                      </a:lnTo>
                      <a:lnTo>
                        <a:pt x="447" y="2556"/>
                      </a:lnTo>
                      <a:lnTo>
                        <a:pt x="428" y="2501"/>
                      </a:lnTo>
                      <a:lnTo>
                        <a:pt x="410" y="2447"/>
                      </a:lnTo>
                      <a:lnTo>
                        <a:pt x="397" y="2401"/>
                      </a:lnTo>
                      <a:lnTo>
                        <a:pt x="387" y="2368"/>
                      </a:lnTo>
                      <a:lnTo>
                        <a:pt x="380" y="2347"/>
                      </a:lnTo>
                      <a:lnTo>
                        <a:pt x="372" y="2324"/>
                      </a:lnTo>
                      <a:lnTo>
                        <a:pt x="360" y="2303"/>
                      </a:lnTo>
                      <a:lnTo>
                        <a:pt x="351" y="2282"/>
                      </a:lnTo>
                      <a:lnTo>
                        <a:pt x="326" y="2240"/>
                      </a:lnTo>
                      <a:lnTo>
                        <a:pt x="299" y="2199"/>
                      </a:lnTo>
                      <a:lnTo>
                        <a:pt x="274" y="2157"/>
                      </a:lnTo>
                      <a:lnTo>
                        <a:pt x="249" y="2117"/>
                      </a:lnTo>
                      <a:lnTo>
                        <a:pt x="238" y="2096"/>
                      </a:lnTo>
                      <a:lnTo>
                        <a:pt x="228" y="2077"/>
                      </a:lnTo>
                      <a:lnTo>
                        <a:pt x="218" y="2055"/>
                      </a:lnTo>
                      <a:lnTo>
                        <a:pt x="211" y="2034"/>
                      </a:lnTo>
                      <a:lnTo>
                        <a:pt x="203" y="2011"/>
                      </a:lnTo>
                      <a:lnTo>
                        <a:pt x="195" y="1986"/>
                      </a:lnTo>
                      <a:lnTo>
                        <a:pt x="188" y="1959"/>
                      </a:lnTo>
                      <a:lnTo>
                        <a:pt x="178" y="1933"/>
                      </a:lnTo>
                      <a:lnTo>
                        <a:pt x="169" y="1904"/>
                      </a:lnTo>
                      <a:lnTo>
                        <a:pt x="157" y="1879"/>
                      </a:lnTo>
                      <a:lnTo>
                        <a:pt x="145" y="1856"/>
                      </a:lnTo>
                      <a:lnTo>
                        <a:pt x="132" y="1835"/>
                      </a:lnTo>
                      <a:lnTo>
                        <a:pt x="124" y="1858"/>
                      </a:lnTo>
                      <a:lnTo>
                        <a:pt x="119" y="1883"/>
                      </a:lnTo>
                      <a:lnTo>
                        <a:pt x="113" y="1908"/>
                      </a:lnTo>
                      <a:lnTo>
                        <a:pt x="109" y="1934"/>
                      </a:lnTo>
                      <a:lnTo>
                        <a:pt x="105" y="1961"/>
                      </a:lnTo>
                      <a:lnTo>
                        <a:pt x="103" y="1990"/>
                      </a:lnTo>
                      <a:lnTo>
                        <a:pt x="103" y="2017"/>
                      </a:lnTo>
                      <a:lnTo>
                        <a:pt x="103" y="2046"/>
                      </a:lnTo>
                      <a:lnTo>
                        <a:pt x="105" y="2103"/>
                      </a:lnTo>
                      <a:lnTo>
                        <a:pt x="111" y="2157"/>
                      </a:lnTo>
                      <a:lnTo>
                        <a:pt x="115" y="2184"/>
                      </a:lnTo>
                      <a:lnTo>
                        <a:pt x="121" y="2209"/>
                      </a:lnTo>
                      <a:lnTo>
                        <a:pt x="126" y="2234"/>
                      </a:lnTo>
                      <a:lnTo>
                        <a:pt x="132" y="2257"/>
                      </a:lnTo>
                      <a:lnTo>
                        <a:pt x="132" y="2261"/>
                      </a:lnTo>
                      <a:lnTo>
                        <a:pt x="134" y="2267"/>
                      </a:lnTo>
                      <a:lnTo>
                        <a:pt x="136" y="2274"/>
                      </a:lnTo>
                      <a:lnTo>
                        <a:pt x="138" y="2282"/>
                      </a:lnTo>
                      <a:lnTo>
                        <a:pt x="140" y="2290"/>
                      </a:lnTo>
                      <a:lnTo>
                        <a:pt x="144" y="2299"/>
                      </a:lnTo>
                      <a:lnTo>
                        <a:pt x="144" y="2307"/>
                      </a:lnTo>
                      <a:lnTo>
                        <a:pt x="145" y="2313"/>
                      </a:lnTo>
                      <a:lnTo>
                        <a:pt x="155" y="2320"/>
                      </a:lnTo>
                      <a:lnTo>
                        <a:pt x="170" y="2332"/>
                      </a:lnTo>
                      <a:lnTo>
                        <a:pt x="188" y="2347"/>
                      </a:lnTo>
                      <a:lnTo>
                        <a:pt x="205" y="2363"/>
                      </a:lnTo>
                      <a:lnTo>
                        <a:pt x="220" y="2380"/>
                      </a:lnTo>
                      <a:lnTo>
                        <a:pt x="234" y="2395"/>
                      </a:lnTo>
                      <a:lnTo>
                        <a:pt x="240" y="2403"/>
                      </a:lnTo>
                      <a:lnTo>
                        <a:pt x="243" y="2411"/>
                      </a:lnTo>
                      <a:lnTo>
                        <a:pt x="247" y="2418"/>
                      </a:lnTo>
                      <a:lnTo>
                        <a:pt x="247" y="2424"/>
                      </a:lnTo>
                      <a:lnTo>
                        <a:pt x="268" y="2443"/>
                      </a:lnTo>
                      <a:lnTo>
                        <a:pt x="288" y="2464"/>
                      </a:lnTo>
                      <a:lnTo>
                        <a:pt x="307" y="2485"/>
                      </a:lnTo>
                      <a:lnTo>
                        <a:pt x="326" y="2508"/>
                      </a:lnTo>
                      <a:lnTo>
                        <a:pt x="362" y="2558"/>
                      </a:lnTo>
                      <a:lnTo>
                        <a:pt x="399" y="2610"/>
                      </a:lnTo>
                      <a:lnTo>
                        <a:pt x="433" y="2664"/>
                      </a:lnTo>
                      <a:lnTo>
                        <a:pt x="466" y="2716"/>
                      </a:lnTo>
                      <a:lnTo>
                        <a:pt x="501" y="2768"/>
                      </a:lnTo>
                      <a:lnTo>
                        <a:pt x="535" y="2814"/>
                      </a:lnTo>
                      <a:lnTo>
                        <a:pt x="526" y="2812"/>
                      </a:lnTo>
                      <a:lnTo>
                        <a:pt x="516" y="2808"/>
                      </a:lnTo>
                      <a:lnTo>
                        <a:pt x="504" y="2802"/>
                      </a:lnTo>
                      <a:lnTo>
                        <a:pt x="495" y="2794"/>
                      </a:lnTo>
                      <a:lnTo>
                        <a:pt x="485" y="2787"/>
                      </a:lnTo>
                      <a:lnTo>
                        <a:pt x="474" y="2781"/>
                      </a:lnTo>
                      <a:lnTo>
                        <a:pt x="464" y="2775"/>
                      </a:lnTo>
                      <a:lnTo>
                        <a:pt x="455" y="2775"/>
                      </a:lnTo>
                      <a:lnTo>
                        <a:pt x="451" y="2766"/>
                      </a:lnTo>
                      <a:lnTo>
                        <a:pt x="447" y="2760"/>
                      </a:lnTo>
                      <a:lnTo>
                        <a:pt x="441" y="2756"/>
                      </a:lnTo>
                      <a:lnTo>
                        <a:pt x="437" y="2752"/>
                      </a:lnTo>
                      <a:lnTo>
                        <a:pt x="431" y="2750"/>
                      </a:lnTo>
                      <a:lnTo>
                        <a:pt x="428" y="2748"/>
                      </a:lnTo>
                      <a:lnTo>
                        <a:pt x="424" y="2745"/>
                      </a:lnTo>
                      <a:lnTo>
                        <a:pt x="418" y="2743"/>
                      </a:lnTo>
                      <a:lnTo>
                        <a:pt x="393" y="2725"/>
                      </a:lnTo>
                      <a:lnTo>
                        <a:pt x="366" y="2706"/>
                      </a:lnTo>
                      <a:lnTo>
                        <a:pt x="341" y="2685"/>
                      </a:lnTo>
                      <a:lnTo>
                        <a:pt x="318" y="2660"/>
                      </a:lnTo>
                      <a:lnTo>
                        <a:pt x="270" y="2608"/>
                      </a:lnTo>
                      <a:lnTo>
                        <a:pt x="224" y="2551"/>
                      </a:lnTo>
                      <a:lnTo>
                        <a:pt x="178" y="2493"/>
                      </a:lnTo>
                      <a:lnTo>
                        <a:pt x="132" y="2439"/>
                      </a:lnTo>
                      <a:lnTo>
                        <a:pt x="107" y="2414"/>
                      </a:lnTo>
                      <a:lnTo>
                        <a:pt x="84" y="2391"/>
                      </a:lnTo>
                      <a:lnTo>
                        <a:pt x="59" y="2370"/>
                      </a:lnTo>
                      <a:lnTo>
                        <a:pt x="34" y="2353"/>
                      </a:lnTo>
                      <a:lnTo>
                        <a:pt x="34" y="2363"/>
                      </a:lnTo>
                      <a:lnTo>
                        <a:pt x="34" y="2374"/>
                      </a:lnTo>
                      <a:lnTo>
                        <a:pt x="34" y="2386"/>
                      </a:lnTo>
                      <a:lnTo>
                        <a:pt x="36" y="2397"/>
                      </a:lnTo>
                      <a:lnTo>
                        <a:pt x="36" y="2409"/>
                      </a:lnTo>
                      <a:lnTo>
                        <a:pt x="38" y="2420"/>
                      </a:lnTo>
                      <a:lnTo>
                        <a:pt x="38" y="2430"/>
                      </a:lnTo>
                      <a:lnTo>
                        <a:pt x="40" y="2439"/>
                      </a:lnTo>
                      <a:lnTo>
                        <a:pt x="28" y="2457"/>
                      </a:lnTo>
                      <a:lnTo>
                        <a:pt x="28" y="2520"/>
                      </a:lnTo>
                      <a:lnTo>
                        <a:pt x="48" y="2543"/>
                      </a:lnTo>
                      <a:lnTo>
                        <a:pt x="71" y="2566"/>
                      </a:lnTo>
                      <a:lnTo>
                        <a:pt x="94" y="2587"/>
                      </a:lnTo>
                      <a:lnTo>
                        <a:pt x="119" y="2608"/>
                      </a:lnTo>
                      <a:lnTo>
                        <a:pt x="144" y="2629"/>
                      </a:lnTo>
                      <a:lnTo>
                        <a:pt x="167" y="2650"/>
                      </a:lnTo>
                      <a:lnTo>
                        <a:pt x="188" y="2672"/>
                      </a:lnTo>
                      <a:lnTo>
                        <a:pt x="205" y="2695"/>
                      </a:lnTo>
                      <a:lnTo>
                        <a:pt x="224" y="2723"/>
                      </a:lnTo>
                      <a:lnTo>
                        <a:pt x="243" y="2750"/>
                      </a:lnTo>
                      <a:lnTo>
                        <a:pt x="264" y="2777"/>
                      </a:lnTo>
                      <a:lnTo>
                        <a:pt x="288" y="2802"/>
                      </a:lnTo>
                      <a:lnTo>
                        <a:pt x="311" y="2827"/>
                      </a:lnTo>
                      <a:lnTo>
                        <a:pt x="336" y="2850"/>
                      </a:lnTo>
                      <a:lnTo>
                        <a:pt x="360" y="2869"/>
                      </a:lnTo>
                      <a:lnTo>
                        <a:pt x="387" y="2887"/>
                      </a:lnTo>
                      <a:lnTo>
                        <a:pt x="399" y="2890"/>
                      </a:lnTo>
                      <a:lnTo>
                        <a:pt x="408" y="2898"/>
                      </a:lnTo>
                      <a:lnTo>
                        <a:pt x="418" y="2906"/>
                      </a:lnTo>
                      <a:lnTo>
                        <a:pt x="428" y="2913"/>
                      </a:lnTo>
                      <a:lnTo>
                        <a:pt x="447" y="2933"/>
                      </a:lnTo>
                      <a:lnTo>
                        <a:pt x="464" y="2954"/>
                      </a:lnTo>
                      <a:lnTo>
                        <a:pt x="483" y="2975"/>
                      </a:lnTo>
                      <a:lnTo>
                        <a:pt x="501" y="2994"/>
                      </a:lnTo>
                      <a:lnTo>
                        <a:pt x="510" y="3002"/>
                      </a:lnTo>
                      <a:lnTo>
                        <a:pt x="520" y="3009"/>
                      </a:lnTo>
                      <a:lnTo>
                        <a:pt x="531" y="3017"/>
                      </a:lnTo>
                      <a:lnTo>
                        <a:pt x="541" y="3021"/>
                      </a:lnTo>
                      <a:lnTo>
                        <a:pt x="549" y="3027"/>
                      </a:lnTo>
                      <a:lnTo>
                        <a:pt x="558" y="3032"/>
                      </a:lnTo>
                      <a:lnTo>
                        <a:pt x="570" y="3042"/>
                      </a:lnTo>
                      <a:lnTo>
                        <a:pt x="581" y="3052"/>
                      </a:lnTo>
                      <a:lnTo>
                        <a:pt x="595" y="3063"/>
                      </a:lnTo>
                      <a:lnTo>
                        <a:pt x="604" y="3073"/>
                      </a:lnTo>
                      <a:lnTo>
                        <a:pt x="614" y="3080"/>
                      </a:lnTo>
                      <a:lnTo>
                        <a:pt x="620" y="3088"/>
                      </a:lnTo>
                      <a:lnTo>
                        <a:pt x="0" y="3086"/>
                      </a:lnTo>
                      <a:lnTo>
                        <a:pt x="0" y="1232"/>
                      </a:lnTo>
                      <a:lnTo>
                        <a:pt x="71" y="1253"/>
                      </a:lnTo>
                      <a:lnTo>
                        <a:pt x="90" y="1241"/>
                      </a:lnTo>
                      <a:lnTo>
                        <a:pt x="111" y="1234"/>
                      </a:lnTo>
                      <a:lnTo>
                        <a:pt x="121" y="1232"/>
                      </a:lnTo>
                      <a:lnTo>
                        <a:pt x="132" y="1230"/>
                      </a:lnTo>
                      <a:lnTo>
                        <a:pt x="144" y="1230"/>
                      </a:lnTo>
                      <a:lnTo>
                        <a:pt x="153" y="1230"/>
                      </a:lnTo>
                      <a:lnTo>
                        <a:pt x="165" y="1232"/>
                      </a:lnTo>
                      <a:lnTo>
                        <a:pt x="174" y="1234"/>
                      </a:lnTo>
                      <a:lnTo>
                        <a:pt x="186" y="1238"/>
                      </a:lnTo>
                      <a:lnTo>
                        <a:pt x="195" y="1243"/>
                      </a:lnTo>
                      <a:lnTo>
                        <a:pt x="207" y="1249"/>
                      </a:lnTo>
                      <a:lnTo>
                        <a:pt x="217" y="1257"/>
                      </a:lnTo>
                      <a:lnTo>
                        <a:pt x="226" y="1266"/>
                      </a:lnTo>
                      <a:lnTo>
                        <a:pt x="236" y="1278"/>
                      </a:lnTo>
                      <a:lnTo>
                        <a:pt x="247" y="1278"/>
                      </a:lnTo>
                      <a:lnTo>
                        <a:pt x="255" y="1278"/>
                      </a:lnTo>
                      <a:lnTo>
                        <a:pt x="263" y="1278"/>
                      </a:lnTo>
                      <a:lnTo>
                        <a:pt x="270" y="1280"/>
                      </a:lnTo>
                      <a:lnTo>
                        <a:pt x="276" y="1282"/>
                      </a:lnTo>
                      <a:lnTo>
                        <a:pt x="284" y="1286"/>
                      </a:lnTo>
                      <a:lnTo>
                        <a:pt x="289" y="1289"/>
                      </a:lnTo>
                      <a:lnTo>
                        <a:pt x="295" y="1295"/>
                      </a:lnTo>
                      <a:close/>
                      <a:moveTo>
                        <a:pt x="1635" y="2879"/>
                      </a:moveTo>
                      <a:lnTo>
                        <a:pt x="1635" y="2942"/>
                      </a:lnTo>
                      <a:lnTo>
                        <a:pt x="1629" y="2948"/>
                      </a:lnTo>
                      <a:lnTo>
                        <a:pt x="1625" y="2952"/>
                      </a:lnTo>
                      <a:lnTo>
                        <a:pt x="1622" y="2958"/>
                      </a:lnTo>
                      <a:lnTo>
                        <a:pt x="1616" y="2961"/>
                      </a:lnTo>
                      <a:lnTo>
                        <a:pt x="1612" y="2963"/>
                      </a:lnTo>
                      <a:lnTo>
                        <a:pt x="1608" y="2967"/>
                      </a:lnTo>
                      <a:lnTo>
                        <a:pt x="1602" y="2971"/>
                      </a:lnTo>
                      <a:lnTo>
                        <a:pt x="1599" y="2973"/>
                      </a:lnTo>
                      <a:lnTo>
                        <a:pt x="1599" y="2971"/>
                      </a:lnTo>
                      <a:lnTo>
                        <a:pt x="1597" y="2967"/>
                      </a:lnTo>
                      <a:lnTo>
                        <a:pt x="1597" y="2961"/>
                      </a:lnTo>
                      <a:lnTo>
                        <a:pt x="1595" y="2958"/>
                      </a:lnTo>
                      <a:lnTo>
                        <a:pt x="1595" y="2952"/>
                      </a:lnTo>
                      <a:lnTo>
                        <a:pt x="1593" y="2946"/>
                      </a:lnTo>
                      <a:lnTo>
                        <a:pt x="1593" y="2940"/>
                      </a:lnTo>
                      <a:lnTo>
                        <a:pt x="1593" y="2935"/>
                      </a:lnTo>
                      <a:lnTo>
                        <a:pt x="1597" y="2927"/>
                      </a:lnTo>
                      <a:lnTo>
                        <a:pt x="1602" y="2921"/>
                      </a:lnTo>
                      <a:lnTo>
                        <a:pt x="1606" y="2913"/>
                      </a:lnTo>
                      <a:lnTo>
                        <a:pt x="1612" y="2906"/>
                      </a:lnTo>
                      <a:lnTo>
                        <a:pt x="1616" y="2898"/>
                      </a:lnTo>
                      <a:lnTo>
                        <a:pt x="1622" y="2892"/>
                      </a:lnTo>
                      <a:lnTo>
                        <a:pt x="1627" y="2885"/>
                      </a:lnTo>
                      <a:lnTo>
                        <a:pt x="1635" y="2879"/>
                      </a:lnTo>
                      <a:close/>
                      <a:moveTo>
                        <a:pt x="1568" y="2854"/>
                      </a:moveTo>
                      <a:lnTo>
                        <a:pt x="1566" y="2869"/>
                      </a:lnTo>
                      <a:lnTo>
                        <a:pt x="1564" y="2883"/>
                      </a:lnTo>
                      <a:lnTo>
                        <a:pt x="1562" y="2896"/>
                      </a:lnTo>
                      <a:lnTo>
                        <a:pt x="1558" y="2910"/>
                      </a:lnTo>
                      <a:lnTo>
                        <a:pt x="1554" y="2921"/>
                      </a:lnTo>
                      <a:lnTo>
                        <a:pt x="1552" y="2935"/>
                      </a:lnTo>
                      <a:lnTo>
                        <a:pt x="1549" y="2946"/>
                      </a:lnTo>
                      <a:lnTo>
                        <a:pt x="1549" y="2958"/>
                      </a:lnTo>
                      <a:lnTo>
                        <a:pt x="1541" y="2944"/>
                      </a:lnTo>
                      <a:lnTo>
                        <a:pt x="1535" y="2931"/>
                      </a:lnTo>
                      <a:lnTo>
                        <a:pt x="1533" y="2913"/>
                      </a:lnTo>
                      <a:lnTo>
                        <a:pt x="1531" y="2896"/>
                      </a:lnTo>
                      <a:lnTo>
                        <a:pt x="1529" y="2879"/>
                      </a:lnTo>
                      <a:lnTo>
                        <a:pt x="1529" y="2864"/>
                      </a:lnTo>
                      <a:lnTo>
                        <a:pt x="1531" y="2846"/>
                      </a:lnTo>
                      <a:lnTo>
                        <a:pt x="1531" y="2831"/>
                      </a:lnTo>
                      <a:lnTo>
                        <a:pt x="1533" y="2837"/>
                      </a:lnTo>
                      <a:lnTo>
                        <a:pt x="1535" y="2844"/>
                      </a:lnTo>
                      <a:lnTo>
                        <a:pt x="1535" y="2854"/>
                      </a:lnTo>
                      <a:lnTo>
                        <a:pt x="1537" y="2862"/>
                      </a:lnTo>
                      <a:lnTo>
                        <a:pt x="1539" y="2871"/>
                      </a:lnTo>
                      <a:lnTo>
                        <a:pt x="1539" y="2879"/>
                      </a:lnTo>
                      <a:lnTo>
                        <a:pt x="1541" y="2887"/>
                      </a:lnTo>
                      <a:lnTo>
                        <a:pt x="1543" y="2894"/>
                      </a:lnTo>
                      <a:lnTo>
                        <a:pt x="1545" y="2890"/>
                      </a:lnTo>
                      <a:lnTo>
                        <a:pt x="1549" y="2887"/>
                      </a:lnTo>
                      <a:lnTo>
                        <a:pt x="1552" y="2881"/>
                      </a:lnTo>
                      <a:lnTo>
                        <a:pt x="1554" y="2875"/>
                      </a:lnTo>
                      <a:lnTo>
                        <a:pt x="1558" y="2869"/>
                      </a:lnTo>
                      <a:lnTo>
                        <a:pt x="1562" y="2864"/>
                      </a:lnTo>
                      <a:lnTo>
                        <a:pt x="1564" y="2858"/>
                      </a:lnTo>
                      <a:lnTo>
                        <a:pt x="1568" y="2854"/>
                      </a:lnTo>
                      <a:lnTo>
                        <a:pt x="1568" y="2856"/>
                      </a:lnTo>
                      <a:lnTo>
                        <a:pt x="1568" y="2860"/>
                      </a:lnTo>
                      <a:lnTo>
                        <a:pt x="1570" y="2864"/>
                      </a:lnTo>
                      <a:lnTo>
                        <a:pt x="1572" y="2865"/>
                      </a:lnTo>
                      <a:lnTo>
                        <a:pt x="1572" y="2869"/>
                      </a:lnTo>
                      <a:lnTo>
                        <a:pt x="1572" y="2867"/>
                      </a:lnTo>
                      <a:lnTo>
                        <a:pt x="1570" y="2864"/>
                      </a:lnTo>
                      <a:lnTo>
                        <a:pt x="1568" y="2854"/>
                      </a:lnTo>
                      <a:close/>
                      <a:moveTo>
                        <a:pt x="1501" y="2823"/>
                      </a:moveTo>
                      <a:lnTo>
                        <a:pt x="1501" y="2831"/>
                      </a:lnTo>
                      <a:lnTo>
                        <a:pt x="1501" y="2837"/>
                      </a:lnTo>
                      <a:lnTo>
                        <a:pt x="1501" y="2840"/>
                      </a:lnTo>
                      <a:lnTo>
                        <a:pt x="1501" y="2846"/>
                      </a:lnTo>
                      <a:lnTo>
                        <a:pt x="1501" y="2848"/>
                      </a:lnTo>
                      <a:lnTo>
                        <a:pt x="1501" y="2852"/>
                      </a:lnTo>
                      <a:lnTo>
                        <a:pt x="1497" y="2858"/>
                      </a:lnTo>
                      <a:lnTo>
                        <a:pt x="1495" y="2862"/>
                      </a:lnTo>
                      <a:lnTo>
                        <a:pt x="1493" y="2869"/>
                      </a:lnTo>
                      <a:lnTo>
                        <a:pt x="1493" y="2875"/>
                      </a:lnTo>
                      <a:lnTo>
                        <a:pt x="1491" y="2881"/>
                      </a:lnTo>
                      <a:lnTo>
                        <a:pt x="1491" y="2887"/>
                      </a:lnTo>
                      <a:lnTo>
                        <a:pt x="1489" y="2892"/>
                      </a:lnTo>
                      <a:lnTo>
                        <a:pt x="1489" y="2898"/>
                      </a:lnTo>
                      <a:lnTo>
                        <a:pt x="1487" y="2904"/>
                      </a:lnTo>
                      <a:lnTo>
                        <a:pt x="1487" y="2910"/>
                      </a:lnTo>
                      <a:lnTo>
                        <a:pt x="1426" y="2839"/>
                      </a:lnTo>
                      <a:lnTo>
                        <a:pt x="1414" y="2837"/>
                      </a:lnTo>
                      <a:lnTo>
                        <a:pt x="1403" y="2835"/>
                      </a:lnTo>
                      <a:lnTo>
                        <a:pt x="1391" y="2831"/>
                      </a:lnTo>
                      <a:lnTo>
                        <a:pt x="1378" y="2825"/>
                      </a:lnTo>
                      <a:lnTo>
                        <a:pt x="1366" y="2817"/>
                      </a:lnTo>
                      <a:lnTo>
                        <a:pt x="1355" y="2812"/>
                      </a:lnTo>
                      <a:lnTo>
                        <a:pt x="1345" y="2806"/>
                      </a:lnTo>
                      <a:lnTo>
                        <a:pt x="1336" y="2798"/>
                      </a:lnTo>
                      <a:lnTo>
                        <a:pt x="1345" y="2794"/>
                      </a:lnTo>
                      <a:lnTo>
                        <a:pt x="1355" y="2791"/>
                      </a:lnTo>
                      <a:lnTo>
                        <a:pt x="1362" y="2789"/>
                      </a:lnTo>
                      <a:lnTo>
                        <a:pt x="1370" y="2789"/>
                      </a:lnTo>
                      <a:lnTo>
                        <a:pt x="1378" y="2791"/>
                      </a:lnTo>
                      <a:lnTo>
                        <a:pt x="1384" y="2793"/>
                      </a:lnTo>
                      <a:lnTo>
                        <a:pt x="1391" y="2796"/>
                      </a:lnTo>
                      <a:lnTo>
                        <a:pt x="1397" y="2800"/>
                      </a:lnTo>
                      <a:lnTo>
                        <a:pt x="1407" y="2812"/>
                      </a:lnTo>
                      <a:lnTo>
                        <a:pt x="1418" y="2825"/>
                      </a:lnTo>
                      <a:lnTo>
                        <a:pt x="1428" y="2839"/>
                      </a:lnTo>
                      <a:lnTo>
                        <a:pt x="1439" y="2854"/>
                      </a:lnTo>
                      <a:lnTo>
                        <a:pt x="1439" y="2846"/>
                      </a:lnTo>
                      <a:lnTo>
                        <a:pt x="1439" y="2837"/>
                      </a:lnTo>
                      <a:lnTo>
                        <a:pt x="1437" y="2829"/>
                      </a:lnTo>
                      <a:lnTo>
                        <a:pt x="1437" y="2823"/>
                      </a:lnTo>
                      <a:lnTo>
                        <a:pt x="1437" y="2816"/>
                      </a:lnTo>
                      <a:lnTo>
                        <a:pt x="1437" y="2808"/>
                      </a:lnTo>
                      <a:lnTo>
                        <a:pt x="1437" y="2800"/>
                      </a:lnTo>
                      <a:lnTo>
                        <a:pt x="1439" y="2791"/>
                      </a:lnTo>
                      <a:lnTo>
                        <a:pt x="1441" y="2793"/>
                      </a:lnTo>
                      <a:lnTo>
                        <a:pt x="1445" y="2794"/>
                      </a:lnTo>
                      <a:lnTo>
                        <a:pt x="1449" y="2796"/>
                      </a:lnTo>
                      <a:lnTo>
                        <a:pt x="1455" y="2800"/>
                      </a:lnTo>
                      <a:lnTo>
                        <a:pt x="1458" y="2804"/>
                      </a:lnTo>
                      <a:lnTo>
                        <a:pt x="1462" y="2808"/>
                      </a:lnTo>
                      <a:lnTo>
                        <a:pt x="1466" y="2812"/>
                      </a:lnTo>
                      <a:lnTo>
                        <a:pt x="1470" y="2816"/>
                      </a:lnTo>
                      <a:lnTo>
                        <a:pt x="1474" y="2816"/>
                      </a:lnTo>
                      <a:lnTo>
                        <a:pt x="1480" y="2816"/>
                      </a:lnTo>
                      <a:lnTo>
                        <a:pt x="1485" y="2816"/>
                      </a:lnTo>
                      <a:lnTo>
                        <a:pt x="1489" y="2816"/>
                      </a:lnTo>
                      <a:lnTo>
                        <a:pt x="1493" y="2817"/>
                      </a:lnTo>
                      <a:lnTo>
                        <a:pt x="1497" y="2817"/>
                      </a:lnTo>
                      <a:lnTo>
                        <a:pt x="1499" y="2819"/>
                      </a:lnTo>
                      <a:lnTo>
                        <a:pt x="1501" y="2823"/>
                      </a:lnTo>
                      <a:close/>
                      <a:moveTo>
                        <a:pt x="1291" y="2800"/>
                      </a:moveTo>
                      <a:lnTo>
                        <a:pt x="1301" y="2812"/>
                      </a:lnTo>
                      <a:lnTo>
                        <a:pt x="1313" y="2827"/>
                      </a:lnTo>
                      <a:lnTo>
                        <a:pt x="1324" y="2840"/>
                      </a:lnTo>
                      <a:lnTo>
                        <a:pt x="1336" y="2854"/>
                      </a:lnTo>
                      <a:lnTo>
                        <a:pt x="1349" y="2867"/>
                      </a:lnTo>
                      <a:lnTo>
                        <a:pt x="1362" y="2877"/>
                      </a:lnTo>
                      <a:lnTo>
                        <a:pt x="1368" y="2881"/>
                      </a:lnTo>
                      <a:lnTo>
                        <a:pt x="1376" y="2883"/>
                      </a:lnTo>
                      <a:lnTo>
                        <a:pt x="1384" y="2885"/>
                      </a:lnTo>
                      <a:lnTo>
                        <a:pt x="1389" y="2887"/>
                      </a:lnTo>
                      <a:lnTo>
                        <a:pt x="1391" y="2898"/>
                      </a:lnTo>
                      <a:lnTo>
                        <a:pt x="1393" y="2913"/>
                      </a:lnTo>
                      <a:lnTo>
                        <a:pt x="1399" y="2927"/>
                      </a:lnTo>
                      <a:lnTo>
                        <a:pt x="1405" y="2942"/>
                      </a:lnTo>
                      <a:lnTo>
                        <a:pt x="1422" y="2975"/>
                      </a:lnTo>
                      <a:lnTo>
                        <a:pt x="1443" y="3006"/>
                      </a:lnTo>
                      <a:lnTo>
                        <a:pt x="1466" y="3034"/>
                      </a:lnTo>
                      <a:lnTo>
                        <a:pt x="1489" y="3057"/>
                      </a:lnTo>
                      <a:lnTo>
                        <a:pt x="1501" y="3065"/>
                      </a:lnTo>
                      <a:lnTo>
                        <a:pt x="1512" y="3071"/>
                      </a:lnTo>
                      <a:lnTo>
                        <a:pt x="1522" y="3077"/>
                      </a:lnTo>
                      <a:lnTo>
                        <a:pt x="1529" y="3077"/>
                      </a:lnTo>
                      <a:lnTo>
                        <a:pt x="1512" y="3052"/>
                      </a:lnTo>
                      <a:lnTo>
                        <a:pt x="1495" y="3025"/>
                      </a:lnTo>
                      <a:lnTo>
                        <a:pt x="1476" y="2996"/>
                      </a:lnTo>
                      <a:lnTo>
                        <a:pt x="1457" y="2969"/>
                      </a:lnTo>
                      <a:lnTo>
                        <a:pt x="1437" y="2942"/>
                      </a:lnTo>
                      <a:lnTo>
                        <a:pt x="1418" y="2917"/>
                      </a:lnTo>
                      <a:lnTo>
                        <a:pt x="1407" y="2906"/>
                      </a:lnTo>
                      <a:lnTo>
                        <a:pt x="1395" y="2896"/>
                      </a:lnTo>
                      <a:lnTo>
                        <a:pt x="1384" y="2887"/>
                      </a:lnTo>
                      <a:lnTo>
                        <a:pt x="1372" y="2879"/>
                      </a:lnTo>
                      <a:lnTo>
                        <a:pt x="1364" y="2875"/>
                      </a:lnTo>
                      <a:lnTo>
                        <a:pt x="1357" y="2871"/>
                      </a:lnTo>
                      <a:lnTo>
                        <a:pt x="1351" y="2865"/>
                      </a:lnTo>
                      <a:lnTo>
                        <a:pt x="1343" y="2860"/>
                      </a:lnTo>
                      <a:lnTo>
                        <a:pt x="1338" y="2854"/>
                      </a:lnTo>
                      <a:lnTo>
                        <a:pt x="1330" y="2846"/>
                      </a:lnTo>
                      <a:lnTo>
                        <a:pt x="1324" y="2839"/>
                      </a:lnTo>
                      <a:lnTo>
                        <a:pt x="1316" y="2831"/>
                      </a:lnTo>
                      <a:lnTo>
                        <a:pt x="1322" y="2854"/>
                      </a:lnTo>
                      <a:lnTo>
                        <a:pt x="1332" y="2873"/>
                      </a:lnTo>
                      <a:lnTo>
                        <a:pt x="1343" y="2890"/>
                      </a:lnTo>
                      <a:lnTo>
                        <a:pt x="1357" y="2908"/>
                      </a:lnTo>
                      <a:lnTo>
                        <a:pt x="1370" y="2925"/>
                      </a:lnTo>
                      <a:lnTo>
                        <a:pt x="1382" y="2940"/>
                      </a:lnTo>
                      <a:lnTo>
                        <a:pt x="1393" y="2956"/>
                      </a:lnTo>
                      <a:lnTo>
                        <a:pt x="1403" y="2973"/>
                      </a:lnTo>
                      <a:lnTo>
                        <a:pt x="1395" y="2977"/>
                      </a:lnTo>
                      <a:lnTo>
                        <a:pt x="1387" y="2975"/>
                      </a:lnTo>
                      <a:lnTo>
                        <a:pt x="1378" y="2971"/>
                      </a:lnTo>
                      <a:lnTo>
                        <a:pt x="1370" y="2963"/>
                      </a:lnTo>
                      <a:lnTo>
                        <a:pt x="1361" y="2954"/>
                      </a:lnTo>
                      <a:lnTo>
                        <a:pt x="1353" y="2942"/>
                      </a:lnTo>
                      <a:lnTo>
                        <a:pt x="1343" y="2929"/>
                      </a:lnTo>
                      <a:lnTo>
                        <a:pt x="1336" y="2913"/>
                      </a:lnTo>
                      <a:lnTo>
                        <a:pt x="1320" y="2881"/>
                      </a:lnTo>
                      <a:lnTo>
                        <a:pt x="1307" y="2850"/>
                      </a:lnTo>
                      <a:lnTo>
                        <a:pt x="1297" y="2821"/>
                      </a:lnTo>
                      <a:lnTo>
                        <a:pt x="1291" y="2800"/>
                      </a:lnTo>
                      <a:close/>
                      <a:moveTo>
                        <a:pt x="1188" y="2768"/>
                      </a:moveTo>
                      <a:lnTo>
                        <a:pt x="1172" y="2806"/>
                      </a:lnTo>
                      <a:lnTo>
                        <a:pt x="1161" y="2839"/>
                      </a:lnTo>
                      <a:lnTo>
                        <a:pt x="1155" y="2867"/>
                      </a:lnTo>
                      <a:lnTo>
                        <a:pt x="1151" y="2894"/>
                      </a:lnTo>
                      <a:lnTo>
                        <a:pt x="1149" y="2921"/>
                      </a:lnTo>
                      <a:lnTo>
                        <a:pt x="1151" y="2950"/>
                      </a:lnTo>
                      <a:lnTo>
                        <a:pt x="1155" y="2983"/>
                      </a:lnTo>
                      <a:lnTo>
                        <a:pt x="1159" y="3021"/>
                      </a:lnTo>
                      <a:lnTo>
                        <a:pt x="1159" y="3036"/>
                      </a:lnTo>
                      <a:lnTo>
                        <a:pt x="1146" y="3054"/>
                      </a:lnTo>
                      <a:lnTo>
                        <a:pt x="1151" y="3055"/>
                      </a:lnTo>
                      <a:lnTo>
                        <a:pt x="1157" y="3059"/>
                      </a:lnTo>
                      <a:lnTo>
                        <a:pt x="1163" y="3061"/>
                      </a:lnTo>
                      <a:lnTo>
                        <a:pt x="1167" y="3065"/>
                      </a:lnTo>
                      <a:lnTo>
                        <a:pt x="1172" y="3067"/>
                      </a:lnTo>
                      <a:lnTo>
                        <a:pt x="1178" y="3067"/>
                      </a:lnTo>
                      <a:lnTo>
                        <a:pt x="1184" y="3069"/>
                      </a:lnTo>
                      <a:lnTo>
                        <a:pt x="1188" y="3069"/>
                      </a:lnTo>
                      <a:lnTo>
                        <a:pt x="1199" y="3052"/>
                      </a:lnTo>
                      <a:lnTo>
                        <a:pt x="1209" y="3034"/>
                      </a:lnTo>
                      <a:lnTo>
                        <a:pt x="1217" y="3017"/>
                      </a:lnTo>
                      <a:lnTo>
                        <a:pt x="1222" y="2998"/>
                      </a:lnTo>
                      <a:lnTo>
                        <a:pt x="1226" y="2979"/>
                      </a:lnTo>
                      <a:lnTo>
                        <a:pt x="1228" y="2960"/>
                      </a:lnTo>
                      <a:lnTo>
                        <a:pt x="1228" y="2940"/>
                      </a:lnTo>
                      <a:lnTo>
                        <a:pt x="1228" y="2919"/>
                      </a:lnTo>
                      <a:lnTo>
                        <a:pt x="1226" y="2879"/>
                      </a:lnTo>
                      <a:lnTo>
                        <a:pt x="1224" y="2839"/>
                      </a:lnTo>
                      <a:lnTo>
                        <a:pt x="1220" y="2798"/>
                      </a:lnTo>
                      <a:lnTo>
                        <a:pt x="1218" y="2760"/>
                      </a:lnTo>
                      <a:lnTo>
                        <a:pt x="1213" y="2760"/>
                      </a:lnTo>
                      <a:lnTo>
                        <a:pt x="1205" y="2760"/>
                      </a:lnTo>
                      <a:lnTo>
                        <a:pt x="1199" y="2762"/>
                      </a:lnTo>
                      <a:lnTo>
                        <a:pt x="1195" y="2764"/>
                      </a:lnTo>
                      <a:lnTo>
                        <a:pt x="1192" y="2764"/>
                      </a:lnTo>
                      <a:lnTo>
                        <a:pt x="1188" y="2766"/>
                      </a:lnTo>
                      <a:lnTo>
                        <a:pt x="1188" y="2766"/>
                      </a:lnTo>
                      <a:lnTo>
                        <a:pt x="1188" y="2768"/>
                      </a:lnTo>
                      <a:close/>
                    </a:path>
                  </a:pathLst>
                </a:custGeom>
                <a:gradFill rotWithShape="0">
                  <a:gsLst>
                    <a:gs pos="0">
                      <a:srgbClr val="777777">
                        <a:gamma/>
                        <a:shade val="66275"/>
                        <a:invGamma/>
                      </a:srgbClr>
                    </a:gs>
                    <a:gs pos="100000">
                      <a:srgbClr val="777777"/>
                    </a:gs>
                  </a:gsLst>
                  <a:lin ang="5400000" scaled="1"/>
                </a:gradFill>
                <a:ln w="6350" cap="rnd" cmpd="sng">
                  <a:noFill/>
                  <a:prstDash val="solid"/>
                  <a:round/>
                  <a:headEnd type="none" w="med" len="med"/>
                  <a:tailEnd type="none" w="med" len="med"/>
                </a:ln>
                <a:effectLst/>
              </p:spPr>
              <p:txBody>
                <a:bodyPr/>
                <a:lstStyle/>
                <a:p>
                  <a:endParaRPr lang="fr-FR" sz="2400"/>
                </a:p>
              </p:txBody>
            </p:sp>
          </p:grpSp>
        </p:grpSp>
        <p:grpSp>
          <p:nvGrpSpPr>
            <p:cNvPr id="17" name="Group 120"/>
            <p:cNvGrpSpPr>
              <a:grpSpLocks/>
            </p:cNvGrpSpPr>
            <p:nvPr/>
          </p:nvGrpSpPr>
          <p:grpSpPr bwMode="auto">
            <a:xfrm>
              <a:off x="1541" y="2415"/>
              <a:ext cx="892" cy="438"/>
              <a:chOff x="1680" y="2463"/>
              <a:chExt cx="1040" cy="511"/>
            </a:xfrm>
          </p:grpSpPr>
          <p:sp>
            <p:nvSpPr>
              <p:cNvPr id="153721" name="AutoShape 121"/>
              <p:cNvSpPr>
                <a:spLocks noChangeArrowheads="1"/>
              </p:cNvSpPr>
              <p:nvPr/>
            </p:nvSpPr>
            <p:spPr bwMode="auto">
              <a:xfrm rot="16200000" flipH="1">
                <a:off x="2389" y="2503"/>
                <a:ext cx="65" cy="269"/>
              </a:xfrm>
              <a:prstGeom prst="roundRect">
                <a:avLst>
                  <a:gd name="adj" fmla="val 33931"/>
                </a:avLst>
              </a:prstGeom>
              <a:gradFill rotWithShape="0">
                <a:gsLst>
                  <a:gs pos="0">
                    <a:srgbClr val="969696">
                      <a:gamma/>
                      <a:shade val="46275"/>
                      <a:invGamma/>
                    </a:srgbClr>
                  </a:gs>
                  <a:gs pos="50000">
                    <a:srgbClr val="969696"/>
                  </a:gs>
                  <a:gs pos="100000">
                    <a:srgbClr val="969696">
                      <a:gamma/>
                      <a:shade val="46275"/>
                      <a:invGamma/>
                    </a:srgbClr>
                  </a:gs>
                </a:gsLst>
                <a:lin ang="5400000" scaled="1"/>
              </a:gradFill>
              <a:ln w="6350">
                <a:solidFill>
                  <a:schemeClr val="tx1"/>
                </a:solidFill>
                <a:round/>
                <a:headEnd/>
                <a:tailEnd/>
              </a:ln>
              <a:effectLst>
                <a:outerShdw dist="35921" dir="2700000" algn="ctr" rotWithShape="0">
                  <a:schemeClr val="tx1"/>
                </a:outerShdw>
              </a:effectLst>
            </p:spPr>
            <p:txBody>
              <a:bodyPr tIns="27432" bIns="27432" anchor="ctr">
                <a:spAutoFit/>
              </a:bodyPr>
              <a:lstStyle/>
              <a:p>
                <a:endParaRPr lang="fr-FR" sz="2400"/>
              </a:p>
            </p:txBody>
          </p:sp>
          <p:sp>
            <p:nvSpPr>
              <p:cNvPr id="153722" name="Freeform 122"/>
              <p:cNvSpPr>
                <a:spLocks/>
              </p:cNvSpPr>
              <p:nvPr/>
            </p:nvSpPr>
            <p:spPr bwMode="auto">
              <a:xfrm>
                <a:off x="2442" y="2664"/>
                <a:ext cx="278" cy="310"/>
              </a:xfrm>
              <a:custGeom>
                <a:avLst/>
                <a:gdLst/>
                <a:ahLst/>
                <a:cxnLst>
                  <a:cxn ang="0">
                    <a:pos x="22" y="2"/>
                  </a:cxn>
                  <a:cxn ang="0">
                    <a:pos x="23" y="92"/>
                  </a:cxn>
                  <a:cxn ang="0">
                    <a:pos x="64" y="92"/>
                  </a:cxn>
                  <a:cxn ang="0">
                    <a:pos x="64" y="128"/>
                  </a:cxn>
                  <a:cxn ang="0">
                    <a:pos x="0" y="128"/>
                  </a:cxn>
                  <a:cxn ang="0">
                    <a:pos x="0" y="165"/>
                  </a:cxn>
                  <a:cxn ang="0">
                    <a:pos x="69" y="165"/>
                  </a:cxn>
                  <a:cxn ang="0">
                    <a:pos x="69" y="282"/>
                  </a:cxn>
                  <a:cxn ang="0">
                    <a:pos x="106" y="282"/>
                  </a:cxn>
                  <a:cxn ang="0">
                    <a:pos x="106" y="310"/>
                  </a:cxn>
                  <a:cxn ang="0">
                    <a:pos x="152" y="310"/>
                  </a:cxn>
                  <a:cxn ang="0">
                    <a:pos x="152" y="236"/>
                  </a:cxn>
                  <a:cxn ang="0">
                    <a:pos x="207" y="236"/>
                  </a:cxn>
                  <a:cxn ang="0">
                    <a:pos x="207" y="177"/>
                  </a:cxn>
                  <a:cxn ang="0">
                    <a:pos x="227" y="177"/>
                  </a:cxn>
                  <a:cxn ang="0">
                    <a:pos x="227" y="239"/>
                  </a:cxn>
                  <a:cxn ang="0">
                    <a:pos x="260" y="239"/>
                  </a:cxn>
                  <a:cxn ang="0">
                    <a:pos x="260" y="179"/>
                  </a:cxn>
                  <a:cxn ang="0">
                    <a:pos x="278" y="179"/>
                  </a:cxn>
                  <a:cxn ang="0">
                    <a:pos x="278" y="128"/>
                  </a:cxn>
                  <a:cxn ang="0">
                    <a:pos x="207" y="128"/>
                  </a:cxn>
                  <a:cxn ang="0">
                    <a:pos x="207" y="87"/>
                  </a:cxn>
                  <a:cxn ang="0">
                    <a:pos x="244" y="87"/>
                  </a:cxn>
                  <a:cxn ang="0">
                    <a:pos x="244" y="48"/>
                  </a:cxn>
                  <a:cxn ang="0">
                    <a:pos x="271" y="48"/>
                  </a:cxn>
                  <a:cxn ang="0">
                    <a:pos x="272" y="0"/>
                  </a:cxn>
                </a:cxnLst>
                <a:rect l="0" t="0" r="r" b="b"/>
                <a:pathLst>
                  <a:path w="278" h="310">
                    <a:moveTo>
                      <a:pt x="22" y="2"/>
                    </a:moveTo>
                    <a:lnTo>
                      <a:pt x="23" y="92"/>
                    </a:lnTo>
                    <a:lnTo>
                      <a:pt x="64" y="92"/>
                    </a:lnTo>
                    <a:lnTo>
                      <a:pt x="64" y="128"/>
                    </a:lnTo>
                    <a:lnTo>
                      <a:pt x="0" y="128"/>
                    </a:lnTo>
                    <a:lnTo>
                      <a:pt x="0" y="165"/>
                    </a:lnTo>
                    <a:lnTo>
                      <a:pt x="69" y="165"/>
                    </a:lnTo>
                    <a:lnTo>
                      <a:pt x="69" y="282"/>
                    </a:lnTo>
                    <a:lnTo>
                      <a:pt x="106" y="282"/>
                    </a:lnTo>
                    <a:lnTo>
                      <a:pt x="106" y="310"/>
                    </a:lnTo>
                    <a:lnTo>
                      <a:pt x="152" y="310"/>
                    </a:lnTo>
                    <a:lnTo>
                      <a:pt x="152" y="236"/>
                    </a:lnTo>
                    <a:lnTo>
                      <a:pt x="207" y="236"/>
                    </a:lnTo>
                    <a:lnTo>
                      <a:pt x="207" y="177"/>
                    </a:lnTo>
                    <a:lnTo>
                      <a:pt x="227" y="177"/>
                    </a:lnTo>
                    <a:lnTo>
                      <a:pt x="227" y="239"/>
                    </a:lnTo>
                    <a:lnTo>
                      <a:pt x="260" y="239"/>
                    </a:lnTo>
                    <a:lnTo>
                      <a:pt x="260" y="179"/>
                    </a:lnTo>
                    <a:lnTo>
                      <a:pt x="278" y="179"/>
                    </a:lnTo>
                    <a:lnTo>
                      <a:pt x="278" y="128"/>
                    </a:lnTo>
                    <a:lnTo>
                      <a:pt x="207" y="128"/>
                    </a:lnTo>
                    <a:lnTo>
                      <a:pt x="207" y="87"/>
                    </a:lnTo>
                    <a:lnTo>
                      <a:pt x="244" y="87"/>
                    </a:lnTo>
                    <a:lnTo>
                      <a:pt x="244" y="48"/>
                    </a:lnTo>
                    <a:lnTo>
                      <a:pt x="271" y="48"/>
                    </a:lnTo>
                    <a:lnTo>
                      <a:pt x="272" y="0"/>
                    </a:lnTo>
                  </a:path>
                </a:pathLst>
              </a:custGeom>
              <a:gradFill rotWithShape="0">
                <a:gsLst>
                  <a:gs pos="0">
                    <a:srgbClr val="969696">
                      <a:gamma/>
                      <a:shade val="46275"/>
                      <a:invGamma/>
                    </a:srgbClr>
                  </a:gs>
                  <a:gs pos="100000">
                    <a:srgbClr val="969696"/>
                  </a:gs>
                </a:gsLst>
                <a:lin ang="5400000" scaled="1"/>
              </a:gradFill>
              <a:ln w="6350" cap="flat" cmpd="sng">
                <a:solidFill>
                  <a:schemeClr val="tx1"/>
                </a:solidFill>
                <a:prstDash val="solid"/>
                <a:round/>
                <a:headEnd type="none" w="med" len="med"/>
                <a:tailEnd type="none" w="med" len="med"/>
              </a:ln>
              <a:effectLst>
                <a:outerShdw dist="35921" dir="2700000" algn="ctr" rotWithShape="0">
                  <a:schemeClr val="tx1"/>
                </a:outerShdw>
              </a:effectLst>
            </p:spPr>
            <p:txBody>
              <a:bodyPr tIns="27432" bIns="27432" anchor="ctr">
                <a:spAutoFit/>
              </a:bodyPr>
              <a:lstStyle/>
              <a:p>
                <a:endParaRPr lang="fr-FR" sz="2400"/>
              </a:p>
            </p:txBody>
          </p:sp>
          <p:sp>
            <p:nvSpPr>
              <p:cNvPr id="153723" name="AutoShape 123"/>
              <p:cNvSpPr>
                <a:spLocks noChangeArrowheads="1"/>
              </p:cNvSpPr>
              <p:nvPr/>
            </p:nvSpPr>
            <p:spPr bwMode="auto">
              <a:xfrm rot="16200000" flipH="1">
                <a:off x="1686" y="2457"/>
                <a:ext cx="354" cy="365"/>
              </a:xfrm>
              <a:custGeom>
                <a:avLst/>
                <a:gdLst>
                  <a:gd name="G0" fmla="+- 4097 0 0"/>
                  <a:gd name="G1" fmla="+- 21600 0 4097"/>
                  <a:gd name="G2" fmla="+- 21600 0 4097"/>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4097" y="10800"/>
                    </a:moveTo>
                    <a:cubicBezTo>
                      <a:pt x="4097" y="14502"/>
                      <a:pt x="7098" y="17503"/>
                      <a:pt x="10800" y="17503"/>
                    </a:cubicBezTo>
                    <a:cubicBezTo>
                      <a:pt x="14502" y="17503"/>
                      <a:pt x="17503" y="14502"/>
                      <a:pt x="17503" y="10800"/>
                    </a:cubicBezTo>
                    <a:cubicBezTo>
                      <a:pt x="17503" y="7098"/>
                      <a:pt x="14502" y="4097"/>
                      <a:pt x="10800" y="4097"/>
                    </a:cubicBezTo>
                    <a:cubicBezTo>
                      <a:pt x="7098" y="4097"/>
                      <a:pt x="4097" y="7098"/>
                      <a:pt x="4097" y="10800"/>
                    </a:cubicBezTo>
                    <a:close/>
                  </a:path>
                </a:pathLst>
              </a:custGeom>
              <a:solidFill>
                <a:srgbClr val="808080"/>
              </a:solidFill>
              <a:ln w="6350">
                <a:solidFill>
                  <a:schemeClr val="tx1"/>
                </a:solidFill>
                <a:round/>
                <a:headEnd/>
                <a:tailEnd/>
              </a:ln>
              <a:effectLst>
                <a:outerShdw dist="35921" dir="2700000" algn="ctr" rotWithShape="0">
                  <a:schemeClr val="tx1"/>
                </a:outerShdw>
              </a:effectLst>
            </p:spPr>
            <p:txBody>
              <a:bodyPr tIns="27432" bIns="27432" anchor="ctr">
                <a:spAutoFit/>
              </a:bodyPr>
              <a:lstStyle/>
              <a:p>
                <a:endParaRPr lang="fr-FR" sz="2400"/>
              </a:p>
            </p:txBody>
          </p:sp>
          <p:sp>
            <p:nvSpPr>
              <p:cNvPr id="153724" name="Rectangle 124"/>
              <p:cNvSpPr>
                <a:spLocks noChangeArrowheads="1"/>
              </p:cNvSpPr>
              <p:nvPr/>
            </p:nvSpPr>
            <p:spPr bwMode="auto">
              <a:xfrm rot="16200000" flipH="1">
                <a:off x="1989" y="2509"/>
                <a:ext cx="136" cy="259"/>
              </a:xfrm>
              <a:prstGeom prst="rect">
                <a:avLst/>
              </a:prstGeom>
              <a:gradFill rotWithShape="0">
                <a:gsLst>
                  <a:gs pos="0">
                    <a:srgbClr val="969696">
                      <a:gamma/>
                      <a:shade val="46275"/>
                      <a:invGamma/>
                    </a:srgbClr>
                  </a:gs>
                  <a:gs pos="50000">
                    <a:srgbClr val="969696"/>
                  </a:gs>
                  <a:gs pos="100000">
                    <a:srgbClr val="969696">
                      <a:gamma/>
                      <a:shade val="46275"/>
                      <a:invGamma/>
                    </a:srgbClr>
                  </a:gs>
                </a:gsLst>
                <a:lin ang="0" scaled="1"/>
              </a:gradFill>
              <a:ln w="6350">
                <a:solidFill>
                  <a:schemeClr val="tx1"/>
                </a:solidFill>
                <a:miter lim="800000"/>
                <a:headEnd/>
                <a:tailEnd/>
              </a:ln>
              <a:effectLst>
                <a:outerShdw dist="35921" dir="2700000" algn="ctr" rotWithShape="0">
                  <a:schemeClr val="tx1"/>
                </a:outerShdw>
              </a:effectLst>
            </p:spPr>
            <p:txBody>
              <a:bodyPr wrap="none" tIns="27432" bIns="27432" anchor="ctr">
                <a:spAutoFit/>
              </a:bodyPr>
              <a:lstStyle/>
              <a:p>
                <a:endParaRPr lang="fr-FR" sz="2400"/>
              </a:p>
            </p:txBody>
          </p:sp>
        </p:grpSp>
        <p:sp>
          <p:nvSpPr>
            <p:cNvPr id="153725" name="AutoShape 125"/>
            <p:cNvSpPr>
              <a:spLocks noChangeArrowheads="1"/>
            </p:cNvSpPr>
            <p:nvPr/>
          </p:nvSpPr>
          <p:spPr bwMode="auto">
            <a:xfrm flipV="1">
              <a:off x="1955" y="2900"/>
              <a:ext cx="586" cy="746"/>
            </a:xfrm>
            <a:prstGeom prst="foldedCorner">
              <a:avLst>
                <a:gd name="adj" fmla="val 24736"/>
              </a:avLst>
            </a:prstGeom>
            <a:solidFill>
              <a:schemeClr val="bg1"/>
            </a:solidFill>
            <a:ln w="9525">
              <a:solidFill>
                <a:srgbClr val="333399"/>
              </a:solidFill>
              <a:round/>
              <a:headEnd/>
              <a:tailEnd/>
            </a:ln>
            <a:effectLst>
              <a:outerShdw dist="35921" dir="2700000" algn="ctr" rotWithShape="0">
                <a:srgbClr val="C0C0C0"/>
              </a:outerShdw>
            </a:effectLst>
          </p:spPr>
          <p:txBody>
            <a:bodyPr rot="10800000" wrap="none"/>
            <a:lstStyle/>
            <a:p>
              <a:pPr>
                <a:lnSpc>
                  <a:spcPct val="65000"/>
                </a:lnSpc>
              </a:pPr>
              <a:r>
                <a:rPr lang="fr-FR" sz="2400">
                  <a:solidFill>
                    <a:srgbClr val="E00085"/>
                  </a:solidFill>
                  <a:latin typeface="Arial" charset="0"/>
                </a:rPr>
                <a:t>~~~~</a:t>
              </a:r>
            </a:p>
            <a:p>
              <a:pPr>
                <a:lnSpc>
                  <a:spcPct val="65000"/>
                </a:lnSpc>
              </a:pPr>
              <a:r>
                <a:rPr lang="fr-FR" sz="2400">
                  <a:solidFill>
                    <a:srgbClr val="E00085"/>
                  </a:solidFill>
                  <a:latin typeface="Arial" charset="0"/>
                </a:rPr>
                <a:t>~~~~~</a:t>
              </a:r>
            </a:p>
            <a:p>
              <a:pPr>
                <a:lnSpc>
                  <a:spcPct val="65000"/>
                </a:lnSpc>
              </a:pPr>
              <a:r>
                <a:rPr lang="fr-FR" sz="2400">
                  <a:solidFill>
                    <a:srgbClr val="E00085"/>
                  </a:solidFill>
                  <a:latin typeface="Arial" charset="0"/>
                </a:rPr>
                <a:t>~~~~~</a:t>
              </a:r>
            </a:p>
            <a:p>
              <a:pPr>
                <a:lnSpc>
                  <a:spcPct val="65000"/>
                </a:lnSpc>
              </a:pPr>
              <a:r>
                <a:rPr lang="fr-FR" sz="2400">
                  <a:solidFill>
                    <a:srgbClr val="E00085"/>
                  </a:solidFill>
                  <a:latin typeface="Arial" charset="0"/>
                </a:rPr>
                <a: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ox(i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287897" y="256302"/>
            <a:ext cx="8534400" cy="758952"/>
          </a:xfrm>
        </p:spPr>
        <p:txBody>
          <a:bodyPr vert="horz" anchor="b">
            <a:normAutofit fontScale="90000"/>
          </a:bodyPr>
          <a:lstStyle/>
          <a:p>
            <a:r>
              <a:rPr lang="fr-FR" sz="3000" b="1" dirty="0">
                <a:solidFill>
                  <a:srgbClr val="C00000"/>
                </a:solidFill>
              </a:rPr>
              <a:t>Conseils pratiques en matière d'implémentation du système EFS</a:t>
            </a:r>
            <a:endParaRPr lang="en-US" sz="3000" b="1" dirty="0">
              <a:solidFill>
                <a:srgbClr val="C00000"/>
              </a:solidFill>
            </a:endParaRPr>
          </a:p>
        </p:txBody>
      </p:sp>
      <p:grpSp>
        <p:nvGrpSpPr>
          <p:cNvPr id="2" name="Group 20"/>
          <p:cNvGrpSpPr>
            <a:grpSpLocks/>
          </p:cNvGrpSpPr>
          <p:nvPr/>
        </p:nvGrpSpPr>
        <p:grpSpPr bwMode="auto">
          <a:xfrm>
            <a:off x="342447" y="1631950"/>
            <a:ext cx="8552152" cy="793750"/>
            <a:chOff x="591" y="1107"/>
            <a:chExt cx="4504" cy="500"/>
          </a:xfrm>
        </p:grpSpPr>
        <p:sp>
          <p:nvSpPr>
            <p:cNvPr id="155652" name="Rectangle 4"/>
            <p:cNvSpPr>
              <a:spLocks noChangeArrowheads="1"/>
            </p:cNvSpPr>
            <p:nvPr/>
          </p:nvSpPr>
          <p:spPr bwMode="auto">
            <a:xfrm>
              <a:off x="591" y="1107"/>
              <a:ext cx="4504" cy="500"/>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wrap="none" lIns="822960" tIns="44450" rIns="90488" bIns="44450" anchor="ctr"/>
            <a:lstStyle/>
            <a:p>
              <a:r>
                <a:rPr lang="en-US" sz="2400" b="1" dirty="0" err="1">
                  <a:latin typeface="Arial" charset="0"/>
                </a:rPr>
                <a:t>Cryptez</a:t>
              </a:r>
              <a:r>
                <a:rPr lang="en-US" sz="2400" b="1" dirty="0">
                  <a:latin typeface="Arial" charset="0"/>
                </a:rPr>
                <a:t> le dossier </a:t>
              </a:r>
              <a:r>
                <a:rPr lang="en-US" sz="2400" b="1" dirty="0" err="1">
                  <a:latin typeface="Arial" charset="0"/>
                </a:rPr>
                <a:t>Mes</a:t>
              </a:r>
              <a:r>
                <a:rPr lang="en-US" sz="2400" b="1" dirty="0">
                  <a:latin typeface="Arial" charset="0"/>
                </a:rPr>
                <a:t> documents</a:t>
              </a:r>
            </a:p>
          </p:txBody>
        </p:sp>
        <p:grpSp>
          <p:nvGrpSpPr>
            <p:cNvPr id="3" name="Group 5"/>
            <p:cNvGrpSpPr>
              <a:grpSpLocks/>
            </p:cNvGrpSpPr>
            <p:nvPr/>
          </p:nvGrpSpPr>
          <p:grpSpPr bwMode="auto">
            <a:xfrm>
              <a:off x="635" y="1143"/>
              <a:ext cx="384" cy="378"/>
              <a:chOff x="343" y="816"/>
              <a:chExt cx="448" cy="441"/>
            </a:xfrm>
          </p:grpSpPr>
          <p:sp>
            <p:nvSpPr>
              <p:cNvPr id="155654" name="Rectangle 6"/>
              <p:cNvSpPr>
                <a:spLocks noChangeArrowheads="1"/>
              </p:cNvSpPr>
              <p:nvPr/>
            </p:nvSpPr>
            <p:spPr bwMode="auto">
              <a:xfrm>
                <a:off x="343" y="905"/>
                <a:ext cx="346" cy="352"/>
              </a:xfrm>
              <a:prstGeom prst="rect">
                <a:avLst/>
              </a:prstGeom>
              <a:solidFill>
                <a:schemeClr val="bg1"/>
              </a:solidFill>
              <a:ln w="12700">
                <a:solidFill>
                  <a:schemeClr val="tx2"/>
                </a:solidFill>
                <a:miter lim="800000"/>
                <a:headEnd/>
                <a:tailEnd/>
              </a:ln>
              <a:effectLst>
                <a:outerShdw dist="53882" dir="2700000" algn="ctr" rotWithShape="0">
                  <a:srgbClr val="969696"/>
                </a:outerShdw>
              </a:effectLst>
            </p:spPr>
            <p:txBody>
              <a:bodyPr wrap="none" anchor="ctr"/>
              <a:lstStyle/>
              <a:p>
                <a:endParaRPr lang="fr-FR" sz="2400"/>
              </a:p>
            </p:txBody>
          </p:sp>
          <p:sp>
            <p:nvSpPr>
              <p:cNvPr id="155655" name="Freeform 7"/>
              <p:cNvSpPr>
                <a:spLocks/>
              </p:cNvSpPr>
              <p:nvPr/>
            </p:nvSpPr>
            <p:spPr bwMode="auto">
              <a:xfrm>
                <a:off x="406" y="816"/>
                <a:ext cx="385" cy="363"/>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40161" dir="4293903" algn="ctr" rotWithShape="0">
                  <a:srgbClr val="969696"/>
                </a:outerShdw>
              </a:effectLst>
            </p:spPr>
            <p:txBody>
              <a:bodyPr/>
              <a:lstStyle/>
              <a:p>
                <a:endParaRPr lang="fr-FR" sz="2400"/>
              </a:p>
            </p:txBody>
          </p:sp>
        </p:grpSp>
      </p:grpSp>
      <p:grpSp>
        <p:nvGrpSpPr>
          <p:cNvPr id="4" name="Group 21"/>
          <p:cNvGrpSpPr>
            <a:grpSpLocks/>
          </p:cNvGrpSpPr>
          <p:nvPr/>
        </p:nvGrpSpPr>
        <p:grpSpPr bwMode="auto">
          <a:xfrm>
            <a:off x="342447" y="2695575"/>
            <a:ext cx="8552152" cy="793750"/>
            <a:chOff x="591" y="1739"/>
            <a:chExt cx="4504" cy="500"/>
          </a:xfrm>
        </p:grpSpPr>
        <p:sp>
          <p:nvSpPr>
            <p:cNvPr id="155656" name="Rectangle 8"/>
            <p:cNvSpPr>
              <a:spLocks noChangeArrowheads="1"/>
            </p:cNvSpPr>
            <p:nvPr/>
          </p:nvSpPr>
          <p:spPr bwMode="auto">
            <a:xfrm>
              <a:off x="591" y="1739"/>
              <a:ext cx="4504" cy="500"/>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wrap="square" lIns="822960" tIns="44450" rIns="90488" bIns="44450" anchor="ctr"/>
            <a:lstStyle/>
            <a:p>
              <a:r>
                <a:rPr lang="fr-FR" sz="2400" b="1" dirty="0">
                  <a:latin typeface="Arial" charset="0"/>
                </a:rPr>
                <a:t>Cryptez des dossiers plutôt que des fichiers individuels </a:t>
              </a:r>
              <a:endParaRPr lang="en-US" sz="2400" b="1" dirty="0">
                <a:latin typeface="Arial" charset="0"/>
              </a:endParaRPr>
            </a:p>
          </p:txBody>
        </p:sp>
        <p:grpSp>
          <p:nvGrpSpPr>
            <p:cNvPr id="5" name="Group 9"/>
            <p:cNvGrpSpPr>
              <a:grpSpLocks/>
            </p:cNvGrpSpPr>
            <p:nvPr/>
          </p:nvGrpSpPr>
          <p:grpSpPr bwMode="auto">
            <a:xfrm>
              <a:off x="635" y="1775"/>
              <a:ext cx="384" cy="378"/>
              <a:chOff x="343" y="816"/>
              <a:chExt cx="448" cy="441"/>
            </a:xfrm>
          </p:grpSpPr>
          <p:sp>
            <p:nvSpPr>
              <p:cNvPr id="155658" name="Rectangle 10"/>
              <p:cNvSpPr>
                <a:spLocks noChangeArrowheads="1"/>
              </p:cNvSpPr>
              <p:nvPr/>
            </p:nvSpPr>
            <p:spPr bwMode="auto">
              <a:xfrm>
                <a:off x="343" y="905"/>
                <a:ext cx="346" cy="352"/>
              </a:xfrm>
              <a:prstGeom prst="rect">
                <a:avLst/>
              </a:prstGeom>
              <a:solidFill>
                <a:schemeClr val="bg1"/>
              </a:solidFill>
              <a:ln w="12700">
                <a:solidFill>
                  <a:schemeClr val="tx2"/>
                </a:solidFill>
                <a:miter lim="800000"/>
                <a:headEnd/>
                <a:tailEnd/>
              </a:ln>
              <a:effectLst>
                <a:outerShdw dist="53882" dir="2700000" algn="ctr" rotWithShape="0">
                  <a:srgbClr val="969696"/>
                </a:outerShdw>
              </a:effectLst>
            </p:spPr>
            <p:txBody>
              <a:bodyPr wrap="none" anchor="ctr"/>
              <a:lstStyle/>
              <a:p>
                <a:endParaRPr lang="fr-FR" sz="2400"/>
              </a:p>
            </p:txBody>
          </p:sp>
          <p:sp>
            <p:nvSpPr>
              <p:cNvPr id="155659" name="Freeform 11"/>
              <p:cNvSpPr>
                <a:spLocks/>
              </p:cNvSpPr>
              <p:nvPr/>
            </p:nvSpPr>
            <p:spPr bwMode="auto">
              <a:xfrm>
                <a:off x="406" y="816"/>
                <a:ext cx="385" cy="363"/>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40161" dir="4293903" algn="ctr" rotWithShape="0">
                  <a:srgbClr val="969696"/>
                </a:outerShdw>
              </a:effectLst>
            </p:spPr>
            <p:txBody>
              <a:bodyPr/>
              <a:lstStyle/>
              <a:p>
                <a:endParaRPr lang="fr-FR" sz="2400"/>
              </a:p>
            </p:txBody>
          </p:sp>
        </p:grpSp>
      </p:grpSp>
      <p:grpSp>
        <p:nvGrpSpPr>
          <p:cNvPr id="6" name="Group 22"/>
          <p:cNvGrpSpPr>
            <a:grpSpLocks/>
          </p:cNvGrpSpPr>
          <p:nvPr/>
        </p:nvGrpSpPr>
        <p:grpSpPr bwMode="auto">
          <a:xfrm>
            <a:off x="342447" y="3759200"/>
            <a:ext cx="8552152" cy="793750"/>
            <a:chOff x="591" y="2372"/>
            <a:chExt cx="4504" cy="500"/>
          </a:xfrm>
        </p:grpSpPr>
        <p:sp>
          <p:nvSpPr>
            <p:cNvPr id="155660" name="Rectangle 12"/>
            <p:cNvSpPr>
              <a:spLocks noChangeArrowheads="1"/>
            </p:cNvSpPr>
            <p:nvPr/>
          </p:nvSpPr>
          <p:spPr bwMode="auto">
            <a:xfrm>
              <a:off x="591" y="2372"/>
              <a:ext cx="4504" cy="500"/>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wrap="none" lIns="822960" tIns="44450" rIns="90488" bIns="44450" anchor="ctr"/>
            <a:lstStyle/>
            <a:p>
              <a:r>
                <a:rPr lang="en-US" sz="2400" b="1">
                  <a:latin typeface="Arial" charset="0"/>
                </a:rPr>
                <a:t>Sécurisez et archivez les clés et les certificats</a:t>
              </a:r>
            </a:p>
          </p:txBody>
        </p:sp>
        <p:grpSp>
          <p:nvGrpSpPr>
            <p:cNvPr id="7" name="Group 13"/>
            <p:cNvGrpSpPr>
              <a:grpSpLocks/>
            </p:cNvGrpSpPr>
            <p:nvPr/>
          </p:nvGrpSpPr>
          <p:grpSpPr bwMode="auto">
            <a:xfrm>
              <a:off x="635" y="2408"/>
              <a:ext cx="384" cy="378"/>
              <a:chOff x="343" y="816"/>
              <a:chExt cx="448" cy="441"/>
            </a:xfrm>
          </p:grpSpPr>
          <p:sp>
            <p:nvSpPr>
              <p:cNvPr id="155662" name="Rectangle 14"/>
              <p:cNvSpPr>
                <a:spLocks noChangeArrowheads="1"/>
              </p:cNvSpPr>
              <p:nvPr/>
            </p:nvSpPr>
            <p:spPr bwMode="auto">
              <a:xfrm>
                <a:off x="343" y="905"/>
                <a:ext cx="346" cy="352"/>
              </a:xfrm>
              <a:prstGeom prst="rect">
                <a:avLst/>
              </a:prstGeom>
              <a:solidFill>
                <a:schemeClr val="bg1"/>
              </a:solidFill>
              <a:ln w="12700">
                <a:solidFill>
                  <a:schemeClr val="tx2"/>
                </a:solidFill>
                <a:miter lim="800000"/>
                <a:headEnd/>
                <a:tailEnd/>
              </a:ln>
              <a:effectLst>
                <a:outerShdw dist="53882" dir="2700000" algn="ctr" rotWithShape="0">
                  <a:srgbClr val="969696"/>
                </a:outerShdw>
              </a:effectLst>
            </p:spPr>
            <p:txBody>
              <a:bodyPr wrap="none" anchor="ctr"/>
              <a:lstStyle/>
              <a:p>
                <a:endParaRPr lang="fr-FR" sz="2400"/>
              </a:p>
            </p:txBody>
          </p:sp>
          <p:sp>
            <p:nvSpPr>
              <p:cNvPr id="155663" name="Freeform 15"/>
              <p:cNvSpPr>
                <a:spLocks/>
              </p:cNvSpPr>
              <p:nvPr/>
            </p:nvSpPr>
            <p:spPr bwMode="auto">
              <a:xfrm>
                <a:off x="406" y="816"/>
                <a:ext cx="385" cy="363"/>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40161" dir="4293903" algn="ctr" rotWithShape="0">
                  <a:srgbClr val="969696"/>
                </a:outerShdw>
              </a:effectLst>
            </p:spPr>
            <p:txBody>
              <a:bodyPr/>
              <a:lstStyle/>
              <a:p>
                <a:endParaRPr lang="fr-FR" sz="2400"/>
              </a:p>
            </p:txBody>
          </p:sp>
        </p:grpSp>
      </p:grpSp>
      <p:grpSp>
        <p:nvGrpSpPr>
          <p:cNvPr id="8" name="Group 23"/>
          <p:cNvGrpSpPr>
            <a:grpSpLocks/>
          </p:cNvGrpSpPr>
          <p:nvPr/>
        </p:nvGrpSpPr>
        <p:grpSpPr bwMode="auto">
          <a:xfrm>
            <a:off x="342447" y="4822825"/>
            <a:ext cx="8552152" cy="793750"/>
            <a:chOff x="591" y="3038"/>
            <a:chExt cx="4504" cy="500"/>
          </a:xfrm>
        </p:grpSpPr>
        <p:sp>
          <p:nvSpPr>
            <p:cNvPr id="155664" name="Rectangle 16"/>
            <p:cNvSpPr>
              <a:spLocks noChangeArrowheads="1"/>
            </p:cNvSpPr>
            <p:nvPr/>
          </p:nvSpPr>
          <p:spPr bwMode="auto">
            <a:xfrm>
              <a:off x="591" y="3038"/>
              <a:ext cx="4504" cy="500"/>
            </a:xfrm>
            <a:prstGeom prst="rect">
              <a:avLst/>
            </a:prstGeom>
            <a:gradFill rotWithShape="0">
              <a:gsLst>
                <a:gs pos="0">
                  <a:srgbClr val="FDC0E5">
                    <a:gamma/>
                    <a:tint val="0"/>
                    <a:invGamma/>
                  </a:srgbClr>
                </a:gs>
                <a:gs pos="100000">
                  <a:srgbClr val="FDC0E5"/>
                </a:gs>
              </a:gsLst>
              <a:lin ang="5400000" scaled="1"/>
            </a:gradFill>
            <a:ln w="12700">
              <a:noFill/>
              <a:miter lim="800000"/>
              <a:headEnd/>
              <a:tailEnd/>
            </a:ln>
            <a:effectLst>
              <a:outerShdw dist="71842" dir="2700000" algn="ctr" rotWithShape="0">
                <a:srgbClr val="C0C0C0"/>
              </a:outerShdw>
            </a:effectLst>
          </p:spPr>
          <p:txBody>
            <a:bodyPr wrap="none" lIns="822960" tIns="44450" rIns="90488" bIns="44450" anchor="ctr"/>
            <a:lstStyle/>
            <a:p>
              <a:r>
                <a:rPr lang="en-US" sz="2400" b="1">
                  <a:latin typeface="Arial" charset="0"/>
                </a:rPr>
                <a:t>Implémentez une archive de l'agent de récupération</a:t>
              </a:r>
            </a:p>
          </p:txBody>
        </p:sp>
        <p:grpSp>
          <p:nvGrpSpPr>
            <p:cNvPr id="9" name="Group 17"/>
            <p:cNvGrpSpPr>
              <a:grpSpLocks/>
            </p:cNvGrpSpPr>
            <p:nvPr/>
          </p:nvGrpSpPr>
          <p:grpSpPr bwMode="auto">
            <a:xfrm>
              <a:off x="635" y="3074"/>
              <a:ext cx="384" cy="378"/>
              <a:chOff x="343" y="816"/>
              <a:chExt cx="448" cy="441"/>
            </a:xfrm>
          </p:grpSpPr>
          <p:sp>
            <p:nvSpPr>
              <p:cNvPr id="155666" name="Rectangle 18"/>
              <p:cNvSpPr>
                <a:spLocks noChangeArrowheads="1"/>
              </p:cNvSpPr>
              <p:nvPr/>
            </p:nvSpPr>
            <p:spPr bwMode="auto">
              <a:xfrm>
                <a:off x="343" y="905"/>
                <a:ext cx="346" cy="352"/>
              </a:xfrm>
              <a:prstGeom prst="rect">
                <a:avLst/>
              </a:prstGeom>
              <a:solidFill>
                <a:schemeClr val="bg1"/>
              </a:solidFill>
              <a:ln w="12700">
                <a:solidFill>
                  <a:schemeClr val="tx2"/>
                </a:solidFill>
                <a:miter lim="800000"/>
                <a:headEnd/>
                <a:tailEnd/>
              </a:ln>
              <a:effectLst>
                <a:outerShdw dist="53882" dir="2700000" algn="ctr" rotWithShape="0">
                  <a:srgbClr val="969696"/>
                </a:outerShdw>
              </a:effectLst>
            </p:spPr>
            <p:txBody>
              <a:bodyPr wrap="none" anchor="ctr"/>
              <a:lstStyle/>
              <a:p>
                <a:endParaRPr lang="fr-FR" sz="2400"/>
              </a:p>
            </p:txBody>
          </p:sp>
          <p:sp>
            <p:nvSpPr>
              <p:cNvPr id="155667" name="Freeform 19"/>
              <p:cNvSpPr>
                <a:spLocks/>
              </p:cNvSpPr>
              <p:nvPr/>
            </p:nvSpPr>
            <p:spPr bwMode="auto">
              <a:xfrm>
                <a:off x="406" y="816"/>
                <a:ext cx="385" cy="363"/>
              </a:xfrm>
              <a:custGeom>
                <a:avLst/>
                <a:gdLst/>
                <a:ahLst/>
                <a:cxnLst>
                  <a:cxn ang="0">
                    <a:pos x="5" y="188"/>
                  </a:cxn>
                  <a:cxn ang="0">
                    <a:pos x="0" y="174"/>
                  </a:cxn>
                  <a:cxn ang="0">
                    <a:pos x="5" y="165"/>
                  </a:cxn>
                  <a:cxn ang="0">
                    <a:pos x="5" y="156"/>
                  </a:cxn>
                  <a:cxn ang="0">
                    <a:pos x="9" y="147"/>
                  </a:cxn>
                  <a:cxn ang="0">
                    <a:pos x="14" y="142"/>
                  </a:cxn>
                  <a:cxn ang="0">
                    <a:pos x="23" y="133"/>
                  </a:cxn>
                  <a:cxn ang="0">
                    <a:pos x="32" y="128"/>
                  </a:cxn>
                  <a:cxn ang="0">
                    <a:pos x="41" y="115"/>
                  </a:cxn>
                  <a:cxn ang="0">
                    <a:pos x="50" y="115"/>
                  </a:cxn>
                  <a:cxn ang="0">
                    <a:pos x="59" y="110"/>
                  </a:cxn>
                  <a:cxn ang="0">
                    <a:pos x="68" y="110"/>
                  </a:cxn>
                  <a:cxn ang="0">
                    <a:pos x="77" y="115"/>
                  </a:cxn>
                  <a:cxn ang="0">
                    <a:pos x="86" y="124"/>
                  </a:cxn>
                  <a:cxn ang="0">
                    <a:pos x="90" y="128"/>
                  </a:cxn>
                  <a:cxn ang="0">
                    <a:pos x="95" y="142"/>
                  </a:cxn>
                  <a:cxn ang="0">
                    <a:pos x="95" y="156"/>
                  </a:cxn>
                  <a:cxn ang="0">
                    <a:pos x="95" y="170"/>
                  </a:cxn>
                  <a:cxn ang="0">
                    <a:pos x="99" y="188"/>
                  </a:cxn>
                  <a:cxn ang="0">
                    <a:pos x="104" y="202"/>
                  </a:cxn>
                  <a:cxn ang="0">
                    <a:pos x="108" y="215"/>
                  </a:cxn>
                  <a:cxn ang="0">
                    <a:pos x="113" y="225"/>
                  </a:cxn>
                  <a:cxn ang="0">
                    <a:pos x="126" y="225"/>
                  </a:cxn>
                  <a:cxn ang="0">
                    <a:pos x="352" y="5"/>
                  </a:cxn>
                  <a:cxn ang="0">
                    <a:pos x="361" y="5"/>
                  </a:cxn>
                  <a:cxn ang="0">
                    <a:pos x="366" y="0"/>
                  </a:cxn>
                  <a:cxn ang="0">
                    <a:pos x="375" y="5"/>
                  </a:cxn>
                  <a:cxn ang="0">
                    <a:pos x="384" y="9"/>
                  </a:cxn>
                  <a:cxn ang="0">
                    <a:pos x="384" y="55"/>
                  </a:cxn>
                  <a:cxn ang="0">
                    <a:pos x="384" y="64"/>
                  </a:cxn>
                  <a:cxn ang="0">
                    <a:pos x="379" y="73"/>
                  </a:cxn>
                  <a:cxn ang="0">
                    <a:pos x="375" y="78"/>
                  </a:cxn>
                  <a:cxn ang="0">
                    <a:pos x="370" y="82"/>
                  </a:cxn>
                  <a:cxn ang="0">
                    <a:pos x="126" y="335"/>
                  </a:cxn>
                  <a:cxn ang="0">
                    <a:pos x="104" y="353"/>
                  </a:cxn>
                  <a:cxn ang="0">
                    <a:pos x="86" y="357"/>
                  </a:cxn>
                  <a:cxn ang="0">
                    <a:pos x="63" y="357"/>
                  </a:cxn>
                  <a:cxn ang="0">
                    <a:pos x="50" y="353"/>
                  </a:cxn>
                  <a:cxn ang="0">
                    <a:pos x="32" y="344"/>
                  </a:cxn>
                  <a:cxn ang="0">
                    <a:pos x="23" y="330"/>
                  </a:cxn>
                  <a:cxn ang="0">
                    <a:pos x="14" y="316"/>
                  </a:cxn>
                </a:cxnLst>
                <a:rect l="0" t="0" r="r" b="b"/>
                <a:pathLst>
                  <a:path w="385" h="363">
                    <a:moveTo>
                      <a:pt x="9" y="302"/>
                    </a:moveTo>
                    <a:lnTo>
                      <a:pt x="5" y="188"/>
                    </a:lnTo>
                    <a:lnTo>
                      <a:pt x="0" y="183"/>
                    </a:lnTo>
                    <a:lnTo>
                      <a:pt x="0" y="174"/>
                    </a:lnTo>
                    <a:lnTo>
                      <a:pt x="0" y="170"/>
                    </a:lnTo>
                    <a:lnTo>
                      <a:pt x="5" y="165"/>
                    </a:lnTo>
                    <a:lnTo>
                      <a:pt x="5" y="160"/>
                    </a:lnTo>
                    <a:lnTo>
                      <a:pt x="5" y="156"/>
                    </a:lnTo>
                    <a:lnTo>
                      <a:pt x="5" y="151"/>
                    </a:lnTo>
                    <a:lnTo>
                      <a:pt x="9" y="147"/>
                    </a:lnTo>
                    <a:lnTo>
                      <a:pt x="14" y="147"/>
                    </a:lnTo>
                    <a:lnTo>
                      <a:pt x="14" y="142"/>
                    </a:lnTo>
                    <a:lnTo>
                      <a:pt x="18" y="137"/>
                    </a:lnTo>
                    <a:lnTo>
                      <a:pt x="23" y="133"/>
                    </a:lnTo>
                    <a:lnTo>
                      <a:pt x="27" y="133"/>
                    </a:lnTo>
                    <a:lnTo>
                      <a:pt x="32" y="128"/>
                    </a:lnTo>
                    <a:lnTo>
                      <a:pt x="36" y="119"/>
                    </a:lnTo>
                    <a:lnTo>
                      <a:pt x="41" y="115"/>
                    </a:lnTo>
                    <a:lnTo>
                      <a:pt x="45" y="115"/>
                    </a:lnTo>
                    <a:lnTo>
                      <a:pt x="50" y="115"/>
                    </a:lnTo>
                    <a:lnTo>
                      <a:pt x="54" y="110"/>
                    </a:lnTo>
                    <a:lnTo>
                      <a:pt x="59" y="110"/>
                    </a:lnTo>
                    <a:lnTo>
                      <a:pt x="63" y="110"/>
                    </a:lnTo>
                    <a:lnTo>
                      <a:pt x="68" y="110"/>
                    </a:lnTo>
                    <a:lnTo>
                      <a:pt x="72" y="115"/>
                    </a:lnTo>
                    <a:lnTo>
                      <a:pt x="77" y="115"/>
                    </a:lnTo>
                    <a:lnTo>
                      <a:pt x="86" y="119"/>
                    </a:lnTo>
                    <a:lnTo>
                      <a:pt x="86" y="124"/>
                    </a:lnTo>
                    <a:lnTo>
                      <a:pt x="90" y="124"/>
                    </a:lnTo>
                    <a:lnTo>
                      <a:pt x="90" y="128"/>
                    </a:lnTo>
                    <a:lnTo>
                      <a:pt x="95" y="137"/>
                    </a:lnTo>
                    <a:lnTo>
                      <a:pt x="95" y="142"/>
                    </a:lnTo>
                    <a:lnTo>
                      <a:pt x="95" y="147"/>
                    </a:lnTo>
                    <a:lnTo>
                      <a:pt x="95" y="156"/>
                    </a:lnTo>
                    <a:lnTo>
                      <a:pt x="95" y="165"/>
                    </a:lnTo>
                    <a:lnTo>
                      <a:pt x="95" y="170"/>
                    </a:lnTo>
                    <a:lnTo>
                      <a:pt x="95" y="179"/>
                    </a:lnTo>
                    <a:lnTo>
                      <a:pt x="99" y="188"/>
                    </a:lnTo>
                    <a:lnTo>
                      <a:pt x="99" y="192"/>
                    </a:lnTo>
                    <a:lnTo>
                      <a:pt x="104" y="202"/>
                    </a:lnTo>
                    <a:lnTo>
                      <a:pt x="104" y="206"/>
                    </a:lnTo>
                    <a:lnTo>
                      <a:pt x="108" y="215"/>
                    </a:lnTo>
                    <a:lnTo>
                      <a:pt x="113" y="220"/>
                    </a:lnTo>
                    <a:lnTo>
                      <a:pt x="113" y="225"/>
                    </a:lnTo>
                    <a:lnTo>
                      <a:pt x="117" y="225"/>
                    </a:lnTo>
                    <a:lnTo>
                      <a:pt x="126" y="225"/>
                    </a:lnTo>
                    <a:lnTo>
                      <a:pt x="348" y="9"/>
                    </a:lnTo>
                    <a:lnTo>
                      <a:pt x="352" y="5"/>
                    </a:lnTo>
                    <a:lnTo>
                      <a:pt x="357" y="5"/>
                    </a:lnTo>
                    <a:lnTo>
                      <a:pt x="361" y="5"/>
                    </a:lnTo>
                    <a:lnTo>
                      <a:pt x="361" y="0"/>
                    </a:lnTo>
                    <a:lnTo>
                      <a:pt x="366" y="0"/>
                    </a:lnTo>
                    <a:lnTo>
                      <a:pt x="370" y="0"/>
                    </a:lnTo>
                    <a:lnTo>
                      <a:pt x="375" y="5"/>
                    </a:lnTo>
                    <a:lnTo>
                      <a:pt x="379" y="5"/>
                    </a:lnTo>
                    <a:lnTo>
                      <a:pt x="384" y="9"/>
                    </a:lnTo>
                    <a:lnTo>
                      <a:pt x="384" y="14"/>
                    </a:lnTo>
                    <a:lnTo>
                      <a:pt x="384" y="55"/>
                    </a:lnTo>
                    <a:lnTo>
                      <a:pt x="384" y="60"/>
                    </a:lnTo>
                    <a:lnTo>
                      <a:pt x="384" y="64"/>
                    </a:lnTo>
                    <a:lnTo>
                      <a:pt x="379" y="69"/>
                    </a:lnTo>
                    <a:lnTo>
                      <a:pt x="379" y="73"/>
                    </a:lnTo>
                    <a:lnTo>
                      <a:pt x="379" y="78"/>
                    </a:lnTo>
                    <a:lnTo>
                      <a:pt x="375" y="78"/>
                    </a:lnTo>
                    <a:lnTo>
                      <a:pt x="375" y="82"/>
                    </a:lnTo>
                    <a:lnTo>
                      <a:pt x="370" y="82"/>
                    </a:lnTo>
                    <a:lnTo>
                      <a:pt x="370" y="87"/>
                    </a:lnTo>
                    <a:lnTo>
                      <a:pt x="126" y="335"/>
                    </a:lnTo>
                    <a:lnTo>
                      <a:pt x="113" y="344"/>
                    </a:lnTo>
                    <a:lnTo>
                      <a:pt x="104" y="353"/>
                    </a:lnTo>
                    <a:lnTo>
                      <a:pt x="95" y="357"/>
                    </a:lnTo>
                    <a:lnTo>
                      <a:pt x="86" y="357"/>
                    </a:lnTo>
                    <a:lnTo>
                      <a:pt x="72" y="362"/>
                    </a:lnTo>
                    <a:lnTo>
                      <a:pt x="63" y="357"/>
                    </a:lnTo>
                    <a:lnTo>
                      <a:pt x="59" y="357"/>
                    </a:lnTo>
                    <a:lnTo>
                      <a:pt x="50" y="353"/>
                    </a:lnTo>
                    <a:lnTo>
                      <a:pt x="41" y="348"/>
                    </a:lnTo>
                    <a:lnTo>
                      <a:pt x="32" y="344"/>
                    </a:lnTo>
                    <a:lnTo>
                      <a:pt x="27" y="335"/>
                    </a:lnTo>
                    <a:lnTo>
                      <a:pt x="23" y="330"/>
                    </a:lnTo>
                    <a:lnTo>
                      <a:pt x="14" y="321"/>
                    </a:lnTo>
                    <a:lnTo>
                      <a:pt x="14" y="316"/>
                    </a:lnTo>
                    <a:lnTo>
                      <a:pt x="9" y="302"/>
                    </a:lnTo>
                  </a:path>
                </a:pathLst>
              </a:custGeom>
              <a:gradFill rotWithShape="0">
                <a:gsLst>
                  <a:gs pos="0">
                    <a:schemeClr val="accent2"/>
                  </a:gs>
                  <a:gs pos="100000">
                    <a:schemeClr val="accent2">
                      <a:gamma/>
                      <a:tint val="53725"/>
                      <a:invGamma/>
                    </a:schemeClr>
                  </a:gs>
                </a:gsLst>
                <a:lin ang="18900000" scaled="1"/>
              </a:gradFill>
              <a:ln w="12700" cap="rnd" cmpd="sng">
                <a:solidFill>
                  <a:srgbClr val="000000"/>
                </a:solidFill>
                <a:prstDash val="solid"/>
                <a:round/>
                <a:headEnd type="none" w="med" len="med"/>
                <a:tailEnd type="none" w="med" len="med"/>
              </a:ln>
              <a:effectLst>
                <a:outerShdw dist="40161" dir="4293903" algn="ctr" rotWithShape="0">
                  <a:srgbClr val="969696"/>
                </a:outerShdw>
              </a:effectLst>
            </p:spPr>
            <p:txBody>
              <a:bodyPr/>
              <a:lstStyle/>
              <a:p>
                <a:endParaRPr lang="fr-FR" sz="2400"/>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heckerboard(across)">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heckerboard(across)">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Exercices</a:t>
            </a:r>
          </a:p>
        </p:txBody>
      </p:sp>
      <p:sp>
        <p:nvSpPr>
          <p:cNvPr id="3" name="Espace réservé du contenu 2"/>
          <p:cNvSpPr>
            <a:spLocks noGrp="1"/>
          </p:cNvSpPr>
          <p:nvPr>
            <p:ph sz="quarter" idx="1"/>
          </p:nvPr>
        </p:nvSpPr>
        <p:spPr>
          <a:xfrm>
            <a:off x="171456" y="1346933"/>
            <a:ext cx="8805672" cy="3559302"/>
          </a:xfrm>
        </p:spPr>
        <p:txBody>
          <a:bodyPr>
            <a:normAutofit/>
          </a:bodyPr>
          <a:lstStyle/>
          <a:p>
            <a:pPr marL="273050" indent="-1588">
              <a:buNone/>
            </a:pPr>
            <a:r>
              <a:rPr lang="fr-FR" sz="2600" dirty="0"/>
              <a:t>1.Un utilisateur partage un ordinateur avec d'autres utilisateurs. L'utilisateur essaie d'accéder à un fichier sur le lecteur local de l'ordinateur et reçoit un message indiquant que l'accès lui est refusé. Une fois effectuée la vérification que les autorisations NTFS octroient à l'utilisateur l'autorisation de contrôle total, pourquoi le message d'accès refusé s'affiche-t-il ? Comment l'utilisateur peut-il accéder à ce fichier ?</a:t>
            </a:r>
          </a:p>
        </p:txBody>
      </p:sp>
      <p:sp>
        <p:nvSpPr>
          <p:cNvPr id="4" name="Rectangle 3"/>
          <p:cNvSpPr/>
          <p:nvPr/>
        </p:nvSpPr>
        <p:spPr>
          <a:xfrm>
            <a:off x="263229" y="4273474"/>
            <a:ext cx="8631381" cy="2092881"/>
          </a:xfrm>
          <a:prstGeom prst="rect">
            <a:avLst/>
          </a:prstGeom>
          <a:solidFill>
            <a:srgbClr val="9999FF"/>
          </a:solidFill>
        </p:spPr>
        <p:style>
          <a:lnRef idx="2">
            <a:schemeClr val="accent3"/>
          </a:lnRef>
          <a:fillRef idx="1">
            <a:schemeClr val="lt1"/>
          </a:fillRef>
          <a:effectRef idx="0">
            <a:schemeClr val="accent3"/>
          </a:effectRef>
          <a:fontRef idx="minor">
            <a:schemeClr val="dk1"/>
          </a:fontRef>
        </p:style>
        <p:txBody>
          <a:bodyPr wrap="square">
            <a:spAutoFit/>
          </a:bodyPr>
          <a:lstStyle/>
          <a:p>
            <a:r>
              <a:rPr lang="fr-FR" sz="2600" b="1" dirty="0"/>
              <a:t>Le fichier est crypté à l'aide du système EFS. Si un utilisateur a besoin d'accéder au fichier, la personne qui a crypté le fichier doit le décrypter. L'autre solution consiste à ajouter l’utilisateur comme personne autorisé à accéder au fichier.</a:t>
            </a:r>
            <a:endParaRPr lang="fr-FR"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Exercices</a:t>
            </a:r>
          </a:p>
        </p:txBody>
      </p:sp>
      <p:sp>
        <p:nvSpPr>
          <p:cNvPr id="3" name="Espace réservé du contenu 2"/>
          <p:cNvSpPr>
            <a:spLocks noGrp="1"/>
          </p:cNvSpPr>
          <p:nvPr>
            <p:ph sz="quarter" idx="1"/>
          </p:nvPr>
        </p:nvSpPr>
        <p:spPr>
          <a:xfrm>
            <a:off x="171456" y="1346933"/>
            <a:ext cx="8805672" cy="3559302"/>
          </a:xfrm>
        </p:spPr>
        <p:txBody>
          <a:bodyPr>
            <a:normAutofit/>
          </a:bodyPr>
          <a:lstStyle/>
          <a:p>
            <a:pPr>
              <a:buNone/>
            </a:pPr>
            <a:r>
              <a:rPr lang="fr-FR" sz="2600" dirty="0"/>
              <a:t>    2. </a:t>
            </a:r>
            <a:r>
              <a:rPr lang="fr-FR" sz="2400" dirty="0"/>
              <a:t>Vous installez 10 nouveaux ordinateurs exécutant Windows 7 Prof. Les employés des différentes équipes partageront ces ordinateurs. Il a été décidé de stocker toutes les données utilisateur sur les disques durs des ordinateurs locaux. Le dossier Mes documents de chaque utilisateur doit être uniquement accessible à cet utilisateur. Comment devez-vous configurer ces ordinateurs ?</a:t>
            </a:r>
            <a:endParaRPr lang="fr-FR" sz="2600" dirty="0"/>
          </a:p>
        </p:txBody>
      </p:sp>
      <p:sp>
        <p:nvSpPr>
          <p:cNvPr id="4" name="Rectangle 3"/>
          <p:cNvSpPr/>
          <p:nvPr/>
        </p:nvSpPr>
        <p:spPr>
          <a:xfrm>
            <a:off x="263229" y="4273474"/>
            <a:ext cx="8631381" cy="2246769"/>
          </a:xfrm>
          <a:prstGeom prst="rect">
            <a:avLst/>
          </a:prstGeom>
          <a:solidFill>
            <a:srgbClr val="9999FF"/>
          </a:solidFill>
        </p:spPr>
        <p:style>
          <a:lnRef idx="2">
            <a:schemeClr val="accent3"/>
          </a:lnRef>
          <a:fillRef idx="1">
            <a:schemeClr val="lt1"/>
          </a:fillRef>
          <a:effectRef idx="0">
            <a:schemeClr val="accent3"/>
          </a:effectRef>
          <a:fontRef idx="minor">
            <a:schemeClr val="dk1"/>
          </a:fontRef>
        </p:style>
        <p:txBody>
          <a:bodyPr wrap="square">
            <a:spAutoFit/>
          </a:bodyPr>
          <a:lstStyle/>
          <a:p>
            <a:r>
              <a:rPr lang="fr-FR" sz="2800" b="1" dirty="0"/>
              <a:t>Vous allez configurer ces ordinateurs en utilisant le système de fichiers NTFS. Les dossiers Mes documents sont  automatiquement sécurisés à l'aide du système de fichiers NTFS.</a:t>
            </a:r>
            <a:endParaRPr lang="fr-FR"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Exercices</a:t>
            </a:r>
          </a:p>
        </p:txBody>
      </p:sp>
      <p:sp>
        <p:nvSpPr>
          <p:cNvPr id="3" name="Espace réservé du contenu 2"/>
          <p:cNvSpPr>
            <a:spLocks noGrp="1"/>
          </p:cNvSpPr>
          <p:nvPr>
            <p:ph sz="quarter" idx="1"/>
          </p:nvPr>
        </p:nvSpPr>
        <p:spPr>
          <a:xfrm>
            <a:off x="171456" y="1346933"/>
            <a:ext cx="8805672" cy="2421503"/>
          </a:xfrm>
        </p:spPr>
        <p:txBody>
          <a:bodyPr>
            <a:normAutofit/>
          </a:bodyPr>
          <a:lstStyle/>
          <a:p>
            <a:pPr>
              <a:buNone/>
            </a:pPr>
            <a:r>
              <a:rPr lang="fr-FR" sz="2600" dirty="0"/>
              <a:t>    3. </a:t>
            </a:r>
            <a:r>
              <a:rPr lang="fr-FR" sz="2400" dirty="0"/>
              <a:t>Après avoir mis à niveau vos ordinateurs de Windows Vista vers Windows 7, vous avez décidé de tirer parti des fonctionnalités développées du système de fichiers NTFS. Comment pouvez-vous utiliser ces fonctionnalités développées avec le minimum de tâches administratives et également gérer les données utilisateur ?</a:t>
            </a:r>
            <a:endParaRPr lang="fr-FR" sz="2600" dirty="0"/>
          </a:p>
        </p:txBody>
      </p:sp>
      <p:sp>
        <p:nvSpPr>
          <p:cNvPr id="4" name="Rectangle 3"/>
          <p:cNvSpPr/>
          <p:nvPr/>
        </p:nvSpPr>
        <p:spPr>
          <a:xfrm>
            <a:off x="263229" y="4273474"/>
            <a:ext cx="8631381" cy="1384995"/>
          </a:xfrm>
          <a:prstGeom prst="rect">
            <a:avLst/>
          </a:prstGeom>
          <a:solidFill>
            <a:srgbClr val="9999FF"/>
          </a:solidFill>
        </p:spPr>
        <p:style>
          <a:lnRef idx="2">
            <a:schemeClr val="accent3"/>
          </a:lnRef>
          <a:fillRef idx="1">
            <a:schemeClr val="lt1"/>
          </a:fillRef>
          <a:effectRef idx="0">
            <a:schemeClr val="accent3"/>
          </a:effectRef>
          <a:fontRef idx="minor">
            <a:schemeClr val="dk1"/>
          </a:fontRef>
        </p:style>
        <p:txBody>
          <a:bodyPr wrap="square">
            <a:spAutoFit/>
          </a:bodyPr>
          <a:lstStyle/>
          <a:p>
            <a:r>
              <a:rPr lang="fr-FR" sz="2800" b="1" dirty="0"/>
              <a:t>Utilisez l'utilitaire de conversion. La commande sera :</a:t>
            </a:r>
          </a:p>
          <a:p>
            <a:pPr algn="ctr"/>
            <a:r>
              <a:rPr lang="fr-FR" sz="2800" b="1" dirty="0" err="1"/>
              <a:t>convert</a:t>
            </a:r>
            <a:r>
              <a:rPr lang="fr-FR" sz="2800" b="1" dirty="0"/>
              <a:t> c: /FS:NTFS</a:t>
            </a:r>
            <a:endParaRPr lang="fr-FR"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Exercices</a:t>
            </a:r>
          </a:p>
        </p:txBody>
      </p:sp>
      <p:sp>
        <p:nvSpPr>
          <p:cNvPr id="3" name="Espace réservé du contenu 2"/>
          <p:cNvSpPr>
            <a:spLocks noGrp="1"/>
          </p:cNvSpPr>
          <p:nvPr>
            <p:ph sz="quarter" idx="1"/>
          </p:nvPr>
        </p:nvSpPr>
        <p:spPr>
          <a:xfrm>
            <a:off x="171456" y="1346933"/>
            <a:ext cx="8805672" cy="2850994"/>
          </a:xfrm>
        </p:spPr>
        <p:txBody>
          <a:bodyPr>
            <a:normAutofit fontScale="92500" lnSpcReduction="20000"/>
          </a:bodyPr>
          <a:lstStyle/>
          <a:p>
            <a:pPr>
              <a:lnSpc>
                <a:spcPct val="120000"/>
              </a:lnSpc>
              <a:buNone/>
            </a:pPr>
            <a:r>
              <a:rPr lang="fr-FR" sz="2600" dirty="0"/>
              <a:t>	 4. </a:t>
            </a:r>
            <a:r>
              <a:rPr lang="fr-FR" sz="2400" dirty="0"/>
              <a:t>Un utilisateur stocke un très grand nombre de fichiers graphiques sur un disque local. Pour des besoins de sécurité, il a été décidé que ces fichiers doivent être stockés uniquement sur l'ordinateur de cet utilisateur. L'utilisateur annonce que Windows 7 Professionnel affiche un message indiquant que le lecteur C est à court d'espace disque. Vous avez vérifié que le disque ne dispose plus d'espace non alloué non formaté. Que pouvez-vous faire pour aider cet utilisateur ?</a:t>
            </a:r>
            <a:endParaRPr lang="fr-FR" sz="2600" dirty="0"/>
          </a:p>
        </p:txBody>
      </p:sp>
      <p:sp>
        <p:nvSpPr>
          <p:cNvPr id="4" name="Rectangle 3"/>
          <p:cNvSpPr/>
          <p:nvPr/>
        </p:nvSpPr>
        <p:spPr>
          <a:xfrm>
            <a:off x="263229" y="4273474"/>
            <a:ext cx="8631381" cy="2246769"/>
          </a:xfrm>
          <a:prstGeom prst="rect">
            <a:avLst/>
          </a:prstGeom>
          <a:solidFill>
            <a:srgbClr val="9999FF"/>
          </a:solidFill>
        </p:spPr>
        <p:style>
          <a:lnRef idx="2">
            <a:schemeClr val="accent3"/>
          </a:lnRef>
          <a:fillRef idx="1">
            <a:schemeClr val="lt1"/>
          </a:fillRef>
          <a:effectRef idx="0">
            <a:schemeClr val="accent3"/>
          </a:effectRef>
          <a:fontRef idx="minor">
            <a:schemeClr val="dk1"/>
          </a:fontRef>
        </p:style>
        <p:txBody>
          <a:bodyPr wrap="square">
            <a:spAutoFit/>
          </a:bodyPr>
          <a:lstStyle/>
          <a:p>
            <a:r>
              <a:rPr lang="fr-FR" sz="2800" b="1" dirty="0"/>
              <a:t>Utilisez la compression NTFS pour compresser les dossiers contenant les fichiers graphiques. Ces fichiers vont probablement être compressés à un pourcentage bien inférieur à l'espace utilisé.</a:t>
            </a:r>
            <a:endParaRPr lang="fr-FR" sz="2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Exercices</a:t>
            </a:r>
          </a:p>
        </p:txBody>
      </p:sp>
      <p:sp>
        <p:nvSpPr>
          <p:cNvPr id="3" name="Espace réservé du contenu 2"/>
          <p:cNvSpPr>
            <a:spLocks noGrp="1"/>
          </p:cNvSpPr>
          <p:nvPr>
            <p:ph sz="quarter" idx="1"/>
          </p:nvPr>
        </p:nvSpPr>
        <p:spPr>
          <a:xfrm>
            <a:off x="171456" y="1346933"/>
            <a:ext cx="8805672" cy="2850994"/>
          </a:xfrm>
        </p:spPr>
        <p:txBody>
          <a:bodyPr>
            <a:normAutofit/>
          </a:bodyPr>
          <a:lstStyle/>
          <a:p>
            <a:pPr>
              <a:buNone/>
            </a:pPr>
            <a:r>
              <a:rPr lang="fr-FR" sz="2600" dirty="0"/>
              <a:t>	5. </a:t>
            </a:r>
            <a:r>
              <a:rPr lang="fr-FR" sz="2400" dirty="0"/>
              <a:t>Un utilisateur a créé un dossier sur le lecteur D pour archiver d'anciens fichiers. Il a utilisé la compression NTFS sur le dossier. L'utilisateur vous appelle pour vous demander pourquoi certains fichiers sont compressés lors du déplacement vers le dossier compressé, tandis que d'autres ne le sont pas. </a:t>
            </a:r>
          </a:p>
          <a:p>
            <a:pPr>
              <a:buNone/>
            </a:pPr>
            <a:r>
              <a:rPr lang="fr-FR" sz="2400" dirty="0"/>
              <a:t>	Que répondez-vous à l'utilisateur ?</a:t>
            </a:r>
            <a:endParaRPr lang="fr-FR" sz="2600" dirty="0"/>
          </a:p>
        </p:txBody>
      </p:sp>
      <p:sp>
        <p:nvSpPr>
          <p:cNvPr id="4" name="Rectangle 3"/>
          <p:cNvSpPr/>
          <p:nvPr/>
        </p:nvSpPr>
        <p:spPr>
          <a:xfrm>
            <a:off x="263229" y="4273474"/>
            <a:ext cx="8631381" cy="2308324"/>
          </a:xfrm>
          <a:prstGeom prst="rect">
            <a:avLst/>
          </a:prstGeom>
          <a:solidFill>
            <a:srgbClr val="9999FF"/>
          </a:solidFill>
        </p:spPr>
        <p:style>
          <a:lnRef idx="2">
            <a:schemeClr val="accent3"/>
          </a:lnRef>
          <a:fillRef idx="1">
            <a:schemeClr val="lt1"/>
          </a:fillRef>
          <a:effectRef idx="0">
            <a:schemeClr val="accent3"/>
          </a:effectRef>
          <a:fontRef idx="minor">
            <a:schemeClr val="dk1"/>
          </a:fontRef>
        </p:style>
        <p:txBody>
          <a:bodyPr wrap="square">
            <a:spAutoFit/>
          </a:bodyPr>
          <a:lstStyle/>
          <a:p>
            <a:r>
              <a:rPr lang="fr-FR" sz="2400" b="1" dirty="0"/>
              <a:t>Lorsque les fichiers sont déplacés du lecteur C au lecteur D, ils héritent de l'attribut de compression du nouveau dossier. Lorsque les fichiers sont déplacés d'un emplacement du lecteur D vers un autre, l'attribut de compression du dossier d'origine est  conservé.</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solidFill>
                  <a:schemeClr val="tx1"/>
                </a:solidFill>
              </a:rPr>
              <a:t>Exercices</a:t>
            </a:r>
          </a:p>
        </p:txBody>
      </p:sp>
      <p:sp>
        <p:nvSpPr>
          <p:cNvPr id="3" name="Espace réservé du contenu 2"/>
          <p:cNvSpPr>
            <a:spLocks noGrp="1"/>
          </p:cNvSpPr>
          <p:nvPr>
            <p:ph sz="quarter" idx="1"/>
          </p:nvPr>
        </p:nvSpPr>
        <p:spPr>
          <a:xfrm>
            <a:off x="171456" y="1346933"/>
            <a:ext cx="8805672" cy="3765394"/>
          </a:xfrm>
        </p:spPr>
        <p:txBody>
          <a:bodyPr>
            <a:normAutofit lnSpcReduction="10000"/>
          </a:bodyPr>
          <a:lstStyle/>
          <a:p>
            <a:pPr>
              <a:buNone/>
            </a:pPr>
            <a:r>
              <a:rPr lang="fr-FR" sz="2600" dirty="0"/>
              <a:t>	6. </a:t>
            </a:r>
            <a:r>
              <a:rPr lang="fr-FR" sz="2400" dirty="0"/>
              <a:t>Un de vos représentants itinérants dispose d'un ordinateur portable exécutant Windows 7 Professionnel comme membre d'un domaine Active Directory. </a:t>
            </a:r>
          </a:p>
          <a:p>
            <a:pPr>
              <a:buNone/>
            </a:pPr>
            <a:r>
              <a:rPr lang="fr-FR" sz="2400" dirty="0"/>
              <a:t>	Le représentant conserve les données confidentielles sur l'ordinateur portable. Pour des besoins de sécurité, ces fichiers sont conservés cryptés. Le représentant se trouve dans l'impossibilité d'assister à une conférence et prévoie d'y envoyer un assistant. L'assistant doit disposer d'un accès temporaire à certains des fichiers cryptés. Comment allez-vous fournir un accès temporaire à cet assistant ?</a:t>
            </a:r>
            <a:endParaRPr lang="fr-FR" sz="2600" dirty="0"/>
          </a:p>
        </p:txBody>
      </p:sp>
      <p:sp>
        <p:nvSpPr>
          <p:cNvPr id="4" name="Rectangle 3"/>
          <p:cNvSpPr/>
          <p:nvPr/>
        </p:nvSpPr>
        <p:spPr>
          <a:xfrm>
            <a:off x="263229" y="5132456"/>
            <a:ext cx="8631381" cy="1200329"/>
          </a:xfrm>
          <a:prstGeom prst="rect">
            <a:avLst/>
          </a:prstGeom>
          <a:solidFill>
            <a:srgbClr val="9999FF"/>
          </a:solidFill>
        </p:spPr>
        <p:style>
          <a:lnRef idx="2">
            <a:schemeClr val="accent3"/>
          </a:lnRef>
          <a:fillRef idx="1">
            <a:schemeClr val="lt1"/>
          </a:fillRef>
          <a:effectRef idx="0">
            <a:schemeClr val="accent3"/>
          </a:effectRef>
          <a:fontRef idx="minor">
            <a:schemeClr val="dk1"/>
          </a:fontRef>
        </p:style>
        <p:txBody>
          <a:bodyPr wrap="square">
            <a:spAutoFit/>
          </a:bodyPr>
          <a:lstStyle/>
          <a:p>
            <a:r>
              <a:rPr lang="fr-FR" sz="2400" b="1" dirty="0"/>
              <a:t>Demandez au représentant d'ajouter l'assistant comme utilisateur autorisé à accéder à ces fichiers cryptés.</a:t>
            </a:r>
            <a:endParaRPr lang="fr-F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8188</TotalTime>
  <Words>2453</Words>
  <Application>Microsoft Office PowerPoint</Application>
  <PresentationFormat>Affichage à l'écran (4:3)</PresentationFormat>
  <Paragraphs>228</Paragraphs>
  <Slides>27</Slides>
  <Notes>13</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27</vt:i4>
      </vt:variant>
    </vt:vector>
  </HeadingPairs>
  <TitlesOfParts>
    <vt:vector size="36" baseType="lpstr">
      <vt:lpstr>Arial Narrow</vt:lpstr>
      <vt:lpstr>Wingdings</vt:lpstr>
      <vt:lpstr>Wingdings 2</vt:lpstr>
      <vt:lpstr>Times New Roman</vt:lpstr>
      <vt:lpstr>Symbol</vt:lpstr>
      <vt:lpstr>Georgia</vt:lpstr>
      <vt:lpstr>Arial</vt:lpstr>
      <vt:lpstr>Segoe Semibold</vt:lpstr>
      <vt:lpstr>Civil</vt:lpstr>
      <vt:lpstr>Chapitre 5   Configuration et gestion des systèmes de fichiers</vt:lpstr>
      <vt:lpstr>Plan du cours</vt:lpstr>
      <vt:lpstr>1. Utilisation des systèmes de fichiers</vt:lpstr>
      <vt:lpstr>Utilisation des systèmes de fichiers FAT ou FAT32</vt:lpstr>
      <vt:lpstr>Utilisation des systèmes de fichiers FAT ou FAT32</vt:lpstr>
      <vt:lpstr>Utilisation du système de fichiers NTFS</vt:lpstr>
      <vt:lpstr>Choix d'un système de fichiers</vt:lpstr>
      <vt:lpstr>Conversion des systèmes de fichiers</vt:lpstr>
      <vt:lpstr>2. Gestion de la compression des données</vt:lpstr>
      <vt:lpstr>Qu'est-ce que la compression NTFS ?</vt:lpstr>
      <vt:lpstr>Qu'est-ce que la compression NTFS ?</vt:lpstr>
      <vt:lpstr>Compression des fichiers et des dossiers</vt:lpstr>
      <vt:lpstr>Copie et déplacement des fichiers et des dossiers compressés</vt:lpstr>
      <vt:lpstr>Conseils pratiques en matière de gestion de  la compression des données</vt:lpstr>
      <vt:lpstr>3. Sécurisation de données à l'aide du  système EFS</vt:lpstr>
      <vt:lpstr>Présentation du système EFS</vt:lpstr>
      <vt:lpstr>Cryptage d'un dossier ou d'un fichier </vt:lpstr>
      <vt:lpstr>Ajout d'utilisateurs autorisés</vt:lpstr>
      <vt:lpstr>Décryptage d'un dossier ou d'un fichier</vt:lpstr>
      <vt:lpstr>Récupération d'un dossier ou d'un fichier crypté</vt:lpstr>
      <vt:lpstr>Conseils pratiques en matière d'implémentation du système EFS</vt:lpstr>
      <vt:lpstr>Exercices</vt:lpstr>
      <vt:lpstr>Exercices</vt:lpstr>
      <vt:lpstr>Exercices</vt:lpstr>
      <vt:lpstr>Exercices</vt:lpstr>
      <vt:lpstr>Exercices</vt:lpstr>
      <vt:lpstr>Exercices</vt:lpstr>
    </vt:vector>
  </TitlesOfParts>
  <Company>Daves+Associates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13: Configuring and Managing File Systems</dc:title>
  <dc:creator>Nancy Daves</dc:creator>
  <cp:lastModifiedBy>HALIMA.HOUSNY</cp:lastModifiedBy>
  <cp:revision>154</cp:revision>
  <dcterms:created xsi:type="dcterms:W3CDTF">2001-04-11T00:07:16Z</dcterms:created>
  <dcterms:modified xsi:type="dcterms:W3CDTF">2024-12-01T19:27:05Z</dcterms:modified>
</cp:coreProperties>
</file>