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1" r:id="rId1"/>
  </p:sldMasterIdLst>
  <p:notesMasterIdLst>
    <p:notesMasterId r:id="rId38"/>
  </p:notesMasterIdLst>
  <p:handoutMasterIdLst>
    <p:handoutMasterId r:id="rId39"/>
  </p:handoutMasterIdLst>
  <p:sldIdLst>
    <p:sldId id="543" r:id="rId2"/>
    <p:sldId id="544" r:id="rId3"/>
    <p:sldId id="575" r:id="rId4"/>
    <p:sldId id="576" r:id="rId5"/>
    <p:sldId id="594" r:id="rId6"/>
    <p:sldId id="577" r:id="rId7"/>
    <p:sldId id="595" r:id="rId8"/>
    <p:sldId id="578" r:id="rId9"/>
    <p:sldId id="593" r:id="rId10"/>
    <p:sldId id="592" r:id="rId11"/>
    <p:sldId id="585" r:id="rId12"/>
    <p:sldId id="588" r:id="rId13"/>
    <p:sldId id="589" r:id="rId14"/>
    <p:sldId id="590" r:id="rId15"/>
    <p:sldId id="591" r:id="rId16"/>
    <p:sldId id="550" r:id="rId17"/>
    <p:sldId id="551" r:id="rId18"/>
    <p:sldId id="552" r:id="rId19"/>
    <p:sldId id="553" r:id="rId20"/>
    <p:sldId id="581" r:id="rId21"/>
    <p:sldId id="558" r:id="rId22"/>
    <p:sldId id="559" r:id="rId23"/>
    <p:sldId id="560" r:id="rId24"/>
    <p:sldId id="584" r:id="rId25"/>
    <p:sldId id="561" r:id="rId26"/>
    <p:sldId id="562" r:id="rId27"/>
    <p:sldId id="563" r:id="rId28"/>
    <p:sldId id="565" r:id="rId29"/>
    <p:sldId id="582" r:id="rId30"/>
    <p:sldId id="583" r:id="rId31"/>
    <p:sldId id="567" r:id="rId32"/>
    <p:sldId id="573" r:id="rId33"/>
    <p:sldId id="574" r:id="rId34"/>
    <p:sldId id="570" r:id="rId35"/>
    <p:sldId id="571" r:id="rId36"/>
    <p:sldId id="572" r:id="rId37"/>
  </p:sldIdLst>
  <p:sldSz cx="9144000" cy="6858000" type="screen4x3"/>
  <p:notesSz cx="6858000" cy="9144000"/>
  <p:embeddedFontLst>
    <p:embeddedFont>
      <p:font typeface="Arial Narrow" panose="020B0606020202030204" pitchFamily="34" charset="0"/>
      <p:regular r:id="rId40"/>
      <p:bold r:id="rId41"/>
      <p:italic r:id="rId42"/>
      <p:boldItalic r:id="rId43"/>
    </p:embeddedFont>
    <p:embeddedFont>
      <p:font typeface="Georgia" panose="02040502050405020303" pitchFamily="18" charset="0"/>
      <p:regular r:id="rId44"/>
      <p:bold r:id="rId45"/>
      <p:italic r:id="rId46"/>
      <p:boldItalic r:id="rId47"/>
    </p:embeddedFont>
    <p:embeddedFont>
      <p:font typeface="Wingdings 2" panose="05020102010507070707" pitchFamily="18" charset="2"/>
      <p:regular r:id="rId48"/>
    </p:embeddedFont>
  </p:embeddedFontLst>
  <p:defaultTextStyle>
    <a:defPPr>
      <a:defRPr lang="en-US"/>
    </a:defPPr>
    <a:lvl1pPr algn="ctr" rtl="0" eaLnBrk="0" fontAlgn="base" hangingPunct="0">
      <a:spcBef>
        <a:spcPct val="0"/>
      </a:spcBef>
      <a:spcAft>
        <a:spcPct val="0"/>
      </a:spcAft>
      <a:defRPr b="1" kern="1200">
        <a:solidFill>
          <a:srgbClr val="FFFFFF"/>
        </a:solidFill>
        <a:effectLst>
          <a:outerShdw blurRad="38100" dist="38100" dir="2700000" algn="tl">
            <a:srgbClr val="000000">
              <a:alpha val="43137"/>
            </a:srgbClr>
          </a:outerShdw>
        </a:effectLst>
        <a:latin typeface="Arial" charset="0"/>
        <a:ea typeface="+mn-ea"/>
        <a:cs typeface="+mn-cs"/>
      </a:defRPr>
    </a:lvl1pPr>
    <a:lvl2pPr marL="457200" algn="ctr" rtl="0" eaLnBrk="0" fontAlgn="base" hangingPunct="0">
      <a:spcBef>
        <a:spcPct val="0"/>
      </a:spcBef>
      <a:spcAft>
        <a:spcPct val="0"/>
      </a:spcAft>
      <a:defRPr b="1" kern="1200">
        <a:solidFill>
          <a:srgbClr val="FFFFFF"/>
        </a:solidFill>
        <a:effectLst>
          <a:outerShdw blurRad="38100" dist="38100" dir="2700000" algn="tl">
            <a:srgbClr val="000000">
              <a:alpha val="43137"/>
            </a:srgbClr>
          </a:outerShdw>
        </a:effectLst>
        <a:latin typeface="Arial" charset="0"/>
        <a:ea typeface="+mn-ea"/>
        <a:cs typeface="+mn-cs"/>
      </a:defRPr>
    </a:lvl2pPr>
    <a:lvl3pPr marL="914400" algn="ctr" rtl="0" eaLnBrk="0" fontAlgn="base" hangingPunct="0">
      <a:spcBef>
        <a:spcPct val="0"/>
      </a:spcBef>
      <a:spcAft>
        <a:spcPct val="0"/>
      </a:spcAft>
      <a:defRPr b="1" kern="1200">
        <a:solidFill>
          <a:srgbClr val="FFFFFF"/>
        </a:solidFill>
        <a:effectLst>
          <a:outerShdw blurRad="38100" dist="38100" dir="2700000" algn="tl">
            <a:srgbClr val="000000">
              <a:alpha val="43137"/>
            </a:srgbClr>
          </a:outerShdw>
        </a:effectLst>
        <a:latin typeface="Arial" charset="0"/>
        <a:ea typeface="+mn-ea"/>
        <a:cs typeface="+mn-cs"/>
      </a:defRPr>
    </a:lvl3pPr>
    <a:lvl4pPr marL="1371600" algn="ctr" rtl="0" eaLnBrk="0" fontAlgn="base" hangingPunct="0">
      <a:spcBef>
        <a:spcPct val="0"/>
      </a:spcBef>
      <a:spcAft>
        <a:spcPct val="0"/>
      </a:spcAft>
      <a:defRPr b="1" kern="1200">
        <a:solidFill>
          <a:srgbClr val="FFFFFF"/>
        </a:solidFill>
        <a:effectLst>
          <a:outerShdw blurRad="38100" dist="38100" dir="2700000" algn="tl">
            <a:srgbClr val="000000">
              <a:alpha val="43137"/>
            </a:srgbClr>
          </a:outerShdw>
        </a:effectLst>
        <a:latin typeface="Arial" charset="0"/>
        <a:ea typeface="+mn-ea"/>
        <a:cs typeface="+mn-cs"/>
      </a:defRPr>
    </a:lvl4pPr>
    <a:lvl5pPr marL="1828800" algn="ctr" rtl="0" eaLnBrk="0" fontAlgn="base" hangingPunct="0">
      <a:spcBef>
        <a:spcPct val="0"/>
      </a:spcBef>
      <a:spcAft>
        <a:spcPct val="0"/>
      </a:spcAft>
      <a:defRPr b="1" kern="1200">
        <a:solidFill>
          <a:srgbClr val="FFFFFF"/>
        </a:solidFill>
        <a:effectLst>
          <a:outerShdw blurRad="38100" dist="38100" dir="2700000" algn="tl">
            <a:srgbClr val="000000">
              <a:alpha val="43137"/>
            </a:srgbClr>
          </a:outerShdw>
        </a:effectLst>
        <a:latin typeface="Arial" charset="0"/>
        <a:ea typeface="+mn-ea"/>
        <a:cs typeface="+mn-cs"/>
      </a:defRPr>
    </a:lvl5pPr>
    <a:lvl6pPr marL="2286000" algn="l" defTabSz="914400" rtl="0" eaLnBrk="1" latinLnBrk="0" hangingPunct="1">
      <a:defRPr b="1" kern="1200">
        <a:solidFill>
          <a:srgbClr val="FFFFFF"/>
        </a:solidFill>
        <a:effectLst>
          <a:outerShdw blurRad="38100" dist="38100" dir="2700000" algn="tl">
            <a:srgbClr val="000000">
              <a:alpha val="43137"/>
            </a:srgbClr>
          </a:outerShdw>
        </a:effectLst>
        <a:latin typeface="Arial" charset="0"/>
        <a:ea typeface="+mn-ea"/>
        <a:cs typeface="+mn-cs"/>
      </a:defRPr>
    </a:lvl6pPr>
    <a:lvl7pPr marL="2743200" algn="l" defTabSz="914400" rtl="0" eaLnBrk="1" latinLnBrk="0" hangingPunct="1">
      <a:defRPr b="1" kern="1200">
        <a:solidFill>
          <a:srgbClr val="FFFFFF"/>
        </a:solidFill>
        <a:effectLst>
          <a:outerShdw blurRad="38100" dist="38100" dir="2700000" algn="tl">
            <a:srgbClr val="000000">
              <a:alpha val="43137"/>
            </a:srgbClr>
          </a:outerShdw>
        </a:effectLst>
        <a:latin typeface="Arial" charset="0"/>
        <a:ea typeface="+mn-ea"/>
        <a:cs typeface="+mn-cs"/>
      </a:defRPr>
    </a:lvl7pPr>
    <a:lvl8pPr marL="3200400" algn="l" defTabSz="914400" rtl="0" eaLnBrk="1" latinLnBrk="0" hangingPunct="1">
      <a:defRPr b="1" kern="1200">
        <a:solidFill>
          <a:srgbClr val="FFFFFF"/>
        </a:solidFill>
        <a:effectLst>
          <a:outerShdw blurRad="38100" dist="38100" dir="2700000" algn="tl">
            <a:srgbClr val="000000">
              <a:alpha val="43137"/>
            </a:srgbClr>
          </a:outerShdw>
        </a:effectLst>
        <a:latin typeface="Arial" charset="0"/>
        <a:ea typeface="+mn-ea"/>
        <a:cs typeface="+mn-cs"/>
      </a:defRPr>
    </a:lvl8pPr>
    <a:lvl9pPr marL="3657600" algn="l" defTabSz="914400" rtl="0" eaLnBrk="1" latinLnBrk="0" hangingPunct="1">
      <a:defRPr b="1" kern="1200">
        <a:solidFill>
          <a:srgbClr val="FFFFFF"/>
        </a:solidFill>
        <a:effectLst>
          <a:outerShdw blurRad="38100" dist="38100" dir="2700000" algn="tl">
            <a:srgbClr val="000000">
              <a:alpha val="43137"/>
            </a:srgbClr>
          </a:outerShdw>
        </a:effectLst>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0033CC"/>
    <a:srgbClr val="99CCFF"/>
    <a:srgbClr val="FFFFBF"/>
    <a:srgbClr val="FFFFCC"/>
    <a:srgbClr val="969696"/>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aximized">
    <p:restoredLeft sz="15620" autoAdjust="0"/>
    <p:restoredTop sz="94660" autoAdjust="0"/>
  </p:normalViewPr>
  <p:slideViewPr>
    <p:cSldViewPr snapToGrid="0">
      <p:cViewPr varScale="1">
        <p:scale>
          <a:sx n="47" d="100"/>
          <a:sy n="47" d="100"/>
        </p:scale>
        <p:origin x="1570" y="51"/>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75" d="100"/>
        <a:sy n="75" d="100"/>
      </p:scale>
      <p:origin x="0" y="0"/>
    </p:cViewPr>
  </p:sorterViewPr>
  <p:notesViewPr>
    <p:cSldViewPr snapToGrid="0">
      <p:cViewPr varScale="1">
        <p:scale>
          <a:sx n="57" d="100"/>
          <a:sy n="57" d="100"/>
        </p:scale>
        <p:origin x="-1704"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slide" Target="slides/slide16.xml"/><Relationship Id="rId1" Type="http://schemas.openxmlformats.org/officeDocument/2006/relationships/slide" Target="slides/slide2.xml"/><Relationship Id="rId4"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2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solidFill>
                  <a:schemeClr val="tx1"/>
                </a:solidFill>
                <a:effectLst/>
                <a:latin typeface="Arial Narrow" pitchFamily="34" charset="0"/>
              </a:defRPr>
            </a:lvl1pPr>
          </a:lstStyle>
          <a:p>
            <a:endParaRPr lang="en-US"/>
          </a:p>
        </p:txBody>
      </p:sp>
      <p:sp>
        <p:nvSpPr>
          <p:cNvPr id="22528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chemeClr val="tx1"/>
                </a:solidFill>
                <a:effectLst/>
                <a:latin typeface="Arial Narrow" pitchFamily="34" charset="0"/>
              </a:defRPr>
            </a:lvl1pPr>
          </a:lstStyle>
          <a:p>
            <a:endParaRPr lang="en-US"/>
          </a:p>
        </p:txBody>
      </p:sp>
      <p:sp>
        <p:nvSpPr>
          <p:cNvPr id="22528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solidFill>
                  <a:schemeClr val="tx1"/>
                </a:solidFill>
                <a:effectLst/>
                <a:latin typeface="Arial Narrow" pitchFamily="34" charset="0"/>
              </a:defRPr>
            </a:lvl1pPr>
          </a:lstStyle>
          <a:p>
            <a:endParaRPr lang="en-US"/>
          </a:p>
        </p:txBody>
      </p:sp>
      <p:sp>
        <p:nvSpPr>
          <p:cNvPr id="22528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solidFill>
                  <a:schemeClr val="tx1"/>
                </a:solidFill>
                <a:effectLst/>
                <a:latin typeface="Arial Narrow" pitchFamily="34" charset="0"/>
              </a:defRPr>
            </a:lvl1pPr>
          </a:lstStyle>
          <a:p>
            <a:fld id="{312F18E5-4B2A-45B1-91AA-411642920DF0}" type="slidenum">
              <a:rPr lang="en-US"/>
              <a:pPr/>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solidFill>
                  <a:schemeClr val="tx1"/>
                </a:solidFill>
                <a:effectLst/>
                <a:latin typeface="Arial Narrow" pitchFamily="34" charset="0"/>
              </a:defRPr>
            </a:lvl1pPr>
          </a:lstStyle>
          <a:p>
            <a:endParaRPr lang="en-US"/>
          </a:p>
        </p:txBody>
      </p:sp>
      <p:sp>
        <p:nvSpPr>
          <p:cNvPr id="2048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chemeClr val="tx1"/>
                </a:solidFill>
                <a:effectLst/>
                <a:latin typeface="Arial Narrow" pitchFamily="34" charset="0"/>
              </a:defRPr>
            </a:lvl1pPr>
          </a:lstStyle>
          <a:p>
            <a:endParaRPr lang="en-US"/>
          </a:p>
        </p:txBody>
      </p:sp>
      <p:sp>
        <p:nvSpPr>
          <p:cNvPr id="204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048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48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solidFill>
                  <a:schemeClr val="tx1"/>
                </a:solidFill>
                <a:effectLst/>
                <a:latin typeface="Arial Narrow" pitchFamily="34" charset="0"/>
              </a:defRPr>
            </a:lvl1pPr>
          </a:lstStyle>
          <a:p>
            <a:endParaRPr lang="en-US"/>
          </a:p>
        </p:txBody>
      </p:sp>
      <p:sp>
        <p:nvSpPr>
          <p:cNvPr id="2048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solidFill>
                  <a:schemeClr val="tx1"/>
                </a:solidFill>
                <a:effectLst/>
                <a:latin typeface="Arial Narrow" pitchFamily="34" charset="0"/>
              </a:defRPr>
            </a:lvl1pPr>
          </a:lstStyle>
          <a:p>
            <a:fld id="{7F5F6C06-22E2-42FE-8686-4C983C34DA0E}"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C43668-75AB-40B9-BEA1-47B95E4C7A68}" type="slidenum">
              <a:rPr lang="en-US"/>
              <a:pPr/>
              <a:t>1</a:t>
            </a:fld>
            <a:endParaRPr lang="en-US"/>
          </a:p>
        </p:txBody>
      </p:sp>
      <p:sp>
        <p:nvSpPr>
          <p:cNvPr id="402434" name="Rectangle 2"/>
          <p:cNvSpPr>
            <a:spLocks noGrp="1" noRot="1" noChangeAspect="1" noChangeArrowheads="1" noTextEdit="1"/>
          </p:cNvSpPr>
          <p:nvPr>
            <p:ph type="sldImg"/>
          </p:nvPr>
        </p:nvSpPr>
        <p:spPr>
          <a:ln/>
        </p:spPr>
      </p:sp>
      <p:sp>
        <p:nvSpPr>
          <p:cNvPr id="40243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B85507-D959-4265-9D17-1315408DFAEB}" type="slidenum">
              <a:rPr lang="en-US"/>
              <a:pPr/>
              <a:t>2</a:t>
            </a:fld>
            <a:endParaRPr lang="en-US"/>
          </a:p>
        </p:txBody>
      </p:sp>
      <p:sp>
        <p:nvSpPr>
          <p:cNvPr id="403458" name="Rectangle 2"/>
          <p:cNvSpPr>
            <a:spLocks noGrp="1" noRot="1" noChangeAspect="1" noChangeArrowheads="1" noTextEdit="1"/>
          </p:cNvSpPr>
          <p:nvPr>
            <p:ph type="sldImg"/>
          </p:nvPr>
        </p:nvSpPr>
        <p:spPr>
          <a:ln/>
        </p:spPr>
      </p:sp>
      <p:sp>
        <p:nvSpPr>
          <p:cNvPr id="40345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3555" name="Rectangle 3"/>
          <p:cNvSpPr>
            <a:spLocks noGrp="1" noChangeArrowheads="1"/>
          </p:cNvSpPr>
          <p:nvPr>
            <p:ph type="dt" sz="quarter" idx="1"/>
          </p:nvPr>
        </p:nvSpPr>
        <p:spPr/>
        <p:txBody>
          <a:bodyPr/>
          <a:lstStyle/>
          <a:p>
            <a:pPr>
              <a:defRPr/>
            </a:pPr>
            <a:r>
              <a:rPr lang="en-US"/>
              <a:t>Course 6292A</a:t>
            </a:r>
          </a:p>
        </p:txBody>
      </p:sp>
      <p:sp>
        <p:nvSpPr>
          <p:cNvPr id="23556" name="Rectangle 7"/>
          <p:cNvSpPr>
            <a:spLocks noGrp="1" noChangeArrowheads="1"/>
          </p:cNvSpPr>
          <p:nvPr>
            <p:ph type="sldNum" sz="quarter" idx="5"/>
          </p:nvPr>
        </p:nvSpPr>
        <p:spPr/>
        <p:txBody>
          <a:bodyPr/>
          <a:lstStyle/>
          <a:p>
            <a:pPr>
              <a:defRPr/>
            </a:pPr>
            <a:fld id="{C9CB6060-FF45-4162-8074-46F6BB9542A6}" type="slidenum">
              <a:rPr lang="en-US" smtClean="0"/>
              <a:pPr>
                <a:defRPr/>
              </a:pPr>
              <a:t>3</a:t>
            </a:fld>
            <a:endParaRPr lang="en-US" dirty="0"/>
          </a:p>
        </p:txBody>
      </p:sp>
      <p:sp>
        <p:nvSpPr>
          <p:cNvPr id="49157" name="Rectangle 2"/>
          <p:cNvSpPr>
            <a:spLocks noGrp="1" noRot="1" noChangeAspect="1" noChangeArrowheads="1" noTextEdit="1"/>
          </p:cNvSpPr>
          <p:nvPr>
            <p:ph type="sldImg"/>
          </p:nvPr>
        </p:nvSpPr>
        <p:spPr>
          <a:ln/>
        </p:spPr>
      </p:sp>
      <p:sp>
        <p:nvSpPr>
          <p:cNvPr id="49158" name="Rectangle 3"/>
          <p:cNvSpPr>
            <a:spLocks noGrp="1" noChangeArrowheads="1"/>
          </p:cNvSpPr>
          <p:nvPr>
            <p:ph type="body" idx="1"/>
          </p:nvPr>
        </p:nvSpPr>
        <p:spPr>
          <a:xfrm>
            <a:off x="308075" y="2219476"/>
            <a:ext cx="6149578" cy="6659941"/>
          </a:xfrm>
          <a:noFill/>
          <a:ln/>
        </p:spPr>
        <p:txBody>
          <a:bodyPr/>
          <a:lstStyle/>
          <a:p>
            <a:r>
              <a:rPr lang="en-US" b="1">
                <a:latin typeface="Arial" pitchFamily="34" charset="0"/>
              </a:rPr>
              <a:t>Key message: </a:t>
            </a:r>
            <a:r>
              <a:rPr lang="en-US">
                <a:latin typeface="Arial" pitchFamily="34" charset="0"/>
              </a:rPr>
              <a:t>This lesson focuses on the two different types of partitions that can be selected when you are adding a new disk and the tools used to manage them.</a:t>
            </a:r>
            <a:br>
              <a:rPr lang="en-US">
                <a:latin typeface="Arial" pitchFamily="34" charset="0"/>
              </a:rPr>
            </a:br>
            <a:endParaRPr lang="en-US">
              <a:latin typeface="Arial" pitchFamily="34" charset="0"/>
            </a:endParaRPr>
          </a:p>
          <a:p>
            <a:r>
              <a:rPr lang="en-US">
                <a:latin typeface="Arial" pitchFamily="34" charset="0"/>
              </a:rPr>
              <a:t>After completing this lesson, students will be able to:</a:t>
            </a:r>
          </a:p>
          <a:p>
            <a:pPr lvl="1">
              <a:buClrTx/>
            </a:pPr>
            <a:r>
              <a:rPr lang="en-US">
                <a:latin typeface="Arial" pitchFamily="34" charset="0"/>
              </a:rPr>
              <a:t>Describe MBR-based partitions</a:t>
            </a:r>
          </a:p>
          <a:p>
            <a:pPr lvl="1">
              <a:buClrTx/>
            </a:pPr>
            <a:r>
              <a:rPr lang="en-US">
                <a:latin typeface="Arial" pitchFamily="34" charset="0"/>
              </a:rPr>
              <a:t>Describe GPT-based partitions</a:t>
            </a:r>
          </a:p>
          <a:p>
            <a:pPr lvl="1">
              <a:buClrTx/>
            </a:pPr>
            <a:r>
              <a:rPr lang="en-US">
                <a:latin typeface="Arial" pitchFamily="34" charset="0"/>
              </a:rPr>
              <a:t>Describe the disk management tools in Windows 7</a:t>
            </a:r>
          </a:p>
          <a:p>
            <a:pPr lvl="1">
              <a:buClrTx/>
            </a:pPr>
            <a:r>
              <a:rPr lang="en-US">
                <a:latin typeface="Arial" pitchFamily="34" charset="0"/>
              </a:rPr>
              <a:t>Convert an MBR partition to a GPT partition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11936C65-8D2D-473A-BB25-8AAEDB8A8E2B}" type="slidenum">
              <a:rPr lang="en-US" smtClean="0"/>
              <a:pPr>
                <a:defRPr/>
              </a:pPr>
              <a:t>4</a:t>
            </a:fld>
            <a:endParaRPr lang="en-US" dirty="0"/>
          </a:p>
        </p:txBody>
      </p:sp>
      <p:sp>
        <p:nvSpPr>
          <p:cNvPr id="50181" name="Rectangle 2"/>
          <p:cNvSpPr>
            <a:spLocks noGrp="1" noRot="1" noChangeAspect="1" noChangeArrowheads="1" noTextEdit="1"/>
          </p:cNvSpPr>
          <p:nvPr>
            <p:ph type="sldImg"/>
          </p:nvPr>
        </p:nvSpPr>
        <p:spPr>
          <a:ln/>
        </p:spPr>
      </p:sp>
      <p:sp>
        <p:nvSpPr>
          <p:cNvPr id="50182" name="Rectangle 3"/>
          <p:cNvSpPr>
            <a:spLocks noGrp="1" noChangeArrowheads="1"/>
          </p:cNvSpPr>
          <p:nvPr>
            <p:ph type="body" idx="1"/>
          </p:nvPr>
        </p:nvSpPr>
        <p:spPr>
          <a:xfrm>
            <a:off x="308075" y="2148417"/>
            <a:ext cx="6149578" cy="6731000"/>
          </a:xfrm>
          <a:noFill/>
          <a:ln/>
        </p:spPr>
        <p:txBody>
          <a:bodyPr/>
          <a:lstStyle/>
          <a:p>
            <a:pPr eaLnBrk="1" hangingPunct="1"/>
            <a:r>
              <a:rPr lang="en-US" b="1">
                <a:latin typeface="Arial" pitchFamily="34" charset="0"/>
              </a:rPr>
              <a:t>Key message: </a:t>
            </a:r>
            <a:r>
              <a:rPr lang="en-US">
                <a:latin typeface="Arial" pitchFamily="34" charset="0"/>
              </a:rPr>
              <a:t>Disk partitioning is the process of dividing a physical disk’s storage into manageable pieces to support the requirements of a computer operating system. The MBR is stored at a consistent location on a physical disk, enabling the computer BIOS to reference it. During the startup process, the computer examines the MBR to determine which partition on the installed disks is marked as active. The active partition contains the operating system startup files. </a:t>
            </a:r>
            <a:br>
              <a:rPr lang="en-US">
                <a:latin typeface="Arial" pitchFamily="34" charset="0"/>
              </a:rPr>
            </a:br>
            <a:endParaRPr lang="en-US">
              <a:latin typeface="Arial" pitchFamily="34" charset="0"/>
            </a:endParaRPr>
          </a:p>
          <a:p>
            <a:pPr eaLnBrk="1" hangingPunct="1"/>
            <a:r>
              <a:rPr lang="en-US" b="1">
                <a:latin typeface="Arial" pitchFamily="34" charset="0"/>
              </a:rPr>
              <a:t>Discussion prompt: </a:t>
            </a:r>
            <a:r>
              <a:rPr lang="en-US">
                <a:latin typeface="Arial" pitchFamily="34" charset="0"/>
              </a:rPr>
              <a:t>Ask students if they are familiar with MBR and GPT.</a:t>
            </a:r>
          </a:p>
          <a:p>
            <a:r>
              <a:rPr lang="en-US">
                <a:latin typeface="Arial" pitchFamily="34" charset="0"/>
              </a:rPr>
              <a:t>Explain the characteristics and limitations presented on the slide.  </a:t>
            </a:r>
            <a:br>
              <a:rPr lang="en-US">
                <a:latin typeface="Arial" pitchFamily="34" charset="0"/>
              </a:rPr>
            </a:br>
            <a:endParaRPr lang="en-US">
              <a:latin typeface="Arial" pitchFamily="34" charset="0"/>
            </a:endParaRPr>
          </a:p>
          <a:p>
            <a:pPr eaLnBrk="1" hangingPunct="1"/>
            <a:r>
              <a:rPr lang="en-US" b="1">
                <a:latin typeface="Arial" pitchFamily="34" charset="0"/>
              </a:rPr>
              <a:t>Whiteboard:</a:t>
            </a:r>
            <a:r>
              <a:rPr lang="en-US" i="1">
                <a:latin typeface="Arial" pitchFamily="34" charset="0"/>
              </a:rPr>
              <a:t> </a:t>
            </a:r>
            <a:r>
              <a:rPr lang="en-US">
                <a:latin typeface="Arial" pitchFamily="34" charset="0"/>
              </a:rPr>
              <a:t>As you explain the characteristics and limitations of MBR, on the whiteboard, start a table to contrast MBR and GPT partition styles. For MBR, add these items:</a:t>
            </a:r>
          </a:p>
          <a:p>
            <a:pPr lvl="1">
              <a:buClrTx/>
            </a:pPr>
            <a:r>
              <a:rPr lang="en-US">
                <a:latin typeface="Arial" pitchFamily="34" charset="0"/>
              </a:rPr>
              <a:t>Partition style has been around for a long time</a:t>
            </a:r>
          </a:p>
          <a:p>
            <a:pPr lvl="1">
              <a:buClrTx/>
            </a:pPr>
            <a:r>
              <a:rPr lang="en-US">
                <a:latin typeface="Arial" pitchFamily="34" charset="0"/>
              </a:rPr>
              <a:t>Four partitions for each disk</a:t>
            </a:r>
          </a:p>
          <a:p>
            <a:pPr lvl="1">
              <a:buClrTx/>
            </a:pPr>
            <a:r>
              <a:rPr lang="en-US">
                <a:latin typeface="Arial" pitchFamily="34" charset="0"/>
              </a:rPr>
              <a:t>2 TB maximum partition size</a:t>
            </a:r>
          </a:p>
          <a:p>
            <a:pPr lvl="1">
              <a:buClrTx/>
            </a:pPr>
            <a:r>
              <a:rPr lang="en-US">
                <a:latin typeface="Arial" pitchFamily="34" charset="0"/>
              </a:rPr>
              <a:t>No redundancy provided</a:t>
            </a:r>
            <a:br>
              <a:rPr lang="en-US">
                <a:latin typeface="Arial" pitchFamily="34" charset="0"/>
              </a:rPr>
            </a:br>
            <a:endParaRPr lang="en-US">
              <a:latin typeface="Arial" pitchFamily="34" charset="0"/>
            </a:endParaRPr>
          </a:p>
          <a:p>
            <a:r>
              <a:rPr lang="en-US" b="1">
                <a:latin typeface="Arial" pitchFamily="34" charset="0"/>
              </a:rPr>
              <a:t>Question: </a:t>
            </a:r>
            <a:r>
              <a:rPr lang="en-US">
                <a:latin typeface="Arial" pitchFamily="34" charset="0"/>
              </a:rPr>
              <a:t>What are three restrictions of an MBR partitioned disk? Have you encountered these limitations in your organization, and if so, what did you do to work around them?</a:t>
            </a:r>
          </a:p>
          <a:p>
            <a:r>
              <a:rPr lang="en-US" b="1">
                <a:latin typeface="Arial" pitchFamily="34" charset="0"/>
              </a:rPr>
              <a:t>Answer: </a:t>
            </a:r>
            <a:r>
              <a:rPr lang="en-US">
                <a:latin typeface="Arial" pitchFamily="34" charset="0"/>
              </a:rPr>
              <a:t>The restrictions are that MBR partitioned disks are limited to four partitions, a 2 TB maximum partition size, and there is no data redundancy provided.</a:t>
            </a:r>
          </a:p>
          <a:p>
            <a:pPr lvl="1">
              <a:buFontTx/>
              <a:buNone/>
            </a:pPr>
            <a:endParaRPr lang="en-US">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983D1-3130-E174-D56E-1BF2140C4847}"/>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2DACF1FE-8B50-837A-2E99-CA1A49EF64F5}"/>
              </a:ext>
            </a:extLst>
          </p:cNvPr>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a:extLst>
              <a:ext uri="{FF2B5EF4-FFF2-40B4-BE49-F238E27FC236}">
                <a16:creationId xmlns:a16="http://schemas.microsoft.com/office/drawing/2014/main" id="{E1AD6BFF-0CF7-26C8-F116-F4C813061730}"/>
              </a:ext>
            </a:extLst>
          </p:cNvPr>
          <p:cNvSpPr>
            <a:spLocks noGrp="1" noChangeArrowheads="1"/>
          </p:cNvSpPr>
          <p:nvPr>
            <p:ph type="dt" sz="quarter" idx="1"/>
          </p:nvPr>
        </p:nvSpPr>
        <p:spPr/>
        <p:txBody>
          <a:bodyPr/>
          <a:lstStyle/>
          <a:p>
            <a:pPr>
              <a:defRPr/>
            </a:pPr>
            <a:r>
              <a:rPr lang="en-US"/>
              <a:t>Course 6292A</a:t>
            </a:r>
          </a:p>
        </p:txBody>
      </p:sp>
      <p:sp>
        <p:nvSpPr>
          <p:cNvPr id="24580" name="Rectangle 7">
            <a:extLst>
              <a:ext uri="{FF2B5EF4-FFF2-40B4-BE49-F238E27FC236}">
                <a16:creationId xmlns:a16="http://schemas.microsoft.com/office/drawing/2014/main" id="{FBC216C9-BB08-223A-F50A-E2569EC238C5}"/>
              </a:ext>
            </a:extLst>
          </p:cNvPr>
          <p:cNvSpPr>
            <a:spLocks noGrp="1" noChangeArrowheads="1"/>
          </p:cNvSpPr>
          <p:nvPr>
            <p:ph type="sldNum" sz="quarter" idx="5"/>
          </p:nvPr>
        </p:nvSpPr>
        <p:spPr/>
        <p:txBody>
          <a:bodyPr/>
          <a:lstStyle/>
          <a:p>
            <a:pPr>
              <a:defRPr/>
            </a:pPr>
            <a:fld id="{11936C65-8D2D-473A-BB25-8AAEDB8A8E2B}" type="slidenum">
              <a:rPr lang="en-US" smtClean="0"/>
              <a:pPr>
                <a:defRPr/>
              </a:pPr>
              <a:t>5</a:t>
            </a:fld>
            <a:endParaRPr lang="en-US" dirty="0"/>
          </a:p>
        </p:txBody>
      </p:sp>
      <p:sp>
        <p:nvSpPr>
          <p:cNvPr id="50181" name="Rectangle 2">
            <a:extLst>
              <a:ext uri="{FF2B5EF4-FFF2-40B4-BE49-F238E27FC236}">
                <a16:creationId xmlns:a16="http://schemas.microsoft.com/office/drawing/2014/main" id="{705C9104-6F5F-3697-AEE2-08742AC3BD6A}"/>
              </a:ext>
            </a:extLst>
          </p:cNvPr>
          <p:cNvSpPr>
            <a:spLocks noGrp="1" noRot="1" noChangeAspect="1" noChangeArrowheads="1" noTextEdit="1"/>
          </p:cNvSpPr>
          <p:nvPr>
            <p:ph type="sldImg"/>
          </p:nvPr>
        </p:nvSpPr>
        <p:spPr>
          <a:ln/>
        </p:spPr>
      </p:sp>
      <p:sp>
        <p:nvSpPr>
          <p:cNvPr id="50182" name="Rectangle 3">
            <a:extLst>
              <a:ext uri="{FF2B5EF4-FFF2-40B4-BE49-F238E27FC236}">
                <a16:creationId xmlns:a16="http://schemas.microsoft.com/office/drawing/2014/main" id="{AD8D9FB3-8CA5-5325-C4A7-9C80B07B20F8}"/>
              </a:ext>
            </a:extLst>
          </p:cNvPr>
          <p:cNvSpPr>
            <a:spLocks noGrp="1" noChangeArrowheads="1"/>
          </p:cNvSpPr>
          <p:nvPr>
            <p:ph type="body" idx="1"/>
          </p:nvPr>
        </p:nvSpPr>
        <p:spPr>
          <a:xfrm>
            <a:off x="308075" y="2148417"/>
            <a:ext cx="6149578" cy="6731000"/>
          </a:xfrm>
          <a:noFill/>
          <a:ln/>
        </p:spPr>
        <p:txBody>
          <a:bodyPr/>
          <a:lstStyle/>
          <a:p>
            <a:pPr eaLnBrk="1" hangingPunct="1"/>
            <a:r>
              <a:rPr lang="en-US" b="1">
                <a:latin typeface="Arial" pitchFamily="34" charset="0"/>
              </a:rPr>
              <a:t>Key message: </a:t>
            </a:r>
            <a:r>
              <a:rPr lang="en-US">
                <a:latin typeface="Arial" pitchFamily="34" charset="0"/>
              </a:rPr>
              <a:t>Disk partitioning is the process of dividing a physical disk’s storage into manageable pieces to support the requirements of a computer operating system. The MBR is stored at a consistent location on a physical disk, enabling the computer BIOS to reference it. During the startup process, the computer examines the MBR to determine which partition on the installed disks is marked as active. The active partition contains the operating system startup files. </a:t>
            </a:r>
            <a:br>
              <a:rPr lang="en-US">
                <a:latin typeface="Arial" pitchFamily="34" charset="0"/>
              </a:rPr>
            </a:br>
            <a:endParaRPr lang="en-US">
              <a:latin typeface="Arial" pitchFamily="34" charset="0"/>
            </a:endParaRPr>
          </a:p>
          <a:p>
            <a:pPr eaLnBrk="1" hangingPunct="1"/>
            <a:r>
              <a:rPr lang="en-US" b="1">
                <a:latin typeface="Arial" pitchFamily="34" charset="0"/>
              </a:rPr>
              <a:t>Discussion prompt: </a:t>
            </a:r>
            <a:r>
              <a:rPr lang="en-US">
                <a:latin typeface="Arial" pitchFamily="34" charset="0"/>
              </a:rPr>
              <a:t>Ask students if they are familiar with MBR and GPT.</a:t>
            </a:r>
          </a:p>
          <a:p>
            <a:r>
              <a:rPr lang="en-US">
                <a:latin typeface="Arial" pitchFamily="34" charset="0"/>
              </a:rPr>
              <a:t>Explain the characteristics and limitations presented on the slide.  </a:t>
            </a:r>
            <a:br>
              <a:rPr lang="en-US">
                <a:latin typeface="Arial" pitchFamily="34" charset="0"/>
              </a:rPr>
            </a:br>
            <a:endParaRPr lang="en-US">
              <a:latin typeface="Arial" pitchFamily="34" charset="0"/>
            </a:endParaRPr>
          </a:p>
          <a:p>
            <a:pPr eaLnBrk="1" hangingPunct="1"/>
            <a:r>
              <a:rPr lang="en-US" b="1">
                <a:latin typeface="Arial" pitchFamily="34" charset="0"/>
              </a:rPr>
              <a:t>Whiteboard:</a:t>
            </a:r>
            <a:r>
              <a:rPr lang="en-US" i="1">
                <a:latin typeface="Arial" pitchFamily="34" charset="0"/>
              </a:rPr>
              <a:t> </a:t>
            </a:r>
            <a:r>
              <a:rPr lang="en-US">
                <a:latin typeface="Arial" pitchFamily="34" charset="0"/>
              </a:rPr>
              <a:t>As you explain the characteristics and limitations of MBR, on the whiteboard, start a table to contrast MBR and GPT partition styles. For MBR, add these items:</a:t>
            </a:r>
          </a:p>
          <a:p>
            <a:pPr lvl="1">
              <a:buClrTx/>
            </a:pPr>
            <a:r>
              <a:rPr lang="en-US">
                <a:latin typeface="Arial" pitchFamily="34" charset="0"/>
              </a:rPr>
              <a:t>Partition style has been around for a long time</a:t>
            </a:r>
          </a:p>
          <a:p>
            <a:pPr lvl="1">
              <a:buClrTx/>
            </a:pPr>
            <a:r>
              <a:rPr lang="en-US">
                <a:latin typeface="Arial" pitchFamily="34" charset="0"/>
              </a:rPr>
              <a:t>Four partitions for each disk</a:t>
            </a:r>
          </a:p>
          <a:p>
            <a:pPr lvl="1">
              <a:buClrTx/>
            </a:pPr>
            <a:r>
              <a:rPr lang="en-US">
                <a:latin typeface="Arial" pitchFamily="34" charset="0"/>
              </a:rPr>
              <a:t>2 TB maximum partition size</a:t>
            </a:r>
          </a:p>
          <a:p>
            <a:pPr lvl="1">
              <a:buClrTx/>
            </a:pPr>
            <a:r>
              <a:rPr lang="en-US">
                <a:latin typeface="Arial" pitchFamily="34" charset="0"/>
              </a:rPr>
              <a:t>No redundancy provided</a:t>
            </a:r>
            <a:br>
              <a:rPr lang="en-US">
                <a:latin typeface="Arial" pitchFamily="34" charset="0"/>
              </a:rPr>
            </a:br>
            <a:endParaRPr lang="en-US">
              <a:latin typeface="Arial" pitchFamily="34" charset="0"/>
            </a:endParaRPr>
          </a:p>
          <a:p>
            <a:r>
              <a:rPr lang="en-US" b="1">
                <a:latin typeface="Arial" pitchFamily="34" charset="0"/>
              </a:rPr>
              <a:t>Question: </a:t>
            </a:r>
            <a:r>
              <a:rPr lang="en-US">
                <a:latin typeface="Arial" pitchFamily="34" charset="0"/>
              </a:rPr>
              <a:t>What are three restrictions of an MBR partitioned disk? Have you encountered these limitations in your organization, and if so, what did you do to work around them?</a:t>
            </a:r>
          </a:p>
          <a:p>
            <a:r>
              <a:rPr lang="en-US" b="1">
                <a:latin typeface="Arial" pitchFamily="34" charset="0"/>
              </a:rPr>
              <a:t>Answer: </a:t>
            </a:r>
            <a:r>
              <a:rPr lang="en-US">
                <a:latin typeface="Arial" pitchFamily="34" charset="0"/>
              </a:rPr>
              <a:t>The restrictions are that MBR partitioned disks are limited to four partitions, a 2 TB maximum partition size, and there is no data redundancy provided.</a:t>
            </a:r>
          </a:p>
          <a:p>
            <a:pPr lvl="1">
              <a:buFontTx/>
              <a:buNone/>
            </a:pPr>
            <a:endParaRPr lang="en-US">
              <a:latin typeface="Arial" pitchFamily="34" charset="0"/>
            </a:endParaRPr>
          </a:p>
        </p:txBody>
      </p:sp>
    </p:spTree>
    <p:extLst>
      <p:ext uri="{BB962C8B-B14F-4D97-AF65-F5344CB8AC3E}">
        <p14:creationId xmlns:p14="http://schemas.microsoft.com/office/powerpoint/2010/main" val="2657654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F919FF9C-A025-4765-81E6-EF0669451091}" type="slidenum">
              <a:rPr lang="en-US" smtClean="0"/>
              <a:pPr>
                <a:defRPr/>
              </a:pPr>
              <a:t>6</a:t>
            </a:fld>
            <a:endParaRPr lang="en-US" dirty="0"/>
          </a:p>
        </p:txBody>
      </p:sp>
      <p:sp>
        <p:nvSpPr>
          <p:cNvPr id="51205" name="Rectangle 2"/>
          <p:cNvSpPr>
            <a:spLocks noGrp="1" noRot="1" noChangeAspect="1" noChangeArrowheads="1" noTextEdit="1"/>
          </p:cNvSpPr>
          <p:nvPr>
            <p:ph type="sldImg"/>
          </p:nvPr>
        </p:nvSpPr>
        <p:spPr>
          <a:ln/>
        </p:spPr>
      </p:sp>
      <p:sp>
        <p:nvSpPr>
          <p:cNvPr id="51206" name="Rectangle 3"/>
          <p:cNvSpPr>
            <a:spLocks noGrp="1" noChangeArrowheads="1"/>
          </p:cNvSpPr>
          <p:nvPr>
            <p:ph type="body" idx="1"/>
          </p:nvPr>
        </p:nvSpPr>
        <p:spPr>
          <a:xfrm>
            <a:off x="308075" y="2148417"/>
            <a:ext cx="6149578" cy="6731000"/>
          </a:xfrm>
          <a:noFill/>
          <a:ln/>
        </p:spPr>
        <p:txBody>
          <a:bodyPr/>
          <a:lstStyle/>
          <a:p>
            <a:r>
              <a:rPr lang="en-US" b="1">
                <a:latin typeface="Arial" pitchFamily="34" charset="0"/>
              </a:rPr>
              <a:t>Key message:  </a:t>
            </a:r>
            <a:r>
              <a:rPr lang="en-US">
                <a:latin typeface="Arial" pitchFamily="34" charset="0"/>
              </a:rPr>
              <a:t>GPT partitioned disks address the limitations of MBR-partitioned disks. GPT contains an array of partition entries describing the start and end LBA of each partition on disk. The GPT format is specified by the Unified Extensible Firmware Interface (UEFI), but is not exclusive to UEFI systems. Both 32-bit and 64-bit Windows operating systems support GPT for data disks on BIOS systems, but they cannot boot from them. The 64-bit Windows operating systems support GPT for boot disks on UEFI systems.</a:t>
            </a:r>
            <a:br>
              <a:rPr lang="en-US">
                <a:latin typeface="Arial" pitchFamily="34" charset="0"/>
              </a:rPr>
            </a:br>
            <a:endParaRPr lang="en-US">
              <a:latin typeface="Arial" pitchFamily="34" charset="0"/>
            </a:endParaRPr>
          </a:p>
          <a:p>
            <a:r>
              <a:rPr lang="en-US" b="1">
                <a:latin typeface="Arial" pitchFamily="34" charset="0"/>
              </a:rPr>
              <a:t>Whiteboard: </a:t>
            </a:r>
            <a:r>
              <a:rPr lang="en-US">
                <a:latin typeface="Arial" pitchFamily="34" charset="0"/>
              </a:rPr>
              <a:t>As you discuss the features of GPT disks from the slides, add them to the table that you created on the whiteboard to contrast MBR and GPT partitioned disks:</a:t>
            </a:r>
          </a:p>
          <a:p>
            <a:pPr lvl="1">
              <a:buClrTx/>
            </a:pPr>
            <a:r>
              <a:rPr lang="en-US">
                <a:latin typeface="Arial" pitchFamily="34" charset="0"/>
              </a:rPr>
              <a:t>128 partitions per disk (this item correlates to the first bullet)</a:t>
            </a:r>
          </a:p>
          <a:p>
            <a:pPr lvl="1">
              <a:buClrTx/>
            </a:pPr>
            <a:r>
              <a:rPr lang="en-US">
                <a:latin typeface="Arial" pitchFamily="34" charset="0"/>
              </a:rPr>
              <a:t>18 Exabyte (EB) partition size (this item correlates to the second bullet)</a:t>
            </a:r>
          </a:p>
          <a:p>
            <a:pPr lvl="1">
              <a:buClrTx/>
            </a:pPr>
            <a:r>
              <a:rPr lang="en-US">
                <a:latin typeface="Arial" pitchFamily="34" charset="0"/>
              </a:rPr>
              <a:t>Redundancy</a:t>
            </a:r>
            <a:br>
              <a:rPr lang="en-US">
                <a:latin typeface="Arial" pitchFamily="34" charset="0"/>
              </a:rPr>
            </a:br>
            <a:endParaRPr lang="en-US">
              <a:latin typeface="Arial" pitchFamily="34" charset="0"/>
            </a:endParaRPr>
          </a:p>
          <a:p>
            <a:r>
              <a:rPr lang="en-US">
                <a:latin typeface="Arial" pitchFamily="34" charset="0"/>
              </a:rPr>
              <a:t>Ensure that the students know that GPT-based disks can be implemented on Windows Server® 2008, Windows Vista®, and Windows 7, but not on removable media.</a:t>
            </a:r>
          </a:p>
          <a:p>
            <a:r>
              <a:rPr lang="en-US">
                <a:latin typeface="Arial" pitchFamily="34" charset="0"/>
              </a:rPr>
              <a:t>Talk about the sectors on a GPT partitioned disk. Describe the protective MBR, the partition table header, the ESP, MSR, and operating system partition. Spend time reviewing the differences between the partition styles that you have documented on the whiteboard. For more information about GPT architecture, refer to the Companion Content CD.</a:t>
            </a:r>
            <a:br>
              <a:rPr lang="en-US">
                <a:latin typeface="Arial" pitchFamily="34" charset="0"/>
              </a:rPr>
            </a:br>
            <a:endParaRPr lang="en-US">
              <a:latin typeface="Arial" pitchFamily="34" charset="0"/>
            </a:endParaRPr>
          </a:p>
          <a:p>
            <a:r>
              <a:rPr lang="en-US" b="1">
                <a:latin typeface="Arial" pitchFamily="34" charset="0"/>
              </a:rPr>
              <a:t>Question:</a:t>
            </a:r>
            <a:r>
              <a:rPr lang="en-US">
                <a:latin typeface="Arial" pitchFamily="34" charset="0"/>
              </a:rPr>
              <a:t>  How does a GPT partitioned disk on a 64-bit Windows 7 operating system use an MBR? </a:t>
            </a:r>
          </a:p>
          <a:p>
            <a:r>
              <a:rPr lang="en-US" b="1">
                <a:latin typeface="Arial" pitchFamily="34" charset="0"/>
              </a:rPr>
              <a:t>Answer:</a:t>
            </a:r>
            <a:r>
              <a:rPr lang="en-US">
                <a:latin typeface="Arial" pitchFamily="34" charset="0"/>
              </a:rPr>
              <a:t> On a GPT partitioned disk, Sector 0 contains a legacy protective MBR. The protective MBR contains one primary partition covering the entire disk. The protective MBR protects GPT disks from previously released MBR disk tools such as Microsoft MS-DOS FDISK or Microsoft Windows NT Disk Administrator. These tools view a GPT disk as having a single encompassing (possibly unrecognized) partition by interpreting the protected MBR, rather than mistaking the disk for one that is unpartitioned. Legacy software that does not know about GPT interprets only the protected MBR when it accesses a GPT disk.</a:t>
            </a:r>
          </a:p>
          <a:p>
            <a:endParaRPr lang="en-US">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53AAAFA1-D9F4-4FDA-ADC9-275CF306F9BE}" type="slidenum">
              <a:rPr lang="en-US" smtClean="0"/>
              <a:pPr>
                <a:defRPr/>
              </a:pPr>
              <a:t>8</a:t>
            </a:fld>
            <a:endParaRPr lang="en-US" dirty="0"/>
          </a:p>
        </p:txBody>
      </p:sp>
      <p:sp>
        <p:nvSpPr>
          <p:cNvPr id="52229" name="Rectangle 2"/>
          <p:cNvSpPr>
            <a:spLocks noGrp="1" noRot="1" noChangeAspect="1" noChangeArrowheads="1" noTextEdit="1"/>
          </p:cNvSpPr>
          <p:nvPr>
            <p:ph type="sldImg"/>
          </p:nvPr>
        </p:nvSpPr>
        <p:spPr>
          <a:ln/>
        </p:spPr>
      </p:sp>
      <p:sp>
        <p:nvSpPr>
          <p:cNvPr id="46086" name="Rectangle 3"/>
          <p:cNvSpPr>
            <a:spLocks noGrp="1" noChangeArrowheads="1"/>
          </p:cNvSpPr>
          <p:nvPr>
            <p:ph type="body" idx="1"/>
          </p:nvPr>
        </p:nvSpPr>
        <p:spPr>
          <a:xfrm>
            <a:off x="308075" y="2148417"/>
            <a:ext cx="6149578" cy="6731000"/>
          </a:xfrm>
          <a:ln/>
        </p:spPr>
        <p:txBody>
          <a:bodyPr/>
          <a:lstStyle/>
          <a:p>
            <a:pPr>
              <a:defRPr/>
            </a:pPr>
            <a:r>
              <a:rPr lang="en-US" b="1" dirty="0"/>
              <a:t>Key message: </a:t>
            </a:r>
            <a:r>
              <a:rPr lang="en-US" dirty="0"/>
              <a:t>Two tools used to manage disks and the volumes or partitions that they contain on Windows 7 are Disk Management and diskpart.exe. With either tool, you can initialize disks, create volumes, and format the volume file system. Additional common tasks include moving disks between computers, changing disks between basic and dynamic types, and changing the partition style of disks. Most disk-related tasks can be performed without restarting the system or interrupting users, and most configuration changes take effect immediately.</a:t>
            </a:r>
          </a:p>
          <a:p>
            <a:pPr>
              <a:defRPr/>
            </a:pPr>
            <a:r>
              <a:rPr lang="en-US" b="1" dirty="0"/>
              <a:t>To build this slide: </a:t>
            </a:r>
          </a:p>
          <a:p>
            <a:pPr marL="224300" indent="-224300">
              <a:buFontTx/>
              <a:buAutoNum type="arabicPeriod"/>
              <a:defRPr/>
            </a:pPr>
            <a:r>
              <a:rPr lang="en-US" dirty="0"/>
              <a:t>Click to have the Disk Management Snap-in features fly in from the bottom.</a:t>
            </a:r>
          </a:p>
          <a:p>
            <a:pPr marL="224300" indent="-224300">
              <a:buFontTx/>
              <a:buAutoNum type="arabicPeriod"/>
              <a:defRPr/>
            </a:pPr>
            <a:r>
              <a:rPr lang="en-US" dirty="0"/>
              <a:t>Click to have the screenshot of Disk Management fly in from the bottom.</a:t>
            </a:r>
          </a:p>
          <a:p>
            <a:pPr marL="224300" indent="-224300">
              <a:buFontTx/>
              <a:buAutoNum type="arabicPeriod"/>
              <a:defRPr/>
            </a:pPr>
            <a:r>
              <a:rPr lang="en-US" dirty="0"/>
              <a:t>Click to have the diskpart.exe features fly in from the bottom. </a:t>
            </a:r>
          </a:p>
          <a:p>
            <a:pPr marL="224300" indent="-224300">
              <a:buFontTx/>
              <a:buAutoNum type="arabicPeriod"/>
              <a:defRPr/>
            </a:pPr>
            <a:r>
              <a:rPr lang="en-US" dirty="0"/>
              <a:t>Click to have the partition image fly in from the bottom.</a:t>
            </a:r>
          </a:p>
          <a:p>
            <a:pPr>
              <a:defRPr/>
            </a:pPr>
            <a:r>
              <a:rPr lang="en-US" dirty="0"/>
              <a:t>Describe each tool for the students. </a:t>
            </a:r>
          </a:p>
          <a:p>
            <a:pPr>
              <a:defRPr/>
            </a:pPr>
            <a:r>
              <a:rPr lang="en-US" b="1" dirty="0"/>
              <a:t>Discussion prompt: </a:t>
            </a:r>
            <a:r>
              <a:rPr lang="en-US" dirty="0"/>
              <a:t>Ask if any of the students are familiar with either of the tools and if they are have them talk about scenarios in which they use the tools. Have they used Disk Management remotely?</a:t>
            </a:r>
          </a:p>
          <a:p>
            <a:pPr>
              <a:defRPr/>
            </a:pPr>
            <a:r>
              <a:rPr lang="en-US" dirty="0"/>
              <a:t>Describe each of the following new features as they relate to Disk Management in Windows 7: simpler partition creation, disk conversion options, and extend and shrink partitions.</a:t>
            </a:r>
          </a:p>
          <a:p>
            <a:pPr>
              <a:defRPr/>
            </a:pPr>
            <a:r>
              <a:rPr lang="en-US" dirty="0"/>
              <a:t>Show how to open Disk Management, how to start diskpart, explain  the DISKPART&gt; command prompt , and how to view a list of diskpart commands by typing “commands” at DISKPART&gt;. Talk about how to create a diskpart script, log results of a diskpart session, and discuss common actions. </a:t>
            </a:r>
          </a:p>
          <a:p>
            <a:pPr>
              <a:defRPr/>
            </a:pPr>
            <a:r>
              <a:rPr lang="en-US" dirty="0"/>
              <a:t>You do not need to demonstrate these actions in this topic, you will do so in the next demonstration.</a:t>
            </a:r>
          </a:p>
          <a:p>
            <a:pPr>
              <a:defRPr/>
            </a:pPr>
            <a:r>
              <a:rPr lang="en-US" dirty="0"/>
              <a:t>Discuss what happens when a new hard disk is added and Disk Management is started. Explain that you can switch between GPT and MBR partition styles, but there are ramifications. </a:t>
            </a:r>
            <a:br>
              <a:rPr lang="en-US" dirty="0"/>
            </a:br>
            <a:br>
              <a:rPr lang="en-US" dirty="0"/>
            </a:br>
            <a:r>
              <a:rPr lang="en-US" dirty="0"/>
              <a:t>Make sure that students understand the following before switching partition styles:</a:t>
            </a:r>
          </a:p>
          <a:p>
            <a:pPr lvl="1">
              <a:buClrTx/>
              <a:defRPr/>
            </a:pPr>
            <a:r>
              <a:rPr lang="en-US" dirty="0"/>
              <a:t>Membership in the Backup Operators or Administrators group is required</a:t>
            </a:r>
          </a:p>
          <a:p>
            <a:pPr lvl="1">
              <a:buClrTx/>
              <a:defRPr/>
            </a:pPr>
            <a:r>
              <a:rPr lang="en-US" dirty="0"/>
              <a:t>Back up the entire contents of the hard disk before making changes</a:t>
            </a:r>
          </a:p>
          <a:p>
            <a:pPr lvl="1">
              <a:buClrTx/>
              <a:defRPr/>
            </a:pPr>
            <a:r>
              <a:rPr lang="en-US" dirty="0"/>
              <a:t>Disks must be online before initializing them or creating new partitions or volumes</a:t>
            </a:r>
          </a:p>
          <a:p>
            <a:pPr lvl="1">
              <a:buClrTx/>
              <a:defRPr/>
            </a:pPr>
            <a:r>
              <a:rPr lang="en-US" dirty="0"/>
              <a:t>You can only convert from GPT to MBR if the disk does not contain any volumes or partitions</a:t>
            </a:r>
          </a:p>
          <a:p>
            <a:pPr lvl="1">
              <a:buClrTx/>
              <a:defRPr/>
            </a:pPr>
            <a:r>
              <a:rPr lang="en-US" dirty="0"/>
              <a:t>Use Event Viewer to check the system log for disk-related messages</a:t>
            </a:r>
            <a:br>
              <a:rPr lang="en-US" dirty="0"/>
            </a:br>
            <a:endParaRPr lang="en-US" dirty="0"/>
          </a:p>
          <a:p>
            <a:pPr>
              <a:defRPr/>
            </a:pPr>
            <a:r>
              <a:rPr lang="en-US" dirty="0"/>
              <a:t>Point out that students must not use disk editing tools such as DiskProbe to make changes to GPT disks. Any change made renders the checksums invalid, which might cause the disk to become inaccessible. To make changes to GPT disks, use diskpart or Disk Management.</a:t>
            </a:r>
          </a:p>
          <a:p>
            <a:pPr>
              <a:defRPr/>
            </a:pPr>
            <a:r>
              <a:rPr lang="en-US" b="1" dirty="0"/>
              <a:t>Question:</a:t>
            </a:r>
            <a:r>
              <a:rPr lang="en-US" dirty="0"/>
              <a:t> What is the effect on existing data when you convert a basic disk to a dynamic disk and vice versa? </a:t>
            </a:r>
          </a:p>
          <a:p>
            <a:pPr>
              <a:defRPr/>
            </a:pPr>
            <a:r>
              <a:rPr lang="en-US" b="1" dirty="0"/>
              <a:t>Answer:</a:t>
            </a:r>
            <a:r>
              <a:rPr lang="en-US" dirty="0"/>
              <a:t> Basic disks can be converted to dynamic disks without data loss. However, converting a dynamic disk to basic is not possible without deleting all the volumes first.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813B0-467A-0287-1D60-93698CE640C5}"/>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900605DE-8D58-1966-1BA8-D29FBC8CC40A}"/>
              </a:ext>
            </a:extLst>
          </p:cNvPr>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a:extLst>
              <a:ext uri="{FF2B5EF4-FFF2-40B4-BE49-F238E27FC236}">
                <a16:creationId xmlns:a16="http://schemas.microsoft.com/office/drawing/2014/main" id="{D10A825F-02F3-8878-6C2D-2D38BC5041DC}"/>
              </a:ext>
            </a:extLst>
          </p:cNvPr>
          <p:cNvSpPr>
            <a:spLocks noGrp="1" noChangeArrowheads="1"/>
          </p:cNvSpPr>
          <p:nvPr>
            <p:ph type="dt" sz="quarter" idx="1"/>
          </p:nvPr>
        </p:nvSpPr>
        <p:spPr/>
        <p:txBody>
          <a:bodyPr/>
          <a:lstStyle/>
          <a:p>
            <a:pPr>
              <a:defRPr/>
            </a:pPr>
            <a:r>
              <a:rPr lang="en-US"/>
              <a:t>Course 6292A</a:t>
            </a:r>
          </a:p>
        </p:txBody>
      </p:sp>
      <p:sp>
        <p:nvSpPr>
          <p:cNvPr id="24580" name="Rectangle 7">
            <a:extLst>
              <a:ext uri="{FF2B5EF4-FFF2-40B4-BE49-F238E27FC236}">
                <a16:creationId xmlns:a16="http://schemas.microsoft.com/office/drawing/2014/main" id="{8CD38323-F490-CEAE-DAB8-3B73D95835A6}"/>
              </a:ext>
            </a:extLst>
          </p:cNvPr>
          <p:cNvSpPr>
            <a:spLocks noGrp="1" noChangeArrowheads="1"/>
          </p:cNvSpPr>
          <p:nvPr>
            <p:ph type="sldNum" sz="quarter" idx="5"/>
          </p:nvPr>
        </p:nvSpPr>
        <p:spPr/>
        <p:txBody>
          <a:bodyPr/>
          <a:lstStyle/>
          <a:p>
            <a:pPr>
              <a:defRPr/>
            </a:pPr>
            <a:fld id="{53AAAFA1-D9F4-4FDA-ADC9-275CF306F9BE}" type="slidenum">
              <a:rPr lang="en-US" smtClean="0"/>
              <a:pPr>
                <a:defRPr/>
              </a:pPr>
              <a:t>9</a:t>
            </a:fld>
            <a:endParaRPr lang="en-US" dirty="0"/>
          </a:p>
        </p:txBody>
      </p:sp>
      <p:sp>
        <p:nvSpPr>
          <p:cNvPr id="52229" name="Rectangle 2">
            <a:extLst>
              <a:ext uri="{FF2B5EF4-FFF2-40B4-BE49-F238E27FC236}">
                <a16:creationId xmlns:a16="http://schemas.microsoft.com/office/drawing/2014/main" id="{13256262-40DD-721E-6C45-BAAB7E8332D2}"/>
              </a:ext>
            </a:extLst>
          </p:cNvPr>
          <p:cNvSpPr>
            <a:spLocks noGrp="1" noRot="1" noChangeAspect="1" noChangeArrowheads="1" noTextEdit="1"/>
          </p:cNvSpPr>
          <p:nvPr>
            <p:ph type="sldImg"/>
          </p:nvPr>
        </p:nvSpPr>
        <p:spPr>
          <a:ln/>
        </p:spPr>
      </p:sp>
      <p:sp>
        <p:nvSpPr>
          <p:cNvPr id="46086" name="Rectangle 3">
            <a:extLst>
              <a:ext uri="{FF2B5EF4-FFF2-40B4-BE49-F238E27FC236}">
                <a16:creationId xmlns:a16="http://schemas.microsoft.com/office/drawing/2014/main" id="{26DD303C-9EC5-1AD7-0D1B-4AA6DB24AC2D}"/>
              </a:ext>
            </a:extLst>
          </p:cNvPr>
          <p:cNvSpPr>
            <a:spLocks noGrp="1" noChangeArrowheads="1"/>
          </p:cNvSpPr>
          <p:nvPr>
            <p:ph type="body" idx="1"/>
          </p:nvPr>
        </p:nvSpPr>
        <p:spPr>
          <a:xfrm>
            <a:off x="308075" y="2148417"/>
            <a:ext cx="6149578" cy="6731000"/>
          </a:xfrm>
          <a:ln/>
        </p:spPr>
        <p:txBody>
          <a:bodyPr/>
          <a:lstStyle/>
          <a:p>
            <a:pPr>
              <a:defRPr/>
            </a:pPr>
            <a:r>
              <a:rPr lang="en-US" b="1" dirty="0"/>
              <a:t>Key message: </a:t>
            </a:r>
            <a:r>
              <a:rPr lang="en-US" dirty="0"/>
              <a:t>Two tools used to manage disks and the volumes or partitions that they contain on Windows 7 are Disk Management and diskpart.exe. With either tool, you can initialize disks, create volumes, and format the volume file system. Additional common tasks include moving disks between computers, changing disks between basic and dynamic types, and changing the partition style of disks. Most disk-related tasks can be performed without restarting the system or interrupting users, and most configuration changes take effect immediately.</a:t>
            </a:r>
          </a:p>
          <a:p>
            <a:pPr>
              <a:defRPr/>
            </a:pPr>
            <a:r>
              <a:rPr lang="en-US" b="1" dirty="0"/>
              <a:t>To build this slide: </a:t>
            </a:r>
          </a:p>
          <a:p>
            <a:pPr marL="224300" indent="-224300">
              <a:buFontTx/>
              <a:buAutoNum type="arabicPeriod"/>
              <a:defRPr/>
            </a:pPr>
            <a:r>
              <a:rPr lang="en-US" dirty="0"/>
              <a:t>Click to have the Disk Management Snap-in features fly in from the bottom.</a:t>
            </a:r>
          </a:p>
          <a:p>
            <a:pPr marL="224300" indent="-224300">
              <a:buFontTx/>
              <a:buAutoNum type="arabicPeriod"/>
              <a:defRPr/>
            </a:pPr>
            <a:r>
              <a:rPr lang="en-US" dirty="0"/>
              <a:t>Click to have the screenshot of Disk Management fly in from the bottom.</a:t>
            </a:r>
          </a:p>
          <a:p>
            <a:pPr marL="224300" indent="-224300">
              <a:buFontTx/>
              <a:buAutoNum type="arabicPeriod"/>
              <a:defRPr/>
            </a:pPr>
            <a:r>
              <a:rPr lang="en-US" dirty="0"/>
              <a:t>Click to have the diskpart.exe features fly in from the bottom. </a:t>
            </a:r>
          </a:p>
          <a:p>
            <a:pPr marL="224300" indent="-224300">
              <a:buFontTx/>
              <a:buAutoNum type="arabicPeriod"/>
              <a:defRPr/>
            </a:pPr>
            <a:r>
              <a:rPr lang="en-US" dirty="0"/>
              <a:t>Click to have the partition image fly in from the bottom.</a:t>
            </a:r>
          </a:p>
          <a:p>
            <a:pPr>
              <a:defRPr/>
            </a:pPr>
            <a:r>
              <a:rPr lang="en-US" dirty="0"/>
              <a:t>Describe each tool for the students. </a:t>
            </a:r>
          </a:p>
          <a:p>
            <a:pPr>
              <a:defRPr/>
            </a:pPr>
            <a:r>
              <a:rPr lang="en-US" b="1" dirty="0"/>
              <a:t>Discussion prompt: </a:t>
            </a:r>
            <a:r>
              <a:rPr lang="en-US" dirty="0"/>
              <a:t>Ask if any of the students are familiar with either of the tools and if they are have them talk about scenarios in which they use the tools. Have they used Disk Management remotely?</a:t>
            </a:r>
          </a:p>
          <a:p>
            <a:pPr>
              <a:defRPr/>
            </a:pPr>
            <a:r>
              <a:rPr lang="en-US" dirty="0"/>
              <a:t>Describe each of the following new features as they relate to Disk Management in Windows 7: simpler partition creation, disk conversion options, and extend and shrink partitions.</a:t>
            </a:r>
          </a:p>
          <a:p>
            <a:pPr>
              <a:defRPr/>
            </a:pPr>
            <a:r>
              <a:rPr lang="en-US" dirty="0"/>
              <a:t>Show how to open Disk Management, how to start diskpart, explain  the DISKPART&gt; command prompt , and how to view a list of diskpart commands by typing “commands” at DISKPART&gt;. Talk about how to create a diskpart script, log results of a diskpart session, and discuss common actions. </a:t>
            </a:r>
          </a:p>
          <a:p>
            <a:pPr>
              <a:defRPr/>
            </a:pPr>
            <a:r>
              <a:rPr lang="en-US" dirty="0"/>
              <a:t>You do not need to demonstrate these actions in this topic, you will do so in the next demonstration.</a:t>
            </a:r>
          </a:p>
          <a:p>
            <a:pPr>
              <a:defRPr/>
            </a:pPr>
            <a:r>
              <a:rPr lang="en-US" dirty="0"/>
              <a:t>Discuss what happens when a new hard disk is added and Disk Management is started. Explain that you can switch between GPT and MBR partition styles, but there are ramifications. </a:t>
            </a:r>
            <a:br>
              <a:rPr lang="en-US" dirty="0"/>
            </a:br>
            <a:br>
              <a:rPr lang="en-US" dirty="0"/>
            </a:br>
            <a:r>
              <a:rPr lang="en-US" dirty="0"/>
              <a:t>Make sure that students understand the following before switching partition styles:</a:t>
            </a:r>
          </a:p>
          <a:p>
            <a:pPr lvl="1">
              <a:buClrTx/>
              <a:defRPr/>
            </a:pPr>
            <a:r>
              <a:rPr lang="en-US" dirty="0"/>
              <a:t>Membership in the Backup Operators or Administrators group is required</a:t>
            </a:r>
          </a:p>
          <a:p>
            <a:pPr lvl="1">
              <a:buClrTx/>
              <a:defRPr/>
            </a:pPr>
            <a:r>
              <a:rPr lang="en-US" dirty="0"/>
              <a:t>Back up the entire contents of the hard disk before making changes</a:t>
            </a:r>
          </a:p>
          <a:p>
            <a:pPr lvl="1">
              <a:buClrTx/>
              <a:defRPr/>
            </a:pPr>
            <a:r>
              <a:rPr lang="en-US" dirty="0"/>
              <a:t>Disks must be online before initializing them or creating new partitions or volumes</a:t>
            </a:r>
          </a:p>
          <a:p>
            <a:pPr lvl="1">
              <a:buClrTx/>
              <a:defRPr/>
            </a:pPr>
            <a:r>
              <a:rPr lang="en-US" dirty="0"/>
              <a:t>You can only convert from GPT to MBR if the disk does not contain any volumes or partitions</a:t>
            </a:r>
          </a:p>
          <a:p>
            <a:pPr lvl="1">
              <a:buClrTx/>
              <a:defRPr/>
            </a:pPr>
            <a:r>
              <a:rPr lang="en-US" dirty="0"/>
              <a:t>Use Event Viewer to check the system log for disk-related messages</a:t>
            </a:r>
            <a:br>
              <a:rPr lang="en-US" dirty="0"/>
            </a:br>
            <a:endParaRPr lang="en-US" dirty="0"/>
          </a:p>
          <a:p>
            <a:pPr>
              <a:defRPr/>
            </a:pPr>
            <a:r>
              <a:rPr lang="en-US" dirty="0"/>
              <a:t>Point out that students must not use disk editing tools such as DiskProbe to make changes to GPT disks. Any change made renders the checksums invalid, which might cause the disk to become inaccessible. To make changes to GPT disks, use diskpart or Disk Management.</a:t>
            </a:r>
          </a:p>
          <a:p>
            <a:pPr>
              <a:defRPr/>
            </a:pPr>
            <a:r>
              <a:rPr lang="en-US" b="1" dirty="0"/>
              <a:t>Question:</a:t>
            </a:r>
            <a:r>
              <a:rPr lang="en-US" dirty="0"/>
              <a:t> What is the effect on existing data when you convert a basic disk to a dynamic disk and vice versa? </a:t>
            </a:r>
          </a:p>
          <a:p>
            <a:pPr>
              <a:defRPr/>
            </a:pPr>
            <a:r>
              <a:rPr lang="en-US" b="1" dirty="0"/>
              <a:t>Answer:</a:t>
            </a:r>
            <a:r>
              <a:rPr lang="en-US" dirty="0"/>
              <a:t> Basic disks can be converted to dynamic disks without data loss. However, converting a dynamic disk to basic is not possible without deleting all the volumes first. </a:t>
            </a:r>
          </a:p>
        </p:txBody>
      </p:sp>
    </p:spTree>
    <p:extLst>
      <p:ext uri="{BB962C8B-B14F-4D97-AF65-F5344CB8AC3E}">
        <p14:creationId xmlns:p14="http://schemas.microsoft.com/office/powerpoint/2010/main" val="2812015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FA162-7E66-4B97-A1F2-E64CA6B94CE4}"/>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900F9A12-C44C-9A6D-C887-6A56726CBD26}"/>
              </a:ext>
            </a:extLst>
          </p:cNvPr>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a:extLst>
              <a:ext uri="{FF2B5EF4-FFF2-40B4-BE49-F238E27FC236}">
                <a16:creationId xmlns:a16="http://schemas.microsoft.com/office/drawing/2014/main" id="{EB07766E-136A-D6AB-5FFA-4CD71EDEA7CE}"/>
              </a:ext>
            </a:extLst>
          </p:cNvPr>
          <p:cNvSpPr>
            <a:spLocks noGrp="1" noChangeArrowheads="1"/>
          </p:cNvSpPr>
          <p:nvPr>
            <p:ph type="dt" sz="quarter" idx="1"/>
          </p:nvPr>
        </p:nvSpPr>
        <p:spPr/>
        <p:txBody>
          <a:bodyPr/>
          <a:lstStyle/>
          <a:p>
            <a:pPr>
              <a:defRPr/>
            </a:pPr>
            <a:r>
              <a:rPr lang="en-US"/>
              <a:t>Course 6292A</a:t>
            </a:r>
          </a:p>
        </p:txBody>
      </p:sp>
      <p:sp>
        <p:nvSpPr>
          <p:cNvPr id="24580" name="Rectangle 7">
            <a:extLst>
              <a:ext uri="{FF2B5EF4-FFF2-40B4-BE49-F238E27FC236}">
                <a16:creationId xmlns:a16="http://schemas.microsoft.com/office/drawing/2014/main" id="{D43F2366-309C-BF19-568B-65D73711B30C}"/>
              </a:ext>
            </a:extLst>
          </p:cNvPr>
          <p:cNvSpPr>
            <a:spLocks noGrp="1" noChangeArrowheads="1"/>
          </p:cNvSpPr>
          <p:nvPr>
            <p:ph type="sldNum" sz="quarter" idx="5"/>
          </p:nvPr>
        </p:nvSpPr>
        <p:spPr/>
        <p:txBody>
          <a:bodyPr/>
          <a:lstStyle/>
          <a:p>
            <a:pPr>
              <a:defRPr/>
            </a:pPr>
            <a:fld id="{53AAAFA1-D9F4-4FDA-ADC9-275CF306F9BE}" type="slidenum">
              <a:rPr lang="en-US" smtClean="0"/>
              <a:pPr>
                <a:defRPr/>
              </a:pPr>
              <a:t>10</a:t>
            </a:fld>
            <a:endParaRPr lang="en-US" dirty="0"/>
          </a:p>
        </p:txBody>
      </p:sp>
      <p:sp>
        <p:nvSpPr>
          <p:cNvPr id="52229" name="Rectangle 2">
            <a:extLst>
              <a:ext uri="{FF2B5EF4-FFF2-40B4-BE49-F238E27FC236}">
                <a16:creationId xmlns:a16="http://schemas.microsoft.com/office/drawing/2014/main" id="{ECE032DF-6622-3E20-C396-B0C80C0E2DAB}"/>
              </a:ext>
            </a:extLst>
          </p:cNvPr>
          <p:cNvSpPr>
            <a:spLocks noGrp="1" noRot="1" noChangeAspect="1" noChangeArrowheads="1" noTextEdit="1"/>
          </p:cNvSpPr>
          <p:nvPr>
            <p:ph type="sldImg"/>
          </p:nvPr>
        </p:nvSpPr>
        <p:spPr>
          <a:ln/>
        </p:spPr>
      </p:sp>
      <p:sp>
        <p:nvSpPr>
          <p:cNvPr id="46086" name="Rectangle 3">
            <a:extLst>
              <a:ext uri="{FF2B5EF4-FFF2-40B4-BE49-F238E27FC236}">
                <a16:creationId xmlns:a16="http://schemas.microsoft.com/office/drawing/2014/main" id="{0599170D-77D8-28BB-8EFA-4BBCDEFD51FB}"/>
              </a:ext>
            </a:extLst>
          </p:cNvPr>
          <p:cNvSpPr>
            <a:spLocks noGrp="1" noChangeArrowheads="1"/>
          </p:cNvSpPr>
          <p:nvPr>
            <p:ph type="body" idx="1"/>
          </p:nvPr>
        </p:nvSpPr>
        <p:spPr>
          <a:xfrm>
            <a:off x="308075" y="2148417"/>
            <a:ext cx="6149578" cy="6731000"/>
          </a:xfrm>
          <a:ln/>
        </p:spPr>
        <p:txBody>
          <a:bodyPr/>
          <a:lstStyle/>
          <a:p>
            <a:pPr>
              <a:defRPr/>
            </a:pPr>
            <a:r>
              <a:rPr lang="en-US" b="1" dirty="0"/>
              <a:t>Key message: </a:t>
            </a:r>
            <a:r>
              <a:rPr lang="en-US" dirty="0"/>
              <a:t>Two tools used to manage disks and the volumes or partitions that they contain on Windows 7 are Disk Management and diskpart.exe. With either tool, you can initialize disks, create volumes, and format the volume file system. Additional common tasks include moving disks between computers, changing disks between basic and dynamic types, and changing the partition style of disks. Most disk-related tasks can be performed without restarting the system or interrupting users, and most configuration changes take effect immediately.</a:t>
            </a:r>
          </a:p>
          <a:p>
            <a:pPr>
              <a:defRPr/>
            </a:pPr>
            <a:r>
              <a:rPr lang="en-US" b="1" dirty="0"/>
              <a:t>To build this slide: </a:t>
            </a:r>
          </a:p>
          <a:p>
            <a:pPr marL="224300" indent="-224300">
              <a:buFontTx/>
              <a:buAutoNum type="arabicPeriod"/>
              <a:defRPr/>
            </a:pPr>
            <a:r>
              <a:rPr lang="en-US" dirty="0"/>
              <a:t>Click to have the Disk Management Snap-in features fly in from the bottom.</a:t>
            </a:r>
          </a:p>
          <a:p>
            <a:pPr marL="224300" indent="-224300">
              <a:buFontTx/>
              <a:buAutoNum type="arabicPeriod"/>
              <a:defRPr/>
            </a:pPr>
            <a:r>
              <a:rPr lang="en-US" dirty="0"/>
              <a:t>Click to have the screenshot of Disk Management fly in from the bottom.</a:t>
            </a:r>
          </a:p>
          <a:p>
            <a:pPr marL="224300" indent="-224300">
              <a:buFontTx/>
              <a:buAutoNum type="arabicPeriod"/>
              <a:defRPr/>
            </a:pPr>
            <a:r>
              <a:rPr lang="en-US" dirty="0"/>
              <a:t>Click to have the diskpart.exe features fly in from the bottom. </a:t>
            </a:r>
          </a:p>
          <a:p>
            <a:pPr marL="224300" indent="-224300">
              <a:buFontTx/>
              <a:buAutoNum type="arabicPeriod"/>
              <a:defRPr/>
            </a:pPr>
            <a:r>
              <a:rPr lang="en-US" dirty="0"/>
              <a:t>Click to have the partition image fly in from the bottom.</a:t>
            </a:r>
          </a:p>
          <a:p>
            <a:pPr>
              <a:defRPr/>
            </a:pPr>
            <a:r>
              <a:rPr lang="en-US" dirty="0"/>
              <a:t>Describe each tool for the students. </a:t>
            </a:r>
          </a:p>
          <a:p>
            <a:pPr>
              <a:defRPr/>
            </a:pPr>
            <a:r>
              <a:rPr lang="en-US" b="1" dirty="0"/>
              <a:t>Discussion prompt: </a:t>
            </a:r>
            <a:r>
              <a:rPr lang="en-US" dirty="0"/>
              <a:t>Ask if any of the students are familiar with either of the tools and if they are have them talk about scenarios in which they use the tools. Have they used Disk Management remotely?</a:t>
            </a:r>
          </a:p>
          <a:p>
            <a:pPr>
              <a:defRPr/>
            </a:pPr>
            <a:r>
              <a:rPr lang="en-US" dirty="0"/>
              <a:t>Describe each of the following new features as they relate to Disk Management in Windows 7: simpler partition creation, disk conversion options, and extend and shrink partitions.</a:t>
            </a:r>
          </a:p>
          <a:p>
            <a:pPr>
              <a:defRPr/>
            </a:pPr>
            <a:r>
              <a:rPr lang="en-US" dirty="0"/>
              <a:t>Show how to open Disk Management, how to start diskpart, explain  the DISKPART&gt; command prompt , and how to view a list of diskpart commands by typing “commands” at DISKPART&gt;. Talk about how to create a diskpart script, log results of a diskpart session, and discuss common actions. </a:t>
            </a:r>
          </a:p>
          <a:p>
            <a:pPr>
              <a:defRPr/>
            </a:pPr>
            <a:r>
              <a:rPr lang="en-US" dirty="0"/>
              <a:t>You do not need to demonstrate these actions in this topic, you will do so in the next demonstration.</a:t>
            </a:r>
          </a:p>
          <a:p>
            <a:pPr>
              <a:defRPr/>
            </a:pPr>
            <a:r>
              <a:rPr lang="en-US" dirty="0"/>
              <a:t>Discuss what happens when a new hard disk is added and Disk Management is started. Explain that you can switch between GPT and MBR partition styles, but there are ramifications. </a:t>
            </a:r>
            <a:br>
              <a:rPr lang="en-US" dirty="0"/>
            </a:br>
            <a:br>
              <a:rPr lang="en-US" dirty="0"/>
            </a:br>
            <a:r>
              <a:rPr lang="en-US" dirty="0"/>
              <a:t>Make sure that students understand the following before switching partition styles:</a:t>
            </a:r>
          </a:p>
          <a:p>
            <a:pPr lvl="1">
              <a:buClrTx/>
              <a:defRPr/>
            </a:pPr>
            <a:r>
              <a:rPr lang="en-US" dirty="0"/>
              <a:t>Membership in the Backup Operators or Administrators group is required</a:t>
            </a:r>
          </a:p>
          <a:p>
            <a:pPr lvl="1">
              <a:buClrTx/>
              <a:defRPr/>
            </a:pPr>
            <a:r>
              <a:rPr lang="en-US" dirty="0"/>
              <a:t>Back up the entire contents of the hard disk before making changes</a:t>
            </a:r>
          </a:p>
          <a:p>
            <a:pPr lvl="1">
              <a:buClrTx/>
              <a:defRPr/>
            </a:pPr>
            <a:r>
              <a:rPr lang="en-US" dirty="0"/>
              <a:t>Disks must be online before initializing them or creating new partitions or volumes</a:t>
            </a:r>
          </a:p>
          <a:p>
            <a:pPr lvl="1">
              <a:buClrTx/>
              <a:defRPr/>
            </a:pPr>
            <a:r>
              <a:rPr lang="en-US" dirty="0"/>
              <a:t>You can only convert from GPT to MBR if the disk does not contain any volumes or partitions</a:t>
            </a:r>
          </a:p>
          <a:p>
            <a:pPr lvl="1">
              <a:buClrTx/>
              <a:defRPr/>
            </a:pPr>
            <a:r>
              <a:rPr lang="en-US" dirty="0"/>
              <a:t>Use Event Viewer to check the system log for disk-related messages</a:t>
            </a:r>
            <a:br>
              <a:rPr lang="en-US" dirty="0"/>
            </a:br>
            <a:endParaRPr lang="en-US" dirty="0"/>
          </a:p>
          <a:p>
            <a:pPr>
              <a:defRPr/>
            </a:pPr>
            <a:r>
              <a:rPr lang="en-US" dirty="0"/>
              <a:t>Point out that students must not use disk editing tools such as DiskProbe to make changes to GPT disks. Any change made renders the checksums invalid, which might cause the disk to become inaccessible. To make changes to GPT disks, use diskpart or Disk Management.</a:t>
            </a:r>
          </a:p>
          <a:p>
            <a:pPr>
              <a:defRPr/>
            </a:pPr>
            <a:r>
              <a:rPr lang="en-US" b="1" dirty="0"/>
              <a:t>Question:</a:t>
            </a:r>
            <a:r>
              <a:rPr lang="en-US" dirty="0"/>
              <a:t> What is the effect on existing data when you convert a basic disk to a dynamic disk and vice versa? </a:t>
            </a:r>
          </a:p>
          <a:p>
            <a:pPr>
              <a:defRPr/>
            </a:pPr>
            <a:r>
              <a:rPr lang="en-US" b="1" dirty="0"/>
              <a:t>Answer:</a:t>
            </a:r>
            <a:r>
              <a:rPr lang="en-US" dirty="0"/>
              <a:t> Basic disks can be converted to dynamic disks without data loss. However, converting a dynamic disk to basic is not possible without deleting all the volumes first. </a:t>
            </a:r>
          </a:p>
        </p:txBody>
      </p:sp>
    </p:spTree>
    <p:extLst>
      <p:ext uri="{BB962C8B-B14F-4D97-AF65-F5344CB8AC3E}">
        <p14:creationId xmlns:p14="http://schemas.microsoft.com/office/powerpoint/2010/main" val="414668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6E1CDD-2CF3-43E1-AD34-45596F0D26F8}" type="slidenum">
              <a:rPr lang="en-US"/>
              <a:pPr/>
              <a:t>16</a:t>
            </a:fld>
            <a:endParaRPr lang="en-US"/>
          </a:p>
        </p:txBody>
      </p:sp>
      <p:sp>
        <p:nvSpPr>
          <p:cNvPr id="407554" name="Rectangle 2"/>
          <p:cNvSpPr>
            <a:spLocks noGrp="1" noRot="1" noChangeAspect="1" noChangeArrowheads="1" noTextEdit="1"/>
          </p:cNvSpPr>
          <p:nvPr>
            <p:ph type="sldImg"/>
          </p:nvPr>
        </p:nvSpPr>
        <p:spPr>
          <a:ln/>
        </p:spPr>
      </p:sp>
      <p:sp>
        <p:nvSpPr>
          <p:cNvPr id="40755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F72B42-D275-494B-B46C-0C6E28CEB050}" type="slidenum">
              <a:rPr lang="en-US"/>
              <a:pPr/>
              <a:t>17</a:t>
            </a:fld>
            <a:endParaRPr lang="en-US"/>
          </a:p>
        </p:txBody>
      </p:sp>
      <p:sp>
        <p:nvSpPr>
          <p:cNvPr id="364546" name="Rectangle 2"/>
          <p:cNvSpPr>
            <a:spLocks noGrp="1" noRot="1" noChangeAspect="1" noChangeArrowheads="1" noTextEdit="1"/>
          </p:cNvSpPr>
          <p:nvPr>
            <p:ph type="sldImg"/>
          </p:nvPr>
        </p:nvSpPr>
        <p:spPr>
          <a:ln/>
        </p:spPr>
      </p:sp>
      <p:sp>
        <p:nvSpPr>
          <p:cNvPr id="364547"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A45F3B-27F9-41F3-83CA-212C3D8938E4}" type="slidenum">
              <a:rPr lang="en-US"/>
              <a:pPr/>
              <a:t>18</a:t>
            </a:fld>
            <a:endParaRPr lang="en-US"/>
          </a:p>
        </p:txBody>
      </p:sp>
      <p:sp>
        <p:nvSpPr>
          <p:cNvPr id="366594" name="Rectangle 2"/>
          <p:cNvSpPr>
            <a:spLocks noGrp="1" noRot="1" noChangeAspect="1" noChangeArrowheads="1" noTextEdit="1"/>
          </p:cNvSpPr>
          <p:nvPr>
            <p:ph type="sldImg"/>
          </p:nvPr>
        </p:nvSpPr>
        <p:spPr>
          <a:ln/>
        </p:spPr>
      </p:sp>
      <p:sp>
        <p:nvSpPr>
          <p:cNvPr id="36659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827487-736D-48E0-9AF2-0C8E2BBE28C3}" type="slidenum">
              <a:rPr lang="en-US"/>
              <a:pPr/>
              <a:t>19</a:t>
            </a:fld>
            <a:endParaRPr lang="en-US"/>
          </a:p>
        </p:txBody>
      </p:sp>
      <p:sp>
        <p:nvSpPr>
          <p:cNvPr id="408578" name="Rectangle 2"/>
          <p:cNvSpPr>
            <a:spLocks noGrp="1" noRot="1" noChangeAspect="1" noChangeArrowheads="1" noTextEdit="1"/>
          </p:cNvSpPr>
          <p:nvPr>
            <p:ph type="sldImg"/>
          </p:nvPr>
        </p:nvSpPr>
        <p:spPr>
          <a:ln/>
        </p:spPr>
      </p:sp>
      <p:sp>
        <p:nvSpPr>
          <p:cNvPr id="40857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774E0F99-CEE1-47FC-8BAC-BEE06039584A}" type="slidenum">
              <a:rPr lang="en-US" smtClean="0"/>
              <a:pPr>
                <a:defRPr/>
              </a:pPr>
              <a:t>20</a:t>
            </a:fld>
            <a:endParaRPr lang="en-US" dirty="0"/>
          </a:p>
        </p:txBody>
      </p:sp>
      <p:sp>
        <p:nvSpPr>
          <p:cNvPr id="58373" name="Rectangle 2"/>
          <p:cNvSpPr>
            <a:spLocks noGrp="1" noRot="1" noChangeAspect="1" noChangeArrowheads="1" noTextEdit="1"/>
          </p:cNvSpPr>
          <p:nvPr>
            <p:ph type="sldImg"/>
          </p:nvPr>
        </p:nvSpPr>
        <p:spPr>
          <a:ln/>
        </p:spPr>
      </p:sp>
      <p:sp>
        <p:nvSpPr>
          <p:cNvPr id="53254" name="Rectangle 3"/>
          <p:cNvSpPr>
            <a:spLocks noGrp="1" noChangeArrowheads="1"/>
          </p:cNvSpPr>
          <p:nvPr>
            <p:ph type="body" idx="1"/>
          </p:nvPr>
        </p:nvSpPr>
        <p:spPr>
          <a:xfrm>
            <a:off x="308075" y="2148417"/>
            <a:ext cx="6149578" cy="6731000"/>
          </a:xfrm>
          <a:ln/>
        </p:spPr>
        <p:txBody>
          <a:bodyPr/>
          <a:lstStyle/>
          <a:p>
            <a:pPr>
              <a:defRPr/>
            </a:pPr>
            <a:r>
              <a:rPr lang="en-US" b="1" dirty="0"/>
              <a:t>Key message: </a:t>
            </a:r>
            <a:r>
              <a:rPr lang="en-US" dirty="0"/>
              <a:t>Create a spanned volume when you want to encompass several areas of unallocated space on two or more disks. The benefits of using spanned volumes include fault isolation, uncomplicated capacity planning, and straightforward performance analysis. Striped volumes map stripes of data cyclically across the disks. Create a striped volume when you want to improve the I/O performance of the computer. Striped volumes provide for higher throughput by distributing I/O across all disks configured as part of the set.</a:t>
            </a:r>
          </a:p>
          <a:p>
            <a:pPr>
              <a:defRPr/>
            </a:pPr>
            <a:r>
              <a:rPr lang="en-US" b="1" dirty="0"/>
              <a:t>Whiteboard: </a:t>
            </a:r>
            <a:r>
              <a:rPr lang="en-US" dirty="0"/>
              <a:t>Add spanned and striped performance information to the whiteboard and discuss.</a:t>
            </a:r>
          </a:p>
          <a:p>
            <a:pPr>
              <a:defRPr/>
            </a:pPr>
            <a:r>
              <a:rPr lang="en-US" b="1" dirty="0"/>
              <a:t>To build this slide: </a:t>
            </a:r>
          </a:p>
          <a:p>
            <a:pPr marL="224300" indent="-224300">
              <a:buFontTx/>
              <a:buAutoNum type="arabicPeriod"/>
              <a:defRPr/>
            </a:pPr>
            <a:r>
              <a:rPr lang="en-US" dirty="0"/>
              <a:t>Click to have the definitions fly out.</a:t>
            </a:r>
          </a:p>
          <a:p>
            <a:pPr marL="224300" indent="-224300">
              <a:buFontTx/>
              <a:buAutoNum type="arabicPeriod"/>
              <a:defRPr/>
            </a:pPr>
            <a:r>
              <a:rPr lang="en-US" dirty="0"/>
              <a:t>Click to have the spanned characteristics appear.</a:t>
            </a:r>
          </a:p>
          <a:p>
            <a:pPr marL="224300" indent="-224300">
              <a:buFontTx/>
              <a:buAutoNum type="arabicPeriod"/>
              <a:defRPr/>
            </a:pPr>
            <a:r>
              <a:rPr lang="en-US" dirty="0"/>
              <a:t>Click to have the striped characteristics appear.</a:t>
            </a:r>
          </a:p>
          <a:p>
            <a:pPr>
              <a:defRPr/>
            </a:pPr>
            <a:r>
              <a:rPr lang="en-US" dirty="0"/>
              <a:t>Discuss the definitions of each type of volume. Contrast the characteristics of spanned and striped volumes using the information on the slide. This helps students identify when to use either type of volume.</a:t>
            </a:r>
          </a:p>
          <a:p>
            <a:pPr>
              <a:defRPr/>
            </a:pPr>
            <a:r>
              <a:rPr lang="en-US" dirty="0"/>
              <a:t>Mention that when creating spanned volumes on dynamic disks, it is necessary to define how much space to allocate to the spanned volume from each physical disk. Also, when talking about the shrink process, note that no data loss occurs; however, the number of disks involved may decrease. If the spanned volume resides on a single disk, the spanned volume is converted into a simple volume. If there is an empty dynamic disk(s) that results from shrinking a spanned volume, the empty dynamic disk is implicitly converted to a basic disk.</a:t>
            </a:r>
          </a:p>
          <a:p>
            <a:pPr>
              <a:defRPr/>
            </a:pPr>
            <a:r>
              <a:rPr lang="en-US" dirty="0"/>
              <a:t>Talk about how striped volumes are well suited for isolating the paging file. Explain that by creating a volume where PAGEFILE.SYS is the only file on the entire volume, the paging file is less likely to become fragmented, which helps improve performance. Redundancy is not normally required for the paging file. </a:t>
            </a:r>
          </a:p>
          <a:p>
            <a:pPr>
              <a:defRPr/>
            </a:pPr>
            <a:r>
              <a:rPr lang="en-US" dirty="0"/>
              <a:t>Point out the following differences:</a:t>
            </a:r>
          </a:p>
          <a:p>
            <a:pPr lvl="1">
              <a:buClrTx/>
              <a:defRPr/>
            </a:pPr>
            <a:r>
              <a:rPr lang="en-US" dirty="0"/>
              <a:t>When allocating space for a striped disk, the allocated space from each disk must be identical.</a:t>
            </a:r>
          </a:p>
          <a:p>
            <a:pPr lvl="1">
              <a:buClrTx/>
              <a:defRPr/>
            </a:pPr>
            <a:r>
              <a:rPr lang="en-US" dirty="0"/>
              <a:t>It is possible to delete a striped volume, but it is not possible to extend or to shrink the volume. </a:t>
            </a:r>
          </a:p>
          <a:p>
            <a:pPr>
              <a:defRPr/>
            </a:pPr>
            <a:r>
              <a:rPr lang="en-US" b="1" dirty="0"/>
              <a:t>Discussion prompt: </a:t>
            </a:r>
            <a:r>
              <a:rPr lang="en-US" dirty="0"/>
              <a:t>Ask students if there have been times when they have wanted to upgrade or in some way alter the configuration of computer hardware or software. Some examples are as follows:</a:t>
            </a:r>
          </a:p>
          <a:p>
            <a:pPr lvl="1">
              <a:buClrTx/>
              <a:defRPr/>
            </a:pPr>
            <a:r>
              <a:rPr lang="en-US" dirty="0"/>
              <a:t>When the addition of functionality adds value to your organization</a:t>
            </a:r>
          </a:p>
          <a:p>
            <a:pPr lvl="1">
              <a:buClrTx/>
              <a:defRPr/>
            </a:pPr>
            <a:r>
              <a:rPr lang="en-US" dirty="0"/>
              <a:t>When a fault in software, hardware, or the combined architecture results in an application failing</a:t>
            </a:r>
          </a:p>
          <a:p>
            <a:pPr lvl="1">
              <a:buClrTx/>
              <a:defRPr/>
            </a:pPr>
            <a:r>
              <a:rPr lang="en-US" dirty="0"/>
              <a:t>When a change in the functionality or role of a server or workstation occurs </a:t>
            </a:r>
          </a:p>
          <a:p>
            <a:pPr>
              <a:defRPr/>
            </a:pPr>
            <a:r>
              <a:rPr lang="en-US" dirty="0"/>
              <a:t>Make sure that even though other forms of volume management, with different types of fault tolerance and recovery, are not covered in this module, they must be considered during times of change, for example, using RAID-1 or RAID-5 volumes, hardware mirroring, and disk duplexing. </a:t>
            </a:r>
          </a:p>
          <a:p>
            <a:pPr>
              <a:defRPr/>
            </a:pPr>
            <a:r>
              <a:rPr lang="en-US" b="1" dirty="0"/>
              <a:t>Question: </a:t>
            </a:r>
            <a:r>
              <a:rPr lang="en-US" dirty="0"/>
              <a:t>Describe scenarios when you create a spanned volume and when you create a striped volume.</a:t>
            </a:r>
          </a:p>
          <a:p>
            <a:pPr>
              <a:defRPr/>
            </a:pPr>
            <a:r>
              <a:rPr lang="en-US" b="1" dirty="0"/>
              <a:t>Answer: </a:t>
            </a:r>
            <a:r>
              <a:rPr lang="en-US" dirty="0"/>
              <a:t>Create a spanned volume when you want to encompass several areas of unallocated space on two or more disks. Create a striped volume when you want to improve the I/O performance of the computer.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2D6F9F-B334-451C-8F61-02D43567B50A}" type="slidenum">
              <a:rPr lang="en-US"/>
              <a:pPr/>
              <a:t>21</a:t>
            </a:fld>
            <a:endParaRPr lang="en-US"/>
          </a:p>
        </p:txBody>
      </p:sp>
      <p:sp>
        <p:nvSpPr>
          <p:cNvPr id="410626" name="Rectangle 2"/>
          <p:cNvSpPr>
            <a:spLocks noGrp="1" noRot="1" noChangeAspect="1" noChangeArrowheads="1" noTextEdit="1"/>
          </p:cNvSpPr>
          <p:nvPr>
            <p:ph type="sldImg"/>
          </p:nvPr>
        </p:nvSpPr>
        <p:spPr>
          <a:ln/>
        </p:spPr>
      </p:sp>
      <p:sp>
        <p:nvSpPr>
          <p:cNvPr id="410627"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BE9F5F-B6E5-4E1E-B30C-2E537791618D}" type="slidenum">
              <a:rPr lang="en-US"/>
              <a:pPr/>
              <a:t>22</a:t>
            </a:fld>
            <a:endParaRPr lang="en-US"/>
          </a:p>
        </p:txBody>
      </p:sp>
      <p:sp>
        <p:nvSpPr>
          <p:cNvPr id="377858" name="Rectangle 2"/>
          <p:cNvSpPr>
            <a:spLocks noGrp="1" noRot="1" noChangeAspect="1" noChangeArrowheads="1" noTextEdit="1"/>
          </p:cNvSpPr>
          <p:nvPr>
            <p:ph type="sldImg"/>
          </p:nvPr>
        </p:nvSpPr>
        <p:spPr>
          <a:ln/>
        </p:spPr>
      </p:sp>
      <p:sp>
        <p:nvSpPr>
          <p:cNvPr id="37785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E81A00F-0B52-477E-848D-6C9A3AE32DC5}" type="slidenum">
              <a:rPr lang="en-US"/>
              <a:pPr/>
              <a:t>23</a:t>
            </a:fld>
            <a:endParaRPr lang="en-US"/>
          </a:p>
        </p:txBody>
      </p:sp>
      <p:sp>
        <p:nvSpPr>
          <p:cNvPr id="411650" name="Rectangle 2"/>
          <p:cNvSpPr>
            <a:spLocks noGrp="1" noRot="1" noChangeAspect="1" noChangeArrowheads="1" noTextEdit="1"/>
          </p:cNvSpPr>
          <p:nvPr>
            <p:ph type="sldImg"/>
          </p:nvPr>
        </p:nvSpPr>
        <p:spPr>
          <a:ln/>
        </p:spPr>
      </p:sp>
      <p:sp>
        <p:nvSpPr>
          <p:cNvPr id="41165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E81A00F-0B52-477E-848D-6C9A3AE32DC5}" type="slidenum">
              <a:rPr lang="en-US"/>
              <a:pPr/>
              <a:t>24</a:t>
            </a:fld>
            <a:endParaRPr lang="en-US"/>
          </a:p>
        </p:txBody>
      </p:sp>
      <p:sp>
        <p:nvSpPr>
          <p:cNvPr id="411650" name="Rectangle 2"/>
          <p:cNvSpPr>
            <a:spLocks noGrp="1" noRot="1" noChangeAspect="1" noChangeArrowheads="1" noTextEdit="1"/>
          </p:cNvSpPr>
          <p:nvPr>
            <p:ph type="sldImg"/>
          </p:nvPr>
        </p:nvSpPr>
        <p:spPr>
          <a:ln/>
        </p:spPr>
      </p:sp>
      <p:sp>
        <p:nvSpPr>
          <p:cNvPr id="41165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8DBF0E-9910-4F04-84F1-1D95266B003F}" type="slidenum">
              <a:rPr lang="en-US"/>
              <a:pPr/>
              <a:t>25</a:t>
            </a:fld>
            <a:endParaRPr lang="en-US"/>
          </a:p>
        </p:txBody>
      </p:sp>
      <p:sp>
        <p:nvSpPr>
          <p:cNvPr id="412674" name="Rectangle 2"/>
          <p:cNvSpPr>
            <a:spLocks noGrp="1" noRot="1" noChangeAspect="1" noChangeArrowheads="1" noTextEdit="1"/>
          </p:cNvSpPr>
          <p:nvPr>
            <p:ph type="sldImg"/>
          </p:nvPr>
        </p:nvSpPr>
        <p:spPr>
          <a:ln/>
        </p:spPr>
      </p:sp>
      <p:sp>
        <p:nvSpPr>
          <p:cNvPr id="41267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E5D3B6-E170-4C45-B65D-56175A2BD68E}" type="slidenum">
              <a:rPr lang="en-US"/>
              <a:pPr/>
              <a:t>26</a:t>
            </a:fld>
            <a:endParaRPr lang="en-US"/>
          </a:p>
        </p:txBody>
      </p:sp>
      <p:sp>
        <p:nvSpPr>
          <p:cNvPr id="381954" name="Rectangle 2"/>
          <p:cNvSpPr>
            <a:spLocks noGrp="1" noRot="1" noChangeAspect="1" noChangeArrowheads="1" noTextEdit="1"/>
          </p:cNvSpPr>
          <p:nvPr>
            <p:ph type="sldImg"/>
          </p:nvPr>
        </p:nvSpPr>
        <p:spPr>
          <a:ln/>
        </p:spPr>
      </p:sp>
      <p:sp>
        <p:nvSpPr>
          <p:cNvPr id="38195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80B62C-392E-4D7B-BFFE-6BB4F9B0F7CB}" type="slidenum">
              <a:rPr lang="en-US"/>
              <a:pPr/>
              <a:t>27</a:t>
            </a:fld>
            <a:endParaRPr lang="en-US"/>
          </a:p>
        </p:txBody>
      </p:sp>
      <p:sp>
        <p:nvSpPr>
          <p:cNvPr id="384002" name="Rectangle 2"/>
          <p:cNvSpPr>
            <a:spLocks noGrp="1" noRot="1" noChangeAspect="1" noChangeArrowheads="1" noTextEdit="1"/>
          </p:cNvSpPr>
          <p:nvPr>
            <p:ph type="sldImg"/>
          </p:nvPr>
        </p:nvSpPr>
        <p:spPr>
          <a:ln/>
        </p:spPr>
      </p:sp>
      <p:sp>
        <p:nvSpPr>
          <p:cNvPr id="38400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1135B5-3E13-4596-BF6B-BF979831DEE9}" type="slidenum">
              <a:rPr lang="en-US"/>
              <a:pPr/>
              <a:t>28</a:t>
            </a:fld>
            <a:endParaRPr lang="en-US"/>
          </a:p>
        </p:txBody>
      </p:sp>
      <p:sp>
        <p:nvSpPr>
          <p:cNvPr id="387074" name="Rectangle 2"/>
          <p:cNvSpPr>
            <a:spLocks noGrp="1" noRot="1" noChangeAspect="1" noChangeArrowheads="1" noTextEdit="1"/>
          </p:cNvSpPr>
          <p:nvPr>
            <p:ph type="sldImg"/>
          </p:nvPr>
        </p:nvSpPr>
        <p:spPr>
          <a:ln/>
        </p:spPr>
      </p:sp>
      <p:sp>
        <p:nvSpPr>
          <p:cNvPr id="38707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5EBA09D2-D58B-4477-BEF0-4E2211C3E0F6}" type="slidenum">
              <a:rPr lang="en-US" smtClean="0"/>
              <a:pPr>
                <a:defRPr/>
              </a:pPr>
              <a:t>29</a:t>
            </a:fld>
            <a:endParaRPr lang="en-US" dirty="0"/>
          </a:p>
        </p:txBody>
      </p:sp>
      <p:sp>
        <p:nvSpPr>
          <p:cNvPr id="64517" name="Rectangle 2"/>
          <p:cNvSpPr>
            <a:spLocks noGrp="1" noRot="1" noChangeAspect="1" noChangeArrowheads="1" noTextEdit="1"/>
          </p:cNvSpPr>
          <p:nvPr>
            <p:ph type="sldImg"/>
          </p:nvPr>
        </p:nvSpPr>
        <p:spPr>
          <a:ln/>
        </p:spPr>
      </p:sp>
      <p:sp>
        <p:nvSpPr>
          <p:cNvPr id="61446" name="Rectangle 3"/>
          <p:cNvSpPr>
            <a:spLocks noGrp="1" noChangeArrowheads="1"/>
          </p:cNvSpPr>
          <p:nvPr>
            <p:ph type="body" idx="1"/>
          </p:nvPr>
        </p:nvSpPr>
        <p:spPr>
          <a:xfrm>
            <a:off x="308075" y="2148417"/>
            <a:ext cx="6149578" cy="6731000"/>
          </a:xfrm>
          <a:ln/>
        </p:spPr>
        <p:txBody>
          <a:bodyPr/>
          <a:lstStyle/>
          <a:p>
            <a:pPr>
              <a:defRPr/>
            </a:pPr>
            <a:r>
              <a:rPr lang="en-US" b="1" dirty="0"/>
              <a:t>Key message: </a:t>
            </a:r>
            <a:r>
              <a:rPr lang="en-US" dirty="0"/>
              <a:t>Fragmentation of the file system occurs over time as you save, change, and delete files. Initially, the Windows I/O manager saves files in contiguous areas on a given volume. As the volume fills up with data and other files, contiguous areas of free-space are harder to find. In addition, when a file is extended, there may not be contiguous free-space following the existing file blocks; this forces the I/O manager to save the remainder of the file in a non-contiguous area.</a:t>
            </a:r>
            <a:br>
              <a:rPr lang="en-US" dirty="0"/>
            </a:br>
            <a:endParaRPr lang="en-US" dirty="0"/>
          </a:p>
          <a:p>
            <a:pPr>
              <a:defRPr/>
            </a:pPr>
            <a:r>
              <a:rPr lang="en-US" dirty="0"/>
              <a:t>Use the slide to show the process of disk fragmentation and then explain how disk fragmentation affects performance. Each color represents one file and white is free space. The first diagram represents the ideal state of a disk: the three files are stored in contiguous areas and there is no fragmentation. In the second illustration, fragmentation has occurred when file A grew. A portion of data is now located in a non-contiguous location. On the next slide is a diagram that shows how the file data looks after the disk is defragmented.</a:t>
            </a:r>
            <a:br>
              <a:rPr lang="en-US" dirty="0"/>
            </a:br>
            <a:endParaRPr lang="en-US" dirty="0"/>
          </a:p>
          <a:p>
            <a:pPr>
              <a:defRPr/>
            </a:pPr>
            <a:r>
              <a:rPr lang="en-US" b="1" dirty="0"/>
              <a:t>To build this slide:</a:t>
            </a:r>
          </a:p>
          <a:p>
            <a:pPr>
              <a:defRPr/>
            </a:pPr>
            <a:r>
              <a:rPr lang="en-US" dirty="0"/>
              <a:t>This slide starts with the definition of disk fragmentation visible. To build the remainder of the slide:</a:t>
            </a:r>
          </a:p>
          <a:p>
            <a:pPr marL="224300" indent="-224300">
              <a:buFont typeface="+mj-lt"/>
              <a:buAutoNum type="arabicPeriod"/>
              <a:defRPr/>
            </a:pPr>
            <a:r>
              <a:rPr lang="en-US" dirty="0"/>
              <a:t>Click to show what disk fragmentation can consist of and lead to.</a:t>
            </a:r>
          </a:p>
          <a:p>
            <a:pPr marL="224300" indent="-224300">
              <a:buFont typeface="+mj-lt"/>
              <a:buAutoNum type="arabicPeriod"/>
              <a:defRPr/>
            </a:pPr>
            <a:r>
              <a:rPr lang="en-US" dirty="0"/>
              <a:t>Click to show a visual representation of an ideal disk and a fragmented disk. Tell students how contiguous areas of free-space are reduced with saving, updating, and deleting files.</a:t>
            </a:r>
            <a:br>
              <a:rPr lang="en-US" dirty="0"/>
            </a:br>
            <a:endParaRPr lang="en-US" b="1" i="1" dirty="0"/>
          </a:p>
          <a:p>
            <a:pPr>
              <a:defRPr/>
            </a:pPr>
            <a:r>
              <a:rPr lang="en-US" b="1" dirty="0"/>
              <a:t>Discussion prompt: </a:t>
            </a:r>
            <a:r>
              <a:rPr lang="en-US" dirty="0"/>
              <a:t>Have students discuss situations in which they have encountered fragmentation and how it affected the end-users. What were the symptoms that were reported?</a:t>
            </a:r>
          </a:p>
          <a:p>
            <a:pPr eaLnBrk="1" hangingPunct="1">
              <a:defRPr/>
            </a:pPr>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80FC73B8-B1C6-439E-9E9A-101D8905B21C}" type="slidenum">
              <a:rPr lang="en-US" smtClean="0"/>
              <a:pPr>
                <a:defRPr/>
              </a:pPr>
              <a:t>30</a:t>
            </a:fld>
            <a:endParaRPr lang="en-US" dirty="0"/>
          </a:p>
        </p:txBody>
      </p:sp>
      <p:sp>
        <p:nvSpPr>
          <p:cNvPr id="65541" name="Rectangle 2"/>
          <p:cNvSpPr>
            <a:spLocks noGrp="1" noRot="1" noChangeAspect="1" noChangeArrowheads="1" noTextEdit="1"/>
          </p:cNvSpPr>
          <p:nvPr>
            <p:ph type="sldImg"/>
          </p:nvPr>
        </p:nvSpPr>
        <p:spPr>
          <a:ln/>
        </p:spPr>
      </p:sp>
      <p:sp>
        <p:nvSpPr>
          <p:cNvPr id="62470" name="Rectangle 3"/>
          <p:cNvSpPr>
            <a:spLocks noGrp="1" noChangeArrowheads="1"/>
          </p:cNvSpPr>
          <p:nvPr>
            <p:ph type="body" idx="1"/>
          </p:nvPr>
        </p:nvSpPr>
        <p:spPr>
          <a:xfrm>
            <a:off x="308075" y="2090965"/>
            <a:ext cx="6149578" cy="6731000"/>
          </a:xfrm>
          <a:ln/>
        </p:spPr>
        <p:txBody>
          <a:bodyPr/>
          <a:lstStyle/>
          <a:p>
            <a:pPr>
              <a:defRPr/>
            </a:pPr>
            <a:r>
              <a:rPr lang="en-US" b="1" dirty="0"/>
              <a:t>Key message: </a:t>
            </a:r>
            <a:r>
              <a:rPr lang="en-US" dirty="0"/>
              <a:t>A fragmented disk will negatively impact computer performance. To help reduce the impact of disk fragmentation on disk volumes, including USB drives, Windows 7 continues to make Disk Defragmenter available. Disk Defragmenter rearranges fragmented data so that disks and drives can work more efficiently. Ask students if they have ever needed to place restrictions on users’ disk-space consumption.</a:t>
            </a:r>
            <a:br>
              <a:rPr lang="en-US" dirty="0"/>
            </a:br>
            <a:endParaRPr lang="en-US" dirty="0"/>
          </a:p>
          <a:p>
            <a:pPr>
              <a:defRPr/>
            </a:pPr>
            <a:r>
              <a:rPr lang="en-US" b="1" dirty="0"/>
              <a:t>To build this slide:</a:t>
            </a:r>
          </a:p>
          <a:p>
            <a:pPr marL="224300" indent="-224300">
              <a:buFont typeface="+mj-lt"/>
              <a:buAutoNum type="arabicPeriod"/>
              <a:defRPr/>
            </a:pPr>
            <a:r>
              <a:rPr lang="en-US" dirty="0"/>
              <a:t>Click to show the graphical representation of a defragmented slide. Contrast the fragmented disk and defragmented disk so the students can see the difference.</a:t>
            </a:r>
          </a:p>
          <a:p>
            <a:pPr marL="224300" indent="-224300">
              <a:buFont typeface="+mj-lt"/>
              <a:buAutoNum type="arabicPeriod"/>
              <a:defRPr/>
            </a:pPr>
            <a:r>
              <a:rPr lang="en-US" dirty="0"/>
              <a:t>Click to show the remaining bullet points and discuss each.</a:t>
            </a:r>
            <a:br>
              <a:rPr lang="en-US" dirty="0"/>
            </a:br>
            <a:endParaRPr lang="en-US" dirty="0"/>
          </a:p>
          <a:p>
            <a:pPr>
              <a:defRPr/>
            </a:pPr>
            <a:r>
              <a:rPr lang="en-US" dirty="0"/>
              <a:t>Open Disk Defragmenter. Right-click a volume in Windows Explorer, click </a:t>
            </a:r>
            <a:r>
              <a:rPr lang="en-US" b="1" dirty="0"/>
              <a:t>Properties</a:t>
            </a:r>
            <a:r>
              <a:rPr lang="en-US" dirty="0"/>
              <a:t>, click the </a:t>
            </a:r>
            <a:r>
              <a:rPr lang="en-US" b="1" dirty="0"/>
              <a:t>Tools </a:t>
            </a:r>
            <a:r>
              <a:rPr lang="en-US" dirty="0"/>
              <a:t>tab, and then click </a:t>
            </a:r>
            <a:r>
              <a:rPr lang="en-US" b="1" dirty="0"/>
              <a:t>Defragment Now</a:t>
            </a:r>
            <a:r>
              <a:rPr lang="en-US" dirty="0"/>
              <a:t>. Show the students the following tasks and explain each:</a:t>
            </a:r>
          </a:p>
          <a:p>
            <a:pPr lvl="1">
              <a:buClrTx/>
              <a:defRPr/>
            </a:pPr>
            <a:r>
              <a:rPr lang="en-US" dirty="0"/>
              <a:t>Disable automatic defragmentation</a:t>
            </a:r>
          </a:p>
          <a:p>
            <a:pPr lvl="1">
              <a:buClrTx/>
              <a:defRPr/>
            </a:pPr>
            <a:r>
              <a:rPr lang="en-US" dirty="0"/>
              <a:t>Modify the defragmentation schedule</a:t>
            </a:r>
          </a:p>
          <a:p>
            <a:pPr lvl="1">
              <a:buClrTx/>
              <a:defRPr/>
            </a:pPr>
            <a:r>
              <a:rPr lang="en-US" dirty="0"/>
              <a:t>Select which volumes you want to defragment</a:t>
            </a:r>
          </a:p>
          <a:p>
            <a:pPr lvl="1">
              <a:buClrTx/>
              <a:defRPr/>
            </a:pPr>
            <a:r>
              <a:rPr lang="en-US" dirty="0"/>
              <a:t>Analyze the disk to determine whether it requires defragmentation</a:t>
            </a:r>
          </a:p>
          <a:p>
            <a:pPr lvl="1">
              <a:buClrTx/>
              <a:defRPr/>
            </a:pPr>
            <a:r>
              <a:rPr lang="en-US" dirty="0"/>
              <a:t>Launch a manual defragmentation</a:t>
            </a:r>
            <a:br>
              <a:rPr lang="en-US" dirty="0"/>
            </a:br>
            <a:endParaRPr lang="en-US" dirty="0"/>
          </a:p>
          <a:p>
            <a:pPr>
              <a:defRPr/>
            </a:pPr>
            <a:r>
              <a:rPr lang="en-US" dirty="0"/>
              <a:t>Ensure that students know that Disk Defragmenter might take from several minutes to a few hours to finish depending on the size and degree of fragmentation of the disk or USB device and that the computer can be used during the defragmentation process.</a:t>
            </a:r>
          </a:p>
          <a:p>
            <a:pPr>
              <a:defRPr/>
            </a:pPr>
            <a:r>
              <a:rPr lang="en-US" dirty="0"/>
              <a:t>If students are interested in running disk defragmentation from an elevated Command Prompt, refer them to the Companion Content CD for more information.</a:t>
            </a:r>
            <a:br>
              <a:rPr lang="en-US" dirty="0"/>
            </a:br>
            <a:endParaRPr lang="en-US" dirty="0"/>
          </a:p>
          <a:p>
            <a:pPr>
              <a:defRPr/>
            </a:pPr>
            <a:r>
              <a:rPr lang="en-US" dirty="0"/>
              <a:t>Mention additional ways to help prevent disk fragmentation:</a:t>
            </a:r>
          </a:p>
          <a:p>
            <a:pPr lvl="1">
              <a:buClrTx/>
              <a:defRPr/>
            </a:pPr>
            <a:r>
              <a:rPr lang="en-US" dirty="0"/>
              <a:t>Partition the disk in such a way that static files are isolated from those that are created and deleted frequently (such as some user profile and temporary internet files). </a:t>
            </a:r>
          </a:p>
          <a:p>
            <a:pPr lvl="1">
              <a:buClrTx/>
              <a:defRPr/>
            </a:pPr>
            <a:r>
              <a:rPr lang="en-US" dirty="0"/>
              <a:t>Per-user preferences for console files are saved in your profile. As these changes accumulate, they consume disk space. To free that disk space, use the Disk Cleanup feature. </a:t>
            </a:r>
            <a:br>
              <a:rPr lang="en-US" dirty="0"/>
            </a:br>
            <a:endParaRPr lang="en-US" dirty="0"/>
          </a:p>
          <a:p>
            <a:pPr>
              <a:defRPr/>
            </a:pPr>
            <a:r>
              <a:rPr lang="en-US" dirty="0"/>
              <a:t>Also, mention that in addition to regularly defragmenting a disk, regular backups of data must be made to prevent data loss. Also, administrators must monitor logs in Event Viewer, use Performance Monitor, and Reliability Monitor to help predict and identify the sources of system problems. </a:t>
            </a:r>
          </a:p>
          <a:p>
            <a:pPr>
              <a:defRPr/>
            </a:pPr>
            <a:br>
              <a:rPr lang="en-US" dirty="0"/>
            </a:br>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67A582-158E-45AC-A90A-C0084FD564E6}" type="slidenum">
              <a:rPr lang="en-US"/>
              <a:pPr/>
              <a:t>31</a:t>
            </a:fld>
            <a:endParaRPr lang="en-US"/>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11/4/2024</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b="1">
                <a:solidFill>
                  <a:schemeClr val="tx1"/>
                </a:solidFill>
              </a:defRPr>
            </a:lvl1p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11/4/2024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11/4/2024</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11/4/2024</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11/4/2024</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11/4/2024</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11/4/2024</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11/4/2024</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11/4/2024</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11/4/2024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11/4/2024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11/4/2024</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2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a:xfrm>
            <a:off x="694316" y="2133600"/>
            <a:ext cx="7524750" cy="2237654"/>
          </a:xfrm>
          <a:noFill/>
          <a:ln/>
        </p:spPr>
        <p:txBody>
          <a:bodyPr lIns="90488" tIns="44450" rIns="90488" bIns="44450"/>
          <a:lstStyle/>
          <a:p>
            <a:pPr algn="ctr">
              <a:lnSpc>
                <a:spcPct val="95000"/>
              </a:lnSpc>
            </a:pPr>
            <a:r>
              <a:rPr lang="fr-FR" sz="5000" dirty="0">
                <a:solidFill>
                  <a:schemeClr val="tx1"/>
                </a:solidFill>
                <a:latin typeface="Arial" pitchFamily="34" charset="0"/>
                <a:cs typeface="Arial" pitchFamily="34" charset="0"/>
              </a:rPr>
              <a:t>Chapitre 4 </a:t>
            </a:r>
            <a:br>
              <a:rPr lang="fr-FR" sz="5000" dirty="0">
                <a:solidFill>
                  <a:schemeClr val="tx1"/>
                </a:solidFill>
                <a:latin typeface="Arial" pitchFamily="34" charset="0"/>
                <a:cs typeface="Arial" pitchFamily="34" charset="0"/>
              </a:rPr>
            </a:br>
            <a:r>
              <a:rPr lang="fr-FR" sz="5000" dirty="0">
                <a:solidFill>
                  <a:schemeClr val="tx1"/>
                </a:solidFill>
                <a:latin typeface="Arial" pitchFamily="34" charset="0"/>
                <a:cs typeface="Arial" pitchFamily="34" charset="0"/>
              </a:rPr>
              <a:t>Gestion des disques</a:t>
            </a:r>
            <a:endParaRPr lang="en-US" sz="5000" dirty="0">
              <a:solidFill>
                <a:schemeClr val="tx1"/>
              </a:solidFill>
              <a:latin typeface="Arial" pitchFamily="34" charset="0"/>
              <a:cs typeface="Arial" pitchFamily="34" charset="0"/>
            </a:endParaRPr>
          </a:p>
        </p:txBody>
      </p:sp>
      <p:sp>
        <p:nvSpPr>
          <p:cNvPr id="3" name="Rectangle 2"/>
          <p:cNvSpPr/>
          <p:nvPr/>
        </p:nvSpPr>
        <p:spPr>
          <a:xfrm>
            <a:off x="3076125" y="293311"/>
            <a:ext cx="2950605" cy="707886"/>
          </a:xfrm>
          <a:prstGeom prst="rect">
            <a:avLst/>
          </a:prstGeom>
        </p:spPr>
        <p:txBody>
          <a:bodyPr wrap="square">
            <a:spAutoFit/>
          </a:bodyPr>
          <a:lstStyle/>
          <a:p>
            <a:r>
              <a:rPr lang="fr-FR" sz="4000" dirty="0">
                <a:solidFill>
                  <a:schemeClr val="tx1"/>
                </a:solidFill>
                <a:latin typeface="Times New Roman" pitchFamily="18" charset="0"/>
                <a:cs typeface="Times New Roman" pitchFamily="18" charset="0"/>
              </a:rPr>
              <a:t>Module S41</a:t>
            </a:r>
            <a:endParaRPr lang="fr-FR" sz="40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8" name="Rectangle 4"/>
          <p:cNvSpPr>
            <a:spLocks noGrp="1" noChangeArrowheads="1"/>
          </p:cNvSpPr>
          <p:nvPr>
            <p:ph type="title"/>
          </p:nvPr>
        </p:nvSpPr>
        <p:spPr/>
        <p:txBody>
          <a:bodyPr/>
          <a:lstStyle/>
          <a:p>
            <a:r>
              <a:rPr lang="en-US" dirty="0">
                <a:solidFill>
                  <a:schemeClr val="tx1"/>
                </a:solidFill>
                <a:cs typeface="Times New Roman" pitchFamily="18" charset="0"/>
              </a:rPr>
              <a:t>Plan du </a:t>
            </a:r>
            <a:r>
              <a:rPr lang="en-US" dirty="0" err="1">
                <a:solidFill>
                  <a:schemeClr val="tx1"/>
                </a:solidFill>
                <a:cs typeface="Times New Roman" pitchFamily="18" charset="0"/>
              </a:rPr>
              <a:t>cours</a:t>
            </a:r>
            <a:endParaRPr lang="en-US" dirty="0">
              <a:solidFill>
                <a:schemeClr val="tx1"/>
              </a:solidFill>
            </a:endParaRPr>
          </a:p>
        </p:txBody>
      </p:sp>
      <p:sp>
        <p:nvSpPr>
          <p:cNvPr id="354309" name="Rectangle 5"/>
          <p:cNvSpPr>
            <a:spLocks noGrp="1" noChangeArrowheads="1"/>
          </p:cNvSpPr>
          <p:nvPr>
            <p:ph sz="quarter" idx="1"/>
          </p:nvPr>
        </p:nvSpPr>
        <p:spPr>
          <a:xfrm>
            <a:off x="426443" y="1984248"/>
            <a:ext cx="8503920" cy="3557570"/>
          </a:xfrm>
        </p:spPr>
        <p:txBody>
          <a:bodyPr>
            <a:normAutofit/>
          </a:bodyPr>
          <a:lstStyle/>
          <a:p>
            <a:pPr marL="514350" indent="-514350">
              <a:buClrTx/>
              <a:buFont typeface="+mj-lt"/>
              <a:buAutoNum type="arabicPeriod"/>
            </a:pPr>
            <a:r>
              <a:rPr lang="fr-FR" sz="2800" dirty="0"/>
              <a:t>Le partitionnement des disques sous Windows 7</a:t>
            </a:r>
            <a:endParaRPr lang="en-US" sz="2800" dirty="0">
              <a:cs typeface="Times New Roman" pitchFamily="18" charset="0"/>
            </a:endParaRPr>
          </a:p>
          <a:p>
            <a:pPr marL="514350" indent="-514350">
              <a:buClrTx/>
              <a:buFont typeface="+mj-lt"/>
              <a:buAutoNum type="arabicPeriod"/>
            </a:pPr>
            <a:r>
              <a:rPr lang="en-US" sz="2800" dirty="0" err="1">
                <a:cs typeface="Times New Roman" pitchFamily="18" charset="0"/>
              </a:rPr>
              <a:t>Utilisation</a:t>
            </a:r>
            <a:r>
              <a:rPr lang="en-US" sz="2800" dirty="0">
                <a:cs typeface="Times New Roman" pitchFamily="18" charset="0"/>
              </a:rPr>
              <a:t> des </a:t>
            </a:r>
            <a:r>
              <a:rPr lang="en-US" sz="2800" dirty="0" err="1">
                <a:cs typeface="Times New Roman" pitchFamily="18" charset="0"/>
              </a:rPr>
              <a:t>disques</a:t>
            </a:r>
            <a:r>
              <a:rPr lang="en-US" sz="2800" dirty="0">
                <a:cs typeface="Times New Roman" pitchFamily="18" charset="0"/>
              </a:rPr>
              <a:t> </a:t>
            </a:r>
            <a:r>
              <a:rPr lang="en-US" sz="2800" dirty="0" err="1">
                <a:cs typeface="Times New Roman" pitchFamily="18" charset="0"/>
              </a:rPr>
              <a:t>dynamiques</a:t>
            </a:r>
            <a:endParaRPr lang="en-US" sz="2800" dirty="0"/>
          </a:p>
          <a:p>
            <a:pPr marL="514350" indent="-514350">
              <a:buClrTx/>
              <a:buFont typeface="+mj-lt"/>
              <a:buAutoNum type="arabicPeriod"/>
            </a:pPr>
            <a:r>
              <a:rPr lang="en-US" sz="2800" dirty="0" err="1">
                <a:cs typeface="Times New Roman" pitchFamily="18" charset="0"/>
              </a:rPr>
              <a:t>Gestion</a:t>
            </a:r>
            <a:r>
              <a:rPr lang="en-US" sz="2800" dirty="0">
                <a:cs typeface="Times New Roman" pitchFamily="18" charset="0"/>
              </a:rPr>
              <a:t> des </a:t>
            </a:r>
            <a:r>
              <a:rPr lang="en-US" sz="2800" dirty="0" err="1">
                <a:cs typeface="Times New Roman" pitchFamily="18" charset="0"/>
              </a:rPr>
              <a:t>disques</a:t>
            </a:r>
            <a:endParaRPr lang="en-US" sz="2800" dirty="0"/>
          </a:p>
          <a:p>
            <a:pPr marL="514350" indent="-514350">
              <a:buClrTx/>
              <a:buFont typeface="+mj-lt"/>
              <a:buAutoNum type="arabicPeriod"/>
            </a:pPr>
            <a:r>
              <a:rPr lang="en-US" sz="2800" dirty="0" err="1">
                <a:cs typeface="Times New Roman" pitchFamily="18" charset="0"/>
              </a:rPr>
              <a:t>Défragmentation</a:t>
            </a:r>
            <a:r>
              <a:rPr lang="en-US" sz="2800" dirty="0">
                <a:cs typeface="Times New Roman" pitchFamily="18" charset="0"/>
              </a:rPr>
              <a:t> des volumes</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287898" y="367145"/>
            <a:ext cx="8534400" cy="758952"/>
          </a:xfrm>
        </p:spPr>
        <p:txBody>
          <a:bodyPr>
            <a:normAutofit fontScale="90000"/>
          </a:bodyPr>
          <a:lstStyle/>
          <a:p>
            <a:pPr eaLnBrk="1" hangingPunct="1"/>
            <a:r>
              <a:rPr lang="fr-FR" dirty="0"/>
              <a:t>1- Le partitionnement des disques sous Windows 7</a:t>
            </a:r>
            <a:endParaRPr lang="en-US" dirty="0"/>
          </a:p>
        </p:txBody>
      </p:sp>
      <p:sp>
        <p:nvSpPr>
          <p:cNvPr id="5123" name="Rectangle 3"/>
          <p:cNvSpPr>
            <a:spLocks noGrp="1" noChangeArrowheads="1"/>
          </p:cNvSpPr>
          <p:nvPr>
            <p:ph type="body" idx="1"/>
          </p:nvPr>
        </p:nvSpPr>
        <p:spPr>
          <a:xfrm>
            <a:off x="315607" y="2483012"/>
            <a:ext cx="8503920" cy="2241388"/>
          </a:xfrm>
        </p:spPr>
        <p:txBody>
          <a:bodyPr/>
          <a:lstStyle/>
          <a:p>
            <a:pPr eaLnBrk="1" hangingPunct="1">
              <a:buClrTx/>
            </a:pPr>
            <a:r>
              <a:rPr lang="fr-FR" dirty="0"/>
              <a:t>Qu’est-ce qu’un disque MBR ? </a:t>
            </a:r>
          </a:p>
          <a:p>
            <a:pPr>
              <a:buClrTx/>
            </a:pPr>
            <a:r>
              <a:rPr lang="fr-FR" dirty="0"/>
              <a:t>Qu’est-ce qu’un disque GPT ? </a:t>
            </a:r>
          </a:p>
          <a:p>
            <a:pPr>
              <a:buClrTx/>
            </a:pPr>
            <a:r>
              <a:rPr lang="fr-FR" dirty="0"/>
              <a:t>Les outils de gestion disque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vert="horz" anchor="b">
            <a:normAutofit/>
          </a:bodyPr>
          <a:lstStyle/>
          <a:p>
            <a:r>
              <a:rPr lang="fr-FR" sz="3000" dirty="0">
                <a:solidFill>
                  <a:srgbClr val="C00000"/>
                </a:solidFill>
              </a:rPr>
              <a:t>Qu’est-ce qu’un disque MBR ? </a:t>
            </a:r>
          </a:p>
        </p:txBody>
      </p:sp>
      <p:sp>
        <p:nvSpPr>
          <p:cNvPr id="4" name="AutoShape 24"/>
          <p:cNvSpPr>
            <a:spLocks noChangeArrowheads="1"/>
          </p:cNvSpPr>
          <p:nvPr/>
        </p:nvSpPr>
        <p:spPr bwMode="auto">
          <a:xfrm>
            <a:off x="414338" y="1412586"/>
            <a:ext cx="8401050" cy="4002377"/>
          </a:xfrm>
          <a:prstGeom prst="roundRect">
            <a:avLst>
              <a:gd name="adj" fmla="val 4167"/>
            </a:avLst>
          </a:prstGeom>
          <a:gradFill rotWithShape="0">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buFont typeface="Arial" pitchFamily="34" charset="0"/>
              <a:buChar char="•"/>
              <a:defRPr/>
            </a:pPr>
            <a:endParaRPr lang="en-US" sz="2000" b="0" dirty="0">
              <a:solidFill>
                <a:schemeClr val="tx1"/>
              </a:solidFill>
              <a:cs typeface="Arial" charset="0"/>
            </a:endParaRPr>
          </a:p>
        </p:txBody>
      </p:sp>
      <p:grpSp>
        <p:nvGrpSpPr>
          <p:cNvPr id="45" name="Groupe 44"/>
          <p:cNvGrpSpPr/>
          <p:nvPr/>
        </p:nvGrpSpPr>
        <p:grpSpPr>
          <a:xfrm>
            <a:off x="242896" y="4116099"/>
            <a:ext cx="8728362" cy="2369122"/>
            <a:chOff x="249386" y="4073236"/>
            <a:chExt cx="8728362" cy="2369122"/>
          </a:xfrm>
        </p:grpSpPr>
        <p:sp>
          <p:nvSpPr>
            <p:cNvPr id="32" name="AutoShape 24"/>
            <p:cNvSpPr>
              <a:spLocks noChangeArrowheads="1"/>
            </p:cNvSpPr>
            <p:nvPr/>
          </p:nvSpPr>
          <p:spPr bwMode="auto">
            <a:xfrm>
              <a:off x="249386" y="4073236"/>
              <a:ext cx="8728362" cy="2369122"/>
            </a:xfrm>
            <a:prstGeom prst="roundRect">
              <a:avLst>
                <a:gd name="adj" fmla="val 4167"/>
              </a:avLst>
            </a:prstGeom>
            <a:gradFill rotWithShape="0">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buFont typeface="Arial" pitchFamily="34" charset="0"/>
                <a:buChar char="•"/>
                <a:defRPr/>
              </a:pPr>
              <a:endParaRPr lang="en-US" sz="2000" b="0" dirty="0">
                <a:cs typeface="Arial" charset="0"/>
              </a:endParaRPr>
            </a:p>
          </p:txBody>
        </p:sp>
        <p:sp>
          <p:nvSpPr>
            <p:cNvPr id="33" name="AutoShape 39"/>
            <p:cNvSpPr>
              <a:spLocks noChangeArrowheads="1"/>
            </p:cNvSpPr>
            <p:nvPr/>
          </p:nvSpPr>
          <p:spPr bwMode="auto">
            <a:xfrm>
              <a:off x="347199" y="4316491"/>
              <a:ext cx="3809165" cy="466410"/>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gn="l">
                <a:lnSpc>
                  <a:spcPct val="90000"/>
                </a:lnSpc>
                <a:spcBef>
                  <a:spcPct val="40000"/>
                </a:spcBef>
                <a:buSzPct val="90000"/>
                <a:defRPr/>
              </a:pPr>
              <a:r>
                <a:rPr lang="en-GB" sz="2200" b="0" dirty="0">
                  <a:solidFill>
                    <a:schemeClr val="tx1"/>
                  </a:solidFill>
                  <a:effectLst/>
                  <a:cs typeface="Arial" charset="0"/>
                </a:rPr>
                <a:t>Partitions </a:t>
              </a:r>
              <a:r>
                <a:rPr lang="en-GB" sz="2200" b="0" dirty="0" err="1">
                  <a:solidFill>
                    <a:schemeClr val="tx1"/>
                  </a:solidFill>
                  <a:effectLst/>
                  <a:cs typeface="Arial" charset="0"/>
                </a:rPr>
                <a:t>supportées</a:t>
              </a:r>
              <a:r>
                <a:rPr lang="en-GB" sz="2200" b="0" dirty="0">
                  <a:solidFill>
                    <a:schemeClr val="tx1"/>
                  </a:solidFill>
                  <a:effectLst/>
                  <a:cs typeface="Arial" charset="0"/>
                </a:rPr>
                <a:t>: </a:t>
              </a:r>
            </a:p>
          </p:txBody>
        </p:sp>
        <p:sp>
          <p:nvSpPr>
            <p:cNvPr id="34" name="AutoShape 39"/>
            <p:cNvSpPr>
              <a:spLocks noChangeArrowheads="1"/>
            </p:cNvSpPr>
            <p:nvPr/>
          </p:nvSpPr>
          <p:spPr bwMode="auto">
            <a:xfrm>
              <a:off x="361084" y="4886390"/>
              <a:ext cx="3795280" cy="462843"/>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gn="l">
                <a:lnSpc>
                  <a:spcPct val="90000"/>
                </a:lnSpc>
                <a:spcBef>
                  <a:spcPct val="40000"/>
                </a:spcBef>
                <a:buSzPct val="90000"/>
                <a:defRPr/>
              </a:pPr>
              <a:r>
                <a:rPr lang="en-GB" sz="2200" b="0" dirty="0" err="1">
                  <a:solidFill>
                    <a:schemeClr val="tx1"/>
                  </a:solidFill>
                  <a:effectLst/>
                  <a:cs typeface="Arial" charset="0"/>
                </a:rPr>
                <a:t>Taille</a:t>
              </a:r>
              <a:r>
                <a:rPr lang="en-GB" sz="2200" b="0" dirty="0">
                  <a:solidFill>
                    <a:schemeClr val="tx1"/>
                  </a:solidFill>
                  <a:effectLst/>
                  <a:cs typeface="Arial" charset="0"/>
                </a:rPr>
                <a:t> de partition </a:t>
              </a:r>
              <a:r>
                <a:rPr lang="en-GB" sz="2200" b="0" dirty="0" err="1">
                  <a:solidFill>
                    <a:schemeClr val="tx1"/>
                  </a:solidFill>
                  <a:effectLst/>
                  <a:cs typeface="Arial" charset="0"/>
                </a:rPr>
                <a:t>supportée</a:t>
              </a:r>
              <a:r>
                <a:rPr lang="en-GB" sz="2200" b="0" dirty="0">
                  <a:solidFill>
                    <a:schemeClr val="tx1"/>
                  </a:solidFill>
                  <a:effectLst/>
                  <a:cs typeface="Arial" charset="0"/>
                </a:rPr>
                <a:t>:</a:t>
              </a:r>
            </a:p>
          </p:txBody>
        </p:sp>
        <p:sp>
          <p:nvSpPr>
            <p:cNvPr id="35" name="AutoShape 39"/>
            <p:cNvSpPr>
              <a:spLocks noChangeArrowheads="1"/>
            </p:cNvSpPr>
            <p:nvPr/>
          </p:nvSpPr>
          <p:spPr bwMode="auto">
            <a:xfrm>
              <a:off x="333377" y="5532247"/>
              <a:ext cx="8547388" cy="796805"/>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r>
                <a:rPr lang="fr-FR" sz="2200" b="0" dirty="0">
                  <a:solidFill>
                    <a:schemeClr val="tx1"/>
                  </a:solidFill>
                  <a:effectLst/>
                  <a:cs typeface="Arial" charset="0"/>
                </a:rPr>
                <a:t>Aucune redondance fournie : si le MBR est endommagé, le système d'exploitation peut ne plus être </a:t>
              </a:r>
              <a:r>
                <a:rPr lang="fr-FR" sz="2200" b="0" dirty="0" err="1">
                  <a:solidFill>
                    <a:schemeClr val="tx1"/>
                  </a:solidFill>
                  <a:effectLst/>
                  <a:cs typeface="Arial" charset="0"/>
                </a:rPr>
                <a:t>amorçable</a:t>
              </a:r>
              <a:r>
                <a:rPr lang="fr-FR" sz="2200" b="0" dirty="0">
                  <a:solidFill>
                    <a:schemeClr val="tx1"/>
                  </a:solidFill>
                  <a:effectLst/>
                  <a:cs typeface="Arial" charset="0"/>
                </a:rPr>
                <a:t>.</a:t>
              </a:r>
            </a:p>
          </p:txBody>
        </p:sp>
        <p:sp>
          <p:nvSpPr>
            <p:cNvPr id="36" name="AutoShape 39"/>
            <p:cNvSpPr>
              <a:spLocks noChangeArrowheads="1"/>
            </p:cNvSpPr>
            <p:nvPr/>
          </p:nvSpPr>
          <p:spPr bwMode="auto">
            <a:xfrm>
              <a:off x="4239491" y="4342832"/>
              <a:ext cx="4530436" cy="466409"/>
            </a:xfrm>
            <a:prstGeom prst="roundRect">
              <a:avLst>
                <a:gd name="adj" fmla="val 4167"/>
              </a:avLst>
            </a:prstGeom>
            <a:solidFill>
              <a:srgbClr val="FFFF99"/>
            </a:soli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gn="l">
                <a:lnSpc>
                  <a:spcPct val="90000"/>
                </a:lnSpc>
                <a:spcBef>
                  <a:spcPct val="40000"/>
                </a:spcBef>
                <a:buSzPct val="90000"/>
                <a:defRPr/>
              </a:pPr>
              <a:r>
                <a:rPr lang="fr-FR" sz="2200" dirty="0">
                  <a:solidFill>
                    <a:schemeClr val="tx1"/>
                  </a:solidFill>
                </a:rPr>
                <a:t>4 partitions/disque </a:t>
              </a:r>
              <a:endParaRPr lang="en-GB" sz="2200" b="0" dirty="0">
                <a:solidFill>
                  <a:schemeClr val="tx1"/>
                </a:solidFill>
                <a:cs typeface="Arial" charset="0"/>
              </a:endParaRPr>
            </a:p>
          </p:txBody>
        </p:sp>
        <p:sp>
          <p:nvSpPr>
            <p:cNvPr id="37" name="AutoShape 39"/>
            <p:cNvSpPr>
              <a:spLocks noChangeArrowheads="1"/>
            </p:cNvSpPr>
            <p:nvPr/>
          </p:nvSpPr>
          <p:spPr bwMode="auto">
            <a:xfrm>
              <a:off x="4225636" y="4911212"/>
              <a:ext cx="4544290" cy="408935"/>
            </a:xfrm>
            <a:prstGeom prst="roundRect">
              <a:avLst>
                <a:gd name="adj" fmla="val 4167"/>
              </a:avLst>
            </a:prstGeom>
            <a:solidFill>
              <a:srgbClr val="FFFF99"/>
            </a:soli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gn="l">
                <a:lnSpc>
                  <a:spcPct val="90000"/>
                </a:lnSpc>
                <a:spcBef>
                  <a:spcPct val="40000"/>
                </a:spcBef>
                <a:buSzPct val="90000"/>
                <a:defRPr/>
              </a:pPr>
              <a:r>
                <a:rPr lang="fr-FR" sz="2200" dirty="0">
                  <a:solidFill>
                    <a:schemeClr val="tx1"/>
                  </a:solidFill>
                </a:rPr>
                <a:t>Taille de 2 Téraoctets (To)</a:t>
              </a:r>
              <a:endParaRPr lang="en-GB" sz="2200" dirty="0">
                <a:solidFill>
                  <a:schemeClr val="tx1"/>
                </a:solidFill>
              </a:endParaRPr>
            </a:p>
          </p:txBody>
        </p:sp>
      </p:grpSp>
      <p:grpSp>
        <p:nvGrpSpPr>
          <p:cNvPr id="31" name="Groupe 30"/>
          <p:cNvGrpSpPr/>
          <p:nvPr/>
        </p:nvGrpSpPr>
        <p:grpSpPr>
          <a:xfrm>
            <a:off x="656792" y="3395667"/>
            <a:ext cx="8129588" cy="3103414"/>
            <a:chOff x="642937" y="3340249"/>
            <a:chExt cx="8129588" cy="3103414"/>
          </a:xfrm>
        </p:grpSpPr>
        <p:sp>
          <p:nvSpPr>
            <p:cNvPr id="12" name="Rectangle 11"/>
            <p:cNvSpPr/>
            <p:nvPr/>
          </p:nvSpPr>
          <p:spPr>
            <a:xfrm>
              <a:off x="642937" y="3340249"/>
              <a:ext cx="8086725" cy="31034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reeform 4"/>
            <p:cNvSpPr>
              <a:spLocks/>
            </p:cNvSpPr>
            <p:nvPr/>
          </p:nvSpPr>
          <p:spPr bwMode="auto">
            <a:xfrm>
              <a:off x="4820851" y="3443230"/>
              <a:ext cx="2019913" cy="1968652"/>
            </a:xfrm>
            <a:prstGeom prst="flowChartProcess">
              <a:avLst/>
            </a:prstGeom>
            <a:gradFill rotWithShape="0">
              <a:gsLst>
                <a:gs pos="0">
                  <a:srgbClr val="FFCC66"/>
                </a:gs>
                <a:gs pos="100000">
                  <a:srgbClr val="FBED85"/>
                </a:gs>
              </a:gsLst>
              <a:lin ang="0" scaled="1"/>
            </a:gradFill>
            <a:ln w="38100" cap="flat" cmpd="sng">
              <a:solidFill>
                <a:srgbClr val="0033CC"/>
              </a:solidFill>
              <a:prstDash val="sysDot"/>
              <a:round/>
              <a:headEnd type="none" w="med" len="med"/>
              <a:tailEnd type="none" w="med" len="med"/>
            </a:ln>
            <a:effectLst/>
          </p:spPr>
          <p:txBody>
            <a:bodyPr wrap="none" anchor="ctr"/>
            <a:lstStyle/>
            <a:p>
              <a:endParaRPr lang="fr-FR"/>
            </a:p>
          </p:txBody>
        </p:sp>
        <p:sp>
          <p:nvSpPr>
            <p:cNvPr id="14" name="Freeform 4"/>
            <p:cNvSpPr>
              <a:spLocks/>
            </p:cNvSpPr>
            <p:nvPr/>
          </p:nvSpPr>
          <p:spPr bwMode="auto">
            <a:xfrm>
              <a:off x="2584321" y="3423584"/>
              <a:ext cx="2019913" cy="2681517"/>
            </a:xfrm>
            <a:prstGeom prst="flowChartProcess">
              <a:avLst/>
            </a:prstGeom>
            <a:gradFill rotWithShape="0">
              <a:gsLst>
                <a:gs pos="0">
                  <a:srgbClr val="FFCC66"/>
                </a:gs>
                <a:gs pos="100000">
                  <a:srgbClr val="FBED85"/>
                </a:gs>
              </a:gsLst>
              <a:lin ang="0" scaled="1"/>
            </a:gradFill>
            <a:ln w="38100" cap="flat" cmpd="sng">
              <a:solidFill>
                <a:srgbClr val="0033CC"/>
              </a:solidFill>
              <a:prstDash val="sysDot"/>
              <a:round/>
              <a:headEnd type="none" w="med" len="med"/>
              <a:tailEnd type="none" w="med" len="med"/>
            </a:ln>
            <a:effectLst/>
          </p:spPr>
          <p:txBody>
            <a:bodyPr wrap="none" anchor="ctr"/>
            <a:lstStyle/>
            <a:p>
              <a:endParaRPr lang="fr-FR"/>
            </a:p>
          </p:txBody>
        </p:sp>
        <p:sp>
          <p:nvSpPr>
            <p:cNvPr id="15" name="Rectangle 5"/>
            <p:cNvSpPr>
              <a:spLocks noChangeArrowheads="1"/>
            </p:cNvSpPr>
            <p:nvPr/>
          </p:nvSpPr>
          <p:spPr bwMode="auto">
            <a:xfrm>
              <a:off x="4814888" y="5433858"/>
              <a:ext cx="2038045" cy="788555"/>
            </a:xfrm>
            <a:prstGeom prst="rect">
              <a:avLst/>
            </a:prstGeom>
            <a:gradFill rotWithShape="0">
              <a:gsLst>
                <a:gs pos="0">
                  <a:srgbClr val="FFCC66"/>
                </a:gs>
                <a:gs pos="100000">
                  <a:srgbClr val="FBED85"/>
                </a:gs>
              </a:gsLst>
              <a:lin ang="0" scaled="1"/>
            </a:gradFill>
            <a:ln w="38100">
              <a:solidFill>
                <a:srgbClr val="FF9933"/>
              </a:solidFill>
              <a:prstDash val="sysDot"/>
              <a:miter lim="800000"/>
              <a:headEnd/>
              <a:tailEnd/>
            </a:ln>
            <a:effectLst/>
          </p:spPr>
          <p:txBody>
            <a:bodyPr wrap="none" anchor="ctr"/>
            <a:lstStyle/>
            <a:p>
              <a:pPr algn="r">
                <a:lnSpc>
                  <a:spcPct val="90000"/>
                </a:lnSpc>
              </a:pPr>
              <a:endParaRPr lang="fr-FR">
                <a:solidFill>
                  <a:schemeClr val="tx1"/>
                </a:solidFill>
                <a:effectLst/>
              </a:endParaRPr>
            </a:p>
          </p:txBody>
        </p:sp>
        <p:grpSp>
          <p:nvGrpSpPr>
            <p:cNvPr id="16" name="Group 6"/>
            <p:cNvGrpSpPr>
              <a:grpSpLocks/>
            </p:cNvGrpSpPr>
            <p:nvPr/>
          </p:nvGrpSpPr>
          <p:grpSpPr bwMode="auto">
            <a:xfrm>
              <a:off x="5222426" y="3532304"/>
              <a:ext cx="1012238" cy="2569790"/>
              <a:chOff x="3376" y="910"/>
              <a:chExt cx="872" cy="2698"/>
            </a:xfrm>
          </p:grpSpPr>
          <p:sp>
            <p:nvSpPr>
              <p:cNvPr id="25" name="AutoShape 7"/>
              <p:cNvSpPr>
                <a:spLocks noChangeArrowheads="1"/>
              </p:cNvSpPr>
              <p:nvPr/>
            </p:nvSpPr>
            <p:spPr bwMode="auto">
              <a:xfrm>
                <a:off x="3376" y="3242"/>
                <a:ext cx="872" cy="366"/>
              </a:xfrm>
              <a:prstGeom prst="can">
                <a:avLst>
                  <a:gd name="adj" fmla="val 50000"/>
                </a:avLst>
              </a:prstGeom>
              <a:gradFill rotWithShape="0">
                <a:gsLst>
                  <a:gs pos="0">
                    <a:srgbClr val="FF9900">
                      <a:gamma/>
                      <a:shade val="66275"/>
                      <a:invGamma/>
                    </a:srgbClr>
                  </a:gs>
                  <a:gs pos="50000">
                    <a:srgbClr val="FF9900"/>
                  </a:gs>
                  <a:gs pos="100000">
                    <a:srgbClr val="FF9900">
                      <a:gamma/>
                      <a:shade val="66275"/>
                      <a:invGamma/>
                    </a:srgbClr>
                  </a:gs>
                </a:gsLst>
                <a:lin ang="0" scaled="1"/>
              </a:gradFill>
              <a:ln w="9525" cap="rnd">
                <a:solidFill>
                  <a:srgbClr val="000000"/>
                </a:solidFill>
                <a:round/>
                <a:headEnd/>
                <a:tailEnd/>
              </a:ln>
              <a:effectLst/>
            </p:spPr>
            <p:txBody>
              <a:bodyPr tIns="228600" anchor="ctr"/>
              <a:lstStyle/>
              <a:p>
                <a:r>
                  <a:rPr lang="en-US">
                    <a:solidFill>
                      <a:schemeClr val="bg1"/>
                    </a:solidFill>
                    <a:effectLst>
                      <a:outerShdw blurRad="38100" dist="38100" dir="2700000" algn="tl">
                        <a:srgbClr val="000000"/>
                      </a:outerShdw>
                    </a:effectLst>
                  </a:rPr>
                  <a:t>H:</a:t>
                </a:r>
              </a:p>
            </p:txBody>
          </p:sp>
          <p:sp>
            <p:nvSpPr>
              <p:cNvPr id="26" name="AutoShape 8"/>
              <p:cNvSpPr>
                <a:spLocks noChangeArrowheads="1"/>
              </p:cNvSpPr>
              <p:nvPr/>
            </p:nvSpPr>
            <p:spPr bwMode="auto">
              <a:xfrm>
                <a:off x="3376" y="3034"/>
                <a:ext cx="872" cy="366"/>
              </a:xfrm>
              <a:prstGeom prst="can">
                <a:avLst>
                  <a:gd name="adj" fmla="val 50000"/>
                </a:avLst>
              </a:prstGeom>
              <a:gradFill rotWithShape="0">
                <a:gsLst>
                  <a:gs pos="0">
                    <a:srgbClr val="FF9900">
                      <a:gamma/>
                      <a:shade val="66275"/>
                      <a:invGamma/>
                    </a:srgbClr>
                  </a:gs>
                  <a:gs pos="50000">
                    <a:srgbClr val="FF9900"/>
                  </a:gs>
                  <a:gs pos="100000">
                    <a:srgbClr val="FF9900">
                      <a:gamma/>
                      <a:shade val="66275"/>
                      <a:invGamma/>
                    </a:srgbClr>
                  </a:gs>
                </a:gsLst>
                <a:lin ang="0" scaled="1"/>
              </a:gradFill>
              <a:ln w="9525" cap="rnd">
                <a:solidFill>
                  <a:srgbClr val="000000"/>
                </a:solidFill>
                <a:round/>
                <a:headEnd/>
                <a:tailEnd/>
              </a:ln>
              <a:effectLst/>
            </p:spPr>
            <p:txBody>
              <a:bodyPr tIns="228600" anchor="ctr"/>
              <a:lstStyle/>
              <a:p>
                <a:r>
                  <a:rPr lang="en-US" dirty="0">
                    <a:solidFill>
                      <a:schemeClr val="bg1"/>
                    </a:solidFill>
                    <a:effectLst>
                      <a:outerShdw blurRad="38100" dist="38100" dir="2700000" algn="tl">
                        <a:srgbClr val="000000"/>
                      </a:outerShdw>
                    </a:effectLst>
                  </a:rPr>
                  <a:t>G:</a:t>
                </a:r>
              </a:p>
            </p:txBody>
          </p:sp>
          <p:sp>
            <p:nvSpPr>
              <p:cNvPr id="27" name="AutoShape 9"/>
              <p:cNvSpPr>
                <a:spLocks noChangeArrowheads="1"/>
              </p:cNvSpPr>
              <p:nvPr/>
            </p:nvSpPr>
            <p:spPr bwMode="auto">
              <a:xfrm>
                <a:off x="3376" y="2826"/>
                <a:ext cx="872" cy="366"/>
              </a:xfrm>
              <a:prstGeom prst="can">
                <a:avLst>
                  <a:gd name="adj" fmla="val 50000"/>
                </a:avLst>
              </a:prstGeom>
              <a:gradFill rotWithShape="0">
                <a:gsLst>
                  <a:gs pos="0">
                    <a:srgbClr val="FF9900">
                      <a:gamma/>
                      <a:shade val="66275"/>
                      <a:invGamma/>
                    </a:srgbClr>
                  </a:gs>
                  <a:gs pos="50000">
                    <a:srgbClr val="FF9900"/>
                  </a:gs>
                  <a:gs pos="100000">
                    <a:srgbClr val="FF9900">
                      <a:gamma/>
                      <a:shade val="66275"/>
                      <a:invGamma/>
                    </a:srgbClr>
                  </a:gs>
                </a:gsLst>
                <a:lin ang="0" scaled="1"/>
              </a:gradFill>
              <a:ln w="9525" cap="rnd">
                <a:solidFill>
                  <a:srgbClr val="000000"/>
                </a:solidFill>
                <a:round/>
                <a:headEnd/>
                <a:tailEnd/>
              </a:ln>
              <a:effectLst/>
            </p:spPr>
            <p:txBody>
              <a:bodyPr tIns="228600" anchor="ctr"/>
              <a:lstStyle/>
              <a:p>
                <a:r>
                  <a:rPr lang="en-US" dirty="0">
                    <a:solidFill>
                      <a:schemeClr val="bg1"/>
                    </a:solidFill>
                    <a:effectLst>
                      <a:outerShdw blurRad="38100" dist="38100" dir="2700000" algn="tl">
                        <a:srgbClr val="000000"/>
                      </a:outerShdw>
                    </a:effectLst>
                  </a:rPr>
                  <a:t>F:</a:t>
                </a:r>
              </a:p>
            </p:txBody>
          </p:sp>
          <p:sp>
            <p:nvSpPr>
              <p:cNvPr id="28" name="AutoShape 10"/>
              <p:cNvSpPr>
                <a:spLocks noChangeArrowheads="1"/>
              </p:cNvSpPr>
              <p:nvPr/>
            </p:nvSpPr>
            <p:spPr bwMode="auto">
              <a:xfrm>
                <a:off x="3376" y="2182"/>
                <a:ext cx="872" cy="789"/>
              </a:xfrm>
              <a:prstGeom prst="can">
                <a:avLst>
                  <a:gd name="adj" fmla="val 23319"/>
                </a:avLst>
              </a:prstGeom>
              <a:gradFill rotWithShape="0">
                <a:gsLst>
                  <a:gs pos="0">
                    <a:srgbClr val="6590FD">
                      <a:gamma/>
                      <a:shade val="66275"/>
                      <a:invGamma/>
                    </a:srgbClr>
                  </a:gs>
                  <a:gs pos="50000">
                    <a:srgbClr val="6590FD"/>
                  </a:gs>
                  <a:gs pos="100000">
                    <a:srgbClr val="6590FD">
                      <a:gamma/>
                      <a:shade val="66275"/>
                      <a:invGamma/>
                    </a:srgbClr>
                  </a:gs>
                </a:gsLst>
                <a:lin ang="0" scaled="1"/>
              </a:gradFill>
              <a:ln w="9525" cap="rnd">
                <a:solidFill>
                  <a:srgbClr val="000000"/>
                </a:solidFill>
                <a:round/>
                <a:headEnd/>
                <a:tailEnd/>
              </a:ln>
              <a:effectLst/>
            </p:spPr>
            <p:txBody>
              <a:bodyPr tIns="320040" anchor="ctr"/>
              <a:lstStyle/>
              <a:p>
                <a:r>
                  <a:rPr lang="en-US">
                    <a:solidFill>
                      <a:schemeClr val="bg1"/>
                    </a:solidFill>
                    <a:effectLst>
                      <a:outerShdw blurRad="38100" dist="38100" dir="2700000" algn="tl">
                        <a:srgbClr val="000000"/>
                      </a:outerShdw>
                    </a:effectLst>
                  </a:rPr>
                  <a:t>E:</a:t>
                </a:r>
              </a:p>
            </p:txBody>
          </p:sp>
          <p:sp>
            <p:nvSpPr>
              <p:cNvPr id="29" name="AutoShape 11"/>
              <p:cNvSpPr>
                <a:spLocks noChangeArrowheads="1"/>
              </p:cNvSpPr>
              <p:nvPr/>
            </p:nvSpPr>
            <p:spPr bwMode="auto">
              <a:xfrm>
                <a:off x="3376" y="1546"/>
                <a:ext cx="872" cy="789"/>
              </a:xfrm>
              <a:prstGeom prst="can">
                <a:avLst>
                  <a:gd name="adj" fmla="val 23319"/>
                </a:avLst>
              </a:prstGeom>
              <a:gradFill rotWithShape="0">
                <a:gsLst>
                  <a:gs pos="0">
                    <a:srgbClr val="6590FD">
                      <a:gamma/>
                      <a:shade val="66275"/>
                      <a:invGamma/>
                    </a:srgbClr>
                  </a:gs>
                  <a:gs pos="50000">
                    <a:srgbClr val="6590FD"/>
                  </a:gs>
                  <a:gs pos="100000">
                    <a:srgbClr val="6590FD">
                      <a:gamma/>
                      <a:shade val="66275"/>
                      <a:invGamma/>
                    </a:srgbClr>
                  </a:gs>
                </a:gsLst>
                <a:lin ang="0" scaled="1"/>
              </a:gradFill>
              <a:ln w="9525" cap="rnd">
                <a:solidFill>
                  <a:srgbClr val="000000"/>
                </a:solidFill>
                <a:round/>
                <a:headEnd/>
                <a:tailEnd/>
              </a:ln>
              <a:effectLst/>
            </p:spPr>
            <p:txBody>
              <a:bodyPr tIns="320040" anchor="ctr"/>
              <a:lstStyle/>
              <a:p>
                <a:r>
                  <a:rPr lang="en-US">
                    <a:solidFill>
                      <a:schemeClr val="bg1"/>
                    </a:solidFill>
                    <a:effectLst>
                      <a:outerShdw blurRad="38100" dist="38100" dir="2700000" algn="tl">
                        <a:srgbClr val="000000"/>
                      </a:outerShdw>
                    </a:effectLst>
                  </a:rPr>
                  <a:t>D:</a:t>
                </a:r>
              </a:p>
            </p:txBody>
          </p:sp>
          <p:sp>
            <p:nvSpPr>
              <p:cNvPr id="30" name="AutoShape 12"/>
              <p:cNvSpPr>
                <a:spLocks noChangeArrowheads="1"/>
              </p:cNvSpPr>
              <p:nvPr/>
            </p:nvSpPr>
            <p:spPr bwMode="auto">
              <a:xfrm>
                <a:off x="3376" y="910"/>
                <a:ext cx="872" cy="789"/>
              </a:xfrm>
              <a:prstGeom prst="can">
                <a:avLst>
                  <a:gd name="adj" fmla="val 23319"/>
                </a:avLst>
              </a:prstGeom>
              <a:gradFill rotWithShape="0">
                <a:gsLst>
                  <a:gs pos="0">
                    <a:srgbClr val="6590FD">
                      <a:gamma/>
                      <a:shade val="66275"/>
                      <a:invGamma/>
                    </a:srgbClr>
                  </a:gs>
                  <a:gs pos="50000">
                    <a:srgbClr val="6590FD"/>
                  </a:gs>
                  <a:gs pos="100000">
                    <a:srgbClr val="6590FD">
                      <a:gamma/>
                      <a:shade val="66275"/>
                      <a:invGamma/>
                    </a:srgbClr>
                  </a:gs>
                </a:gsLst>
                <a:lin ang="0" scaled="1"/>
              </a:gradFill>
              <a:ln w="9525" cap="rnd">
                <a:solidFill>
                  <a:srgbClr val="000000"/>
                </a:solidFill>
                <a:round/>
                <a:headEnd/>
                <a:tailEnd/>
              </a:ln>
              <a:effectLst/>
            </p:spPr>
            <p:txBody>
              <a:bodyPr tIns="320040" anchor="ctr"/>
              <a:lstStyle/>
              <a:p>
                <a:r>
                  <a:rPr lang="en-US">
                    <a:solidFill>
                      <a:schemeClr val="bg1"/>
                    </a:solidFill>
                    <a:effectLst>
                      <a:outerShdw blurRad="38100" dist="38100" dir="2700000" algn="tl">
                        <a:srgbClr val="000000"/>
                      </a:outerShdw>
                    </a:effectLst>
                  </a:rPr>
                  <a:t>C:</a:t>
                </a:r>
              </a:p>
            </p:txBody>
          </p:sp>
        </p:grpSp>
        <p:grpSp>
          <p:nvGrpSpPr>
            <p:cNvPr id="17" name="Group 13"/>
            <p:cNvGrpSpPr>
              <a:grpSpLocks/>
            </p:cNvGrpSpPr>
            <p:nvPr/>
          </p:nvGrpSpPr>
          <p:grpSpPr bwMode="auto">
            <a:xfrm>
              <a:off x="2835289" y="3475152"/>
              <a:ext cx="1013633" cy="2567637"/>
              <a:chOff x="2112" y="1166"/>
              <a:chExt cx="872" cy="2697"/>
            </a:xfrm>
          </p:grpSpPr>
          <p:sp>
            <p:nvSpPr>
              <p:cNvPr id="21" name="AutoShape 14"/>
              <p:cNvSpPr>
                <a:spLocks noChangeArrowheads="1"/>
              </p:cNvSpPr>
              <p:nvPr/>
            </p:nvSpPr>
            <p:spPr bwMode="auto">
              <a:xfrm>
                <a:off x="2112" y="3074"/>
                <a:ext cx="872" cy="789"/>
              </a:xfrm>
              <a:prstGeom prst="can">
                <a:avLst>
                  <a:gd name="adj" fmla="val 23319"/>
                </a:avLst>
              </a:prstGeom>
              <a:gradFill rotWithShape="0">
                <a:gsLst>
                  <a:gs pos="0">
                    <a:srgbClr val="6590FD">
                      <a:gamma/>
                      <a:shade val="66275"/>
                      <a:invGamma/>
                    </a:srgbClr>
                  </a:gs>
                  <a:gs pos="50000">
                    <a:srgbClr val="6590FD"/>
                  </a:gs>
                  <a:gs pos="100000">
                    <a:srgbClr val="6590FD">
                      <a:gamma/>
                      <a:shade val="66275"/>
                      <a:invGamma/>
                    </a:srgbClr>
                  </a:gs>
                </a:gsLst>
                <a:lin ang="0" scaled="1"/>
              </a:gradFill>
              <a:ln w="9525" cap="rnd">
                <a:solidFill>
                  <a:srgbClr val="000000"/>
                </a:solidFill>
                <a:round/>
                <a:headEnd/>
                <a:tailEnd/>
              </a:ln>
              <a:effectLst/>
            </p:spPr>
            <p:txBody>
              <a:bodyPr tIns="320040" anchor="ctr"/>
              <a:lstStyle/>
              <a:p>
                <a:r>
                  <a:rPr lang="en-US">
                    <a:solidFill>
                      <a:schemeClr val="bg1"/>
                    </a:solidFill>
                    <a:effectLst>
                      <a:outerShdw blurRad="38100" dist="38100" dir="2700000" algn="tl">
                        <a:srgbClr val="000000"/>
                      </a:outerShdw>
                    </a:effectLst>
                  </a:rPr>
                  <a:t>F:</a:t>
                </a:r>
              </a:p>
            </p:txBody>
          </p:sp>
          <p:sp>
            <p:nvSpPr>
              <p:cNvPr id="22" name="AutoShape 15"/>
              <p:cNvSpPr>
                <a:spLocks noChangeArrowheads="1"/>
              </p:cNvSpPr>
              <p:nvPr/>
            </p:nvSpPr>
            <p:spPr bwMode="auto">
              <a:xfrm>
                <a:off x="2112" y="2438"/>
                <a:ext cx="872" cy="789"/>
              </a:xfrm>
              <a:prstGeom prst="can">
                <a:avLst>
                  <a:gd name="adj" fmla="val 23319"/>
                </a:avLst>
              </a:prstGeom>
              <a:gradFill rotWithShape="0">
                <a:gsLst>
                  <a:gs pos="0">
                    <a:srgbClr val="6590FD">
                      <a:gamma/>
                      <a:shade val="66275"/>
                      <a:invGamma/>
                    </a:srgbClr>
                  </a:gs>
                  <a:gs pos="50000">
                    <a:srgbClr val="6590FD"/>
                  </a:gs>
                  <a:gs pos="100000">
                    <a:srgbClr val="6590FD">
                      <a:gamma/>
                      <a:shade val="66275"/>
                      <a:invGamma/>
                    </a:srgbClr>
                  </a:gs>
                </a:gsLst>
                <a:lin ang="0" scaled="1"/>
              </a:gradFill>
              <a:ln w="9525" cap="rnd">
                <a:solidFill>
                  <a:srgbClr val="000000"/>
                </a:solidFill>
                <a:round/>
                <a:headEnd/>
                <a:tailEnd/>
              </a:ln>
              <a:effectLst/>
            </p:spPr>
            <p:txBody>
              <a:bodyPr tIns="320040" anchor="ctr"/>
              <a:lstStyle/>
              <a:p>
                <a:r>
                  <a:rPr lang="en-US">
                    <a:solidFill>
                      <a:schemeClr val="bg1"/>
                    </a:solidFill>
                    <a:effectLst>
                      <a:outerShdw blurRad="38100" dist="38100" dir="2700000" algn="tl">
                        <a:srgbClr val="000000"/>
                      </a:outerShdw>
                    </a:effectLst>
                  </a:rPr>
                  <a:t>E:</a:t>
                </a:r>
              </a:p>
            </p:txBody>
          </p:sp>
          <p:sp>
            <p:nvSpPr>
              <p:cNvPr id="23" name="AutoShape 16"/>
              <p:cNvSpPr>
                <a:spLocks noChangeArrowheads="1"/>
              </p:cNvSpPr>
              <p:nvPr/>
            </p:nvSpPr>
            <p:spPr bwMode="auto">
              <a:xfrm>
                <a:off x="2112" y="1802"/>
                <a:ext cx="872" cy="789"/>
              </a:xfrm>
              <a:prstGeom prst="can">
                <a:avLst>
                  <a:gd name="adj" fmla="val 23319"/>
                </a:avLst>
              </a:prstGeom>
              <a:gradFill rotWithShape="0">
                <a:gsLst>
                  <a:gs pos="0">
                    <a:srgbClr val="6590FD">
                      <a:gamma/>
                      <a:shade val="66275"/>
                      <a:invGamma/>
                    </a:srgbClr>
                  </a:gs>
                  <a:gs pos="50000">
                    <a:srgbClr val="6590FD"/>
                  </a:gs>
                  <a:gs pos="100000">
                    <a:srgbClr val="6590FD">
                      <a:gamma/>
                      <a:shade val="66275"/>
                      <a:invGamma/>
                    </a:srgbClr>
                  </a:gs>
                </a:gsLst>
                <a:lin ang="0" scaled="1"/>
              </a:gradFill>
              <a:ln w="9525" cap="rnd">
                <a:solidFill>
                  <a:srgbClr val="000000"/>
                </a:solidFill>
                <a:round/>
                <a:headEnd/>
                <a:tailEnd/>
              </a:ln>
              <a:effectLst/>
            </p:spPr>
            <p:txBody>
              <a:bodyPr tIns="320040" anchor="ctr"/>
              <a:lstStyle/>
              <a:p>
                <a:r>
                  <a:rPr lang="en-US">
                    <a:solidFill>
                      <a:schemeClr val="bg1"/>
                    </a:solidFill>
                    <a:effectLst>
                      <a:outerShdw blurRad="38100" dist="38100" dir="2700000" algn="tl">
                        <a:srgbClr val="000000"/>
                      </a:outerShdw>
                    </a:effectLst>
                  </a:rPr>
                  <a:t>D:</a:t>
                </a:r>
              </a:p>
            </p:txBody>
          </p:sp>
          <p:sp>
            <p:nvSpPr>
              <p:cNvPr id="24" name="AutoShape 17"/>
              <p:cNvSpPr>
                <a:spLocks noChangeArrowheads="1"/>
              </p:cNvSpPr>
              <p:nvPr/>
            </p:nvSpPr>
            <p:spPr bwMode="auto">
              <a:xfrm>
                <a:off x="2112" y="1166"/>
                <a:ext cx="872" cy="789"/>
              </a:xfrm>
              <a:prstGeom prst="can">
                <a:avLst>
                  <a:gd name="adj" fmla="val 23319"/>
                </a:avLst>
              </a:prstGeom>
              <a:gradFill rotWithShape="0">
                <a:gsLst>
                  <a:gs pos="0">
                    <a:srgbClr val="6590FD">
                      <a:gamma/>
                      <a:shade val="66275"/>
                      <a:invGamma/>
                    </a:srgbClr>
                  </a:gs>
                  <a:gs pos="50000">
                    <a:srgbClr val="6590FD"/>
                  </a:gs>
                  <a:gs pos="100000">
                    <a:srgbClr val="6590FD">
                      <a:gamma/>
                      <a:shade val="66275"/>
                      <a:invGamma/>
                    </a:srgbClr>
                  </a:gs>
                </a:gsLst>
                <a:lin ang="0" scaled="1"/>
              </a:gradFill>
              <a:ln w="9525" cap="rnd">
                <a:solidFill>
                  <a:srgbClr val="000000"/>
                </a:solidFill>
                <a:round/>
                <a:headEnd/>
                <a:tailEnd/>
              </a:ln>
              <a:effectLst/>
            </p:spPr>
            <p:txBody>
              <a:bodyPr tIns="320040" anchor="ctr"/>
              <a:lstStyle/>
              <a:p>
                <a:r>
                  <a:rPr lang="en-US">
                    <a:solidFill>
                      <a:schemeClr val="bg1"/>
                    </a:solidFill>
                    <a:effectLst>
                      <a:outerShdw blurRad="38100" dist="38100" dir="2700000" algn="tl">
                        <a:srgbClr val="000000"/>
                      </a:outerShdw>
                    </a:effectLst>
                  </a:rPr>
                  <a:t>C:</a:t>
                </a:r>
              </a:p>
            </p:txBody>
          </p:sp>
        </p:grpSp>
        <p:sp>
          <p:nvSpPr>
            <p:cNvPr id="18" name="AutoShape 18"/>
            <p:cNvSpPr>
              <a:spLocks noChangeArrowheads="1"/>
            </p:cNvSpPr>
            <p:nvPr/>
          </p:nvSpPr>
          <p:spPr bwMode="auto">
            <a:xfrm>
              <a:off x="4068571" y="5774028"/>
              <a:ext cx="1059643" cy="425433"/>
            </a:xfrm>
            <a:prstGeom prst="leftRightArrow">
              <a:avLst>
                <a:gd name="adj1" fmla="val 50000"/>
                <a:gd name="adj2" fmla="val 56199"/>
              </a:avLst>
            </a:prstGeom>
            <a:solidFill>
              <a:srgbClr val="FF66CC"/>
            </a:solidFill>
            <a:ln w="9525">
              <a:solidFill>
                <a:schemeClr val="tx2"/>
              </a:solidFill>
              <a:miter lim="800000"/>
              <a:headEnd/>
              <a:tailEnd/>
            </a:ln>
            <a:effectLst>
              <a:outerShdw dist="45791" dir="3378596" algn="ctr" rotWithShape="0">
                <a:srgbClr val="C0C0C0"/>
              </a:outerShdw>
            </a:effectLst>
          </p:spPr>
          <p:txBody>
            <a:bodyPr wrap="none" tIns="27432" bIns="27432" anchor="ctr"/>
            <a:lstStyle/>
            <a:p>
              <a:r>
                <a:rPr lang="en-US" dirty="0">
                  <a:solidFill>
                    <a:schemeClr val="bg1"/>
                  </a:solidFill>
                  <a:effectLst>
                    <a:outerShdw blurRad="38100" dist="38100" dir="2700000" algn="tl">
                      <a:srgbClr val="000000"/>
                    </a:outerShdw>
                  </a:effectLst>
                </a:rPr>
                <a:t>- OU -</a:t>
              </a:r>
            </a:p>
          </p:txBody>
        </p:sp>
        <p:sp>
          <p:nvSpPr>
            <p:cNvPr id="19" name="Text Box 20"/>
            <p:cNvSpPr txBox="1">
              <a:spLocks noChangeArrowheads="1"/>
            </p:cNvSpPr>
            <p:nvPr/>
          </p:nvSpPr>
          <p:spPr bwMode="auto">
            <a:xfrm>
              <a:off x="678073" y="5052022"/>
              <a:ext cx="1893677" cy="1015663"/>
            </a:xfrm>
            <a:prstGeom prst="rect">
              <a:avLst/>
            </a:prstGeom>
            <a:noFill/>
            <a:ln w="9525">
              <a:noFill/>
              <a:miter lim="800000"/>
              <a:headEnd/>
              <a:tailEnd/>
            </a:ln>
            <a:effectLst/>
          </p:spPr>
          <p:txBody>
            <a:bodyPr wrap="square">
              <a:spAutoFit/>
            </a:bodyPr>
            <a:lstStyle/>
            <a:p>
              <a:pPr>
                <a:spcBef>
                  <a:spcPct val="40000"/>
                </a:spcBef>
                <a:buClr>
                  <a:srgbClr val="D60093"/>
                </a:buClr>
                <a:buSzPct val="70000"/>
                <a:buFont typeface="Wingdings" pitchFamily="2" charset="2"/>
                <a:buNone/>
              </a:pPr>
              <a:r>
                <a:rPr lang="en-US" sz="2000" dirty="0">
                  <a:solidFill>
                    <a:schemeClr val="tx1"/>
                  </a:solidFill>
                  <a:effectLst/>
                </a:rPr>
                <a:t>4 partitions</a:t>
              </a:r>
              <a:br>
                <a:rPr lang="en-US" sz="2000" dirty="0">
                  <a:solidFill>
                    <a:schemeClr val="tx1"/>
                  </a:solidFill>
                  <a:effectLst/>
                </a:rPr>
              </a:br>
              <a:r>
                <a:rPr lang="en-US" sz="2000" dirty="0" err="1">
                  <a:solidFill>
                    <a:schemeClr val="tx1"/>
                  </a:solidFill>
                  <a:effectLst/>
                </a:rPr>
                <a:t>principales</a:t>
              </a:r>
              <a:r>
                <a:rPr lang="en-US" sz="2000" dirty="0">
                  <a:solidFill>
                    <a:schemeClr val="tx1"/>
                  </a:solidFill>
                  <a:effectLst/>
                </a:rPr>
                <a:t> </a:t>
              </a:r>
              <a:br>
                <a:rPr lang="en-US" sz="2000" dirty="0">
                  <a:solidFill>
                    <a:schemeClr val="tx1"/>
                  </a:solidFill>
                  <a:effectLst/>
                </a:rPr>
              </a:br>
              <a:r>
                <a:rPr lang="en-US" sz="2000" dirty="0">
                  <a:solidFill>
                    <a:schemeClr val="tx1"/>
                  </a:solidFill>
                  <a:effectLst/>
                </a:rPr>
                <a:t>au plus</a:t>
              </a:r>
              <a:endParaRPr lang="en-US" sz="2000" b="0" dirty="0">
                <a:solidFill>
                  <a:schemeClr val="tx1"/>
                </a:solidFill>
                <a:effectLst/>
              </a:endParaRPr>
            </a:p>
          </p:txBody>
        </p:sp>
        <p:sp>
          <p:nvSpPr>
            <p:cNvPr id="20" name="Text Box 21"/>
            <p:cNvSpPr txBox="1">
              <a:spLocks noChangeArrowheads="1"/>
            </p:cNvSpPr>
            <p:nvPr/>
          </p:nvSpPr>
          <p:spPr bwMode="auto">
            <a:xfrm>
              <a:off x="6829424" y="3961713"/>
              <a:ext cx="1943101" cy="2246769"/>
            </a:xfrm>
            <a:prstGeom prst="rect">
              <a:avLst/>
            </a:prstGeom>
            <a:noFill/>
            <a:ln w="9525">
              <a:noFill/>
              <a:miter lim="800000"/>
              <a:headEnd/>
              <a:tailEnd/>
            </a:ln>
            <a:effectLst/>
          </p:spPr>
          <p:txBody>
            <a:bodyPr wrap="square">
              <a:spAutoFit/>
            </a:bodyPr>
            <a:lstStyle/>
            <a:p>
              <a:pPr>
                <a:spcBef>
                  <a:spcPct val="40000"/>
                </a:spcBef>
                <a:buClr>
                  <a:srgbClr val="D60093"/>
                </a:buClr>
                <a:buSzPct val="70000"/>
                <a:buFont typeface="Wingdings" pitchFamily="2" charset="2"/>
                <a:buNone/>
              </a:pPr>
              <a:r>
                <a:rPr lang="en-US" sz="2000" dirty="0">
                  <a:solidFill>
                    <a:schemeClr val="tx1"/>
                  </a:solidFill>
                  <a:effectLst/>
                </a:rPr>
                <a:t>3 partitions </a:t>
              </a:r>
              <a:r>
                <a:rPr lang="en-US" sz="2000" dirty="0" err="1">
                  <a:solidFill>
                    <a:schemeClr val="tx1"/>
                  </a:solidFill>
                  <a:effectLst/>
                </a:rPr>
                <a:t>principales</a:t>
              </a:r>
              <a:r>
                <a:rPr lang="en-US" sz="2000" dirty="0">
                  <a:solidFill>
                    <a:schemeClr val="tx1"/>
                  </a:solidFill>
                  <a:effectLst/>
                </a:rPr>
                <a:t> au plus et </a:t>
              </a:r>
              <a:r>
                <a:rPr lang="en-US" sz="2000" dirty="0" err="1">
                  <a:solidFill>
                    <a:schemeClr val="tx1"/>
                  </a:solidFill>
                  <a:effectLst/>
                </a:rPr>
                <a:t>une</a:t>
              </a:r>
              <a:r>
                <a:rPr lang="en-US" sz="2000" dirty="0">
                  <a:solidFill>
                    <a:schemeClr val="tx1"/>
                  </a:solidFill>
                  <a:effectLst/>
                </a:rPr>
                <a:t> partition </a:t>
              </a:r>
              <a:r>
                <a:rPr lang="en-US" sz="2000" dirty="0" err="1">
                  <a:solidFill>
                    <a:schemeClr val="tx1"/>
                  </a:solidFill>
                  <a:effectLst/>
                </a:rPr>
                <a:t>étendue</a:t>
              </a:r>
              <a:r>
                <a:rPr lang="en-US" sz="2000" dirty="0">
                  <a:solidFill>
                    <a:schemeClr val="tx1"/>
                  </a:solidFill>
                  <a:effectLst/>
                </a:rPr>
                <a:t> avec volumes </a:t>
              </a:r>
              <a:r>
                <a:rPr lang="en-US" sz="2000" dirty="0" err="1">
                  <a:solidFill>
                    <a:schemeClr val="tx1"/>
                  </a:solidFill>
                  <a:effectLst/>
                </a:rPr>
                <a:t>logiques</a:t>
              </a:r>
              <a:endParaRPr lang="en-US" sz="2000" b="0" dirty="0">
                <a:solidFill>
                  <a:schemeClr val="tx1"/>
                </a:solidFill>
                <a:effectLst/>
              </a:endParaRPr>
            </a:p>
          </p:txBody>
        </p:sp>
      </p:grpSp>
      <p:sp>
        <p:nvSpPr>
          <p:cNvPr id="5" name="AutoShape 39"/>
          <p:cNvSpPr>
            <a:spLocks noChangeArrowheads="1"/>
          </p:cNvSpPr>
          <p:nvPr/>
        </p:nvSpPr>
        <p:spPr bwMode="auto">
          <a:xfrm>
            <a:off x="770797" y="1452722"/>
            <a:ext cx="7561709" cy="542334"/>
          </a:xfrm>
          <a:prstGeom prst="roundRect">
            <a:avLst>
              <a:gd name="adj" fmla="val 4167"/>
            </a:avLst>
          </a:prstGeom>
          <a:gradFill rotWithShape="0">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gn="l">
              <a:lnSpc>
                <a:spcPct val="90000"/>
              </a:lnSpc>
              <a:spcBef>
                <a:spcPct val="40000"/>
              </a:spcBef>
              <a:buSzPct val="90000"/>
              <a:defRPr/>
            </a:pPr>
            <a:r>
              <a:rPr lang="fr-FR" sz="2200" b="0" dirty="0">
                <a:solidFill>
                  <a:schemeClr val="tx1"/>
                </a:solidFill>
                <a:cs typeface="Arial" charset="0"/>
              </a:rPr>
              <a:t>Il est créé lorsque le disque est partitionné</a:t>
            </a:r>
            <a:endParaRPr lang="en-US" sz="2200" b="0" dirty="0">
              <a:solidFill>
                <a:schemeClr val="tx1"/>
              </a:solidFill>
              <a:cs typeface="Arial" charset="0"/>
            </a:endParaRPr>
          </a:p>
        </p:txBody>
      </p:sp>
      <p:sp>
        <p:nvSpPr>
          <p:cNvPr id="6" name="AutoShape 39"/>
          <p:cNvSpPr>
            <a:spLocks noChangeArrowheads="1"/>
          </p:cNvSpPr>
          <p:nvPr/>
        </p:nvSpPr>
        <p:spPr bwMode="auto">
          <a:xfrm>
            <a:off x="770797" y="2737853"/>
            <a:ext cx="7561709" cy="476381"/>
          </a:xfrm>
          <a:prstGeom prst="roundRect">
            <a:avLst>
              <a:gd name="adj" fmla="val 4167"/>
            </a:avLst>
          </a:prstGeom>
          <a:gradFill rotWithShape="0">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gn="l">
              <a:lnSpc>
                <a:spcPct val="90000"/>
              </a:lnSpc>
              <a:spcBef>
                <a:spcPct val="40000"/>
              </a:spcBef>
              <a:buSzPct val="90000"/>
              <a:defRPr/>
            </a:pPr>
            <a:r>
              <a:rPr lang="fr-FR" sz="2200" b="0" dirty="0">
                <a:solidFill>
                  <a:schemeClr val="tx1"/>
                </a:solidFill>
                <a:cs typeface="Arial" charset="0"/>
              </a:rPr>
              <a:t>Il est sur le premier secteur du disque dur</a:t>
            </a:r>
            <a:endParaRPr lang="en-US" sz="2200" b="0" dirty="0">
              <a:solidFill>
                <a:schemeClr val="tx1"/>
              </a:solidFill>
              <a:cs typeface="Arial" charset="0"/>
            </a:endParaRPr>
          </a:p>
        </p:txBody>
      </p:sp>
      <p:sp>
        <p:nvSpPr>
          <p:cNvPr id="8" name="AutoShape 39"/>
          <p:cNvSpPr>
            <a:spLocks noChangeArrowheads="1"/>
          </p:cNvSpPr>
          <p:nvPr/>
        </p:nvSpPr>
        <p:spPr bwMode="auto">
          <a:xfrm>
            <a:off x="770797" y="2094493"/>
            <a:ext cx="7561709" cy="537860"/>
          </a:xfrm>
          <a:prstGeom prst="roundRect">
            <a:avLst>
              <a:gd name="adj" fmla="val 4167"/>
            </a:avLst>
          </a:prstGeom>
          <a:gradFill rotWithShape="0">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lvl="2" indent="-231775" algn="l">
              <a:lnSpc>
                <a:spcPct val="90000"/>
              </a:lnSpc>
              <a:spcBef>
                <a:spcPct val="40000"/>
              </a:spcBef>
              <a:buSzPct val="90000"/>
              <a:defRPr/>
            </a:pPr>
            <a:r>
              <a:rPr lang="fr-FR" sz="2200" b="0" dirty="0">
                <a:solidFill>
                  <a:schemeClr val="tx1"/>
                </a:solidFill>
                <a:cs typeface="Arial" charset="0"/>
              </a:rPr>
              <a:t>Contient une table d’écriture de quatre partition</a:t>
            </a:r>
            <a:endParaRPr lang="en-US" sz="2200" b="0" dirty="0">
              <a:solidFill>
                <a:schemeClr val="tx1"/>
              </a:solidFill>
              <a:cs typeface="Arial" charset="0"/>
            </a:endParaRPr>
          </a:p>
        </p:txBody>
      </p:sp>
      <p:sp>
        <p:nvSpPr>
          <p:cNvPr id="9" name="AutoShape 39"/>
          <p:cNvSpPr>
            <a:spLocks noChangeArrowheads="1"/>
          </p:cNvSpPr>
          <p:nvPr/>
        </p:nvSpPr>
        <p:spPr bwMode="auto">
          <a:xfrm>
            <a:off x="770797" y="3351917"/>
            <a:ext cx="7561709" cy="471906"/>
          </a:xfrm>
          <a:prstGeom prst="roundRect">
            <a:avLst>
              <a:gd name="adj" fmla="val 4167"/>
            </a:avLst>
          </a:prstGeom>
          <a:gradFill rotWithShape="0">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gn="l">
              <a:lnSpc>
                <a:spcPct val="90000"/>
              </a:lnSpc>
              <a:spcBef>
                <a:spcPct val="40000"/>
              </a:spcBef>
              <a:buSzPct val="90000"/>
              <a:defRPr/>
            </a:pPr>
            <a:r>
              <a:rPr lang="fr-FR" sz="2200" b="0" dirty="0">
                <a:solidFill>
                  <a:schemeClr val="tx1"/>
                </a:solidFill>
                <a:cs typeface="Arial" charset="0"/>
              </a:rPr>
              <a:t>Limite le nombre &amp; taille de partition</a:t>
            </a:r>
            <a:r>
              <a:rPr lang="en-GB" sz="2200" b="0" dirty="0">
                <a:solidFill>
                  <a:schemeClr val="tx1"/>
                </a:solidFill>
                <a:cs typeface="Arial" charset="0"/>
              </a:rPr>
              <a:t>s</a:t>
            </a:r>
            <a:endParaRPr lang="en-US" sz="2200" b="0" dirty="0">
              <a:solidFill>
                <a:schemeClr val="tx1"/>
              </a:solidFill>
              <a:cs typeface="Arial" charset="0"/>
            </a:endParaRPr>
          </a:p>
        </p:txBody>
      </p:sp>
      <p:sp>
        <p:nvSpPr>
          <p:cNvPr id="10" name="Freeform 5"/>
          <p:cNvSpPr>
            <a:spLocks/>
          </p:cNvSpPr>
          <p:nvPr/>
        </p:nvSpPr>
        <p:spPr bwMode="auto">
          <a:xfrm rot="5400000">
            <a:off x="2069092" y="-368967"/>
            <a:ext cx="5083752" cy="8686802"/>
          </a:xfrm>
          <a:prstGeom prst="rect">
            <a:avLst/>
          </a:prstGeom>
          <a:gradFill>
            <a:gsLst>
              <a:gs pos="0">
                <a:srgbClr val="8DACD0"/>
              </a:gs>
              <a:gs pos="100000">
                <a:srgbClr val="DEE7F1"/>
              </a:gs>
            </a:gsLst>
            <a:lin ang="2700000" scaled="1"/>
          </a:gradFill>
          <a:ln w="38100">
            <a:noFill/>
          </a:ln>
          <a:effectLst/>
          <a:scene3d>
            <a:camera prst="orthographicFront"/>
            <a:lightRig rig="flat" dir="t">
              <a:rot lat="0" lon="0" rev="5400000"/>
            </a:lightRig>
          </a:scene3d>
          <a:sp3d>
            <a:bevelB w="38100" h="38100"/>
          </a:sp3d>
        </p:spPr>
        <p:style>
          <a:lnRef idx="2">
            <a:schemeClr val="accent1">
              <a:shade val="50000"/>
            </a:schemeClr>
          </a:lnRef>
          <a:fillRef idx="1">
            <a:schemeClr val="accent1"/>
          </a:fillRef>
          <a:effectRef idx="0">
            <a:schemeClr val="accent1"/>
          </a:effectRef>
          <a:fontRef idx="minor">
            <a:schemeClr val="lt1"/>
          </a:fontRef>
        </p:style>
        <p:txBody>
          <a:bodyPr vert="vert270" lIns="0" tIns="252000" rIns="0" bIns="252000" anchor="ctr"/>
          <a:lstStyle/>
          <a:p>
            <a:pPr marL="0" lvl="2" algn="l">
              <a:buSzPct val="150000"/>
              <a:defRPr/>
            </a:pPr>
            <a:r>
              <a:rPr lang="fr-FR" sz="2200" dirty="0">
                <a:solidFill>
                  <a:schemeClr val="tx1"/>
                </a:solidFill>
                <a:effectLst/>
              </a:rPr>
              <a:t>L'enregistrement de démarrage principal (Master Boot Record)</a:t>
            </a:r>
          </a:p>
          <a:p>
            <a:pPr marL="0" lvl="2" algn="l">
              <a:buSzPct val="150000"/>
              <a:defRPr/>
            </a:pPr>
            <a:r>
              <a:rPr lang="fr-FR" sz="2200" dirty="0">
                <a:solidFill>
                  <a:schemeClr val="tx1"/>
                </a:solidFill>
                <a:effectLst/>
              </a:rPr>
              <a:t>Il contient:</a:t>
            </a:r>
          </a:p>
          <a:p>
            <a:pPr marL="0" lvl="2" algn="l">
              <a:buSzPct val="150000"/>
              <a:defRPr/>
            </a:pPr>
            <a:r>
              <a:rPr lang="fr-FR" sz="2200" dirty="0">
                <a:solidFill>
                  <a:schemeClr val="tx1"/>
                </a:solidFill>
                <a:effectLst/>
              </a:rPr>
              <a:t>La table de partition du disque </a:t>
            </a:r>
          </a:p>
          <a:p>
            <a:pPr marL="0" lvl="2" algn="l">
              <a:buSzPct val="150000"/>
              <a:defRPr/>
            </a:pPr>
            <a:r>
              <a:rPr lang="fr-FR" sz="2200" dirty="0">
                <a:solidFill>
                  <a:schemeClr val="tx1"/>
                </a:solidFill>
                <a:effectLst/>
              </a:rPr>
              <a:t>+</a:t>
            </a:r>
          </a:p>
          <a:p>
            <a:pPr marL="0" lvl="2" algn="l">
              <a:buSzPct val="150000"/>
              <a:defRPr/>
            </a:pPr>
            <a:r>
              <a:rPr lang="fr-FR" sz="2200" dirty="0">
                <a:solidFill>
                  <a:schemeClr val="tx1"/>
                </a:solidFill>
                <a:effectLst/>
              </a:rPr>
              <a:t>Un extrait du code exécutable appelé le code de démarrage principal. </a:t>
            </a:r>
            <a:endParaRPr lang="en-US" sz="2200" b="0" dirty="0">
              <a:solidFill>
                <a:schemeClr val="tx1"/>
              </a:solidFill>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xit" presetSubtype="10" fill="hold" nodeType="withEffect">
                                  <p:stCondLst>
                                    <p:cond delay="0"/>
                                  </p:stCondLst>
                                  <p:childTnLst>
                                    <p:animEffect transition="out" filter="checkerboard(across)">
                                      <p:cBhvr>
                                        <p:cTn id="6" dur="500"/>
                                        <p:tgtEl>
                                          <p:spTgt spid="45"/>
                                        </p:tgtEl>
                                      </p:cBhvr>
                                    </p:animEffect>
                                    <p:set>
                                      <p:cBhvr>
                                        <p:cTn id="7" dur="1" fill="hold">
                                          <p:stCondLst>
                                            <p:cond delay="499"/>
                                          </p:stCondLst>
                                        </p:cTn>
                                        <p:tgtEl>
                                          <p:spTgt spid="45"/>
                                        </p:tgtEl>
                                        <p:attrNameLst>
                                          <p:attrName>style.visibility</p:attrName>
                                        </p:attrNameLst>
                                      </p:cBhvr>
                                      <p:to>
                                        <p:strVal val="hidden"/>
                                      </p:to>
                                    </p:set>
                                  </p:childTnLst>
                                </p:cTn>
                              </p:par>
                              <p:par>
                                <p:cTn id="8" presetID="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 calcmode="lin" valueType="num">
                                      <p:cBhvr additive="base">
                                        <p:cTn id="10" dur="1000" fill="hold"/>
                                        <p:tgtEl>
                                          <p:spTgt spid="10"/>
                                        </p:tgtEl>
                                        <p:attrNameLst>
                                          <p:attrName>ppt_x</p:attrName>
                                        </p:attrNameLst>
                                      </p:cBhvr>
                                      <p:tavLst>
                                        <p:tav tm="0">
                                          <p:val>
                                            <p:strVal val="#ppt_x"/>
                                          </p:val>
                                        </p:tav>
                                        <p:tav tm="100000">
                                          <p:val>
                                            <p:strVal val="#ppt_x"/>
                                          </p:val>
                                        </p:tav>
                                      </p:tavLst>
                                    </p:anim>
                                    <p:anim calcmode="lin" valueType="num">
                                      <p:cBhvr additive="base">
                                        <p:cTn id="11" dur="10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5" presetClass="exit" presetSubtype="10" fill="hold" grpId="1" nodeType="clickEffect">
                                  <p:stCondLst>
                                    <p:cond delay="0"/>
                                  </p:stCondLst>
                                  <p:childTnLst>
                                    <p:animEffect transition="out" filter="checkerboard(across)">
                                      <p:cBhvr>
                                        <p:cTn id="15" dur="500"/>
                                        <p:tgtEl>
                                          <p:spTgt spid="10"/>
                                        </p:tgtEl>
                                      </p:cBhvr>
                                    </p:animEffect>
                                    <p:set>
                                      <p:cBhvr>
                                        <p:cTn id="16" dur="1" fill="hold">
                                          <p:stCondLst>
                                            <p:cond delay="499"/>
                                          </p:stCondLst>
                                        </p:cTn>
                                        <p:tgtEl>
                                          <p:spTgt spid="10"/>
                                        </p:tgtEl>
                                        <p:attrNameLst>
                                          <p:attrName>style.visibility</p:attrName>
                                        </p:attrNameLst>
                                      </p:cBhvr>
                                      <p:to>
                                        <p:strVal val="hidden"/>
                                      </p:to>
                                    </p:set>
                                  </p:childTnLst>
                                </p:cTn>
                              </p:par>
                              <p:par>
                                <p:cTn id="17" presetID="2" presetClass="entr" presetSubtype="4"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1000" fill="hold"/>
                                        <p:tgtEl>
                                          <p:spTgt spid="4"/>
                                        </p:tgtEl>
                                        <p:attrNameLst>
                                          <p:attrName>ppt_x</p:attrName>
                                        </p:attrNameLst>
                                      </p:cBhvr>
                                      <p:tavLst>
                                        <p:tav tm="0">
                                          <p:val>
                                            <p:strVal val="#ppt_x"/>
                                          </p:val>
                                        </p:tav>
                                        <p:tav tm="100000">
                                          <p:val>
                                            <p:strVal val="#ppt_x"/>
                                          </p:val>
                                        </p:tav>
                                      </p:tavLst>
                                    </p:anim>
                                    <p:anim calcmode="lin" valueType="num">
                                      <p:cBhvr additive="base">
                                        <p:cTn id="20" dur="100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1000" fill="hold"/>
                                        <p:tgtEl>
                                          <p:spTgt spid="5"/>
                                        </p:tgtEl>
                                        <p:attrNameLst>
                                          <p:attrName>ppt_x</p:attrName>
                                        </p:attrNameLst>
                                      </p:cBhvr>
                                      <p:tavLst>
                                        <p:tav tm="0">
                                          <p:val>
                                            <p:strVal val="#ppt_x"/>
                                          </p:val>
                                        </p:tav>
                                        <p:tav tm="100000">
                                          <p:val>
                                            <p:strVal val="#ppt_x"/>
                                          </p:val>
                                        </p:tav>
                                      </p:tavLst>
                                    </p:anim>
                                    <p:anim calcmode="lin" valueType="num">
                                      <p:cBhvr additive="base">
                                        <p:cTn id="24"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additive="base">
                                        <p:cTn id="33" dur="500" fill="hold"/>
                                        <p:tgtEl>
                                          <p:spTgt spid="31"/>
                                        </p:tgtEl>
                                        <p:attrNameLst>
                                          <p:attrName>ppt_x</p:attrName>
                                        </p:attrNameLst>
                                      </p:cBhvr>
                                      <p:tavLst>
                                        <p:tav tm="0">
                                          <p:val>
                                            <p:strVal val="#ppt_x"/>
                                          </p:val>
                                        </p:tav>
                                        <p:tav tm="100000">
                                          <p:val>
                                            <p:strVal val="#ppt_x"/>
                                          </p:val>
                                        </p:tav>
                                      </p:tavLst>
                                    </p:anim>
                                    <p:anim calcmode="lin" valueType="num">
                                      <p:cBhvr additive="base">
                                        <p:cTn id="3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5" presetClass="exit" presetSubtype="10" fill="hold" nodeType="clickEffect">
                                  <p:stCondLst>
                                    <p:cond delay="0"/>
                                  </p:stCondLst>
                                  <p:childTnLst>
                                    <p:animEffect transition="out" filter="checkerboard(across)">
                                      <p:cBhvr>
                                        <p:cTn id="38" dur="500"/>
                                        <p:tgtEl>
                                          <p:spTgt spid="31"/>
                                        </p:tgtEl>
                                      </p:cBhvr>
                                    </p:animEffect>
                                    <p:set>
                                      <p:cBhvr>
                                        <p:cTn id="39" dur="1" fill="hold">
                                          <p:stCondLst>
                                            <p:cond delay="499"/>
                                          </p:stCondLst>
                                        </p:cTn>
                                        <p:tgtEl>
                                          <p:spTgt spid="31"/>
                                        </p:tgtEl>
                                        <p:attrNameLst>
                                          <p:attrName>style.visibility</p:attrName>
                                        </p:attrNameLst>
                                      </p:cBhvr>
                                      <p:to>
                                        <p:strVal val="hidden"/>
                                      </p:to>
                                    </p:set>
                                  </p:childTnLst>
                                </p:cTn>
                              </p:par>
                              <p:par>
                                <p:cTn id="40" presetID="2" presetClass="entr" presetSubtype="4"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1000" fill="hold"/>
                                        <p:tgtEl>
                                          <p:spTgt spid="6"/>
                                        </p:tgtEl>
                                        <p:attrNameLst>
                                          <p:attrName>ppt_x</p:attrName>
                                        </p:attrNameLst>
                                      </p:cBhvr>
                                      <p:tavLst>
                                        <p:tav tm="0">
                                          <p:val>
                                            <p:strVal val="#ppt_x"/>
                                          </p:val>
                                        </p:tav>
                                        <p:tav tm="100000">
                                          <p:val>
                                            <p:strVal val="#ppt_x"/>
                                          </p:val>
                                        </p:tav>
                                      </p:tavLst>
                                    </p:anim>
                                    <p:anim calcmode="lin" valueType="num">
                                      <p:cBhvr additive="base">
                                        <p:cTn id="43" dur="10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 calcmode="lin" valueType="num">
                                      <p:cBhvr additive="base">
                                        <p:cTn id="48" dur="1000" fill="hold"/>
                                        <p:tgtEl>
                                          <p:spTgt spid="9"/>
                                        </p:tgtEl>
                                        <p:attrNameLst>
                                          <p:attrName>ppt_x</p:attrName>
                                        </p:attrNameLst>
                                      </p:cBhvr>
                                      <p:tavLst>
                                        <p:tav tm="0">
                                          <p:val>
                                            <p:strVal val="#ppt_x"/>
                                          </p:val>
                                        </p:tav>
                                        <p:tav tm="100000">
                                          <p:val>
                                            <p:strVal val="#ppt_x"/>
                                          </p:val>
                                        </p:tav>
                                      </p:tavLst>
                                    </p:anim>
                                    <p:anim calcmode="lin" valueType="num">
                                      <p:cBhvr additive="base">
                                        <p:cTn id="49" dur="1000" fill="hold"/>
                                        <p:tgtEl>
                                          <p:spTgt spid="9"/>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45"/>
                                        </p:tgtEl>
                                        <p:attrNameLst>
                                          <p:attrName>style.visibility</p:attrName>
                                        </p:attrNameLst>
                                      </p:cBhvr>
                                      <p:to>
                                        <p:strVal val="visible"/>
                                      </p:to>
                                    </p:set>
                                    <p:anim calcmode="lin" valueType="num">
                                      <p:cBhvr additive="base">
                                        <p:cTn id="52" dur="500" fill="hold"/>
                                        <p:tgtEl>
                                          <p:spTgt spid="45"/>
                                        </p:tgtEl>
                                        <p:attrNameLst>
                                          <p:attrName>ppt_x</p:attrName>
                                        </p:attrNameLst>
                                      </p:cBhvr>
                                      <p:tavLst>
                                        <p:tav tm="0">
                                          <p:val>
                                            <p:strVal val="#ppt_x"/>
                                          </p:val>
                                        </p:tav>
                                        <p:tav tm="100000">
                                          <p:val>
                                            <p:strVal val="#ppt_x"/>
                                          </p:val>
                                        </p:tav>
                                      </p:tavLst>
                                    </p:anim>
                                    <p:anim calcmode="lin" valueType="num">
                                      <p:cBhvr additive="base">
                                        <p:cTn id="53"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0"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A666B-B84E-6953-EE17-BB8BCD1400F8}"/>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99602C85-4294-D85D-5BAF-9852AB4E10AA}"/>
              </a:ext>
            </a:extLst>
          </p:cNvPr>
          <p:cNvSpPr>
            <a:spLocks noGrp="1" noChangeArrowheads="1"/>
          </p:cNvSpPr>
          <p:nvPr>
            <p:ph type="title"/>
          </p:nvPr>
        </p:nvSpPr>
        <p:spPr>
          <a:noFill/>
          <a:ln/>
        </p:spPr>
        <p:txBody>
          <a:bodyPr vert="horz" anchor="b">
            <a:normAutofit/>
          </a:bodyPr>
          <a:lstStyle/>
          <a:p>
            <a:r>
              <a:rPr lang="fr-FR" sz="3000" dirty="0">
                <a:solidFill>
                  <a:srgbClr val="C00000"/>
                </a:solidFill>
              </a:rPr>
              <a:t>Qu’est-ce qu’un disque MBR ? </a:t>
            </a:r>
          </a:p>
        </p:txBody>
      </p:sp>
      <p:pic>
        <p:nvPicPr>
          <p:cNvPr id="3" name="Image 2">
            <a:extLst>
              <a:ext uri="{FF2B5EF4-FFF2-40B4-BE49-F238E27FC236}">
                <a16:creationId xmlns:a16="http://schemas.microsoft.com/office/drawing/2014/main" id="{A62A52B1-9892-B682-DFE3-E7FDD9B65680}"/>
              </a:ext>
            </a:extLst>
          </p:cNvPr>
          <p:cNvPicPr>
            <a:picLocks noChangeAspect="1"/>
          </p:cNvPicPr>
          <p:nvPr/>
        </p:nvPicPr>
        <p:blipFill>
          <a:blip r:embed="rId3"/>
          <a:srcRect t="4969" b="4418"/>
          <a:stretch/>
        </p:blipFill>
        <p:spPr>
          <a:xfrm>
            <a:off x="2207040" y="1242646"/>
            <a:ext cx="4158591" cy="5528638"/>
          </a:xfrm>
          <a:prstGeom prst="rect">
            <a:avLst/>
          </a:prstGeom>
        </p:spPr>
      </p:pic>
    </p:spTree>
    <p:extLst>
      <p:ext uri="{BB962C8B-B14F-4D97-AF65-F5344CB8AC3E}">
        <p14:creationId xmlns:p14="http://schemas.microsoft.com/office/powerpoint/2010/main" val="224927620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vert="horz" anchor="b">
            <a:normAutofit/>
          </a:bodyPr>
          <a:lstStyle/>
          <a:p>
            <a:r>
              <a:rPr lang="fr-FR" sz="3000" dirty="0">
                <a:solidFill>
                  <a:srgbClr val="C00000"/>
                </a:solidFill>
              </a:rPr>
              <a:t>Qu’est-ce qu’un disque GPT ?</a:t>
            </a:r>
            <a:endParaRPr lang="en-US" sz="3000" dirty="0">
              <a:solidFill>
                <a:srgbClr val="C00000"/>
              </a:solidFill>
            </a:endParaRPr>
          </a:p>
        </p:txBody>
      </p:sp>
      <p:sp>
        <p:nvSpPr>
          <p:cNvPr id="8" name="Freeform 5"/>
          <p:cNvSpPr>
            <a:spLocks/>
          </p:cNvSpPr>
          <p:nvPr/>
        </p:nvSpPr>
        <p:spPr bwMode="auto">
          <a:xfrm rot="5400000">
            <a:off x="3742527" y="-2048669"/>
            <a:ext cx="1689427" cy="8753302"/>
          </a:xfrm>
          <a:prstGeom prst="rect">
            <a:avLst/>
          </a:prstGeom>
          <a:gradFill>
            <a:gsLst>
              <a:gs pos="0">
                <a:srgbClr val="8DACD0"/>
              </a:gs>
              <a:gs pos="100000">
                <a:srgbClr val="DEE7F1"/>
              </a:gs>
            </a:gsLst>
            <a:lin ang="2700000" scaled="1"/>
          </a:gradFill>
          <a:ln w="38100">
            <a:noFill/>
          </a:ln>
          <a:effectLst/>
          <a:scene3d>
            <a:camera prst="orthographicFront"/>
            <a:lightRig rig="flat" dir="t">
              <a:rot lat="0" lon="0" rev="5400000"/>
            </a:lightRig>
          </a:scene3d>
          <a:sp3d>
            <a:bevelB w="38100" h="38100"/>
          </a:sp3d>
        </p:spPr>
        <p:style>
          <a:lnRef idx="2">
            <a:schemeClr val="accent1">
              <a:shade val="50000"/>
            </a:schemeClr>
          </a:lnRef>
          <a:fillRef idx="1">
            <a:schemeClr val="accent1"/>
          </a:fillRef>
          <a:effectRef idx="0">
            <a:schemeClr val="accent1"/>
          </a:effectRef>
          <a:fontRef idx="minor">
            <a:schemeClr val="lt1"/>
          </a:fontRef>
        </p:style>
        <p:txBody>
          <a:bodyPr vert="vert270" lIns="0" tIns="45718" rIns="0" bIns="0" anchor="ctr"/>
          <a:lstStyle/>
          <a:p>
            <a:pPr algn="ctr">
              <a:defRPr/>
            </a:pPr>
            <a:r>
              <a:rPr lang="fr-FR" sz="2200" dirty="0">
                <a:solidFill>
                  <a:schemeClr val="tx1"/>
                </a:solidFill>
                <a:effectLst/>
              </a:rPr>
              <a:t>Table de Partition GUID (GPT) </a:t>
            </a:r>
          </a:p>
          <a:p>
            <a:pPr algn="l">
              <a:defRPr/>
            </a:pPr>
            <a:r>
              <a:rPr lang="fr-FR" sz="2200" dirty="0">
                <a:solidFill>
                  <a:schemeClr val="tx1"/>
                </a:solidFill>
                <a:effectLst/>
              </a:rPr>
              <a:t>Elle contient un ensemble d'entrées de partition qui décrivent les références LBA (</a:t>
            </a:r>
            <a:r>
              <a:rPr lang="fr-FR" sz="2200" dirty="0" err="1">
                <a:solidFill>
                  <a:schemeClr val="tx1"/>
                </a:solidFill>
                <a:effectLst/>
              </a:rPr>
              <a:t>Logical</a:t>
            </a:r>
            <a:r>
              <a:rPr lang="fr-FR" sz="2200" dirty="0">
                <a:solidFill>
                  <a:schemeClr val="tx1"/>
                </a:solidFill>
                <a:effectLst/>
              </a:rPr>
              <a:t> Block </a:t>
            </a:r>
            <a:r>
              <a:rPr lang="fr-FR" sz="2200" dirty="0" err="1">
                <a:solidFill>
                  <a:schemeClr val="tx1"/>
                </a:solidFill>
                <a:effectLst/>
              </a:rPr>
              <a:t>Address</a:t>
            </a:r>
            <a:r>
              <a:rPr lang="fr-FR" sz="2200" dirty="0">
                <a:solidFill>
                  <a:schemeClr val="tx1"/>
                </a:solidFill>
                <a:effectLst/>
              </a:rPr>
              <a:t>) de début et de fin de chaque partition du disque</a:t>
            </a:r>
            <a:endParaRPr lang="en-US" sz="2200" b="0" dirty="0">
              <a:solidFill>
                <a:schemeClr val="tx1"/>
              </a:solidFill>
              <a:effectLst/>
            </a:endParaRPr>
          </a:p>
        </p:txBody>
      </p:sp>
      <p:sp>
        <p:nvSpPr>
          <p:cNvPr id="4" name="AutoShape 24"/>
          <p:cNvSpPr>
            <a:spLocks noChangeArrowheads="1"/>
          </p:cNvSpPr>
          <p:nvPr/>
        </p:nvSpPr>
        <p:spPr bwMode="auto">
          <a:xfrm>
            <a:off x="193966" y="3380509"/>
            <a:ext cx="8728362" cy="3366660"/>
          </a:xfrm>
          <a:prstGeom prst="roundRect">
            <a:avLst>
              <a:gd name="adj" fmla="val 4167"/>
            </a:avLst>
          </a:prstGeom>
          <a:gradFill rotWithShape="0">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buFont typeface="Arial" pitchFamily="34" charset="0"/>
              <a:buChar char="•"/>
              <a:defRPr/>
            </a:pPr>
            <a:endParaRPr lang="en-US" sz="2000" b="0" dirty="0">
              <a:cs typeface="Arial" charset="0"/>
            </a:endParaRPr>
          </a:p>
        </p:txBody>
      </p:sp>
      <p:sp>
        <p:nvSpPr>
          <p:cNvPr id="5" name="AutoShape 39"/>
          <p:cNvSpPr>
            <a:spLocks noChangeArrowheads="1"/>
          </p:cNvSpPr>
          <p:nvPr/>
        </p:nvSpPr>
        <p:spPr bwMode="auto">
          <a:xfrm>
            <a:off x="277925" y="3624160"/>
            <a:ext cx="5069927" cy="838200"/>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gn="l">
              <a:lnSpc>
                <a:spcPct val="90000"/>
              </a:lnSpc>
              <a:spcBef>
                <a:spcPct val="40000"/>
              </a:spcBef>
              <a:buSzPct val="90000"/>
              <a:defRPr/>
            </a:pPr>
            <a:r>
              <a:rPr lang="en-GB" sz="2200" b="0" dirty="0">
                <a:solidFill>
                  <a:schemeClr val="tx1"/>
                </a:solidFill>
                <a:effectLst/>
                <a:cs typeface="Arial" charset="0"/>
              </a:rPr>
              <a:t>Support plus de partitions: </a:t>
            </a:r>
          </a:p>
        </p:txBody>
      </p:sp>
      <p:sp>
        <p:nvSpPr>
          <p:cNvPr id="6" name="AutoShape 39"/>
          <p:cNvSpPr>
            <a:spLocks noChangeArrowheads="1"/>
          </p:cNvSpPr>
          <p:nvPr/>
        </p:nvSpPr>
        <p:spPr bwMode="auto">
          <a:xfrm>
            <a:off x="305664" y="4625440"/>
            <a:ext cx="5000624" cy="836613"/>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gn="l">
              <a:lnSpc>
                <a:spcPct val="90000"/>
              </a:lnSpc>
              <a:spcBef>
                <a:spcPct val="40000"/>
              </a:spcBef>
              <a:buSzPct val="90000"/>
              <a:defRPr/>
            </a:pPr>
            <a:r>
              <a:rPr lang="en-GB" sz="2200" b="0" dirty="0">
                <a:solidFill>
                  <a:schemeClr val="tx1"/>
                </a:solidFill>
                <a:effectLst/>
                <a:cs typeface="Arial" charset="0"/>
              </a:rPr>
              <a:t>Support des partitions de </a:t>
            </a:r>
            <a:r>
              <a:rPr lang="en-GB" sz="2200" b="0" dirty="0" err="1">
                <a:solidFill>
                  <a:schemeClr val="tx1"/>
                </a:solidFill>
                <a:effectLst/>
                <a:cs typeface="Arial" charset="0"/>
              </a:rPr>
              <a:t>taille</a:t>
            </a:r>
            <a:r>
              <a:rPr lang="en-GB" sz="2200" b="0" dirty="0">
                <a:solidFill>
                  <a:schemeClr val="tx1"/>
                </a:solidFill>
                <a:effectLst/>
                <a:cs typeface="Arial" charset="0"/>
              </a:rPr>
              <a:t> plus grand:</a:t>
            </a:r>
          </a:p>
        </p:txBody>
      </p:sp>
      <p:sp>
        <p:nvSpPr>
          <p:cNvPr id="7" name="AutoShape 39"/>
          <p:cNvSpPr>
            <a:spLocks noChangeArrowheads="1"/>
          </p:cNvSpPr>
          <p:nvPr/>
        </p:nvSpPr>
        <p:spPr bwMode="auto">
          <a:xfrm>
            <a:off x="277957" y="5637371"/>
            <a:ext cx="8547388" cy="838200"/>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gn="l">
              <a:lnSpc>
                <a:spcPct val="90000"/>
              </a:lnSpc>
              <a:spcBef>
                <a:spcPct val="40000"/>
              </a:spcBef>
              <a:buSzPct val="90000"/>
              <a:defRPr/>
            </a:pPr>
            <a:r>
              <a:rPr lang="fr-FR" sz="2200" b="0" dirty="0">
                <a:solidFill>
                  <a:schemeClr val="tx1"/>
                </a:solidFill>
                <a:effectLst/>
                <a:cs typeface="Arial" charset="0"/>
              </a:rPr>
              <a:t>Il est dupliqué et protégé par les contrôles de redondance cycliques </a:t>
            </a:r>
            <a:endParaRPr lang="en-GB" sz="2200" b="0" dirty="0" err="1">
              <a:solidFill>
                <a:schemeClr val="tx1"/>
              </a:solidFill>
              <a:effectLst/>
              <a:cs typeface="Arial" charset="0"/>
            </a:endParaRPr>
          </a:p>
        </p:txBody>
      </p:sp>
      <p:sp>
        <p:nvSpPr>
          <p:cNvPr id="10" name="AutoShape 39"/>
          <p:cNvSpPr>
            <a:spLocks noChangeArrowheads="1"/>
          </p:cNvSpPr>
          <p:nvPr/>
        </p:nvSpPr>
        <p:spPr bwMode="auto">
          <a:xfrm>
            <a:off x="5514107" y="3624161"/>
            <a:ext cx="3172690" cy="838200"/>
          </a:xfrm>
          <a:prstGeom prst="roundRect">
            <a:avLst>
              <a:gd name="adj" fmla="val 4167"/>
            </a:avLst>
          </a:prstGeom>
          <a:solidFill>
            <a:srgbClr val="FFFF99"/>
          </a:soli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gn="l">
              <a:lnSpc>
                <a:spcPct val="90000"/>
              </a:lnSpc>
              <a:spcBef>
                <a:spcPct val="40000"/>
              </a:spcBef>
              <a:buSzPct val="90000"/>
              <a:defRPr/>
            </a:pPr>
            <a:r>
              <a:rPr lang="fr-FR" sz="2200" dirty="0">
                <a:solidFill>
                  <a:schemeClr val="tx1"/>
                </a:solidFill>
              </a:rPr>
              <a:t>128 partitions/disque </a:t>
            </a:r>
            <a:endParaRPr lang="en-GB" sz="2200" b="0" dirty="0">
              <a:solidFill>
                <a:schemeClr val="tx1"/>
              </a:solidFill>
              <a:cs typeface="Arial" charset="0"/>
            </a:endParaRPr>
          </a:p>
        </p:txBody>
      </p:sp>
      <p:sp>
        <p:nvSpPr>
          <p:cNvPr id="11" name="AutoShape 39"/>
          <p:cNvSpPr>
            <a:spLocks noChangeArrowheads="1"/>
          </p:cNvSpPr>
          <p:nvPr/>
        </p:nvSpPr>
        <p:spPr bwMode="auto">
          <a:xfrm>
            <a:off x="5555671" y="4580125"/>
            <a:ext cx="3172690" cy="838200"/>
          </a:xfrm>
          <a:prstGeom prst="roundRect">
            <a:avLst>
              <a:gd name="adj" fmla="val 4167"/>
            </a:avLst>
          </a:prstGeom>
          <a:solidFill>
            <a:srgbClr val="FFFF99"/>
          </a:soli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gn="l">
              <a:lnSpc>
                <a:spcPct val="90000"/>
              </a:lnSpc>
              <a:spcBef>
                <a:spcPct val="40000"/>
              </a:spcBef>
              <a:buSzPct val="90000"/>
              <a:defRPr/>
            </a:pPr>
            <a:r>
              <a:rPr lang="fr-FR" sz="2200" dirty="0">
                <a:solidFill>
                  <a:schemeClr val="tx1"/>
                </a:solidFill>
              </a:rPr>
              <a:t>Taille de volume de 256 To</a:t>
            </a:r>
            <a:endParaRPr lang="en-GB" sz="22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ppt_x"/>
                                          </p:val>
                                        </p:tav>
                                        <p:tav tm="100000">
                                          <p:val>
                                            <p:strVal val="#ppt_x"/>
                                          </p:val>
                                        </p:tav>
                                      </p:tavLst>
                                    </p:anim>
                                    <p:anim calcmode="lin" valueType="num">
                                      <p:cBhvr additive="base">
                                        <p:cTn id="13" dur="1000" fill="hold"/>
                                        <p:tgtEl>
                                          <p:spTgt spid="4"/>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1000" fill="hold"/>
                                        <p:tgtEl>
                                          <p:spTgt spid="5"/>
                                        </p:tgtEl>
                                        <p:attrNameLst>
                                          <p:attrName>ppt_x</p:attrName>
                                        </p:attrNameLst>
                                      </p:cBhvr>
                                      <p:tavLst>
                                        <p:tav tm="0">
                                          <p:val>
                                            <p:strVal val="#ppt_x"/>
                                          </p:val>
                                        </p:tav>
                                        <p:tav tm="100000">
                                          <p:val>
                                            <p:strVal val="#ppt_x"/>
                                          </p:val>
                                        </p:tav>
                                      </p:tavLst>
                                    </p:anim>
                                    <p:anim calcmode="lin" valueType="num">
                                      <p:cBhvr additive="base">
                                        <p:cTn id="17"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1000" fill="hold"/>
                                        <p:tgtEl>
                                          <p:spTgt spid="10"/>
                                        </p:tgtEl>
                                        <p:attrNameLst>
                                          <p:attrName>ppt_x</p:attrName>
                                        </p:attrNameLst>
                                      </p:cBhvr>
                                      <p:tavLst>
                                        <p:tav tm="0">
                                          <p:val>
                                            <p:strVal val="#ppt_x"/>
                                          </p:val>
                                        </p:tav>
                                        <p:tav tm="100000">
                                          <p:val>
                                            <p:strVal val="#ppt_x"/>
                                          </p:val>
                                        </p:tav>
                                      </p:tavLst>
                                    </p:anim>
                                    <p:anim calcmode="lin" valueType="num">
                                      <p:cBhvr additive="base">
                                        <p:cTn id="23" dur="10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1000" fill="hold"/>
                                        <p:tgtEl>
                                          <p:spTgt spid="6"/>
                                        </p:tgtEl>
                                        <p:attrNameLst>
                                          <p:attrName>ppt_x</p:attrName>
                                        </p:attrNameLst>
                                      </p:cBhvr>
                                      <p:tavLst>
                                        <p:tav tm="0">
                                          <p:val>
                                            <p:strVal val="#ppt_x"/>
                                          </p:val>
                                        </p:tav>
                                        <p:tav tm="100000">
                                          <p:val>
                                            <p:strVal val="#ppt_x"/>
                                          </p:val>
                                        </p:tav>
                                      </p:tavLst>
                                    </p:anim>
                                    <p:anim calcmode="lin" valueType="num">
                                      <p:cBhvr additive="base">
                                        <p:cTn id="29" dur="10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1000" fill="hold"/>
                                        <p:tgtEl>
                                          <p:spTgt spid="11"/>
                                        </p:tgtEl>
                                        <p:attrNameLst>
                                          <p:attrName>ppt_x</p:attrName>
                                        </p:attrNameLst>
                                      </p:cBhvr>
                                      <p:tavLst>
                                        <p:tav tm="0">
                                          <p:val>
                                            <p:strVal val="#ppt_x"/>
                                          </p:val>
                                        </p:tav>
                                        <p:tav tm="100000">
                                          <p:val>
                                            <p:strVal val="#ppt_x"/>
                                          </p:val>
                                        </p:tav>
                                      </p:tavLst>
                                    </p:anim>
                                    <p:anim calcmode="lin" valueType="num">
                                      <p:cBhvr additive="base">
                                        <p:cTn id="35" dur="10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additive="base">
                                        <p:cTn id="40" dur="1000" fill="hold"/>
                                        <p:tgtEl>
                                          <p:spTgt spid="7"/>
                                        </p:tgtEl>
                                        <p:attrNameLst>
                                          <p:attrName>ppt_x</p:attrName>
                                        </p:attrNameLst>
                                      </p:cBhvr>
                                      <p:tavLst>
                                        <p:tav tm="0">
                                          <p:val>
                                            <p:strVal val="#ppt_x"/>
                                          </p:val>
                                        </p:tav>
                                        <p:tav tm="100000">
                                          <p:val>
                                            <p:strVal val="#ppt_x"/>
                                          </p:val>
                                        </p:tav>
                                      </p:tavLst>
                                    </p:anim>
                                    <p:anim calcmode="lin" valueType="num">
                                      <p:cBhvr additive="base">
                                        <p:cTn id="41"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P spid="5" grpId="0" animBg="1"/>
      <p:bldP spid="6" grpId="0" animBg="1"/>
      <p:bldP spid="7"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C45239-73BE-BF0E-F954-0E76CAE20DDA}"/>
              </a:ext>
            </a:extLst>
          </p:cNvPr>
          <p:cNvSpPr>
            <a:spLocks noGrp="1"/>
          </p:cNvSpPr>
          <p:nvPr>
            <p:ph type="title"/>
          </p:nvPr>
        </p:nvSpPr>
        <p:spPr/>
        <p:txBody>
          <a:bodyPr/>
          <a:lstStyle/>
          <a:p>
            <a:r>
              <a:rPr lang="fr-FR" dirty="0"/>
              <a:t>Différence entre MBR et GPT</a:t>
            </a:r>
          </a:p>
        </p:txBody>
      </p:sp>
      <p:pic>
        <p:nvPicPr>
          <p:cNvPr id="5" name="Image 4">
            <a:extLst>
              <a:ext uri="{FF2B5EF4-FFF2-40B4-BE49-F238E27FC236}">
                <a16:creationId xmlns:a16="http://schemas.microsoft.com/office/drawing/2014/main" id="{E07F574A-7096-B0CF-F5D2-1EE8E8FEBF81}"/>
              </a:ext>
            </a:extLst>
          </p:cNvPr>
          <p:cNvPicPr>
            <a:picLocks noChangeAspect="1"/>
          </p:cNvPicPr>
          <p:nvPr/>
        </p:nvPicPr>
        <p:blipFill>
          <a:blip r:embed="rId2"/>
          <a:srcRect r="5057"/>
          <a:stretch/>
        </p:blipFill>
        <p:spPr>
          <a:xfrm>
            <a:off x="62985" y="1532960"/>
            <a:ext cx="9018029" cy="4141010"/>
          </a:xfrm>
          <a:prstGeom prst="rect">
            <a:avLst/>
          </a:prstGeom>
        </p:spPr>
      </p:pic>
    </p:spTree>
    <p:extLst>
      <p:ext uri="{BB962C8B-B14F-4D97-AF65-F5344CB8AC3E}">
        <p14:creationId xmlns:p14="http://schemas.microsoft.com/office/powerpoint/2010/main" val="457592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a:noFill/>
          <a:ln/>
        </p:spPr>
        <p:txBody>
          <a:bodyPr vert="horz" anchor="b">
            <a:normAutofit/>
          </a:bodyPr>
          <a:lstStyle/>
          <a:p>
            <a:r>
              <a:rPr lang="en-US" sz="3000" dirty="0">
                <a:solidFill>
                  <a:srgbClr val="C00000"/>
                </a:solidFill>
              </a:rPr>
              <a:t>Les </a:t>
            </a:r>
            <a:r>
              <a:rPr lang="en-US" sz="3000" dirty="0" err="1">
                <a:solidFill>
                  <a:srgbClr val="C00000"/>
                </a:solidFill>
              </a:rPr>
              <a:t>outils</a:t>
            </a:r>
            <a:r>
              <a:rPr lang="en-US" sz="3000" dirty="0">
                <a:solidFill>
                  <a:srgbClr val="C00000"/>
                </a:solidFill>
              </a:rPr>
              <a:t> de </a:t>
            </a:r>
            <a:r>
              <a:rPr lang="en-US" sz="3000" dirty="0" err="1">
                <a:solidFill>
                  <a:srgbClr val="C00000"/>
                </a:solidFill>
              </a:rPr>
              <a:t>Gestion</a:t>
            </a:r>
            <a:r>
              <a:rPr lang="en-US" sz="3000" dirty="0">
                <a:solidFill>
                  <a:srgbClr val="C00000"/>
                </a:solidFill>
              </a:rPr>
              <a:t> des </a:t>
            </a:r>
            <a:r>
              <a:rPr lang="en-US" sz="3000" dirty="0" err="1">
                <a:solidFill>
                  <a:srgbClr val="C00000"/>
                </a:solidFill>
              </a:rPr>
              <a:t>disques</a:t>
            </a:r>
            <a:endParaRPr lang="en-US" sz="3000" dirty="0">
              <a:solidFill>
                <a:srgbClr val="C00000"/>
              </a:solidFill>
            </a:endParaRPr>
          </a:p>
        </p:txBody>
      </p:sp>
      <p:sp>
        <p:nvSpPr>
          <p:cNvPr id="38" name="Disk Mgmt Snap-in"/>
          <p:cNvSpPr>
            <a:spLocks/>
          </p:cNvSpPr>
          <p:nvPr/>
        </p:nvSpPr>
        <p:spPr bwMode="auto">
          <a:xfrm rot="5400000">
            <a:off x="4191457" y="-2723140"/>
            <a:ext cx="758952" cy="8864780"/>
          </a:xfrm>
          <a:prstGeom prst="rect">
            <a:avLst/>
          </a:prstGeom>
          <a:gradFill>
            <a:gsLst>
              <a:gs pos="0">
                <a:srgbClr val="8DACD0"/>
              </a:gs>
              <a:gs pos="100000">
                <a:srgbClr val="DEE7F1"/>
              </a:gs>
            </a:gsLst>
            <a:lin ang="2700000" scaled="1"/>
          </a:gradFill>
          <a:ln w="38100">
            <a:noFill/>
          </a:ln>
          <a:effectLst/>
          <a:scene3d>
            <a:camera prst="orthographicFront"/>
            <a:lightRig rig="flat" dir="t">
              <a:rot lat="0" lon="0" rev="5400000"/>
            </a:lightRig>
          </a:scene3d>
          <a:sp3d>
            <a:bevelB w="38100" h="38100"/>
          </a:sp3d>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anchor="ctr"/>
          <a:lstStyle/>
          <a:p>
            <a:pPr algn="ctr">
              <a:defRPr/>
            </a:pPr>
            <a:r>
              <a:rPr lang="en-US" sz="2400" dirty="0" err="1">
                <a:solidFill>
                  <a:schemeClr val="tx1"/>
                </a:solidFill>
              </a:rPr>
              <a:t>L’outil</a:t>
            </a:r>
            <a:r>
              <a:rPr lang="en-US" sz="2400" dirty="0">
                <a:solidFill>
                  <a:schemeClr val="tx1"/>
                </a:solidFill>
              </a:rPr>
              <a:t> Gestion de </a:t>
            </a:r>
            <a:r>
              <a:rPr lang="en-US" sz="2400" dirty="0" err="1">
                <a:solidFill>
                  <a:schemeClr val="tx1"/>
                </a:solidFill>
              </a:rPr>
              <a:t>disque</a:t>
            </a:r>
            <a:endParaRPr lang="en-US" sz="2400" dirty="0">
              <a:solidFill>
                <a:schemeClr val="tx1"/>
              </a:solidFill>
            </a:endParaRPr>
          </a:p>
          <a:p>
            <a:pPr algn="l">
              <a:defRPr/>
            </a:pPr>
            <a:r>
              <a:rPr lang="fr-FR" sz="2400" b="0" dirty="0">
                <a:solidFill>
                  <a:schemeClr val="tx1"/>
                </a:solidFill>
                <a:effectLst/>
                <a:cs typeface="Arial" charset="0"/>
              </a:rPr>
              <a:t>C’est un outil graphique</a:t>
            </a:r>
          </a:p>
        </p:txBody>
      </p:sp>
      <p:pic>
        <p:nvPicPr>
          <p:cNvPr id="3" name="Image 2">
            <a:extLst>
              <a:ext uri="{FF2B5EF4-FFF2-40B4-BE49-F238E27FC236}">
                <a16:creationId xmlns:a16="http://schemas.microsoft.com/office/drawing/2014/main" id="{D9644F48-4EE8-E08B-D6F7-B77A9BAE5C7F}"/>
              </a:ext>
            </a:extLst>
          </p:cNvPr>
          <p:cNvPicPr>
            <a:picLocks noChangeAspect="1"/>
          </p:cNvPicPr>
          <p:nvPr/>
        </p:nvPicPr>
        <p:blipFill>
          <a:blip r:embed="rId3"/>
          <a:srcRect t="27094" r="67821" b="22307"/>
          <a:stretch/>
        </p:blipFill>
        <p:spPr>
          <a:xfrm>
            <a:off x="2177444" y="2088726"/>
            <a:ext cx="4783016" cy="42303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22C63-5C65-BD0D-E482-E81F90C6A78C}"/>
            </a:ext>
          </a:extLst>
        </p:cNvPr>
        <p:cNvGrpSpPr/>
        <p:nvPr/>
      </p:nvGrpSpPr>
      <p:grpSpPr>
        <a:xfrm>
          <a:off x="0" y="0"/>
          <a:ext cx="0" cy="0"/>
          <a:chOff x="0" y="0"/>
          <a:chExt cx="0" cy="0"/>
        </a:xfrm>
      </p:grpSpPr>
      <p:pic>
        <p:nvPicPr>
          <p:cNvPr id="8196" name="Screenshot">
            <a:extLst>
              <a:ext uri="{FF2B5EF4-FFF2-40B4-BE49-F238E27FC236}">
                <a16:creationId xmlns:a16="http://schemas.microsoft.com/office/drawing/2014/main" id="{7584D602-3BE3-DF59-3CE0-43409E3DC293}"/>
              </a:ext>
            </a:extLst>
          </p:cNvPr>
          <p:cNvPicPr>
            <a:picLocks noChangeAspect="1" noChangeArrowheads="1"/>
          </p:cNvPicPr>
          <p:nvPr/>
        </p:nvPicPr>
        <p:blipFill>
          <a:blip r:embed="rId3"/>
          <a:srcRect/>
          <a:stretch>
            <a:fillRect/>
          </a:stretch>
        </p:blipFill>
        <p:spPr bwMode="auto">
          <a:xfrm>
            <a:off x="759075" y="1939613"/>
            <a:ext cx="8077077" cy="4918387"/>
          </a:xfrm>
          <a:prstGeom prst="rect">
            <a:avLst/>
          </a:prstGeom>
          <a:noFill/>
          <a:ln w="9525">
            <a:noFill/>
            <a:miter lim="800000"/>
            <a:headEnd/>
            <a:tailEnd/>
          </a:ln>
        </p:spPr>
      </p:pic>
      <p:sp>
        <p:nvSpPr>
          <p:cNvPr id="8197" name="Rectangle 2">
            <a:extLst>
              <a:ext uri="{FF2B5EF4-FFF2-40B4-BE49-F238E27FC236}">
                <a16:creationId xmlns:a16="http://schemas.microsoft.com/office/drawing/2014/main" id="{B8FF6E0D-5AB5-6040-01B0-D68F04582F6B}"/>
              </a:ext>
            </a:extLst>
          </p:cNvPr>
          <p:cNvSpPr>
            <a:spLocks noGrp="1" noChangeArrowheads="1"/>
          </p:cNvSpPr>
          <p:nvPr>
            <p:ph type="title"/>
          </p:nvPr>
        </p:nvSpPr>
        <p:spPr>
          <a:noFill/>
          <a:ln/>
        </p:spPr>
        <p:txBody>
          <a:bodyPr vert="horz" anchor="b">
            <a:normAutofit/>
          </a:bodyPr>
          <a:lstStyle/>
          <a:p>
            <a:r>
              <a:rPr lang="en-US" sz="3000" dirty="0">
                <a:solidFill>
                  <a:srgbClr val="C00000"/>
                </a:solidFill>
              </a:rPr>
              <a:t>Les </a:t>
            </a:r>
            <a:r>
              <a:rPr lang="en-US" sz="3000" dirty="0" err="1">
                <a:solidFill>
                  <a:srgbClr val="C00000"/>
                </a:solidFill>
              </a:rPr>
              <a:t>outils</a:t>
            </a:r>
            <a:r>
              <a:rPr lang="en-US" sz="3000" dirty="0">
                <a:solidFill>
                  <a:srgbClr val="C00000"/>
                </a:solidFill>
              </a:rPr>
              <a:t> de </a:t>
            </a:r>
            <a:r>
              <a:rPr lang="en-US" sz="3000" dirty="0" err="1">
                <a:solidFill>
                  <a:srgbClr val="C00000"/>
                </a:solidFill>
              </a:rPr>
              <a:t>Gestion</a:t>
            </a:r>
            <a:r>
              <a:rPr lang="en-US" sz="3000" dirty="0">
                <a:solidFill>
                  <a:srgbClr val="C00000"/>
                </a:solidFill>
              </a:rPr>
              <a:t> des </a:t>
            </a:r>
            <a:r>
              <a:rPr lang="en-US" sz="3000" dirty="0" err="1">
                <a:solidFill>
                  <a:srgbClr val="C00000"/>
                </a:solidFill>
              </a:rPr>
              <a:t>disques</a:t>
            </a:r>
            <a:endParaRPr lang="en-US" sz="3000" dirty="0">
              <a:solidFill>
                <a:srgbClr val="C00000"/>
              </a:solidFill>
            </a:endParaRPr>
          </a:p>
        </p:txBody>
      </p:sp>
      <p:sp>
        <p:nvSpPr>
          <p:cNvPr id="38" name="Disk Mgmt Snap-in">
            <a:extLst>
              <a:ext uri="{FF2B5EF4-FFF2-40B4-BE49-F238E27FC236}">
                <a16:creationId xmlns:a16="http://schemas.microsoft.com/office/drawing/2014/main" id="{BFB71583-75D8-9D92-6BF0-5663AA845286}"/>
              </a:ext>
            </a:extLst>
          </p:cNvPr>
          <p:cNvSpPr>
            <a:spLocks/>
          </p:cNvSpPr>
          <p:nvPr/>
        </p:nvSpPr>
        <p:spPr bwMode="auto">
          <a:xfrm rot="5400000">
            <a:off x="4191457" y="-2734863"/>
            <a:ext cx="758952" cy="8864780"/>
          </a:xfrm>
          <a:prstGeom prst="rect">
            <a:avLst/>
          </a:prstGeom>
          <a:gradFill>
            <a:gsLst>
              <a:gs pos="0">
                <a:srgbClr val="8DACD0"/>
              </a:gs>
              <a:gs pos="100000">
                <a:srgbClr val="DEE7F1"/>
              </a:gs>
            </a:gsLst>
            <a:lin ang="2700000" scaled="1"/>
          </a:gradFill>
          <a:ln w="38100">
            <a:noFill/>
          </a:ln>
          <a:effectLst/>
          <a:scene3d>
            <a:camera prst="orthographicFront"/>
            <a:lightRig rig="flat" dir="t">
              <a:rot lat="0" lon="0" rev="5400000"/>
            </a:lightRig>
          </a:scene3d>
          <a:sp3d>
            <a:bevelB w="38100" h="38100"/>
          </a:sp3d>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anchor="ctr"/>
          <a:lstStyle/>
          <a:p>
            <a:pPr algn="ctr">
              <a:defRPr/>
            </a:pPr>
            <a:r>
              <a:rPr lang="en-US" sz="2400" dirty="0" err="1">
                <a:solidFill>
                  <a:schemeClr val="tx1"/>
                </a:solidFill>
              </a:rPr>
              <a:t>L’outil</a:t>
            </a:r>
            <a:r>
              <a:rPr lang="en-US" sz="2400" dirty="0">
                <a:solidFill>
                  <a:schemeClr val="tx1"/>
                </a:solidFill>
              </a:rPr>
              <a:t> Gestion de </a:t>
            </a:r>
            <a:r>
              <a:rPr lang="en-US" sz="2400" dirty="0" err="1">
                <a:solidFill>
                  <a:schemeClr val="tx1"/>
                </a:solidFill>
              </a:rPr>
              <a:t>disque</a:t>
            </a:r>
            <a:endParaRPr lang="en-US" sz="2400" dirty="0">
              <a:solidFill>
                <a:schemeClr val="tx1"/>
              </a:solidFill>
            </a:endParaRPr>
          </a:p>
          <a:p>
            <a:pPr algn="l">
              <a:defRPr/>
            </a:pPr>
            <a:r>
              <a:rPr lang="fr-FR" sz="2400" b="0" dirty="0">
                <a:solidFill>
                  <a:schemeClr val="tx1"/>
                </a:solidFill>
                <a:effectLst/>
                <a:cs typeface="Arial" charset="0"/>
              </a:rPr>
              <a:t>C’est un outil graphique</a:t>
            </a:r>
          </a:p>
        </p:txBody>
      </p:sp>
    </p:spTree>
    <p:extLst>
      <p:ext uri="{BB962C8B-B14F-4D97-AF65-F5344CB8AC3E}">
        <p14:creationId xmlns:p14="http://schemas.microsoft.com/office/powerpoint/2010/main" val="2506930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196"/>
                                        </p:tgtEl>
                                        <p:attrNameLst>
                                          <p:attrName>style.visibility</p:attrName>
                                        </p:attrNameLst>
                                      </p:cBhvr>
                                      <p:to>
                                        <p:strVal val="visible"/>
                                      </p:to>
                                    </p:set>
                                    <p:anim calcmode="lin" valueType="num">
                                      <p:cBhvr additive="base">
                                        <p:cTn id="7" dur="1000" fill="hold"/>
                                        <p:tgtEl>
                                          <p:spTgt spid="8196"/>
                                        </p:tgtEl>
                                        <p:attrNameLst>
                                          <p:attrName>ppt_x</p:attrName>
                                        </p:attrNameLst>
                                      </p:cBhvr>
                                      <p:tavLst>
                                        <p:tav tm="0">
                                          <p:val>
                                            <p:strVal val="#ppt_x"/>
                                          </p:val>
                                        </p:tav>
                                        <p:tav tm="100000">
                                          <p:val>
                                            <p:strVal val="#ppt_x"/>
                                          </p:val>
                                        </p:tav>
                                      </p:tavLst>
                                    </p:anim>
                                    <p:anim calcmode="lin" valueType="num">
                                      <p:cBhvr additive="base">
                                        <p:cTn id="8" dur="1000" fill="hold"/>
                                        <p:tgtEl>
                                          <p:spTgt spid="81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17394-8ECF-8A99-166F-3ECCC92D2527}"/>
            </a:ext>
          </a:extLst>
        </p:cNvPr>
        <p:cNvGrpSpPr/>
        <p:nvPr/>
      </p:nvGrpSpPr>
      <p:grpSpPr>
        <a:xfrm>
          <a:off x="0" y="0"/>
          <a:ext cx="0" cy="0"/>
          <a:chOff x="0" y="0"/>
          <a:chExt cx="0" cy="0"/>
        </a:xfrm>
      </p:grpSpPr>
      <p:sp>
        <p:nvSpPr>
          <p:cNvPr id="8197" name="Rectangle 2">
            <a:extLst>
              <a:ext uri="{FF2B5EF4-FFF2-40B4-BE49-F238E27FC236}">
                <a16:creationId xmlns:a16="http://schemas.microsoft.com/office/drawing/2014/main" id="{421ABEF4-1604-8E2F-76B4-7ADC8B54BC79}"/>
              </a:ext>
            </a:extLst>
          </p:cNvPr>
          <p:cNvSpPr>
            <a:spLocks noGrp="1" noChangeArrowheads="1"/>
          </p:cNvSpPr>
          <p:nvPr>
            <p:ph type="title"/>
          </p:nvPr>
        </p:nvSpPr>
        <p:spPr>
          <a:noFill/>
          <a:ln/>
        </p:spPr>
        <p:txBody>
          <a:bodyPr vert="horz" anchor="b">
            <a:normAutofit/>
          </a:bodyPr>
          <a:lstStyle/>
          <a:p>
            <a:r>
              <a:rPr lang="en-US" sz="3000" dirty="0">
                <a:solidFill>
                  <a:srgbClr val="C00000"/>
                </a:solidFill>
              </a:rPr>
              <a:t>Les </a:t>
            </a:r>
            <a:r>
              <a:rPr lang="en-US" sz="3000" dirty="0" err="1">
                <a:solidFill>
                  <a:srgbClr val="C00000"/>
                </a:solidFill>
              </a:rPr>
              <a:t>outils</a:t>
            </a:r>
            <a:r>
              <a:rPr lang="en-US" sz="3000" dirty="0">
                <a:solidFill>
                  <a:srgbClr val="C00000"/>
                </a:solidFill>
              </a:rPr>
              <a:t> de </a:t>
            </a:r>
            <a:r>
              <a:rPr lang="en-US" sz="3000" dirty="0" err="1">
                <a:solidFill>
                  <a:srgbClr val="C00000"/>
                </a:solidFill>
              </a:rPr>
              <a:t>Gestion</a:t>
            </a:r>
            <a:r>
              <a:rPr lang="en-US" sz="3000" dirty="0">
                <a:solidFill>
                  <a:srgbClr val="C00000"/>
                </a:solidFill>
              </a:rPr>
              <a:t> des </a:t>
            </a:r>
            <a:r>
              <a:rPr lang="en-US" sz="3000" dirty="0" err="1">
                <a:solidFill>
                  <a:srgbClr val="C00000"/>
                </a:solidFill>
              </a:rPr>
              <a:t>disques</a:t>
            </a:r>
            <a:endParaRPr lang="en-US" sz="3000" dirty="0">
              <a:solidFill>
                <a:srgbClr val="C00000"/>
              </a:solidFill>
            </a:endParaRPr>
          </a:p>
        </p:txBody>
      </p:sp>
      <p:sp>
        <p:nvSpPr>
          <p:cNvPr id="38" name="Disk Mgmt Snap-in">
            <a:extLst>
              <a:ext uri="{FF2B5EF4-FFF2-40B4-BE49-F238E27FC236}">
                <a16:creationId xmlns:a16="http://schemas.microsoft.com/office/drawing/2014/main" id="{3C9EBEB7-78E9-6596-6028-5F34DFB79DAA}"/>
              </a:ext>
            </a:extLst>
          </p:cNvPr>
          <p:cNvSpPr>
            <a:spLocks/>
          </p:cNvSpPr>
          <p:nvPr/>
        </p:nvSpPr>
        <p:spPr bwMode="auto">
          <a:xfrm rot="5400000">
            <a:off x="2304147" y="-843671"/>
            <a:ext cx="4529609" cy="8853051"/>
          </a:xfrm>
          <a:prstGeom prst="rect">
            <a:avLst/>
          </a:prstGeom>
          <a:gradFill>
            <a:gsLst>
              <a:gs pos="0">
                <a:srgbClr val="8DACD0"/>
              </a:gs>
              <a:gs pos="100000">
                <a:srgbClr val="DEE7F1"/>
              </a:gs>
            </a:gsLst>
            <a:lin ang="2700000" scaled="1"/>
          </a:gradFill>
          <a:ln w="38100">
            <a:noFill/>
          </a:ln>
          <a:effectLst/>
          <a:scene3d>
            <a:camera prst="orthographicFront"/>
            <a:lightRig rig="flat" dir="t">
              <a:rot lat="0" lon="0" rev="5400000"/>
            </a:lightRig>
          </a:scene3d>
          <a:sp3d>
            <a:bevelB w="38100" h="38100"/>
          </a:sp3d>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anchor="ctr"/>
          <a:lstStyle/>
          <a:p>
            <a:pPr algn="ctr">
              <a:defRPr/>
            </a:pPr>
            <a:r>
              <a:rPr lang="en-US" sz="2400" dirty="0" err="1">
                <a:solidFill>
                  <a:schemeClr val="tx1"/>
                </a:solidFill>
              </a:rPr>
              <a:t>L’outil</a:t>
            </a:r>
            <a:r>
              <a:rPr lang="en-US" sz="2400" dirty="0">
                <a:solidFill>
                  <a:schemeClr val="tx1"/>
                </a:solidFill>
              </a:rPr>
              <a:t> Gestion de </a:t>
            </a:r>
            <a:r>
              <a:rPr lang="en-US" sz="2400" dirty="0" err="1">
                <a:solidFill>
                  <a:schemeClr val="tx1"/>
                </a:solidFill>
              </a:rPr>
              <a:t>disque</a:t>
            </a:r>
            <a:endParaRPr lang="en-US" sz="2400" dirty="0">
              <a:solidFill>
                <a:schemeClr val="tx1"/>
              </a:solidFill>
            </a:endParaRPr>
          </a:p>
          <a:p>
            <a:pPr marL="623888" lvl="2" indent="360363" algn="l">
              <a:lnSpc>
                <a:spcPct val="90000"/>
              </a:lnSpc>
              <a:spcBef>
                <a:spcPct val="40000"/>
              </a:spcBef>
              <a:buSzPct val="90000"/>
              <a:buFont typeface="Arial" pitchFamily="34" charset="0"/>
              <a:buChar char="•"/>
              <a:defRPr/>
            </a:pPr>
            <a:r>
              <a:rPr lang="fr-FR" sz="2400" b="0" dirty="0">
                <a:solidFill>
                  <a:schemeClr val="tx1"/>
                </a:solidFill>
                <a:effectLst/>
                <a:cs typeface="Arial" charset="0"/>
              </a:rPr>
              <a:t>Permet de gérer les disques et les volumes (de base et dynamiques)</a:t>
            </a:r>
          </a:p>
          <a:p>
            <a:pPr marL="623888" lvl="2" indent="360363" algn="l">
              <a:lnSpc>
                <a:spcPct val="90000"/>
              </a:lnSpc>
              <a:spcBef>
                <a:spcPct val="40000"/>
              </a:spcBef>
              <a:buSzPct val="90000"/>
              <a:buFont typeface="Arial" pitchFamily="34" charset="0"/>
              <a:buChar char="•"/>
              <a:defRPr/>
            </a:pPr>
            <a:r>
              <a:rPr lang="fr-FR" sz="2400" b="0" dirty="0">
                <a:solidFill>
                  <a:schemeClr val="tx1"/>
                </a:solidFill>
                <a:effectLst/>
                <a:cs typeface="Arial" charset="0"/>
              </a:rPr>
              <a:t>Gère les disques localement ou des ordinateurs distants</a:t>
            </a:r>
          </a:p>
          <a:p>
            <a:pPr marL="623888" lvl="2" indent="360363" algn="l">
              <a:lnSpc>
                <a:spcPct val="90000"/>
              </a:lnSpc>
              <a:spcBef>
                <a:spcPct val="40000"/>
              </a:spcBef>
              <a:buSzPct val="90000"/>
              <a:buFont typeface="Arial" pitchFamily="34" charset="0"/>
              <a:buChar char="•"/>
              <a:defRPr/>
            </a:pPr>
            <a:r>
              <a:rPr lang="fr-FR" sz="2400" b="0" dirty="0">
                <a:solidFill>
                  <a:schemeClr val="tx1"/>
                </a:solidFill>
                <a:effectLst/>
                <a:cs typeface="Arial" charset="0"/>
              </a:rPr>
              <a:t>Exemples de gestion:</a:t>
            </a:r>
          </a:p>
          <a:p>
            <a:pPr marL="1620838" algn="l">
              <a:buFont typeface="Wingdings" pitchFamily="2" charset="2"/>
              <a:buChar char="q"/>
            </a:pPr>
            <a:r>
              <a:rPr lang="fr-FR" sz="2200" dirty="0">
                <a:solidFill>
                  <a:schemeClr val="tx1"/>
                </a:solidFill>
                <a:effectLst/>
              </a:rPr>
              <a:t>Convertir des types de disques </a:t>
            </a:r>
          </a:p>
          <a:p>
            <a:pPr marL="1620838" algn="l">
              <a:buFont typeface="Wingdings" pitchFamily="2" charset="2"/>
              <a:buChar char="q"/>
            </a:pPr>
            <a:r>
              <a:rPr lang="fr-FR" sz="2200" dirty="0">
                <a:solidFill>
                  <a:schemeClr val="tx1"/>
                </a:solidFill>
                <a:effectLst/>
              </a:rPr>
              <a:t>Formater des disques </a:t>
            </a:r>
          </a:p>
          <a:p>
            <a:pPr marL="1620838" algn="l">
              <a:buFont typeface="Wingdings" pitchFamily="2" charset="2"/>
              <a:buChar char="q"/>
            </a:pPr>
            <a:r>
              <a:rPr lang="fr-FR" sz="2200" dirty="0">
                <a:solidFill>
                  <a:schemeClr val="tx1"/>
                </a:solidFill>
                <a:effectLst/>
              </a:rPr>
              <a:t>Ajouter des disques </a:t>
            </a:r>
          </a:p>
          <a:p>
            <a:pPr marL="1620838" algn="l">
              <a:buFont typeface="Wingdings" pitchFamily="2" charset="2"/>
              <a:buChar char="q"/>
            </a:pPr>
            <a:r>
              <a:rPr lang="fr-FR" sz="2200" dirty="0">
                <a:solidFill>
                  <a:schemeClr val="tx1"/>
                </a:solidFill>
                <a:effectLst/>
              </a:rPr>
              <a:t>Afficher l'état et les propriétés des disques </a:t>
            </a:r>
          </a:p>
          <a:p>
            <a:pPr marL="1620838" algn="l">
              <a:buFont typeface="Wingdings" pitchFamily="2" charset="2"/>
              <a:buChar char="q"/>
            </a:pPr>
            <a:r>
              <a:rPr lang="fr-FR" sz="2200" dirty="0">
                <a:solidFill>
                  <a:schemeClr val="tx1"/>
                </a:solidFill>
                <a:effectLst/>
              </a:rPr>
              <a:t>Résoudre les problèmes de disque</a:t>
            </a:r>
          </a:p>
          <a:p>
            <a:pPr marL="623888" lvl="2" indent="360363" algn="l">
              <a:lnSpc>
                <a:spcPct val="90000"/>
              </a:lnSpc>
              <a:spcBef>
                <a:spcPct val="40000"/>
              </a:spcBef>
              <a:buSzPct val="90000"/>
              <a:buFont typeface="Arial" pitchFamily="34" charset="0"/>
              <a:buChar char="•"/>
              <a:defRPr/>
            </a:pPr>
            <a:endParaRPr lang="en-US" sz="2000" b="0" dirty="0">
              <a:solidFill>
                <a:schemeClr val="tx1"/>
              </a:solidFill>
              <a:cs typeface="Arial" charset="0"/>
            </a:endParaRPr>
          </a:p>
        </p:txBody>
      </p:sp>
    </p:spTree>
    <p:extLst>
      <p:ext uri="{BB962C8B-B14F-4D97-AF65-F5344CB8AC3E}">
        <p14:creationId xmlns:p14="http://schemas.microsoft.com/office/powerpoint/2010/main" val="881756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
                                            <p:txEl>
                                              <p:pRg st="1" end="1"/>
                                            </p:txEl>
                                          </p:spTgt>
                                        </p:tgtEl>
                                        <p:attrNameLst>
                                          <p:attrName>style.visibility</p:attrName>
                                        </p:attrNameLst>
                                      </p:cBhvr>
                                      <p:to>
                                        <p:strVal val="visible"/>
                                      </p:to>
                                    </p:set>
                                    <p:anim calcmode="lin" valueType="num">
                                      <p:cBhvr additive="base">
                                        <p:cTn id="7" dur="1000" fill="hold"/>
                                        <p:tgtEl>
                                          <p:spTgt spid="38">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
                                            <p:txEl>
                                              <p:pRg st="2" end="2"/>
                                            </p:txEl>
                                          </p:spTgt>
                                        </p:tgtEl>
                                        <p:attrNameLst>
                                          <p:attrName>style.visibility</p:attrName>
                                        </p:attrNameLst>
                                      </p:cBhvr>
                                      <p:to>
                                        <p:strVal val="visible"/>
                                      </p:to>
                                    </p:set>
                                    <p:anim calcmode="lin" valueType="num">
                                      <p:cBhvr additive="base">
                                        <p:cTn id="13" dur="1000" fill="hold"/>
                                        <p:tgtEl>
                                          <p:spTgt spid="38">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8">
                                            <p:txEl>
                                              <p:pRg st="3" end="3"/>
                                            </p:txEl>
                                          </p:spTgt>
                                        </p:tgtEl>
                                        <p:attrNameLst>
                                          <p:attrName>style.visibility</p:attrName>
                                        </p:attrNameLst>
                                      </p:cBhvr>
                                      <p:to>
                                        <p:strVal val="visible"/>
                                      </p:to>
                                    </p:set>
                                    <p:anim calcmode="lin" valueType="num">
                                      <p:cBhvr additive="base">
                                        <p:cTn id="19" dur="1000" fill="hold"/>
                                        <p:tgtEl>
                                          <p:spTgt spid="38">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8">
                                            <p:txEl>
                                              <p:pRg st="3" end="3"/>
                                            </p:txEl>
                                          </p:spTgt>
                                        </p:tgtEl>
                                        <p:attrNameLst>
                                          <p:attrName>ppt_y</p:attrName>
                                        </p:attrNameLst>
                                      </p:cBhvr>
                                      <p:tavLst>
                                        <p:tav tm="0">
                                          <p:val>
                                            <p:strVal val="1+#ppt_h/2"/>
                                          </p:val>
                                        </p:tav>
                                        <p:tav tm="100000">
                                          <p:val>
                                            <p:strVal val="#ppt_y"/>
                                          </p:val>
                                        </p:tav>
                                      </p:tavLst>
                                    </p:anim>
                                  </p:childTnLst>
                                </p:cTn>
                              </p:par>
                            </p:childTnLst>
                          </p:cTn>
                        </p:par>
                        <p:par>
                          <p:cTn id="21" fill="hold">
                            <p:stCondLst>
                              <p:cond delay="1000"/>
                            </p:stCondLst>
                            <p:childTnLst>
                              <p:par>
                                <p:cTn id="22" presetID="2" presetClass="entr" presetSubtype="4" fill="hold" grpId="0" nodeType="afterEffect">
                                  <p:stCondLst>
                                    <p:cond delay="0"/>
                                  </p:stCondLst>
                                  <p:childTnLst>
                                    <p:set>
                                      <p:cBhvr>
                                        <p:cTn id="23" dur="1" fill="hold">
                                          <p:stCondLst>
                                            <p:cond delay="0"/>
                                          </p:stCondLst>
                                        </p:cTn>
                                        <p:tgtEl>
                                          <p:spTgt spid="38">
                                            <p:txEl>
                                              <p:pRg st="4" end="4"/>
                                            </p:txEl>
                                          </p:spTgt>
                                        </p:tgtEl>
                                        <p:attrNameLst>
                                          <p:attrName>style.visibility</p:attrName>
                                        </p:attrNameLst>
                                      </p:cBhvr>
                                      <p:to>
                                        <p:strVal val="visible"/>
                                      </p:to>
                                    </p:set>
                                    <p:anim calcmode="lin" valueType="num">
                                      <p:cBhvr additive="base">
                                        <p:cTn id="24" dur="1000" fill="hold"/>
                                        <p:tgtEl>
                                          <p:spTgt spid="38">
                                            <p:txEl>
                                              <p:pRg st="4" end="4"/>
                                            </p:txEl>
                                          </p:spTgt>
                                        </p:tgtEl>
                                        <p:attrNameLst>
                                          <p:attrName>ppt_x</p:attrName>
                                        </p:attrNameLst>
                                      </p:cBhvr>
                                      <p:tavLst>
                                        <p:tav tm="0">
                                          <p:val>
                                            <p:strVal val="#ppt_x"/>
                                          </p:val>
                                        </p:tav>
                                        <p:tav tm="100000">
                                          <p:val>
                                            <p:strVal val="#ppt_x"/>
                                          </p:val>
                                        </p:tav>
                                      </p:tavLst>
                                    </p:anim>
                                    <p:anim calcmode="lin" valueType="num">
                                      <p:cBhvr additive="base">
                                        <p:cTn id="25" dur="1000" fill="hold"/>
                                        <p:tgtEl>
                                          <p:spTgt spid="38">
                                            <p:txEl>
                                              <p:pRg st="4" end="4"/>
                                            </p:txEl>
                                          </p:spTgt>
                                        </p:tgtEl>
                                        <p:attrNameLst>
                                          <p:attrName>ppt_y</p:attrName>
                                        </p:attrNameLst>
                                      </p:cBhvr>
                                      <p:tavLst>
                                        <p:tav tm="0">
                                          <p:val>
                                            <p:strVal val="1+#ppt_h/2"/>
                                          </p:val>
                                        </p:tav>
                                        <p:tav tm="100000">
                                          <p:val>
                                            <p:strVal val="#ppt_y"/>
                                          </p:val>
                                        </p:tav>
                                      </p:tavLst>
                                    </p:anim>
                                  </p:childTnLst>
                                </p:cTn>
                              </p:par>
                            </p:childTnLst>
                          </p:cTn>
                        </p:par>
                        <p:par>
                          <p:cTn id="26" fill="hold">
                            <p:stCondLst>
                              <p:cond delay="2000"/>
                            </p:stCondLst>
                            <p:childTnLst>
                              <p:par>
                                <p:cTn id="27" presetID="2" presetClass="entr" presetSubtype="4" fill="hold" grpId="0" nodeType="afterEffect">
                                  <p:stCondLst>
                                    <p:cond delay="0"/>
                                  </p:stCondLst>
                                  <p:childTnLst>
                                    <p:set>
                                      <p:cBhvr>
                                        <p:cTn id="28" dur="1" fill="hold">
                                          <p:stCondLst>
                                            <p:cond delay="0"/>
                                          </p:stCondLst>
                                        </p:cTn>
                                        <p:tgtEl>
                                          <p:spTgt spid="38">
                                            <p:txEl>
                                              <p:pRg st="5" end="5"/>
                                            </p:txEl>
                                          </p:spTgt>
                                        </p:tgtEl>
                                        <p:attrNameLst>
                                          <p:attrName>style.visibility</p:attrName>
                                        </p:attrNameLst>
                                      </p:cBhvr>
                                      <p:to>
                                        <p:strVal val="visible"/>
                                      </p:to>
                                    </p:set>
                                    <p:anim calcmode="lin" valueType="num">
                                      <p:cBhvr additive="base">
                                        <p:cTn id="29" dur="1000" fill="hold"/>
                                        <p:tgtEl>
                                          <p:spTgt spid="38">
                                            <p:txEl>
                                              <p:pRg st="5" end="5"/>
                                            </p:txEl>
                                          </p:spTgt>
                                        </p:tgtEl>
                                        <p:attrNameLst>
                                          <p:attrName>ppt_x</p:attrName>
                                        </p:attrNameLst>
                                      </p:cBhvr>
                                      <p:tavLst>
                                        <p:tav tm="0">
                                          <p:val>
                                            <p:strVal val="#ppt_x"/>
                                          </p:val>
                                        </p:tav>
                                        <p:tav tm="100000">
                                          <p:val>
                                            <p:strVal val="#ppt_x"/>
                                          </p:val>
                                        </p:tav>
                                      </p:tavLst>
                                    </p:anim>
                                    <p:anim calcmode="lin" valueType="num">
                                      <p:cBhvr additive="base">
                                        <p:cTn id="30" dur="1000" fill="hold"/>
                                        <p:tgtEl>
                                          <p:spTgt spid="38">
                                            <p:txEl>
                                              <p:pRg st="5" end="5"/>
                                            </p:txEl>
                                          </p:spTgt>
                                        </p:tgtEl>
                                        <p:attrNameLst>
                                          <p:attrName>ppt_y</p:attrName>
                                        </p:attrNameLst>
                                      </p:cBhvr>
                                      <p:tavLst>
                                        <p:tav tm="0">
                                          <p:val>
                                            <p:strVal val="1+#ppt_h/2"/>
                                          </p:val>
                                        </p:tav>
                                        <p:tav tm="100000">
                                          <p:val>
                                            <p:strVal val="#ppt_y"/>
                                          </p:val>
                                        </p:tav>
                                      </p:tavLst>
                                    </p:anim>
                                  </p:childTnLst>
                                </p:cTn>
                              </p:par>
                            </p:childTnLst>
                          </p:cTn>
                        </p:par>
                        <p:par>
                          <p:cTn id="31" fill="hold">
                            <p:stCondLst>
                              <p:cond delay="3000"/>
                            </p:stCondLst>
                            <p:childTnLst>
                              <p:par>
                                <p:cTn id="32" presetID="2" presetClass="entr" presetSubtype="4" fill="hold" grpId="0" nodeType="afterEffect">
                                  <p:stCondLst>
                                    <p:cond delay="0"/>
                                  </p:stCondLst>
                                  <p:childTnLst>
                                    <p:set>
                                      <p:cBhvr>
                                        <p:cTn id="33" dur="1" fill="hold">
                                          <p:stCondLst>
                                            <p:cond delay="0"/>
                                          </p:stCondLst>
                                        </p:cTn>
                                        <p:tgtEl>
                                          <p:spTgt spid="38">
                                            <p:txEl>
                                              <p:pRg st="6" end="6"/>
                                            </p:txEl>
                                          </p:spTgt>
                                        </p:tgtEl>
                                        <p:attrNameLst>
                                          <p:attrName>style.visibility</p:attrName>
                                        </p:attrNameLst>
                                      </p:cBhvr>
                                      <p:to>
                                        <p:strVal val="visible"/>
                                      </p:to>
                                    </p:set>
                                    <p:anim calcmode="lin" valueType="num">
                                      <p:cBhvr additive="base">
                                        <p:cTn id="34" dur="1000" fill="hold"/>
                                        <p:tgtEl>
                                          <p:spTgt spid="38">
                                            <p:txEl>
                                              <p:pRg st="6" end="6"/>
                                            </p:txEl>
                                          </p:spTgt>
                                        </p:tgtEl>
                                        <p:attrNameLst>
                                          <p:attrName>ppt_x</p:attrName>
                                        </p:attrNameLst>
                                      </p:cBhvr>
                                      <p:tavLst>
                                        <p:tav tm="0">
                                          <p:val>
                                            <p:strVal val="#ppt_x"/>
                                          </p:val>
                                        </p:tav>
                                        <p:tav tm="100000">
                                          <p:val>
                                            <p:strVal val="#ppt_x"/>
                                          </p:val>
                                        </p:tav>
                                      </p:tavLst>
                                    </p:anim>
                                    <p:anim calcmode="lin" valueType="num">
                                      <p:cBhvr additive="base">
                                        <p:cTn id="35" dur="1000" fill="hold"/>
                                        <p:tgtEl>
                                          <p:spTgt spid="38">
                                            <p:txEl>
                                              <p:pRg st="6" end="6"/>
                                            </p:txEl>
                                          </p:spTgt>
                                        </p:tgtEl>
                                        <p:attrNameLst>
                                          <p:attrName>ppt_y</p:attrName>
                                        </p:attrNameLst>
                                      </p:cBhvr>
                                      <p:tavLst>
                                        <p:tav tm="0">
                                          <p:val>
                                            <p:strVal val="1+#ppt_h/2"/>
                                          </p:val>
                                        </p:tav>
                                        <p:tav tm="100000">
                                          <p:val>
                                            <p:strVal val="#ppt_y"/>
                                          </p:val>
                                        </p:tav>
                                      </p:tavLst>
                                    </p:anim>
                                  </p:childTnLst>
                                </p:cTn>
                              </p:par>
                            </p:childTnLst>
                          </p:cTn>
                        </p:par>
                        <p:par>
                          <p:cTn id="36" fill="hold">
                            <p:stCondLst>
                              <p:cond delay="4000"/>
                            </p:stCondLst>
                            <p:childTnLst>
                              <p:par>
                                <p:cTn id="37" presetID="2" presetClass="entr" presetSubtype="4" fill="hold" grpId="0" nodeType="afterEffect">
                                  <p:stCondLst>
                                    <p:cond delay="0"/>
                                  </p:stCondLst>
                                  <p:childTnLst>
                                    <p:set>
                                      <p:cBhvr>
                                        <p:cTn id="38" dur="1" fill="hold">
                                          <p:stCondLst>
                                            <p:cond delay="0"/>
                                          </p:stCondLst>
                                        </p:cTn>
                                        <p:tgtEl>
                                          <p:spTgt spid="38">
                                            <p:txEl>
                                              <p:pRg st="7" end="7"/>
                                            </p:txEl>
                                          </p:spTgt>
                                        </p:tgtEl>
                                        <p:attrNameLst>
                                          <p:attrName>style.visibility</p:attrName>
                                        </p:attrNameLst>
                                      </p:cBhvr>
                                      <p:to>
                                        <p:strVal val="visible"/>
                                      </p:to>
                                    </p:set>
                                    <p:anim calcmode="lin" valueType="num">
                                      <p:cBhvr additive="base">
                                        <p:cTn id="39" dur="1000" fill="hold"/>
                                        <p:tgtEl>
                                          <p:spTgt spid="38">
                                            <p:txEl>
                                              <p:pRg st="7" end="7"/>
                                            </p:txEl>
                                          </p:spTgt>
                                        </p:tgtEl>
                                        <p:attrNameLst>
                                          <p:attrName>ppt_x</p:attrName>
                                        </p:attrNameLst>
                                      </p:cBhvr>
                                      <p:tavLst>
                                        <p:tav tm="0">
                                          <p:val>
                                            <p:strVal val="#ppt_x"/>
                                          </p:val>
                                        </p:tav>
                                        <p:tav tm="100000">
                                          <p:val>
                                            <p:strVal val="#ppt_x"/>
                                          </p:val>
                                        </p:tav>
                                      </p:tavLst>
                                    </p:anim>
                                    <p:anim calcmode="lin" valueType="num">
                                      <p:cBhvr additive="base">
                                        <p:cTn id="40" dur="1000" fill="hold"/>
                                        <p:tgtEl>
                                          <p:spTgt spid="38">
                                            <p:txEl>
                                              <p:pRg st="7" end="7"/>
                                            </p:txEl>
                                          </p:spTgt>
                                        </p:tgtEl>
                                        <p:attrNameLst>
                                          <p:attrName>ppt_y</p:attrName>
                                        </p:attrNameLst>
                                      </p:cBhvr>
                                      <p:tavLst>
                                        <p:tav tm="0">
                                          <p:val>
                                            <p:strVal val="1+#ppt_h/2"/>
                                          </p:val>
                                        </p:tav>
                                        <p:tav tm="100000">
                                          <p:val>
                                            <p:strVal val="#ppt_y"/>
                                          </p:val>
                                        </p:tav>
                                      </p:tavLst>
                                    </p:anim>
                                  </p:childTnLst>
                                </p:cTn>
                              </p:par>
                            </p:childTnLst>
                          </p:cTn>
                        </p:par>
                        <p:par>
                          <p:cTn id="41" fill="hold">
                            <p:stCondLst>
                              <p:cond delay="5000"/>
                            </p:stCondLst>
                            <p:childTnLst>
                              <p:par>
                                <p:cTn id="42" presetID="2" presetClass="entr" presetSubtype="4" fill="hold" grpId="0" nodeType="afterEffect">
                                  <p:stCondLst>
                                    <p:cond delay="0"/>
                                  </p:stCondLst>
                                  <p:childTnLst>
                                    <p:set>
                                      <p:cBhvr>
                                        <p:cTn id="43" dur="1" fill="hold">
                                          <p:stCondLst>
                                            <p:cond delay="0"/>
                                          </p:stCondLst>
                                        </p:cTn>
                                        <p:tgtEl>
                                          <p:spTgt spid="38">
                                            <p:txEl>
                                              <p:pRg st="8" end="8"/>
                                            </p:txEl>
                                          </p:spTgt>
                                        </p:tgtEl>
                                        <p:attrNameLst>
                                          <p:attrName>style.visibility</p:attrName>
                                        </p:attrNameLst>
                                      </p:cBhvr>
                                      <p:to>
                                        <p:strVal val="visible"/>
                                      </p:to>
                                    </p:set>
                                    <p:anim calcmode="lin" valueType="num">
                                      <p:cBhvr additive="base">
                                        <p:cTn id="44" dur="1000" fill="hold"/>
                                        <p:tgtEl>
                                          <p:spTgt spid="38">
                                            <p:txEl>
                                              <p:pRg st="8" end="8"/>
                                            </p:txEl>
                                          </p:spTgt>
                                        </p:tgtEl>
                                        <p:attrNameLst>
                                          <p:attrName>ppt_x</p:attrName>
                                        </p:attrNameLst>
                                      </p:cBhvr>
                                      <p:tavLst>
                                        <p:tav tm="0">
                                          <p:val>
                                            <p:strVal val="#ppt_x"/>
                                          </p:val>
                                        </p:tav>
                                        <p:tav tm="100000">
                                          <p:val>
                                            <p:strVal val="#ppt_x"/>
                                          </p:val>
                                        </p:tav>
                                      </p:tavLst>
                                    </p:anim>
                                    <p:anim calcmode="lin" valueType="num">
                                      <p:cBhvr additive="base">
                                        <p:cTn id="45" dur="1000" fill="hold"/>
                                        <p:tgtEl>
                                          <p:spTgt spid="3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uiExpand="1"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EB6C2-FA4F-5337-E3C3-3F42F0C56FC7}"/>
            </a:ext>
          </a:extLst>
        </p:cNvPr>
        <p:cNvGrpSpPr/>
        <p:nvPr/>
      </p:nvGrpSpPr>
      <p:grpSpPr>
        <a:xfrm>
          <a:off x="0" y="0"/>
          <a:ext cx="0" cy="0"/>
          <a:chOff x="0" y="0"/>
          <a:chExt cx="0" cy="0"/>
        </a:xfrm>
      </p:grpSpPr>
      <p:sp>
        <p:nvSpPr>
          <p:cNvPr id="5" name="Diskpart.exe">
            <a:extLst>
              <a:ext uri="{FF2B5EF4-FFF2-40B4-BE49-F238E27FC236}">
                <a16:creationId xmlns:a16="http://schemas.microsoft.com/office/drawing/2014/main" id="{C89EEEB9-291F-92B3-094B-E0F4880A8BCD}"/>
              </a:ext>
            </a:extLst>
          </p:cNvPr>
          <p:cNvSpPr>
            <a:spLocks/>
          </p:cNvSpPr>
          <p:nvPr/>
        </p:nvSpPr>
        <p:spPr bwMode="auto">
          <a:xfrm>
            <a:off x="180106" y="1524001"/>
            <a:ext cx="8866909" cy="1125414"/>
          </a:xfrm>
          <a:prstGeom prst="rect">
            <a:avLst/>
          </a:prstGeom>
          <a:gradFill>
            <a:gsLst>
              <a:gs pos="0">
                <a:srgbClr val="8DACD0"/>
              </a:gs>
              <a:gs pos="100000">
                <a:srgbClr val="DEE7F1"/>
              </a:gs>
            </a:gsLst>
            <a:lin ang="2700000" scaled="1"/>
          </a:gradFill>
          <a:ln w="38100">
            <a:noFill/>
          </a:ln>
          <a:effectLst/>
          <a:scene3d>
            <a:camera prst="orthographicFront"/>
            <a:lightRig rig="flat" dir="t">
              <a:rot lat="0" lon="0" rev="5400000"/>
            </a:lightRig>
          </a:scene3d>
          <a:sp3d>
            <a:bevelB w="38100" h="38100"/>
          </a:sp3d>
        </p:spPr>
        <p:style>
          <a:lnRef idx="2">
            <a:schemeClr val="accent1">
              <a:shade val="50000"/>
            </a:schemeClr>
          </a:lnRef>
          <a:fillRef idx="1">
            <a:schemeClr val="accent1"/>
          </a:fillRef>
          <a:effectRef idx="0">
            <a:schemeClr val="accent1"/>
          </a:effectRef>
          <a:fontRef idx="minor">
            <a:schemeClr val="lt1"/>
          </a:fontRef>
        </p:style>
        <p:txBody>
          <a:bodyPr vert="horz" lIns="144000" tIns="144000" rIns="72000" bIns="72000" anchor="t" anchorCtr="0"/>
          <a:lstStyle/>
          <a:p>
            <a:pPr marL="365125" indent="-342900">
              <a:defRPr/>
            </a:pPr>
            <a:r>
              <a:rPr lang="en-US" sz="2400" dirty="0" err="1">
                <a:solidFill>
                  <a:schemeClr val="tx1"/>
                </a:solidFill>
              </a:rPr>
              <a:t>L’outil</a:t>
            </a:r>
            <a:r>
              <a:rPr lang="en-US" sz="2400" dirty="0">
                <a:solidFill>
                  <a:schemeClr val="tx1"/>
                </a:solidFill>
              </a:rPr>
              <a:t> en </a:t>
            </a:r>
            <a:r>
              <a:rPr lang="en-US" sz="2400" dirty="0" err="1">
                <a:solidFill>
                  <a:schemeClr val="tx1"/>
                </a:solidFill>
              </a:rPr>
              <a:t>ligne</a:t>
            </a:r>
            <a:r>
              <a:rPr lang="en-US" sz="2400" dirty="0">
                <a:solidFill>
                  <a:schemeClr val="tx1"/>
                </a:solidFill>
              </a:rPr>
              <a:t> de </a:t>
            </a:r>
            <a:r>
              <a:rPr lang="en-US" sz="2400" dirty="0" err="1">
                <a:solidFill>
                  <a:schemeClr val="tx1"/>
                </a:solidFill>
              </a:rPr>
              <a:t>commande</a:t>
            </a:r>
            <a:r>
              <a:rPr lang="en-US" sz="2400" dirty="0">
                <a:solidFill>
                  <a:schemeClr val="tx1"/>
                </a:solidFill>
              </a:rPr>
              <a:t> Diskpart.exe</a:t>
            </a:r>
          </a:p>
          <a:p>
            <a:pPr marL="365125" indent="-342900" algn="l">
              <a:defRPr/>
            </a:pPr>
            <a:r>
              <a:rPr lang="fr-FR" sz="2400" b="0" dirty="0">
                <a:solidFill>
                  <a:schemeClr val="tx1"/>
                </a:solidFill>
                <a:effectLst/>
                <a:cs typeface="Arial" charset="0"/>
              </a:rPr>
              <a:t>Outil de ligne de commande scriptable</a:t>
            </a:r>
          </a:p>
          <a:p>
            <a:pPr marL="365125" indent="-342900">
              <a:defRPr/>
            </a:pPr>
            <a:r>
              <a:rPr lang="en-US" sz="2400" dirty="0">
                <a:solidFill>
                  <a:schemeClr val="tx1"/>
                </a:solidFill>
              </a:rPr>
              <a:t>		 </a:t>
            </a:r>
          </a:p>
          <a:p>
            <a:pPr marL="365125" indent="-342900">
              <a:defRPr/>
            </a:pPr>
            <a:endParaRPr lang="en-US" sz="2200" dirty="0">
              <a:solidFill>
                <a:schemeClr val="tx1"/>
              </a:solidFill>
              <a:effectLst/>
            </a:endParaRPr>
          </a:p>
        </p:txBody>
      </p:sp>
      <p:sp>
        <p:nvSpPr>
          <p:cNvPr id="6" name="Rectangle 2">
            <a:extLst>
              <a:ext uri="{FF2B5EF4-FFF2-40B4-BE49-F238E27FC236}">
                <a16:creationId xmlns:a16="http://schemas.microsoft.com/office/drawing/2014/main" id="{AC5FE5B7-8F9B-E968-DCD9-BB9B04E73A9D}"/>
              </a:ext>
            </a:extLst>
          </p:cNvPr>
          <p:cNvSpPr>
            <a:spLocks noGrp="1" noChangeArrowheads="1"/>
          </p:cNvSpPr>
          <p:nvPr>
            <p:ph type="title"/>
          </p:nvPr>
        </p:nvSpPr>
        <p:spPr>
          <a:xfrm>
            <a:off x="301752" y="228600"/>
            <a:ext cx="8534400" cy="758952"/>
          </a:xfrm>
          <a:noFill/>
          <a:ln/>
        </p:spPr>
        <p:txBody>
          <a:bodyPr vert="horz" anchor="b">
            <a:normAutofit/>
          </a:bodyPr>
          <a:lstStyle/>
          <a:p>
            <a:r>
              <a:rPr lang="en-US" sz="3000" dirty="0">
                <a:solidFill>
                  <a:srgbClr val="C00000"/>
                </a:solidFill>
              </a:rPr>
              <a:t>Les </a:t>
            </a:r>
            <a:r>
              <a:rPr lang="en-US" sz="3000" dirty="0" err="1">
                <a:solidFill>
                  <a:srgbClr val="C00000"/>
                </a:solidFill>
              </a:rPr>
              <a:t>outils</a:t>
            </a:r>
            <a:r>
              <a:rPr lang="en-US" sz="3000" dirty="0">
                <a:solidFill>
                  <a:srgbClr val="C00000"/>
                </a:solidFill>
              </a:rPr>
              <a:t> de </a:t>
            </a:r>
            <a:r>
              <a:rPr lang="en-US" sz="3000" dirty="0" err="1">
                <a:solidFill>
                  <a:srgbClr val="C00000"/>
                </a:solidFill>
              </a:rPr>
              <a:t>Gestion</a:t>
            </a:r>
            <a:r>
              <a:rPr lang="en-US" sz="3000" dirty="0">
                <a:solidFill>
                  <a:srgbClr val="C00000"/>
                </a:solidFill>
              </a:rPr>
              <a:t> des </a:t>
            </a:r>
            <a:r>
              <a:rPr lang="en-US" sz="3000" dirty="0" err="1">
                <a:solidFill>
                  <a:srgbClr val="C00000"/>
                </a:solidFill>
              </a:rPr>
              <a:t>disques</a:t>
            </a:r>
            <a:endParaRPr lang="en-US" sz="3000" dirty="0">
              <a:solidFill>
                <a:srgbClr val="C00000"/>
              </a:solidFill>
            </a:endParaRPr>
          </a:p>
        </p:txBody>
      </p:sp>
      <p:pic>
        <p:nvPicPr>
          <p:cNvPr id="11" name="Image 10">
            <a:extLst>
              <a:ext uri="{FF2B5EF4-FFF2-40B4-BE49-F238E27FC236}">
                <a16:creationId xmlns:a16="http://schemas.microsoft.com/office/drawing/2014/main" id="{1FD2D42C-D737-6C60-8C39-054A83D6F9AB}"/>
              </a:ext>
            </a:extLst>
          </p:cNvPr>
          <p:cNvPicPr>
            <a:picLocks noChangeAspect="1"/>
          </p:cNvPicPr>
          <p:nvPr/>
        </p:nvPicPr>
        <p:blipFill>
          <a:blip r:embed="rId2"/>
          <a:srcRect l="4649" t="26753" r="62403" b="61125"/>
          <a:stretch/>
        </p:blipFill>
        <p:spPr>
          <a:xfrm>
            <a:off x="1705034" y="3549918"/>
            <a:ext cx="4923252" cy="1018845"/>
          </a:xfrm>
          <a:prstGeom prst="rect">
            <a:avLst/>
          </a:prstGeom>
        </p:spPr>
      </p:pic>
      <p:pic>
        <p:nvPicPr>
          <p:cNvPr id="13" name="Image 12">
            <a:extLst>
              <a:ext uri="{FF2B5EF4-FFF2-40B4-BE49-F238E27FC236}">
                <a16:creationId xmlns:a16="http://schemas.microsoft.com/office/drawing/2014/main" id="{14F05FCB-8466-47E1-A4A7-7040C6B39EBA}"/>
              </a:ext>
            </a:extLst>
          </p:cNvPr>
          <p:cNvPicPr>
            <a:picLocks noChangeAspect="1"/>
          </p:cNvPicPr>
          <p:nvPr/>
        </p:nvPicPr>
        <p:blipFill>
          <a:blip r:embed="rId2"/>
          <a:srcRect t="93419" r="66026"/>
          <a:stretch/>
        </p:blipFill>
        <p:spPr>
          <a:xfrm>
            <a:off x="1685076" y="2822208"/>
            <a:ext cx="4923252" cy="536449"/>
          </a:xfrm>
          <a:prstGeom prst="rect">
            <a:avLst/>
          </a:prstGeom>
        </p:spPr>
      </p:pic>
      <p:pic>
        <p:nvPicPr>
          <p:cNvPr id="15" name="Image 14">
            <a:extLst>
              <a:ext uri="{FF2B5EF4-FFF2-40B4-BE49-F238E27FC236}">
                <a16:creationId xmlns:a16="http://schemas.microsoft.com/office/drawing/2014/main" id="{68F60CB4-F6A6-EF1E-C9A6-74D1DA59A1F1}"/>
              </a:ext>
            </a:extLst>
          </p:cNvPr>
          <p:cNvPicPr>
            <a:picLocks noChangeAspect="1"/>
          </p:cNvPicPr>
          <p:nvPr/>
        </p:nvPicPr>
        <p:blipFill>
          <a:blip r:embed="rId3"/>
          <a:stretch>
            <a:fillRect/>
          </a:stretch>
        </p:blipFill>
        <p:spPr>
          <a:xfrm>
            <a:off x="1685075" y="4674140"/>
            <a:ext cx="6252447" cy="1679762"/>
          </a:xfrm>
          <a:prstGeom prst="rect">
            <a:avLst/>
          </a:prstGeom>
        </p:spPr>
      </p:pic>
    </p:spTree>
    <p:extLst>
      <p:ext uri="{BB962C8B-B14F-4D97-AF65-F5344CB8AC3E}">
        <p14:creationId xmlns:p14="http://schemas.microsoft.com/office/powerpoint/2010/main" val="420702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4" fill="hold" nodeType="after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 calcmode="lin" valueType="num">
                                      <p:cBhvr additive="base">
                                        <p:cTn id="1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3" dur="10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FFAF3-C8C4-6641-20C1-F7ED77160130}"/>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4EC4A049-79FD-C8CF-023E-377BABB6AE20}"/>
              </a:ext>
            </a:extLst>
          </p:cNvPr>
          <p:cNvSpPr>
            <a:spLocks noGrp="1" noChangeArrowheads="1"/>
          </p:cNvSpPr>
          <p:nvPr>
            <p:ph type="title"/>
          </p:nvPr>
        </p:nvSpPr>
        <p:spPr>
          <a:xfrm>
            <a:off x="301752" y="228600"/>
            <a:ext cx="8534400" cy="758952"/>
          </a:xfrm>
          <a:noFill/>
          <a:ln/>
        </p:spPr>
        <p:txBody>
          <a:bodyPr vert="horz" anchor="b">
            <a:normAutofit/>
          </a:bodyPr>
          <a:lstStyle/>
          <a:p>
            <a:r>
              <a:rPr lang="en-US" sz="3000" dirty="0">
                <a:solidFill>
                  <a:srgbClr val="C00000"/>
                </a:solidFill>
              </a:rPr>
              <a:t>Les </a:t>
            </a:r>
            <a:r>
              <a:rPr lang="en-US" sz="3000" dirty="0" err="1">
                <a:solidFill>
                  <a:srgbClr val="C00000"/>
                </a:solidFill>
              </a:rPr>
              <a:t>outils</a:t>
            </a:r>
            <a:r>
              <a:rPr lang="en-US" sz="3000" dirty="0">
                <a:solidFill>
                  <a:srgbClr val="C00000"/>
                </a:solidFill>
              </a:rPr>
              <a:t> de </a:t>
            </a:r>
            <a:r>
              <a:rPr lang="en-US" sz="3000" dirty="0" err="1">
                <a:solidFill>
                  <a:srgbClr val="C00000"/>
                </a:solidFill>
              </a:rPr>
              <a:t>Gestion</a:t>
            </a:r>
            <a:r>
              <a:rPr lang="en-US" sz="3000" dirty="0">
                <a:solidFill>
                  <a:srgbClr val="C00000"/>
                </a:solidFill>
              </a:rPr>
              <a:t> des </a:t>
            </a:r>
            <a:r>
              <a:rPr lang="en-US" sz="3000" dirty="0" err="1">
                <a:solidFill>
                  <a:srgbClr val="C00000"/>
                </a:solidFill>
              </a:rPr>
              <a:t>disques</a:t>
            </a:r>
            <a:endParaRPr lang="en-US" sz="3000" dirty="0">
              <a:solidFill>
                <a:srgbClr val="C00000"/>
              </a:solidFill>
            </a:endParaRPr>
          </a:p>
        </p:txBody>
      </p:sp>
      <p:sp>
        <p:nvSpPr>
          <p:cNvPr id="2" name="Diskpart.exe">
            <a:extLst>
              <a:ext uri="{FF2B5EF4-FFF2-40B4-BE49-F238E27FC236}">
                <a16:creationId xmlns:a16="http://schemas.microsoft.com/office/drawing/2014/main" id="{D355027D-8496-58FB-9B07-83925D58D371}"/>
              </a:ext>
            </a:extLst>
          </p:cNvPr>
          <p:cNvSpPr>
            <a:spLocks/>
          </p:cNvSpPr>
          <p:nvPr/>
        </p:nvSpPr>
        <p:spPr bwMode="auto">
          <a:xfrm>
            <a:off x="180106" y="1524001"/>
            <a:ext cx="8866909" cy="1905000"/>
          </a:xfrm>
          <a:prstGeom prst="rect">
            <a:avLst/>
          </a:prstGeom>
          <a:gradFill>
            <a:gsLst>
              <a:gs pos="0">
                <a:srgbClr val="8DACD0"/>
              </a:gs>
              <a:gs pos="100000">
                <a:srgbClr val="DEE7F1"/>
              </a:gs>
            </a:gsLst>
            <a:lin ang="2700000" scaled="1"/>
          </a:gradFill>
          <a:ln w="38100">
            <a:noFill/>
          </a:ln>
          <a:effectLst/>
          <a:scene3d>
            <a:camera prst="orthographicFront"/>
            <a:lightRig rig="flat" dir="t">
              <a:rot lat="0" lon="0" rev="5400000"/>
            </a:lightRig>
          </a:scene3d>
          <a:sp3d>
            <a:bevelB w="38100" h="38100"/>
          </a:sp3d>
        </p:spPr>
        <p:style>
          <a:lnRef idx="2">
            <a:schemeClr val="accent1">
              <a:shade val="50000"/>
            </a:schemeClr>
          </a:lnRef>
          <a:fillRef idx="1">
            <a:schemeClr val="accent1"/>
          </a:fillRef>
          <a:effectRef idx="0">
            <a:schemeClr val="accent1"/>
          </a:effectRef>
          <a:fontRef idx="minor">
            <a:schemeClr val="lt1"/>
          </a:fontRef>
        </p:style>
        <p:txBody>
          <a:bodyPr vert="horz" lIns="144000" tIns="144000" rIns="72000" bIns="72000" anchor="t" anchorCtr="0"/>
          <a:lstStyle/>
          <a:p>
            <a:pPr marL="365125" indent="-342900">
              <a:defRPr/>
            </a:pPr>
            <a:r>
              <a:rPr lang="en-US" sz="2400" dirty="0" err="1">
                <a:solidFill>
                  <a:schemeClr val="tx1"/>
                </a:solidFill>
              </a:rPr>
              <a:t>L’outil</a:t>
            </a:r>
            <a:r>
              <a:rPr lang="en-US" sz="2400" dirty="0">
                <a:solidFill>
                  <a:schemeClr val="tx1"/>
                </a:solidFill>
              </a:rPr>
              <a:t> en </a:t>
            </a:r>
            <a:r>
              <a:rPr lang="en-US" sz="2400" dirty="0" err="1">
                <a:solidFill>
                  <a:schemeClr val="tx1"/>
                </a:solidFill>
              </a:rPr>
              <a:t>ligne</a:t>
            </a:r>
            <a:r>
              <a:rPr lang="en-US" sz="2400" dirty="0">
                <a:solidFill>
                  <a:schemeClr val="tx1"/>
                </a:solidFill>
              </a:rPr>
              <a:t> de </a:t>
            </a:r>
            <a:r>
              <a:rPr lang="en-US" sz="2400" dirty="0" err="1">
                <a:solidFill>
                  <a:schemeClr val="tx1"/>
                </a:solidFill>
              </a:rPr>
              <a:t>commande</a:t>
            </a:r>
            <a:r>
              <a:rPr lang="en-US" sz="2400" dirty="0">
                <a:solidFill>
                  <a:schemeClr val="tx1"/>
                </a:solidFill>
              </a:rPr>
              <a:t> Diskpart.exe		 </a:t>
            </a:r>
          </a:p>
          <a:p>
            <a:pPr marL="544513" indent="-342900" algn="l">
              <a:lnSpc>
                <a:spcPct val="90000"/>
              </a:lnSpc>
              <a:spcBef>
                <a:spcPct val="40000"/>
              </a:spcBef>
              <a:buSzPct val="90000"/>
              <a:buFont typeface="Arial" pitchFamily="34" charset="0"/>
              <a:buChar char="•"/>
              <a:defRPr/>
            </a:pPr>
            <a:r>
              <a:rPr lang="fr-FR" sz="2200" b="0" dirty="0">
                <a:solidFill>
                  <a:schemeClr val="tx1"/>
                </a:solidFill>
                <a:effectLst/>
                <a:cs typeface="Arial" charset="0"/>
              </a:rPr>
              <a:t>S’exécute toujours localement</a:t>
            </a:r>
            <a:endParaRPr lang="en-US" sz="2200" dirty="0">
              <a:solidFill>
                <a:schemeClr val="tx1"/>
              </a:solidFill>
              <a:effectLst/>
            </a:endParaRPr>
          </a:p>
          <a:p>
            <a:pPr marL="544513" indent="-342900" algn="l">
              <a:lnSpc>
                <a:spcPct val="90000"/>
              </a:lnSpc>
              <a:spcBef>
                <a:spcPct val="40000"/>
              </a:spcBef>
              <a:buSzPct val="90000"/>
              <a:buFont typeface="Arial" pitchFamily="34" charset="0"/>
              <a:buChar char="•"/>
              <a:defRPr/>
            </a:pPr>
            <a:r>
              <a:rPr lang="fr-FR" sz="2200" b="0" dirty="0">
                <a:solidFill>
                  <a:schemeClr val="tx1"/>
                </a:solidFill>
                <a:effectLst/>
                <a:cs typeface="Arial" charset="0"/>
              </a:rPr>
              <a:t>Permet de créer des scripts pour automatiser des tâches liées à la gestion des disques</a:t>
            </a:r>
          </a:p>
          <a:p>
            <a:pPr marL="365125" indent="-342900">
              <a:defRPr/>
            </a:pPr>
            <a:endParaRPr lang="en-US" sz="2200" dirty="0">
              <a:solidFill>
                <a:schemeClr val="tx1"/>
              </a:solidFill>
              <a:effectLst/>
            </a:endParaRPr>
          </a:p>
        </p:txBody>
      </p:sp>
      <p:graphicFrame>
        <p:nvGraphicFramePr>
          <p:cNvPr id="4" name="Tableau 3">
            <a:extLst>
              <a:ext uri="{FF2B5EF4-FFF2-40B4-BE49-F238E27FC236}">
                <a16:creationId xmlns:a16="http://schemas.microsoft.com/office/drawing/2014/main" id="{83D4694E-17B6-91E1-A72E-F2CF5BD7CEF3}"/>
              </a:ext>
            </a:extLst>
          </p:cNvPr>
          <p:cNvGraphicFramePr>
            <a:graphicFrameLocks noGrp="1"/>
          </p:cNvGraphicFramePr>
          <p:nvPr>
            <p:extLst>
              <p:ext uri="{D42A27DB-BD31-4B8C-83A1-F6EECF244321}">
                <p14:modId xmlns:p14="http://schemas.microsoft.com/office/powerpoint/2010/main" val="3506703882"/>
              </p:ext>
            </p:extLst>
          </p:nvPr>
        </p:nvGraphicFramePr>
        <p:xfrm>
          <a:off x="180106" y="3411415"/>
          <a:ext cx="8797636" cy="2894384"/>
        </p:xfrm>
        <a:graphic>
          <a:graphicData uri="http://schemas.openxmlformats.org/drawingml/2006/table">
            <a:tbl>
              <a:tblPr>
                <a:tableStyleId>{08FB837D-C827-4EFA-A057-4D05807E0F7C}</a:tableStyleId>
              </a:tblPr>
              <a:tblGrid>
                <a:gridCol w="2313709">
                  <a:extLst>
                    <a:ext uri="{9D8B030D-6E8A-4147-A177-3AD203B41FA5}">
                      <a16:colId xmlns:a16="http://schemas.microsoft.com/office/drawing/2014/main" val="20000"/>
                    </a:ext>
                  </a:extLst>
                </a:gridCol>
                <a:gridCol w="6483927">
                  <a:extLst>
                    <a:ext uri="{9D8B030D-6E8A-4147-A177-3AD203B41FA5}">
                      <a16:colId xmlns:a16="http://schemas.microsoft.com/office/drawing/2014/main" val="20001"/>
                    </a:ext>
                  </a:extLst>
                </a:gridCol>
              </a:tblGrid>
              <a:tr h="114168">
                <a:tc>
                  <a:txBody>
                    <a:bodyPr/>
                    <a:lstStyle/>
                    <a:p>
                      <a:pPr algn="ctr"/>
                      <a:r>
                        <a:rPr lang="fr-FR" sz="2200" b="1" dirty="0">
                          <a:effectLst>
                            <a:outerShdw blurRad="38100" dist="38100" dir="2700000" algn="tl">
                              <a:srgbClr val="000000">
                                <a:alpha val="43137"/>
                              </a:srgbClr>
                            </a:outerShdw>
                          </a:effectLst>
                        </a:rPr>
                        <a:t>Commande</a:t>
                      </a:r>
                    </a:p>
                  </a:txBody>
                  <a:tcPr marL="36000" marR="36000" marT="30328" marB="30328" anchor="ctr"/>
                </a:tc>
                <a:tc>
                  <a:txBody>
                    <a:bodyPr/>
                    <a:lstStyle/>
                    <a:p>
                      <a:pPr algn="ctr"/>
                      <a:r>
                        <a:rPr lang="fr-FR" sz="2200" b="1" dirty="0">
                          <a:effectLst>
                            <a:outerShdw blurRad="38100" dist="38100" dir="2700000" algn="tl">
                              <a:srgbClr val="000000">
                                <a:alpha val="43137"/>
                              </a:srgbClr>
                            </a:outerShdw>
                          </a:effectLst>
                        </a:rPr>
                        <a:t>Description</a:t>
                      </a:r>
                    </a:p>
                  </a:txBody>
                  <a:tcPr marL="36000" marR="36000" marT="30328" marB="30328" anchor="ctr"/>
                </a:tc>
                <a:extLst>
                  <a:ext uri="{0D108BD9-81ED-4DB2-BD59-A6C34878D82A}">
                    <a16:rowId xmlns:a16="http://schemas.microsoft.com/office/drawing/2014/main" val="10000"/>
                  </a:ext>
                </a:extLst>
              </a:tr>
              <a:tr h="966801">
                <a:tc>
                  <a:txBody>
                    <a:bodyPr/>
                    <a:lstStyle/>
                    <a:p>
                      <a:r>
                        <a:rPr lang="fr-FR" sz="2100" dirty="0" err="1"/>
                        <a:t>list</a:t>
                      </a:r>
                      <a:r>
                        <a:rPr lang="fr-FR" sz="2100" dirty="0"/>
                        <a:t> </a:t>
                      </a:r>
                      <a:r>
                        <a:rPr lang="fr-FR" sz="2100" dirty="0" err="1"/>
                        <a:t>disk</a:t>
                      </a:r>
                      <a:endParaRPr lang="fr-FR" sz="2100" dirty="0"/>
                    </a:p>
                  </a:txBody>
                  <a:tcPr marL="36000" marR="36000" marT="30328" marB="30328" anchor="ctr"/>
                </a:tc>
                <a:tc>
                  <a:txBody>
                    <a:bodyPr/>
                    <a:lstStyle/>
                    <a:p>
                      <a:r>
                        <a:rPr lang="fr-FR" sz="2200" dirty="0"/>
                        <a:t>Affiche la liste des disques et les informations les concernant (taille, la quantité d'espace libre disponible, …)</a:t>
                      </a:r>
                    </a:p>
                  </a:txBody>
                  <a:tcPr marL="36000" marR="36000" marT="30328" marB="30328" anchor="ctr"/>
                </a:tc>
                <a:extLst>
                  <a:ext uri="{0D108BD9-81ED-4DB2-BD59-A6C34878D82A}">
                    <a16:rowId xmlns:a16="http://schemas.microsoft.com/office/drawing/2014/main" val="10001"/>
                  </a:ext>
                </a:extLst>
              </a:tr>
              <a:tr h="454965">
                <a:tc>
                  <a:txBody>
                    <a:bodyPr/>
                    <a:lstStyle/>
                    <a:p>
                      <a:r>
                        <a:rPr lang="fr-FR" sz="2100" dirty="0"/>
                        <a:t>select </a:t>
                      </a:r>
                      <a:r>
                        <a:rPr lang="fr-FR" sz="2100" dirty="0" err="1"/>
                        <a:t>disk</a:t>
                      </a:r>
                      <a:r>
                        <a:rPr lang="fr-FR" sz="2100" dirty="0"/>
                        <a:t> &lt;</a:t>
                      </a:r>
                      <a:r>
                        <a:rPr lang="fr-FR" sz="2100" dirty="0" err="1"/>
                        <a:t>numéro_disque</a:t>
                      </a:r>
                      <a:r>
                        <a:rPr lang="fr-FR" sz="2100" dirty="0"/>
                        <a:t>&gt;</a:t>
                      </a:r>
                    </a:p>
                  </a:txBody>
                  <a:tcPr marL="36000" marR="36000" marT="30328" marB="30328" anchor="ctr"/>
                </a:tc>
                <a:tc>
                  <a:txBody>
                    <a:bodyPr/>
                    <a:lstStyle/>
                    <a:p>
                      <a:r>
                        <a:rPr lang="fr-FR" sz="2200" dirty="0"/>
                        <a:t>Sélectionne le disque spécifié</a:t>
                      </a:r>
                    </a:p>
                  </a:txBody>
                  <a:tcPr marL="36000" marR="36000" marT="30328" marB="30328" anchor="ctr"/>
                </a:tc>
                <a:extLst>
                  <a:ext uri="{0D108BD9-81ED-4DB2-BD59-A6C34878D82A}">
                    <a16:rowId xmlns:a16="http://schemas.microsoft.com/office/drawing/2014/main" val="10002"/>
                  </a:ext>
                </a:extLst>
              </a:tr>
              <a:tr h="369659">
                <a:tc>
                  <a:txBody>
                    <a:bodyPr/>
                    <a:lstStyle/>
                    <a:p>
                      <a:r>
                        <a:rPr lang="fr-FR" sz="2100" dirty="0" err="1"/>
                        <a:t>convert</a:t>
                      </a:r>
                      <a:r>
                        <a:rPr lang="fr-FR" sz="2100" dirty="0"/>
                        <a:t> </a:t>
                      </a:r>
                      <a:r>
                        <a:rPr lang="fr-FR" sz="2100" dirty="0" err="1"/>
                        <a:t>gpt</a:t>
                      </a:r>
                      <a:endParaRPr lang="fr-FR" sz="2100" dirty="0"/>
                    </a:p>
                  </a:txBody>
                  <a:tcPr marL="36000" marR="36000" marT="30328" marB="30328" anchor="ctr"/>
                </a:tc>
                <a:tc>
                  <a:txBody>
                    <a:bodyPr/>
                    <a:lstStyle/>
                    <a:p>
                      <a:r>
                        <a:rPr lang="fr-FR" sz="2200" dirty="0"/>
                        <a:t>Convertit un disque de base MBR en un disque de base GPT.</a:t>
                      </a:r>
                    </a:p>
                  </a:txBody>
                  <a:tcPr marL="36000" marR="36000" marT="30328" marB="30328"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93482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checkerboard(across)">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3EDAF-9F7E-79A3-0A4E-FAF22331C48B}"/>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8142E58E-5F41-784A-C41E-30462F1235A2}"/>
              </a:ext>
            </a:extLst>
          </p:cNvPr>
          <p:cNvSpPr>
            <a:spLocks noGrp="1" noChangeArrowheads="1"/>
          </p:cNvSpPr>
          <p:nvPr>
            <p:ph type="title"/>
          </p:nvPr>
        </p:nvSpPr>
        <p:spPr>
          <a:xfrm>
            <a:off x="301752" y="228600"/>
            <a:ext cx="8534400" cy="758952"/>
          </a:xfrm>
          <a:noFill/>
          <a:ln/>
        </p:spPr>
        <p:txBody>
          <a:bodyPr vert="horz" anchor="b">
            <a:normAutofit/>
          </a:bodyPr>
          <a:lstStyle/>
          <a:p>
            <a:r>
              <a:rPr lang="en-US" sz="3000" dirty="0">
                <a:solidFill>
                  <a:srgbClr val="C00000"/>
                </a:solidFill>
              </a:rPr>
              <a:t>Les </a:t>
            </a:r>
            <a:r>
              <a:rPr lang="en-US" sz="3000" dirty="0" err="1">
                <a:solidFill>
                  <a:srgbClr val="C00000"/>
                </a:solidFill>
              </a:rPr>
              <a:t>outils</a:t>
            </a:r>
            <a:r>
              <a:rPr lang="en-US" sz="3000" dirty="0">
                <a:solidFill>
                  <a:srgbClr val="C00000"/>
                </a:solidFill>
              </a:rPr>
              <a:t> de </a:t>
            </a:r>
            <a:r>
              <a:rPr lang="en-US" sz="3000" dirty="0" err="1">
                <a:solidFill>
                  <a:srgbClr val="C00000"/>
                </a:solidFill>
              </a:rPr>
              <a:t>Gestion</a:t>
            </a:r>
            <a:r>
              <a:rPr lang="en-US" sz="3000" dirty="0">
                <a:solidFill>
                  <a:srgbClr val="C00000"/>
                </a:solidFill>
              </a:rPr>
              <a:t> des </a:t>
            </a:r>
            <a:r>
              <a:rPr lang="en-US" sz="3000" dirty="0" err="1">
                <a:solidFill>
                  <a:srgbClr val="C00000"/>
                </a:solidFill>
              </a:rPr>
              <a:t>disques</a:t>
            </a:r>
            <a:endParaRPr lang="en-US" sz="3000" dirty="0">
              <a:solidFill>
                <a:srgbClr val="C00000"/>
              </a:solidFill>
            </a:endParaRPr>
          </a:p>
        </p:txBody>
      </p:sp>
      <p:pic>
        <p:nvPicPr>
          <p:cNvPr id="3" name="Image 2">
            <a:extLst>
              <a:ext uri="{FF2B5EF4-FFF2-40B4-BE49-F238E27FC236}">
                <a16:creationId xmlns:a16="http://schemas.microsoft.com/office/drawing/2014/main" id="{5C81300F-2A2D-B20E-3C86-571DCB666A21}"/>
              </a:ext>
            </a:extLst>
          </p:cNvPr>
          <p:cNvPicPr>
            <a:picLocks noChangeAspect="1"/>
          </p:cNvPicPr>
          <p:nvPr/>
        </p:nvPicPr>
        <p:blipFill>
          <a:blip r:embed="rId2"/>
          <a:srcRect t="-1" r="28075" b="66993"/>
          <a:stretch/>
        </p:blipFill>
        <p:spPr>
          <a:xfrm>
            <a:off x="1286336" y="3890665"/>
            <a:ext cx="6654447" cy="2541941"/>
          </a:xfrm>
          <a:prstGeom prst="rect">
            <a:avLst/>
          </a:prstGeom>
        </p:spPr>
      </p:pic>
      <p:sp>
        <p:nvSpPr>
          <p:cNvPr id="2" name="Diskpart.exe">
            <a:extLst>
              <a:ext uri="{FF2B5EF4-FFF2-40B4-BE49-F238E27FC236}">
                <a16:creationId xmlns:a16="http://schemas.microsoft.com/office/drawing/2014/main" id="{37F5D47A-DFAF-B09A-1CC3-9BA494DE953D}"/>
              </a:ext>
            </a:extLst>
          </p:cNvPr>
          <p:cNvSpPr>
            <a:spLocks/>
          </p:cNvSpPr>
          <p:nvPr/>
        </p:nvSpPr>
        <p:spPr bwMode="auto">
          <a:xfrm>
            <a:off x="180106" y="1524001"/>
            <a:ext cx="8866909" cy="1905000"/>
          </a:xfrm>
          <a:prstGeom prst="rect">
            <a:avLst/>
          </a:prstGeom>
          <a:gradFill>
            <a:gsLst>
              <a:gs pos="0">
                <a:srgbClr val="8DACD0"/>
              </a:gs>
              <a:gs pos="100000">
                <a:srgbClr val="DEE7F1"/>
              </a:gs>
            </a:gsLst>
            <a:lin ang="2700000" scaled="1"/>
          </a:gradFill>
          <a:ln w="38100">
            <a:noFill/>
          </a:ln>
          <a:effectLst/>
          <a:scene3d>
            <a:camera prst="orthographicFront"/>
            <a:lightRig rig="flat" dir="t">
              <a:rot lat="0" lon="0" rev="5400000"/>
            </a:lightRig>
          </a:scene3d>
          <a:sp3d>
            <a:bevelB w="38100" h="38100"/>
          </a:sp3d>
        </p:spPr>
        <p:style>
          <a:lnRef idx="2">
            <a:schemeClr val="accent1">
              <a:shade val="50000"/>
            </a:schemeClr>
          </a:lnRef>
          <a:fillRef idx="1">
            <a:schemeClr val="accent1"/>
          </a:fillRef>
          <a:effectRef idx="0">
            <a:schemeClr val="accent1"/>
          </a:effectRef>
          <a:fontRef idx="minor">
            <a:schemeClr val="lt1"/>
          </a:fontRef>
        </p:style>
        <p:txBody>
          <a:bodyPr vert="horz" lIns="144000" tIns="144000" rIns="72000" bIns="72000" anchor="t" anchorCtr="0"/>
          <a:lstStyle/>
          <a:p>
            <a:pPr marL="365125" indent="-342900">
              <a:defRPr/>
            </a:pPr>
            <a:r>
              <a:rPr lang="en-US" sz="2400" dirty="0" err="1">
                <a:solidFill>
                  <a:schemeClr val="tx1"/>
                </a:solidFill>
              </a:rPr>
              <a:t>L’outil</a:t>
            </a:r>
            <a:r>
              <a:rPr lang="en-US" sz="2400" dirty="0">
                <a:solidFill>
                  <a:schemeClr val="tx1"/>
                </a:solidFill>
              </a:rPr>
              <a:t> en </a:t>
            </a:r>
            <a:r>
              <a:rPr lang="en-US" sz="2400" dirty="0" err="1">
                <a:solidFill>
                  <a:schemeClr val="tx1"/>
                </a:solidFill>
              </a:rPr>
              <a:t>ligne</a:t>
            </a:r>
            <a:r>
              <a:rPr lang="en-US" sz="2400" dirty="0">
                <a:solidFill>
                  <a:schemeClr val="tx1"/>
                </a:solidFill>
              </a:rPr>
              <a:t> de </a:t>
            </a:r>
            <a:r>
              <a:rPr lang="en-US" sz="2400" dirty="0" err="1">
                <a:solidFill>
                  <a:schemeClr val="tx1"/>
                </a:solidFill>
              </a:rPr>
              <a:t>commande</a:t>
            </a:r>
            <a:r>
              <a:rPr lang="en-US" sz="2400" dirty="0">
                <a:solidFill>
                  <a:schemeClr val="tx1"/>
                </a:solidFill>
              </a:rPr>
              <a:t> Diskpart.exe		 </a:t>
            </a:r>
          </a:p>
          <a:p>
            <a:pPr marL="544513" indent="-342900" algn="l">
              <a:lnSpc>
                <a:spcPct val="90000"/>
              </a:lnSpc>
              <a:spcBef>
                <a:spcPct val="40000"/>
              </a:spcBef>
              <a:buSzPct val="90000"/>
              <a:buFont typeface="Arial" pitchFamily="34" charset="0"/>
              <a:buChar char="•"/>
              <a:defRPr/>
            </a:pPr>
            <a:r>
              <a:rPr lang="fr-FR" sz="2200" b="0" dirty="0">
                <a:solidFill>
                  <a:schemeClr val="tx1"/>
                </a:solidFill>
                <a:effectLst/>
                <a:cs typeface="Arial" charset="0"/>
              </a:rPr>
              <a:t>S’exécute toujours localement</a:t>
            </a:r>
            <a:endParaRPr lang="en-US" sz="2200" dirty="0">
              <a:solidFill>
                <a:schemeClr val="tx1"/>
              </a:solidFill>
              <a:effectLst/>
            </a:endParaRPr>
          </a:p>
          <a:p>
            <a:pPr marL="544513" indent="-342900" algn="l">
              <a:lnSpc>
                <a:spcPct val="90000"/>
              </a:lnSpc>
              <a:spcBef>
                <a:spcPct val="40000"/>
              </a:spcBef>
              <a:buSzPct val="90000"/>
              <a:buFont typeface="Arial" pitchFamily="34" charset="0"/>
              <a:buChar char="•"/>
              <a:defRPr/>
            </a:pPr>
            <a:r>
              <a:rPr lang="fr-FR" sz="2200" b="0" dirty="0">
                <a:solidFill>
                  <a:schemeClr val="tx1"/>
                </a:solidFill>
                <a:effectLst/>
                <a:cs typeface="Arial" charset="0"/>
              </a:rPr>
              <a:t>Permet de créer des scripts pour automatiser des tâches liées à la gestion des disques</a:t>
            </a:r>
          </a:p>
          <a:p>
            <a:pPr marL="365125" indent="-342900">
              <a:defRPr/>
            </a:pPr>
            <a:endParaRPr lang="en-US" sz="2200" dirty="0">
              <a:solidFill>
                <a:schemeClr val="tx1"/>
              </a:solidFill>
              <a:effectLst/>
            </a:endParaRPr>
          </a:p>
        </p:txBody>
      </p:sp>
      <p:sp>
        <p:nvSpPr>
          <p:cNvPr id="4" name="ZoneTexte 3">
            <a:extLst>
              <a:ext uri="{FF2B5EF4-FFF2-40B4-BE49-F238E27FC236}">
                <a16:creationId xmlns:a16="http://schemas.microsoft.com/office/drawing/2014/main" id="{5A2DF1B1-1F36-490E-25F8-5138DD6DD970}"/>
              </a:ext>
            </a:extLst>
          </p:cNvPr>
          <p:cNvSpPr txBox="1"/>
          <p:nvPr/>
        </p:nvSpPr>
        <p:spPr>
          <a:xfrm>
            <a:off x="180106" y="3429000"/>
            <a:ext cx="3774830" cy="461665"/>
          </a:xfrm>
          <a:prstGeom prst="rect">
            <a:avLst/>
          </a:prstGeom>
          <a:noFill/>
        </p:spPr>
        <p:txBody>
          <a:bodyPr wrap="square" rtlCol="0">
            <a:spAutoFit/>
          </a:bodyPr>
          <a:lstStyle/>
          <a:p>
            <a:pPr algn="l"/>
            <a:r>
              <a:rPr lang="fr-FR" sz="2400" dirty="0">
                <a:solidFill>
                  <a:schemeClr val="tx1"/>
                </a:solidFill>
                <a:effectLst/>
              </a:rPr>
              <a:t>Exemples de tâches</a:t>
            </a:r>
          </a:p>
        </p:txBody>
      </p:sp>
    </p:spTree>
    <p:extLst>
      <p:ext uri="{BB962C8B-B14F-4D97-AF65-F5344CB8AC3E}">
        <p14:creationId xmlns:p14="http://schemas.microsoft.com/office/powerpoint/2010/main" val="318858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1DB1B-810D-88FD-A125-26077FADEB1A}"/>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CDAF10DF-7927-2F82-F27F-B7C6BE40F256}"/>
              </a:ext>
            </a:extLst>
          </p:cNvPr>
          <p:cNvSpPr>
            <a:spLocks noGrp="1" noChangeArrowheads="1"/>
          </p:cNvSpPr>
          <p:nvPr>
            <p:ph type="title"/>
          </p:nvPr>
        </p:nvSpPr>
        <p:spPr>
          <a:xfrm>
            <a:off x="301752" y="228600"/>
            <a:ext cx="8534400" cy="758952"/>
          </a:xfrm>
          <a:noFill/>
          <a:ln/>
        </p:spPr>
        <p:txBody>
          <a:bodyPr vert="horz" anchor="b">
            <a:normAutofit/>
          </a:bodyPr>
          <a:lstStyle/>
          <a:p>
            <a:r>
              <a:rPr lang="en-US" sz="3000" dirty="0">
                <a:solidFill>
                  <a:srgbClr val="C00000"/>
                </a:solidFill>
              </a:rPr>
              <a:t>Les </a:t>
            </a:r>
            <a:r>
              <a:rPr lang="en-US" sz="3000" dirty="0" err="1">
                <a:solidFill>
                  <a:srgbClr val="C00000"/>
                </a:solidFill>
              </a:rPr>
              <a:t>outils</a:t>
            </a:r>
            <a:r>
              <a:rPr lang="en-US" sz="3000" dirty="0">
                <a:solidFill>
                  <a:srgbClr val="C00000"/>
                </a:solidFill>
              </a:rPr>
              <a:t> de </a:t>
            </a:r>
            <a:r>
              <a:rPr lang="en-US" sz="3000" dirty="0" err="1">
                <a:solidFill>
                  <a:srgbClr val="C00000"/>
                </a:solidFill>
              </a:rPr>
              <a:t>Gestion</a:t>
            </a:r>
            <a:r>
              <a:rPr lang="en-US" sz="3000" dirty="0">
                <a:solidFill>
                  <a:srgbClr val="C00000"/>
                </a:solidFill>
              </a:rPr>
              <a:t> des </a:t>
            </a:r>
            <a:r>
              <a:rPr lang="en-US" sz="3000" dirty="0" err="1">
                <a:solidFill>
                  <a:srgbClr val="C00000"/>
                </a:solidFill>
              </a:rPr>
              <a:t>disques</a:t>
            </a:r>
            <a:endParaRPr lang="en-US" sz="3000" dirty="0">
              <a:solidFill>
                <a:srgbClr val="C00000"/>
              </a:solidFill>
            </a:endParaRPr>
          </a:p>
        </p:txBody>
      </p:sp>
      <p:sp>
        <p:nvSpPr>
          <p:cNvPr id="2" name="Diskpart.exe">
            <a:extLst>
              <a:ext uri="{FF2B5EF4-FFF2-40B4-BE49-F238E27FC236}">
                <a16:creationId xmlns:a16="http://schemas.microsoft.com/office/drawing/2014/main" id="{0F62C005-EFE7-FC5D-1B2B-7AE75624CE12}"/>
              </a:ext>
            </a:extLst>
          </p:cNvPr>
          <p:cNvSpPr>
            <a:spLocks/>
          </p:cNvSpPr>
          <p:nvPr/>
        </p:nvSpPr>
        <p:spPr bwMode="auto">
          <a:xfrm>
            <a:off x="180106" y="1524001"/>
            <a:ext cx="8866909" cy="1905000"/>
          </a:xfrm>
          <a:prstGeom prst="rect">
            <a:avLst/>
          </a:prstGeom>
          <a:gradFill>
            <a:gsLst>
              <a:gs pos="0">
                <a:srgbClr val="8DACD0"/>
              </a:gs>
              <a:gs pos="100000">
                <a:srgbClr val="DEE7F1"/>
              </a:gs>
            </a:gsLst>
            <a:lin ang="2700000" scaled="1"/>
          </a:gradFill>
          <a:ln w="38100">
            <a:noFill/>
          </a:ln>
          <a:effectLst/>
          <a:scene3d>
            <a:camera prst="orthographicFront"/>
            <a:lightRig rig="flat" dir="t">
              <a:rot lat="0" lon="0" rev="5400000"/>
            </a:lightRig>
          </a:scene3d>
          <a:sp3d>
            <a:bevelB w="38100" h="38100"/>
          </a:sp3d>
        </p:spPr>
        <p:style>
          <a:lnRef idx="2">
            <a:schemeClr val="accent1">
              <a:shade val="50000"/>
            </a:schemeClr>
          </a:lnRef>
          <a:fillRef idx="1">
            <a:schemeClr val="accent1"/>
          </a:fillRef>
          <a:effectRef idx="0">
            <a:schemeClr val="accent1"/>
          </a:effectRef>
          <a:fontRef idx="minor">
            <a:schemeClr val="lt1"/>
          </a:fontRef>
        </p:style>
        <p:txBody>
          <a:bodyPr vert="horz" lIns="144000" tIns="144000" rIns="72000" bIns="72000" anchor="t" anchorCtr="0"/>
          <a:lstStyle/>
          <a:p>
            <a:pPr marL="365125" indent="-342900">
              <a:defRPr/>
            </a:pPr>
            <a:r>
              <a:rPr lang="en-US" sz="2400" dirty="0" err="1">
                <a:solidFill>
                  <a:schemeClr val="tx1"/>
                </a:solidFill>
              </a:rPr>
              <a:t>L’outil</a:t>
            </a:r>
            <a:r>
              <a:rPr lang="en-US" sz="2400" dirty="0">
                <a:solidFill>
                  <a:schemeClr val="tx1"/>
                </a:solidFill>
              </a:rPr>
              <a:t> en </a:t>
            </a:r>
            <a:r>
              <a:rPr lang="en-US" sz="2400" dirty="0" err="1">
                <a:solidFill>
                  <a:schemeClr val="tx1"/>
                </a:solidFill>
              </a:rPr>
              <a:t>ligne</a:t>
            </a:r>
            <a:r>
              <a:rPr lang="en-US" sz="2400" dirty="0">
                <a:solidFill>
                  <a:schemeClr val="tx1"/>
                </a:solidFill>
              </a:rPr>
              <a:t> de </a:t>
            </a:r>
            <a:r>
              <a:rPr lang="en-US" sz="2400" dirty="0" err="1">
                <a:solidFill>
                  <a:schemeClr val="tx1"/>
                </a:solidFill>
              </a:rPr>
              <a:t>commande</a:t>
            </a:r>
            <a:r>
              <a:rPr lang="en-US" sz="2400" dirty="0">
                <a:solidFill>
                  <a:schemeClr val="tx1"/>
                </a:solidFill>
              </a:rPr>
              <a:t> Diskpart.exe		 </a:t>
            </a:r>
          </a:p>
          <a:p>
            <a:pPr marL="544513" indent="-342900" algn="l">
              <a:lnSpc>
                <a:spcPct val="90000"/>
              </a:lnSpc>
              <a:spcBef>
                <a:spcPct val="40000"/>
              </a:spcBef>
              <a:buSzPct val="90000"/>
              <a:buFont typeface="Arial" pitchFamily="34" charset="0"/>
              <a:buChar char="•"/>
              <a:defRPr/>
            </a:pPr>
            <a:r>
              <a:rPr lang="fr-FR" sz="2200" b="0" dirty="0">
                <a:solidFill>
                  <a:schemeClr val="tx1"/>
                </a:solidFill>
                <a:effectLst/>
                <a:cs typeface="Arial" charset="0"/>
              </a:rPr>
              <a:t>S’exécute toujours localement</a:t>
            </a:r>
            <a:endParaRPr lang="en-US" sz="2200" dirty="0">
              <a:solidFill>
                <a:schemeClr val="tx1"/>
              </a:solidFill>
              <a:effectLst/>
            </a:endParaRPr>
          </a:p>
          <a:p>
            <a:pPr marL="544513" indent="-342900" algn="l">
              <a:lnSpc>
                <a:spcPct val="90000"/>
              </a:lnSpc>
              <a:spcBef>
                <a:spcPct val="40000"/>
              </a:spcBef>
              <a:buSzPct val="90000"/>
              <a:buFont typeface="Arial" pitchFamily="34" charset="0"/>
              <a:buChar char="•"/>
              <a:defRPr/>
            </a:pPr>
            <a:r>
              <a:rPr lang="fr-FR" sz="2200" b="0" dirty="0">
                <a:solidFill>
                  <a:schemeClr val="tx1"/>
                </a:solidFill>
                <a:effectLst/>
                <a:cs typeface="Arial" charset="0"/>
              </a:rPr>
              <a:t>Permet de créer des scripts pour automatiser des tâches liées à la gestion des disques</a:t>
            </a:r>
          </a:p>
          <a:p>
            <a:pPr marL="365125" indent="-342900">
              <a:defRPr/>
            </a:pPr>
            <a:endParaRPr lang="en-US" sz="2200" dirty="0">
              <a:solidFill>
                <a:schemeClr val="tx1"/>
              </a:solidFill>
              <a:effectLst/>
            </a:endParaRPr>
          </a:p>
        </p:txBody>
      </p:sp>
      <p:sp>
        <p:nvSpPr>
          <p:cNvPr id="4" name="ZoneTexte 3">
            <a:extLst>
              <a:ext uri="{FF2B5EF4-FFF2-40B4-BE49-F238E27FC236}">
                <a16:creationId xmlns:a16="http://schemas.microsoft.com/office/drawing/2014/main" id="{7D6ED567-1FE2-03FA-AF32-DD17E47AF3A9}"/>
              </a:ext>
            </a:extLst>
          </p:cNvPr>
          <p:cNvSpPr txBox="1"/>
          <p:nvPr/>
        </p:nvSpPr>
        <p:spPr>
          <a:xfrm>
            <a:off x="180106" y="3429000"/>
            <a:ext cx="3774830" cy="461665"/>
          </a:xfrm>
          <a:prstGeom prst="rect">
            <a:avLst/>
          </a:prstGeom>
          <a:noFill/>
        </p:spPr>
        <p:txBody>
          <a:bodyPr wrap="square" rtlCol="0">
            <a:spAutoFit/>
          </a:bodyPr>
          <a:lstStyle/>
          <a:p>
            <a:pPr algn="l"/>
            <a:r>
              <a:rPr lang="fr-FR" sz="2400" dirty="0">
                <a:solidFill>
                  <a:schemeClr val="tx1"/>
                </a:solidFill>
                <a:effectLst/>
              </a:rPr>
              <a:t>Exemples de tâches</a:t>
            </a:r>
          </a:p>
        </p:txBody>
      </p:sp>
      <p:pic>
        <p:nvPicPr>
          <p:cNvPr id="9" name="Image 8">
            <a:extLst>
              <a:ext uri="{FF2B5EF4-FFF2-40B4-BE49-F238E27FC236}">
                <a16:creationId xmlns:a16="http://schemas.microsoft.com/office/drawing/2014/main" id="{F0B5D155-6271-9DD9-D815-8D6C26158EF6}"/>
              </a:ext>
            </a:extLst>
          </p:cNvPr>
          <p:cNvPicPr>
            <a:picLocks noChangeAspect="1"/>
          </p:cNvPicPr>
          <p:nvPr/>
        </p:nvPicPr>
        <p:blipFill>
          <a:blip r:embed="rId2"/>
          <a:srcRect t="30732" r="30247" b="31727"/>
          <a:stretch/>
        </p:blipFill>
        <p:spPr>
          <a:xfrm>
            <a:off x="1347395" y="3965449"/>
            <a:ext cx="5803681" cy="2599913"/>
          </a:xfrm>
          <a:prstGeom prst="rect">
            <a:avLst/>
          </a:prstGeom>
        </p:spPr>
      </p:pic>
    </p:spTree>
    <p:extLst>
      <p:ext uri="{BB962C8B-B14F-4D97-AF65-F5344CB8AC3E}">
        <p14:creationId xmlns:p14="http://schemas.microsoft.com/office/powerpoint/2010/main" val="2405984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8A242-F247-34B8-9A66-9D1CD4466B38}"/>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31EFC30F-3949-EB6C-CB33-4110C20AF6F0}"/>
              </a:ext>
            </a:extLst>
          </p:cNvPr>
          <p:cNvSpPr>
            <a:spLocks noGrp="1" noChangeArrowheads="1"/>
          </p:cNvSpPr>
          <p:nvPr>
            <p:ph type="title"/>
          </p:nvPr>
        </p:nvSpPr>
        <p:spPr>
          <a:xfrm>
            <a:off x="301752" y="228600"/>
            <a:ext cx="8534400" cy="758952"/>
          </a:xfrm>
          <a:noFill/>
          <a:ln/>
        </p:spPr>
        <p:txBody>
          <a:bodyPr vert="horz" anchor="b">
            <a:normAutofit/>
          </a:bodyPr>
          <a:lstStyle/>
          <a:p>
            <a:r>
              <a:rPr lang="en-US" sz="3000" dirty="0">
                <a:solidFill>
                  <a:srgbClr val="C00000"/>
                </a:solidFill>
              </a:rPr>
              <a:t>Les </a:t>
            </a:r>
            <a:r>
              <a:rPr lang="en-US" sz="3000" dirty="0" err="1">
                <a:solidFill>
                  <a:srgbClr val="C00000"/>
                </a:solidFill>
              </a:rPr>
              <a:t>outils</a:t>
            </a:r>
            <a:r>
              <a:rPr lang="en-US" sz="3000" dirty="0">
                <a:solidFill>
                  <a:srgbClr val="C00000"/>
                </a:solidFill>
              </a:rPr>
              <a:t> de </a:t>
            </a:r>
            <a:r>
              <a:rPr lang="en-US" sz="3000" dirty="0" err="1">
                <a:solidFill>
                  <a:srgbClr val="C00000"/>
                </a:solidFill>
              </a:rPr>
              <a:t>Gestion</a:t>
            </a:r>
            <a:r>
              <a:rPr lang="en-US" sz="3000" dirty="0">
                <a:solidFill>
                  <a:srgbClr val="C00000"/>
                </a:solidFill>
              </a:rPr>
              <a:t> des </a:t>
            </a:r>
            <a:r>
              <a:rPr lang="en-US" sz="3000" dirty="0" err="1">
                <a:solidFill>
                  <a:srgbClr val="C00000"/>
                </a:solidFill>
              </a:rPr>
              <a:t>disques</a:t>
            </a:r>
            <a:endParaRPr lang="en-US" sz="3000" dirty="0">
              <a:solidFill>
                <a:srgbClr val="C00000"/>
              </a:solidFill>
            </a:endParaRPr>
          </a:p>
        </p:txBody>
      </p:sp>
      <p:sp>
        <p:nvSpPr>
          <p:cNvPr id="2" name="Diskpart.exe">
            <a:extLst>
              <a:ext uri="{FF2B5EF4-FFF2-40B4-BE49-F238E27FC236}">
                <a16:creationId xmlns:a16="http://schemas.microsoft.com/office/drawing/2014/main" id="{54705182-35E8-1604-E5BE-01CB89AD881F}"/>
              </a:ext>
            </a:extLst>
          </p:cNvPr>
          <p:cNvSpPr>
            <a:spLocks/>
          </p:cNvSpPr>
          <p:nvPr/>
        </p:nvSpPr>
        <p:spPr bwMode="auto">
          <a:xfrm>
            <a:off x="180106" y="1524001"/>
            <a:ext cx="8866909" cy="1905000"/>
          </a:xfrm>
          <a:prstGeom prst="rect">
            <a:avLst/>
          </a:prstGeom>
          <a:gradFill>
            <a:gsLst>
              <a:gs pos="0">
                <a:srgbClr val="8DACD0"/>
              </a:gs>
              <a:gs pos="100000">
                <a:srgbClr val="DEE7F1"/>
              </a:gs>
            </a:gsLst>
            <a:lin ang="2700000" scaled="1"/>
          </a:gradFill>
          <a:ln w="38100">
            <a:noFill/>
          </a:ln>
          <a:effectLst/>
          <a:scene3d>
            <a:camera prst="orthographicFront"/>
            <a:lightRig rig="flat" dir="t">
              <a:rot lat="0" lon="0" rev="5400000"/>
            </a:lightRig>
          </a:scene3d>
          <a:sp3d>
            <a:bevelB w="38100" h="38100"/>
          </a:sp3d>
        </p:spPr>
        <p:style>
          <a:lnRef idx="2">
            <a:schemeClr val="accent1">
              <a:shade val="50000"/>
            </a:schemeClr>
          </a:lnRef>
          <a:fillRef idx="1">
            <a:schemeClr val="accent1"/>
          </a:fillRef>
          <a:effectRef idx="0">
            <a:schemeClr val="accent1"/>
          </a:effectRef>
          <a:fontRef idx="minor">
            <a:schemeClr val="lt1"/>
          </a:fontRef>
        </p:style>
        <p:txBody>
          <a:bodyPr vert="horz" lIns="144000" tIns="144000" rIns="72000" bIns="72000" anchor="t" anchorCtr="0"/>
          <a:lstStyle/>
          <a:p>
            <a:pPr marL="365125" indent="-342900">
              <a:defRPr/>
            </a:pPr>
            <a:r>
              <a:rPr lang="en-US" sz="2400" dirty="0" err="1">
                <a:solidFill>
                  <a:schemeClr val="tx1"/>
                </a:solidFill>
              </a:rPr>
              <a:t>L’outil</a:t>
            </a:r>
            <a:r>
              <a:rPr lang="en-US" sz="2400" dirty="0">
                <a:solidFill>
                  <a:schemeClr val="tx1"/>
                </a:solidFill>
              </a:rPr>
              <a:t> en </a:t>
            </a:r>
            <a:r>
              <a:rPr lang="en-US" sz="2400" dirty="0" err="1">
                <a:solidFill>
                  <a:schemeClr val="tx1"/>
                </a:solidFill>
              </a:rPr>
              <a:t>ligne</a:t>
            </a:r>
            <a:r>
              <a:rPr lang="en-US" sz="2400" dirty="0">
                <a:solidFill>
                  <a:schemeClr val="tx1"/>
                </a:solidFill>
              </a:rPr>
              <a:t> de </a:t>
            </a:r>
            <a:r>
              <a:rPr lang="en-US" sz="2400" dirty="0" err="1">
                <a:solidFill>
                  <a:schemeClr val="tx1"/>
                </a:solidFill>
              </a:rPr>
              <a:t>commande</a:t>
            </a:r>
            <a:r>
              <a:rPr lang="en-US" sz="2400" dirty="0">
                <a:solidFill>
                  <a:schemeClr val="tx1"/>
                </a:solidFill>
              </a:rPr>
              <a:t> Diskpart.exe		 </a:t>
            </a:r>
          </a:p>
          <a:p>
            <a:pPr marL="544513" indent="-342900" algn="l">
              <a:lnSpc>
                <a:spcPct val="90000"/>
              </a:lnSpc>
              <a:spcBef>
                <a:spcPct val="40000"/>
              </a:spcBef>
              <a:buSzPct val="90000"/>
              <a:buFont typeface="Arial" pitchFamily="34" charset="0"/>
              <a:buChar char="•"/>
              <a:defRPr/>
            </a:pPr>
            <a:r>
              <a:rPr lang="fr-FR" sz="2200" b="0" dirty="0">
                <a:solidFill>
                  <a:schemeClr val="tx1"/>
                </a:solidFill>
                <a:effectLst/>
                <a:cs typeface="Arial" charset="0"/>
              </a:rPr>
              <a:t>S’exécute toujours localement</a:t>
            </a:r>
            <a:endParaRPr lang="en-US" sz="2200" dirty="0">
              <a:solidFill>
                <a:schemeClr val="tx1"/>
              </a:solidFill>
              <a:effectLst/>
            </a:endParaRPr>
          </a:p>
          <a:p>
            <a:pPr marL="544513" indent="-342900" algn="l">
              <a:lnSpc>
                <a:spcPct val="90000"/>
              </a:lnSpc>
              <a:spcBef>
                <a:spcPct val="40000"/>
              </a:spcBef>
              <a:buSzPct val="90000"/>
              <a:buFont typeface="Arial" pitchFamily="34" charset="0"/>
              <a:buChar char="•"/>
              <a:defRPr/>
            </a:pPr>
            <a:r>
              <a:rPr lang="fr-FR" sz="2200" b="0" dirty="0">
                <a:solidFill>
                  <a:schemeClr val="tx1"/>
                </a:solidFill>
                <a:effectLst/>
                <a:cs typeface="Arial" charset="0"/>
              </a:rPr>
              <a:t>Permet de créer des scripts pour automatiser des tâches liées à la gestion des disques</a:t>
            </a:r>
          </a:p>
          <a:p>
            <a:pPr marL="365125" indent="-342900">
              <a:defRPr/>
            </a:pPr>
            <a:endParaRPr lang="en-US" sz="2200" dirty="0">
              <a:solidFill>
                <a:schemeClr val="tx1"/>
              </a:solidFill>
              <a:effectLst/>
            </a:endParaRPr>
          </a:p>
        </p:txBody>
      </p:sp>
      <p:sp>
        <p:nvSpPr>
          <p:cNvPr id="4" name="ZoneTexte 3">
            <a:extLst>
              <a:ext uri="{FF2B5EF4-FFF2-40B4-BE49-F238E27FC236}">
                <a16:creationId xmlns:a16="http://schemas.microsoft.com/office/drawing/2014/main" id="{63B40C40-61E0-0A1A-0FC9-1D328A750D15}"/>
              </a:ext>
            </a:extLst>
          </p:cNvPr>
          <p:cNvSpPr txBox="1"/>
          <p:nvPr/>
        </p:nvSpPr>
        <p:spPr>
          <a:xfrm>
            <a:off x="180106" y="3429000"/>
            <a:ext cx="3774830" cy="461665"/>
          </a:xfrm>
          <a:prstGeom prst="rect">
            <a:avLst/>
          </a:prstGeom>
          <a:noFill/>
        </p:spPr>
        <p:txBody>
          <a:bodyPr wrap="square" rtlCol="0">
            <a:spAutoFit/>
          </a:bodyPr>
          <a:lstStyle/>
          <a:p>
            <a:pPr algn="l"/>
            <a:r>
              <a:rPr lang="fr-FR" sz="2400" dirty="0">
                <a:solidFill>
                  <a:schemeClr val="tx1"/>
                </a:solidFill>
                <a:effectLst/>
              </a:rPr>
              <a:t>Exemples de tâches</a:t>
            </a:r>
          </a:p>
        </p:txBody>
      </p:sp>
      <p:pic>
        <p:nvPicPr>
          <p:cNvPr id="9" name="Image 8">
            <a:extLst>
              <a:ext uri="{FF2B5EF4-FFF2-40B4-BE49-F238E27FC236}">
                <a16:creationId xmlns:a16="http://schemas.microsoft.com/office/drawing/2014/main" id="{EF792ED0-C17B-63FE-126B-602BC36670C9}"/>
              </a:ext>
            </a:extLst>
          </p:cNvPr>
          <p:cNvPicPr>
            <a:picLocks noChangeAspect="1"/>
          </p:cNvPicPr>
          <p:nvPr/>
        </p:nvPicPr>
        <p:blipFill>
          <a:blip r:embed="rId2"/>
          <a:srcRect t="66743"/>
          <a:stretch/>
        </p:blipFill>
        <p:spPr>
          <a:xfrm>
            <a:off x="484906" y="3965449"/>
            <a:ext cx="8458758" cy="2341565"/>
          </a:xfrm>
          <a:prstGeom prst="rect">
            <a:avLst/>
          </a:prstGeom>
        </p:spPr>
      </p:pic>
    </p:spTree>
    <p:extLst>
      <p:ext uri="{BB962C8B-B14F-4D97-AF65-F5344CB8AC3E}">
        <p14:creationId xmlns:p14="http://schemas.microsoft.com/office/powerpoint/2010/main" val="1051682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500" name="Rectangle 4"/>
          <p:cNvSpPr>
            <a:spLocks noGrp="1" noChangeArrowheads="1"/>
          </p:cNvSpPr>
          <p:nvPr>
            <p:ph type="title"/>
          </p:nvPr>
        </p:nvSpPr>
        <p:spPr/>
        <p:txBody>
          <a:bodyPr/>
          <a:lstStyle/>
          <a:p>
            <a:r>
              <a:rPr lang="en-US" dirty="0">
                <a:solidFill>
                  <a:schemeClr val="tx1"/>
                </a:solidFill>
                <a:cs typeface="Times New Roman" pitchFamily="18" charset="0"/>
              </a:rPr>
              <a:t>2.Utilisation des </a:t>
            </a:r>
            <a:r>
              <a:rPr lang="en-US" dirty="0" err="1">
                <a:solidFill>
                  <a:schemeClr val="tx1"/>
                </a:solidFill>
                <a:cs typeface="Times New Roman" pitchFamily="18" charset="0"/>
              </a:rPr>
              <a:t>disques</a:t>
            </a:r>
            <a:r>
              <a:rPr lang="en-US" dirty="0">
                <a:solidFill>
                  <a:schemeClr val="tx1"/>
                </a:solidFill>
                <a:cs typeface="Times New Roman" pitchFamily="18" charset="0"/>
              </a:rPr>
              <a:t> </a:t>
            </a:r>
            <a:r>
              <a:rPr lang="en-US" dirty="0" err="1">
                <a:solidFill>
                  <a:schemeClr val="tx1"/>
                </a:solidFill>
                <a:cs typeface="Times New Roman" pitchFamily="18" charset="0"/>
              </a:rPr>
              <a:t>dynamiques</a:t>
            </a:r>
            <a:endParaRPr lang="en-US" dirty="0">
              <a:solidFill>
                <a:schemeClr val="tx1"/>
              </a:solidFill>
            </a:endParaRPr>
          </a:p>
        </p:txBody>
      </p:sp>
      <p:sp>
        <p:nvSpPr>
          <p:cNvPr id="362501" name="Rectangle 5"/>
          <p:cNvSpPr>
            <a:spLocks noGrp="1" noChangeArrowheads="1"/>
          </p:cNvSpPr>
          <p:nvPr>
            <p:ph sz="quarter" idx="1"/>
          </p:nvPr>
        </p:nvSpPr>
        <p:spPr>
          <a:xfrm>
            <a:off x="274043" y="2316758"/>
            <a:ext cx="8503920" cy="3086515"/>
          </a:xfrm>
        </p:spPr>
        <p:txBody>
          <a:bodyPr>
            <a:normAutofit/>
          </a:bodyPr>
          <a:lstStyle/>
          <a:p>
            <a:pPr>
              <a:buClrTx/>
              <a:buFont typeface="Symbol" pitchFamily="18" charset="2"/>
              <a:buChar char="®"/>
            </a:pPr>
            <a:r>
              <a:rPr lang="fr-FR" sz="2800" dirty="0"/>
              <a:t>Conversion d'un disque de base en disque dynamique </a:t>
            </a:r>
            <a:endParaRPr lang="en-US" sz="2800" dirty="0"/>
          </a:p>
          <a:p>
            <a:pPr>
              <a:buClrTx/>
              <a:buFont typeface="Symbol" pitchFamily="18" charset="2"/>
              <a:buChar char="®"/>
            </a:pPr>
            <a:r>
              <a:rPr lang="fr-FR" sz="2800" dirty="0"/>
              <a:t>Organisation d'un disque dynamique</a:t>
            </a:r>
          </a:p>
          <a:p>
            <a:pPr>
              <a:buClrTx/>
              <a:buFont typeface="Symbol" pitchFamily="18" charset="2"/>
              <a:buChar char="®"/>
            </a:pPr>
            <a:r>
              <a:rPr lang="en-US" sz="2800" dirty="0" err="1"/>
              <a:t>Qu’es-ce</a:t>
            </a:r>
            <a:r>
              <a:rPr lang="en-US" sz="2800" dirty="0"/>
              <a:t> </a:t>
            </a:r>
            <a:r>
              <a:rPr lang="en-US" sz="2800" dirty="0" err="1"/>
              <a:t>qu’un</a:t>
            </a:r>
            <a:r>
              <a:rPr lang="en-US" sz="2800" dirty="0"/>
              <a:t> volume simple?</a:t>
            </a:r>
            <a:r>
              <a:rPr lang="fr-FR" sz="2800" dirty="0"/>
              <a:t> </a:t>
            </a:r>
          </a:p>
          <a:p>
            <a:pPr>
              <a:buClrTx/>
              <a:buFont typeface="Symbol" pitchFamily="18" charset="2"/>
              <a:buChar char="®"/>
            </a:pPr>
            <a:r>
              <a:rPr lang="en-US" sz="2800" dirty="0" err="1"/>
              <a:t>Que</a:t>
            </a:r>
            <a:r>
              <a:rPr lang="en-US" sz="2800" dirty="0"/>
              <a:t> </a:t>
            </a:r>
            <a:r>
              <a:rPr lang="en-US" sz="2800" dirty="0" err="1"/>
              <a:t>sont</a:t>
            </a:r>
            <a:r>
              <a:rPr lang="en-US" sz="2800" dirty="0"/>
              <a:t> les volumes </a:t>
            </a:r>
            <a:r>
              <a:rPr lang="en-US" sz="2800" dirty="0" err="1"/>
              <a:t>fractionnés</a:t>
            </a:r>
            <a:r>
              <a:rPr lang="en-US" sz="2800" dirty="0"/>
              <a:t> et les volumes </a:t>
            </a:r>
            <a:r>
              <a:rPr lang="en-US" sz="2800" dirty="0" err="1"/>
              <a:t>agrégés</a:t>
            </a:r>
            <a:r>
              <a:rPr lang="en-US" sz="2800" dirty="0"/>
              <a:t> par </a:t>
            </a:r>
            <a:r>
              <a:rPr lang="en-US" sz="2800" dirty="0" err="1"/>
              <a:t>bandes</a:t>
            </a:r>
            <a:r>
              <a:rPr lang="en-US" sz="2800" dirty="0"/>
              <a:t>?</a:t>
            </a:r>
          </a:p>
          <a:p>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a:xfrm>
            <a:off x="550718" y="252133"/>
            <a:ext cx="8189913" cy="841375"/>
          </a:xfrm>
          <a:noFill/>
          <a:ln/>
        </p:spPr>
        <p:txBody>
          <a:bodyPr vert="horz" anchor="b">
            <a:normAutofit fontScale="90000"/>
          </a:bodyPr>
          <a:lstStyle/>
          <a:p>
            <a:r>
              <a:rPr lang="fr-FR" dirty="0">
                <a:solidFill>
                  <a:srgbClr val="C00000"/>
                </a:solidFill>
              </a:rPr>
              <a:t>Conversion d'un disque de base en disque dynamique</a:t>
            </a:r>
            <a:endParaRPr lang="en-US" dirty="0">
              <a:solidFill>
                <a:srgbClr val="C00000"/>
              </a:solidFill>
            </a:endParaRPr>
          </a:p>
        </p:txBody>
      </p:sp>
      <p:pic>
        <p:nvPicPr>
          <p:cNvPr id="363531" name="Picture 11" descr="2272bdiskpart"/>
          <p:cNvPicPr>
            <a:picLocks noGrp="1" noChangeAspect="1" noChangeArrowheads="1"/>
          </p:cNvPicPr>
          <p:nvPr>
            <p:ph sz="quarter" idx="1"/>
          </p:nvPr>
        </p:nvPicPr>
        <p:blipFill>
          <a:blip r:embed="rId3"/>
          <a:srcRect/>
          <a:stretch>
            <a:fillRect/>
          </a:stretch>
        </p:blipFill>
        <p:spPr>
          <a:xfrm>
            <a:off x="677415" y="3967458"/>
            <a:ext cx="6975475" cy="2889250"/>
          </a:xfrm>
          <a:noFill/>
          <a:ln/>
        </p:spPr>
      </p:pic>
      <p:sp>
        <p:nvSpPr>
          <p:cNvPr id="363524" name="Rectangle 4"/>
          <p:cNvSpPr>
            <a:spLocks noChangeArrowheads="1"/>
          </p:cNvSpPr>
          <p:nvPr/>
        </p:nvSpPr>
        <p:spPr bwMode="auto">
          <a:xfrm>
            <a:off x="556765" y="1357608"/>
            <a:ext cx="7075488" cy="2605087"/>
          </a:xfrm>
          <a:prstGeom prst="rect">
            <a:avLst/>
          </a:prstGeom>
          <a:gradFill rotWithShape="0">
            <a:gsLst>
              <a:gs pos="0">
                <a:srgbClr val="FFCC66"/>
              </a:gs>
              <a:gs pos="50000">
                <a:srgbClr val="FCFEBC"/>
              </a:gs>
              <a:gs pos="100000">
                <a:srgbClr val="FFCC66"/>
              </a:gs>
            </a:gsLst>
            <a:lin ang="18900000" scaled="1"/>
          </a:gradFill>
          <a:ln w="9525">
            <a:noFill/>
            <a:miter lim="800000"/>
            <a:headEnd/>
            <a:tailEnd/>
          </a:ln>
          <a:effectLst/>
        </p:spPr>
        <p:txBody>
          <a:bodyPr wrap="none" anchor="ctr"/>
          <a:lstStyle/>
          <a:p>
            <a:endParaRPr lang="fr-FR"/>
          </a:p>
        </p:txBody>
      </p:sp>
      <p:pic>
        <p:nvPicPr>
          <p:cNvPr id="363533" name="Picture 13" descr="2272bW04_09a"/>
          <p:cNvPicPr>
            <a:picLocks noChangeAspect="1" noChangeArrowheads="1"/>
          </p:cNvPicPr>
          <p:nvPr/>
        </p:nvPicPr>
        <p:blipFill>
          <a:blip r:embed="rId4"/>
          <a:srcRect r="10172"/>
          <a:stretch>
            <a:fillRect/>
          </a:stretch>
        </p:blipFill>
        <p:spPr bwMode="auto">
          <a:xfrm>
            <a:off x="304353" y="1600495"/>
            <a:ext cx="7542212" cy="2349500"/>
          </a:xfrm>
          <a:prstGeom prst="rect">
            <a:avLst/>
          </a:prstGeom>
          <a:noFill/>
        </p:spPr>
      </p:pic>
      <p:sp>
        <p:nvSpPr>
          <p:cNvPr id="363528" name="Rectangle 8"/>
          <p:cNvSpPr>
            <a:spLocks noChangeArrowheads="1"/>
          </p:cNvSpPr>
          <p:nvPr/>
        </p:nvSpPr>
        <p:spPr bwMode="auto">
          <a:xfrm>
            <a:off x="155128" y="1149645"/>
            <a:ext cx="2565400" cy="482600"/>
          </a:xfrm>
          <a:prstGeom prst="rect">
            <a:avLst/>
          </a:prstGeom>
          <a:solidFill>
            <a:srgbClr val="FFFFFF"/>
          </a:solidFill>
          <a:ln w="28575">
            <a:solidFill>
              <a:srgbClr val="0066FF"/>
            </a:solidFill>
            <a:miter lim="800000"/>
            <a:headEnd/>
            <a:tailEnd/>
          </a:ln>
          <a:effectLst>
            <a:outerShdw dist="53882" dir="2700000" algn="ctr" rotWithShape="0">
              <a:srgbClr val="969696"/>
            </a:outerShdw>
          </a:effectLst>
        </p:spPr>
        <p:txBody>
          <a:bodyPr wrap="none" anchor="ctr"/>
          <a:lstStyle/>
          <a:p>
            <a:r>
              <a:rPr lang="en-US">
                <a:solidFill>
                  <a:schemeClr val="tx1"/>
                </a:solidFill>
                <a:effectLst/>
              </a:rPr>
              <a:t>Gestion des disques</a:t>
            </a:r>
          </a:p>
        </p:txBody>
      </p:sp>
      <p:sp>
        <p:nvSpPr>
          <p:cNvPr id="363539" name="Rectangle 19"/>
          <p:cNvSpPr>
            <a:spLocks noChangeArrowheads="1"/>
          </p:cNvSpPr>
          <p:nvPr/>
        </p:nvSpPr>
        <p:spPr bwMode="auto">
          <a:xfrm>
            <a:off x="775840" y="1981495"/>
            <a:ext cx="2597150" cy="950913"/>
          </a:xfrm>
          <a:prstGeom prst="rect">
            <a:avLst/>
          </a:prstGeom>
          <a:noFill/>
          <a:ln w="9525" algn="ctr">
            <a:solidFill>
              <a:srgbClr val="000000"/>
            </a:solidFill>
            <a:miter lim="800000"/>
            <a:headEnd/>
            <a:tailEnd/>
          </a:ln>
          <a:effectLst/>
        </p:spPr>
        <p:txBody>
          <a:bodyPr wrap="none" anchor="ctr"/>
          <a:lstStyle/>
          <a:p>
            <a:endParaRPr lang="fr-FR"/>
          </a:p>
        </p:txBody>
      </p:sp>
      <p:sp>
        <p:nvSpPr>
          <p:cNvPr id="363527" name="Freeform 7"/>
          <p:cNvSpPr>
            <a:spLocks/>
          </p:cNvSpPr>
          <p:nvPr/>
        </p:nvSpPr>
        <p:spPr bwMode="auto">
          <a:xfrm rot="3392823">
            <a:off x="273396" y="2021977"/>
            <a:ext cx="700087" cy="266700"/>
          </a:xfrm>
          <a:custGeom>
            <a:avLst/>
            <a:gdLst/>
            <a:ahLst/>
            <a:cxnLst>
              <a:cxn ang="0">
                <a:pos x="0" y="58"/>
              </a:cxn>
              <a:cxn ang="0">
                <a:pos x="69" y="87"/>
              </a:cxn>
              <a:cxn ang="0">
                <a:pos x="123" y="110"/>
              </a:cxn>
              <a:cxn ang="0">
                <a:pos x="148" y="120"/>
              </a:cxn>
              <a:cxn ang="0">
                <a:pos x="171" y="125"/>
              </a:cxn>
              <a:cxn ang="0">
                <a:pos x="192" y="131"/>
              </a:cxn>
              <a:cxn ang="0">
                <a:pos x="215" y="133"/>
              </a:cxn>
              <a:cxn ang="0">
                <a:pos x="236" y="133"/>
              </a:cxn>
              <a:cxn ang="0">
                <a:pos x="259" y="131"/>
              </a:cxn>
              <a:cxn ang="0">
                <a:pos x="284" y="125"/>
              </a:cxn>
              <a:cxn ang="0">
                <a:pos x="311" y="118"/>
              </a:cxn>
              <a:cxn ang="0">
                <a:pos x="342" y="108"/>
              </a:cxn>
              <a:cxn ang="0">
                <a:pos x="375" y="95"/>
              </a:cxn>
              <a:cxn ang="0">
                <a:pos x="411" y="77"/>
              </a:cxn>
              <a:cxn ang="0">
                <a:pos x="454" y="58"/>
              </a:cxn>
              <a:cxn ang="0">
                <a:pos x="411" y="0"/>
              </a:cxn>
              <a:cxn ang="0">
                <a:pos x="640" y="12"/>
              </a:cxn>
              <a:cxn ang="0">
                <a:pos x="532" y="214"/>
              </a:cxn>
              <a:cxn ang="0">
                <a:pos x="509" y="154"/>
              </a:cxn>
              <a:cxn ang="0">
                <a:pos x="465" y="172"/>
              </a:cxn>
              <a:cxn ang="0">
                <a:pos x="421" y="187"/>
              </a:cxn>
              <a:cxn ang="0">
                <a:pos x="383" y="197"/>
              </a:cxn>
              <a:cxn ang="0">
                <a:pos x="346" y="204"/>
              </a:cxn>
              <a:cxn ang="0">
                <a:pos x="309" y="208"/>
              </a:cxn>
              <a:cxn ang="0">
                <a:pos x="277" y="208"/>
              </a:cxn>
              <a:cxn ang="0">
                <a:pos x="246" y="206"/>
              </a:cxn>
              <a:cxn ang="0">
                <a:pos x="217" y="201"/>
              </a:cxn>
              <a:cxn ang="0">
                <a:pos x="188" y="191"/>
              </a:cxn>
              <a:cxn ang="0">
                <a:pos x="160" y="179"/>
              </a:cxn>
              <a:cxn ang="0">
                <a:pos x="133" y="166"/>
              </a:cxn>
              <a:cxn ang="0">
                <a:pos x="108" y="149"/>
              </a:cxn>
              <a:cxn ang="0">
                <a:pos x="81" y="129"/>
              </a:cxn>
              <a:cxn ang="0">
                <a:pos x="54" y="108"/>
              </a:cxn>
              <a:cxn ang="0">
                <a:pos x="27" y="83"/>
              </a:cxn>
              <a:cxn ang="0">
                <a:pos x="0" y="58"/>
              </a:cxn>
            </a:cxnLst>
            <a:rect l="0" t="0" r="r" b="b"/>
            <a:pathLst>
              <a:path w="640" h="214">
                <a:moveTo>
                  <a:pt x="0" y="58"/>
                </a:moveTo>
                <a:lnTo>
                  <a:pt x="69" y="87"/>
                </a:lnTo>
                <a:lnTo>
                  <a:pt x="123" y="110"/>
                </a:lnTo>
                <a:lnTo>
                  <a:pt x="148" y="120"/>
                </a:lnTo>
                <a:lnTo>
                  <a:pt x="171" y="125"/>
                </a:lnTo>
                <a:lnTo>
                  <a:pt x="192" y="131"/>
                </a:lnTo>
                <a:lnTo>
                  <a:pt x="215" y="133"/>
                </a:lnTo>
                <a:lnTo>
                  <a:pt x="236" y="133"/>
                </a:lnTo>
                <a:lnTo>
                  <a:pt x="259" y="131"/>
                </a:lnTo>
                <a:lnTo>
                  <a:pt x="284" y="125"/>
                </a:lnTo>
                <a:lnTo>
                  <a:pt x="311" y="118"/>
                </a:lnTo>
                <a:lnTo>
                  <a:pt x="342" y="108"/>
                </a:lnTo>
                <a:lnTo>
                  <a:pt x="375" y="95"/>
                </a:lnTo>
                <a:lnTo>
                  <a:pt x="411" y="77"/>
                </a:lnTo>
                <a:lnTo>
                  <a:pt x="454" y="58"/>
                </a:lnTo>
                <a:lnTo>
                  <a:pt x="411" y="0"/>
                </a:lnTo>
                <a:lnTo>
                  <a:pt x="640" y="12"/>
                </a:lnTo>
                <a:lnTo>
                  <a:pt x="532" y="214"/>
                </a:lnTo>
                <a:lnTo>
                  <a:pt x="509" y="154"/>
                </a:lnTo>
                <a:lnTo>
                  <a:pt x="465" y="172"/>
                </a:lnTo>
                <a:lnTo>
                  <a:pt x="421" y="187"/>
                </a:lnTo>
                <a:lnTo>
                  <a:pt x="383" y="197"/>
                </a:lnTo>
                <a:lnTo>
                  <a:pt x="346" y="204"/>
                </a:lnTo>
                <a:lnTo>
                  <a:pt x="309" y="208"/>
                </a:lnTo>
                <a:lnTo>
                  <a:pt x="277" y="208"/>
                </a:lnTo>
                <a:lnTo>
                  <a:pt x="246" y="206"/>
                </a:lnTo>
                <a:lnTo>
                  <a:pt x="217" y="201"/>
                </a:lnTo>
                <a:lnTo>
                  <a:pt x="188" y="191"/>
                </a:lnTo>
                <a:lnTo>
                  <a:pt x="160" y="179"/>
                </a:lnTo>
                <a:lnTo>
                  <a:pt x="133" y="166"/>
                </a:lnTo>
                <a:lnTo>
                  <a:pt x="108" y="149"/>
                </a:lnTo>
                <a:lnTo>
                  <a:pt x="81" y="129"/>
                </a:lnTo>
                <a:lnTo>
                  <a:pt x="54" y="108"/>
                </a:lnTo>
                <a:lnTo>
                  <a:pt x="27" y="83"/>
                </a:lnTo>
                <a:lnTo>
                  <a:pt x="0" y="58"/>
                </a:lnTo>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miter lim="800000"/>
            <a:headEnd type="none" w="med" len="med"/>
            <a:tailEnd type="none" w="med" len="med"/>
          </a:ln>
          <a:effectLst>
            <a:outerShdw dist="52363" dir="4557825" algn="ctr" rotWithShape="0">
              <a:srgbClr val="969696"/>
            </a:outerShdw>
          </a:effectLst>
        </p:spPr>
        <p:txBody>
          <a:bodyPr wrap="none" tIns="27432" bIns="27432" anchor="ctr"/>
          <a:lstStyle/>
          <a:p>
            <a:endParaRPr lang="fr-FR"/>
          </a:p>
        </p:txBody>
      </p:sp>
      <p:pic>
        <p:nvPicPr>
          <p:cNvPr id="363537" name="Picture 17" descr="2272bW04_09b"/>
          <p:cNvPicPr>
            <a:picLocks noChangeAspect="1" noChangeArrowheads="1"/>
          </p:cNvPicPr>
          <p:nvPr/>
        </p:nvPicPr>
        <p:blipFill>
          <a:blip r:embed="rId5"/>
          <a:srcRect/>
          <a:stretch>
            <a:fillRect/>
          </a:stretch>
        </p:blipFill>
        <p:spPr bwMode="auto">
          <a:xfrm>
            <a:off x="3323778" y="2722858"/>
            <a:ext cx="4192587" cy="850900"/>
          </a:xfrm>
          <a:prstGeom prst="rect">
            <a:avLst/>
          </a:prstGeom>
          <a:noFill/>
          <a:ln w="22225">
            <a:solidFill>
              <a:srgbClr val="333399"/>
            </a:solidFill>
            <a:miter lim="800000"/>
            <a:headEnd/>
            <a:tailEnd/>
          </a:ln>
          <a:effectLst>
            <a:outerShdw dist="35921" dir="2700000" algn="ctr" rotWithShape="0">
              <a:srgbClr val="808080"/>
            </a:outerShdw>
          </a:effectLst>
        </p:spPr>
      </p:pic>
      <p:sp>
        <p:nvSpPr>
          <p:cNvPr id="363526" name="Freeform 6"/>
          <p:cNvSpPr>
            <a:spLocks/>
          </p:cNvSpPr>
          <p:nvPr/>
        </p:nvSpPr>
        <p:spPr bwMode="auto">
          <a:xfrm rot="3392823">
            <a:off x="2706240" y="2433933"/>
            <a:ext cx="754063" cy="287337"/>
          </a:xfrm>
          <a:custGeom>
            <a:avLst/>
            <a:gdLst/>
            <a:ahLst/>
            <a:cxnLst>
              <a:cxn ang="0">
                <a:pos x="0" y="58"/>
              </a:cxn>
              <a:cxn ang="0">
                <a:pos x="69" y="87"/>
              </a:cxn>
              <a:cxn ang="0">
                <a:pos x="123" y="110"/>
              </a:cxn>
              <a:cxn ang="0">
                <a:pos x="148" y="120"/>
              </a:cxn>
              <a:cxn ang="0">
                <a:pos x="171" y="125"/>
              </a:cxn>
              <a:cxn ang="0">
                <a:pos x="192" y="131"/>
              </a:cxn>
              <a:cxn ang="0">
                <a:pos x="215" y="133"/>
              </a:cxn>
              <a:cxn ang="0">
                <a:pos x="236" y="133"/>
              </a:cxn>
              <a:cxn ang="0">
                <a:pos x="259" y="131"/>
              </a:cxn>
              <a:cxn ang="0">
                <a:pos x="284" y="125"/>
              </a:cxn>
              <a:cxn ang="0">
                <a:pos x="311" y="118"/>
              </a:cxn>
              <a:cxn ang="0">
                <a:pos x="342" y="108"/>
              </a:cxn>
              <a:cxn ang="0">
                <a:pos x="375" y="95"/>
              </a:cxn>
              <a:cxn ang="0">
                <a:pos x="411" y="77"/>
              </a:cxn>
              <a:cxn ang="0">
                <a:pos x="454" y="58"/>
              </a:cxn>
              <a:cxn ang="0">
                <a:pos x="411" y="0"/>
              </a:cxn>
              <a:cxn ang="0">
                <a:pos x="640" y="12"/>
              </a:cxn>
              <a:cxn ang="0">
                <a:pos x="532" y="214"/>
              </a:cxn>
              <a:cxn ang="0">
                <a:pos x="509" y="154"/>
              </a:cxn>
              <a:cxn ang="0">
                <a:pos x="465" y="172"/>
              </a:cxn>
              <a:cxn ang="0">
                <a:pos x="421" y="187"/>
              </a:cxn>
              <a:cxn ang="0">
                <a:pos x="383" y="197"/>
              </a:cxn>
              <a:cxn ang="0">
                <a:pos x="346" y="204"/>
              </a:cxn>
              <a:cxn ang="0">
                <a:pos x="309" y="208"/>
              </a:cxn>
              <a:cxn ang="0">
                <a:pos x="277" y="208"/>
              </a:cxn>
              <a:cxn ang="0">
                <a:pos x="246" y="206"/>
              </a:cxn>
              <a:cxn ang="0">
                <a:pos x="217" y="201"/>
              </a:cxn>
              <a:cxn ang="0">
                <a:pos x="188" y="191"/>
              </a:cxn>
              <a:cxn ang="0">
                <a:pos x="160" y="179"/>
              </a:cxn>
              <a:cxn ang="0">
                <a:pos x="133" y="166"/>
              </a:cxn>
              <a:cxn ang="0">
                <a:pos x="108" y="149"/>
              </a:cxn>
              <a:cxn ang="0">
                <a:pos x="81" y="129"/>
              </a:cxn>
              <a:cxn ang="0">
                <a:pos x="54" y="108"/>
              </a:cxn>
              <a:cxn ang="0">
                <a:pos x="27" y="83"/>
              </a:cxn>
              <a:cxn ang="0">
                <a:pos x="0" y="58"/>
              </a:cxn>
            </a:cxnLst>
            <a:rect l="0" t="0" r="r" b="b"/>
            <a:pathLst>
              <a:path w="640" h="214">
                <a:moveTo>
                  <a:pt x="0" y="58"/>
                </a:moveTo>
                <a:lnTo>
                  <a:pt x="69" y="87"/>
                </a:lnTo>
                <a:lnTo>
                  <a:pt x="123" y="110"/>
                </a:lnTo>
                <a:lnTo>
                  <a:pt x="148" y="120"/>
                </a:lnTo>
                <a:lnTo>
                  <a:pt x="171" y="125"/>
                </a:lnTo>
                <a:lnTo>
                  <a:pt x="192" y="131"/>
                </a:lnTo>
                <a:lnTo>
                  <a:pt x="215" y="133"/>
                </a:lnTo>
                <a:lnTo>
                  <a:pt x="236" y="133"/>
                </a:lnTo>
                <a:lnTo>
                  <a:pt x="259" y="131"/>
                </a:lnTo>
                <a:lnTo>
                  <a:pt x="284" y="125"/>
                </a:lnTo>
                <a:lnTo>
                  <a:pt x="311" y="118"/>
                </a:lnTo>
                <a:lnTo>
                  <a:pt x="342" y="108"/>
                </a:lnTo>
                <a:lnTo>
                  <a:pt x="375" y="95"/>
                </a:lnTo>
                <a:lnTo>
                  <a:pt x="411" y="77"/>
                </a:lnTo>
                <a:lnTo>
                  <a:pt x="454" y="58"/>
                </a:lnTo>
                <a:lnTo>
                  <a:pt x="411" y="0"/>
                </a:lnTo>
                <a:lnTo>
                  <a:pt x="640" y="12"/>
                </a:lnTo>
                <a:lnTo>
                  <a:pt x="532" y="214"/>
                </a:lnTo>
                <a:lnTo>
                  <a:pt x="509" y="154"/>
                </a:lnTo>
                <a:lnTo>
                  <a:pt x="465" y="172"/>
                </a:lnTo>
                <a:lnTo>
                  <a:pt x="421" y="187"/>
                </a:lnTo>
                <a:lnTo>
                  <a:pt x="383" y="197"/>
                </a:lnTo>
                <a:lnTo>
                  <a:pt x="346" y="204"/>
                </a:lnTo>
                <a:lnTo>
                  <a:pt x="309" y="208"/>
                </a:lnTo>
                <a:lnTo>
                  <a:pt x="277" y="208"/>
                </a:lnTo>
                <a:lnTo>
                  <a:pt x="246" y="206"/>
                </a:lnTo>
                <a:lnTo>
                  <a:pt x="217" y="201"/>
                </a:lnTo>
                <a:lnTo>
                  <a:pt x="188" y="191"/>
                </a:lnTo>
                <a:lnTo>
                  <a:pt x="160" y="179"/>
                </a:lnTo>
                <a:lnTo>
                  <a:pt x="133" y="166"/>
                </a:lnTo>
                <a:lnTo>
                  <a:pt x="108" y="149"/>
                </a:lnTo>
                <a:lnTo>
                  <a:pt x="81" y="129"/>
                </a:lnTo>
                <a:lnTo>
                  <a:pt x="54" y="108"/>
                </a:lnTo>
                <a:lnTo>
                  <a:pt x="27" y="83"/>
                </a:lnTo>
                <a:lnTo>
                  <a:pt x="0" y="58"/>
                </a:lnTo>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miter lim="800000"/>
            <a:headEnd type="none" w="med" len="med"/>
            <a:tailEnd type="none" w="med" len="med"/>
          </a:ln>
          <a:effectLst>
            <a:outerShdw dist="52363" dir="4557825" algn="ctr" rotWithShape="0">
              <a:srgbClr val="969696"/>
            </a:outerShdw>
          </a:effectLst>
        </p:spPr>
        <p:txBody>
          <a:bodyPr wrap="none" tIns="27432" bIns="27432" anchor="ctr"/>
          <a:lstStyle/>
          <a:p>
            <a:endParaRPr lang="fr-FR"/>
          </a:p>
        </p:txBody>
      </p:sp>
      <p:sp>
        <p:nvSpPr>
          <p:cNvPr id="363530" name="Rectangle 10"/>
          <p:cNvSpPr>
            <a:spLocks noChangeArrowheads="1"/>
          </p:cNvSpPr>
          <p:nvPr/>
        </p:nvSpPr>
        <p:spPr bwMode="auto">
          <a:xfrm>
            <a:off x="184424" y="3751558"/>
            <a:ext cx="2565400" cy="482600"/>
          </a:xfrm>
          <a:prstGeom prst="rect">
            <a:avLst/>
          </a:prstGeom>
          <a:solidFill>
            <a:srgbClr val="FFFFFF"/>
          </a:solidFill>
          <a:ln w="28575">
            <a:solidFill>
              <a:srgbClr val="0066FF"/>
            </a:solidFill>
            <a:miter lim="800000"/>
            <a:headEnd/>
            <a:tailEnd/>
          </a:ln>
          <a:effectLst>
            <a:outerShdw dist="53882" dir="2700000" algn="ctr" rotWithShape="0">
              <a:srgbClr val="969696"/>
            </a:outerShdw>
          </a:effectLst>
        </p:spPr>
        <p:txBody>
          <a:bodyPr wrap="none" anchor="ctr"/>
          <a:lstStyle/>
          <a:p>
            <a:r>
              <a:rPr lang="en-US">
                <a:solidFill>
                  <a:schemeClr val="tx1"/>
                </a:solidFill>
                <a:effectLst/>
              </a:rPr>
              <a:t>DiskPart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63524"/>
                                        </p:tgtEl>
                                        <p:attrNameLst>
                                          <p:attrName>style.visibility</p:attrName>
                                        </p:attrNameLst>
                                      </p:cBhvr>
                                      <p:to>
                                        <p:strVal val="visible"/>
                                      </p:to>
                                    </p:set>
                                    <p:animEffect transition="in" filter="checkerboard(across)">
                                      <p:cBhvr>
                                        <p:cTn id="7" dur="500"/>
                                        <p:tgtEl>
                                          <p:spTgt spid="363524"/>
                                        </p:tgtEl>
                                      </p:cBhvr>
                                    </p:animEffect>
                                  </p:childTnLst>
                                </p:cTn>
                              </p:par>
                              <p:par>
                                <p:cTn id="8" presetID="5" presetClass="entr" presetSubtype="10" fill="hold" nodeType="withEffect">
                                  <p:stCondLst>
                                    <p:cond delay="0"/>
                                  </p:stCondLst>
                                  <p:childTnLst>
                                    <p:set>
                                      <p:cBhvr>
                                        <p:cTn id="9" dur="1" fill="hold">
                                          <p:stCondLst>
                                            <p:cond delay="0"/>
                                          </p:stCondLst>
                                        </p:cTn>
                                        <p:tgtEl>
                                          <p:spTgt spid="363533"/>
                                        </p:tgtEl>
                                        <p:attrNameLst>
                                          <p:attrName>style.visibility</p:attrName>
                                        </p:attrNameLst>
                                      </p:cBhvr>
                                      <p:to>
                                        <p:strVal val="visible"/>
                                      </p:to>
                                    </p:set>
                                    <p:animEffect transition="in" filter="checkerboard(across)">
                                      <p:cBhvr>
                                        <p:cTn id="10" dur="500"/>
                                        <p:tgtEl>
                                          <p:spTgt spid="363533"/>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363528"/>
                                        </p:tgtEl>
                                        <p:attrNameLst>
                                          <p:attrName>style.visibility</p:attrName>
                                        </p:attrNameLst>
                                      </p:cBhvr>
                                      <p:to>
                                        <p:strVal val="visible"/>
                                      </p:to>
                                    </p:set>
                                    <p:animEffect transition="in" filter="checkerboard(across)">
                                      <p:cBhvr>
                                        <p:cTn id="13" dur="500"/>
                                        <p:tgtEl>
                                          <p:spTgt spid="363528"/>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363527"/>
                                        </p:tgtEl>
                                        <p:attrNameLst>
                                          <p:attrName>style.visibility</p:attrName>
                                        </p:attrNameLst>
                                      </p:cBhvr>
                                      <p:to>
                                        <p:strVal val="visible"/>
                                      </p:to>
                                    </p:set>
                                    <p:animEffect transition="in" filter="checkerboard(across)">
                                      <p:cBhvr>
                                        <p:cTn id="16" dur="500"/>
                                        <p:tgtEl>
                                          <p:spTgt spid="363527"/>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363539"/>
                                        </p:tgtEl>
                                        <p:attrNameLst>
                                          <p:attrName>style.visibility</p:attrName>
                                        </p:attrNameLst>
                                      </p:cBhvr>
                                      <p:to>
                                        <p:strVal val="visible"/>
                                      </p:to>
                                    </p:set>
                                    <p:animEffect transition="in" filter="checkerboard(across)">
                                      <p:cBhvr>
                                        <p:cTn id="19" dur="500"/>
                                        <p:tgtEl>
                                          <p:spTgt spid="363539"/>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363526"/>
                                        </p:tgtEl>
                                        <p:attrNameLst>
                                          <p:attrName>style.visibility</p:attrName>
                                        </p:attrNameLst>
                                      </p:cBhvr>
                                      <p:to>
                                        <p:strVal val="visible"/>
                                      </p:to>
                                    </p:set>
                                    <p:animEffect transition="in" filter="checkerboard(across)">
                                      <p:cBhvr>
                                        <p:cTn id="24" dur="500"/>
                                        <p:tgtEl>
                                          <p:spTgt spid="363526"/>
                                        </p:tgtEl>
                                      </p:cBhvr>
                                    </p:animEffect>
                                  </p:childTnLst>
                                </p:cTn>
                              </p:par>
                              <p:par>
                                <p:cTn id="25" presetID="5" presetClass="entr" presetSubtype="10" fill="hold" nodeType="withEffect">
                                  <p:stCondLst>
                                    <p:cond delay="0"/>
                                  </p:stCondLst>
                                  <p:childTnLst>
                                    <p:set>
                                      <p:cBhvr>
                                        <p:cTn id="26" dur="1" fill="hold">
                                          <p:stCondLst>
                                            <p:cond delay="0"/>
                                          </p:stCondLst>
                                        </p:cTn>
                                        <p:tgtEl>
                                          <p:spTgt spid="363537"/>
                                        </p:tgtEl>
                                        <p:attrNameLst>
                                          <p:attrName>style.visibility</p:attrName>
                                        </p:attrNameLst>
                                      </p:cBhvr>
                                      <p:to>
                                        <p:strVal val="visible"/>
                                      </p:to>
                                    </p:set>
                                    <p:animEffect transition="in" filter="checkerboard(across)">
                                      <p:cBhvr>
                                        <p:cTn id="27" dur="500"/>
                                        <p:tgtEl>
                                          <p:spTgt spid="363537"/>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63531"/>
                                        </p:tgtEl>
                                        <p:attrNameLst>
                                          <p:attrName>style.visibility</p:attrName>
                                        </p:attrNameLst>
                                      </p:cBhvr>
                                      <p:to>
                                        <p:strVal val="visible"/>
                                      </p:to>
                                    </p:set>
                                    <p:animEffect transition="in" filter="checkerboard(across)">
                                      <p:cBhvr>
                                        <p:cTn id="32" dur="500"/>
                                        <p:tgtEl>
                                          <p:spTgt spid="363531"/>
                                        </p:tgtEl>
                                      </p:cBhvr>
                                    </p:animEffect>
                                  </p:childTnLst>
                                </p:cTn>
                              </p:par>
                              <p:par>
                                <p:cTn id="33" presetID="5" presetClass="entr" presetSubtype="10" fill="hold" grpId="0" nodeType="withEffect">
                                  <p:stCondLst>
                                    <p:cond delay="0"/>
                                  </p:stCondLst>
                                  <p:childTnLst>
                                    <p:set>
                                      <p:cBhvr>
                                        <p:cTn id="34" dur="1" fill="hold">
                                          <p:stCondLst>
                                            <p:cond delay="0"/>
                                          </p:stCondLst>
                                        </p:cTn>
                                        <p:tgtEl>
                                          <p:spTgt spid="363530"/>
                                        </p:tgtEl>
                                        <p:attrNameLst>
                                          <p:attrName>style.visibility</p:attrName>
                                        </p:attrNameLst>
                                      </p:cBhvr>
                                      <p:to>
                                        <p:strVal val="visible"/>
                                      </p:to>
                                    </p:set>
                                    <p:animEffect transition="in" filter="checkerboard(across)">
                                      <p:cBhvr>
                                        <p:cTn id="35" dur="500"/>
                                        <p:tgtEl>
                                          <p:spTgt spid="363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4" grpId="0" animBg="1"/>
      <p:bldP spid="363528" grpId="0" animBg="1"/>
      <p:bldP spid="363539" grpId="0" animBg="1"/>
      <p:bldP spid="363527" grpId="0" animBg="1"/>
      <p:bldP spid="363526" grpId="0" animBg="1"/>
      <p:bldP spid="36353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p:nvPr>
        </p:nvSpPr>
        <p:spPr>
          <a:xfrm>
            <a:off x="301752" y="228600"/>
            <a:ext cx="8534400" cy="658091"/>
          </a:xfrm>
          <a:noFill/>
          <a:ln/>
        </p:spPr>
        <p:txBody>
          <a:bodyPr vert="horz" anchor="b">
            <a:normAutofit/>
          </a:bodyPr>
          <a:lstStyle/>
          <a:p>
            <a:r>
              <a:rPr lang="fr-FR" dirty="0">
                <a:solidFill>
                  <a:srgbClr val="C00000"/>
                </a:solidFill>
              </a:rPr>
              <a:t>Organisation d'un disque dynamique</a:t>
            </a:r>
            <a:endParaRPr lang="en-US" dirty="0">
              <a:solidFill>
                <a:srgbClr val="C00000"/>
              </a:solidFill>
            </a:endParaRPr>
          </a:p>
        </p:txBody>
      </p:sp>
      <p:sp>
        <p:nvSpPr>
          <p:cNvPr id="365572" name="Rectangle 4"/>
          <p:cNvSpPr>
            <a:spLocks noChangeArrowheads="1"/>
          </p:cNvSpPr>
          <p:nvPr/>
        </p:nvSpPr>
        <p:spPr bwMode="auto">
          <a:xfrm>
            <a:off x="158750" y="1389698"/>
            <a:ext cx="8787130" cy="5072062"/>
          </a:xfrm>
          <a:prstGeom prst="rect">
            <a:avLst/>
          </a:prstGeom>
          <a:gradFill rotWithShape="0">
            <a:gsLst>
              <a:gs pos="0">
                <a:srgbClr val="6699FF">
                  <a:gamma/>
                  <a:shade val="46275"/>
                  <a:invGamma/>
                </a:srgbClr>
              </a:gs>
              <a:gs pos="100000">
                <a:srgbClr val="6699FF"/>
              </a:gs>
            </a:gsLst>
            <a:lin ang="0" scaled="1"/>
          </a:gradFill>
          <a:ln w="9525">
            <a:noFill/>
            <a:miter lim="800000"/>
            <a:headEnd/>
            <a:tailEnd/>
          </a:ln>
          <a:effectLst/>
        </p:spPr>
        <p:txBody>
          <a:bodyPr lIns="137160" rIns="45720" anchor="ctr"/>
          <a:lstStyle/>
          <a:p>
            <a:endParaRPr lang="fr-FR" sz="2000">
              <a:effectLst>
                <a:outerShdw blurRad="38100" dist="38100" dir="2700000" algn="tl">
                  <a:srgbClr val="000000"/>
                </a:outerShdw>
              </a:effectLst>
            </a:endParaRPr>
          </a:p>
        </p:txBody>
      </p:sp>
      <p:sp>
        <p:nvSpPr>
          <p:cNvPr id="365575" name="Rectangle 7"/>
          <p:cNvSpPr>
            <a:spLocks noChangeArrowheads="1"/>
          </p:cNvSpPr>
          <p:nvPr/>
        </p:nvSpPr>
        <p:spPr bwMode="auto">
          <a:xfrm>
            <a:off x="320675" y="3063240"/>
            <a:ext cx="2818765" cy="1539240"/>
          </a:xfrm>
          <a:prstGeom prst="rect">
            <a:avLst/>
          </a:prstGeom>
          <a:gradFill rotWithShape="0">
            <a:gsLst>
              <a:gs pos="0">
                <a:srgbClr val="FCFEB9"/>
              </a:gs>
              <a:gs pos="100000">
                <a:srgbClr val="FFCC66"/>
              </a:gs>
            </a:gsLst>
            <a:lin ang="5400000" scaled="1"/>
          </a:gradFill>
          <a:ln w="9525">
            <a:noFill/>
            <a:miter lim="800000"/>
            <a:headEnd/>
            <a:tailEnd/>
          </a:ln>
          <a:effectLst/>
        </p:spPr>
        <p:txBody>
          <a:bodyPr wrap="none"/>
          <a:lstStyle/>
          <a:p>
            <a:r>
              <a:rPr lang="en-US" sz="2200" u="sng">
                <a:solidFill>
                  <a:schemeClr val="tx1"/>
                </a:solidFill>
                <a:effectLst/>
              </a:rPr>
              <a:t>Volume agrégé </a:t>
            </a:r>
            <a:br>
              <a:rPr lang="en-US" sz="2200" u="sng">
                <a:solidFill>
                  <a:schemeClr val="tx1"/>
                </a:solidFill>
                <a:effectLst/>
              </a:rPr>
            </a:br>
            <a:r>
              <a:rPr lang="en-US" sz="2200" u="sng">
                <a:solidFill>
                  <a:schemeClr val="tx1"/>
                </a:solidFill>
                <a:effectLst/>
              </a:rPr>
              <a:t>par bande</a:t>
            </a:r>
          </a:p>
        </p:txBody>
      </p:sp>
      <p:grpSp>
        <p:nvGrpSpPr>
          <p:cNvPr id="365576" name="Group 8"/>
          <p:cNvGrpSpPr>
            <a:grpSpLocks/>
          </p:cNvGrpSpPr>
          <p:nvPr/>
        </p:nvGrpSpPr>
        <p:grpSpPr bwMode="auto">
          <a:xfrm>
            <a:off x="401638" y="3821430"/>
            <a:ext cx="2057400" cy="747713"/>
            <a:chOff x="1322" y="2087"/>
            <a:chExt cx="1036" cy="331"/>
          </a:xfrm>
        </p:grpSpPr>
        <p:grpSp>
          <p:nvGrpSpPr>
            <p:cNvPr id="365577" name="Group 9"/>
            <p:cNvGrpSpPr>
              <a:grpSpLocks/>
            </p:cNvGrpSpPr>
            <p:nvPr/>
          </p:nvGrpSpPr>
          <p:grpSpPr bwMode="auto">
            <a:xfrm>
              <a:off x="1769" y="2114"/>
              <a:ext cx="227" cy="256"/>
              <a:chOff x="3552" y="2832"/>
              <a:chExt cx="330" cy="336"/>
            </a:xfrm>
          </p:grpSpPr>
          <p:sp>
            <p:nvSpPr>
              <p:cNvPr id="365578" name="Rectangle 10"/>
              <p:cNvSpPr>
                <a:spLocks noChangeArrowheads="1"/>
              </p:cNvSpPr>
              <p:nvPr/>
            </p:nvSpPr>
            <p:spPr bwMode="auto">
              <a:xfrm>
                <a:off x="3794" y="2956"/>
                <a:ext cx="88" cy="76"/>
              </a:xfrm>
              <a:prstGeom prst="rect">
                <a:avLst/>
              </a:prstGeom>
              <a:solidFill>
                <a:srgbClr val="D60093"/>
              </a:solidFill>
              <a:ln w="9525">
                <a:solidFill>
                  <a:srgbClr val="D60093"/>
                </a:solidFill>
                <a:miter lim="800000"/>
                <a:headEnd/>
                <a:tailEnd/>
              </a:ln>
              <a:effectLst/>
            </p:spPr>
            <p:txBody>
              <a:bodyPr wrap="none" anchor="ctr"/>
              <a:lstStyle/>
              <a:p>
                <a:endParaRPr lang="fr-FR"/>
              </a:p>
            </p:txBody>
          </p:sp>
          <p:sp>
            <p:nvSpPr>
              <p:cNvPr id="365579" name="AutoShape 11"/>
              <p:cNvSpPr>
                <a:spLocks noChangeArrowheads="1"/>
              </p:cNvSpPr>
              <p:nvPr/>
            </p:nvSpPr>
            <p:spPr bwMode="auto">
              <a:xfrm>
                <a:off x="3552" y="2832"/>
                <a:ext cx="192" cy="144"/>
              </a:xfrm>
              <a:prstGeom prst="leftArrow">
                <a:avLst>
                  <a:gd name="adj1" fmla="val 52778"/>
                  <a:gd name="adj2" fmla="val 56944"/>
                </a:avLst>
              </a:prstGeom>
              <a:solidFill>
                <a:srgbClr val="D60093"/>
              </a:solidFill>
              <a:ln w="9525">
                <a:solidFill>
                  <a:srgbClr val="D60093"/>
                </a:solidFill>
                <a:miter lim="800000"/>
                <a:headEnd/>
                <a:tailEnd/>
              </a:ln>
              <a:effectLst/>
            </p:spPr>
            <p:txBody>
              <a:bodyPr wrap="none" anchor="ctr"/>
              <a:lstStyle/>
              <a:p>
                <a:endParaRPr lang="fr-FR"/>
              </a:p>
            </p:txBody>
          </p:sp>
          <p:sp>
            <p:nvSpPr>
              <p:cNvPr id="365580" name="AutoShape 12"/>
              <p:cNvSpPr>
                <a:spLocks noChangeArrowheads="1"/>
              </p:cNvSpPr>
              <p:nvPr/>
            </p:nvSpPr>
            <p:spPr bwMode="auto">
              <a:xfrm>
                <a:off x="3552" y="3024"/>
                <a:ext cx="192" cy="144"/>
              </a:xfrm>
              <a:prstGeom prst="leftArrow">
                <a:avLst>
                  <a:gd name="adj1" fmla="val 52778"/>
                  <a:gd name="adj2" fmla="val 56944"/>
                </a:avLst>
              </a:prstGeom>
              <a:solidFill>
                <a:srgbClr val="D60093"/>
              </a:solidFill>
              <a:ln w="9525">
                <a:solidFill>
                  <a:srgbClr val="D60093"/>
                </a:solidFill>
                <a:miter lim="800000"/>
                <a:headEnd/>
                <a:tailEnd/>
              </a:ln>
              <a:effectLst/>
            </p:spPr>
            <p:txBody>
              <a:bodyPr wrap="none" anchor="ctr"/>
              <a:lstStyle/>
              <a:p>
                <a:endParaRPr lang="fr-FR"/>
              </a:p>
            </p:txBody>
          </p:sp>
          <p:sp>
            <p:nvSpPr>
              <p:cNvPr id="365581" name="Rectangle 13"/>
              <p:cNvSpPr>
                <a:spLocks noChangeArrowheads="1"/>
              </p:cNvSpPr>
              <p:nvPr/>
            </p:nvSpPr>
            <p:spPr bwMode="auto">
              <a:xfrm>
                <a:off x="3742" y="2866"/>
                <a:ext cx="58" cy="268"/>
              </a:xfrm>
              <a:prstGeom prst="rect">
                <a:avLst/>
              </a:prstGeom>
              <a:solidFill>
                <a:srgbClr val="D60093"/>
              </a:solidFill>
              <a:ln w="9525">
                <a:solidFill>
                  <a:srgbClr val="D60093"/>
                </a:solidFill>
                <a:miter lim="800000"/>
                <a:headEnd/>
                <a:tailEnd/>
              </a:ln>
              <a:effectLst/>
            </p:spPr>
            <p:txBody>
              <a:bodyPr wrap="none" anchor="ctr"/>
              <a:lstStyle/>
              <a:p>
                <a:endParaRPr lang="fr-FR"/>
              </a:p>
            </p:txBody>
          </p:sp>
        </p:grpSp>
        <p:grpSp>
          <p:nvGrpSpPr>
            <p:cNvPr id="365582" name="Group 14"/>
            <p:cNvGrpSpPr>
              <a:grpSpLocks/>
            </p:cNvGrpSpPr>
            <p:nvPr/>
          </p:nvGrpSpPr>
          <p:grpSpPr bwMode="auto">
            <a:xfrm>
              <a:off x="1322" y="2087"/>
              <a:ext cx="435" cy="331"/>
              <a:chOff x="1758" y="1212"/>
              <a:chExt cx="494" cy="376"/>
            </a:xfrm>
          </p:grpSpPr>
          <p:grpSp>
            <p:nvGrpSpPr>
              <p:cNvPr id="365583" name="Group 15"/>
              <p:cNvGrpSpPr>
                <a:grpSpLocks/>
              </p:cNvGrpSpPr>
              <p:nvPr/>
            </p:nvGrpSpPr>
            <p:grpSpPr bwMode="auto">
              <a:xfrm>
                <a:off x="1758" y="1350"/>
                <a:ext cx="494" cy="238"/>
                <a:chOff x="2995" y="3707"/>
                <a:chExt cx="828" cy="398"/>
              </a:xfrm>
            </p:grpSpPr>
            <p:sp>
              <p:nvSpPr>
                <p:cNvPr id="365584" name="Freeform 16"/>
                <p:cNvSpPr>
                  <a:spLocks/>
                </p:cNvSpPr>
                <p:nvPr/>
              </p:nvSpPr>
              <p:spPr bwMode="auto">
                <a:xfrm>
                  <a:off x="2995" y="3707"/>
                  <a:ext cx="825" cy="313"/>
                </a:xfrm>
                <a:custGeom>
                  <a:avLst/>
                  <a:gdLst/>
                  <a:ahLst/>
                  <a:cxnLst>
                    <a:cxn ang="0">
                      <a:pos x="0" y="174"/>
                    </a:cxn>
                    <a:cxn ang="0">
                      <a:pos x="708" y="0"/>
                    </a:cxn>
                    <a:cxn ang="0">
                      <a:pos x="1569" y="315"/>
                    </a:cxn>
                    <a:cxn ang="0">
                      <a:pos x="666" y="582"/>
                    </a:cxn>
                    <a:cxn ang="0">
                      <a:pos x="0" y="174"/>
                    </a:cxn>
                  </a:cxnLst>
                  <a:rect l="0" t="0" r="r" b="b"/>
                  <a:pathLst>
                    <a:path w="1570" h="583">
                      <a:moveTo>
                        <a:pt x="0" y="174"/>
                      </a:moveTo>
                      <a:lnTo>
                        <a:pt x="708" y="0"/>
                      </a:lnTo>
                      <a:lnTo>
                        <a:pt x="1569" y="315"/>
                      </a:lnTo>
                      <a:lnTo>
                        <a:pt x="666" y="582"/>
                      </a:lnTo>
                      <a:lnTo>
                        <a:pt x="0" y="174"/>
                      </a:lnTo>
                    </a:path>
                  </a:pathLst>
                </a:custGeom>
                <a:gradFill rotWithShape="0">
                  <a:gsLst>
                    <a:gs pos="0">
                      <a:srgbClr val="FCEEC6">
                        <a:gamma/>
                        <a:tint val="43922"/>
                        <a:invGamma/>
                      </a:srgbClr>
                    </a:gs>
                    <a:gs pos="100000">
                      <a:srgbClr val="FCEEC6"/>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365585" name="Oval 17"/>
                <p:cNvSpPr>
                  <a:spLocks noChangeArrowheads="1"/>
                </p:cNvSpPr>
                <p:nvPr/>
              </p:nvSpPr>
              <p:spPr bwMode="auto">
                <a:xfrm>
                  <a:off x="3243" y="3827"/>
                  <a:ext cx="412" cy="150"/>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586" name="Line 18"/>
                <p:cNvSpPr>
                  <a:spLocks noChangeShapeType="1"/>
                </p:cNvSpPr>
                <p:nvPr/>
              </p:nvSpPr>
              <p:spPr bwMode="auto">
                <a:xfrm>
                  <a:off x="3364" y="3714"/>
                  <a:ext cx="0" cy="63"/>
                </a:xfrm>
                <a:prstGeom prst="line">
                  <a:avLst/>
                </a:prstGeom>
                <a:noFill/>
                <a:ln w="3175">
                  <a:solidFill>
                    <a:schemeClr val="tx1"/>
                  </a:solidFill>
                  <a:round/>
                  <a:headEnd/>
                  <a:tailEnd/>
                </a:ln>
                <a:effectLst/>
              </p:spPr>
              <p:txBody>
                <a:bodyPr wrap="none" anchor="ctr"/>
                <a:lstStyle/>
                <a:p>
                  <a:endParaRPr lang="fr-FR"/>
                </a:p>
              </p:txBody>
            </p:sp>
            <p:sp>
              <p:nvSpPr>
                <p:cNvPr id="365587" name="Freeform 19"/>
                <p:cNvSpPr>
                  <a:spLocks/>
                </p:cNvSpPr>
                <p:nvPr/>
              </p:nvSpPr>
              <p:spPr bwMode="auto">
                <a:xfrm>
                  <a:off x="3072" y="3792"/>
                  <a:ext cx="188" cy="131"/>
                </a:xfrm>
                <a:custGeom>
                  <a:avLst/>
                  <a:gdLst/>
                  <a:ahLst/>
                  <a:cxnLst>
                    <a:cxn ang="0">
                      <a:pos x="0" y="18"/>
                    </a:cxn>
                    <a:cxn ang="0">
                      <a:pos x="0" y="108"/>
                    </a:cxn>
                    <a:cxn ang="0">
                      <a:pos x="222" y="243"/>
                    </a:cxn>
                    <a:cxn ang="0">
                      <a:pos x="357" y="138"/>
                    </a:cxn>
                    <a:cxn ang="0">
                      <a:pos x="357" y="0"/>
                    </a:cxn>
                  </a:cxnLst>
                  <a:rect l="0" t="0" r="r" b="b"/>
                  <a:pathLst>
                    <a:path w="358" h="244">
                      <a:moveTo>
                        <a:pt x="0" y="18"/>
                      </a:moveTo>
                      <a:lnTo>
                        <a:pt x="0" y="108"/>
                      </a:lnTo>
                      <a:lnTo>
                        <a:pt x="222" y="243"/>
                      </a:lnTo>
                      <a:lnTo>
                        <a:pt x="357" y="138"/>
                      </a:lnTo>
                      <a:lnTo>
                        <a:pt x="357" y="0"/>
                      </a:lnTo>
                    </a:path>
                  </a:pathLst>
                </a:custGeom>
                <a:solidFill>
                  <a:srgbClr val="74A9D0"/>
                </a:solidFill>
                <a:ln w="3175" cap="rnd" cmpd="sng">
                  <a:solidFill>
                    <a:schemeClr val="tx1"/>
                  </a:solidFill>
                  <a:prstDash val="solid"/>
                  <a:round/>
                  <a:headEnd type="none" w="med" len="med"/>
                  <a:tailEnd type="none" w="med" len="med"/>
                </a:ln>
                <a:effectLst/>
              </p:spPr>
              <p:txBody>
                <a:bodyPr/>
                <a:lstStyle/>
                <a:p>
                  <a:endParaRPr lang="fr-FR"/>
                </a:p>
              </p:txBody>
            </p:sp>
            <p:sp>
              <p:nvSpPr>
                <p:cNvPr id="365588" name="Line 20"/>
                <p:cNvSpPr>
                  <a:spLocks noChangeShapeType="1"/>
                </p:cNvSpPr>
                <p:nvPr/>
              </p:nvSpPr>
              <p:spPr bwMode="auto">
                <a:xfrm>
                  <a:off x="3187" y="3873"/>
                  <a:ext cx="0" cy="41"/>
                </a:xfrm>
                <a:prstGeom prst="line">
                  <a:avLst/>
                </a:prstGeom>
                <a:noFill/>
                <a:ln w="3175">
                  <a:solidFill>
                    <a:schemeClr val="tx1"/>
                  </a:solidFill>
                  <a:round/>
                  <a:headEnd/>
                  <a:tailEnd/>
                </a:ln>
                <a:effectLst/>
              </p:spPr>
              <p:txBody>
                <a:bodyPr wrap="none" anchor="ctr"/>
                <a:lstStyle/>
                <a:p>
                  <a:endParaRPr lang="fr-FR"/>
                </a:p>
              </p:txBody>
            </p:sp>
            <p:sp>
              <p:nvSpPr>
                <p:cNvPr id="365589" name="Oval 21"/>
                <p:cNvSpPr>
                  <a:spLocks noChangeArrowheads="1"/>
                </p:cNvSpPr>
                <p:nvPr/>
              </p:nvSpPr>
              <p:spPr bwMode="auto">
                <a:xfrm>
                  <a:off x="3243" y="3806"/>
                  <a:ext cx="412" cy="150"/>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590" name="Oval 22"/>
                <p:cNvSpPr>
                  <a:spLocks noChangeArrowheads="1"/>
                </p:cNvSpPr>
                <p:nvPr/>
              </p:nvSpPr>
              <p:spPr bwMode="auto">
                <a:xfrm>
                  <a:off x="3243" y="3783"/>
                  <a:ext cx="412" cy="150"/>
                </a:xfrm>
                <a:prstGeom prst="ellipse">
                  <a:avLst/>
                </a:prstGeom>
                <a:solidFill>
                  <a:schemeClr val="bg1"/>
                </a:solidFill>
                <a:ln w="3175">
                  <a:solidFill>
                    <a:schemeClr val="tx1"/>
                  </a:solidFill>
                  <a:round/>
                  <a:headEnd/>
                  <a:tailEnd/>
                </a:ln>
                <a:effectLst/>
              </p:spPr>
              <p:txBody>
                <a:bodyPr wrap="none" anchor="ctr"/>
                <a:lstStyle/>
                <a:p>
                  <a:endParaRPr lang="fr-FR"/>
                </a:p>
              </p:txBody>
            </p:sp>
            <p:sp>
              <p:nvSpPr>
                <p:cNvPr id="365591" name="Oval 23"/>
                <p:cNvSpPr>
                  <a:spLocks noChangeArrowheads="1"/>
                </p:cNvSpPr>
                <p:nvPr/>
              </p:nvSpPr>
              <p:spPr bwMode="auto">
                <a:xfrm>
                  <a:off x="3401" y="3839"/>
                  <a:ext cx="99" cy="35"/>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592" name="Freeform 24"/>
                <p:cNvSpPr>
                  <a:spLocks/>
                </p:cNvSpPr>
                <p:nvPr/>
              </p:nvSpPr>
              <p:spPr bwMode="auto">
                <a:xfrm>
                  <a:off x="3094" y="3783"/>
                  <a:ext cx="360" cy="45"/>
                </a:xfrm>
                <a:custGeom>
                  <a:avLst/>
                  <a:gdLst/>
                  <a:ahLst/>
                  <a:cxnLst>
                    <a:cxn ang="0">
                      <a:pos x="0" y="57"/>
                    </a:cxn>
                    <a:cxn ang="0">
                      <a:pos x="111" y="84"/>
                    </a:cxn>
                    <a:cxn ang="0">
                      <a:pos x="683" y="60"/>
                    </a:cxn>
                    <a:cxn ang="0">
                      <a:pos x="135" y="0"/>
                    </a:cxn>
                    <a:cxn ang="0">
                      <a:pos x="0" y="57"/>
                    </a:cxn>
                  </a:cxnLst>
                  <a:rect l="0" t="0" r="r" b="b"/>
                  <a:pathLst>
                    <a:path w="684" h="85">
                      <a:moveTo>
                        <a:pt x="0" y="57"/>
                      </a:moveTo>
                      <a:lnTo>
                        <a:pt x="111" y="84"/>
                      </a:lnTo>
                      <a:lnTo>
                        <a:pt x="683" y="60"/>
                      </a:lnTo>
                      <a:lnTo>
                        <a:pt x="135" y="0"/>
                      </a:lnTo>
                      <a:lnTo>
                        <a:pt x="0" y="57"/>
                      </a:lnTo>
                    </a:path>
                  </a:pathLst>
                </a:custGeom>
                <a:solidFill>
                  <a:schemeClr val="tx1"/>
                </a:solidFill>
                <a:ln w="6350" cap="rnd" cmpd="sng">
                  <a:solidFill>
                    <a:schemeClr val="tx1"/>
                  </a:solidFill>
                  <a:prstDash val="solid"/>
                  <a:round/>
                  <a:headEnd type="none" w="med" len="med"/>
                  <a:tailEnd type="none" w="med" len="med"/>
                </a:ln>
                <a:effectLst/>
              </p:spPr>
              <p:txBody>
                <a:bodyPr/>
                <a:lstStyle/>
                <a:p>
                  <a:endParaRPr lang="fr-FR"/>
                </a:p>
              </p:txBody>
            </p:sp>
            <p:sp>
              <p:nvSpPr>
                <p:cNvPr id="365593" name="Line 25"/>
                <p:cNvSpPr>
                  <a:spLocks noChangeShapeType="1"/>
                </p:cNvSpPr>
                <p:nvPr/>
              </p:nvSpPr>
              <p:spPr bwMode="auto">
                <a:xfrm flipH="1" flipV="1">
                  <a:off x="3653" y="3893"/>
                  <a:ext cx="72" cy="30"/>
                </a:xfrm>
                <a:prstGeom prst="line">
                  <a:avLst/>
                </a:prstGeom>
                <a:noFill/>
                <a:ln w="3175">
                  <a:solidFill>
                    <a:schemeClr val="tx1"/>
                  </a:solidFill>
                  <a:round/>
                  <a:headEnd/>
                  <a:tailEnd/>
                </a:ln>
                <a:effectLst/>
              </p:spPr>
              <p:txBody>
                <a:bodyPr wrap="none" anchor="ctr"/>
                <a:lstStyle/>
                <a:p>
                  <a:endParaRPr lang="fr-FR"/>
                </a:p>
              </p:txBody>
            </p:sp>
            <p:sp>
              <p:nvSpPr>
                <p:cNvPr id="365594" name="Freeform 26" descr="Newsprint"/>
                <p:cNvSpPr>
                  <a:spLocks/>
                </p:cNvSpPr>
                <p:nvPr/>
              </p:nvSpPr>
              <p:spPr bwMode="auto">
                <a:xfrm>
                  <a:off x="2997" y="3802"/>
                  <a:ext cx="826" cy="303"/>
                </a:xfrm>
                <a:custGeom>
                  <a:avLst/>
                  <a:gdLst/>
                  <a:ahLst/>
                  <a:cxnLst>
                    <a:cxn ang="0">
                      <a:pos x="0" y="0"/>
                    </a:cxn>
                    <a:cxn ang="0">
                      <a:pos x="663" y="396"/>
                    </a:cxn>
                    <a:cxn ang="0">
                      <a:pos x="1572" y="135"/>
                    </a:cxn>
                    <a:cxn ang="0">
                      <a:pos x="1572" y="279"/>
                    </a:cxn>
                    <a:cxn ang="0">
                      <a:pos x="672" y="564"/>
                    </a:cxn>
                    <a:cxn ang="0">
                      <a:pos x="0" y="162"/>
                    </a:cxn>
                    <a:cxn ang="0">
                      <a:pos x="0" y="0"/>
                    </a:cxn>
                  </a:cxnLst>
                  <a:rect l="0" t="0" r="r" b="b"/>
                  <a:pathLst>
                    <a:path w="1573" h="565">
                      <a:moveTo>
                        <a:pt x="0" y="0"/>
                      </a:moveTo>
                      <a:lnTo>
                        <a:pt x="663" y="396"/>
                      </a:lnTo>
                      <a:lnTo>
                        <a:pt x="1572" y="135"/>
                      </a:lnTo>
                      <a:lnTo>
                        <a:pt x="1572" y="279"/>
                      </a:lnTo>
                      <a:lnTo>
                        <a:pt x="672" y="564"/>
                      </a:lnTo>
                      <a:lnTo>
                        <a:pt x="0" y="162"/>
                      </a:lnTo>
                      <a:lnTo>
                        <a:pt x="0" y="0"/>
                      </a:lnTo>
                    </a:path>
                  </a:pathLst>
                </a:custGeom>
                <a:blipFill dpi="0" rotWithShape="0">
                  <a:blip r:embed="rId3"/>
                  <a:srcRect/>
                  <a:tile tx="0" ty="0" sx="100000" sy="100000" flip="none" algn="tl"/>
                </a:blipFill>
                <a:ln w="3175" cap="rnd" cmpd="sng">
                  <a:solidFill>
                    <a:schemeClr val="tx1"/>
                  </a:solidFill>
                  <a:prstDash val="solid"/>
                  <a:round/>
                  <a:headEnd type="none" w="med" len="med"/>
                  <a:tailEnd type="none" w="med" len="med"/>
                </a:ln>
                <a:effectLst/>
              </p:spPr>
              <p:txBody>
                <a:bodyPr/>
                <a:lstStyle/>
                <a:p>
                  <a:endParaRPr lang="fr-FR"/>
                </a:p>
              </p:txBody>
            </p:sp>
            <p:sp>
              <p:nvSpPr>
                <p:cNvPr id="365595" name="Freeform 27"/>
                <p:cNvSpPr>
                  <a:spLocks/>
                </p:cNvSpPr>
                <p:nvPr/>
              </p:nvSpPr>
              <p:spPr bwMode="auto">
                <a:xfrm>
                  <a:off x="3094" y="3776"/>
                  <a:ext cx="360" cy="46"/>
                </a:xfrm>
                <a:custGeom>
                  <a:avLst/>
                  <a:gdLst/>
                  <a:ahLst/>
                  <a:cxnLst>
                    <a:cxn ang="0">
                      <a:pos x="0" y="57"/>
                    </a:cxn>
                    <a:cxn ang="0">
                      <a:pos x="111" y="84"/>
                    </a:cxn>
                    <a:cxn ang="0">
                      <a:pos x="683" y="60"/>
                    </a:cxn>
                    <a:cxn ang="0">
                      <a:pos x="135" y="0"/>
                    </a:cxn>
                    <a:cxn ang="0">
                      <a:pos x="0" y="57"/>
                    </a:cxn>
                  </a:cxnLst>
                  <a:rect l="0" t="0" r="r" b="b"/>
                  <a:pathLst>
                    <a:path w="684" h="85">
                      <a:moveTo>
                        <a:pt x="0" y="57"/>
                      </a:moveTo>
                      <a:lnTo>
                        <a:pt x="111" y="84"/>
                      </a:lnTo>
                      <a:lnTo>
                        <a:pt x="683" y="60"/>
                      </a:lnTo>
                      <a:lnTo>
                        <a:pt x="135" y="0"/>
                      </a:lnTo>
                      <a:lnTo>
                        <a:pt x="0" y="57"/>
                      </a:lnTo>
                    </a:path>
                  </a:pathLst>
                </a:custGeom>
                <a:solidFill>
                  <a:srgbClr val="A9A9A9"/>
                </a:solidFill>
                <a:ln w="3175" cap="rnd" cmpd="sng">
                  <a:solidFill>
                    <a:schemeClr val="tx1"/>
                  </a:solidFill>
                  <a:prstDash val="solid"/>
                  <a:round/>
                  <a:headEnd type="none" w="med" len="med"/>
                  <a:tailEnd type="none" w="med" len="med"/>
                </a:ln>
                <a:effectLst/>
              </p:spPr>
              <p:txBody>
                <a:bodyPr/>
                <a:lstStyle/>
                <a:p>
                  <a:endParaRPr lang="fr-FR"/>
                </a:p>
              </p:txBody>
            </p:sp>
            <p:sp>
              <p:nvSpPr>
                <p:cNvPr id="365596" name="Freeform 28"/>
                <p:cNvSpPr>
                  <a:spLocks/>
                </p:cNvSpPr>
                <p:nvPr/>
              </p:nvSpPr>
              <p:spPr bwMode="auto">
                <a:xfrm>
                  <a:off x="3074" y="3767"/>
                  <a:ext cx="188" cy="103"/>
                </a:xfrm>
                <a:custGeom>
                  <a:avLst/>
                  <a:gdLst/>
                  <a:ahLst/>
                  <a:cxnLst>
                    <a:cxn ang="0">
                      <a:pos x="0" y="57"/>
                    </a:cxn>
                    <a:cxn ang="0">
                      <a:pos x="42" y="132"/>
                    </a:cxn>
                    <a:cxn ang="0">
                      <a:pos x="207" y="192"/>
                    </a:cxn>
                    <a:cxn ang="0">
                      <a:pos x="357" y="48"/>
                    </a:cxn>
                    <a:cxn ang="0">
                      <a:pos x="228" y="0"/>
                    </a:cxn>
                    <a:cxn ang="0">
                      <a:pos x="0" y="57"/>
                    </a:cxn>
                  </a:cxnLst>
                  <a:rect l="0" t="0" r="r" b="b"/>
                  <a:pathLst>
                    <a:path w="358" h="193">
                      <a:moveTo>
                        <a:pt x="0" y="57"/>
                      </a:moveTo>
                      <a:lnTo>
                        <a:pt x="42" y="132"/>
                      </a:lnTo>
                      <a:lnTo>
                        <a:pt x="207" y="192"/>
                      </a:lnTo>
                      <a:lnTo>
                        <a:pt x="357" y="48"/>
                      </a:lnTo>
                      <a:lnTo>
                        <a:pt x="228" y="0"/>
                      </a:lnTo>
                      <a:lnTo>
                        <a:pt x="0" y="5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grpSp>
          <p:grpSp>
            <p:nvGrpSpPr>
              <p:cNvPr id="365597" name="Group 29"/>
              <p:cNvGrpSpPr>
                <a:grpSpLocks/>
              </p:cNvGrpSpPr>
              <p:nvPr/>
            </p:nvGrpSpPr>
            <p:grpSpPr bwMode="auto">
              <a:xfrm>
                <a:off x="1758" y="1212"/>
                <a:ext cx="494" cy="238"/>
                <a:chOff x="2995" y="3707"/>
                <a:chExt cx="828" cy="398"/>
              </a:xfrm>
            </p:grpSpPr>
            <p:sp>
              <p:nvSpPr>
                <p:cNvPr id="365598" name="Freeform 30"/>
                <p:cNvSpPr>
                  <a:spLocks/>
                </p:cNvSpPr>
                <p:nvPr/>
              </p:nvSpPr>
              <p:spPr bwMode="auto">
                <a:xfrm>
                  <a:off x="2995" y="3707"/>
                  <a:ext cx="825" cy="313"/>
                </a:xfrm>
                <a:custGeom>
                  <a:avLst/>
                  <a:gdLst/>
                  <a:ahLst/>
                  <a:cxnLst>
                    <a:cxn ang="0">
                      <a:pos x="0" y="174"/>
                    </a:cxn>
                    <a:cxn ang="0">
                      <a:pos x="708" y="0"/>
                    </a:cxn>
                    <a:cxn ang="0">
                      <a:pos x="1569" y="315"/>
                    </a:cxn>
                    <a:cxn ang="0">
                      <a:pos x="666" y="582"/>
                    </a:cxn>
                    <a:cxn ang="0">
                      <a:pos x="0" y="174"/>
                    </a:cxn>
                  </a:cxnLst>
                  <a:rect l="0" t="0" r="r" b="b"/>
                  <a:pathLst>
                    <a:path w="1570" h="583">
                      <a:moveTo>
                        <a:pt x="0" y="174"/>
                      </a:moveTo>
                      <a:lnTo>
                        <a:pt x="708" y="0"/>
                      </a:lnTo>
                      <a:lnTo>
                        <a:pt x="1569" y="315"/>
                      </a:lnTo>
                      <a:lnTo>
                        <a:pt x="666" y="582"/>
                      </a:lnTo>
                      <a:lnTo>
                        <a:pt x="0" y="174"/>
                      </a:lnTo>
                    </a:path>
                  </a:pathLst>
                </a:custGeom>
                <a:gradFill rotWithShape="0">
                  <a:gsLst>
                    <a:gs pos="0">
                      <a:srgbClr val="FCEEC6">
                        <a:gamma/>
                        <a:tint val="43922"/>
                        <a:invGamma/>
                      </a:srgbClr>
                    </a:gs>
                    <a:gs pos="100000">
                      <a:srgbClr val="FCEEC6"/>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365599" name="Oval 31"/>
                <p:cNvSpPr>
                  <a:spLocks noChangeArrowheads="1"/>
                </p:cNvSpPr>
                <p:nvPr/>
              </p:nvSpPr>
              <p:spPr bwMode="auto">
                <a:xfrm>
                  <a:off x="3243" y="3827"/>
                  <a:ext cx="412" cy="150"/>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600" name="Line 32"/>
                <p:cNvSpPr>
                  <a:spLocks noChangeShapeType="1"/>
                </p:cNvSpPr>
                <p:nvPr/>
              </p:nvSpPr>
              <p:spPr bwMode="auto">
                <a:xfrm>
                  <a:off x="3364" y="3714"/>
                  <a:ext cx="0" cy="63"/>
                </a:xfrm>
                <a:prstGeom prst="line">
                  <a:avLst/>
                </a:prstGeom>
                <a:noFill/>
                <a:ln w="3175">
                  <a:solidFill>
                    <a:schemeClr val="tx1"/>
                  </a:solidFill>
                  <a:round/>
                  <a:headEnd/>
                  <a:tailEnd/>
                </a:ln>
                <a:effectLst/>
              </p:spPr>
              <p:txBody>
                <a:bodyPr wrap="none" anchor="ctr"/>
                <a:lstStyle/>
                <a:p>
                  <a:endParaRPr lang="fr-FR"/>
                </a:p>
              </p:txBody>
            </p:sp>
            <p:sp>
              <p:nvSpPr>
                <p:cNvPr id="365601" name="Freeform 33"/>
                <p:cNvSpPr>
                  <a:spLocks/>
                </p:cNvSpPr>
                <p:nvPr/>
              </p:nvSpPr>
              <p:spPr bwMode="auto">
                <a:xfrm>
                  <a:off x="3072" y="3792"/>
                  <a:ext cx="188" cy="131"/>
                </a:xfrm>
                <a:custGeom>
                  <a:avLst/>
                  <a:gdLst/>
                  <a:ahLst/>
                  <a:cxnLst>
                    <a:cxn ang="0">
                      <a:pos x="0" y="18"/>
                    </a:cxn>
                    <a:cxn ang="0">
                      <a:pos x="0" y="108"/>
                    </a:cxn>
                    <a:cxn ang="0">
                      <a:pos x="222" y="243"/>
                    </a:cxn>
                    <a:cxn ang="0">
                      <a:pos x="357" y="138"/>
                    </a:cxn>
                    <a:cxn ang="0">
                      <a:pos x="357" y="0"/>
                    </a:cxn>
                  </a:cxnLst>
                  <a:rect l="0" t="0" r="r" b="b"/>
                  <a:pathLst>
                    <a:path w="358" h="244">
                      <a:moveTo>
                        <a:pt x="0" y="18"/>
                      </a:moveTo>
                      <a:lnTo>
                        <a:pt x="0" y="108"/>
                      </a:lnTo>
                      <a:lnTo>
                        <a:pt x="222" y="243"/>
                      </a:lnTo>
                      <a:lnTo>
                        <a:pt x="357" y="138"/>
                      </a:lnTo>
                      <a:lnTo>
                        <a:pt x="357" y="0"/>
                      </a:lnTo>
                    </a:path>
                  </a:pathLst>
                </a:custGeom>
                <a:solidFill>
                  <a:srgbClr val="74A9D0"/>
                </a:solidFill>
                <a:ln w="3175" cap="rnd" cmpd="sng">
                  <a:solidFill>
                    <a:schemeClr val="tx1"/>
                  </a:solidFill>
                  <a:prstDash val="solid"/>
                  <a:round/>
                  <a:headEnd type="none" w="med" len="med"/>
                  <a:tailEnd type="none" w="med" len="med"/>
                </a:ln>
                <a:effectLst/>
              </p:spPr>
              <p:txBody>
                <a:bodyPr/>
                <a:lstStyle/>
                <a:p>
                  <a:endParaRPr lang="fr-FR"/>
                </a:p>
              </p:txBody>
            </p:sp>
            <p:sp>
              <p:nvSpPr>
                <p:cNvPr id="365602" name="Line 34"/>
                <p:cNvSpPr>
                  <a:spLocks noChangeShapeType="1"/>
                </p:cNvSpPr>
                <p:nvPr/>
              </p:nvSpPr>
              <p:spPr bwMode="auto">
                <a:xfrm>
                  <a:off x="3187" y="3873"/>
                  <a:ext cx="0" cy="41"/>
                </a:xfrm>
                <a:prstGeom prst="line">
                  <a:avLst/>
                </a:prstGeom>
                <a:noFill/>
                <a:ln w="3175">
                  <a:solidFill>
                    <a:schemeClr val="tx1"/>
                  </a:solidFill>
                  <a:round/>
                  <a:headEnd/>
                  <a:tailEnd/>
                </a:ln>
                <a:effectLst/>
              </p:spPr>
              <p:txBody>
                <a:bodyPr wrap="none" anchor="ctr"/>
                <a:lstStyle/>
                <a:p>
                  <a:endParaRPr lang="fr-FR"/>
                </a:p>
              </p:txBody>
            </p:sp>
            <p:sp>
              <p:nvSpPr>
                <p:cNvPr id="365603" name="Oval 35"/>
                <p:cNvSpPr>
                  <a:spLocks noChangeArrowheads="1"/>
                </p:cNvSpPr>
                <p:nvPr/>
              </p:nvSpPr>
              <p:spPr bwMode="auto">
                <a:xfrm>
                  <a:off x="3243" y="3806"/>
                  <a:ext cx="412" cy="150"/>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604" name="Oval 36"/>
                <p:cNvSpPr>
                  <a:spLocks noChangeArrowheads="1"/>
                </p:cNvSpPr>
                <p:nvPr/>
              </p:nvSpPr>
              <p:spPr bwMode="auto">
                <a:xfrm>
                  <a:off x="3243" y="3783"/>
                  <a:ext cx="412" cy="150"/>
                </a:xfrm>
                <a:prstGeom prst="ellipse">
                  <a:avLst/>
                </a:prstGeom>
                <a:solidFill>
                  <a:schemeClr val="bg1"/>
                </a:solidFill>
                <a:ln w="3175">
                  <a:solidFill>
                    <a:schemeClr val="tx1"/>
                  </a:solidFill>
                  <a:round/>
                  <a:headEnd/>
                  <a:tailEnd/>
                </a:ln>
                <a:effectLst/>
              </p:spPr>
              <p:txBody>
                <a:bodyPr wrap="none" anchor="ctr"/>
                <a:lstStyle/>
                <a:p>
                  <a:endParaRPr lang="fr-FR"/>
                </a:p>
              </p:txBody>
            </p:sp>
            <p:sp>
              <p:nvSpPr>
                <p:cNvPr id="365605" name="Oval 37"/>
                <p:cNvSpPr>
                  <a:spLocks noChangeArrowheads="1"/>
                </p:cNvSpPr>
                <p:nvPr/>
              </p:nvSpPr>
              <p:spPr bwMode="auto">
                <a:xfrm>
                  <a:off x="3401" y="3839"/>
                  <a:ext cx="99" cy="35"/>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606" name="Freeform 38"/>
                <p:cNvSpPr>
                  <a:spLocks/>
                </p:cNvSpPr>
                <p:nvPr/>
              </p:nvSpPr>
              <p:spPr bwMode="auto">
                <a:xfrm>
                  <a:off x="3094" y="3783"/>
                  <a:ext cx="360" cy="45"/>
                </a:xfrm>
                <a:custGeom>
                  <a:avLst/>
                  <a:gdLst/>
                  <a:ahLst/>
                  <a:cxnLst>
                    <a:cxn ang="0">
                      <a:pos x="0" y="57"/>
                    </a:cxn>
                    <a:cxn ang="0">
                      <a:pos x="111" y="84"/>
                    </a:cxn>
                    <a:cxn ang="0">
                      <a:pos x="683" y="60"/>
                    </a:cxn>
                    <a:cxn ang="0">
                      <a:pos x="135" y="0"/>
                    </a:cxn>
                    <a:cxn ang="0">
                      <a:pos x="0" y="57"/>
                    </a:cxn>
                  </a:cxnLst>
                  <a:rect l="0" t="0" r="r" b="b"/>
                  <a:pathLst>
                    <a:path w="684" h="85">
                      <a:moveTo>
                        <a:pt x="0" y="57"/>
                      </a:moveTo>
                      <a:lnTo>
                        <a:pt x="111" y="84"/>
                      </a:lnTo>
                      <a:lnTo>
                        <a:pt x="683" y="60"/>
                      </a:lnTo>
                      <a:lnTo>
                        <a:pt x="135" y="0"/>
                      </a:lnTo>
                      <a:lnTo>
                        <a:pt x="0" y="57"/>
                      </a:lnTo>
                    </a:path>
                  </a:pathLst>
                </a:custGeom>
                <a:solidFill>
                  <a:schemeClr val="tx1"/>
                </a:solidFill>
                <a:ln w="6350" cap="rnd" cmpd="sng">
                  <a:solidFill>
                    <a:schemeClr val="tx1"/>
                  </a:solidFill>
                  <a:prstDash val="solid"/>
                  <a:round/>
                  <a:headEnd type="none" w="med" len="med"/>
                  <a:tailEnd type="none" w="med" len="med"/>
                </a:ln>
                <a:effectLst/>
              </p:spPr>
              <p:txBody>
                <a:bodyPr/>
                <a:lstStyle/>
                <a:p>
                  <a:endParaRPr lang="fr-FR"/>
                </a:p>
              </p:txBody>
            </p:sp>
            <p:sp>
              <p:nvSpPr>
                <p:cNvPr id="365607" name="Line 39"/>
                <p:cNvSpPr>
                  <a:spLocks noChangeShapeType="1"/>
                </p:cNvSpPr>
                <p:nvPr/>
              </p:nvSpPr>
              <p:spPr bwMode="auto">
                <a:xfrm flipH="1" flipV="1">
                  <a:off x="3653" y="3893"/>
                  <a:ext cx="72" cy="30"/>
                </a:xfrm>
                <a:prstGeom prst="line">
                  <a:avLst/>
                </a:prstGeom>
                <a:noFill/>
                <a:ln w="3175">
                  <a:solidFill>
                    <a:schemeClr val="tx1"/>
                  </a:solidFill>
                  <a:round/>
                  <a:headEnd/>
                  <a:tailEnd/>
                </a:ln>
                <a:effectLst/>
              </p:spPr>
              <p:txBody>
                <a:bodyPr wrap="none" anchor="ctr"/>
                <a:lstStyle/>
                <a:p>
                  <a:endParaRPr lang="fr-FR"/>
                </a:p>
              </p:txBody>
            </p:sp>
            <p:sp>
              <p:nvSpPr>
                <p:cNvPr id="365608" name="Freeform 40" descr="Newsprint"/>
                <p:cNvSpPr>
                  <a:spLocks/>
                </p:cNvSpPr>
                <p:nvPr/>
              </p:nvSpPr>
              <p:spPr bwMode="auto">
                <a:xfrm>
                  <a:off x="2997" y="3802"/>
                  <a:ext cx="826" cy="303"/>
                </a:xfrm>
                <a:custGeom>
                  <a:avLst/>
                  <a:gdLst/>
                  <a:ahLst/>
                  <a:cxnLst>
                    <a:cxn ang="0">
                      <a:pos x="0" y="0"/>
                    </a:cxn>
                    <a:cxn ang="0">
                      <a:pos x="663" y="396"/>
                    </a:cxn>
                    <a:cxn ang="0">
                      <a:pos x="1572" y="135"/>
                    </a:cxn>
                    <a:cxn ang="0">
                      <a:pos x="1572" y="279"/>
                    </a:cxn>
                    <a:cxn ang="0">
                      <a:pos x="672" y="564"/>
                    </a:cxn>
                    <a:cxn ang="0">
                      <a:pos x="0" y="162"/>
                    </a:cxn>
                    <a:cxn ang="0">
                      <a:pos x="0" y="0"/>
                    </a:cxn>
                  </a:cxnLst>
                  <a:rect l="0" t="0" r="r" b="b"/>
                  <a:pathLst>
                    <a:path w="1573" h="565">
                      <a:moveTo>
                        <a:pt x="0" y="0"/>
                      </a:moveTo>
                      <a:lnTo>
                        <a:pt x="663" y="396"/>
                      </a:lnTo>
                      <a:lnTo>
                        <a:pt x="1572" y="135"/>
                      </a:lnTo>
                      <a:lnTo>
                        <a:pt x="1572" y="279"/>
                      </a:lnTo>
                      <a:lnTo>
                        <a:pt x="672" y="564"/>
                      </a:lnTo>
                      <a:lnTo>
                        <a:pt x="0" y="162"/>
                      </a:lnTo>
                      <a:lnTo>
                        <a:pt x="0" y="0"/>
                      </a:lnTo>
                    </a:path>
                  </a:pathLst>
                </a:custGeom>
                <a:blipFill dpi="0" rotWithShape="0">
                  <a:blip r:embed="rId3"/>
                  <a:srcRect/>
                  <a:tile tx="0" ty="0" sx="100000" sy="100000" flip="none" algn="tl"/>
                </a:blipFill>
                <a:ln w="3175" cap="rnd" cmpd="sng">
                  <a:solidFill>
                    <a:schemeClr val="tx1"/>
                  </a:solidFill>
                  <a:prstDash val="solid"/>
                  <a:round/>
                  <a:headEnd type="none" w="med" len="med"/>
                  <a:tailEnd type="none" w="med" len="med"/>
                </a:ln>
                <a:effectLst/>
              </p:spPr>
              <p:txBody>
                <a:bodyPr/>
                <a:lstStyle/>
                <a:p>
                  <a:endParaRPr lang="fr-FR"/>
                </a:p>
              </p:txBody>
            </p:sp>
            <p:sp>
              <p:nvSpPr>
                <p:cNvPr id="365609" name="Freeform 41"/>
                <p:cNvSpPr>
                  <a:spLocks/>
                </p:cNvSpPr>
                <p:nvPr/>
              </p:nvSpPr>
              <p:spPr bwMode="auto">
                <a:xfrm>
                  <a:off x="3094" y="3776"/>
                  <a:ext cx="360" cy="46"/>
                </a:xfrm>
                <a:custGeom>
                  <a:avLst/>
                  <a:gdLst/>
                  <a:ahLst/>
                  <a:cxnLst>
                    <a:cxn ang="0">
                      <a:pos x="0" y="57"/>
                    </a:cxn>
                    <a:cxn ang="0">
                      <a:pos x="111" y="84"/>
                    </a:cxn>
                    <a:cxn ang="0">
                      <a:pos x="683" y="60"/>
                    </a:cxn>
                    <a:cxn ang="0">
                      <a:pos x="135" y="0"/>
                    </a:cxn>
                    <a:cxn ang="0">
                      <a:pos x="0" y="57"/>
                    </a:cxn>
                  </a:cxnLst>
                  <a:rect l="0" t="0" r="r" b="b"/>
                  <a:pathLst>
                    <a:path w="684" h="85">
                      <a:moveTo>
                        <a:pt x="0" y="57"/>
                      </a:moveTo>
                      <a:lnTo>
                        <a:pt x="111" y="84"/>
                      </a:lnTo>
                      <a:lnTo>
                        <a:pt x="683" y="60"/>
                      </a:lnTo>
                      <a:lnTo>
                        <a:pt x="135" y="0"/>
                      </a:lnTo>
                      <a:lnTo>
                        <a:pt x="0" y="57"/>
                      </a:lnTo>
                    </a:path>
                  </a:pathLst>
                </a:custGeom>
                <a:solidFill>
                  <a:srgbClr val="A9A9A9"/>
                </a:solidFill>
                <a:ln w="3175" cap="rnd" cmpd="sng">
                  <a:solidFill>
                    <a:schemeClr val="tx1"/>
                  </a:solidFill>
                  <a:prstDash val="solid"/>
                  <a:round/>
                  <a:headEnd type="none" w="med" len="med"/>
                  <a:tailEnd type="none" w="med" len="med"/>
                </a:ln>
                <a:effectLst/>
              </p:spPr>
              <p:txBody>
                <a:bodyPr/>
                <a:lstStyle/>
                <a:p>
                  <a:endParaRPr lang="fr-FR"/>
                </a:p>
              </p:txBody>
            </p:sp>
            <p:sp>
              <p:nvSpPr>
                <p:cNvPr id="365610" name="Freeform 42"/>
                <p:cNvSpPr>
                  <a:spLocks/>
                </p:cNvSpPr>
                <p:nvPr/>
              </p:nvSpPr>
              <p:spPr bwMode="auto">
                <a:xfrm>
                  <a:off x="3074" y="3767"/>
                  <a:ext cx="188" cy="103"/>
                </a:xfrm>
                <a:custGeom>
                  <a:avLst/>
                  <a:gdLst/>
                  <a:ahLst/>
                  <a:cxnLst>
                    <a:cxn ang="0">
                      <a:pos x="0" y="57"/>
                    </a:cxn>
                    <a:cxn ang="0">
                      <a:pos x="42" y="132"/>
                    </a:cxn>
                    <a:cxn ang="0">
                      <a:pos x="207" y="192"/>
                    </a:cxn>
                    <a:cxn ang="0">
                      <a:pos x="357" y="48"/>
                    </a:cxn>
                    <a:cxn ang="0">
                      <a:pos x="228" y="0"/>
                    </a:cxn>
                    <a:cxn ang="0">
                      <a:pos x="0" y="57"/>
                    </a:cxn>
                  </a:cxnLst>
                  <a:rect l="0" t="0" r="r" b="b"/>
                  <a:pathLst>
                    <a:path w="358" h="193">
                      <a:moveTo>
                        <a:pt x="0" y="57"/>
                      </a:moveTo>
                      <a:lnTo>
                        <a:pt x="42" y="132"/>
                      </a:lnTo>
                      <a:lnTo>
                        <a:pt x="207" y="192"/>
                      </a:lnTo>
                      <a:lnTo>
                        <a:pt x="357" y="48"/>
                      </a:lnTo>
                      <a:lnTo>
                        <a:pt x="228" y="0"/>
                      </a:lnTo>
                      <a:lnTo>
                        <a:pt x="0" y="5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grpSp>
        </p:grpSp>
        <p:sp>
          <p:nvSpPr>
            <p:cNvPr id="365611" name="AutoShape 43"/>
            <p:cNvSpPr>
              <a:spLocks noChangeArrowheads="1"/>
            </p:cNvSpPr>
            <p:nvPr/>
          </p:nvSpPr>
          <p:spPr bwMode="auto">
            <a:xfrm>
              <a:off x="2004" y="2150"/>
              <a:ext cx="354" cy="178"/>
            </a:xfrm>
            <a:prstGeom prst="can">
              <a:avLst>
                <a:gd name="adj" fmla="val 50000"/>
              </a:avLst>
            </a:prstGeom>
            <a:gradFill rotWithShape="0">
              <a:gsLst>
                <a:gs pos="0">
                  <a:srgbClr val="FF9900">
                    <a:gamma/>
                    <a:shade val="66275"/>
                    <a:invGamma/>
                  </a:srgbClr>
                </a:gs>
                <a:gs pos="50000">
                  <a:srgbClr val="FF9900"/>
                </a:gs>
                <a:gs pos="100000">
                  <a:srgbClr val="FF9900">
                    <a:gamma/>
                    <a:shade val="66275"/>
                    <a:invGamma/>
                  </a:srgbClr>
                </a:gs>
              </a:gsLst>
              <a:lin ang="0" scaled="1"/>
            </a:gradFill>
            <a:ln w="3175" cap="rnd">
              <a:solidFill>
                <a:srgbClr val="000000"/>
              </a:solidFill>
              <a:round/>
              <a:headEnd/>
              <a:tailEnd/>
            </a:ln>
            <a:effectLst/>
          </p:spPr>
          <p:txBody>
            <a:bodyPr tIns="228600" anchor="ctr"/>
            <a:lstStyle/>
            <a:p>
              <a:endParaRPr lang="fr-FR" sz="1600" b="0">
                <a:solidFill>
                  <a:schemeClr val="bg1"/>
                </a:solidFill>
                <a:effectLst>
                  <a:outerShdw blurRad="38100" dist="38100" dir="2700000" algn="tl">
                    <a:srgbClr val="000000"/>
                  </a:outerShdw>
                </a:effectLst>
              </a:endParaRPr>
            </a:p>
          </p:txBody>
        </p:sp>
      </p:grpSp>
      <p:sp>
        <p:nvSpPr>
          <p:cNvPr id="365613" name="Rectangle 45"/>
          <p:cNvSpPr>
            <a:spLocks noChangeArrowheads="1"/>
          </p:cNvSpPr>
          <p:nvPr/>
        </p:nvSpPr>
        <p:spPr bwMode="auto">
          <a:xfrm>
            <a:off x="320675" y="1534160"/>
            <a:ext cx="2818765" cy="1366838"/>
          </a:xfrm>
          <a:prstGeom prst="rect">
            <a:avLst/>
          </a:prstGeom>
          <a:gradFill rotWithShape="0">
            <a:gsLst>
              <a:gs pos="0">
                <a:srgbClr val="FCFEB9"/>
              </a:gs>
              <a:gs pos="100000">
                <a:srgbClr val="FFCC66"/>
              </a:gs>
            </a:gsLst>
            <a:lin ang="5400000" scaled="1"/>
          </a:gradFill>
          <a:ln w="9525">
            <a:noFill/>
            <a:miter lim="800000"/>
            <a:headEnd/>
            <a:tailEnd/>
          </a:ln>
          <a:effectLst/>
        </p:spPr>
        <p:txBody>
          <a:bodyPr wrap="none"/>
          <a:lstStyle/>
          <a:p>
            <a:r>
              <a:rPr lang="en-US" sz="2200" u="sng" dirty="0">
                <a:solidFill>
                  <a:schemeClr val="tx1"/>
                </a:solidFill>
                <a:effectLst/>
              </a:rPr>
              <a:t>Volume simple</a:t>
            </a:r>
          </a:p>
        </p:txBody>
      </p:sp>
      <p:grpSp>
        <p:nvGrpSpPr>
          <p:cNvPr id="365614" name="Group 46"/>
          <p:cNvGrpSpPr>
            <a:grpSpLocks/>
          </p:cNvGrpSpPr>
          <p:nvPr/>
        </p:nvGrpSpPr>
        <p:grpSpPr bwMode="auto">
          <a:xfrm>
            <a:off x="493713" y="2096135"/>
            <a:ext cx="1797050" cy="581025"/>
            <a:chOff x="407" y="2096"/>
            <a:chExt cx="751" cy="206"/>
          </a:xfrm>
        </p:grpSpPr>
        <p:sp>
          <p:nvSpPr>
            <p:cNvPr id="365615" name="AutoShape 47"/>
            <p:cNvSpPr>
              <a:spLocks noChangeArrowheads="1"/>
            </p:cNvSpPr>
            <p:nvPr/>
          </p:nvSpPr>
          <p:spPr bwMode="auto">
            <a:xfrm>
              <a:off x="804" y="2105"/>
              <a:ext cx="354" cy="178"/>
            </a:xfrm>
            <a:prstGeom prst="can">
              <a:avLst>
                <a:gd name="adj" fmla="val 50000"/>
              </a:avLst>
            </a:prstGeom>
            <a:gradFill rotWithShape="0">
              <a:gsLst>
                <a:gs pos="0">
                  <a:srgbClr val="FF9900">
                    <a:gamma/>
                    <a:shade val="66275"/>
                    <a:invGamma/>
                  </a:srgbClr>
                </a:gs>
                <a:gs pos="50000">
                  <a:srgbClr val="FF9900"/>
                </a:gs>
                <a:gs pos="100000">
                  <a:srgbClr val="FF9900">
                    <a:gamma/>
                    <a:shade val="66275"/>
                    <a:invGamma/>
                  </a:srgbClr>
                </a:gs>
              </a:gsLst>
              <a:lin ang="0" scaled="1"/>
            </a:gradFill>
            <a:ln w="3175" cap="rnd">
              <a:solidFill>
                <a:srgbClr val="000000"/>
              </a:solidFill>
              <a:round/>
              <a:headEnd/>
              <a:tailEnd/>
            </a:ln>
            <a:effectLst/>
          </p:spPr>
          <p:txBody>
            <a:bodyPr tIns="228600" anchor="ctr"/>
            <a:lstStyle/>
            <a:p>
              <a:endParaRPr lang="fr-FR" sz="1400">
                <a:solidFill>
                  <a:schemeClr val="bg1"/>
                </a:solidFill>
                <a:effectLst>
                  <a:outerShdw blurRad="38100" dist="38100" dir="2700000" algn="tl">
                    <a:srgbClr val="000000"/>
                  </a:outerShdw>
                </a:effectLst>
              </a:endParaRPr>
            </a:p>
          </p:txBody>
        </p:sp>
        <p:grpSp>
          <p:nvGrpSpPr>
            <p:cNvPr id="365616" name="Group 48"/>
            <p:cNvGrpSpPr>
              <a:grpSpLocks/>
            </p:cNvGrpSpPr>
            <p:nvPr/>
          </p:nvGrpSpPr>
          <p:grpSpPr bwMode="auto">
            <a:xfrm>
              <a:off x="407" y="2096"/>
              <a:ext cx="428" cy="206"/>
              <a:chOff x="2995" y="3707"/>
              <a:chExt cx="828" cy="398"/>
            </a:xfrm>
          </p:grpSpPr>
          <p:sp>
            <p:nvSpPr>
              <p:cNvPr id="365617" name="Freeform 49"/>
              <p:cNvSpPr>
                <a:spLocks/>
              </p:cNvSpPr>
              <p:nvPr/>
            </p:nvSpPr>
            <p:spPr bwMode="auto">
              <a:xfrm>
                <a:off x="2995" y="3707"/>
                <a:ext cx="825" cy="313"/>
              </a:xfrm>
              <a:custGeom>
                <a:avLst/>
                <a:gdLst/>
                <a:ahLst/>
                <a:cxnLst>
                  <a:cxn ang="0">
                    <a:pos x="0" y="174"/>
                  </a:cxn>
                  <a:cxn ang="0">
                    <a:pos x="708" y="0"/>
                  </a:cxn>
                  <a:cxn ang="0">
                    <a:pos x="1569" y="315"/>
                  </a:cxn>
                  <a:cxn ang="0">
                    <a:pos x="666" y="582"/>
                  </a:cxn>
                  <a:cxn ang="0">
                    <a:pos x="0" y="174"/>
                  </a:cxn>
                </a:cxnLst>
                <a:rect l="0" t="0" r="r" b="b"/>
                <a:pathLst>
                  <a:path w="1570" h="583">
                    <a:moveTo>
                      <a:pt x="0" y="174"/>
                    </a:moveTo>
                    <a:lnTo>
                      <a:pt x="708" y="0"/>
                    </a:lnTo>
                    <a:lnTo>
                      <a:pt x="1569" y="315"/>
                    </a:lnTo>
                    <a:lnTo>
                      <a:pt x="666" y="582"/>
                    </a:lnTo>
                    <a:lnTo>
                      <a:pt x="0" y="174"/>
                    </a:lnTo>
                  </a:path>
                </a:pathLst>
              </a:custGeom>
              <a:gradFill rotWithShape="0">
                <a:gsLst>
                  <a:gs pos="0">
                    <a:srgbClr val="FCEEC6">
                      <a:gamma/>
                      <a:tint val="43922"/>
                      <a:invGamma/>
                    </a:srgbClr>
                  </a:gs>
                  <a:gs pos="100000">
                    <a:srgbClr val="FCEEC6"/>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365618" name="Oval 50"/>
              <p:cNvSpPr>
                <a:spLocks noChangeArrowheads="1"/>
              </p:cNvSpPr>
              <p:nvPr/>
            </p:nvSpPr>
            <p:spPr bwMode="auto">
              <a:xfrm>
                <a:off x="3243" y="3827"/>
                <a:ext cx="412" cy="150"/>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619" name="Line 51"/>
              <p:cNvSpPr>
                <a:spLocks noChangeShapeType="1"/>
              </p:cNvSpPr>
              <p:nvPr/>
            </p:nvSpPr>
            <p:spPr bwMode="auto">
              <a:xfrm>
                <a:off x="3364" y="3714"/>
                <a:ext cx="0" cy="63"/>
              </a:xfrm>
              <a:prstGeom prst="line">
                <a:avLst/>
              </a:prstGeom>
              <a:noFill/>
              <a:ln w="3175">
                <a:solidFill>
                  <a:schemeClr val="tx1"/>
                </a:solidFill>
                <a:round/>
                <a:headEnd/>
                <a:tailEnd/>
              </a:ln>
              <a:effectLst/>
            </p:spPr>
            <p:txBody>
              <a:bodyPr wrap="none" anchor="ctr"/>
              <a:lstStyle/>
              <a:p>
                <a:endParaRPr lang="fr-FR"/>
              </a:p>
            </p:txBody>
          </p:sp>
          <p:sp>
            <p:nvSpPr>
              <p:cNvPr id="365620" name="Freeform 52"/>
              <p:cNvSpPr>
                <a:spLocks/>
              </p:cNvSpPr>
              <p:nvPr/>
            </p:nvSpPr>
            <p:spPr bwMode="auto">
              <a:xfrm>
                <a:off x="3072" y="3792"/>
                <a:ext cx="188" cy="131"/>
              </a:xfrm>
              <a:custGeom>
                <a:avLst/>
                <a:gdLst/>
                <a:ahLst/>
                <a:cxnLst>
                  <a:cxn ang="0">
                    <a:pos x="0" y="18"/>
                  </a:cxn>
                  <a:cxn ang="0">
                    <a:pos x="0" y="108"/>
                  </a:cxn>
                  <a:cxn ang="0">
                    <a:pos x="222" y="243"/>
                  </a:cxn>
                  <a:cxn ang="0">
                    <a:pos x="357" y="138"/>
                  </a:cxn>
                  <a:cxn ang="0">
                    <a:pos x="357" y="0"/>
                  </a:cxn>
                </a:cxnLst>
                <a:rect l="0" t="0" r="r" b="b"/>
                <a:pathLst>
                  <a:path w="358" h="244">
                    <a:moveTo>
                      <a:pt x="0" y="18"/>
                    </a:moveTo>
                    <a:lnTo>
                      <a:pt x="0" y="108"/>
                    </a:lnTo>
                    <a:lnTo>
                      <a:pt x="222" y="243"/>
                    </a:lnTo>
                    <a:lnTo>
                      <a:pt x="357" y="138"/>
                    </a:lnTo>
                    <a:lnTo>
                      <a:pt x="357" y="0"/>
                    </a:lnTo>
                  </a:path>
                </a:pathLst>
              </a:custGeom>
              <a:solidFill>
                <a:srgbClr val="74A9D0"/>
              </a:solidFill>
              <a:ln w="3175" cap="rnd" cmpd="sng">
                <a:solidFill>
                  <a:schemeClr val="tx1"/>
                </a:solidFill>
                <a:prstDash val="solid"/>
                <a:round/>
                <a:headEnd type="none" w="med" len="med"/>
                <a:tailEnd type="none" w="med" len="med"/>
              </a:ln>
              <a:effectLst/>
            </p:spPr>
            <p:txBody>
              <a:bodyPr/>
              <a:lstStyle/>
              <a:p>
                <a:endParaRPr lang="fr-FR"/>
              </a:p>
            </p:txBody>
          </p:sp>
          <p:sp>
            <p:nvSpPr>
              <p:cNvPr id="365621" name="Line 53"/>
              <p:cNvSpPr>
                <a:spLocks noChangeShapeType="1"/>
              </p:cNvSpPr>
              <p:nvPr/>
            </p:nvSpPr>
            <p:spPr bwMode="auto">
              <a:xfrm>
                <a:off x="3187" y="3873"/>
                <a:ext cx="0" cy="41"/>
              </a:xfrm>
              <a:prstGeom prst="line">
                <a:avLst/>
              </a:prstGeom>
              <a:noFill/>
              <a:ln w="3175">
                <a:solidFill>
                  <a:schemeClr val="tx1"/>
                </a:solidFill>
                <a:round/>
                <a:headEnd/>
                <a:tailEnd/>
              </a:ln>
              <a:effectLst/>
            </p:spPr>
            <p:txBody>
              <a:bodyPr wrap="none" anchor="ctr"/>
              <a:lstStyle/>
              <a:p>
                <a:endParaRPr lang="fr-FR"/>
              </a:p>
            </p:txBody>
          </p:sp>
          <p:sp>
            <p:nvSpPr>
              <p:cNvPr id="365622" name="Oval 54"/>
              <p:cNvSpPr>
                <a:spLocks noChangeArrowheads="1"/>
              </p:cNvSpPr>
              <p:nvPr/>
            </p:nvSpPr>
            <p:spPr bwMode="auto">
              <a:xfrm>
                <a:off x="3243" y="3806"/>
                <a:ext cx="412" cy="150"/>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623" name="Oval 55"/>
              <p:cNvSpPr>
                <a:spLocks noChangeArrowheads="1"/>
              </p:cNvSpPr>
              <p:nvPr/>
            </p:nvSpPr>
            <p:spPr bwMode="auto">
              <a:xfrm>
                <a:off x="3243" y="3783"/>
                <a:ext cx="412" cy="150"/>
              </a:xfrm>
              <a:prstGeom prst="ellipse">
                <a:avLst/>
              </a:prstGeom>
              <a:solidFill>
                <a:schemeClr val="bg1"/>
              </a:solidFill>
              <a:ln w="3175">
                <a:solidFill>
                  <a:schemeClr val="tx1"/>
                </a:solidFill>
                <a:round/>
                <a:headEnd/>
                <a:tailEnd/>
              </a:ln>
              <a:effectLst/>
            </p:spPr>
            <p:txBody>
              <a:bodyPr wrap="none" anchor="ctr"/>
              <a:lstStyle/>
              <a:p>
                <a:endParaRPr lang="fr-FR"/>
              </a:p>
            </p:txBody>
          </p:sp>
          <p:sp>
            <p:nvSpPr>
              <p:cNvPr id="365624" name="Oval 56"/>
              <p:cNvSpPr>
                <a:spLocks noChangeArrowheads="1"/>
              </p:cNvSpPr>
              <p:nvPr/>
            </p:nvSpPr>
            <p:spPr bwMode="auto">
              <a:xfrm>
                <a:off x="3401" y="3839"/>
                <a:ext cx="99" cy="35"/>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625" name="Freeform 57"/>
              <p:cNvSpPr>
                <a:spLocks/>
              </p:cNvSpPr>
              <p:nvPr/>
            </p:nvSpPr>
            <p:spPr bwMode="auto">
              <a:xfrm>
                <a:off x="3094" y="3783"/>
                <a:ext cx="360" cy="45"/>
              </a:xfrm>
              <a:custGeom>
                <a:avLst/>
                <a:gdLst/>
                <a:ahLst/>
                <a:cxnLst>
                  <a:cxn ang="0">
                    <a:pos x="0" y="57"/>
                  </a:cxn>
                  <a:cxn ang="0">
                    <a:pos x="111" y="84"/>
                  </a:cxn>
                  <a:cxn ang="0">
                    <a:pos x="683" y="60"/>
                  </a:cxn>
                  <a:cxn ang="0">
                    <a:pos x="135" y="0"/>
                  </a:cxn>
                  <a:cxn ang="0">
                    <a:pos x="0" y="57"/>
                  </a:cxn>
                </a:cxnLst>
                <a:rect l="0" t="0" r="r" b="b"/>
                <a:pathLst>
                  <a:path w="684" h="85">
                    <a:moveTo>
                      <a:pt x="0" y="57"/>
                    </a:moveTo>
                    <a:lnTo>
                      <a:pt x="111" y="84"/>
                    </a:lnTo>
                    <a:lnTo>
                      <a:pt x="683" y="60"/>
                    </a:lnTo>
                    <a:lnTo>
                      <a:pt x="135" y="0"/>
                    </a:lnTo>
                    <a:lnTo>
                      <a:pt x="0" y="57"/>
                    </a:lnTo>
                  </a:path>
                </a:pathLst>
              </a:custGeom>
              <a:solidFill>
                <a:schemeClr val="tx1"/>
              </a:solidFill>
              <a:ln w="6350" cap="rnd" cmpd="sng">
                <a:solidFill>
                  <a:schemeClr val="tx1"/>
                </a:solidFill>
                <a:prstDash val="solid"/>
                <a:round/>
                <a:headEnd type="none" w="med" len="med"/>
                <a:tailEnd type="none" w="med" len="med"/>
              </a:ln>
              <a:effectLst/>
            </p:spPr>
            <p:txBody>
              <a:bodyPr/>
              <a:lstStyle/>
              <a:p>
                <a:endParaRPr lang="fr-FR"/>
              </a:p>
            </p:txBody>
          </p:sp>
          <p:sp>
            <p:nvSpPr>
              <p:cNvPr id="365626" name="Line 58"/>
              <p:cNvSpPr>
                <a:spLocks noChangeShapeType="1"/>
              </p:cNvSpPr>
              <p:nvPr/>
            </p:nvSpPr>
            <p:spPr bwMode="auto">
              <a:xfrm flipH="1" flipV="1">
                <a:off x="3653" y="3893"/>
                <a:ext cx="72" cy="30"/>
              </a:xfrm>
              <a:prstGeom prst="line">
                <a:avLst/>
              </a:prstGeom>
              <a:noFill/>
              <a:ln w="3175">
                <a:solidFill>
                  <a:schemeClr val="tx1"/>
                </a:solidFill>
                <a:round/>
                <a:headEnd/>
                <a:tailEnd/>
              </a:ln>
              <a:effectLst/>
            </p:spPr>
            <p:txBody>
              <a:bodyPr wrap="none" anchor="ctr"/>
              <a:lstStyle/>
              <a:p>
                <a:endParaRPr lang="fr-FR"/>
              </a:p>
            </p:txBody>
          </p:sp>
          <p:sp>
            <p:nvSpPr>
              <p:cNvPr id="365627" name="Freeform 59" descr="Newsprint"/>
              <p:cNvSpPr>
                <a:spLocks/>
              </p:cNvSpPr>
              <p:nvPr/>
            </p:nvSpPr>
            <p:spPr bwMode="auto">
              <a:xfrm>
                <a:off x="2997" y="3802"/>
                <a:ext cx="826" cy="303"/>
              </a:xfrm>
              <a:custGeom>
                <a:avLst/>
                <a:gdLst/>
                <a:ahLst/>
                <a:cxnLst>
                  <a:cxn ang="0">
                    <a:pos x="0" y="0"/>
                  </a:cxn>
                  <a:cxn ang="0">
                    <a:pos x="663" y="396"/>
                  </a:cxn>
                  <a:cxn ang="0">
                    <a:pos x="1572" y="135"/>
                  </a:cxn>
                  <a:cxn ang="0">
                    <a:pos x="1572" y="279"/>
                  </a:cxn>
                  <a:cxn ang="0">
                    <a:pos x="672" y="564"/>
                  </a:cxn>
                  <a:cxn ang="0">
                    <a:pos x="0" y="162"/>
                  </a:cxn>
                  <a:cxn ang="0">
                    <a:pos x="0" y="0"/>
                  </a:cxn>
                </a:cxnLst>
                <a:rect l="0" t="0" r="r" b="b"/>
                <a:pathLst>
                  <a:path w="1573" h="565">
                    <a:moveTo>
                      <a:pt x="0" y="0"/>
                    </a:moveTo>
                    <a:lnTo>
                      <a:pt x="663" y="396"/>
                    </a:lnTo>
                    <a:lnTo>
                      <a:pt x="1572" y="135"/>
                    </a:lnTo>
                    <a:lnTo>
                      <a:pt x="1572" y="279"/>
                    </a:lnTo>
                    <a:lnTo>
                      <a:pt x="672" y="564"/>
                    </a:lnTo>
                    <a:lnTo>
                      <a:pt x="0" y="162"/>
                    </a:lnTo>
                    <a:lnTo>
                      <a:pt x="0" y="0"/>
                    </a:lnTo>
                  </a:path>
                </a:pathLst>
              </a:custGeom>
              <a:blipFill dpi="0" rotWithShape="0">
                <a:blip r:embed="rId3"/>
                <a:srcRect/>
                <a:tile tx="0" ty="0" sx="100000" sy="100000" flip="none" algn="tl"/>
              </a:blipFill>
              <a:ln w="3175" cap="rnd" cmpd="sng">
                <a:solidFill>
                  <a:schemeClr val="tx1"/>
                </a:solidFill>
                <a:prstDash val="solid"/>
                <a:round/>
                <a:headEnd type="none" w="med" len="med"/>
                <a:tailEnd type="none" w="med" len="med"/>
              </a:ln>
              <a:effectLst/>
            </p:spPr>
            <p:txBody>
              <a:bodyPr/>
              <a:lstStyle/>
              <a:p>
                <a:endParaRPr lang="fr-FR"/>
              </a:p>
            </p:txBody>
          </p:sp>
          <p:sp>
            <p:nvSpPr>
              <p:cNvPr id="365628" name="Freeform 60"/>
              <p:cNvSpPr>
                <a:spLocks/>
              </p:cNvSpPr>
              <p:nvPr/>
            </p:nvSpPr>
            <p:spPr bwMode="auto">
              <a:xfrm>
                <a:off x="3094" y="3776"/>
                <a:ext cx="360" cy="46"/>
              </a:xfrm>
              <a:custGeom>
                <a:avLst/>
                <a:gdLst/>
                <a:ahLst/>
                <a:cxnLst>
                  <a:cxn ang="0">
                    <a:pos x="0" y="57"/>
                  </a:cxn>
                  <a:cxn ang="0">
                    <a:pos x="111" y="84"/>
                  </a:cxn>
                  <a:cxn ang="0">
                    <a:pos x="683" y="60"/>
                  </a:cxn>
                  <a:cxn ang="0">
                    <a:pos x="135" y="0"/>
                  </a:cxn>
                  <a:cxn ang="0">
                    <a:pos x="0" y="57"/>
                  </a:cxn>
                </a:cxnLst>
                <a:rect l="0" t="0" r="r" b="b"/>
                <a:pathLst>
                  <a:path w="684" h="85">
                    <a:moveTo>
                      <a:pt x="0" y="57"/>
                    </a:moveTo>
                    <a:lnTo>
                      <a:pt x="111" y="84"/>
                    </a:lnTo>
                    <a:lnTo>
                      <a:pt x="683" y="60"/>
                    </a:lnTo>
                    <a:lnTo>
                      <a:pt x="135" y="0"/>
                    </a:lnTo>
                    <a:lnTo>
                      <a:pt x="0" y="57"/>
                    </a:lnTo>
                  </a:path>
                </a:pathLst>
              </a:custGeom>
              <a:solidFill>
                <a:srgbClr val="A9A9A9"/>
              </a:solidFill>
              <a:ln w="3175" cap="rnd" cmpd="sng">
                <a:solidFill>
                  <a:schemeClr val="tx1"/>
                </a:solidFill>
                <a:prstDash val="solid"/>
                <a:round/>
                <a:headEnd type="none" w="med" len="med"/>
                <a:tailEnd type="none" w="med" len="med"/>
              </a:ln>
              <a:effectLst/>
            </p:spPr>
            <p:txBody>
              <a:bodyPr/>
              <a:lstStyle/>
              <a:p>
                <a:endParaRPr lang="fr-FR"/>
              </a:p>
            </p:txBody>
          </p:sp>
          <p:sp>
            <p:nvSpPr>
              <p:cNvPr id="365629" name="Freeform 61"/>
              <p:cNvSpPr>
                <a:spLocks/>
              </p:cNvSpPr>
              <p:nvPr/>
            </p:nvSpPr>
            <p:spPr bwMode="auto">
              <a:xfrm>
                <a:off x="3074" y="3767"/>
                <a:ext cx="188" cy="103"/>
              </a:xfrm>
              <a:custGeom>
                <a:avLst/>
                <a:gdLst/>
                <a:ahLst/>
                <a:cxnLst>
                  <a:cxn ang="0">
                    <a:pos x="0" y="57"/>
                  </a:cxn>
                  <a:cxn ang="0">
                    <a:pos x="42" y="132"/>
                  </a:cxn>
                  <a:cxn ang="0">
                    <a:pos x="207" y="192"/>
                  </a:cxn>
                  <a:cxn ang="0">
                    <a:pos x="357" y="48"/>
                  </a:cxn>
                  <a:cxn ang="0">
                    <a:pos x="228" y="0"/>
                  </a:cxn>
                  <a:cxn ang="0">
                    <a:pos x="0" y="57"/>
                  </a:cxn>
                </a:cxnLst>
                <a:rect l="0" t="0" r="r" b="b"/>
                <a:pathLst>
                  <a:path w="358" h="193">
                    <a:moveTo>
                      <a:pt x="0" y="57"/>
                    </a:moveTo>
                    <a:lnTo>
                      <a:pt x="42" y="132"/>
                    </a:lnTo>
                    <a:lnTo>
                      <a:pt x="207" y="192"/>
                    </a:lnTo>
                    <a:lnTo>
                      <a:pt x="357" y="48"/>
                    </a:lnTo>
                    <a:lnTo>
                      <a:pt x="228" y="0"/>
                    </a:lnTo>
                    <a:lnTo>
                      <a:pt x="0" y="5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grpSp>
      </p:grpSp>
      <p:sp>
        <p:nvSpPr>
          <p:cNvPr id="365631" name="Rectangle 63"/>
          <p:cNvSpPr>
            <a:spLocks noChangeArrowheads="1"/>
          </p:cNvSpPr>
          <p:nvPr/>
        </p:nvSpPr>
        <p:spPr bwMode="auto">
          <a:xfrm>
            <a:off x="320675" y="4715510"/>
            <a:ext cx="2818765" cy="1609090"/>
          </a:xfrm>
          <a:prstGeom prst="rect">
            <a:avLst/>
          </a:prstGeom>
          <a:gradFill rotWithShape="0">
            <a:gsLst>
              <a:gs pos="0">
                <a:srgbClr val="FCFEB9"/>
              </a:gs>
              <a:gs pos="100000">
                <a:srgbClr val="FFCC66"/>
              </a:gs>
            </a:gsLst>
            <a:lin ang="5400000" scaled="1"/>
          </a:gradFill>
          <a:ln w="9525">
            <a:noFill/>
            <a:miter lim="800000"/>
            <a:headEnd/>
            <a:tailEnd/>
          </a:ln>
          <a:effectLst/>
        </p:spPr>
        <p:txBody>
          <a:bodyPr wrap="none"/>
          <a:lstStyle/>
          <a:p>
            <a:r>
              <a:rPr lang="en-US" sz="2200" u="sng">
                <a:solidFill>
                  <a:schemeClr val="tx1"/>
                </a:solidFill>
                <a:effectLst/>
              </a:rPr>
              <a:t>Volume fractionné</a:t>
            </a:r>
          </a:p>
        </p:txBody>
      </p:sp>
      <p:sp>
        <p:nvSpPr>
          <p:cNvPr id="365633" name="AutoShape 65"/>
          <p:cNvSpPr>
            <a:spLocks noChangeArrowheads="1"/>
          </p:cNvSpPr>
          <p:nvPr/>
        </p:nvSpPr>
        <p:spPr bwMode="auto">
          <a:xfrm>
            <a:off x="1676400" y="5418138"/>
            <a:ext cx="677863" cy="384175"/>
          </a:xfrm>
          <a:prstGeom prst="can">
            <a:avLst>
              <a:gd name="adj" fmla="val 50000"/>
            </a:avLst>
          </a:prstGeom>
          <a:gradFill rotWithShape="0">
            <a:gsLst>
              <a:gs pos="0">
                <a:srgbClr val="FF9900">
                  <a:gamma/>
                  <a:shade val="66275"/>
                  <a:invGamma/>
                </a:srgbClr>
              </a:gs>
              <a:gs pos="50000">
                <a:srgbClr val="FF9900"/>
              </a:gs>
              <a:gs pos="100000">
                <a:srgbClr val="FF9900">
                  <a:gamma/>
                  <a:shade val="66275"/>
                  <a:invGamma/>
                </a:srgbClr>
              </a:gs>
            </a:gsLst>
            <a:lin ang="0" scaled="1"/>
          </a:gradFill>
          <a:ln w="3175" cap="rnd">
            <a:solidFill>
              <a:srgbClr val="000000"/>
            </a:solidFill>
            <a:round/>
            <a:headEnd/>
            <a:tailEnd/>
          </a:ln>
          <a:effectLst/>
        </p:spPr>
        <p:txBody>
          <a:bodyPr tIns="228600" anchor="ctr"/>
          <a:lstStyle/>
          <a:p>
            <a:endParaRPr lang="fr-FR" sz="1600" b="0">
              <a:solidFill>
                <a:schemeClr val="bg1"/>
              </a:solidFill>
              <a:effectLst>
                <a:outerShdw blurRad="38100" dist="38100" dir="2700000" algn="tl">
                  <a:srgbClr val="000000"/>
                </a:outerShdw>
              </a:effectLst>
            </a:endParaRPr>
          </a:p>
        </p:txBody>
      </p:sp>
      <p:grpSp>
        <p:nvGrpSpPr>
          <p:cNvPr id="365635" name="Group 67"/>
          <p:cNvGrpSpPr>
            <a:grpSpLocks/>
          </p:cNvGrpSpPr>
          <p:nvPr/>
        </p:nvGrpSpPr>
        <p:grpSpPr bwMode="auto">
          <a:xfrm>
            <a:off x="1046163" y="5602288"/>
            <a:ext cx="819150" cy="446087"/>
            <a:chOff x="2995" y="3707"/>
            <a:chExt cx="828" cy="398"/>
          </a:xfrm>
        </p:grpSpPr>
        <p:sp>
          <p:nvSpPr>
            <p:cNvPr id="365636" name="Freeform 68"/>
            <p:cNvSpPr>
              <a:spLocks/>
            </p:cNvSpPr>
            <p:nvPr/>
          </p:nvSpPr>
          <p:spPr bwMode="auto">
            <a:xfrm>
              <a:off x="2995" y="3707"/>
              <a:ext cx="825" cy="313"/>
            </a:xfrm>
            <a:custGeom>
              <a:avLst/>
              <a:gdLst/>
              <a:ahLst/>
              <a:cxnLst>
                <a:cxn ang="0">
                  <a:pos x="0" y="174"/>
                </a:cxn>
                <a:cxn ang="0">
                  <a:pos x="708" y="0"/>
                </a:cxn>
                <a:cxn ang="0">
                  <a:pos x="1569" y="315"/>
                </a:cxn>
                <a:cxn ang="0">
                  <a:pos x="666" y="582"/>
                </a:cxn>
                <a:cxn ang="0">
                  <a:pos x="0" y="174"/>
                </a:cxn>
              </a:cxnLst>
              <a:rect l="0" t="0" r="r" b="b"/>
              <a:pathLst>
                <a:path w="1570" h="583">
                  <a:moveTo>
                    <a:pt x="0" y="174"/>
                  </a:moveTo>
                  <a:lnTo>
                    <a:pt x="708" y="0"/>
                  </a:lnTo>
                  <a:lnTo>
                    <a:pt x="1569" y="315"/>
                  </a:lnTo>
                  <a:lnTo>
                    <a:pt x="666" y="582"/>
                  </a:lnTo>
                  <a:lnTo>
                    <a:pt x="0" y="174"/>
                  </a:lnTo>
                </a:path>
              </a:pathLst>
            </a:custGeom>
            <a:gradFill rotWithShape="0">
              <a:gsLst>
                <a:gs pos="0">
                  <a:srgbClr val="FCEEC6">
                    <a:gamma/>
                    <a:tint val="43922"/>
                    <a:invGamma/>
                  </a:srgbClr>
                </a:gs>
                <a:gs pos="100000">
                  <a:srgbClr val="FCEEC6"/>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365637" name="Oval 69"/>
            <p:cNvSpPr>
              <a:spLocks noChangeArrowheads="1"/>
            </p:cNvSpPr>
            <p:nvPr/>
          </p:nvSpPr>
          <p:spPr bwMode="auto">
            <a:xfrm>
              <a:off x="3243" y="3827"/>
              <a:ext cx="412" cy="150"/>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638" name="Line 70"/>
            <p:cNvSpPr>
              <a:spLocks noChangeShapeType="1"/>
            </p:cNvSpPr>
            <p:nvPr/>
          </p:nvSpPr>
          <p:spPr bwMode="auto">
            <a:xfrm>
              <a:off x="3364" y="3714"/>
              <a:ext cx="0" cy="63"/>
            </a:xfrm>
            <a:prstGeom prst="line">
              <a:avLst/>
            </a:prstGeom>
            <a:noFill/>
            <a:ln w="3175">
              <a:solidFill>
                <a:schemeClr val="tx1"/>
              </a:solidFill>
              <a:round/>
              <a:headEnd/>
              <a:tailEnd/>
            </a:ln>
            <a:effectLst/>
          </p:spPr>
          <p:txBody>
            <a:bodyPr wrap="none" anchor="ctr"/>
            <a:lstStyle/>
            <a:p>
              <a:endParaRPr lang="fr-FR"/>
            </a:p>
          </p:txBody>
        </p:sp>
        <p:sp>
          <p:nvSpPr>
            <p:cNvPr id="365639" name="Freeform 71"/>
            <p:cNvSpPr>
              <a:spLocks/>
            </p:cNvSpPr>
            <p:nvPr/>
          </p:nvSpPr>
          <p:spPr bwMode="auto">
            <a:xfrm>
              <a:off x="3072" y="3792"/>
              <a:ext cx="188" cy="131"/>
            </a:xfrm>
            <a:custGeom>
              <a:avLst/>
              <a:gdLst/>
              <a:ahLst/>
              <a:cxnLst>
                <a:cxn ang="0">
                  <a:pos x="0" y="18"/>
                </a:cxn>
                <a:cxn ang="0">
                  <a:pos x="0" y="108"/>
                </a:cxn>
                <a:cxn ang="0">
                  <a:pos x="222" y="243"/>
                </a:cxn>
                <a:cxn ang="0">
                  <a:pos x="357" y="138"/>
                </a:cxn>
                <a:cxn ang="0">
                  <a:pos x="357" y="0"/>
                </a:cxn>
              </a:cxnLst>
              <a:rect l="0" t="0" r="r" b="b"/>
              <a:pathLst>
                <a:path w="358" h="244">
                  <a:moveTo>
                    <a:pt x="0" y="18"/>
                  </a:moveTo>
                  <a:lnTo>
                    <a:pt x="0" y="108"/>
                  </a:lnTo>
                  <a:lnTo>
                    <a:pt x="222" y="243"/>
                  </a:lnTo>
                  <a:lnTo>
                    <a:pt x="357" y="138"/>
                  </a:lnTo>
                  <a:lnTo>
                    <a:pt x="357" y="0"/>
                  </a:lnTo>
                </a:path>
              </a:pathLst>
            </a:custGeom>
            <a:solidFill>
              <a:srgbClr val="74A9D0"/>
            </a:solidFill>
            <a:ln w="3175" cap="rnd" cmpd="sng">
              <a:solidFill>
                <a:schemeClr val="tx1"/>
              </a:solidFill>
              <a:prstDash val="solid"/>
              <a:round/>
              <a:headEnd type="none" w="med" len="med"/>
              <a:tailEnd type="none" w="med" len="med"/>
            </a:ln>
            <a:effectLst/>
          </p:spPr>
          <p:txBody>
            <a:bodyPr/>
            <a:lstStyle/>
            <a:p>
              <a:endParaRPr lang="fr-FR"/>
            </a:p>
          </p:txBody>
        </p:sp>
        <p:sp>
          <p:nvSpPr>
            <p:cNvPr id="365640" name="Line 72"/>
            <p:cNvSpPr>
              <a:spLocks noChangeShapeType="1"/>
            </p:cNvSpPr>
            <p:nvPr/>
          </p:nvSpPr>
          <p:spPr bwMode="auto">
            <a:xfrm>
              <a:off x="3187" y="3873"/>
              <a:ext cx="0" cy="41"/>
            </a:xfrm>
            <a:prstGeom prst="line">
              <a:avLst/>
            </a:prstGeom>
            <a:noFill/>
            <a:ln w="3175">
              <a:solidFill>
                <a:schemeClr val="tx1"/>
              </a:solidFill>
              <a:round/>
              <a:headEnd/>
              <a:tailEnd/>
            </a:ln>
            <a:effectLst/>
          </p:spPr>
          <p:txBody>
            <a:bodyPr wrap="none" anchor="ctr"/>
            <a:lstStyle/>
            <a:p>
              <a:endParaRPr lang="fr-FR"/>
            </a:p>
          </p:txBody>
        </p:sp>
        <p:sp>
          <p:nvSpPr>
            <p:cNvPr id="365641" name="Oval 73"/>
            <p:cNvSpPr>
              <a:spLocks noChangeArrowheads="1"/>
            </p:cNvSpPr>
            <p:nvPr/>
          </p:nvSpPr>
          <p:spPr bwMode="auto">
            <a:xfrm>
              <a:off x="3243" y="3806"/>
              <a:ext cx="412" cy="150"/>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642" name="Oval 74"/>
            <p:cNvSpPr>
              <a:spLocks noChangeArrowheads="1"/>
            </p:cNvSpPr>
            <p:nvPr/>
          </p:nvSpPr>
          <p:spPr bwMode="auto">
            <a:xfrm>
              <a:off x="3243" y="3783"/>
              <a:ext cx="412" cy="150"/>
            </a:xfrm>
            <a:prstGeom prst="ellipse">
              <a:avLst/>
            </a:prstGeom>
            <a:solidFill>
              <a:schemeClr val="bg1"/>
            </a:solidFill>
            <a:ln w="3175">
              <a:solidFill>
                <a:schemeClr val="tx1"/>
              </a:solidFill>
              <a:round/>
              <a:headEnd/>
              <a:tailEnd/>
            </a:ln>
            <a:effectLst/>
          </p:spPr>
          <p:txBody>
            <a:bodyPr wrap="none" anchor="ctr"/>
            <a:lstStyle/>
            <a:p>
              <a:endParaRPr lang="fr-FR"/>
            </a:p>
          </p:txBody>
        </p:sp>
        <p:sp>
          <p:nvSpPr>
            <p:cNvPr id="365643" name="Oval 75"/>
            <p:cNvSpPr>
              <a:spLocks noChangeArrowheads="1"/>
            </p:cNvSpPr>
            <p:nvPr/>
          </p:nvSpPr>
          <p:spPr bwMode="auto">
            <a:xfrm>
              <a:off x="3401" y="3839"/>
              <a:ext cx="99" cy="35"/>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644" name="Freeform 76"/>
            <p:cNvSpPr>
              <a:spLocks/>
            </p:cNvSpPr>
            <p:nvPr/>
          </p:nvSpPr>
          <p:spPr bwMode="auto">
            <a:xfrm>
              <a:off x="3094" y="3783"/>
              <a:ext cx="360" cy="45"/>
            </a:xfrm>
            <a:custGeom>
              <a:avLst/>
              <a:gdLst/>
              <a:ahLst/>
              <a:cxnLst>
                <a:cxn ang="0">
                  <a:pos x="0" y="57"/>
                </a:cxn>
                <a:cxn ang="0">
                  <a:pos x="111" y="84"/>
                </a:cxn>
                <a:cxn ang="0">
                  <a:pos x="683" y="60"/>
                </a:cxn>
                <a:cxn ang="0">
                  <a:pos x="135" y="0"/>
                </a:cxn>
                <a:cxn ang="0">
                  <a:pos x="0" y="57"/>
                </a:cxn>
              </a:cxnLst>
              <a:rect l="0" t="0" r="r" b="b"/>
              <a:pathLst>
                <a:path w="684" h="85">
                  <a:moveTo>
                    <a:pt x="0" y="57"/>
                  </a:moveTo>
                  <a:lnTo>
                    <a:pt x="111" y="84"/>
                  </a:lnTo>
                  <a:lnTo>
                    <a:pt x="683" y="60"/>
                  </a:lnTo>
                  <a:lnTo>
                    <a:pt x="135" y="0"/>
                  </a:lnTo>
                  <a:lnTo>
                    <a:pt x="0" y="57"/>
                  </a:lnTo>
                </a:path>
              </a:pathLst>
            </a:custGeom>
            <a:solidFill>
              <a:schemeClr val="tx1"/>
            </a:solidFill>
            <a:ln w="6350" cap="rnd" cmpd="sng">
              <a:solidFill>
                <a:schemeClr val="tx1"/>
              </a:solidFill>
              <a:prstDash val="solid"/>
              <a:round/>
              <a:headEnd type="none" w="med" len="med"/>
              <a:tailEnd type="none" w="med" len="med"/>
            </a:ln>
            <a:effectLst/>
          </p:spPr>
          <p:txBody>
            <a:bodyPr/>
            <a:lstStyle/>
            <a:p>
              <a:endParaRPr lang="fr-FR"/>
            </a:p>
          </p:txBody>
        </p:sp>
        <p:sp>
          <p:nvSpPr>
            <p:cNvPr id="365645" name="Line 77"/>
            <p:cNvSpPr>
              <a:spLocks noChangeShapeType="1"/>
            </p:cNvSpPr>
            <p:nvPr/>
          </p:nvSpPr>
          <p:spPr bwMode="auto">
            <a:xfrm flipH="1" flipV="1">
              <a:off x="3653" y="3893"/>
              <a:ext cx="72" cy="30"/>
            </a:xfrm>
            <a:prstGeom prst="line">
              <a:avLst/>
            </a:prstGeom>
            <a:noFill/>
            <a:ln w="3175">
              <a:solidFill>
                <a:schemeClr val="tx1"/>
              </a:solidFill>
              <a:round/>
              <a:headEnd/>
              <a:tailEnd/>
            </a:ln>
            <a:effectLst/>
          </p:spPr>
          <p:txBody>
            <a:bodyPr wrap="none" anchor="ctr"/>
            <a:lstStyle/>
            <a:p>
              <a:endParaRPr lang="fr-FR"/>
            </a:p>
          </p:txBody>
        </p:sp>
        <p:sp>
          <p:nvSpPr>
            <p:cNvPr id="365646" name="Freeform 78" descr="Newsprint"/>
            <p:cNvSpPr>
              <a:spLocks/>
            </p:cNvSpPr>
            <p:nvPr/>
          </p:nvSpPr>
          <p:spPr bwMode="auto">
            <a:xfrm>
              <a:off x="2997" y="3802"/>
              <a:ext cx="826" cy="303"/>
            </a:xfrm>
            <a:custGeom>
              <a:avLst/>
              <a:gdLst/>
              <a:ahLst/>
              <a:cxnLst>
                <a:cxn ang="0">
                  <a:pos x="0" y="0"/>
                </a:cxn>
                <a:cxn ang="0">
                  <a:pos x="663" y="396"/>
                </a:cxn>
                <a:cxn ang="0">
                  <a:pos x="1572" y="135"/>
                </a:cxn>
                <a:cxn ang="0">
                  <a:pos x="1572" y="279"/>
                </a:cxn>
                <a:cxn ang="0">
                  <a:pos x="672" y="564"/>
                </a:cxn>
                <a:cxn ang="0">
                  <a:pos x="0" y="162"/>
                </a:cxn>
                <a:cxn ang="0">
                  <a:pos x="0" y="0"/>
                </a:cxn>
              </a:cxnLst>
              <a:rect l="0" t="0" r="r" b="b"/>
              <a:pathLst>
                <a:path w="1573" h="565">
                  <a:moveTo>
                    <a:pt x="0" y="0"/>
                  </a:moveTo>
                  <a:lnTo>
                    <a:pt x="663" y="396"/>
                  </a:lnTo>
                  <a:lnTo>
                    <a:pt x="1572" y="135"/>
                  </a:lnTo>
                  <a:lnTo>
                    <a:pt x="1572" y="279"/>
                  </a:lnTo>
                  <a:lnTo>
                    <a:pt x="672" y="564"/>
                  </a:lnTo>
                  <a:lnTo>
                    <a:pt x="0" y="162"/>
                  </a:lnTo>
                  <a:lnTo>
                    <a:pt x="0" y="0"/>
                  </a:lnTo>
                </a:path>
              </a:pathLst>
            </a:custGeom>
            <a:blipFill dpi="0" rotWithShape="0">
              <a:blip r:embed="rId3"/>
              <a:srcRect/>
              <a:tile tx="0" ty="0" sx="100000" sy="100000" flip="none" algn="tl"/>
            </a:blipFill>
            <a:ln w="3175" cap="rnd" cmpd="sng">
              <a:solidFill>
                <a:schemeClr val="tx1"/>
              </a:solidFill>
              <a:prstDash val="solid"/>
              <a:round/>
              <a:headEnd type="none" w="med" len="med"/>
              <a:tailEnd type="none" w="med" len="med"/>
            </a:ln>
            <a:effectLst/>
          </p:spPr>
          <p:txBody>
            <a:bodyPr/>
            <a:lstStyle/>
            <a:p>
              <a:endParaRPr lang="fr-FR"/>
            </a:p>
          </p:txBody>
        </p:sp>
        <p:sp>
          <p:nvSpPr>
            <p:cNvPr id="365647" name="Freeform 79"/>
            <p:cNvSpPr>
              <a:spLocks/>
            </p:cNvSpPr>
            <p:nvPr/>
          </p:nvSpPr>
          <p:spPr bwMode="auto">
            <a:xfrm>
              <a:off x="3094" y="3776"/>
              <a:ext cx="360" cy="46"/>
            </a:xfrm>
            <a:custGeom>
              <a:avLst/>
              <a:gdLst/>
              <a:ahLst/>
              <a:cxnLst>
                <a:cxn ang="0">
                  <a:pos x="0" y="57"/>
                </a:cxn>
                <a:cxn ang="0">
                  <a:pos x="111" y="84"/>
                </a:cxn>
                <a:cxn ang="0">
                  <a:pos x="683" y="60"/>
                </a:cxn>
                <a:cxn ang="0">
                  <a:pos x="135" y="0"/>
                </a:cxn>
                <a:cxn ang="0">
                  <a:pos x="0" y="57"/>
                </a:cxn>
              </a:cxnLst>
              <a:rect l="0" t="0" r="r" b="b"/>
              <a:pathLst>
                <a:path w="684" h="85">
                  <a:moveTo>
                    <a:pt x="0" y="57"/>
                  </a:moveTo>
                  <a:lnTo>
                    <a:pt x="111" y="84"/>
                  </a:lnTo>
                  <a:lnTo>
                    <a:pt x="683" y="60"/>
                  </a:lnTo>
                  <a:lnTo>
                    <a:pt x="135" y="0"/>
                  </a:lnTo>
                  <a:lnTo>
                    <a:pt x="0" y="57"/>
                  </a:lnTo>
                </a:path>
              </a:pathLst>
            </a:custGeom>
            <a:solidFill>
              <a:srgbClr val="A9A9A9"/>
            </a:solidFill>
            <a:ln w="3175" cap="rnd" cmpd="sng">
              <a:solidFill>
                <a:schemeClr val="tx1"/>
              </a:solidFill>
              <a:prstDash val="solid"/>
              <a:round/>
              <a:headEnd type="none" w="med" len="med"/>
              <a:tailEnd type="none" w="med" len="med"/>
            </a:ln>
            <a:effectLst/>
          </p:spPr>
          <p:txBody>
            <a:bodyPr/>
            <a:lstStyle/>
            <a:p>
              <a:endParaRPr lang="fr-FR"/>
            </a:p>
          </p:txBody>
        </p:sp>
        <p:sp>
          <p:nvSpPr>
            <p:cNvPr id="365648" name="Freeform 80"/>
            <p:cNvSpPr>
              <a:spLocks/>
            </p:cNvSpPr>
            <p:nvPr/>
          </p:nvSpPr>
          <p:spPr bwMode="auto">
            <a:xfrm>
              <a:off x="3074" y="3767"/>
              <a:ext cx="188" cy="103"/>
            </a:xfrm>
            <a:custGeom>
              <a:avLst/>
              <a:gdLst/>
              <a:ahLst/>
              <a:cxnLst>
                <a:cxn ang="0">
                  <a:pos x="0" y="57"/>
                </a:cxn>
                <a:cxn ang="0">
                  <a:pos x="42" y="132"/>
                </a:cxn>
                <a:cxn ang="0">
                  <a:pos x="207" y="192"/>
                </a:cxn>
                <a:cxn ang="0">
                  <a:pos x="357" y="48"/>
                </a:cxn>
                <a:cxn ang="0">
                  <a:pos x="228" y="0"/>
                </a:cxn>
                <a:cxn ang="0">
                  <a:pos x="0" y="57"/>
                </a:cxn>
              </a:cxnLst>
              <a:rect l="0" t="0" r="r" b="b"/>
              <a:pathLst>
                <a:path w="358" h="193">
                  <a:moveTo>
                    <a:pt x="0" y="57"/>
                  </a:moveTo>
                  <a:lnTo>
                    <a:pt x="42" y="132"/>
                  </a:lnTo>
                  <a:lnTo>
                    <a:pt x="207" y="192"/>
                  </a:lnTo>
                  <a:lnTo>
                    <a:pt x="357" y="48"/>
                  </a:lnTo>
                  <a:lnTo>
                    <a:pt x="228" y="0"/>
                  </a:lnTo>
                  <a:lnTo>
                    <a:pt x="0" y="5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grpSp>
      <p:grpSp>
        <p:nvGrpSpPr>
          <p:cNvPr id="365649" name="Group 81"/>
          <p:cNvGrpSpPr>
            <a:grpSpLocks/>
          </p:cNvGrpSpPr>
          <p:nvPr/>
        </p:nvGrpSpPr>
        <p:grpSpPr bwMode="auto">
          <a:xfrm>
            <a:off x="534988" y="5802313"/>
            <a:ext cx="819150" cy="446087"/>
            <a:chOff x="2995" y="3707"/>
            <a:chExt cx="828" cy="398"/>
          </a:xfrm>
        </p:grpSpPr>
        <p:sp>
          <p:nvSpPr>
            <p:cNvPr id="365650" name="Freeform 82"/>
            <p:cNvSpPr>
              <a:spLocks/>
            </p:cNvSpPr>
            <p:nvPr/>
          </p:nvSpPr>
          <p:spPr bwMode="auto">
            <a:xfrm>
              <a:off x="2995" y="3707"/>
              <a:ext cx="825" cy="313"/>
            </a:xfrm>
            <a:custGeom>
              <a:avLst/>
              <a:gdLst/>
              <a:ahLst/>
              <a:cxnLst>
                <a:cxn ang="0">
                  <a:pos x="0" y="174"/>
                </a:cxn>
                <a:cxn ang="0">
                  <a:pos x="708" y="0"/>
                </a:cxn>
                <a:cxn ang="0">
                  <a:pos x="1569" y="315"/>
                </a:cxn>
                <a:cxn ang="0">
                  <a:pos x="666" y="582"/>
                </a:cxn>
                <a:cxn ang="0">
                  <a:pos x="0" y="174"/>
                </a:cxn>
              </a:cxnLst>
              <a:rect l="0" t="0" r="r" b="b"/>
              <a:pathLst>
                <a:path w="1570" h="583">
                  <a:moveTo>
                    <a:pt x="0" y="174"/>
                  </a:moveTo>
                  <a:lnTo>
                    <a:pt x="708" y="0"/>
                  </a:lnTo>
                  <a:lnTo>
                    <a:pt x="1569" y="315"/>
                  </a:lnTo>
                  <a:lnTo>
                    <a:pt x="666" y="582"/>
                  </a:lnTo>
                  <a:lnTo>
                    <a:pt x="0" y="174"/>
                  </a:lnTo>
                </a:path>
              </a:pathLst>
            </a:custGeom>
            <a:gradFill rotWithShape="0">
              <a:gsLst>
                <a:gs pos="0">
                  <a:srgbClr val="FCEEC6">
                    <a:gamma/>
                    <a:tint val="43922"/>
                    <a:invGamma/>
                  </a:srgbClr>
                </a:gs>
                <a:gs pos="100000">
                  <a:srgbClr val="FCEEC6"/>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365651" name="Oval 83"/>
            <p:cNvSpPr>
              <a:spLocks noChangeArrowheads="1"/>
            </p:cNvSpPr>
            <p:nvPr/>
          </p:nvSpPr>
          <p:spPr bwMode="auto">
            <a:xfrm>
              <a:off x="3243" y="3827"/>
              <a:ext cx="412" cy="150"/>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652" name="Line 84"/>
            <p:cNvSpPr>
              <a:spLocks noChangeShapeType="1"/>
            </p:cNvSpPr>
            <p:nvPr/>
          </p:nvSpPr>
          <p:spPr bwMode="auto">
            <a:xfrm>
              <a:off x="3364" y="3714"/>
              <a:ext cx="0" cy="63"/>
            </a:xfrm>
            <a:prstGeom prst="line">
              <a:avLst/>
            </a:prstGeom>
            <a:noFill/>
            <a:ln w="3175">
              <a:solidFill>
                <a:schemeClr val="tx1"/>
              </a:solidFill>
              <a:round/>
              <a:headEnd/>
              <a:tailEnd/>
            </a:ln>
            <a:effectLst/>
          </p:spPr>
          <p:txBody>
            <a:bodyPr wrap="none" anchor="ctr"/>
            <a:lstStyle/>
            <a:p>
              <a:endParaRPr lang="fr-FR"/>
            </a:p>
          </p:txBody>
        </p:sp>
        <p:sp>
          <p:nvSpPr>
            <p:cNvPr id="365653" name="Freeform 85"/>
            <p:cNvSpPr>
              <a:spLocks/>
            </p:cNvSpPr>
            <p:nvPr/>
          </p:nvSpPr>
          <p:spPr bwMode="auto">
            <a:xfrm>
              <a:off x="3072" y="3792"/>
              <a:ext cx="188" cy="131"/>
            </a:xfrm>
            <a:custGeom>
              <a:avLst/>
              <a:gdLst/>
              <a:ahLst/>
              <a:cxnLst>
                <a:cxn ang="0">
                  <a:pos x="0" y="18"/>
                </a:cxn>
                <a:cxn ang="0">
                  <a:pos x="0" y="108"/>
                </a:cxn>
                <a:cxn ang="0">
                  <a:pos x="222" y="243"/>
                </a:cxn>
                <a:cxn ang="0">
                  <a:pos x="357" y="138"/>
                </a:cxn>
                <a:cxn ang="0">
                  <a:pos x="357" y="0"/>
                </a:cxn>
              </a:cxnLst>
              <a:rect l="0" t="0" r="r" b="b"/>
              <a:pathLst>
                <a:path w="358" h="244">
                  <a:moveTo>
                    <a:pt x="0" y="18"/>
                  </a:moveTo>
                  <a:lnTo>
                    <a:pt x="0" y="108"/>
                  </a:lnTo>
                  <a:lnTo>
                    <a:pt x="222" y="243"/>
                  </a:lnTo>
                  <a:lnTo>
                    <a:pt x="357" y="138"/>
                  </a:lnTo>
                  <a:lnTo>
                    <a:pt x="357" y="0"/>
                  </a:lnTo>
                </a:path>
              </a:pathLst>
            </a:custGeom>
            <a:solidFill>
              <a:srgbClr val="74A9D0"/>
            </a:solidFill>
            <a:ln w="3175" cap="rnd" cmpd="sng">
              <a:solidFill>
                <a:schemeClr val="tx1"/>
              </a:solidFill>
              <a:prstDash val="solid"/>
              <a:round/>
              <a:headEnd type="none" w="med" len="med"/>
              <a:tailEnd type="none" w="med" len="med"/>
            </a:ln>
            <a:effectLst/>
          </p:spPr>
          <p:txBody>
            <a:bodyPr/>
            <a:lstStyle/>
            <a:p>
              <a:endParaRPr lang="fr-FR"/>
            </a:p>
          </p:txBody>
        </p:sp>
        <p:sp>
          <p:nvSpPr>
            <p:cNvPr id="365654" name="Line 86"/>
            <p:cNvSpPr>
              <a:spLocks noChangeShapeType="1"/>
            </p:cNvSpPr>
            <p:nvPr/>
          </p:nvSpPr>
          <p:spPr bwMode="auto">
            <a:xfrm>
              <a:off x="3187" y="3873"/>
              <a:ext cx="0" cy="41"/>
            </a:xfrm>
            <a:prstGeom prst="line">
              <a:avLst/>
            </a:prstGeom>
            <a:noFill/>
            <a:ln w="3175">
              <a:solidFill>
                <a:schemeClr val="tx1"/>
              </a:solidFill>
              <a:round/>
              <a:headEnd/>
              <a:tailEnd/>
            </a:ln>
            <a:effectLst/>
          </p:spPr>
          <p:txBody>
            <a:bodyPr wrap="none" anchor="ctr"/>
            <a:lstStyle/>
            <a:p>
              <a:endParaRPr lang="fr-FR"/>
            </a:p>
          </p:txBody>
        </p:sp>
        <p:sp>
          <p:nvSpPr>
            <p:cNvPr id="365655" name="Oval 87"/>
            <p:cNvSpPr>
              <a:spLocks noChangeArrowheads="1"/>
            </p:cNvSpPr>
            <p:nvPr/>
          </p:nvSpPr>
          <p:spPr bwMode="auto">
            <a:xfrm>
              <a:off x="3243" y="3806"/>
              <a:ext cx="412" cy="150"/>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656" name="Oval 88"/>
            <p:cNvSpPr>
              <a:spLocks noChangeArrowheads="1"/>
            </p:cNvSpPr>
            <p:nvPr/>
          </p:nvSpPr>
          <p:spPr bwMode="auto">
            <a:xfrm>
              <a:off x="3243" y="3783"/>
              <a:ext cx="412" cy="150"/>
            </a:xfrm>
            <a:prstGeom prst="ellipse">
              <a:avLst/>
            </a:prstGeom>
            <a:solidFill>
              <a:schemeClr val="bg1"/>
            </a:solidFill>
            <a:ln w="3175">
              <a:solidFill>
                <a:schemeClr val="tx1"/>
              </a:solidFill>
              <a:round/>
              <a:headEnd/>
              <a:tailEnd/>
            </a:ln>
            <a:effectLst/>
          </p:spPr>
          <p:txBody>
            <a:bodyPr wrap="none" anchor="ctr"/>
            <a:lstStyle/>
            <a:p>
              <a:endParaRPr lang="fr-FR"/>
            </a:p>
          </p:txBody>
        </p:sp>
        <p:sp>
          <p:nvSpPr>
            <p:cNvPr id="365657" name="Oval 89"/>
            <p:cNvSpPr>
              <a:spLocks noChangeArrowheads="1"/>
            </p:cNvSpPr>
            <p:nvPr/>
          </p:nvSpPr>
          <p:spPr bwMode="auto">
            <a:xfrm>
              <a:off x="3401" y="3839"/>
              <a:ext cx="99" cy="35"/>
            </a:xfrm>
            <a:prstGeom prst="ellipse">
              <a:avLst/>
            </a:prstGeom>
            <a:solidFill>
              <a:srgbClr val="74A9D0"/>
            </a:solidFill>
            <a:ln w="3175">
              <a:solidFill>
                <a:schemeClr val="tx1"/>
              </a:solidFill>
              <a:round/>
              <a:headEnd/>
              <a:tailEnd/>
            </a:ln>
            <a:effectLst/>
          </p:spPr>
          <p:txBody>
            <a:bodyPr wrap="none" anchor="ctr"/>
            <a:lstStyle/>
            <a:p>
              <a:endParaRPr lang="fr-FR"/>
            </a:p>
          </p:txBody>
        </p:sp>
        <p:sp>
          <p:nvSpPr>
            <p:cNvPr id="365658" name="Freeform 90"/>
            <p:cNvSpPr>
              <a:spLocks/>
            </p:cNvSpPr>
            <p:nvPr/>
          </p:nvSpPr>
          <p:spPr bwMode="auto">
            <a:xfrm>
              <a:off x="3094" y="3783"/>
              <a:ext cx="360" cy="45"/>
            </a:xfrm>
            <a:custGeom>
              <a:avLst/>
              <a:gdLst/>
              <a:ahLst/>
              <a:cxnLst>
                <a:cxn ang="0">
                  <a:pos x="0" y="57"/>
                </a:cxn>
                <a:cxn ang="0">
                  <a:pos x="111" y="84"/>
                </a:cxn>
                <a:cxn ang="0">
                  <a:pos x="683" y="60"/>
                </a:cxn>
                <a:cxn ang="0">
                  <a:pos x="135" y="0"/>
                </a:cxn>
                <a:cxn ang="0">
                  <a:pos x="0" y="57"/>
                </a:cxn>
              </a:cxnLst>
              <a:rect l="0" t="0" r="r" b="b"/>
              <a:pathLst>
                <a:path w="684" h="85">
                  <a:moveTo>
                    <a:pt x="0" y="57"/>
                  </a:moveTo>
                  <a:lnTo>
                    <a:pt x="111" y="84"/>
                  </a:lnTo>
                  <a:lnTo>
                    <a:pt x="683" y="60"/>
                  </a:lnTo>
                  <a:lnTo>
                    <a:pt x="135" y="0"/>
                  </a:lnTo>
                  <a:lnTo>
                    <a:pt x="0" y="57"/>
                  </a:lnTo>
                </a:path>
              </a:pathLst>
            </a:custGeom>
            <a:solidFill>
              <a:schemeClr val="tx1"/>
            </a:solidFill>
            <a:ln w="6350" cap="rnd" cmpd="sng">
              <a:solidFill>
                <a:schemeClr val="tx1"/>
              </a:solidFill>
              <a:prstDash val="solid"/>
              <a:round/>
              <a:headEnd type="none" w="med" len="med"/>
              <a:tailEnd type="none" w="med" len="med"/>
            </a:ln>
            <a:effectLst/>
          </p:spPr>
          <p:txBody>
            <a:bodyPr/>
            <a:lstStyle/>
            <a:p>
              <a:endParaRPr lang="fr-FR"/>
            </a:p>
          </p:txBody>
        </p:sp>
        <p:sp>
          <p:nvSpPr>
            <p:cNvPr id="365659" name="Line 91"/>
            <p:cNvSpPr>
              <a:spLocks noChangeShapeType="1"/>
            </p:cNvSpPr>
            <p:nvPr/>
          </p:nvSpPr>
          <p:spPr bwMode="auto">
            <a:xfrm flipH="1" flipV="1">
              <a:off x="3653" y="3893"/>
              <a:ext cx="72" cy="30"/>
            </a:xfrm>
            <a:prstGeom prst="line">
              <a:avLst/>
            </a:prstGeom>
            <a:noFill/>
            <a:ln w="3175">
              <a:solidFill>
                <a:schemeClr val="tx1"/>
              </a:solidFill>
              <a:round/>
              <a:headEnd/>
              <a:tailEnd/>
            </a:ln>
            <a:effectLst/>
          </p:spPr>
          <p:txBody>
            <a:bodyPr wrap="none" anchor="ctr"/>
            <a:lstStyle/>
            <a:p>
              <a:endParaRPr lang="fr-FR"/>
            </a:p>
          </p:txBody>
        </p:sp>
        <p:sp>
          <p:nvSpPr>
            <p:cNvPr id="365660" name="Freeform 92" descr="Newsprint"/>
            <p:cNvSpPr>
              <a:spLocks/>
            </p:cNvSpPr>
            <p:nvPr/>
          </p:nvSpPr>
          <p:spPr bwMode="auto">
            <a:xfrm>
              <a:off x="2997" y="3802"/>
              <a:ext cx="826" cy="303"/>
            </a:xfrm>
            <a:custGeom>
              <a:avLst/>
              <a:gdLst/>
              <a:ahLst/>
              <a:cxnLst>
                <a:cxn ang="0">
                  <a:pos x="0" y="0"/>
                </a:cxn>
                <a:cxn ang="0">
                  <a:pos x="663" y="396"/>
                </a:cxn>
                <a:cxn ang="0">
                  <a:pos x="1572" y="135"/>
                </a:cxn>
                <a:cxn ang="0">
                  <a:pos x="1572" y="279"/>
                </a:cxn>
                <a:cxn ang="0">
                  <a:pos x="672" y="564"/>
                </a:cxn>
                <a:cxn ang="0">
                  <a:pos x="0" y="162"/>
                </a:cxn>
                <a:cxn ang="0">
                  <a:pos x="0" y="0"/>
                </a:cxn>
              </a:cxnLst>
              <a:rect l="0" t="0" r="r" b="b"/>
              <a:pathLst>
                <a:path w="1573" h="565">
                  <a:moveTo>
                    <a:pt x="0" y="0"/>
                  </a:moveTo>
                  <a:lnTo>
                    <a:pt x="663" y="396"/>
                  </a:lnTo>
                  <a:lnTo>
                    <a:pt x="1572" y="135"/>
                  </a:lnTo>
                  <a:lnTo>
                    <a:pt x="1572" y="279"/>
                  </a:lnTo>
                  <a:lnTo>
                    <a:pt x="672" y="564"/>
                  </a:lnTo>
                  <a:lnTo>
                    <a:pt x="0" y="162"/>
                  </a:lnTo>
                  <a:lnTo>
                    <a:pt x="0" y="0"/>
                  </a:lnTo>
                </a:path>
              </a:pathLst>
            </a:custGeom>
            <a:blipFill dpi="0" rotWithShape="0">
              <a:blip r:embed="rId3"/>
              <a:srcRect/>
              <a:tile tx="0" ty="0" sx="100000" sy="100000" flip="none" algn="tl"/>
            </a:blipFill>
            <a:ln w="3175" cap="rnd" cmpd="sng">
              <a:solidFill>
                <a:schemeClr val="tx1"/>
              </a:solidFill>
              <a:prstDash val="solid"/>
              <a:round/>
              <a:headEnd type="none" w="med" len="med"/>
              <a:tailEnd type="none" w="med" len="med"/>
            </a:ln>
            <a:effectLst/>
          </p:spPr>
          <p:txBody>
            <a:bodyPr/>
            <a:lstStyle/>
            <a:p>
              <a:endParaRPr lang="fr-FR"/>
            </a:p>
          </p:txBody>
        </p:sp>
        <p:sp>
          <p:nvSpPr>
            <p:cNvPr id="365661" name="Freeform 93"/>
            <p:cNvSpPr>
              <a:spLocks/>
            </p:cNvSpPr>
            <p:nvPr/>
          </p:nvSpPr>
          <p:spPr bwMode="auto">
            <a:xfrm>
              <a:off x="3094" y="3776"/>
              <a:ext cx="360" cy="46"/>
            </a:xfrm>
            <a:custGeom>
              <a:avLst/>
              <a:gdLst/>
              <a:ahLst/>
              <a:cxnLst>
                <a:cxn ang="0">
                  <a:pos x="0" y="57"/>
                </a:cxn>
                <a:cxn ang="0">
                  <a:pos x="111" y="84"/>
                </a:cxn>
                <a:cxn ang="0">
                  <a:pos x="683" y="60"/>
                </a:cxn>
                <a:cxn ang="0">
                  <a:pos x="135" y="0"/>
                </a:cxn>
                <a:cxn ang="0">
                  <a:pos x="0" y="57"/>
                </a:cxn>
              </a:cxnLst>
              <a:rect l="0" t="0" r="r" b="b"/>
              <a:pathLst>
                <a:path w="684" h="85">
                  <a:moveTo>
                    <a:pt x="0" y="57"/>
                  </a:moveTo>
                  <a:lnTo>
                    <a:pt x="111" y="84"/>
                  </a:lnTo>
                  <a:lnTo>
                    <a:pt x="683" y="60"/>
                  </a:lnTo>
                  <a:lnTo>
                    <a:pt x="135" y="0"/>
                  </a:lnTo>
                  <a:lnTo>
                    <a:pt x="0" y="57"/>
                  </a:lnTo>
                </a:path>
              </a:pathLst>
            </a:custGeom>
            <a:solidFill>
              <a:srgbClr val="A9A9A9"/>
            </a:solidFill>
            <a:ln w="3175" cap="rnd" cmpd="sng">
              <a:solidFill>
                <a:schemeClr val="tx1"/>
              </a:solidFill>
              <a:prstDash val="solid"/>
              <a:round/>
              <a:headEnd type="none" w="med" len="med"/>
              <a:tailEnd type="none" w="med" len="med"/>
            </a:ln>
            <a:effectLst/>
          </p:spPr>
          <p:txBody>
            <a:bodyPr/>
            <a:lstStyle/>
            <a:p>
              <a:endParaRPr lang="fr-FR"/>
            </a:p>
          </p:txBody>
        </p:sp>
        <p:sp>
          <p:nvSpPr>
            <p:cNvPr id="365662" name="Freeform 94"/>
            <p:cNvSpPr>
              <a:spLocks/>
            </p:cNvSpPr>
            <p:nvPr/>
          </p:nvSpPr>
          <p:spPr bwMode="auto">
            <a:xfrm>
              <a:off x="3074" y="3767"/>
              <a:ext cx="188" cy="103"/>
            </a:xfrm>
            <a:custGeom>
              <a:avLst/>
              <a:gdLst/>
              <a:ahLst/>
              <a:cxnLst>
                <a:cxn ang="0">
                  <a:pos x="0" y="57"/>
                </a:cxn>
                <a:cxn ang="0">
                  <a:pos x="42" y="132"/>
                </a:cxn>
                <a:cxn ang="0">
                  <a:pos x="207" y="192"/>
                </a:cxn>
                <a:cxn ang="0">
                  <a:pos x="357" y="48"/>
                </a:cxn>
                <a:cxn ang="0">
                  <a:pos x="228" y="0"/>
                </a:cxn>
                <a:cxn ang="0">
                  <a:pos x="0" y="57"/>
                </a:cxn>
              </a:cxnLst>
              <a:rect l="0" t="0" r="r" b="b"/>
              <a:pathLst>
                <a:path w="358" h="193">
                  <a:moveTo>
                    <a:pt x="0" y="57"/>
                  </a:moveTo>
                  <a:lnTo>
                    <a:pt x="42" y="132"/>
                  </a:lnTo>
                  <a:lnTo>
                    <a:pt x="207" y="192"/>
                  </a:lnTo>
                  <a:lnTo>
                    <a:pt x="357" y="48"/>
                  </a:lnTo>
                  <a:lnTo>
                    <a:pt x="228" y="0"/>
                  </a:lnTo>
                  <a:lnTo>
                    <a:pt x="0" y="5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grpSp>
      <p:sp>
        <p:nvSpPr>
          <p:cNvPr id="365664" name="AutoShape 96"/>
          <p:cNvSpPr>
            <a:spLocks noChangeArrowheads="1"/>
          </p:cNvSpPr>
          <p:nvPr/>
        </p:nvSpPr>
        <p:spPr bwMode="auto">
          <a:xfrm rot="20633839" flipH="1">
            <a:off x="1008063" y="5214938"/>
            <a:ext cx="649287" cy="330200"/>
          </a:xfrm>
          <a:prstGeom prst="curvedDownArrow">
            <a:avLst>
              <a:gd name="adj1" fmla="val 45881"/>
              <a:gd name="adj2" fmla="val 75377"/>
              <a:gd name="adj3" fmla="val 69171"/>
            </a:avLst>
          </a:prstGeom>
          <a:solidFill>
            <a:srgbClr val="D60093"/>
          </a:solidFill>
          <a:ln w="9525">
            <a:noFill/>
            <a:miter lim="800000"/>
            <a:headEnd/>
            <a:tailEnd/>
          </a:ln>
          <a:effectLst/>
        </p:spPr>
        <p:txBody>
          <a:bodyPr wrap="none" anchor="ctr"/>
          <a:lstStyle/>
          <a:p>
            <a:endParaRPr lang="fr-FR"/>
          </a:p>
        </p:txBody>
      </p:sp>
      <p:sp>
        <p:nvSpPr>
          <p:cNvPr id="365665" name="AutoShape 97"/>
          <p:cNvSpPr>
            <a:spLocks noChangeArrowheads="1"/>
          </p:cNvSpPr>
          <p:nvPr/>
        </p:nvSpPr>
        <p:spPr bwMode="auto">
          <a:xfrm rot="20633839" flipH="1">
            <a:off x="449263" y="5427663"/>
            <a:ext cx="649287" cy="330200"/>
          </a:xfrm>
          <a:prstGeom prst="curvedDownArrow">
            <a:avLst>
              <a:gd name="adj1" fmla="val 45881"/>
              <a:gd name="adj2" fmla="val 75377"/>
              <a:gd name="adj3" fmla="val 69171"/>
            </a:avLst>
          </a:prstGeom>
          <a:solidFill>
            <a:srgbClr val="D60093"/>
          </a:solidFill>
          <a:ln w="9525">
            <a:noFill/>
            <a:miter lim="800000"/>
            <a:headEnd/>
            <a:tailEnd/>
          </a:ln>
          <a:effectLst/>
        </p:spPr>
        <p:txBody>
          <a:bodyPr wrap="none" anchor="ctr"/>
          <a:lstStyle/>
          <a:p>
            <a:endParaRPr lang="fr-FR"/>
          </a:p>
        </p:txBody>
      </p:sp>
      <p:sp>
        <p:nvSpPr>
          <p:cNvPr id="365666" name="Rectangle 98"/>
          <p:cNvSpPr>
            <a:spLocks noChangeArrowheads="1"/>
          </p:cNvSpPr>
          <p:nvPr/>
        </p:nvSpPr>
        <p:spPr bwMode="auto">
          <a:xfrm>
            <a:off x="3444240" y="1545273"/>
            <a:ext cx="5411789" cy="1376362"/>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p:spPr>
        <p:txBody>
          <a:bodyPr tIns="27432" bIns="27432" anchor="ctr"/>
          <a:lstStyle/>
          <a:p>
            <a:pPr algn="l"/>
            <a:r>
              <a:rPr lang="fr-FR" sz="2200">
                <a:solidFill>
                  <a:schemeClr val="tx1"/>
                </a:solidFill>
                <a:effectLst/>
                <a:cs typeface="Times New Roman" pitchFamily="18" charset="0"/>
              </a:rPr>
              <a:t>Contient l'espace d'un seul disque </a:t>
            </a:r>
            <a:r>
              <a:rPr lang="en-US" sz="2200">
                <a:solidFill>
                  <a:schemeClr val="tx1"/>
                </a:solidFill>
                <a:effectLst/>
              </a:rPr>
              <a:t> </a:t>
            </a:r>
          </a:p>
        </p:txBody>
      </p:sp>
      <p:sp>
        <p:nvSpPr>
          <p:cNvPr id="365667" name="Rectangle 99"/>
          <p:cNvSpPr>
            <a:spLocks noChangeArrowheads="1"/>
          </p:cNvSpPr>
          <p:nvPr/>
        </p:nvSpPr>
        <p:spPr bwMode="auto">
          <a:xfrm>
            <a:off x="3429000" y="3135948"/>
            <a:ext cx="5427029" cy="1376362"/>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p:spPr>
        <p:txBody>
          <a:bodyPr tIns="27432" bIns="27432" anchor="ctr"/>
          <a:lstStyle/>
          <a:p>
            <a:pPr algn="l"/>
            <a:r>
              <a:rPr lang="en-US" sz="2200" dirty="0" err="1">
                <a:solidFill>
                  <a:schemeClr val="tx1"/>
                </a:solidFill>
                <a:effectLst/>
                <a:cs typeface="Times New Roman" pitchFamily="18" charset="0"/>
              </a:rPr>
              <a:t>Données</a:t>
            </a:r>
            <a:r>
              <a:rPr lang="en-US" sz="2200" dirty="0">
                <a:solidFill>
                  <a:schemeClr val="tx1"/>
                </a:solidFill>
                <a:effectLst/>
                <a:cs typeface="Times New Roman" pitchFamily="18" charset="0"/>
              </a:rPr>
              <a:t> </a:t>
            </a:r>
            <a:r>
              <a:rPr lang="en-US" sz="2200" dirty="0" err="1">
                <a:solidFill>
                  <a:schemeClr val="tx1"/>
                </a:solidFill>
                <a:effectLst/>
                <a:cs typeface="Times New Roman" pitchFamily="18" charset="0"/>
              </a:rPr>
              <a:t>écrites</a:t>
            </a:r>
            <a:r>
              <a:rPr lang="en-US" sz="2200" dirty="0">
                <a:solidFill>
                  <a:schemeClr val="tx1"/>
                </a:solidFill>
                <a:effectLst/>
                <a:cs typeface="Times New Roman" pitchFamily="18" charset="0"/>
              </a:rPr>
              <a:t> </a:t>
            </a:r>
            <a:r>
              <a:rPr lang="en-US" sz="2200" dirty="0" err="1">
                <a:solidFill>
                  <a:schemeClr val="tx1"/>
                </a:solidFill>
                <a:effectLst/>
                <a:cs typeface="Times New Roman" pitchFamily="18" charset="0"/>
              </a:rPr>
              <a:t>alternativement</a:t>
            </a:r>
            <a:r>
              <a:rPr lang="en-US" sz="2200" dirty="0">
                <a:solidFill>
                  <a:schemeClr val="tx1"/>
                </a:solidFill>
                <a:effectLst/>
                <a:cs typeface="Times New Roman" pitchFamily="18" charset="0"/>
              </a:rPr>
              <a:t> et </a:t>
            </a:r>
            <a:r>
              <a:rPr lang="en-US" sz="2200" dirty="0" err="1">
                <a:solidFill>
                  <a:schemeClr val="tx1"/>
                </a:solidFill>
                <a:effectLst/>
                <a:cs typeface="Times New Roman" pitchFamily="18" charset="0"/>
              </a:rPr>
              <a:t>équitablement</a:t>
            </a:r>
            <a:r>
              <a:rPr lang="en-US" sz="2200" dirty="0">
                <a:solidFill>
                  <a:schemeClr val="tx1"/>
                </a:solidFill>
                <a:effectLst/>
                <a:cs typeface="Times New Roman" pitchFamily="18" charset="0"/>
              </a:rPr>
              <a:t> </a:t>
            </a:r>
            <a:r>
              <a:rPr lang="en-US" sz="2200" dirty="0" err="1">
                <a:solidFill>
                  <a:schemeClr val="tx1"/>
                </a:solidFill>
                <a:effectLst/>
                <a:cs typeface="Times New Roman" pitchFamily="18" charset="0"/>
              </a:rPr>
              <a:t>sur</a:t>
            </a:r>
            <a:r>
              <a:rPr lang="en-US" sz="2200" dirty="0">
                <a:solidFill>
                  <a:schemeClr val="tx1"/>
                </a:solidFill>
                <a:effectLst/>
                <a:cs typeface="Times New Roman" pitchFamily="18" charset="0"/>
              </a:rPr>
              <a:t> </a:t>
            </a:r>
            <a:r>
              <a:rPr lang="en-US" sz="2200" dirty="0" err="1">
                <a:solidFill>
                  <a:schemeClr val="tx1"/>
                </a:solidFill>
                <a:effectLst/>
                <a:cs typeface="Times New Roman" pitchFamily="18" charset="0"/>
              </a:rPr>
              <a:t>deux</a:t>
            </a:r>
            <a:r>
              <a:rPr lang="en-US" sz="2200" dirty="0">
                <a:solidFill>
                  <a:schemeClr val="tx1"/>
                </a:solidFill>
                <a:effectLst/>
                <a:cs typeface="Times New Roman" pitchFamily="18" charset="0"/>
              </a:rPr>
              <a:t> </a:t>
            </a:r>
            <a:r>
              <a:rPr lang="en-US" sz="2200" dirty="0" err="1">
                <a:solidFill>
                  <a:schemeClr val="tx1"/>
                </a:solidFill>
                <a:effectLst/>
                <a:cs typeface="Times New Roman" pitchFamily="18" charset="0"/>
              </a:rPr>
              <a:t>disques</a:t>
            </a:r>
            <a:r>
              <a:rPr lang="en-US" sz="2200" dirty="0">
                <a:solidFill>
                  <a:schemeClr val="tx1"/>
                </a:solidFill>
                <a:effectLst/>
                <a:cs typeface="Times New Roman" pitchFamily="18" charset="0"/>
              </a:rPr>
              <a:t> </a:t>
            </a:r>
            <a:br>
              <a:rPr lang="en-US" sz="2200" dirty="0">
                <a:solidFill>
                  <a:schemeClr val="tx1"/>
                </a:solidFill>
                <a:effectLst/>
                <a:cs typeface="Times New Roman" pitchFamily="18" charset="0"/>
              </a:rPr>
            </a:br>
            <a:r>
              <a:rPr lang="en-US" sz="2200" dirty="0" err="1">
                <a:solidFill>
                  <a:schemeClr val="tx1"/>
                </a:solidFill>
                <a:effectLst/>
                <a:cs typeface="Times New Roman" pitchFamily="18" charset="0"/>
              </a:rPr>
              <a:t>ou</a:t>
            </a:r>
            <a:r>
              <a:rPr lang="en-US" sz="2200" dirty="0">
                <a:solidFill>
                  <a:schemeClr val="tx1"/>
                </a:solidFill>
                <a:effectLst/>
                <a:cs typeface="Times New Roman" pitchFamily="18" charset="0"/>
              </a:rPr>
              <a:t> plus</a:t>
            </a:r>
          </a:p>
        </p:txBody>
      </p:sp>
      <p:sp>
        <p:nvSpPr>
          <p:cNvPr id="365668" name="Rectangle 100"/>
          <p:cNvSpPr>
            <a:spLocks noChangeArrowheads="1"/>
          </p:cNvSpPr>
          <p:nvPr/>
        </p:nvSpPr>
        <p:spPr bwMode="auto">
          <a:xfrm>
            <a:off x="3459480" y="4725035"/>
            <a:ext cx="5396549" cy="1401763"/>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p:spPr>
        <p:txBody>
          <a:bodyPr tIns="27432" bIns="27432" anchor="ctr"/>
          <a:lstStyle/>
          <a:p>
            <a:pPr algn="l"/>
            <a:r>
              <a:rPr lang="fr-FR" sz="2200" dirty="0">
                <a:solidFill>
                  <a:schemeClr val="tx1"/>
                </a:solidFill>
                <a:effectLst/>
                <a:cs typeface="Times New Roman" pitchFamily="18" charset="0"/>
              </a:rPr>
              <a:t>Inclut l'espace disque de deux disques physiques ou plus</a:t>
            </a:r>
            <a:r>
              <a:rPr lang="en-US" sz="2200" dirty="0">
                <a:solidFill>
                  <a:schemeClr val="tx1"/>
                </a:solidFill>
                <a:effectLst/>
                <a:cs typeface="Times New Roman" pitchFamily="18" charset="0"/>
              </a:rPr>
              <a:t>, en </a:t>
            </a:r>
            <a:r>
              <a:rPr lang="en-US" sz="2200" dirty="0" err="1">
                <a:solidFill>
                  <a:schemeClr val="tx1"/>
                </a:solidFill>
                <a:effectLst/>
                <a:cs typeface="Times New Roman" pitchFamily="18" charset="0"/>
              </a:rPr>
              <a:t>remplissant</a:t>
            </a:r>
            <a:r>
              <a:rPr lang="en-US" sz="2200" dirty="0">
                <a:solidFill>
                  <a:schemeClr val="tx1"/>
                </a:solidFill>
                <a:effectLst/>
                <a:cs typeface="Times New Roman" pitchFamily="18" charset="0"/>
              </a:rPr>
              <a:t> le premier </a:t>
            </a:r>
            <a:r>
              <a:rPr lang="en-US" sz="2200" dirty="0" err="1">
                <a:solidFill>
                  <a:schemeClr val="tx1"/>
                </a:solidFill>
                <a:effectLst/>
                <a:cs typeface="Times New Roman" pitchFamily="18" charset="0"/>
              </a:rPr>
              <a:t>disque</a:t>
            </a:r>
            <a:r>
              <a:rPr lang="en-US" sz="2200" dirty="0">
                <a:solidFill>
                  <a:schemeClr val="tx1"/>
                </a:solidFill>
                <a:effectLst/>
                <a:cs typeface="Times New Roman" pitchFamily="18" charset="0"/>
              </a:rPr>
              <a:t>, </a:t>
            </a:r>
            <a:r>
              <a:rPr lang="en-US" sz="2200" dirty="0" err="1">
                <a:solidFill>
                  <a:schemeClr val="tx1"/>
                </a:solidFill>
                <a:effectLst/>
                <a:cs typeface="Times New Roman" pitchFamily="18" charset="0"/>
              </a:rPr>
              <a:t>puis</a:t>
            </a:r>
            <a:r>
              <a:rPr lang="en-US" sz="2200" dirty="0">
                <a:solidFill>
                  <a:schemeClr val="tx1"/>
                </a:solidFill>
                <a:effectLst/>
                <a:cs typeface="Times New Roman" pitchFamily="18" charset="0"/>
              </a:rPr>
              <a:t> le </a:t>
            </a:r>
            <a:r>
              <a:rPr lang="en-US" sz="2200" dirty="0" err="1">
                <a:solidFill>
                  <a:schemeClr val="tx1"/>
                </a:solidFill>
                <a:effectLst/>
                <a:cs typeface="Times New Roman" pitchFamily="18" charset="0"/>
              </a:rPr>
              <a:t>deuxième</a:t>
            </a:r>
            <a:r>
              <a:rPr lang="en-US" sz="2200" dirty="0">
                <a:solidFill>
                  <a:schemeClr val="tx1"/>
                </a:solidFill>
                <a:effectLst/>
                <a:cs typeface="Times New Roman" pitchFamily="18" charset="0"/>
              </a:rPr>
              <a:t>, etc.</a:t>
            </a:r>
            <a:endParaRPr lang="en-US" sz="2200" dirty="0">
              <a:solidFill>
                <a:schemeClr val="tx1"/>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65613"/>
                                        </p:tgtEl>
                                        <p:attrNameLst>
                                          <p:attrName>style.visibility</p:attrName>
                                        </p:attrNameLst>
                                      </p:cBhvr>
                                      <p:to>
                                        <p:strVal val="visible"/>
                                      </p:to>
                                    </p:set>
                                    <p:animEffect transition="in" filter="checkerboard(across)">
                                      <p:cBhvr>
                                        <p:cTn id="7" dur="500"/>
                                        <p:tgtEl>
                                          <p:spTgt spid="365613"/>
                                        </p:tgtEl>
                                      </p:cBhvr>
                                    </p:animEffect>
                                  </p:childTnLst>
                                </p:cTn>
                              </p:par>
                              <p:par>
                                <p:cTn id="8" presetID="5" presetClass="entr" presetSubtype="10" fill="hold" nodeType="withEffect">
                                  <p:stCondLst>
                                    <p:cond delay="0"/>
                                  </p:stCondLst>
                                  <p:childTnLst>
                                    <p:set>
                                      <p:cBhvr>
                                        <p:cTn id="9" dur="1" fill="hold">
                                          <p:stCondLst>
                                            <p:cond delay="0"/>
                                          </p:stCondLst>
                                        </p:cTn>
                                        <p:tgtEl>
                                          <p:spTgt spid="365614"/>
                                        </p:tgtEl>
                                        <p:attrNameLst>
                                          <p:attrName>style.visibility</p:attrName>
                                        </p:attrNameLst>
                                      </p:cBhvr>
                                      <p:to>
                                        <p:strVal val="visible"/>
                                      </p:to>
                                    </p:set>
                                    <p:animEffect transition="in" filter="checkerboard(across)">
                                      <p:cBhvr>
                                        <p:cTn id="10" dur="500"/>
                                        <p:tgtEl>
                                          <p:spTgt spid="365614"/>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365666"/>
                                        </p:tgtEl>
                                        <p:attrNameLst>
                                          <p:attrName>style.visibility</p:attrName>
                                        </p:attrNameLst>
                                      </p:cBhvr>
                                      <p:to>
                                        <p:strVal val="visible"/>
                                      </p:to>
                                    </p:set>
                                    <p:animEffect transition="in" filter="checkerboard(across)">
                                      <p:cBhvr>
                                        <p:cTn id="13" dur="500"/>
                                        <p:tgtEl>
                                          <p:spTgt spid="365666"/>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365575"/>
                                        </p:tgtEl>
                                        <p:attrNameLst>
                                          <p:attrName>style.visibility</p:attrName>
                                        </p:attrNameLst>
                                      </p:cBhvr>
                                      <p:to>
                                        <p:strVal val="visible"/>
                                      </p:to>
                                    </p:set>
                                    <p:animEffect transition="in" filter="checkerboard(across)">
                                      <p:cBhvr>
                                        <p:cTn id="18" dur="500"/>
                                        <p:tgtEl>
                                          <p:spTgt spid="365575"/>
                                        </p:tgtEl>
                                      </p:cBhvr>
                                    </p:animEffect>
                                  </p:childTnLst>
                                </p:cTn>
                              </p:par>
                              <p:par>
                                <p:cTn id="19" presetID="5" presetClass="entr" presetSubtype="10" fill="hold" nodeType="withEffect">
                                  <p:stCondLst>
                                    <p:cond delay="0"/>
                                  </p:stCondLst>
                                  <p:childTnLst>
                                    <p:set>
                                      <p:cBhvr>
                                        <p:cTn id="20" dur="1" fill="hold">
                                          <p:stCondLst>
                                            <p:cond delay="0"/>
                                          </p:stCondLst>
                                        </p:cTn>
                                        <p:tgtEl>
                                          <p:spTgt spid="365576"/>
                                        </p:tgtEl>
                                        <p:attrNameLst>
                                          <p:attrName>style.visibility</p:attrName>
                                        </p:attrNameLst>
                                      </p:cBhvr>
                                      <p:to>
                                        <p:strVal val="visible"/>
                                      </p:to>
                                    </p:set>
                                    <p:animEffect transition="in" filter="checkerboard(across)">
                                      <p:cBhvr>
                                        <p:cTn id="21" dur="500"/>
                                        <p:tgtEl>
                                          <p:spTgt spid="365576"/>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365667"/>
                                        </p:tgtEl>
                                        <p:attrNameLst>
                                          <p:attrName>style.visibility</p:attrName>
                                        </p:attrNameLst>
                                      </p:cBhvr>
                                      <p:to>
                                        <p:strVal val="visible"/>
                                      </p:to>
                                    </p:set>
                                    <p:animEffect transition="in" filter="checkerboard(across)">
                                      <p:cBhvr>
                                        <p:cTn id="24" dur="500"/>
                                        <p:tgtEl>
                                          <p:spTgt spid="365667"/>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365631"/>
                                        </p:tgtEl>
                                        <p:attrNameLst>
                                          <p:attrName>style.visibility</p:attrName>
                                        </p:attrNameLst>
                                      </p:cBhvr>
                                      <p:to>
                                        <p:strVal val="visible"/>
                                      </p:to>
                                    </p:set>
                                    <p:animEffect transition="in" filter="checkerboard(across)">
                                      <p:cBhvr>
                                        <p:cTn id="29" dur="500"/>
                                        <p:tgtEl>
                                          <p:spTgt spid="365631"/>
                                        </p:tgtEl>
                                      </p:cBhvr>
                                    </p:animEffect>
                                  </p:childTnLst>
                                </p:cTn>
                              </p:par>
                              <p:par>
                                <p:cTn id="30" presetID="5" presetClass="entr" presetSubtype="10" fill="hold" grpId="0" nodeType="withEffect">
                                  <p:stCondLst>
                                    <p:cond delay="0"/>
                                  </p:stCondLst>
                                  <p:childTnLst>
                                    <p:set>
                                      <p:cBhvr>
                                        <p:cTn id="31" dur="1" fill="hold">
                                          <p:stCondLst>
                                            <p:cond delay="0"/>
                                          </p:stCondLst>
                                        </p:cTn>
                                        <p:tgtEl>
                                          <p:spTgt spid="365633"/>
                                        </p:tgtEl>
                                        <p:attrNameLst>
                                          <p:attrName>style.visibility</p:attrName>
                                        </p:attrNameLst>
                                      </p:cBhvr>
                                      <p:to>
                                        <p:strVal val="visible"/>
                                      </p:to>
                                    </p:set>
                                    <p:animEffect transition="in" filter="checkerboard(across)">
                                      <p:cBhvr>
                                        <p:cTn id="32" dur="500"/>
                                        <p:tgtEl>
                                          <p:spTgt spid="365633"/>
                                        </p:tgtEl>
                                      </p:cBhvr>
                                    </p:animEffect>
                                  </p:childTnLst>
                                </p:cTn>
                              </p:par>
                              <p:par>
                                <p:cTn id="33" presetID="5" presetClass="entr" presetSubtype="10" fill="hold" nodeType="withEffect">
                                  <p:stCondLst>
                                    <p:cond delay="0"/>
                                  </p:stCondLst>
                                  <p:childTnLst>
                                    <p:set>
                                      <p:cBhvr>
                                        <p:cTn id="34" dur="1" fill="hold">
                                          <p:stCondLst>
                                            <p:cond delay="0"/>
                                          </p:stCondLst>
                                        </p:cTn>
                                        <p:tgtEl>
                                          <p:spTgt spid="365635"/>
                                        </p:tgtEl>
                                        <p:attrNameLst>
                                          <p:attrName>style.visibility</p:attrName>
                                        </p:attrNameLst>
                                      </p:cBhvr>
                                      <p:to>
                                        <p:strVal val="visible"/>
                                      </p:to>
                                    </p:set>
                                    <p:animEffect transition="in" filter="checkerboard(across)">
                                      <p:cBhvr>
                                        <p:cTn id="35" dur="500"/>
                                        <p:tgtEl>
                                          <p:spTgt spid="365635"/>
                                        </p:tgtEl>
                                      </p:cBhvr>
                                    </p:animEffect>
                                  </p:childTnLst>
                                </p:cTn>
                              </p:par>
                              <p:par>
                                <p:cTn id="36" presetID="5" presetClass="entr" presetSubtype="10" fill="hold" nodeType="withEffect">
                                  <p:stCondLst>
                                    <p:cond delay="0"/>
                                  </p:stCondLst>
                                  <p:childTnLst>
                                    <p:set>
                                      <p:cBhvr>
                                        <p:cTn id="37" dur="1" fill="hold">
                                          <p:stCondLst>
                                            <p:cond delay="0"/>
                                          </p:stCondLst>
                                        </p:cTn>
                                        <p:tgtEl>
                                          <p:spTgt spid="365649"/>
                                        </p:tgtEl>
                                        <p:attrNameLst>
                                          <p:attrName>style.visibility</p:attrName>
                                        </p:attrNameLst>
                                      </p:cBhvr>
                                      <p:to>
                                        <p:strVal val="visible"/>
                                      </p:to>
                                    </p:set>
                                    <p:animEffect transition="in" filter="checkerboard(across)">
                                      <p:cBhvr>
                                        <p:cTn id="38" dur="500"/>
                                        <p:tgtEl>
                                          <p:spTgt spid="365649"/>
                                        </p:tgtEl>
                                      </p:cBhvr>
                                    </p:animEffect>
                                  </p:childTnLst>
                                </p:cTn>
                              </p:par>
                              <p:par>
                                <p:cTn id="39" presetID="5" presetClass="entr" presetSubtype="10" fill="hold" grpId="0" nodeType="withEffect">
                                  <p:stCondLst>
                                    <p:cond delay="0"/>
                                  </p:stCondLst>
                                  <p:childTnLst>
                                    <p:set>
                                      <p:cBhvr>
                                        <p:cTn id="40" dur="1" fill="hold">
                                          <p:stCondLst>
                                            <p:cond delay="0"/>
                                          </p:stCondLst>
                                        </p:cTn>
                                        <p:tgtEl>
                                          <p:spTgt spid="365664"/>
                                        </p:tgtEl>
                                        <p:attrNameLst>
                                          <p:attrName>style.visibility</p:attrName>
                                        </p:attrNameLst>
                                      </p:cBhvr>
                                      <p:to>
                                        <p:strVal val="visible"/>
                                      </p:to>
                                    </p:set>
                                    <p:animEffect transition="in" filter="checkerboard(across)">
                                      <p:cBhvr>
                                        <p:cTn id="41" dur="500"/>
                                        <p:tgtEl>
                                          <p:spTgt spid="365664"/>
                                        </p:tgtEl>
                                      </p:cBhvr>
                                    </p:animEffect>
                                  </p:childTnLst>
                                </p:cTn>
                              </p:par>
                              <p:par>
                                <p:cTn id="42" presetID="5" presetClass="entr" presetSubtype="10" fill="hold" grpId="0" nodeType="withEffect">
                                  <p:stCondLst>
                                    <p:cond delay="0"/>
                                  </p:stCondLst>
                                  <p:childTnLst>
                                    <p:set>
                                      <p:cBhvr>
                                        <p:cTn id="43" dur="1" fill="hold">
                                          <p:stCondLst>
                                            <p:cond delay="0"/>
                                          </p:stCondLst>
                                        </p:cTn>
                                        <p:tgtEl>
                                          <p:spTgt spid="365665"/>
                                        </p:tgtEl>
                                        <p:attrNameLst>
                                          <p:attrName>style.visibility</p:attrName>
                                        </p:attrNameLst>
                                      </p:cBhvr>
                                      <p:to>
                                        <p:strVal val="visible"/>
                                      </p:to>
                                    </p:set>
                                    <p:animEffect transition="in" filter="checkerboard(across)">
                                      <p:cBhvr>
                                        <p:cTn id="44" dur="500"/>
                                        <p:tgtEl>
                                          <p:spTgt spid="365665"/>
                                        </p:tgtEl>
                                      </p:cBhvr>
                                    </p:animEffect>
                                  </p:childTnLst>
                                </p:cTn>
                              </p:par>
                              <p:par>
                                <p:cTn id="45" presetID="5" presetClass="entr" presetSubtype="10" fill="hold" grpId="0" nodeType="withEffect">
                                  <p:stCondLst>
                                    <p:cond delay="0"/>
                                  </p:stCondLst>
                                  <p:childTnLst>
                                    <p:set>
                                      <p:cBhvr>
                                        <p:cTn id="46" dur="1" fill="hold">
                                          <p:stCondLst>
                                            <p:cond delay="0"/>
                                          </p:stCondLst>
                                        </p:cTn>
                                        <p:tgtEl>
                                          <p:spTgt spid="365668"/>
                                        </p:tgtEl>
                                        <p:attrNameLst>
                                          <p:attrName>style.visibility</p:attrName>
                                        </p:attrNameLst>
                                      </p:cBhvr>
                                      <p:to>
                                        <p:strVal val="visible"/>
                                      </p:to>
                                    </p:set>
                                    <p:animEffect transition="in" filter="checkerboard(across)">
                                      <p:cBhvr>
                                        <p:cTn id="47" dur="500"/>
                                        <p:tgtEl>
                                          <p:spTgt spid="365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5" grpId="0" animBg="1"/>
      <p:bldP spid="365613" grpId="0" animBg="1"/>
      <p:bldP spid="365631" grpId="0" animBg="1"/>
      <p:bldP spid="365633" grpId="0" animBg="1"/>
      <p:bldP spid="365664" grpId="0" animBg="1"/>
      <p:bldP spid="365665" grpId="0" animBg="1"/>
      <p:bldP spid="365666" grpId="0" animBg="1"/>
      <p:bldP spid="365667" grpId="0" animBg="1"/>
      <p:bldP spid="36566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ChangeArrowheads="1"/>
          </p:cNvSpPr>
          <p:nvPr>
            <p:ph type="title"/>
          </p:nvPr>
        </p:nvSpPr>
        <p:spPr>
          <a:xfrm>
            <a:off x="301752" y="228600"/>
            <a:ext cx="8534400" cy="644236"/>
          </a:xfrm>
          <a:noFill/>
          <a:ln/>
        </p:spPr>
        <p:txBody>
          <a:bodyPr vert="horz" anchor="b">
            <a:normAutofit/>
          </a:bodyPr>
          <a:lstStyle/>
          <a:p>
            <a:r>
              <a:rPr lang="en-US" dirty="0" err="1">
                <a:solidFill>
                  <a:srgbClr val="C00000"/>
                </a:solidFill>
              </a:rPr>
              <a:t>Qu’es-ce</a:t>
            </a:r>
            <a:r>
              <a:rPr lang="en-US" dirty="0">
                <a:solidFill>
                  <a:srgbClr val="C00000"/>
                </a:solidFill>
              </a:rPr>
              <a:t> </a:t>
            </a:r>
            <a:r>
              <a:rPr lang="en-US" dirty="0" err="1">
                <a:solidFill>
                  <a:srgbClr val="C00000"/>
                </a:solidFill>
              </a:rPr>
              <a:t>qu’un</a:t>
            </a:r>
            <a:r>
              <a:rPr lang="en-US" dirty="0">
                <a:solidFill>
                  <a:srgbClr val="C00000"/>
                </a:solidFill>
              </a:rPr>
              <a:t> volume simple?</a:t>
            </a:r>
          </a:p>
        </p:txBody>
      </p:sp>
      <p:sp>
        <p:nvSpPr>
          <p:cNvPr id="367620" name="Rectangle 4"/>
          <p:cNvSpPr>
            <a:spLocks noChangeArrowheads="1"/>
          </p:cNvSpPr>
          <p:nvPr/>
        </p:nvSpPr>
        <p:spPr bwMode="auto">
          <a:xfrm>
            <a:off x="180111" y="4156363"/>
            <a:ext cx="8700654" cy="2029259"/>
          </a:xfrm>
          <a:prstGeom prst="rect">
            <a:avLst/>
          </a:prstGeom>
          <a:solidFill>
            <a:schemeClr val="bg1"/>
          </a:solidFill>
          <a:ln w="9525">
            <a:noFill/>
            <a:miter lim="800000"/>
            <a:headEnd/>
            <a:tailEnd/>
          </a:ln>
          <a:effectLst/>
        </p:spPr>
        <p:txBody>
          <a:bodyPr lIns="182880" anchor="b"/>
          <a:lstStyle/>
          <a:p>
            <a:r>
              <a:rPr lang="fr-FR" sz="2400" dirty="0">
                <a:solidFill>
                  <a:schemeClr val="tx1"/>
                </a:solidFill>
              </a:rPr>
              <a:t>Le volume simple </a:t>
            </a:r>
          </a:p>
          <a:p>
            <a:pPr algn="l">
              <a:buFont typeface="Wingdings" pitchFamily="2" charset="2"/>
              <a:buChar char="q"/>
            </a:pPr>
            <a:r>
              <a:rPr lang="fr-FR" sz="2400" b="0" dirty="0">
                <a:solidFill>
                  <a:schemeClr val="tx1"/>
                </a:solidFill>
                <a:effectLst/>
              </a:rPr>
              <a:t>Il englobe l'espace libre disponible d'un seul disque. </a:t>
            </a:r>
          </a:p>
          <a:p>
            <a:pPr algn="l">
              <a:buFont typeface="Wingdings" pitchFamily="2" charset="2"/>
              <a:buChar char="q"/>
            </a:pPr>
            <a:r>
              <a:rPr lang="fr-FR" sz="2400" b="0" dirty="0">
                <a:solidFill>
                  <a:schemeClr val="tx1"/>
                </a:solidFill>
                <a:effectLst/>
              </a:rPr>
              <a:t>Il peut comporter une zone unique ou plusieurs zones liées les unes aux autres sur le même disque. </a:t>
            </a:r>
          </a:p>
          <a:p>
            <a:pPr algn="l">
              <a:buFont typeface="Wingdings" pitchFamily="2" charset="2"/>
              <a:buChar char="q"/>
            </a:pPr>
            <a:r>
              <a:rPr lang="fr-FR" sz="2400" b="0" dirty="0">
                <a:solidFill>
                  <a:schemeClr val="tx1"/>
                </a:solidFill>
                <a:effectLst/>
              </a:rPr>
              <a:t>Il ne tolère pas les pannes </a:t>
            </a:r>
          </a:p>
        </p:txBody>
      </p:sp>
      <p:pic>
        <p:nvPicPr>
          <p:cNvPr id="43011" name="Picture 3"/>
          <p:cNvPicPr>
            <a:picLocks noChangeAspect="1" noChangeArrowheads="1"/>
          </p:cNvPicPr>
          <p:nvPr/>
        </p:nvPicPr>
        <p:blipFill>
          <a:blip r:embed="rId3"/>
          <a:srcRect/>
          <a:stretch>
            <a:fillRect/>
          </a:stretch>
        </p:blipFill>
        <p:spPr bwMode="auto">
          <a:xfrm>
            <a:off x="238992" y="1792865"/>
            <a:ext cx="8610600" cy="2155681"/>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67620">
                                            <p:txEl>
                                              <p:pRg st="0" end="0"/>
                                            </p:txEl>
                                          </p:spTgt>
                                        </p:tgtEl>
                                        <p:attrNameLst>
                                          <p:attrName>style.visibility</p:attrName>
                                        </p:attrNameLst>
                                      </p:cBhvr>
                                      <p:to>
                                        <p:strVal val="visible"/>
                                      </p:to>
                                    </p:set>
                                    <p:animEffect transition="in" filter="checkerboard(across)">
                                      <p:cBhvr>
                                        <p:cTn id="7" dur="500"/>
                                        <p:tgtEl>
                                          <p:spTgt spid="3676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67620">
                                            <p:txEl>
                                              <p:pRg st="1" end="1"/>
                                            </p:txEl>
                                          </p:spTgt>
                                        </p:tgtEl>
                                        <p:attrNameLst>
                                          <p:attrName>style.visibility</p:attrName>
                                        </p:attrNameLst>
                                      </p:cBhvr>
                                      <p:to>
                                        <p:strVal val="visible"/>
                                      </p:to>
                                    </p:set>
                                    <p:animEffect transition="in" filter="checkerboard(across)">
                                      <p:cBhvr>
                                        <p:cTn id="12" dur="500"/>
                                        <p:tgtEl>
                                          <p:spTgt spid="3676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67620">
                                            <p:txEl>
                                              <p:pRg st="2" end="2"/>
                                            </p:txEl>
                                          </p:spTgt>
                                        </p:tgtEl>
                                        <p:attrNameLst>
                                          <p:attrName>style.visibility</p:attrName>
                                        </p:attrNameLst>
                                      </p:cBhvr>
                                      <p:to>
                                        <p:strVal val="visible"/>
                                      </p:to>
                                    </p:set>
                                    <p:animEffect transition="in" filter="checkerboard(across)">
                                      <p:cBhvr>
                                        <p:cTn id="17" dur="500"/>
                                        <p:tgtEl>
                                          <p:spTgt spid="3676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67620">
                                            <p:txEl>
                                              <p:pRg st="3" end="3"/>
                                            </p:txEl>
                                          </p:spTgt>
                                        </p:tgtEl>
                                        <p:attrNameLst>
                                          <p:attrName>style.visibility</p:attrName>
                                        </p:attrNameLst>
                                      </p:cBhvr>
                                      <p:to>
                                        <p:strVal val="visible"/>
                                      </p:to>
                                    </p:set>
                                    <p:animEffect transition="in" filter="checkerboard(across)">
                                      <p:cBhvr>
                                        <p:cTn id="22" dur="500"/>
                                        <p:tgtEl>
                                          <p:spTgt spid="3676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4"/>
          <p:cNvGrpSpPr>
            <a:grpSpLocks/>
          </p:cNvGrpSpPr>
          <p:nvPr/>
        </p:nvGrpSpPr>
        <p:grpSpPr bwMode="auto">
          <a:xfrm>
            <a:off x="136525" y="1342740"/>
            <a:ext cx="8870950" cy="4749800"/>
            <a:chOff x="136525" y="1231900"/>
            <a:chExt cx="8870950" cy="4749800"/>
          </a:xfrm>
        </p:grpSpPr>
        <p:sp>
          <p:nvSpPr>
            <p:cNvPr id="33" name="AutoShape 24"/>
            <p:cNvSpPr>
              <a:spLocks noChangeArrowheads="1"/>
            </p:cNvSpPr>
            <p:nvPr/>
          </p:nvSpPr>
          <p:spPr bwMode="auto">
            <a:xfrm>
              <a:off x="136525" y="1231900"/>
              <a:ext cx="8870950" cy="4749800"/>
            </a:xfrm>
            <a:prstGeom prst="roundRect">
              <a:avLst>
                <a:gd name="adj" fmla="val 4167"/>
              </a:avLst>
            </a:prstGeom>
            <a:gradFill rotWithShape="0">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buFont typeface="Arial" pitchFamily="34" charset="0"/>
                <a:buChar char="•"/>
                <a:defRPr/>
              </a:pPr>
              <a:endParaRPr lang="en-US" sz="2000" b="0" dirty="0">
                <a:cs typeface="Arial" charset="0"/>
              </a:endParaRPr>
            </a:p>
          </p:txBody>
        </p:sp>
        <p:sp>
          <p:nvSpPr>
            <p:cNvPr id="30" name="AutoShape 39"/>
            <p:cNvSpPr>
              <a:spLocks noChangeArrowheads="1"/>
            </p:cNvSpPr>
            <p:nvPr/>
          </p:nvSpPr>
          <p:spPr bwMode="auto">
            <a:xfrm>
              <a:off x="401638" y="1463675"/>
              <a:ext cx="8259762" cy="2030413"/>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defRPr/>
              </a:pPr>
              <a:r>
                <a:rPr lang="fr-FR" sz="3200" dirty="0">
                  <a:solidFill>
                    <a:schemeClr val="tx1"/>
                  </a:solidFill>
                  <a:effectLst/>
                </a:rPr>
                <a:t>Un volume </a:t>
              </a:r>
              <a:r>
                <a:rPr lang="en-US" sz="3200" dirty="0" err="1">
                  <a:solidFill>
                    <a:schemeClr val="tx1"/>
                  </a:solidFill>
                  <a:effectLst/>
                  <a:cs typeface="Arial" charset="0"/>
                </a:rPr>
                <a:t>Fractionné</a:t>
              </a:r>
              <a:endParaRPr lang="en-US" sz="3200" dirty="0">
                <a:solidFill>
                  <a:schemeClr val="tx1"/>
                </a:solidFill>
                <a:effectLst/>
                <a:cs typeface="Arial" charset="0"/>
              </a:endParaRPr>
            </a:p>
            <a:p>
              <a:pPr marL="231775" indent="-231775">
                <a:lnSpc>
                  <a:spcPct val="90000"/>
                </a:lnSpc>
                <a:spcBef>
                  <a:spcPct val="40000"/>
                </a:spcBef>
                <a:buSzPct val="90000"/>
                <a:defRPr/>
              </a:pPr>
              <a:r>
                <a:rPr lang="fr-FR" sz="2400" dirty="0">
                  <a:solidFill>
                    <a:schemeClr val="tx1"/>
                  </a:solidFill>
                  <a:effectLst/>
                </a:rPr>
                <a:t>Il joint des zones d'espace non alloué sur au moins 2 disques, et au plus 32, dans un disque logique unique</a:t>
              </a:r>
              <a:endParaRPr lang="en-US" sz="2400" b="0" dirty="0">
                <a:solidFill>
                  <a:schemeClr val="tx1"/>
                </a:solidFill>
                <a:effectLst/>
                <a:cs typeface="Arial" charset="0"/>
              </a:endParaRPr>
            </a:p>
          </p:txBody>
        </p:sp>
        <p:sp>
          <p:nvSpPr>
            <p:cNvPr id="32" name="AutoShape 39"/>
            <p:cNvSpPr>
              <a:spLocks noChangeArrowheads="1"/>
            </p:cNvSpPr>
            <p:nvPr/>
          </p:nvSpPr>
          <p:spPr bwMode="auto">
            <a:xfrm>
              <a:off x="409575" y="3719513"/>
              <a:ext cx="8293100" cy="2028825"/>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defRPr/>
              </a:pPr>
              <a:r>
                <a:rPr lang="fr-FR" sz="3200" dirty="0">
                  <a:solidFill>
                    <a:schemeClr val="tx1"/>
                  </a:solidFill>
                  <a:effectLst/>
                </a:rPr>
                <a:t>Un volume </a:t>
              </a:r>
              <a:r>
                <a:rPr lang="en-US" sz="3200" dirty="0" err="1">
                  <a:solidFill>
                    <a:schemeClr val="tx1"/>
                  </a:solidFill>
                  <a:effectLst/>
                  <a:cs typeface="Arial" charset="0"/>
                </a:rPr>
                <a:t>Agrégé</a:t>
              </a:r>
              <a:r>
                <a:rPr lang="en-US" sz="3200" dirty="0">
                  <a:solidFill>
                    <a:schemeClr val="tx1"/>
                  </a:solidFill>
                  <a:effectLst/>
                  <a:cs typeface="Arial" charset="0"/>
                </a:rPr>
                <a:t> par </a:t>
              </a:r>
              <a:r>
                <a:rPr lang="en-US" sz="3200" dirty="0" err="1">
                  <a:solidFill>
                    <a:schemeClr val="tx1"/>
                  </a:solidFill>
                  <a:effectLst/>
                  <a:cs typeface="Arial" charset="0"/>
                </a:rPr>
                <a:t>bande</a:t>
              </a:r>
              <a:r>
                <a:rPr lang="en-US" sz="3200" dirty="0">
                  <a:solidFill>
                    <a:schemeClr val="tx1"/>
                  </a:solidFill>
                  <a:effectLst/>
                  <a:cs typeface="Arial" charset="0"/>
                </a:rPr>
                <a:t> </a:t>
              </a:r>
            </a:p>
            <a:p>
              <a:pPr marL="231775" indent="-231775">
                <a:lnSpc>
                  <a:spcPct val="90000"/>
                </a:lnSpc>
                <a:spcBef>
                  <a:spcPct val="40000"/>
                </a:spcBef>
                <a:buSzPct val="90000"/>
                <a:defRPr/>
              </a:pPr>
              <a:r>
                <a:rPr lang="fr-FR" sz="2400" dirty="0">
                  <a:solidFill>
                    <a:schemeClr val="tx1"/>
                  </a:solidFill>
                  <a:effectLst/>
                </a:rPr>
                <a:t>requiert au moins deux disques et mappe cycliquement les bandes de données sur les disques.</a:t>
              </a:r>
              <a:endParaRPr lang="en-US" sz="2400" b="0" dirty="0">
                <a:solidFill>
                  <a:schemeClr val="tx1"/>
                </a:solidFill>
                <a:effectLst/>
                <a:cs typeface="Arial" charset="0"/>
              </a:endParaRPr>
            </a:p>
          </p:txBody>
        </p:sp>
      </p:grpSp>
      <p:grpSp>
        <p:nvGrpSpPr>
          <p:cNvPr id="3" name="Group 37"/>
          <p:cNvGrpSpPr>
            <a:grpSpLocks/>
          </p:cNvGrpSpPr>
          <p:nvPr/>
        </p:nvGrpSpPr>
        <p:grpSpPr bwMode="auto">
          <a:xfrm>
            <a:off x="4610540" y="1337110"/>
            <a:ext cx="4389437" cy="4675764"/>
            <a:chOff x="4598988" y="893764"/>
            <a:chExt cx="4389437" cy="4675485"/>
          </a:xfrm>
        </p:grpSpPr>
        <p:sp>
          <p:nvSpPr>
            <p:cNvPr id="15" name="AutoShape 24"/>
            <p:cNvSpPr>
              <a:spLocks noChangeArrowheads="1"/>
            </p:cNvSpPr>
            <p:nvPr/>
          </p:nvSpPr>
          <p:spPr bwMode="auto">
            <a:xfrm>
              <a:off x="4598988" y="893764"/>
              <a:ext cx="4389437" cy="4675485"/>
            </a:xfrm>
            <a:prstGeom prst="roundRect">
              <a:avLst>
                <a:gd name="adj" fmla="val 4167"/>
              </a:avLst>
            </a:prstGeom>
            <a:gradFill rotWithShape="1">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a:lstStyle/>
            <a:p>
              <a:pPr marL="231775" indent="-231775">
                <a:lnSpc>
                  <a:spcPct val="90000"/>
                </a:lnSpc>
                <a:spcBef>
                  <a:spcPct val="40000"/>
                </a:spcBef>
                <a:buSzPct val="90000"/>
                <a:defRPr/>
              </a:pPr>
              <a:r>
                <a:rPr lang="en-US" sz="2400" dirty="0" err="1">
                  <a:solidFill>
                    <a:schemeClr val="tx1"/>
                  </a:solidFill>
                  <a:effectLst/>
                  <a:cs typeface="Arial" charset="0"/>
                </a:rPr>
                <a:t>Agrégé</a:t>
              </a:r>
              <a:r>
                <a:rPr lang="en-US" sz="2400" dirty="0">
                  <a:solidFill>
                    <a:schemeClr val="tx1"/>
                  </a:solidFill>
                  <a:effectLst/>
                  <a:cs typeface="Arial" charset="0"/>
                </a:rPr>
                <a:t> par </a:t>
              </a:r>
              <a:r>
                <a:rPr lang="en-US" sz="2400" dirty="0" err="1">
                  <a:solidFill>
                    <a:schemeClr val="tx1"/>
                  </a:solidFill>
                  <a:effectLst/>
                  <a:cs typeface="Arial" charset="0"/>
                </a:rPr>
                <a:t>bande</a:t>
              </a:r>
              <a:endParaRPr lang="en-US" sz="2400" dirty="0">
                <a:solidFill>
                  <a:schemeClr val="tx1"/>
                </a:solidFill>
                <a:effectLst/>
                <a:cs typeface="Arial" charset="0"/>
              </a:endParaRPr>
            </a:p>
          </p:txBody>
        </p:sp>
        <p:sp>
          <p:nvSpPr>
            <p:cNvPr id="16" name="AutoShape 39"/>
            <p:cNvSpPr>
              <a:spLocks noChangeArrowheads="1"/>
            </p:cNvSpPr>
            <p:nvPr/>
          </p:nvSpPr>
          <p:spPr bwMode="auto">
            <a:xfrm>
              <a:off x="4686300" y="1447767"/>
              <a:ext cx="4191000" cy="520669"/>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90000"/>
                <a:buFont typeface="Arial" pitchFamily="34" charset="0"/>
                <a:buChar char="•"/>
                <a:defRPr/>
              </a:pPr>
              <a:r>
                <a:rPr lang="en-GB" sz="1600" b="0" dirty="0" err="1">
                  <a:solidFill>
                    <a:schemeClr val="tx1"/>
                  </a:solidFill>
                  <a:effectLst/>
                  <a:cs typeface="Arial" charset="0"/>
                </a:rPr>
                <a:t>Nécessite</a:t>
              </a:r>
              <a:r>
                <a:rPr lang="en-GB" sz="1600" b="0" dirty="0">
                  <a:solidFill>
                    <a:schemeClr val="tx1"/>
                  </a:solidFill>
                  <a:effectLst/>
                  <a:cs typeface="Arial" charset="0"/>
                </a:rPr>
                <a:t> </a:t>
              </a:r>
              <a:r>
                <a:rPr lang="en-GB" sz="1600" b="0" dirty="0" err="1">
                  <a:solidFill>
                    <a:schemeClr val="tx1"/>
                  </a:solidFill>
                  <a:effectLst/>
                  <a:cs typeface="Arial" charset="0"/>
                </a:rPr>
                <a:t>plusieurs</a:t>
              </a:r>
              <a:r>
                <a:rPr lang="en-GB" sz="1600" b="0" dirty="0">
                  <a:solidFill>
                    <a:schemeClr val="tx1"/>
                  </a:solidFill>
                  <a:effectLst/>
                  <a:cs typeface="Arial" charset="0"/>
                </a:rPr>
                <a:t> </a:t>
              </a:r>
              <a:r>
                <a:rPr lang="en-GB" sz="1600" b="0" dirty="0" err="1">
                  <a:solidFill>
                    <a:schemeClr val="tx1"/>
                  </a:solidFill>
                  <a:effectLst/>
                  <a:cs typeface="Arial" charset="0"/>
                </a:rPr>
                <a:t>disques</a:t>
              </a:r>
              <a:r>
                <a:rPr lang="en-GB" sz="1600" b="0" dirty="0">
                  <a:solidFill>
                    <a:schemeClr val="tx1"/>
                  </a:solidFill>
                  <a:effectLst/>
                  <a:cs typeface="Arial" charset="0"/>
                </a:rPr>
                <a:t> </a:t>
              </a:r>
              <a:r>
                <a:rPr lang="en-GB" sz="1600" b="0" dirty="0" err="1">
                  <a:solidFill>
                    <a:schemeClr val="tx1"/>
                  </a:solidFill>
                  <a:effectLst/>
                  <a:cs typeface="Arial" charset="0"/>
                </a:rPr>
                <a:t>dynamiques</a:t>
              </a:r>
              <a:endParaRPr lang="en-GB" sz="1600" b="0" dirty="0">
                <a:solidFill>
                  <a:schemeClr val="tx1"/>
                </a:solidFill>
                <a:effectLst/>
                <a:cs typeface="Arial" charset="0"/>
              </a:endParaRPr>
            </a:p>
          </p:txBody>
        </p:sp>
        <p:sp>
          <p:nvSpPr>
            <p:cNvPr id="17" name="AutoShape 39"/>
            <p:cNvSpPr>
              <a:spLocks noChangeArrowheads="1"/>
            </p:cNvSpPr>
            <p:nvPr/>
          </p:nvSpPr>
          <p:spPr bwMode="auto">
            <a:xfrm>
              <a:off x="4686300" y="2112890"/>
              <a:ext cx="4191000" cy="768304"/>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90000"/>
                <a:buFont typeface="Arial" pitchFamily="34" charset="0"/>
                <a:buChar char="•"/>
                <a:defRPr/>
              </a:pPr>
              <a:r>
                <a:rPr lang="fr-FR" sz="1600" b="0" dirty="0">
                  <a:solidFill>
                    <a:schemeClr val="tx1"/>
                  </a:solidFill>
                  <a:effectLst/>
                  <a:cs typeface="Arial" charset="0"/>
                </a:rPr>
                <a:t>L’espace alloué dans chaque disque doit être identique</a:t>
              </a:r>
              <a:endParaRPr lang="en-GB" sz="1600" b="0" dirty="0">
                <a:solidFill>
                  <a:schemeClr val="tx1"/>
                </a:solidFill>
                <a:effectLst/>
                <a:cs typeface="Arial" charset="0"/>
              </a:endParaRPr>
            </a:p>
          </p:txBody>
        </p:sp>
        <p:sp>
          <p:nvSpPr>
            <p:cNvPr id="21" name="AutoShape 39"/>
            <p:cNvSpPr>
              <a:spLocks noChangeArrowheads="1"/>
            </p:cNvSpPr>
            <p:nvPr/>
          </p:nvSpPr>
          <p:spPr bwMode="auto">
            <a:xfrm>
              <a:off x="4686300" y="3900308"/>
              <a:ext cx="4187825" cy="520669"/>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90000"/>
                <a:buFont typeface="Arial" pitchFamily="34" charset="0"/>
                <a:buChar char="•"/>
                <a:defRPr/>
              </a:pPr>
              <a:r>
                <a:rPr lang="en-GB" sz="1600" b="0" dirty="0">
                  <a:solidFill>
                    <a:schemeClr val="tx1"/>
                  </a:solidFill>
                  <a:effectLst/>
                  <a:cs typeface="Arial" charset="0"/>
                </a:rPr>
                <a:t>Pas de </a:t>
              </a:r>
              <a:r>
                <a:rPr lang="en-GB" sz="1600" b="0" dirty="0" err="1">
                  <a:solidFill>
                    <a:schemeClr val="tx1"/>
                  </a:solidFill>
                  <a:effectLst/>
                  <a:cs typeface="Arial" charset="0"/>
                </a:rPr>
                <a:t>tolérence</a:t>
              </a:r>
              <a:r>
                <a:rPr lang="en-GB" sz="1600" b="0" dirty="0">
                  <a:solidFill>
                    <a:schemeClr val="tx1"/>
                  </a:solidFill>
                  <a:effectLst/>
                  <a:cs typeface="Arial" charset="0"/>
                </a:rPr>
                <a:t> de </a:t>
              </a:r>
              <a:r>
                <a:rPr lang="en-GB" sz="1600" b="0" dirty="0" err="1">
                  <a:solidFill>
                    <a:schemeClr val="tx1"/>
                  </a:solidFill>
                  <a:effectLst/>
                  <a:cs typeface="Arial" charset="0"/>
                </a:rPr>
                <a:t>panne</a:t>
              </a:r>
              <a:endParaRPr lang="en-GB" sz="1600" b="0" dirty="0">
                <a:solidFill>
                  <a:schemeClr val="tx1"/>
                </a:solidFill>
                <a:effectLst/>
                <a:cs typeface="Arial" charset="0"/>
              </a:endParaRPr>
            </a:p>
          </p:txBody>
        </p:sp>
        <p:sp>
          <p:nvSpPr>
            <p:cNvPr id="22" name="AutoShape 39"/>
            <p:cNvSpPr>
              <a:spLocks noChangeArrowheads="1"/>
            </p:cNvSpPr>
            <p:nvPr/>
          </p:nvSpPr>
          <p:spPr bwMode="auto">
            <a:xfrm>
              <a:off x="4686300" y="3006599"/>
              <a:ext cx="4187825" cy="768304"/>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90000"/>
                <a:buFont typeface="Arial" pitchFamily="34" charset="0"/>
                <a:buChar char="•"/>
                <a:defRPr/>
              </a:pPr>
              <a:r>
                <a:rPr lang="fr-FR" sz="1600" b="0" dirty="0">
                  <a:solidFill>
                    <a:schemeClr val="tx1"/>
                  </a:solidFill>
                  <a:effectLst/>
                  <a:cs typeface="Arial" charset="0"/>
                </a:rPr>
                <a:t>Jusqu'à 32 disques peuvent être combinés en seul volume agrégé par bandes</a:t>
              </a:r>
              <a:endParaRPr lang="en-GB" sz="1600" b="0" dirty="0">
                <a:solidFill>
                  <a:schemeClr val="tx1"/>
                </a:solidFill>
                <a:effectLst/>
                <a:cs typeface="Arial" charset="0"/>
              </a:endParaRPr>
            </a:p>
          </p:txBody>
        </p:sp>
        <p:sp>
          <p:nvSpPr>
            <p:cNvPr id="23" name="AutoShape 39"/>
            <p:cNvSpPr>
              <a:spLocks noChangeArrowheads="1"/>
            </p:cNvSpPr>
            <p:nvPr/>
          </p:nvSpPr>
          <p:spPr bwMode="auto">
            <a:xfrm>
              <a:off x="4686300" y="4678112"/>
              <a:ext cx="4191000" cy="522256"/>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90000"/>
                <a:buFont typeface="Arial" pitchFamily="34" charset="0"/>
                <a:buChar char="•"/>
                <a:defRPr/>
              </a:pPr>
              <a:r>
                <a:rPr lang="fr-FR" sz="1600" b="0" dirty="0">
                  <a:solidFill>
                    <a:schemeClr val="tx1"/>
                  </a:solidFill>
                  <a:effectLst/>
                  <a:cs typeface="Arial" charset="0"/>
                </a:rPr>
                <a:t>Prévoit un débit de lecture/écriture plus rapide</a:t>
              </a:r>
              <a:endParaRPr lang="en-GB" sz="1600" b="0" dirty="0">
                <a:solidFill>
                  <a:schemeClr val="tx1"/>
                </a:solidFill>
                <a:effectLst/>
                <a:cs typeface="Arial" charset="0"/>
              </a:endParaRPr>
            </a:p>
          </p:txBody>
        </p:sp>
      </p:grpSp>
      <p:grpSp>
        <p:nvGrpSpPr>
          <p:cNvPr id="10" name="Group 45"/>
          <p:cNvGrpSpPr>
            <a:grpSpLocks/>
          </p:cNvGrpSpPr>
          <p:nvPr/>
        </p:nvGrpSpPr>
        <p:grpSpPr bwMode="auto">
          <a:xfrm>
            <a:off x="166260" y="1309402"/>
            <a:ext cx="4297363" cy="4717325"/>
            <a:chOff x="127000" y="893763"/>
            <a:chExt cx="4297363" cy="4717043"/>
          </a:xfrm>
        </p:grpSpPr>
        <p:grpSp>
          <p:nvGrpSpPr>
            <p:cNvPr id="11" name="Group 44"/>
            <p:cNvGrpSpPr>
              <a:grpSpLocks/>
            </p:cNvGrpSpPr>
            <p:nvPr/>
          </p:nvGrpSpPr>
          <p:grpSpPr bwMode="auto">
            <a:xfrm>
              <a:off x="127000" y="893763"/>
              <a:ext cx="4297363" cy="4717043"/>
              <a:chOff x="127000" y="893763"/>
              <a:chExt cx="4297363" cy="4717043"/>
            </a:xfrm>
          </p:grpSpPr>
          <p:sp>
            <p:nvSpPr>
              <p:cNvPr id="4" name="AutoShape 24"/>
              <p:cNvSpPr>
                <a:spLocks noChangeArrowheads="1"/>
              </p:cNvSpPr>
              <p:nvPr/>
            </p:nvSpPr>
            <p:spPr bwMode="auto">
              <a:xfrm>
                <a:off x="127000" y="893763"/>
                <a:ext cx="4297363" cy="4717043"/>
              </a:xfrm>
              <a:prstGeom prst="roundRect">
                <a:avLst>
                  <a:gd name="adj" fmla="val 4167"/>
                </a:avLst>
              </a:prstGeom>
              <a:gradFill rotWithShape="0">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lstStyle/>
              <a:p>
                <a:pPr>
                  <a:defRPr/>
                </a:pPr>
                <a:r>
                  <a:rPr lang="en-US" sz="2400" dirty="0" err="1">
                    <a:solidFill>
                      <a:schemeClr val="tx1"/>
                    </a:solidFill>
                    <a:effectLst/>
                    <a:cs typeface="Arial" charset="0"/>
                  </a:rPr>
                  <a:t>Fractionné</a:t>
                </a:r>
                <a:endParaRPr lang="en-US" sz="2400" dirty="0">
                  <a:solidFill>
                    <a:schemeClr val="tx1"/>
                  </a:solidFill>
                  <a:effectLst/>
                  <a:cs typeface="Arial" charset="0"/>
                </a:endParaRPr>
              </a:p>
            </p:txBody>
          </p:sp>
          <p:sp>
            <p:nvSpPr>
              <p:cNvPr id="5" name="AutoShape 39"/>
              <p:cNvSpPr>
                <a:spLocks noChangeArrowheads="1"/>
              </p:cNvSpPr>
              <p:nvPr/>
            </p:nvSpPr>
            <p:spPr bwMode="auto">
              <a:xfrm>
                <a:off x="228600" y="1447767"/>
                <a:ext cx="3987800" cy="522257"/>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90000"/>
                  <a:buFont typeface="Arial" pitchFamily="34" charset="0"/>
                  <a:buChar char="•"/>
                  <a:defRPr/>
                </a:pPr>
                <a:r>
                  <a:rPr lang="en-GB" sz="1600" b="0" dirty="0" err="1">
                    <a:solidFill>
                      <a:schemeClr val="tx1"/>
                    </a:solidFill>
                    <a:effectLst/>
                    <a:cs typeface="Arial" charset="0"/>
                  </a:rPr>
                  <a:t>Nécessite</a:t>
                </a:r>
                <a:r>
                  <a:rPr lang="en-GB" sz="1600" b="0" dirty="0">
                    <a:solidFill>
                      <a:schemeClr val="tx1"/>
                    </a:solidFill>
                    <a:effectLst/>
                    <a:cs typeface="Arial" charset="0"/>
                  </a:rPr>
                  <a:t> des </a:t>
                </a:r>
                <a:r>
                  <a:rPr lang="en-GB" sz="1600" b="0" dirty="0" err="1">
                    <a:solidFill>
                      <a:schemeClr val="tx1"/>
                    </a:solidFill>
                    <a:effectLst/>
                    <a:cs typeface="Arial" charset="0"/>
                  </a:rPr>
                  <a:t>disques</a:t>
                </a:r>
                <a:r>
                  <a:rPr lang="en-GB" sz="1600" b="0" dirty="0">
                    <a:solidFill>
                      <a:schemeClr val="tx1"/>
                    </a:solidFill>
                    <a:effectLst/>
                    <a:cs typeface="Arial" charset="0"/>
                  </a:rPr>
                  <a:t> </a:t>
                </a:r>
                <a:r>
                  <a:rPr lang="en-GB" sz="1600" b="0" dirty="0" err="1">
                    <a:solidFill>
                      <a:schemeClr val="tx1"/>
                    </a:solidFill>
                    <a:effectLst/>
                    <a:cs typeface="Arial" charset="0"/>
                  </a:rPr>
                  <a:t>dynamiques</a:t>
                </a:r>
                <a:endParaRPr lang="en-GB" sz="1600" b="0" dirty="0">
                  <a:solidFill>
                    <a:schemeClr val="tx1"/>
                  </a:solidFill>
                  <a:effectLst/>
                  <a:cs typeface="Arial" charset="0"/>
                </a:endParaRPr>
              </a:p>
            </p:txBody>
          </p:sp>
          <p:sp>
            <p:nvSpPr>
              <p:cNvPr id="6" name="AutoShape 39"/>
              <p:cNvSpPr>
                <a:spLocks noChangeArrowheads="1"/>
              </p:cNvSpPr>
              <p:nvPr/>
            </p:nvSpPr>
            <p:spPr bwMode="auto">
              <a:xfrm>
                <a:off x="228600" y="2112890"/>
                <a:ext cx="3987800" cy="768304"/>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90000"/>
                  <a:buFont typeface="Arial" pitchFamily="34" charset="0"/>
                  <a:buChar char="•"/>
                  <a:defRPr/>
                </a:pPr>
                <a:r>
                  <a:rPr lang="fr-FR" sz="1600" b="0" dirty="0">
                    <a:solidFill>
                      <a:schemeClr val="tx1"/>
                    </a:solidFill>
                    <a:effectLst/>
                    <a:cs typeface="Arial" charset="0"/>
                  </a:rPr>
                  <a:t>Espace alloué provenant de plusieurs disques dynamiques</a:t>
                </a:r>
                <a:endParaRPr lang="en-GB" sz="1600" b="0" dirty="0">
                  <a:solidFill>
                    <a:schemeClr val="tx1"/>
                  </a:solidFill>
                  <a:effectLst/>
                  <a:cs typeface="Arial" charset="0"/>
                </a:endParaRPr>
              </a:p>
            </p:txBody>
          </p:sp>
          <p:sp>
            <p:nvSpPr>
              <p:cNvPr id="7" name="AutoShape 39"/>
              <p:cNvSpPr>
                <a:spLocks noChangeArrowheads="1"/>
              </p:cNvSpPr>
              <p:nvPr/>
            </p:nvSpPr>
            <p:spPr bwMode="auto">
              <a:xfrm>
                <a:off x="228600" y="3006599"/>
                <a:ext cx="3987800" cy="766717"/>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90000"/>
                  <a:buFont typeface="Arial" pitchFamily="34" charset="0"/>
                  <a:buChar char="•"/>
                  <a:defRPr/>
                </a:pPr>
                <a:r>
                  <a:rPr lang="fr-FR" sz="1600" b="0" dirty="0">
                    <a:solidFill>
                      <a:schemeClr val="tx1"/>
                    </a:solidFill>
                    <a:effectLst/>
                    <a:cs typeface="Arial" charset="0"/>
                  </a:rPr>
                  <a:t>Jusqu'à 32 disques peuvent être combinés en un seul volume fractionné</a:t>
                </a:r>
                <a:endParaRPr lang="en-GB" sz="1600" b="0" dirty="0">
                  <a:solidFill>
                    <a:schemeClr val="tx1"/>
                  </a:solidFill>
                  <a:effectLst/>
                  <a:cs typeface="Arial" charset="0"/>
                </a:endParaRPr>
              </a:p>
            </p:txBody>
          </p:sp>
          <p:sp>
            <p:nvSpPr>
              <p:cNvPr id="8" name="AutoShape 39"/>
              <p:cNvSpPr>
                <a:spLocks noChangeArrowheads="1"/>
              </p:cNvSpPr>
              <p:nvPr/>
            </p:nvSpPr>
            <p:spPr bwMode="auto">
              <a:xfrm>
                <a:off x="228600" y="3900308"/>
                <a:ext cx="3987800" cy="520669"/>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90000"/>
                  <a:buFont typeface="Arial" pitchFamily="34" charset="0"/>
                  <a:buChar char="•"/>
                  <a:defRPr/>
                </a:pPr>
                <a:r>
                  <a:rPr lang="en-GB" sz="1600" b="0" dirty="0">
                    <a:solidFill>
                      <a:schemeClr val="tx1"/>
                    </a:solidFill>
                    <a:effectLst/>
                    <a:cs typeface="Arial" charset="0"/>
                  </a:rPr>
                  <a:t>Pas de </a:t>
                </a:r>
                <a:r>
                  <a:rPr lang="en-GB" sz="1600" b="0" dirty="0" err="1">
                    <a:solidFill>
                      <a:schemeClr val="tx1"/>
                    </a:solidFill>
                    <a:effectLst/>
                    <a:cs typeface="Arial" charset="0"/>
                  </a:rPr>
                  <a:t>tolérence</a:t>
                </a:r>
                <a:r>
                  <a:rPr lang="en-GB" sz="1600" b="0" dirty="0">
                    <a:solidFill>
                      <a:schemeClr val="tx1"/>
                    </a:solidFill>
                    <a:effectLst/>
                    <a:cs typeface="Arial" charset="0"/>
                  </a:rPr>
                  <a:t> de </a:t>
                </a:r>
                <a:r>
                  <a:rPr lang="en-GB" sz="1600" b="0" dirty="0" err="1">
                    <a:solidFill>
                      <a:schemeClr val="tx1"/>
                    </a:solidFill>
                    <a:effectLst/>
                    <a:cs typeface="Arial" charset="0"/>
                  </a:rPr>
                  <a:t>panne</a:t>
                </a:r>
                <a:endParaRPr lang="en-GB" sz="1600" b="0" dirty="0">
                  <a:solidFill>
                    <a:schemeClr val="tx1"/>
                  </a:solidFill>
                  <a:effectLst/>
                  <a:cs typeface="Arial" charset="0"/>
                </a:endParaRPr>
              </a:p>
            </p:txBody>
          </p:sp>
        </p:grpSp>
        <p:sp>
          <p:nvSpPr>
            <p:cNvPr id="9" name="AutoShape 39"/>
            <p:cNvSpPr>
              <a:spLocks noChangeArrowheads="1"/>
            </p:cNvSpPr>
            <p:nvPr/>
          </p:nvSpPr>
          <p:spPr bwMode="auto">
            <a:xfrm>
              <a:off x="214745" y="4650429"/>
              <a:ext cx="3987800" cy="520669"/>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90000"/>
                <a:buFont typeface="Arial" pitchFamily="34" charset="0"/>
                <a:buChar char="•"/>
                <a:defRPr/>
              </a:pPr>
              <a:r>
                <a:rPr lang="en-GB" sz="1600" b="0" dirty="0" err="1">
                  <a:solidFill>
                    <a:schemeClr val="tx1"/>
                  </a:solidFill>
                  <a:effectLst/>
                  <a:cs typeface="Arial" charset="0"/>
                </a:rPr>
                <a:t>Peut</a:t>
              </a:r>
              <a:r>
                <a:rPr lang="en-GB" sz="1600" b="0" dirty="0">
                  <a:solidFill>
                    <a:schemeClr val="tx1"/>
                  </a:solidFill>
                  <a:effectLst/>
                  <a:cs typeface="Arial" charset="0"/>
                </a:rPr>
                <a:t> </a:t>
              </a:r>
              <a:r>
                <a:rPr lang="en-GB" sz="1600" b="0" dirty="0" err="1">
                  <a:solidFill>
                    <a:schemeClr val="tx1"/>
                  </a:solidFill>
                  <a:effectLst/>
                  <a:cs typeface="Arial" charset="0"/>
                </a:rPr>
                <a:t>être</a:t>
              </a:r>
              <a:r>
                <a:rPr lang="en-GB" sz="1600" b="0" dirty="0">
                  <a:solidFill>
                    <a:schemeClr val="tx1"/>
                  </a:solidFill>
                  <a:effectLst/>
                  <a:cs typeface="Arial" charset="0"/>
                </a:rPr>
                <a:t> </a:t>
              </a:r>
              <a:r>
                <a:rPr lang="en-GB" sz="1600" b="0" dirty="0" err="1">
                  <a:solidFill>
                    <a:schemeClr val="tx1"/>
                  </a:solidFill>
                  <a:effectLst/>
                  <a:cs typeface="Arial" charset="0"/>
                </a:rPr>
                <a:t>réduit</a:t>
              </a:r>
              <a:r>
                <a:rPr lang="en-GB" sz="1600" b="0" dirty="0">
                  <a:solidFill>
                    <a:schemeClr val="tx1"/>
                  </a:solidFill>
                  <a:effectLst/>
                  <a:cs typeface="Arial" charset="0"/>
                </a:rPr>
                <a:t> </a:t>
              </a:r>
              <a:r>
                <a:rPr lang="en-GB" sz="1600" b="0" dirty="0" err="1">
                  <a:solidFill>
                    <a:schemeClr val="tx1"/>
                  </a:solidFill>
                  <a:effectLst/>
                  <a:cs typeface="Arial" charset="0"/>
                </a:rPr>
                <a:t>ou</a:t>
              </a:r>
              <a:r>
                <a:rPr lang="en-GB" sz="1600" b="0" dirty="0">
                  <a:solidFill>
                    <a:schemeClr val="tx1"/>
                  </a:solidFill>
                  <a:effectLst/>
                  <a:cs typeface="Arial" charset="0"/>
                </a:rPr>
                <a:t> </a:t>
              </a:r>
              <a:r>
                <a:rPr lang="en-GB" sz="1600" b="0" dirty="0" err="1">
                  <a:solidFill>
                    <a:schemeClr val="tx1"/>
                  </a:solidFill>
                  <a:effectLst/>
                  <a:cs typeface="Arial" charset="0"/>
                </a:rPr>
                <a:t>étendu</a:t>
              </a:r>
              <a:endParaRPr lang="en-GB" sz="1600" b="0" dirty="0">
                <a:solidFill>
                  <a:schemeClr val="tx1"/>
                </a:solidFill>
                <a:effectLst/>
                <a:cs typeface="Arial" charset="0"/>
              </a:endParaRPr>
            </a:p>
          </p:txBody>
        </p:sp>
      </p:grpSp>
      <p:sp>
        <p:nvSpPr>
          <p:cNvPr id="14341" name="Rectangle 2"/>
          <p:cNvSpPr>
            <a:spLocks noGrp="1" noChangeArrowheads="1"/>
          </p:cNvSpPr>
          <p:nvPr>
            <p:ph type="title"/>
          </p:nvPr>
        </p:nvSpPr>
        <p:spPr>
          <a:xfrm>
            <a:off x="315607" y="311731"/>
            <a:ext cx="8534400" cy="758952"/>
          </a:xfrm>
          <a:noFill/>
          <a:ln/>
        </p:spPr>
        <p:txBody>
          <a:bodyPr vert="horz" anchor="b">
            <a:normAutofit fontScale="90000"/>
          </a:bodyPr>
          <a:lstStyle/>
          <a:p>
            <a:r>
              <a:rPr lang="en-US" dirty="0" err="1">
                <a:solidFill>
                  <a:srgbClr val="C00000"/>
                </a:solidFill>
              </a:rPr>
              <a:t>Que</a:t>
            </a:r>
            <a:r>
              <a:rPr lang="en-US" dirty="0">
                <a:solidFill>
                  <a:srgbClr val="C00000"/>
                </a:solidFill>
              </a:rPr>
              <a:t> </a:t>
            </a:r>
            <a:r>
              <a:rPr lang="en-US" dirty="0" err="1">
                <a:solidFill>
                  <a:srgbClr val="C00000"/>
                </a:solidFill>
              </a:rPr>
              <a:t>sont</a:t>
            </a:r>
            <a:r>
              <a:rPr lang="en-US" dirty="0">
                <a:solidFill>
                  <a:srgbClr val="C00000"/>
                </a:solidFill>
              </a:rPr>
              <a:t> les volumes </a:t>
            </a:r>
            <a:r>
              <a:rPr lang="en-US" dirty="0" err="1">
                <a:solidFill>
                  <a:srgbClr val="C00000"/>
                </a:solidFill>
              </a:rPr>
              <a:t>fractionnés</a:t>
            </a:r>
            <a:r>
              <a:rPr lang="en-US" dirty="0">
                <a:solidFill>
                  <a:srgbClr val="C00000"/>
                </a:solidFill>
              </a:rPr>
              <a:t> et les volumes </a:t>
            </a:r>
            <a:r>
              <a:rPr lang="en-US" dirty="0" err="1">
                <a:solidFill>
                  <a:srgbClr val="C00000"/>
                </a:solidFill>
              </a:rPr>
              <a:t>agrégés</a:t>
            </a:r>
            <a:r>
              <a:rPr lang="en-US" dirty="0">
                <a:solidFill>
                  <a:srgbClr val="C00000"/>
                </a:solidFill>
              </a:rPr>
              <a:t> par </a:t>
            </a:r>
            <a:r>
              <a:rPr lang="en-US" dirty="0" err="1">
                <a:solidFill>
                  <a:srgbClr val="C00000"/>
                </a:solidFill>
              </a:rPr>
              <a:t>bandes</a:t>
            </a:r>
            <a:r>
              <a:rPr lang="en-US" dirty="0">
                <a:solidFill>
                  <a:srgbClr val="C0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nodeType="clickEffect">
                                  <p:stCondLst>
                                    <p:cond delay="0"/>
                                  </p:stCondLst>
                                  <p:childTnLst>
                                    <p:anim calcmode="lin" valueType="num">
                                      <p:cBhvr additive="base">
                                        <p:cTn id="6" dur="1000"/>
                                        <p:tgtEl>
                                          <p:spTgt spid="2"/>
                                        </p:tgtEl>
                                        <p:attrNameLst>
                                          <p:attrName>ppt_x</p:attrName>
                                        </p:attrNameLst>
                                      </p:cBhvr>
                                      <p:tavLst>
                                        <p:tav tm="0">
                                          <p:val>
                                            <p:strVal val="ppt_x"/>
                                          </p:val>
                                        </p:tav>
                                        <p:tav tm="100000">
                                          <p:val>
                                            <p:strVal val="ppt_x"/>
                                          </p:val>
                                        </p:tav>
                                      </p:tavLst>
                                    </p:anim>
                                    <p:anim calcmode="lin" valueType="num">
                                      <p:cBhvr additive="base">
                                        <p:cTn id="7" dur="1000"/>
                                        <p:tgtEl>
                                          <p:spTgt spid="2"/>
                                        </p:tgtEl>
                                        <p:attrNameLst>
                                          <p:attrName>ppt_y</p:attrName>
                                        </p:attrNameLst>
                                      </p:cBhvr>
                                      <p:tavLst>
                                        <p:tav tm="0">
                                          <p:val>
                                            <p:strVal val="ppt_y"/>
                                          </p:val>
                                        </p:tav>
                                        <p:tav tm="100000">
                                          <p:val>
                                            <p:strVal val="1+ppt_h/2"/>
                                          </p:val>
                                        </p:tav>
                                      </p:tavLst>
                                    </p:anim>
                                    <p:set>
                                      <p:cBhvr>
                                        <p:cTn id="8" dur="1" fill="hold">
                                          <p:stCondLst>
                                            <p:cond delay="999"/>
                                          </p:stCondLst>
                                        </p:cTn>
                                        <p:tgtEl>
                                          <p:spTgt spid="2"/>
                                        </p:tgtEl>
                                        <p:attrNameLst>
                                          <p:attrName>style.visibility</p:attrName>
                                        </p:attrNameLst>
                                      </p:cBhvr>
                                      <p:to>
                                        <p:strVal val="hidden"/>
                                      </p:to>
                                    </p:set>
                                  </p:childTnLst>
                                </p:cTn>
                              </p:par>
                              <p:par>
                                <p:cTn id="9" presetID="2" presetClass="entr" presetSubtype="8"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1000" fill="hold"/>
                                        <p:tgtEl>
                                          <p:spTgt spid="10"/>
                                        </p:tgtEl>
                                        <p:attrNameLst>
                                          <p:attrName>ppt_x</p:attrName>
                                        </p:attrNameLst>
                                      </p:cBhvr>
                                      <p:tavLst>
                                        <p:tav tm="0">
                                          <p:val>
                                            <p:strVal val="0-#ppt_w/2"/>
                                          </p:val>
                                        </p:tav>
                                        <p:tav tm="100000">
                                          <p:val>
                                            <p:strVal val="#ppt_x"/>
                                          </p:val>
                                        </p:tav>
                                      </p:tavLst>
                                    </p:anim>
                                    <p:anim calcmode="lin" valueType="num">
                                      <p:cBhvr additive="base">
                                        <p:cTn id="12" dur="10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1000" fill="hold"/>
                                        <p:tgtEl>
                                          <p:spTgt spid="3"/>
                                        </p:tgtEl>
                                        <p:attrNameLst>
                                          <p:attrName>ppt_x</p:attrName>
                                        </p:attrNameLst>
                                      </p:cBhvr>
                                      <p:tavLst>
                                        <p:tav tm="0">
                                          <p:val>
                                            <p:strVal val="1+#ppt_w/2"/>
                                          </p:val>
                                        </p:tav>
                                        <p:tav tm="100000">
                                          <p:val>
                                            <p:strVal val="#ppt_x"/>
                                          </p:val>
                                        </p:tav>
                                      </p:tavLst>
                                    </p:anim>
                                    <p:anim calcmode="lin" valueType="num">
                                      <p:cBhvr additive="base">
                                        <p:cTn id="18" dur="1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2" name="Rectangle 4"/>
          <p:cNvSpPr>
            <a:spLocks noGrp="1" noChangeArrowheads="1"/>
          </p:cNvSpPr>
          <p:nvPr>
            <p:ph type="title"/>
          </p:nvPr>
        </p:nvSpPr>
        <p:spPr/>
        <p:txBody>
          <a:bodyPr/>
          <a:lstStyle/>
          <a:p>
            <a:r>
              <a:rPr lang="en-US" dirty="0">
                <a:solidFill>
                  <a:schemeClr val="tx1"/>
                </a:solidFill>
                <a:cs typeface="Times New Roman" pitchFamily="18" charset="0"/>
              </a:rPr>
              <a:t>3. </a:t>
            </a:r>
            <a:r>
              <a:rPr lang="en-US" dirty="0" err="1">
                <a:solidFill>
                  <a:schemeClr val="tx1"/>
                </a:solidFill>
                <a:cs typeface="Times New Roman" pitchFamily="18" charset="0"/>
              </a:rPr>
              <a:t>Gestion</a:t>
            </a:r>
            <a:r>
              <a:rPr lang="en-US" dirty="0">
                <a:solidFill>
                  <a:schemeClr val="tx1"/>
                </a:solidFill>
                <a:cs typeface="Times New Roman" pitchFamily="18" charset="0"/>
              </a:rPr>
              <a:t> des </a:t>
            </a:r>
            <a:r>
              <a:rPr lang="en-US" dirty="0" err="1">
                <a:solidFill>
                  <a:schemeClr val="tx1"/>
                </a:solidFill>
                <a:cs typeface="Times New Roman" pitchFamily="18" charset="0"/>
              </a:rPr>
              <a:t>disques</a:t>
            </a:r>
            <a:endParaRPr lang="en-US" dirty="0">
              <a:solidFill>
                <a:schemeClr val="tx1"/>
              </a:solidFill>
            </a:endParaRPr>
          </a:p>
        </p:txBody>
      </p:sp>
      <p:sp>
        <p:nvSpPr>
          <p:cNvPr id="375813" name="Rectangle 5"/>
          <p:cNvSpPr>
            <a:spLocks noGrp="1" noChangeArrowheads="1"/>
          </p:cNvSpPr>
          <p:nvPr>
            <p:ph sz="quarter" idx="1"/>
          </p:nvPr>
        </p:nvSpPr>
        <p:spPr>
          <a:xfrm>
            <a:off x="329461" y="2510721"/>
            <a:ext cx="8503920" cy="2684734"/>
          </a:xfrm>
        </p:spPr>
        <p:txBody>
          <a:bodyPr>
            <a:normAutofit fontScale="92500" lnSpcReduction="10000"/>
          </a:bodyPr>
          <a:lstStyle/>
          <a:p>
            <a:pPr>
              <a:buClrTx/>
              <a:buFont typeface="Symbol" pitchFamily="18" charset="2"/>
              <a:buChar char="®"/>
            </a:pPr>
            <a:r>
              <a:rPr lang="fr-FR" sz="2800" dirty="0"/>
              <a:t>Affichage de l'état et des propriétés de disque </a:t>
            </a:r>
            <a:endParaRPr lang="en-US" sz="2800" dirty="0"/>
          </a:p>
          <a:p>
            <a:pPr>
              <a:buClrTx/>
              <a:buFont typeface="Symbol" pitchFamily="18" charset="2"/>
              <a:buChar char="®"/>
            </a:pPr>
            <a:r>
              <a:rPr lang="fr-FR" sz="2800" dirty="0"/>
              <a:t>Extension d'un volume ou d'une partition </a:t>
            </a:r>
          </a:p>
          <a:p>
            <a:pPr>
              <a:buClrTx/>
              <a:buFont typeface="Symbol" pitchFamily="18" charset="2"/>
              <a:buChar char="®"/>
            </a:pPr>
            <a:r>
              <a:rPr lang="en-US" sz="2800" dirty="0" err="1"/>
              <a:t>Réduction</a:t>
            </a:r>
            <a:r>
              <a:rPr lang="en-US" sz="2800" dirty="0"/>
              <a:t> d'un volume </a:t>
            </a:r>
            <a:r>
              <a:rPr lang="en-US" sz="2800" dirty="0" err="1"/>
              <a:t>ou</a:t>
            </a:r>
            <a:r>
              <a:rPr lang="en-US" sz="2800" dirty="0"/>
              <a:t> </a:t>
            </a:r>
            <a:r>
              <a:rPr lang="en-US" sz="2800" dirty="0" err="1"/>
              <a:t>d'une</a:t>
            </a:r>
            <a:r>
              <a:rPr lang="en-US" sz="2800" dirty="0"/>
              <a:t> partition</a:t>
            </a:r>
          </a:p>
          <a:p>
            <a:pPr>
              <a:buClrTx/>
              <a:buFont typeface="Symbol" pitchFamily="18" charset="2"/>
              <a:buChar char="®"/>
            </a:pPr>
            <a:r>
              <a:rPr lang="fr-FR" sz="2800" dirty="0"/>
              <a:t>Suppression d'un volume ou d'une partition </a:t>
            </a:r>
            <a:endParaRPr lang="en-US" sz="2800" dirty="0"/>
          </a:p>
          <a:p>
            <a:pPr>
              <a:buClrTx/>
              <a:buFont typeface="Symbol" pitchFamily="18" charset="2"/>
              <a:buChar char="®"/>
            </a:pPr>
            <a:r>
              <a:rPr lang="fr-FR" sz="2800" dirty="0"/>
              <a:t>Changement d'une lettre de lecteur </a:t>
            </a:r>
            <a:endParaRPr lang="en-US" sz="2800" dirty="0"/>
          </a:p>
          <a:p>
            <a:pPr>
              <a:buClrTx/>
              <a:buFont typeface="Symbol" pitchFamily="18" charset="2"/>
              <a:buChar char="®"/>
            </a:pPr>
            <a:r>
              <a:rPr lang="fr-FR" sz="2800" dirty="0"/>
              <a:t>Création d'un point de montage </a:t>
            </a: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6863" name="Picture 31" descr="P2272bW04_15a"/>
          <p:cNvPicPr>
            <a:picLocks noChangeAspect="1" noChangeArrowheads="1"/>
          </p:cNvPicPr>
          <p:nvPr/>
        </p:nvPicPr>
        <p:blipFill>
          <a:blip r:embed="rId3"/>
          <a:srcRect/>
          <a:stretch>
            <a:fillRect/>
          </a:stretch>
        </p:blipFill>
        <p:spPr bwMode="auto">
          <a:xfrm>
            <a:off x="433388" y="1303928"/>
            <a:ext cx="7170737" cy="3208337"/>
          </a:xfrm>
          <a:prstGeom prst="rect">
            <a:avLst/>
          </a:prstGeom>
          <a:noFill/>
        </p:spPr>
      </p:pic>
      <p:sp>
        <p:nvSpPr>
          <p:cNvPr id="376834" name="Rectangle 2"/>
          <p:cNvSpPr>
            <a:spLocks noGrp="1" noChangeArrowheads="1"/>
          </p:cNvSpPr>
          <p:nvPr>
            <p:ph type="title"/>
          </p:nvPr>
        </p:nvSpPr>
        <p:spPr>
          <a:xfrm>
            <a:off x="301752" y="311737"/>
            <a:ext cx="8534400" cy="758952"/>
          </a:xfrm>
          <a:noFill/>
          <a:ln/>
        </p:spPr>
        <p:txBody>
          <a:bodyPr vert="horz" anchor="b">
            <a:normAutofit fontScale="90000"/>
          </a:bodyPr>
          <a:lstStyle/>
          <a:p>
            <a:r>
              <a:rPr lang="fr-FR" dirty="0">
                <a:solidFill>
                  <a:srgbClr val="C00000"/>
                </a:solidFill>
              </a:rPr>
              <a:t>Affichage de l'état et des propriétés de disque</a:t>
            </a:r>
            <a:endParaRPr lang="en-US" dirty="0">
              <a:solidFill>
                <a:srgbClr val="C00000"/>
              </a:solidFill>
            </a:endParaRPr>
          </a:p>
        </p:txBody>
      </p:sp>
      <p:sp>
        <p:nvSpPr>
          <p:cNvPr id="376847" name="AutoShape 15"/>
          <p:cNvSpPr>
            <a:spLocks noChangeArrowheads="1"/>
          </p:cNvSpPr>
          <p:nvPr/>
        </p:nvSpPr>
        <p:spPr bwMode="auto">
          <a:xfrm>
            <a:off x="5549900" y="1434103"/>
            <a:ext cx="2146300" cy="614362"/>
          </a:xfrm>
          <a:prstGeom prst="leftArrowCallout">
            <a:avLst>
              <a:gd name="adj1" fmla="val 41083"/>
              <a:gd name="adj2" fmla="val 45347"/>
              <a:gd name="adj3" fmla="val 77359"/>
              <a:gd name="adj4" fmla="val 70162"/>
            </a:avLst>
          </a:prstGeom>
          <a:gradFill rotWithShape="0">
            <a:gsLst>
              <a:gs pos="0">
                <a:srgbClr val="99CCFF">
                  <a:gamma/>
                  <a:tint val="4314"/>
                  <a:invGamma/>
                </a:srgbClr>
              </a:gs>
              <a:gs pos="100000">
                <a:srgbClr val="99CCFF"/>
              </a:gs>
            </a:gsLst>
            <a:lin ang="5400000" scaled="1"/>
          </a:gradFill>
          <a:ln w="19050">
            <a:solidFill>
              <a:srgbClr val="0033CC"/>
            </a:solidFill>
            <a:miter lim="800000"/>
            <a:headEnd/>
            <a:tailEnd/>
          </a:ln>
          <a:effectLst>
            <a:outerShdw dist="53882" dir="2700000" algn="ctr" rotWithShape="0">
              <a:srgbClr val="C0C0C0"/>
            </a:outerShdw>
          </a:effectLst>
        </p:spPr>
        <p:txBody>
          <a:bodyPr tIns="27432" bIns="27432" anchor="ctr"/>
          <a:lstStyle/>
          <a:p>
            <a:r>
              <a:rPr lang="en-US">
                <a:solidFill>
                  <a:schemeClr val="tx1"/>
                </a:solidFill>
                <a:effectLst/>
              </a:rPr>
              <a:t>État des disques</a:t>
            </a:r>
          </a:p>
        </p:txBody>
      </p:sp>
      <p:sp>
        <p:nvSpPr>
          <p:cNvPr id="376849" name="Oval 17"/>
          <p:cNvSpPr>
            <a:spLocks noChangeArrowheads="1"/>
          </p:cNvSpPr>
          <p:nvPr/>
        </p:nvSpPr>
        <p:spPr bwMode="auto">
          <a:xfrm>
            <a:off x="4265613" y="1499190"/>
            <a:ext cx="1285875" cy="560388"/>
          </a:xfrm>
          <a:prstGeom prst="ellipse">
            <a:avLst/>
          </a:prstGeom>
          <a:noFill/>
          <a:ln w="34925">
            <a:solidFill>
              <a:srgbClr val="0033CC"/>
            </a:solidFill>
            <a:round/>
            <a:headEnd/>
            <a:tailEnd/>
          </a:ln>
          <a:effectLst/>
        </p:spPr>
        <p:txBody>
          <a:bodyPr wrap="none" anchor="ctr"/>
          <a:lstStyle/>
          <a:p>
            <a:endParaRPr lang="fr-FR"/>
          </a:p>
        </p:txBody>
      </p:sp>
      <p:pic>
        <p:nvPicPr>
          <p:cNvPr id="376856" name="Picture 24" descr="propriétés de disque"/>
          <p:cNvPicPr>
            <a:picLocks noChangeAspect="1" noChangeArrowheads="1"/>
          </p:cNvPicPr>
          <p:nvPr/>
        </p:nvPicPr>
        <p:blipFill>
          <a:blip r:embed="rId4"/>
          <a:srcRect/>
          <a:stretch>
            <a:fillRect/>
          </a:stretch>
        </p:blipFill>
        <p:spPr bwMode="auto">
          <a:xfrm>
            <a:off x="2482850" y="2470740"/>
            <a:ext cx="3722688" cy="2921000"/>
          </a:xfrm>
          <a:prstGeom prst="rect">
            <a:avLst/>
          </a:prstGeom>
          <a:noFill/>
          <a:ln w="22225">
            <a:solidFill>
              <a:srgbClr val="333399"/>
            </a:solidFill>
            <a:miter lim="800000"/>
            <a:headEnd/>
            <a:tailEnd/>
          </a:ln>
          <a:effectLst>
            <a:outerShdw dist="35921" dir="2700000" algn="ctr" rotWithShape="0">
              <a:srgbClr val="808080"/>
            </a:outerShdw>
          </a:effectLst>
        </p:spPr>
      </p:pic>
      <p:sp>
        <p:nvSpPr>
          <p:cNvPr id="376842" name="Freeform 10"/>
          <p:cNvSpPr>
            <a:spLocks/>
          </p:cNvSpPr>
          <p:nvPr/>
        </p:nvSpPr>
        <p:spPr bwMode="auto">
          <a:xfrm rot="5096696">
            <a:off x="905670" y="3314496"/>
            <a:ext cx="2271712" cy="1038225"/>
          </a:xfrm>
          <a:custGeom>
            <a:avLst/>
            <a:gdLst/>
            <a:ahLst/>
            <a:cxnLst>
              <a:cxn ang="0">
                <a:pos x="29" y="255"/>
              </a:cxn>
              <a:cxn ang="0">
                <a:pos x="92" y="271"/>
              </a:cxn>
              <a:cxn ang="0">
                <a:pos x="169" y="284"/>
              </a:cxn>
              <a:cxn ang="0">
                <a:pos x="253" y="296"/>
              </a:cxn>
              <a:cxn ang="0">
                <a:pos x="396" y="305"/>
              </a:cxn>
              <a:cxn ang="0">
                <a:pos x="551" y="307"/>
              </a:cxn>
              <a:cxn ang="0">
                <a:pos x="657" y="303"/>
              </a:cxn>
              <a:cxn ang="0">
                <a:pos x="766" y="296"/>
              </a:cxn>
              <a:cxn ang="0">
                <a:pos x="874" y="284"/>
              </a:cxn>
              <a:cxn ang="0">
                <a:pos x="979" y="267"/>
              </a:cxn>
              <a:cxn ang="0">
                <a:pos x="1081" y="246"/>
              </a:cxn>
              <a:cxn ang="0">
                <a:pos x="1177" y="219"/>
              </a:cxn>
              <a:cxn ang="0">
                <a:pos x="1265" y="188"/>
              </a:cxn>
              <a:cxn ang="0">
                <a:pos x="1346" y="150"/>
              </a:cxn>
              <a:cxn ang="0">
                <a:pos x="1415" y="108"/>
              </a:cxn>
              <a:cxn ang="0">
                <a:pos x="1394" y="36"/>
              </a:cxn>
              <a:cxn ang="0">
                <a:pos x="1577" y="246"/>
              </a:cxn>
              <a:cxn ang="0">
                <a:pos x="1505" y="205"/>
              </a:cxn>
              <a:cxn ang="0">
                <a:pos x="1438" y="244"/>
              </a:cxn>
              <a:cxn ang="0">
                <a:pos x="1356" y="275"/>
              </a:cxn>
              <a:cxn ang="0">
                <a:pos x="1262" y="302"/>
              </a:cxn>
              <a:cxn ang="0">
                <a:pos x="1158" y="323"/>
              </a:cxn>
              <a:cxn ang="0">
                <a:pos x="1047" y="340"/>
              </a:cxn>
              <a:cxn ang="0">
                <a:pos x="927" y="351"/>
              </a:cxn>
              <a:cxn ang="0">
                <a:pos x="808" y="359"/>
              </a:cxn>
              <a:cxn ang="0">
                <a:pos x="687" y="363"/>
              </a:cxn>
              <a:cxn ang="0">
                <a:pos x="568" y="361"/>
              </a:cxn>
              <a:cxn ang="0">
                <a:pos x="453" y="353"/>
              </a:cxn>
              <a:cxn ang="0">
                <a:pos x="346" y="344"/>
              </a:cxn>
              <a:cxn ang="0">
                <a:pos x="246" y="328"/>
              </a:cxn>
              <a:cxn ang="0">
                <a:pos x="157" y="309"/>
              </a:cxn>
              <a:cxn ang="0">
                <a:pos x="83" y="286"/>
              </a:cxn>
              <a:cxn ang="0">
                <a:pos x="23" y="261"/>
              </a:cxn>
            </a:cxnLst>
            <a:rect l="0" t="0" r="r" b="b"/>
            <a:pathLst>
              <a:path w="1659" h="363">
                <a:moveTo>
                  <a:pt x="0" y="246"/>
                </a:moveTo>
                <a:lnTo>
                  <a:pt x="29" y="255"/>
                </a:lnTo>
                <a:lnTo>
                  <a:pt x="60" y="263"/>
                </a:lnTo>
                <a:lnTo>
                  <a:pt x="92" y="271"/>
                </a:lnTo>
                <a:lnTo>
                  <a:pt x="129" y="278"/>
                </a:lnTo>
                <a:lnTo>
                  <a:pt x="169" y="284"/>
                </a:lnTo>
                <a:lnTo>
                  <a:pt x="209" y="290"/>
                </a:lnTo>
                <a:lnTo>
                  <a:pt x="253" y="296"/>
                </a:lnTo>
                <a:lnTo>
                  <a:pt x="300" y="300"/>
                </a:lnTo>
                <a:lnTo>
                  <a:pt x="396" y="305"/>
                </a:lnTo>
                <a:lnTo>
                  <a:pt x="497" y="307"/>
                </a:lnTo>
                <a:lnTo>
                  <a:pt x="551" y="307"/>
                </a:lnTo>
                <a:lnTo>
                  <a:pt x="603" y="305"/>
                </a:lnTo>
                <a:lnTo>
                  <a:pt x="657" y="303"/>
                </a:lnTo>
                <a:lnTo>
                  <a:pt x="712" y="300"/>
                </a:lnTo>
                <a:lnTo>
                  <a:pt x="766" y="296"/>
                </a:lnTo>
                <a:lnTo>
                  <a:pt x="820" y="290"/>
                </a:lnTo>
                <a:lnTo>
                  <a:pt x="874" y="284"/>
                </a:lnTo>
                <a:lnTo>
                  <a:pt x="926" y="275"/>
                </a:lnTo>
                <a:lnTo>
                  <a:pt x="979" y="267"/>
                </a:lnTo>
                <a:lnTo>
                  <a:pt x="1029" y="257"/>
                </a:lnTo>
                <a:lnTo>
                  <a:pt x="1081" y="246"/>
                </a:lnTo>
                <a:lnTo>
                  <a:pt x="1129" y="232"/>
                </a:lnTo>
                <a:lnTo>
                  <a:pt x="1177" y="219"/>
                </a:lnTo>
                <a:lnTo>
                  <a:pt x="1221" y="204"/>
                </a:lnTo>
                <a:lnTo>
                  <a:pt x="1265" y="188"/>
                </a:lnTo>
                <a:lnTo>
                  <a:pt x="1308" y="169"/>
                </a:lnTo>
                <a:lnTo>
                  <a:pt x="1346" y="150"/>
                </a:lnTo>
                <a:lnTo>
                  <a:pt x="1383" y="131"/>
                </a:lnTo>
                <a:lnTo>
                  <a:pt x="1415" y="108"/>
                </a:lnTo>
                <a:lnTo>
                  <a:pt x="1446" y="84"/>
                </a:lnTo>
                <a:lnTo>
                  <a:pt x="1394" y="36"/>
                </a:lnTo>
                <a:lnTo>
                  <a:pt x="1659" y="0"/>
                </a:lnTo>
                <a:lnTo>
                  <a:pt x="1577" y="246"/>
                </a:lnTo>
                <a:lnTo>
                  <a:pt x="1532" y="186"/>
                </a:lnTo>
                <a:lnTo>
                  <a:pt x="1505" y="205"/>
                </a:lnTo>
                <a:lnTo>
                  <a:pt x="1473" y="225"/>
                </a:lnTo>
                <a:lnTo>
                  <a:pt x="1438" y="244"/>
                </a:lnTo>
                <a:lnTo>
                  <a:pt x="1398" y="259"/>
                </a:lnTo>
                <a:lnTo>
                  <a:pt x="1356" y="275"/>
                </a:lnTo>
                <a:lnTo>
                  <a:pt x="1310" y="288"/>
                </a:lnTo>
                <a:lnTo>
                  <a:pt x="1262" y="302"/>
                </a:lnTo>
                <a:lnTo>
                  <a:pt x="1212" y="313"/>
                </a:lnTo>
                <a:lnTo>
                  <a:pt x="1158" y="323"/>
                </a:lnTo>
                <a:lnTo>
                  <a:pt x="1102" y="332"/>
                </a:lnTo>
                <a:lnTo>
                  <a:pt x="1047" y="340"/>
                </a:lnTo>
                <a:lnTo>
                  <a:pt x="987" y="348"/>
                </a:lnTo>
                <a:lnTo>
                  <a:pt x="927" y="351"/>
                </a:lnTo>
                <a:lnTo>
                  <a:pt x="868" y="357"/>
                </a:lnTo>
                <a:lnTo>
                  <a:pt x="808" y="359"/>
                </a:lnTo>
                <a:lnTo>
                  <a:pt x="747" y="361"/>
                </a:lnTo>
                <a:lnTo>
                  <a:pt x="687" y="363"/>
                </a:lnTo>
                <a:lnTo>
                  <a:pt x="628" y="361"/>
                </a:lnTo>
                <a:lnTo>
                  <a:pt x="568" y="361"/>
                </a:lnTo>
                <a:lnTo>
                  <a:pt x="511" y="357"/>
                </a:lnTo>
                <a:lnTo>
                  <a:pt x="453" y="353"/>
                </a:lnTo>
                <a:lnTo>
                  <a:pt x="397" y="350"/>
                </a:lnTo>
                <a:lnTo>
                  <a:pt x="346" y="344"/>
                </a:lnTo>
                <a:lnTo>
                  <a:pt x="294" y="336"/>
                </a:lnTo>
                <a:lnTo>
                  <a:pt x="246" y="328"/>
                </a:lnTo>
                <a:lnTo>
                  <a:pt x="200" y="321"/>
                </a:lnTo>
                <a:lnTo>
                  <a:pt x="157" y="309"/>
                </a:lnTo>
                <a:lnTo>
                  <a:pt x="117" y="300"/>
                </a:lnTo>
                <a:lnTo>
                  <a:pt x="83" y="286"/>
                </a:lnTo>
                <a:lnTo>
                  <a:pt x="50" y="275"/>
                </a:lnTo>
                <a:lnTo>
                  <a:pt x="23" y="261"/>
                </a:lnTo>
                <a:lnTo>
                  <a:pt x="0" y="246"/>
                </a:lnTo>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miter lim="800000"/>
            <a:headEnd type="none" w="med" len="med"/>
            <a:tailEnd type="none" w="med" len="med"/>
          </a:ln>
          <a:effectLst>
            <a:outerShdw dist="40161" dir="6506097" algn="ctr" rotWithShape="0">
              <a:srgbClr val="969696"/>
            </a:outerShdw>
          </a:effectLst>
        </p:spPr>
        <p:txBody>
          <a:bodyPr wrap="none" tIns="27432" bIns="27432" anchor="ctr"/>
          <a:lstStyle/>
          <a:p>
            <a:endParaRPr lang="fr-FR"/>
          </a:p>
        </p:txBody>
      </p:sp>
      <p:pic>
        <p:nvPicPr>
          <p:cNvPr id="376858" name="Picture 26" descr="P2272bW04_15c"/>
          <p:cNvPicPr>
            <a:picLocks noChangeAspect="1" noChangeArrowheads="1"/>
          </p:cNvPicPr>
          <p:nvPr/>
        </p:nvPicPr>
        <p:blipFill>
          <a:blip r:embed="rId5"/>
          <a:srcRect/>
          <a:stretch>
            <a:fillRect/>
          </a:stretch>
        </p:blipFill>
        <p:spPr bwMode="auto">
          <a:xfrm>
            <a:off x="4019550" y="2129428"/>
            <a:ext cx="4678363" cy="4778375"/>
          </a:xfrm>
          <a:prstGeom prst="rect">
            <a:avLst/>
          </a:prstGeom>
          <a:noFill/>
          <a:effectLst>
            <a:outerShdw dist="35921" dir="2700000" algn="ctr" rotWithShape="0">
              <a:srgbClr val="808080"/>
            </a:outerShdw>
          </a:effectLst>
        </p:spPr>
      </p:pic>
      <p:sp>
        <p:nvSpPr>
          <p:cNvPr id="376848" name="AutoShape 16"/>
          <p:cNvSpPr>
            <a:spLocks noChangeArrowheads="1"/>
          </p:cNvSpPr>
          <p:nvPr/>
        </p:nvSpPr>
        <p:spPr bwMode="auto">
          <a:xfrm flipH="1">
            <a:off x="983673" y="5666509"/>
            <a:ext cx="3308927" cy="755519"/>
          </a:xfrm>
          <a:prstGeom prst="leftArrowCallout">
            <a:avLst>
              <a:gd name="adj1" fmla="val 41083"/>
              <a:gd name="adj2" fmla="val 45347"/>
              <a:gd name="adj3" fmla="val 103107"/>
              <a:gd name="adj4" fmla="val 70162"/>
            </a:avLst>
          </a:prstGeom>
          <a:gradFill rotWithShape="0">
            <a:gsLst>
              <a:gs pos="0">
                <a:srgbClr val="99CCFF">
                  <a:gamma/>
                  <a:tint val="4314"/>
                  <a:invGamma/>
                </a:srgbClr>
              </a:gs>
              <a:gs pos="100000">
                <a:srgbClr val="99CCFF"/>
              </a:gs>
            </a:gsLst>
            <a:lin ang="5400000" scaled="1"/>
          </a:gradFill>
          <a:ln w="19050">
            <a:solidFill>
              <a:srgbClr val="0033CC"/>
            </a:solidFill>
            <a:miter lim="800000"/>
            <a:headEnd/>
            <a:tailEnd/>
          </a:ln>
          <a:effectLst>
            <a:outerShdw dist="53882" dir="2700000" algn="ctr" rotWithShape="0">
              <a:srgbClr val="C0C0C0"/>
            </a:outerShdw>
          </a:effectLst>
        </p:spPr>
        <p:txBody>
          <a:bodyPr tIns="27432" bIns="27432" anchor="ctr"/>
          <a:lstStyle/>
          <a:p>
            <a:r>
              <a:rPr lang="en-US" sz="2000" dirty="0" err="1">
                <a:solidFill>
                  <a:schemeClr val="tx1"/>
                </a:solidFill>
                <a:effectLst/>
              </a:rPr>
              <a:t>Propriétés</a:t>
            </a:r>
            <a:r>
              <a:rPr lang="en-US" sz="2000" dirty="0">
                <a:solidFill>
                  <a:schemeClr val="tx1"/>
                </a:solidFill>
                <a:effectLst/>
              </a:rPr>
              <a:t> du </a:t>
            </a:r>
            <a:r>
              <a:rPr lang="en-US" sz="2000" dirty="0" err="1">
                <a:solidFill>
                  <a:schemeClr val="tx1"/>
                </a:solidFill>
                <a:effectLst/>
              </a:rPr>
              <a:t>disque</a:t>
            </a:r>
            <a:endParaRPr lang="en-US" sz="2000" dirty="0">
              <a:solidFill>
                <a:schemeClr val="tx1"/>
              </a:solidFill>
              <a:effectLst/>
            </a:endParaRPr>
          </a:p>
        </p:txBody>
      </p:sp>
      <p:sp>
        <p:nvSpPr>
          <p:cNvPr id="376846" name="Freeform 14"/>
          <p:cNvSpPr>
            <a:spLocks/>
          </p:cNvSpPr>
          <p:nvPr/>
        </p:nvSpPr>
        <p:spPr bwMode="auto">
          <a:xfrm rot="2120460">
            <a:off x="3251200" y="5098053"/>
            <a:ext cx="1250950" cy="444500"/>
          </a:xfrm>
          <a:custGeom>
            <a:avLst/>
            <a:gdLst/>
            <a:ahLst/>
            <a:cxnLst>
              <a:cxn ang="0">
                <a:pos x="0" y="58"/>
              </a:cxn>
              <a:cxn ang="0">
                <a:pos x="69" y="87"/>
              </a:cxn>
              <a:cxn ang="0">
                <a:pos x="123" y="110"/>
              </a:cxn>
              <a:cxn ang="0">
                <a:pos x="148" y="120"/>
              </a:cxn>
              <a:cxn ang="0">
                <a:pos x="171" y="125"/>
              </a:cxn>
              <a:cxn ang="0">
                <a:pos x="192" y="131"/>
              </a:cxn>
              <a:cxn ang="0">
                <a:pos x="215" y="133"/>
              </a:cxn>
              <a:cxn ang="0">
                <a:pos x="236" y="133"/>
              </a:cxn>
              <a:cxn ang="0">
                <a:pos x="259" y="131"/>
              </a:cxn>
              <a:cxn ang="0">
                <a:pos x="284" y="125"/>
              </a:cxn>
              <a:cxn ang="0">
                <a:pos x="311" y="118"/>
              </a:cxn>
              <a:cxn ang="0">
                <a:pos x="342" y="108"/>
              </a:cxn>
              <a:cxn ang="0">
                <a:pos x="375" y="95"/>
              </a:cxn>
              <a:cxn ang="0">
                <a:pos x="411" y="77"/>
              </a:cxn>
              <a:cxn ang="0">
                <a:pos x="454" y="58"/>
              </a:cxn>
              <a:cxn ang="0">
                <a:pos x="411" y="0"/>
              </a:cxn>
              <a:cxn ang="0">
                <a:pos x="640" y="12"/>
              </a:cxn>
              <a:cxn ang="0">
                <a:pos x="532" y="214"/>
              </a:cxn>
              <a:cxn ang="0">
                <a:pos x="509" y="154"/>
              </a:cxn>
              <a:cxn ang="0">
                <a:pos x="465" y="172"/>
              </a:cxn>
              <a:cxn ang="0">
                <a:pos x="421" y="187"/>
              </a:cxn>
              <a:cxn ang="0">
                <a:pos x="383" y="197"/>
              </a:cxn>
              <a:cxn ang="0">
                <a:pos x="346" y="204"/>
              </a:cxn>
              <a:cxn ang="0">
                <a:pos x="309" y="208"/>
              </a:cxn>
              <a:cxn ang="0">
                <a:pos x="277" y="208"/>
              </a:cxn>
              <a:cxn ang="0">
                <a:pos x="246" y="206"/>
              </a:cxn>
              <a:cxn ang="0">
                <a:pos x="217" y="201"/>
              </a:cxn>
              <a:cxn ang="0">
                <a:pos x="188" y="191"/>
              </a:cxn>
              <a:cxn ang="0">
                <a:pos x="160" y="179"/>
              </a:cxn>
              <a:cxn ang="0">
                <a:pos x="133" y="166"/>
              </a:cxn>
              <a:cxn ang="0">
                <a:pos x="108" y="149"/>
              </a:cxn>
              <a:cxn ang="0">
                <a:pos x="81" y="129"/>
              </a:cxn>
              <a:cxn ang="0">
                <a:pos x="54" y="108"/>
              </a:cxn>
              <a:cxn ang="0">
                <a:pos x="27" y="83"/>
              </a:cxn>
              <a:cxn ang="0">
                <a:pos x="0" y="58"/>
              </a:cxn>
            </a:cxnLst>
            <a:rect l="0" t="0" r="r" b="b"/>
            <a:pathLst>
              <a:path w="640" h="214">
                <a:moveTo>
                  <a:pt x="0" y="58"/>
                </a:moveTo>
                <a:lnTo>
                  <a:pt x="69" y="87"/>
                </a:lnTo>
                <a:lnTo>
                  <a:pt x="123" y="110"/>
                </a:lnTo>
                <a:lnTo>
                  <a:pt x="148" y="120"/>
                </a:lnTo>
                <a:lnTo>
                  <a:pt x="171" y="125"/>
                </a:lnTo>
                <a:lnTo>
                  <a:pt x="192" y="131"/>
                </a:lnTo>
                <a:lnTo>
                  <a:pt x="215" y="133"/>
                </a:lnTo>
                <a:lnTo>
                  <a:pt x="236" y="133"/>
                </a:lnTo>
                <a:lnTo>
                  <a:pt x="259" y="131"/>
                </a:lnTo>
                <a:lnTo>
                  <a:pt x="284" y="125"/>
                </a:lnTo>
                <a:lnTo>
                  <a:pt x="311" y="118"/>
                </a:lnTo>
                <a:lnTo>
                  <a:pt x="342" y="108"/>
                </a:lnTo>
                <a:lnTo>
                  <a:pt x="375" y="95"/>
                </a:lnTo>
                <a:lnTo>
                  <a:pt x="411" y="77"/>
                </a:lnTo>
                <a:lnTo>
                  <a:pt x="454" y="58"/>
                </a:lnTo>
                <a:lnTo>
                  <a:pt x="411" y="0"/>
                </a:lnTo>
                <a:lnTo>
                  <a:pt x="640" y="12"/>
                </a:lnTo>
                <a:lnTo>
                  <a:pt x="532" y="214"/>
                </a:lnTo>
                <a:lnTo>
                  <a:pt x="509" y="154"/>
                </a:lnTo>
                <a:lnTo>
                  <a:pt x="465" y="172"/>
                </a:lnTo>
                <a:lnTo>
                  <a:pt x="421" y="187"/>
                </a:lnTo>
                <a:lnTo>
                  <a:pt x="383" y="197"/>
                </a:lnTo>
                <a:lnTo>
                  <a:pt x="346" y="204"/>
                </a:lnTo>
                <a:lnTo>
                  <a:pt x="309" y="208"/>
                </a:lnTo>
                <a:lnTo>
                  <a:pt x="277" y="208"/>
                </a:lnTo>
                <a:lnTo>
                  <a:pt x="246" y="206"/>
                </a:lnTo>
                <a:lnTo>
                  <a:pt x="217" y="201"/>
                </a:lnTo>
                <a:lnTo>
                  <a:pt x="188" y="191"/>
                </a:lnTo>
                <a:lnTo>
                  <a:pt x="160" y="179"/>
                </a:lnTo>
                <a:lnTo>
                  <a:pt x="133" y="166"/>
                </a:lnTo>
                <a:lnTo>
                  <a:pt x="108" y="149"/>
                </a:lnTo>
                <a:lnTo>
                  <a:pt x="81" y="129"/>
                </a:lnTo>
                <a:lnTo>
                  <a:pt x="54" y="108"/>
                </a:lnTo>
                <a:lnTo>
                  <a:pt x="27" y="83"/>
                </a:lnTo>
                <a:lnTo>
                  <a:pt x="0" y="58"/>
                </a:lnTo>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miter lim="800000"/>
            <a:headEnd type="none" w="med" len="med"/>
            <a:tailEnd type="none" w="med" len="med"/>
          </a:ln>
          <a:effectLst>
            <a:outerShdw dist="52363" dir="4557825" algn="ctr" rotWithShape="0">
              <a:srgbClr val="C0C0C0"/>
            </a:outerShdw>
          </a:effectLst>
        </p:spPr>
        <p:txBody>
          <a:bodyPr wrap="none" tIns="27432" bIns="27432" anchor="ct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76842"/>
                                        </p:tgtEl>
                                        <p:attrNameLst>
                                          <p:attrName>style.visibility</p:attrName>
                                        </p:attrNameLst>
                                      </p:cBhvr>
                                      <p:to>
                                        <p:strVal val="visible"/>
                                      </p:to>
                                    </p:set>
                                    <p:animEffect transition="in" filter="checkerboard(across)">
                                      <p:cBhvr>
                                        <p:cTn id="7" dur="500"/>
                                        <p:tgtEl>
                                          <p:spTgt spid="376842"/>
                                        </p:tgtEl>
                                      </p:cBhvr>
                                    </p:animEffect>
                                  </p:childTnLst>
                                </p:cTn>
                              </p:par>
                              <p:par>
                                <p:cTn id="8" presetID="5" presetClass="entr" presetSubtype="10" fill="hold" nodeType="withEffect">
                                  <p:stCondLst>
                                    <p:cond delay="0"/>
                                  </p:stCondLst>
                                  <p:childTnLst>
                                    <p:set>
                                      <p:cBhvr>
                                        <p:cTn id="9" dur="1" fill="hold">
                                          <p:stCondLst>
                                            <p:cond delay="0"/>
                                          </p:stCondLst>
                                        </p:cTn>
                                        <p:tgtEl>
                                          <p:spTgt spid="376856"/>
                                        </p:tgtEl>
                                        <p:attrNameLst>
                                          <p:attrName>style.visibility</p:attrName>
                                        </p:attrNameLst>
                                      </p:cBhvr>
                                      <p:to>
                                        <p:strVal val="visible"/>
                                      </p:to>
                                    </p:set>
                                    <p:animEffect transition="in" filter="checkerboard(across)">
                                      <p:cBhvr>
                                        <p:cTn id="10" dur="500"/>
                                        <p:tgtEl>
                                          <p:spTgt spid="376856"/>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376846"/>
                                        </p:tgtEl>
                                        <p:attrNameLst>
                                          <p:attrName>style.visibility</p:attrName>
                                        </p:attrNameLst>
                                      </p:cBhvr>
                                      <p:to>
                                        <p:strVal val="visible"/>
                                      </p:to>
                                    </p:set>
                                    <p:animEffect transition="in" filter="checkerboard(across)">
                                      <p:cBhvr>
                                        <p:cTn id="15" dur="500"/>
                                        <p:tgtEl>
                                          <p:spTgt spid="376846"/>
                                        </p:tgtEl>
                                      </p:cBhvr>
                                    </p:animEffect>
                                  </p:childTnLst>
                                </p:cTn>
                              </p:par>
                              <p:par>
                                <p:cTn id="16" presetID="5" presetClass="entr" presetSubtype="10" fill="hold" nodeType="withEffect">
                                  <p:stCondLst>
                                    <p:cond delay="0"/>
                                  </p:stCondLst>
                                  <p:childTnLst>
                                    <p:set>
                                      <p:cBhvr>
                                        <p:cTn id="17" dur="1" fill="hold">
                                          <p:stCondLst>
                                            <p:cond delay="0"/>
                                          </p:stCondLst>
                                        </p:cTn>
                                        <p:tgtEl>
                                          <p:spTgt spid="376858"/>
                                        </p:tgtEl>
                                        <p:attrNameLst>
                                          <p:attrName>style.visibility</p:attrName>
                                        </p:attrNameLst>
                                      </p:cBhvr>
                                      <p:to>
                                        <p:strVal val="visible"/>
                                      </p:to>
                                    </p:set>
                                    <p:animEffect transition="in" filter="checkerboard(across)">
                                      <p:cBhvr>
                                        <p:cTn id="18" dur="500"/>
                                        <p:tgtEl>
                                          <p:spTgt spid="376858"/>
                                        </p:tgtEl>
                                      </p:cBhvr>
                                    </p:animEffect>
                                  </p:childTnLst>
                                </p:cTn>
                              </p:par>
                            </p:childTnLst>
                          </p:cTn>
                        </p:par>
                        <p:par>
                          <p:cTn id="19" fill="hold">
                            <p:stCondLst>
                              <p:cond delay="500"/>
                            </p:stCondLst>
                            <p:childTnLst>
                              <p:par>
                                <p:cTn id="20" presetID="5" presetClass="entr" presetSubtype="10" fill="hold" grpId="0" nodeType="afterEffect">
                                  <p:stCondLst>
                                    <p:cond delay="0"/>
                                  </p:stCondLst>
                                  <p:childTnLst>
                                    <p:set>
                                      <p:cBhvr>
                                        <p:cTn id="21" dur="1" fill="hold">
                                          <p:stCondLst>
                                            <p:cond delay="0"/>
                                          </p:stCondLst>
                                        </p:cTn>
                                        <p:tgtEl>
                                          <p:spTgt spid="376848"/>
                                        </p:tgtEl>
                                        <p:attrNameLst>
                                          <p:attrName>style.visibility</p:attrName>
                                        </p:attrNameLst>
                                      </p:cBhvr>
                                      <p:to>
                                        <p:strVal val="visible"/>
                                      </p:to>
                                    </p:set>
                                    <p:animEffect transition="in" filter="checkerboard(across)">
                                      <p:cBhvr>
                                        <p:cTn id="22" dur="500"/>
                                        <p:tgtEl>
                                          <p:spTgt spid="376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42" grpId="0" animBg="1"/>
      <p:bldP spid="376848" grpId="0" animBg="1"/>
      <p:bldP spid="37684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1"/>
          <p:cNvPicPr>
            <a:picLocks noChangeAspect="1" noChangeArrowheads="1"/>
          </p:cNvPicPr>
          <p:nvPr/>
        </p:nvPicPr>
        <p:blipFill>
          <a:blip r:embed="rId3"/>
          <a:srcRect/>
          <a:stretch>
            <a:fillRect/>
          </a:stretch>
        </p:blipFill>
        <p:spPr bwMode="auto">
          <a:xfrm>
            <a:off x="110840" y="2801242"/>
            <a:ext cx="8870379" cy="3924864"/>
          </a:xfrm>
          <a:prstGeom prst="rect">
            <a:avLst/>
          </a:prstGeom>
          <a:noFill/>
          <a:ln w="9525">
            <a:noFill/>
            <a:miter lim="800000"/>
            <a:headEnd/>
            <a:tailEnd/>
          </a:ln>
          <a:effectLst/>
        </p:spPr>
      </p:pic>
      <p:sp>
        <p:nvSpPr>
          <p:cNvPr id="378882" name="Rectangle 2"/>
          <p:cNvSpPr>
            <a:spLocks noGrp="1" noChangeArrowheads="1"/>
          </p:cNvSpPr>
          <p:nvPr>
            <p:ph type="title"/>
          </p:nvPr>
        </p:nvSpPr>
        <p:spPr>
          <a:xfrm>
            <a:off x="329461" y="242454"/>
            <a:ext cx="8534400" cy="644237"/>
          </a:xfrm>
          <a:noFill/>
          <a:ln/>
        </p:spPr>
        <p:txBody>
          <a:bodyPr vert="horz" anchor="b">
            <a:normAutofit fontScale="90000"/>
          </a:bodyPr>
          <a:lstStyle/>
          <a:p>
            <a:r>
              <a:rPr lang="en-US" dirty="0">
                <a:solidFill>
                  <a:srgbClr val="C00000"/>
                </a:solidFill>
              </a:rPr>
              <a:t>Extension d'un volume ou d'une partition</a:t>
            </a:r>
          </a:p>
        </p:txBody>
      </p:sp>
      <p:sp>
        <p:nvSpPr>
          <p:cNvPr id="378884" name="Rectangle 4"/>
          <p:cNvSpPr>
            <a:spLocks noChangeArrowheads="1"/>
          </p:cNvSpPr>
          <p:nvPr/>
        </p:nvSpPr>
        <p:spPr bwMode="auto">
          <a:xfrm>
            <a:off x="242456" y="1298053"/>
            <a:ext cx="8693726" cy="1455129"/>
          </a:xfrm>
          <a:prstGeom prst="rect">
            <a:avLst/>
          </a:prstGeom>
          <a:solidFill>
            <a:schemeClr val="bg1"/>
          </a:solidFill>
          <a:ln w="9525">
            <a:noFill/>
            <a:miter lim="800000"/>
            <a:headEnd/>
            <a:tailEnd/>
          </a:ln>
          <a:effectLst/>
        </p:spPr>
        <p:txBody>
          <a:bodyPr wrap="square" bIns="154800" anchor="b">
            <a:spAutoFit/>
          </a:bodyPr>
          <a:lstStyle/>
          <a:p>
            <a:pPr marL="225425" indent="-225425" algn="l">
              <a:lnSpc>
                <a:spcPct val="85000"/>
              </a:lnSpc>
              <a:spcBef>
                <a:spcPct val="20000"/>
              </a:spcBef>
              <a:spcAft>
                <a:spcPct val="10000"/>
              </a:spcAft>
              <a:buClr>
                <a:srgbClr val="D60093"/>
              </a:buClr>
              <a:buSzPct val="70000"/>
              <a:buFont typeface="Wingdings" pitchFamily="2" charset="2"/>
              <a:buChar char="n"/>
            </a:pPr>
            <a:r>
              <a:rPr lang="en-US" sz="2200" dirty="0" err="1">
                <a:solidFill>
                  <a:schemeClr val="tx1"/>
                </a:solidFill>
                <a:effectLst/>
              </a:rPr>
              <a:t>Vous</a:t>
            </a:r>
            <a:r>
              <a:rPr lang="en-US" sz="2200" dirty="0">
                <a:solidFill>
                  <a:schemeClr val="tx1"/>
                </a:solidFill>
                <a:effectLst/>
              </a:rPr>
              <a:t> </a:t>
            </a:r>
            <a:r>
              <a:rPr lang="en-US" sz="2200" dirty="0" err="1">
                <a:solidFill>
                  <a:schemeClr val="tx1"/>
                </a:solidFill>
                <a:effectLst/>
              </a:rPr>
              <a:t>pouvez</a:t>
            </a:r>
            <a:r>
              <a:rPr lang="en-US" sz="2200" dirty="0">
                <a:solidFill>
                  <a:schemeClr val="tx1"/>
                </a:solidFill>
                <a:effectLst/>
              </a:rPr>
              <a:t> </a:t>
            </a:r>
            <a:r>
              <a:rPr lang="en-US" sz="2200" dirty="0" err="1">
                <a:solidFill>
                  <a:schemeClr val="tx1"/>
                </a:solidFill>
                <a:effectLst/>
              </a:rPr>
              <a:t>étendre</a:t>
            </a:r>
            <a:r>
              <a:rPr lang="en-US" sz="2200" dirty="0">
                <a:solidFill>
                  <a:schemeClr val="tx1"/>
                </a:solidFill>
                <a:effectLst/>
              </a:rPr>
              <a:t> des volumes simples et des partitions au format NTFS </a:t>
            </a:r>
          </a:p>
          <a:p>
            <a:pPr marL="225425" indent="-225425" algn="l">
              <a:lnSpc>
                <a:spcPct val="85000"/>
              </a:lnSpc>
              <a:spcBef>
                <a:spcPct val="20000"/>
              </a:spcBef>
              <a:spcAft>
                <a:spcPct val="10000"/>
              </a:spcAft>
              <a:buClr>
                <a:srgbClr val="D60093"/>
              </a:buClr>
              <a:buSzPct val="70000"/>
              <a:buFont typeface="Wingdings" pitchFamily="2" charset="2"/>
              <a:buChar char="n"/>
            </a:pPr>
            <a:r>
              <a:rPr lang="en-US" sz="2200" dirty="0" err="1">
                <a:solidFill>
                  <a:schemeClr val="tx1"/>
                </a:solidFill>
                <a:effectLst/>
              </a:rPr>
              <a:t>Vous</a:t>
            </a:r>
            <a:r>
              <a:rPr lang="en-US" sz="2200" dirty="0">
                <a:solidFill>
                  <a:schemeClr val="tx1"/>
                </a:solidFill>
                <a:effectLst/>
              </a:rPr>
              <a:t> ne </a:t>
            </a:r>
            <a:r>
              <a:rPr lang="en-US" sz="2200" dirty="0" err="1">
                <a:solidFill>
                  <a:schemeClr val="tx1"/>
                </a:solidFill>
                <a:effectLst/>
              </a:rPr>
              <a:t>pouvez</a:t>
            </a:r>
            <a:r>
              <a:rPr lang="en-US" sz="2200" dirty="0">
                <a:solidFill>
                  <a:schemeClr val="tx1"/>
                </a:solidFill>
                <a:effectLst/>
              </a:rPr>
              <a:t> pas </a:t>
            </a:r>
            <a:r>
              <a:rPr lang="en-US" sz="2200" dirty="0" err="1">
                <a:solidFill>
                  <a:schemeClr val="tx1"/>
                </a:solidFill>
                <a:effectLst/>
              </a:rPr>
              <a:t>étendre</a:t>
            </a:r>
            <a:r>
              <a:rPr lang="en-US" sz="2200" dirty="0">
                <a:solidFill>
                  <a:schemeClr val="tx1"/>
                </a:solidFill>
                <a:effectLst/>
              </a:rPr>
              <a:t> un volume </a:t>
            </a:r>
            <a:r>
              <a:rPr lang="en-US" sz="2200" dirty="0" err="1">
                <a:solidFill>
                  <a:schemeClr val="tx1"/>
                </a:solidFill>
                <a:effectLst/>
              </a:rPr>
              <a:t>ou</a:t>
            </a:r>
            <a:r>
              <a:rPr lang="en-US" sz="2200" dirty="0">
                <a:solidFill>
                  <a:schemeClr val="tx1"/>
                </a:solidFill>
                <a:effectLst/>
              </a:rPr>
              <a:t> </a:t>
            </a:r>
            <a:r>
              <a:rPr lang="en-US" sz="2200" dirty="0" err="1">
                <a:solidFill>
                  <a:schemeClr val="tx1"/>
                </a:solidFill>
                <a:effectLst/>
              </a:rPr>
              <a:t>une</a:t>
            </a:r>
            <a:r>
              <a:rPr lang="en-US" sz="2200" dirty="0">
                <a:solidFill>
                  <a:schemeClr val="tx1"/>
                </a:solidFill>
                <a:effectLst/>
              </a:rPr>
              <a:t> partition qui </a:t>
            </a:r>
            <a:r>
              <a:rPr lang="en-US" sz="2200" dirty="0" err="1">
                <a:solidFill>
                  <a:schemeClr val="tx1"/>
                </a:solidFill>
                <a:effectLst/>
              </a:rPr>
              <a:t>contient</a:t>
            </a:r>
            <a:r>
              <a:rPr lang="en-US" sz="2200" dirty="0">
                <a:solidFill>
                  <a:schemeClr val="tx1"/>
                </a:solidFill>
                <a:effectLst/>
              </a:rPr>
              <a:t> un volume </a:t>
            </a:r>
            <a:r>
              <a:rPr lang="en-US" sz="2200" dirty="0" err="1">
                <a:solidFill>
                  <a:schemeClr val="tx1"/>
                </a:solidFill>
                <a:effectLst/>
              </a:rPr>
              <a:t>système</a:t>
            </a:r>
            <a:r>
              <a:rPr lang="en-US" sz="2200" dirty="0">
                <a:solidFill>
                  <a:schemeClr val="tx1"/>
                </a:solidFill>
                <a:effectLst/>
              </a:rPr>
              <a:t> </a:t>
            </a:r>
            <a:r>
              <a:rPr lang="en-US" sz="2200" dirty="0" err="1">
                <a:solidFill>
                  <a:schemeClr val="tx1"/>
                </a:solidFill>
                <a:effectLst/>
              </a:rPr>
              <a:t>ou</a:t>
            </a:r>
            <a:r>
              <a:rPr lang="en-US" sz="2200" dirty="0">
                <a:solidFill>
                  <a:schemeClr val="tx1"/>
                </a:solidFill>
                <a:effectLst/>
              </a:rPr>
              <a:t> </a:t>
            </a:r>
            <a:r>
              <a:rPr lang="en-US" sz="2200" dirty="0" err="1">
                <a:solidFill>
                  <a:schemeClr val="tx1"/>
                </a:solidFill>
                <a:effectLst/>
              </a:rPr>
              <a:t>d'amorçage</a:t>
            </a:r>
            <a:endParaRPr lang="en-US" sz="2200" dirty="0">
              <a:solidFill>
                <a:schemeClr val="tx1"/>
              </a:solidFill>
              <a:effectLst/>
            </a:endParaRPr>
          </a:p>
        </p:txBody>
      </p:sp>
      <p:sp>
        <p:nvSpPr>
          <p:cNvPr id="378890" name="Freeform 10"/>
          <p:cNvSpPr>
            <a:spLocks/>
          </p:cNvSpPr>
          <p:nvPr/>
        </p:nvSpPr>
        <p:spPr bwMode="auto">
          <a:xfrm rot="12473240" flipH="1">
            <a:off x="3190874" y="3709553"/>
            <a:ext cx="925513" cy="311150"/>
          </a:xfrm>
          <a:custGeom>
            <a:avLst/>
            <a:gdLst/>
            <a:ahLst/>
            <a:cxnLst>
              <a:cxn ang="0">
                <a:pos x="0" y="58"/>
              </a:cxn>
              <a:cxn ang="0">
                <a:pos x="69" y="87"/>
              </a:cxn>
              <a:cxn ang="0">
                <a:pos x="123" y="110"/>
              </a:cxn>
              <a:cxn ang="0">
                <a:pos x="148" y="120"/>
              </a:cxn>
              <a:cxn ang="0">
                <a:pos x="171" y="125"/>
              </a:cxn>
              <a:cxn ang="0">
                <a:pos x="192" y="131"/>
              </a:cxn>
              <a:cxn ang="0">
                <a:pos x="215" y="133"/>
              </a:cxn>
              <a:cxn ang="0">
                <a:pos x="236" y="133"/>
              </a:cxn>
              <a:cxn ang="0">
                <a:pos x="259" y="131"/>
              </a:cxn>
              <a:cxn ang="0">
                <a:pos x="284" y="125"/>
              </a:cxn>
              <a:cxn ang="0">
                <a:pos x="311" y="118"/>
              </a:cxn>
              <a:cxn ang="0">
                <a:pos x="342" y="108"/>
              </a:cxn>
              <a:cxn ang="0">
                <a:pos x="375" y="95"/>
              </a:cxn>
              <a:cxn ang="0">
                <a:pos x="411" y="77"/>
              </a:cxn>
              <a:cxn ang="0">
                <a:pos x="454" y="58"/>
              </a:cxn>
              <a:cxn ang="0">
                <a:pos x="411" y="0"/>
              </a:cxn>
              <a:cxn ang="0">
                <a:pos x="640" y="12"/>
              </a:cxn>
              <a:cxn ang="0">
                <a:pos x="532" y="214"/>
              </a:cxn>
              <a:cxn ang="0">
                <a:pos x="509" y="154"/>
              </a:cxn>
              <a:cxn ang="0">
                <a:pos x="465" y="172"/>
              </a:cxn>
              <a:cxn ang="0">
                <a:pos x="421" y="187"/>
              </a:cxn>
              <a:cxn ang="0">
                <a:pos x="383" y="197"/>
              </a:cxn>
              <a:cxn ang="0">
                <a:pos x="346" y="204"/>
              </a:cxn>
              <a:cxn ang="0">
                <a:pos x="309" y="208"/>
              </a:cxn>
              <a:cxn ang="0">
                <a:pos x="277" y="208"/>
              </a:cxn>
              <a:cxn ang="0">
                <a:pos x="246" y="206"/>
              </a:cxn>
              <a:cxn ang="0">
                <a:pos x="217" y="201"/>
              </a:cxn>
              <a:cxn ang="0">
                <a:pos x="188" y="191"/>
              </a:cxn>
              <a:cxn ang="0">
                <a:pos x="160" y="179"/>
              </a:cxn>
              <a:cxn ang="0">
                <a:pos x="133" y="166"/>
              </a:cxn>
              <a:cxn ang="0">
                <a:pos x="108" y="149"/>
              </a:cxn>
              <a:cxn ang="0">
                <a:pos x="81" y="129"/>
              </a:cxn>
              <a:cxn ang="0">
                <a:pos x="54" y="108"/>
              </a:cxn>
              <a:cxn ang="0">
                <a:pos x="27" y="83"/>
              </a:cxn>
              <a:cxn ang="0">
                <a:pos x="0" y="58"/>
              </a:cxn>
            </a:cxnLst>
            <a:rect l="0" t="0" r="r" b="b"/>
            <a:pathLst>
              <a:path w="640" h="214">
                <a:moveTo>
                  <a:pt x="0" y="58"/>
                </a:moveTo>
                <a:lnTo>
                  <a:pt x="69" y="87"/>
                </a:lnTo>
                <a:lnTo>
                  <a:pt x="123" y="110"/>
                </a:lnTo>
                <a:lnTo>
                  <a:pt x="148" y="120"/>
                </a:lnTo>
                <a:lnTo>
                  <a:pt x="171" y="125"/>
                </a:lnTo>
                <a:lnTo>
                  <a:pt x="192" y="131"/>
                </a:lnTo>
                <a:lnTo>
                  <a:pt x="215" y="133"/>
                </a:lnTo>
                <a:lnTo>
                  <a:pt x="236" y="133"/>
                </a:lnTo>
                <a:lnTo>
                  <a:pt x="259" y="131"/>
                </a:lnTo>
                <a:lnTo>
                  <a:pt x="284" y="125"/>
                </a:lnTo>
                <a:lnTo>
                  <a:pt x="311" y="118"/>
                </a:lnTo>
                <a:lnTo>
                  <a:pt x="342" y="108"/>
                </a:lnTo>
                <a:lnTo>
                  <a:pt x="375" y="95"/>
                </a:lnTo>
                <a:lnTo>
                  <a:pt x="411" y="77"/>
                </a:lnTo>
                <a:lnTo>
                  <a:pt x="454" y="58"/>
                </a:lnTo>
                <a:lnTo>
                  <a:pt x="411" y="0"/>
                </a:lnTo>
                <a:lnTo>
                  <a:pt x="640" y="12"/>
                </a:lnTo>
                <a:lnTo>
                  <a:pt x="532" y="214"/>
                </a:lnTo>
                <a:lnTo>
                  <a:pt x="509" y="154"/>
                </a:lnTo>
                <a:lnTo>
                  <a:pt x="465" y="172"/>
                </a:lnTo>
                <a:lnTo>
                  <a:pt x="421" y="187"/>
                </a:lnTo>
                <a:lnTo>
                  <a:pt x="383" y="197"/>
                </a:lnTo>
                <a:lnTo>
                  <a:pt x="346" y="204"/>
                </a:lnTo>
                <a:lnTo>
                  <a:pt x="309" y="208"/>
                </a:lnTo>
                <a:lnTo>
                  <a:pt x="277" y="208"/>
                </a:lnTo>
                <a:lnTo>
                  <a:pt x="246" y="206"/>
                </a:lnTo>
                <a:lnTo>
                  <a:pt x="217" y="201"/>
                </a:lnTo>
                <a:lnTo>
                  <a:pt x="188" y="191"/>
                </a:lnTo>
                <a:lnTo>
                  <a:pt x="160" y="179"/>
                </a:lnTo>
                <a:lnTo>
                  <a:pt x="133" y="166"/>
                </a:lnTo>
                <a:lnTo>
                  <a:pt x="108" y="149"/>
                </a:lnTo>
                <a:lnTo>
                  <a:pt x="81" y="129"/>
                </a:lnTo>
                <a:lnTo>
                  <a:pt x="54" y="108"/>
                </a:lnTo>
                <a:lnTo>
                  <a:pt x="27" y="83"/>
                </a:lnTo>
                <a:lnTo>
                  <a:pt x="0" y="58"/>
                </a:lnTo>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miter lim="800000"/>
            <a:headEnd type="none" w="med" len="med"/>
            <a:tailEnd type="none" w="med" len="med"/>
          </a:ln>
          <a:effectLst>
            <a:outerShdw dist="52363" dir="4557825" algn="ctr" rotWithShape="0">
              <a:srgbClr val="C0C0C0"/>
            </a:outerShdw>
          </a:effectLst>
        </p:spPr>
        <p:txBody>
          <a:bodyPr wrap="none" tIns="27432" bIns="27432" anchor="ctr"/>
          <a:lstStyle/>
          <a:p>
            <a:endParaRPr lang="fr-FR"/>
          </a:p>
        </p:txBody>
      </p:sp>
      <p:pic>
        <p:nvPicPr>
          <p:cNvPr id="378898" name="Picture 18" descr="P2272bW04_16c"/>
          <p:cNvPicPr>
            <a:picLocks noChangeAspect="1" noChangeArrowheads="1"/>
          </p:cNvPicPr>
          <p:nvPr/>
        </p:nvPicPr>
        <p:blipFill>
          <a:blip r:embed="rId4"/>
          <a:srcRect/>
          <a:stretch>
            <a:fillRect/>
          </a:stretch>
        </p:blipFill>
        <p:spPr bwMode="auto">
          <a:xfrm>
            <a:off x="2644057" y="3131127"/>
            <a:ext cx="4530725" cy="35401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78890"/>
                                        </p:tgtEl>
                                        <p:attrNameLst>
                                          <p:attrName>style.visibility</p:attrName>
                                        </p:attrNameLst>
                                      </p:cBhvr>
                                      <p:to>
                                        <p:strVal val="visible"/>
                                      </p:to>
                                    </p:set>
                                    <p:animEffect transition="in" filter="checkerboard(across)">
                                      <p:cBhvr>
                                        <p:cTn id="7" dur="500"/>
                                        <p:tgtEl>
                                          <p:spTgt spid="378890"/>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378898"/>
                                        </p:tgtEl>
                                        <p:attrNameLst>
                                          <p:attrName>style.visibility</p:attrName>
                                        </p:attrNameLst>
                                      </p:cBhvr>
                                      <p:to>
                                        <p:strVal val="visible"/>
                                      </p:to>
                                    </p:set>
                                    <p:animEffect transition="in" filter="checkerboard(across)">
                                      <p:cBhvr>
                                        <p:cTn id="11" dur="500"/>
                                        <p:tgtEl>
                                          <p:spTgt spid="378898"/>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nodeType="clickEffect">
                                  <p:stCondLst>
                                    <p:cond delay="0"/>
                                  </p:stCondLst>
                                  <p:childTnLst>
                                    <p:set>
                                      <p:cBhvr>
                                        <p:cTn id="15" dur="1" fill="hold">
                                          <p:stCondLst>
                                            <p:cond delay="0"/>
                                          </p:stCondLst>
                                        </p:cTn>
                                        <p:tgtEl>
                                          <p:spTgt spid="378884">
                                            <p:txEl>
                                              <p:pRg st="0" end="0"/>
                                            </p:txEl>
                                          </p:spTgt>
                                        </p:tgtEl>
                                        <p:attrNameLst>
                                          <p:attrName>style.visibility</p:attrName>
                                        </p:attrNameLst>
                                      </p:cBhvr>
                                      <p:to>
                                        <p:strVal val="visible"/>
                                      </p:to>
                                    </p:set>
                                    <p:animEffect transition="in" filter="checkerboard(across)">
                                      <p:cBhvr>
                                        <p:cTn id="16" dur="500"/>
                                        <p:tgtEl>
                                          <p:spTgt spid="37888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378884">
                                            <p:txEl>
                                              <p:pRg st="1" end="1"/>
                                            </p:txEl>
                                          </p:spTgt>
                                        </p:tgtEl>
                                        <p:attrNameLst>
                                          <p:attrName>style.visibility</p:attrName>
                                        </p:attrNameLst>
                                      </p:cBhvr>
                                      <p:to>
                                        <p:strVal val="visible"/>
                                      </p:to>
                                    </p:set>
                                    <p:animEffect transition="in" filter="checkerboard(across)">
                                      <p:cBhvr>
                                        <p:cTn id="21" dur="500"/>
                                        <p:tgtEl>
                                          <p:spTgt spid="37888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9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1"/>
          <p:cNvPicPr>
            <a:picLocks noChangeAspect="1" noChangeArrowheads="1"/>
          </p:cNvPicPr>
          <p:nvPr/>
        </p:nvPicPr>
        <p:blipFill>
          <a:blip r:embed="rId3"/>
          <a:srcRect/>
          <a:stretch>
            <a:fillRect/>
          </a:stretch>
        </p:blipFill>
        <p:spPr bwMode="auto">
          <a:xfrm>
            <a:off x="110840" y="2801242"/>
            <a:ext cx="8870379" cy="3924864"/>
          </a:xfrm>
          <a:prstGeom prst="rect">
            <a:avLst/>
          </a:prstGeom>
          <a:noFill/>
          <a:ln w="9525">
            <a:noFill/>
            <a:miter lim="800000"/>
            <a:headEnd/>
            <a:tailEnd/>
          </a:ln>
          <a:effectLst/>
        </p:spPr>
      </p:pic>
      <p:sp>
        <p:nvSpPr>
          <p:cNvPr id="378882" name="Rectangle 2"/>
          <p:cNvSpPr>
            <a:spLocks noGrp="1" noChangeArrowheads="1"/>
          </p:cNvSpPr>
          <p:nvPr>
            <p:ph type="title"/>
          </p:nvPr>
        </p:nvSpPr>
        <p:spPr>
          <a:xfrm>
            <a:off x="329461" y="242454"/>
            <a:ext cx="8534400" cy="644237"/>
          </a:xfrm>
          <a:noFill/>
          <a:ln/>
        </p:spPr>
        <p:txBody>
          <a:bodyPr vert="horz" anchor="b">
            <a:normAutofit fontScale="90000"/>
          </a:bodyPr>
          <a:lstStyle/>
          <a:p>
            <a:r>
              <a:rPr lang="en-US" dirty="0" err="1">
                <a:solidFill>
                  <a:srgbClr val="C00000"/>
                </a:solidFill>
              </a:rPr>
              <a:t>Réduction</a:t>
            </a:r>
            <a:r>
              <a:rPr lang="en-US" dirty="0">
                <a:solidFill>
                  <a:srgbClr val="C00000"/>
                </a:solidFill>
              </a:rPr>
              <a:t> d'un volume ou d'une partition</a:t>
            </a:r>
          </a:p>
        </p:txBody>
      </p:sp>
      <p:sp>
        <p:nvSpPr>
          <p:cNvPr id="378884" name="Rectangle 4"/>
          <p:cNvSpPr>
            <a:spLocks noChangeArrowheads="1"/>
          </p:cNvSpPr>
          <p:nvPr/>
        </p:nvSpPr>
        <p:spPr bwMode="auto">
          <a:xfrm>
            <a:off x="242456" y="1298053"/>
            <a:ext cx="8693726" cy="1455129"/>
          </a:xfrm>
          <a:prstGeom prst="rect">
            <a:avLst/>
          </a:prstGeom>
          <a:solidFill>
            <a:schemeClr val="bg1"/>
          </a:solidFill>
          <a:ln w="9525">
            <a:noFill/>
            <a:miter lim="800000"/>
            <a:headEnd/>
            <a:tailEnd/>
          </a:ln>
          <a:effectLst/>
        </p:spPr>
        <p:txBody>
          <a:bodyPr wrap="square" bIns="154800" anchor="b">
            <a:spAutoFit/>
          </a:bodyPr>
          <a:lstStyle/>
          <a:p>
            <a:pPr marL="225425" indent="-225425" algn="l">
              <a:lnSpc>
                <a:spcPct val="85000"/>
              </a:lnSpc>
              <a:spcBef>
                <a:spcPct val="20000"/>
              </a:spcBef>
              <a:spcAft>
                <a:spcPct val="10000"/>
              </a:spcAft>
              <a:buClr>
                <a:srgbClr val="D60093"/>
              </a:buClr>
              <a:buSzPct val="70000"/>
              <a:buFont typeface="Wingdings" pitchFamily="2" charset="2"/>
              <a:buChar char="n"/>
            </a:pPr>
            <a:r>
              <a:rPr lang="fr-FR" sz="2200" dirty="0">
                <a:solidFill>
                  <a:schemeClr val="tx1"/>
                </a:solidFill>
                <a:effectLst/>
              </a:rPr>
              <a:t>Vous pouvez réduire les volumes existants pour créer un espace supplémentaire non alloué à utiliser pour les données ou les programmes.</a:t>
            </a:r>
          </a:p>
          <a:p>
            <a:pPr marL="225425" indent="-225425" algn="l">
              <a:lnSpc>
                <a:spcPct val="85000"/>
              </a:lnSpc>
              <a:spcBef>
                <a:spcPct val="20000"/>
              </a:spcBef>
              <a:spcAft>
                <a:spcPct val="10000"/>
              </a:spcAft>
              <a:buClr>
                <a:srgbClr val="D60093"/>
              </a:buClr>
              <a:buSzPct val="70000"/>
              <a:buFont typeface="Wingdings" pitchFamily="2" charset="2"/>
              <a:buChar char="n"/>
            </a:pPr>
            <a:r>
              <a:rPr lang="fr-FR" sz="2200" dirty="0">
                <a:solidFill>
                  <a:schemeClr val="tx1"/>
                </a:solidFill>
                <a:effectLst/>
              </a:rPr>
              <a:t>Avant la réduction, défragmentez le disque</a:t>
            </a:r>
          </a:p>
        </p:txBody>
      </p:sp>
      <p:sp>
        <p:nvSpPr>
          <p:cNvPr id="378890" name="Freeform 10"/>
          <p:cNvSpPr>
            <a:spLocks/>
          </p:cNvSpPr>
          <p:nvPr/>
        </p:nvSpPr>
        <p:spPr bwMode="auto">
          <a:xfrm rot="12473240" flipH="1">
            <a:off x="3190875" y="3861953"/>
            <a:ext cx="925513" cy="311150"/>
          </a:xfrm>
          <a:custGeom>
            <a:avLst/>
            <a:gdLst/>
            <a:ahLst/>
            <a:cxnLst>
              <a:cxn ang="0">
                <a:pos x="0" y="58"/>
              </a:cxn>
              <a:cxn ang="0">
                <a:pos x="69" y="87"/>
              </a:cxn>
              <a:cxn ang="0">
                <a:pos x="123" y="110"/>
              </a:cxn>
              <a:cxn ang="0">
                <a:pos x="148" y="120"/>
              </a:cxn>
              <a:cxn ang="0">
                <a:pos x="171" y="125"/>
              </a:cxn>
              <a:cxn ang="0">
                <a:pos x="192" y="131"/>
              </a:cxn>
              <a:cxn ang="0">
                <a:pos x="215" y="133"/>
              </a:cxn>
              <a:cxn ang="0">
                <a:pos x="236" y="133"/>
              </a:cxn>
              <a:cxn ang="0">
                <a:pos x="259" y="131"/>
              </a:cxn>
              <a:cxn ang="0">
                <a:pos x="284" y="125"/>
              </a:cxn>
              <a:cxn ang="0">
                <a:pos x="311" y="118"/>
              </a:cxn>
              <a:cxn ang="0">
                <a:pos x="342" y="108"/>
              </a:cxn>
              <a:cxn ang="0">
                <a:pos x="375" y="95"/>
              </a:cxn>
              <a:cxn ang="0">
                <a:pos x="411" y="77"/>
              </a:cxn>
              <a:cxn ang="0">
                <a:pos x="454" y="58"/>
              </a:cxn>
              <a:cxn ang="0">
                <a:pos x="411" y="0"/>
              </a:cxn>
              <a:cxn ang="0">
                <a:pos x="640" y="12"/>
              </a:cxn>
              <a:cxn ang="0">
                <a:pos x="532" y="214"/>
              </a:cxn>
              <a:cxn ang="0">
                <a:pos x="509" y="154"/>
              </a:cxn>
              <a:cxn ang="0">
                <a:pos x="465" y="172"/>
              </a:cxn>
              <a:cxn ang="0">
                <a:pos x="421" y="187"/>
              </a:cxn>
              <a:cxn ang="0">
                <a:pos x="383" y="197"/>
              </a:cxn>
              <a:cxn ang="0">
                <a:pos x="346" y="204"/>
              </a:cxn>
              <a:cxn ang="0">
                <a:pos x="309" y="208"/>
              </a:cxn>
              <a:cxn ang="0">
                <a:pos x="277" y="208"/>
              </a:cxn>
              <a:cxn ang="0">
                <a:pos x="246" y="206"/>
              </a:cxn>
              <a:cxn ang="0">
                <a:pos x="217" y="201"/>
              </a:cxn>
              <a:cxn ang="0">
                <a:pos x="188" y="191"/>
              </a:cxn>
              <a:cxn ang="0">
                <a:pos x="160" y="179"/>
              </a:cxn>
              <a:cxn ang="0">
                <a:pos x="133" y="166"/>
              </a:cxn>
              <a:cxn ang="0">
                <a:pos x="108" y="149"/>
              </a:cxn>
              <a:cxn ang="0">
                <a:pos x="81" y="129"/>
              </a:cxn>
              <a:cxn ang="0">
                <a:pos x="54" y="108"/>
              </a:cxn>
              <a:cxn ang="0">
                <a:pos x="27" y="83"/>
              </a:cxn>
              <a:cxn ang="0">
                <a:pos x="0" y="58"/>
              </a:cxn>
            </a:cxnLst>
            <a:rect l="0" t="0" r="r" b="b"/>
            <a:pathLst>
              <a:path w="640" h="214">
                <a:moveTo>
                  <a:pt x="0" y="58"/>
                </a:moveTo>
                <a:lnTo>
                  <a:pt x="69" y="87"/>
                </a:lnTo>
                <a:lnTo>
                  <a:pt x="123" y="110"/>
                </a:lnTo>
                <a:lnTo>
                  <a:pt x="148" y="120"/>
                </a:lnTo>
                <a:lnTo>
                  <a:pt x="171" y="125"/>
                </a:lnTo>
                <a:lnTo>
                  <a:pt x="192" y="131"/>
                </a:lnTo>
                <a:lnTo>
                  <a:pt x="215" y="133"/>
                </a:lnTo>
                <a:lnTo>
                  <a:pt x="236" y="133"/>
                </a:lnTo>
                <a:lnTo>
                  <a:pt x="259" y="131"/>
                </a:lnTo>
                <a:lnTo>
                  <a:pt x="284" y="125"/>
                </a:lnTo>
                <a:lnTo>
                  <a:pt x="311" y="118"/>
                </a:lnTo>
                <a:lnTo>
                  <a:pt x="342" y="108"/>
                </a:lnTo>
                <a:lnTo>
                  <a:pt x="375" y="95"/>
                </a:lnTo>
                <a:lnTo>
                  <a:pt x="411" y="77"/>
                </a:lnTo>
                <a:lnTo>
                  <a:pt x="454" y="58"/>
                </a:lnTo>
                <a:lnTo>
                  <a:pt x="411" y="0"/>
                </a:lnTo>
                <a:lnTo>
                  <a:pt x="640" y="12"/>
                </a:lnTo>
                <a:lnTo>
                  <a:pt x="532" y="214"/>
                </a:lnTo>
                <a:lnTo>
                  <a:pt x="509" y="154"/>
                </a:lnTo>
                <a:lnTo>
                  <a:pt x="465" y="172"/>
                </a:lnTo>
                <a:lnTo>
                  <a:pt x="421" y="187"/>
                </a:lnTo>
                <a:lnTo>
                  <a:pt x="383" y="197"/>
                </a:lnTo>
                <a:lnTo>
                  <a:pt x="346" y="204"/>
                </a:lnTo>
                <a:lnTo>
                  <a:pt x="309" y="208"/>
                </a:lnTo>
                <a:lnTo>
                  <a:pt x="277" y="208"/>
                </a:lnTo>
                <a:lnTo>
                  <a:pt x="246" y="206"/>
                </a:lnTo>
                <a:lnTo>
                  <a:pt x="217" y="201"/>
                </a:lnTo>
                <a:lnTo>
                  <a:pt x="188" y="191"/>
                </a:lnTo>
                <a:lnTo>
                  <a:pt x="160" y="179"/>
                </a:lnTo>
                <a:lnTo>
                  <a:pt x="133" y="166"/>
                </a:lnTo>
                <a:lnTo>
                  <a:pt x="108" y="149"/>
                </a:lnTo>
                <a:lnTo>
                  <a:pt x="81" y="129"/>
                </a:lnTo>
                <a:lnTo>
                  <a:pt x="54" y="108"/>
                </a:lnTo>
                <a:lnTo>
                  <a:pt x="27" y="83"/>
                </a:lnTo>
                <a:lnTo>
                  <a:pt x="0" y="58"/>
                </a:lnTo>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miter lim="800000"/>
            <a:headEnd type="none" w="med" len="med"/>
            <a:tailEnd type="none" w="med" len="med"/>
          </a:ln>
          <a:effectLst>
            <a:outerShdw dist="52363" dir="4557825" algn="ctr" rotWithShape="0">
              <a:srgbClr val="C0C0C0"/>
            </a:outerShdw>
          </a:effectLst>
        </p:spPr>
        <p:txBody>
          <a:bodyPr wrap="none" tIns="27432" bIns="27432" anchor="ct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78890"/>
                                        </p:tgtEl>
                                        <p:attrNameLst>
                                          <p:attrName>style.visibility</p:attrName>
                                        </p:attrNameLst>
                                      </p:cBhvr>
                                      <p:to>
                                        <p:strVal val="visible"/>
                                      </p:to>
                                    </p:set>
                                    <p:animEffect transition="in" filter="checkerboard(across)">
                                      <p:cBhvr>
                                        <p:cTn id="7" dur="500"/>
                                        <p:tgtEl>
                                          <p:spTgt spid="37889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78884">
                                            <p:txEl>
                                              <p:pRg st="0" end="0"/>
                                            </p:txEl>
                                          </p:spTgt>
                                        </p:tgtEl>
                                        <p:attrNameLst>
                                          <p:attrName>style.visibility</p:attrName>
                                        </p:attrNameLst>
                                      </p:cBhvr>
                                      <p:to>
                                        <p:strVal val="visible"/>
                                      </p:to>
                                    </p:set>
                                    <p:animEffect transition="in" filter="checkerboard(across)">
                                      <p:cBhvr>
                                        <p:cTn id="12" dur="500"/>
                                        <p:tgtEl>
                                          <p:spTgt spid="37888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78884">
                                            <p:txEl>
                                              <p:pRg st="1" end="1"/>
                                            </p:txEl>
                                          </p:spTgt>
                                        </p:tgtEl>
                                        <p:attrNameLst>
                                          <p:attrName>style.visibility</p:attrName>
                                        </p:attrNameLst>
                                      </p:cBhvr>
                                      <p:to>
                                        <p:strVal val="visible"/>
                                      </p:to>
                                    </p:set>
                                    <p:animEffect transition="in" filter="checkerboard(across)">
                                      <p:cBhvr>
                                        <p:cTn id="17" dur="500"/>
                                        <p:tgtEl>
                                          <p:spTgt spid="37888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9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260188" y="339445"/>
            <a:ext cx="8534400" cy="758952"/>
          </a:xfrm>
          <a:noFill/>
          <a:ln/>
        </p:spPr>
        <p:txBody>
          <a:bodyPr vert="horz" anchor="b">
            <a:normAutofit fontScale="90000"/>
          </a:bodyPr>
          <a:lstStyle/>
          <a:p>
            <a:r>
              <a:rPr lang="en-US" dirty="0">
                <a:solidFill>
                  <a:srgbClr val="C00000"/>
                </a:solidFill>
              </a:rPr>
              <a:t>Suppression d'un volume ou d'une partition</a:t>
            </a:r>
          </a:p>
        </p:txBody>
      </p:sp>
      <p:pic>
        <p:nvPicPr>
          <p:cNvPr id="379920" name="Picture 16" descr="P2272bW04_17"/>
          <p:cNvPicPr>
            <a:picLocks noGrp="1" noChangeAspect="1" noChangeArrowheads="1"/>
          </p:cNvPicPr>
          <p:nvPr>
            <p:ph sz="quarter" idx="1"/>
          </p:nvPr>
        </p:nvPicPr>
        <p:blipFill>
          <a:blip r:embed="rId3"/>
          <a:srcRect/>
          <a:stretch>
            <a:fillRect/>
          </a:stretch>
        </p:blipFill>
        <p:spPr>
          <a:xfrm>
            <a:off x="911225" y="1510588"/>
            <a:ext cx="7299325" cy="4714875"/>
          </a:xfrm>
          <a:noFill/>
          <a:ln w="19050">
            <a:solidFill>
              <a:srgbClr val="0000FF"/>
            </a:solidFill>
          </a:ln>
          <a:effectLst>
            <a:outerShdw dist="35921" dir="2700000" algn="ctr" rotWithShape="0">
              <a:srgbClr val="808080"/>
            </a:outerShdw>
          </a:effectLst>
        </p:spPr>
      </p:pic>
      <p:pic>
        <p:nvPicPr>
          <p:cNvPr id="379917" name="Picture 13" descr="P2272bW04_17b"/>
          <p:cNvPicPr>
            <a:picLocks noChangeAspect="1" noChangeArrowheads="1"/>
          </p:cNvPicPr>
          <p:nvPr/>
        </p:nvPicPr>
        <p:blipFill>
          <a:blip r:embed="rId4"/>
          <a:srcRect/>
          <a:stretch>
            <a:fillRect/>
          </a:stretch>
        </p:blipFill>
        <p:spPr bwMode="auto">
          <a:xfrm>
            <a:off x="4392613" y="3939463"/>
            <a:ext cx="3722687" cy="2260600"/>
          </a:xfrm>
          <a:prstGeom prst="rect">
            <a:avLst/>
          </a:prstGeom>
          <a:noFill/>
          <a:effectLst>
            <a:outerShdw dist="35921" dir="2700000" algn="ctr" rotWithShape="0">
              <a:srgbClr val="808080"/>
            </a:outerShdw>
          </a:effectLst>
        </p:spPr>
      </p:pic>
      <p:sp>
        <p:nvSpPr>
          <p:cNvPr id="379910" name="AutoShape 6"/>
          <p:cNvSpPr>
            <a:spLocks noChangeArrowheads="1"/>
          </p:cNvSpPr>
          <p:nvPr/>
        </p:nvSpPr>
        <p:spPr bwMode="auto">
          <a:xfrm flipH="1">
            <a:off x="7515225" y="5111038"/>
            <a:ext cx="684213" cy="606425"/>
          </a:xfrm>
          <a:prstGeom prst="rightArrow">
            <a:avLst>
              <a:gd name="adj1" fmla="val 49741"/>
              <a:gd name="adj2" fmla="val 63873"/>
            </a:avLst>
          </a:pr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endParaRPr lang="fr-FR"/>
          </a:p>
        </p:txBody>
      </p:sp>
      <p:sp>
        <p:nvSpPr>
          <p:cNvPr id="379911" name="Freeform 7"/>
          <p:cNvSpPr>
            <a:spLocks/>
          </p:cNvSpPr>
          <p:nvPr/>
        </p:nvSpPr>
        <p:spPr bwMode="auto">
          <a:xfrm rot="5922191">
            <a:off x="3688557" y="4224419"/>
            <a:ext cx="1416050" cy="503237"/>
          </a:xfrm>
          <a:custGeom>
            <a:avLst/>
            <a:gdLst/>
            <a:ahLst/>
            <a:cxnLst>
              <a:cxn ang="0">
                <a:pos x="0" y="58"/>
              </a:cxn>
              <a:cxn ang="0">
                <a:pos x="69" y="87"/>
              </a:cxn>
              <a:cxn ang="0">
                <a:pos x="123" y="110"/>
              </a:cxn>
              <a:cxn ang="0">
                <a:pos x="148" y="120"/>
              </a:cxn>
              <a:cxn ang="0">
                <a:pos x="171" y="125"/>
              </a:cxn>
              <a:cxn ang="0">
                <a:pos x="192" y="131"/>
              </a:cxn>
              <a:cxn ang="0">
                <a:pos x="215" y="133"/>
              </a:cxn>
              <a:cxn ang="0">
                <a:pos x="236" y="133"/>
              </a:cxn>
              <a:cxn ang="0">
                <a:pos x="259" y="131"/>
              </a:cxn>
              <a:cxn ang="0">
                <a:pos x="284" y="125"/>
              </a:cxn>
              <a:cxn ang="0">
                <a:pos x="311" y="118"/>
              </a:cxn>
              <a:cxn ang="0">
                <a:pos x="342" y="108"/>
              </a:cxn>
              <a:cxn ang="0">
                <a:pos x="375" y="95"/>
              </a:cxn>
              <a:cxn ang="0">
                <a:pos x="411" y="77"/>
              </a:cxn>
              <a:cxn ang="0">
                <a:pos x="454" y="58"/>
              </a:cxn>
              <a:cxn ang="0">
                <a:pos x="411" y="0"/>
              </a:cxn>
              <a:cxn ang="0">
                <a:pos x="640" y="12"/>
              </a:cxn>
              <a:cxn ang="0">
                <a:pos x="532" y="214"/>
              </a:cxn>
              <a:cxn ang="0">
                <a:pos x="509" y="154"/>
              </a:cxn>
              <a:cxn ang="0">
                <a:pos x="465" y="172"/>
              </a:cxn>
              <a:cxn ang="0">
                <a:pos x="421" y="187"/>
              </a:cxn>
              <a:cxn ang="0">
                <a:pos x="383" y="197"/>
              </a:cxn>
              <a:cxn ang="0">
                <a:pos x="346" y="204"/>
              </a:cxn>
              <a:cxn ang="0">
                <a:pos x="309" y="208"/>
              </a:cxn>
              <a:cxn ang="0">
                <a:pos x="277" y="208"/>
              </a:cxn>
              <a:cxn ang="0">
                <a:pos x="246" y="206"/>
              </a:cxn>
              <a:cxn ang="0">
                <a:pos x="217" y="201"/>
              </a:cxn>
              <a:cxn ang="0">
                <a:pos x="188" y="191"/>
              </a:cxn>
              <a:cxn ang="0">
                <a:pos x="160" y="179"/>
              </a:cxn>
              <a:cxn ang="0">
                <a:pos x="133" y="166"/>
              </a:cxn>
              <a:cxn ang="0">
                <a:pos x="108" y="149"/>
              </a:cxn>
              <a:cxn ang="0">
                <a:pos x="81" y="129"/>
              </a:cxn>
              <a:cxn ang="0">
                <a:pos x="54" y="108"/>
              </a:cxn>
              <a:cxn ang="0">
                <a:pos x="27" y="83"/>
              </a:cxn>
              <a:cxn ang="0">
                <a:pos x="0" y="58"/>
              </a:cxn>
            </a:cxnLst>
            <a:rect l="0" t="0" r="r" b="b"/>
            <a:pathLst>
              <a:path w="640" h="214">
                <a:moveTo>
                  <a:pt x="0" y="58"/>
                </a:moveTo>
                <a:lnTo>
                  <a:pt x="69" y="87"/>
                </a:lnTo>
                <a:lnTo>
                  <a:pt x="123" y="110"/>
                </a:lnTo>
                <a:lnTo>
                  <a:pt x="148" y="120"/>
                </a:lnTo>
                <a:lnTo>
                  <a:pt x="171" y="125"/>
                </a:lnTo>
                <a:lnTo>
                  <a:pt x="192" y="131"/>
                </a:lnTo>
                <a:lnTo>
                  <a:pt x="215" y="133"/>
                </a:lnTo>
                <a:lnTo>
                  <a:pt x="236" y="133"/>
                </a:lnTo>
                <a:lnTo>
                  <a:pt x="259" y="131"/>
                </a:lnTo>
                <a:lnTo>
                  <a:pt x="284" y="125"/>
                </a:lnTo>
                <a:lnTo>
                  <a:pt x="311" y="118"/>
                </a:lnTo>
                <a:lnTo>
                  <a:pt x="342" y="108"/>
                </a:lnTo>
                <a:lnTo>
                  <a:pt x="375" y="95"/>
                </a:lnTo>
                <a:lnTo>
                  <a:pt x="411" y="77"/>
                </a:lnTo>
                <a:lnTo>
                  <a:pt x="454" y="58"/>
                </a:lnTo>
                <a:lnTo>
                  <a:pt x="411" y="0"/>
                </a:lnTo>
                <a:lnTo>
                  <a:pt x="640" y="12"/>
                </a:lnTo>
                <a:lnTo>
                  <a:pt x="532" y="214"/>
                </a:lnTo>
                <a:lnTo>
                  <a:pt x="509" y="154"/>
                </a:lnTo>
                <a:lnTo>
                  <a:pt x="465" y="172"/>
                </a:lnTo>
                <a:lnTo>
                  <a:pt x="421" y="187"/>
                </a:lnTo>
                <a:lnTo>
                  <a:pt x="383" y="197"/>
                </a:lnTo>
                <a:lnTo>
                  <a:pt x="346" y="204"/>
                </a:lnTo>
                <a:lnTo>
                  <a:pt x="309" y="208"/>
                </a:lnTo>
                <a:lnTo>
                  <a:pt x="277" y="208"/>
                </a:lnTo>
                <a:lnTo>
                  <a:pt x="246" y="206"/>
                </a:lnTo>
                <a:lnTo>
                  <a:pt x="217" y="201"/>
                </a:lnTo>
                <a:lnTo>
                  <a:pt x="188" y="191"/>
                </a:lnTo>
                <a:lnTo>
                  <a:pt x="160" y="179"/>
                </a:lnTo>
                <a:lnTo>
                  <a:pt x="133" y="166"/>
                </a:lnTo>
                <a:lnTo>
                  <a:pt x="108" y="149"/>
                </a:lnTo>
                <a:lnTo>
                  <a:pt x="81" y="129"/>
                </a:lnTo>
                <a:lnTo>
                  <a:pt x="54" y="108"/>
                </a:lnTo>
                <a:lnTo>
                  <a:pt x="27" y="83"/>
                </a:lnTo>
                <a:lnTo>
                  <a:pt x="0" y="58"/>
                </a:lnTo>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miter lim="800000"/>
            <a:headEnd type="none" w="med" len="med"/>
            <a:tailEnd type="none" w="med" len="med"/>
          </a:ln>
          <a:effectLst>
            <a:outerShdw dist="52363" dir="4557825" algn="ctr" rotWithShape="0">
              <a:srgbClr val="C0C0C0"/>
            </a:outerShdw>
          </a:effectLst>
        </p:spPr>
        <p:txBody>
          <a:bodyPr wrap="none" tIns="27432" bIns="27432" anchor="ct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79911"/>
                                        </p:tgtEl>
                                        <p:attrNameLst>
                                          <p:attrName>style.visibility</p:attrName>
                                        </p:attrNameLst>
                                      </p:cBhvr>
                                      <p:to>
                                        <p:strVal val="visible"/>
                                      </p:to>
                                    </p:set>
                                    <p:animEffect transition="in" filter="checkerboard(across)">
                                      <p:cBhvr>
                                        <p:cTn id="7" dur="500"/>
                                        <p:tgtEl>
                                          <p:spTgt spid="379911"/>
                                        </p:tgtEl>
                                      </p:cBhvr>
                                    </p:animEffect>
                                  </p:childTnLst>
                                </p:cTn>
                              </p:par>
                              <p:par>
                                <p:cTn id="8" presetID="5" presetClass="entr" presetSubtype="10" fill="hold" nodeType="withEffect">
                                  <p:stCondLst>
                                    <p:cond delay="0"/>
                                  </p:stCondLst>
                                  <p:childTnLst>
                                    <p:set>
                                      <p:cBhvr>
                                        <p:cTn id="9" dur="1" fill="hold">
                                          <p:stCondLst>
                                            <p:cond delay="0"/>
                                          </p:stCondLst>
                                        </p:cTn>
                                        <p:tgtEl>
                                          <p:spTgt spid="379917"/>
                                        </p:tgtEl>
                                        <p:attrNameLst>
                                          <p:attrName>style.visibility</p:attrName>
                                        </p:attrNameLst>
                                      </p:cBhvr>
                                      <p:to>
                                        <p:strVal val="visible"/>
                                      </p:to>
                                    </p:set>
                                    <p:animEffect transition="in" filter="checkerboard(across)">
                                      <p:cBhvr>
                                        <p:cTn id="10" dur="500"/>
                                        <p:tgtEl>
                                          <p:spTgt spid="379917"/>
                                        </p:tgtEl>
                                      </p:cBhvr>
                                    </p:animEffect>
                                  </p:childTnLst>
                                </p:cTn>
                              </p:par>
                            </p:childTnLst>
                          </p:cTn>
                        </p:par>
                        <p:par>
                          <p:cTn id="11" fill="hold">
                            <p:stCondLst>
                              <p:cond delay="500"/>
                            </p:stCondLst>
                            <p:childTnLst>
                              <p:par>
                                <p:cTn id="12" presetID="5" presetClass="entr" presetSubtype="10" fill="hold" grpId="0" nodeType="afterEffect">
                                  <p:stCondLst>
                                    <p:cond delay="0"/>
                                  </p:stCondLst>
                                  <p:childTnLst>
                                    <p:set>
                                      <p:cBhvr>
                                        <p:cTn id="13" dur="1" fill="hold">
                                          <p:stCondLst>
                                            <p:cond delay="0"/>
                                          </p:stCondLst>
                                        </p:cTn>
                                        <p:tgtEl>
                                          <p:spTgt spid="379910"/>
                                        </p:tgtEl>
                                        <p:attrNameLst>
                                          <p:attrName>style.visibility</p:attrName>
                                        </p:attrNameLst>
                                      </p:cBhvr>
                                      <p:to>
                                        <p:strVal val="visible"/>
                                      </p:to>
                                    </p:set>
                                    <p:animEffect transition="in" filter="checkerboard(across)">
                                      <p:cBhvr>
                                        <p:cTn id="14" dur="500"/>
                                        <p:tgtEl>
                                          <p:spTgt spid="379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10" grpId="0" animBg="1"/>
      <p:bldP spid="3799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a:xfrm>
            <a:off x="343316" y="311731"/>
            <a:ext cx="8534400" cy="574960"/>
          </a:xfrm>
          <a:noFill/>
          <a:ln/>
        </p:spPr>
        <p:txBody>
          <a:bodyPr vert="horz" anchor="b">
            <a:normAutofit fontScale="90000"/>
          </a:bodyPr>
          <a:lstStyle/>
          <a:p>
            <a:r>
              <a:rPr lang="en-US" dirty="0">
                <a:solidFill>
                  <a:srgbClr val="C00000"/>
                </a:solidFill>
              </a:rPr>
              <a:t>Changement d'une lettre de lecteur</a:t>
            </a:r>
          </a:p>
        </p:txBody>
      </p:sp>
      <p:pic>
        <p:nvPicPr>
          <p:cNvPr id="380944" name="Picture 16" descr="P2272bW04_18-"/>
          <p:cNvPicPr>
            <a:picLocks noGrp="1" noChangeAspect="1" noChangeArrowheads="1"/>
          </p:cNvPicPr>
          <p:nvPr>
            <p:ph sz="quarter" idx="1"/>
          </p:nvPr>
        </p:nvPicPr>
        <p:blipFill>
          <a:blip r:embed="rId3"/>
          <a:srcRect/>
          <a:stretch>
            <a:fillRect/>
          </a:stretch>
        </p:blipFill>
        <p:spPr>
          <a:xfrm>
            <a:off x="995652" y="1515498"/>
            <a:ext cx="7188200" cy="4962525"/>
          </a:xfrm>
          <a:noFill/>
          <a:ln w="19050">
            <a:solidFill>
              <a:srgbClr val="0000FF"/>
            </a:solidFill>
          </a:ln>
          <a:effectLst>
            <a:outerShdw dist="35921" dir="2700000" algn="ctr" rotWithShape="0">
              <a:srgbClr val="808080"/>
            </a:outerShdw>
          </a:effectLst>
        </p:spPr>
      </p:pic>
      <p:sp>
        <p:nvSpPr>
          <p:cNvPr id="380933" name="Freeform 5"/>
          <p:cNvSpPr>
            <a:spLocks/>
          </p:cNvSpPr>
          <p:nvPr/>
        </p:nvSpPr>
        <p:spPr bwMode="auto">
          <a:xfrm rot="20887951" flipH="1">
            <a:off x="5145088" y="3395098"/>
            <a:ext cx="673100" cy="1154112"/>
          </a:xfrm>
          <a:custGeom>
            <a:avLst/>
            <a:gdLst/>
            <a:ahLst/>
            <a:cxnLst>
              <a:cxn ang="0">
                <a:pos x="132" y="15"/>
              </a:cxn>
              <a:cxn ang="0">
                <a:pos x="111" y="48"/>
              </a:cxn>
              <a:cxn ang="0">
                <a:pos x="96" y="88"/>
              </a:cxn>
              <a:cxn ang="0">
                <a:pos x="81" y="130"/>
              </a:cxn>
              <a:cxn ang="0">
                <a:pos x="75" y="201"/>
              </a:cxn>
              <a:cxn ang="0">
                <a:pos x="78" y="276"/>
              </a:cxn>
              <a:cxn ang="0">
                <a:pos x="89" y="328"/>
              </a:cxn>
              <a:cxn ang="0">
                <a:pos x="103" y="379"/>
              </a:cxn>
              <a:cxn ang="0">
                <a:pos x="126" y="431"/>
              </a:cxn>
              <a:cxn ang="0">
                <a:pos x="155" y="480"/>
              </a:cxn>
              <a:cxn ang="0">
                <a:pos x="191" y="526"/>
              </a:cxn>
              <a:cxn ang="0">
                <a:pos x="234" y="570"/>
              </a:cxn>
              <a:cxn ang="0">
                <a:pos x="283" y="608"/>
              </a:cxn>
              <a:cxn ang="0">
                <a:pos x="343" y="643"/>
              </a:cxn>
              <a:cxn ang="0">
                <a:pos x="406" y="672"/>
              </a:cxn>
              <a:cxn ang="0">
                <a:pos x="511" y="652"/>
              </a:cxn>
              <a:cxn ang="0">
                <a:pos x="212" y="790"/>
              </a:cxn>
              <a:cxn ang="0">
                <a:pos x="269" y="728"/>
              </a:cxn>
              <a:cxn ang="0">
                <a:pos x="209" y="700"/>
              </a:cxn>
              <a:cxn ang="0">
                <a:pos x="160" y="665"/>
              </a:cxn>
              <a:cxn ang="0">
                <a:pos x="117" y="622"/>
              </a:cxn>
              <a:cxn ang="0">
                <a:pos x="81" y="574"/>
              </a:cxn>
              <a:cxn ang="0">
                <a:pos x="52" y="523"/>
              </a:cxn>
              <a:cxn ang="0">
                <a:pos x="31" y="465"/>
              </a:cxn>
              <a:cxn ang="0">
                <a:pos x="14" y="408"/>
              </a:cxn>
              <a:cxn ang="0">
                <a:pos x="2" y="350"/>
              </a:cxn>
              <a:cxn ang="0">
                <a:pos x="0" y="292"/>
              </a:cxn>
              <a:cxn ang="0">
                <a:pos x="7" y="234"/>
              </a:cxn>
              <a:cxn ang="0">
                <a:pos x="16" y="181"/>
              </a:cxn>
              <a:cxn ang="0">
                <a:pos x="34" y="131"/>
              </a:cxn>
              <a:cxn ang="0">
                <a:pos x="58" y="85"/>
              </a:cxn>
              <a:cxn ang="0">
                <a:pos x="89" y="46"/>
              </a:cxn>
              <a:cxn ang="0">
                <a:pos x="123" y="13"/>
              </a:cxn>
            </a:cxnLst>
            <a:rect l="0" t="0" r="r" b="b"/>
            <a:pathLst>
              <a:path w="583" h="822">
                <a:moveTo>
                  <a:pt x="144" y="0"/>
                </a:moveTo>
                <a:lnTo>
                  <a:pt x="132" y="15"/>
                </a:lnTo>
                <a:lnTo>
                  <a:pt x="122" y="31"/>
                </a:lnTo>
                <a:lnTo>
                  <a:pt x="111" y="48"/>
                </a:lnTo>
                <a:lnTo>
                  <a:pt x="103" y="67"/>
                </a:lnTo>
                <a:lnTo>
                  <a:pt x="96" y="88"/>
                </a:lnTo>
                <a:lnTo>
                  <a:pt x="88" y="108"/>
                </a:lnTo>
                <a:lnTo>
                  <a:pt x="81" y="130"/>
                </a:lnTo>
                <a:lnTo>
                  <a:pt x="78" y="154"/>
                </a:lnTo>
                <a:lnTo>
                  <a:pt x="75" y="201"/>
                </a:lnTo>
                <a:lnTo>
                  <a:pt x="76" y="250"/>
                </a:lnTo>
                <a:lnTo>
                  <a:pt x="78" y="276"/>
                </a:lnTo>
                <a:lnTo>
                  <a:pt x="83" y="302"/>
                </a:lnTo>
                <a:lnTo>
                  <a:pt x="89" y="328"/>
                </a:lnTo>
                <a:lnTo>
                  <a:pt x="96" y="354"/>
                </a:lnTo>
                <a:lnTo>
                  <a:pt x="103" y="379"/>
                </a:lnTo>
                <a:lnTo>
                  <a:pt x="115" y="406"/>
                </a:lnTo>
                <a:lnTo>
                  <a:pt x="126" y="431"/>
                </a:lnTo>
                <a:lnTo>
                  <a:pt x="141" y="455"/>
                </a:lnTo>
                <a:lnTo>
                  <a:pt x="155" y="480"/>
                </a:lnTo>
                <a:lnTo>
                  <a:pt x="172" y="503"/>
                </a:lnTo>
                <a:lnTo>
                  <a:pt x="191" y="526"/>
                </a:lnTo>
                <a:lnTo>
                  <a:pt x="213" y="548"/>
                </a:lnTo>
                <a:lnTo>
                  <a:pt x="234" y="570"/>
                </a:lnTo>
                <a:lnTo>
                  <a:pt x="257" y="590"/>
                </a:lnTo>
                <a:lnTo>
                  <a:pt x="283" y="608"/>
                </a:lnTo>
                <a:lnTo>
                  <a:pt x="313" y="627"/>
                </a:lnTo>
                <a:lnTo>
                  <a:pt x="343" y="643"/>
                </a:lnTo>
                <a:lnTo>
                  <a:pt x="372" y="659"/>
                </a:lnTo>
                <a:lnTo>
                  <a:pt x="406" y="672"/>
                </a:lnTo>
                <a:lnTo>
                  <a:pt x="443" y="684"/>
                </a:lnTo>
                <a:lnTo>
                  <a:pt x="511" y="652"/>
                </a:lnTo>
                <a:lnTo>
                  <a:pt x="583" y="822"/>
                </a:lnTo>
                <a:lnTo>
                  <a:pt x="212" y="790"/>
                </a:lnTo>
                <a:lnTo>
                  <a:pt x="298" y="739"/>
                </a:lnTo>
                <a:lnTo>
                  <a:pt x="269" y="728"/>
                </a:lnTo>
                <a:lnTo>
                  <a:pt x="238" y="715"/>
                </a:lnTo>
                <a:lnTo>
                  <a:pt x="209" y="700"/>
                </a:lnTo>
                <a:lnTo>
                  <a:pt x="185" y="682"/>
                </a:lnTo>
                <a:lnTo>
                  <a:pt x="160" y="665"/>
                </a:lnTo>
                <a:lnTo>
                  <a:pt x="139" y="643"/>
                </a:lnTo>
                <a:lnTo>
                  <a:pt x="117" y="622"/>
                </a:lnTo>
                <a:lnTo>
                  <a:pt x="98" y="599"/>
                </a:lnTo>
                <a:lnTo>
                  <a:pt x="81" y="574"/>
                </a:lnTo>
                <a:lnTo>
                  <a:pt x="66" y="548"/>
                </a:lnTo>
                <a:lnTo>
                  <a:pt x="52" y="523"/>
                </a:lnTo>
                <a:lnTo>
                  <a:pt x="37" y="494"/>
                </a:lnTo>
                <a:lnTo>
                  <a:pt x="31" y="465"/>
                </a:lnTo>
                <a:lnTo>
                  <a:pt x="19" y="437"/>
                </a:lnTo>
                <a:lnTo>
                  <a:pt x="14" y="408"/>
                </a:lnTo>
                <a:lnTo>
                  <a:pt x="8" y="379"/>
                </a:lnTo>
                <a:lnTo>
                  <a:pt x="2" y="350"/>
                </a:lnTo>
                <a:lnTo>
                  <a:pt x="3" y="321"/>
                </a:lnTo>
                <a:lnTo>
                  <a:pt x="0" y="292"/>
                </a:lnTo>
                <a:lnTo>
                  <a:pt x="4" y="264"/>
                </a:lnTo>
                <a:lnTo>
                  <a:pt x="7" y="234"/>
                </a:lnTo>
                <a:lnTo>
                  <a:pt x="9" y="207"/>
                </a:lnTo>
                <a:lnTo>
                  <a:pt x="16" y="181"/>
                </a:lnTo>
                <a:lnTo>
                  <a:pt x="25" y="155"/>
                </a:lnTo>
                <a:lnTo>
                  <a:pt x="34" y="131"/>
                </a:lnTo>
                <a:lnTo>
                  <a:pt x="43" y="108"/>
                </a:lnTo>
                <a:lnTo>
                  <a:pt x="58" y="85"/>
                </a:lnTo>
                <a:lnTo>
                  <a:pt x="70" y="64"/>
                </a:lnTo>
                <a:lnTo>
                  <a:pt x="89" y="46"/>
                </a:lnTo>
                <a:lnTo>
                  <a:pt x="103" y="28"/>
                </a:lnTo>
                <a:lnTo>
                  <a:pt x="123" y="13"/>
                </a:lnTo>
                <a:lnTo>
                  <a:pt x="144" y="0"/>
                </a:lnTo>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miter lim="800000"/>
            <a:headEnd type="none" w="med" len="med"/>
            <a:tailEnd type="none" w="med" len="med"/>
          </a:ln>
          <a:effectLst>
            <a:outerShdw dist="40161" dir="6506097" algn="ctr" rotWithShape="0">
              <a:srgbClr val="969696"/>
            </a:outerShdw>
          </a:effectLst>
        </p:spPr>
        <p:txBody>
          <a:bodyPr wrap="none" tIns="27432" bIns="27432" anchor="ct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80933"/>
                                        </p:tgtEl>
                                        <p:attrNameLst>
                                          <p:attrName>style.visibility</p:attrName>
                                        </p:attrNameLst>
                                      </p:cBhvr>
                                      <p:to>
                                        <p:strVal val="visible"/>
                                      </p:to>
                                    </p:set>
                                    <p:animEffect transition="in" filter="checkerboard(across)">
                                      <p:cBhvr>
                                        <p:cTn id="7" dur="500"/>
                                        <p:tgtEl>
                                          <p:spTgt spid="380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80" name="Rectangle 4"/>
          <p:cNvSpPr>
            <a:spLocks noChangeArrowheads="1"/>
          </p:cNvSpPr>
          <p:nvPr/>
        </p:nvSpPr>
        <p:spPr bwMode="auto">
          <a:xfrm>
            <a:off x="986271" y="1171287"/>
            <a:ext cx="7075488" cy="4821238"/>
          </a:xfrm>
          <a:prstGeom prst="rect">
            <a:avLst/>
          </a:prstGeom>
          <a:gradFill rotWithShape="0">
            <a:gsLst>
              <a:gs pos="0">
                <a:srgbClr val="FFCC66"/>
              </a:gs>
              <a:gs pos="50000">
                <a:srgbClr val="FCFEBC"/>
              </a:gs>
              <a:gs pos="100000">
                <a:srgbClr val="FFCC66"/>
              </a:gs>
            </a:gsLst>
            <a:lin ang="18900000" scaled="1"/>
          </a:gradFill>
          <a:ln w="9525">
            <a:noFill/>
            <a:miter lim="800000"/>
            <a:headEnd/>
            <a:tailEnd/>
          </a:ln>
          <a:effectLst/>
        </p:spPr>
        <p:txBody>
          <a:bodyPr wrap="none" anchor="ctr"/>
          <a:lstStyle/>
          <a:p>
            <a:endParaRPr lang="fr-FR"/>
          </a:p>
        </p:txBody>
      </p:sp>
      <p:sp>
        <p:nvSpPr>
          <p:cNvPr id="382978" name="Rectangle 2"/>
          <p:cNvSpPr>
            <a:spLocks noGrp="1" noChangeArrowheads="1"/>
          </p:cNvSpPr>
          <p:nvPr>
            <p:ph type="title"/>
          </p:nvPr>
        </p:nvSpPr>
        <p:spPr>
          <a:xfrm>
            <a:off x="301752" y="228600"/>
            <a:ext cx="8534400" cy="616527"/>
          </a:xfrm>
          <a:noFill/>
          <a:ln/>
        </p:spPr>
        <p:txBody>
          <a:bodyPr vert="horz" anchor="b">
            <a:normAutofit/>
          </a:bodyPr>
          <a:lstStyle/>
          <a:p>
            <a:r>
              <a:rPr lang="en-US" b="1" dirty="0">
                <a:solidFill>
                  <a:srgbClr val="C00000"/>
                </a:solidFill>
              </a:rPr>
              <a:t>Création d'un point de montage</a:t>
            </a:r>
          </a:p>
        </p:txBody>
      </p:sp>
      <p:sp>
        <p:nvSpPr>
          <p:cNvPr id="382981" name="Rectangle 5"/>
          <p:cNvSpPr>
            <a:spLocks noChangeArrowheads="1"/>
          </p:cNvSpPr>
          <p:nvPr/>
        </p:nvSpPr>
        <p:spPr bwMode="auto">
          <a:xfrm>
            <a:off x="1036638" y="2233613"/>
            <a:ext cx="4438650" cy="482600"/>
          </a:xfrm>
          <a:prstGeom prst="rect">
            <a:avLst/>
          </a:prstGeom>
          <a:solidFill>
            <a:srgbClr val="FFFFFF"/>
          </a:solidFill>
          <a:ln w="28575">
            <a:solidFill>
              <a:srgbClr val="0066FF"/>
            </a:solidFill>
            <a:miter lim="800000"/>
            <a:headEnd/>
            <a:tailEnd/>
          </a:ln>
          <a:effectLst>
            <a:outerShdw dist="53882" dir="2700000" algn="ctr" rotWithShape="0">
              <a:srgbClr val="969696"/>
            </a:outerShdw>
          </a:effectLst>
        </p:spPr>
        <p:txBody>
          <a:bodyPr wrap="none" anchor="ctr"/>
          <a:lstStyle/>
          <a:p>
            <a:r>
              <a:rPr lang="en-US">
                <a:solidFill>
                  <a:schemeClr val="tx1"/>
                </a:solidFill>
                <a:effectLst/>
              </a:rPr>
              <a:t>Avant l'ajout d'un point de montage</a:t>
            </a:r>
          </a:p>
        </p:txBody>
      </p:sp>
      <p:sp>
        <p:nvSpPr>
          <p:cNvPr id="382982" name="Rectangle 6"/>
          <p:cNvSpPr>
            <a:spLocks noChangeArrowheads="1"/>
          </p:cNvSpPr>
          <p:nvPr/>
        </p:nvSpPr>
        <p:spPr bwMode="auto">
          <a:xfrm>
            <a:off x="1041400" y="5214938"/>
            <a:ext cx="4175125" cy="482600"/>
          </a:xfrm>
          <a:prstGeom prst="rect">
            <a:avLst/>
          </a:prstGeom>
          <a:solidFill>
            <a:srgbClr val="FFFFFF"/>
          </a:solidFill>
          <a:ln w="28575">
            <a:solidFill>
              <a:srgbClr val="0066FF"/>
            </a:solidFill>
            <a:miter lim="800000"/>
            <a:headEnd/>
            <a:tailEnd/>
          </a:ln>
          <a:effectLst>
            <a:outerShdw dist="53882" dir="2700000" algn="ctr" rotWithShape="0">
              <a:srgbClr val="969696"/>
            </a:outerShdw>
          </a:effectLst>
        </p:spPr>
        <p:txBody>
          <a:bodyPr wrap="none" anchor="ctr"/>
          <a:lstStyle/>
          <a:p>
            <a:r>
              <a:rPr lang="en-US">
                <a:solidFill>
                  <a:schemeClr val="tx1"/>
                </a:solidFill>
                <a:effectLst/>
              </a:rPr>
              <a:t>Après l'ajout d'un point de montage</a:t>
            </a:r>
          </a:p>
        </p:txBody>
      </p:sp>
      <p:pic>
        <p:nvPicPr>
          <p:cNvPr id="383016" name="Picture 40" descr="P2272bW04_19a"/>
          <p:cNvPicPr>
            <a:picLocks noChangeAspect="1" noChangeArrowheads="1"/>
          </p:cNvPicPr>
          <p:nvPr/>
        </p:nvPicPr>
        <p:blipFill>
          <a:blip r:embed="rId3"/>
          <a:srcRect/>
          <a:stretch>
            <a:fillRect/>
          </a:stretch>
        </p:blipFill>
        <p:spPr bwMode="auto">
          <a:xfrm>
            <a:off x="566738" y="1138238"/>
            <a:ext cx="7062787" cy="876300"/>
          </a:xfrm>
          <a:prstGeom prst="rect">
            <a:avLst/>
          </a:prstGeom>
          <a:noFill/>
          <a:ln w="25400">
            <a:solidFill>
              <a:srgbClr val="0033CC"/>
            </a:solidFill>
            <a:miter lim="800000"/>
            <a:headEnd/>
            <a:tailEnd/>
          </a:ln>
        </p:spPr>
      </p:pic>
      <p:grpSp>
        <p:nvGrpSpPr>
          <p:cNvPr id="383028" name="Group 52"/>
          <p:cNvGrpSpPr>
            <a:grpSpLocks/>
          </p:cNvGrpSpPr>
          <p:nvPr/>
        </p:nvGrpSpPr>
        <p:grpSpPr bwMode="auto">
          <a:xfrm>
            <a:off x="5686425" y="1381125"/>
            <a:ext cx="2820988" cy="1684338"/>
            <a:chOff x="3566" y="982"/>
            <a:chExt cx="1777" cy="1061"/>
          </a:xfrm>
        </p:grpSpPr>
        <p:grpSp>
          <p:nvGrpSpPr>
            <p:cNvPr id="383000" name="Group 24"/>
            <p:cNvGrpSpPr>
              <a:grpSpLocks/>
            </p:cNvGrpSpPr>
            <p:nvPr/>
          </p:nvGrpSpPr>
          <p:grpSpPr bwMode="auto">
            <a:xfrm>
              <a:off x="3566" y="982"/>
              <a:ext cx="1777" cy="1061"/>
              <a:chOff x="3769" y="977"/>
              <a:chExt cx="1744" cy="1199"/>
            </a:xfrm>
          </p:grpSpPr>
          <p:sp>
            <p:nvSpPr>
              <p:cNvPr id="382986" name="Rectangle 10"/>
              <p:cNvSpPr>
                <a:spLocks noChangeArrowheads="1"/>
              </p:cNvSpPr>
              <p:nvPr/>
            </p:nvSpPr>
            <p:spPr bwMode="auto">
              <a:xfrm>
                <a:off x="3769" y="977"/>
                <a:ext cx="1744" cy="1199"/>
              </a:xfrm>
              <a:prstGeom prst="rect">
                <a:avLst/>
              </a:prstGeom>
              <a:solidFill>
                <a:srgbClr val="FFFFFF"/>
              </a:solidFill>
              <a:ln w="9525">
                <a:solidFill>
                  <a:srgbClr val="333399"/>
                </a:solidFill>
                <a:miter lim="800000"/>
                <a:headEnd/>
                <a:tailEnd/>
              </a:ln>
              <a:effectLst>
                <a:outerShdw dist="53882" dir="2700000" algn="ctr" rotWithShape="0">
                  <a:srgbClr val="B2B2B2"/>
                </a:outerShdw>
              </a:effectLst>
            </p:spPr>
            <p:txBody>
              <a:bodyPr wrap="none" anchor="ctr"/>
              <a:lstStyle/>
              <a:p>
                <a:endParaRPr lang="fr-FR"/>
              </a:p>
            </p:txBody>
          </p:sp>
          <p:pic>
            <p:nvPicPr>
              <p:cNvPr id="382987" name="Picture 11" descr="mountpoint4"/>
              <p:cNvPicPr>
                <a:picLocks noChangeAspect="1" noChangeArrowheads="1"/>
              </p:cNvPicPr>
              <p:nvPr/>
            </p:nvPicPr>
            <p:blipFill>
              <a:blip r:embed="rId4"/>
              <a:srcRect/>
              <a:stretch>
                <a:fillRect/>
              </a:stretch>
            </p:blipFill>
            <p:spPr bwMode="auto">
              <a:xfrm>
                <a:off x="3796" y="1001"/>
                <a:ext cx="1692" cy="1158"/>
              </a:xfrm>
              <a:prstGeom prst="rect">
                <a:avLst/>
              </a:prstGeom>
              <a:noFill/>
            </p:spPr>
          </p:pic>
        </p:grpSp>
        <p:pic>
          <p:nvPicPr>
            <p:cNvPr id="383019" name="Picture 43" descr="P2272bW04_19c"/>
            <p:cNvPicPr>
              <a:picLocks noChangeAspect="1" noChangeArrowheads="1"/>
            </p:cNvPicPr>
            <p:nvPr/>
          </p:nvPicPr>
          <p:blipFill>
            <a:blip r:embed="rId5"/>
            <a:srcRect/>
            <a:stretch>
              <a:fillRect/>
            </a:stretch>
          </p:blipFill>
          <p:spPr bwMode="auto">
            <a:xfrm>
              <a:off x="3653" y="1009"/>
              <a:ext cx="1657" cy="979"/>
            </a:xfrm>
            <a:prstGeom prst="rect">
              <a:avLst/>
            </a:prstGeom>
            <a:noFill/>
            <a:ln/>
            <a:effectLst/>
          </p:spPr>
        </p:pic>
      </p:grpSp>
      <p:pic>
        <p:nvPicPr>
          <p:cNvPr id="383024" name="Picture 48" descr="P2272bW04_19b"/>
          <p:cNvPicPr>
            <a:picLocks noChangeAspect="1" noChangeArrowheads="1"/>
          </p:cNvPicPr>
          <p:nvPr/>
        </p:nvPicPr>
        <p:blipFill>
          <a:blip r:embed="rId6"/>
          <a:srcRect/>
          <a:stretch>
            <a:fillRect/>
          </a:stretch>
        </p:blipFill>
        <p:spPr bwMode="auto">
          <a:xfrm>
            <a:off x="493713" y="3254375"/>
            <a:ext cx="7062787" cy="1752600"/>
          </a:xfrm>
          <a:prstGeom prst="rect">
            <a:avLst/>
          </a:prstGeom>
          <a:noFill/>
          <a:ln w="25400">
            <a:solidFill>
              <a:srgbClr val="0033CC"/>
            </a:solidFill>
            <a:miter lim="800000"/>
            <a:headEnd/>
            <a:tailEnd/>
          </a:ln>
        </p:spPr>
      </p:pic>
      <p:sp>
        <p:nvSpPr>
          <p:cNvPr id="382990" name="Rectangle 14"/>
          <p:cNvSpPr>
            <a:spLocks noChangeArrowheads="1"/>
          </p:cNvSpPr>
          <p:nvPr/>
        </p:nvSpPr>
        <p:spPr bwMode="auto">
          <a:xfrm>
            <a:off x="5778500" y="4230688"/>
            <a:ext cx="2771775" cy="1905000"/>
          </a:xfrm>
          <a:prstGeom prst="rect">
            <a:avLst/>
          </a:prstGeom>
          <a:solidFill>
            <a:srgbClr val="FFFFFF"/>
          </a:solidFill>
          <a:ln w="9525">
            <a:solidFill>
              <a:srgbClr val="333399"/>
            </a:solidFill>
            <a:miter lim="800000"/>
            <a:headEnd/>
            <a:tailEnd/>
          </a:ln>
          <a:effectLst>
            <a:outerShdw dist="53882" dir="2700000" algn="ctr" rotWithShape="0">
              <a:srgbClr val="B2B2B2"/>
            </a:outerShdw>
          </a:effectLst>
        </p:spPr>
        <p:txBody>
          <a:bodyPr wrap="none" anchor="ctr"/>
          <a:lstStyle/>
          <a:p>
            <a:endParaRPr lang="fr-FR"/>
          </a:p>
        </p:txBody>
      </p:sp>
      <p:pic>
        <p:nvPicPr>
          <p:cNvPr id="1026" name="Picture 2"/>
          <p:cNvPicPr>
            <a:picLocks noChangeAspect="1" noChangeArrowheads="1"/>
          </p:cNvPicPr>
          <p:nvPr/>
        </p:nvPicPr>
        <p:blipFill>
          <a:blip r:embed="rId7"/>
          <a:srcRect/>
          <a:stretch>
            <a:fillRect/>
          </a:stretch>
        </p:blipFill>
        <p:spPr bwMode="auto">
          <a:xfrm>
            <a:off x="5849216" y="4422631"/>
            <a:ext cx="2671329" cy="1701078"/>
          </a:xfrm>
          <a:prstGeom prst="rect">
            <a:avLst/>
          </a:prstGeom>
          <a:noFill/>
          <a:ln w="9525">
            <a:noFill/>
            <a:miter lim="800000"/>
            <a:headEnd/>
            <a:tailEnd/>
          </a:ln>
          <a:effectLst/>
        </p:spPr>
      </p:pic>
      <p:sp>
        <p:nvSpPr>
          <p:cNvPr id="382992" name="Rectangle 16"/>
          <p:cNvSpPr>
            <a:spLocks noChangeArrowheads="1"/>
          </p:cNvSpPr>
          <p:nvPr/>
        </p:nvSpPr>
        <p:spPr bwMode="auto">
          <a:xfrm>
            <a:off x="6362123" y="5357524"/>
            <a:ext cx="1735138" cy="250825"/>
          </a:xfrm>
          <a:prstGeom prst="rect">
            <a:avLst/>
          </a:prstGeom>
          <a:noFill/>
          <a:ln w="38100">
            <a:solidFill>
              <a:srgbClr val="C60076"/>
            </a:solidFill>
            <a:miter lim="800000"/>
            <a:headEnd/>
            <a:tailEnd/>
          </a:ln>
          <a:effectLst/>
        </p:spPr>
        <p:txBody>
          <a:bodyPr wrap="none" anchor="ctr"/>
          <a:lstStyle/>
          <a:p>
            <a:endParaRPr lang="fr-FR"/>
          </a:p>
        </p:txBody>
      </p:sp>
      <p:sp>
        <p:nvSpPr>
          <p:cNvPr id="382993" name="AutoShape 17"/>
          <p:cNvSpPr>
            <a:spLocks noChangeArrowheads="1"/>
          </p:cNvSpPr>
          <p:nvPr/>
        </p:nvSpPr>
        <p:spPr bwMode="auto">
          <a:xfrm>
            <a:off x="5407025" y="5095875"/>
            <a:ext cx="846138" cy="606425"/>
          </a:xfrm>
          <a:prstGeom prst="rightArrow">
            <a:avLst>
              <a:gd name="adj1" fmla="val 58111"/>
              <a:gd name="adj2" fmla="val 93459"/>
            </a:avLst>
          </a:prstGeom>
          <a:gradFill rotWithShape="0">
            <a:gsLst>
              <a:gs pos="0">
                <a:srgbClr val="D60093"/>
              </a:gs>
              <a:gs pos="100000">
                <a:srgbClr val="D60093">
                  <a:gamma/>
                  <a:tint val="47451"/>
                  <a:invGamma/>
                </a:srgbClr>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82981"/>
                                        </p:tgtEl>
                                        <p:attrNameLst>
                                          <p:attrName>style.visibility</p:attrName>
                                        </p:attrNameLst>
                                      </p:cBhvr>
                                      <p:to>
                                        <p:strVal val="visible"/>
                                      </p:to>
                                    </p:set>
                                    <p:animEffect transition="in" filter="checkerboard(across)">
                                      <p:cBhvr>
                                        <p:cTn id="7" dur="500"/>
                                        <p:tgtEl>
                                          <p:spTgt spid="382981"/>
                                        </p:tgtEl>
                                      </p:cBhvr>
                                    </p:animEffect>
                                  </p:childTnLst>
                                </p:cTn>
                              </p:par>
                              <p:par>
                                <p:cTn id="8" presetID="5" presetClass="entr" presetSubtype="10" fill="hold" nodeType="withEffect">
                                  <p:stCondLst>
                                    <p:cond delay="0"/>
                                  </p:stCondLst>
                                  <p:childTnLst>
                                    <p:set>
                                      <p:cBhvr>
                                        <p:cTn id="9" dur="1" fill="hold">
                                          <p:stCondLst>
                                            <p:cond delay="0"/>
                                          </p:stCondLst>
                                        </p:cTn>
                                        <p:tgtEl>
                                          <p:spTgt spid="383016"/>
                                        </p:tgtEl>
                                        <p:attrNameLst>
                                          <p:attrName>style.visibility</p:attrName>
                                        </p:attrNameLst>
                                      </p:cBhvr>
                                      <p:to>
                                        <p:strVal val="visible"/>
                                      </p:to>
                                    </p:set>
                                    <p:animEffect transition="in" filter="checkerboard(across)">
                                      <p:cBhvr>
                                        <p:cTn id="10" dur="500"/>
                                        <p:tgtEl>
                                          <p:spTgt spid="383016"/>
                                        </p:tgtEl>
                                      </p:cBhvr>
                                    </p:animEffect>
                                  </p:childTnLst>
                                </p:cTn>
                              </p:par>
                              <p:par>
                                <p:cTn id="11" presetID="5" presetClass="entr" presetSubtype="10" fill="hold" nodeType="withEffect">
                                  <p:stCondLst>
                                    <p:cond delay="0"/>
                                  </p:stCondLst>
                                  <p:childTnLst>
                                    <p:set>
                                      <p:cBhvr>
                                        <p:cTn id="12" dur="1" fill="hold">
                                          <p:stCondLst>
                                            <p:cond delay="0"/>
                                          </p:stCondLst>
                                        </p:cTn>
                                        <p:tgtEl>
                                          <p:spTgt spid="383028"/>
                                        </p:tgtEl>
                                        <p:attrNameLst>
                                          <p:attrName>style.visibility</p:attrName>
                                        </p:attrNameLst>
                                      </p:cBhvr>
                                      <p:to>
                                        <p:strVal val="visible"/>
                                      </p:to>
                                    </p:set>
                                    <p:animEffect transition="in" filter="checkerboard(across)">
                                      <p:cBhvr>
                                        <p:cTn id="13" dur="500"/>
                                        <p:tgtEl>
                                          <p:spTgt spid="383028"/>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382982"/>
                                        </p:tgtEl>
                                        <p:attrNameLst>
                                          <p:attrName>style.visibility</p:attrName>
                                        </p:attrNameLst>
                                      </p:cBhvr>
                                      <p:to>
                                        <p:strVal val="visible"/>
                                      </p:to>
                                    </p:set>
                                    <p:animEffect transition="in" filter="checkerboard(across)">
                                      <p:cBhvr>
                                        <p:cTn id="18" dur="500"/>
                                        <p:tgtEl>
                                          <p:spTgt spid="382982"/>
                                        </p:tgtEl>
                                      </p:cBhvr>
                                    </p:animEffect>
                                  </p:childTnLst>
                                </p:cTn>
                              </p:par>
                              <p:par>
                                <p:cTn id="19" presetID="5" presetClass="entr" presetSubtype="10" fill="hold" nodeType="withEffect">
                                  <p:stCondLst>
                                    <p:cond delay="0"/>
                                  </p:stCondLst>
                                  <p:childTnLst>
                                    <p:set>
                                      <p:cBhvr>
                                        <p:cTn id="20" dur="1" fill="hold">
                                          <p:stCondLst>
                                            <p:cond delay="0"/>
                                          </p:stCondLst>
                                        </p:cTn>
                                        <p:tgtEl>
                                          <p:spTgt spid="383024"/>
                                        </p:tgtEl>
                                        <p:attrNameLst>
                                          <p:attrName>style.visibility</p:attrName>
                                        </p:attrNameLst>
                                      </p:cBhvr>
                                      <p:to>
                                        <p:strVal val="visible"/>
                                      </p:to>
                                    </p:set>
                                    <p:animEffect transition="in" filter="checkerboard(across)">
                                      <p:cBhvr>
                                        <p:cTn id="21" dur="500"/>
                                        <p:tgtEl>
                                          <p:spTgt spid="383024"/>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382990"/>
                                        </p:tgtEl>
                                        <p:attrNameLst>
                                          <p:attrName>style.visibility</p:attrName>
                                        </p:attrNameLst>
                                      </p:cBhvr>
                                      <p:to>
                                        <p:strVal val="visible"/>
                                      </p:to>
                                    </p:set>
                                    <p:animEffect transition="in" filter="checkerboard(across)">
                                      <p:cBhvr>
                                        <p:cTn id="24" dur="500"/>
                                        <p:tgtEl>
                                          <p:spTgt spid="382990"/>
                                        </p:tgtEl>
                                      </p:cBhvr>
                                    </p:animEffect>
                                  </p:childTnLst>
                                </p:cTn>
                              </p:par>
                              <p:par>
                                <p:cTn id="25" presetID="5" presetClass="entr" presetSubtype="10" fill="hold" nodeType="withEffect">
                                  <p:stCondLst>
                                    <p:cond delay="0"/>
                                  </p:stCondLst>
                                  <p:childTnLst>
                                    <p:set>
                                      <p:cBhvr>
                                        <p:cTn id="26" dur="1" fill="hold">
                                          <p:stCondLst>
                                            <p:cond delay="0"/>
                                          </p:stCondLst>
                                        </p:cTn>
                                        <p:tgtEl>
                                          <p:spTgt spid="1026"/>
                                        </p:tgtEl>
                                        <p:attrNameLst>
                                          <p:attrName>style.visibility</p:attrName>
                                        </p:attrNameLst>
                                      </p:cBhvr>
                                      <p:to>
                                        <p:strVal val="visible"/>
                                      </p:to>
                                    </p:set>
                                    <p:animEffect transition="in" filter="checkerboard(across)">
                                      <p:cBhvr>
                                        <p:cTn id="27" dur="500"/>
                                        <p:tgtEl>
                                          <p:spTgt spid="1026"/>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382992"/>
                                        </p:tgtEl>
                                        <p:attrNameLst>
                                          <p:attrName>style.visibility</p:attrName>
                                        </p:attrNameLst>
                                      </p:cBhvr>
                                      <p:to>
                                        <p:strVal val="visible"/>
                                      </p:to>
                                    </p:set>
                                    <p:animEffect transition="in" filter="checkerboard(across)">
                                      <p:cBhvr>
                                        <p:cTn id="30" dur="500"/>
                                        <p:tgtEl>
                                          <p:spTgt spid="382992"/>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382993"/>
                                        </p:tgtEl>
                                        <p:attrNameLst>
                                          <p:attrName>style.visibility</p:attrName>
                                        </p:attrNameLst>
                                      </p:cBhvr>
                                      <p:to>
                                        <p:strVal val="visible"/>
                                      </p:to>
                                    </p:set>
                                    <p:animEffect transition="in" filter="checkerboard(across)">
                                      <p:cBhvr>
                                        <p:cTn id="33" dur="500"/>
                                        <p:tgtEl>
                                          <p:spTgt spid="3829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1" grpId="0" animBg="1"/>
      <p:bldP spid="382982" grpId="0" animBg="1"/>
      <p:bldP spid="382990" grpId="0" animBg="1"/>
      <p:bldP spid="382992" grpId="0" animBg="1"/>
      <p:bldP spid="38299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a:noFill/>
          <a:ln/>
        </p:spPr>
        <p:txBody>
          <a:bodyPr/>
          <a:lstStyle/>
          <a:p>
            <a:r>
              <a:rPr lang="en-US" dirty="0">
                <a:solidFill>
                  <a:schemeClr val="tx1"/>
                </a:solidFill>
                <a:cs typeface="Times New Roman" pitchFamily="18" charset="0"/>
              </a:rPr>
              <a:t>4. </a:t>
            </a:r>
            <a:r>
              <a:rPr lang="en-US" dirty="0" err="1">
                <a:solidFill>
                  <a:schemeClr val="tx1"/>
                </a:solidFill>
                <a:cs typeface="Times New Roman" pitchFamily="18" charset="0"/>
              </a:rPr>
              <a:t>Défragmentation</a:t>
            </a:r>
            <a:r>
              <a:rPr lang="en-US" dirty="0">
                <a:solidFill>
                  <a:schemeClr val="tx1"/>
                </a:solidFill>
                <a:cs typeface="Times New Roman" pitchFamily="18" charset="0"/>
              </a:rPr>
              <a:t> des </a:t>
            </a:r>
            <a:r>
              <a:rPr lang="en-US" dirty="0" err="1">
                <a:solidFill>
                  <a:schemeClr val="tx1"/>
                </a:solidFill>
                <a:cs typeface="Times New Roman" pitchFamily="18" charset="0"/>
              </a:rPr>
              <a:t>disques</a:t>
            </a:r>
            <a:endParaRPr lang="en-US" dirty="0">
              <a:solidFill>
                <a:schemeClr val="tx1"/>
              </a:solidFill>
            </a:endParaRPr>
          </a:p>
        </p:txBody>
      </p:sp>
      <p:sp>
        <p:nvSpPr>
          <p:cNvPr id="386051" name="Rectangle 3"/>
          <p:cNvSpPr>
            <a:spLocks noGrp="1" noChangeArrowheads="1"/>
          </p:cNvSpPr>
          <p:nvPr>
            <p:ph sz="quarter" idx="1"/>
          </p:nvPr>
        </p:nvSpPr>
        <p:spPr>
          <a:xfrm>
            <a:off x="260189" y="1582466"/>
            <a:ext cx="8503920" cy="4572000"/>
          </a:xfrm>
          <a:noFill/>
          <a:ln/>
        </p:spPr>
        <p:txBody>
          <a:bodyPr/>
          <a:lstStyle/>
          <a:p>
            <a:pPr>
              <a:buClrTx/>
              <a:buSzPct val="145000"/>
              <a:buFont typeface="Symbol" pitchFamily="18" charset="2"/>
              <a:buChar char="®"/>
            </a:pPr>
            <a:r>
              <a:rPr lang="fr-FR" dirty="0"/>
              <a:t> Qu'est-ce que la fragmentation du disque ?</a:t>
            </a:r>
          </a:p>
          <a:p>
            <a:pPr>
              <a:buClrTx/>
              <a:buSzPct val="145000"/>
              <a:buFont typeface="Symbol" pitchFamily="18" charset="2"/>
              <a:buChar char="®"/>
            </a:pPr>
            <a:r>
              <a:rPr lang="en-US" dirty="0"/>
              <a:t>La </a:t>
            </a:r>
            <a:r>
              <a:rPr lang="en-US" dirty="0" err="1"/>
              <a:t>défragmentation</a:t>
            </a:r>
            <a:r>
              <a:rPr lang="en-US" dirty="0"/>
              <a:t> d’un </a:t>
            </a:r>
            <a:r>
              <a:rPr lang="en-US" dirty="0" err="1"/>
              <a:t>disque</a:t>
            </a:r>
            <a:endParaRPr lang="en-US" dirty="0"/>
          </a:p>
          <a:p>
            <a:pPr>
              <a:buClrTx/>
              <a:buSzPct val="145000"/>
              <a:buFont typeface="Symbol" pitchFamily="18" charset="2"/>
              <a:buChar char="®"/>
            </a:pPr>
            <a:r>
              <a:rPr lang="en-US" dirty="0" err="1"/>
              <a:t>Utilisation</a:t>
            </a:r>
            <a:r>
              <a:rPr lang="en-US" dirty="0"/>
              <a:t> de </a:t>
            </a:r>
            <a:r>
              <a:rPr lang="en-US" dirty="0" err="1"/>
              <a:t>l'outil</a:t>
            </a:r>
            <a:r>
              <a:rPr lang="en-US" dirty="0"/>
              <a:t> Defrag.exe</a:t>
            </a:r>
          </a:p>
          <a:p>
            <a:pPr>
              <a:buSzPct val="145000"/>
              <a:buFont typeface="Wingdings" pitchFamily="2" charset="2"/>
              <a:buChar char="§"/>
            </a:pPr>
            <a:endParaRPr lang="en-US" dirty="0"/>
          </a:p>
        </p:txBody>
      </p:sp>
      <p:sp>
        <p:nvSpPr>
          <p:cNvPr id="386054" name="AutoShape 6"/>
          <p:cNvSpPr>
            <a:spLocks noChangeArrowheads="1"/>
          </p:cNvSpPr>
          <p:nvPr/>
        </p:nvSpPr>
        <p:spPr bwMode="auto">
          <a:xfrm>
            <a:off x="2960688" y="3346450"/>
            <a:ext cx="2997200" cy="2057400"/>
          </a:xfrm>
          <a:custGeom>
            <a:avLst/>
            <a:gdLst>
              <a:gd name="G0" fmla="+- -2951545 0 0"/>
              <a:gd name="G1" fmla="+- -10158708 0 0"/>
              <a:gd name="G2" fmla="+- -2951545 0 -10158708"/>
              <a:gd name="G3" fmla="+- 10800 0 0"/>
              <a:gd name="G4" fmla="+- 0 0 -2951545"/>
              <a:gd name="T0" fmla="*/ 360 256 1"/>
              <a:gd name="T1" fmla="*/ 0 256 1"/>
              <a:gd name="G5" fmla="+- G2 T0 T1"/>
              <a:gd name="G6" fmla="?: G2 G2 G5"/>
              <a:gd name="G7" fmla="+- 0 0 G6"/>
              <a:gd name="G8" fmla="+- 5475 0 0"/>
              <a:gd name="G9" fmla="+- 0 0 -10158708"/>
              <a:gd name="G10" fmla="+- 5475 0 2700"/>
              <a:gd name="G11" fmla="cos G10 -2951545"/>
              <a:gd name="G12" fmla="sin G10 -2951545"/>
              <a:gd name="G13" fmla="cos 13500 -2951545"/>
              <a:gd name="G14" fmla="sin 13500 -2951545"/>
              <a:gd name="G15" fmla="+- G11 10800 0"/>
              <a:gd name="G16" fmla="+- G12 10800 0"/>
              <a:gd name="G17" fmla="+- G13 10800 0"/>
              <a:gd name="G18" fmla="+- G14 10800 0"/>
              <a:gd name="G19" fmla="*/ 5475 1 2"/>
              <a:gd name="G20" fmla="+- G19 5400 0"/>
              <a:gd name="G21" fmla="cos G20 -2951545"/>
              <a:gd name="G22" fmla="sin G20 -2951545"/>
              <a:gd name="G23" fmla="+- G21 10800 0"/>
              <a:gd name="G24" fmla="+- G12 G23 G22"/>
              <a:gd name="G25" fmla="+- G22 G23 G11"/>
              <a:gd name="G26" fmla="cos 10800 -2951545"/>
              <a:gd name="G27" fmla="sin 10800 -2951545"/>
              <a:gd name="G28" fmla="cos 5475 -2951545"/>
              <a:gd name="G29" fmla="sin 5475 -2951545"/>
              <a:gd name="G30" fmla="+- G26 10800 0"/>
              <a:gd name="G31" fmla="+- G27 10800 0"/>
              <a:gd name="G32" fmla="+- G28 10800 0"/>
              <a:gd name="G33" fmla="+- G29 10800 0"/>
              <a:gd name="G34" fmla="+- G19 5400 0"/>
              <a:gd name="G35" fmla="cos G34 -10158708"/>
              <a:gd name="G36" fmla="sin G34 -10158708"/>
              <a:gd name="G37" fmla="+/ -10158708 -2951545 2"/>
              <a:gd name="T2" fmla="*/ 180 256 1"/>
              <a:gd name="T3" fmla="*/ 0 256 1"/>
              <a:gd name="G38" fmla="+- G37 T2 T3"/>
              <a:gd name="G39" fmla="?: G2 G37 G38"/>
              <a:gd name="G40" fmla="cos 10800 G39"/>
              <a:gd name="G41" fmla="sin 10800 G39"/>
              <a:gd name="G42" fmla="cos 5475 G39"/>
              <a:gd name="G43" fmla="sin 5475 G39"/>
              <a:gd name="G44" fmla="+- G40 10800 0"/>
              <a:gd name="G45" fmla="+- G41 10800 0"/>
              <a:gd name="G46" fmla="+- G42 10800 0"/>
              <a:gd name="G47" fmla="+- G43 10800 0"/>
              <a:gd name="G48" fmla="+- G35 10800 0"/>
              <a:gd name="G49" fmla="+- G36 10800 0"/>
              <a:gd name="T4" fmla="*/ 8920 w 21600"/>
              <a:gd name="T5" fmla="*/ 164 h 21600"/>
              <a:gd name="T6" fmla="*/ 3423 w 21600"/>
              <a:gd name="T7" fmla="*/ 7361 h 21600"/>
              <a:gd name="T8" fmla="*/ 9847 w 21600"/>
              <a:gd name="T9" fmla="*/ 5408 h 21600"/>
              <a:gd name="T10" fmla="*/ 20339 w 21600"/>
              <a:gd name="T11" fmla="*/ 1247 h 21600"/>
              <a:gd name="T12" fmla="*/ 20345 w 21600"/>
              <a:gd name="T13" fmla="*/ 8831 h 21600"/>
              <a:gd name="T14" fmla="*/ 12760 w 21600"/>
              <a:gd name="T15" fmla="*/ 8836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4668" y="6926"/>
                </a:moveTo>
                <a:cubicBezTo>
                  <a:pt x="13642" y="5900"/>
                  <a:pt x="12250" y="5325"/>
                  <a:pt x="10800" y="5325"/>
                </a:cubicBezTo>
                <a:cubicBezTo>
                  <a:pt x="8671" y="5324"/>
                  <a:pt x="6736" y="6558"/>
                  <a:pt x="5837" y="8486"/>
                </a:cubicBezTo>
                <a:lnTo>
                  <a:pt x="1011" y="6237"/>
                </a:lnTo>
                <a:cubicBezTo>
                  <a:pt x="2784" y="2432"/>
                  <a:pt x="6602" y="-1"/>
                  <a:pt x="10800" y="0"/>
                </a:cubicBezTo>
                <a:cubicBezTo>
                  <a:pt x="13661" y="0"/>
                  <a:pt x="16406" y="1135"/>
                  <a:pt x="18431" y="3158"/>
                </a:cubicBezTo>
                <a:lnTo>
                  <a:pt x="20339" y="1247"/>
                </a:lnTo>
                <a:lnTo>
                  <a:pt x="20345" y="8831"/>
                </a:lnTo>
                <a:lnTo>
                  <a:pt x="12760" y="8836"/>
                </a:lnTo>
                <a:lnTo>
                  <a:pt x="14668" y="6926"/>
                </a:lnTo>
                <a:close/>
              </a:path>
            </a:pathLst>
          </a:cu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40161" dir="4293903" algn="ctr" rotWithShape="0">
              <a:srgbClr val="969696"/>
            </a:outerShdw>
          </a:effectLst>
        </p:spPr>
        <p:txBody>
          <a:bodyPr wrap="none" tIns="27432" bIns="27432" anchor="ctr"/>
          <a:lstStyle/>
          <a:p>
            <a:endParaRPr lang="fr-FR" sz="2000">
              <a:solidFill>
                <a:schemeClr val="bg1"/>
              </a:solidFill>
              <a:effectLst>
                <a:outerShdw blurRad="38100" dist="38100" dir="2700000" algn="tl">
                  <a:srgbClr val="000000"/>
                </a:outerShdw>
              </a:effectLst>
              <a:latin typeface="Arial Narrow" pitchFamily="34" charset="0"/>
            </a:endParaRPr>
          </a:p>
        </p:txBody>
      </p:sp>
      <p:sp>
        <p:nvSpPr>
          <p:cNvPr id="386055" name="Text Box 7"/>
          <p:cNvSpPr txBox="1">
            <a:spLocks noChangeArrowheads="1"/>
          </p:cNvSpPr>
          <p:nvPr/>
        </p:nvSpPr>
        <p:spPr bwMode="auto">
          <a:xfrm>
            <a:off x="3413125" y="3486150"/>
            <a:ext cx="2201863" cy="396875"/>
          </a:xfrm>
          <a:prstGeom prst="rect">
            <a:avLst/>
          </a:prstGeom>
          <a:noFill/>
          <a:ln w="9525">
            <a:noFill/>
            <a:miter lim="800000"/>
            <a:headEnd/>
            <a:tailEnd/>
          </a:ln>
          <a:effectLst>
            <a:outerShdw dist="17961" dir="2700000" algn="ctr" rotWithShape="0">
              <a:srgbClr val="000000"/>
            </a:outerShdw>
          </a:effectLst>
        </p:spPr>
        <p:txBody>
          <a:bodyPr wrap="none">
            <a:spAutoFit/>
          </a:bodyPr>
          <a:lstStyle/>
          <a:p>
            <a:pPr algn="l"/>
            <a:r>
              <a:rPr lang="en-US" sz="2000">
                <a:solidFill>
                  <a:schemeClr val="bg1"/>
                </a:solidFill>
                <a:effectLst/>
              </a:rPr>
              <a:t>Défragmentation</a:t>
            </a:r>
            <a:endParaRPr lang="en-US" sz="2000">
              <a:solidFill>
                <a:schemeClr val="bg1"/>
              </a:solidFill>
              <a:effectLst/>
              <a:latin typeface="Arial Narrow" pitchFamily="34" charset="0"/>
            </a:endParaRPr>
          </a:p>
        </p:txBody>
      </p:sp>
      <p:grpSp>
        <p:nvGrpSpPr>
          <p:cNvPr id="386056" name="Group 8"/>
          <p:cNvGrpSpPr>
            <a:grpSpLocks/>
          </p:cNvGrpSpPr>
          <p:nvPr/>
        </p:nvGrpSpPr>
        <p:grpSpPr bwMode="auto">
          <a:xfrm>
            <a:off x="889000" y="4029075"/>
            <a:ext cx="2971800" cy="1752600"/>
            <a:chOff x="571" y="2735"/>
            <a:chExt cx="1872" cy="1104"/>
          </a:xfrm>
        </p:grpSpPr>
        <p:sp>
          <p:nvSpPr>
            <p:cNvPr id="386057" name="AutoShape 9"/>
            <p:cNvSpPr>
              <a:spLocks noChangeArrowheads="1"/>
            </p:cNvSpPr>
            <p:nvPr/>
          </p:nvSpPr>
          <p:spPr bwMode="auto">
            <a:xfrm>
              <a:off x="571" y="2735"/>
              <a:ext cx="1872" cy="1104"/>
            </a:xfrm>
            <a:prstGeom prst="can">
              <a:avLst>
                <a:gd name="adj" fmla="val 50000"/>
              </a:avLst>
            </a:prstGeom>
            <a:solidFill>
              <a:srgbClr val="FFFFFF"/>
            </a:solidFill>
            <a:ln w="9525">
              <a:solidFill>
                <a:srgbClr val="808080"/>
              </a:solidFill>
              <a:round/>
              <a:headEnd/>
              <a:tailEnd/>
            </a:ln>
            <a:effectLst/>
          </p:spPr>
          <p:txBody>
            <a:bodyPr wrap="none" tIns="411480" anchor="ctr"/>
            <a:lstStyle/>
            <a:p>
              <a:endParaRPr lang="fr-FR" sz="2000">
                <a:solidFill>
                  <a:schemeClr val="tx1"/>
                </a:solidFill>
                <a:effectLst/>
                <a:latin typeface="Arial Narrow" pitchFamily="34" charset="0"/>
              </a:endParaRPr>
            </a:p>
          </p:txBody>
        </p:sp>
        <p:sp>
          <p:nvSpPr>
            <p:cNvPr id="386058" name="Freeform 10"/>
            <p:cNvSpPr>
              <a:spLocks/>
            </p:cNvSpPr>
            <p:nvPr/>
          </p:nvSpPr>
          <p:spPr bwMode="auto">
            <a:xfrm>
              <a:off x="2006" y="3203"/>
              <a:ext cx="146" cy="582"/>
            </a:xfrm>
            <a:custGeom>
              <a:avLst/>
              <a:gdLst/>
              <a:ahLst/>
              <a:cxnLst>
                <a:cxn ang="0">
                  <a:pos x="0" y="40"/>
                </a:cxn>
                <a:cxn ang="0">
                  <a:pos x="0" y="582"/>
                </a:cxn>
                <a:cxn ang="0">
                  <a:pos x="18" y="578"/>
                </a:cxn>
                <a:cxn ang="0">
                  <a:pos x="37" y="574"/>
                </a:cxn>
                <a:cxn ang="0">
                  <a:pos x="54" y="570"/>
                </a:cxn>
                <a:cxn ang="0">
                  <a:pos x="71" y="565"/>
                </a:cxn>
                <a:cxn ang="0">
                  <a:pos x="91" y="561"/>
                </a:cxn>
                <a:cxn ang="0">
                  <a:pos x="108" y="557"/>
                </a:cxn>
                <a:cxn ang="0">
                  <a:pos x="127" y="553"/>
                </a:cxn>
                <a:cxn ang="0">
                  <a:pos x="146" y="547"/>
                </a:cxn>
                <a:cxn ang="0">
                  <a:pos x="146" y="0"/>
                </a:cxn>
              </a:cxnLst>
              <a:rect l="0" t="0" r="r" b="b"/>
              <a:pathLst>
                <a:path w="146" h="582">
                  <a:moveTo>
                    <a:pt x="0" y="40"/>
                  </a:moveTo>
                  <a:lnTo>
                    <a:pt x="0" y="582"/>
                  </a:lnTo>
                  <a:lnTo>
                    <a:pt x="18" y="578"/>
                  </a:lnTo>
                  <a:lnTo>
                    <a:pt x="37" y="574"/>
                  </a:lnTo>
                  <a:lnTo>
                    <a:pt x="54" y="570"/>
                  </a:lnTo>
                  <a:lnTo>
                    <a:pt x="71" y="565"/>
                  </a:lnTo>
                  <a:lnTo>
                    <a:pt x="91" y="561"/>
                  </a:lnTo>
                  <a:lnTo>
                    <a:pt x="108" y="557"/>
                  </a:lnTo>
                  <a:lnTo>
                    <a:pt x="127" y="553"/>
                  </a:lnTo>
                  <a:lnTo>
                    <a:pt x="146" y="547"/>
                  </a:lnTo>
                  <a:lnTo>
                    <a:pt x="146" y="0"/>
                  </a:lnTo>
                </a:path>
              </a:pathLst>
            </a:custGeom>
            <a:solidFill>
              <a:srgbClr val="0033CC"/>
            </a:solidFill>
            <a:ln w="12700" cap="flat" cmpd="sng">
              <a:solidFill>
                <a:srgbClr val="FFFFFF"/>
              </a:solidFill>
              <a:prstDash val="solid"/>
              <a:miter lim="800000"/>
              <a:headEnd type="none" w="med" len="med"/>
              <a:tailEnd type="none" w="med" len="med"/>
            </a:ln>
            <a:effectLst/>
          </p:spPr>
          <p:txBody>
            <a:bodyPr/>
            <a:lstStyle/>
            <a:p>
              <a:endParaRPr lang="fr-FR"/>
            </a:p>
          </p:txBody>
        </p:sp>
        <p:sp>
          <p:nvSpPr>
            <p:cNvPr id="386059" name="Freeform 11"/>
            <p:cNvSpPr>
              <a:spLocks/>
            </p:cNvSpPr>
            <p:nvPr/>
          </p:nvSpPr>
          <p:spPr bwMode="auto">
            <a:xfrm>
              <a:off x="2279" y="3099"/>
              <a:ext cx="100" cy="609"/>
            </a:xfrm>
            <a:custGeom>
              <a:avLst/>
              <a:gdLst/>
              <a:ahLst/>
              <a:cxnLst>
                <a:cxn ang="0">
                  <a:pos x="0" y="66"/>
                </a:cxn>
                <a:cxn ang="0">
                  <a:pos x="0" y="609"/>
                </a:cxn>
                <a:cxn ang="0">
                  <a:pos x="11" y="601"/>
                </a:cxn>
                <a:cxn ang="0">
                  <a:pos x="25" y="594"/>
                </a:cxn>
                <a:cxn ang="0">
                  <a:pos x="36" y="586"/>
                </a:cxn>
                <a:cxn ang="0">
                  <a:pos x="50" y="578"/>
                </a:cxn>
                <a:cxn ang="0">
                  <a:pos x="61" y="569"/>
                </a:cxn>
                <a:cxn ang="0">
                  <a:pos x="75" y="561"/>
                </a:cxn>
                <a:cxn ang="0">
                  <a:pos x="86" y="553"/>
                </a:cxn>
                <a:cxn ang="0">
                  <a:pos x="100" y="544"/>
                </a:cxn>
                <a:cxn ang="0">
                  <a:pos x="100" y="0"/>
                </a:cxn>
              </a:cxnLst>
              <a:rect l="0" t="0" r="r" b="b"/>
              <a:pathLst>
                <a:path w="100" h="609">
                  <a:moveTo>
                    <a:pt x="0" y="66"/>
                  </a:moveTo>
                  <a:lnTo>
                    <a:pt x="0" y="609"/>
                  </a:lnTo>
                  <a:lnTo>
                    <a:pt x="11" y="601"/>
                  </a:lnTo>
                  <a:lnTo>
                    <a:pt x="25" y="594"/>
                  </a:lnTo>
                  <a:lnTo>
                    <a:pt x="36" y="586"/>
                  </a:lnTo>
                  <a:lnTo>
                    <a:pt x="50" y="578"/>
                  </a:lnTo>
                  <a:lnTo>
                    <a:pt x="61" y="569"/>
                  </a:lnTo>
                  <a:lnTo>
                    <a:pt x="75" y="561"/>
                  </a:lnTo>
                  <a:lnTo>
                    <a:pt x="86" y="553"/>
                  </a:lnTo>
                  <a:lnTo>
                    <a:pt x="100" y="544"/>
                  </a:lnTo>
                  <a:lnTo>
                    <a:pt x="100" y="0"/>
                  </a:lnTo>
                </a:path>
              </a:pathLst>
            </a:custGeom>
            <a:solidFill>
              <a:srgbClr val="CC0000"/>
            </a:solidFill>
            <a:ln w="12700" cap="flat" cmpd="sng">
              <a:solidFill>
                <a:srgbClr val="FFFFFF"/>
              </a:solidFill>
              <a:prstDash val="solid"/>
              <a:miter lim="800000"/>
              <a:headEnd type="none" w="med" len="med"/>
              <a:tailEnd type="none" w="med" len="med"/>
            </a:ln>
            <a:effectLst/>
          </p:spPr>
          <p:txBody>
            <a:bodyPr/>
            <a:lstStyle/>
            <a:p>
              <a:endParaRPr lang="fr-FR"/>
            </a:p>
          </p:txBody>
        </p:sp>
        <p:sp>
          <p:nvSpPr>
            <p:cNvPr id="386060" name="Freeform 12"/>
            <p:cNvSpPr>
              <a:spLocks/>
            </p:cNvSpPr>
            <p:nvPr/>
          </p:nvSpPr>
          <p:spPr bwMode="auto">
            <a:xfrm>
              <a:off x="611" y="3024"/>
              <a:ext cx="58" cy="630"/>
            </a:xfrm>
            <a:custGeom>
              <a:avLst/>
              <a:gdLst/>
              <a:ahLst/>
              <a:cxnLst>
                <a:cxn ang="0">
                  <a:pos x="0" y="0"/>
                </a:cxn>
                <a:cxn ang="0">
                  <a:pos x="0" y="544"/>
                </a:cxn>
                <a:cxn ang="0">
                  <a:pos x="6" y="561"/>
                </a:cxn>
                <a:cxn ang="0">
                  <a:pos x="12" y="577"/>
                </a:cxn>
                <a:cxn ang="0">
                  <a:pos x="17" y="588"/>
                </a:cxn>
                <a:cxn ang="0">
                  <a:pos x="25" y="600"/>
                </a:cxn>
                <a:cxn ang="0">
                  <a:pos x="33" y="609"/>
                </a:cxn>
                <a:cxn ang="0">
                  <a:pos x="40" y="617"/>
                </a:cxn>
                <a:cxn ang="0">
                  <a:pos x="48" y="625"/>
                </a:cxn>
                <a:cxn ang="0">
                  <a:pos x="58" y="630"/>
                </a:cxn>
                <a:cxn ang="0">
                  <a:pos x="58" y="73"/>
                </a:cxn>
              </a:cxnLst>
              <a:rect l="0" t="0" r="r" b="b"/>
              <a:pathLst>
                <a:path w="58" h="630">
                  <a:moveTo>
                    <a:pt x="0" y="0"/>
                  </a:moveTo>
                  <a:lnTo>
                    <a:pt x="0" y="544"/>
                  </a:lnTo>
                  <a:lnTo>
                    <a:pt x="6" y="561"/>
                  </a:lnTo>
                  <a:lnTo>
                    <a:pt x="12" y="577"/>
                  </a:lnTo>
                  <a:lnTo>
                    <a:pt x="17" y="588"/>
                  </a:lnTo>
                  <a:lnTo>
                    <a:pt x="25" y="600"/>
                  </a:lnTo>
                  <a:lnTo>
                    <a:pt x="33" y="609"/>
                  </a:lnTo>
                  <a:lnTo>
                    <a:pt x="40" y="617"/>
                  </a:lnTo>
                  <a:lnTo>
                    <a:pt x="48" y="625"/>
                  </a:lnTo>
                  <a:lnTo>
                    <a:pt x="58" y="630"/>
                  </a:lnTo>
                  <a:lnTo>
                    <a:pt x="58" y="73"/>
                  </a:lnTo>
                </a:path>
              </a:pathLst>
            </a:custGeom>
            <a:solidFill>
              <a:srgbClr val="CC0000"/>
            </a:solidFill>
            <a:ln w="12700" cap="flat" cmpd="sng">
              <a:solidFill>
                <a:srgbClr val="FFFFFF"/>
              </a:solidFill>
              <a:prstDash val="solid"/>
              <a:miter lim="800000"/>
              <a:headEnd type="none" w="med" len="med"/>
              <a:tailEnd type="none" w="med" len="med"/>
            </a:ln>
            <a:effectLst/>
          </p:spPr>
          <p:txBody>
            <a:bodyPr/>
            <a:lstStyle/>
            <a:p>
              <a:endParaRPr lang="fr-FR"/>
            </a:p>
          </p:txBody>
        </p:sp>
        <p:sp>
          <p:nvSpPr>
            <p:cNvPr id="386061" name="Freeform 13"/>
            <p:cNvSpPr>
              <a:spLocks/>
            </p:cNvSpPr>
            <p:nvPr/>
          </p:nvSpPr>
          <p:spPr bwMode="auto">
            <a:xfrm>
              <a:off x="615" y="3000"/>
              <a:ext cx="917" cy="101"/>
            </a:xfrm>
            <a:custGeom>
              <a:avLst/>
              <a:gdLst/>
              <a:ahLst/>
              <a:cxnLst>
                <a:cxn ang="0">
                  <a:pos x="56" y="101"/>
                </a:cxn>
                <a:cxn ang="0">
                  <a:pos x="42" y="92"/>
                </a:cxn>
                <a:cxn ang="0">
                  <a:pos x="31" y="80"/>
                </a:cxn>
                <a:cxn ang="0">
                  <a:pos x="21" y="71"/>
                </a:cxn>
                <a:cxn ang="0">
                  <a:pos x="13" y="59"/>
                </a:cxn>
                <a:cxn ang="0">
                  <a:pos x="8" y="48"/>
                </a:cxn>
                <a:cxn ang="0">
                  <a:pos x="4" y="36"/>
                </a:cxn>
                <a:cxn ang="0">
                  <a:pos x="2" y="24"/>
                </a:cxn>
                <a:cxn ang="0">
                  <a:pos x="0" y="13"/>
                </a:cxn>
                <a:cxn ang="0">
                  <a:pos x="0" y="5"/>
                </a:cxn>
                <a:cxn ang="0">
                  <a:pos x="2" y="0"/>
                </a:cxn>
                <a:cxn ang="0">
                  <a:pos x="917" y="13"/>
                </a:cxn>
                <a:cxn ang="0">
                  <a:pos x="56" y="101"/>
                </a:cxn>
              </a:cxnLst>
              <a:rect l="0" t="0" r="r" b="b"/>
              <a:pathLst>
                <a:path w="917" h="101">
                  <a:moveTo>
                    <a:pt x="56" y="101"/>
                  </a:moveTo>
                  <a:lnTo>
                    <a:pt x="42" y="92"/>
                  </a:lnTo>
                  <a:lnTo>
                    <a:pt x="31" y="80"/>
                  </a:lnTo>
                  <a:lnTo>
                    <a:pt x="21" y="71"/>
                  </a:lnTo>
                  <a:lnTo>
                    <a:pt x="13" y="59"/>
                  </a:lnTo>
                  <a:lnTo>
                    <a:pt x="8" y="48"/>
                  </a:lnTo>
                  <a:lnTo>
                    <a:pt x="4" y="36"/>
                  </a:lnTo>
                  <a:lnTo>
                    <a:pt x="2" y="24"/>
                  </a:lnTo>
                  <a:lnTo>
                    <a:pt x="0" y="13"/>
                  </a:lnTo>
                  <a:lnTo>
                    <a:pt x="0" y="5"/>
                  </a:lnTo>
                  <a:lnTo>
                    <a:pt x="2" y="0"/>
                  </a:lnTo>
                  <a:lnTo>
                    <a:pt x="917" y="13"/>
                  </a:lnTo>
                  <a:lnTo>
                    <a:pt x="56" y="101"/>
                  </a:lnTo>
                </a:path>
              </a:pathLst>
            </a:custGeom>
            <a:solidFill>
              <a:srgbClr val="CC0000"/>
            </a:solidFill>
            <a:ln w="12700" cap="flat" cmpd="sng">
              <a:solidFill>
                <a:srgbClr val="FFFFFF"/>
              </a:solidFill>
              <a:prstDash val="solid"/>
              <a:miter lim="800000"/>
              <a:headEnd type="none" w="med" len="med"/>
              <a:tailEnd type="none" w="med" len="med"/>
            </a:ln>
            <a:effectLst/>
          </p:spPr>
          <p:txBody>
            <a:bodyPr/>
            <a:lstStyle/>
            <a:p>
              <a:endParaRPr lang="fr-FR"/>
            </a:p>
          </p:txBody>
        </p:sp>
        <p:sp>
          <p:nvSpPr>
            <p:cNvPr id="386062" name="Freeform 14"/>
            <p:cNvSpPr>
              <a:spLocks/>
            </p:cNvSpPr>
            <p:nvPr/>
          </p:nvSpPr>
          <p:spPr bwMode="auto">
            <a:xfrm>
              <a:off x="1523" y="3013"/>
              <a:ext cx="862" cy="148"/>
            </a:xfrm>
            <a:custGeom>
              <a:avLst/>
              <a:gdLst/>
              <a:ahLst/>
              <a:cxnLst>
                <a:cxn ang="0">
                  <a:pos x="752" y="148"/>
                </a:cxn>
                <a:cxn ang="0">
                  <a:pos x="785" y="134"/>
                </a:cxn>
                <a:cxn ang="0">
                  <a:pos x="814" y="117"/>
                </a:cxn>
                <a:cxn ang="0">
                  <a:pos x="827" y="109"/>
                </a:cxn>
                <a:cxn ang="0">
                  <a:pos x="838" y="102"/>
                </a:cxn>
                <a:cxn ang="0">
                  <a:pos x="852" y="94"/>
                </a:cxn>
                <a:cxn ang="0">
                  <a:pos x="862" y="86"/>
                </a:cxn>
                <a:cxn ang="0">
                  <a:pos x="0" y="0"/>
                </a:cxn>
                <a:cxn ang="0">
                  <a:pos x="752" y="148"/>
                </a:cxn>
              </a:cxnLst>
              <a:rect l="0" t="0" r="r" b="b"/>
              <a:pathLst>
                <a:path w="862" h="148">
                  <a:moveTo>
                    <a:pt x="752" y="148"/>
                  </a:moveTo>
                  <a:lnTo>
                    <a:pt x="785" y="134"/>
                  </a:lnTo>
                  <a:lnTo>
                    <a:pt x="814" y="117"/>
                  </a:lnTo>
                  <a:lnTo>
                    <a:pt x="827" y="109"/>
                  </a:lnTo>
                  <a:lnTo>
                    <a:pt x="838" y="102"/>
                  </a:lnTo>
                  <a:lnTo>
                    <a:pt x="852" y="94"/>
                  </a:lnTo>
                  <a:lnTo>
                    <a:pt x="862" y="86"/>
                  </a:lnTo>
                  <a:lnTo>
                    <a:pt x="0" y="0"/>
                  </a:lnTo>
                  <a:lnTo>
                    <a:pt x="752" y="148"/>
                  </a:lnTo>
                </a:path>
              </a:pathLst>
            </a:custGeom>
            <a:solidFill>
              <a:srgbClr val="CC0000"/>
            </a:solidFill>
            <a:ln w="12700" cap="flat" cmpd="sng">
              <a:solidFill>
                <a:srgbClr val="FFFFFF"/>
              </a:solidFill>
              <a:prstDash val="solid"/>
              <a:miter lim="800000"/>
              <a:headEnd type="none" w="med" len="med"/>
              <a:tailEnd type="none" w="med" len="med"/>
            </a:ln>
            <a:effectLst/>
          </p:spPr>
          <p:txBody>
            <a:bodyPr/>
            <a:lstStyle/>
            <a:p>
              <a:endParaRPr lang="fr-FR"/>
            </a:p>
          </p:txBody>
        </p:sp>
        <p:sp>
          <p:nvSpPr>
            <p:cNvPr id="386063" name="Freeform 15"/>
            <p:cNvSpPr>
              <a:spLocks/>
            </p:cNvSpPr>
            <p:nvPr/>
          </p:nvSpPr>
          <p:spPr bwMode="auto">
            <a:xfrm>
              <a:off x="1523" y="3019"/>
              <a:ext cx="629" cy="221"/>
            </a:xfrm>
            <a:custGeom>
              <a:avLst/>
              <a:gdLst/>
              <a:ahLst/>
              <a:cxnLst>
                <a:cxn ang="0">
                  <a:pos x="629" y="186"/>
                </a:cxn>
                <a:cxn ang="0">
                  <a:pos x="595" y="196"/>
                </a:cxn>
                <a:cxn ang="0">
                  <a:pos x="560" y="205"/>
                </a:cxn>
                <a:cxn ang="0">
                  <a:pos x="522" y="213"/>
                </a:cxn>
                <a:cxn ang="0">
                  <a:pos x="481" y="221"/>
                </a:cxn>
                <a:cxn ang="0">
                  <a:pos x="0" y="0"/>
                </a:cxn>
                <a:cxn ang="0">
                  <a:pos x="629" y="186"/>
                </a:cxn>
              </a:cxnLst>
              <a:rect l="0" t="0" r="r" b="b"/>
              <a:pathLst>
                <a:path w="629" h="221">
                  <a:moveTo>
                    <a:pt x="629" y="186"/>
                  </a:moveTo>
                  <a:lnTo>
                    <a:pt x="595" y="196"/>
                  </a:lnTo>
                  <a:lnTo>
                    <a:pt x="560" y="205"/>
                  </a:lnTo>
                  <a:lnTo>
                    <a:pt x="522" y="213"/>
                  </a:lnTo>
                  <a:lnTo>
                    <a:pt x="481" y="221"/>
                  </a:lnTo>
                  <a:lnTo>
                    <a:pt x="0" y="0"/>
                  </a:lnTo>
                  <a:lnTo>
                    <a:pt x="629" y="186"/>
                  </a:lnTo>
                </a:path>
              </a:pathLst>
            </a:custGeom>
            <a:solidFill>
              <a:srgbClr val="0033CC"/>
            </a:solidFill>
            <a:ln w="12700" cap="flat" cmpd="sng">
              <a:solidFill>
                <a:srgbClr val="FFFFFF"/>
              </a:solidFill>
              <a:prstDash val="solid"/>
              <a:miter lim="800000"/>
              <a:headEnd type="none" w="med" len="med"/>
              <a:tailEnd type="none" w="med" len="med"/>
            </a:ln>
            <a:effectLst/>
          </p:spPr>
          <p:txBody>
            <a:bodyPr/>
            <a:lstStyle/>
            <a:p>
              <a:endParaRPr lang="fr-FR"/>
            </a:p>
          </p:txBody>
        </p:sp>
        <p:sp>
          <p:nvSpPr>
            <p:cNvPr id="386064" name="Freeform 16"/>
            <p:cNvSpPr>
              <a:spLocks/>
            </p:cNvSpPr>
            <p:nvPr/>
          </p:nvSpPr>
          <p:spPr bwMode="auto">
            <a:xfrm>
              <a:off x="1162" y="2763"/>
              <a:ext cx="374" cy="250"/>
            </a:xfrm>
            <a:custGeom>
              <a:avLst/>
              <a:gdLst/>
              <a:ahLst/>
              <a:cxnLst>
                <a:cxn ang="0">
                  <a:pos x="100" y="0"/>
                </a:cxn>
                <a:cxn ang="0">
                  <a:pos x="50" y="4"/>
                </a:cxn>
                <a:cxn ang="0">
                  <a:pos x="0" y="10"/>
                </a:cxn>
                <a:cxn ang="0">
                  <a:pos x="374" y="250"/>
                </a:cxn>
                <a:cxn ang="0">
                  <a:pos x="100" y="0"/>
                </a:cxn>
              </a:cxnLst>
              <a:rect l="0" t="0" r="r" b="b"/>
              <a:pathLst>
                <a:path w="374" h="250">
                  <a:moveTo>
                    <a:pt x="100" y="0"/>
                  </a:moveTo>
                  <a:lnTo>
                    <a:pt x="50" y="4"/>
                  </a:lnTo>
                  <a:lnTo>
                    <a:pt x="0" y="10"/>
                  </a:lnTo>
                  <a:lnTo>
                    <a:pt x="374" y="250"/>
                  </a:lnTo>
                  <a:lnTo>
                    <a:pt x="100" y="0"/>
                  </a:lnTo>
                </a:path>
              </a:pathLst>
            </a:custGeom>
            <a:solidFill>
              <a:srgbClr val="0033CC"/>
            </a:solidFill>
            <a:ln w="12700" cap="flat" cmpd="sng">
              <a:solidFill>
                <a:srgbClr val="FFFFFF"/>
              </a:solidFill>
              <a:prstDash val="solid"/>
              <a:miter lim="800000"/>
              <a:headEnd type="none" w="med" len="med"/>
              <a:tailEnd type="none" w="med" len="med"/>
            </a:ln>
            <a:effectLst/>
          </p:spPr>
          <p:txBody>
            <a:bodyPr/>
            <a:lstStyle/>
            <a:p>
              <a:endParaRPr lang="fr-FR"/>
            </a:p>
          </p:txBody>
        </p:sp>
        <p:sp>
          <p:nvSpPr>
            <p:cNvPr id="386065" name="Freeform 17"/>
            <p:cNvSpPr>
              <a:spLocks/>
            </p:cNvSpPr>
            <p:nvPr/>
          </p:nvSpPr>
          <p:spPr bwMode="auto">
            <a:xfrm>
              <a:off x="1513" y="2879"/>
              <a:ext cx="870" cy="136"/>
            </a:xfrm>
            <a:custGeom>
              <a:avLst/>
              <a:gdLst/>
              <a:ahLst/>
              <a:cxnLst>
                <a:cxn ang="0">
                  <a:pos x="870" y="59"/>
                </a:cxn>
                <a:cxn ang="0">
                  <a:pos x="850" y="44"/>
                </a:cxn>
                <a:cxn ang="0">
                  <a:pos x="829" y="28"/>
                </a:cxn>
                <a:cxn ang="0">
                  <a:pos x="804" y="13"/>
                </a:cxn>
                <a:cxn ang="0">
                  <a:pos x="777" y="0"/>
                </a:cxn>
                <a:cxn ang="0">
                  <a:pos x="0" y="136"/>
                </a:cxn>
                <a:cxn ang="0">
                  <a:pos x="870" y="59"/>
                </a:cxn>
              </a:cxnLst>
              <a:rect l="0" t="0" r="r" b="b"/>
              <a:pathLst>
                <a:path w="870" h="136">
                  <a:moveTo>
                    <a:pt x="870" y="59"/>
                  </a:moveTo>
                  <a:lnTo>
                    <a:pt x="850" y="44"/>
                  </a:lnTo>
                  <a:lnTo>
                    <a:pt x="829" y="28"/>
                  </a:lnTo>
                  <a:lnTo>
                    <a:pt x="804" y="13"/>
                  </a:lnTo>
                  <a:lnTo>
                    <a:pt x="777" y="0"/>
                  </a:lnTo>
                  <a:lnTo>
                    <a:pt x="0" y="136"/>
                  </a:lnTo>
                  <a:lnTo>
                    <a:pt x="870" y="59"/>
                  </a:lnTo>
                </a:path>
              </a:pathLst>
            </a:custGeom>
            <a:solidFill>
              <a:srgbClr val="0033CC"/>
            </a:solidFill>
            <a:ln w="12700" cap="flat" cmpd="sng">
              <a:solidFill>
                <a:srgbClr val="FFFFFF"/>
              </a:solidFill>
              <a:prstDash val="solid"/>
              <a:miter lim="800000"/>
              <a:headEnd type="none" w="med" len="med"/>
              <a:tailEnd type="none" w="med" len="med"/>
            </a:ln>
            <a:effectLst/>
          </p:spPr>
          <p:txBody>
            <a:bodyPr/>
            <a:lstStyle/>
            <a:p>
              <a:endParaRPr lang="fr-FR"/>
            </a:p>
          </p:txBody>
        </p:sp>
        <p:sp>
          <p:nvSpPr>
            <p:cNvPr id="386066" name="Freeform 18"/>
            <p:cNvSpPr>
              <a:spLocks/>
            </p:cNvSpPr>
            <p:nvPr/>
          </p:nvSpPr>
          <p:spPr bwMode="auto">
            <a:xfrm>
              <a:off x="1527" y="2761"/>
              <a:ext cx="422" cy="250"/>
            </a:xfrm>
            <a:custGeom>
              <a:avLst/>
              <a:gdLst/>
              <a:ahLst/>
              <a:cxnLst>
                <a:cxn ang="0">
                  <a:pos x="422" y="20"/>
                </a:cxn>
                <a:cxn ang="0">
                  <a:pos x="343" y="8"/>
                </a:cxn>
                <a:cxn ang="0">
                  <a:pos x="261" y="0"/>
                </a:cxn>
                <a:cxn ang="0">
                  <a:pos x="0" y="250"/>
                </a:cxn>
                <a:cxn ang="0">
                  <a:pos x="422" y="20"/>
                </a:cxn>
              </a:cxnLst>
              <a:rect l="0" t="0" r="r" b="b"/>
              <a:pathLst>
                <a:path w="422" h="250">
                  <a:moveTo>
                    <a:pt x="422" y="20"/>
                  </a:moveTo>
                  <a:lnTo>
                    <a:pt x="343" y="8"/>
                  </a:lnTo>
                  <a:lnTo>
                    <a:pt x="261" y="0"/>
                  </a:lnTo>
                  <a:lnTo>
                    <a:pt x="0" y="250"/>
                  </a:lnTo>
                  <a:lnTo>
                    <a:pt x="422" y="20"/>
                  </a:lnTo>
                </a:path>
              </a:pathLst>
            </a:custGeom>
            <a:solidFill>
              <a:srgbClr val="CC0000"/>
            </a:solidFill>
            <a:ln w="12700" cap="flat" cmpd="sng">
              <a:solidFill>
                <a:srgbClr val="FFFFFF"/>
              </a:solidFill>
              <a:prstDash val="solid"/>
              <a:miter lim="800000"/>
              <a:headEnd type="none" w="med" len="med"/>
              <a:tailEnd type="none" w="med" len="med"/>
            </a:ln>
            <a:effectLst/>
          </p:spPr>
          <p:txBody>
            <a:bodyPr/>
            <a:lstStyle/>
            <a:p>
              <a:endParaRPr lang="fr-FR"/>
            </a:p>
          </p:txBody>
        </p:sp>
        <p:sp>
          <p:nvSpPr>
            <p:cNvPr id="386067" name="Freeform 19"/>
            <p:cNvSpPr>
              <a:spLocks/>
            </p:cNvSpPr>
            <p:nvPr/>
          </p:nvSpPr>
          <p:spPr bwMode="auto">
            <a:xfrm>
              <a:off x="1538" y="2748"/>
              <a:ext cx="90" cy="261"/>
            </a:xfrm>
            <a:custGeom>
              <a:avLst/>
              <a:gdLst/>
              <a:ahLst/>
              <a:cxnLst>
                <a:cxn ang="0">
                  <a:pos x="21" y="0"/>
                </a:cxn>
                <a:cxn ang="0">
                  <a:pos x="56" y="2"/>
                </a:cxn>
                <a:cxn ang="0">
                  <a:pos x="90" y="2"/>
                </a:cxn>
                <a:cxn ang="0">
                  <a:pos x="0" y="261"/>
                </a:cxn>
                <a:cxn ang="0">
                  <a:pos x="21" y="0"/>
                </a:cxn>
              </a:cxnLst>
              <a:rect l="0" t="0" r="r" b="b"/>
              <a:pathLst>
                <a:path w="90" h="261">
                  <a:moveTo>
                    <a:pt x="21" y="0"/>
                  </a:moveTo>
                  <a:lnTo>
                    <a:pt x="56" y="2"/>
                  </a:lnTo>
                  <a:lnTo>
                    <a:pt x="90" y="2"/>
                  </a:lnTo>
                  <a:lnTo>
                    <a:pt x="0" y="261"/>
                  </a:lnTo>
                  <a:lnTo>
                    <a:pt x="21" y="0"/>
                  </a:lnTo>
                </a:path>
              </a:pathLst>
            </a:custGeom>
            <a:solidFill>
              <a:srgbClr val="CC0000"/>
            </a:solidFill>
            <a:ln w="12700" cap="flat" cmpd="sng">
              <a:solidFill>
                <a:srgbClr val="FFFFFF"/>
              </a:solidFill>
              <a:prstDash val="solid"/>
              <a:miter lim="800000"/>
              <a:headEnd type="none" w="med" len="med"/>
              <a:tailEnd type="none" w="med" len="med"/>
            </a:ln>
            <a:effectLst/>
          </p:spPr>
          <p:txBody>
            <a:bodyPr/>
            <a:lstStyle/>
            <a:p>
              <a:endParaRPr lang="fr-FR"/>
            </a:p>
          </p:txBody>
        </p:sp>
        <p:sp>
          <p:nvSpPr>
            <p:cNvPr id="386068" name="Freeform 20"/>
            <p:cNvSpPr>
              <a:spLocks/>
            </p:cNvSpPr>
            <p:nvPr/>
          </p:nvSpPr>
          <p:spPr bwMode="auto">
            <a:xfrm>
              <a:off x="1126" y="3023"/>
              <a:ext cx="641" cy="261"/>
            </a:xfrm>
            <a:custGeom>
              <a:avLst/>
              <a:gdLst/>
              <a:ahLst/>
              <a:cxnLst>
                <a:cxn ang="0">
                  <a:pos x="641" y="250"/>
                </a:cxn>
                <a:cxn ang="0">
                  <a:pos x="576" y="256"/>
                </a:cxn>
                <a:cxn ang="0">
                  <a:pos x="509" y="259"/>
                </a:cxn>
                <a:cxn ang="0">
                  <a:pos x="442" y="261"/>
                </a:cxn>
                <a:cxn ang="0">
                  <a:pos x="372" y="261"/>
                </a:cxn>
                <a:cxn ang="0">
                  <a:pos x="277" y="261"/>
                </a:cxn>
                <a:cxn ang="0">
                  <a:pos x="182" y="256"/>
                </a:cxn>
                <a:cxn ang="0">
                  <a:pos x="90" y="250"/>
                </a:cxn>
                <a:cxn ang="0">
                  <a:pos x="44" y="244"/>
                </a:cxn>
                <a:cxn ang="0">
                  <a:pos x="0" y="238"/>
                </a:cxn>
                <a:cxn ang="0">
                  <a:pos x="372" y="0"/>
                </a:cxn>
                <a:cxn ang="0">
                  <a:pos x="641" y="250"/>
                </a:cxn>
              </a:cxnLst>
              <a:rect l="0" t="0" r="r" b="b"/>
              <a:pathLst>
                <a:path w="641" h="261">
                  <a:moveTo>
                    <a:pt x="641" y="250"/>
                  </a:moveTo>
                  <a:lnTo>
                    <a:pt x="576" y="256"/>
                  </a:lnTo>
                  <a:lnTo>
                    <a:pt x="509" y="259"/>
                  </a:lnTo>
                  <a:lnTo>
                    <a:pt x="442" y="261"/>
                  </a:lnTo>
                  <a:lnTo>
                    <a:pt x="372" y="261"/>
                  </a:lnTo>
                  <a:lnTo>
                    <a:pt x="277" y="261"/>
                  </a:lnTo>
                  <a:lnTo>
                    <a:pt x="182" y="256"/>
                  </a:lnTo>
                  <a:lnTo>
                    <a:pt x="90" y="250"/>
                  </a:lnTo>
                  <a:lnTo>
                    <a:pt x="44" y="244"/>
                  </a:lnTo>
                  <a:lnTo>
                    <a:pt x="0" y="238"/>
                  </a:lnTo>
                  <a:lnTo>
                    <a:pt x="372" y="0"/>
                  </a:lnTo>
                  <a:lnTo>
                    <a:pt x="641" y="250"/>
                  </a:lnTo>
                  <a:close/>
                </a:path>
              </a:pathLst>
            </a:custGeom>
            <a:solidFill>
              <a:srgbClr val="0033CC"/>
            </a:solidFill>
            <a:ln w="12700" cmpd="sng">
              <a:solidFill>
                <a:srgbClr val="FFFFFF"/>
              </a:solidFill>
              <a:round/>
              <a:headEnd/>
              <a:tailEnd/>
            </a:ln>
          </p:spPr>
          <p:txBody>
            <a:bodyPr/>
            <a:lstStyle/>
            <a:p>
              <a:endParaRPr lang="fr-FR"/>
            </a:p>
          </p:txBody>
        </p:sp>
        <p:sp>
          <p:nvSpPr>
            <p:cNvPr id="386069" name="Freeform 21"/>
            <p:cNvSpPr>
              <a:spLocks/>
            </p:cNvSpPr>
            <p:nvPr/>
          </p:nvSpPr>
          <p:spPr bwMode="auto">
            <a:xfrm>
              <a:off x="1117" y="3263"/>
              <a:ext cx="664" cy="564"/>
            </a:xfrm>
            <a:custGeom>
              <a:avLst/>
              <a:gdLst/>
              <a:ahLst/>
              <a:cxnLst>
                <a:cxn ang="0">
                  <a:pos x="664" y="10"/>
                </a:cxn>
                <a:cxn ang="0">
                  <a:pos x="664" y="553"/>
                </a:cxn>
                <a:cxn ang="0">
                  <a:pos x="581" y="558"/>
                </a:cxn>
                <a:cxn ang="0">
                  <a:pos x="499" y="562"/>
                </a:cxn>
                <a:cxn ang="0">
                  <a:pos x="415" y="564"/>
                </a:cxn>
                <a:cxn ang="0">
                  <a:pos x="332" y="564"/>
                </a:cxn>
                <a:cxn ang="0">
                  <a:pos x="250" y="562"/>
                </a:cxn>
                <a:cxn ang="0">
                  <a:pos x="167" y="558"/>
                </a:cxn>
                <a:cxn ang="0">
                  <a:pos x="85" y="551"/>
                </a:cxn>
                <a:cxn ang="0">
                  <a:pos x="0" y="541"/>
                </a:cxn>
                <a:cxn ang="0">
                  <a:pos x="0" y="0"/>
                </a:cxn>
                <a:cxn ang="0">
                  <a:pos x="85" y="10"/>
                </a:cxn>
                <a:cxn ang="0">
                  <a:pos x="169" y="17"/>
                </a:cxn>
                <a:cxn ang="0">
                  <a:pos x="251" y="23"/>
                </a:cxn>
                <a:cxn ang="0">
                  <a:pos x="334" y="25"/>
                </a:cxn>
                <a:cxn ang="0">
                  <a:pos x="418" y="25"/>
                </a:cxn>
                <a:cxn ang="0">
                  <a:pos x="501" y="21"/>
                </a:cxn>
                <a:cxn ang="0">
                  <a:pos x="581" y="17"/>
                </a:cxn>
                <a:cxn ang="0">
                  <a:pos x="664" y="10"/>
                </a:cxn>
              </a:cxnLst>
              <a:rect l="0" t="0" r="r" b="b"/>
              <a:pathLst>
                <a:path w="664" h="564">
                  <a:moveTo>
                    <a:pt x="664" y="10"/>
                  </a:moveTo>
                  <a:lnTo>
                    <a:pt x="664" y="553"/>
                  </a:lnTo>
                  <a:lnTo>
                    <a:pt x="581" y="558"/>
                  </a:lnTo>
                  <a:lnTo>
                    <a:pt x="499" y="562"/>
                  </a:lnTo>
                  <a:lnTo>
                    <a:pt x="415" y="564"/>
                  </a:lnTo>
                  <a:lnTo>
                    <a:pt x="332" y="564"/>
                  </a:lnTo>
                  <a:lnTo>
                    <a:pt x="250" y="562"/>
                  </a:lnTo>
                  <a:lnTo>
                    <a:pt x="167" y="558"/>
                  </a:lnTo>
                  <a:lnTo>
                    <a:pt x="85" y="551"/>
                  </a:lnTo>
                  <a:lnTo>
                    <a:pt x="0" y="541"/>
                  </a:lnTo>
                  <a:lnTo>
                    <a:pt x="0" y="0"/>
                  </a:lnTo>
                  <a:lnTo>
                    <a:pt x="85" y="10"/>
                  </a:lnTo>
                  <a:lnTo>
                    <a:pt x="169" y="17"/>
                  </a:lnTo>
                  <a:lnTo>
                    <a:pt x="251" y="23"/>
                  </a:lnTo>
                  <a:lnTo>
                    <a:pt x="334" y="25"/>
                  </a:lnTo>
                  <a:lnTo>
                    <a:pt x="418" y="25"/>
                  </a:lnTo>
                  <a:lnTo>
                    <a:pt x="501" y="21"/>
                  </a:lnTo>
                  <a:lnTo>
                    <a:pt x="581" y="17"/>
                  </a:lnTo>
                  <a:lnTo>
                    <a:pt x="664" y="10"/>
                  </a:lnTo>
                  <a:close/>
                </a:path>
              </a:pathLst>
            </a:custGeom>
            <a:solidFill>
              <a:srgbClr val="0033CC"/>
            </a:solidFill>
            <a:ln w="12700" cmpd="sng">
              <a:solidFill>
                <a:srgbClr val="FFFFFF"/>
              </a:solidFill>
              <a:round/>
              <a:headEnd/>
              <a:tailEnd/>
            </a:ln>
          </p:spPr>
          <p:txBody>
            <a:bodyPr/>
            <a:lstStyle/>
            <a:p>
              <a:endParaRPr lang="fr-FR"/>
            </a:p>
          </p:txBody>
        </p:sp>
        <p:sp>
          <p:nvSpPr>
            <p:cNvPr id="386070" name="Freeform 22"/>
            <p:cNvSpPr>
              <a:spLocks/>
            </p:cNvSpPr>
            <p:nvPr/>
          </p:nvSpPr>
          <p:spPr bwMode="auto">
            <a:xfrm>
              <a:off x="1800" y="3255"/>
              <a:ext cx="189" cy="552"/>
            </a:xfrm>
            <a:custGeom>
              <a:avLst/>
              <a:gdLst/>
              <a:ahLst/>
              <a:cxnLst>
                <a:cxn ang="0">
                  <a:pos x="0" y="33"/>
                </a:cxn>
                <a:cxn ang="0">
                  <a:pos x="0" y="552"/>
                </a:cxn>
                <a:cxn ang="0">
                  <a:pos x="189" y="525"/>
                </a:cxn>
                <a:cxn ang="0">
                  <a:pos x="189" y="0"/>
                </a:cxn>
              </a:cxnLst>
              <a:rect l="0" t="0" r="r" b="b"/>
              <a:pathLst>
                <a:path w="189" h="552">
                  <a:moveTo>
                    <a:pt x="0" y="33"/>
                  </a:moveTo>
                  <a:lnTo>
                    <a:pt x="0" y="552"/>
                  </a:lnTo>
                  <a:lnTo>
                    <a:pt x="189" y="525"/>
                  </a:lnTo>
                  <a:lnTo>
                    <a:pt x="189" y="0"/>
                  </a:lnTo>
                </a:path>
              </a:pathLst>
            </a:custGeom>
            <a:solidFill>
              <a:srgbClr val="CC0000"/>
            </a:solidFill>
            <a:ln w="12700" cap="flat" cmpd="sng">
              <a:solidFill>
                <a:srgbClr val="FFFFFF"/>
              </a:solidFill>
              <a:prstDash val="solid"/>
              <a:miter lim="800000"/>
              <a:headEnd type="none" w="med" len="med"/>
              <a:tailEnd type="none" w="med" len="med"/>
            </a:ln>
            <a:effectLst/>
          </p:spPr>
          <p:txBody>
            <a:bodyPr/>
            <a:lstStyle/>
            <a:p>
              <a:endParaRPr lang="fr-FR"/>
            </a:p>
          </p:txBody>
        </p:sp>
        <p:sp>
          <p:nvSpPr>
            <p:cNvPr id="386071" name="Freeform 23"/>
            <p:cNvSpPr>
              <a:spLocks/>
            </p:cNvSpPr>
            <p:nvPr/>
          </p:nvSpPr>
          <p:spPr bwMode="auto">
            <a:xfrm>
              <a:off x="1527" y="3024"/>
              <a:ext cx="438" cy="237"/>
            </a:xfrm>
            <a:custGeom>
              <a:avLst/>
              <a:gdLst/>
              <a:ahLst/>
              <a:cxnLst>
                <a:cxn ang="0">
                  <a:pos x="264" y="237"/>
                </a:cxn>
                <a:cxn ang="0">
                  <a:pos x="0" y="0"/>
                </a:cxn>
                <a:cxn ang="0">
                  <a:pos x="438" y="213"/>
                </a:cxn>
              </a:cxnLst>
              <a:rect l="0" t="0" r="r" b="b"/>
              <a:pathLst>
                <a:path w="438" h="237">
                  <a:moveTo>
                    <a:pt x="264" y="237"/>
                  </a:moveTo>
                  <a:lnTo>
                    <a:pt x="0" y="0"/>
                  </a:lnTo>
                  <a:lnTo>
                    <a:pt x="438" y="213"/>
                  </a:lnTo>
                </a:path>
              </a:pathLst>
            </a:custGeom>
            <a:solidFill>
              <a:srgbClr val="CC0000"/>
            </a:solidFill>
            <a:ln w="12700" cap="flat" cmpd="sng">
              <a:solidFill>
                <a:srgbClr val="FFFFFF"/>
              </a:solidFill>
              <a:prstDash val="solid"/>
              <a:miter lim="800000"/>
              <a:headEnd type="none" w="med" len="med"/>
              <a:tailEnd type="none" w="med" len="med"/>
            </a:ln>
            <a:effectLst/>
          </p:spPr>
          <p:txBody>
            <a:bodyPr/>
            <a:lstStyle/>
            <a:p>
              <a:endParaRPr lang="fr-FR"/>
            </a:p>
          </p:txBody>
        </p:sp>
      </p:grpSp>
      <p:grpSp>
        <p:nvGrpSpPr>
          <p:cNvPr id="386072" name="Group 24"/>
          <p:cNvGrpSpPr>
            <a:grpSpLocks/>
          </p:cNvGrpSpPr>
          <p:nvPr/>
        </p:nvGrpSpPr>
        <p:grpSpPr bwMode="auto">
          <a:xfrm>
            <a:off x="5181600" y="4130675"/>
            <a:ext cx="2971800" cy="1752600"/>
            <a:chOff x="3275" y="2799"/>
            <a:chExt cx="1872" cy="1104"/>
          </a:xfrm>
        </p:grpSpPr>
        <p:sp>
          <p:nvSpPr>
            <p:cNvPr id="386073" name="AutoShape 25"/>
            <p:cNvSpPr>
              <a:spLocks noChangeArrowheads="1"/>
            </p:cNvSpPr>
            <p:nvPr/>
          </p:nvSpPr>
          <p:spPr bwMode="auto">
            <a:xfrm>
              <a:off x="3275" y="2799"/>
              <a:ext cx="1872" cy="1104"/>
            </a:xfrm>
            <a:prstGeom prst="can">
              <a:avLst>
                <a:gd name="adj" fmla="val 50000"/>
              </a:avLst>
            </a:prstGeom>
            <a:solidFill>
              <a:srgbClr val="FFFFFF"/>
            </a:solidFill>
            <a:ln w="9525">
              <a:solidFill>
                <a:srgbClr val="808080"/>
              </a:solidFill>
              <a:round/>
              <a:headEnd/>
              <a:tailEnd/>
            </a:ln>
            <a:effectLst/>
          </p:spPr>
          <p:txBody>
            <a:bodyPr wrap="none" tIns="411480" anchor="ctr"/>
            <a:lstStyle/>
            <a:p>
              <a:endParaRPr lang="fr-FR" sz="2000">
                <a:solidFill>
                  <a:schemeClr val="tx1"/>
                </a:solidFill>
                <a:effectLst/>
                <a:latin typeface="Arial Narrow" pitchFamily="34" charset="0"/>
              </a:endParaRPr>
            </a:p>
          </p:txBody>
        </p:sp>
        <p:sp>
          <p:nvSpPr>
            <p:cNvPr id="386074" name="Arc 26"/>
            <p:cNvSpPr>
              <a:spLocks/>
            </p:cNvSpPr>
            <p:nvPr/>
          </p:nvSpPr>
          <p:spPr bwMode="auto">
            <a:xfrm>
              <a:off x="3299" y="3069"/>
              <a:ext cx="883" cy="220"/>
            </a:xfrm>
            <a:custGeom>
              <a:avLst/>
              <a:gdLst>
                <a:gd name="G0" fmla="+- 21600 0 0"/>
                <a:gd name="G1" fmla="+- 86 0 0"/>
                <a:gd name="G2" fmla="+- 21600 0 0"/>
                <a:gd name="T0" fmla="*/ 11174 w 21600"/>
                <a:gd name="T1" fmla="*/ 19003 h 19003"/>
                <a:gd name="T2" fmla="*/ 0 w 21600"/>
                <a:gd name="T3" fmla="*/ 0 h 19003"/>
                <a:gd name="T4" fmla="*/ 21600 w 21600"/>
                <a:gd name="T5" fmla="*/ 86 h 19003"/>
              </a:gdLst>
              <a:ahLst/>
              <a:cxnLst>
                <a:cxn ang="0">
                  <a:pos x="T0" y="T1"/>
                </a:cxn>
                <a:cxn ang="0">
                  <a:pos x="T2" y="T3"/>
                </a:cxn>
                <a:cxn ang="0">
                  <a:pos x="T4" y="T5"/>
                </a:cxn>
              </a:cxnLst>
              <a:rect l="0" t="0" r="r" b="b"/>
              <a:pathLst>
                <a:path w="21600" h="19003" fill="none" extrusionOk="0">
                  <a:moveTo>
                    <a:pt x="11173" y="19003"/>
                  </a:moveTo>
                  <a:cubicBezTo>
                    <a:pt x="4280" y="15204"/>
                    <a:pt x="0" y="7956"/>
                    <a:pt x="0" y="86"/>
                  </a:cubicBezTo>
                  <a:cubicBezTo>
                    <a:pt x="-1" y="57"/>
                    <a:pt x="0" y="28"/>
                    <a:pt x="0" y="0"/>
                  </a:cubicBezTo>
                </a:path>
                <a:path w="21600" h="19003" stroke="0" extrusionOk="0">
                  <a:moveTo>
                    <a:pt x="11173" y="19003"/>
                  </a:moveTo>
                  <a:cubicBezTo>
                    <a:pt x="4280" y="15204"/>
                    <a:pt x="0" y="7956"/>
                    <a:pt x="0" y="86"/>
                  </a:cubicBezTo>
                  <a:cubicBezTo>
                    <a:pt x="-1" y="57"/>
                    <a:pt x="0" y="28"/>
                    <a:pt x="0" y="0"/>
                  </a:cubicBezTo>
                  <a:lnTo>
                    <a:pt x="21600" y="86"/>
                  </a:lnTo>
                  <a:close/>
                </a:path>
              </a:pathLst>
            </a:custGeom>
            <a:solidFill>
              <a:srgbClr val="0033CC"/>
            </a:solidFill>
            <a:ln w="12700">
              <a:noFill/>
              <a:round/>
              <a:headEnd/>
              <a:tailEnd/>
            </a:ln>
            <a:effectLst/>
          </p:spPr>
          <p:txBody>
            <a:bodyPr/>
            <a:lstStyle/>
            <a:p>
              <a:endParaRPr lang="fr-FR"/>
            </a:p>
          </p:txBody>
        </p:sp>
        <p:sp>
          <p:nvSpPr>
            <p:cNvPr id="386075" name="Arc 27"/>
            <p:cNvSpPr>
              <a:spLocks/>
            </p:cNvSpPr>
            <p:nvPr/>
          </p:nvSpPr>
          <p:spPr bwMode="auto">
            <a:xfrm>
              <a:off x="3874" y="3068"/>
              <a:ext cx="632" cy="256"/>
            </a:xfrm>
            <a:custGeom>
              <a:avLst/>
              <a:gdLst>
                <a:gd name="G0" fmla="+- 8626 0 0"/>
                <a:gd name="G1" fmla="+- 0 0 0"/>
                <a:gd name="G2" fmla="+- 21600 0 0"/>
                <a:gd name="T0" fmla="*/ 14915 w 14915"/>
                <a:gd name="T1" fmla="*/ 20664 h 21600"/>
                <a:gd name="T2" fmla="*/ 0 w 14915"/>
                <a:gd name="T3" fmla="*/ 19803 h 21600"/>
                <a:gd name="T4" fmla="*/ 8626 w 14915"/>
                <a:gd name="T5" fmla="*/ 0 h 21600"/>
              </a:gdLst>
              <a:ahLst/>
              <a:cxnLst>
                <a:cxn ang="0">
                  <a:pos x="T0" y="T1"/>
                </a:cxn>
                <a:cxn ang="0">
                  <a:pos x="T2" y="T3"/>
                </a:cxn>
                <a:cxn ang="0">
                  <a:pos x="T4" y="T5"/>
                </a:cxn>
              </a:cxnLst>
              <a:rect l="0" t="0" r="r" b="b"/>
              <a:pathLst>
                <a:path w="14915" h="21600" fill="none" extrusionOk="0">
                  <a:moveTo>
                    <a:pt x="14915" y="20664"/>
                  </a:moveTo>
                  <a:cubicBezTo>
                    <a:pt x="12876" y="21284"/>
                    <a:pt x="10757" y="21599"/>
                    <a:pt x="8626" y="21600"/>
                  </a:cubicBezTo>
                  <a:cubicBezTo>
                    <a:pt x="5657" y="21600"/>
                    <a:pt x="2721" y="20988"/>
                    <a:pt x="0" y="19802"/>
                  </a:cubicBezTo>
                </a:path>
                <a:path w="14915" h="21600" stroke="0" extrusionOk="0">
                  <a:moveTo>
                    <a:pt x="14915" y="20664"/>
                  </a:moveTo>
                  <a:cubicBezTo>
                    <a:pt x="12876" y="21284"/>
                    <a:pt x="10757" y="21599"/>
                    <a:pt x="8626" y="21600"/>
                  </a:cubicBezTo>
                  <a:cubicBezTo>
                    <a:pt x="5657" y="21600"/>
                    <a:pt x="2721" y="20988"/>
                    <a:pt x="0" y="19802"/>
                  </a:cubicBezTo>
                  <a:lnTo>
                    <a:pt x="8626" y="0"/>
                  </a:lnTo>
                  <a:close/>
                </a:path>
              </a:pathLst>
            </a:custGeom>
            <a:solidFill>
              <a:srgbClr val="0033CC"/>
            </a:solidFill>
            <a:ln w="12700">
              <a:noFill/>
              <a:round/>
              <a:headEnd/>
              <a:tailEnd/>
            </a:ln>
            <a:effectLst/>
          </p:spPr>
          <p:txBody>
            <a:bodyPr/>
            <a:lstStyle/>
            <a:p>
              <a:endParaRPr lang="fr-FR"/>
            </a:p>
          </p:txBody>
        </p:sp>
        <p:sp>
          <p:nvSpPr>
            <p:cNvPr id="386076" name="Arc 28"/>
            <p:cNvSpPr>
              <a:spLocks/>
            </p:cNvSpPr>
            <p:nvPr/>
          </p:nvSpPr>
          <p:spPr bwMode="auto">
            <a:xfrm flipH="1">
              <a:off x="4271" y="3068"/>
              <a:ext cx="715" cy="220"/>
            </a:xfrm>
            <a:custGeom>
              <a:avLst/>
              <a:gdLst>
                <a:gd name="G0" fmla="+- 16948 0 0"/>
                <a:gd name="G1" fmla="+- 0 0 0"/>
                <a:gd name="G2" fmla="+- 21600 0 0"/>
                <a:gd name="T0" fmla="*/ 6673 w 16948"/>
                <a:gd name="T1" fmla="*/ 18999 h 18999"/>
                <a:gd name="T2" fmla="*/ 0 w 16948"/>
                <a:gd name="T3" fmla="*/ 13391 h 18999"/>
                <a:gd name="T4" fmla="*/ 16948 w 16948"/>
                <a:gd name="T5" fmla="*/ 0 h 18999"/>
              </a:gdLst>
              <a:ahLst/>
              <a:cxnLst>
                <a:cxn ang="0">
                  <a:pos x="T0" y="T1"/>
                </a:cxn>
                <a:cxn ang="0">
                  <a:pos x="T2" y="T3"/>
                </a:cxn>
                <a:cxn ang="0">
                  <a:pos x="T4" y="T5"/>
                </a:cxn>
              </a:cxnLst>
              <a:rect l="0" t="0" r="r" b="b"/>
              <a:pathLst>
                <a:path w="16948" h="18999" fill="none" extrusionOk="0">
                  <a:moveTo>
                    <a:pt x="6672" y="18999"/>
                  </a:moveTo>
                  <a:cubicBezTo>
                    <a:pt x="4090" y="17602"/>
                    <a:pt x="1819" y="15694"/>
                    <a:pt x="-1" y="13391"/>
                  </a:cubicBezTo>
                </a:path>
                <a:path w="16948" h="18999" stroke="0" extrusionOk="0">
                  <a:moveTo>
                    <a:pt x="6672" y="18999"/>
                  </a:moveTo>
                  <a:cubicBezTo>
                    <a:pt x="4090" y="17602"/>
                    <a:pt x="1819" y="15694"/>
                    <a:pt x="-1" y="13391"/>
                  </a:cubicBezTo>
                  <a:lnTo>
                    <a:pt x="16948" y="0"/>
                  </a:lnTo>
                  <a:close/>
                </a:path>
              </a:pathLst>
            </a:custGeom>
            <a:solidFill>
              <a:srgbClr val="0033CC"/>
            </a:solidFill>
            <a:ln w="12700">
              <a:noFill/>
              <a:round/>
              <a:headEnd/>
              <a:tailEnd/>
            </a:ln>
            <a:effectLst/>
          </p:spPr>
          <p:txBody>
            <a:bodyPr/>
            <a:lstStyle/>
            <a:p>
              <a:endParaRPr lang="fr-FR"/>
            </a:p>
          </p:txBody>
        </p:sp>
        <p:sp>
          <p:nvSpPr>
            <p:cNvPr id="386077" name="Freeform 29"/>
            <p:cNvSpPr>
              <a:spLocks/>
            </p:cNvSpPr>
            <p:nvPr/>
          </p:nvSpPr>
          <p:spPr bwMode="auto">
            <a:xfrm>
              <a:off x="3303" y="3177"/>
              <a:ext cx="411" cy="663"/>
            </a:xfrm>
            <a:custGeom>
              <a:avLst/>
              <a:gdLst/>
              <a:ahLst/>
              <a:cxnLst>
                <a:cxn ang="0">
                  <a:pos x="0" y="0"/>
                </a:cxn>
                <a:cxn ang="0">
                  <a:pos x="0" y="441"/>
                </a:cxn>
                <a:cxn ang="0">
                  <a:pos x="15" y="489"/>
                </a:cxn>
                <a:cxn ang="0">
                  <a:pos x="39" y="522"/>
                </a:cxn>
                <a:cxn ang="0">
                  <a:pos x="135" y="579"/>
                </a:cxn>
                <a:cxn ang="0">
                  <a:pos x="264" y="630"/>
                </a:cxn>
                <a:cxn ang="0">
                  <a:pos x="411" y="663"/>
                </a:cxn>
                <a:cxn ang="0">
                  <a:pos x="411" y="162"/>
                </a:cxn>
                <a:cxn ang="0">
                  <a:pos x="282" y="147"/>
                </a:cxn>
                <a:cxn ang="0">
                  <a:pos x="150" y="105"/>
                </a:cxn>
                <a:cxn ang="0">
                  <a:pos x="57" y="51"/>
                </a:cxn>
                <a:cxn ang="0">
                  <a:pos x="0" y="0"/>
                </a:cxn>
              </a:cxnLst>
              <a:rect l="0" t="0" r="r" b="b"/>
              <a:pathLst>
                <a:path w="411" h="663">
                  <a:moveTo>
                    <a:pt x="0" y="0"/>
                  </a:moveTo>
                  <a:lnTo>
                    <a:pt x="0" y="441"/>
                  </a:lnTo>
                  <a:lnTo>
                    <a:pt x="15" y="489"/>
                  </a:lnTo>
                  <a:lnTo>
                    <a:pt x="39" y="522"/>
                  </a:lnTo>
                  <a:lnTo>
                    <a:pt x="135" y="579"/>
                  </a:lnTo>
                  <a:lnTo>
                    <a:pt x="264" y="630"/>
                  </a:lnTo>
                  <a:lnTo>
                    <a:pt x="411" y="663"/>
                  </a:lnTo>
                  <a:lnTo>
                    <a:pt x="411" y="162"/>
                  </a:lnTo>
                  <a:lnTo>
                    <a:pt x="282" y="147"/>
                  </a:lnTo>
                  <a:lnTo>
                    <a:pt x="150" y="105"/>
                  </a:lnTo>
                  <a:lnTo>
                    <a:pt x="57" y="51"/>
                  </a:lnTo>
                  <a:lnTo>
                    <a:pt x="0" y="0"/>
                  </a:lnTo>
                  <a:close/>
                </a:path>
              </a:pathLst>
            </a:custGeom>
            <a:solidFill>
              <a:srgbClr val="0033CC"/>
            </a:solidFill>
            <a:ln w="12700" cap="flat" cmpd="sng">
              <a:noFill/>
              <a:prstDash val="solid"/>
              <a:round/>
              <a:headEnd type="none" w="med" len="med"/>
              <a:tailEnd type="none" w="med" len="med"/>
            </a:ln>
            <a:effectLst/>
          </p:spPr>
          <p:txBody>
            <a:bodyPr/>
            <a:lstStyle/>
            <a:p>
              <a:endParaRPr lang="fr-FR"/>
            </a:p>
          </p:txBody>
        </p:sp>
        <p:sp>
          <p:nvSpPr>
            <p:cNvPr id="386078" name="Freeform 30"/>
            <p:cNvSpPr>
              <a:spLocks/>
            </p:cNvSpPr>
            <p:nvPr/>
          </p:nvSpPr>
          <p:spPr bwMode="auto">
            <a:xfrm>
              <a:off x="3870" y="3354"/>
              <a:ext cx="660" cy="531"/>
            </a:xfrm>
            <a:custGeom>
              <a:avLst/>
              <a:gdLst/>
              <a:ahLst/>
              <a:cxnLst>
                <a:cxn ang="0">
                  <a:pos x="0" y="0"/>
                </a:cxn>
                <a:cxn ang="0">
                  <a:pos x="0" y="504"/>
                </a:cxn>
                <a:cxn ang="0">
                  <a:pos x="138" y="522"/>
                </a:cxn>
                <a:cxn ang="0">
                  <a:pos x="309" y="531"/>
                </a:cxn>
                <a:cxn ang="0">
                  <a:pos x="516" y="525"/>
                </a:cxn>
                <a:cxn ang="0">
                  <a:pos x="660" y="504"/>
                </a:cxn>
                <a:cxn ang="0">
                  <a:pos x="660" y="6"/>
                </a:cxn>
                <a:cxn ang="0">
                  <a:pos x="507" y="27"/>
                </a:cxn>
                <a:cxn ang="0">
                  <a:pos x="321" y="33"/>
                </a:cxn>
                <a:cxn ang="0">
                  <a:pos x="141" y="24"/>
                </a:cxn>
                <a:cxn ang="0">
                  <a:pos x="0" y="0"/>
                </a:cxn>
              </a:cxnLst>
              <a:rect l="0" t="0" r="r" b="b"/>
              <a:pathLst>
                <a:path w="660" h="531">
                  <a:moveTo>
                    <a:pt x="0" y="0"/>
                  </a:moveTo>
                  <a:lnTo>
                    <a:pt x="0" y="504"/>
                  </a:lnTo>
                  <a:lnTo>
                    <a:pt x="138" y="522"/>
                  </a:lnTo>
                  <a:lnTo>
                    <a:pt x="309" y="531"/>
                  </a:lnTo>
                  <a:lnTo>
                    <a:pt x="516" y="525"/>
                  </a:lnTo>
                  <a:lnTo>
                    <a:pt x="660" y="504"/>
                  </a:lnTo>
                  <a:lnTo>
                    <a:pt x="660" y="6"/>
                  </a:lnTo>
                  <a:lnTo>
                    <a:pt x="507" y="27"/>
                  </a:lnTo>
                  <a:lnTo>
                    <a:pt x="321" y="33"/>
                  </a:lnTo>
                  <a:lnTo>
                    <a:pt x="141" y="24"/>
                  </a:lnTo>
                  <a:lnTo>
                    <a:pt x="0" y="0"/>
                  </a:lnTo>
                  <a:close/>
                </a:path>
              </a:pathLst>
            </a:custGeom>
            <a:solidFill>
              <a:srgbClr val="0033CC"/>
            </a:solidFill>
            <a:ln w="12700" cap="flat" cmpd="sng">
              <a:noFill/>
              <a:prstDash val="solid"/>
              <a:round/>
              <a:headEnd type="none" w="med" len="med"/>
              <a:tailEnd type="none" w="med" len="med"/>
            </a:ln>
            <a:effectLst/>
          </p:spPr>
          <p:txBody>
            <a:bodyPr/>
            <a:lstStyle/>
            <a:p>
              <a:endParaRPr lang="fr-FR"/>
            </a:p>
          </p:txBody>
        </p:sp>
        <p:sp>
          <p:nvSpPr>
            <p:cNvPr id="386079" name="Freeform 31"/>
            <p:cNvSpPr>
              <a:spLocks/>
            </p:cNvSpPr>
            <p:nvPr/>
          </p:nvSpPr>
          <p:spPr bwMode="auto">
            <a:xfrm>
              <a:off x="4704" y="3246"/>
              <a:ext cx="294" cy="597"/>
            </a:xfrm>
            <a:custGeom>
              <a:avLst/>
              <a:gdLst/>
              <a:ahLst/>
              <a:cxnLst>
                <a:cxn ang="0">
                  <a:pos x="3" y="78"/>
                </a:cxn>
                <a:cxn ang="0">
                  <a:pos x="0" y="597"/>
                </a:cxn>
                <a:cxn ang="0">
                  <a:pos x="93" y="582"/>
                </a:cxn>
                <a:cxn ang="0">
                  <a:pos x="162" y="558"/>
                </a:cxn>
                <a:cxn ang="0">
                  <a:pos x="225" y="540"/>
                </a:cxn>
                <a:cxn ang="0">
                  <a:pos x="294" y="507"/>
                </a:cxn>
                <a:cxn ang="0">
                  <a:pos x="294" y="0"/>
                </a:cxn>
                <a:cxn ang="0">
                  <a:pos x="231" y="36"/>
                </a:cxn>
                <a:cxn ang="0">
                  <a:pos x="156" y="54"/>
                </a:cxn>
                <a:cxn ang="0">
                  <a:pos x="78" y="75"/>
                </a:cxn>
                <a:cxn ang="0">
                  <a:pos x="3" y="78"/>
                </a:cxn>
              </a:cxnLst>
              <a:rect l="0" t="0" r="r" b="b"/>
              <a:pathLst>
                <a:path w="294" h="597">
                  <a:moveTo>
                    <a:pt x="3" y="78"/>
                  </a:moveTo>
                  <a:lnTo>
                    <a:pt x="0" y="597"/>
                  </a:lnTo>
                  <a:lnTo>
                    <a:pt x="93" y="582"/>
                  </a:lnTo>
                  <a:lnTo>
                    <a:pt x="162" y="558"/>
                  </a:lnTo>
                  <a:lnTo>
                    <a:pt x="225" y="540"/>
                  </a:lnTo>
                  <a:lnTo>
                    <a:pt x="294" y="507"/>
                  </a:lnTo>
                  <a:lnTo>
                    <a:pt x="294" y="0"/>
                  </a:lnTo>
                  <a:lnTo>
                    <a:pt x="231" y="36"/>
                  </a:lnTo>
                  <a:lnTo>
                    <a:pt x="156" y="54"/>
                  </a:lnTo>
                  <a:lnTo>
                    <a:pt x="78" y="75"/>
                  </a:lnTo>
                  <a:lnTo>
                    <a:pt x="3" y="78"/>
                  </a:lnTo>
                  <a:close/>
                </a:path>
              </a:pathLst>
            </a:custGeom>
            <a:solidFill>
              <a:srgbClr val="0033CC"/>
            </a:solidFill>
            <a:ln w="12700" cap="flat" cmpd="sng">
              <a:noFill/>
              <a:prstDash val="solid"/>
              <a:round/>
              <a:headEnd type="none" w="med" len="med"/>
              <a:tailEnd type="none" w="med" len="med"/>
            </a:ln>
            <a:effectLst/>
          </p:spPr>
          <p:txBody>
            <a:bodyPr/>
            <a:lstStyle/>
            <a:p>
              <a:endParaRPr lang="fr-F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ln/>
        </p:spPr>
        <p:txBody>
          <a:bodyPr vert="horz" anchor="b">
            <a:normAutofit fontScale="90000"/>
          </a:bodyPr>
          <a:lstStyle/>
          <a:p>
            <a:r>
              <a:rPr lang="fr-FR" dirty="0">
                <a:solidFill>
                  <a:srgbClr val="C00000"/>
                </a:solidFill>
              </a:rPr>
              <a:t>Qu'est-ce que la fragmentation du disque ?</a:t>
            </a:r>
          </a:p>
        </p:txBody>
      </p:sp>
      <p:grpSp>
        <p:nvGrpSpPr>
          <p:cNvPr id="2" name="Group 20"/>
          <p:cNvGrpSpPr>
            <a:grpSpLocks/>
          </p:cNvGrpSpPr>
          <p:nvPr/>
        </p:nvGrpSpPr>
        <p:grpSpPr bwMode="auto">
          <a:xfrm>
            <a:off x="108525" y="2195670"/>
            <a:ext cx="8966199" cy="1281113"/>
            <a:chOff x="177800" y="1886424"/>
            <a:chExt cx="8483600" cy="1285793"/>
          </a:xfrm>
        </p:grpSpPr>
        <p:sp>
          <p:nvSpPr>
            <p:cNvPr id="4" name="AutoShape 5"/>
            <p:cNvSpPr>
              <a:spLocks noChangeArrowheads="1"/>
            </p:cNvSpPr>
            <p:nvPr/>
          </p:nvSpPr>
          <p:spPr bwMode="auto">
            <a:xfrm>
              <a:off x="177800" y="1886424"/>
              <a:ext cx="8483600" cy="1285793"/>
            </a:xfrm>
            <a:prstGeom prst="roundRect">
              <a:avLst>
                <a:gd name="adj" fmla="val 4167"/>
              </a:avLst>
            </a:prstGeom>
            <a:gradFill rotWithShape="1">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tIns="91440" bIns="91440"/>
            <a:lstStyle/>
            <a:p>
              <a:pPr marL="231775" indent="-231775" algn="l">
                <a:lnSpc>
                  <a:spcPct val="90000"/>
                </a:lnSpc>
                <a:spcBef>
                  <a:spcPct val="40000"/>
                </a:spcBef>
                <a:buSzPct val="90000"/>
                <a:defRPr/>
              </a:pPr>
              <a:r>
                <a:rPr lang="en-US" sz="2200" b="0" dirty="0">
                  <a:solidFill>
                    <a:schemeClr val="tx1"/>
                  </a:solidFill>
                  <a:effectLst/>
                  <a:cs typeface="Arial" charset="0"/>
                </a:rPr>
                <a:t>La fragmentation du </a:t>
              </a:r>
              <a:r>
                <a:rPr lang="en-US" sz="2200" b="0" dirty="0" err="1">
                  <a:solidFill>
                    <a:schemeClr val="tx1"/>
                  </a:solidFill>
                  <a:effectLst/>
                  <a:cs typeface="Arial" charset="0"/>
                </a:rPr>
                <a:t>disque</a:t>
              </a:r>
              <a:r>
                <a:rPr lang="en-US" sz="2200" b="0" dirty="0">
                  <a:solidFill>
                    <a:schemeClr val="tx1"/>
                  </a:solidFill>
                  <a:effectLst/>
                  <a:cs typeface="Arial" charset="0"/>
                </a:rPr>
                <a:t>:</a:t>
              </a:r>
            </a:p>
            <a:p>
              <a:pPr marL="231775" indent="-231775" algn="l">
                <a:lnSpc>
                  <a:spcPct val="90000"/>
                </a:lnSpc>
                <a:spcBef>
                  <a:spcPct val="40000"/>
                </a:spcBef>
                <a:buSzPct val="90000"/>
                <a:buFont typeface="Arial" pitchFamily="34" charset="0"/>
                <a:buChar char="•"/>
                <a:defRPr/>
              </a:pPr>
              <a:endParaRPr lang="en-US" sz="2200" b="0" dirty="0">
                <a:solidFill>
                  <a:schemeClr val="tx1"/>
                </a:solidFill>
                <a:effectLst/>
                <a:cs typeface="Arial" charset="0"/>
              </a:endParaRPr>
            </a:p>
          </p:txBody>
        </p:sp>
        <p:sp>
          <p:nvSpPr>
            <p:cNvPr id="5" name="AutoShape 6"/>
            <p:cNvSpPr>
              <a:spLocks noChangeArrowheads="1"/>
            </p:cNvSpPr>
            <p:nvPr/>
          </p:nvSpPr>
          <p:spPr bwMode="auto">
            <a:xfrm>
              <a:off x="247451" y="2276349"/>
              <a:ext cx="8269747" cy="814176"/>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91440" bIns="91440"/>
            <a:lstStyle/>
            <a:p>
              <a:pPr marL="231775" indent="-231775" algn="l">
                <a:lnSpc>
                  <a:spcPct val="90000"/>
                </a:lnSpc>
                <a:spcBef>
                  <a:spcPct val="40000"/>
                </a:spcBef>
                <a:buSzPct val="90000"/>
                <a:buFont typeface="Arial" pitchFamily="34" charset="0"/>
                <a:buChar char="•"/>
                <a:defRPr/>
              </a:pPr>
              <a:r>
                <a:rPr lang="fr-FR" sz="2200" b="0" dirty="0">
                  <a:solidFill>
                    <a:schemeClr val="tx1"/>
                  </a:solidFill>
                  <a:effectLst/>
                  <a:cs typeface="Arial" charset="0"/>
                </a:rPr>
                <a:t>Se composent de fichiers fragmentés et d’espace libre fragmenté</a:t>
              </a:r>
            </a:p>
            <a:p>
              <a:pPr marL="231775" indent="-231775" algn="l">
                <a:lnSpc>
                  <a:spcPct val="90000"/>
                </a:lnSpc>
                <a:spcBef>
                  <a:spcPct val="40000"/>
                </a:spcBef>
                <a:buSzPct val="90000"/>
                <a:buFont typeface="Arial" pitchFamily="34" charset="0"/>
                <a:buChar char="•"/>
                <a:defRPr/>
              </a:pPr>
              <a:r>
                <a:rPr lang="en-GB" sz="2200" b="0" dirty="0" err="1">
                  <a:solidFill>
                    <a:schemeClr val="tx1"/>
                  </a:solidFill>
                  <a:effectLst/>
                  <a:cs typeface="Arial" charset="0"/>
                </a:rPr>
                <a:t>Entraîne</a:t>
              </a:r>
              <a:r>
                <a:rPr lang="en-GB" sz="2200" b="0" dirty="0">
                  <a:solidFill>
                    <a:schemeClr val="tx1"/>
                  </a:solidFill>
                  <a:effectLst/>
                  <a:cs typeface="Arial" charset="0"/>
                </a:rPr>
                <a:t> des performances </a:t>
              </a:r>
              <a:r>
                <a:rPr lang="en-GB" sz="2200" b="0" dirty="0" err="1">
                  <a:solidFill>
                    <a:schemeClr val="tx1"/>
                  </a:solidFill>
                  <a:effectLst/>
                  <a:cs typeface="Arial" charset="0"/>
                </a:rPr>
                <a:t>médiocres</a:t>
              </a:r>
              <a:r>
                <a:rPr lang="en-GB" sz="2200" b="0" dirty="0">
                  <a:solidFill>
                    <a:schemeClr val="tx1"/>
                  </a:solidFill>
                  <a:effectLst/>
                  <a:cs typeface="Arial" charset="0"/>
                </a:rPr>
                <a:t> du </a:t>
              </a:r>
              <a:r>
                <a:rPr lang="en-GB" sz="2200" b="0" dirty="0" err="1">
                  <a:solidFill>
                    <a:schemeClr val="tx1"/>
                  </a:solidFill>
                  <a:effectLst/>
                  <a:cs typeface="Arial" charset="0"/>
                </a:rPr>
                <a:t>disque</a:t>
              </a:r>
              <a:endParaRPr lang="en-US" sz="2200" b="0" dirty="0">
                <a:solidFill>
                  <a:schemeClr val="tx1"/>
                </a:solidFill>
                <a:effectLst/>
                <a:cs typeface="Arial" charset="0"/>
              </a:endParaRPr>
            </a:p>
          </p:txBody>
        </p:sp>
      </p:grpSp>
      <p:sp>
        <p:nvSpPr>
          <p:cNvPr id="16" name="Freeform 5"/>
          <p:cNvSpPr>
            <a:spLocks/>
          </p:cNvSpPr>
          <p:nvPr/>
        </p:nvSpPr>
        <p:spPr bwMode="auto">
          <a:xfrm rot="5400000">
            <a:off x="4142923" y="-2817587"/>
            <a:ext cx="858154" cy="8961120"/>
          </a:xfrm>
          <a:prstGeom prst="rect">
            <a:avLst/>
          </a:prstGeom>
          <a:gradFill>
            <a:gsLst>
              <a:gs pos="0">
                <a:srgbClr val="8DACD0"/>
              </a:gs>
              <a:gs pos="100000">
                <a:srgbClr val="DEE7F1"/>
              </a:gs>
            </a:gsLst>
            <a:lin ang="2700000" scaled="1"/>
          </a:gradFill>
          <a:ln w="38100">
            <a:noFill/>
          </a:ln>
          <a:effectLst/>
          <a:scene3d>
            <a:camera prst="orthographicFront"/>
            <a:lightRig rig="flat" dir="t">
              <a:rot lat="0" lon="0" rev="5400000"/>
            </a:lightRig>
          </a:scene3d>
          <a:sp3d>
            <a:bevelB w="38100" h="38100"/>
          </a:sp3d>
        </p:spPr>
        <p:style>
          <a:lnRef idx="2">
            <a:schemeClr val="accent1">
              <a:shade val="50000"/>
            </a:schemeClr>
          </a:lnRef>
          <a:fillRef idx="1">
            <a:schemeClr val="accent1"/>
          </a:fillRef>
          <a:effectRef idx="0">
            <a:schemeClr val="accent1"/>
          </a:effectRef>
          <a:fontRef idx="minor">
            <a:schemeClr val="lt1"/>
          </a:fontRef>
        </p:style>
        <p:txBody>
          <a:bodyPr vert="vert270" lIns="0" tIns="45718" rIns="0" bIns="0" anchor="ctr"/>
          <a:lstStyle/>
          <a:p>
            <a:pPr marL="231775" indent="-231775" algn="ctr">
              <a:lnSpc>
                <a:spcPct val="90000"/>
              </a:lnSpc>
              <a:spcBef>
                <a:spcPct val="40000"/>
              </a:spcBef>
              <a:buSzPct val="80000"/>
              <a:defRPr/>
            </a:pPr>
            <a:r>
              <a:rPr lang="fr-FR" sz="2200" dirty="0">
                <a:solidFill>
                  <a:schemeClr val="tx1"/>
                </a:solidFill>
                <a:effectLst/>
                <a:cs typeface="Arial" charset="0"/>
              </a:rPr>
              <a:t>Fragmentation du disque est le stockage non contigus de données sur un volume</a:t>
            </a:r>
            <a:endParaRPr lang="en-US" sz="2200" dirty="0">
              <a:solidFill>
                <a:schemeClr val="tx1"/>
              </a:solidFill>
              <a:effectLst/>
              <a:cs typeface="Arial" charset="0"/>
            </a:endParaRPr>
          </a:p>
        </p:txBody>
      </p:sp>
      <p:grpSp>
        <p:nvGrpSpPr>
          <p:cNvPr id="8" name="Group 18"/>
          <p:cNvGrpSpPr>
            <a:grpSpLocks/>
          </p:cNvGrpSpPr>
          <p:nvPr/>
        </p:nvGrpSpPr>
        <p:grpSpPr bwMode="auto">
          <a:xfrm>
            <a:off x="1156134" y="3666545"/>
            <a:ext cx="6804025" cy="3108325"/>
            <a:chOff x="1106989" y="3245305"/>
            <a:chExt cx="6805111" cy="3108960"/>
          </a:xfrm>
        </p:grpSpPr>
        <p:pic>
          <p:nvPicPr>
            <p:cNvPr id="20488" name="Picture 18"/>
            <p:cNvPicPr>
              <a:picLocks noChangeAspect="1" noChangeArrowheads="1"/>
            </p:cNvPicPr>
            <p:nvPr/>
          </p:nvPicPr>
          <p:blipFill>
            <a:blip r:embed="rId3"/>
            <a:srcRect/>
            <a:stretch>
              <a:fillRect/>
            </a:stretch>
          </p:blipFill>
          <p:spPr bwMode="auto">
            <a:xfrm>
              <a:off x="6616624" y="4152085"/>
              <a:ext cx="1295476" cy="1295400"/>
            </a:xfrm>
            <a:prstGeom prst="rect">
              <a:avLst/>
            </a:prstGeom>
            <a:noFill/>
            <a:ln w="9525">
              <a:noFill/>
              <a:miter lim="800000"/>
              <a:headEnd/>
              <a:tailEnd/>
            </a:ln>
          </p:spPr>
        </p:pic>
        <p:pic>
          <p:nvPicPr>
            <p:cNvPr id="20489" name="Picture 18"/>
            <p:cNvPicPr>
              <a:picLocks noChangeAspect="1" noChangeArrowheads="1"/>
            </p:cNvPicPr>
            <p:nvPr/>
          </p:nvPicPr>
          <p:blipFill>
            <a:blip r:embed="rId4"/>
            <a:srcRect/>
            <a:stretch>
              <a:fillRect/>
            </a:stretch>
          </p:blipFill>
          <p:spPr bwMode="auto">
            <a:xfrm>
              <a:off x="1106989" y="3245305"/>
              <a:ext cx="5160103" cy="3108960"/>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2"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1000" fill="hold"/>
                                        <p:tgtEl>
                                          <p:spTgt spid="8"/>
                                        </p:tgtEl>
                                        <p:attrNameLst>
                                          <p:attrName>ppt_x</p:attrName>
                                        </p:attrNameLst>
                                      </p:cBhvr>
                                      <p:tavLst>
                                        <p:tav tm="0">
                                          <p:val>
                                            <p:strVal val="0-#ppt_w/2"/>
                                          </p:val>
                                        </p:tav>
                                        <p:tav tm="100000">
                                          <p:val>
                                            <p:strVal val="#ppt_x"/>
                                          </p:val>
                                        </p:tav>
                                      </p:tavLst>
                                    </p:anim>
                                    <p:anim calcmode="lin" valueType="num">
                                      <p:cBhvr additive="base">
                                        <p:cTn id="14"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p:spPr>
        <p:txBody>
          <a:bodyPr vert="horz" anchor="b">
            <a:normAutofit/>
          </a:bodyPr>
          <a:lstStyle/>
          <a:p>
            <a:r>
              <a:rPr lang="en-US" dirty="0">
                <a:solidFill>
                  <a:srgbClr val="C00000"/>
                </a:solidFill>
              </a:rPr>
              <a:t>La </a:t>
            </a:r>
            <a:r>
              <a:rPr lang="en-US" dirty="0" err="1">
                <a:solidFill>
                  <a:srgbClr val="C00000"/>
                </a:solidFill>
              </a:rPr>
              <a:t>défragmentation</a:t>
            </a:r>
            <a:r>
              <a:rPr lang="en-US" dirty="0">
                <a:solidFill>
                  <a:srgbClr val="C00000"/>
                </a:solidFill>
              </a:rPr>
              <a:t> d’un </a:t>
            </a:r>
            <a:r>
              <a:rPr lang="en-US" dirty="0" err="1">
                <a:solidFill>
                  <a:srgbClr val="C00000"/>
                </a:solidFill>
              </a:rPr>
              <a:t>disque</a:t>
            </a:r>
            <a:endParaRPr lang="en-US" dirty="0">
              <a:solidFill>
                <a:srgbClr val="C00000"/>
              </a:solidFill>
            </a:endParaRPr>
          </a:p>
        </p:txBody>
      </p:sp>
      <p:grpSp>
        <p:nvGrpSpPr>
          <p:cNvPr id="2" name="Group 33"/>
          <p:cNvGrpSpPr>
            <a:grpSpLocks/>
          </p:cNvGrpSpPr>
          <p:nvPr/>
        </p:nvGrpSpPr>
        <p:grpSpPr bwMode="auto">
          <a:xfrm>
            <a:off x="406973" y="1237686"/>
            <a:ext cx="8556988" cy="720725"/>
            <a:chOff x="482600" y="800102"/>
            <a:chExt cx="8624366" cy="812799"/>
          </a:xfrm>
        </p:grpSpPr>
        <p:grpSp>
          <p:nvGrpSpPr>
            <p:cNvPr id="3" name="Group 4"/>
            <p:cNvGrpSpPr>
              <a:grpSpLocks/>
            </p:cNvGrpSpPr>
            <p:nvPr/>
          </p:nvGrpSpPr>
          <p:grpSpPr bwMode="auto">
            <a:xfrm>
              <a:off x="482600" y="800102"/>
              <a:ext cx="8624366" cy="812799"/>
              <a:chOff x="615" y="2592"/>
              <a:chExt cx="4726" cy="528"/>
            </a:xfrm>
          </p:grpSpPr>
          <p:sp>
            <p:nvSpPr>
              <p:cNvPr id="14" name="AutoShape 5"/>
              <p:cNvSpPr>
                <a:spLocks noChangeArrowheads="1"/>
              </p:cNvSpPr>
              <p:nvPr/>
            </p:nvSpPr>
            <p:spPr bwMode="auto">
              <a:xfrm>
                <a:off x="615" y="2592"/>
                <a:ext cx="4726" cy="528"/>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lIns="1645920" tIns="137160" bIns="137160" anchor="ctr"/>
              <a:lstStyle/>
              <a:p>
                <a:pPr marL="231775" indent="-231775">
                  <a:lnSpc>
                    <a:spcPct val="90000"/>
                  </a:lnSpc>
                  <a:spcBef>
                    <a:spcPct val="40000"/>
                  </a:spcBef>
                  <a:buSzPct val="90000"/>
                  <a:defRPr/>
                </a:pPr>
                <a:r>
                  <a:rPr lang="fr-FR" sz="2200" b="0" dirty="0">
                    <a:solidFill>
                      <a:schemeClr val="tx1"/>
                    </a:solidFill>
                    <a:effectLst/>
                    <a:cs typeface="Arial" charset="0"/>
                  </a:rPr>
                  <a:t>Réorganiser les données et réunir les fichiers fragmentés</a:t>
                </a:r>
                <a:endParaRPr lang="en-US" sz="2200" b="0" dirty="0">
                  <a:solidFill>
                    <a:schemeClr val="tx1"/>
                  </a:solidFill>
                  <a:effectLst/>
                  <a:cs typeface="Arial" charset="0"/>
                </a:endParaRPr>
              </a:p>
            </p:txBody>
          </p:sp>
          <p:sp>
            <p:nvSpPr>
              <p:cNvPr id="21544" name="AutoShape 6"/>
              <p:cNvSpPr>
                <a:spLocks noChangeArrowheads="1"/>
              </p:cNvSpPr>
              <p:nvPr/>
            </p:nvSpPr>
            <p:spPr bwMode="auto">
              <a:xfrm>
                <a:off x="615" y="2592"/>
                <a:ext cx="778" cy="528"/>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p:spPr>
            <p:txBody>
              <a:bodyPr anchor="ctr"/>
              <a:lstStyle/>
              <a:p>
                <a:pPr>
                  <a:lnSpc>
                    <a:spcPct val="90000"/>
                  </a:lnSpc>
                  <a:spcBef>
                    <a:spcPct val="40000"/>
                  </a:spcBef>
                </a:pPr>
                <a:endParaRPr lang="en-GB" sz="2200">
                  <a:solidFill>
                    <a:schemeClr val="tx1"/>
                  </a:solidFill>
                  <a:effectLst/>
                </a:endParaRPr>
              </a:p>
            </p:txBody>
          </p:sp>
        </p:grpSp>
        <p:grpSp>
          <p:nvGrpSpPr>
            <p:cNvPr id="4" name="Group 31"/>
            <p:cNvGrpSpPr>
              <a:grpSpLocks/>
            </p:cNvGrpSpPr>
            <p:nvPr/>
          </p:nvGrpSpPr>
          <p:grpSpPr bwMode="auto">
            <a:xfrm>
              <a:off x="731727" y="1022068"/>
              <a:ext cx="899499" cy="368864"/>
              <a:chOff x="796871" y="1225318"/>
              <a:chExt cx="1344614" cy="368864"/>
            </a:xfrm>
          </p:grpSpPr>
          <p:pic>
            <p:nvPicPr>
              <p:cNvPr id="20513" name="Picture 14" descr="2_Object_A"/>
              <p:cNvPicPr>
                <a:picLocks noChangeAspect="1" noChangeArrowheads="1"/>
              </p:cNvPicPr>
              <p:nvPr/>
            </p:nvPicPr>
            <p:blipFill>
              <a:blip r:embed="rId3"/>
              <a:srcRect/>
              <a:stretch>
                <a:fillRect/>
              </a:stretch>
            </p:blipFill>
            <p:spPr bwMode="auto">
              <a:xfrm>
                <a:off x="1421827" y="1456299"/>
                <a:ext cx="279835" cy="134272"/>
              </a:xfrm>
              <a:prstGeom prst="rect">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pic>
          <p:pic>
            <p:nvPicPr>
              <p:cNvPr id="20514" name="Picture 15" descr="2_Object_B"/>
              <p:cNvPicPr>
                <a:picLocks noChangeAspect="1" noChangeArrowheads="1"/>
              </p:cNvPicPr>
              <p:nvPr/>
            </p:nvPicPr>
            <p:blipFill>
              <a:blip r:embed="rId4"/>
              <a:srcRect/>
              <a:stretch>
                <a:fillRect/>
              </a:stretch>
            </p:blipFill>
            <p:spPr bwMode="auto">
              <a:xfrm>
                <a:off x="1060671" y="1459879"/>
                <a:ext cx="279836" cy="134272"/>
              </a:xfrm>
              <a:prstGeom prst="rect">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pic>
          <p:pic>
            <p:nvPicPr>
              <p:cNvPr id="20515" name="Picture 16" descr="2_Object_B"/>
              <p:cNvPicPr>
                <a:picLocks noChangeAspect="1" noChangeArrowheads="1"/>
              </p:cNvPicPr>
              <p:nvPr/>
            </p:nvPicPr>
            <p:blipFill>
              <a:blip r:embed="rId4"/>
              <a:srcRect/>
              <a:stretch>
                <a:fillRect/>
              </a:stretch>
            </p:blipFill>
            <p:spPr bwMode="auto">
              <a:xfrm>
                <a:off x="1340507" y="1459879"/>
                <a:ext cx="279835" cy="134272"/>
              </a:xfrm>
              <a:prstGeom prst="rect">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pic>
          <p:pic>
            <p:nvPicPr>
              <p:cNvPr id="20516" name="Picture 17" descr="2_Object_B"/>
              <p:cNvPicPr>
                <a:picLocks noChangeAspect="1" noChangeArrowheads="1"/>
              </p:cNvPicPr>
              <p:nvPr/>
            </p:nvPicPr>
            <p:blipFill>
              <a:blip r:embed="rId4"/>
              <a:srcRect/>
              <a:stretch>
                <a:fillRect/>
              </a:stretch>
            </p:blipFill>
            <p:spPr bwMode="auto">
              <a:xfrm>
                <a:off x="1701661" y="1459879"/>
                <a:ext cx="279836" cy="134272"/>
              </a:xfrm>
              <a:prstGeom prst="rect">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pic>
          <p:pic>
            <p:nvPicPr>
              <p:cNvPr id="20517" name="Picture 13" descr="HardDiskDrive"/>
              <p:cNvPicPr>
                <a:picLocks noChangeAspect="1" noChangeArrowheads="1"/>
              </p:cNvPicPr>
              <p:nvPr/>
            </p:nvPicPr>
            <p:blipFill>
              <a:blip r:embed="rId5"/>
              <a:srcRect/>
              <a:stretch>
                <a:fillRect/>
              </a:stretch>
            </p:blipFill>
            <p:spPr bwMode="auto">
              <a:xfrm>
                <a:off x="797578" y="1250413"/>
                <a:ext cx="583588" cy="300771"/>
              </a:xfrm>
              <a:prstGeom prst="rect">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pic>
          <p:pic>
            <p:nvPicPr>
              <p:cNvPr id="20518" name="Picture 18" descr="arrow09_04"/>
              <p:cNvPicPr>
                <a:picLocks noChangeAspect="1" noChangeArrowheads="1"/>
              </p:cNvPicPr>
              <p:nvPr/>
            </p:nvPicPr>
            <p:blipFill>
              <a:blip r:embed="rId6"/>
              <a:srcRect/>
              <a:stretch>
                <a:fillRect/>
              </a:stretch>
            </p:blipFill>
            <p:spPr bwMode="auto">
              <a:xfrm>
                <a:off x="1701661" y="1225348"/>
                <a:ext cx="440083" cy="329416"/>
              </a:xfrm>
              <a:prstGeom prst="rect">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pic>
        </p:grpSp>
      </p:grpSp>
      <p:grpSp>
        <p:nvGrpSpPr>
          <p:cNvPr id="5" name="Group 34"/>
          <p:cNvGrpSpPr>
            <a:grpSpLocks/>
          </p:cNvGrpSpPr>
          <p:nvPr/>
        </p:nvGrpSpPr>
        <p:grpSpPr bwMode="auto">
          <a:xfrm>
            <a:off x="349968" y="5023873"/>
            <a:ext cx="8067675" cy="720725"/>
            <a:chOff x="469900" y="2260605"/>
            <a:chExt cx="8129734" cy="813847"/>
          </a:xfrm>
        </p:grpSpPr>
        <p:grpSp>
          <p:nvGrpSpPr>
            <p:cNvPr id="6" name="Group 7"/>
            <p:cNvGrpSpPr>
              <a:grpSpLocks/>
            </p:cNvGrpSpPr>
            <p:nvPr/>
          </p:nvGrpSpPr>
          <p:grpSpPr bwMode="auto">
            <a:xfrm>
              <a:off x="469900" y="2260605"/>
              <a:ext cx="8129734" cy="813847"/>
              <a:chOff x="615" y="2592"/>
              <a:chExt cx="4448" cy="438"/>
            </a:xfrm>
          </p:grpSpPr>
          <p:sp>
            <p:nvSpPr>
              <p:cNvPr id="17" name="AutoShape 8"/>
              <p:cNvSpPr>
                <a:spLocks noChangeArrowheads="1"/>
              </p:cNvSpPr>
              <p:nvPr/>
            </p:nvSpPr>
            <p:spPr bwMode="auto">
              <a:xfrm>
                <a:off x="615" y="2592"/>
                <a:ext cx="4448" cy="438"/>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lIns="1645920" tIns="137160" bIns="137160" anchor="ctr"/>
              <a:lstStyle/>
              <a:p>
                <a:pPr marL="231775" indent="-231775">
                  <a:lnSpc>
                    <a:spcPct val="90000"/>
                  </a:lnSpc>
                  <a:spcBef>
                    <a:spcPct val="40000"/>
                  </a:spcBef>
                  <a:buSzPct val="90000"/>
                  <a:defRPr/>
                </a:pPr>
                <a:r>
                  <a:rPr lang="fr-FR" sz="2200" b="0" dirty="0">
                    <a:solidFill>
                      <a:schemeClr val="tx1"/>
                    </a:solidFill>
                    <a:effectLst/>
                    <a:cs typeface="Arial" charset="0"/>
                  </a:rPr>
                  <a:t>Planifiée pour être exécuter automatiquement par défaut</a:t>
                </a:r>
                <a:endParaRPr lang="en-US" sz="2200" b="0" dirty="0">
                  <a:solidFill>
                    <a:schemeClr val="tx1"/>
                  </a:solidFill>
                  <a:effectLst/>
                  <a:cs typeface="Arial" charset="0"/>
                </a:endParaRPr>
              </a:p>
            </p:txBody>
          </p:sp>
          <p:sp>
            <p:nvSpPr>
              <p:cNvPr id="21534" name="AutoShape 9"/>
              <p:cNvSpPr>
                <a:spLocks noChangeArrowheads="1"/>
              </p:cNvSpPr>
              <p:nvPr/>
            </p:nvSpPr>
            <p:spPr bwMode="auto">
              <a:xfrm>
                <a:off x="615" y="2592"/>
                <a:ext cx="756" cy="438"/>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p:spPr>
            <p:txBody>
              <a:bodyPr lIns="1371600" anchor="ctr"/>
              <a:lstStyle/>
              <a:p>
                <a:pPr>
                  <a:lnSpc>
                    <a:spcPct val="90000"/>
                  </a:lnSpc>
                  <a:spcBef>
                    <a:spcPct val="40000"/>
                  </a:spcBef>
                </a:pPr>
                <a:endParaRPr lang="en-GB" sz="2200">
                  <a:solidFill>
                    <a:schemeClr val="tx1"/>
                  </a:solidFill>
                  <a:effectLst/>
                </a:endParaRPr>
              </a:p>
            </p:txBody>
          </p:sp>
        </p:grpSp>
        <p:grpSp>
          <p:nvGrpSpPr>
            <p:cNvPr id="7" name="Group 32"/>
            <p:cNvGrpSpPr>
              <a:grpSpLocks/>
            </p:cNvGrpSpPr>
            <p:nvPr/>
          </p:nvGrpSpPr>
          <p:grpSpPr bwMode="auto">
            <a:xfrm>
              <a:off x="584201" y="2369107"/>
              <a:ext cx="1143000" cy="596842"/>
              <a:chOff x="698500" y="2585917"/>
              <a:chExt cx="1330325" cy="596842"/>
            </a:xfrm>
          </p:grpSpPr>
          <p:pic>
            <p:nvPicPr>
              <p:cNvPr id="20505" name="Picture 22" descr="Defragmentation"/>
              <p:cNvPicPr>
                <a:picLocks noChangeAspect="1" noChangeArrowheads="1"/>
              </p:cNvPicPr>
              <p:nvPr/>
            </p:nvPicPr>
            <p:blipFill>
              <a:blip r:embed="rId7"/>
              <a:srcRect/>
              <a:stretch>
                <a:fillRect/>
              </a:stretch>
            </p:blipFill>
            <p:spPr bwMode="auto">
              <a:xfrm>
                <a:off x="1133342" y="2656676"/>
                <a:ext cx="895568" cy="525236"/>
              </a:xfrm>
              <a:prstGeom prst="rect">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pic>
          <p:grpSp>
            <p:nvGrpSpPr>
              <p:cNvPr id="8" name="Group 19"/>
              <p:cNvGrpSpPr>
                <a:grpSpLocks/>
              </p:cNvGrpSpPr>
              <p:nvPr/>
            </p:nvGrpSpPr>
            <p:grpSpPr bwMode="auto">
              <a:xfrm>
                <a:off x="698500" y="2585917"/>
                <a:ext cx="749300" cy="402164"/>
                <a:chOff x="704" y="3153"/>
                <a:chExt cx="696" cy="463"/>
              </a:xfrm>
            </p:grpSpPr>
            <p:pic>
              <p:nvPicPr>
                <p:cNvPr id="20507" name="Picture 20" descr="ServerProcess"/>
                <p:cNvPicPr>
                  <a:picLocks noChangeAspect="1" noChangeArrowheads="1"/>
                </p:cNvPicPr>
                <p:nvPr/>
              </p:nvPicPr>
              <p:blipFill>
                <a:blip r:embed="rId8"/>
                <a:srcRect/>
                <a:stretch>
                  <a:fillRect/>
                </a:stretch>
              </p:blipFill>
              <p:spPr bwMode="auto">
                <a:xfrm>
                  <a:off x="1006" y="3315"/>
                  <a:ext cx="394" cy="301"/>
                </a:xfrm>
                <a:prstGeom prst="rect">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pic>
            <p:pic>
              <p:nvPicPr>
                <p:cNvPr id="20508" name="Picture 21" descr="Clock"/>
                <p:cNvPicPr>
                  <a:picLocks noChangeAspect="1" noChangeArrowheads="1"/>
                </p:cNvPicPr>
                <p:nvPr/>
              </p:nvPicPr>
              <p:blipFill>
                <a:blip r:embed="rId9"/>
                <a:srcRect/>
                <a:stretch>
                  <a:fillRect/>
                </a:stretch>
              </p:blipFill>
              <p:spPr bwMode="auto">
                <a:xfrm>
                  <a:off x="700" y="3154"/>
                  <a:ext cx="386" cy="409"/>
                </a:xfrm>
                <a:prstGeom prst="rect">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pic>
          </p:grpSp>
        </p:grpSp>
      </p:grpSp>
      <p:grpSp>
        <p:nvGrpSpPr>
          <p:cNvPr id="9" name="Group 35"/>
          <p:cNvGrpSpPr>
            <a:grpSpLocks/>
          </p:cNvGrpSpPr>
          <p:nvPr/>
        </p:nvGrpSpPr>
        <p:grpSpPr bwMode="auto">
          <a:xfrm>
            <a:off x="351555" y="5976373"/>
            <a:ext cx="8064500" cy="722312"/>
            <a:chOff x="469900" y="3839638"/>
            <a:chExt cx="8128513" cy="813846"/>
          </a:xfrm>
        </p:grpSpPr>
        <p:grpSp>
          <p:nvGrpSpPr>
            <p:cNvPr id="10" name="Group 7"/>
            <p:cNvGrpSpPr>
              <a:grpSpLocks/>
            </p:cNvGrpSpPr>
            <p:nvPr/>
          </p:nvGrpSpPr>
          <p:grpSpPr bwMode="auto">
            <a:xfrm>
              <a:off x="469900" y="3839638"/>
              <a:ext cx="8128513" cy="813846"/>
              <a:chOff x="615" y="2741"/>
              <a:chExt cx="4443" cy="438"/>
            </a:xfrm>
          </p:grpSpPr>
          <p:sp>
            <p:nvSpPr>
              <p:cNvPr id="30" name="AutoShape 8"/>
              <p:cNvSpPr>
                <a:spLocks noChangeArrowheads="1"/>
              </p:cNvSpPr>
              <p:nvPr/>
            </p:nvSpPr>
            <p:spPr bwMode="auto">
              <a:xfrm>
                <a:off x="615" y="2741"/>
                <a:ext cx="4443" cy="438"/>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lIns="1645920" tIns="137160" bIns="137160" anchor="ctr"/>
              <a:lstStyle/>
              <a:p>
                <a:pPr marL="231775" indent="-231775">
                  <a:lnSpc>
                    <a:spcPct val="90000"/>
                  </a:lnSpc>
                  <a:spcBef>
                    <a:spcPct val="40000"/>
                  </a:spcBef>
                  <a:buSzPct val="90000"/>
                  <a:defRPr/>
                </a:pPr>
                <a:r>
                  <a:rPr lang="fr-FR" sz="2200" b="0" dirty="0">
                    <a:solidFill>
                      <a:schemeClr val="tx1"/>
                    </a:solidFill>
                    <a:effectLst/>
                    <a:cs typeface="Arial" charset="0"/>
                  </a:rPr>
                  <a:t>Peut être exécuté à partir de la ligne de commande</a:t>
                </a:r>
                <a:endParaRPr lang="en-US" sz="2200" b="0" dirty="0">
                  <a:solidFill>
                    <a:schemeClr val="tx1"/>
                  </a:solidFill>
                  <a:effectLst/>
                  <a:cs typeface="Arial" charset="0"/>
                </a:endParaRPr>
              </a:p>
            </p:txBody>
          </p:sp>
          <p:sp>
            <p:nvSpPr>
              <p:cNvPr id="21526" name="AutoShape 9"/>
              <p:cNvSpPr>
                <a:spLocks noChangeArrowheads="1"/>
              </p:cNvSpPr>
              <p:nvPr/>
            </p:nvSpPr>
            <p:spPr bwMode="auto">
              <a:xfrm>
                <a:off x="615" y="2741"/>
                <a:ext cx="776" cy="438"/>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p:spPr>
            <p:txBody>
              <a:bodyPr anchor="ctr"/>
              <a:lstStyle/>
              <a:p>
                <a:pPr>
                  <a:lnSpc>
                    <a:spcPct val="90000"/>
                  </a:lnSpc>
                  <a:spcBef>
                    <a:spcPct val="40000"/>
                  </a:spcBef>
                </a:pPr>
                <a:endParaRPr lang="en-GB" sz="2200">
                  <a:solidFill>
                    <a:schemeClr val="tx1"/>
                  </a:solidFill>
                  <a:effectLst/>
                </a:endParaRPr>
              </a:p>
            </p:txBody>
          </p:sp>
        </p:grpSp>
        <p:grpSp>
          <p:nvGrpSpPr>
            <p:cNvPr id="11" name="Group 27"/>
            <p:cNvGrpSpPr>
              <a:grpSpLocks/>
            </p:cNvGrpSpPr>
            <p:nvPr/>
          </p:nvGrpSpPr>
          <p:grpSpPr bwMode="auto">
            <a:xfrm>
              <a:off x="765178" y="3914840"/>
              <a:ext cx="781050" cy="663442"/>
              <a:chOff x="994" y="2504"/>
              <a:chExt cx="492" cy="518"/>
            </a:xfrm>
          </p:grpSpPr>
          <p:pic>
            <p:nvPicPr>
              <p:cNvPr id="20499" name="Picture 25" descr="Computer_DumbTerminal.png"/>
              <p:cNvPicPr>
                <a:picLocks noChangeAspect="1"/>
              </p:cNvPicPr>
              <p:nvPr/>
            </p:nvPicPr>
            <p:blipFill>
              <a:blip r:embed="rId10"/>
              <a:srcRect/>
              <a:stretch>
                <a:fillRect/>
              </a:stretch>
            </p:blipFill>
            <p:spPr bwMode="auto">
              <a:xfrm>
                <a:off x="994" y="2504"/>
                <a:ext cx="492" cy="518"/>
              </a:xfrm>
              <a:prstGeom prst="rect">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pic>
          <p:sp>
            <p:nvSpPr>
              <p:cNvPr id="21524" name="TextBox 26"/>
              <p:cNvSpPr txBox="1">
                <a:spLocks noChangeArrowheads="1"/>
              </p:cNvSpPr>
              <p:nvPr/>
            </p:nvSpPr>
            <p:spPr bwMode="auto">
              <a:xfrm>
                <a:off x="1071" y="2537"/>
                <a:ext cx="411" cy="379"/>
              </a:xfrm>
              <a:prstGeom prst="rect">
                <a:avLst/>
              </a:prstGeom>
              <a:noFill/>
              <a:ln w="9525">
                <a:noFill/>
                <a:miter lim="800000"/>
                <a:headEnd/>
                <a:tailEnd/>
              </a:ln>
            </p:spPr>
            <p:txBody>
              <a:bodyPr wrap="none">
                <a:spAutoFit/>
              </a:bodyPr>
              <a:lstStyle/>
              <a:p>
                <a:r>
                  <a:rPr lang="en-GB" sz="2200">
                    <a:solidFill>
                      <a:schemeClr val="tx1"/>
                    </a:solidFill>
                    <a:effectLst/>
                    <a:latin typeface="Arial" pitchFamily="34" charset="0"/>
                  </a:rPr>
                  <a:t>C:&gt;</a:t>
                </a:r>
              </a:p>
            </p:txBody>
          </p:sp>
        </p:grpSp>
      </p:grpSp>
      <p:grpSp>
        <p:nvGrpSpPr>
          <p:cNvPr id="16" name="Group 41"/>
          <p:cNvGrpSpPr>
            <a:grpSpLocks/>
          </p:cNvGrpSpPr>
          <p:nvPr/>
        </p:nvGrpSpPr>
        <p:grpSpPr bwMode="auto">
          <a:xfrm>
            <a:off x="1202455" y="2137798"/>
            <a:ext cx="6489700" cy="2743200"/>
            <a:chOff x="1486458" y="1644422"/>
            <a:chExt cx="6489142" cy="2743200"/>
          </a:xfrm>
        </p:grpSpPr>
        <p:pic>
          <p:nvPicPr>
            <p:cNvPr id="21513" name="Picture 27"/>
            <p:cNvPicPr>
              <a:picLocks noChangeAspect="1" noChangeArrowheads="1"/>
            </p:cNvPicPr>
            <p:nvPr/>
          </p:nvPicPr>
          <p:blipFill>
            <a:blip r:embed="rId11"/>
            <a:srcRect/>
            <a:stretch>
              <a:fillRect/>
            </a:stretch>
          </p:blipFill>
          <p:spPr bwMode="auto">
            <a:xfrm>
              <a:off x="6680320" y="2368444"/>
              <a:ext cx="1295280" cy="1295156"/>
            </a:xfrm>
            <a:prstGeom prst="rect">
              <a:avLst/>
            </a:prstGeom>
            <a:noFill/>
            <a:ln w="9525">
              <a:noFill/>
              <a:miter lim="800000"/>
              <a:headEnd/>
              <a:tailEnd/>
            </a:ln>
          </p:spPr>
        </p:pic>
        <p:pic>
          <p:nvPicPr>
            <p:cNvPr id="21514" name="Picture 41"/>
            <p:cNvPicPr>
              <a:picLocks noChangeAspect="1" noChangeArrowheads="1"/>
            </p:cNvPicPr>
            <p:nvPr/>
          </p:nvPicPr>
          <p:blipFill>
            <a:blip r:embed="rId12"/>
            <a:srcRect/>
            <a:stretch>
              <a:fillRect/>
            </a:stretch>
          </p:blipFill>
          <p:spPr bwMode="auto">
            <a:xfrm>
              <a:off x="1486458" y="1644422"/>
              <a:ext cx="4605584" cy="2743200"/>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1000" fill="hold"/>
                                        <p:tgtEl>
                                          <p:spTgt spid="16"/>
                                        </p:tgtEl>
                                        <p:attrNameLst>
                                          <p:attrName>ppt_x</p:attrName>
                                        </p:attrNameLst>
                                      </p:cBhvr>
                                      <p:tavLst>
                                        <p:tav tm="0">
                                          <p:val>
                                            <p:strVal val="0-#ppt_w/2"/>
                                          </p:val>
                                        </p:tav>
                                        <p:tav tm="100000">
                                          <p:val>
                                            <p:strVal val="#ppt_x"/>
                                          </p:val>
                                        </p:tav>
                                      </p:tavLst>
                                    </p:anim>
                                    <p:anim calcmode="lin" valueType="num">
                                      <p:cBhvr additive="base">
                                        <p:cTn id="8" dur="10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1000" fill="hold"/>
                                        <p:tgtEl>
                                          <p:spTgt spid="5"/>
                                        </p:tgtEl>
                                        <p:attrNameLst>
                                          <p:attrName>ppt_x</p:attrName>
                                        </p:attrNameLst>
                                      </p:cBhvr>
                                      <p:tavLst>
                                        <p:tav tm="0">
                                          <p:val>
                                            <p:strVal val="#ppt_x"/>
                                          </p:val>
                                        </p:tav>
                                        <p:tav tm="100000">
                                          <p:val>
                                            <p:strVal val="#ppt_x"/>
                                          </p:val>
                                        </p:tav>
                                      </p:tavLst>
                                    </p:anim>
                                    <p:anim calcmode="lin" valueType="num">
                                      <p:cBhvr additive="base">
                                        <p:cTn id="14"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1000" fill="hold"/>
                                        <p:tgtEl>
                                          <p:spTgt spid="9"/>
                                        </p:tgtEl>
                                        <p:attrNameLst>
                                          <p:attrName>ppt_x</p:attrName>
                                        </p:attrNameLst>
                                      </p:cBhvr>
                                      <p:tavLst>
                                        <p:tav tm="0">
                                          <p:val>
                                            <p:strVal val="#ppt_x"/>
                                          </p:val>
                                        </p:tav>
                                        <p:tav tm="100000">
                                          <p:val>
                                            <p:strVal val="#ppt_x"/>
                                          </p:val>
                                        </p:tav>
                                      </p:tavLst>
                                    </p:anim>
                                    <p:anim calcmode="lin" valueType="num">
                                      <p:cBhvr additive="base">
                                        <p:cTn id="20"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7" name="Rectangle 3"/>
          <p:cNvSpPr>
            <a:spLocks noGrp="1" noChangeArrowheads="1"/>
          </p:cNvSpPr>
          <p:nvPr>
            <p:ph type="title"/>
          </p:nvPr>
        </p:nvSpPr>
        <p:spPr>
          <a:xfrm>
            <a:off x="301752" y="228599"/>
            <a:ext cx="8534400" cy="713509"/>
          </a:xfrm>
          <a:noFill/>
          <a:ln/>
        </p:spPr>
        <p:txBody>
          <a:bodyPr vert="horz" anchor="b">
            <a:normAutofit/>
          </a:bodyPr>
          <a:lstStyle/>
          <a:p>
            <a:r>
              <a:rPr lang="en-US" dirty="0">
                <a:solidFill>
                  <a:srgbClr val="C00000"/>
                </a:solidFill>
              </a:rPr>
              <a:t>Utilisation de l'outil Defrag.exe</a:t>
            </a:r>
          </a:p>
        </p:txBody>
      </p:sp>
      <p:pic>
        <p:nvPicPr>
          <p:cNvPr id="390149" name="Picture 5" descr="P2272bW04_23"/>
          <p:cNvPicPr>
            <a:picLocks noGrp="1" noChangeAspect="1" noChangeArrowheads="1"/>
          </p:cNvPicPr>
          <p:nvPr>
            <p:ph sz="quarter" idx="1"/>
          </p:nvPr>
        </p:nvPicPr>
        <p:blipFill>
          <a:blip r:embed="rId3"/>
          <a:srcRect/>
          <a:stretch>
            <a:fillRect/>
          </a:stretch>
        </p:blipFill>
        <p:spPr>
          <a:xfrm>
            <a:off x="242022" y="1309400"/>
            <a:ext cx="8726896" cy="5035982"/>
          </a:xfrm>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p:txBody>
          <a:bodyPr/>
          <a:lstStyle/>
          <a:p>
            <a:pPr marL="514350" indent="-514350">
              <a:buClr>
                <a:schemeClr val="tx1"/>
              </a:buClr>
              <a:buFont typeface="+mj-lt"/>
              <a:buAutoNum type="arabicPeriod"/>
            </a:pPr>
            <a:r>
              <a:rPr lang="fr-FR" dirty="0"/>
              <a:t>Quels sont les outils de gestion des disques?</a:t>
            </a:r>
          </a:p>
          <a:p>
            <a:pPr marL="514350" indent="-514350">
              <a:buClr>
                <a:schemeClr val="tx1"/>
              </a:buClr>
              <a:buFont typeface="+mj-lt"/>
              <a:buAutoNum type="arabicPeriod"/>
            </a:pPr>
            <a:r>
              <a:rPr lang="fr-FR" dirty="0"/>
              <a:t>Quels sont les types de disques?</a:t>
            </a:r>
          </a:p>
          <a:p>
            <a:pPr marL="514350" indent="-514350">
              <a:buClr>
                <a:schemeClr val="tx1"/>
              </a:buClr>
              <a:buFont typeface="+mj-lt"/>
              <a:buAutoNum type="arabicPeriod"/>
            </a:pPr>
            <a:r>
              <a:rPr lang="fr-FR" dirty="0"/>
              <a:t>Est-il possible de convertir un disque de base en disque dynamique? Si oui, comment?</a:t>
            </a:r>
          </a:p>
          <a:p>
            <a:pPr marL="514350" indent="-514350">
              <a:buClr>
                <a:schemeClr val="tx1"/>
              </a:buClr>
              <a:buFont typeface="+mj-lt"/>
              <a:buAutoNum type="arabicPeriod"/>
            </a:pPr>
            <a:r>
              <a:rPr lang="fr-FR" dirty="0"/>
              <a:t>Comment peut-on organiser un disque dynamique?</a:t>
            </a:r>
          </a:p>
          <a:p>
            <a:pPr marL="514350" indent="-514350">
              <a:buClr>
                <a:schemeClr val="tx1"/>
              </a:buClr>
              <a:buFont typeface="+mj-lt"/>
              <a:buAutoNum type="arabicPeriod"/>
            </a:pPr>
            <a:r>
              <a:rPr lang="fr-FR" dirty="0"/>
              <a:t>Quels sont les avantages des volumes agrégés par bandes et fractionné par rapport au volume simple?</a:t>
            </a:r>
          </a:p>
          <a:p>
            <a:pPr marL="514350" indent="-514350">
              <a:buClr>
                <a:schemeClr val="tx1"/>
              </a:buClr>
              <a:buFont typeface="+mj-lt"/>
              <a:buAutoNum type="arabicPeriod"/>
            </a:pPr>
            <a:endParaRPr lang="fr-FR" dirty="0"/>
          </a:p>
          <a:p>
            <a:pPr marL="514350" indent="-514350">
              <a:buClr>
                <a:schemeClr val="tx1"/>
              </a:buClr>
              <a:buFont typeface="+mj-lt"/>
              <a:buAutoNum type="arabicPeriod"/>
            </a:pPr>
            <a:endParaRPr lang="fr-FR" dirty="0"/>
          </a:p>
          <a:p>
            <a:pPr marL="514350" indent="-514350">
              <a:buClr>
                <a:schemeClr val="tx1"/>
              </a:buClr>
              <a:buFont typeface="+mj-lt"/>
              <a:buAutoNum type="arabicPeriod"/>
            </a:pPr>
            <a:endParaRPr lang="fr-F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p:txBody>
          <a:bodyPr>
            <a:normAutofit/>
          </a:bodyPr>
          <a:lstStyle/>
          <a:p>
            <a:pPr marL="514350" indent="-514350">
              <a:buClr>
                <a:schemeClr val="tx1"/>
              </a:buClr>
              <a:buFont typeface="+mj-lt"/>
              <a:buAutoNum type="arabicPeriod" startAt="6"/>
            </a:pPr>
            <a:r>
              <a:rPr lang="fr-FR" dirty="0"/>
              <a:t>Expliquez le principe d'un point de montage</a:t>
            </a:r>
          </a:p>
          <a:p>
            <a:pPr marL="514350" indent="-514350">
              <a:buClr>
                <a:schemeClr val="tx1"/>
              </a:buClr>
              <a:buFont typeface="+mj-lt"/>
              <a:buAutoNum type="arabicPeriod" startAt="6"/>
            </a:pPr>
            <a:r>
              <a:rPr lang="fr-FR" dirty="0"/>
              <a:t>C'est quoi la défragmentation de disque?</a:t>
            </a:r>
          </a:p>
          <a:p>
            <a:pPr marL="514350" indent="-514350">
              <a:buClr>
                <a:schemeClr val="tx1"/>
              </a:buClr>
              <a:buFont typeface="+mj-lt"/>
              <a:buAutoNum type="arabicPeriod" startAt="6"/>
            </a:pPr>
            <a:r>
              <a:rPr lang="fr-FR" dirty="0"/>
              <a:t>Comment peut-on faire une défragmentation?</a:t>
            </a:r>
          </a:p>
          <a:p>
            <a:pPr marL="514350" indent="-514350">
              <a:buClr>
                <a:schemeClr val="tx1"/>
              </a:buClr>
              <a:buFont typeface="+mj-lt"/>
              <a:buAutoNum type="arabicPeriod" startAt="6"/>
            </a:pPr>
            <a:r>
              <a:rPr lang="fr-FR" dirty="0"/>
              <a:t>Vous implémentez Windows 7 64 bits et vous devez partitionner le disque pour qu'il prenne en charge 25 volumes, dont certains dépasseront 2 To. Pouvez-vous implémenter cette configuration à l'aide d'un seul disque dur ?</a:t>
            </a:r>
          </a:p>
          <a:p>
            <a:endParaRPr lang="fr-FR" dirty="0"/>
          </a:p>
          <a:p>
            <a:endParaRPr lang="fr-F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527049"/>
            <a:ext cx="8503920" cy="3959352"/>
          </a:xfrm>
        </p:spPr>
        <p:txBody>
          <a:bodyPr>
            <a:noAutofit/>
          </a:bodyPr>
          <a:lstStyle/>
          <a:p>
            <a:pPr marL="457200" indent="-457200">
              <a:buClr>
                <a:schemeClr val="tx1"/>
              </a:buClr>
              <a:buFont typeface="+mj-lt"/>
              <a:buAutoNum type="arabicPeriod" startAt="9"/>
            </a:pPr>
            <a:r>
              <a:rPr lang="fr-FR" sz="2400" dirty="0"/>
              <a:t>Vous êtes chargé d'assurer le support technique d'un certain nombre d'ordinateurs Windows 7 Professionnel. Un utilisateur appelle pour vous dire qu'il manque d'espace disque sur son lecteur de données. Cet utilisateur doit stocker une grande quantité de données sur son ordinateur local dont la quantité d'espace disponible est très faible. L'ordinateur est configuré avec un seul disque dur divisé en deux partitions sur un disque de base. Toutes les données de l'utilisateur sont stockées sur la seconde partition. Comment allez-vous résoudre ce problème tout en affectant aussi peu que possible l'environnement de l'utilisateur ?</a:t>
            </a:r>
          </a:p>
        </p:txBody>
      </p:sp>
      <p:sp>
        <p:nvSpPr>
          <p:cNvPr id="4" name="Rectangle 3"/>
          <p:cNvSpPr/>
          <p:nvPr/>
        </p:nvSpPr>
        <p:spPr>
          <a:xfrm>
            <a:off x="249382" y="3117273"/>
            <a:ext cx="8589818" cy="31700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r>
              <a:rPr lang="fr-FR" sz="2500" dirty="0">
                <a:solidFill>
                  <a:schemeClr val="tx1"/>
                </a:solidFill>
              </a:rPr>
              <a:t>La solution consiste à créer un volume fractionné.</a:t>
            </a:r>
          </a:p>
          <a:p>
            <a:pPr algn="l">
              <a:buFont typeface="Wingdings" pitchFamily="2" charset="2"/>
              <a:buChar char="q"/>
            </a:pPr>
            <a:r>
              <a:rPr lang="fr-FR" sz="2500" dirty="0">
                <a:solidFill>
                  <a:schemeClr val="tx1"/>
                </a:solidFill>
              </a:rPr>
              <a:t>Convertir le disque de base en disque dynamique.</a:t>
            </a:r>
          </a:p>
          <a:p>
            <a:pPr algn="l">
              <a:buFont typeface="Wingdings" pitchFamily="2" charset="2"/>
              <a:buChar char="q"/>
            </a:pPr>
            <a:r>
              <a:rPr lang="fr-FR" sz="2500" dirty="0">
                <a:solidFill>
                  <a:schemeClr val="tx1"/>
                </a:solidFill>
              </a:rPr>
              <a:t>Installez un disque dur supplémentaire</a:t>
            </a:r>
          </a:p>
          <a:p>
            <a:pPr algn="l">
              <a:buFont typeface="Wingdings" pitchFamily="2" charset="2"/>
              <a:buChar char="q"/>
            </a:pPr>
            <a:r>
              <a:rPr lang="fr-FR" sz="2500" dirty="0">
                <a:solidFill>
                  <a:schemeClr val="tx1"/>
                </a:solidFill>
              </a:rPr>
              <a:t>Convertir ce nouveau disque en disque dynamique</a:t>
            </a:r>
          </a:p>
          <a:p>
            <a:pPr algn="l">
              <a:buFont typeface="Wingdings" pitchFamily="2" charset="2"/>
              <a:buChar char="q"/>
            </a:pPr>
            <a:r>
              <a:rPr lang="fr-FR" sz="2500" dirty="0">
                <a:solidFill>
                  <a:schemeClr val="tx1"/>
                </a:solidFill>
              </a:rPr>
              <a:t>étendre le volume de données de l'utilisateur pour inclure l'espace disponible de ce nouveau disque dynamique.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527048"/>
            <a:ext cx="8503920" cy="4305716"/>
          </a:xfrm>
        </p:spPr>
        <p:txBody>
          <a:bodyPr>
            <a:normAutofit/>
          </a:bodyPr>
          <a:lstStyle/>
          <a:p>
            <a:pPr marL="514350" indent="-514350">
              <a:buClr>
                <a:schemeClr val="tx2"/>
              </a:buClr>
              <a:buFont typeface="+mj-lt"/>
              <a:buAutoNum type="arabicPeriod" startAt="10"/>
            </a:pPr>
            <a:r>
              <a:rPr lang="fr-FR" dirty="0"/>
              <a:t>Utilisez le même scénario de la première question, mais en gardant à l'esprit que le système de l'utilisateur est à présent configuré ainsi :</a:t>
            </a:r>
          </a:p>
          <a:p>
            <a:pPr>
              <a:buNone/>
            </a:pPr>
            <a:r>
              <a:rPr lang="fr-FR" dirty="0"/>
              <a:t>• Un disque de base</a:t>
            </a:r>
          </a:p>
          <a:p>
            <a:pPr>
              <a:buNone/>
            </a:pPr>
            <a:r>
              <a:rPr lang="fr-FR" dirty="0"/>
              <a:t>• Une partition</a:t>
            </a:r>
          </a:p>
          <a:p>
            <a:pPr>
              <a:buNone/>
            </a:pPr>
            <a:r>
              <a:rPr lang="fr-FR" dirty="0"/>
              <a:t>• Système de fichiers NTFS</a:t>
            </a:r>
          </a:p>
          <a:p>
            <a:r>
              <a:rPr lang="fr-FR" dirty="0"/>
              <a:t>Comment allez-vous résoudre le problème décrit dans la première question tout en affectant aussi peu que possible l'environnement de l'utilisateur ?</a:t>
            </a:r>
          </a:p>
        </p:txBody>
      </p:sp>
      <p:sp>
        <p:nvSpPr>
          <p:cNvPr id="4" name="Rectangle 3"/>
          <p:cNvSpPr/>
          <p:nvPr/>
        </p:nvSpPr>
        <p:spPr>
          <a:xfrm>
            <a:off x="304800" y="3840909"/>
            <a:ext cx="8465126" cy="249299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r>
              <a:rPr lang="fr-FR" sz="2600" dirty="0">
                <a:solidFill>
                  <a:schemeClr val="tx1"/>
                </a:solidFill>
              </a:rPr>
              <a:t>Créez un point de montage de volume sur un nouveau disque:</a:t>
            </a:r>
          </a:p>
          <a:p>
            <a:pPr algn="l">
              <a:buFont typeface="Wingdings" pitchFamily="2" charset="2"/>
              <a:buChar char="q"/>
            </a:pPr>
            <a:r>
              <a:rPr lang="fr-FR" sz="2600" dirty="0">
                <a:solidFill>
                  <a:schemeClr val="tx1"/>
                </a:solidFill>
              </a:rPr>
              <a:t>Commencez par installer un disque dur supplémentaire. </a:t>
            </a:r>
          </a:p>
          <a:p>
            <a:pPr algn="l">
              <a:buFont typeface="Wingdings" pitchFamily="2" charset="2"/>
              <a:buChar char="q"/>
            </a:pPr>
            <a:r>
              <a:rPr lang="fr-FR" sz="2600" dirty="0">
                <a:solidFill>
                  <a:schemeClr val="tx1"/>
                </a:solidFill>
              </a:rPr>
              <a:t>Créez un dossier sur le lecteur C et montez cette nouvelle partition sur ce dossier.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527048"/>
            <a:ext cx="8503920" cy="2088988"/>
          </a:xfrm>
        </p:spPr>
        <p:txBody>
          <a:bodyPr>
            <a:normAutofit lnSpcReduction="10000"/>
          </a:bodyPr>
          <a:lstStyle/>
          <a:p>
            <a:pPr marL="514350" indent="-514350">
              <a:buClr>
                <a:schemeClr val="tx2"/>
              </a:buClr>
              <a:buFont typeface="+mj-lt"/>
              <a:buAutoNum type="arabicPeriod" startAt="11"/>
            </a:pPr>
            <a:r>
              <a:rPr lang="fr-FR" dirty="0"/>
              <a:t>Un utilisateur est à cours d'espace disque sur son lecteur C. Vous devez lui fournir un espace de stockage supplémentaire sans modifier ses méthodes de travail. Comment pouvez-vous procéder ?</a:t>
            </a:r>
          </a:p>
        </p:txBody>
      </p:sp>
      <p:sp>
        <p:nvSpPr>
          <p:cNvPr id="4" name="Rectangle 3"/>
          <p:cNvSpPr/>
          <p:nvPr/>
        </p:nvSpPr>
        <p:spPr>
          <a:xfrm>
            <a:off x="540328" y="3646207"/>
            <a:ext cx="8035636" cy="954107"/>
          </a:xfrm>
          <a:prstGeom prst="rect">
            <a:avLst/>
          </a:prstGeom>
        </p:spPr>
        <p:txBody>
          <a:bodyPr wrap="square">
            <a:spAutoFit/>
          </a:bodyPr>
          <a:lstStyle/>
          <a:p>
            <a:pPr algn="l"/>
            <a:r>
              <a:rPr lang="fr-FR" sz="2800" dirty="0">
                <a:solidFill>
                  <a:schemeClr val="tx1"/>
                </a:solidFill>
              </a:rPr>
              <a:t>Vous pouvez créer un point de montage pour le lecteur C sur l'ordinateur de cet utilisateur.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9749</TotalTime>
  <Words>5359</Words>
  <Application>Microsoft Office PowerPoint</Application>
  <PresentationFormat>Affichage à l'écran (4:3)</PresentationFormat>
  <Paragraphs>384</Paragraphs>
  <Slides>36</Slides>
  <Notes>25</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36</vt:i4>
      </vt:variant>
    </vt:vector>
  </HeadingPairs>
  <TitlesOfParts>
    <vt:vector size="44" baseType="lpstr">
      <vt:lpstr>Arial</vt:lpstr>
      <vt:lpstr>Georgia</vt:lpstr>
      <vt:lpstr>Times New Roman</vt:lpstr>
      <vt:lpstr>Arial Narrow</vt:lpstr>
      <vt:lpstr>Wingdings</vt:lpstr>
      <vt:lpstr>Wingdings 2</vt:lpstr>
      <vt:lpstr>Symbol</vt:lpstr>
      <vt:lpstr>Civil</vt:lpstr>
      <vt:lpstr>Chapitre 4  Gestion des disques</vt:lpstr>
      <vt:lpstr>Plan du cours</vt:lpstr>
      <vt:lpstr>1- Le partitionnement des disques sous Windows 7</vt:lpstr>
      <vt:lpstr>Qu’est-ce qu’un disque MBR ? </vt:lpstr>
      <vt:lpstr>Qu’est-ce qu’un disque MBR ? </vt:lpstr>
      <vt:lpstr>Qu’est-ce qu’un disque GPT ?</vt:lpstr>
      <vt:lpstr>Différence entre MBR et GPT</vt:lpstr>
      <vt:lpstr>Les outils de Gestion des disques</vt:lpstr>
      <vt:lpstr>Les outils de Gestion des disques</vt:lpstr>
      <vt:lpstr>Les outils de Gestion des disques</vt:lpstr>
      <vt:lpstr>Les outils de Gestion des disques</vt:lpstr>
      <vt:lpstr>Les outils de Gestion des disques</vt:lpstr>
      <vt:lpstr>Les outils de Gestion des disques</vt:lpstr>
      <vt:lpstr>Les outils de Gestion des disques</vt:lpstr>
      <vt:lpstr>Les outils de Gestion des disques</vt:lpstr>
      <vt:lpstr>2.Utilisation des disques dynamiques</vt:lpstr>
      <vt:lpstr>Conversion d'un disque de base en disque dynamique</vt:lpstr>
      <vt:lpstr>Organisation d'un disque dynamique</vt:lpstr>
      <vt:lpstr>Qu’es-ce qu’un volume simple?</vt:lpstr>
      <vt:lpstr>Que sont les volumes fractionnés et les volumes agrégés par bandes?</vt:lpstr>
      <vt:lpstr>3. Gestion des disques</vt:lpstr>
      <vt:lpstr>Affichage de l'état et des propriétés de disque</vt:lpstr>
      <vt:lpstr>Extension d'un volume ou d'une partition</vt:lpstr>
      <vt:lpstr>Réduction d'un volume ou d'une partition</vt:lpstr>
      <vt:lpstr>Suppression d'un volume ou d'une partition</vt:lpstr>
      <vt:lpstr>Changement d'une lettre de lecteur</vt:lpstr>
      <vt:lpstr>Création d'un point de montage</vt:lpstr>
      <vt:lpstr>4. Défragmentation des disques</vt:lpstr>
      <vt:lpstr>Qu'est-ce que la fragmentation du disque ?</vt:lpstr>
      <vt:lpstr>La défragmentation d’un disque</vt:lpstr>
      <vt:lpstr>Utilisation de l'outil Defrag.exe</vt:lpstr>
      <vt:lpstr>Exercices</vt:lpstr>
      <vt:lpstr>Exercices</vt:lpstr>
      <vt:lpstr>Exercices</vt:lpstr>
      <vt:lpstr>Exercices</vt:lpstr>
      <vt:lpstr>Exercices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dc:title>
  <dc:creator>jimcla</dc:creator>
  <cp:lastModifiedBy>HALIMA.HOUSNY</cp:lastModifiedBy>
  <cp:revision>215</cp:revision>
  <dcterms:created xsi:type="dcterms:W3CDTF">2001-01-31T21:09:50Z</dcterms:created>
  <dcterms:modified xsi:type="dcterms:W3CDTF">2024-11-06T10:21:00Z</dcterms:modified>
</cp:coreProperties>
</file>