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2" r:id="rId1"/>
  </p:sldMasterIdLst>
  <p:notesMasterIdLst>
    <p:notesMasterId r:id="rId29"/>
  </p:notesMasterIdLst>
  <p:sldIdLst>
    <p:sldId id="332" r:id="rId2"/>
    <p:sldId id="333" r:id="rId3"/>
    <p:sldId id="285" r:id="rId4"/>
    <p:sldId id="307" r:id="rId5"/>
    <p:sldId id="286" r:id="rId6"/>
    <p:sldId id="338" r:id="rId7"/>
    <p:sldId id="339" r:id="rId8"/>
    <p:sldId id="328" r:id="rId9"/>
    <p:sldId id="288" r:id="rId10"/>
    <p:sldId id="329" r:id="rId11"/>
    <p:sldId id="309" r:id="rId12"/>
    <p:sldId id="310" r:id="rId13"/>
    <p:sldId id="311" r:id="rId14"/>
    <p:sldId id="312" r:id="rId15"/>
    <p:sldId id="313" r:id="rId16"/>
    <p:sldId id="315" r:id="rId17"/>
    <p:sldId id="316" r:id="rId18"/>
    <p:sldId id="317" r:id="rId19"/>
    <p:sldId id="318" r:id="rId20"/>
    <p:sldId id="319" r:id="rId21"/>
    <p:sldId id="330" r:id="rId22"/>
    <p:sldId id="321" r:id="rId23"/>
    <p:sldId id="322" r:id="rId24"/>
    <p:sldId id="334" r:id="rId25"/>
    <p:sldId id="336" r:id="rId26"/>
    <p:sldId id="337" r:id="rId27"/>
    <p:sldId id="335" r:id="rId28"/>
  </p:sldIdLst>
  <p:sldSz cx="9144000" cy="6858000" type="screen4x3"/>
  <p:notesSz cx="6858000" cy="9144000"/>
  <p:embeddedFontLst>
    <p:embeddedFont>
      <p:font typeface="Arial Narrow" pitchFamily="34" charset="0"/>
      <p:regular r:id="rId30"/>
      <p:bold r:id="rId31"/>
      <p:italic r:id="rId32"/>
      <p:boldItalic r:id="rId33"/>
    </p:embeddedFont>
    <p:embeddedFont>
      <p:font typeface="Georgia" pitchFamily="18" charset="0"/>
      <p:regular r:id="rId34"/>
      <p:bold r:id="rId35"/>
      <p:italic r:id="rId36"/>
      <p:boldItalic r:id="rId37"/>
    </p:embeddedFont>
    <p:embeddedFont>
      <p:font typeface="Wingdings 2" pitchFamily="18" charset="2"/>
      <p:regular r:id="rId38"/>
    </p:embeddedFont>
  </p:embeddedFontLst>
  <p:defaultTextStyle>
    <a:defPPr>
      <a:defRPr lang="en-US"/>
    </a:defPPr>
    <a:lvl1pPr algn="l" rtl="0" eaLnBrk="0" fontAlgn="base" hangingPunct="0">
      <a:spcBef>
        <a:spcPct val="0"/>
      </a:spcBef>
      <a:spcAft>
        <a:spcPct val="0"/>
      </a:spcAft>
      <a:defRPr sz="3000"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3000"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3000"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3000"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3000" kern="1200">
        <a:solidFill>
          <a:schemeClr val="tx1"/>
        </a:solidFill>
        <a:latin typeface="Arial Narrow" pitchFamily="34" charset="0"/>
        <a:ea typeface="+mn-ea"/>
        <a:cs typeface="+mn-cs"/>
      </a:defRPr>
    </a:lvl5pPr>
    <a:lvl6pPr marL="2286000" algn="l" defTabSz="914400" rtl="0" eaLnBrk="1" latinLnBrk="0" hangingPunct="1">
      <a:defRPr sz="3000" kern="1200">
        <a:solidFill>
          <a:schemeClr val="tx1"/>
        </a:solidFill>
        <a:latin typeface="Arial Narrow" pitchFamily="34" charset="0"/>
        <a:ea typeface="+mn-ea"/>
        <a:cs typeface="+mn-cs"/>
      </a:defRPr>
    </a:lvl6pPr>
    <a:lvl7pPr marL="2743200" algn="l" defTabSz="914400" rtl="0" eaLnBrk="1" latinLnBrk="0" hangingPunct="1">
      <a:defRPr sz="3000" kern="1200">
        <a:solidFill>
          <a:schemeClr val="tx1"/>
        </a:solidFill>
        <a:latin typeface="Arial Narrow" pitchFamily="34" charset="0"/>
        <a:ea typeface="+mn-ea"/>
        <a:cs typeface="+mn-cs"/>
      </a:defRPr>
    </a:lvl7pPr>
    <a:lvl8pPr marL="3200400" algn="l" defTabSz="914400" rtl="0" eaLnBrk="1" latinLnBrk="0" hangingPunct="1">
      <a:defRPr sz="3000" kern="1200">
        <a:solidFill>
          <a:schemeClr val="tx1"/>
        </a:solidFill>
        <a:latin typeface="Arial Narrow" pitchFamily="34" charset="0"/>
        <a:ea typeface="+mn-ea"/>
        <a:cs typeface="+mn-cs"/>
      </a:defRPr>
    </a:lvl8pPr>
    <a:lvl9pPr marL="3657600" algn="l" defTabSz="914400" rtl="0" eaLnBrk="1" latinLnBrk="0" hangingPunct="1">
      <a:defRPr sz="3000" kern="1200">
        <a:solidFill>
          <a:schemeClr val="tx1"/>
        </a:solidFill>
        <a:latin typeface="Arial Narrow"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webPr encoding="windows-1252"/>
  <p:clrMru>
    <a:srgbClr val="FBFE76"/>
    <a:srgbClr val="E1F57F"/>
    <a:srgbClr val="F0F4CC"/>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vertBarState="minimized">
    <p:restoredLeft sz="15619" autoAdjust="0"/>
    <p:restoredTop sz="94595" autoAdjust="0"/>
  </p:normalViewPr>
  <p:slideViewPr>
    <p:cSldViewPr snapToGrid="0">
      <p:cViewPr varScale="1">
        <p:scale>
          <a:sx n="59" d="100"/>
          <a:sy n="59" d="100"/>
        </p:scale>
        <p:origin x="-1134" y="-78"/>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Lst>
  </p:outlineViewPr>
  <p:notesTextViewPr>
    <p:cViewPr>
      <p:scale>
        <a:sx n="100" d="100"/>
        <a:sy n="100" d="100"/>
      </p:scale>
      <p:origin x="0" y="0"/>
    </p:cViewPr>
  </p:notesTextViewPr>
  <p:sorterViewPr>
    <p:cViewPr>
      <p:scale>
        <a:sx n="66" d="100"/>
        <a:sy n="66" d="100"/>
      </p:scale>
      <p:origin x="0" y="846"/>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s>
</file>

<file path=ppt/_rels/viewProps.xml.rels><?xml version="1.0" encoding="UTF-8" standalone="yes"?>
<Relationships xmlns="http://schemas.openxmlformats.org/package/2006/relationships"><Relationship Id="rId3" Type="http://schemas.openxmlformats.org/officeDocument/2006/relationships/slide" Target="slides/slide16.xml"/><Relationship Id="rId2" Type="http://schemas.openxmlformats.org/officeDocument/2006/relationships/slide" Target="slides/slide4.xml"/><Relationship Id="rId1" Type="http://schemas.openxmlformats.org/officeDocument/2006/relationships/slide" Target="slides/slide2.xml"/><Relationship Id="rId5" Type="http://schemas.openxmlformats.org/officeDocument/2006/relationships/slide" Target="slides/slide21.xml"/><Relationship Id="rId4"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60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Times New Roman" pitchFamily="18" charset="0"/>
              </a:defRPr>
            </a:lvl1pPr>
          </a:lstStyle>
          <a:p>
            <a:endParaRPr lang="en-US"/>
          </a:p>
        </p:txBody>
      </p:sp>
      <p:sp>
        <p:nvSpPr>
          <p:cNvPr id="8601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pitchFamily="18" charset="0"/>
              </a:defRPr>
            </a:lvl1pPr>
          </a:lstStyle>
          <a:p>
            <a:endParaRPr lang="en-US"/>
          </a:p>
        </p:txBody>
      </p:sp>
      <p:sp>
        <p:nvSpPr>
          <p:cNvPr id="8602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8602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8602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Times New Roman" pitchFamily="18" charset="0"/>
              </a:defRPr>
            </a:lvl1pPr>
          </a:lstStyle>
          <a:p>
            <a:endParaRPr lang="en-US"/>
          </a:p>
        </p:txBody>
      </p:sp>
      <p:sp>
        <p:nvSpPr>
          <p:cNvPr id="8602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pitchFamily="18" charset="0"/>
              </a:defRPr>
            </a:lvl1pPr>
          </a:lstStyle>
          <a:p>
            <a:fld id="{99B7BA45-5568-4C91-93C8-6F6DB91255C7}" type="slidenum">
              <a:rPr lang="en-US"/>
              <a:pPr/>
              <a:t>‹N°›</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mn-ea"/>
        <a:cs typeface="+mn-cs"/>
      </a:defRPr>
    </a:lvl1pPr>
    <a:lvl2pPr marL="457200" algn="l" rtl="0" fontAlgn="base">
      <a:spcBef>
        <a:spcPct val="30000"/>
      </a:spcBef>
      <a:spcAft>
        <a:spcPct val="0"/>
      </a:spcAft>
      <a:defRPr sz="1200" kern="1200">
        <a:solidFill>
          <a:schemeClr val="tx1"/>
        </a:solidFill>
        <a:latin typeface="Times New Roman" pitchFamily="18" charset="0"/>
        <a:ea typeface="+mn-ea"/>
        <a:cs typeface="+mn-cs"/>
      </a:defRPr>
    </a:lvl2pPr>
    <a:lvl3pPr marL="914400" algn="l" rtl="0" fontAlgn="base">
      <a:spcBef>
        <a:spcPct val="30000"/>
      </a:spcBef>
      <a:spcAft>
        <a:spcPct val="0"/>
      </a:spcAft>
      <a:defRPr sz="1200" kern="1200">
        <a:solidFill>
          <a:schemeClr val="tx1"/>
        </a:solidFill>
        <a:latin typeface="Times New Roman" pitchFamily="18" charset="0"/>
        <a:ea typeface="+mn-ea"/>
        <a:cs typeface="+mn-cs"/>
      </a:defRPr>
    </a:lvl3pPr>
    <a:lvl4pPr marL="1371600" algn="l" rtl="0" fontAlgn="base">
      <a:spcBef>
        <a:spcPct val="30000"/>
      </a:spcBef>
      <a:spcAft>
        <a:spcPct val="0"/>
      </a:spcAft>
      <a:defRPr sz="1200" kern="1200">
        <a:solidFill>
          <a:schemeClr val="tx1"/>
        </a:solidFill>
        <a:latin typeface="Times New Roman" pitchFamily="18" charset="0"/>
        <a:ea typeface="+mn-ea"/>
        <a:cs typeface="+mn-cs"/>
      </a:defRPr>
    </a:lvl4pPr>
    <a:lvl5pPr marL="1828800" algn="l" rtl="0" fontAlgn="base">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99B7BA45-5568-4C91-93C8-6F6DB91255C7}" type="slidenum">
              <a:rPr lang="en-US" smtClean="0"/>
              <a:pPr/>
              <a:t>8</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4180631-9926-456D-8E75-B163C95D1562}" type="slidenum">
              <a:rPr lang="en-US"/>
              <a:pPr/>
              <a:t>14</a:t>
            </a:fld>
            <a:endParaRPr lang="en-US"/>
          </a:p>
        </p:txBody>
      </p:sp>
      <p:sp>
        <p:nvSpPr>
          <p:cNvPr id="87042" name="Rectangle 2"/>
          <p:cNvSpPr>
            <a:spLocks noGrp="1" noRot="1" noChangeAspect="1" noChangeArrowheads="1" noTextEdit="1"/>
          </p:cNvSpPr>
          <p:nvPr>
            <p:ph type="sldImg"/>
          </p:nvPr>
        </p:nvSpPr>
        <p:spPr>
          <a:ln/>
        </p:spPr>
      </p:sp>
      <p:sp>
        <p:nvSpPr>
          <p:cNvPr id="87043" name="Rectangle 3"/>
          <p:cNvSpPr>
            <a:spLocks noGrp="1" noChangeArrowheads="1"/>
          </p:cNvSpPr>
          <p:nvPr>
            <p:ph type="body" idx="1"/>
          </p:nvPr>
        </p:nvSpPr>
        <p:spPr/>
        <p:txBody>
          <a:bodyPr/>
          <a:lstStyle/>
          <a:p>
            <a:endParaRPr lang="fr-F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EBF621B-087B-47B0-8163-B086E7ED69FE}" type="slidenum">
              <a:rPr lang="en-US"/>
              <a:pPr/>
              <a:t>22</a:t>
            </a:fld>
            <a:endParaRPr lang="en-US"/>
          </a:p>
        </p:txBody>
      </p:sp>
      <p:sp>
        <p:nvSpPr>
          <p:cNvPr id="90114" name="Rectangle 2"/>
          <p:cNvSpPr>
            <a:spLocks noGrp="1" noRot="1" noChangeAspect="1" noChangeArrowheads="1" noTextEdit="1"/>
          </p:cNvSpPr>
          <p:nvPr>
            <p:ph type="sldImg"/>
          </p:nvPr>
        </p:nvSpPr>
        <p:spPr>
          <a:ln/>
        </p:spPr>
      </p:sp>
      <p:sp>
        <p:nvSpPr>
          <p:cNvPr id="90115" name="Rectangle 3"/>
          <p:cNvSpPr>
            <a:spLocks noGrp="1" noChangeArrowheads="1"/>
          </p:cNvSpPr>
          <p:nvPr>
            <p:ph type="body" idx="1"/>
          </p:nvPr>
        </p:nvSpPr>
        <p:spPr/>
        <p:txBody>
          <a:bodyPr/>
          <a:lstStyle/>
          <a:p>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ous-titr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smtClean="0"/>
              <a:t>Cliquez pour modifier le style des sous-titres du masque</a:t>
            </a:r>
            <a:endParaRPr kumimoji="0" lang="en-US"/>
          </a:p>
        </p:txBody>
      </p:sp>
      <p:sp>
        <p:nvSpPr>
          <p:cNvPr id="28" name="Espace réservé de la date 27"/>
          <p:cNvSpPr>
            <a:spLocks noGrp="1"/>
          </p:cNvSpPr>
          <p:nvPr>
            <p:ph type="dt" sz="half" idx="10"/>
          </p:nvPr>
        </p:nvSpPr>
        <p:spPr/>
        <p:txBody>
          <a:bodyPr/>
          <a:lstStyle/>
          <a:p>
            <a:fld id="{9D21D778-B565-4D7E-94D7-64010A445B68}" type="datetimeFigureOut">
              <a:rPr lang="en-US" smtClean="0"/>
              <a:pPr/>
              <a:t>1/12/2016</a:t>
            </a:fld>
            <a:endParaRPr lang="en-US"/>
          </a:p>
        </p:txBody>
      </p:sp>
      <p:sp>
        <p:nvSpPr>
          <p:cNvPr id="17" name="Espace réservé du pied de page 16"/>
          <p:cNvSpPr>
            <a:spLocks noGrp="1"/>
          </p:cNvSpPr>
          <p:nvPr>
            <p:ph type="ftr" sz="quarter" idx="11"/>
          </p:nvPr>
        </p:nvSpPr>
        <p:spPr/>
        <p:txBody>
          <a:bodyPr/>
          <a:lstStyle/>
          <a:p>
            <a:endParaRPr kumimoji="0" lang="en-US"/>
          </a:p>
        </p:txBody>
      </p:sp>
      <p:sp>
        <p:nvSpPr>
          <p:cNvPr id="7" name="Connecteur droit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Ellipse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Ellipse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Espace réservé du numéro de diapositive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8" name="Titr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0" y="228600"/>
            <a:ext cx="9144000" cy="758952"/>
          </a:xfrm>
        </p:spPr>
        <p:txBody>
          <a:bodyPr/>
          <a:lstStyle>
            <a:lvl1pPr>
              <a:defRPr b="1">
                <a:solidFill>
                  <a:schemeClr val="tx1"/>
                </a:solidFill>
              </a:defRPr>
            </a:lvl1pPr>
          </a:lstStyle>
          <a:p>
            <a:r>
              <a:rPr kumimoji="0" lang="fr-FR" smtClean="0"/>
              <a:t>Cliquez pour modifier le style du titre</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1/12/2016</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a:xfrm>
            <a:off x="4361688" y="1026372"/>
            <a:ext cx="457200" cy="441325"/>
          </a:xfrm>
        </p:spPr>
        <p:txBody>
          <a:bodyPr/>
          <a:lstStyle/>
          <a:p>
            <a:fld id="{2C6B1FF6-39B9-40F5-8B67-33C6354A3D4F}" type="slidenum">
              <a:rPr kumimoji="0" lang="en-US" smtClean="0"/>
              <a:pPr/>
              <a:t>‹N°›</a:t>
            </a:fld>
            <a:endParaRPr kumimoji="0" lang="en-US" dirty="0"/>
          </a:p>
        </p:txBody>
      </p:sp>
      <p:sp>
        <p:nvSpPr>
          <p:cNvPr id="8" name="Espace réservé du contenu 7"/>
          <p:cNvSpPr>
            <a:spLocks noGrp="1"/>
          </p:cNvSpPr>
          <p:nvPr>
            <p:ph sz="quarter" idx="1"/>
          </p:nvPr>
        </p:nvSpPr>
        <p:spPr>
          <a:xfrm>
            <a:off x="301752" y="1527048"/>
            <a:ext cx="8503920" cy="45720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smtClean="0"/>
              <a:t>Cliquez pour modifier les styles du texte du masque</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Espace réservé du pied de page 4"/>
          <p:cNvSpPr>
            <a:spLocks noGrp="1"/>
          </p:cNvSpPr>
          <p:nvPr>
            <p:ph type="ftr" sz="quarter" idx="11"/>
          </p:nvPr>
        </p:nvSpPr>
        <p:spPr/>
        <p:txBody>
          <a:bodyPr/>
          <a:lstStyle/>
          <a:p>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1/12/2016</a:t>
            </a:fld>
            <a:endParaRPr lang="en-US"/>
          </a:p>
        </p:txBody>
      </p:sp>
      <p:sp>
        <p:nvSpPr>
          <p:cNvPr id="8" name="Connecteur droit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llipse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2" name="Titr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301752" y="228600"/>
            <a:ext cx="8534400" cy="758952"/>
          </a:xfrm>
        </p:spPr>
        <p:txBody>
          <a:bodyPr/>
          <a:lstStyle/>
          <a:p>
            <a:r>
              <a:rPr kumimoji="0" lang="fr-FR" smtClean="0"/>
              <a:t>Cliquez pour modifier le style du titre</a:t>
            </a:r>
            <a:endParaRPr kumimoji="0" lang="en-US"/>
          </a:p>
        </p:txBody>
      </p:sp>
      <p:sp>
        <p:nvSpPr>
          <p:cNvPr id="5" name="Espace réservé de la date 4"/>
          <p:cNvSpPr>
            <a:spLocks noGrp="1"/>
          </p:cNvSpPr>
          <p:nvPr>
            <p:ph type="dt" sz="half" idx="10"/>
          </p:nvPr>
        </p:nvSpPr>
        <p:spPr>
          <a:xfrm>
            <a:off x="5791200" y="6409944"/>
            <a:ext cx="3044952" cy="365760"/>
          </a:xfrm>
        </p:spPr>
        <p:txBody>
          <a:bodyPr/>
          <a:lstStyle/>
          <a:p>
            <a:fld id="{9D21D778-B565-4D7E-94D7-64010A445B68}" type="datetimeFigureOut">
              <a:rPr lang="en-US" smtClean="0"/>
              <a:pPr/>
              <a:t>1/12/2016</a:t>
            </a:fld>
            <a:endParaRPr lang="en-US"/>
          </a:p>
        </p:txBody>
      </p:sp>
      <p:sp>
        <p:nvSpPr>
          <p:cNvPr id="6" name="Espace réservé du pied de page 5"/>
          <p:cNvSpPr>
            <a:spLocks noGrp="1"/>
          </p:cNvSpPr>
          <p:nvPr>
            <p:ph type="ftr" sz="quarter" idx="11"/>
          </p:nvPr>
        </p:nvSpPr>
        <p:spPr/>
        <p:txBody>
          <a:bodyPr/>
          <a:lstStyle/>
          <a:p>
            <a:endParaRPr kumimoji="0" lang="en-US" dirty="0"/>
          </a:p>
        </p:txBody>
      </p:sp>
      <p:sp>
        <p:nvSpPr>
          <p:cNvPr id="7" name="Espace réservé du numéro de diapositive 6"/>
          <p:cNvSpPr>
            <a:spLocks noGrp="1"/>
          </p:cNvSpPr>
          <p:nvPr>
            <p:ph type="sldNum" sz="quarter" idx="12"/>
          </p:nvPr>
        </p:nvSpPr>
        <p:spPr/>
        <p:txBody>
          <a:bodyPr/>
          <a:lstStyle/>
          <a:p>
            <a:fld id="{2C6B1FF6-39B9-40F5-8B67-33C6354A3D4F}" type="slidenum">
              <a:rPr kumimoji="0" lang="en-US" smtClean="0"/>
              <a:pPr/>
              <a:t>‹N°›</a:t>
            </a:fld>
            <a:endParaRPr kumimoji="0" lang="en-US"/>
          </a:p>
        </p:txBody>
      </p:sp>
      <p:sp>
        <p:nvSpPr>
          <p:cNvPr id="8" name="Connecteur droit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space réservé du contenu 9"/>
          <p:cNvSpPr>
            <a:spLocks noGrp="1"/>
          </p:cNvSpPr>
          <p:nvPr>
            <p:ph sz="half" idx="1"/>
          </p:nvPr>
        </p:nvSpPr>
        <p:spPr>
          <a:xfrm>
            <a:off x="301752" y="1371600"/>
            <a:ext cx="4038600" cy="4681728"/>
          </a:xfrm>
        </p:spPr>
        <p:txBody>
          <a:bodyPr/>
          <a:lstStyle>
            <a:lvl1pPr>
              <a:defRPr sz="2500"/>
            </a:lvl1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2" name="Espace réservé du contenu 11"/>
          <p:cNvSpPr>
            <a:spLocks noGrp="1"/>
          </p:cNvSpPr>
          <p:nvPr>
            <p:ph sz="half" idx="2"/>
          </p:nvPr>
        </p:nvSpPr>
        <p:spPr>
          <a:xfrm>
            <a:off x="4800600" y="1371600"/>
            <a:ext cx="4038600" cy="4681728"/>
          </a:xfrm>
        </p:spPr>
        <p:txBody>
          <a:bodyPr/>
          <a:lstStyle>
            <a:lvl1pPr>
              <a:defRPr sz="2500"/>
            </a:lvl1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bg>
      <p:bgRef idx="1001">
        <a:schemeClr val="bg2"/>
      </p:bgRef>
    </p:bg>
    <p:spTree>
      <p:nvGrpSpPr>
        <p:cNvPr id="1" name=""/>
        <p:cNvGrpSpPr/>
        <p:nvPr/>
      </p:nvGrpSpPr>
      <p:grpSpPr>
        <a:xfrm>
          <a:off x="0" y="0"/>
          <a:ext cx="0" cy="0"/>
          <a:chOff x="0" y="0"/>
          <a:chExt cx="0" cy="0"/>
        </a:xfrm>
      </p:grpSpPr>
      <p:sp>
        <p:nvSpPr>
          <p:cNvPr id="10" name="Connecteur droit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4" name="Espace réservé du texte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7" name="Espace réservé de la date 6"/>
          <p:cNvSpPr>
            <a:spLocks noGrp="1"/>
          </p:cNvSpPr>
          <p:nvPr>
            <p:ph type="dt" sz="half" idx="10"/>
          </p:nvPr>
        </p:nvSpPr>
        <p:spPr/>
        <p:txBody>
          <a:bodyPr/>
          <a:lstStyle/>
          <a:p>
            <a:fld id="{9D21D778-B565-4D7E-94D7-64010A445B68}" type="datetimeFigureOut">
              <a:rPr lang="en-US" smtClean="0"/>
              <a:pPr/>
              <a:t>1/12/2016</a:t>
            </a:fld>
            <a:endParaRPr lang="en-US"/>
          </a:p>
        </p:txBody>
      </p:sp>
      <p:sp>
        <p:nvSpPr>
          <p:cNvPr id="8" name="Espace réservé du pied de page 7"/>
          <p:cNvSpPr>
            <a:spLocks noGrp="1"/>
          </p:cNvSpPr>
          <p:nvPr>
            <p:ph type="ftr" sz="quarter" idx="11"/>
          </p:nvPr>
        </p:nvSpPr>
        <p:spPr>
          <a:xfrm>
            <a:off x="304800" y="6409944"/>
            <a:ext cx="3581400" cy="365760"/>
          </a:xfrm>
        </p:spPr>
        <p:txBody>
          <a:bodyPr/>
          <a:lstStyle/>
          <a:p>
            <a:endParaRPr kumimoji="0" lang="en-US"/>
          </a:p>
        </p:txBody>
      </p:sp>
      <p:sp>
        <p:nvSpPr>
          <p:cNvPr id="15" name="Connecteur droit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Espace réservé du contenu 23"/>
          <p:cNvSpPr>
            <a:spLocks noGrp="1"/>
          </p:cNvSpPr>
          <p:nvPr>
            <p:ph sz="quarter" idx="2"/>
          </p:nvPr>
        </p:nvSpPr>
        <p:spPr>
          <a:xfrm>
            <a:off x="301752" y="2471383"/>
            <a:ext cx="4041648" cy="3818404"/>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26" name="Espace réservé du contenu 25"/>
          <p:cNvSpPr>
            <a:spLocks noGrp="1"/>
          </p:cNvSpPr>
          <p:nvPr>
            <p:ph sz="quarter" idx="4"/>
          </p:nvPr>
        </p:nvSpPr>
        <p:spPr>
          <a:xfrm>
            <a:off x="4800600" y="2471383"/>
            <a:ext cx="4038600" cy="3822192"/>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25" name="Ellipse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Ellipse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Espace réservé du numéro de diapositive 8"/>
          <p:cNvSpPr>
            <a:spLocks noGrp="1"/>
          </p:cNvSpPr>
          <p:nvPr>
            <p:ph type="sldNum" sz="quarter" idx="12"/>
          </p:nvPr>
        </p:nvSpPr>
        <p:spPr>
          <a:xfrm>
            <a:off x="4343400" y="1042416"/>
            <a:ext cx="457200" cy="441325"/>
          </a:xfrm>
        </p:spPr>
        <p:txBody>
          <a:bodyPr/>
          <a:lstStyle>
            <a:lvl1pPr algn="ctr">
              <a:defRPr/>
            </a:lvl1pPr>
          </a:lstStyle>
          <a:p>
            <a:pPr algn="ctr" eaLnBrk="1" latinLnBrk="0" hangingPunct="1"/>
            <a:fld id="{2C6B1FF6-39B9-40F5-8B67-33C6354A3D4F}" type="slidenum">
              <a:rPr kumimoji="0" lang="en-US" smtClean="0"/>
              <a:pPr algn="ctr" eaLnBrk="1" latinLnBrk="0" hangingPunct="1"/>
              <a:t>‹N°›</a:t>
            </a:fld>
            <a:endParaRPr kumimoji="0" lang="en-US" dirty="0"/>
          </a:p>
        </p:txBody>
      </p:sp>
      <p:sp>
        <p:nvSpPr>
          <p:cNvPr id="23" name="Titre 22"/>
          <p:cNvSpPr>
            <a:spLocks noGrp="1"/>
          </p:cNvSpPr>
          <p:nvPr>
            <p:ph type="title"/>
          </p:nvPr>
        </p:nvSpPr>
        <p:spPr/>
        <p:txBody>
          <a:bodyPr rtlCol="0" anchor="b" anchorCtr="0"/>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e la date 2"/>
          <p:cNvSpPr>
            <a:spLocks noGrp="1"/>
          </p:cNvSpPr>
          <p:nvPr>
            <p:ph type="dt" sz="half" idx="10"/>
          </p:nvPr>
        </p:nvSpPr>
        <p:spPr/>
        <p:txBody>
          <a:bodyPr/>
          <a:lstStyle/>
          <a:p>
            <a:fld id="{9D21D778-B565-4D7E-94D7-64010A445B68}" type="datetimeFigureOut">
              <a:rPr lang="en-US" smtClean="0"/>
              <a:pPr/>
              <a:t>1/12/2016</a:t>
            </a:fld>
            <a:endParaRPr lang="en-US"/>
          </a:p>
        </p:txBody>
      </p:sp>
      <p:sp>
        <p:nvSpPr>
          <p:cNvPr id="4" name="Espace réservé du pied de page 3"/>
          <p:cNvSpPr>
            <a:spLocks noGrp="1"/>
          </p:cNvSpPr>
          <p:nvPr>
            <p:ph type="ftr" sz="quarter" idx="11"/>
          </p:nvPr>
        </p:nvSpPr>
        <p:spPr/>
        <p:txBody>
          <a:bodyPr/>
          <a:lstStyle/>
          <a:p>
            <a:endParaRPr kumimoji="0" lang="en-US" dirty="0"/>
          </a:p>
        </p:txBody>
      </p:sp>
      <p:sp>
        <p:nvSpPr>
          <p:cNvPr id="5" name="Espace réservé du numéro de diapositive 4"/>
          <p:cNvSpPr>
            <a:spLocks noGrp="1"/>
          </p:cNvSpPr>
          <p:nvPr>
            <p:ph type="sldNum" sz="quarter" idx="12"/>
          </p:nvPr>
        </p:nvSpPr>
        <p:spPr>
          <a:xfrm>
            <a:off x="4343400" y="1036020"/>
            <a:ext cx="457200" cy="441325"/>
          </a:xfrm>
        </p:spPr>
        <p:txBody>
          <a:bodyPr/>
          <a:lstStyle/>
          <a:p>
            <a:fld id="{2C6B1FF6-39B9-40F5-8B67-33C6354A3D4F}" type="slidenum">
              <a:rPr kumimoji="0" lang="en-US" smtClean="0"/>
              <a:pPr/>
              <a:t>‹N°›</a:t>
            </a:fld>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Espace réservé de la date 1"/>
          <p:cNvSpPr>
            <a:spLocks noGrp="1"/>
          </p:cNvSpPr>
          <p:nvPr>
            <p:ph type="dt" sz="half" idx="10"/>
          </p:nvPr>
        </p:nvSpPr>
        <p:spPr/>
        <p:txBody>
          <a:bodyPr/>
          <a:lstStyle/>
          <a:p>
            <a:fld id="{9D21D778-B565-4D7E-94D7-64010A445B68}" type="datetimeFigureOut">
              <a:rPr lang="en-US" smtClean="0"/>
              <a:pPr/>
              <a:t>1/12/2016</a:t>
            </a:fld>
            <a:endParaRPr lang="en-US"/>
          </a:p>
        </p:txBody>
      </p:sp>
      <p:sp>
        <p:nvSpPr>
          <p:cNvPr id="3" name="Espace réservé du pied de page 2"/>
          <p:cNvSpPr>
            <a:spLocks noGrp="1"/>
          </p:cNvSpPr>
          <p:nvPr>
            <p:ph type="ftr" sz="quarter" idx="11"/>
          </p:nvPr>
        </p:nvSpPr>
        <p:spPr/>
        <p:txBody>
          <a:bodyPr/>
          <a:lstStyle/>
          <a:p>
            <a:endParaRPr kumimoji="0" lang="en-US"/>
          </a:p>
        </p:txBody>
      </p:sp>
      <p:sp>
        <p:nvSpPr>
          <p:cNvPr id="4" name="Espace réservé du numéro de diapositive 3"/>
          <p:cNvSpPr>
            <a:spLocks noGrp="1"/>
          </p:cNvSpPr>
          <p:nvPr>
            <p:ph type="sldNum" sz="quarter" idx="12"/>
          </p:nvPr>
        </p:nvSpPr>
        <p:spPr>
          <a:xfrm>
            <a:off x="4267200" y="6324600"/>
            <a:ext cx="609600" cy="441324"/>
          </a:xfrm>
        </p:spPr>
        <p:txBody>
          <a:bodyPr/>
          <a:lstStyle>
            <a:lvl1pPr>
              <a:defRPr>
                <a:solidFill>
                  <a:srgbClr val="FFFFFF"/>
                </a:solidFill>
              </a:defRPr>
            </a:lvl1pPr>
          </a:lstStyle>
          <a:p>
            <a:fld id="{2C6B1FF6-39B9-40F5-8B67-33C6354A3D4F}" type="slidenum">
              <a:rPr kumimoji="0" lang="en-US" smtClean="0"/>
              <a:pPr/>
              <a:t>‹N°›</a:t>
            </a:fld>
            <a:endParaRPr kumimoji="0" lang="en-US" dirty="0">
              <a:solidFill>
                <a:srgbClr val="FFFFFF"/>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fr-FR" smtClean="0"/>
              <a:t>Cliquez pour modifier le style du titre</a:t>
            </a:r>
            <a:endParaRPr kumimoji="0" lang="en-US"/>
          </a:p>
        </p:txBody>
      </p:sp>
      <p:sp>
        <p:nvSpPr>
          <p:cNvPr id="3" name="Espace réservé du texte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fr-FR" smtClean="0"/>
              <a:t>Cliquez pour modifier les styles du texte du masque</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Connecteur droit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Espace réservé du contenu 19"/>
          <p:cNvSpPr>
            <a:spLocks noGrp="1"/>
          </p:cNvSpPr>
          <p:nvPr>
            <p:ph sz="quarter" idx="1"/>
          </p:nvPr>
        </p:nvSpPr>
        <p:spPr>
          <a:xfrm>
            <a:off x="3124200" y="685800"/>
            <a:ext cx="5638800" cy="54102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0" name="Ellipse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p:txBody>
          <a:bodyPr/>
          <a:lstStyle/>
          <a:p>
            <a:fld id="{9D21D778-B565-4D7E-94D7-64010A445B68}" type="datetimeFigureOut">
              <a:rPr lang="en-US" smtClean="0"/>
              <a:pPr/>
              <a:t>1/12/2016</a:t>
            </a:fld>
            <a:endParaRPr lang="en-US"/>
          </a:p>
        </p:txBody>
      </p:sp>
      <p:sp>
        <p:nvSpPr>
          <p:cNvPr id="6" name="Espace réservé du pied de page 5"/>
          <p:cNvSpPr>
            <a:spLocks noGrp="1"/>
          </p:cNvSpPr>
          <p:nvPr>
            <p:ph type="ftr" sz="quarter" idx="11"/>
          </p:nvPr>
        </p:nvSpPr>
        <p:spPr>
          <a:xfrm>
            <a:off x="301752" y="6410848"/>
            <a:ext cx="3383280" cy="365760"/>
          </a:xfrm>
        </p:spPr>
        <p:txBody>
          <a:bodyPr/>
          <a:lstStyle/>
          <a:p>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1" name="Connecteur droit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Ellipse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Ellipse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p>
            <a:fld id="{2C6B1FF6-39B9-40F5-8B67-33C6354A3D4F}" type="slidenum">
              <a:rPr kumimoji="0" lang="en-US" smtClean="0"/>
              <a:pPr/>
              <a:t>‹N°›</a:t>
            </a:fld>
            <a:endParaRPr kumimoji="0" lang="en-US" dirty="0"/>
          </a:p>
        </p:txBody>
      </p:sp>
      <p:sp>
        <p:nvSpPr>
          <p:cNvPr id="2" name="Titr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fr-FR" smtClean="0"/>
              <a:t>Cliquez pour modifier le style du titre</a:t>
            </a:r>
            <a:endParaRPr kumimoji="0" lang="en-US"/>
          </a:p>
        </p:txBody>
      </p:sp>
      <p:sp>
        <p:nvSpPr>
          <p:cNvPr id="3" name="Espace réservé pour une image  2"/>
          <p:cNvSpPr>
            <a:spLocks noGrp="1"/>
          </p:cNvSpPr>
          <p:nvPr>
            <p:ph type="pic" idx="1"/>
          </p:nvPr>
        </p:nvSpPr>
        <p:spPr>
          <a:xfrm>
            <a:off x="3000375" y="609600"/>
            <a:ext cx="5867400" cy="4267200"/>
          </a:xfrm>
        </p:spPr>
        <p:txBody>
          <a:bodyPr/>
          <a:lstStyle>
            <a:lvl1pPr marL="0" indent="0">
              <a:buNone/>
              <a:defRPr sz="3200"/>
            </a:lvl1pPr>
          </a:lstStyle>
          <a:p>
            <a:r>
              <a:rPr kumimoji="0" lang="fr-FR" smtClean="0"/>
              <a:t>Cliquez sur l'icône pour ajouter une image</a:t>
            </a:r>
            <a:endParaRPr kumimoji="0" lang="en-US" dirty="0"/>
          </a:p>
        </p:txBody>
      </p:sp>
      <p:sp>
        <p:nvSpPr>
          <p:cNvPr id="4" name="Espace réservé du texte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fr-FR" smtClean="0"/>
              <a:t>Cliquez pour modifier les styles du texte du masque</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a:xfrm>
            <a:off x="5788152" y="6404984"/>
            <a:ext cx="3044952" cy="365760"/>
          </a:xfrm>
        </p:spPr>
        <p:txBody>
          <a:bodyPr/>
          <a:lstStyle/>
          <a:p>
            <a:fld id="{9D21D778-B565-4D7E-94D7-64010A445B68}" type="datetimeFigureOut">
              <a:rPr lang="en-US" smtClean="0"/>
              <a:pPr/>
              <a:t>1/12/2016</a:t>
            </a:fld>
            <a:endParaRPr lang="en-US" dirty="0"/>
          </a:p>
        </p:txBody>
      </p:sp>
      <p:sp>
        <p:nvSpPr>
          <p:cNvPr id="6" name="Espace réservé du pied de page 5"/>
          <p:cNvSpPr>
            <a:spLocks noGrp="1"/>
          </p:cNvSpPr>
          <p:nvPr>
            <p:ph type="ftr" sz="quarter" idx="11"/>
          </p:nvPr>
        </p:nvSpPr>
        <p:spPr>
          <a:xfrm>
            <a:off x="301752" y="6410848"/>
            <a:ext cx="3584448" cy="365760"/>
          </a:xfrm>
        </p:spPr>
        <p:txBody>
          <a:bodyPr/>
          <a:lstStyle/>
          <a:p>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1/12/2016</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p:txBody>
          <a:bodyPr/>
          <a:lstStyle/>
          <a:p>
            <a:fld id="{2C6B1FF6-39B9-40F5-8B67-33C6354A3D4F}" type="slidenum">
              <a:rPr kumimoji="0" lang="en-US" smtClean="0"/>
              <a:pPr/>
              <a:t>‹N°›</a:t>
            </a:fld>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Connecteur droit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Ellipse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6915912" y="3009901"/>
            <a:ext cx="457200" cy="441325"/>
          </a:xfrm>
        </p:spPr>
        <p:txBody>
          <a:bodyPr/>
          <a:lstStyle/>
          <a:p>
            <a:fld id="{2C6B1FF6-39B9-40F5-8B67-33C6354A3D4F}" type="slidenum">
              <a:rPr kumimoji="0" lang="en-US" smtClean="0"/>
              <a:pPr/>
              <a:t>‹N°›</a:t>
            </a:fld>
            <a:endParaRPr kumimoji="0" lang="en-US" dirty="0"/>
          </a:p>
        </p:txBody>
      </p:sp>
      <p:sp>
        <p:nvSpPr>
          <p:cNvPr id="3" name="Espace réservé du texte vertical 2"/>
          <p:cNvSpPr>
            <a:spLocks noGrp="1"/>
          </p:cNvSpPr>
          <p:nvPr>
            <p:ph type="body" orient="vert" idx="1"/>
          </p:nvPr>
        </p:nvSpPr>
        <p:spPr>
          <a:xfrm>
            <a:off x="304800" y="304800"/>
            <a:ext cx="6553200" cy="5821366"/>
          </a:xfrm>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1/12/2016</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2" name="Titre vertical 1"/>
          <p:cNvSpPr>
            <a:spLocks noGrp="1"/>
          </p:cNvSpPr>
          <p:nvPr>
            <p:ph type="title" orient="vert"/>
          </p:nvPr>
        </p:nvSpPr>
        <p:spPr>
          <a:xfrm>
            <a:off x="7391400" y="304801"/>
            <a:ext cx="1447800" cy="5851525"/>
          </a:xfrm>
        </p:spPr>
        <p:txBody>
          <a:bodyPr vert="eaVert"/>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Espace réservé de la date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pPr algn="r" eaLnBrk="1" latinLnBrk="0" hangingPunct="1"/>
            <a:fld id="{9D21D778-B565-4D7E-94D7-64010A445B68}" type="datetimeFigureOut">
              <a:rPr lang="en-US" smtClean="0"/>
              <a:pPr algn="r" eaLnBrk="1" latinLnBrk="0" hangingPunct="1"/>
              <a:t>1/12/2016</a:t>
            </a:fld>
            <a:endParaRPr lang="en-US" sz="1400" dirty="0">
              <a:solidFill>
                <a:srgbClr val="FFFFFF"/>
              </a:solidFill>
            </a:endParaRPr>
          </a:p>
        </p:txBody>
      </p:sp>
      <p:sp>
        <p:nvSpPr>
          <p:cNvPr id="3" name="Espace réservé du pied de page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pPr algn="l" eaLnBrk="1" latinLnBrk="0" hangingPunct="1"/>
            <a:endParaRPr kumimoji="0" lang="en-US" dirty="0">
              <a:solidFill>
                <a:srgbClr val="FFFFFF"/>
              </a:solidFill>
            </a:endParaRPr>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Connecteur droit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Ellipse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Espace réservé du numéro de diapositive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pPr algn="ctr" eaLnBrk="1" latinLnBrk="0" hangingPunct="1"/>
            <a:fld id="{2C6B1FF6-39B9-40F5-8B67-33C6354A3D4F}" type="slidenum">
              <a:rPr kumimoji="0" lang="en-US" smtClean="0"/>
              <a:pPr algn="ctr" eaLnBrk="1" latinLnBrk="0" hangingPunct="1"/>
              <a:t>‹N°›</a:t>
            </a:fld>
            <a:endParaRPr kumimoji="0" lang="en-US" sz="1600" dirty="0">
              <a:solidFill>
                <a:schemeClr val="accent3">
                  <a:shade val="75000"/>
                </a:schemeClr>
              </a:solidFill>
            </a:endParaRPr>
          </a:p>
        </p:txBody>
      </p:sp>
      <p:sp>
        <p:nvSpPr>
          <p:cNvPr id="22" name="Espace réservé du titre 21"/>
          <p:cNvSpPr>
            <a:spLocks noGrp="1"/>
          </p:cNvSpPr>
          <p:nvPr>
            <p:ph type="title"/>
          </p:nvPr>
        </p:nvSpPr>
        <p:spPr>
          <a:xfrm>
            <a:off x="301752" y="228600"/>
            <a:ext cx="8534400" cy="758952"/>
          </a:xfrm>
          <a:prstGeom prst="rect">
            <a:avLst/>
          </a:prstGeom>
        </p:spPr>
        <p:txBody>
          <a:bodyPr vert="horz" anchor="b">
            <a:normAutofit/>
          </a:bodyPr>
          <a:lstStyle/>
          <a:p>
            <a:r>
              <a:rPr kumimoji="0" lang="fr-FR" smtClean="0"/>
              <a:t>Cliquez pour modifier le style du titre</a:t>
            </a:r>
            <a:endParaRPr kumimoji="0" lang="en-US"/>
          </a:p>
        </p:txBody>
      </p:sp>
      <p:sp>
        <p:nvSpPr>
          <p:cNvPr id="13" name="Espace réservé du texte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717868" y="2042160"/>
            <a:ext cx="8075612" cy="3124200"/>
          </a:xfrm>
          <a:noFill/>
          <a:ln/>
        </p:spPr>
        <p:txBody>
          <a:bodyPr lIns="90488" tIns="44450" rIns="90488" bIns="44450"/>
          <a:lstStyle/>
          <a:p>
            <a:pPr algn="ctr">
              <a:lnSpc>
                <a:spcPct val="95000"/>
              </a:lnSpc>
            </a:pPr>
            <a:r>
              <a:rPr lang="fr-FR" sz="5000" b="1" dirty="0" smtClean="0">
                <a:solidFill>
                  <a:schemeClr val="tx1"/>
                </a:solidFill>
                <a:latin typeface="Times New Roman" pitchFamily="18" charset="0"/>
              </a:rPr>
              <a:t>Chapitre10</a:t>
            </a:r>
            <a:r>
              <a:rPr lang="fr-FR" sz="5000" b="1" dirty="0">
                <a:solidFill>
                  <a:schemeClr val="tx1"/>
                </a:solidFill>
                <a:latin typeface="Times New Roman" pitchFamily="18" charset="0"/>
              </a:rPr>
              <a:t> </a:t>
            </a:r>
            <a:r>
              <a:rPr lang="fr-FR" sz="5000" b="1" dirty="0" smtClean="0">
                <a:solidFill>
                  <a:schemeClr val="tx1"/>
                </a:solidFill>
                <a:latin typeface="Times New Roman" pitchFamily="18" charset="0"/>
              </a:rPr>
              <a:t/>
            </a:r>
            <a:br>
              <a:rPr lang="fr-FR" sz="5000" b="1" dirty="0" smtClean="0">
                <a:solidFill>
                  <a:schemeClr val="tx1"/>
                </a:solidFill>
                <a:latin typeface="Times New Roman" pitchFamily="18" charset="0"/>
              </a:rPr>
            </a:br>
            <a:r>
              <a:rPr lang="fr-FR" sz="5000" b="1" dirty="0" smtClean="0">
                <a:solidFill>
                  <a:schemeClr val="tx1"/>
                </a:solidFill>
                <a:latin typeface="Times New Roman" pitchFamily="18" charset="0"/>
              </a:rPr>
              <a:t> </a:t>
            </a:r>
            <a:r>
              <a:rPr lang="fr-FR" sz="5000" b="1" dirty="0">
                <a:solidFill>
                  <a:schemeClr val="tx1"/>
                </a:solidFill>
                <a:latin typeface="Times New Roman" pitchFamily="18" charset="0"/>
              </a:rPr>
              <a:t>Prise en charge des utilisateurs distants </a:t>
            </a:r>
            <a:endParaRPr lang="en-US" sz="5000" b="1" dirty="0">
              <a:solidFill>
                <a:schemeClr val="tx1"/>
              </a:solidFill>
              <a:latin typeface="Times New Roman" pitchFamily="18" charset="0"/>
            </a:endParaRPr>
          </a:p>
        </p:txBody>
      </p:sp>
      <p:sp>
        <p:nvSpPr>
          <p:cNvPr id="3" name="Rectangle 2"/>
          <p:cNvSpPr/>
          <p:nvPr/>
        </p:nvSpPr>
        <p:spPr>
          <a:xfrm>
            <a:off x="2149230" y="225773"/>
            <a:ext cx="4815450" cy="830997"/>
          </a:xfrm>
          <a:prstGeom prst="rect">
            <a:avLst/>
          </a:prstGeom>
        </p:spPr>
        <p:txBody>
          <a:bodyPr wrap="square">
            <a:spAutoFit/>
          </a:bodyPr>
          <a:lstStyle/>
          <a:p>
            <a:pPr algn="ctr"/>
            <a:r>
              <a:rPr lang="fr-FR" sz="4800" b="1" dirty="0" smtClean="0">
                <a:latin typeface="Times New Roman" pitchFamily="18" charset="0"/>
              </a:rPr>
              <a:t>Module S41</a:t>
            </a:r>
            <a:endParaRPr lang="fr-FR" sz="4800" b="1" dirty="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8" name="Rectangle 4"/>
          <p:cNvSpPr>
            <a:spLocks noGrp="1" noChangeArrowheads="1"/>
          </p:cNvSpPr>
          <p:nvPr>
            <p:ph type="title"/>
          </p:nvPr>
        </p:nvSpPr>
        <p:spPr/>
        <p:txBody>
          <a:bodyPr/>
          <a:lstStyle/>
          <a:p>
            <a:r>
              <a:rPr lang="fr-FR" dirty="0" smtClean="0"/>
              <a:t>Plan du cours</a:t>
            </a:r>
            <a:endParaRPr lang="en-US" dirty="0"/>
          </a:p>
        </p:txBody>
      </p:sp>
      <p:sp>
        <p:nvSpPr>
          <p:cNvPr id="98309" name="Rectangle 5"/>
          <p:cNvSpPr>
            <a:spLocks noGrp="1" noChangeArrowheads="1"/>
          </p:cNvSpPr>
          <p:nvPr>
            <p:ph sz="quarter" idx="1"/>
          </p:nvPr>
        </p:nvSpPr>
        <p:spPr>
          <a:xfrm>
            <a:off x="301752" y="2182368"/>
            <a:ext cx="8503920" cy="3243072"/>
          </a:xfrm>
        </p:spPr>
        <p:txBody>
          <a:bodyPr/>
          <a:lstStyle/>
          <a:p>
            <a:pPr marL="514350" indent="-514350">
              <a:buClrTx/>
              <a:buFont typeface="+mj-lt"/>
              <a:buAutoNum type="arabicPeriod"/>
            </a:pPr>
            <a:r>
              <a:rPr lang="fr-FR" dirty="0">
                <a:cs typeface="Times New Roman" pitchFamily="18" charset="0"/>
              </a:rPr>
              <a:t>Établissement de connexions d'accès distant</a:t>
            </a:r>
            <a:r>
              <a:rPr lang="fr-FR" dirty="0"/>
              <a:t> </a:t>
            </a:r>
            <a:endParaRPr lang="en-US" dirty="0"/>
          </a:p>
          <a:p>
            <a:pPr marL="514350" indent="-514350">
              <a:buClrTx/>
              <a:buFont typeface="+mj-lt"/>
              <a:buAutoNum type="arabicPeriod"/>
            </a:pPr>
            <a:r>
              <a:rPr lang="fr-FR" dirty="0">
                <a:cs typeface="Times New Roman" pitchFamily="18" charset="0"/>
              </a:rPr>
              <a:t>Connexion aux réseaux privés virtuels</a:t>
            </a:r>
            <a:r>
              <a:rPr lang="fr-FR" dirty="0"/>
              <a:t> </a:t>
            </a:r>
            <a:endParaRPr lang="en-US" dirty="0"/>
          </a:p>
          <a:p>
            <a:pPr marL="514350" indent="-514350">
              <a:buClrTx/>
              <a:buFont typeface="+mj-lt"/>
              <a:buAutoNum type="arabicPeriod"/>
            </a:pPr>
            <a:r>
              <a:rPr lang="fr-FR" dirty="0" smtClean="0">
                <a:cs typeface="Times New Roman" pitchFamily="18" charset="0"/>
              </a:rPr>
              <a:t>Configuration </a:t>
            </a:r>
            <a:r>
              <a:rPr lang="fr-FR" dirty="0">
                <a:cs typeface="Times New Roman" pitchFamily="18" charset="0"/>
              </a:rPr>
              <a:t>des protocoles d'authentification </a:t>
            </a:r>
            <a:br>
              <a:rPr lang="fr-FR" dirty="0">
                <a:cs typeface="Times New Roman" pitchFamily="18" charset="0"/>
              </a:rPr>
            </a:br>
            <a:r>
              <a:rPr lang="fr-FR" dirty="0">
                <a:cs typeface="Times New Roman" pitchFamily="18" charset="0"/>
              </a:rPr>
              <a:t>et du cryptage</a:t>
            </a:r>
            <a:r>
              <a:rPr lang="fr-FR" dirty="0"/>
              <a:t> </a:t>
            </a:r>
            <a:endParaRPr lang="en-US" dirty="0"/>
          </a:p>
          <a:p>
            <a:pPr marL="514350" indent="-514350">
              <a:buClrTx/>
              <a:buFont typeface="+mj-lt"/>
              <a:buAutoNum type="arabicPeriod"/>
            </a:pPr>
            <a:r>
              <a:rPr lang="fr-FR" dirty="0">
                <a:cs typeface="Times New Roman" pitchFamily="18" charset="0"/>
              </a:rPr>
              <a:t>Utilisation du Bureau à distance</a:t>
            </a:r>
            <a:r>
              <a:rPr lang="fr-FR" dirty="0"/>
              <a:t> </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4"/>
          <p:cNvSpPr>
            <a:spLocks noGrp="1" noChangeArrowheads="1"/>
          </p:cNvSpPr>
          <p:nvPr>
            <p:ph type="title"/>
          </p:nvPr>
        </p:nvSpPr>
        <p:spPr>
          <a:xfrm>
            <a:off x="0" y="350520"/>
            <a:ext cx="9144000" cy="758952"/>
          </a:xfrm>
        </p:spPr>
        <p:txBody>
          <a:bodyPr>
            <a:normAutofit fontScale="90000"/>
          </a:bodyPr>
          <a:lstStyle/>
          <a:p>
            <a:pPr marL="439738" indent="-439738"/>
            <a:r>
              <a:rPr lang="fr-FR" dirty="0" smtClean="0">
                <a:cs typeface="Times New Roman" pitchFamily="18" charset="0"/>
              </a:rPr>
              <a:t>1. Établissement </a:t>
            </a:r>
            <a:r>
              <a:rPr lang="fr-FR" dirty="0">
                <a:cs typeface="Times New Roman" pitchFamily="18" charset="0"/>
              </a:rPr>
              <a:t>de connexions d'accès distant</a:t>
            </a:r>
            <a:endParaRPr lang="en-US" dirty="0">
              <a:cs typeface="Times New Roman" pitchFamily="18" charset="0"/>
            </a:endParaRPr>
          </a:p>
        </p:txBody>
      </p:sp>
      <p:sp>
        <p:nvSpPr>
          <p:cNvPr id="34821" name="Rectangle 5"/>
          <p:cNvSpPr>
            <a:spLocks noGrp="1" noChangeArrowheads="1"/>
          </p:cNvSpPr>
          <p:nvPr>
            <p:ph sz="quarter" idx="1"/>
          </p:nvPr>
        </p:nvSpPr>
        <p:spPr/>
        <p:txBody>
          <a:bodyPr/>
          <a:lstStyle/>
          <a:p>
            <a:pPr marL="514350" indent="-514350">
              <a:buClr>
                <a:schemeClr val="tx1"/>
              </a:buClr>
              <a:buFont typeface="Wingdings" pitchFamily="2" charset="2"/>
              <a:buChar char="Ø"/>
            </a:pPr>
            <a:r>
              <a:rPr lang="fr-FR" dirty="0"/>
              <a:t>Établissement de connexions sortantes </a:t>
            </a:r>
            <a:endParaRPr lang="en-US" dirty="0"/>
          </a:p>
          <a:p>
            <a:pPr marL="514350" indent="-514350">
              <a:buClr>
                <a:schemeClr val="tx1"/>
              </a:buClr>
              <a:buFont typeface="Wingdings" pitchFamily="2" charset="2"/>
              <a:buChar char="Ø"/>
            </a:pPr>
            <a:r>
              <a:rPr lang="fr-FR" dirty="0"/>
              <a:t>Examen des options matérielles </a:t>
            </a:r>
            <a:endParaRPr lang="en-US" dirty="0"/>
          </a:p>
          <a:p>
            <a:pPr marL="514350" indent="-514350">
              <a:buClr>
                <a:schemeClr val="tx1"/>
              </a:buClr>
              <a:buFont typeface="Wingdings" pitchFamily="2" charset="2"/>
              <a:buChar char="Ø"/>
            </a:pPr>
            <a:r>
              <a:rPr lang="fr-FR" dirty="0"/>
              <a:t>Création d'une connexion directe par câble </a:t>
            </a:r>
            <a:endParaRPr lang="en-US" dirty="0"/>
          </a:p>
          <a:p>
            <a:pPr marL="514350" indent="-514350">
              <a:buClr>
                <a:schemeClr val="tx1"/>
              </a:buClr>
              <a:buFont typeface="Wingdings" pitchFamily="2" charset="2"/>
              <a:buChar char="Ø"/>
            </a:pPr>
            <a:r>
              <a:rPr lang="fr-FR" dirty="0"/>
              <a:t>Création de connexions d'accès à distance et large bande </a:t>
            </a:r>
            <a:endParaRPr lang="en-US" dirty="0"/>
          </a:p>
          <a:p>
            <a:pPr marL="514350" indent="-514350">
              <a:buClr>
                <a:schemeClr val="tx1"/>
              </a:buClr>
              <a:buFont typeface="Wingdings" pitchFamily="2" charset="2"/>
              <a:buChar char="Ø"/>
            </a:pPr>
            <a:r>
              <a:rPr lang="fr-FR" dirty="0"/>
              <a:t>Établissement d'une session d'accès distant </a:t>
            </a:r>
            <a:endParaRPr lang="en-US" dirty="0"/>
          </a:p>
          <a:p>
            <a:pPr marL="514350" indent="-514350">
              <a:buClr>
                <a:schemeClr val="tx1"/>
              </a:buClr>
              <a:buFont typeface="Wingdings" pitchFamily="2" charset="2"/>
              <a:buChar char="Ø"/>
            </a:pPr>
            <a:r>
              <a:rPr lang="fr-FR" dirty="0"/>
              <a:t>Étude des protocoles de transport de données </a:t>
            </a:r>
            <a:endParaRPr lang="en-US" dirty="0"/>
          </a:p>
          <a:p>
            <a:pPr marL="514350" indent="-514350">
              <a:buClr>
                <a:schemeClr val="tx1"/>
              </a:buClr>
              <a:buFont typeface="Wingdings" pitchFamily="2" charset="2"/>
              <a:buChar char="Ø"/>
            </a:pPr>
            <a:r>
              <a:rPr lang="fr-FR" dirty="0"/>
              <a:t>Configuration de connexions à liaisons multiples </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2" name="Rectangle 4"/>
          <p:cNvSpPr>
            <a:spLocks noGrp="1" noChangeArrowheads="1"/>
          </p:cNvSpPr>
          <p:nvPr>
            <p:ph type="title"/>
          </p:nvPr>
        </p:nvSpPr>
        <p:spPr/>
        <p:txBody>
          <a:bodyPr>
            <a:normAutofit/>
          </a:bodyPr>
          <a:lstStyle/>
          <a:p>
            <a:r>
              <a:rPr lang="fr-FR" dirty="0">
                <a:solidFill>
                  <a:srgbClr val="C00000"/>
                </a:solidFill>
              </a:rPr>
              <a:t>Établissement de connexions sortantes</a:t>
            </a:r>
            <a:endParaRPr lang="en-US" dirty="0">
              <a:solidFill>
                <a:srgbClr val="C00000"/>
              </a:solidFill>
            </a:endParaRPr>
          </a:p>
        </p:txBody>
      </p:sp>
      <p:sp>
        <p:nvSpPr>
          <p:cNvPr id="58373" name="Rectangle 5"/>
          <p:cNvSpPr>
            <a:spLocks noGrp="1" noChangeArrowheads="1"/>
          </p:cNvSpPr>
          <p:nvPr>
            <p:ph sz="quarter" idx="1"/>
          </p:nvPr>
        </p:nvSpPr>
        <p:spPr>
          <a:xfrm>
            <a:off x="347472" y="1801368"/>
            <a:ext cx="8503920" cy="3822192"/>
          </a:xfrm>
        </p:spPr>
        <p:txBody>
          <a:bodyPr/>
          <a:lstStyle/>
          <a:p>
            <a:pPr>
              <a:buClrTx/>
              <a:buFont typeface="Wingdings" pitchFamily="2" charset="2"/>
              <a:buChar char="Ø"/>
            </a:pPr>
            <a:r>
              <a:rPr lang="en-US" dirty="0" err="1"/>
              <a:t>Connexions</a:t>
            </a:r>
            <a:r>
              <a:rPr lang="en-US" dirty="0"/>
              <a:t> Internet</a:t>
            </a:r>
          </a:p>
          <a:p>
            <a:pPr lvl="1"/>
            <a:r>
              <a:rPr lang="en-US" b="1" dirty="0" err="1">
                <a:solidFill>
                  <a:srgbClr val="002060"/>
                </a:solidFill>
              </a:rPr>
              <a:t>Connexions</a:t>
            </a:r>
            <a:r>
              <a:rPr lang="en-US" b="1" dirty="0">
                <a:solidFill>
                  <a:srgbClr val="002060"/>
                </a:solidFill>
              </a:rPr>
              <a:t> </a:t>
            </a:r>
            <a:r>
              <a:rPr lang="en-US" b="1" dirty="0" err="1">
                <a:solidFill>
                  <a:srgbClr val="002060"/>
                </a:solidFill>
              </a:rPr>
              <a:t>d'accès</a:t>
            </a:r>
            <a:r>
              <a:rPr lang="en-US" b="1" dirty="0">
                <a:solidFill>
                  <a:srgbClr val="002060"/>
                </a:solidFill>
              </a:rPr>
              <a:t> à distance et large </a:t>
            </a:r>
            <a:r>
              <a:rPr lang="en-US" b="1" dirty="0" err="1">
                <a:solidFill>
                  <a:srgbClr val="002060"/>
                </a:solidFill>
              </a:rPr>
              <a:t>bande</a:t>
            </a:r>
            <a:r>
              <a:rPr lang="en-US" b="1" dirty="0">
                <a:solidFill>
                  <a:srgbClr val="002060"/>
                </a:solidFill>
              </a:rPr>
              <a:t> </a:t>
            </a:r>
            <a:r>
              <a:rPr lang="en-US" b="1" dirty="0" err="1">
                <a:solidFill>
                  <a:srgbClr val="002060"/>
                </a:solidFill>
              </a:rPr>
              <a:t>utilisant</a:t>
            </a:r>
            <a:r>
              <a:rPr lang="en-US" b="1" dirty="0">
                <a:solidFill>
                  <a:srgbClr val="002060"/>
                </a:solidFill>
              </a:rPr>
              <a:t> un modem, </a:t>
            </a:r>
            <a:r>
              <a:rPr lang="en-US" b="1" dirty="0" err="1">
                <a:solidFill>
                  <a:srgbClr val="002060"/>
                </a:solidFill>
              </a:rPr>
              <a:t>une</a:t>
            </a:r>
            <a:r>
              <a:rPr lang="en-US" b="1" dirty="0">
                <a:solidFill>
                  <a:srgbClr val="002060"/>
                </a:solidFill>
              </a:rPr>
              <a:t> </a:t>
            </a:r>
            <a:r>
              <a:rPr lang="en-US" b="1" dirty="0" err="1">
                <a:solidFill>
                  <a:srgbClr val="002060"/>
                </a:solidFill>
              </a:rPr>
              <a:t>ligne</a:t>
            </a:r>
            <a:r>
              <a:rPr lang="en-US" b="1" dirty="0">
                <a:solidFill>
                  <a:srgbClr val="002060"/>
                </a:solidFill>
              </a:rPr>
              <a:t> RNIS, un modem </a:t>
            </a:r>
            <a:r>
              <a:rPr lang="en-US" b="1" dirty="0" err="1">
                <a:solidFill>
                  <a:srgbClr val="002060"/>
                </a:solidFill>
              </a:rPr>
              <a:t>câble</a:t>
            </a:r>
            <a:r>
              <a:rPr lang="en-US" b="1" dirty="0">
                <a:solidFill>
                  <a:srgbClr val="002060"/>
                </a:solidFill>
              </a:rPr>
              <a:t> </a:t>
            </a:r>
            <a:r>
              <a:rPr lang="en-US" b="1" dirty="0" err="1">
                <a:solidFill>
                  <a:srgbClr val="002060"/>
                </a:solidFill>
              </a:rPr>
              <a:t>ou</a:t>
            </a:r>
            <a:r>
              <a:rPr lang="en-US" b="1" dirty="0">
                <a:solidFill>
                  <a:srgbClr val="002060"/>
                </a:solidFill>
              </a:rPr>
              <a:t> un modem DSL</a:t>
            </a:r>
          </a:p>
          <a:p>
            <a:pPr>
              <a:buClrTx/>
              <a:buFont typeface="Wingdings" pitchFamily="2" charset="2"/>
              <a:buChar char="Ø"/>
            </a:pPr>
            <a:r>
              <a:rPr lang="fr-FR" dirty="0"/>
              <a:t>Connexions à des réseaux privés </a:t>
            </a:r>
            <a:r>
              <a:rPr lang="en-US" dirty="0"/>
              <a:t> </a:t>
            </a:r>
          </a:p>
          <a:p>
            <a:pPr lvl="1"/>
            <a:r>
              <a:rPr lang="en-US" b="1" dirty="0" err="1">
                <a:solidFill>
                  <a:srgbClr val="002060"/>
                </a:solidFill>
              </a:rPr>
              <a:t>Connexions</a:t>
            </a:r>
            <a:r>
              <a:rPr lang="en-US" b="1" dirty="0">
                <a:solidFill>
                  <a:srgbClr val="002060"/>
                </a:solidFill>
              </a:rPr>
              <a:t> </a:t>
            </a:r>
            <a:r>
              <a:rPr lang="en-US" b="1" dirty="0" err="1">
                <a:solidFill>
                  <a:srgbClr val="002060"/>
                </a:solidFill>
              </a:rPr>
              <a:t>d'accès</a:t>
            </a:r>
            <a:r>
              <a:rPr lang="en-US" b="1" dirty="0">
                <a:solidFill>
                  <a:srgbClr val="002060"/>
                </a:solidFill>
              </a:rPr>
              <a:t> à distance </a:t>
            </a:r>
            <a:r>
              <a:rPr lang="en-US" b="1" dirty="0" err="1">
                <a:solidFill>
                  <a:srgbClr val="002060"/>
                </a:solidFill>
              </a:rPr>
              <a:t>ou</a:t>
            </a:r>
            <a:r>
              <a:rPr lang="en-US" b="1" dirty="0">
                <a:solidFill>
                  <a:srgbClr val="002060"/>
                </a:solidFill>
              </a:rPr>
              <a:t> VPN</a:t>
            </a:r>
          </a:p>
          <a:p>
            <a:pPr>
              <a:buClrTx/>
              <a:buFont typeface="Wingdings" pitchFamily="2" charset="2"/>
              <a:buChar char="Ø"/>
            </a:pPr>
            <a:r>
              <a:rPr lang="fr-FR" dirty="0"/>
              <a:t>Connexions avancées </a:t>
            </a:r>
            <a:endParaRPr lang="en-US" dirty="0"/>
          </a:p>
          <a:p>
            <a:pPr lvl="1"/>
            <a:r>
              <a:rPr lang="en-US" b="1" dirty="0" err="1">
                <a:solidFill>
                  <a:srgbClr val="002060"/>
                </a:solidFill>
              </a:rPr>
              <a:t>Connexions</a:t>
            </a:r>
            <a:r>
              <a:rPr lang="en-US" b="1" dirty="0">
                <a:solidFill>
                  <a:srgbClr val="002060"/>
                </a:solidFill>
              </a:rPr>
              <a:t> </a:t>
            </a:r>
            <a:r>
              <a:rPr lang="en-US" b="1" dirty="0" err="1">
                <a:solidFill>
                  <a:srgbClr val="002060"/>
                </a:solidFill>
              </a:rPr>
              <a:t>directes</a:t>
            </a:r>
            <a:r>
              <a:rPr lang="en-US" b="1" dirty="0">
                <a:solidFill>
                  <a:srgbClr val="002060"/>
                </a:solidFill>
              </a:rPr>
              <a:t> par </a:t>
            </a:r>
            <a:r>
              <a:rPr lang="en-US" b="1" dirty="0" err="1">
                <a:solidFill>
                  <a:srgbClr val="002060"/>
                </a:solidFill>
              </a:rPr>
              <a:t>câble</a:t>
            </a:r>
            <a:endParaRPr lang="en-US" b="1" dirty="0">
              <a:solidFill>
                <a:srgbClr val="002060"/>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vert="horz" anchor="b">
            <a:normAutofit/>
          </a:bodyPr>
          <a:lstStyle/>
          <a:p>
            <a:r>
              <a:rPr lang="fr-FR" dirty="0">
                <a:solidFill>
                  <a:srgbClr val="C00000"/>
                </a:solidFill>
              </a:rPr>
              <a:t>Examen des options matérielles</a:t>
            </a:r>
            <a:endParaRPr lang="en-US" dirty="0">
              <a:solidFill>
                <a:srgbClr val="C00000"/>
              </a:solidFill>
            </a:endParaRPr>
          </a:p>
        </p:txBody>
      </p:sp>
      <p:sp>
        <p:nvSpPr>
          <p:cNvPr id="35844" name="Rectangle 4"/>
          <p:cNvSpPr>
            <a:spLocks noChangeArrowheads="1"/>
          </p:cNvSpPr>
          <p:nvPr/>
        </p:nvSpPr>
        <p:spPr bwMode="auto">
          <a:xfrm>
            <a:off x="365760" y="1193482"/>
            <a:ext cx="8473439" cy="5207317"/>
          </a:xfrm>
          <a:prstGeom prst="rect">
            <a:avLst/>
          </a:prstGeom>
          <a:gradFill rotWithShape="0">
            <a:gsLst>
              <a:gs pos="0">
                <a:srgbClr val="FFCC66"/>
              </a:gs>
              <a:gs pos="100000">
                <a:srgbClr val="FCFEB9"/>
              </a:gs>
            </a:gsLst>
            <a:lin ang="5400000" scaled="1"/>
          </a:gradFill>
          <a:ln w="9525">
            <a:noFill/>
            <a:miter lim="800000"/>
            <a:headEnd/>
            <a:tailEnd/>
          </a:ln>
          <a:effectLst/>
        </p:spPr>
        <p:txBody>
          <a:bodyPr wrap="none"/>
          <a:lstStyle/>
          <a:p>
            <a:pPr algn="ctr"/>
            <a:r>
              <a:rPr lang="en-US" sz="2800" b="1" dirty="0" err="1">
                <a:solidFill>
                  <a:srgbClr val="CC0099"/>
                </a:solidFill>
                <a:latin typeface="Arial" charset="0"/>
              </a:rPr>
              <a:t>Méthodes</a:t>
            </a:r>
            <a:r>
              <a:rPr lang="en-US" sz="2800" b="1" dirty="0">
                <a:solidFill>
                  <a:srgbClr val="CC0099"/>
                </a:solidFill>
                <a:latin typeface="Arial" charset="0"/>
              </a:rPr>
              <a:t> de </a:t>
            </a:r>
            <a:r>
              <a:rPr lang="en-US" sz="2800" b="1" dirty="0" err="1">
                <a:solidFill>
                  <a:srgbClr val="CC0099"/>
                </a:solidFill>
                <a:latin typeface="Arial" charset="0"/>
              </a:rPr>
              <a:t>connexion</a:t>
            </a:r>
            <a:endParaRPr lang="en-US" sz="2800" b="1" dirty="0">
              <a:solidFill>
                <a:srgbClr val="CC0099"/>
              </a:solidFill>
              <a:latin typeface="Arial" charset="0"/>
            </a:endParaRPr>
          </a:p>
        </p:txBody>
      </p:sp>
      <p:sp>
        <p:nvSpPr>
          <p:cNvPr id="35845" name="Rectangle 5"/>
          <p:cNvSpPr>
            <a:spLocks noChangeArrowheads="1"/>
          </p:cNvSpPr>
          <p:nvPr/>
        </p:nvSpPr>
        <p:spPr bwMode="auto">
          <a:xfrm>
            <a:off x="1143000" y="5757863"/>
            <a:ext cx="6781800" cy="228600"/>
          </a:xfrm>
          <a:prstGeom prst="rect">
            <a:avLst/>
          </a:prstGeom>
          <a:gradFill rotWithShape="0">
            <a:gsLst>
              <a:gs pos="0">
                <a:schemeClr val="accent2"/>
              </a:gs>
              <a:gs pos="50000">
                <a:schemeClr val="accent2">
                  <a:gamma/>
                  <a:tint val="23529"/>
                  <a:invGamma/>
                </a:schemeClr>
              </a:gs>
              <a:gs pos="100000">
                <a:schemeClr val="accent2"/>
              </a:gs>
            </a:gsLst>
            <a:lin ang="5400000" scaled="1"/>
          </a:gradFill>
          <a:ln w="3175">
            <a:noFill/>
            <a:miter lim="800000"/>
            <a:headEnd/>
            <a:tailEnd/>
          </a:ln>
          <a:effectLst/>
        </p:spPr>
        <p:txBody>
          <a:bodyPr wrap="none" anchor="ctr"/>
          <a:lstStyle/>
          <a:p>
            <a:endParaRPr lang="fr-FR"/>
          </a:p>
        </p:txBody>
      </p:sp>
      <p:sp>
        <p:nvSpPr>
          <p:cNvPr id="35846" name="AutoShape 6"/>
          <p:cNvSpPr>
            <a:spLocks noChangeArrowheads="1"/>
          </p:cNvSpPr>
          <p:nvPr/>
        </p:nvSpPr>
        <p:spPr bwMode="auto">
          <a:xfrm rot="5400000">
            <a:off x="6248400" y="4995863"/>
            <a:ext cx="1600200" cy="228600"/>
          </a:xfrm>
          <a:prstGeom prst="homePlate">
            <a:avLst>
              <a:gd name="adj" fmla="val 70162"/>
            </a:avLst>
          </a:prstGeom>
          <a:gradFill rotWithShape="0">
            <a:gsLst>
              <a:gs pos="0">
                <a:schemeClr val="accent2"/>
              </a:gs>
              <a:gs pos="50000">
                <a:schemeClr val="accent2">
                  <a:gamma/>
                  <a:tint val="23529"/>
                  <a:invGamma/>
                </a:schemeClr>
              </a:gs>
              <a:gs pos="100000">
                <a:schemeClr val="accent2"/>
              </a:gs>
            </a:gsLst>
            <a:lin ang="0" scaled="1"/>
          </a:gradFill>
          <a:ln w="3175">
            <a:noFill/>
            <a:miter lim="800000"/>
            <a:headEnd/>
            <a:tailEnd/>
          </a:ln>
          <a:effectLst/>
        </p:spPr>
        <p:txBody>
          <a:bodyPr wrap="none" anchor="ctr"/>
          <a:lstStyle/>
          <a:p>
            <a:endParaRPr lang="fr-FR"/>
          </a:p>
        </p:txBody>
      </p:sp>
      <p:grpSp>
        <p:nvGrpSpPr>
          <p:cNvPr id="35847" name="Group 7"/>
          <p:cNvGrpSpPr>
            <a:grpSpLocks/>
          </p:cNvGrpSpPr>
          <p:nvPr/>
        </p:nvGrpSpPr>
        <p:grpSpPr bwMode="auto">
          <a:xfrm>
            <a:off x="1057275" y="3433763"/>
            <a:ext cx="2066925" cy="2068512"/>
            <a:chOff x="630" y="2304"/>
            <a:chExt cx="1024" cy="1025"/>
          </a:xfrm>
        </p:grpSpPr>
        <p:sp>
          <p:nvSpPr>
            <p:cNvPr id="35848" name="Freeform 8"/>
            <p:cNvSpPr>
              <a:spLocks noChangeAspect="1"/>
            </p:cNvSpPr>
            <p:nvPr/>
          </p:nvSpPr>
          <p:spPr bwMode="auto">
            <a:xfrm>
              <a:off x="630" y="2304"/>
              <a:ext cx="1024" cy="1025"/>
            </a:xfrm>
            <a:custGeom>
              <a:avLst/>
              <a:gdLst/>
              <a:ahLst/>
              <a:cxnLst>
                <a:cxn ang="0">
                  <a:pos x="1024" y="189"/>
                </a:cxn>
                <a:cxn ang="0">
                  <a:pos x="942" y="424"/>
                </a:cxn>
                <a:cxn ang="0">
                  <a:pos x="858" y="662"/>
                </a:cxn>
                <a:cxn ang="0">
                  <a:pos x="794" y="635"/>
                </a:cxn>
                <a:cxn ang="0">
                  <a:pos x="793" y="640"/>
                </a:cxn>
                <a:cxn ang="0">
                  <a:pos x="853" y="671"/>
                </a:cxn>
                <a:cxn ang="0">
                  <a:pos x="855" y="671"/>
                </a:cxn>
                <a:cxn ang="0">
                  <a:pos x="855" y="673"/>
                </a:cxn>
                <a:cxn ang="0">
                  <a:pos x="856" y="673"/>
                </a:cxn>
                <a:cxn ang="0">
                  <a:pos x="856" y="674"/>
                </a:cxn>
                <a:cxn ang="0">
                  <a:pos x="856" y="675"/>
                </a:cxn>
                <a:cxn ang="0">
                  <a:pos x="856" y="677"/>
                </a:cxn>
                <a:cxn ang="0">
                  <a:pos x="856" y="780"/>
                </a:cxn>
                <a:cxn ang="0">
                  <a:pos x="835" y="794"/>
                </a:cxn>
                <a:cxn ang="0">
                  <a:pos x="813" y="810"/>
                </a:cxn>
                <a:cxn ang="0">
                  <a:pos x="792" y="826"/>
                </a:cxn>
                <a:cxn ang="0">
                  <a:pos x="770" y="840"/>
                </a:cxn>
                <a:cxn ang="0">
                  <a:pos x="747" y="857"/>
                </a:cxn>
                <a:cxn ang="0">
                  <a:pos x="726" y="871"/>
                </a:cxn>
                <a:cxn ang="0">
                  <a:pos x="704" y="887"/>
                </a:cxn>
                <a:cxn ang="0">
                  <a:pos x="681" y="903"/>
                </a:cxn>
                <a:cxn ang="0">
                  <a:pos x="660" y="919"/>
                </a:cxn>
                <a:cxn ang="0">
                  <a:pos x="638" y="933"/>
                </a:cxn>
                <a:cxn ang="0">
                  <a:pos x="616" y="949"/>
                </a:cxn>
                <a:cxn ang="0">
                  <a:pos x="594" y="964"/>
                </a:cxn>
                <a:cxn ang="0">
                  <a:pos x="573" y="980"/>
                </a:cxn>
                <a:cxn ang="0">
                  <a:pos x="551" y="994"/>
                </a:cxn>
                <a:cxn ang="0">
                  <a:pos x="507" y="1025"/>
                </a:cxn>
                <a:cxn ang="0">
                  <a:pos x="0" y="724"/>
                </a:cxn>
                <a:cxn ang="0">
                  <a:pos x="0" y="665"/>
                </a:cxn>
                <a:cxn ang="0">
                  <a:pos x="236" y="538"/>
                </a:cxn>
                <a:cxn ang="0">
                  <a:pos x="242" y="527"/>
                </a:cxn>
                <a:cxn ang="0">
                  <a:pos x="325" y="476"/>
                </a:cxn>
                <a:cxn ang="0">
                  <a:pos x="324" y="472"/>
                </a:cxn>
                <a:cxn ang="0">
                  <a:pos x="322" y="468"/>
                </a:cxn>
                <a:cxn ang="0">
                  <a:pos x="322" y="464"/>
                </a:cxn>
                <a:cxn ang="0">
                  <a:pos x="322" y="461"/>
                </a:cxn>
                <a:cxn ang="0">
                  <a:pos x="322" y="456"/>
                </a:cxn>
                <a:cxn ang="0">
                  <a:pos x="322" y="454"/>
                </a:cxn>
                <a:cxn ang="0">
                  <a:pos x="324" y="451"/>
                </a:cxn>
                <a:cxn ang="0">
                  <a:pos x="324" y="448"/>
                </a:cxn>
                <a:cxn ang="0">
                  <a:pos x="325" y="445"/>
                </a:cxn>
                <a:cxn ang="0">
                  <a:pos x="326" y="442"/>
                </a:cxn>
                <a:cxn ang="0">
                  <a:pos x="328" y="441"/>
                </a:cxn>
                <a:cxn ang="0">
                  <a:pos x="331" y="439"/>
                </a:cxn>
                <a:cxn ang="0">
                  <a:pos x="332" y="438"/>
                </a:cxn>
                <a:cxn ang="0">
                  <a:pos x="334" y="436"/>
                </a:cxn>
                <a:cxn ang="0">
                  <a:pos x="338" y="434"/>
                </a:cxn>
                <a:cxn ang="0">
                  <a:pos x="395" y="461"/>
                </a:cxn>
                <a:cxn ang="0">
                  <a:pos x="401" y="456"/>
                </a:cxn>
                <a:cxn ang="0">
                  <a:pos x="338" y="428"/>
                </a:cxn>
                <a:cxn ang="0">
                  <a:pos x="372" y="311"/>
                </a:cxn>
                <a:cxn ang="0">
                  <a:pos x="369" y="299"/>
                </a:cxn>
                <a:cxn ang="0">
                  <a:pos x="368" y="295"/>
                </a:cxn>
                <a:cxn ang="0">
                  <a:pos x="364" y="288"/>
                </a:cxn>
                <a:cxn ang="0">
                  <a:pos x="407" y="145"/>
                </a:cxn>
                <a:cxn ang="0">
                  <a:pos x="448" y="0"/>
                </a:cxn>
                <a:cxn ang="0">
                  <a:pos x="726" y="90"/>
                </a:cxn>
                <a:cxn ang="0">
                  <a:pos x="1002" y="176"/>
                </a:cxn>
                <a:cxn ang="0">
                  <a:pos x="1024" y="189"/>
                </a:cxn>
              </a:cxnLst>
              <a:rect l="0" t="0" r="r" b="b"/>
              <a:pathLst>
                <a:path w="1024" h="1025">
                  <a:moveTo>
                    <a:pt x="1024" y="189"/>
                  </a:moveTo>
                  <a:lnTo>
                    <a:pt x="942" y="424"/>
                  </a:lnTo>
                  <a:lnTo>
                    <a:pt x="858" y="662"/>
                  </a:lnTo>
                  <a:lnTo>
                    <a:pt x="794" y="635"/>
                  </a:lnTo>
                  <a:lnTo>
                    <a:pt x="793" y="640"/>
                  </a:lnTo>
                  <a:lnTo>
                    <a:pt x="853" y="671"/>
                  </a:lnTo>
                  <a:lnTo>
                    <a:pt x="855" y="671"/>
                  </a:lnTo>
                  <a:lnTo>
                    <a:pt x="855" y="673"/>
                  </a:lnTo>
                  <a:lnTo>
                    <a:pt x="856" y="673"/>
                  </a:lnTo>
                  <a:lnTo>
                    <a:pt x="856" y="674"/>
                  </a:lnTo>
                  <a:lnTo>
                    <a:pt x="856" y="675"/>
                  </a:lnTo>
                  <a:lnTo>
                    <a:pt x="856" y="677"/>
                  </a:lnTo>
                  <a:lnTo>
                    <a:pt x="856" y="780"/>
                  </a:lnTo>
                  <a:lnTo>
                    <a:pt x="835" y="794"/>
                  </a:lnTo>
                  <a:lnTo>
                    <a:pt x="813" y="810"/>
                  </a:lnTo>
                  <a:lnTo>
                    <a:pt x="792" y="826"/>
                  </a:lnTo>
                  <a:lnTo>
                    <a:pt x="770" y="840"/>
                  </a:lnTo>
                  <a:lnTo>
                    <a:pt x="747" y="857"/>
                  </a:lnTo>
                  <a:lnTo>
                    <a:pt x="726" y="871"/>
                  </a:lnTo>
                  <a:lnTo>
                    <a:pt x="704" y="887"/>
                  </a:lnTo>
                  <a:lnTo>
                    <a:pt x="681" y="903"/>
                  </a:lnTo>
                  <a:lnTo>
                    <a:pt x="660" y="919"/>
                  </a:lnTo>
                  <a:lnTo>
                    <a:pt x="638" y="933"/>
                  </a:lnTo>
                  <a:lnTo>
                    <a:pt x="616" y="949"/>
                  </a:lnTo>
                  <a:lnTo>
                    <a:pt x="594" y="964"/>
                  </a:lnTo>
                  <a:lnTo>
                    <a:pt x="573" y="980"/>
                  </a:lnTo>
                  <a:lnTo>
                    <a:pt x="551" y="994"/>
                  </a:lnTo>
                  <a:lnTo>
                    <a:pt x="507" y="1025"/>
                  </a:lnTo>
                  <a:lnTo>
                    <a:pt x="0" y="724"/>
                  </a:lnTo>
                  <a:lnTo>
                    <a:pt x="0" y="665"/>
                  </a:lnTo>
                  <a:lnTo>
                    <a:pt x="236" y="538"/>
                  </a:lnTo>
                  <a:lnTo>
                    <a:pt x="242" y="527"/>
                  </a:lnTo>
                  <a:lnTo>
                    <a:pt x="325" y="476"/>
                  </a:lnTo>
                  <a:lnTo>
                    <a:pt x="324" y="472"/>
                  </a:lnTo>
                  <a:lnTo>
                    <a:pt x="322" y="468"/>
                  </a:lnTo>
                  <a:lnTo>
                    <a:pt x="322" y="464"/>
                  </a:lnTo>
                  <a:lnTo>
                    <a:pt x="322" y="461"/>
                  </a:lnTo>
                  <a:lnTo>
                    <a:pt x="322" y="456"/>
                  </a:lnTo>
                  <a:lnTo>
                    <a:pt x="322" y="454"/>
                  </a:lnTo>
                  <a:lnTo>
                    <a:pt x="324" y="451"/>
                  </a:lnTo>
                  <a:lnTo>
                    <a:pt x="324" y="448"/>
                  </a:lnTo>
                  <a:lnTo>
                    <a:pt x="325" y="445"/>
                  </a:lnTo>
                  <a:lnTo>
                    <a:pt x="326" y="442"/>
                  </a:lnTo>
                  <a:lnTo>
                    <a:pt x="328" y="441"/>
                  </a:lnTo>
                  <a:lnTo>
                    <a:pt x="331" y="439"/>
                  </a:lnTo>
                  <a:lnTo>
                    <a:pt x="332" y="438"/>
                  </a:lnTo>
                  <a:lnTo>
                    <a:pt x="334" y="436"/>
                  </a:lnTo>
                  <a:lnTo>
                    <a:pt x="338" y="434"/>
                  </a:lnTo>
                  <a:lnTo>
                    <a:pt x="395" y="461"/>
                  </a:lnTo>
                  <a:lnTo>
                    <a:pt x="401" y="456"/>
                  </a:lnTo>
                  <a:lnTo>
                    <a:pt x="338" y="428"/>
                  </a:lnTo>
                  <a:lnTo>
                    <a:pt x="372" y="311"/>
                  </a:lnTo>
                  <a:lnTo>
                    <a:pt x="369" y="299"/>
                  </a:lnTo>
                  <a:lnTo>
                    <a:pt x="368" y="295"/>
                  </a:lnTo>
                  <a:lnTo>
                    <a:pt x="364" y="288"/>
                  </a:lnTo>
                  <a:lnTo>
                    <a:pt x="407" y="145"/>
                  </a:lnTo>
                  <a:lnTo>
                    <a:pt x="448" y="0"/>
                  </a:lnTo>
                  <a:lnTo>
                    <a:pt x="726" y="90"/>
                  </a:lnTo>
                  <a:lnTo>
                    <a:pt x="1002" y="176"/>
                  </a:lnTo>
                  <a:lnTo>
                    <a:pt x="1024" y="189"/>
                  </a:lnTo>
                </a:path>
              </a:pathLst>
            </a:custGeom>
            <a:solidFill>
              <a:srgbClr val="B2B2B2"/>
            </a:solidFill>
            <a:ln w="6350" cap="rnd" cmpd="sng">
              <a:solidFill>
                <a:srgbClr val="000000"/>
              </a:solidFill>
              <a:prstDash val="solid"/>
              <a:round/>
              <a:headEnd type="none" w="med" len="med"/>
              <a:tailEnd type="none" w="med" len="med"/>
            </a:ln>
            <a:effectLst/>
          </p:spPr>
          <p:txBody>
            <a:bodyPr/>
            <a:lstStyle/>
            <a:p>
              <a:endParaRPr lang="fr-FR"/>
            </a:p>
          </p:txBody>
        </p:sp>
        <p:sp>
          <p:nvSpPr>
            <p:cNvPr id="35849" name="Freeform 9"/>
            <p:cNvSpPr>
              <a:spLocks noChangeAspect="1"/>
            </p:cNvSpPr>
            <p:nvPr/>
          </p:nvSpPr>
          <p:spPr bwMode="auto">
            <a:xfrm>
              <a:off x="876" y="2780"/>
              <a:ext cx="586" cy="295"/>
            </a:xfrm>
            <a:custGeom>
              <a:avLst/>
              <a:gdLst/>
              <a:ahLst/>
              <a:cxnLst>
                <a:cxn ang="0">
                  <a:pos x="1227" y="486"/>
                </a:cxn>
                <a:cxn ang="0">
                  <a:pos x="165" y="0"/>
                </a:cxn>
                <a:cxn ang="0">
                  <a:pos x="0" y="99"/>
                </a:cxn>
                <a:cxn ang="0">
                  <a:pos x="1050" y="615"/>
                </a:cxn>
                <a:cxn ang="0">
                  <a:pos x="1227" y="486"/>
                </a:cxn>
              </a:cxnLst>
              <a:rect l="0" t="0" r="r" b="b"/>
              <a:pathLst>
                <a:path w="1228" h="616">
                  <a:moveTo>
                    <a:pt x="1227" y="486"/>
                  </a:moveTo>
                  <a:lnTo>
                    <a:pt x="165" y="0"/>
                  </a:lnTo>
                  <a:lnTo>
                    <a:pt x="0" y="99"/>
                  </a:lnTo>
                  <a:lnTo>
                    <a:pt x="1050" y="615"/>
                  </a:lnTo>
                  <a:lnTo>
                    <a:pt x="1227" y="486"/>
                  </a:lnTo>
                </a:path>
              </a:pathLst>
            </a:custGeom>
            <a:solidFill>
              <a:srgbClr val="DDDDDD"/>
            </a:solidFill>
            <a:ln w="6350" cap="rnd" cmpd="sng">
              <a:solidFill>
                <a:srgbClr val="000000"/>
              </a:solidFill>
              <a:prstDash val="solid"/>
              <a:round/>
              <a:headEnd type="none" w="med" len="med"/>
              <a:tailEnd type="none" w="med" len="med"/>
            </a:ln>
            <a:effectLst/>
          </p:spPr>
          <p:txBody>
            <a:bodyPr/>
            <a:lstStyle/>
            <a:p>
              <a:endParaRPr lang="fr-FR"/>
            </a:p>
          </p:txBody>
        </p:sp>
        <p:sp>
          <p:nvSpPr>
            <p:cNvPr id="35850" name="Freeform 10"/>
            <p:cNvSpPr>
              <a:spLocks noChangeAspect="1"/>
            </p:cNvSpPr>
            <p:nvPr/>
          </p:nvSpPr>
          <p:spPr bwMode="auto">
            <a:xfrm>
              <a:off x="1084" y="2317"/>
              <a:ext cx="545" cy="498"/>
            </a:xfrm>
            <a:custGeom>
              <a:avLst/>
              <a:gdLst/>
              <a:ahLst/>
              <a:cxnLst>
                <a:cxn ang="0">
                  <a:pos x="1140" y="345"/>
                </a:cxn>
                <a:cxn ang="0">
                  <a:pos x="909" y="1035"/>
                </a:cxn>
                <a:cxn ang="0">
                  <a:pos x="888" y="1041"/>
                </a:cxn>
                <a:cxn ang="0">
                  <a:pos x="1119" y="354"/>
                </a:cxn>
                <a:cxn ang="0">
                  <a:pos x="0" y="0"/>
                </a:cxn>
              </a:cxnLst>
              <a:rect l="0" t="0" r="r" b="b"/>
              <a:pathLst>
                <a:path w="1141" h="1042">
                  <a:moveTo>
                    <a:pt x="1140" y="345"/>
                  </a:moveTo>
                  <a:lnTo>
                    <a:pt x="909" y="1035"/>
                  </a:lnTo>
                  <a:lnTo>
                    <a:pt x="888" y="1041"/>
                  </a:lnTo>
                  <a:lnTo>
                    <a:pt x="1119" y="354"/>
                  </a:lnTo>
                  <a:lnTo>
                    <a:pt x="0" y="0"/>
                  </a:lnTo>
                </a:path>
              </a:pathLst>
            </a:custGeom>
            <a:solidFill>
              <a:schemeClr val="bg1"/>
            </a:solidFill>
            <a:ln w="6350" cap="rnd" cmpd="sng">
              <a:solidFill>
                <a:srgbClr val="000000"/>
              </a:solidFill>
              <a:prstDash val="solid"/>
              <a:round/>
              <a:headEnd type="none" w="med" len="med"/>
              <a:tailEnd type="none" w="med" len="med"/>
            </a:ln>
            <a:effectLst/>
          </p:spPr>
          <p:txBody>
            <a:bodyPr/>
            <a:lstStyle/>
            <a:p>
              <a:endParaRPr lang="fr-FR"/>
            </a:p>
          </p:txBody>
        </p:sp>
        <p:sp>
          <p:nvSpPr>
            <p:cNvPr id="35851" name="Freeform 11"/>
            <p:cNvSpPr>
              <a:spLocks noChangeAspect="1"/>
            </p:cNvSpPr>
            <p:nvPr/>
          </p:nvSpPr>
          <p:spPr bwMode="auto">
            <a:xfrm>
              <a:off x="1058" y="2401"/>
              <a:ext cx="488" cy="453"/>
            </a:xfrm>
            <a:custGeom>
              <a:avLst/>
              <a:gdLst/>
              <a:ahLst/>
              <a:cxnLst>
                <a:cxn ang="0">
                  <a:pos x="798" y="948"/>
                </a:cxn>
                <a:cxn ang="0">
                  <a:pos x="0" y="621"/>
                </a:cxn>
                <a:cxn ang="0">
                  <a:pos x="201" y="0"/>
                </a:cxn>
                <a:cxn ang="0">
                  <a:pos x="1023" y="276"/>
                </a:cxn>
                <a:cxn ang="0">
                  <a:pos x="798" y="948"/>
                </a:cxn>
              </a:cxnLst>
              <a:rect l="0" t="0" r="r" b="b"/>
              <a:pathLst>
                <a:path w="1024" h="949">
                  <a:moveTo>
                    <a:pt x="798" y="948"/>
                  </a:moveTo>
                  <a:lnTo>
                    <a:pt x="0" y="621"/>
                  </a:lnTo>
                  <a:lnTo>
                    <a:pt x="201" y="0"/>
                  </a:lnTo>
                  <a:lnTo>
                    <a:pt x="1023" y="276"/>
                  </a:lnTo>
                  <a:lnTo>
                    <a:pt x="798" y="948"/>
                  </a:lnTo>
                </a:path>
              </a:pathLst>
            </a:custGeom>
            <a:gradFill rotWithShape="0">
              <a:gsLst>
                <a:gs pos="0">
                  <a:srgbClr val="6699FF"/>
                </a:gs>
                <a:gs pos="100000">
                  <a:srgbClr val="6699FF">
                    <a:gamma/>
                    <a:tint val="63922"/>
                    <a:invGamma/>
                  </a:srgbClr>
                </a:gs>
              </a:gsLst>
              <a:path path="rect">
                <a:fillToRect l="100000" t="100000"/>
              </a:path>
            </a:gradFill>
            <a:ln w="6350" cap="rnd" cmpd="sng">
              <a:solidFill>
                <a:srgbClr val="000000"/>
              </a:solidFill>
              <a:prstDash val="solid"/>
              <a:round/>
              <a:headEnd type="none" w="med" len="med"/>
              <a:tailEnd type="none" w="med" len="med"/>
            </a:ln>
            <a:effectLst/>
          </p:spPr>
          <p:txBody>
            <a:bodyPr/>
            <a:lstStyle/>
            <a:p>
              <a:endParaRPr lang="fr-FR"/>
            </a:p>
          </p:txBody>
        </p:sp>
        <p:sp>
          <p:nvSpPr>
            <p:cNvPr id="35852" name="Freeform 12"/>
            <p:cNvSpPr>
              <a:spLocks noChangeAspect="1"/>
            </p:cNvSpPr>
            <p:nvPr/>
          </p:nvSpPr>
          <p:spPr bwMode="auto">
            <a:xfrm>
              <a:off x="1388" y="2939"/>
              <a:ext cx="91" cy="74"/>
            </a:xfrm>
            <a:custGeom>
              <a:avLst/>
              <a:gdLst/>
              <a:ahLst/>
              <a:cxnLst>
                <a:cxn ang="0">
                  <a:pos x="48" y="0"/>
                </a:cxn>
                <a:cxn ang="0">
                  <a:pos x="186" y="63"/>
                </a:cxn>
                <a:cxn ang="0">
                  <a:pos x="183" y="66"/>
                </a:cxn>
                <a:cxn ang="0">
                  <a:pos x="177" y="66"/>
                </a:cxn>
                <a:cxn ang="0">
                  <a:pos x="171" y="69"/>
                </a:cxn>
                <a:cxn ang="0">
                  <a:pos x="165" y="72"/>
                </a:cxn>
                <a:cxn ang="0">
                  <a:pos x="159" y="75"/>
                </a:cxn>
                <a:cxn ang="0">
                  <a:pos x="153" y="81"/>
                </a:cxn>
                <a:cxn ang="0">
                  <a:pos x="150" y="84"/>
                </a:cxn>
                <a:cxn ang="0">
                  <a:pos x="147" y="93"/>
                </a:cxn>
                <a:cxn ang="0">
                  <a:pos x="144" y="99"/>
                </a:cxn>
                <a:cxn ang="0">
                  <a:pos x="141" y="105"/>
                </a:cxn>
                <a:cxn ang="0">
                  <a:pos x="141" y="111"/>
                </a:cxn>
                <a:cxn ang="0">
                  <a:pos x="141" y="120"/>
                </a:cxn>
                <a:cxn ang="0">
                  <a:pos x="141" y="129"/>
                </a:cxn>
                <a:cxn ang="0">
                  <a:pos x="144" y="135"/>
                </a:cxn>
                <a:cxn ang="0">
                  <a:pos x="150" y="153"/>
                </a:cxn>
                <a:cxn ang="0">
                  <a:pos x="9" y="87"/>
                </a:cxn>
                <a:cxn ang="0">
                  <a:pos x="6" y="84"/>
                </a:cxn>
                <a:cxn ang="0">
                  <a:pos x="6" y="78"/>
                </a:cxn>
                <a:cxn ang="0">
                  <a:pos x="3" y="72"/>
                </a:cxn>
                <a:cxn ang="0">
                  <a:pos x="0" y="66"/>
                </a:cxn>
                <a:cxn ang="0">
                  <a:pos x="0" y="57"/>
                </a:cxn>
                <a:cxn ang="0">
                  <a:pos x="0" y="51"/>
                </a:cxn>
                <a:cxn ang="0">
                  <a:pos x="0" y="42"/>
                </a:cxn>
                <a:cxn ang="0">
                  <a:pos x="3" y="36"/>
                </a:cxn>
                <a:cxn ang="0">
                  <a:pos x="6" y="30"/>
                </a:cxn>
                <a:cxn ang="0">
                  <a:pos x="6" y="21"/>
                </a:cxn>
                <a:cxn ang="0">
                  <a:pos x="12" y="18"/>
                </a:cxn>
                <a:cxn ang="0">
                  <a:pos x="18" y="12"/>
                </a:cxn>
                <a:cxn ang="0">
                  <a:pos x="24" y="6"/>
                </a:cxn>
                <a:cxn ang="0">
                  <a:pos x="30" y="3"/>
                </a:cxn>
                <a:cxn ang="0">
                  <a:pos x="48" y="0"/>
                </a:cxn>
              </a:cxnLst>
              <a:rect l="0" t="0" r="r" b="b"/>
              <a:pathLst>
                <a:path w="187" h="154">
                  <a:moveTo>
                    <a:pt x="48" y="0"/>
                  </a:moveTo>
                  <a:lnTo>
                    <a:pt x="186" y="63"/>
                  </a:lnTo>
                  <a:lnTo>
                    <a:pt x="183" y="66"/>
                  </a:lnTo>
                  <a:lnTo>
                    <a:pt x="177" y="66"/>
                  </a:lnTo>
                  <a:lnTo>
                    <a:pt x="171" y="69"/>
                  </a:lnTo>
                  <a:lnTo>
                    <a:pt x="165" y="72"/>
                  </a:lnTo>
                  <a:lnTo>
                    <a:pt x="159" y="75"/>
                  </a:lnTo>
                  <a:lnTo>
                    <a:pt x="153" y="81"/>
                  </a:lnTo>
                  <a:lnTo>
                    <a:pt x="150" y="84"/>
                  </a:lnTo>
                  <a:lnTo>
                    <a:pt x="147" y="93"/>
                  </a:lnTo>
                  <a:lnTo>
                    <a:pt x="144" y="99"/>
                  </a:lnTo>
                  <a:lnTo>
                    <a:pt x="141" y="105"/>
                  </a:lnTo>
                  <a:lnTo>
                    <a:pt x="141" y="111"/>
                  </a:lnTo>
                  <a:lnTo>
                    <a:pt x="141" y="120"/>
                  </a:lnTo>
                  <a:lnTo>
                    <a:pt x="141" y="129"/>
                  </a:lnTo>
                  <a:lnTo>
                    <a:pt x="144" y="135"/>
                  </a:lnTo>
                  <a:lnTo>
                    <a:pt x="150" y="153"/>
                  </a:lnTo>
                  <a:lnTo>
                    <a:pt x="9" y="87"/>
                  </a:lnTo>
                  <a:lnTo>
                    <a:pt x="6" y="84"/>
                  </a:lnTo>
                  <a:lnTo>
                    <a:pt x="6" y="78"/>
                  </a:lnTo>
                  <a:lnTo>
                    <a:pt x="3" y="72"/>
                  </a:lnTo>
                  <a:lnTo>
                    <a:pt x="0" y="66"/>
                  </a:lnTo>
                  <a:lnTo>
                    <a:pt x="0" y="57"/>
                  </a:lnTo>
                  <a:lnTo>
                    <a:pt x="0" y="51"/>
                  </a:lnTo>
                  <a:lnTo>
                    <a:pt x="0" y="42"/>
                  </a:lnTo>
                  <a:lnTo>
                    <a:pt x="3" y="36"/>
                  </a:lnTo>
                  <a:lnTo>
                    <a:pt x="6" y="30"/>
                  </a:lnTo>
                  <a:lnTo>
                    <a:pt x="6" y="21"/>
                  </a:lnTo>
                  <a:lnTo>
                    <a:pt x="12" y="18"/>
                  </a:lnTo>
                  <a:lnTo>
                    <a:pt x="18" y="12"/>
                  </a:lnTo>
                  <a:lnTo>
                    <a:pt x="24" y="6"/>
                  </a:lnTo>
                  <a:lnTo>
                    <a:pt x="30" y="3"/>
                  </a:lnTo>
                  <a:lnTo>
                    <a:pt x="48" y="0"/>
                  </a:lnTo>
                </a:path>
              </a:pathLst>
            </a:custGeom>
            <a:solidFill>
              <a:srgbClr val="B2B2B2"/>
            </a:solidFill>
            <a:ln w="6350" cap="rnd" cmpd="sng">
              <a:solidFill>
                <a:srgbClr val="000000"/>
              </a:solidFill>
              <a:prstDash val="solid"/>
              <a:round/>
              <a:headEnd type="none" w="med" len="med"/>
              <a:tailEnd type="none" w="med" len="med"/>
            </a:ln>
            <a:effectLst/>
          </p:spPr>
          <p:txBody>
            <a:bodyPr/>
            <a:lstStyle/>
            <a:p>
              <a:endParaRPr lang="fr-FR"/>
            </a:p>
          </p:txBody>
        </p:sp>
        <p:sp>
          <p:nvSpPr>
            <p:cNvPr id="35853" name="Line 13"/>
            <p:cNvSpPr>
              <a:spLocks noChangeAspect="1" noChangeShapeType="1"/>
            </p:cNvSpPr>
            <p:nvPr/>
          </p:nvSpPr>
          <p:spPr bwMode="auto">
            <a:xfrm flipH="1" flipV="1">
              <a:off x="965" y="2743"/>
              <a:ext cx="47" cy="26"/>
            </a:xfrm>
            <a:prstGeom prst="line">
              <a:avLst/>
            </a:prstGeom>
            <a:noFill/>
            <a:ln w="6350">
              <a:solidFill>
                <a:srgbClr val="000000"/>
              </a:solidFill>
              <a:round/>
              <a:headEnd/>
              <a:tailEnd/>
            </a:ln>
            <a:effectLst/>
          </p:spPr>
          <p:txBody>
            <a:bodyPr wrap="none" anchor="ctr"/>
            <a:lstStyle/>
            <a:p>
              <a:endParaRPr lang="fr-FR"/>
            </a:p>
          </p:txBody>
        </p:sp>
        <p:sp>
          <p:nvSpPr>
            <p:cNvPr id="35854" name="Freeform 14"/>
            <p:cNvSpPr>
              <a:spLocks noChangeAspect="1"/>
            </p:cNvSpPr>
            <p:nvPr/>
          </p:nvSpPr>
          <p:spPr bwMode="auto">
            <a:xfrm>
              <a:off x="1004" y="2318"/>
              <a:ext cx="95" cy="300"/>
            </a:xfrm>
            <a:custGeom>
              <a:avLst/>
              <a:gdLst/>
              <a:ahLst/>
              <a:cxnLst>
                <a:cxn ang="0">
                  <a:pos x="9" y="627"/>
                </a:cxn>
                <a:cxn ang="0">
                  <a:pos x="12" y="606"/>
                </a:cxn>
                <a:cxn ang="0">
                  <a:pos x="0" y="585"/>
                </a:cxn>
                <a:cxn ang="0">
                  <a:pos x="174" y="0"/>
                </a:cxn>
                <a:cxn ang="0">
                  <a:pos x="198" y="3"/>
                </a:cxn>
                <a:cxn ang="0">
                  <a:pos x="9" y="627"/>
                </a:cxn>
              </a:cxnLst>
              <a:rect l="0" t="0" r="r" b="b"/>
              <a:pathLst>
                <a:path w="199" h="628">
                  <a:moveTo>
                    <a:pt x="9" y="627"/>
                  </a:moveTo>
                  <a:lnTo>
                    <a:pt x="12" y="606"/>
                  </a:lnTo>
                  <a:lnTo>
                    <a:pt x="0" y="585"/>
                  </a:lnTo>
                  <a:lnTo>
                    <a:pt x="174" y="0"/>
                  </a:lnTo>
                  <a:lnTo>
                    <a:pt x="198" y="3"/>
                  </a:lnTo>
                  <a:lnTo>
                    <a:pt x="9" y="627"/>
                  </a:lnTo>
                </a:path>
              </a:pathLst>
            </a:custGeom>
            <a:solidFill>
              <a:schemeClr val="bg1"/>
            </a:solidFill>
            <a:ln w="6350" cap="rnd" cmpd="sng">
              <a:solidFill>
                <a:srgbClr val="000000"/>
              </a:solidFill>
              <a:prstDash val="solid"/>
              <a:round/>
              <a:headEnd type="none" w="med" len="med"/>
              <a:tailEnd type="none" w="med" len="med"/>
            </a:ln>
            <a:effectLst/>
          </p:spPr>
          <p:txBody>
            <a:bodyPr/>
            <a:lstStyle/>
            <a:p>
              <a:endParaRPr lang="fr-FR"/>
            </a:p>
          </p:txBody>
        </p:sp>
        <p:sp>
          <p:nvSpPr>
            <p:cNvPr id="35855" name="Line 15"/>
            <p:cNvSpPr>
              <a:spLocks noChangeAspect="1" noChangeShapeType="1"/>
            </p:cNvSpPr>
            <p:nvPr/>
          </p:nvSpPr>
          <p:spPr bwMode="auto">
            <a:xfrm flipH="1" flipV="1">
              <a:off x="1404" y="2947"/>
              <a:ext cx="57" cy="30"/>
            </a:xfrm>
            <a:prstGeom prst="line">
              <a:avLst/>
            </a:prstGeom>
            <a:noFill/>
            <a:ln w="6350">
              <a:solidFill>
                <a:srgbClr val="000000"/>
              </a:solidFill>
              <a:round/>
              <a:headEnd/>
              <a:tailEnd/>
            </a:ln>
            <a:effectLst/>
          </p:spPr>
          <p:txBody>
            <a:bodyPr wrap="none" anchor="ctr"/>
            <a:lstStyle/>
            <a:p>
              <a:endParaRPr lang="fr-FR"/>
            </a:p>
          </p:txBody>
        </p:sp>
        <p:sp>
          <p:nvSpPr>
            <p:cNvPr id="35856" name="Freeform 16"/>
            <p:cNvSpPr>
              <a:spLocks noChangeAspect="1"/>
            </p:cNvSpPr>
            <p:nvPr/>
          </p:nvSpPr>
          <p:spPr bwMode="auto">
            <a:xfrm>
              <a:off x="650" y="2855"/>
              <a:ext cx="699" cy="394"/>
            </a:xfrm>
            <a:custGeom>
              <a:avLst/>
              <a:gdLst/>
              <a:ahLst/>
              <a:cxnLst>
                <a:cxn ang="0">
                  <a:pos x="1464" y="519"/>
                </a:cxn>
                <a:cxn ang="0">
                  <a:pos x="453" y="0"/>
                </a:cxn>
                <a:cxn ang="0">
                  <a:pos x="0" y="243"/>
                </a:cxn>
                <a:cxn ang="0">
                  <a:pos x="1020" y="825"/>
                </a:cxn>
                <a:cxn ang="0">
                  <a:pos x="1464" y="519"/>
                </a:cxn>
              </a:cxnLst>
              <a:rect l="0" t="0" r="r" b="b"/>
              <a:pathLst>
                <a:path w="1465" h="826">
                  <a:moveTo>
                    <a:pt x="1464" y="519"/>
                  </a:moveTo>
                  <a:lnTo>
                    <a:pt x="453" y="0"/>
                  </a:lnTo>
                  <a:lnTo>
                    <a:pt x="0" y="243"/>
                  </a:lnTo>
                  <a:lnTo>
                    <a:pt x="1020" y="825"/>
                  </a:lnTo>
                  <a:lnTo>
                    <a:pt x="1464" y="519"/>
                  </a:lnTo>
                </a:path>
              </a:pathLst>
            </a:custGeom>
            <a:solidFill>
              <a:srgbClr val="DDDDDD"/>
            </a:solidFill>
            <a:ln w="6350" cap="rnd" cmpd="sng">
              <a:solidFill>
                <a:srgbClr val="505050"/>
              </a:solidFill>
              <a:prstDash val="solid"/>
              <a:round/>
              <a:headEnd type="none" w="med" len="med"/>
              <a:tailEnd type="none" w="med" len="med"/>
            </a:ln>
            <a:effectLst/>
          </p:spPr>
          <p:txBody>
            <a:bodyPr/>
            <a:lstStyle/>
            <a:p>
              <a:endParaRPr lang="fr-FR"/>
            </a:p>
          </p:txBody>
        </p:sp>
        <p:sp>
          <p:nvSpPr>
            <p:cNvPr id="35857" name="Freeform 17"/>
            <p:cNvSpPr>
              <a:spLocks noChangeAspect="1"/>
            </p:cNvSpPr>
            <p:nvPr/>
          </p:nvSpPr>
          <p:spPr bwMode="auto">
            <a:xfrm>
              <a:off x="1080" y="2799"/>
              <a:ext cx="269" cy="155"/>
            </a:xfrm>
            <a:custGeom>
              <a:avLst/>
              <a:gdLst/>
              <a:ahLst/>
              <a:cxnLst>
                <a:cxn ang="0">
                  <a:pos x="564" y="225"/>
                </a:cxn>
                <a:cxn ang="0">
                  <a:pos x="60" y="3"/>
                </a:cxn>
                <a:cxn ang="0">
                  <a:pos x="51" y="0"/>
                </a:cxn>
                <a:cxn ang="0">
                  <a:pos x="45" y="0"/>
                </a:cxn>
                <a:cxn ang="0">
                  <a:pos x="39" y="3"/>
                </a:cxn>
                <a:cxn ang="0">
                  <a:pos x="30" y="6"/>
                </a:cxn>
                <a:cxn ang="0">
                  <a:pos x="24" y="12"/>
                </a:cxn>
                <a:cxn ang="0">
                  <a:pos x="21" y="15"/>
                </a:cxn>
                <a:cxn ang="0">
                  <a:pos x="15" y="21"/>
                </a:cxn>
                <a:cxn ang="0">
                  <a:pos x="9" y="30"/>
                </a:cxn>
                <a:cxn ang="0">
                  <a:pos x="6" y="36"/>
                </a:cxn>
                <a:cxn ang="0">
                  <a:pos x="3" y="42"/>
                </a:cxn>
                <a:cxn ang="0">
                  <a:pos x="0" y="51"/>
                </a:cxn>
                <a:cxn ang="0">
                  <a:pos x="0" y="57"/>
                </a:cxn>
                <a:cxn ang="0">
                  <a:pos x="0" y="66"/>
                </a:cxn>
                <a:cxn ang="0">
                  <a:pos x="3" y="72"/>
                </a:cxn>
                <a:cxn ang="0">
                  <a:pos x="9" y="84"/>
                </a:cxn>
                <a:cxn ang="0">
                  <a:pos x="528" y="324"/>
                </a:cxn>
                <a:cxn ang="0">
                  <a:pos x="525" y="318"/>
                </a:cxn>
                <a:cxn ang="0">
                  <a:pos x="522" y="309"/>
                </a:cxn>
                <a:cxn ang="0">
                  <a:pos x="522" y="303"/>
                </a:cxn>
                <a:cxn ang="0">
                  <a:pos x="519" y="294"/>
                </a:cxn>
                <a:cxn ang="0">
                  <a:pos x="519" y="288"/>
                </a:cxn>
                <a:cxn ang="0">
                  <a:pos x="519" y="282"/>
                </a:cxn>
                <a:cxn ang="0">
                  <a:pos x="519" y="273"/>
                </a:cxn>
                <a:cxn ang="0">
                  <a:pos x="522" y="267"/>
                </a:cxn>
                <a:cxn ang="0">
                  <a:pos x="525" y="261"/>
                </a:cxn>
                <a:cxn ang="0">
                  <a:pos x="528" y="255"/>
                </a:cxn>
                <a:cxn ang="0">
                  <a:pos x="531" y="249"/>
                </a:cxn>
                <a:cxn ang="0">
                  <a:pos x="537" y="243"/>
                </a:cxn>
                <a:cxn ang="0">
                  <a:pos x="543" y="237"/>
                </a:cxn>
                <a:cxn ang="0">
                  <a:pos x="549" y="234"/>
                </a:cxn>
                <a:cxn ang="0">
                  <a:pos x="564" y="225"/>
                </a:cxn>
              </a:cxnLst>
              <a:rect l="0" t="0" r="r" b="b"/>
              <a:pathLst>
                <a:path w="565" h="325">
                  <a:moveTo>
                    <a:pt x="564" y="225"/>
                  </a:moveTo>
                  <a:lnTo>
                    <a:pt x="60" y="3"/>
                  </a:lnTo>
                  <a:lnTo>
                    <a:pt x="51" y="0"/>
                  </a:lnTo>
                  <a:lnTo>
                    <a:pt x="45" y="0"/>
                  </a:lnTo>
                  <a:lnTo>
                    <a:pt x="39" y="3"/>
                  </a:lnTo>
                  <a:lnTo>
                    <a:pt x="30" y="6"/>
                  </a:lnTo>
                  <a:lnTo>
                    <a:pt x="24" y="12"/>
                  </a:lnTo>
                  <a:lnTo>
                    <a:pt x="21" y="15"/>
                  </a:lnTo>
                  <a:lnTo>
                    <a:pt x="15" y="21"/>
                  </a:lnTo>
                  <a:lnTo>
                    <a:pt x="9" y="30"/>
                  </a:lnTo>
                  <a:lnTo>
                    <a:pt x="6" y="36"/>
                  </a:lnTo>
                  <a:lnTo>
                    <a:pt x="3" y="42"/>
                  </a:lnTo>
                  <a:lnTo>
                    <a:pt x="0" y="51"/>
                  </a:lnTo>
                  <a:lnTo>
                    <a:pt x="0" y="57"/>
                  </a:lnTo>
                  <a:lnTo>
                    <a:pt x="0" y="66"/>
                  </a:lnTo>
                  <a:lnTo>
                    <a:pt x="3" y="72"/>
                  </a:lnTo>
                  <a:lnTo>
                    <a:pt x="9" y="84"/>
                  </a:lnTo>
                  <a:lnTo>
                    <a:pt x="528" y="324"/>
                  </a:lnTo>
                  <a:lnTo>
                    <a:pt x="525" y="318"/>
                  </a:lnTo>
                  <a:lnTo>
                    <a:pt x="522" y="309"/>
                  </a:lnTo>
                  <a:lnTo>
                    <a:pt x="522" y="303"/>
                  </a:lnTo>
                  <a:lnTo>
                    <a:pt x="519" y="294"/>
                  </a:lnTo>
                  <a:lnTo>
                    <a:pt x="519" y="288"/>
                  </a:lnTo>
                  <a:lnTo>
                    <a:pt x="519" y="282"/>
                  </a:lnTo>
                  <a:lnTo>
                    <a:pt x="519" y="273"/>
                  </a:lnTo>
                  <a:lnTo>
                    <a:pt x="522" y="267"/>
                  </a:lnTo>
                  <a:lnTo>
                    <a:pt x="525" y="261"/>
                  </a:lnTo>
                  <a:lnTo>
                    <a:pt x="528" y="255"/>
                  </a:lnTo>
                  <a:lnTo>
                    <a:pt x="531" y="249"/>
                  </a:lnTo>
                  <a:lnTo>
                    <a:pt x="537" y="243"/>
                  </a:lnTo>
                  <a:lnTo>
                    <a:pt x="543" y="237"/>
                  </a:lnTo>
                  <a:lnTo>
                    <a:pt x="549" y="234"/>
                  </a:lnTo>
                  <a:lnTo>
                    <a:pt x="564" y="225"/>
                  </a:lnTo>
                </a:path>
              </a:pathLst>
            </a:custGeom>
            <a:solidFill>
              <a:srgbClr val="B2B2B2"/>
            </a:solidFill>
            <a:ln w="6350" cap="rnd" cmpd="sng">
              <a:solidFill>
                <a:srgbClr val="000000"/>
              </a:solidFill>
              <a:prstDash val="solid"/>
              <a:round/>
              <a:headEnd type="none" w="med" len="med"/>
              <a:tailEnd type="none" w="med" len="med"/>
            </a:ln>
            <a:effectLst/>
          </p:spPr>
          <p:txBody>
            <a:bodyPr/>
            <a:lstStyle/>
            <a:p>
              <a:endParaRPr lang="fr-FR"/>
            </a:p>
          </p:txBody>
        </p:sp>
        <p:sp>
          <p:nvSpPr>
            <p:cNvPr id="35858" name="Line 18"/>
            <p:cNvSpPr>
              <a:spLocks noChangeAspect="1" noChangeShapeType="1"/>
            </p:cNvSpPr>
            <p:nvPr/>
          </p:nvSpPr>
          <p:spPr bwMode="auto">
            <a:xfrm flipH="1" flipV="1">
              <a:off x="1099" y="2811"/>
              <a:ext cx="232" cy="105"/>
            </a:xfrm>
            <a:prstGeom prst="line">
              <a:avLst/>
            </a:prstGeom>
            <a:noFill/>
            <a:ln w="6350">
              <a:solidFill>
                <a:srgbClr val="000000"/>
              </a:solidFill>
              <a:round/>
              <a:headEnd/>
              <a:tailEnd/>
            </a:ln>
            <a:effectLst/>
          </p:spPr>
          <p:txBody>
            <a:bodyPr wrap="none" anchor="ctr"/>
            <a:lstStyle/>
            <a:p>
              <a:endParaRPr lang="fr-FR"/>
            </a:p>
          </p:txBody>
        </p:sp>
        <p:sp>
          <p:nvSpPr>
            <p:cNvPr id="35859" name="Freeform 19"/>
            <p:cNvSpPr>
              <a:spLocks noChangeAspect="1"/>
            </p:cNvSpPr>
            <p:nvPr/>
          </p:nvSpPr>
          <p:spPr bwMode="auto">
            <a:xfrm>
              <a:off x="1456" y="3051"/>
              <a:ext cx="15" cy="13"/>
            </a:xfrm>
            <a:custGeom>
              <a:avLst/>
              <a:gdLst/>
              <a:ahLst/>
              <a:cxnLst>
                <a:cxn ang="0">
                  <a:pos x="9" y="0"/>
                </a:cxn>
                <a:cxn ang="0">
                  <a:pos x="9" y="3"/>
                </a:cxn>
                <a:cxn ang="0">
                  <a:pos x="6" y="3"/>
                </a:cxn>
                <a:cxn ang="0">
                  <a:pos x="6" y="6"/>
                </a:cxn>
                <a:cxn ang="0">
                  <a:pos x="3" y="6"/>
                </a:cxn>
                <a:cxn ang="0">
                  <a:pos x="0" y="6"/>
                </a:cxn>
                <a:cxn ang="0">
                  <a:pos x="0" y="9"/>
                </a:cxn>
                <a:cxn ang="0">
                  <a:pos x="0" y="12"/>
                </a:cxn>
                <a:cxn ang="0">
                  <a:pos x="0" y="15"/>
                </a:cxn>
                <a:cxn ang="0">
                  <a:pos x="0" y="18"/>
                </a:cxn>
                <a:cxn ang="0">
                  <a:pos x="0" y="21"/>
                </a:cxn>
                <a:cxn ang="0">
                  <a:pos x="3" y="21"/>
                </a:cxn>
                <a:cxn ang="0">
                  <a:pos x="6" y="21"/>
                </a:cxn>
                <a:cxn ang="0">
                  <a:pos x="6" y="24"/>
                </a:cxn>
                <a:cxn ang="0">
                  <a:pos x="9" y="24"/>
                </a:cxn>
                <a:cxn ang="0">
                  <a:pos x="12" y="24"/>
                </a:cxn>
                <a:cxn ang="0">
                  <a:pos x="15" y="21"/>
                </a:cxn>
                <a:cxn ang="0">
                  <a:pos x="18" y="21"/>
                </a:cxn>
                <a:cxn ang="0">
                  <a:pos x="21" y="18"/>
                </a:cxn>
                <a:cxn ang="0">
                  <a:pos x="24" y="18"/>
                </a:cxn>
                <a:cxn ang="0">
                  <a:pos x="24" y="15"/>
                </a:cxn>
                <a:cxn ang="0">
                  <a:pos x="27" y="15"/>
                </a:cxn>
                <a:cxn ang="0">
                  <a:pos x="27" y="12"/>
                </a:cxn>
                <a:cxn ang="0">
                  <a:pos x="30" y="12"/>
                </a:cxn>
                <a:cxn ang="0">
                  <a:pos x="30" y="9"/>
                </a:cxn>
                <a:cxn ang="0">
                  <a:pos x="27" y="6"/>
                </a:cxn>
                <a:cxn ang="0">
                  <a:pos x="24" y="3"/>
                </a:cxn>
                <a:cxn ang="0">
                  <a:pos x="21" y="0"/>
                </a:cxn>
                <a:cxn ang="0">
                  <a:pos x="18" y="0"/>
                </a:cxn>
                <a:cxn ang="0">
                  <a:pos x="15" y="0"/>
                </a:cxn>
                <a:cxn ang="0">
                  <a:pos x="12" y="0"/>
                </a:cxn>
                <a:cxn ang="0">
                  <a:pos x="9" y="0"/>
                </a:cxn>
              </a:cxnLst>
              <a:rect l="0" t="0" r="r" b="b"/>
              <a:pathLst>
                <a:path w="31" h="25">
                  <a:moveTo>
                    <a:pt x="9" y="0"/>
                  </a:moveTo>
                  <a:lnTo>
                    <a:pt x="9" y="3"/>
                  </a:lnTo>
                  <a:lnTo>
                    <a:pt x="6" y="3"/>
                  </a:lnTo>
                  <a:lnTo>
                    <a:pt x="6" y="6"/>
                  </a:lnTo>
                  <a:lnTo>
                    <a:pt x="3" y="6"/>
                  </a:lnTo>
                  <a:lnTo>
                    <a:pt x="0" y="6"/>
                  </a:lnTo>
                  <a:lnTo>
                    <a:pt x="0" y="9"/>
                  </a:lnTo>
                  <a:lnTo>
                    <a:pt x="0" y="12"/>
                  </a:lnTo>
                  <a:lnTo>
                    <a:pt x="0" y="15"/>
                  </a:lnTo>
                  <a:lnTo>
                    <a:pt x="0" y="18"/>
                  </a:lnTo>
                  <a:lnTo>
                    <a:pt x="0" y="21"/>
                  </a:lnTo>
                  <a:lnTo>
                    <a:pt x="3" y="21"/>
                  </a:lnTo>
                  <a:lnTo>
                    <a:pt x="6" y="21"/>
                  </a:lnTo>
                  <a:lnTo>
                    <a:pt x="6" y="24"/>
                  </a:lnTo>
                  <a:lnTo>
                    <a:pt x="9" y="24"/>
                  </a:lnTo>
                  <a:lnTo>
                    <a:pt x="12" y="24"/>
                  </a:lnTo>
                  <a:lnTo>
                    <a:pt x="15" y="21"/>
                  </a:lnTo>
                  <a:lnTo>
                    <a:pt x="18" y="21"/>
                  </a:lnTo>
                  <a:lnTo>
                    <a:pt x="21" y="18"/>
                  </a:lnTo>
                  <a:lnTo>
                    <a:pt x="24" y="18"/>
                  </a:lnTo>
                  <a:lnTo>
                    <a:pt x="24" y="15"/>
                  </a:lnTo>
                  <a:lnTo>
                    <a:pt x="27" y="15"/>
                  </a:lnTo>
                  <a:lnTo>
                    <a:pt x="27" y="12"/>
                  </a:lnTo>
                  <a:lnTo>
                    <a:pt x="30" y="12"/>
                  </a:lnTo>
                  <a:lnTo>
                    <a:pt x="30" y="9"/>
                  </a:lnTo>
                  <a:lnTo>
                    <a:pt x="27" y="6"/>
                  </a:lnTo>
                  <a:lnTo>
                    <a:pt x="24" y="3"/>
                  </a:lnTo>
                  <a:lnTo>
                    <a:pt x="21" y="0"/>
                  </a:lnTo>
                  <a:lnTo>
                    <a:pt x="18" y="0"/>
                  </a:lnTo>
                  <a:lnTo>
                    <a:pt x="15" y="0"/>
                  </a:lnTo>
                  <a:lnTo>
                    <a:pt x="12" y="0"/>
                  </a:lnTo>
                  <a:lnTo>
                    <a:pt x="9"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35860" name="Freeform 20"/>
            <p:cNvSpPr>
              <a:spLocks noChangeAspect="1"/>
            </p:cNvSpPr>
            <p:nvPr/>
          </p:nvSpPr>
          <p:spPr bwMode="auto">
            <a:xfrm>
              <a:off x="1476" y="2811"/>
              <a:ext cx="43" cy="151"/>
            </a:xfrm>
            <a:custGeom>
              <a:avLst/>
              <a:gdLst/>
              <a:ahLst/>
              <a:cxnLst>
                <a:cxn ang="0">
                  <a:pos x="90" y="0"/>
                </a:cxn>
                <a:cxn ang="0">
                  <a:pos x="81" y="87"/>
                </a:cxn>
                <a:cxn ang="0">
                  <a:pos x="0" y="318"/>
                </a:cxn>
              </a:cxnLst>
              <a:rect l="0" t="0" r="r" b="b"/>
              <a:pathLst>
                <a:path w="91" h="319">
                  <a:moveTo>
                    <a:pt x="90" y="0"/>
                  </a:moveTo>
                  <a:lnTo>
                    <a:pt x="81" y="87"/>
                  </a:lnTo>
                  <a:lnTo>
                    <a:pt x="0" y="318"/>
                  </a:lnTo>
                </a:path>
              </a:pathLst>
            </a:custGeom>
            <a:noFill/>
            <a:ln w="6350" cap="rnd" cmpd="sng">
              <a:solidFill>
                <a:srgbClr val="000000"/>
              </a:solidFill>
              <a:prstDash val="solid"/>
              <a:round/>
              <a:headEnd type="none" w="med" len="med"/>
              <a:tailEnd type="none" w="med" len="med"/>
            </a:ln>
            <a:effectLst/>
          </p:spPr>
          <p:txBody>
            <a:bodyPr/>
            <a:lstStyle/>
            <a:p>
              <a:endParaRPr lang="fr-FR"/>
            </a:p>
          </p:txBody>
        </p:sp>
        <p:sp>
          <p:nvSpPr>
            <p:cNvPr id="35861" name="Freeform 21"/>
            <p:cNvSpPr>
              <a:spLocks noChangeAspect="1"/>
            </p:cNvSpPr>
            <p:nvPr/>
          </p:nvSpPr>
          <p:spPr bwMode="auto">
            <a:xfrm>
              <a:off x="1012" y="2765"/>
              <a:ext cx="18" cy="46"/>
            </a:xfrm>
            <a:custGeom>
              <a:avLst/>
              <a:gdLst/>
              <a:ahLst/>
              <a:cxnLst>
                <a:cxn ang="0">
                  <a:pos x="36" y="0"/>
                </a:cxn>
                <a:cxn ang="0">
                  <a:pos x="27" y="3"/>
                </a:cxn>
                <a:cxn ang="0">
                  <a:pos x="21" y="9"/>
                </a:cxn>
                <a:cxn ang="0">
                  <a:pos x="15" y="12"/>
                </a:cxn>
                <a:cxn ang="0">
                  <a:pos x="9" y="18"/>
                </a:cxn>
                <a:cxn ang="0">
                  <a:pos x="6" y="24"/>
                </a:cxn>
                <a:cxn ang="0">
                  <a:pos x="3" y="33"/>
                </a:cxn>
                <a:cxn ang="0">
                  <a:pos x="3" y="39"/>
                </a:cxn>
                <a:cxn ang="0">
                  <a:pos x="0" y="45"/>
                </a:cxn>
                <a:cxn ang="0">
                  <a:pos x="0" y="51"/>
                </a:cxn>
                <a:cxn ang="0">
                  <a:pos x="0" y="57"/>
                </a:cxn>
                <a:cxn ang="0">
                  <a:pos x="3" y="66"/>
                </a:cxn>
                <a:cxn ang="0">
                  <a:pos x="3" y="72"/>
                </a:cxn>
                <a:cxn ang="0">
                  <a:pos x="6" y="78"/>
                </a:cxn>
                <a:cxn ang="0">
                  <a:pos x="9" y="84"/>
                </a:cxn>
                <a:cxn ang="0">
                  <a:pos x="15" y="96"/>
                </a:cxn>
              </a:cxnLst>
              <a:rect l="0" t="0" r="r" b="b"/>
              <a:pathLst>
                <a:path w="37" h="97">
                  <a:moveTo>
                    <a:pt x="36" y="0"/>
                  </a:moveTo>
                  <a:lnTo>
                    <a:pt x="27" y="3"/>
                  </a:lnTo>
                  <a:lnTo>
                    <a:pt x="21" y="9"/>
                  </a:lnTo>
                  <a:lnTo>
                    <a:pt x="15" y="12"/>
                  </a:lnTo>
                  <a:lnTo>
                    <a:pt x="9" y="18"/>
                  </a:lnTo>
                  <a:lnTo>
                    <a:pt x="6" y="24"/>
                  </a:lnTo>
                  <a:lnTo>
                    <a:pt x="3" y="33"/>
                  </a:lnTo>
                  <a:lnTo>
                    <a:pt x="3" y="39"/>
                  </a:lnTo>
                  <a:lnTo>
                    <a:pt x="0" y="45"/>
                  </a:lnTo>
                  <a:lnTo>
                    <a:pt x="0" y="51"/>
                  </a:lnTo>
                  <a:lnTo>
                    <a:pt x="0" y="57"/>
                  </a:lnTo>
                  <a:lnTo>
                    <a:pt x="3" y="66"/>
                  </a:lnTo>
                  <a:lnTo>
                    <a:pt x="3" y="72"/>
                  </a:lnTo>
                  <a:lnTo>
                    <a:pt x="6" y="78"/>
                  </a:lnTo>
                  <a:lnTo>
                    <a:pt x="9" y="84"/>
                  </a:lnTo>
                  <a:lnTo>
                    <a:pt x="15" y="96"/>
                  </a:lnTo>
                </a:path>
              </a:pathLst>
            </a:custGeom>
            <a:solidFill>
              <a:schemeClr val="tx1"/>
            </a:solidFill>
            <a:ln w="6350" cap="rnd" cmpd="sng">
              <a:solidFill>
                <a:srgbClr val="000000"/>
              </a:solidFill>
              <a:prstDash val="solid"/>
              <a:round/>
              <a:headEnd type="none" w="med" len="med"/>
              <a:tailEnd type="none" w="med" len="med"/>
            </a:ln>
            <a:effectLst/>
          </p:spPr>
          <p:txBody>
            <a:bodyPr/>
            <a:lstStyle/>
            <a:p>
              <a:endParaRPr lang="fr-FR"/>
            </a:p>
          </p:txBody>
        </p:sp>
        <p:sp>
          <p:nvSpPr>
            <p:cNvPr id="35862" name="Line 22"/>
            <p:cNvSpPr>
              <a:spLocks noChangeAspect="1" noChangeShapeType="1"/>
            </p:cNvSpPr>
            <p:nvPr/>
          </p:nvSpPr>
          <p:spPr bwMode="auto">
            <a:xfrm flipH="1" flipV="1">
              <a:off x="843" y="2895"/>
              <a:ext cx="431" cy="224"/>
            </a:xfrm>
            <a:prstGeom prst="line">
              <a:avLst/>
            </a:prstGeom>
            <a:noFill/>
            <a:ln w="12700">
              <a:solidFill>
                <a:srgbClr val="505050"/>
              </a:solidFill>
              <a:round/>
              <a:headEnd/>
              <a:tailEnd/>
            </a:ln>
            <a:effectLst/>
          </p:spPr>
          <p:txBody>
            <a:bodyPr wrap="none" anchor="ctr"/>
            <a:lstStyle/>
            <a:p>
              <a:endParaRPr lang="fr-FR"/>
            </a:p>
          </p:txBody>
        </p:sp>
        <p:sp>
          <p:nvSpPr>
            <p:cNvPr id="35863" name="Line 23"/>
            <p:cNvSpPr>
              <a:spLocks noChangeAspect="1" noChangeShapeType="1"/>
            </p:cNvSpPr>
            <p:nvPr/>
          </p:nvSpPr>
          <p:spPr bwMode="auto">
            <a:xfrm flipH="1" flipV="1">
              <a:off x="798" y="2933"/>
              <a:ext cx="409" cy="221"/>
            </a:xfrm>
            <a:prstGeom prst="line">
              <a:avLst/>
            </a:prstGeom>
            <a:noFill/>
            <a:ln w="12700">
              <a:solidFill>
                <a:srgbClr val="505050"/>
              </a:solidFill>
              <a:round/>
              <a:headEnd/>
              <a:tailEnd/>
            </a:ln>
            <a:effectLst/>
          </p:spPr>
          <p:txBody>
            <a:bodyPr wrap="none" anchor="ctr"/>
            <a:lstStyle/>
            <a:p>
              <a:endParaRPr lang="fr-FR"/>
            </a:p>
          </p:txBody>
        </p:sp>
        <p:sp>
          <p:nvSpPr>
            <p:cNvPr id="35864" name="Line 24"/>
            <p:cNvSpPr>
              <a:spLocks noChangeAspect="1" noChangeShapeType="1"/>
            </p:cNvSpPr>
            <p:nvPr/>
          </p:nvSpPr>
          <p:spPr bwMode="auto">
            <a:xfrm flipH="1" flipV="1">
              <a:off x="724" y="2962"/>
              <a:ext cx="414" cy="230"/>
            </a:xfrm>
            <a:prstGeom prst="line">
              <a:avLst/>
            </a:prstGeom>
            <a:noFill/>
            <a:ln w="12700">
              <a:solidFill>
                <a:srgbClr val="505050"/>
              </a:solidFill>
              <a:round/>
              <a:headEnd/>
              <a:tailEnd/>
            </a:ln>
            <a:effectLst/>
          </p:spPr>
          <p:txBody>
            <a:bodyPr wrap="none" anchor="ctr"/>
            <a:lstStyle/>
            <a:p>
              <a:endParaRPr lang="fr-FR"/>
            </a:p>
          </p:txBody>
        </p:sp>
        <p:sp>
          <p:nvSpPr>
            <p:cNvPr id="35865" name="Freeform 25"/>
            <p:cNvSpPr>
              <a:spLocks noChangeAspect="1"/>
            </p:cNvSpPr>
            <p:nvPr/>
          </p:nvSpPr>
          <p:spPr bwMode="auto">
            <a:xfrm>
              <a:off x="635" y="2973"/>
              <a:ext cx="743" cy="290"/>
            </a:xfrm>
            <a:custGeom>
              <a:avLst/>
              <a:gdLst/>
              <a:ahLst/>
              <a:cxnLst>
                <a:cxn ang="0">
                  <a:pos x="1557" y="210"/>
                </a:cxn>
                <a:cxn ang="0">
                  <a:pos x="1557" y="255"/>
                </a:cxn>
                <a:cxn ang="0">
                  <a:pos x="1053" y="603"/>
                </a:cxn>
                <a:cxn ang="0">
                  <a:pos x="0" y="0"/>
                </a:cxn>
              </a:cxnLst>
              <a:rect l="0" t="0" r="r" b="b"/>
              <a:pathLst>
                <a:path w="1558" h="604">
                  <a:moveTo>
                    <a:pt x="1557" y="210"/>
                  </a:moveTo>
                  <a:lnTo>
                    <a:pt x="1557" y="255"/>
                  </a:lnTo>
                  <a:lnTo>
                    <a:pt x="1053" y="603"/>
                  </a:lnTo>
                  <a:lnTo>
                    <a:pt x="0" y="0"/>
                  </a:lnTo>
                </a:path>
              </a:pathLst>
            </a:custGeom>
            <a:noFill/>
            <a:ln w="6350" cap="rnd" cmpd="sng">
              <a:solidFill>
                <a:schemeClr val="tx1"/>
              </a:solidFill>
              <a:prstDash val="solid"/>
              <a:round/>
              <a:headEnd type="none" w="med" len="med"/>
              <a:tailEnd type="none" w="med" len="med"/>
            </a:ln>
            <a:effectLst/>
          </p:spPr>
          <p:txBody>
            <a:bodyPr/>
            <a:lstStyle/>
            <a:p>
              <a:endParaRPr lang="fr-FR"/>
            </a:p>
          </p:txBody>
        </p:sp>
      </p:grpSp>
      <p:sp>
        <p:nvSpPr>
          <p:cNvPr id="35866" name="Freeform 26"/>
          <p:cNvSpPr>
            <a:spLocks/>
          </p:cNvSpPr>
          <p:nvPr/>
        </p:nvSpPr>
        <p:spPr bwMode="auto">
          <a:xfrm rot="20989915">
            <a:off x="2833688" y="4411663"/>
            <a:ext cx="3040062" cy="441325"/>
          </a:xfrm>
          <a:custGeom>
            <a:avLst/>
            <a:gdLst/>
            <a:ahLst/>
            <a:cxnLst>
              <a:cxn ang="0">
                <a:pos x="0" y="69"/>
              </a:cxn>
              <a:cxn ang="0">
                <a:pos x="1081" y="0"/>
              </a:cxn>
              <a:cxn ang="0">
                <a:pos x="910" y="159"/>
              </a:cxn>
              <a:cxn ang="0">
                <a:pos x="1807" y="123"/>
              </a:cxn>
              <a:cxn ang="0">
                <a:pos x="648" y="271"/>
              </a:cxn>
              <a:cxn ang="0">
                <a:pos x="915" y="98"/>
              </a:cxn>
              <a:cxn ang="0">
                <a:pos x="0" y="69"/>
              </a:cxn>
            </a:cxnLst>
            <a:rect l="0" t="0" r="r" b="b"/>
            <a:pathLst>
              <a:path w="1808" h="272">
                <a:moveTo>
                  <a:pt x="0" y="69"/>
                </a:moveTo>
                <a:lnTo>
                  <a:pt x="1081" y="0"/>
                </a:lnTo>
                <a:lnTo>
                  <a:pt x="910" y="159"/>
                </a:lnTo>
                <a:lnTo>
                  <a:pt x="1807" y="123"/>
                </a:lnTo>
                <a:lnTo>
                  <a:pt x="648" y="271"/>
                </a:lnTo>
                <a:lnTo>
                  <a:pt x="915" y="98"/>
                </a:lnTo>
                <a:lnTo>
                  <a:pt x="0" y="69"/>
                </a:lnTo>
              </a:path>
            </a:pathLst>
          </a:custGeom>
          <a:solidFill>
            <a:schemeClr val="accent2"/>
          </a:solidFill>
          <a:ln w="6350" cap="rnd" cmpd="sng">
            <a:solidFill>
              <a:srgbClr val="800080"/>
            </a:solidFill>
            <a:prstDash val="solid"/>
            <a:round/>
            <a:headEnd type="none" w="med" len="med"/>
            <a:tailEnd type="none" w="med" len="med"/>
          </a:ln>
          <a:effectLst>
            <a:outerShdw dist="50800" dir="5400000" algn="ctr" rotWithShape="0">
              <a:srgbClr val="C0C0C0"/>
            </a:outerShdw>
          </a:effectLst>
        </p:spPr>
        <p:txBody>
          <a:bodyPr/>
          <a:lstStyle/>
          <a:p>
            <a:endParaRPr lang="fr-FR"/>
          </a:p>
        </p:txBody>
      </p:sp>
      <p:grpSp>
        <p:nvGrpSpPr>
          <p:cNvPr id="35867" name="Group 27"/>
          <p:cNvGrpSpPr>
            <a:grpSpLocks/>
          </p:cNvGrpSpPr>
          <p:nvPr/>
        </p:nvGrpSpPr>
        <p:grpSpPr bwMode="auto">
          <a:xfrm>
            <a:off x="883921" y="1652588"/>
            <a:ext cx="6062980" cy="1608772"/>
            <a:chOff x="846" y="1041"/>
            <a:chExt cx="3763" cy="876"/>
          </a:xfrm>
        </p:grpSpPr>
        <p:sp>
          <p:nvSpPr>
            <p:cNvPr id="35868" name="Rectangle 28"/>
            <p:cNvSpPr>
              <a:spLocks noChangeArrowheads="1"/>
            </p:cNvSpPr>
            <p:nvPr/>
          </p:nvSpPr>
          <p:spPr bwMode="auto">
            <a:xfrm>
              <a:off x="846" y="1041"/>
              <a:ext cx="1825" cy="390"/>
            </a:xfrm>
            <a:prstGeom prst="rect">
              <a:avLst/>
            </a:prstGeom>
            <a:gradFill rotWithShape="0">
              <a:gsLst>
                <a:gs pos="0">
                  <a:srgbClr val="FFFFFF"/>
                </a:gs>
                <a:gs pos="100000">
                  <a:srgbClr val="FFFFCC"/>
                </a:gs>
              </a:gsLst>
              <a:lin ang="0" scaled="1"/>
            </a:gradFill>
            <a:ln w="9525">
              <a:noFill/>
              <a:miter lim="800000"/>
              <a:headEnd/>
              <a:tailEnd/>
            </a:ln>
            <a:effectLst/>
          </p:spPr>
          <p:txBody>
            <a:bodyPr anchor="ctr"/>
            <a:lstStyle/>
            <a:p>
              <a:pPr marL="263525" indent="-263525">
                <a:buClr>
                  <a:schemeClr val="accent2"/>
                </a:buClr>
                <a:buSzPct val="60000"/>
                <a:buFont typeface="Wingdings" pitchFamily="2" charset="2"/>
                <a:buChar char="l"/>
              </a:pPr>
              <a:r>
                <a:rPr lang="en-US" sz="2400" b="1">
                  <a:latin typeface="Arial" charset="0"/>
                </a:rPr>
                <a:t>RTPC</a:t>
              </a:r>
            </a:p>
          </p:txBody>
        </p:sp>
        <p:sp>
          <p:nvSpPr>
            <p:cNvPr id="35869" name="Rectangle 29"/>
            <p:cNvSpPr>
              <a:spLocks noChangeArrowheads="1"/>
            </p:cNvSpPr>
            <p:nvPr/>
          </p:nvSpPr>
          <p:spPr bwMode="auto">
            <a:xfrm>
              <a:off x="846" y="1527"/>
              <a:ext cx="1825" cy="390"/>
            </a:xfrm>
            <a:prstGeom prst="rect">
              <a:avLst/>
            </a:prstGeom>
            <a:gradFill rotWithShape="0">
              <a:gsLst>
                <a:gs pos="0">
                  <a:srgbClr val="FFFFFF"/>
                </a:gs>
                <a:gs pos="100000">
                  <a:srgbClr val="FFFFCC"/>
                </a:gs>
              </a:gsLst>
              <a:lin ang="0" scaled="1"/>
            </a:gradFill>
            <a:ln w="9525">
              <a:noFill/>
              <a:miter lim="800000"/>
              <a:headEnd/>
              <a:tailEnd/>
            </a:ln>
            <a:effectLst/>
          </p:spPr>
          <p:txBody>
            <a:bodyPr anchor="ctr"/>
            <a:lstStyle/>
            <a:p>
              <a:pPr marL="263525" indent="-263525">
                <a:buClr>
                  <a:schemeClr val="accent2"/>
                </a:buClr>
                <a:buSzPct val="60000"/>
                <a:buFont typeface="Wingdings" pitchFamily="2" charset="2"/>
                <a:buChar char="l"/>
              </a:pPr>
              <a:r>
                <a:rPr lang="en-US" sz="2400" b="1">
                  <a:latin typeface="Arial" charset="0"/>
                </a:rPr>
                <a:t>RNIS</a:t>
              </a:r>
            </a:p>
          </p:txBody>
        </p:sp>
        <p:sp>
          <p:nvSpPr>
            <p:cNvPr id="35870" name="Rectangle 30"/>
            <p:cNvSpPr>
              <a:spLocks noChangeArrowheads="1"/>
            </p:cNvSpPr>
            <p:nvPr/>
          </p:nvSpPr>
          <p:spPr bwMode="auto">
            <a:xfrm>
              <a:off x="2784" y="1041"/>
              <a:ext cx="1825" cy="390"/>
            </a:xfrm>
            <a:prstGeom prst="rect">
              <a:avLst/>
            </a:prstGeom>
            <a:gradFill rotWithShape="0">
              <a:gsLst>
                <a:gs pos="0">
                  <a:srgbClr val="FFFFFF"/>
                </a:gs>
                <a:gs pos="100000">
                  <a:srgbClr val="FFFFCC"/>
                </a:gs>
              </a:gsLst>
              <a:lin ang="0" scaled="1"/>
            </a:gradFill>
            <a:ln w="9525">
              <a:noFill/>
              <a:miter lim="800000"/>
              <a:headEnd/>
              <a:tailEnd/>
            </a:ln>
            <a:effectLst/>
          </p:spPr>
          <p:txBody>
            <a:bodyPr anchor="ctr"/>
            <a:lstStyle/>
            <a:p>
              <a:pPr marL="263525" indent="-263525">
                <a:buClr>
                  <a:schemeClr val="accent2"/>
                </a:buClr>
                <a:buSzPct val="60000"/>
                <a:buFont typeface="Wingdings" pitchFamily="2" charset="2"/>
                <a:buChar char="l"/>
              </a:pPr>
              <a:r>
                <a:rPr lang="en-US" sz="2400" b="1">
                  <a:latin typeface="Arial" charset="0"/>
                </a:rPr>
                <a:t>Modem câble</a:t>
              </a:r>
            </a:p>
          </p:txBody>
        </p:sp>
        <p:sp>
          <p:nvSpPr>
            <p:cNvPr id="35871" name="Rectangle 31"/>
            <p:cNvSpPr>
              <a:spLocks noChangeArrowheads="1"/>
            </p:cNvSpPr>
            <p:nvPr/>
          </p:nvSpPr>
          <p:spPr bwMode="auto">
            <a:xfrm>
              <a:off x="2784" y="1527"/>
              <a:ext cx="1825" cy="390"/>
            </a:xfrm>
            <a:prstGeom prst="rect">
              <a:avLst/>
            </a:prstGeom>
            <a:gradFill rotWithShape="0">
              <a:gsLst>
                <a:gs pos="0">
                  <a:srgbClr val="FFFFFF"/>
                </a:gs>
                <a:gs pos="100000">
                  <a:srgbClr val="FFFFCC"/>
                </a:gs>
              </a:gsLst>
              <a:lin ang="0" scaled="1"/>
            </a:gradFill>
            <a:ln w="9525">
              <a:noFill/>
              <a:miter lim="800000"/>
              <a:headEnd/>
              <a:tailEnd/>
            </a:ln>
            <a:effectLst/>
          </p:spPr>
          <p:txBody>
            <a:bodyPr anchor="ctr"/>
            <a:lstStyle/>
            <a:p>
              <a:pPr marL="263525" indent="-263525">
                <a:buClr>
                  <a:schemeClr val="accent2"/>
                </a:buClr>
                <a:buSzPct val="60000"/>
                <a:buFont typeface="Wingdings" pitchFamily="2" charset="2"/>
                <a:buChar char="l"/>
              </a:pPr>
              <a:r>
                <a:rPr lang="en-US" sz="2400" b="1" dirty="0">
                  <a:latin typeface="Arial" charset="0"/>
                </a:rPr>
                <a:t>X.25</a:t>
              </a:r>
            </a:p>
          </p:txBody>
        </p:sp>
      </p:grpSp>
      <p:sp>
        <p:nvSpPr>
          <p:cNvPr id="35872" name="Rectangle 32"/>
          <p:cNvSpPr>
            <a:spLocks noChangeArrowheads="1"/>
          </p:cNvSpPr>
          <p:nvPr/>
        </p:nvSpPr>
        <p:spPr bwMode="auto">
          <a:xfrm>
            <a:off x="3222625" y="3577908"/>
            <a:ext cx="2894013" cy="619125"/>
          </a:xfrm>
          <a:prstGeom prst="rect">
            <a:avLst/>
          </a:prstGeom>
          <a:noFill/>
          <a:ln w="9525">
            <a:noFill/>
            <a:miter lim="800000"/>
            <a:headEnd/>
            <a:tailEnd/>
          </a:ln>
          <a:effectLst/>
        </p:spPr>
        <p:txBody>
          <a:bodyPr anchor="ctr"/>
          <a:lstStyle/>
          <a:p>
            <a:pPr marL="263525" indent="-263525">
              <a:buClr>
                <a:schemeClr val="accent2"/>
              </a:buClr>
              <a:buSzPct val="60000"/>
            </a:pPr>
            <a:r>
              <a:rPr lang="en-US" sz="2200" b="1">
                <a:latin typeface="Arial" charset="0"/>
              </a:rPr>
              <a:t>Connexion directe</a:t>
            </a:r>
          </a:p>
        </p:txBody>
      </p:sp>
      <p:grpSp>
        <p:nvGrpSpPr>
          <p:cNvPr id="35873" name="Group 33"/>
          <p:cNvGrpSpPr>
            <a:grpSpLocks/>
          </p:cNvGrpSpPr>
          <p:nvPr/>
        </p:nvGrpSpPr>
        <p:grpSpPr bwMode="auto">
          <a:xfrm>
            <a:off x="6283325" y="2936875"/>
            <a:ext cx="1485900" cy="2400300"/>
            <a:chOff x="528" y="887"/>
            <a:chExt cx="844" cy="1363"/>
          </a:xfrm>
        </p:grpSpPr>
        <p:sp>
          <p:nvSpPr>
            <p:cNvPr id="35874" name="Freeform 34"/>
            <p:cNvSpPr>
              <a:spLocks/>
            </p:cNvSpPr>
            <p:nvPr/>
          </p:nvSpPr>
          <p:spPr bwMode="auto">
            <a:xfrm>
              <a:off x="531" y="887"/>
              <a:ext cx="840" cy="292"/>
            </a:xfrm>
            <a:custGeom>
              <a:avLst/>
              <a:gdLst/>
              <a:ahLst/>
              <a:cxnLst>
                <a:cxn ang="0">
                  <a:pos x="0" y="307"/>
                </a:cxn>
                <a:cxn ang="0">
                  <a:pos x="577" y="448"/>
                </a:cxn>
                <a:cxn ang="0">
                  <a:pos x="1290" y="127"/>
                </a:cxn>
                <a:cxn ang="0">
                  <a:pos x="727" y="0"/>
                </a:cxn>
                <a:cxn ang="0">
                  <a:pos x="0" y="307"/>
                </a:cxn>
              </a:cxnLst>
              <a:rect l="0" t="0" r="r" b="b"/>
              <a:pathLst>
                <a:path w="1291" h="449">
                  <a:moveTo>
                    <a:pt x="0" y="307"/>
                  </a:moveTo>
                  <a:lnTo>
                    <a:pt x="577" y="448"/>
                  </a:lnTo>
                  <a:lnTo>
                    <a:pt x="1290" y="127"/>
                  </a:lnTo>
                  <a:lnTo>
                    <a:pt x="727" y="0"/>
                  </a:lnTo>
                  <a:lnTo>
                    <a:pt x="0" y="307"/>
                  </a:lnTo>
                </a:path>
              </a:pathLst>
            </a:custGeom>
            <a:solidFill>
              <a:schemeClr val="bg1"/>
            </a:solidFill>
            <a:ln w="6350" cap="rnd" cmpd="sng">
              <a:solidFill>
                <a:schemeClr val="tx1"/>
              </a:solidFill>
              <a:prstDash val="solid"/>
              <a:round/>
              <a:headEnd type="none" w="med" len="med"/>
              <a:tailEnd type="none" w="med" len="med"/>
            </a:ln>
            <a:effectLst/>
          </p:spPr>
          <p:txBody>
            <a:bodyPr/>
            <a:lstStyle/>
            <a:p>
              <a:endParaRPr lang="fr-FR"/>
            </a:p>
          </p:txBody>
        </p:sp>
        <p:sp>
          <p:nvSpPr>
            <p:cNvPr id="35875" name="Freeform 35"/>
            <p:cNvSpPr>
              <a:spLocks/>
            </p:cNvSpPr>
            <p:nvPr/>
          </p:nvSpPr>
          <p:spPr bwMode="auto">
            <a:xfrm>
              <a:off x="544" y="1901"/>
              <a:ext cx="815" cy="349"/>
            </a:xfrm>
            <a:custGeom>
              <a:avLst/>
              <a:gdLst/>
              <a:ahLst/>
              <a:cxnLst>
                <a:cxn ang="0">
                  <a:pos x="0" y="292"/>
                </a:cxn>
                <a:cxn ang="0">
                  <a:pos x="0" y="370"/>
                </a:cxn>
                <a:cxn ang="0">
                  <a:pos x="567" y="535"/>
                </a:cxn>
                <a:cxn ang="0">
                  <a:pos x="1251" y="92"/>
                </a:cxn>
                <a:cxn ang="0">
                  <a:pos x="1251" y="0"/>
                </a:cxn>
              </a:cxnLst>
              <a:rect l="0" t="0" r="r" b="b"/>
              <a:pathLst>
                <a:path w="1252" h="536">
                  <a:moveTo>
                    <a:pt x="0" y="292"/>
                  </a:moveTo>
                  <a:lnTo>
                    <a:pt x="0" y="370"/>
                  </a:lnTo>
                  <a:lnTo>
                    <a:pt x="567" y="535"/>
                  </a:lnTo>
                  <a:lnTo>
                    <a:pt x="1251" y="92"/>
                  </a:lnTo>
                  <a:lnTo>
                    <a:pt x="1251" y="0"/>
                  </a:lnTo>
                </a:path>
              </a:pathLst>
            </a:custGeom>
            <a:solidFill>
              <a:srgbClr val="969696"/>
            </a:solidFill>
            <a:ln w="6350" cap="rnd" cmpd="sng">
              <a:solidFill>
                <a:schemeClr val="tx1"/>
              </a:solidFill>
              <a:prstDash val="solid"/>
              <a:round/>
              <a:headEnd type="none" w="med" len="med"/>
              <a:tailEnd type="none" w="med" len="med"/>
            </a:ln>
            <a:effectLst/>
          </p:spPr>
          <p:txBody>
            <a:bodyPr/>
            <a:lstStyle/>
            <a:p>
              <a:endParaRPr lang="fr-FR"/>
            </a:p>
          </p:txBody>
        </p:sp>
        <p:sp>
          <p:nvSpPr>
            <p:cNvPr id="35876" name="Freeform 36"/>
            <p:cNvSpPr>
              <a:spLocks/>
            </p:cNvSpPr>
            <p:nvPr/>
          </p:nvSpPr>
          <p:spPr bwMode="auto">
            <a:xfrm>
              <a:off x="898" y="968"/>
              <a:ext cx="474" cy="1248"/>
            </a:xfrm>
            <a:custGeom>
              <a:avLst/>
              <a:gdLst/>
              <a:ahLst/>
              <a:cxnLst>
                <a:cxn ang="0">
                  <a:pos x="0" y="328"/>
                </a:cxn>
                <a:cxn ang="0">
                  <a:pos x="4" y="1915"/>
                </a:cxn>
                <a:cxn ang="0">
                  <a:pos x="728" y="1456"/>
                </a:cxn>
                <a:cxn ang="0">
                  <a:pos x="728" y="0"/>
                </a:cxn>
                <a:cxn ang="0">
                  <a:pos x="0" y="328"/>
                </a:cxn>
              </a:cxnLst>
              <a:rect l="0" t="0" r="r" b="b"/>
              <a:pathLst>
                <a:path w="729" h="1916">
                  <a:moveTo>
                    <a:pt x="0" y="328"/>
                  </a:moveTo>
                  <a:lnTo>
                    <a:pt x="4" y="1915"/>
                  </a:lnTo>
                  <a:lnTo>
                    <a:pt x="728" y="1456"/>
                  </a:lnTo>
                  <a:lnTo>
                    <a:pt x="728" y="0"/>
                  </a:lnTo>
                  <a:lnTo>
                    <a:pt x="0" y="328"/>
                  </a:lnTo>
                </a:path>
              </a:pathLst>
            </a:custGeom>
            <a:gradFill rotWithShape="0">
              <a:gsLst>
                <a:gs pos="0">
                  <a:srgbClr val="B2B2B2"/>
                </a:gs>
                <a:gs pos="100000">
                  <a:srgbClr val="B2B2B2">
                    <a:gamma/>
                    <a:tint val="34118"/>
                    <a:invGamma/>
                  </a:srgbClr>
                </a:gs>
              </a:gsLst>
              <a:path path="rect">
                <a:fillToRect l="100000" t="100000"/>
              </a:path>
            </a:gradFill>
            <a:ln w="6350" cap="rnd" cmpd="sng">
              <a:solidFill>
                <a:schemeClr val="tx1"/>
              </a:solidFill>
              <a:prstDash val="solid"/>
              <a:round/>
              <a:headEnd type="none" w="med" len="med"/>
              <a:tailEnd type="none" w="med" len="med"/>
            </a:ln>
            <a:effectLst/>
          </p:spPr>
          <p:txBody>
            <a:bodyPr/>
            <a:lstStyle/>
            <a:p>
              <a:endParaRPr lang="fr-FR"/>
            </a:p>
          </p:txBody>
        </p:sp>
        <p:sp>
          <p:nvSpPr>
            <p:cNvPr id="35877" name="Freeform 37"/>
            <p:cNvSpPr>
              <a:spLocks/>
            </p:cNvSpPr>
            <p:nvPr/>
          </p:nvSpPr>
          <p:spPr bwMode="auto">
            <a:xfrm>
              <a:off x="528" y="1086"/>
              <a:ext cx="375" cy="1124"/>
            </a:xfrm>
            <a:custGeom>
              <a:avLst/>
              <a:gdLst/>
              <a:ahLst/>
              <a:cxnLst>
                <a:cxn ang="0">
                  <a:pos x="576" y="140"/>
                </a:cxn>
                <a:cxn ang="0">
                  <a:pos x="576" y="1727"/>
                </a:cxn>
                <a:cxn ang="0">
                  <a:pos x="0" y="1568"/>
                </a:cxn>
                <a:cxn ang="0">
                  <a:pos x="0" y="0"/>
                </a:cxn>
                <a:cxn ang="0">
                  <a:pos x="576" y="140"/>
                </a:cxn>
              </a:cxnLst>
              <a:rect l="0" t="0" r="r" b="b"/>
              <a:pathLst>
                <a:path w="577" h="1728">
                  <a:moveTo>
                    <a:pt x="576" y="140"/>
                  </a:moveTo>
                  <a:lnTo>
                    <a:pt x="576" y="1727"/>
                  </a:lnTo>
                  <a:lnTo>
                    <a:pt x="0" y="1568"/>
                  </a:lnTo>
                  <a:lnTo>
                    <a:pt x="0" y="0"/>
                  </a:lnTo>
                  <a:lnTo>
                    <a:pt x="576" y="140"/>
                  </a:lnTo>
                </a:path>
              </a:pathLst>
            </a:custGeom>
            <a:gradFill rotWithShape="0">
              <a:gsLst>
                <a:gs pos="0">
                  <a:srgbClr val="B2B2B2">
                    <a:gamma/>
                    <a:tint val="23529"/>
                    <a:invGamma/>
                  </a:srgbClr>
                </a:gs>
                <a:gs pos="100000">
                  <a:srgbClr val="B2B2B2"/>
                </a:gs>
              </a:gsLst>
              <a:lin ang="5400000" scaled="1"/>
            </a:gradFill>
            <a:ln w="6350" cap="rnd" cmpd="sng">
              <a:solidFill>
                <a:schemeClr val="tx1"/>
              </a:solidFill>
              <a:prstDash val="solid"/>
              <a:round/>
              <a:headEnd type="none" w="med" len="med"/>
              <a:tailEnd type="none" w="med" len="med"/>
            </a:ln>
            <a:effectLst/>
          </p:spPr>
          <p:txBody>
            <a:bodyPr/>
            <a:lstStyle/>
            <a:p>
              <a:endParaRPr lang="fr-FR"/>
            </a:p>
          </p:txBody>
        </p:sp>
        <p:sp>
          <p:nvSpPr>
            <p:cNvPr id="35878" name="Line 38"/>
            <p:cNvSpPr>
              <a:spLocks noChangeShapeType="1"/>
            </p:cNvSpPr>
            <p:nvPr/>
          </p:nvSpPr>
          <p:spPr bwMode="auto">
            <a:xfrm>
              <a:off x="580" y="2032"/>
              <a:ext cx="259" cy="68"/>
            </a:xfrm>
            <a:prstGeom prst="line">
              <a:avLst/>
            </a:prstGeom>
            <a:noFill/>
            <a:ln w="6350">
              <a:solidFill>
                <a:srgbClr val="676767"/>
              </a:solidFill>
              <a:round/>
              <a:headEnd/>
              <a:tailEnd/>
            </a:ln>
            <a:effectLst/>
          </p:spPr>
          <p:txBody>
            <a:bodyPr wrap="none" anchor="ctr"/>
            <a:lstStyle/>
            <a:p>
              <a:endParaRPr lang="fr-FR"/>
            </a:p>
          </p:txBody>
        </p:sp>
        <p:sp>
          <p:nvSpPr>
            <p:cNvPr id="35879" name="Oval 39"/>
            <p:cNvSpPr>
              <a:spLocks noChangeArrowheads="1"/>
            </p:cNvSpPr>
            <p:nvPr/>
          </p:nvSpPr>
          <p:spPr bwMode="auto">
            <a:xfrm>
              <a:off x="571" y="1141"/>
              <a:ext cx="42" cy="24"/>
            </a:xfrm>
            <a:prstGeom prst="ellipse">
              <a:avLst/>
            </a:prstGeom>
            <a:solidFill>
              <a:schemeClr val="accent2"/>
            </a:solidFill>
            <a:ln w="12700">
              <a:noFill/>
              <a:round/>
              <a:headEnd/>
              <a:tailEnd/>
            </a:ln>
            <a:effectLst/>
          </p:spPr>
          <p:txBody>
            <a:bodyPr wrap="none" anchor="ctr"/>
            <a:lstStyle/>
            <a:p>
              <a:endParaRPr lang="fr-FR"/>
            </a:p>
          </p:txBody>
        </p:sp>
        <p:sp>
          <p:nvSpPr>
            <p:cNvPr id="35880" name="Line 40"/>
            <p:cNvSpPr>
              <a:spLocks noChangeShapeType="1"/>
            </p:cNvSpPr>
            <p:nvPr/>
          </p:nvSpPr>
          <p:spPr bwMode="auto">
            <a:xfrm>
              <a:off x="580" y="1980"/>
              <a:ext cx="259" cy="69"/>
            </a:xfrm>
            <a:prstGeom prst="line">
              <a:avLst/>
            </a:prstGeom>
            <a:noFill/>
            <a:ln w="6350">
              <a:solidFill>
                <a:srgbClr val="676767"/>
              </a:solidFill>
              <a:round/>
              <a:headEnd/>
              <a:tailEnd/>
            </a:ln>
            <a:effectLst/>
          </p:spPr>
          <p:txBody>
            <a:bodyPr wrap="none" anchor="ctr"/>
            <a:lstStyle/>
            <a:p>
              <a:endParaRPr lang="fr-FR"/>
            </a:p>
          </p:txBody>
        </p:sp>
        <p:sp>
          <p:nvSpPr>
            <p:cNvPr id="35881" name="Line 41"/>
            <p:cNvSpPr>
              <a:spLocks noChangeShapeType="1"/>
            </p:cNvSpPr>
            <p:nvPr/>
          </p:nvSpPr>
          <p:spPr bwMode="auto">
            <a:xfrm>
              <a:off x="580" y="1929"/>
              <a:ext cx="259" cy="70"/>
            </a:xfrm>
            <a:prstGeom prst="line">
              <a:avLst/>
            </a:prstGeom>
            <a:noFill/>
            <a:ln w="6350">
              <a:solidFill>
                <a:srgbClr val="676767"/>
              </a:solidFill>
              <a:round/>
              <a:headEnd/>
              <a:tailEnd/>
            </a:ln>
            <a:effectLst/>
          </p:spPr>
          <p:txBody>
            <a:bodyPr wrap="none" anchor="ctr"/>
            <a:lstStyle/>
            <a:p>
              <a:endParaRPr lang="fr-FR"/>
            </a:p>
          </p:txBody>
        </p:sp>
        <p:sp>
          <p:nvSpPr>
            <p:cNvPr id="35882" name="Line 42"/>
            <p:cNvSpPr>
              <a:spLocks noChangeShapeType="1"/>
            </p:cNvSpPr>
            <p:nvPr/>
          </p:nvSpPr>
          <p:spPr bwMode="auto">
            <a:xfrm>
              <a:off x="580" y="1879"/>
              <a:ext cx="259" cy="69"/>
            </a:xfrm>
            <a:prstGeom prst="line">
              <a:avLst/>
            </a:prstGeom>
            <a:noFill/>
            <a:ln w="6350">
              <a:solidFill>
                <a:srgbClr val="676767"/>
              </a:solidFill>
              <a:round/>
              <a:headEnd/>
              <a:tailEnd/>
            </a:ln>
            <a:effectLst/>
          </p:spPr>
          <p:txBody>
            <a:bodyPr wrap="none" anchor="ctr"/>
            <a:lstStyle/>
            <a:p>
              <a:endParaRPr lang="fr-FR"/>
            </a:p>
          </p:txBody>
        </p:sp>
        <p:sp>
          <p:nvSpPr>
            <p:cNvPr id="35883" name="Line 43"/>
            <p:cNvSpPr>
              <a:spLocks noChangeShapeType="1"/>
            </p:cNvSpPr>
            <p:nvPr/>
          </p:nvSpPr>
          <p:spPr bwMode="auto">
            <a:xfrm>
              <a:off x="580" y="1827"/>
              <a:ext cx="259" cy="69"/>
            </a:xfrm>
            <a:prstGeom prst="line">
              <a:avLst/>
            </a:prstGeom>
            <a:noFill/>
            <a:ln w="6350">
              <a:solidFill>
                <a:srgbClr val="676767"/>
              </a:solidFill>
              <a:round/>
              <a:headEnd/>
              <a:tailEnd/>
            </a:ln>
            <a:effectLst/>
          </p:spPr>
          <p:txBody>
            <a:bodyPr wrap="none" anchor="ctr"/>
            <a:lstStyle/>
            <a:p>
              <a:endParaRPr lang="fr-FR"/>
            </a:p>
          </p:txBody>
        </p:sp>
        <p:sp>
          <p:nvSpPr>
            <p:cNvPr id="35884" name="Freeform 44"/>
            <p:cNvSpPr>
              <a:spLocks/>
            </p:cNvSpPr>
            <p:nvPr/>
          </p:nvSpPr>
          <p:spPr bwMode="auto">
            <a:xfrm>
              <a:off x="584" y="1337"/>
              <a:ext cx="257" cy="478"/>
            </a:xfrm>
            <a:custGeom>
              <a:avLst/>
              <a:gdLst/>
              <a:ahLst/>
              <a:cxnLst>
                <a:cxn ang="0">
                  <a:pos x="0" y="628"/>
                </a:cxn>
                <a:cxn ang="0">
                  <a:pos x="396" y="732"/>
                </a:cxn>
                <a:cxn ang="0">
                  <a:pos x="396" y="0"/>
                </a:cxn>
              </a:cxnLst>
              <a:rect l="0" t="0" r="r" b="b"/>
              <a:pathLst>
                <a:path w="397" h="733">
                  <a:moveTo>
                    <a:pt x="0" y="628"/>
                  </a:moveTo>
                  <a:lnTo>
                    <a:pt x="396" y="732"/>
                  </a:lnTo>
                  <a:lnTo>
                    <a:pt x="396" y="0"/>
                  </a:lnTo>
                </a:path>
              </a:pathLst>
            </a:custGeom>
            <a:noFill/>
            <a:ln w="6350" cap="rnd" cmpd="sng">
              <a:solidFill>
                <a:srgbClr val="676767"/>
              </a:solidFill>
              <a:prstDash val="solid"/>
              <a:round/>
              <a:headEnd type="none" w="med" len="med"/>
              <a:tailEnd type="none" w="med" len="med"/>
            </a:ln>
            <a:effectLst/>
          </p:spPr>
          <p:txBody>
            <a:bodyPr/>
            <a:lstStyle/>
            <a:p>
              <a:endParaRPr lang="fr-FR"/>
            </a:p>
          </p:txBody>
        </p:sp>
        <p:sp>
          <p:nvSpPr>
            <p:cNvPr id="35885" name="Freeform 45"/>
            <p:cNvSpPr>
              <a:spLocks/>
            </p:cNvSpPr>
            <p:nvPr/>
          </p:nvSpPr>
          <p:spPr bwMode="auto">
            <a:xfrm>
              <a:off x="557" y="1242"/>
              <a:ext cx="294" cy="833"/>
            </a:xfrm>
            <a:custGeom>
              <a:avLst/>
              <a:gdLst/>
              <a:ahLst/>
              <a:cxnLst>
                <a:cxn ang="0">
                  <a:pos x="452" y="105"/>
                </a:cxn>
                <a:cxn ang="0">
                  <a:pos x="0" y="0"/>
                </a:cxn>
                <a:cxn ang="0">
                  <a:pos x="0" y="1277"/>
                </a:cxn>
              </a:cxnLst>
              <a:rect l="0" t="0" r="r" b="b"/>
              <a:pathLst>
                <a:path w="453" h="1278">
                  <a:moveTo>
                    <a:pt x="452" y="105"/>
                  </a:moveTo>
                  <a:lnTo>
                    <a:pt x="0" y="0"/>
                  </a:lnTo>
                  <a:lnTo>
                    <a:pt x="0" y="1277"/>
                  </a:lnTo>
                </a:path>
              </a:pathLst>
            </a:custGeom>
            <a:noFill/>
            <a:ln w="6350" cap="rnd" cmpd="sng">
              <a:solidFill>
                <a:schemeClr val="tx1"/>
              </a:solidFill>
              <a:prstDash val="solid"/>
              <a:round/>
              <a:headEnd type="none" w="med" len="med"/>
              <a:tailEnd type="none" w="med" len="med"/>
            </a:ln>
            <a:effectLst/>
          </p:spPr>
          <p:txBody>
            <a:bodyPr/>
            <a:lstStyle/>
            <a:p>
              <a:endParaRPr lang="fr-FR"/>
            </a:p>
          </p:txBody>
        </p:sp>
        <p:sp>
          <p:nvSpPr>
            <p:cNvPr id="35886" name="Freeform 46"/>
            <p:cNvSpPr>
              <a:spLocks/>
            </p:cNvSpPr>
            <p:nvPr/>
          </p:nvSpPr>
          <p:spPr bwMode="auto">
            <a:xfrm>
              <a:off x="576" y="1274"/>
              <a:ext cx="262" cy="473"/>
            </a:xfrm>
            <a:custGeom>
              <a:avLst/>
              <a:gdLst/>
              <a:ahLst/>
              <a:cxnLst>
                <a:cxn ang="0">
                  <a:pos x="401" y="96"/>
                </a:cxn>
                <a:cxn ang="0">
                  <a:pos x="0" y="0"/>
                </a:cxn>
                <a:cxn ang="0">
                  <a:pos x="0" y="725"/>
                </a:cxn>
              </a:cxnLst>
              <a:rect l="0" t="0" r="r" b="b"/>
              <a:pathLst>
                <a:path w="402" h="726">
                  <a:moveTo>
                    <a:pt x="401" y="96"/>
                  </a:moveTo>
                  <a:lnTo>
                    <a:pt x="0" y="0"/>
                  </a:lnTo>
                  <a:lnTo>
                    <a:pt x="0" y="725"/>
                  </a:lnTo>
                </a:path>
              </a:pathLst>
            </a:custGeom>
            <a:noFill/>
            <a:ln w="6350" cap="rnd" cmpd="sng">
              <a:solidFill>
                <a:schemeClr val="tx1"/>
              </a:solidFill>
              <a:prstDash val="solid"/>
              <a:round/>
              <a:headEnd type="none" w="med" len="med"/>
              <a:tailEnd type="none" w="med" len="med"/>
            </a:ln>
            <a:effectLst/>
          </p:spPr>
          <p:txBody>
            <a:bodyPr/>
            <a:lstStyle/>
            <a:p>
              <a:endParaRPr lang="fr-FR"/>
            </a:p>
          </p:txBody>
        </p:sp>
        <p:sp>
          <p:nvSpPr>
            <p:cNvPr id="35887" name="Line 47"/>
            <p:cNvSpPr>
              <a:spLocks noChangeShapeType="1"/>
            </p:cNvSpPr>
            <p:nvPr/>
          </p:nvSpPr>
          <p:spPr bwMode="auto">
            <a:xfrm>
              <a:off x="578" y="1382"/>
              <a:ext cx="252" cy="58"/>
            </a:xfrm>
            <a:prstGeom prst="line">
              <a:avLst/>
            </a:prstGeom>
            <a:noFill/>
            <a:ln w="6350">
              <a:solidFill>
                <a:srgbClr val="676767"/>
              </a:solidFill>
              <a:round/>
              <a:headEnd/>
              <a:tailEnd/>
            </a:ln>
            <a:effectLst/>
          </p:spPr>
          <p:txBody>
            <a:bodyPr wrap="none" anchor="ctr"/>
            <a:lstStyle/>
            <a:p>
              <a:endParaRPr lang="fr-FR"/>
            </a:p>
          </p:txBody>
        </p:sp>
        <p:sp>
          <p:nvSpPr>
            <p:cNvPr id="35888" name="Line 48"/>
            <p:cNvSpPr>
              <a:spLocks noChangeShapeType="1"/>
            </p:cNvSpPr>
            <p:nvPr/>
          </p:nvSpPr>
          <p:spPr bwMode="auto">
            <a:xfrm>
              <a:off x="578" y="1484"/>
              <a:ext cx="255" cy="57"/>
            </a:xfrm>
            <a:prstGeom prst="line">
              <a:avLst/>
            </a:prstGeom>
            <a:noFill/>
            <a:ln w="6350">
              <a:solidFill>
                <a:srgbClr val="676767"/>
              </a:solidFill>
              <a:round/>
              <a:headEnd/>
              <a:tailEnd/>
            </a:ln>
            <a:effectLst/>
          </p:spPr>
          <p:txBody>
            <a:bodyPr wrap="none" anchor="ctr"/>
            <a:lstStyle/>
            <a:p>
              <a:endParaRPr lang="fr-FR"/>
            </a:p>
          </p:txBody>
        </p:sp>
        <p:sp>
          <p:nvSpPr>
            <p:cNvPr id="35889" name="Line 49"/>
            <p:cNvSpPr>
              <a:spLocks noChangeShapeType="1"/>
            </p:cNvSpPr>
            <p:nvPr/>
          </p:nvSpPr>
          <p:spPr bwMode="auto">
            <a:xfrm>
              <a:off x="578" y="1609"/>
              <a:ext cx="243" cy="58"/>
            </a:xfrm>
            <a:prstGeom prst="line">
              <a:avLst/>
            </a:prstGeom>
            <a:noFill/>
            <a:ln w="6350">
              <a:solidFill>
                <a:srgbClr val="676767"/>
              </a:solidFill>
              <a:round/>
              <a:headEnd/>
              <a:tailEnd/>
            </a:ln>
            <a:effectLst/>
          </p:spPr>
          <p:txBody>
            <a:bodyPr wrap="none" anchor="ctr"/>
            <a:lstStyle/>
            <a:p>
              <a:endParaRPr lang="fr-FR"/>
            </a:p>
          </p:txBody>
        </p:sp>
        <p:sp>
          <p:nvSpPr>
            <p:cNvPr id="35890" name="Freeform 50"/>
            <p:cNvSpPr>
              <a:spLocks/>
            </p:cNvSpPr>
            <p:nvPr/>
          </p:nvSpPr>
          <p:spPr bwMode="auto">
            <a:xfrm>
              <a:off x="653" y="1333"/>
              <a:ext cx="100" cy="54"/>
            </a:xfrm>
            <a:custGeom>
              <a:avLst/>
              <a:gdLst/>
              <a:ahLst/>
              <a:cxnLst>
                <a:cxn ang="0">
                  <a:pos x="0" y="0"/>
                </a:cxn>
                <a:cxn ang="0">
                  <a:pos x="0" y="48"/>
                </a:cxn>
                <a:cxn ang="0">
                  <a:pos x="151" y="81"/>
                </a:cxn>
                <a:cxn ang="0">
                  <a:pos x="151" y="33"/>
                </a:cxn>
                <a:cxn ang="0">
                  <a:pos x="0" y="0"/>
                </a:cxn>
              </a:cxnLst>
              <a:rect l="0" t="0" r="r" b="b"/>
              <a:pathLst>
                <a:path w="152" h="82">
                  <a:moveTo>
                    <a:pt x="0" y="0"/>
                  </a:moveTo>
                  <a:lnTo>
                    <a:pt x="0" y="48"/>
                  </a:lnTo>
                  <a:lnTo>
                    <a:pt x="151" y="81"/>
                  </a:lnTo>
                  <a:lnTo>
                    <a:pt x="151" y="33"/>
                  </a:lnTo>
                  <a:lnTo>
                    <a:pt x="0" y="0"/>
                  </a:lnTo>
                </a:path>
              </a:pathLst>
            </a:custGeom>
            <a:solidFill>
              <a:srgbClr val="A9A9A9"/>
            </a:solidFill>
            <a:ln w="12700" cap="rnd" cmpd="sng">
              <a:noFill/>
              <a:prstDash val="solid"/>
              <a:round/>
              <a:headEnd type="none" w="med" len="med"/>
              <a:tailEnd type="none" w="med" len="med"/>
            </a:ln>
            <a:effectLst/>
          </p:spPr>
          <p:txBody>
            <a:bodyPr/>
            <a:lstStyle/>
            <a:p>
              <a:endParaRPr lang="fr-FR"/>
            </a:p>
          </p:txBody>
        </p:sp>
        <p:sp>
          <p:nvSpPr>
            <p:cNvPr id="35891" name="Line 51"/>
            <p:cNvSpPr>
              <a:spLocks noChangeShapeType="1"/>
            </p:cNvSpPr>
            <p:nvPr/>
          </p:nvSpPr>
          <p:spPr bwMode="auto">
            <a:xfrm>
              <a:off x="614" y="1341"/>
              <a:ext cx="186" cy="40"/>
            </a:xfrm>
            <a:prstGeom prst="line">
              <a:avLst/>
            </a:prstGeom>
            <a:noFill/>
            <a:ln w="6350">
              <a:solidFill>
                <a:srgbClr val="919191"/>
              </a:solidFill>
              <a:round/>
              <a:headEnd/>
              <a:tailEnd/>
            </a:ln>
            <a:effectLst/>
          </p:spPr>
          <p:txBody>
            <a:bodyPr wrap="none" anchor="ctr"/>
            <a:lstStyle/>
            <a:p>
              <a:endParaRPr lang="fr-FR"/>
            </a:p>
          </p:txBody>
        </p:sp>
        <p:sp>
          <p:nvSpPr>
            <p:cNvPr id="35892" name="Freeform 52"/>
            <p:cNvSpPr>
              <a:spLocks/>
            </p:cNvSpPr>
            <p:nvPr/>
          </p:nvSpPr>
          <p:spPr bwMode="auto">
            <a:xfrm>
              <a:off x="596" y="1526"/>
              <a:ext cx="224" cy="101"/>
            </a:xfrm>
            <a:custGeom>
              <a:avLst/>
              <a:gdLst/>
              <a:ahLst/>
              <a:cxnLst>
                <a:cxn ang="0">
                  <a:pos x="0" y="85"/>
                </a:cxn>
                <a:cxn ang="0">
                  <a:pos x="0" y="0"/>
                </a:cxn>
                <a:cxn ang="0">
                  <a:pos x="350" y="93"/>
                </a:cxn>
                <a:cxn ang="0">
                  <a:pos x="350" y="182"/>
                </a:cxn>
                <a:cxn ang="0">
                  <a:pos x="0" y="85"/>
                </a:cxn>
              </a:cxnLst>
              <a:rect l="0" t="0" r="r" b="b"/>
              <a:pathLst>
                <a:path w="351" h="183">
                  <a:moveTo>
                    <a:pt x="0" y="85"/>
                  </a:moveTo>
                  <a:lnTo>
                    <a:pt x="0" y="0"/>
                  </a:lnTo>
                  <a:lnTo>
                    <a:pt x="350" y="93"/>
                  </a:lnTo>
                  <a:lnTo>
                    <a:pt x="350" y="182"/>
                  </a:lnTo>
                  <a:lnTo>
                    <a:pt x="0" y="85"/>
                  </a:lnTo>
                </a:path>
              </a:pathLst>
            </a:custGeom>
            <a:solidFill>
              <a:srgbClr val="B2B2B2"/>
            </a:solidFill>
            <a:ln w="6350" cap="rnd" cmpd="sng">
              <a:solidFill>
                <a:srgbClr val="676767"/>
              </a:solidFill>
              <a:prstDash val="solid"/>
              <a:round/>
              <a:headEnd type="none" w="med" len="med"/>
              <a:tailEnd type="none" w="med" len="med"/>
            </a:ln>
            <a:effectLst/>
          </p:spPr>
          <p:txBody>
            <a:bodyPr/>
            <a:lstStyle/>
            <a:p>
              <a:endParaRPr lang="fr-FR"/>
            </a:p>
          </p:txBody>
        </p:sp>
        <p:sp>
          <p:nvSpPr>
            <p:cNvPr id="35893" name="Freeform 53"/>
            <p:cNvSpPr>
              <a:spLocks/>
            </p:cNvSpPr>
            <p:nvPr/>
          </p:nvSpPr>
          <p:spPr bwMode="auto">
            <a:xfrm>
              <a:off x="596" y="1651"/>
              <a:ext cx="225" cy="112"/>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6350" cap="rnd" cmpd="sng">
              <a:solidFill>
                <a:srgbClr val="676767"/>
              </a:solidFill>
              <a:prstDash val="solid"/>
              <a:round/>
              <a:headEnd type="none" w="med" len="med"/>
              <a:tailEnd type="none" w="med" len="med"/>
            </a:ln>
            <a:effectLst/>
          </p:spPr>
          <p:txBody>
            <a:bodyPr/>
            <a:lstStyle/>
            <a:p>
              <a:endParaRPr lang="fr-FR"/>
            </a:p>
          </p:txBody>
        </p:sp>
        <p:sp>
          <p:nvSpPr>
            <p:cNvPr id="35894" name="Freeform 54"/>
            <p:cNvSpPr>
              <a:spLocks/>
            </p:cNvSpPr>
            <p:nvPr/>
          </p:nvSpPr>
          <p:spPr bwMode="auto">
            <a:xfrm>
              <a:off x="762" y="1585"/>
              <a:ext cx="36" cy="19"/>
            </a:xfrm>
            <a:custGeom>
              <a:avLst/>
              <a:gdLst/>
              <a:ahLst/>
              <a:cxnLst>
                <a:cxn ang="0">
                  <a:pos x="0" y="14"/>
                </a:cxn>
                <a:cxn ang="0">
                  <a:pos x="0" y="0"/>
                </a:cxn>
                <a:cxn ang="0">
                  <a:pos x="53" y="15"/>
                </a:cxn>
                <a:cxn ang="0">
                  <a:pos x="53" y="29"/>
                </a:cxn>
                <a:cxn ang="0">
                  <a:pos x="0" y="14"/>
                </a:cxn>
              </a:cxnLst>
              <a:rect l="0" t="0" r="r" b="b"/>
              <a:pathLst>
                <a:path w="54" h="30">
                  <a:moveTo>
                    <a:pt x="0" y="14"/>
                  </a:moveTo>
                  <a:lnTo>
                    <a:pt x="0" y="0"/>
                  </a:lnTo>
                  <a:lnTo>
                    <a:pt x="53" y="15"/>
                  </a:lnTo>
                  <a:lnTo>
                    <a:pt x="53" y="29"/>
                  </a:lnTo>
                  <a:lnTo>
                    <a:pt x="0" y="14"/>
                  </a:lnTo>
                </a:path>
              </a:pathLst>
            </a:custGeom>
            <a:solidFill>
              <a:schemeClr val="accent2"/>
            </a:solidFill>
            <a:ln w="12700" cap="rnd" cmpd="sng">
              <a:solidFill>
                <a:schemeClr val="accent2"/>
              </a:solidFill>
              <a:prstDash val="solid"/>
              <a:round/>
              <a:headEnd type="none" w="med" len="med"/>
              <a:tailEnd type="none" w="med" len="med"/>
            </a:ln>
            <a:effectLst/>
          </p:spPr>
          <p:txBody>
            <a:bodyPr/>
            <a:lstStyle/>
            <a:p>
              <a:endParaRPr lang="fr-FR"/>
            </a:p>
          </p:txBody>
        </p:sp>
        <p:sp>
          <p:nvSpPr>
            <p:cNvPr id="35895" name="Freeform 55"/>
            <p:cNvSpPr>
              <a:spLocks/>
            </p:cNvSpPr>
            <p:nvPr/>
          </p:nvSpPr>
          <p:spPr bwMode="auto">
            <a:xfrm>
              <a:off x="768" y="1710"/>
              <a:ext cx="35" cy="20"/>
            </a:xfrm>
            <a:custGeom>
              <a:avLst/>
              <a:gdLst/>
              <a:ahLst/>
              <a:cxnLst>
                <a:cxn ang="0">
                  <a:pos x="0" y="15"/>
                </a:cxn>
                <a:cxn ang="0">
                  <a:pos x="0" y="0"/>
                </a:cxn>
                <a:cxn ang="0">
                  <a:pos x="53" y="16"/>
                </a:cxn>
                <a:cxn ang="0">
                  <a:pos x="53" y="31"/>
                </a:cxn>
                <a:cxn ang="0">
                  <a:pos x="0" y="15"/>
                </a:cxn>
              </a:cxnLst>
              <a:rect l="0" t="0" r="r" b="b"/>
              <a:pathLst>
                <a:path w="54" h="32">
                  <a:moveTo>
                    <a:pt x="0" y="15"/>
                  </a:moveTo>
                  <a:lnTo>
                    <a:pt x="0" y="0"/>
                  </a:lnTo>
                  <a:lnTo>
                    <a:pt x="53" y="16"/>
                  </a:lnTo>
                  <a:lnTo>
                    <a:pt x="53" y="31"/>
                  </a:lnTo>
                  <a:lnTo>
                    <a:pt x="0" y="15"/>
                  </a:lnTo>
                </a:path>
              </a:pathLst>
            </a:custGeom>
            <a:solidFill>
              <a:schemeClr val="accent2"/>
            </a:solidFill>
            <a:ln w="12700" cap="rnd" cmpd="sng">
              <a:solidFill>
                <a:schemeClr val="accent2"/>
              </a:solidFill>
              <a:prstDash val="solid"/>
              <a:round/>
              <a:headEnd type="none" w="med" len="med"/>
              <a:tailEnd type="none" w="med" len="med"/>
            </a:ln>
            <a:effectLst/>
          </p:spPr>
          <p:txBody>
            <a:bodyPr/>
            <a:lstStyle/>
            <a:p>
              <a:endParaRPr lang="fr-FR"/>
            </a:p>
          </p:txBody>
        </p:sp>
        <p:sp>
          <p:nvSpPr>
            <p:cNvPr id="35896" name="Freeform 56"/>
            <p:cNvSpPr>
              <a:spLocks/>
            </p:cNvSpPr>
            <p:nvPr/>
          </p:nvSpPr>
          <p:spPr bwMode="auto">
            <a:xfrm>
              <a:off x="592" y="1412"/>
              <a:ext cx="228" cy="104"/>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6350" cap="rnd" cmpd="sng">
              <a:solidFill>
                <a:srgbClr val="676767"/>
              </a:solidFill>
              <a:prstDash val="solid"/>
              <a:round/>
              <a:headEnd type="none" w="med" len="med"/>
              <a:tailEnd type="none" w="med" len="med"/>
            </a:ln>
            <a:effectLst/>
          </p:spPr>
          <p:txBody>
            <a:bodyPr/>
            <a:lstStyle/>
            <a:p>
              <a:endParaRPr lang="fr-FR"/>
            </a:p>
          </p:txBody>
        </p:sp>
        <p:sp>
          <p:nvSpPr>
            <p:cNvPr id="35897" name="Freeform 57"/>
            <p:cNvSpPr>
              <a:spLocks/>
            </p:cNvSpPr>
            <p:nvPr/>
          </p:nvSpPr>
          <p:spPr bwMode="auto">
            <a:xfrm>
              <a:off x="760" y="1468"/>
              <a:ext cx="35" cy="19"/>
            </a:xfrm>
            <a:custGeom>
              <a:avLst/>
              <a:gdLst/>
              <a:ahLst/>
              <a:cxnLst>
                <a:cxn ang="0">
                  <a:pos x="0" y="14"/>
                </a:cxn>
                <a:cxn ang="0">
                  <a:pos x="0" y="0"/>
                </a:cxn>
                <a:cxn ang="0">
                  <a:pos x="53" y="15"/>
                </a:cxn>
                <a:cxn ang="0">
                  <a:pos x="53" y="29"/>
                </a:cxn>
                <a:cxn ang="0">
                  <a:pos x="0" y="14"/>
                </a:cxn>
              </a:cxnLst>
              <a:rect l="0" t="0" r="r" b="b"/>
              <a:pathLst>
                <a:path w="54" h="30">
                  <a:moveTo>
                    <a:pt x="0" y="14"/>
                  </a:moveTo>
                  <a:lnTo>
                    <a:pt x="0" y="0"/>
                  </a:lnTo>
                  <a:lnTo>
                    <a:pt x="53" y="15"/>
                  </a:lnTo>
                  <a:lnTo>
                    <a:pt x="53" y="29"/>
                  </a:lnTo>
                  <a:lnTo>
                    <a:pt x="0" y="14"/>
                  </a:lnTo>
                </a:path>
              </a:pathLst>
            </a:custGeom>
            <a:solidFill>
              <a:schemeClr val="accent2"/>
            </a:solidFill>
            <a:ln w="12700" cap="rnd" cmpd="sng">
              <a:solidFill>
                <a:schemeClr val="accent2"/>
              </a:solidFill>
              <a:prstDash val="solid"/>
              <a:round/>
              <a:headEnd type="none" w="med" len="med"/>
              <a:tailEnd type="none" w="med" len="med"/>
            </a:ln>
            <a:effectLst/>
          </p:spPr>
          <p:txBody>
            <a:bodyPr/>
            <a:lstStyle/>
            <a:p>
              <a:endParaRPr lang="fr-FR"/>
            </a:p>
          </p:txBody>
        </p: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b="47652"/>
          <a:stretch>
            <a:fillRect/>
          </a:stretch>
        </p:blipFill>
        <p:spPr bwMode="auto">
          <a:xfrm>
            <a:off x="234615" y="2043358"/>
            <a:ext cx="8711967" cy="3330744"/>
          </a:xfrm>
          <a:prstGeom prst="rect">
            <a:avLst/>
          </a:prstGeom>
          <a:noFill/>
          <a:ln w="9525">
            <a:noFill/>
            <a:miter lim="800000"/>
            <a:headEnd/>
            <a:tailEnd/>
          </a:ln>
          <a:effectLst/>
        </p:spPr>
      </p:pic>
      <p:sp>
        <p:nvSpPr>
          <p:cNvPr id="5" name="Rectangle 2"/>
          <p:cNvSpPr>
            <a:spLocks noGrp="1" noChangeArrowheads="1"/>
          </p:cNvSpPr>
          <p:nvPr>
            <p:ph type="title"/>
          </p:nvPr>
        </p:nvSpPr>
        <p:spPr/>
        <p:txBody>
          <a:bodyPr vert="horz" anchor="b">
            <a:normAutofit/>
          </a:bodyPr>
          <a:lstStyle/>
          <a:p>
            <a:r>
              <a:rPr lang="fr-FR" dirty="0">
                <a:solidFill>
                  <a:srgbClr val="C00000"/>
                </a:solidFill>
              </a:rPr>
              <a:t>Examen des options matérielles</a:t>
            </a:r>
            <a:endParaRPr lang="en-US" dirty="0">
              <a:solidFill>
                <a:srgbClr val="C00000"/>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p:txBody>
          <a:bodyPr vert="horz" anchor="b">
            <a:normAutofit/>
          </a:bodyPr>
          <a:lstStyle/>
          <a:p>
            <a:r>
              <a:rPr lang="fr-FR" dirty="0">
                <a:solidFill>
                  <a:srgbClr val="C00000"/>
                </a:solidFill>
              </a:rPr>
              <a:t>Examen des options matérielles</a:t>
            </a:r>
            <a:endParaRPr lang="en-US" dirty="0">
              <a:solidFill>
                <a:srgbClr val="C00000"/>
              </a:solidFill>
            </a:endParaRPr>
          </a:p>
        </p:txBody>
      </p:sp>
      <p:grpSp>
        <p:nvGrpSpPr>
          <p:cNvPr id="7" name="Groupe 6"/>
          <p:cNvGrpSpPr/>
          <p:nvPr/>
        </p:nvGrpSpPr>
        <p:grpSpPr>
          <a:xfrm>
            <a:off x="226595" y="1546056"/>
            <a:ext cx="8692311" cy="3571374"/>
            <a:chOff x="226595" y="1546056"/>
            <a:chExt cx="8692311" cy="3571374"/>
          </a:xfrm>
        </p:grpSpPr>
        <p:pic>
          <p:nvPicPr>
            <p:cNvPr id="1026" name="Picture 2"/>
            <p:cNvPicPr>
              <a:picLocks noChangeAspect="1" noChangeArrowheads="1"/>
            </p:cNvPicPr>
            <p:nvPr/>
          </p:nvPicPr>
          <p:blipFill>
            <a:blip r:embed="rId2"/>
            <a:srcRect b="92348"/>
            <a:stretch>
              <a:fillRect/>
            </a:stretch>
          </p:blipFill>
          <p:spPr bwMode="auto">
            <a:xfrm>
              <a:off x="234616" y="1546056"/>
              <a:ext cx="8684290" cy="485314"/>
            </a:xfrm>
            <a:prstGeom prst="rect">
              <a:avLst/>
            </a:prstGeom>
            <a:noFill/>
            <a:ln w="9525">
              <a:noFill/>
              <a:miter lim="800000"/>
              <a:headEnd/>
              <a:tailEnd/>
            </a:ln>
            <a:effectLst/>
          </p:spPr>
        </p:pic>
        <p:pic>
          <p:nvPicPr>
            <p:cNvPr id="4" name="Picture 2"/>
            <p:cNvPicPr>
              <a:picLocks noChangeAspect="1" noChangeArrowheads="1"/>
            </p:cNvPicPr>
            <p:nvPr/>
          </p:nvPicPr>
          <p:blipFill>
            <a:blip r:embed="rId2"/>
            <a:srcRect t="50931"/>
            <a:stretch>
              <a:fillRect/>
            </a:stretch>
          </p:blipFill>
          <p:spPr bwMode="auto">
            <a:xfrm>
              <a:off x="226595" y="2005262"/>
              <a:ext cx="8684284" cy="3112168"/>
            </a:xfrm>
            <a:prstGeom prst="rect">
              <a:avLst/>
            </a:prstGeom>
            <a:noFill/>
            <a:ln w="9525">
              <a:noFill/>
              <a:miter lim="800000"/>
              <a:headEnd/>
              <a:tailEnd/>
            </a:ln>
            <a:effectLst/>
          </p:spPr>
        </p:pic>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Freeform 2"/>
          <p:cNvSpPr>
            <a:spLocks/>
          </p:cNvSpPr>
          <p:nvPr/>
        </p:nvSpPr>
        <p:spPr bwMode="auto">
          <a:xfrm>
            <a:off x="1625600" y="2197100"/>
            <a:ext cx="4838700" cy="1638300"/>
          </a:xfrm>
          <a:custGeom>
            <a:avLst/>
            <a:gdLst/>
            <a:ahLst/>
            <a:cxnLst>
              <a:cxn ang="0">
                <a:pos x="0" y="0"/>
              </a:cxn>
              <a:cxn ang="0">
                <a:pos x="1832" y="160"/>
              </a:cxn>
              <a:cxn ang="0">
                <a:pos x="864" y="728"/>
              </a:cxn>
              <a:cxn ang="0">
                <a:pos x="3048" y="1032"/>
              </a:cxn>
            </a:cxnLst>
            <a:rect l="0" t="0" r="r" b="b"/>
            <a:pathLst>
              <a:path w="3048" h="1032">
                <a:moveTo>
                  <a:pt x="0" y="0"/>
                </a:moveTo>
                <a:cubicBezTo>
                  <a:pt x="844" y="19"/>
                  <a:pt x="1688" y="39"/>
                  <a:pt x="1832" y="160"/>
                </a:cubicBezTo>
                <a:cubicBezTo>
                  <a:pt x="1976" y="281"/>
                  <a:pt x="661" y="583"/>
                  <a:pt x="864" y="728"/>
                </a:cubicBezTo>
                <a:cubicBezTo>
                  <a:pt x="1067" y="873"/>
                  <a:pt x="2681" y="981"/>
                  <a:pt x="3048" y="1032"/>
                </a:cubicBezTo>
              </a:path>
            </a:pathLst>
          </a:custGeom>
          <a:noFill/>
          <a:ln w="25400">
            <a:solidFill>
              <a:schemeClr val="tx1"/>
            </a:solidFill>
            <a:round/>
            <a:headEnd/>
            <a:tailEnd/>
          </a:ln>
          <a:effectLst/>
        </p:spPr>
        <p:txBody>
          <a:bodyPr/>
          <a:lstStyle/>
          <a:p>
            <a:endParaRPr lang="fr-FR"/>
          </a:p>
        </p:txBody>
      </p:sp>
      <p:sp>
        <p:nvSpPr>
          <p:cNvPr id="79875" name="Rectangle 3"/>
          <p:cNvSpPr>
            <a:spLocks noGrp="1" noChangeArrowheads="1"/>
          </p:cNvSpPr>
          <p:nvPr>
            <p:ph type="title"/>
          </p:nvPr>
        </p:nvSpPr>
        <p:spPr/>
        <p:txBody>
          <a:bodyPr vert="horz" anchor="b">
            <a:normAutofit fontScale="90000"/>
          </a:bodyPr>
          <a:lstStyle/>
          <a:p>
            <a:r>
              <a:rPr lang="fr-FR" dirty="0">
                <a:solidFill>
                  <a:srgbClr val="C00000"/>
                </a:solidFill>
              </a:rPr>
              <a:t>Création d'une connexion directe par câble</a:t>
            </a:r>
            <a:endParaRPr lang="en-US" dirty="0">
              <a:solidFill>
                <a:srgbClr val="C00000"/>
              </a:solidFill>
            </a:endParaRPr>
          </a:p>
        </p:txBody>
      </p:sp>
      <p:grpSp>
        <p:nvGrpSpPr>
          <p:cNvPr id="79876" name="Group 4"/>
          <p:cNvGrpSpPr>
            <a:grpSpLocks/>
          </p:cNvGrpSpPr>
          <p:nvPr/>
        </p:nvGrpSpPr>
        <p:grpSpPr bwMode="auto">
          <a:xfrm>
            <a:off x="243840" y="1280161"/>
            <a:ext cx="1613535" cy="2057399"/>
            <a:chOff x="2967" y="2733"/>
            <a:chExt cx="789" cy="870"/>
          </a:xfrm>
        </p:grpSpPr>
        <p:grpSp>
          <p:nvGrpSpPr>
            <p:cNvPr id="79877" name="Group 5"/>
            <p:cNvGrpSpPr>
              <a:grpSpLocks/>
            </p:cNvGrpSpPr>
            <p:nvPr/>
          </p:nvGrpSpPr>
          <p:grpSpPr bwMode="auto">
            <a:xfrm>
              <a:off x="2967" y="3191"/>
              <a:ext cx="763" cy="412"/>
              <a:chOff x="1929" y="1343"/>
              <a:chExt cx="763" cy="412"/>
            </a:xfrm>
          </p:grpSpPr>
          <p:sp>
            <p:nvSpPr>
              <p:cNvPr id="79878" name="Freeform 6"/>
              <p:cNvSpPr>
                <a:spLocks noChangeAspect="1"/>
              </p:cNvSpPr>
              <p:nvPr/>
            </p:nvSpPr>
            <p:spPr bwMode="auto">
              <a:xfrm>
                <a:off x="2428" y="1450"/>
                <a:ext cx="263" cy="305"/>
              </a:xfrm>
              <a:custGeom>
                <a:avLst/>
                <a:gdLst/>
                <a:ahLst/>
                <a:cxnLst>
                  <a:cxn ang="0">
                    <a:pos x="3" y="212"/>
                  </a:cxn>
                  <a:cxn ang="0">
                    <a:pos x="364" y="0"/>
                  </a:cxn>
                  <a:cxn ang="0">
                    <a:pos x="364" y="180"/>
                  </a:cxn>
                  <a:cxn ang="0">
                    <a:pos x="0" y="422"/>
                  </a:cxn>
                </a:cxnLst>
                <a:rect l="0" t="0" r="r" b="b"/>
                <a:pathLst>
                  <a:path w="364" h="422">
                    <a:moveTo>
                      <a:pt x="3" y="212"/>
                    </a:moveTo>
                    <a:lnTo>
                      <a:pt x="364" y="0"/>
                    </a:lnTo>
                    <a:lnTo>
                      <a:pt x="364" y="180"/>
                    </a:lnTo>
                    <a:lnTo>
                      <a:pt x="0" y="422"/>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79879" name="Freeform 7"/>
              <p:cNvSpPr>
                <a:spLocks noChangeAspect="1"/>
              </p:cNvSpPr>
              <p:nvPr/>
            </p:nvSpPr>
            <p:spPr bwMode="auto">
              <a:xfrm>
                <a:off x="1929" y="1343"/>
                <a:ext cx="763" cy="264"/>
              </a:xfrm>
              <a:custGeom>
                <a:avLst/>
                <a:gdLst/>
                <a:ahLst/>
                <a:cxnLst>
                  <a:cxn ang="0">
                    <a:pos x="715" y="376"/>
                  </a:cxn>
                  <a:cxn ang="0">
                    <a:pos x="0" y="187"/>
                  </a:cxn>
                  <a:cxn ang="0">
                    <a:pos x="397" y="0"/>
                  </a:cxn>
                  <a:cxn ang="0">
                    <a:pos x="1090" y="152"/>
                  </a:cxn>
                  <a:cxn ang="0">
                    <a:pos x="715" y="376"/>
                  </a:cxn>
                </a:cxnLst>
                <a:rect l="0" t="0" r="r" b="b"/>
                <a:pathLst>
                  <a:path w="1091" h="377">
                    <a:moveTo>
                      <a:pt x="715" y="376"/>
                    </a:moveTo>
                    <a:lnTo>
                      <a:pt x="0" y="187"/>
                    </a:lnTo>
                    <a:lnTo>
                      <a:pt x="397" y="0"/>
                    </a:lnTo>
                    <a:lnTo>
                      <a:pt x="1090" y="152"/>
                    </a:lnTo>
                    <a:lnTo>
                      <a:pt x="715" y="376"/>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79880" name="Freeform 8"/>
              <p:cNvSpPr>
                <a:spLocks noChangeAspect="1"/>
              </p:cNvSpPr>
              <p:nvPr/>
            </p:nvSpPr>
            <p:spPr bwMode="auto">
              <a:xfrm>
                <a:off x="1929" y="1473"/>
                <a:ext cx="499" cy="282"/>
              </a:xfrm>
              <a:custGeom>
                <a:avLst/>
                <a:gdLst/>
                <a:ahLst/>
                <a:cxnLst>
                  <a:cxn ang="0">
                    <a:pos x="0" y="5"/>
                  </a:cxn>
                  <a:cxn ang="0">
                    <a:pos x="0" y="192"/>
                  </a:cxn>
                  <a:cxn ang="0">
                    <a:pos x="690" y="390"/>
                  </a:cxn>
                  <a:cxn ang="0">
                    <a:pos x="690" y="185"/>
                  </a:cxn>
                  <a:cxn ang="0">
                    <a:pos x="4" y="0"/>
                  </a:cxn>
                </a:cxnLst>
                <a:rect l="0" t="0" r="r" b="b"/>
                <a:pathLst>
                  <a:path w="690" h="390">
                    <a:moveTo>
                      <a:pt x="0" y="5"/>
                    </a:moveTo>
                    <a:lnTo>
                      <a:pt x="0" y="192"/>
                    </a:lnTo>
                    <a:lnTo>
                      <a:pt x="690" y="390"/>
                    </a:lnTo>
                    <a:lnTo>
                      <a:pt x="690" y="185"/>
                    </a:lnTo>
                    <a:lnTo>
                      <a:pt x="4" y="0"/>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79881" name="Freeform 9"/>
              <p:cNvSpPr>
                <a:spLocks noChangeAspect="1"/>
              </p:cNvSpPr>
              <p:nvPr/>
            </p:nvSpPr>
            <p:spPr bwMode="auto">
              <a:xfrm>
                <a:off x="2190" y="1573"/>
                <a:ext cx="196" cy="137"/>
              </a:xfrm>
              <a:custGeom>
                <a:avLst/>
                <a:gdLst/>
                <a:ahLst/>
                <a:cxnLst>
                  <a:cxn ang="0">
                    <a:pos x="0" y="0"/>
                  </a:cxn>
                  <a:cxn ang="0">
                    <a:pos x="271" y="73"/>
                  </a:cxn>
                  <a:cxn ang="0">
                    <a:pos x="271" y="189"/>
                  </a:cxn>
                  <a:cxn ang="0">
                    <a:pos x="0" y="115"/>
                  </a:cxn>
                  <a:cxn ang="0">
                    <a:pos x="0" y="0"/>
                  </a:cxn>
                </a:cxnLst>
                <a:rect l="0" t="0" r="r" b="b"/>
                <a:pathLst>
                  <a:path w="271" h="189">
                    <a:moveTo>
                      <a:pt x="0" y="0"/>
                    </a:moveTo>
                    <a:lnTo>
                      <a:pt x="271" y="73"/>
                    </a:lnTo>
                    <a:lnTo>
                      <a:pt x="271" y="189"/>
                    </a:lnTo>
                    <a:lnTo>
                      <a:pt x="0" y="115"/>
                    </a:lnTo>
                    <a:lnTo>
                      <a:pt x="0" y="0"/>
                    </a:lnTo>
                  </a:path>
                </a:pathLst>
              </a:custGeom>
              <a:gradFill rotWithShape="0">
                <a:gsLst>
                  <a:gs pos="0">
                    <a:srgbClr val="B2B2B2"/>
                  </a:gs>
                  <a:gs pos="100000">
                    <a:srgbClr val="B2B2B2">
                      <a:gamma/>
                      <a:tint val="41176"/>
                      <a:invGamma/>
                    </a:srgbClr>
                  </a:gs>
                </a:gsLst>
                <a:lin ang="2700000" scaled="1"/>
              </a:gradFill>
              <a:ln w="6350" cap="rnd" cmpd="sng">
                <a:noFill/>
                <a:prstDash val="solid"/>
                <a:round/>
                <a:headEnd type="none" w="med" len="med"/>
                <a:tailEnd type="none" w="med" len="med"/>
              </a:ln>
              <a:effectLst/>
            </p:spPr>
            <p:txBody>
              <a:bodyPr/>
              <a:lstStyle/>
              <a:p>
                <a:endParaRPr lang="fr-FR"/>
              </a:p>
            </p:txBody>
          </p:sp>
          <p:sp>
            <p:nvSpPr>
              <p:cNvPr id="79882" name="Freeform 10"/>
              <p:cNvSpPr>
                <a:spLocks noChangeAspect="1" noChangeArrowheads="1"/>
              </p:cNvSpPr>
              <p:nvPr/>
            </p:nvSpPr>
            <p:spPr bwMode="auto">
              <a:xfrm>
                <a:off x="2194" y="1624"/>
                <a:ext cx="189" cy="49"/>
              </a:xfrm>
              <a:custGeom>
                <a:avLst/>
                <a:gdLst/>
                <a:ahLst/>
                <a:cxnLst>
                  <a:cxn ang="0">
                    <a:pos x="0" y="0"/>
                  </a:cxn>
                  <a:cxn ang="0">
                    <a:pos x="261" y="69"/>
                  </a:cxn>
                </a:cxnLst>
                <a:rect l="0" t="0" r="r" b="b"/>
                <a:pathLst>
                  <a:path w="261" h="69">
                    <a:moveTo>
                      <a:pt x="0" y="0"/>
                    </a:moveTo>
                    <a:lnTo>
                      <a:pt x="261" y="69"/>
                    </a:lnTo>
                  </a:path>
                </a:pathLst>
              </a:custGeom>
              <a:noFill/>
              <a:ln w="3175">
                <a:solidFill>
                  <a:srgbClr val="777777"/>
                </a:solidFill>
                <a:round/>
                <a:headEnd/>
                <a:tailEnd/>
              </a:ln>
              <a:effectLst/>
            </p:spPr>
            <p:txBody>
              <a:bodyPr wrap="none" anchor="ctr"/>
              <a:lstStyle/>
              <a:p>
                <a:endParaRPr lang="fr-FR"/>
              </a:p>
            </p:txBody>
          </p:sp>
          <p:sp>
            <p:nvSpPr>
              <p:cNvPr id="79883" name="Freeform 11"/>
              <p:cNvSpPr>
                <a:spLocks/>
              </p:cNvSpPr>
              <p:nvPr/>
            </p:nvSpPr>
            <p:spPr bwMode="auto">
              <a:xfrm>
                <a:off x="2190" y="1572"/>
                <a:ext cx="195" cy="84"/>
              </a:xfrm>
              <a:custGeom>
                <a:avLst/>
                <a:gdLst/>
                <a:ahLst/>
                <a:cxnLst>
                  <a:cxn ang="0">
                    <a:pos x="0" y="84"/>
                  </a:cxn>
                  <a:cxn ang="0">
                    <a:pos x="0" y="0"/>
                  </a:cxn>
                  <a:cxn ang="0">
                    <a:pos x="195" y="54"/>
                  </a:cxn>
                </a:cxnLst>
                <a:rect l="0" t="0" r="r" b="b"/>
                <a:pathLst>
                  <a:path w="195" h="84">
                    <a:moveTo>
                      <a:pt x="0" y="84"/>
                    </a:moveTo>
                    <a:lnTo>
                      <a:pt x="0" y="0"/>
                    </a:lnTo>
                    <a:lnTo>
                      <a:pt x="195" y="54"/>
                    </a:lnTo>
                  </a:path>
                </a:pathLst>
              </a:custGeom>
              <a:noFill/>
              <a:ln w="6350" cap="flat" cmpd="sng">
                <a:solidFill>
                  <a:srgbClr val="777777"/>
                </a:solidFill>
                <a:prstDash val="solid"/>
                <a:round/>
                <a:headEnd type="none" w="med" len="med"/>
                <a:tailEnd type="none" w="med" len="med"/>
              </a:ln>
              <a:effectLst/>
            </p:spPr>
            <p:txBody>
              <a:bodyPr wrap="none" tIns="27432" bIns="27432" anchor="ctr">
                <a:spAutoFit/>
              </a:bodyPr>
              <a:lstStyle/>
              <a:p>
                <a:endParaRPr lang="fr-FR"/>
              </a:p>
            </p:txBody>
          </p:sp>
          <p:sp>
            <p:nvSpPr>
              <p:cNvPr id="79884" name="Line 12"/>
              <p:cNvSpPr>
                <a:spLocks noChangeShapeType="1"/>
              </p:cNvSpPr>
              <p:nvPr/>
            </p:nvSpPr>
            <p:spPr bwMode="auto">
              <a:xfrm>
                <a:off x="2207" y="1600"/>
                <a:ext cx="153" cy="38"/>
              </a:xfrm>
              <a:prstGeom prst="line">
                <a:avLst/>
              </a:prstGeom>
              <a:noFill/>
              <a:ln w="3175">
                <a:solidFill>
                  <a:srgbClr val="777777"/>
                </a:solidFill>
                <a:round/>
                <a:headEnd/>
                <a:tailEnd/>
              </a:ln>
              <a:effectLst/>
            </p:spPr>
            <p:txBody>
              <a:bodyPr wrap="none" tIns="27432" bIns="27432" anchor="ctr">
                <a:spAutoFit/>
              </a:bodyPr>
              <a:lstStyle/>
              <a:p>
                <a:endParaRPr lang="fr-FR"/>
              </a:p>
            </p:txBody>
          </p:sp>
          <p:sp>
            <p:nvSpPr>
              <p:cNvPr id="79885" name="Line 13"/>
              <p:cNvSpPr>
                <a:spLocks noChangeShapeType="1"/>
              </p:cNvSpPr>
              <p:nvPr/>
            </p:nvSpPr>
            <p:spPr bwMode="auto">
              <a:xfrm>
                <a:off x="2337" y="1678"/>
                <a:ext cx="29" cy="6"/>
              </a:xfrm>
              <a:prstGeom prst="line">
                <a:avLst/>
              </a:prstGeom>
              <a:noFill/>
              <a:ln w="19050">
                <a:solidFill>
                  <a:srgbClr val="D60093"/>
                </a:solidFill>
                <a:round/>
                <a:headEnd/>
                <a:tailEnd/>
              </a:ln>
              <a:effectLst/>
            </p:spPr>
            <p:txBody>
              <a:bodyPr wrap="none" tIns="27432" bIns="27432" anchor="ctr">
                <a:spAutoFit/>
              </a:bodyPr>
              <a:lstStyle/>
              <a:p>
                <a:endParaRPr lang="fr-FR"/>
              </a:p>
            </p:txBody>
          </p:sp>
          <p:sp>
            <p:nvSpPr>
              <p:cNvPr id="79886" name="Freeform 14"/>
              <p:cNvSpPr>
                <a:spLocks/>
              </p:cNvSpPr>
              <p:nvPr/>
            </p:nvSpPr>
            <p:spPr bwMode="auto">
              <a:xfrm>
                <a:off x="2255" y="1610"/>
                <a:ext cx="47" cy="25"/>
              </a:xfrm>
              <a:custGeom>
                <a:avLst/>
                <a:gdLst/>
                <a:ahLst/>
                <a:cxnLst>
                  <a:cxn ang="0">
                    <a:pos x="0" y="0"/>
                  </a:cxn>
                  <a:cxn ang="0">
                    <a:pos x="1" y="18"/>
                  </a:cxn>
                  <a:cxn ang="0">
                    <a:pos x="64" y="35"/>
                  </a:cxn>
                  <a:cxn ang="0">
                    <a:pos x="64" y="19"/>
                  </a:cxn>
                  <a:cxn ang="0">
                    <a:pos x="0" y="0"/>
                  </a:cxn>
                </a:cxnLst>
                <a:rect l="0" t="0" r="r" b="b"/>
                <a:pathLst>
                  <a:path w="64" h="35">
                    <a:moveTo>
                      <a:pt x="0" y="0"/>
                    </a:moveTo>
                    <a:lnTo>
                      <a:pt x="1" y="18"/>
                    </a:lnTo>
                    <a:lnTo>
                      <a:pt x="64" y="35"/>
                    </a:lnTo>
                    <a:lnTo>
                      <a:pt x="64" y="19"/>
                    </a:lnTo>
                    <a:lnTo>
                      <a:pt x="0" y="0"/>
                    </a:lnTo>
                    <a:close/>
                  </a:path>
                </a:pathLst>
              </a:custGeom>
              <a:solidFill>
                <a:srgbClr val="777777"/>
              </a:solidFill>
              <a:ln w="19050" cap="flat" cmpd="sng">
                <a:noFill/>
                <a:prstDash val="solid"/>
                <a:round/>
                <a:headEnd type="none" w="med" len="med"/>
                <a:tailEnd type="none" w="med" len="med"/>
              </a:ln>
              <a:effectLst/>
            </p:spPr>
            <p:txBody>
              <a:bodyPr tIns="27432" bIns="27432" anchor="ctr">
                <a:spAutoFit/>
              </a:bodyPr>
              <a:lstStyle/>
              <a:p>
                <a:endParaRPr lang="fr-FR"/>
              </a:p>
            </p:txBody>
          </p:sp>
          <p:sp>
            <p:nvSpPr>
              <p:cNvPr id="79887" name="Line 15"/>
              <p:cNvSpPr>
                <a:spLocks noChangeShapeType="1"/>
              </p:cNvSpPr>
              <p:nvPr/>
            </p:nvSpPr>
            <p:spPr bwMode="auto">
              <a:xfrm>
                <a:off x="1942" y="1503"/>
                <a:ext cx="202" cy="57"/>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79888" name="Line 16"/>
              <p:cNvSpPr>
                <a:spLocks noChangeShapeType="1"/>
              </p:cNvSpPr>
              <p:nvPr/>
            </p:nvSpPr>
            <p:spPr bwMode="auto">
              <a:xfrm>
                <a:off x="1942" y="1525"/>
                <a:ext cx="202" cy="56"/>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79889" name="Line 17"/>
              <p:cNvSpPr>
                <a:spLocks noChangeShapeType="1"/>
              </p:cNvSpPr>
              <p:nvPr/>
            </p:nvSpPr>
            <p:spPr bwMode="auto">
              <a:xfrm>
                <a:off x="1942" y="1548"/>
                <a:ext cx="202" cy="57"/>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79890" name="Line 18"/>
              <p:cNvSpPr>
                <a:spLocks noChangeShapeType="1"/>
              </p:cNvSpPr>
              <p:nvPr/>
            </p:nvSpPr>
            <p:spPr bwMode="auto">
              <a:xfrm>
                <a:off x="1942" y="1570"/>
                <a:ext cx="202" cy="56"/>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79891" name="Freeform 19"/>
              <p:cNvSpPr>
                <a:spLocks/>
              </p:cNvSpPr>
              <p:nvPr/>
            </p:nvSpPr>
            <p:spPr bwMode="auto">
              <a:xfrm>
                <a:off x="2192" y="1632"/>
                <a:ext cx="198" cy="84"/>
              </a:xfrm>
              <a:custGeom>
                <a:avLst/>
                <a:gdLst/>
                <a:ahLst/>
                <a:cxnLst>
                  <a:cxn ang="0">
                    <a:pos x="0" y="40"/>
                  </a:cxn>
                  <a:cxn ang="0">
                    <a:pos x="275" y="117"/>
                  </a:cxn>
                  <a:cxn ang="0">
                    <a:pos x="275" y="0"/>
                  </a:cxn>
                </a:cxnLst>
                <a:rect l="0" t="0" r="r" b="b"/>
                <a:pathLst>
                  <a:path w="275" h="117">
                    <a:moveTo>
                      <a:pt x="0" y="40"/>
                    </a:moveTo>
                    <a:lnTo>
                      <a:pt x="275" y="117"/>
                    </a:lnTo>
                    <a:lnTo>
                      <a:pt x="275" y="0"/>
                    </a:lnTo>
                  </a:path>
                </a:pathLst>
              </a:custGeom>
              <a:noFill/>
              <a:ln w="6350" cap="flat" cmpd="sng">
                <a:solidFill>
                  <a:schemeClr val="bg1"/>
                </a:solidFill>
                <a:prstDash val="solid"/>
                <a:round/>
                <a:headEnd type="none" w="med" len="med"/>
                <a:tailEnd type="none" w="med" len="med"/>
              </a:ln>
              <a:effectLst/>
            </p:spPr>
            <p:txBody>
              <a:bodyPr wrap="none" tIns="27432" bIns="27432" anchor="ctr">
                <a:spAutoFit/>
              </a:bodyPr>
              <a:lstStyle/>
              <a:p>
                <a:endParaRPr lang="fr-FR"/>
              </a:p>
            </p:txBody>
          </p:sp>
        </p:grpSp>
        <p:grpSp>
          <p:nvGrpSpPr>
            <p:cNvPr id="79892" name="Group 20"/>
            <p:cNvGrpSpPr>
              <a:grpSpLocks/>
            </p:cNvGrpSpPr>
            <p:nvPr/>
          </p:nvGrpSpPr>
          <p:grpSpPr bwMode="auto">
            <a:xfrm>
              <a:off x="3042" y="2733"/>
              <a:ext cx="714" cy="672"/>
              <a:chOff x="2004" y="885"/>
              <a:chExt cx="714" cy="672"/>
            </a:xfrm>
          </p:grpSpPr>
          <p:sp>
            <p:nvSpPr>
              <p:cNvPr id="79893" name="Freeform 21"/>
              <p:cNvSpPr>
                <a:spLocks/>
              </p:cNvSpPr>
              <p:nvPr/>
            </p:nvSpPr>
            <p:spPr bwMode="auto">
              <a:xfrm>
                <a:off x="2058" y="1322"/>
                <a:ext cx="556" cy="235"/>
              </a:xfrm>
              <a:custGeom>
                <a:avLst/>
                <a:gdLst/>
                <a:ahLst/>
                <a:cxnLst>
                  <a:cxn ang="0">
                    <a:pos x="0" y="128"/>
                  </a:cxn>
                  <a:cxn ang="0">
                    <a:pos x="238" y="0"/>
                  </a:cxn>
                  <a:cxn ang="0">
                    <a:pos x="556" y="91"/>
                  </a:cxn>
                  <a:cxn ang="0">
                    <a:pos x="556" y="108"/>
                  </a:cxn>
                  <a:cxn ang="0">
                    <a:pos x="334" y="235"/>
                  </a:cxn>
                  <a:cxn ang="0">
                    <a:pos x="0" y="148"/>
                  </a:cxn>
                  <a:cxn ang="0">
                    <a:pos x="0" y="128"/>
                  </a:cxn>
                </a:cxnLst>
                <a:rect l="0" t="0" r="r" b="b"/>
                <a:pathLst>
                  <a:path w="556" h="235">
                    <a:moveTo>
                      <a:pt x="0" y="128"/>
                    </a:moveTo>
                    <a:lnTo>
                      <a:pt x="238" y="0"/>
                    </a:lnTo>
                    <a:lnTo>
                      <a:pt x="556" y="91"/>
                    </a:lnTo>
                    <a:lnTo>
                      <a:pt x="556" y="108"/>
                    </a:lnTo>
                    <a:lnTo>
                      <a:pt x="334" y="235"/>
                    </a:lnTo>
                    <a:lnTo>
                      <a:pt x="0" y="148"/>
                    </a:lnTo>
                    <a:lnTo>
                      <a:pt x="0" y="128"/>
                    </a:lnTo>
                    <a:close/>
                  </a:path>
                </a:pathLst>
              </a:custGeom>
              <a:solidFill>
                <a:srgbClr val="DDDDDD"/>
              </a:solidFill>
              <a:ln w="3175" cap="rnd" cmpd="sng">
                <a:solidFill>
                  <a:srgbClr val="000000"/>
                </a:solidFill>
                <a:prstDash val="solid"/>
                <a:round/>
                <a:headEnd type="none" w="med" len="med"/>
                <a:tailEnd type="none" w="med" len="med"/>
              </a:ln>
              <a:effectLst/>
            </p:spPr>
            <p:txBody>
              <a:bodyPr/>
              <a:lstStyle/>
              <a:p>
                <a:endParaRPr lang="fr-FR"/>
              </a:p>
            </p:txBody>
          </p:sp>
          <p:sp>
            <p:nvSpPr>
              <p:cNvPr id="79894" name="Freeform 22"/>
              <p:cNvSpPr>
                <a:spLocks/>
              </p:cNvSpPr>
              <p:nvPr/>
            </p:nvSpPr>
            <p:spPr bwMode="auto">
              <a:xfrm>
                <a:off x="2065" y="1327"/>
                <a:ext cx="538" cy="208"/>
              </a:xfrm>
              <a:custGeom>
                <a:avLst/>
                <a:gdLst/>
                <a:ahLst/>
                <a:cxnLst>
                  <a:cxn ang="0">
                    <a:pos x="0" y="124"/>
                  </a:cxn>
                  <a:cxn ang="0">
                    <a:pos x="327" y="208"/>
                  </a:cxn>
                  <a:cxn ang="0">
                    <a:pos x="538" y="86"/>
                  </a:cxn>
                  <a:cxn ang="0">
                    <a:pos x="233" y="0"/>
                  </a:cxn>
                  <a:cxn ang="0">
                    <a:pos x="0" y="124"/>
                  </a:cxn>
                </a:cxnLst>
                <a:rect l="0" t="0" r="r" b="b"/>
                <a:pathLst>
                  <a:path w="538" h="208">
                    <a:moveTo>
                      <a:pt x="0" y="124"/>
                    </a:moveTo>
                    <a:lnTo>
                      <a:pt x="327" y="208"/>
                    </a:lnTo>
                    <a:lnTo>
                      <a:pt x="538" y="86"/>
                    </a:lnTo>
                    <a:lnTo>
                      <a:pt x="233" y="0"/>
                    </a:lnTo>
                    <a:lnTo>
                      <a:pt x="0" y="124"/>
                    </a:lnTo>
                    <a:close/>
                  </a:path>
                </a:pathLst>
              </a:custGeom>
              <a:solidFill>
                <a:srgbClr val="B2B2B2"/>
              </a:solidFill>
              <a:ln w="6350" cap="rnd" cmpd="sng">
                <a:noFill/>
                <a:prstDash val="solid"/>
                <a:round/>
                <a:headEnd type="none" w="med" len="med"/>
                <a:tailEnd type="none" w="med" len="med"/>
              </a:ln>
              <a:effectLst/>
            </p:spPr>
            <p:txBody>
              <a:bodyPr/>
              <a:lstStyle/>
              <a:p>
                <a:endParaRPr lang="fr-FR"/>
              </a:p>
            </p:txBody>
          </p:sp>
          <p:sp>
            <p:nvSpPr>
              <p:cNvPr id="79895" name="Oval 23"/>
              <p:cNvSpPr>
                <a:spLocks noChangeArrowheads="1"/>
              </p:cNvSpPr>
              <p:nvPr/>
            </p:nvSpPr>
            <p:spPr bwMode="auto">
              <a:xfrm>
                <a:off x="2199" y="1378"/>
                <a:ext cx="280" cy="112"/>
              </a:xfrm>
              <a:prstGeom prst="ellipse">
                <a:avLst/>
              </a:prstGeom>
              <a:solidFill>
                <a:srgbClr val="B2B2B2"/>
              </a:solidFill>
              <a:ln w="3175" cap="rnd">
                <a:solidFill>
                  <a:schemeClr val="tx1"/>
                </a:solidFill>
                <a:round/>
                <a:headEnd/>
                <a:tailEnd/>
              </a:ln>
              <a:effectLst/>
            </p:spPr>
            <p:txBody>
              <a:bodyPr/>
              <a:lstStyle/>
              <a:p>
                <a:endParaRPr lang="fr-FR"/>
              </a:p>
            </p:txBody>
          </p:sp>
          <p:sp>
            <p:nvSpPr>
              <p:cNvPr id="79896" name="Freeform 24"/>
              <p:cNvSpPr>
                <a:spLocks/>
              </p:cNvSpPr>
              <p:nvPr/>
            </p:nvSpPr>
            <p:spPr bwMode="auto">
              <a:xfrm>
                <a:off x="2046" y="1382"/>
                <a:ext cx="452" cy="126"/>
              </a:xfrm>
              <a:custGeom>
                <a:avLst/>
                <a:gdLst/>
                <a:ahLst/>
                <a:cxnLst>
                  <a:cxn ang="0">
                    <a:pos x="0" y="0"/>
                  </a:cxn>
                  <a:cxn ang="0">
                    <a:pos x="20" y="36"/>
                  </a:cxn>
                  <a:cxn ang="0">
                    <a:pos x="574" y="180"/>
                  </a:cxn>
                  <a:cxn ang="0">
                    <a:pos x="646" y="158"/>
                  </a:cxn>
                </a:cxnLst>
                <a:rect l="0" t="0" r="r" b="b"/>
                <a:pathLst>
                  <a:path w="646" h="180">
                    <a:moveTo>
                      <a:pt x="0" y="0"/>
                    </a:moveTo>
                    <a:lnTo>
                      <a:pt x="20" y="36"/>
                    </a:lnTo>
                    <a:lnTo>
                      <a:pt x="574" y="180"/>
                    </a:lnTo>
                    <a:lnTo>
                      <a:pt x="646" y="158"/>
                    </a:lnTo>
                  </a:path>
                </a:pathLst>
              </a:custGeom>
              <a:solidFill>
                <a:srgbClr val="B2B2B2"/>
              </a:solidFill>
              <a:ln w="3175" cap="rnd" cmpd="sng">
                <a:solidFill>
                  <a:schemeClr val="tx1"/>
                </a:solidFill>
                <a:prstDash val="solid"/>
                <a:round/>
                <a:headEnd type="none" w="med" len="med"/>
                <a:tailEnd type="none" w="med" len="med"/>
              </a:ln>
              <a:effectLst/>
            </p:spPr>
            <p:txBody>
              <a:bodyPr/>
              <a:lstStyle/>
              <a:p>
                <a:endParaRPr lang="fr-FR"/>
              </a:p>
            </p:txBody>
          </p:sp>
          <p:sp>
            <p:nvSpPr>
              <p:cNvPr id="79897" name="Freeform 25"/>
              <p:cNvSpPr>
                <a:spLocks noChangeAspect="1"/>
              </p:cNvSpPr>
              <p:nvPr/>
            </p:nvSpPr>
            <p:spPr bwMode="auto">
              <a:xfrm>
                <a:off x="2154" y="885"/>
                <a:ext cx="564" cy="520"/>
              </a:xfrm>
              <a:custGeom>
                <a:avLst/>
                <a:gdLst/>
                <a:ahLst/>
                <a:cxnLst>
                  <a:cxn ang="0">
                    <a:pos x="620" y="746"/>
                  </a:cxn>
                  <a:cxn ang="0">
                    <a:pos x="808" y="525"/>
                  </a:cxn>
                  <a:cxn ang="0">
                    <a:pos x="808" y="106"/>
                  </a:cxn>
                  <a:cxn ang="0">
                    <a:pos x="336" y="0"/>
                  </a:cxn>
                  <a:cxn ang="0">
                    <a:pos x="0" y="48"/>
                  </a:cxn>
                </a:cxnLst>
                <a:rect l="0" t="0" r="r" b="b"/>
                <a:pathLst>
                  <a:path w="808" h="746">
                    <a:moveTo>
                      <a:pt x="620" y="746"/>
                    </a:moveTo>
                    <a:lnTo>
                      <a:pt x="808" y="525"/>
                    </a:lnTo>
                    <a:lnTo>
                      <a:pt x="808" y="106"/>
                    </a:lnTo>
                    <a:lnTo>
                      <a:pt x="336" y="0"/>
                    </a:lnTo>
                    <a:lnTo>
                      <a:pt x="0" y="4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79898" name="Freeform 26"/>
              <p:cNvSpPr>
                <a:spLocks noChangeAspect="1"/>
              </p:cNvSpPr>
              <p:nvPr/>
            </p:nvSpPr>
            <p:spPr bwMode="auto">
              <a:xfrm>
                <a:off x="2506" y="1000"/>
                <a:ext cx="113" cy="506"/>
              </a:xfrm>
              <a:custGeom>
                <a:avLst/>
                <a:gdLst/>
                <a:ahLst/>
                <a:cxnLst>
                  <a:cxn ang="0">
                    <a:pos x="0" y="644"/>
                  </a:cxn>
                  <a:cxn ang="0">
                    <a:pos x="0" y="79"/>
                  </a:cxn>
                  <a:cxn ang="0">
                    <a:pos x="144" y="0"/>
                  </a:cxn>
                  <a:cxn ang="0">
                    <a:pos x="144" y="554"/>
                  </a:cxn>
                  <a:cxn ang="0">
                    <a:pos x="0" y="644"/>
                  </a:cxn>
                </a:cxnLst>
                <a:rect l="0" t="0" r="r" b="b"/>
                <a:pathLst>
                  <a:path w="144" h="644">
                    <a:moveTo>
                      <a:pt x="0" y="644"/>
                    </a:moveTo>
                    <a:lnTo>
                      <a:pt x="0" y="79"/>
                    </a:lnTo>
                    <a:lnTo>
                      <a:pt x="144" y="0"/>
                    </a:lnTo>
                    <a:lnTo>
                      <a:pt x="144" y="554"/>
                    </a:lnTo>
                    <a:lnTo>
                      <a:pt x="0" y="644"/>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79899" name="Freeform 27"/>
              <p:cNvSpPr>
                <a:spLocks noChangeAspect="1"/>
              </p:cNvSpPr>
              <p:nvPr/>
            </p:nvSpPr>
            <p:spPr bwMode="auto">
              <a:xfrm>
                <a:off x="2004" y="891"/>
                <a:ext cx="615" cy="172"/>
              </a:xfrm>
              <a:custGeom>
                <a:avLst/>
                <a:gdLst/>
                <a:ahLst/>
                <a:cxnLst>
                  <a:cxn ang="0">
                    <a:pos x="638" y="219"/>
                  </a:cxn>
                  <a:cxn ang="0">
                    <a:pos x="0" y="67"/>
                  </a:cxn>
                  <a:cxn ang="0">
                    <a:pos x="160" y="0"/>
                  </a:cxn>
                  <a:cxn ang="0">
                    <a:pos x="782" y="139"/>
                  </a:cxn>
                  <a:cxn ang="0">
                    <a:pos x="638" y="219"/>
                  </a:cxn>
                </a:cxnLst>
                <a:rect l="0" t="0" r="r" b="b"/>
                <a:pathLst>
                  <a:path w="782" h="219">
                    <a:moveTo>
                      <a:pt x="638" y="219"/>
                    </a:moveTo>
                    <a:lnTo>
                      <a:pt x="0" y="67"/>
                    </a:lnTo>
                    <a:lnTo>
                      <a:pt x="160" y="0"/>
                    </a:lnTo>
                    <a:lnTo>
                      <a:pt x="782" y="139"/>
                    </a:lnTo>
                    <a:lnTo>
                      <a:pt x="638" y="219"/>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sp>
            <p:nvSpPr>
              <p:cNvPr id="79900" name="Freeform 28"/>
              <p:cNvSpPr>
                <a:spLocks noChangeAspect="1"/>
              </p:cNvSpPr>
              <p:nvPr/>
            </p:nvSpPr>
            <p:spPr bwMode="auto">
              <a:xfrm>
                <a:off x="2004" y="942"/>
                <a:ext cx="502" cy="566"/>
              </a:xfrm>
              <a:custGeom>
                <a:avLst/>
                <a:gdLst/>
                <a:ahLst/>
                <a:cxnLst>
                  <a:cxn ang="0">
                    <a:pos x="671" y="753"/>
                  </a:cxn>
                  <a:cxn ang="0">
                    <a:pos x="671" y="160"/>
                  </a:cxn>
                  <a:cxn ang="0">
                    <a:pos x="0" y="0"/>
                  </a:cxn>
                  <a:cxn ang="0">
                    <a:pos x="0" y="578"/>
                  </a:cxn>
                  <a:cxn ang="0">
                    <a:pos x="671" y="753"/>
                  </a:cxn>
                </a:cxnLst>
                <a:rect l="0" t="0" r="r" b="b"/>
                <a:pathLst>
                  <a:path w="672" h="754">
                    <a:moveTo>
                      <a:pt x="671" y="753"/>
                    </a:moveTo>
                    <a:lnTo>
                      <a:pt x="671" y="160"/>
                    </a:lnTo>
                    <a:lnTo>
                      <a:pt x="0" y="0"/>
                    </a:lnTo>
                    <a:lnTo>
                      <a:pt x="0" y="578"/>
                    </a:lnTo>
                    <a:lnTo>
                      <a:pt x="671" y="753"/>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79901" name="Freeform 29"/>
              <p:cNvSpPr>
                <a:spLocks noChangeAspect="1"/>
              </p:cNvSpPr>
              <p:nvPr/>
            </p:nvSpPr>
            <p:spPr bwMode="auto">
              <a:xfrm>
                <a:off x="2043" y="992"/>
                <a:ext cx="425" cy="464"/>
              </a:xfrm>
              <a:custGeom>
                <a:avLst/>
                <a:gdLst/>
                <a:ahLst/>
                <a:cxnLst>
                  <a:cxn ang="0">
                    <a:pos x="490" y="548"/>
                  </a:cxn>
                  <a:cxn ang="0">
                    <a:pos x="490" y="117"/>
                  </a:cxn>
                  <a:cxn ang="0">
                    <a:pos x="0" y="0"/>
                  </a:cxn>
                  <a:cxn ang="0">
                    <a:pos x="0" y="424"/>
                  </a:cxn>
                  <a:cxn ang="0">
                    <a:pos x="490" y="548"/>
                  </a:cxn>
                </a:cxnLst>
                <a:rect l="0" t="0" r="r" b="b"/>
                <a:pathLst>
                  <a:path w="491" h="549">
                    <a:moveTo>
                      <a:pt x="490" y="548"/>
                    </a:moveTo>
                    <a:lnTo>
                      <a:pt x="490" y="117"/>
                    </a:lnTo>
                    <a:lnTo>
                      <a:pt x="0" y="0"/>
                    </a:lnTo>
                    <a:lnTo>
                      <a:pt x="0" y="424"/>
                    </a:lnTo>
                    <a:lnTo>
                      <a:pt x="490" y="548"/>
                    </a:lnTo>
                  </a:path>
                </a:pathLst>
              </a:custGeom>
              <a:solidFill>
                <a:srgbClr val="CECECE"/>
              </a:solidFill>
              <a:ln w="6350" cap="rnd" cmpd="sng">
                <a:solidFill>
                  <a:srgbClr val="808080"/>
                </a:solidFill>
                <a:prstDash val="solid"/>
                <a:round/>
                <a:headEnd type="none" w="med" len="med"/>
                <a:tailEnd type="none" w="med" len="med"/>
              </a:ln>
              <a:effectLst/>
            </p:spPr>
            <p:txBody>
              <a:bodyPr/>
              <a:lstStyle/>
              <a:p>
                <a:endParaRPr lang="fr-FR"/>
              </a:p>
            </p:txBody>
          </p:sp>
          <p:sp>
            <p:nvSpPr>
              <p:cNvPr id="79902" name="Freeform 30"/>
              <p:cNvSpPr>
                <a:spLocks/>
              </p:cNvSpPr>
              <p:nvPr/>
            </p:nvSpPr>
            <p:spPr bwMode="auto">
              <a:xfrm>
                <a:off x="2069" y="1023"/>
                <a:ext cx="372" cy="400"/>
              </a:xfrm>
              <a:custGeom>
                <a:avLst/>
                <a:gdLst/>
                <a:ahLst/>
                <a:cxnLst>
                  <a:cxn ang="0">
                    <a:pos x="0" y="0"/>
                  </a:cxn>
                  <a:cxn ang="0">
                    <a:pos x="0" y="454"/>
                  </a:cxn>
                  <a:cxn ang="0">
                    <a:pos x="542" y="592"/>
                  </a:cxn>
                  <a:cxn ang="0">
                    <a:pos x="542" y="130"/>
                  </a:cxn>
                  <a:cxn ang="0">
                    <a:pos x="0" y="0"/>
                  </a:cxn>
                </a:cxnLst>
                <a:rect l="0" t="0" r="r" b="b"/>
                <a:pathLst>
                  <a:path w="542" h="592">
                    <a:moveTo>
                      <a:pt x="0" y="0"/>
                    </a:moveTo>
                    <a:lnTo>
                      <a:pt x="0" y="454"/>
                    </a:lnTo>
                    <a:lnTo>
                      <a:pt x="542" y="592"/>
                    </a:lnTo>
                    <a:lnTo>
                      <a:pt x="542" y="130"/>
                    </a:lnTo>
                    <a:lnTo>
                      <a:pt x="0" y="0"/>
                    </a:lnTo>
                    <a:close/>
                  </a:path>
                </a:pathLst>
              </a:custGeom>
              <a:gradFill rotWithShape="0">
                <a:gsLst>
                  <a:gs pos="0">
                    <a:srgbClr val="618FFD"/>
                  </a:gs>
                  <a:gs pos="100000">
                    <a:srgbClr val="618FFD">
                      <a:gamma/>
                      <a:shade val="75294"/>
                      <a:invGamma/>
                    </a:srgbClr>
                  </a:gs>
                </a:gsLst>
                <a:path path="rect">
                  <a:fillToRect r="100000" b="100000"/>
                </a:path>
              </a:gradFill>
              <a:ln w="6350" cap="flat" cmpd="sng">
                <a:solidFill>
                  <a:srgbClr val="777777"/>
                </a:solidFill>
                <a:prstDash val="solid"/>
                <a:round/>
                <a:headEnd type="none" w="med" len="med"/>
                <a:tailEnd type="none" w="med" len="med"/>
              </a:ln>
              <a:effectLst>
                <a:outerShdw dist="17961" dir="2700000" algn="ctr" rotWithShape="0">
                  <a:schemeClr val="bg1"/>
                </a:outerShdw>
              </a:effectLst>
            </p:spPr>
            <p:txBody>
              <a:bodyPr wrap="none" anchor="ctr"/>
              <a:lstStyle/>
              <a:p>
                <a:endParaRPr lang="fr-FR"/>
              </a:p>
            </p:txBody>
          </p:sp>
          <p:sp>
            <p:nvSpPr>
              <p:cNvPr id="79903" name="Line 31"/>
              <p:cNvSpPr>
                <a:spLocks noChangeShapeType="1"/>
              </p:cNvSpPr>
              <p:nvPr/>
            </p:nvSpPr>
            <p:spPr bwMode="auto">
              <a:xfrm>
                <a:off x="2102" y="1056"/>
                <a:ext cx="0" cy="61"/>
              </a:xfrm>
              <a:prstGeom prst="line">
                <a:avLst/>
              </a:prstGeom>
              <a:noFill/>
              <a:ln w="25400">
                <a:solidFill>
                  <a:schemeClr val="bg1"/>
                </a:solidFill>
                <a:round/>
                <a:headEnd/>
                <a:tailEnd/>
              </a:ln>
              <a:effectLst/>
            </p:spPr>
            <p:txBody>
              <a:bodyPr wrap="none" anchor="ctr"/>
              <a:lstStyle/>
              <a:p>
                <a:endParaRPr lang="fr-FR"/>
              </a:p>
            </p:txBody>
          </p:sp>
        </p:grpSp>
      </p:grpSp>
      <p:sp>
        <p:nvSpPr>
          <p:cNvPr id="79904" name="Text Box 32"/>
          <p:cNvSpPr txBox="1">
            <a:spLocks noChangeArrowheads="1"/>
          </p:cNvSpPr>
          <p:nvPr/>
        </p:nvSpPr>
        <p:spPr bwMode="auto">
          <a:xfrm>
            <a:off x="537403" y="3508414"/>
            <a:ext cx="1137410" cy="430887"/>
          </a:xfrm>
          <a:prstGeom prst="rect">
            <a:avLst/>
          </a:prstGeom>
          <a:noFill/>
          <a:ln w="9525">
            <a:noFill/>
            <a:miter lim="800000"/>
            <a:headEnd/>
            <a:tailEnd/>
          </a:ln>
          <a:effectLst/>
        </p:spPr>
        <p:txBody>
          <a:bodyPr wrap="square" anchor="ctr">
            <a:spAutoFit/>
          </a:bodyPr>
          <a:lstStyle/>
          <a:p>
            <a:pPr algn="ctr"/>
            <a:r>
              <a:rPr lang="en-US" sz="2200" b="1" dirty="0">
                <a:latin typeface="Arial" charset="0"/>
              </a:rPr>
              <a:t>Client</a:t>
            </a:r>
          </a:p>
        </p:txBody>
      </p:sp>
      <p:grpSp>
        <p:nvGrpSpPr>
          <p:cNvPr id="79905" name="Group 33"/>
          <p:cNvGrpSpPr>
            <a:grpSpLocks/>
          </p:cNvGrpSpPr>
          <p:nvPr/>
        </p:nvGrpSpPr>
        <p:grpSpPr bwMode="auto">
          <a:xfrm>
            <a:off x="1025870" y="2262535"/>
            <a:ext cx="1309344" cy="856612"/>
            <a:chOff x="2899" y="2529"/>
            <a:chExt cx="547" cy="309"/>
          </a:xfrm>
        </p:grpSpPr>
        <p:sp>
          <p:nvSpPr>
            <p:cNvPr id="79906" name="Freeform 34"/>
            <p:cNvSpPr>
              <a:spLocks/>
            </p:cNvSpPr>
            <p:nvPr/>
          </p:nvSpPr>
          <p:spPr bwMode="auto">
            <a:xfrm>
              <a:off x="3216" y="2606"/>
              <a:ext cx="230" cy="232"/>
            </a:xfrm>
            <a:custGeom>
              <a:avLst/>
              <a:gdLst/>
              <a:ahLst/>
              <a:cxnLst>
                <a:cxn ang="0">
                  <a:pos x="0" y="146"/>
                </a:cxn>
                <a:cxn ang="0">
                  <a:pos x="230" y="0"/>
                </a:cxn>
                <a:cxn ang="0">
                  <a:pos x="230" y="85"/>
                </a:cxn>
                <a:cxn ang="0">
                  <a:pos x="0" y="232"/>
                </a:cxn>
                <a:cxn ang="0">
                  <a:pos x="0" y="146"/>
                </a:cxn>
              </a:cxnLst>
              <a:rect l="0" t="0" r="r" b="b"/>
              <a:pathLst>
                <a:path w="230" h="232">
                  <a:moveTo>
                    <a:pt x="0" y="146"/>
                  </a:moveTo>
                  <a:lnTo>
                    <a:pt x="230" y="0"/>
                  </a:lnTo>
                  <a:lnTo>
                    <a:pt x="230" y="85"/>
                  </a:lnTo>
                  <a:lnTo>
                    <a:pt x="0" y="232"/>
                  </a:lnTo>
                  <a:lnTo>
                    <a:pt x="0" y="146"/>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79907" name="Freeform 35"/>
            <p:cNvSpPr>
              <a:spLocks/>
            </p:cNvSpPr>
            <p:nvPr/>
          </p:nvSpPr>
          <p:spPr bwMode="auto">
            <a:xfrm>
              <a:off x="2899" y="2672"/>
              <a:ext cx="318" cy="166"/>
            </a:xfrm>
            <a:custGeom>
              <a:avLst/>
              <a:gdLst/>
              <a:ahLst/>
              <a:cxnLst>
                <a:cxn ang="0">
                  <a:pos x="318" y="80"/>
                </a:cxn>
                <a:cxn ang="0">
                  <a:pos x="318" y="166"/>
                </a:cxn>
                <a:cxn ang="0">
                  <a:pos x="0" y="85"/>
                </a:cxn>
                <a:cxn ang="0">
                  <a:pos x="0" y="0"/>
                </a:cxn>
              </a:cxnLst>
              <a:rect l="0" t="0" r="r" b="b"/>
              <a:pathLst>
                <a:path w="318" h="166">
                  <a:moveTo>
                    <a:pt x="318" y="80"/>
                  </a:moveTo>
                  <a:lnTo>
                    <a:pt x="318" y="166"/>
                  </a:lnTo>
                  <a:lnTo>
                    <a:pt x="0" y="85"/>
                  </a:lnTo>
                  <a:lnTo>
                    <a:pt x="0" y="0"/>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79908" name="Oval 36"/>
            <p:cNvSpPr>
              <a:spLocks noChangeArrowheads="1"/>
            </p:cNvSpPr>
            <p:nvPr/>
          </p:nvSpPr>
          <p:spPr bwMode="auto">
            <a:xfrm>
              <a:off x="2993" y="2724"/>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79909" name="Oval 37"/>
            <p:cNvSpPr>
              <a:spLocks noChangeArrowheads="1"/>
            </p:cNvSpPr>
            <p:nvPr/>
          </p:nvSpPr>
          <p:spPr bwMode="auto">
            <a:xfrm>
              <a:off x="3044" y="2739"/>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79910" name="Oval 38"/>
            <p:cNvSpPr>
              <a:spLocks noChangeArrowheads="1"/>
            </p:cNvSpPr>
            <p:nvPr/>
          </p:nvSpPr>
          <p:spPr bwMode="auto">
            <a:xfrm>
              <a:off x="3099" y="2751"/>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79911" name="Oval 39"/>
            <p:cNvSpPr>
              <a:spLocks noChangeArrowheads="1"/>
            </p:cNvSpPr>
            <p:nvPr/>
          </p:nvSpPr>
          <p:spPr bwMode="auto">
            <a:xfrm>
              <a:off x="3149" y="2768"/>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79912" name="Freeform 40"/>
            <p:cNvSpPr>
              <a:spLocks/>
            </p:cNvSpPr>
            <p:nvPr/>
          </p:nvSpPr>
          <p:spPr bwMode="auto">
            <a:xfrm>
              <a:off x="2899" y="2529"/>
              <a:ext cx="547" cy="224"/>
            </a:xfrm>
            <a:custGeom>
              <a:avLst/>
              <a:gdLst/>
              <a:ahLst/>
              <a:cxnLst>
                <a:cxn ang="0">
                  <a:pos x="0" y="141"/>
                </a:cxn>
                <a:cxn ang="0">
                  <a:pos x="230" y="0"/>
                </a:cxn>
                <a:cxn ang="0">
                  <a:pos x="547" y="78"/>
                </a:cxn>
                <a:cxn ang="0">
                  <a:pos x="318" y="224"/>
                </a:cxn>
                <a:cxn ang="0">
                  <a:pos x="2" y="146"/>
                </a:cxn>
              </a:cxnLst>
              <a:rect l="0" t="0" r="r" b="b"/>
              <a:pathLst>
                <a:path w="547" h="224">
                  <a:moveTo>
                    <a:pt x="0" y="141"/>
                  </a:moveTo>
                  <a:lnTo>
                    <a:pt x="230" y="0"/>
                  </a:lnTo>
                  <a:lnTo>
                    <a:pt x="547" y="78"/>
                  </a:lnTo>
                  <a:lnTo>
                    <a:pt x="318" y="224"/>
                  </a:lnTo>
                  <a:lnTo>
                    <a:pt x="2" y="146"/>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grpSp>
      <p:grpSp>
        <p:nvGrpSpPr>
          <p:cNvPr id="79913" name="Group 41"/>
          <p:cNvGrpSpPr>
            <a:grpSpLocks/>
          </p:cNvGrpSpPr>
          <p:nvPr/>
        </p:nvGrpSpPr>
        <p:grpSpPr bwMode="auto">
          <a:xfrm>
            <a:off x="6080124" y="2703673"/>
            <a:ext cx="1771245" cy="2003265"/>
            <a:chOff x="2967" y="2733"/>
            <a:chExt cx="789" cy="870"/>
          </a:xfrm>
        </p:grpSpPr>
        <p:grpSp>
          <p:nvGrpSpPr>
            <p:cNvPr id="79914" name="Group 42"/>
            <p:cNvGrpSpPr>
              <a:grpSpLocks/>
            </p:cNvGrpSpPr>
            <p:nvPr/>
          </p:nvGrpSpPr>
          <p:grpSpPr bwMode="auto">
            <a:xfrm>
              <a:off x="2967" y="3191"/>
              <a:ext cx="763" cy="412"/>
              <a:chOff x="1929" y="1343"/>
              <a:chExt cx="763" cy="412"/>
            </a:xfrm>
          </p:grpSpPr>
          <p:sp>
            <p:nvSpPr>
              <p:cNvPr id="79915" name="Freeform 43"/>
              <p:cNvSpPr>
                <a:spLocks noChangeAspect="1"/>
              </p:cNvSpPr>
              <p:nvPr/>
            </p:nvSpPr>
            <p:spPr bwMode="auto">
              <a:xfrm>
                <a:off x="2428" y="1450"/>
                <a:ext cx="263" cy="305"/>
              </a:xfrm>
              <a:custGeom>
                <a:avLst/>
                <a:gdLst/>
                <a:ahLst/>
                <a:cxnLst>
                  <a:cxn ang="0">
                    <a:pos x="3" y="212"/>
                  </a:cxn>
                  <a:cxn ang="0">
                    <a:pos x="364" y="0"/>
                  </a:cxn>
                  <a:cxn ang="0">
                    <a:pos x="364" y="180"/>
                  </a:cxn>
                  <a:cxn ang="0">
                    <a:pos x="0" y="422"/>
                  </a:cxn>
                </a:cxnLst>
                <a:rect l="0" t="0" r="r" b="b"/>
                <a:pathLst>
                  <a:path w="364" h="422">
                    <a:moveTo>
                      <a:pt x="3" y="212"/>
                    </a:moveTo>
                    <a:lnTo>
                      <a:pt x="364" y="0"/>
                    </a:lnTo>
                    <a:lnTo>
                      <a:pt x="364" y="180"/>
                    </a:lnTo>
                    <a:lnTo>
                      <a:pt x="0" y="422"/>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79916" name="Freeform 44"/>
              <p:cNvSpPr>
                <a:spLocks noChangeAspect="1"/>
              </p:cNvSpPr>
              <p:nvPr/>
            </p:nvSpPr>
            <p:spPr bwMode="auto">
              <a:xfrm>
                <a:off x="1929" y="1343"/>
                <a:ext cx="763" cy="264"/>
              </a:xfrm>
              <a:custGeom>
                <a:avLst/>
                <a:gdLst/>
                <a:ahLst/>
                <a:cxnLst>
                  <a:cxn ang="0">
                    <a:pos x="715" y="376"/>
                  </a:cxn>
                  <a:cxn ang="0">
                    <a:pos x="0" y="187"/>
                  </a:cxn>
                  <a:cxn ang="0">
                    <a:pos x="397" y="0"/>
                  </a:cxn>
                  <a:cxn ang="0">
                    <a:pos x="1090" y="152"/>
                  </a:cxn>
                  <a:cxn ang="0">
                    <a:pos x="715" y="376"/>
                  </a:cxn>
                </a:cxnLst>
                <a:rect l="0" t="0" r="r" b="b"/>
                <a:pathLst>
                  <a:path w="1091" h="377">
                    <a:moveTo>
                      <a:pt x="715" y="376"/>
                    </a:moveTo>
                    <a:lnTo>
                      <a:pt x="0" y="187"/>
                    </a:lnTo>
                    <a:lnTo>
                      <a:pt x="397" y="0"/>
                    </a:lnTo>
                    <a:lnTo>
                      <a:pt x="1090" y="152"/>
                    </a:lnTo>
                    <a:lnTo>
                      <a:pt x="715" y="376"/>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79917" name="Freeform 45"/>
              <p:cNvSpPr>
                <a:spLocks noChangeAspect="1"/>
              </p:cNvSpPr>
              <p:nvPr/>
            </p:nvSpPr>
            <p:spPr bwMode="auto">
              <a:xfrm>
                <a:off x="1929" y="1473"/>
                <a:ext cx="499" cy="282"/>
              </a:xfrm>
              <a:custGeom>
                <a:avLst/>
                <a:gdLst/>
                <a:ahLst/>
                <a:cxnLst>
                  <a:cxn ang="0">
                    <a:pos x="0" y="5"/>
                  </a:cxn>
                  <a:cxn ang="0">
                    <a:pos x="0" y="192"/>
                  </a:cxn>
                  <a:cxn ang="0">
                    <a:pos x="690" y="390"/>
                  </a:cxn>
                  <a:cxn ang="0">
                    <a:pos x="690" y="185"/>
                  </a:cxn>
                  <a:cxn ang="0">
                    <a:pos x="4" y="0"/>
                  </a:cxn>
                </a:cxnLst>
                <a:rect l="0" t="0" r="r" b="b"/>
                <a:pathLst>
                  <a:path w="690" h="390">
                    <a:moveTo>
                      <a:pt x="0" y="5"/>
                    </a:moveTo>
                    <a:lnTo>
                      <a:pt x="0" y="192"/>
                    </a:lnTo>
                    <a:lnTo>
                      <a:pt x="690" y="390"/>
                    </a:lnTo>
                    <a:lnTo>
                      <a:pt x="690" y="185"/>
                    </a:lnTo>
                    <a:lnTo>
                      <a:pt x="4" y="0"/>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79918" name="Freeform 46"/>
              <p:cNvSpPr>
                <a:spLocks noChangeAspect="1"/>
              </p:cNvSpPr>
              <p:nvPr/>
            </p:nvSpPr>
            <p:spPr bwMode="auto">
              <a:xfrm>
                <a:off x="2190" y="1573"/>
                <a:ext cx="196" cy="137"/>
              </a:xfrm>
              <a:custGeom>
                <a:avLst/>
                <a:gdLst/>
                <a:ahLst/>
                <a:cxnLst>
                  <a:cxn ang="0">
                    <a:pos x="0" y="0"/>
                  </a:cxn>
                  <a:cxn ang="0">
                    <a:pos x="271" y="73"/>
                  </a:cxn>
                  <a:cxn ang="0">
                    <a:pos x="271" y="189"/>
                  </a:cxn>
                  <a:cxn ang="0">
                    <a:pos x="0" y="115"/>
                  </a:cxn>
                  <a:cxn ang="0">
                    <a:pos x="0" y="0"/>
                  </a:cxn>
                </a:cxnLst>
                <a:rect l="0" t="0" r="r" b="b"/>
                <a:pathLst>
                  <a:path w="271" h="189">
                    <a:moveTo>
                      <a:pt x="0" y="0"/>
                    </a:moveTo>
                    <a:lnTo>
                      <a:pt x="271" y="73"/>
                    </a:lnTo>
                    <a:lnTo>
                      <a:pt x="271" y="189"/>
                    </a:lnTo>
                    <a:lnTo>
                      <a:pt x="0" y="115"/>
                    </a:lnTo>
                    <a:lnTo>
                      <a:pt x="0" y="0"/>
                    </a:lnTo>
                  </a:path>
                </a:pathLst>
              </a:custGeom>
              <a:gradFill rotWithShape="0">
                <a:gsLst>
                  <a:gs pos="0">
                    <a:srgbClr val="B2B2B2"/>
                  </a:gs>
                  <a:gs pos="100000">
                    <a:srgbClr val="B2B2B2">
                      <a:gamma/>
                      <a:tint val="41176"/>
                      <a:invGamma/>
                    </a:srgbClr>
                  </a:gs>
                </a:gsLst>
                <a:lin ang="2700000" scaled="1"/>
              </a:gradFill>
              <a:ln w="6350" cap="rnd" cmpd="sng">
                <a:noFill/>
                <a:prstDash val="solid"/>
                <a:round/>
                <a:headEnd type="none" w="med" len="med"/>
                <a:tailEnd type="none" w="med" len="med"/>
              </a:ln>
              <a:effectLst/>
            </p:spPr>
            <p:txBody>
              <a:bodyPr/>
              <a:lstStyle/>
              <a:p>
                <a:endParaRPr lang="fr-FR"/>
              </a:p>
            </p:txBody>
          </p:sp>
          <p:sp>
            <p:nvSpPr>
              <p:cNvPr id="79919" name="Freeform 47"/>
              <p:cNvSpPr>
                <a:spLocks noChangeAspect="1" noChangeArrowheads="1"/>
              </p:cNvSpPr>
              <p:nvPr/>
            </p:nvSpPr>
            <p:spPr bwMode="auto">
              <a:xfrm>
                <a:off x="2194" y="1624"/>
                <a:ext cx="189" cy="49"/>
              </a:xfrm>
              <a:custGeom>
                <a:avLst/>
                <a:gdLst/>
                <a:ahLst/>
                <a:cxnLst>
                  <a:cxn ang="0">
                    <a:pos x="0" y="0"/>
                  </a:cxn>
                  <a:cxn ang="0">
                    <a:pos x="261" y="69"/>
                  </a:cxn>
                </a:cxnLst>
                <a:rect l="0" t="0" r="r" b="b"/>
                <a:pathLst>
                  <a:path w="261" h="69">
                    <a:moveTo>
                      <a:pt x="0" y="0"/>
                    </a:moveTo>
                    <a:lnTo>
                      <a:pt x="261" y="69"/>
                    </a:lnTo>
                  </a:path>
                </a:pathLst>
              </a:custGeom>
              <a:noFill/>
              <a:ln w="3175">
                <a:solidFill>
                  <a:srgbClr val="777777"/>
                </a:solidFill>
                <a:round/>
                <a:headEnd/>
                <a:tailEnd/>
              </a:ln>
              <a:effectLst/>
            </p:spPr>
            <p:txBody>
              <a:bodyPr wrap="none" anchor="ctr"/>
              <a:lstStyle/>
              <a:p>
                <a:endParaRPr lang="fr-FR"/>
              </a:p>
            </p:txBody>
          </p:sp>
          <p:sp>
            <p:nvSpPr>
              <p:cNvPr id="79920" name="Freeform 48"/>
              <p:cNvSpPr>
                <a:spLocks/>
              </p:cNvSpPr>
              <p:nvPr/>
            </p:nvSpPr>
            <p:spPr bwMode="auto">
              <a:xfrm>
                <a:off x="2190" y="1572"/>
                <a:ext cx="195" cy="84"/>
              </a:xfrm>
              <a:custGeom>
                <a:avLst/>
                <a:gdLst/>
                <a:ahLst/>
                <a:cxnLst>
                  <a:cxn ang="0">
                    <a:pos x="0" y="84"/>
                  </a:cxn>
                  <a:cxn ang="0">
                    <a:pos x="0" y="0"/>
                  </a:cxn>
                  <a:cxn ang="0">
                    <a:pos x="195" y="54"/>
                  </a:cxn>
                </a:cxnLst>
                <a:rect l="0" t="0" r="r" b="b"/>
                <a:pathLst>
                  <a:path w="195" h="84">
                    <a:moveTo>
                      <a:pt x="0" y="84"/>
                    </a:moveTo>
                    <a:lnTo>
                      <a:pt x="0" y="0"/>
                    </a:lnTo>
                    <a:lnTo>
                      <a:pt x="195" y="54"/>
                    </a:lnTo>
                  </a:path>
                </a:pathLst>
              </a:custGeom>
              <a:noFill/>
              <a:ln w="6350" cap="flat" cmpd="sng">
                <a:solidFill>
                  <a:srgbClr val="777777"/>
                </a:solidFill>
                <a:prstDash val="solid"/>
                <a:round/>
                <a:headEnd type="none" w="med" len="med"/>
                <a:tailEnd type="none" w="med" len="med"/>
              </a:ln>
              <a:effectLst/>
            </p:spPr>
            <p:txBody>
              <a:bodyPr wrap="none" tIns="27432" bIns="27432" anchor="ctr">
                <a:spAutoFit/>
              </a:bodyPr>
              <a:lstStyle/>
              <a:p>
                <a:endParaRPr lang="fr-FR"/>
              </a:p>
            </p:txBody>
          </p:sp>
          <p:sp>
            <p:nvSpPr>
              <p:cNvPr id="79921" name="Line 49"/>
              <p:cNvSpPr>
                <a:spLocks noChangeShapeType="1"/>
              </p:cNvSpPr>
              <p:nvPr/>
            </p:nvSpPr>
            <p:spPr bwMode="auto">
              <a:xfrm>
                <a:off x="2207" y="1600"/>
                <a:ext cx="153" cy="38"/>
              </a:xfrm>
              <a:prstGeom prst="line">
                <a:avLst/>
              </a:prstGeom>
              <a:noFill/>
              <a:ln w="3175">
                <a:solidFill>
                  <a:srgbClr val="777777"/>
                </a:solidFill>
                <a:round/>
                <a:headEnd/>
                <a:tailEnd/>
              </a:ln>
              <a:effectLst/>
            </p:spPr>
            <p:txBody>
              <a:bodyPr wrap="none" tIns="27432" bIns="27432" anchor="ctr">
                <a:spAutoFit/>
              </a:bodyPr>
              <a:lstStyle/>
              <a:p>
                <a:endParaRPr lang="fr-FR"/>
              </a:p>
            </p:txBody>
          </p:sp>
          <p:sp>
            <p:nvSpPr>
              <p:cNvPr id="79922" name="Line 50"/>
              <p:cNvSpPr>
                <a:spLocks noChangeShapeType="1"/>
              </p:cNvSpPr>
              <p:nvPr/>
            </p:nvSpPr>
            <p:spPr bwMode="auto">
              <a:xfrm>
                <a:off x="2337" y="1678"/>
                <a:ext cx="29" cy="6"/>
              </a:xfrm>
              <a:prstGeom prst="line">
                <a:avLst/>
              </a:prstGeom>
              <a:noFill/>
              <a:ln w="19050">
                <a:solidFill>
                  <a:srgbClr val="D60093"/>
                </a:solidFill>
                <a:round/>
                <a:headEnd/>
                <a:tailEnd/>
              </a:ln>
              <a:effectLst/>
            </p:spPr>
            <p:txBody>
              <a:bodyPr wrap="none" tIns="27432" bIns="27432" anchor="ctr">
                <a:spAutoFit/>
              </a:bodyPr>
              <a:lstStyle/>
              <a:p>
                <a:endParaRPr lang="fr-FR"/>
              </a:p>
            </p:txBody>
          </p:sp>
          <p:sp>
            <p:nvSpPr>
              <p:cNvPr id="79923" name="Freeform 51"/>
              <p:cNvSpPr>
                <a:spLocks/>
              </p:cNvSpPr>
              <p:nvPr/>
            </p:nvSpPr>
            <p:spPr bwMode="auto">
              <a:xfrm>
                <a:off x="2255" y="1610"/>
                <a:ext cx="47" cy="25"/>
              </a:xfrm>
              <a:custGeom>
                <a:avLst/>
                <a:gdLst/>
                <a:ahLst/>
                <a:cxnLst>
                  <a:cxn ang="0">
                    <a:pos x="0" y="0"/>
                  </a:cxn>
                  <a:cxn ang="0">
                    <a:pos x="1" y="18"/>
                  </a:cxn>
                  <a:cxn ang="0">
                    <a:pos x="64" y="35"/>
                  </a:cxn>
                  <a:cxn ang="0">
                    <a:pos x="64" y="19"/>
                  </a:cxn>
                  <a:cxn ang="0">
                    <a:pos x="0" y="0"/>
                  </a:cxn>
                </a:cxnLst>
                <a:rect l="0" t="0" r="r" b="b"/>
                <a:pathLst>
                  <a:path w="64" h="35">
                    <a:moveTo>
                      <a:pt x="0" y="0"/>
                    </a:moveTo>
                    <a:lnTo>
                      <a:pt x="1" y="18"/>
                    </a:lnTo>
                    <a:lnTo>
                      <a:pt x="64" y="35"/>
                    </a:lnTo>
                    <a:lnTo>
                      <a:pt x="64" y="19"/>
                    </a:lnTo>
                    <a:lnTo>
                      <a:pt x="0" y="0"/>
                    </a:lnTo>
                    <a:close/>
                  </a:path>
                </a:pathLst>
              </a:custGeom>
              <a:solidFill>
                <a:srgbClr val="777777"/>
              </a:solidFill>
              <a:ln w="19050" cap="flat" cmpd="sng">
                <a:noFill/>
                <a:prstDash val="solid"/>
                <a:round/>
                <a:headEnd type="none" w="med" len="med"/>
                <a:tailEnd type="none" w="med" len="med"/>
              </a:ln>
              <a:effectLst/>
            </p:spPr>
            <p:txBody>
              <a:bodyPr tIns="27432" bIns="27432" anchor="ctr">
                <a:spAutoFit/>
              </a:bodyPr>
              <a:lstStyle/>
              <a:p>
                <a:endParaRPr lang="fr-FR"/>
              </a:p>
            </p:txBody>
          </p:sp>
          <p:sp>
            <p:nvSpPr>
              <p:cNvPr id="79924" name="Line 52"/>
              <p:cNvSpPr>
                <a:spLocks noChangeShapeType="1"/>
              </p:cNvSpPr>
              <p:nvPr/>
            </p:nvSpPr>
            <p:spPr bwMode="auto">
              <a:xfrm>
                <a:off x="1942" y="1503"/>
                <a:ext cx="202" cy="57"/>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79925" name="Line 53"/>
              <p:cNvSpPr>
                <a:spLocks noChangeShapeType="1"/>
              </p:cNvSpPr>
              <p:nvPr/>
            </p:nvSpPr>
            <p:spPr bwMode="auto">
              <a:xfrm>
                <a:off x="1942" y="1525"/>
                <a:ext cx="202" cy="56"/>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79926" name="Line 54"/>
              <p:cNvSpPr>
                <a:spLocks noChangeShapeType="1"/>
              </p:cNvSpPr>
              <p:nvPr/>
            </p:nvSpPr>
            <p:spPr bwMode="auto">
              <a:xfrm>
                <a:off x="1942" y="1548"/>
                <a:ext cx="202" cy="57"/>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79927" name="Line 55"/>
              <p:cNvSpPr>
                <a:spLocks noChangeShapeType="1"/>
              </p:cNvSpPr>
              <p:nvPr/>
            </p:nvSpPr>
            <p:spPr bwMode="auto">
              <a:xfrm>
                <a:off x="1942" y="1570"/>
                <a:ext cx="202" cy="56"/>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79928" name="Freeform 56"/>
              <p:cNvSpPr>
                <a:spLocks/>
              </p:cNvSpPr>
              <p:nvPr/>
            </p:nvSpPr>
            <p:spPr bwMode="auto">
              <a:xfrm>
                <a:off x="2192" y="1632"/>
                <a:ext cx="198" cy="84"/>
              </a:xfrm>
              <a:custGeom>
                <a:avLst/>
                <a:gdLst/>
                <a:ahLst/>
                <a:cxnLst>
                  <a:cxn ang="0">
                    <a:pos x="0" y="40"/>
                  </a:cxn>
                  <a:cxn ang="0">
                    <a:pos x="275" y="117"/>
                  </a:cxn>
                  <a:cxn ang="0">
                    <a:pos x="275" y="0"/>
                  </a:cxn>
                </a:cxnLst>
                <a:rect l="0" t="0" r="r" b="b"/>
                <a:pathLst>
                  <a:path w="275" h="117">
                    <a:moveTo>
                      <a:pt x="0" y="40"/>
                    </a:moveTo>
                    <a:lnTo>
                      <a:pt x="275" y="117"/>
                    </a:lnTo>
                    <a:lnTo>
                      <a:pt x="275" y="0"/>
                    </a:lnTo>
                  </a:path>
                </a:pathLst>
              </a:custGeom>
              <a:noFill/>
              <a:ln w="6350" cap="flat" cmpd="sng">
                <a:solidFill>
                  <a:schemeClr val="bg1"/>
                </a:solidFill>
                <a:prstDash val="solid"/>
                <a:round/>
                <a:headEnd type="none" w="med" len="med"/>
                <a:tailEnd type="none" w="med" len="med"/>
              </a:ln>
              <a:effectLst/>
            </p:spPr>
            <p:txBody>
              <a:bodyPr wrap="none" tIns="27432" bIns="27432" anchor="ctr">
                <a:spAutoFit/>
              </a:bodyPr>
              <a:lstStyle/>
              <a:p>
                <a:endParaRPr lang="fr-FR"/>
              </a:p>
            </p:txBody>
          </p:sp>
        </p:grpSp>
        <p:grpSp>
          <p:nvGrpSpPr>
            <p:cNvPr id="79929" name="Group 57"/>
            <p:cNvGrpSpPr>
              <a:grpSpLocks/>
            </p:cNvGrpSpPr>
            <p:nvPr/>
          </p:nvGrpSpPr>
          <p:grpSpPr bwMode="auto">
            <a:xfrm>
              <a:off x="3042" y="2733"/>
              <a:ext cx="714" cy="672"/>
              <a:chOff x="2004" y="885"/>
              <a:chExt cx="714" cy="672"/>
            </a:xfrm>
          </p:grpSpPr>
          <p:sp>
            <p:nvSpPr>
              <p:cNvPr id="79930" name="Freeform 58"/>
              <p:cNvSpPr>
                <a:spLocks/>
              </p:cNvSpPr>
              <p:nvPr/>
            </p:nvSpPr>
            <p:spPr bwMode="auto">
              <a:xfrm>
                <a:off x="2058" y="1322"/>
                <a:ext cx="556" cy="235"/>
              </a:xfrm>
              <a:custGeom>
                <a:avLst/>
                <a:gdLst/>
                <a:ahLst/>
                <a:cxnLst>
                  <a:cxn ang="0">
                    <a:pos x="0" y="128"/>
                  </a:cxn>
                  <a:cxn ang="0">
                    <a:pos x="238" y="0"/>
                  </a:cxn>
                  <a:cxn ang="0">
                    <a:pos x="556" y="91"/>
                  </a:cxn>
                  <a:cxn ang="0">
                    <a:pos x="556" y="108"/>
                  </a:cxn>
                  <a:cxn ang="0">
                    <a:pos x="334" y="235"/>
                  </a:cxn>
                  <a:cxn ang="0">
                    <a:pos x="0" y="148"/>
                  </a:cxn>
                  <a:cxn ang="0">
                    <a:pos x="0" y="128"/>
                  </a:cxn>
                </a:cxnLst>
                <a:rect l="0" t="0" r="r" b="b"/>
                <a:pathLst>
                  <a:path w="556" h="235">
                    <a:moveTo>
                      <a:pt x="0" y="128"/>
                    </a:moveTo>
                    <a:lnTo>
                      <a:pt x="238" y="0"/>
                    </a:lnTo>
                    <a:lnTo>
                      <a:pt x="556" y="91"/>
                    </a:lnTo>
                    <a:lnTo>
                      <a:pt x="556" y="108"/>
                    </a:lnTo>
                    <a:lnTo>
                      <a:pt x="334" y="235"/>
                    </a:lnTo>
                    <a:lnTo>
                      <a:pt x="0" y="148"/>
                    </a:lnTo>
                    <a:lnTo>
                      <a:pt x="0" y="128"/>
                    </a:lnTo>
                    <a:close/>
                  </a:path>
                </a:pathLst>
              </a:custGeom>
              <a:solidFill>
                <a:srgbClr val="DDDDDD"/>
              </a:solidFill>
              <a:ln w="3175" cap="rnd" cmpd="sng">
                <a:solidFill>
                  <a:srgbClr val="000000"/>
                </a:solidFill>
                <a:prstDash val="solid"/>
                <a:round/>
                <a:headEnd type="none" w="med" len="med"/>
                <a:tailEnd type="none" w="med" len="med"/>
              </a:ln>
              <a:effectLst/>
            </p:spPr>
            <p:txBody>
              <a:bodyPr/>
              <a:lstStyle/>
              <a:p>
                <a:endParaRPr lang="fr-FR"/>
              </a:p>
            </p:txBody>
          </p:sp>
          <p:sp>
            <p:nvSpPr>
              <p:cNvPr id="79931" name="Freeform 59"/>
              <p:cNvSpPr>
                <a:spLocks/>
              </p:cNvSpPr>
              <p:nvPr/>
            </p:nvSpPr>
            <p:spPr bwMode="auto">
              <a:xfrm>
                <a:off x="2065" y="1327"/>
                <a:ext cx="538" cy="208"/>
              </a:xfrm>
              <a:custGeom>
                <a:avLst/>
                <a:gdLst/>
                <a:ahLst/>
                <a:cxnLst>
                  <a:cxn ang="0">
                    <a:pos x="0" y="124"/>
                  </a:cxn>
                  <a:cxn ang="0">
                    <a:pos x="327" y="208"/>
                  </a:cxn>
                  <a:cxn ang="0">
                    <a:pos x="538" y="86"/>
                  </a:cxn>
                  <a:cxn ang="0">
                    <a:pos x="233" y="0"/>
                  </a:cxn>
                  <a:cxn ang="0">
                    <a:pos x="0" y="124"/>
                  </a:cxn>
                </a:cxnLst>
                <a:rect l="0" t="0" r="r" b="b"/>
                <a:pathLst>
                  <a:path w="538" h="208">
                    <a:moveTo>
                      <a:pt x="0" y="124"/>
                    </a:moveTo>
                    <a:lnTo>
                      <a:pt x="327" y="208"/>
                    </a:lnTo>
                    <a:lnTo>
                      <a:pt x="538" y="86"/>
                    </a:lnTo>
                    <a:lnTo>
                      <a:pt x="233" y="0"/>
                    </a:lnTo>
                    <a:lnTo>
                      <a:pt x="0" y="124"/>
                    </a:lnTo>
                    <a:close/>
                  </a:path>
                </a:pathLst>
              </a:custGeom>
              <a:solidFill>
                <a:srgbClr val="B2B2B2"/>
              </a:solidFill>
              <a:ln w="6350" cap="rnd" cmpd="sng">
                <a:noFill/>
                <a:prstDash val="solid"/>
                <a:round/>
                <a:headEnd type="none" w="med" len="med"/>
                <a:tailEnd type="none" w="med" len="med"/>
              </a:ln>
              <a:effectLst/>
            </p:spPr>
            <p:txBody>
              <a:bodyPr/>
              <a:lstStyle/>
              <a:p>
                <a:endParaRPr lang="fr-FR"/>
              </a:p>
            </p:txBody>
          </p:sp>
          <p:sp>
            <p:nvSpPr>
              <p:cNvPr id="79932" name="Oval 60"/>
              <p:cNvSpPr>
                <a:spLocks noChangeArrowheads="1"/>
              </p:cNvSpPr>
              <p:nvPr/>
            </p:nvSpPr>
            <p:spPr bwMode="auto">
              <a:xfrm>
                <a:off x="2199" y="1378"/>
                <a:ext cx="280" cy="112"/>
              </a:xfrm>
              <a:prstGeom prst="ellipse">
                <a:avLst/>
              </a:prstGeom>
              <a:solidFill>
                <a:srgbClr val="B2B2B2"/>
              </a:solidFill>
              <a:ln w="3175" cap="rnd">
                <a:solidFill>
                  <a:schemeClr val="tx1"/>
                </a:solidFill>
                <a:round/>
                <a:headEnd/>
                <a:tailEnd/>
              </a:ln>
              <a:effectLst/>
            </p:spPr>
            <p:txBody>
              <a:bodyPr/>
              <a:lstStyle/>
              <a:p>
                <a:endParaRPr lang="fr-FR"/>
              </a:p>
            </p:txBody>
          </p:sp>
          <p:sp>
            <p:nvSpPr>
              <p:cNvPr id="79933" name="Freeform 61"/>
              <p:cNvSpPr>
                <a:spLocks/>
              </p:cNvSpPr>
              <p:nvPr/>
            </p:nvSpPr>
            <p:spPr bwMode="auto">
              <a:xfrm>
                <a:off x="2046" y="1382"/>
                <a:ext cx="452" cy="126"/>
              </a:xfrm>
              <a:custGeom>
                <a:avLst/>
                <a:gdLst/>
                <a:ahLst/>
                <a:cxnLst>
                  <a:cxn ang="0">
                    <a:pos x="0" y="0"/>
                  </a:cxn>
                  <a:cxn ang="0">
                    <a:pos x="20" y="36"/>
                  </a:cxn>
                  <a:cxn ang="0">
                    <a:pos x="574" y="180"/>
                  </a:cxn>
                  <a:cxn ang="0">
                    <a:pos x="646" y="158"/>
                  </a:cxn>
                </a:cxnLst>
                <a:rect l="0" t="0" r="r" b="b"/>
                <a:pathLst>
                  <a:path w="646" h="180">
                    <a:moveTo>
                      <a:pt x="0" y="0"/>
                    </a:moveTo>
                    <a:lnTo>
                      <a:pt x="20" y="36"/>
                    </a:lnTo>
                    <a:lnTo>
                      <a:pt x="574" y="180"/>
                    </a:lnTo>
                    <a:lnTo>
                      <a:pt x="646" y="158"/>
                    </a:lnTo>
                  </a:path>
                </a:pathLst>
              </a:custGeom>
              <a:solidFill>
                <a:srgbClr val="B2B2B2"/>
              </a:solidFill>
              <a:ln w="3175" cap="rnd" cmpd="sng">
                <a:solidFill>
                  <a:schemeClr val="tx1"/>
                </a:solidFill>
                <a:prstDash val="solid"/>
                <a:round/>
                <a:headEnd type="none" w="med" len="med"/>
                <a:tailEnd type="none" w="med" len="med"/>
              </a:ln>
              <a:effectLst/>
            </p:spPr>
            <p:txBody>
              <a:bodyPr/>
              <a:lstStyle/>
              <a:p>
                <a:endParaRPr lang="fr-FR"/>
              </a:p>
            </p:txBody>
          </p:sp>
          <p:sp>
            <p:nvSpPr>
              <p:cNvPr id="79934" name="Freeform 62"/>
              <p:cNvSpPr>
                <a:spLocks noChangeAspect="1"/>
              </p:cNvSpPr>
              <p:nvPr/>
            </p:nvSpPr>
            <p:spPr bwMode="auto">
              <a:xfrm>
                <a:off x="2154" y="885"/>
                <a:ext cx="564" cy="520"/>
              </a:xfrm>
              <a:custGeom>
                <a:avLst/>
                <a:gdLst/>
                <a:ahLst/>
                <a:cxnLst>
                  <a:cxn ang="0">
                    <a:pos x="620" y="746"/>
                  </a:cxn>
                  <a:cxn ang="0">
                    <a:pos x="808" y="525"/>
                  </a:cxn>
                  <a:cxn ang="0">
                    <a:pos x="808" y="106"/>
                  </a:cxn>
                  <a:cxn ang="0">
                    <a:pos x="336" y="0"/>
                  </a:cxn>
                  <a:cxn ang="0">
                    <a:pos x="0" y="48"/>
                  </a:cxn>
                </a:cxnLst>
                <a:rect l="0" t="0" r="r" b="b"/>
                <a:pathLst>
                  <a:path w="808" h="746">
                    <a:moveTo>
                      <a:pt x="620" y="746"/>
                    </a:moveTo>
                    <a:lnTo>
                      <a:pt x="808" y="525"/>
                    </a:lnTo>
                    <a:lnTo>
                      <a:pt x="808" y="106"/>
                    </a:lnTo>
                    <a:lnTo>
                      <a:pt x="336" y="0"/>
                    </a:lnTo>
                    <a:lnTo>
                      <a:pt x="0" y="4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79935" name="Freeform 63"/>
              <p:cNvSpPr>
                <a:spLocks noChangeAspect="1"/>
              </p:cNvSpPr>
              <p:nvPr/>
            </p:nvSpPr>
            <p:spPr bwMode="auto">
              <a:xfrm>
                <a:off x="2506" y="1000"/>
                <a:ext cx="113" cy="506"/>
              </a:xfrm>
              <a:custGeom>
                <a:avLst/>
                <a:gdLst/>
                <a:ahLst/>
                <a:cxnLst>
                  <a:cxn ang="0">
                    <a:pos x="0" y="644"/>
                  </a:cxn>
                  <a:cxn ang="0">
                    <a:pos x="0" y="79"/>
                  </a:cxn>
                  <a:cxn ang="0">
                    <a:pos x="144" y="0"/>
                  </a:cxn>
                  <a:cxn ang="0">
                    <a:pos x="144" y="554"/>
                  </a:cxn>
                  <a:cxn ang="0">
                    <a:pos x="0" y="644"/>
                  </a:cxn>
                </a:cxnLst>
                <a:rect l="0" t="0" r="r" b="b"/>
                <a:pathLst>
                  <a:path w="144" h="644">
                    <a:moveTo>
                      <a:pt x="0" y="644"/>
                    </a:moveTo>
                    <a:lnTo>
                      <a:pt x="0" y="79"/>
                    </a:lnTo>
                    <a:lnTo>
                      <a:pt x="144" y="0"/>
                    </a:lnTo>
                    <a:lnTo>
                      <a:pt x="144" y="554"/>
                    </a:lnTo>
                    <a:lnTo>
                      <a:pt x="0" y="644"/>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79936" name="Freeform 64"/>
              <p:cNvSpPr>
                <a:spLocks noChangeAspect="1"/>
              </p:cNvSpPr>
              <p:nvPr/>
            </p:nvSpPr>
            <p:spPr bwMode="auto">
              <a:xfrm>
                <a:off x="2004" y="891"/>
                <a:ext cx="615" cy="172"/>
              </a:xfrm>
              <a:custGeom>
                <a:avLst/>
                <a:gdLst/>
                <a:ahLst/>
                <a:cxnLst>
                  <a:cxn ang="0">
                    <a:pos x="638" y="219"/>
                  </a:cxn>
                  <a:cxn ang="0">
                    <a:pos x="0" y="67"/>
                  </a:cxn>
                  <a:cxn ang="0">
                    <a:pos x="160" y="0"/>
                  </a:cxn>
                  <a:cxn ang="0">
                    <a:pos x="782" y="139"/>
                  </a:cxn>
                  <a:cxn ang="0">
                    <a:pos x="638" y="219"/>
                  </a:cxn>
                </a:cxnLst>
                <a:rect l="0" t="0" r="r" b="b"/>
                <a:pathLst>
                  <a:path w="782" h="219">
                    <a:moveTo>
                      <a:pt x="638" y="219"/>
                    </a:moveTo>
                    <a:lnTo>
                      <a:pt x="0" y="67"/>
                    </a:lnTo>
                    <a:lnTo>
                      <a:pt x="160" y="0"/>
                    </a:lnTo>
                    <a:lnTo>
                      <a:pt x="782" y="139"/>
                    </a:lnTo>
                    <a:lnTo>
                      <a:pt x="638" y="219"/>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sp>
            <p:nvSpPr>
              <p:cNvPr id="79937" name="Freeform 65"/>
              <p:cNvSpPr>
                <a:spLocks noChangeAspect="1"/>
              </p:cNvSpPr>
              <p:nvPr/>
            </p:nvSpPr>
            <p:spPr bwMode="auto">
              <a:xfrm>
                <a:off x="2004" y="942"/>
                <a:ext cx="502" cy="566"/>
              </a:xfrm>
              <a:custGeom>
                <a:avLst/>
                <a:gdLst/>
                <a:ahLst/>
                <a:cxnLst>
                  <a:cxn ang="0">
                    <a:pos x="671" y="753"/>
                  </a:cxn>
                  <a:cxn ang="0">
                    <a:pos x="671" y="160"/>
                  </a:cxn>
                  <a:cxn ang="0">
                    <a:pos x="0" y="0"/>
                  </a:cxn>
                  <a:cxn ang="0">
                    <a:pos x="0" y="578"/>
                  </a:cxn>
                  <a:cxn ang="0">
                    <a:pos x="671" y="753"/>
                  </a:cxn>
                </a:cxnLst>
                <a:rect l="0" t="0" r="r" b="b"/>
                <a:pathLst>
                  <a:path w="672" h="754">
                    <a:moveTo>
                      <a:pt x="671" y="753"/>
                    </a:moveTo>
                    <a:lnTo>
                      <a:pt x="671" y="160"/>
                    </a:lnTo>
                    <a:lnTo>
                      <a:pt x="0" y="0"/>
                    </a:lnTo>
                    <a:lnTo>
                      <a:pt x="0" y="578"/>
                    </a:lnTo>
                    <a:lnTo>
                      <a:pt x="671" y="753"/>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79938" name="Freeform 66"/>
              <p:cNvSpPr>
                <a:spLocks noChangeAspect="1"/>
              </p:cNvSpPr>
              <p:nvPr/>
            </p:nvSpPr>
            <p:spPr bwMode="auto">
              <a:xfrm>
                <a:off x="2043" y="992"/>
                <a:ext cx="425" cy="464"/>
              </a:xfrm>
              <a:custGeom>
                <a:avLst/>
                <a:gdLst/>
                <a:ahLst/>
                <a:cxnLst>
                  <a:cxn ang="0">
                    <a:pos x="490" y="548"/>
                  </a:cxn>
                  <a:cxn ang="0">
                    <a:pos x="490" y="117"/>
                  </a:cxn>
                  <a:cxn ang="0">
                    <a:pos x="0" y="0"/>
                  </a:cxn>
                  <a:cxn ang="0">
                    <a:pos x="0" y="424"/>
                  </a:cxn>
                  <a:cxn ang="0">
                    <a:pos x="490" y="548"/>
                  </a:cxn>
                </a:cxnLst>
                <a:rect l="0" t="0" r="r" b="b"/>
                <a:pathLst>
                  <a:path w="491" h="549">
                    <a:moveTo>
                      <a:pt x="490" y="548"/>
                    </a:moveTo>
                    <a:lnTo>
                      <a:pt x="490" y="117"/>
                    </a:lnTo>
                    <a:lnTo>
                      <a:pt x="0" y="0"/>
                    </a:lnTo>
                    <a:lnTo>
                      <a:pt x="0" y="424"/>
                    </a:lnTo>
                    <a:lnTo>
                      <a:pt x="490" y="548"/>
                    </a:lnTo>
                  </a:path>
                </a:pathLst>
              </a:custGeom>
              <a:solidFill>
                <a:srgbClr val="CECECE"/>
              </a:solidFill>
              <a:ln w="6350" cap="rnd" cmpd="sng">
                <a:solidFill>
                  <a:srgbClr val="808080"/>
                </a:solidFill>
                <a:prstDash val="solid"/>
                <a:round/>
                <a:headEnd type="none" w="med" len="med"/>
                <a:tailEnd type="none" w="med" len="med"/>
              </a:ln>
              <a:effectLst/>
            </p:spPr>
            <p:txBody>
              <a:bodyPr/>
              <a:lstStyle/>
              <a:p>
                <a:endParaRPr lang="fr-FR"/>
              </a:p>
            </p:txBody>
          </p:sp>
          <p:sp>
            <p:nvSpPr>
              <p:cNvPr id="79939" name="Freeform 67"/>
              <p:cNvSpPr>
                <a:spLocks/>
              </p:cNvSpPr>
              <p:nvPr/>
            </p:nvSpPr>
            <p:spPr bwMode="auto">
              <a:xfrm>
                <a:off x="2069" y="1023"/>
                <a:ext cx="372" cy="400"/>
              </a:xfrm>
              <a:custGeom>
                <a:avLst/>
                <a:gdLst/>
                <a:ahLst/>
                <a:cxnLst>
                  <a:cxn ang="0">
                    <a:pos x="0" y="0"/>
                  </a:cxn>
                  <a:cxn ang="0">
                    <a:pos x="0" y="454"/>
                  </a:cxn>
                  <a:cxn ang="0">
                    <a:pos x="542" y="592"/>
                  </a:cxn>
                  <a:cxn ang="0">
                    <a:pos x="542" y="130"/>
                  </a:cxn>
                  <a:cxn ang="0">
                    <a:pos x="0" y="0"/>
                  </a:cxn>
                </a:cxnLst>
                <a:rect l="0" t="0" r="r" b="b"/>
                <a:pathLst>
                  <a:path w="542" h="592">
                    <a:moveTo>
                      <a:pt x="0" y="0"/>
                    </a:moveTo>
                    <a:lnTo>
                      <a:pt x="0" y="454"/>
                    </a:lnTo>
                    <a:lnTo>
                      <a:pt x="542" y="592"/>
                    </a:lnTo>
                    <a:lnTo>
                      <a:pt x="542" y="130"/>
                    </a:lnTo>
                    <a:lnTo>
                      <a:pt x="0" y="0"/>
                    </a:lnTo>
                    <a:close/>
                  </a:path>
                </a:pathLst>
              </a:custGeom>
              <a:gradFill rotWithShape="0">
                <a:gsLst>
                  <a:gs pos="0">
                    <a:srgbClr val="618FFD"/>
                  </a:gs>
                  <a:gs pos="100000">
                    <a:srgbClr val="618FFD">
                      <a:gamma/>
                      <a:shade val="75294"/>
                      <a:invGamma/>
                    </a:srgbClr>
                  </a:gs>
                </a:gsLst>
                <a:path path="rect">
                  <a:fillToRect r="100000" b="100000"/>
                </a:path>
              </a:gradFill>
              <a:ln w="6350" cap="flat" cmpd="sng">
                <a:solidFill>
                  <a:srgbClr val="777777"/>
                </a:solidFill>
                <a:prstDash val="solid"/>
                <a:round/>
                <a:headEnd type="none" w="med" len="med"/>
                <a:tailEnd type="none" w="med" len="med"/>
              </a:ln>
              <a:effectLst>
                <a:outerShdw dist="17961" dir="2700000" algn="ctr" rotWithShape="0">
                  <a:schemeClr val="bg1"/>
                </a:outerShdw>
              </a:effectLst>
            </p:spPr>
            <p:txBody>
              <a:bodyPr wrap="none" anchor="ctr"/>
              <a:lstStyle/>
              <a:p>
                <a:endParaRPr lang="fr-FR"/>
              </a:p>
            </p:txBody>
          </p:sp>
          <p:sp>
            <p:nvSpPr>
              <p:cNvPr id="79940" name="Line 68"/>
              <p:cNvSpPr>
                <a:spLocks noChangeShapeType="1"/>
              </p:cNvSpPr>
              <p:nvPr/>
            </p:nvSpPr>
            <p:spPr bwMode="auto">
              <a:xfrm>
                <a:off x="2102" y="1056"/>
                <a:ext cx="0" cy="61"/>
              </a:xfrm>
              <a:prstGeom prst="line">
                <a:avLst/>
              </a:prstGeom>
              <a:noFill/>
              <a:ln w="25400">
                <a:solidFill>
                  <a:schemeClr val="bg1"/>
                </a:solidFill>
                <a:round/>
                <a:headEnd/>
                <a:tailEnd/>
              </a:ln>
              <a:effectLst/>
            </p:spPr>
            <p:txBody>
              <a:bodyPr wrap="none" anchor="ctr"/>
              <a:lstStyle/>
              <a:p>
                <a:endParaRPr lang="fr-FR"/>
              </a:p>
            </p:txBody>
          </p:sp>
        </p:grpSp>
      </p:grpSp>
      <p:sp>
        <p:nvSpPr>
          <p:cNvPr id="79941" name="Text Box 69"/>
          <p:cNvSpPr txBox="1">
            <a:spLocks noChangeArrowheads="1"/>
          </p:cNvSpPr>
          <p:nvPr/>
        </p:nvSpPr>
        <p:spPr bwMode="auto">
          <a:xfrm>
            <a:off x="6223952" y="4901863"/>
            <a:ext cx="1577667" cy="430887"/>
          </a:xfrm>
          <a:prstGeom prst="rect">
            <a:avLst/>
          </a:prstGeom>
          <a:noFill/>
          <a:ln w="9525">
            <a:noFill/>
            <a:miter lim="800000"/>
            <a:headEnd/>
            <a:tailEnd/>
          </a:ln>
          <a:effectLst/>
        </p:spPr>
        <p:txBody>
          <a:bodyPr wrap="square" anchor="ctr">
            <a:spAutoFit/>
          </a:bodyPr>
          <a:lstStyle/>
          <a:p>
            <a:pPr algn="ctr"/>
            <a:r>
              <a:rPr lang="en-US" sz="2200" b="1" dirty="0" err="1">
                <a:latin typeface="Arial" charset="0"/>
              </a:rPr>
              <a:t>Serveur</a:t>
            </a:r>
            <a:endParaRPr lang="en-US" sz="2200" b="1" dirty="0">
              <a:latin typeface="Arial" charset="0"/>
            </a:endParaRPr>
          </a:p>
        </p:txBody>
      </p:sp>
      <p:grpSp>
        <p:nvGrpSpPr>
          <p:cNvPr id="79942" name="Group 70"/>
          <p:cNvGrpSpPr>
            <a:grpSpLocks/>
          </p:cNvGrpSpPr>
          <p:nvPr/>
        </p:nvGrpSpPr>
        <p:grpSpPr bwMode="auto">
          <a:xfrm>
            <a:off x="6929438" y="3977640"/>
            <a:ext cx="1437322" cy="834073"/>
            <a:chOff x="2899" y="2529"/>
            <a:chExt cx="547" cy="309"/>
          </a:xfrm>
        </p:grpSpPr>
        <p:sp>
          <p:nvSpPr>
            <p:cNvPr id="79943" name="Freeform 71"/>
            <p:cNvSpPr>
              <a:spLocks/>
            </p:cNvSpPr>
            <p:nvPr/>
          </p:nvSpPr>
          <p:spPr bwMode="auto">
            <a:xfrm>
              <a:off x="3216" y="2606"/>
              <a:ext cx="230" cy="232"/>
            </a:xfrm>
            <a:custGeom>
              <a:avLst/>
              <a:gdLst/>
              <a:ahLst/>
              <a:cxnLst>
                <a:cxn ang="0">
                  <a:pos x="0" y="146"/>
                </a:cxn>
                <a:cxn ang="0">
                  <a:pos x="230" y="0"/>
                </a:cxn>
                <a:cxn ang="0">
                  <a:pos x="230" y="85"/>
                </a:cxn>
                <a:cxn ang="0">
                  <a:pos x="0" y="232"/>
                </a:cxn>
                <a:cxn ang="0">
                  <a:pos x="0" y="146"/>
                </a:cxn>
              </a:cxnLst>
              <a:rect l="0" t="0" r="r" b="b"/>
              <a:pathLst>
                <a:path w="230" h="232">
                  <a:moveTo>
                    <a:pt x="0" y="146"/>
                  </a:moveTo>
                  <a:lnTo>
                    <a:pt x="230" y="0"/>
                  </a:lnTo>
                  <a:lnTo>
                    <a:pt x="230" y="85"/>
                  </a:lnTo>
                  <a:lnTo>
                    <a:pt x="0" y="232"/>
                  </a:lnTo>
                  <a:lnTo>
                    <a:pt x="0" y="146"/>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79944" name="Freeform 72"/>
            <p:cNvSpPr>
              <a:spLocks/>
            </p:cNvSpPr>
            <p:nvPr/>
          </p:nvSpPr>
          <p:spPr bwMode="auto">
            <a:xfrm>
              <a:off x="2899" y="2672"/>
              <a:ext cx="318" cy="166"/>
            </a:xfrm>
            <a:custGeom>
              <a:avLst/>
              <a:gdLst/>
              <a:ahLst/>
              <a:cxnLst>
                <a:cxn ang="0">
                  <a:pos x="318" y="80"/>
                </a:cxn>
                <a:cxn ang="0">
                  <a:pos x="318" y="166"/>
                </a:cxn>
                <a:cxn ang="0">
                  <a:pos x="0" y="85"/>
                </a:cxn>
                <a:cxn ang="0">
                  <a:pos x="0" y="0"/>
                </a:cxn>
              </a:cxnLst>
              <a:rect l="0" t="0" r="r" b="b"/>
              <a:pathLst>
                <a:path w="318" h="166">
                  <a:moveTo>
                    <a:pt x="318" y="80"/>
                  </a:moveTo>
                  <a:lnTo>
                    <a:pt x="318" y="166"/>
                  </a:lnTo>
                  <a:lnTo>
                    <a:pt x="0" y="85"/>
                  </a:lnTo>
                  <a:lnTo>
                    <a:pt x="0" y="0"/>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79945" name="Oval 73"/>
            <p:cNvSpPr>
              <a:spLocks noChangeArrowheads="1"/>
            </p:cNvSpPr>
            <p:nvPr/>
          </p:nvSpPr>
          <p:spPr bwMode="auto">
            <a:xfrm>
              <a:off x="2993" y="2724"/>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79946" name="Oval 74"/>
            <p:cNvSpPr>
              <a:spLocks noChangeArrowheads="1"/>
            </p:cNvSpPr>
            <p:nvPr/>
          </p:nvSpPr>
          <p:spPr bwMode="auto">
            <a:xfrm>
              <a:off x="3044" y="2739"/>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79947" name="Oval 75"/>
            <p:cNvSpPr>
              <a:spLocks noChangeArrowheads="1"/>
            </p:cNvSpPr>
            <p:nvPr/>
          </p:nvSpPr>
          <p:spPr bwMode="auto">
            <a:xfrm>
              <a:off x="3099" y="2751"/>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79948" name="Oval 76"/>
            <p:cNvSpPr>
              <a:spLocks noChangeArrowheads="1"/>
            </p:cNvSpPr>
            <p:nvPr/>
          </p:nvSpPr>
          <p:spPr bwMode="auto">
            <a:xfrm>
              <a:off x="3149" y="2768"/>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79949" name="Freeform 77"/>
            <p:cNvSpPr>
              <a:spLocks/>
            </p:cNvSpPr>
            <p:nvPr/>
          </p:nvSpPr>
          <p:spPr bwMode="auto">
            <a:xfrm>
              <a:off x="2899" y="2529"/>
              <a:ext cx="547" cy="224"/>
            </a:xfrm>
            <a:custGeom>
              <a:avLst/>
              <a:gdLst/>
              <a:ahLst/>
              <a:cxnLst>
                <a:cxn ang="0">
                  <a:pos x="0" y="141"/>
                </a:cxn>
                <a:cxn ang="0">
                  <a:pos x="230" y="0"/>
                </a:cxn>
                <a:cxn ang="0">
                  <a:pos x="547" y="78"/>
                </a:cxn>
                <a:cxn ang="0">
                  <a:pos x="318" y="224"/>
                </a:cxn>
                <a:cxn ang="0">
                  <a:pos x="2" y="146"/>
                </a:cxn>
              </a:cxnLst>
              <a:rect l="0" t="0" r="r" b="b"/>
              <a:pathLst>
                <a:path w="547" h="224">
                  <a:moveTo>
                    <a:pt x="0" y="141"/>
                  </a:moveTo>
                  <a:lnTo>
                    <a:pt x="230" y="0"/>
                  </a:lnTo>
                  <a:lnTo>
                    <a:pt x="547" y="78"/>
                  </a:lnTo>
                  <a:lnTo>
                    <a:pt x="318" y="224"/>
                  </a:lnTo>
                  <a:lnTo>
                    <a:pt x="2" y="146"/>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63" name="Rectangle 175"/>
          <p:cNvSpPr>
            <a:spLocks noGrp="1" noChangeArrowheads="1"/>
          </p:cNvSpPr>
          <p:nvPr>
            <p:ph type="title"/>
          </p:nvPr>
        </p:nvSpPr>
        <p:spPr>
          <a:xfrm>
            <a:off x="0" y="198120"/>
            <a:ext cx="9144000" cy="880872"/>
          </a:xfrm>
        </p:spPr>
        <p:txBody>
          <a:bodyPr vert="horz" anchor="b">
            <a:normAutofit fontScale="90000"/>
          </a:bodyPr>
          <a:lstStyle/>
          <a:p>
            <a:r>
              <a:rPr lang="fr-FR" dirty="0">
                <a:solidFill>
                  <a:srgbClr val="C00000"/>
                </a:solidFill>
              </a:rPr>
              <a:t>Création de connexions d'accès à distance </a:t>
            </a:r>
            <a:br>
              <a:rPr lang="fr-FR" dirty="0">
                <a:solidFill>
                  <a:srgbClr val="C00000"/>
                </a:solidFill>
              </a:rPr>
            </a:br>
            <a:r>
              <a:rPr lang="fr-FR" dirty="0">
                <a:solidFill>
                  <a:srgbClr val="C00000"/>
                </a:solidFill>
              </a:rPr>
              <a:t>et large bande</a:t>
            </a:r>
            <a:endParaRPr lang="en-US" dirty="0">
              <a:solidFill>
                <a:srgbClr val="C00000"/>
              </a:solidFill>
            </a:endParaRPr>
          </a:p>
        </p:txBody>
      </p:sp>
      <p:sp>
        <p:nvSpPr>
          <p:cNvPr id="37893" name="Rectangle 5"/>
          <p:cNvSpPr>
            <a:spLocks noChangeArrowheads="1"/>
          </p:cNvSpPr>
          <p:nvPr/>
        </p:nvSpPr>
        <p:spPr bwMode="auto">
          <a:xfrm>
            <a:off x="274320" y="3578225"/>
            <a:ext cx="8625839" cy="2520950"/>
          </a:xfrm>
          <a:prstGeom prst="rect">
            <a:avLst/>
          </a:prstGeom>
          <a:gradFill rotWithShape="0">
            <a:gsLst>
              <a:gs pos="0">
                <a:srgbClr val="FFCC66"/>
              </a:gs>
              <a:gs pos="100000">
                <a:srgbClr val="FCFEB9"/>
              </a:gs>
            </a:gsLst>
            <a:lin ang="5400000" scaled="1"/>
          </a:gradFill>
          <a:ln w="9525">
            <a:noFill/>
            <a:miter lim="800000"/>
            <a:headEnd/>
            <a:tailEnd/>
          </a:ln>
          <a:effectLst/>
        </p:spPr>
        <p:txBody>
          <a:bodyPr wrap="none" anchor="ctr"/>
          <a:lstStyle/>
          <a:p>
            <a:endParaRPr lang="fr-FR"/>
          </a:p>
        </p:txBody>
      </p:sp>
      <p:grpSp>
        <p:nvGrpSpPr>
          <p:cNvPr id="37894" name="Group 6"/>
          <p:cNvGrpSpPr>
            <a:grpSpLocks/>
          </p:cNvGrpSpPr>
          <p:nvPr/>
        </p:nvGrpSpPr>
        <p:grpSpPr bwMode="auto">
          <a:xfrm>
            <a:off x="1082675" y="4254500"/>
            <a:ext cx="1252538" cy="1381125"/>
            <a:chOff x="2967" y="2733"/>
            <a:chExt cx="789" cy="870"/>
          </a:xfrm>
        </p:grpSpPr>
        <p:grpSp>
          <p:nvGrpSpPr>
            <p:cNvPr id="37895" name="Group 7"/>
            <p:cNvGrpSpPr>
              <a:grpSpLocks/>
            </p:cNvGrpSpPr>
            <p:nvPr/>
          </p:nvGrpSpPr>
          <p:grpSpPr bwMode="auto">
            <a:xfrm>
              <a:off x="2967" y="3191"/>
              <a:ext cx="763" cy="412"/>
              <a:chOff x="1929" y="1343"/>
              <a:chExt cx="763" cy="412"/>
            </a:xfrm>
          </p:grpSpPr>
          <p:sp>
            <p:nvSpPr>
              <p:cNvPr id="37896" name="Freeform 8"/>
              <p:cNvSpPr>
                <a:spLocks noChangeAspect="1"/>
              </p:cNvSpPr>
              <p:nvPr/>
            </p:nvSpPr>
            <p:spPr bwMode="auto">
              <a:xfrm>
                <a:off x="2428" y="1450"/>
                <a:ext cx="263" cy="305"/>
              </a:xfrm>
              <a:custGeom>
                <a:avLst/>
                <a:gdLst/>
                <a:ahLst/>
                <a:cxnLst>
                  <a:cxn ang="0">
                    <a:pos x="3" y="212"/>
                  </a:cxn>
                  <a:cxn ang="0">
                    <a:pos x="364" y="0"/>
                  </a:cxn>
                  <a:cxn ang="0">
                    <a:pos x="364" y="180"/>
                  </a:cxn>
                  <a:cxn ang="0">
                    <a:pos x="0" y="422"/>
                  </a:cxn>
                </a:cxnLst>
                <a:rect l="0" t="0" r="r" b="b"/>
                <a:pathLst>
                  <a:path w="364" h="422">
                    <a:moveTo>
                      <a:pt x="3" y="212"/>
                    </a:moveTo>
                    <a:lnTo>
                      <a:pt x="364" y="0"/>
                    </a:lnTo>
                    <a:lnTo>
                      <a:pt x="364" y="180"/>
                    </a:lnTo>
                    <a:lnTo>
                      <a:pt x="0" y="422"/>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37897" name="Freeform 9"/>
              <p:cNvSpPr>
                <a:spLocks noChangeAspect="1"/>
              </p:cNvSpPr>
              <p:nvPr/>
            </p:nvSpPr>
            <p:spPr bwMode="auto">
              <a:xfrm>
                <a:off x="1929" y="1343"/>
                <a:ext cx="763" cy="264"/>
              </a:xfrm>
              <a:custGeom>
                <a:avLst/>
                <a:gdLst/>
                <a:ahLst/>
                <a:cxnLst>
                  <a:cxn ang="0">
                    <a:pos x="715" y="376"/>
                  </a:cxn>
                  <a:cxn ang="0">
                    <a:pos x="0" y="187"/>
                  </a:cxn>
                  <a:cxn ang="0">
                    <a:pos x="397" y="0"/>
                  </a:cxn>
                  <a:cxn ang="0">
                    <a:pos x="1090" y="152"/>
                  </a:cxn>
                  <a:cxn ang="0">
                    <a:pos x="715" y="376"/>
                  </a:cxn>
                </a:cxnLst>
                <a:rect l="0" t="0" r="r" b="b"/>
                <a:pathLst>
                  <a:path w="1091" h="377">
                    <a:moveTo>
                      <a:pt x="715" y="376"/>
                    </a:moveTo>
                    <a:lnTo>
                      <a:pt x="0" y="187"/>
                    </a:lnTo>
                    <a:lnTo>
                      <a:pt x="397" y="0"/>
                    </a:lnTo>
                    <a:lnTo>
                      <a:pt x="1090" y="152"/>
                    </a:lnTo>
                    <a:lnTo>
                      <a:pt x="715" y="376"/>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37898" name="Freeform 10"/>
              <p:cNvSpPr>
                <a:spLocks noChangeAspect="1"/>
              </p:cNvSpPr>
              <p:nvPr/>
            </p:nvSpPr>
            <p:spPr bwMode="auto">
              <a:xfrm>
                <a:off x="1929" y="1473"/>
                <a:ext cx="499" cy="282"/>
              </a:xfrm>
              <a:custGeom>
                <a:avLst/>
                <a:gdLst/>
                <a:ahLst/>
                <a:cxnLst>
                  <a:cxn ang="0">
                    <a:pos x="0" y="5"/>
                  </a:cxn>
                  <a:cxn ang="0">
                    <a:pos x="0" y="192"/>
                  </a:cxn>
                  <a:cxn ang="0">
                    <a:pos x="690" y="390"/>
                  </a:cxn>
                  <a:cxn ang="0">
                    <a:pos x="690" y="185"/>
                  </a:cxn>
                  <a:cxn ang="0">
                    <a:pos x="4" y="0"/>
                  </a:cxn>
                </a:cxnLst>
                <a:rect l="0" t="0" r="r" b="b"/>
                <a:pathLst>
                  <a:path w="690" h="390">
                    <a:moveTo>
                      <a:pt x="0" y="5"/>
                    </a:moveTo>
                    <a:lnTo>
                      <a:pt x="0" y="192"/>
                    </a:lnTo>
                    <a:lnTo>
                      <a:pt x="690" y="390"/>
                    </a:lnTo>
                    <a:lnTo>
                      <a:pt x="690" y="185"/>
                    </a:lnTo>
                    <a:lnTo>
                      <a:pt x="4" y="0"/>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37899" name="Freeform 11"/>
              <p:cNvSpPr>
                <a:spLocks noChangeAspect="1"/>
              </p:cNvSpPr>
              <p:nvPr/>
            </p:nvSpPr>
            <p:spPr bwMode="auto">
              <a:xfrm>
                <a:off x="2190" y="1573"/>
                <a:ext cx="196" cy="137"/>
              </a:xfrm>
              <a:custGeom>
                <a:avLst/>
                <a:gdLst/>
                <a:ahLst/>
                <a:cxnLst>
                  <a:cxn ang="0">
                    <a:pos x="0" y="0"/>
                  </a:cxn>
                  <a:cxn ang="0">
                    <a:pos x="271" y="73"/>
                  </a:cxn>
                  <a:cxn ang="0">
                    <a:pos x="271" y="189"/>
                  </a:cxn>
                  <a:cxn ang="0">
                    <a:pos x="0" y="115"/>
                  </a:cxn>
                  <a:cxn ang="0">
                    <a:pos x="0" y="0"/>
                  </a:cxn>
                </a:cxnLst>
                <a:rect l="0" t="0" r="r" b="b"/>
                <a:pathLst>
                  <a:path w="271" h="189">
                    <a:moveTo>
                      <a:pt x="0" y="0"/>
                    </a:moveTo>
                    <a:lnTo>
                      <a:pt x="271" y="73"/>
                    </a:lnTo>
                    <a:lnTo>
                      <a:pt x="271" y="189"/>
                    </a:lnTo>
                    <a:lnTo>
                      <a:pt x="0" y="115"/>
                    </a:lnTo>
                    <a:lnTo>
                      <a:pt x="0" y="0"/>
                    </a:lnTo>
                  </a:path>
                </a:pathLst>
              </a:custGeom>
              <a:gradFill rotWithShape="0">
                <a:gsLst>
                  <a:gs pos="0">
                    <a:srgbClr val="B2B2B2"/>
                  </a:gs>
                  <a:gs pos="100000">
                    <a:srgbClr val="B2B2B2">
                      <a:gamma/>
                      <a:tint val="41176"/>
                      <a:invGamma/>
                    </a:srgbClr>
                  </a:gs>
                </a:gsLst>
                <a:lin ang="2700000" scaled="1"/>
              </a:gradFill>
              <a:ln w="6350" cap="rnd" cmpd="sng">
                <a:noFill/>
                <a:prstDash val="solid"/>
                <a:round/>
                <a:headEnd type="none" w="med" len="med"/>
                <a:tailEnd type="none" w="med" len="med"/>
              </a:ln>
              <a:effectLst/>
            </p:spPr>
            <p:txBody>
              <a:bodyPr/>
              <a:lstStyle/>
              <a:p>
                <a:endParaRPr lang="fr-FR"/>
              </a:p>
            </p:txBody>
          </p:sp>
          <p:sp>
            <p:nvSpPr>
              <p:cNvPr id="37900" name="Freeform 12"/>
              <p:cNvSpPr>
                <a:spLocks noChangeAspect="1" noChangeArrowheads="1"/>
              </p:cNvSpPr>
              <p:nvPr/>
            </p:nvSpPr>
            <p:spPr bwMode="auto">
              <a:xfrm>
                <a:off x="2194" y="1624"/>
                <a:ext cx="189" cy="49"/>
              </a:xfrm>
              <a:custGeom>
                <a:avLst/>
                <a:gdLst/>
                <a:ahLst/>
                <a:cxnLst>
                  <a:cxn ang="0">
                    <a:pos x="0" y="0"/>
                  </a:cxn>
                  <a:cxn ang="0">
                    <a:pos x="261" y="69"/>
                  </a:cxn>
                </a:cxnLst>
                <a:rect l="0" t="0" r="r" b="b"/>
                <a:pathLst>
                  <a:path w="261" h="69">
                    <a:moveTo>
                      <a:pt x="0" y="0"/>
                    </a:moveTo>
                    <a:lnTo>
                      <a:pt x="261" y="69"/>
                    </a:lnTo>
                  </a:path>
                </a:pathLst>
              </a:custGeom>
              <a:noFill/>
              <a:ln w="3175">
                <a:solidFill>
                  <a:srgbClr val="777777"/>
                </a:solidFill>
                <a:round/>
                <a:headEnd/>
                <a:tailEnd/>
              </a:ln>
              <a:effectLst/>
            </p:spPr>
            <p:txBody>
              <a:bodyPr wrap="none" anchor="ctr"/>
              <a:lstStyle/>
              <a:p>
                <a:endParaRPr lang="fr-FR"/>
              </a:p>
            </p:txBody>
          </p:sp>
          <p:sp>
            <p:nvSpPr>
              <p:cNvPr id="37901" name="Freeform 13"/>
              <p:cNvSpPr>
                <a:spLocks/>
              </p:cNvSpPr>
              <p:nvPr/>
            </p:nvSpPr>
            <p:spPr bwMode="auto">
              <a:xfrm>
                <a:off x="2190" y="1572"/>
                <a:ext cx="195" cy="84"/>
              </a:xfrm>
              <a:custGeom>
                <a:avLst/>
                <a:gdLst/>
                <a:ahLst/>
                <a:cxnLst>
                  <a:cxn ang="0">
                    <a:pos x="0" y="84"/>
                  </a:cxn>
                  <a:cxn ang="0">
                    <a:pos x="0" y="0"/>
                  </a:cxn>
                  <a:cxn ang="0">
                    <a:pos x="195" y="54"/>
                  </a:cxn>
                </a:cxnLst>
                <a:rect l="0" t="0" r="r" b="b"/>
                <a:pathLst>
                  <a:path w="195" h="84">
                    <a:moveTo>
                      <a:pt x="0" y="84"/>
                    </a:moveTo>
                    <a:lnTo>
                      <a:pt x="0" y="0"/>
                    </a:lnTo>
                    <a:lnTo>
                      <a:pt x="195" y="54"/>
                    </a:lnTo>
                  </a:path>
                </a:pathLst>
              </a:custGeom>
              <a:noFill/>
              <a:ln w="6350" cap="flat" cmpd="sng">
                <a:solidFill>
                  <a:srgbClr val="777777"/>
                </a:solidFill>
                <a:prstDash val="solid"/>
                <a:round/>
                <a:headEnd type="none" w="med" len="med"/>
                <a:tailEnd type="none" w="med" len="med"/>
              </a:ln>
              <a:effectLst/>
            </p:spPr>
            <p:txBody>
              <a:bodyPr wrap="none" tIns="27432" bIns="27432" anchor="ctr">
                <a:spAutoFit/>
              </a:bodyPr>
              <a:lstStyle/>
              <a:p>
                <a:endParaRPr lang="fr-FR"/>
              </a:p>
            </p:txBody>
          </p:sp>
          <p:sp>
            <p:nvSpPr>
              <p:cNvPr id="37902" name="Line 14"/>
              <p:cNvSpPr>
                <a:spLocks noChangeShapeType="1"/>
              </p:cNvSpPr>
              <p:nvPr/>
            </p:nvSpPr>
            <p:spPr bwMode="auto">
              <a:xfrm>
                <a:off x="2207" y="1600"/>
                <a:ext cx="153" cy="38"/>
              </a:xfrm>
              <a:prstGeom prst="line">
                <a:avLst/>
              </a:prstGeom>
              <a:noFill/>
              <a:ln w="3175">
                <a:solidFill>
                  <a:srgbClr val="777777"/>
                </a:solidFill>
                <a:round/>
                <a:headEnd/>
                <a:tailEnd/>
              </a:ln>
              <a:effectLst/>
            </p:spPr>
            <p:txBody>
              <a:bodyPr wrap="none" tIns="27432" bIns="27432" anchor="ctr">
                <a:spAutoFit/>
              </a:bodyPr>
              <a:lstStyle/>
              <a:p>
                <a:endParaRPr lang="fr-FR"/>
              </a:p>
            </p:txBody>
          </p:sp>
          <p:sp>
            <p:nvSpPr>
              <p:cNvPr id="37903" name="Line 15"/>
              <p:cNvSpPr>
                <a:spLocks noChangeShapeType="1"/>
              </p:cNvSpPr>
              <p:nvPr/>
            </p:nvSpPr>
            <p:spPr bwMode="auto">
              <a:xfrm>
                <a:off x="2337" y="1678"/>
                <a:ext cx="29" cy="6"/>
              </a:xfrm>
              <a:prstGeom prst="line">
                <a:avLst/>
              </a:prstGeom>
              <a:noFill/>
              <a:ln w="19050">
                <a:solidFill>
                  <a:srgbClr val="D60093"/>
                </a:solidFill>
                <a:round/>
                <a:headEnd/>
                <a:tailEnd/>
              </a:ln>
              <a:effectLst/>
            </p:spPr>
            <p:txBody>
              <a:bodyPr wrap="none" tIns="27432" bIns="27432" anchor="ctr">
                <a:spAutoFit/>
              </a:bodyPr>
              <a:lstStyle/>
              <a:p>
                <a:endParaRPr lang="fr-FR"/>
              </a:p>
            </p:txBody>
          </p:sp>
          <p:sp>
            <p:nvSpPr>
              <p:cNvPr id="37904" name="Freeform 16"/>
              <p:cNvSpPr>
                <a:spLocks/>
              </p:cNvSpPr>
              <p:nvPr/>
            </p:nvSpPr>
            <p:spPr bwMode="auto">
              <a:xfrm>
                <a:off x="2255" y="1610"/>
                <a:ext cx="47" cy="25"/>
              </a:xfrm>
              <a:custGeom>
                <a:avLst/>
                <a:gdLst/>
                <a:ahLst/>
                <a:cxnLst>
                  <a:cxn ang="0">
                    <a:pos x="0" y="0"/>
                  </a:cxn>
                  <a:cxn ang="0">
                    <a:pos x="1" y="18"/>
                  </a:cxn>
                  <a:cxn ang="0">
                    <a:pos x="64" y="35"/>
                  </a:cxn>
                  <a:cxn ang="0">
                    <a:pos x="64" y="19"/>
                  </a:cxn>
                  <a:cxn ang="0">
                    <a:pos x="0" y="0"/>
                  </a:cxn>
                </a:cxnLst>
                <a:rect l="0" t="0" r="r" b="b"/>
                <a:pathLst>
                  <a:path w="64" h="35">
                    <a:moveTo>
                      <a:pt x="0" y="0"/>
                    </a:moveTo>
                    <a:lnTo>
                      <a:pt x="1" y="18"/>
                    </a:lnTo>
                    <a:lnTo>
                      <a:pt x="64" y="35"/>
                    </a:lnTo>
                    <a:lnTo>
                      <a:pt x="64" y="19"/>
                    </a:lnTo>
                    <a:lnTo>
                      <a:pt x="0" y="0"/>
                    </a:lnTo>
                    <a:close/>
                  </a:path>
                </a:pathLst>
              </a:custGeom>
              <a:solidFill>
                <a:srgbClr val="777777"/>
              </a:solidFill>
              <a:ln w="19050" cap="flat" cmpd="sng">
                <a:noFill/>
                <a:prstDash val="solid"/>
                <a:round/>
                <a:headEnd type="none" w="med" len="med"/>
                <a:tailEnd type="none" w="med" len="med"/>
              </a:ln>
              <a:effectLst/>
            </p:spPr>
            <p:txBody>
              <a:bodyPr tIns="27432" bIns="27432" anchor="ctr">
                <a:spAutoFit/>
              </a:bodyPr>
              <a:lstStyle/>
              <a:p>
                <a:endParaRPr lang="fr-FR"/>
              </a:p>
            </p:txBody>
          </p:sp>
          <p:sp>
            <p:nvSpPr>
              <p:cNvPr id="37905" name="Line 17"/>
              <p:cNvSpPr>
                <a:spLocks noChangeShapeType="1"/>
              </p:cNvSpPr>
              <p:nvPr/>
            </p:nvSpPr>
            <p:spPr bwMode="auto">
              <a:xfrm>
                <a:off x="1942" y="1503"/>
                <a:ext cx="202" cy="57"/>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37906" name="Line 18"/>
              <p:cNvSpPr>
                <a:spLocks noChangeShapeType="1"/>
              </p:cNvSpPr>
              <p:nvPr/>
            </p:nvSpPr>
            <p:spPr bwMode="auto">
              <a:xfrm>
                <a:off x="1942" y="1525"/>
                <a:ext cx="202" cy="56"/>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37907" name="Line 19"/>
              <p:cNvSpPr>
                <a:spLocks noChangeShapeType="1"/>
              </p:cNvSpPr>
              <p:nvPr/>
            </p:nvSpPr>
            <p:spPr bwMode="auto">
              <a:xfrm>
                <a:off x="1942" y="1548"/>
                <a:ext cx="202" cy="57"/>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37908" name="Line 20"/>
              <p:cNvSpPr>
                <a:spLocks noChangeShapeType="1"/>
              </p:cNvSpPr>
              <p:nvPr/>
            </p:nvSpPr>
            <p:spPr bwMode="auto">
              <a:xfrm>
                <a:off x="1942" y="1570"/>
                <a:ext cx="202" cy="56"/>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37909" name="Freeform 21"/>
              <p:cNvSpPr>
                <a:spLocks/>
              </p:cNvSpPr>
              <p:nvPr/>
            </p:nvSpPr>
            <p:spPr bwMode="auto">
              <a:xfrm>
                <a:off x="2192" y="1632"/>
                <a:ext cx="198" cy="84"/>
              </a:xfrm>
              <a:custGeom>
                <a:avLst/>
                <a:gdLst/>
                <a:ahLst/>
                <a:cxnLst>
                  <a:cxn ang="0">
                    <a:pos x="0" y="40"/>
                  </a:cxn>
                  <a:cxn ang="0">
                    <a:pos x="275" y="117"/>
                  </a:cxn>
                  <a:cxn ang="0">
                    <a:pos x="275" y="0"/>
                  </a:cxn>
                </a:cxnLst>
                <a:rect l="0" t="0" r="r" b="b"/>
                <a:pathLst>
                  <a:path w="275" h="117">
                    <a:moveTo>
                      <a:pt x="0" y="40"/>
                    </a:moveTo>
                    <a:lnTo>
                      <a:pt x="275" y="117"/>
                    </a:lnTo>
                    <a:lnTo>
                      <a:pt x="275" y="0"/>
                    </a:lnTo>
                  </a:path>
                </a:pathLst>
              </a:custGeom>
              <a:noFill/>
              <a:ln w="6350" cap="flat" cmpd="sng">
                <a:solidFill>
                  <a:schemeClr val="bg1"/>
                </a:solidFill>
                <a:prstDash val="solid"/>
                <a:round/>
                <a:headEnd type="none" w="med" len="med"/>
                <a:tailEnd type="none" w="med" len="med"/>
              </a:ln>
              <a:effectLst/>
            </p:spPr>
            <p:txBody>
              <a:bodyPr wrap="none" tIns="27432" bIns="27432" anchor="ctr">
                <a:spAutoFit/>
              </a:bodyPr>
              <a:lstStyle/>
              <a:p>
                <a:endParaRPr lang="fr-FR"/>
              </a:p>
            </p:txBody>
          </p:sp>
        </p:grpSp>
        <p:grpSp>
          <p:nvGrpSpPr>
            <p:cNvPr id="37910" name="Group 22"/>
            <p:cNvGrpSpPr>
              <a:grpSpLocks/>
            </p:cNvGrpSpPr>
            <p:nvPr/>
          </p:nvGrpSpPr>
          <p:grpSpPr bwMode="auto">
            <a:xfrm>
              <a:off x="3042" y="2733"/>
              <a:ext cx="714" cy="672"/>
              <a:chOff x="2004" y="885"/>
              <a:chExt cx="714" cy="672"/>
            </a:xfrm>
          </p:grpSpPr>
          <p:sp>
            <p:nvSpPr>
              <p:cNvPr id="37911" name="Freeform 23"/>
              <p:cNvSpPr>
                <a:spLocks/>
              </p:cNvSpPr>
              <p:nvPr/>
            </p:nvSpPr>
            <p:spPr bwMode="auto">
              <a:xfrm>
                <a:off x="2058" y="1322"/>
                <a:ext cx="556" cy="235"/>
              </a:xfrm>
              <a:custGeom>
                <a:avLst/>
                <a:gdLst/>
                <a:ahLst/>
                <a:cxnLst>
                  <a:cxn ang="0">
                    <a:pos x="0" y="128"/>
                  </a:cxn>
                  <a:cxn ang="0">
                    <a:pos x="238" y="0"/>
                  </a:cxn>
                  <a:cxn ang="0">
                    <a:pos x="556" y="91"/>
                  </a:cxn>
                  <a:cxn ang="0">
                    <a:pos x="556" y="108"/>
                  </a:cxn>
                  <a:cxn ang="0">
                    <a:pos x="334" y="235"/>
                  </a:cxn>
                  <a:cxn ang="0">
                    <a:pos x="0" y="148"/>
                  </a:cxn>
                  <a:cxn ang="0">
                    <a:pos x="0" y="128"/>
                  </a:cxn>
                </a:cxnLst>
                <a:rect l="0" t="0" r="r" b="b"/>
                <a:pathLst>
                  <a:path w="556" h="235">
                    <a:moveTo>
                      <a:pt x="0" y="128"/>
                    </a:moveTo>
                    <a:lnTo>
                      <a:pt x="238" y="0"/>
                    </a:lnTo>
                    <a:lnTo>
                      <a:pt x="556" y="91"/>
                    </a:lnTo>
                    <a:lnTo>
                      <a:pt x="556" y="108"/>
                    </a:lnTo>
                    <a:lnTo>
                      <a:pt x="334" y="235"/>
                    </a:lnTo>
                    <a:lnTo>
                      <a:pt x="0" y="148"/>
                    </a:lnTo>
                    <a:lnTo>
                      <a:pt x="0" y="128"/>
                    </a:lnTo>
                    <a:close/>
                  </a:path>
                </a:pathLst>
              </a:custGeom>
              <a:solidFill>
                <a:srgbClr val="DDDDDD"/>
              </a:solidFill>
              <a:ln w="3175" cap="rnd" cmpd="sng">
                <a:solidFill>
                  <a:srgbClr val="000000"/>
                </a:solidFill>
                <a:prstDash val="solid"/>
                <a:round/>
                <a:headEnd type="none" w="med" len="med"/>
                <a:tailEnd type="none" w="med" len="med"/>
              </a:ln>
              <a:effectLst/>
            </p:spPr>
            <p:txBody>
              <a:bodyPr/>
              <a:lstStyle/>
              <a:p>
                <a:endParaRPr lang="fr-FR"/>
              </a:p>
            </p:txBody>
          </p:sp>
          <p:sp>
            <p:nvSpPr>
              <p:cNvPr id="37912" name="Freeform 24"/>
              <p:cNvSpPr>
                <a:spLocks/>
              </p:cNvSpPr>
              <p:nvPr/>
            </p:nvSpPr>
            <p:spPr bwMode="auto">
              <a:xfrm>
                <a:off x="2065" y="1327"/>
                <a:ext cx="538" cy="208"/>
              </a:xfrm>
              <a:custGeom>
                <a:avLst/>
                <a:gdLst/>
                <a:ahLst/>
                <a:cxnLst>
                  <a:cxn ang="0">
                    <a:pos x="0" y="124"/>
                  </a:cxn>
                  <a:cxn ang="0">
                    <a:pos x="327" y="208"/>
                  </a:cxn>
                  <a:cxn ang="0">
                    <a:pos x="538" y="86"/>
                  </a:cxn>
                  <a:cxn ang="0">
                    <a:pos x="233" y="0"/>
                  </a:cxn>
                  <a:cxn ang="0">
                    <a:pos x="0" y="124"/>
                  </a:cxn>
                </a:cxnLst>
                <a:rect l="0" t="0" r="r" b="b"/>
                <a:pathLst>
                  <a:path w="538" h="208">
                    <a:moveTo>
                      <a:pt x="0" y="124"/>
                    </a:moveTo>
                    <a:lnTo>
                      <a:pt x="327" y="208"/>
                    </a:lnTo>
                    <a:lnTo>
                      <a:pt x="538" y="86"/>
                    </a:lnTo>
                    <a:lnTo>
                      <a:pt x="233" y="0"/>
                    </a:lnTo>
                    <a:lnTo>
                      <a:pt x="0" y="124"/>
                    </a:lnTo>
                    <a:close/>
                  </a:path>
                </a:pathLst>
              </a:custGeom>
              <a:solidFill>
                <a:srgbClr val="B2B2B2"/>
              </a:solidFill>
              <a:ln w="6350" cap="rnd" cmpd="sng">
                <a:noFill/>
                <a:prstDash val="solid"/>
                <a:round/>
                <a:headEnd type="none" w="med" len="med"/>
                <a:tailEnd type="none" w="med" len="med"/>
              </a:ln>
              <a:effectLst/>
            </p:spPr>
            <p:txBody>
              <a:bodyPr/>
              <a:lstStyle/>
              <a:p>
                <a:endParaRPr lang="fr-FR"/>
              </a:p>
            </p:txBody>
          </p:sp>
          <p:sp>
            <p:nvSpPr>
              <p:cNvPr id="37913" name="Oval 25"/>
              <p:cNvSpPr>
                <a:spLocks noChangeArrowheads="1"/>
              </p:cNvSpPr>
              <p:nvPr/>
            </p:nvSpPr>
            <p:spPr bwMode="auto">
              <a:xfrm>
                <a:off x="2199" y="1378"/>
                <a:ext cx="280" cy="112"/>
              </a:xfrm>
              <a:prstGeom prst="ellipse">
                <a:avLst/>
              </a:prstGeom>
              <a:solidFill>
                <a:srgbClr val="B2B2B2"/>
              </a:solidFill>
              <a:ln w="3175" cap="rnd">
                <a:solidFill>
                  <a:schemeClr val="tx1"/>
                </a:solidFill>
                <a:round/>
                <a:headEnd/>
                <a:tailEnd/>
              </a:ln>
              <a:effectLst/>
            </p:spPr>
            <p:txBody>
              <a:bodyPr/>
              <a:lstStyle/>
              <a:p>
                <a:endParaRPr lang="fr-FR"/>
              </a:p>
            </p:txBody>
          </p:sp>
          <p:sp>
            <p:nvSpPr>
              <p:cNvPr id="37914" name="Freeform 26"/>
              <p:cNvSpPr>
                <a:spLocks/>
              </p:cNvSpPr>
              <p:nvPr/>
            </p:nvSpPr>
            <p:spPr bwMode="auto">
              <a:xfrm>
                <a:off x="2046" y="1382"/>
                <a:ext cx="452" cy="126"/>
              </a:xfrm>
              <a:custGeom>
                <a:avLst/>
                <a:gdLst/>
                <a:ahLst/>
                <a:cxnLst>
                  <a:cxn ang="0">
                    <a:pos x="0" y="0"/>
                  </a:cxn>
                  <a:cxn ang="0">
                    <a:pos x="20" y="36"/>
                  </a:cxn>
                  <a:cxn ang="0">
                    <a:pos x="574" y="180"/>
                  </a:cxn>
                  <a:cxn ang="0">
                    <a:pos x="646" y="158"/>
                  </a:cxn>
                </a:cxnLst>
                <a:rect l="0" t="0" r="r" b="b"/>
                <a:pathLst>
                  <a:path w="646" h="180">
                    <a:moveTo>
                      <a:pt x="0" y="0"/>
                    </a:moveTo>
                    <a:lnTo>
                      <a:pt x="20" y="36"/>
                    </a:lnTo>
                    <a:lnTo>
                      <a:pt x="574" y="180"/>
                    </a:lnTo>
                    <a:lnTo>
                      <a:pt x="646" y="158"/>
                    </a:lnTo>
                  </a:path>
                </a:pathLst>
              </a:custGeom>
              <a:solidFill>
                <a:srgbClr val="B2B2B2"/>
              </a:solidFill>
              <a:ln w="3175" cap="rnd" cmpd="sng">
                <a:solidFill>
                  <a:schemeClr val="tx1"/>
                </a:solidFill>
                <a:prstDash val="solid"/>
                <a:round/>
                <a:headEnd type="none" w="med" len="med"/>
                <a:tailEnd type="none" w="med" len="med"/>
              </a:ln>
              <a:effectLst/>
            </p:spPr>
            <p:txBody>
              <a:bodyPr/>
              <a:lstStyle/>
              <a:p>
                <a:endParaRPr lang="fr-FR"/>
              </a:p>
            </p:txBody>
          </p:sp>
          <p:sp>
            <p:nvSpPr>
              <p:cNvPr id="37915" name="Freeform 27"/>
              <p:cNvSpPr>
                <a:spLocks noChangeAspect="1"/>
              </p:cNvSpPr>
              <p:nvPr/>
            </p:nvSpPr>
            <p:spPr bwMode="auto">
              <a:xfrm>
                <a:off x="2154" y="885"/>
                <a:ext cx="564" cy="520"/>
              </a:xfrm>
              <a:custGeom>
                <a:avLst/>
                <a:gdLst/>
                <a:ahLst/>
                <a:cxnLst>
                  <a:cxn ang="0">
                    <a:pos x="620" y="746"/>
                  </a:cxn>
                  <a:cxn ang="0">
                    <a:pos x="808" y="525"/>
                  </a:cxn>
                  <a:cxn ang="0">
                    <a:pos x="808" y="106"/>
                  </a:cxn>
                  <a:cxn ang="0">
                    <a:pos x="336" y="0"/>
                  </a:cxn>
                  <a:cxn ang="0">
                    <a:pos x="0" y="48"/>
                  </a:cxn>
                </a:cxnLst>
                <a:rect l="0" t="0" r="r" b="b"/>
                <a:pathLst>
                  <a:path w="808" h="746">
                    <a:moveTo>
                      <a:pt x="620" y="746"/>
                    </a:moveTo>
                    <a:lnTo>
                      <a:pt x="808" y="525"/>
                    </a:lnTo>
                    <a:lnTo>
                      <a:pt x="808" y="106"/>
                    </a:lnTo>
                    <a:lnTo>
                      <a:pt x="336" y="0"/>
                    </a:lnTo>
                    <a:lnTo>
                      <a:pt x="0" y="4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37916" name="Freeform 28"/>
              <p:cNvSpPr>
                <a:spLocks noChangeAspect="1"/>
              </p:cNvSpPr>
              <p:nvPr/>
            </p:nvSpPr>
            <p:spPr bwMode="auto">
              <a:xfrm>
                <a:off x="2506" y="1000"/>
                <a:ext cx="113" cy="506"/>
              </a:xfrm>
              <a:custGeom>
                <a:avLst/>
                <a:gdLst/>
                <a:ahLst/>
                <a:cxnLst>
                  <a:cxn ang="0">
                    <a:pos x="0" y="644"/>
                  </a:cxn>
                  <a:cxn ang="0">
                    <a:pos x="0" y="79"/>
                  </a:cxn>
                  <a:cxn ang="0">
                    <a:pos x="144" y="0"/>
                  </a:cxn>
                  <a:cxn ang="0">
                    <a:pos x="144" y="554"/>
                  </a:cxn>
                  <a:cxn ang="0">
                    <a:pos x="0" y="644"/>
                  </a:cxn>
                </a:cxnLst>
                <a:rect l="0" t="0" r="r" b="b"/>
                <a:pathLst>
                  <a:path w="144" h="644">
                    <a:moveTo>
                      <a:pt x="0" y="644"/>
                    </a:moveTo>
                    <a:lnTo>
                      <a:pt x="0" y="79"/>
                    </a:lnTo>
                    <a:lnTo>
                      <a:pt x="144" y="0"/>
                    </a:lnTo>
                    <a:lnTo>
                      <a:pt x="144" y="554"/>
                    </a:lnTo>
                    <a:lnTo>
                      <a:pt x="0" y="644"/>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37917" name="Freeform 29"/>
              <p:cNvSpPr>
                <a:spLocks noChangeAspect="1"/>
              </p:cNvSpPr>
              <p:nvPr/>
            </p:nvSpPr>
            <p:spPr bwMode="auto">
              <a:xfrm>
                <a:off x="2004" y="891"/>
                <a:ext cx="615" cy="172"/>
              </a:xfrm>
              <a:custGeom>
                <a:avLst/>
                <a:gdLst/>
                <a:ahLst/>
                <a:cxnLst>
                  <a:cxn ang="0">
                    <a:pos x="638" y="219"/>
                  </a:cxn>
                  <a:cxn ang="0">
                    <a:pos x="0" y="67"/>
                  </a:cxn>
                  <a:cxn ang="0">
                    <a:pos x="160" y="0"/>
                  </a:cxn>
                  <a:cxn ang="0">
                    <a:pos x="782" y="139"/>
                  </a:cxn>
                  <a:cxn ang="0">
                    <a:pos x="638" y="219"/>
                  </a:cxn>
                </a:cxnLst>
                <a:rect l="0" t="0" r="r" b="b"/>
                <a:pathLst>
                  <a:path w="782" h="219">
                    <a:moveTo>
                      <a:pt x="638" y="219"/>
                    </a:moveTo>
                    <a:lnTo>
                      <a:pt x="0" y="67"/>
                    </a:lnTo>
                    <a:lnTo>
                      <a:pt x="160" y="0"/>
                    </a:lnTo>
                    <a:lnTo>
                      <a:pt x="782" y="139"/>
                    </a:lnTo>
                    <a:lnTo>
                      <a:pt x="638" y="219"/>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sp>
            <p:nvSpPr>
              <p:cNvPr id="37918" name="Freeform 30"/>
              <p:cNvSpPr>
                <a:spLocks noChangeAspect="1"/>
              </p:cNvSpPr>
              <p:nvPr/>
            </p:nvSpPr>
            <p:spPr bwMode="auto">
              <a:xfrm>
                <a:off x="2004" y="942"/>
                <a:ext cx="502" cy="566"/>
              </a:xfrm>
              <a:custGeom>
                <a:avLst/>
                <a:gdLst/>
                <a:ahLst/>
                <a:cxnLst>
                  <a:cxn ang="0">
                    <a:pos x="671" y="753"/>
                  </a:cxn>
                  <a:cxn ang="0">
                    <a:pos x="671" y="160"/>
                  </a:cxn>
                  <a:cxn ang="0">
                    <a:pos x="0" y="0"/>
                  </a:cxn>
                  <a:cxn ang="0">
                    <a:pos x="0" y="578"/>
                  </a:cxn>
                  <a:cxn ang="0">
                    <a:pos x="671" y="753"/>
                  </a:cxn>
                </a:cxnLst>
                <a:rect l="0" t="0" r="r" b="b"/>
                <a:pathLst>
                  <a:path w="672" h="754">
                    <a:moveTo>
                      <a:pt x="671" y="753"/>
                    </a:moveTo>
                    <a:lnTo>
                      <a:pt x="671" y="160"/>
                    </a:lnTo>
                    <a:lnTo>
                      <a:pt x="0" y="0"/>
                    </a:lnTo>
                    <a:lnTo>
                      <a:pt x="0" y="578"/>
                    </a:lnTo>
                    <a:lnTo>
                      <a:pt x="671" y="753"/>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37919" name="Freeform 31"/>
              <p:cNvSpPr>
                <a:spLocks noChangeAspect="1"/>
              </p:cNvSpPr>
              <p:nvPr/>
            </p:nvSpPr>
            <p:spPr bwMode="auto">
              <a:xfrm>
                <a:off x="2043" y="992"/>
                <a:ext cx="425" cy="464"/>
              </a:xfrm>
              <a:custGeom>
                <a:avLst/>
                <a:gdLst/>
                <a:ahLst/>
                <a:cxnLst>
                  <a:cxn ang="0">
                    <a:pos x="490" y="548"/>
                  </a:cxn>
                  <a:cxn ang="0">
                    <a:pos x="490" y="117"/>
                  </a:cxn>
                  <a:cxn ang="0">
                    <a:pos x="0" y="0"/>
                  </a:cxn>
                  <a:cxn ang="0">
                    <a:pos x="0" y="424"/>
                  </a:cxn>
                  <a:cxn ang="0">
                    <a:pos x="490" y="548"/>
                  </a:cxn>
                </a:cxnLst>
                <a:rect l="0" t="0" r="r" b="b"/>
                <a:pathLst>
                  <a:path w="491" h="549">
                    <a:moveTo>
                      <a:pt x="490" y="548"/>
                    </a:moveTo>
                    <a:lnTo>
                      <a:pt x="490" y="117"/>
                    </a:lnTo>
                    <a:lnTo>
                      <a:pt x="0" y="0"/>
                    </a:lnTo>
                    <a:lnTo>
                      <a:pt x="0" y="424"/>
                    </a:lnTo>
                    <a:lnTo>
                      <a:pt x="490" y="548"/>
                    </a:lnTo>
                  </a:path>
                </a:pathLst>
              </a:custGeom>
              <a:solidFill>
                <a:srgbClr val="CECECE"/>
              </a:solidFill>
              <a:ln w="6350" cap="rnd" cmpd="sng">
                <a:solidFill>
                  <a:srgbClr val="808080"/>
                </a:solidFill>
                <a:prstDash val="solid"/>
                <a:round/>
                <a:headEnd type="none" w="med" len="med"/>
                <a:tailEnd type="none" w="med" len="med"/>
              </a:ln>
              <a:effectLst/>
            </p:spPr>
            <p:txBody>
              <a:bodyPr/>
              <a:lstStyle/>
              <a:p>
                <a:endParaRPr lang="fr-FR"/>
              </a:p>
            </p:txBody>
          </p:sp>
          <p:sp>
            <p:nvSpPr>
              <p:cNvPr id="37920" name="Freeform 32"/>
              <p:cNvSpPr>
                <a:spLocks/>
              </p:cNvSpPr>
              <p:nvPr/>
            </p:nvSpPr>
            <p:spPr bwMode="auto">
              <a:xfrm>
                <a:off x="2069" y="1023"/>
                <a:ext cx="372" cy="400"/>
              </a:xfrm>
              <a:custGeom>
                <a:avLst/>
                <a:gdLst/>
                <a:ahLst/>
                <a:cxnLst>
                  <a:cxn ang="0">
                    <a:pos x="0" y="0"/>
                  </a:cxn>
                  <a:cxn ang="0">
                    <a:pos x="0" y="454"/>
                  </a:cxn>
                  <a:cxn ang="0">
                    <a:pos x="542" y="592"/>
                  </a:cxn>
                  <a:cxn ang="0">
                    <a:pos x="542" y="130"/>
                  </a:cxn>
                  <a:cxn ang="0">
                    <a:pos x="0" y="0"/>
                  </a:cxn>
                </a:cxnLst>
                <a:rect l="0" t="0" r="r" b="b"/>
                <a:pathLst>
                  <a:path w="542" h="592">
                    <a:moveTo>
                      <a:pt x="0" y="0"/>
                    </a:moveTo>
                    <a:lnTo>
                      <a:pt x="0" y="454"/>
                    </a:lnTo>
                    <a:lnTo>
                      <a:pt x="542" y="592"/>
                    </a:lnTo>
                    <a:lnTo>
                      <a:pt x="542" y="130"/>
                    </a:lnTo>
                    <a:lnTo>
                      <a:pt x="0" y="0"/>
                    </a:lnTo>
                    <a:close/>
                  </a:path>
                </a:pathLst>
              </a:custGeom>
              <a:gradFill rotWithShape="0">
                <a:gsLst>
                  <a:gs pos="0">
                    <a:srgbClr val="618FFD"/>
                  </a:gs>
                  <a:gs pos="100000">
                    <a:srgbClr val="618FFD">
                      <a:gamma/>
                      <a:shade val="75294"/>
                      <a:invGamma/>
                    </a:srgbClr>
                  </a:gs>
                </a:gsLst>
                <a:path path="rect">
                  <a:fillToRect r="100000" b="100000"/>
                </a:path>
              </a:gradFill>
              <a:ln w="6350" cap="flat" cmpd="sng">
                <a:solidFill>
                  <a:srgbClr val="777777"/>
                </a:solidFill>
                <a:prstDash val="solid"/>
                <a:round/>
                <a:headEnd type="none" w="med" len="med"/>
                <a:tailEnd type="none" w="med" len="med"/>
              </a:ln>
              <a:effectLst/>
            </p:spPr>
            <p:txBody>
              <a:bodyPr wrap="none" anchor="ctr"/>
              <a:lstStyle/>
              <a:p>
                <a:endParaRPr lang="fr-FR"/>
              </a:p>
            </p:txBody>
          </p:sp>
          <p:sp>
            <p:nvSpPr>
              <p:cNvPr id="37921" name="Line 33"/>
              <p:cNvSpPr>
                <a:spLocks noChangeShapeType="1"/>
              </p:cNvSpPr>
              <p:nvPr/>
            </p:nvSpPr>
            <p:spPr bwMode="auto">
              <a:xfrm>
                <a:off x="2102" y="1056"/>
                <a:ext cx="0" cy="61"/>
              </a:xfrm>
              <a:prstGeom prst="line">
                <a:avLst/>
              </a:prstGeom>
              <a:noFill/>
              <a:ln w="25400">
                <a:solidFill>
                  <a:schemeClr val="bg1"/>
                </a:solidFill>
                <a:round/>
                <a:headEnd/>
                <a:tailEnd/>
              </a:ln>
              <a:effectLst/>
            </p:spPr>
            <p:txBody>
              <a:bodyPr wrap="none" anchor="ctr"/>
              <a:lstStyle/>
              <a:p>
                <a:endParaRPr lang="fr-FR"/>
              </a:p>
            </p:txBody>
          </p:sp>
        </p:grpSp>
      </p:grpSp>
      <p:grpSp>
        <p:nvGrpSpPr>
          <p:cNvPr id="37922" name="Group 34"/>
          <p:cNvGrpSpPr>
            <a:grpSpLocks/>
          </p:cNvGrpSpPr>
          <p:nvPr/>
        </p:nvGrpSpPr>
        <p:grpSpPr bwMode="auto">
          <a:xfrm>
            <a:off x="2001838" y="5192713"/>
            <a:ext cx="942975" cy="533400"/>
            <a:chOff x="2899" y="2529"/>
            <a:chExt cx="547" cy="309"/>
          </a:xfrm>
        </p:grpSpPr>
        <p:sp>
          <p:nvSpPr>
            <p:cNvPr id="37923" name="Freeform 35"/>
            <p:cNvSpPr>
              <a:spLocks/>
            </p:cNvSpPr>
            <p:nvPr/>
          </p:nvSpPr>
          <p:spPr bwMode="auto">
            <a:xfrm>
              <a:off x="3216" y="2606"/>
              <a:ext cx="230" cy="232"/>
            </a:xfrm>
            <a:custGeom>
              <a:avLst/>
              <a:gdLst/>
              <a:ahLst/>
              <a:cxnLst>
                <a:cxn ang="0">
                  <a:pos x="0" y="146"/>
                </a:cxn>
                <a:cxn ang="0">
                  <a:pos x="230" y="0"/>
                </a:cxn>
                <a:cxn ang="0">
                  <a:pos x="230" y="85"/>
                </a:cxn>
                <a:cxn ang="0">
                  <a:pos x="0" y="232"/>
                </a:cxn>
                <a:cxn ang="0">
                  <a:pos x="0" y="146"/>
                </a:cxn>
              </a:cxnLst>
              <a:rect l="0" t="0" r="r" b="b"/>
              <a:pathLst>
                <a:path w="230" h="232">
                  <a:moveTo>
                    <a:pt x="0" y="146"/>
                  </a:moveTo>
                  <a:lnTo>
                    <a:pt x="230" y="0"/>
                  </a:lnTo>
                  <a:lnTo>
                    <a:pt x="230" y="85"/>
                  </a:lnTo>
                  <a:lnTo>
                    <a:pt x="0" y="232"/>
                  </a:lnTo>
                  <a:lnTo>
                    <a:pt x="0" y="146"/>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37924" name="Freeform 36"/>
            <p:cNvSpPr>
              <a:spLocks/>
            </p:cNvSpPr>
            <p:nvPr/>
          </p:nvSpPr>
          <p:spPr bwMode="auto">
            <a:xfrm>
              <a:off x="2899" y="2672"/>
              <a:ext cx="318" cy="166"/>
            </a:xfrm>
            <a:custGeom>
              <a:avLst/>
              <a:gdLst/>
              <a:ahLst/>
              <a:cxnLst>
                <a:cxn ang="0">
                  <a:pos x="318" y="80"/>
                </a:cxn>
                <a:cxn ang="0">
                  <a:pos x="318" y="166"/>
                </a:cxn>
                <a:cxn ang="0">
                  <a:pos x="0" y="85"/>
                </a:cxn>
                <a:cxn ang="0">
                  <a:pos x="0" y="0"/>
                </a:cxn>
              </a:cxnLst>
              <a:rect l="0" t="0" r="r" b="b"/>
              <a:pathLst>
                <a:path w="318" h="166">
                  <a:moveTo>
                    <a:pt x="318" y="80"/>
                  </a:moveTo>
                  <a:lnTo>
                    <a:pt x="318" y="166"/>
                  </a:lnTo>
                  <a:lnTo>
                    <a:pt x="0" y="85"/>
                  </a:lnTo>
                  <a:lnTo>
                    <a:pt x="0" y="0"/>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37925" name="Oval 37"/>
            <p:cNvSpPr>
              <a:spLocks noChangeArrowheads="1"/>
            </p:cNvSpPr>
            <p:nvPr/>
          </p:nvSpPr>
          <p:spPr bwMode="auto">
            <a:xfrm>
              <a:off x="2993" y="2724"/>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37926" name="Oval 38"/>
            <p:cNvSpPr>
              <a:spLocks noChangeArrowheads="1"/>
            </p:cNvSpPr>
            <p:nvPr/>
          </p:nvSpPr>
          <p:spPr bwMode="auto">
            <a:xfrm>
              <a:off x="3044" y="2739"/>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37927" name="Oval 39"/>
            <p:cNvSpPr>
              <a:spLocks noChangeArrowheads="1"/>
            </p:cNvSpPr>
            <p:nvPr/>
          </p:nvSpPr>
          <p:spPr bwMode="auto">
            <a:xfrm>
              <a:off x="3099" y="2751"/>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37928" name="Oval 40"/>
            <p:cNvSpPr>
              <a:spLocks noChangeArrowheads="1"/>
            </p:cNvSpPr>
            <p:nvPr/>
          </p:nvSpPr>
          <p:spPr bwMode="auto">
            <a:xfrm>
              <a:off x="3149" y="2768"/>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37929" name="Freeform 41"/>
            <p:cNvSpPr>
              <a:spLocks/>
            </p:cNvSpPr>
            <p:nvPr/>
          </p:nvSpPr>
          <p:spPr bwMode="auto">
            <a:xfrm>
              <a:off x="2899" y="2529"/>
              <a:ext cx="547" cy="224"/>
            </a:xfrm>
            <a:custGeom>
              <a:avLst/>
              <a:gdLst/>
              <a:ahLst/>
              <a:cxnLst>
                <a:cxn ang="0">
                  <a:pos x="0" y="141"/>
                </a:cxn>
                <a:cxn ang="0">
                  <a:pos x="230" y="0"/>
                </a:cxn>
                <a:cxn ang="0">
                  <a:pos x="547" y="78"/>
                </a:cxn>
                <a:cxn ang="0">
                  <a:pos x="318" y="224"/>
                </a:cxn>
                <a:cxn ang="0">
                  <a:pos x="2" y="146"/>
                </a:cxn>
              </a:cxnLst>
              <a:rect l="0" t="0" r="r" b="b"/>
              <a:pathLst>
                <a:path w="547" h="224">
                  <a:moveTo>
                    <a:pt x="0" y="141"/>
                  </a:moveTo>
                  <a:lnTo>
                    <a:pt x="230" y="0"/>
                  </a:lnTo>
                  <a:lnTo>
                    <a:pt x="547" y="78"/>
                  </a:lnTo>
                  <a:lnTo>
                    <a:pt x="318" y="224"/>
                  </a:lnTo>
                  <a:lnTo>
                    <a:pt x="2" y="146"/>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grpSp>
      <p:sp>
        <p:nvSpPr>
          <p:cNvPr id="37930" name="Text Box 42"/>
          <p:cNvSpPr txBox="1">
            <a:spLocks noChangeArrowheads="1"/>
          </p:cNvSpPr>
          <p:nvPr/>
        </p:nvSpPr>
        <p:spPr bwMode="auto">
          <a:xfrm>
            <a:off x="5242560" y="5765800"/>
            <a:ext cx="3566159" cy="430887"/>
          </a:xfrm>
          <a:prstGeom prst="rect">
            <a:avLst/>
          </a:prstGeom>
          <a:noFill/>
          <a:ln w="9525">
            <a:noFill/>
            <a:miter lim="800000"/>
            <a:headEnd/>
            <a:tailEnd/>
          </a:ln>
          <a:effectLst/>
        </p:spPr>
        <p:txBody>
          <a:bodyPr wrap="square" anchor="ctr">
            <a:spAutoFit/>
          </a:bodyPr>
          <a:lstStyle/>
          <a:p>
            <a:pPr algn="ctr"/>
            <a:r>
              <a:rPr lang="en-US" sz="2200" b="1" dirty="0" err="1">
                <a:latin typeface="Arial" charset="0"/>
              </a:rPr>
              <a:t>Serveur</a:t>
            </a:r>
            <a:r>
              <a:rPr lang="en-US" sz="2200" b="1" dirty="0">
                <a:latin typeface="Arial" charset="0"/>
              </a:rPr>
              <a:t> </a:t>
            </a:r>
            <a:r>
              <a:rPr lang="en-US" sz="2200" b="1" dirty="0" err="1">
                <a:latin typeface="Arial" charset="0"/>
              </a:rPr>
              <a:t>d'accès</a:t>
            </a:r>
            <a:r>
              <a:rPr lang="en-US" sz="2200" b="1" dirty="0">
                <a:latin typeface="Arial" charset="0"/>
              </a:rPr>
              <a:t> distant</a:t>
            </a:r>
          </a:p>
        </p:txBody>
      </p:sp>
      <p:sp>
        <p:nvSpPr>
          <p:cNvPr id="37931" name="Freeform 43"/>
          <p:cNvSpPr>
            <a:spLocks/>
          </p:cNvSpPr>
          <p:nvPr/>
        </p:nvSpPr>
        <p:spPr bwMode="auto">
          <a:xfrm>
            <a:off x="2608263" y="4232275"/>
            <a:ext cx="3746500" cy="687388"/>
          </a:xfrm>
          <a:custGeom>
            <a:avLst/>
            <a:gdLst/>
            <a:ahLst/>
            <a:cxnLst>
              <a:cxn ang="0">
                <a:pos x="127" y="264"/>
              </a:cxn>
              <a:cxn ang="0">
                <a:pos x="213" y="287"/>
              </a:cxn>
              <a:cxn ang="0">
                <a:pos x="361" y="219"/>
              </a:cxn>
              <a:cxn ang="0">
                <a:pos x="509" y="158"/>
              </a:cxn>
              <a:cxn ang="0">
                <a:pos x="660" y="106"/>
              </a:cxn>
              <a:cxn ang="0">
                <a:pos x="810" y="62"/>
              </a:cxn>
              <a:cxn ang="0">
                <a:pos x="961" y="29"/>
              </a:cxn>
              <a:cxn ang="0">
                <a:pos x="1113" y="8"/>
              </a:cxn>
              <a:cxn ang="0">
                <a:pos x="1261" y="0"/>
              </a:cxn>
              <a:cxn ang="0">
                <a:pos x="1276" y="81"/>
              </a:cxn>
              <a:cxn ang="0">
                <a:pos x="1395" y="90"/>
              </a:cxn>
              <a:cxn ang="0">
                <a:pos x="1503" y="108"/>
              </a:cxn>
              <a:cxn ang="0">
                <a:pos x="1602" y="131"/>
              </a:cxn>
              <a:cxn ang="0">
                <a:pos x="1695" y="158"/>
              </a:cxn>
              <a:cxn ang="0">
                <a:pos x="1863" y="219"/>
              </a:cxn>
              <a:cxn ang="0">
                <a:pos x="2029" y="281"/>
              </a:cxn>
              <a:cxn ang="0">
                <a:pos x="2184" y="402"/>
              </a:cxn>
              <a:cxn ang="0">
                <a:pos x="2013" y="318"/>
              </a:cxn>
              <a:cxn ang="0">
                <a:pos x="1817" y="246"/>
              </a:cxn>
              <a:cxn ang="0">
                <a:pos x="1718" y="218"/>
              </a:cxn>
              <a:cxn ang="0">
                <a:pos x="1616" y="194"/>
              </a:cxn>
              <a:cxn ang="0">
                <a:pos x="1508" y="177"/>
              </a:cxn>
              <a:cxn ang="0">
                <a:pos x="1399" y="167"/>
              </a:cxn>
              <a:cxn ang="0">
                <a:pos x="1280" y="166"/>
              </a:cxn>
              <a:cxn ang="0">
                <a:pos x="1155" y="171"/>
              </a:cxn>
              <a:cxn ang="0">
                <a:pos x="1130" y="90"/>
              </a:cxn>
              <a:cxn ang="0">
                <a:pos x="1000" y="98"/>
              </a:cxn>
              <a:cxn ang="0">
                <a:pos x="869" y="115"/>
              </a:cxn>
              <a:cxn ang="0">
                <a:pos x="739" y="141"/>
              </a:cxn>
              <a:cxn ang="0">
                <a:pos x="610" y="177"/>
              </a:cxn>
              <a:cxn ang="0">
                <a:pos x="480" y="219"/>
              </a:cxn>
              <a:cxn ang="0">
                <a:pos x="349" y="271"/>
              </a:cxn>
              <a:cxn ang="0">
                <a:pos x="219" y="329"/>
              </a:cxn>
              <a:cxn ang="0">
                <a:pos x="205" y="406"/>
              </a:cxn>
            </a:cxnLst>
            <a:rect l="0" t="0" r="r" b="b"/>
            <a:pathLst>
              <a:path w="2184" h="433">
                <a:moveTo>
                  <a:pt x="0" y="433"/>
                </a:moveTo>
                <a:lnTo>
                  <a:pt x="127" y="264"/>
                </a:lnTo>
                <a:lnTo>
                  <a:pt x="142" y="323"/>
                </a:lnTo>
                <a:lnTo>
                  <a:pt x="213" y="287"/>
                </a:lnTo>
                <a:lnTo>
                  <a:pt x="286" y="252"/>
                </a:lnTo>
                <a:lnTo>
                  <a:pt x="361" y="219"/>
                </a:lnTo>
                <a:lnTo>
                  <a:pt x="434" y="187"/>
                </a:lnTo>
                <a:lnTo>
                  <a:pt x="509" y="158"/>
                </a:lnTo>
                <a:lnTo>
                  <a:pt x="583" y="131"/>
                </a:lnTo>
                <a:lnTo>
                  <a:pt x="660" y="106"/>
                </a:lnTo>
                <a:lnTo>
                  <a:pt x="735" y="83"/>
                </a:lnTo>
                <a:lnTo>
                  <a:pt x="810" y="62"/>
                </a:lnTo>
                <a:lnTo>
                  <a:pt x="887" y="44"/>
                </a:lnTo>
                <a:lnTo>
                  <a:pt x="961" y="29"/>
                </a:lnTo>
                <a:lnTo>
                  <a:pt x="1036" y="17"/>
                </a:lnTo>
                <a:lnTo>
                  <a:pt x="1113" y="8"/>
                </a:lnTo>
                <a:lnTo>
                  <a:pt x="1188" y="4"/>
                </a:lnTo>
                <a:lnTo>
                  <a:pt x="1261" y="0"/>
                </a:lnTo>
                <a:lnTo>
                  <a:pt x="1336" y="2"/>
                </a:lnTo>
                <a:lnTo>
                  <a:pt x="1276" y="81"/>
                </a:lnTo>
                <a:lnTo>
                  <a:pt x="1338" y="85"/>
                </a:lnTo>
                <a:lnTo>
                  <a:pt x="1395" y="90"/>
                </a:lnTo>
                <a:lnTo>
                  <a:pt x="1451" y="100"/>
                </a:lnTo>
                <a:lnTo>
                  <a:pt x="1503" y="108"/>
                </a:lnTo>
                <a:lnTo>
                  <a:pt x="1554" y="119"/>
                </a:lnTo>
                <a:lnTo>
                  <a:pt x="1602" y="131"/>
                </a:lnTo>
                <a:lnTo>
                  <a:pt x="1649" y="144"/>
                </a:lnTo>
                <a:lnTo>
                  <a:pt x="1695" y="158"/>
                </a:lnTo>
                <a:lnTo>
                  <a:pt x="1781" y="187"/>
                </a:lnTo>
                <a:lnTo>
                  <a:pt x="1863" y="219"/>
                </a:lnTo>
                <a:lnTo>
                  <a:pt x="1944" y="250"/>
                </a:lnTo>
                <a:lnTo>
                  <a:pt x="2029" y="281"/>
                </a:lnTo>
                <a:lnTo>
                  <a:pt x="2034" y="239"/>
                </a:lnTo>
                <a:lnTo>
                  <a:pt x="2184" y="402"/>
                </a:lnTo>
                <a:lnTo>
                  <a:pt x="1971" y="368"/>
                </a:lnTo>
                <a:lnTo>
                  <a:pt x="2013" y="318"/>
                </a:lnTo>
                <a:lnTo>
                  <a:pt x="1915" y="281"/>
                </a:lnTo>
                <a:lnTo>
                  <a:pt x="1817" y="246"/>
                </a:lnTo>
                <a:lnTo>
                  <a:pt x="1768" y="233"/>
                </a:lnTo>
                <a:lnTo>
                  <a:pt x="1718" y="218"/>
                </a:lnTo>
                <a:lnTo>
                  <a:pt x="1666" y="206"/>
                </a:lnTo>
                <a:lnTo>
                  <a:pt x="1616" y="194"/>
                </a:lnTo>
                <a:lnTo>
                  <a:pt x="1562" y="185"/>
                </a:lnTo>
                <a:lnTo>
                  <a:pt x="1508" y="177"/>
                </a:lnTo>
                <a:lnTo>
                  <a:pt x="1455" y="171"/>
                </a:lnTo>
                <a:lnTo>
                  <a:pt x="1399" y="167"/>
                </a:lnTo>
                <a:lnTo>
                  <a:pt x="1340" y="166"/>
                </a:lnTo>
                <a:lnTo>
                  <a:pt x="1280" y="166"/>
                </a:lnTo>
                <a:lnTo>
                  <a:pt x="1219" y="167"/>
                </a:lnTo>
                <a:lnTo>
                  <a:pt x="1155" y="171"/>
                </a:lnTo>
                <a:lnTo>
                  <a:pt x="1198" y="90"/>
                </a:lnTo>
                <a:lnTo>
                  <a:pt x="1130" y="90"/>
                </a:lnTo>
                <a:lnTo>
                  <a:pt x="1065" y="92"/>
                </a:lnTo>
                <a:lnTo>
                  <a:pt x="1000" y="98"/>
                </a:lnTo>
                <a:lnTo>
                  <a:pt x="935" y="106"/>
                </a:lnTo>
                <a:lnTo>
                  <a:pt x="869" y="115"/>
                </a:lnTo>
                <a:lnTo>
                  <a:pt x="804" y="127"/>
                </a:lnTo>
                <a:lnTo>
                  <a:pt x="739" y="141"/>
                </a:lnTo>
                <a:lnTo>
                  <a:pt x="675" y="158"/>
                </a:lnTo>
                <a:lnTo>
                  <a:pt x="610" y="177"/>
                </a:lnTo>
                <a:lnTo>
                  <a:pt x="545" y="198"/>
                </a:lnTo>
                <a:lnTo>
                  <a:pt x="480" y="219"/>
                </a:lnTo>
                <a:lnTo>
                  <a:pt x="414" y="244"/>
                </a:lnTo>
                <a:lnTo>
                  <a:pt x="349" y="271"/>
                </a:lnTo>
                <a:lnTo>
                  <a:pt x="284" y="298"/>
                </a:lnTo>
                <a:lnTo>
                  <a:pt x="219" y="329"/>
                </a:lnTo>
                <a:lnTo>
                  <a:pt x="152" y="360"/>
                </a:lnTo>
                <a:lnTo>
                  <a:pt x="205" y="406"/>
                </a:lnTo>
                <a:lnTo>
                  <a:pt x="0" y="433"/>
                </a:lnTo>
              </a:path>
            </a:pathLst>
          </a:custGeom>
          <a:gradFill rotWithShape="0">
            <a:gsLst>
              <a:gs pos="0">
                <a:srgbClr val="D60093">
                  <a:gamma/>
                  <a:tint val="47451"/>
                  <a:invGamma/>
                </a:srgbClr>
              </a:gs>
              <a:gs pos="100000">
                <a:srgbClr val="D60093"/>
              </a:gs>
            </a:gsLst>
            <a:lin ang="0" scaled="1"/>
          </a:gradFill>
          <a:ln w="6350" cap="flat" cmpd="sng">
            <a:solidFill>
              <a:srgbClr val="800080"/>
            </a:solidFill>
            <a:prstDash val="solid"/>
            <a:miter lim="800000"/>
            <a:headEnd type="none" w="med" len="med"/>
            <a:tailEnd type="none" w="med" len="med"/>
          </a:ln>
          <a:effectLst>
            <a:outerShdw dist="40161" dir="4293903" algn="ctr" rotWithShape="0">
              <a:srgbClr val="C0C0C0"/>
            </a:outerShdw>
          </a:effectLst>
        </p:spPr>
        <p:txBody>
          <a:bodyPr wrap="none" tIns="27432" bIns="27432" anchor="ctr"/>
          <a:lstStyle/>
          <a:p>
            <a:endParaRPr lang="fr-FR"/>
          </a:p>
        </p:txBody>
      </p:sp>
      <p:sp>
        <p:nvSpPr>
          <p:cNvPr id="37932" name="Text Box 44"/>
          <p:cNvSpPr txBox="1">
            <a:spLocks noChangeArrowheads="1"/>
          </p:cNvSpPr>
          <p:nvPr/>
        </p:nvSpPr>
        <p:spPr bwMode="auto">
          <a:xfrm>
            <a:off x="1101142" y="5638800"/>
            <a:ext cx="1258267" cy="430887"/>
          </a:xfrm>
          <a:prstGeom prst="rect">
            <a:avLst/>
          </a:prstGeom>
          <a:noFill/>
          <a:ln w="9525">
            <a:noFill/>
            <a:miter lim="800000"/>
            <a:headEnd/>
            <a:tailEnd/>
          </a:ln>
          <a:effectLst/>
        </p:spPr>
        <p:txBody>
          <a:bodyPr wrap="square" anchor="ctr">
            <a:spAutoFit/>
          </a:bodyPr>
          <a:lstStyle/>
          <a:p>
            <a:pPr algn="ctr"/>
            <a:r>
              <a:rPr lang="en-US" sz="2200" b="1">
                <a:latin typeface="Arial" charset="0"/>
              </a:rPr>
              <a:t>Client</a:t>
            </a:r>
          </a:p>
        </p:txBody>
      </p:sp>
      <p:grpSp>
        <p:nvGrpSpPr>
          <p:cNvPr id="37933" name="Group 45"/>
          <p:cNvGrpSpPr>
            <a:grpSpLocks/>
          </p:cNvGrpSpPr>
          <p:nvPr/>
        </p:nvGrpSpPr>
        <p:grpSpPr bwMode="auto">
          <a:xfrm>
            <a:off x="6113463" y="4991100"/>
            <a:ext cx="942975" cy="533400"/>
            <a:chOff x="2899" y="2529"/>
            <a:chExt cx="547" cy="309"/>
          </a:xfrm>
        </p:grpSpPr>
        <p:sp>
          <p:nvSpPr>
            <p:cNvPr id="37934" name="Freeform 46"/>
            <p:cNvSpPr>
              <a:spLocks/>
            </p:cNvSpPr>
            <p:nvPr/>
          </p:nvSpPr>
          <p:spPr bwMode="auto">
            <a:xfrm>
              <a:off x="3216" y="2606"/>
              <a:ext cx="230" cy="232"/>
            </a:xfrm>
            <a:custGeom>
              <a:avLst/>
              <a:gdLst/>
              <a:ahLst/>
              <a:cxnLst>
                <a:cxn ang="0">
                  <a:pos x="0" y="146"/>
                </a:cxn>
                <a:cxn ang="0">
                  <a:pos x="230" y="0"/>
                </a:cxn>
                <a:cxn ang="0">
                  <a:pos x="230" y="85"/>
                </a:cxn>
                <a:cxn ang="0">
                  <a:pos x="0" y="232"/>
                </a:cxn>
                <a:cxn ang="0">
                  <a:pos x="0" y="146"/>
                </a:cxn>
              </a:cxnLst>
              <a:rect l="0" t="0" r="r" b="b"/>
              <a:pathLst>
                <a:path w="230" h="232">
                  <a:moveTo>
                    <a:pt x="0" y="146"/>
                  </a:moveTo>
                  <a:lnTo>
                    <a:pt x="230" y="0"/>
                  </a:lnTo>
                  <a:lnTo>
                    <a:pt x="230" y="85"/>
                  </a:lnTo>
                  <a:lnTo>
                    <a:pt x="0" y="232"/>
                  </a:lnTo>
                  <a:lnTo>
                    <a:pt x="0" y="146"/>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37935" name="Freeform 47"/>
            <p:cNvSpPr>
              <a:spLocks/>
            </p:cNvSpPr>
            <p:nvPr/>
          </p:nvSpPr>
          <p:spPr bwMode="auto">
            <a:xfrm>
              <a:off x="2899" y="2672"/>
              <a:ext cx="318" cy="166"/>
            </a:xfrm>
            <a:custGeom>
              <a:avLst/>
              <a:gdLst/>
              <a:ahLst/>
              <a:cxnLst>
                <a:cxn ang="0">
                  <a:pos x="318" y="80"/>
                </a:cxn>
                <a:cxn ang="0">
                  <a:pos x="318" y="166"/>
                </a:cxn>
                <a:cxn ang="0">
                  <a:pos x="0" y="85"/>
                </a:cxn>
                <a:cxn ang="0">
                  <a:pos x="0" y="0"/>
                </a:cxn>
              </a:cxnLst>
              <a:rect l="0" t="0" r="r" b="b"/>
              <a:pathLst>
                <a:path w="318" h="166">
                  <a:moveTo>
                    <a:pt x="318" y="80"/>
                  </a:moveTo>
                  <a:lnTo>
                    <a:pt x="318" y="166"/>
                  </a:lnTo>
                  <a:lnTo>
                    <a:pt x="0" y="85"/>
                  </a:lnTo>
                  <a:lnTo>
                    <a:pt x="0" y="0"/>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37936" name="Oval 48"/>
            <p:cNvSpPr>
              <a:spLocks noChangeArrowheads="1"/>
            </p:cNvSpPr>
            <p:nvPr/>
          </p:nvSpPr>
          <p:spPr bwMode="auto">
            <a:xfrm>
              <a:off x="2993" y="2724"/>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37937" name="Oval 49"/>
            <p:cNvSpPr>
              <a:spLocks noChangeArrowheads="1"/>
            </p:cNvSpPr>
            <p:nvPr/>
          </p:nvSpPr>
          <p:spPr bwMode="auto">
            <a:xfrm>
              <a:off x="3044" y="2739"/>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37938" name="Oval 50"/>
            <p:cNvSpPr>
              <a:spLocks noChangeArrowheads="1"/>
            </p:cNvSpPr>
            <p:nvPr/>
          </p:nvSpPr>
          <p:spPr bwMode="auto">
            <a:xfrm>
              <a:off x="3099" y="2751"/>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37939" name="Oval 51"/>
            <p:cNvSpPr>
              <a:spLocks noChangeArrowheads="1"/>
            </p:cNvSpPr>
            <p:nvPr/>
          </p:nvSpPr>
          <p:spPr bwMode="auto">
            <a:xfrm>
              <a:off x="3149" y="2768"/>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37940" name="Freeform 52"/>
            <p:cNvSpPr>
              <a:spLocks/>
            </p:cNvSpPr>
            <p:nvPr/>
          </p:nvSpPr>
          <p:spPr bwMode="auto">
            <a:xfrm>
              <a:off x="2899" y="2529"/>
              <a:ext cx="547" cy="224"/>
            </a:xfrm>
            <a:custGeom>
              <a:avLst/>
              <a:gdLst/>
              <a:ahLst/>
              <a:cxnLst>
                <a:cxn ang="0">
                  <a:pos x="0" y="141"/>
                </a:cxn>
                <a:cxn ang="0">
                  <a:pos x="230" y="0"/>
                </a:cxn>
                <a:cxn ang="0">
                  <a:pos x="547" y="78"/>
                </a:cxn>
                <a:cxn ang="0">
                  <a:pos x="318" y="224"/>
                </a:cxn>
                <a:cxn ang="0">
                  <a:pos x="2" y="146"/>
                </a:cxn>
              </a:cxnLst>
              <a:rect l="0" t="0" r="r" b="b"/>
              <a:pathLst>
                <a:path w="547" h="224">
                  <a:moveTo>
                    <a:pt x="0" y="141"/>
                  </a:moveTo>
                  <a:lnTo>
                    <a:pt x="230" y="0"/>
                  </a:lnTo>
                  <a:lnTo>
                    <a:pt x="547" y="78"/>
                  </a:lnTo>
                  <a:lnTo>
                    <a:pt x="318" y="224"/>
                  </a:lnTo>
                  <a:lnTo>
                    <a:pt x="2" y="146"/>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grpSp>
      <p:grpSp>
        <p:nvGrpSpPr>
          <p:cNvPr id="37941" name="Group 53"/>
          <p:cNvGrpSpPr>
            <a:grpSpLocks/>
          </p:cNvGrpSpPr>
          <p:nvPr/>
        </p:nvGrpSpPr>
        <p:grpSpPr bwMode="auto">
          <a:xfrm>
            <a:off x="6786563" y="4040188"/>
            <a:ext cx="993775" cy="1606550"/>
            <a:chOff x="934" y="830"/>
            <a:chExt cx="626" cy="1012"/>
          </a:xfrm>
        </p:grpSpPr>
        <p:sp>
          <p:nvSpPr>
            <p:cNvPr id="37942" name="Freeform 54"/>
            <p:cNvSpPr>
              <a:spLocks/>
            </p:cNvSpPr>
            <p:nvPr/>
          </p:nvSpPr>
          <p:spPr bwMode="auto">
            <a:xfrm>
              <a:off x="946" y="1583"/>
              <a:ext cx="604" cy="259"/>
            </a:xfrm>
            <a:custGeom>
              <a:avLst/>
              <a:gdLst/>
              <a:ahLst/>
              <a:cxnLst>
                <a:cxn ang="0">
                  <a:pos x="0" y="292"/>
                </a:cxn>
                <a:cxn ang="0">
                  <a:pos x="0" y="370"/>
                </a:cxn>
                <a:cxn ang="0">
                  <a:pos x="567" y="535"/>
                </a:cxn>
                <a:cxn ang="0">
                  <a:pos x="1251" y="92"/>
                </a:cxn>
                <a:cxn ang="0">
                  <a:pos x="1251" y="0"/>
                </a:cxn>
              </a:cxnLst>
              <a:rect l="0" t="0" r="r" b="b"/>
              <a:pathLst>
                <a:path w="1252" h="536">
                  <a:moveTo>
                    <a:pt x="0" y="292"/>
                  </a:moveTo>
                  <a:lnTo>
                    <a:pt x="0" y="370"/>
                  </a:lnTo>
                  <a:lnTo>
                    <a:pt x="567" y="535"/>
                  </a:lnTo>
                  <a:lnTo>
                    <a:pt x="1251" y="92"/>
                  </a:lnTo>
                  <a:lnTo>
                    <a:pt x="1251" y="0"/>
                  </a:lnTo>
                </a:path>
              </a:pathLst>
            </a:custGeom>
            <a:solidFill>
              <a:srgbClr val="969696"/>
            </a:solidFill>
            <a:ln w="3175" cap="rnd" cmpd="sng">
              <a:solidFill>
                <a:schemeClr val="tx1"/>
              </a:solidFill>
              <a:prstDash val="solid"/>
              <a:round/>
              <a:headEnd type="none" w="med" len="med"/>
              <a:tailEnd type="none" w="med" len="med"/>
            </a:ln>
            <a:effectLst/>
          </p:spPr>
          <p:txBody>
            <a:bodyPr/>
            <a:lstStyle/>
            <a:p>
              <a:endParaRPr lang="fr-FR"/>
            </a:p>
          </p:txBody>
        </p:sp>
        <p:grpSp>
          <p:nvGrpSpPr>
            <p:cNvPr id="37943" name="Group 55"/>
            <p:cNvGrpSpPr>
              <a:grpSpLocks/>
            </p:cNvGrpSpPr>
            <p:nvPr/>
          </p:nvGrpSpPr>
          <p:grpSpPr bwMode="auto">
            <a:xfrm>
              <a:off x="934" y="830"/>
              <a:ext cx="626" cy="987"/>
              <a:chOff x="934" y="830"/>
              <a:chExt cx="626" cy="987"/>
            </a:xfrm>
          </p:grpSpPr>
          <p:sp>
            <p:nvSpPr>
              <p:cNvPr id="37944" name="Freeform 56"/>
              <p:cNvSpPr>
                <a:spLocks/>
              </p:cNvSpPr>
              <p:nvPr/>
            </p:nvSpPr>
            <p:spPr bwMode="auto">
              <a:xfrm>
                <a:off x="936" y="830"/>
                <a:ext cx="623" cy="217"/>
              </a:xfrm>
              <a:custGeom>
                <a:avLst/>
                <a:gdLst/>
                <a:ahLst/>
                <a:cxnLst>
                  <a:cxn ang="0">
                    <a:pos x="0" y="307"/>
                  </a:cxn>
                  <a:cxn ang="0">
                    <a:pos x="577" y="448"/>
                  </a:cxn>
                  <a:cxn ang="0">
                    <a:pos x="1290" y="127"/>
                  </a:cxn>
                  <a:cxn ang="0">
                    <a:pos x="727" y="0"/>
                  </a:cxn>
                  <a:cxn ang="0">
                    <a:pos x="0" y="307"/>
                  </a:cxn>
                </a:cxnLst>
                <a:rect l="0" t="0" r="r" b="b"/>
                <a:pathLst>
                  <a:path w="1291" h="449">
                    <a:moveTo>
                      <a:pt x="0" y="307"/>
                    </a:moveTo>
                    <a:lnTo>
                      <a:pt x="577" y="448"/>
                    </a:lnTo>
                    <a:lnTo>
                      <a:pt x="1290" y="127"/>
                    </a:lnTo>
                    <a:lnTo>
                      <a:pt x="727" y="0"/>
                    </a:lnTo>
                    <a:lnTo>
                      <a:pt x="0" y="307"/>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sp>
            <p:nvSpPr>
              <p:cNvPr id="37945" name="Freeform 57"/>
              <p:cNvSpPr>
                <a:spLocks/>
              </p:cNvSpPr>
              <p:nvPr/>
            </p:nvSpPr>
            <p:spPr bwMode="auto">
              <a:xfrm>
                <a:off x="1208" y="890"/>
                <a:ext cx="352" cy="927"/>
              </a:xfrm>
              <a:custGeom>
                <a:avLst/>
                <a:gdLst/>
                <a:ahLst/>
                <a:cxnLst>
                  <a:cxn ang="0">
                    <a:pos x="0" y="328"/>
                  </a:cxn>
                  <a:cxn ang="0">
                    <a:pos x="4" y="1915"/>
                  </a:cxn>
                  <a:cxn ang="0">
                    <a:pos x="728" y="1456"/>
                  </a:cxn>
                  <a:cxn ang="0">
                    <a:pos x="728" y="0"/>
                  </a:cxn>
                  <a:cxn ang="0">
                    <a:pos x="0" y="328"/>
                  </a:cxn>
                </a:cxnLst>
                <a:rect l="0" t="0" r="r" b="b"/>
                <a:pathLst>
                  <a:path w="729" h="1916">
                    <a:moveTo>
                      <a:pt x="0" y="328"/>
                    </a:moveTo>
                    <a:lnTo>
                      <a:pt x="4" y="1915"/>
                    </a:lnTo>
                    <a:lnTo>
                      <a:pt x="728" y="1456"/>
                    </a:lnTo>
                    <a:lnTo>
                      <a:pt x="728" y="0"/>
                    </a:lnTo>
                    <a:lnTo>
                      <a:pt x="0" y="32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37946" name="Freeform 58"/>
              <p:cNvSpPr>
                <a:spLocks/>
              </p:cNvSpPr>
              <p:nvPr/>
            </p:nvSpPr>
            <p:spPr bwMode="auto">
              <a:xfrm>
                <a:off x="934" y="978"/>
                <a:ext cx="278" cy="834"/>
              </a:xfrm>
              <a:custGeom>
                <a:avLst/>
                <a:gdLst/>
                <a:ahLst/>
                <a:cxnLst>
                  <a:cxn ang="0">
                    <a:pos x="576" y="140"/>
                  </a:cxn>
                  <a:cxn ang="0">
                    <a:pos x="576" y="1727"/>
                  </a:cxn>
                  <a:cxn ang="0">
                    <a:pos x="0" y="1568"/>
                  </a:cxn>
                  <a:cxn ang="0">
                    <a:pos x="0" y="0"/>
                  </a:cxn>
                  <a:cxn ang="0">
                    <a:pos x="576" y="140"/>
                  </a:cxn>
                </a:cxnLst>
                <a:rect l="0" t="0" r="r" b="b"/>
                <a:pathLst>
                  <a:path w="577" h="1728">
                    <a:moveTo>
                      <a:pt x="576" y="140"/>
                    </a:moveTo>
                    <a:lnTo>
                      <a:pt x="576" y="1727"/>
                    </a:lnTo>
                    <a:lnTo>
                      <a:pt x="0" y="1568"/>
                    </a:lnTo>
                    <a:lnTo>
                      <a:pt x="0" y="0"/>
                    </a:lnTo>
                    <a:lnTo>
                      <a:pt x="576" y="140"/>
                    </a:lnTo>
                  </a:path>
                </a:pathLst>
              </a:custGeom>
              <a:gradFill rotWithShape="0">
                <a:gsLst>
                  <a:gs pos="0">
                    <a:srgbClr val="B2B2B2">
                      <a:gamma/>
                      <a:tint val="23529"/>
                      <a:invGamma/>
                    </a:srgbClr>
                  </a:gs>
                  <a:gs pos="100000">
                    <a:srgbClr val="B2B2B2"/>
                  </a:gs>
                </a:gsLst>
                <a:lin ang="5400000" scaled="1"/>
              </a:gradFill>
              <a:ln w="3175" cap="rnd" cmpd="sng">
                <a:solidFill>
                  <a:schemeClr val="tx1"/>
                </a:solidFill>
                <a:prstDash val="solid"/>
                <a:round/>
                <a:headEnd type="none" w="med" len="med"/>
                <a:tailEnd type="none" w="med" len="med"/>
              </a:ln>
              <a:effectLst/>
            </p:spPr>
            <p:txBody>
              <a:bodyPr/>
              <a:lstStyle/>
              <a:p>
                <a:endParaRPr lang="fr-FR"/>
              </a:p>
            </p:txBody>
          </p:sp>
          <p:sp>
            <p:nvSpPr>
              <p:cNvPr id="37947" name="Line 59"/>
              <p:cNvSpPr>
                <a:spLocks noChangeShapeType="1"/>
              </p:cNvSpPr>
              <p:nvPr/>
            </p:nvSpPr>
            <p:spPr bwMode="auto">
              <a:xfrm>
                <a:off x="973" y="1680"/>
                <a:ext cx="192" cy="51"/>
              </a:xfrm>
              <a:prstGeom prst="line">
                <a:avLst/>
              </a:prstGeom>
              <a:noFill/>
              <a:ln w="6350">
                <a:solidFill>
                  <a:srgbClr val="676767"/>
                </a:solidFill>
                <a:round/>
                <a:headEnd/>
                <a:tailEnd/>
              </a:ln>
              <a:effectLst/>
            </p:spPr>
            <p:txBody>
              <a:bodyPr wrap="none" anchor="ctr"/>
              <a:lstStyle/>
              <a:p>
                <a:endParaRPr lang="fr-FR"/>
              </a:p>
            </p:txBody>
          </p:sp>
          <p:sp>
            <p:nvSpPr>
              <p:cNvPr id="37948" name="Oval 60"/>
              <p:cNvSpPr>
                <a:spLocks noChangeArrowheads="1"/>
              </p:cNvSpPr>
              <p:nvPr/>
            </p:nvSpPr>
            <p:spPr bwMode="auto">
              <a:xfrm>
                <a:off x="966" y="1019"/>
                <a:ext cx="31" cy="17"/>
              </a:xfrm>
              <a:prstGeom prst="ellipse">
                <a:avLst/>
              </a:prstGeom>
              <a:solidFill>
                <a:srgbClr val="D60093"/>
              </a:solidFill>
              <a:ln w="12700">
                <a:noFill/>
                <a:round/>
                <a:headEnd/>
                <a:tailEnd/>
              </a:ln>
              <a:effectLst/>
            </p:spPr>
            <p:txBody>
              <a:bodyPr wrap="none" anchor="ctr"/>
              <a:lstStyle/>
              <a:p>
                <a:endParaRPr lang="fr-FR"/>
              </a:p>
            </p:txBody>
          </p:sp>
          <p:sp>
            <p:nvSpPr>
              <p:cNvPr id="37949" name="Line 61"/>
              <p:cNvSpPr>
                <a:spLocks noChangeShapeType="1"/>
              </p:cNvSpPr>
              <p:nvPr/>
            </p:nvSpPr>
            <p:spPr bwMode="auto">
              <a:xfrm>
                <a:off x="973" y="1642"/>
                <a:ext cx="192" cy="51"/>
              </a:xfrm>
              <a:prstGeom prst="line">
                <a:avLst/>
              </a:prstGeom>
              <a:noFill/>
              <a:ln w="6350">
                <a:solidFill>
                  <a:srgbClr val="676767"/>
                </a:solidFill>
                <a:round/>
                <a:headEnd/>
                <a:tailEnd/>
              </a:ln>
              <a:effectLst/>
            </p:spPr>
            <p:txBody>
              <a:bodyPr wrap="none" anchor="ctr"/>
              <a:lstStyle/>
              <a:p>
                <a:endParaRPr lang="fr-FR"/>
              </a:p>
            </p:txBody>
          </p:sp>
          <p:sp>
            <p:nvSpPr>
              <p:cNvPr id="37950" name="Line 62"/>
              <p:cNvSpPr>
                <a:spLocks noChangeShapeType="1"/>
              </p:cNvSpPr>
              <p:nvPr/>
            </p:nvSpPr>
            <p:spPr bwMode="auto">
              <a:xfrm>
                <a:off x="973" y="1604"/>
                <a:ext cx="192" cy="52"/>
              </a:xfrm>
              <a:prstGeom prst="line">
                <a:avLst/>
              </a:prstGeom>
              <a:noFill/>
              <a:ln w="6350">
                <a:solidFill>
                  <a:srgbClr val="676767"/>
                </a:solidFill>
                <a:round/>
                <a:headEnd/>
                <a:tailEnd/>
              </a:ln>
              <a:effectLst/>
            </p:spPr>
            <p:txBody>
              <a:bodyPr wrap="none" anchor="ctr"/>
              <a:lstStyle/>
              <a:p>
                <a:endParaRPr lang="fr-FR"/>
              </a:p>
            </p:txBody>
          </p:sp>
          <p:sp>
            <p:nvSpPr>
              <p:cNvPr id="37951" name="Line 63"/>
              <p:cNvSpPr>
                <a:spLocks noChangeShapeType="1"/>
              </p:cNvSpPr>
              <p:nvPr/>
            </p:nvSpPr>
            <p:spPr bwMode="auto">
              <a:xfrm>
                <a:off x="973" y="1567"/>
                <a:ext cx="192" cy="51"/>
              </a:xfrm>
              <a:prstGeom prst="line">
                <a:avLst/>
              </a:prstGeom>
              <a:noFill/>
              <a:ln w="6350">
                <a:solidFill>
                  <a:srgbClr val="676767"/>
                </a:solidFill>
                <a:round/>
                <a:headEnd/>
                <a:tailEnd/>
              </a:ln>
              <a:effectLst/>
            </p:spPr>
            <p:txBody>
              <a:bodyPr wrap="none" anchor="ctr"/>
              <a:lstStyle/>
              <a:p>
                <a:endParaRPr lang="fr-FR"/>
              </a:p>
            </p:txBody>
          </p:sp>
          <p:sp>
            <p:nvSpPr>
              <p:cNvPr id="37952" name="Line 64"/>
              <p:cNvSpPr>
                <a:spLocks noChangeShapeType="1"/>
              </p:cNvSpPr>
              <p:nvPr/>
            </p:nvSpPr>
            <p:spPr bwMode="auto">
              <a:xfrm>
                <a:off x="973" y="1528"/>
                <a:ext cx="192" cy="51"/>
              </a:xfrm>
              <a:prstGeom prst="line">
                <a:avLst/>
              </a:prstGeom>
              <a:noFill/>
              <a:ln w="6350">
                <a:solidFill>
                  <a:srgbClr val="676767"/>
                </a:solidFill>
                <a:round/>
                <a:headEnd/>
                <a:tailEnd/>
              </a:ln>
              <a:effectLst/>
            </p:spPr>
            <p:txBody>
              <a:bodyPr wrap="none" anchor="ctr"/>
              <a:lstStyle/>
              <a:p>
                <a:endParaRPr lang="fr-FR"/>
              </a:p>
            </p:txBody>
          </p:sp>
          <p:sp>
            <p:nvSpPr>
              <p:cNvPr id="37953" name="Freeform 65"/>
              <p:cNvSpPr>
                <a:spLocks/>
              </p:cNvSpPr>
              <p:nvPr/>
            </p:nvSpPr>
            <p:spPr bwMode="auto">
              <a:xfrm>
                <a:off x="976" y="1164"/>
                <a:ext cx="190" cy="355"/>
              </a:xfrm>
              <a:custGeom>
                <a:avLst/>
                <a:gdLst/>
                <a:ahLst/>
                <a:cxnLst>
                  <a:cxn ang="0">
                    <a:pos x="0" y="628"/>
                  </a:cxn>
                  <a:cxn ang="0">
                    <a:pos x="396" y="732"/>
                  </a:cxn>
                  <a:cxn ang="0">
                    <a:pos x="396" y="0"/>
                  </a:cxn>
                </a:cxnLst>
                <a:rect l="0" t="0" r="r" b="b"/>
                <a:pathLst>
                  <a:path w="397" h="733">
                    <a:moveTo>
                      <a:pt x="0" y="628"/>
                    </a:moveTo>
                    <a:lnTo>
                      <a:pt x="396" y="732"/>
                    </a:lnTo>
                    <a:lnTo>
                      <a:pt x="396" y="0"/>
                    </a:lnTo>
                  </a:path>
                </a:pathLst>
              </a:custGeom>
              <a:noFill/>
              <a:ln w="3175" cap="rnd" cmpd="sng">
                <a:solidFill>
                  <a:srgbClr val="676767"/>
                </a:solidFill>
                <a:prstDash val="solid"/>
                <a:round/>
                <a:headEnd type="none" w="med" len="med"/>
                <a:tailEnd type="none" w="med" len="med"/>
              </a:ln>
              <a:effectLst/>
            </p:spPr>
            <p:txBody>
              <a:bodyPr/>
              <a:lstStyle/>
              <a:p>
                <a:endParaRPr lang="fr-FR"/>
              </a:p>
            </p:txBody>
          </p:sp>
          <p:sp>
            <p:nvSpPr>
              <p:cNvPr id="37954" name="Freeform 66"/>
              <p:cNvSpPr>
                <a:spLocks/>
              </p:cNvSpPr>
              <p:nvPr/>
            </p:nvSpPr>
            <p:spPr bwMode="auto">
              <a:xfrm>
                <a:off x="956" y="1094"/>
                <a:ext cx="218" cy="618"/>
              </a:xfrm>
              <a:custGeom>
                <a:avLst/>
                <a:gdLst/>
                <a:ahLst/>
                <a:cxnLst>
                  <a:cxn ang="0">
                    <a:pos x="452" y="105"/>
                  </a:cxn>
                  <a:cxn ang="0">
                    <a:pos x="0" y="0"/>
                  </a:cxn>
                  <a:cxn ang="0">
                    <a:pos x="0" y="1277"/>
                  </a:cxn>
                </a:cxnLst>
                <a:rect l="0" t="0" r="r" b="b"/>
                <a:pathLst>
                  <a:path w="453" h="1278">
                    <a:moveTo>
                      <a:pt x="452" y="105"/>
                    </a:moveTo>
                    <a:lnTo>
                      <a:pt x="0" y="0"/>
                    </a:lnTo>
                    <a:lnTo>
                      <a:pt x="0" y="1277"/>
                    </a:lnTo>
                  </a:path>
                </a:pathLst>
              </a:custGeom>
              <a:noFill/>
              <a:ln w="6350" cap="rnd" cmpd="sng">
                <a:solidFill>
                  <a:schemeClr val="tx1"/>
                </a:solidFill>
                <a:prstDash val="solid"/>
                <a:round/>
                <a:headEnd type="none" w="med" len="med"/>
                <a:tailEnd type="none" w="med" len="med"/>
              </a:ln>
              <a:effectLst/>
            </p:spPr>
            <p:txBody>
              <a:bodyPr/>
              <a:lstStyle/>
              <a:p>
                <a:endParaRPr lang="fr-FR"/>
              </a:p>
            </p:txBody>
          </p:sp>
          <p:sp>
            <p:nvSpPr>
              <p:cNvPr id="37955" name="Freeform 67"/>
              <p:cNvSpPr>
                <a:spLocks/>
              </p:cNvSpPr>
              <p:nvPr/>
            </p:nvSpPr>
            <p:spPr bwMode="auto">
              <a:xfrm>
                <a:off x="970" y="1117"/>
                <a:ext cx="194" cy="352"/>
              </a:xfrm>
              <a:custGeom>
                <a:avLst/>
                <a:gdLst/>
                <a:ahLst/>
                <a:cxnLst>
                  <a:cxn ang="0">
                    <a:pos x="401" y="96"/>
                  </a:cxn>
                  <a:cxn ang="0">
                    <a:pos x="0" y="0"/>
                  </a:cxn>
                  <a:cxn ang="0">
                    <a:pos x="0" y="725"/>
                  </a:cxn>
                </a:cxnLst>
                <a:rect l="0" t="0" r="r" b="b"/>
                <a:pathLst>
                  <a:path w="402" h="726">
                    <a:moveTo>
                      <a:pt x="401" y="96"/>
                    </a:moveTo>
                    <a:lnTo>
                      <a:pt x="0" y="0"/>
                    </a:lnTo>
                    <a:lnTo>
                      <a:pt x="0" y="725"/>
                    </a:lnTo>
                  </a:path>
                </a:pathLst>
              </a:custGeom>
              <a:noFill/>
              <a:ln w="3175" cap="rnd" cmpd="sng">
                <a:solidFill>
                  <a:schemeClr val="tx1"/>
                </a:solidFill>
                <a:prstDash val="solid"/>
                <a:round/>
                <a:headEnd type="none" w="med" len="med"/>
                <a:tailEnd type="none" w="med" len="med"/>
              </a:ln>
              <a:effectLst/>
            </p:spPr>
            <p:txBody>
              <a:bodyPr/>
              <a:lstStyle/>
              <a:p>
                <a:endParaRPr lang="fr-FR"/>
              </a:p>
            </p:txBody>
          </p:sp>
          <p:sp>
            <p:nvSpPr>
              <p:cNvPr id="37956" name="Line 68"/>
              <p:cNvSpPr>
                <a:spLocks noChangeShapeType="1"/>
              </p:cNvSpPr>
              <p:nvPr/>
            </p:nvSpPr>
            <p:spPr bwMode="auto">
              <a:xfrm>
                <a:off x="971" y="1198"/>
                <a:ext cx="187" cy="43"/>
              </a:xfrm>
              <a:prstGeom prst="line">
                <a:avLst/>
              </a:prstGeom>
              <a:noFill/>
              <a:ln w="3175">
                <a:solidFill>
                  <a:srgbClr val="676767"/>
                </a:solidFill>
                <a:round/>
                <a:headEnd/>
                <a:tailEnd/>
              </a:ln>
              <a:effectLst/>
            </p:spPr>
            <p:txBody>
              <a:bodyPr wrap="none" anchor="ctr"/>
              <a:lstStyle/>
              <a:p>
                <a:endParaRPr lang="fr-FR"/>
              </a:p>
            </p:txBody>
          </p:sp>
          <p:sp>
            <p:nvSpPr>
              <p:cNvPr id="37957" name="Line 69"/>
              <p:cNvSpPr>
                <a:spLocks noChangeShapeType="1"/>
              </p:cNvSpPr>
              <p:nvPr/>
            </p:nvSpPr>
            <p:spPr bwMode="auto">
              <a:xfrm>
                <a:off x="971" y="1273"/>
                <a:ext cx="189" cy="43"/>
              </a:xfrm>
              <a:prstGeom prst="line">
                <a:avLst/>
              </a:prstGeom>
              <a:noFill/>
              <a:ln w="3175">
                <a:solidFill>
                  <a:srgbClr val="676767"/>
                </a:solidFill>
                <a:round/>
                <a:headEnd/>
                <a:tailEnd/>
              </a:ln>
              <a:effectLst/>
            </p:spPr>
            <p:txBody>
              <a:bodyPr wrap="none" anchor="ctr"/>
              <a:lstStyle/>
              <a:p>
                <a:endParaRPr lang="fr-FR"/>
              </a:p>
            </p:txBody>
          </p:sp>
          <p:sp>
            <p:nvSpPr>
              <p:cNvPr id="37958" name="Line 70"/>
              <p:cNvSpPr>
                <a:spLocks noChangeShapeType="1"/>
              </p:cNvSpPr>
              <p:nvPr/>
            </p:nvSpPr>
            <p:spPr bwMode="auto">
              <a:xfrm>
                <a:off x="971" y="1366"/>
                <a:ext cx="180" cy="43"/>
              </a:xfrm>
              <a:prstGeom prst="line">
                <a:avLst/>
              </a:prstGeom>
              <a:noFill/>
              <a:ln w="3175">
                <a:solidFill>
                  <a:srgbClr val="676767"/>
                </a:solidFill>
                <a:round/>
                <a:headEnd/>
                <a:tailEnd/>
              </a:ln>
              <a:effectLst/>
            </p:spPr>
            <p:txBody>
              <a:bodyPr wrap="none" anchor="ctr"/>
              <a:lstStyle/>
              <a:p>
                <a:endParaRPr lang="fr-FR"/>
              </a:p>
            </p:txBody>
          </p:sp>
          <p:sp>
            <p:nvSpPr>
              <p:cNvPr id="37959" name="Freeform 71"/>
              <p:cNvSpPr>
                <a:spLocks/>
              </p:cNvSpPr>
              <p:nvPr/>
            </p:nvSpPr>
            <p:spPr bwMode="auto">
              <a:xfrm>
                <a:off x="1027" y="1161"/>
                <a:ext cx="74" cy="40"/>
              </a:xfrm>
              <a:custGeom>
                <a:avLst/>
                <a:gdLst/>
                <a:ahLst/>
                <a:cxnLst>
                  <a:cxn ang="0">
                    <a:pos x="0" y="0"/>
                  </a:cxn>
                  <a:cxn ang="0">
                    <a:pos x="0" y="48"/>
                  </a:cxn>
                  <a:cxn ang="0">
                    <a:pos x="151" y="81"/>
                  </a:cxn>
                  <a:cxn ang="0">
                    <a:pos x="151" y="33"/>
                  </a:cxn>
                  <a:cxn ang="0">
                    <a:pos x="0" y="0"/>
                  </a:cxn>
                </a:cxnLst>
                <a:rect l="0" t="0" r="r" b="b"/>
                <a:pathLst>
                  <a:path w="152" h="82">
                    <a:moveTo>
                      <a:pt x="0" y="0"/>
                    </a:moveTo>
                    <a:lnTo>
                      <a:pt x="0" y="48"/>
                    </a:lnTo>
                    <a:lnTo>
                      <a:pt x="151" y="81"/>
                    </a:lnTo>
                    <a:lnTo>
                      <a:pt x="151" y="33"/>
                    </a:lnTo>
                    <a:lnTo>
                      <a:pt x="0" y="0"/>
                    </a:lnTo>
                  </a:path>
                </a:pathLst>
              </a:custGeom>
              <a:solidFill>
                <a:srgbClr val="A9A9A9"/>
              </a:solidFill>
              <a:ln w="12700" cap="rnd" cmpd="sng">
                <a:noFill/>
                <a:prstDash val="solid"/>
                <a:round/>
                <a:headEnd type="none" w="med" len="med"/>
                <a:tailEnd type="none" w="med" len="med"/>
              </a:ln>
              <a:effectLst/>
            </p:spPr>
            <p:txBody>
              <a:bodyPr/>
              <a:lstStyle/>
              <a:p>
                <a:endParaRPr lang="fr-FR"/>
              </a:p>
            </p:txBody>
          </p:sp>
          <p:sp>
            <p:nvSpPr>
              <p:cNvPr id="37960" name="Line 72"/>
              <p:cNvSpPr>
                <a:spLocks noChangeShapeType="1"/>
              </p:cNvSpPr>
              <p:nvPr/>
            </p:nvSpPr>
            <p:spPr bwMode="auto">
              <a:xfrm>
                <a:off x="998" y="1167"/>
                <a:ext cx="138" cy="30"/>
              </a:xfrm>
              <a:prstGeom prst="line">
                <a:avLst/>
              </a:prstGeom>
              <a:noFill/>
              <a:ln w="6350">
                <a:solidFill>
                  <a:srgbClr val="919191"/>
                </a:solidFill>
                <a:round/>
                <a:headEnd/>
                <a:tailEnd/>
              </a:ln>
              <a:effectLst/>
            </p:spPr>
            <p:txBody>
              <a:bodyPr wrap="none" anchor="ctr"/>
              <a:lstStyle/>
              <a:p>
                <a:endParaRPr lang="fr-FR"/>
              </a:p>
            </p:txBody>
          </p:sp>
          <p:sp>
            <p:nvSpPr>
              <p:cNvPr id="37961" name="Freeform 73"/>
              <p:cNvSpPr>
                <a:spLocks/>
              </p:cNvSpPr>
              <p:nvPr/>
            </p:nvSpPr>
            <p:spPr bwMode="auto">
              <a:xfrm>
                <a:off x="984" y="1304"/>
                <a:ext cx="167" cy="75"/>
              </a:xfrm>
              <a:custGeom>
                <a:avLst/>
                <a:gdLst/>
                <a:ahLst/>
                <a:cxnLst>
                  <a:cxn ang="0">
                    <a:pos x="0" y="85"/>
                  </a:cxn>
                  <a:cxn ang="0">
                    <a:pos x="0" y="0"/>
                  </a:cxn>
                  <a:cxn ang="0">
                    <a:pos x="350" y="93"/>
                  </a:cxn>
                  <a:cxn ang="0">
                    <a:pos x="350" y="182"/>
                  </a:cxn>
                  <a:cxn ang="0">
                    <a:pos x="0" y="85"/>
                  </a:cxn>
                </a:cxnLst>
                <a:rect l="0" t="0" r="r" b="b"/>
                <a:pathLst>
                  <a:path w="351" h="183">
                    <a:moveTo>
                      <a:pt x="0" y="85"/>
                    </a:moveTo>
                    <a:lnTo>
                      <a:pt x="0" y="0"/>
                    </a:lnTo>
                    <a:lnTo>
                      <a:pt x="350" y="93"/>
                    </a:lnTo>
                    <a:lnTo>
                      <a:pt x="350" y="182"/>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37962" name="Freeform 74"/>
              <p:cNvSpPr>
                <a:spLocks/>
              </p:cNvSpPr>
              <p:nvPr/>
            </p:nvSpPr>
            <p:spPr bwMode="auto">
              <a:xfrm>
                <a:off x="984" y="1397"/>
                <a:ext cx="167" cy="83"/>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37963" name="Freeform 75"/>
              <p:cNvSpPr>
                <a:spLocks/>
              </p:cNvSpPr>
              <p:nvPr/>
            </p:nvSpPr>
            <p:spPr bwMode="auto">
              <a:xfrm>
                <a:off x="981" y="1220"/>
                <a:ext cx="170" cy="77"/>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37964" name="Line 76"/>
              <p:cNvSpPr>
                <a:spLocks noChangeShapeType="1"/>
              </p:cNvSpPr>
              <p:nvPr/>
            </p:nvSpPr>
            <p:spPr bwMode="auto">
              <a:xfrm flipH="1" flipV="1">
                <a:off x="1103" y="1267"/>
                <a:ext cx="33" cy="8"/>
              </a:xfrm>
              <a:prstGeom prst="line">
                <a:avLst/>
              </a:prstGeom>
              <a:noFill/>
              <a:ln w="9525">
                <a:solidFill>
                  <a:srgbClr val="D60093"/>
                </a:solidFill>
                <a:round/>
                <a:headEnd/>
                <a:tailEnd/>
              </a:ln>
              <a:effectLst/>
            </p:spPr>
            <p:txBody>
              <a:bodyPr wrap="none" tIns="27432" bIns="27432" anchor="ctr">
                <a:spAutoFit/>
              </a:bodyPr>
              <a:lstStyle/>
              <a:p>
                <a:endParaRPr lang="fr-FR"/>
              </a:p>
            </p:txBody>
          </p:sp>
          <p:sp>
            <p:nvSpPr>
              <p:cNvPr id="37965" name="Line 77"/>
              <p:cNvSpPr>
                <a:spLocks noChangeShapeType="1"/>
              </p:cNvSpPr>
              <p:nvPr/>
            </p:nvSpPr>
            <p:spPr bwMode="auto">
              <a:xfrm flipH="1" flipV="1">
                <a:off x="1103" y="1349"/>
                <a:ext cx="33" cy="7"/>
              </a:xfrm>
              <a:prstGeom prst="line">
                <a:avLst/>
              </a:prstGeom>
              <a:noFill/>
              <a:ln w="9525">
                <a:solidFill>
                  <a:srgbClr val="D60093"/>
                </a:solidFill>
                <a:round/>
                <a:headEnd/>
                <a:tailEnd/>
              </a:ln>
              <a:effectLst/>
            </p:spPr>
            <p:txBody>
              <a:bodyPr wrap="none" tIns="27432" bIns="27432" anchor="ctr">
                <a:spAutoFit/>
              </a:bodyPr>
              <a:lstStyle/>
              <a:p>
                <a:endParaRPr lang="fr-FR"/>
              </a:p>
            </p:txBody>
          </p:sp>
          <p:sp>
            <p:nvSpPr>
              <p:cNvPr id="37966" name="Line 78"/>
              <p:cNvSpPr>
                <a:spLocks noChangeShapeType="1"/>
              </p:cNvSpPr>
              <p:nvPr/>
            </p:nvSpPr>
            <p:spPr bwMode="auto">
              <a:xfrm flipH="1" flipV="1">
                <a:off x="1103" y="1448"/>
                <a:ext cx="33" cy="8"/>
              </a:xfrm>
              <a:prstGeom prst="line">
                <a:avLst/>
              </a:prstGeom>
              <a:noFill/>
              <a:ln w="9525">
                <a:solidFill>
                  <a:srgbClr val="D60093"/>
                </a:solidFill>
                <a:round/>
                <a:headEnd/>
                <a:tailEnd/>
              </a:ln>
              <a:effectLst/>
            </p:spPr>
            <p:txBody>
              <a:bodyPr wrap="none" tIns="27432" bIns="27432" anchor="ctr">
                <a:spAutoFit/>
              </a:bodyPr>
              <a:lstStyle/>
              <a:p>
                <a:endParaRPr lang="fr-FR"/>
              </a:p>
            </p:txBody>
          </p:sp>
        </p:grpSp>
      </p:grpSp>
      <p:sp>
        <p:nvSpPr>
          <p:cNvPr id="37968" name="Rectangle 80"/>
          <p:cNvSpPr>
            <a:spLocks noChangeArrowheads="1"/>
          </p:cNvSpPr>
          <p:nvPr/>
        </p:nvSpPr>
        <p:spPr bwMode="auto">
          <a:xfrm>
            <a:off x="228600" y="1122363"/>
            <a:ext cx="8671559" cy="2346325"/>
          </a:xfrm>
          <a:prstGeom prst="rect">
            <a:avLst/>
          </a:prstGeom>
          <a:gradFill rotWithShape="0">
            <a:gsLst>
              <a:gs pos="0">
                <a:srgbClr val="FCFEB9"/>
              </a:gs>
              <a:gs pos="100000">
                <a:srgbClr val="FFCC66"/>
              </a:gs>
            </a:gsLst>
            <a:lin ang="5400000" scaled="1"/>
          </a:gradFill>
          <a:ln w="9525">
            <a:noFill/>
            <a:miter lim="800000"/>
            <a:headEnd/>
            <a:tailEnd/>
          </a:ln>
          <a:effectLst/>
        </p:spPr>
        <p:txBody>
          <a:bodyPr wrap="none" anchor="ctr"/>
          <a:lstStyle/>
          <a:p>
            <a:pPr algn="ctr"/>
            <a:endParaRPr lang="fr-FR"/>
          </a:p>
        </p:txBody>
      </p:sp>
      <p:grpSp>
        <p:nvGrpSpPr>
          <p:cNvPr id="37969" name="Group 81"/>
          <p:cNvGrpSpPr>
            <a:grpSpLocks/>
          </p:cNvGrpSpPr>
          <p:nvPr/>
        </p:nvGrpSpPr>
        <p:grpSpPr bwMode="auto">
          <a:xfrm>
            <a:off x="542925" y="1520825"/>
            <a:ext cx="1162050" cy="1281113"/>
            <a:chOff x="2967" y="2733"/>
            <a:chExt cx="789" cy="870"/>
          </a:xfrm>
        </p:grpSpPr>
        <p:grpSp>
          <p:nvGrpSpPr>
            <p:cNvPr id="37970" name="Group 82"/>
            <p:cNvGrpSpPr>
              <a:grpSpLocks/>
            </p:cNvGrpSpPr>
            <p:nvPr/>
          </p:nvGrpSpPr>
          <p:grpSpPr bwMode="auto">
            <a:xfrm>
              <a:off x="2967" y="3191"/>
              <a:ext cx="763" cy="412"/>
              <a:chOff x="1929" y="1343"/>
              <a:chExt cx="763" cy="412"/>
            </a:xfrm>
          </p:grpSpPr>
          <p:sp>
            <p:nvSpPr>
              <p:cNvPr id="37971" name="Freeform 83"/>
              <p:cNvSpPr>
                <a:spLocks noChangeAspect="1"/>
              </p:cNvSpPr>
              <p:nvPr/>
            </p:nvSpPr>
            <p:spPr bwMode="auto">
              <a:xfrm>
                <a:off x="2428" y="1450"/>
                <a:ext cx="263" cy="305"/>
              </a:xfrm>
              <a:custGeom>
                <a:avLst/>
                <a:gdLst/>
                <a:ahLst/>
                <a:cxnLst>
                  <a:cxn ang="0">
                    <a:pos x="3" y="212"/>
                  </a:cxn>
                  <a:cxn ang="0">
                    <a:pos x="364" y="0"/>
                  </a:cxn>
                  <a:cxn ang="0">
                    <a:pos x="364" y="180"/>
                  </a:cxn>
                  <a:cxn ang="0">
                    <a:pos x="0" y="422"/>
                  </a:cxn>
                </a:cxnLst>
                <a:rect l="0" t="0" r="r" b="b"/>
                <a:pathLst>
                  <a:path w="364" h="422">
                    <a:moveTo>
                      <a:pt x="3" y="212"/>
                    </a:moveTo>
                    <a:lnTo>
                      <a:pt x="364" y="0"/>
                    </a:lnTo>
                    <a:lnTo>
                      <a:pt x="364" y="180"/>
                    </a:lnTo>
                    <a:lnTo>
                      <a:pt x="0" y="422"/>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37972" name="Freeform 84"/>
              <p:cNvSpPr>
                <a:spLocks noChangeAspect="1"/>
              </p:cNvSpPr>
              <p:nvPr/>
            </p:nvSpPr>
            <p:spPr bwMode="auto">
              <a:xfrm>
                <a:off x="1929" y="1343"/>
                <a:ext cx="763" cy="264"/>
              </a:xfrm>
              <a:custGeom>
                <a:avLst/>
                <a:gdLst/>
                <a:ahLst/>
                <a:cxnLst>
                  <a:cxn ang="0">
                    <a:pos x="715" y="376"/>
                  </a:cxn>
                  <a:cxn ang="0">
                    <a:pos x="0" y="187"/>
                  </a:cxn>
                  <a:cxn ang="0">
                    <a:pos x="397" y="0"/>
                  </a:cxn>
                  <a:cxn ang="0">
                    <a:pos x="1090" y="152"/>
                  </a:cxn>
                  <a:cxn ang="0">
                    <a:pos x="715" y="376"/>
                  </a:cxn>
                </a:cxnLst>
                <a:rect l="0" t="0" r="r" b="b"/>
                <a:pathLst>
                  <a:path w="1091" h="377">
                    <a:moveTo>
                      <a:pt x="715" y="376"/>
                    </a:moveTo>
                    <a:lnTo>
                      <a:pt x="0" y="187"/>
                    </a:lnTo>
                    <a:lnTo>
                      <a:pt x="397" y="0"/>
                    </a:lnTo>
                    <a:lnTo>
                      <a:pt x="1090" y="152"/>
                    </a:lnTo>
                    <a:lnTo>
                      <a:pt x="715" y="376"/>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37973" name="Freeform 85"/>
              <p:cNvSpPr>
                <a:spLocks noChangeAspect="1"/>
              </p:cNvSpPr>
              <p:nvPr/>
            </p:nvSpPr>
            <p:spPr bwMode="auto">
              <a:xfrm>
                <a:off x="1929" y="1473"/>
                <a:ext cx="499" cy="282"/>
              </a:xfrm>
              <a:custGeom>
                <a:avLst/>
                <a:gdLst/>
                <a:ahLst/>
                <a:cxnLst>
                  <a:cxn ang="0">
                    <a:pos x="0" y="5"/>
                  </a:cxn>
                  <a:cxn ang="0">
                    <a:pos x="0" y="192"/>
                  </a:cxn>
                  <a:cxn ang="0">
                    <a:pos x="690" y="390"/>
                  </a:cxn>
                  <a:cxn ang="0">
                    <a:pos x="690" y="185"/>
                  </a:cxn>
                  <a:cxn ang="0">
                    <a:pos x="4" y="0"/>
                  </a:cxn>
                </a:cxnLst>
                <a:rect l="0" t="0" r="r" b="b"/>
                <a:pathLst>
                  <a:path w="690" h="390">
                    <a:moveTo>
                      <a:pt x="0" y="5"/>
                    </a:moveTo>
                    <a:lnTo>
                      <a:pt x="0" y="192"/>
                    </a:lnTo>
                    <a:lnTo>
                      <a:pt x="690" y="390"/>
                    </a:lnTo>
                    <a:lnTo>
                      <a:pt x="690" y="185"/>
                    </a:lnTo>
                    <a:lnTo>
                      <a:pt x="4" y="0"/>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37974" name="Freeform 86"/>
              <p:cNvSpPr>
                <a:spLocks noChangeAspect="1"/>
              </p:cNvSpPr>
              <p:nvPr/>
            </p:nvSpPr>
            <p:spPr bwMode="auto">
              <a:xfrm>
                <a:off x="2190" y="1573"/>
                <a:ext cx="196" cy="137"/>
              </a:xfrm>
              <a:custGeom>
                <a:avLst/>
                <a:gdLst/>
                <a:ahLst/>
                <a:cxnLst>
                  <a:cxn ang="0">
                    <a:pos x="0" y="0"/>
                  </a:cxn>
                  <a:cxn ang="0">
                    <a:pos x="271" y="73"/>
                  </a:cxn>
                  <a:cxn ang="0">
                    <a:pos x="271" y="189"/>
                  </a:cxn>
                  <a:cxn ang="0">
                    <a:pos x="0" y="115"/>
                  </a:cxn>
                  <a:cxn ang="0">
                    <a:pos x="0" y="0"/>
                  </a:cxn>
                </a:cxnLst>
                <a:rect l="0" t="0" r="r" b="b"/>
                <a:pathLst>
                  <a:path w="271" h="189">
                    <a:moveTo>
                      <a:pt x="0" y="0"/>
                    </a:moveTo>
                    <a:lnTo>
                      <a:pt x="271" y="73"/>
                    </a:lnTo>
                    <a:lnTo>
                      <a:pt x="271" y="189"/>
                    </a:lnTo>
                    <a:lnTo>
                      <a:pt x="0" y="115"/>
                    </a:lnTo>
                    <a:lnTo>
                      <a:pt x="0" y="0"/>
                    </a:lnTo>
                  </a:path>
                </a:pathLst>
              </a:custGeom>
              <a:gradFill rotWithShape="0">
                <a:gsLst>
                  <a:gs pos="0">
                    <a:srgbClr val="B2B2B2"/>
                  </a:gs>
                  <a:gs pos="100000">
                    <a:srgbClr val="B2B2B2">
                      <a:gamma/>
                      <a:tint val="41176"/>
                      <a:invGamma/>
                    </a:srgbClr>
                  </a:gs>
                </a:gsLst>
                <a:lin ang="2700000" scaled="1"/>
              </a:gradFill>
              <a:ln w="6350" cap="rnd" cmpd="sng">
                <a:noFill/>
                <a:prstDash val="solid"/>
                <a:round/>
                <a:headEnd type="none" w="med" len="med"/>
                <a:tailEnd type="none" w="med" len="med"/>
              </a:ln>
              <a:effectLst/>
            </p:spPr>
            <p:txBody>
              <a:bodyPr/>
              <a:lstStyle/>
              <a:p>
                <a:endParaRPr lang="fr-FR"/>
              </a:p>
            </p:txBody>
          </p:sp>
          <p:sp>
            <p:nvSpPr>
              <p:cNvPr id="37975" name="Freeform 87"/>
              <p:cNvSpPr>
                <a:spLocks noChangeAspect="1" noChangeArrowheads="1"/>
              </p:cNvSpPr>
              <p:nvPr/>
            </p:nvSpPr>
            <p:spPr bwMode="auto">
              <a:xfrm>
                <a:off x="2194" y="1624"/>
                <a:ext cx="189" cy="49"/>
              </a:xfrm>
              <a:custGeom>
                <a:avLst/>
                <a:gdLst/>
                <a:ahLst/>
                <a:cxnLst>
                  <a:cxn ang="0">
                    <a:pos x="0" y="0"/>
                  </a:cxn>
                  <a:cxn ang="0">
                    <a:pos x="261" y="69"/>
                  </a:cxn>
                </a:cxnLst>
                <a:rect l="0" t="0" r="r" b="b"/>
                <a:pathLst>
                  <a:path w="261" h="69">
                    <a:moveTo>
                      <a:pt x="0" y="0"/>
                    </a:moveTo>
                    <a:lnTo>
                      <a:pt x="261" y="69"/>
                    </a:lnTo>
                  </a:path>
                </a:pathLst>
              </a:custGeom>
              <a:noFill/>
              <a:ln w="3175">
                <a:solidFill>
                  <a:srgbClr val="777777"/>
                </a:solidFill>
                <a:round/>
                <a:headEnd/>
                <a:tailEnd/>
              </a:ln>
              <a:effectLst/>
            </p:spPr>
            <p:txBody>
              <a:bodyPr wrap="none" anchor="ctr"/>
              <a:lstStyle/>
              <a:p>
                <a:endParaRPr lang="fr-FR"/>
              </a:p>
            </p:txBody>
          </p:sp>
          <p:sp>
            <p:nvSpPr>
              <p:cNvPr id="37976" name="Freeform 88"/>
              <p:cNvSpPr>
                <a:spLocks/>
              </p:cNvSpPr>
              <p:nvPr/>
            </p:nvSpPr>
            <p:spPr bwMode="auto">
              <a:xfrm>
                <a:off x="2190" y="1572"/>
                <a:ext cx="195" cy="84"/>
              </a:xfrm>
              <a:custGeom>
                <a:avLst/>
                <a:gdLst/>
                <a:ahLst/>
                <a:cxnLst>
                  <a:cxn ang="0">
                    <a:pos x="0" y="84"/>
                  </a:cxn>
                  <a:cxn ang="0">
                    <a:pos x="0" y="0"/>
                  </a:cxn>
                  <a:cxn ang="0">
                    <a:pos x="195" y="54"/>
                  </a:cxn>
                </a:cxnLst>
                <a:rect l="0" t="0" r="r" b="b"/>
                <a:pathLst>
                  <a:path w="195" h="84">
                    <a:moveTo>
                      <a:pt x="0" y="84"/>
                    </a:moveTo>
                    <a:lnTo>
                      <a:pt x="0" y="0"/>
                    </a:lnTo>
                    <a:lnTo>
                      <a:pt x="195" y="54"/>
                    </a:lnTo>
                  </a:path>
                </a:pathLst>
              </a:custGeom>
              <a:noFill/>
              <a:ln w="6350" cap="flat" cmpd="sng">
                <a:solidFill>
                  <a:srgbClr val="777777"/>
                </a:solidFill>
                <a:prstDash val="solid"/>
                <a:round/>
                <a:headEnd type="none" w="med" len="med"/>
                <a:tailEnd type="none" w="med" len="med"/>
              </a:ln>
              <a:effectLst/>
            </p:spPr>
            <p:txBody>
              <a:bodyPr wrap="none" tIns="27432" bIns="27432" anchor="ctr">
                <a:spAutoFit/>
              </a:bodyPr>
              <a:lstStyle/>
              <a:p>
                <a:endParaRPr lang="fr-FR"/>
              </a:p>
            </p:txBody>
          </p:sp>
          <p:sp>
            <p:nvSpPr>
              <p:cNvPr id="37977" name="Line 89"/>
              <p:cNvSpPr>
                <a:spLocks noChangeShapeType="1"/>
              </p:cNvSpPr>
              <p:nvPr/>
            </p:nvSpPr>
            <p:spPr bwMode="auto">
              <a:xfrm>
                <a:off x="2207" y="1600"/>
                <a:ext cx="153" cy="38"/>
              </a:xfrm>
              <a:prstGeom prst="line">
                <a:avLst/>
              </a:prstGeom>
              <a:noFill/>
              <a:ln w="3175">
                <a:solidFill>
                  <a:srgbClr val="777777"/>
                </a:solidFill>
                <a:round/>
                <a:headEnd/>
                <a:tailEnd/>
              </a:ln>
              <a:effectLst/>
            </p:spPr>
            <p:txBody>
              <a:bodyPr wrap="none" tIns="27432" bIns="27432" anchor="ctr">
                <a:spAutoFit/>
              </a:bodyPr>
              <a:lstStyle/>
              <a:p>
                <a:endParaRPr lang="fr-FR"/>
              </a:p>
            </p:txBody>
          </p:sp>
          <p:sp>
            <p:nvSpPr>
              <p:cNvPr id="37978" name="Line 90"/>
              <p:cNvSpPr>
                <a:spLocks noChangeShapeType="1"/>
              </p:cNvSpPr>
              <p:nvPr/>
            </p:nvSpPr>
            <p:spPr bwMode="auto">
              <a:xfrm>
                <a:off x="2337" y="1678"/>
                <a:ext cx="29" cy="6"/>
              </a:xfrm>
              <a:prstGeom prst="line">
                <a:avLst/>
              </a:prstGeom>
              <a:noFill/>
              <a:ln w="19050">
                <a:solidFill>
                  <a:srgbClr val="D60093"/>
                </a:solidFill>
                <a:round/>
                <a:headEnd/>
                <a:tailEnd/>
              </a:ln>
              <a:effectLst/>
            </p:spPr>
            <p:txBody>
              <a:bodyPr wrap="none" tIns="27432" bIns="27432" anchor="ctr">
                <a:spAutoFit/>
              </a:bodyPr>
              <a:lstStyle/>
              <a:p>
                <a:endParaRPr lang="fr-FR"/>
              </a:p>
            </p:txBody>
          </p:sp>
          <p:sp>
            <p:nvSpPr>
              <p:cNvPr id="37979" name="Freeform 91"/>
              <p:cNvSpPr>
                <a:spLocks/>
              </p:cNvSpPr>
              <p:nvPr/>
            </p:nvSpPr>
            <p:spPr bwMode="auto">
              <a:xfrm>
                <a:off x="2255" y="1610"/>
                <a:ext cx="47" cy="25"/>
              </a:xfrm>
              <a:custGeom>
                <a:avLst/>
                <a:gdLst/>
                <a:ahLst/>
                <a:cxnLst>
                  <a:cxn ang="0">
                    <a:pos x="0" y="0"/>
                  </a:cxn>
                  <a:cxn ang="0">
                    <a:pos x="1" y="18"/>
                  </a:cxn>
                  <a:cxn ang="0">
                    <a:pos x="64" y="35"/>
                  </a:cxn>
                  <a:cxn ang="0">
                    <a:pos x="64" y="19"/>
                  </a:cxn>
                  <a:cxn ang="0">
                    <a:pos x="0" y="0"/>
                  </a:cxn>
                </a:cxnLst>
                <a:rect l="0" t="0" r="r" b="b"/>
                <a:pathLst>
                  <a:path w="64" h="35">
                    <a:moveTo>
                      <a:pt x="0" y="0"/>
                    </a:moveTo>
                    <a:lnTo>
                      <a:pt x="1" y="18"/>
                    </a:lnTo>
                    <a:lnTo>
                      <a:pt x="64" y="35"/>
                    </a:lnTo>
                    <a:lnTo>
                      <a:pt x="64" y="19"/>
                    </a:lnTo>
                    <a:lnTo>
                      <a:pt x="0" y="0"/>
                    </a:lnTo>
                    <a:close/>
                  </a:path>
                </a:pathLst>
              </a:custGeom>
              <a:solidFill>
                <a:srgbClr val="777777"/>
              </a:solidFill>
              <a:ln w="19050" cap="flat" cmpd="sng">
                <a:noFill/>
                <a:prstDash val="solid"/>
                <a:round/>
                <a:headEnd type="none" w="med" len="med"/>
                <a:tailEnd type="none" w="med" len="med"/>
              </a:ln>
              <a:effectLst/>
            </p:spPr>
            <p:txBody>
              <a:bodyPr tIns="27432" bIns="27432" anchor="ctr">
                <a:spAutoFit/>
              </a:bodyPr>
              <a:lstStyle/>
              <a:p>
                <a:endParaRPr lang="fr-FR"/>
              </a:p>
            </p:txBody>
          </p:sp>
          <p:sp>
            <p:nvSpPr>
              <p:cNvPr id="37980" name="Line 92"/>
              <p:cNvSpPr>
                <a:spLocks noChangeShapeType="1"/>
              </p:cNvSpPr>
              <p:nvPr/>
            </p:nvSpPr>
            <p:spPr bwMode="auto">
              <a:xfrm>
                <a:off x="1942" y="1503"/>
                <a:ext cx="202" cy="57"/>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37981" name="Line 93"/>
              <p:cNvSpPr>
                <a:spLocks noChangeShapeType="1"/>
              </p:cNvSpPr>
              <p:nvPr/>
            </p:nvSpPr>
            <p:spPr bwMode="auto">
              <a:xfrm>
                <a:off x="1942" y="1525"/>
                <a:ext cx="202" cy="56"/>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37982" name="Line 94"/>
              <p:cNvSpPr>
                <a:spLocks noChangeShapeType="1"/>
              </p:cNvSpPr>
              <p:nvPr/>
            </p:nvSpPr>
            <p:spPr bwMode="auto">
              <a:xfrm>
                <a:off x="1942" y="1548"/>
                <a:ext cx="202" cy="57"/>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37983" name="Line 95"/>
              <p:cNvSpPr>
                <a:spLocks noChangeShapeType="1"/>
              </p:cNvSpPr>
              <p:nvPr/>
            </p:nvSpPr>
            <p:spPr bwMode="auto">
              <a:xfrm>
                <a:off x="1942" y="1570"/>
                <a:ext cx="202" cy="56"/>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37984" name="Freeform 96"/>
              <p:cNvSpPr>
                <a:spLocks/>
              </p:cNvSpPr>
              <p:nvPr/>
            </p:nvSpPr>
            <p:spPr bwMode="auto">
              <a:xfrm>
                <a:off x="2192" y="1632"/>
                <a:ext cx="198" cy="84"/>
              </a:xfrm>
              <a:custGeom>
                <a:avLst/>
                <a:gdLst/>
                <a:ahLst/>
                <a:cxnLst>
                  <a:cxn ang="0">
                    <a:pos x="0" y="40"/>
                  </a:cxn>
                  <a:cxn ang="0">
                    <a:pos x="275" y="117"/>
                  </a:cxn>
                  <a:cxn ang="0">
                    <a:pos x="275" y="0"/>
                  </a:cxn>
                </a:cxnLst>
                <a:rect l="0" t="0" r="r" b="b"/>
                <a:pathLst>
                  <a:path w="275" h="117">
                    <a:moveTo>
                      <a:pt x="0" y="40"/>
                    </a:moveTo>
                    <a:lnTo>
                      <a:pt x="275" y="117"/>
                    </a:lnTo>
                    <a:lnTo>
                      <a:pt x="275" y="0"/>
                    </a:lnTo>
                  </a:path>
                </a:pathLst>
              </a:custGeom>
              <a:noFill/>
              <a:ln w="6350" cap="flat" cmpd="sng">
                <a:solidFill>
                  <a:schemeClr val="bg1"/>
                </a:solidFill>
                <a:prstDash val="solid"/>
                <a:round/>
                <a:headEnd type="none" w="med" len="med"/>
                <a:tailEnd type="none" w="med" len="med"/>
              </a:ln>
              <a:effectLst/>
            </p:spPr>
            <p:txBody>
              <a:bodyPr wrap="none" tIns="27432" bIns="27432" anchor="ctr">
                <a:spAutoFit/>
              </a:bodyPr>
              <a:lstStyle/>
              <a:p>
                <a:endParaRPr lang="fr-FR"/>
              </a:p>
            </p:txBody>
          </p:sp>
        </p:grpSp>
        <p:grpSp>
          <p:nvGrpSpPr>
            <p:cNvPr id="37985" name="Group 97"/>
            <p:cNvGrpSpPr>
              <a:grpSpLocks/>
            </p:cNvGrpSpPr>
            <p:nvPr/>
          </p:nvGrpSpPr>
          <p:grpSpPr bwMode="auto">
            <a:xfrm>
              <a:off x="3042" y="2733"/>
              <a:ext cx="714" cy="672"/>
              <a:chOff x="2004" y="885"/>
              <a:chExt cx="714" cy="672"/>
            </a:xfrm>
          </p:grpSpPr>
          <p:sp>
            <p:nvSpPr>
              <p:cNvPr id="37986" name="Freeform 98"/>
              <p:cNvSpPr>
                <a:spLocks/>
              </p:cNvSpPr>
              <p:nvPr/>
            </p:nvSpPr>
            <p:spPr bwMode="auto">
              <a:xfrm>
                <a:off x="2058" y="1322"/>
                <a:ext cx="556" cy="235"/>
              </a:xfrm>
              <a:custGeom>
                <a:avLst/>
                <a:gdLst/>
                <a:ahLst/>
                <a:cxnLst>
                  <a:cxn ang="0">
                    <a:pos x="0" y="128"/>
                  </a:cxn>
                  <a:cxn ang="0">
                    <a:pos x="238" y="0"/>
                  </a:cxn>
                  <a:cxn ang="0">
                    <a:pos x="556" y="91"/>
                  </a:cxn>
                  <a:cxn ang="0">
                    <a:pos x="556" y="108"/>
                  </a:cxn>
                  <a:cxn ang="0">
                    <a:pos x="334" y="235"/>
                  </a:cxn>
                  <a:cxn ang="0">
                    <a:pos x="0" y="148"/>
                  </a:cxn>
                  <a:cxn ang="0">
                    <a:pos x="0" y="128"/>
                  </a:cxn>
                </a:cxnLst>
                <a:rect l="0" t="0" r="r" b="b"/>
                <a:pathLst>
                  <a:path w="556" h="235">
                    <a:moveTo>
                      <a:pt x="0" y="128"/>
                    </a:moveTo>
                    <a:lnTo>
                      <a:pt x="238" y="0"/>
                    </a:lnTo>
                    <a:lnTo>
                      <a:pt x="556" y="91"/>
                    </a:lnTo>
                    <a:lnTo>
                      <a:pt x="556" y="108"/>
                    </a:lnTo>
                    <a:lnTo>
                      <a:pt x="334" y="235"/>
                    </a:lnTo>
                    <a:lnTo>
                      <a:pt x="0" y="148"/>
                    </a:lnTo>
                    <a:lnTo>
                      <a:pt x="0" y="128"/>
                    </a:lnTo>
                    <a:close/>
                  </a:path>
                </a:pathLst>
              </a:custGeom>
              <a:solidFill>
                <a:srgbClr val="DDDDDD"/>
              </a:solidFill>
              <a:ln w="3175" cap="rnd" cmpd="sng">
                <a:solidFill>
                  <a:srgbClr val="000000"/>
                </a:solidFill>
                <a:prstDash val="solid"/>
                <a:round/>
                <a:headEnd type="none" w="med" len="med"/>
                <a:tailEnd type="none" w="med" len="med"/>
              </a:ln>
              <a:effectLst/>
            </p:spPr>
            <p:txBody>
              <a:bodyPr/>
              <a:lstStyle/>
              <a:p>
                <a:endParaRPr lang="fr-FR"/>
              </a:p>
            </p:txBody>
          </p:sp>
          <p:sp>
            <p:nvSpPr>
              <p:cNvPr id="37987" name="Freeform 99"/>
              <p:cNvSpPr>
                <a:spLocks/>
              </p:cNvSpPr>
              <p:nvPr/>
            </p:nvSpPr>
            <p:spPr bwMode="auto">
              <a:xfrm>
                <a:off x="2065" y="1327"/>
                <a:ext cx="538" cy="208"/>
              </a:xfrm>
              <a:custGeom>
                <a:avLst/>
                <a:gdLst/>
                <a:ahLst/>
                <a:cxnLst>
                  <a:cxn ang="0">
                    <a:pos x="0" y="124"/>
                  </a:cxn>
                  <a:cxn ang="0">
                    <a:pos x="327" y="208"/>
                  </a:cxn>
                  <a:cxn ang="0">
                    <a:pos x="538" y="86"/>
                  </a:cxn>
                  <a:cxn ang="0">
                    <a:pos x="233" y="0"/>
                  </a:cxn>
                  <a:cxn ang="0">
                    <a:pos x="0" y="124"/>
                  </a:cxn>
                </a:cxnLst>
                <a:rect l="0" t="0" r="r" b="b"/>
                <a:pathLst>
                  <a:path w="538" h="208">
                    <a:moveTo>
                      <a:pt x="0" y="124"/>
                    </a:moveTo>
                    <a:lnTo>
                      <a:pt x="327" y="208"/>
                    </a:lnTo>
                    <a:lnTo>
                      <a:pt x="538" y="86"/>
                    </a:lnTo>
                    <a:lnTo>
                      <a:pt x="233" y="0"/>
                    </a:lnTo>
                    <a:lnTo>
                      <a:pt x="0" y="124"/>
                    </a:lnTo>
                    <a:close/>
                  </a:path>
                </a:pathLst>
              </a:custGeom>
              <a:solidFill>
                <a:srgbClr val="B2B2B2"/>
              </a:solidFill>
              <a:ln w="6350" cap="rnd" cmpd="sng">
                <a:noFill/>
                <a:prstDash val="solid"/>
                <a:round/>
                <a:headEnd type="none" w="med" len="med"/>
                <a:tailEnd type="none" w="med" len="med"/>
              </a:ln>
              <a:effectLst/>
            </p:spPr>
            <p:txBody>
              <a:bodyPr/>
              <a:lstStyle/>
              <a:p>
                <a:endParaRPr lang="fr-FR"/>
              </a:p>
            </p:txBody>
          </p:sp>
          <p:sp>
            <p:nvSpPr>
              <p:cNvPr id="37988" name="Oval 100"/>
              <p:cNvSpPr>
                <a:spLocks noChangeArrowheads="1"/>
              </p:cNvSpPr>
              <p:nvPr/>
            </p:nvSpPr>
            <p:spPr bwMode="auto">
              <a:xfrm>
                <a:off x="2199" y="1378"/>
                <a:ext cx="280" cy="112"/>
              </a:xfrm>
              <a:prstGeom prst="ellipse">
                <a:avLst/>
              </a:prstGeom>
              <a:solidFill>
                <a:srgbClr val="B2B2B2"/>
              </a:solidFill>
              <a:ln w="3175" cap="rnd">
                <a:solidFill>
                  <a:schemeClr val="tx1"/>
                </a:solidFill>
                <a:round/>
                <a:headEnd/>
                <a:tailEnd/>
              </a:ln>
              <a:effectLst/>
            </p:spPr>
            <p:txBody>
              <a:bodyPr/>
              <a:lstStyle/>
              <a:p>
                <a:endParaRPr lang="fr-FR"/>
              </a:p>
            </p:txBody>
          </p:sp>
          <p:sp>
            <p:nvSpPr>
              <p:cNvPr id="37989" name="Freeform 101"/>
              <p:cNvSpPr>
                <a:spLocks/>
              </p:cNvSpPr>
              <p:nvPr/>
            </p:nvSpPr>
            <p:spPr bwMode="auto">
              <a:xfrm>
                <a:off x="2046" y="1382"/>
                <a:ext cx="452" cy="126"/>
              </a:xfrm>
              <a:custGeom>
                <a:avLst/>
                <a:gdLst/>
                <a:ahLst/>
                <a:cxnLst>
                  <a:cxn ang="0">
                    <a:pos x="0" y="0"/>
                  </a:cxn>
                  <a:cxn ang="0">
                    <a:pos x="20" y="36"/>
                  </a:cxn>
                  <a:cxn ang="0">
                    <a:pos x="574" y="180"/>
                  </a:cxn>
                  <a:cxn ang="0">
                    <a:pos x="646" y="158"/>
                  </a:cxn>
                </a:cxnLst>
                <a:rect l="0" t="0" r="r" b="b"/>
                <a:pathLst>
                  <a:path w="646" h="180">
                    <a:moveTo>
                      <a:pt x="0" y="0"/>
                    </a:moveTo>
                    <a:lnTo>
                      <a:pt x="20" y="36"/>
                    </a:lnTo>
                    <a:lnTo>
                      <a:pt x="574" y="180"/>
                    </a:lnTo>
                    <a:lnTo>
                      <a:pt x="646" y="158"/>
                    </a:lnTo>
                  </a:path>
                </a:pathLst>
              </a:custGeom>
              <a:solidFill>
                <a:srgbClr val="B2B2B2"/>
              </a:solidFill>
              <a:ln w="3175" cap="rnd" cmpd="sng">
                <a:solidFill>
                  <a:schemeClr val="tx1"/>
                </a:solidFill>
                <a:prstDash val="solid"/>
                <a:round/>
                <a:headEnd type="none" w="med" len="med"/>
                <a:tailEnd type="none" w="med" len="med"/>
              </a:ln>
              <a:effectLst/>
            </p:spPr>
            <p:txBody>
              <a:bodyPr/>
              <a:lstStyle/>
              <a:p>
                <a:endParaRPr lang="fr-FR"/>
              </a:p>
            </p:txBody>
          </p:sp>
          <p:sp>
            <p:nvSpPr>
              <p:cNvPr id="37990" name="Freeform 102"/>
              <p:cNvSpPr>
                <a:spLocks noChangeAspect="1"/>
              </p:cNvSpPr>
              <p:nvPr/>
            </p:nvSpPr>
            <p:spPr bwMode="auto">
              <a:xfrm>
                <a:off x="2154" y="885"/>
                <a:ext cx="564" cy="520"/>
              </a:xfrm>
              <a:custGeom>
                <a:avLst/>
                <a:gdLst/>
                <a:ahLst/>
                <a:cxnLst>
                  <a:cxn ang="0">
                    <a:pos x="620" y="746"/>
                  </a:cxn>
                  <a:cxn ang="0">
                    <a:pos x="808" y="525"/>
                  </a:cxn>
                  <a:cxn ang="0">
                    <a:pos x="808" y="106"/>
                  </a:cxn>
                  <a:cxn ang="0">
                    <a:pos x="336" y="0"/>
                  </a:cxn>
                  <a:cxn ang="0">
                    <a:pos x="0" y="48"/>
                  </a:cxn>
                </a:cxnLst>
                <a:rect l="0" t="0" r="r" b="b"/>
                <a:pathLst>
                  <a:path w="808" h="746">
                    <a:moveTo>
                      <a:pt x="620" y="746"/>
                    </a:moveTo>
                    <a:lnTo>
                      <a:pt x="808" y="525"/>
                    </a:lnTo>
                    <a:lnTo>
                      <a:pt x="808" y="106"/>
                    </a:lnTo>
                    <a:lnTo>
                      <a:pt x="336" y="0"/>
                    </a:lnTo>
                    <a:lnTo>
                      <a:pt x="0" y="4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37991" name="Freeform 103"/>
              <p:cNvSpPr>
                <a:spLocks noChangeAspect="1"/>
              </p:cNvSpPr>
              <p:nvPr/>
            </p:nvSpPr>
            <p:spPr bwMode="auto">
              <a:xfrm>
                <a:off x="2506" y="1000"/>
                <a:ext cx="113" cy="506"/>
              </a:xfrm>
              <a:custGeom>
                <a:avLst/>
                <a:gdLst/>
                <a:ahLst/>
                <a:cxnLst>
                  <a:cxn ang="0">
                    <a:pos x="0" y="644"/>
                  </a:cxn>
                  <a:cxn ang="0">
                    <a:pos x="0" y="79"/>
                  </a:cxn>
                  <a:cxn ang="0">
                    <a:pos x="144" y="0"/>
                  </a:cxn>
                  <a:cxn ang="0">
                    <a:pos x="144" y="554"/>
                  </a:cxn>
                  <a:cxn ang="0">
                    <a:pos x="0" y="644"/>
                  </a:cxn>
                </a:cxnLst>
                <a:rect l="0" t="0" r="r" b="b"/>
                <a:pathLst>
                  <a:path w="144" h="644">
                    <a:moveTo>
                      <a:pt x="0" y="644"/>
                    </a:moveTo>
                    <a:lnTo>
                      <a:pt x="0" y="79"/>
                    </a:lnTo>
                    <a:lnTo>
                      <a:pt x="144" y="0"/>
                    </a:lnTo>
                    <a:lnTo>
                      <a:pt x="144" y="554"/>
                    </a:lnTo>
                    <a:lnTo>
                      <a:pt x="0" y="644"/>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37992" name="Freeform 104"/>
              <p:cNvSpPr>
                <a:spLocks noChangeAspect="1"/>
              </p:cNvSpPr>
              <p:nvPr/>
            </p:nvSpPr>
            <p:spPr bwMode="auto">
              <a:xfrm>
                <a:off x="2004" y="891"/>
                <a:ext cx="615" cy="172"/>
              </a:xfrm>
              <a:custGeom>
                <a:avLst/>
                <a:gdLst/>
                <a:ahLst/>
                <a:cxnLst>
                  <a:cxn ang="0">
                    <a:pos x="638" y="219"/>
                  </a:cxn>
                  <a:cxn ang="0">
                    <a:pos x="0" y="67"/>
                  </a:cxn>
                  <a:cxn ang="0">
                    <a:pos x="160" y="0"/>
                  </a:cxn>
                  <a:cxn ang="0">
                    <a:pos x="782" y="139"/>
                  </a:cxn>
                  <a:cxn ang="0">
                    <a:pos x="638" y="219"/>
                  </a:cxn>
                </a:cxnLst>
                <a:rect l="0" t="0" r="r" b="b"/>
                <a:pathLst>
                  <a:path w="782" h="219">
                    <a:moveTo>
                      <a:pt x="638" y="219"/>
                    </a:moveTo>
                    <a:lnTo>
                      <a:pt x="0" y="67"/>
                    </a:lnTo>
                    <a:lnTo>
                      <a:pt x="160" y="0"/>
                    </a:lnTo>
                    <a:lnTo>
                      <a:pt x="782" y="139"/>
                    </a:lnTo>
                    <a:lnTo>
                      <a:pt x="638" y="219"/>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sp>
            <p:nvSpPr>
              <p:cNvPr id="37993" name="Freeform 105"/>
              <p:cNvSpPr>
                <a:spLocks noChangeAspect="1"/>
              </p:cNvSpPr>
              <p:nvPr/>
            </p:nvSpPr>
            <p:spPr bwMode="auto">
              <a:xfrm>
                <a:off x="2004" y="942"/>
                <a:ext cx="502" cy="566"/>
              </a:xfrm>
              <a:custGeom>
                <a:avLst/>
                <a:gdLst/>
                <a:ahLst/>
                <a:cxnLst>
                  <a:cxn ang="0">
                    <a:pos x="671" y="753"/>
                  </a:cxn>
                  <a:cxn ang="0">
                    <a:pos x="671" y="160"/>
                  </a:cxn>
                  <a:cxn ang="0">
                    <a:pos x="0" y="0"/>
                  </a:cxn>
                  <a:cxn ang="0">
                    <a:pos x="0" y="578"/>
                  </a:cxn>
                  <a:cxn ang="0">
                    <a:pos x="671" y="753"/>
                  </a:cxn>
                </a:cxnLst>
                <a:rect l="0" t="0" r="r" b="b"/>
                <a:pathLst>
                  <a:path w="672" h="754">
                    <a:moveTo>
                      <a:pt x="671" y="753"/>
                    </a:moveTo>
                    <a:lnTo>
                      <a:pt x="671" y="160"/>
                    </a:lnTo>
                    <a:lnTo>
                      <a:pt x="0" y="0"/>
                    </a:lnTo>
                    <a:lnTo>
                      <a:pt x="0" y="578"/>
                    </a:lnTo>
                    <a:lnTo>
                      <a:pt x="671" y="753"/>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37994" name="Freeform 106"/>
              <p:cNvSpPr>
                <a:spLocks noChangeAspect="1"/>
              </p:cNvSpPr>
              <p:nvPr/>
            </p:nvSpPr>
            <p:spPr bwMode="auto">
              <a:xfrm>
                <a:off x="2043" y="992"/>
                <a:ext cx="425" cy="464"/>
              </a:xfrm>
              <a:custGeom>
                <a:avLst/>
                <a:gdLst/>
                <a:ahLst/>
                <a:cxnLst>
                  <a:cxn ang="0">
                    <a:pos x="490" y="548"/>
                  </a:cxn>
                  <a:cxn ang="0">
                    <a:pos x="490" y="117"/>
                  </a:cxn>
                  <a:cxn ang="0">
                    <a:pos x="0" y="0"/>
                  </a:cxn>
                  <a:cxn ang="0">
                    <a:pos x="0" y="424"/>
                  </a:cxn>
                  <a:cxn ang="0">
                    <a:pos x="490" y="548"/>
                  </a:cxn>
                </a:cxnLst>
                <a:rect l="0" t="0" r="r" b="b"/>
                <a:pathLst>
                  <a:path w="491" h="549">
                    <a:moveTo>
                      <a:pt x="490" y="548"/>
                    </a:moveTo>
                    <a:lnTo>
                      <a:pt x="490" y="117"/>
                    </a:lnTo>
                    <a:lnTo>
                      <a:pt x="0" y="0"/>
                    </a:lnTo>
                    <a:lnTo>
                      <a:pt x="0" y="424"/>
                    </a:lnTo>
                    <a:lnTo>
                      <a:pt x="490" y="548"/>
                    </a:lnTo>
                  </a:path>
                </a:pathLst>
              </a:custGeom>
              <a:solidFill>
                <a:srgbClr val="CECECE"/>
              </a:solidFill>
              <a:ln w="6350" cap="rnd" cmpd="sng">
                <a:solidFill>
                  <a:srgbClr val="808080"/>
                </a:solidFill>
                <a:prstDash val="solid"/>
                <a:round/>
                <a:headEnd type="none" w="med" len="med"/>
                <a:tailEnd type="none" w="med" len="med"/>
              </a:ln>
              <a:effectLst/>
            </p:spPr>
            <p:txBody>
              <a:bodyPr/>
              <a:lstStyle/>
              <a:p>
                <a:endParaRPr lang="fr-FR"/>
              </a:p>
            </p:txBody>
          </p:sp>
          <p:sp>
            <p:nvSpPr>
              <p:cNvPr id="37995" name="Freeform 107"/>
              <p:cNvSpPr>
                <a:spLocks/>
              </p:cNvSpPr>
              <p:nvPr/>
            </p:nvSpPr>
            <p:spPr bwMode="auto">
              <a:xfrm>
                <a:off x="2069" y="1023"/>
                <a:ext cx="372" cy="400"/>
              </a:xfrm>
              <a:custGeom>
                <a:avLst/>
                <a:gdLst/>
                <a:ahLst/>
                <a:cxnLst>
                  <a:cxn ang="0">
                    <a:pos x="0" y="0"/>
                  </a:cxn>
                  <a:cxn ang="0">
                    <a:pos x="0" y="454"/>
                  </a:cxn>
                  <a:cxn ang="0">
                    <a:pos x="542" y="592"/>
                  </a:cxn>
                  <a:cxn ang="0">
                    <a:pos x="542" y="130"/>
                  </a:cxn>
                  <a:cxn ang="0">
                    <a:pos x="0" y="0"/>
                  </a:cxn>
                </a:cxnLst>
                <a:rect l="0" t="0" r="r" b="b"/>
                <a:pathLst>
                  <a:path w="542" h="592">
                    <a:moveTo>
                      <a:pt x="0" y="0"/>
                    </a:moveTo>
                    <a:lnTo>
                      <a:pt x="0" y="454"/>
                    </a:lnTo>
                    <a:lnTo>
                      <a:pt x="542" y="592"/>
                    </a:lnTo>
                    <a:lnTo>
                      <a:pt x="542" y="130"/>
                    </a:lnTo>
                    <a:lnTo>
                      <a:pt x="0" y="0"/>
                    </a:lnTo>
                    <a:close/>
                  </a:path>
                </a:pathLst>
              </a:custGeom>
              <a:gradFill rotWithShape="0">
                <a:gsLst>
                  <a:gs pos="0">
                    <a:srgbClr val="618FFD"/>
                  </a:gs>
                  <a:gs pos="100000">
                    <a:srgbClr val="618FFD">
                      <a:gamma/>
                      <a:shade val="75294"/>
                      <a:invGamma/>
                    </a:srgbClr>
                  </a:gs>
                </a:gsLst>
                <a:path path="rect">
                  <a:fillToRect r="100000" b="100000"/>
                </a:path>
              </a:gradFill>
              <a:ln w="6350" cap="flat" cmpd="sng">
                <a:solidFill>
                  <a:srgbClr val="777777"/>
                </a:solidFill>
                <a:prstDash val="solid"/>
                <a:round/>
                <a:headEnd type="none" w="med" len="med"/>
                <a:tailEnd type="none" w="med" len="med"/>
              </a:ln>
              <a:effectLst>
                <a:outerShdw dist="17961" dir="2700000" algn="ctr" rotWithShape="0">
                  <a:schemeClr val="bg1"/>
                </a:outerShdw>
              </a:effectLst>
            </p:spPr>
            <p:txBody>
              <a:bodyPr wrap="none" anchor="ctr"/>
              <a:lstStyle/>
              <a:p>
                <a:endParaRPr lang="fr-FR"/>
              </a:p>
            </p:txBody>
          </p:sp>
          <p:sp>
            <p:nvSpPr>
              <p:cNvPr id="37996" name="Line 108"/>
              <p:cNvSpPr>
                <a:spLocks noChangeShapeType="1"/>
              </p:cNvSpPr>
              <p:nvPr/>
            </p:nvSpPr>
            <p:spPr bwMode="auto">
              <a:xfrm>
                <a:off x="2102" y="1056"/>
                <a:ext cx="0" cy="61"/>
              </a:xfrm>
              <a:prstGeom prst="line">
                <a:avLst/>
              </a:prstGeom>
              <a:noFill/>
              <a:ln w="25400">
                <a:solidFill>
                  <a:schemeClr val="bg1"/>
                </a:solidFill>
                <a:round/>
                <a:headEnd/>
                <a:tailEnd/>
              </a:ln>
              <a:effectLst/>
            </p:spPr>
            <p:txBody>
              <a:bodyPr wrap="none" anchor="ctr"/>
              <a:lstStyle/>
              <a:p>
                <a:endParaRPr lang="fr-FR"/>
              </a:p>
            </p:txBody>
          </p:sp>
        </p:grpSp>
      </p:grpSp>
      <p:sp>
        <p:nvSpPr>
          <p:cNvPr id="37997" name="Text Box 109"/>
          <p:cNvSpPr txBox="1">
            <a:spLocks noChangeArrowheads="1"/>
          </p:cNvSpPr>
          <p:nvPr/>
        </p:nvSpPr>
        <p:spPr bwMode="auto">
          <a:xfrm>
            <a:off x="745542" y="2822575"/>
            <a:ext cx="1258267" cy="430887"/>
          </a:xfrm>
          <a:prstGeom prst="rect">
            <a:avLst/>
          </a:prstGeom>
          <a:noFill/>
          <a:ln w="9525">
            <a:noFill/>
            <a:miter lim="800000"/>
            <a:headEnd/>
            <a:tailEnd/>
          </a:ln>
          <a:effectLst/>
        </p:spPr>
        <p:txBody>
          <a:bodyPr wrap="square" anchor="ctr">
            <a:spAutoFit/>
          </a:bodyPr>
          <a:lstStyle/>
          <a:p>
            <a:pPr algn="ctr"/>
            <a:r>
              <a:rPr lang="en-US" sz="2200" b="1">
                <a:latin typeface="Arial" charset="0"/>
              </a:rPr>
              <a:t>Client</a:t>
            </a:r>
          </a:p>
        </p:txBody>
      </p:sp>
      <p:sp>
        <p:nvSpPr>
          <p:cNvPr id="37998" name="Text Box 110"/>
          <p:cNvSpPr txBox="1">
            <a:spLocks noChangeArrowheads="1"/>
          </p:cNvSpPr>
          <p:nvPr/>
        </p:nvSpPr>
        <p:spPr bwMode="auto">
          <a:xfrm>
            <a:off x="3788192" y="1150938"/>
            <a:ext cx="2063101" cy="430887"/>
          </a:xfrm>
          <a:prstGeom prst="rect">
            <a:avLst/>
          </a:prstGeom>
          <a:noFill/>
          <a:ln w="9525">
            <a:noFill/>
            <a:miter lim="800000"/>
            <a:headEnd/>
            <a:tailEnd/>
          </a:ln>
          <a:effectLst/>
        </p:spPr>
        <p:txBody>
          <a:bodyPr wrap="square" anchor="ctr">
            <a:spAutoFit/>
          </a:bodyPr>
          <a:lstStyle/>
          <a:p>
            <a:pPr algn="ctr"/>
            <a:r>
              <a:rPr lang="en-US" sz="2200" b="1">
                <a:latin typeface="Arial" charset="0"/>
              </a:rPr>
              <a:t>Serveur ISP</a:t>
            </a:r>
          </a:p>
        </p:txBody>
      </p:sp>
      <p:grpSp>
        <p:nvGrpSpPr>
          <p:cNvPr id="37999" name="Group 111"/>
          <p:cNvGrpSpPr>
            <a:grpSpLocks/>
          </p:cNvGrpSpPr>
          <p:nvPr/>
        </p:nvGrpSpPr>
        <p:grpSpPr bwMode="auto">
          <a:xfrm>
            <a:off x="7318375" y="1546225"/>
            <a:ext cx="1208088" cy="1219200"/>
            <a:chOff x="3980" y="1310"/>
            <a:chExt cx="583" cy="588"/>
          </a:xfrm>
        </p:grpSpPr>
        <p:grpSp>
          <p:nvGrpSpPr>
            <p:cNvPr id="38000" name="Group 112"/>
            <p:cNvGrpSpPr>
              <a:grpSpLocks/>
            </p:cNvGrpSpPr>
            <p:nvPr/>
          </p:nvGrpSpPr>
          <p:grpSpPr bwMode="auto">
            <a:xfrm rot="1338244">
              <a:off x="4022" y="1342"/>
              <a:ext cx="528" cy="528"/>
              <a:chOff x="5136" y="1488"/>
              <a:chExt cx="528" cy="528"/>
            </a:xfrm>
          </p:grpSpPr>
          <p:sp>
            <p:nvSpPr>
              <p:cNvPr id="38001" name="Oval 113"/>
              <p:cNvSpPr>
                <a:spLocks noChangeArrowheads="1"/>
              </p:cNvSpPr>
              <p:nvPr/>
            </p:nvSpPr>
            <p:spPr bwMode="auto">
              <a:xfrm>
                <a:off x="5136" y="1488"/>
                <a:ext cx="528" cy="528"/>
              </a:xfrm>
              <a:prstGeom prst="ellipse">
                <a:avLst/>
              </a:prstGeom>
              <a:solidFill>
                <a:srgbClr val="333399"/>
              </a:solidFill>
              <a:ln w="9525">
                <a:noFill/>
                <a:round/>
                <a:headEnd/>
                <a:tailEnd/>
              </a:ln>
              <a:effectLst/>
            </p:spPr>
            <p:txBody>
              <a:bodyPr wrap="none" anchor="ctr"/>
              <a:lstStyle/>
              <a:p>
                <a:endParaRPr lang="fr-FR"/>
              </a:p>
            </p:txBody>
          </p:sp>
          <p:sp>
            <p:nvSpPr>
              <p:cNvPr id="38002" name="Oval 114"/>
              <p:cNvSpPr>
                <a:spLocks noChangeArrowheads="1"/>
              </p:cNvSpPr>
              <p:nvPr/>
            </p:nvSpPr>
            <p:spPr bwMode="auto">
              <a:xfrm>
                <a:off x="5239" y="1503"/>
                <a:ext cx="369" cy="325"/>
              </a:xfrm>
              <a:prstGeom prst="ellipse">
                <a:avLst/>
              </a:prstGeom>
              <a:gradFill rotWithShape="0">
                <a:gsLst>
                  <a:gs pos="0">
                    <a:srgbClr val="00CCFF"/>
                  </a:gs>
                  <a:gs pos="100000">
                    <a:srgbClr val="333399"/>
                  </a:gs>
                </a:gsLst>
                <a:path path="shape">
                  <a:fillToRect l="50000" t="50000" r="50000" b="50000"/>
                </a:path>
              </a:gradFill>
              <a:ln w="9525">
                <a:noFill/>
                <a:round/>
                <a:headEnd/>
                <a:tailEnd/>
              </a:ln>
              <a:effectLst/>
            </p:spPr>
            <p:txBody>
              <a:bodyPr wrap="none" anchor="ctr"/>
              <a:lstStyle/>
              <a:p>
                <a:endParaRPr lang="fr-FR"/>
              </a:p>
            </p:txBody>
          </p:sp>
        </p:grpSp>
        <p:sp>
          <p:nvSpPr>
            <p:cNvPr id="38003" name="Arc 115"/>
            <p:cNvSpPr>
              <a:spLocks/>
            </p:cNvSpPr>
            <p:nvPr/>
          </p:nvSpPr>
          <p:spPr bwMode="auto">
            <a:xfrm rot="1338244" flipH="1">
              <a:off x="4077" y="1310"/>
              <a:ext cx="266" cy="523"/>
            </a:xfrm>
            <a:custGeom>
              <a:avLst/>
              <a:gdLst>
                <a:gd name="G0" fmla="+- 4171 0 0"/>
                <a:gd name="G1" fmla="+- 21600 0 0"/>
                <a:gd name="G2" fmla="+- 21600 0 0"/>
                <a:gd name="T0" fmla="*/ 0 w 25771"/>
                <a:gd name="T1" fmla="*/ 407 h 42859"/>
                <a:gd name="T2" fmla="*/ 7993 w 25771"/>
                <a:gd name="T3" fmla="*/ 42859 h 42859"/>
                <a:gd name="T4" fmla="*/ 4171 w 25771"/>
                <a:gd name="T5" fmla="*/ 21600 h 42859"/>
              </a:gdLst>
              <a:ahLst/>
              <a:cxnLst>
                <a:cxn ang="0">
                  <a:pos x="T0" y="T1"/>
                </a:cxn>
                <a:cxn ang="0">
                  <a:pos x="T2" y="T3"/>
                </a:cxn>
                <a:cxn ang="0">
                  <a:pos x="T4" y="T5"/>
                </a:cxn>
              </a:cxnLst>
              <a:rect l="0" t="0" r="r" b="b"/>
              <a:pathLst>
                <a:path w="25771" h="42859" fill="none" extrusionOk="0">
                  <a:moveTo>
                    <a:pt x="-1" y="406"/>
                  </a:moveTo>
                  <a:cubicBezTo>
                    <a:pt x="1373" y="136"/>
                    <a:pt x="2770" y="-1"/>
                    <a:pt x="4171" y="0"/>
                  </a:cubicBezTo>
                  <a:cubicBezTo>
                    <a:pt x="16100" y="0"/>
                    <a:pt x="25771" y="9670"/>
                    <a:pt x="25771" y="21600"/>
                  </a:cubicBezTo>
                  <a:cubicBezTo>
                    <a:pt x="25771" y="32055"/>
                    <a:pt x="18283" y="41009"/>
                    <a:pt x="7993" y="42859"/>
                  </a:cubicBezTo>
                </a:path>
                <a:path w="25771" h="42859" stroke="0" extrusionOk="0">
                  <a:moveTo>
                    <a:pt x="-1" y="406"/>
                  </a:moveTo>
                  <a:cubicBezTo>
                    <a:pt x="1373" y="136"/>
                    <a:pt x="2770" y="-1"/>
                    <a:pt x="4171" y="0"/>
                  </a:cubicBezTo>
                  <a:cubicBezTo>
                    <a:pt x="16100" y="0"/>
                    <a:pt x="25771" y="9670"/>
                    <a:pt x="25771" y="21600"/>
                  </a:cubicBezTo>
                  <a:cubicBezTo>
                    <a:pt x="25771" y="32055"/>
                    <a:pt x="18283" y="41009"/>
                    <a:pt x="7993" y="42859"/>
                  </a:cubicBezTo>
                  <a:lnTo>
                    <a:pt x="4171" y="21600"/>
                  </a:lnTo>
                  <a:close/>
                </a:path>
              </a:pathLst>
            </a:custGeom>
            <a:noFill/>
            <a:ln w="9525">
              <a:solidFill>
                <a:srgbClr val="99CCFF"/>
              </a:solidFill>
              <a:round/>
              <a:headEnd/>
              <a:tailEnd/>
            </a:ln>
            <a:effectLst/>
          </p:spPr>
          <p:txBody>
            <a:bodyPr wrap="none" anchor="ctr"/>
            <a:lstStyle/>
            <a:p>
              <a:endParaRPr lang="fr-FR"/>
            </a:p>
          </p:txBody>
        </p:sp>
        <p:sp>
          <p:nvSpPr>
            <p:cNvPr id="38004" name="Arc 116"/>
            <p:cNvSpPr>
              <a:spLocks/>
            </p:cNvSpPr>
            <p:nvPr/>
          </p:nvSpPr>
          <p:spPr bwMode="auto">
            <a:xfrm rot="1338244" flipH="1">
              <a:off x="4170" y="1323"/>
              <a:ext cx="143" cy="527"/>
            </a:xfrm>
            <a:custGeom>
              <a:avLst/>
              <a:gdLst>
                <a:gd name="G0" fmla="+- 76 0 0"/>
                <a:gd name="G1" fmla="+- 21600 0 0"/>
                <a:gd name="G2" fmla="+- 21600 0 0"/>
                <a:gd name="T0" fmla="*/ 0 w 21676"/>
                <a:gd name="T1" fmla="*/ 0 h 43048"/>
                <a:gd name="T2" fmla="*/ 2635 w 21676"/>
                <a:gd name="T3" fmla="*/ 43048 h 43048"/>
                <a:gd name="T4" fmla="*/ 76 w 21676"/>
                <a:gd name="T5" fmla="*/ 21600 h 43048"/>
              </a:gdLst>
              <a:ahLst/>
              <a:cxnLst>
                <a:cxn ang="0">
                  <a:pos x="T0" y="T1"/>
                </a:cxn>
                <a:cxn ang="0">
                  <a:pos x="T2" y="T3"/>
                </a:cxn>
                <a:cxn ang="0">
                  <a:pos x="T4" y="T5"/>
                </a:cxn>
              </a:cxnLst>
              <a:rect l="0" t="0" r="r" b="b"/>
              <a:pathLst>
                <a:path w="21676" h="43048" fill="none" extrusionOk="0">
                  <a:moveTo>
                    <a:pt x="0" y="0"/>
                  </a:moveTo>
                  <a:cubicBezTo>
                    <a:pt x="25" y="0"/>
                    <a:pt x="50" y="-1"/>
                    <a:pt x="76" y="0"/>
                  </a:cubicBezTo>
                  <a:cubicBezTo>
                    <a:pt x="12005" y="0"/>
                    <a:pt x="21676" y="9670"/>
                    <a:pt x="21676" y="21600"/>
                  </a:cubicBezTo>
                  <a:cubicBezTo>
                    <a:pt x="21676" y="32539"/>
                    <a:pt x="13497" y="41751"/>
                    <a:pt x="2634" y="43047"/>
                  </a:cubicBezTo>
                </a:path>
                <a:path w="21676" h="43048" stroke="0" extrusionOk="0">
                  <a:moveTo>
                    <a:pt x="0" y="0"/>
                  </a:moveTo>
                  <a:cubicBezTo>
                    <a:pt x="25" y="0"/>
                    <a:pt x="50" y="-1"/>
                    <a:pt x="76" y="0"/>
                  </a:cubicBezTo>
                  <a:cubicBezTo>
                    <a:pt x="12005" y="0"/>
                    <a:pt x="21676" y="9670"/>
                    <a:pt x="21676" y="21600"/>
                  </a:cubicBezTo>
                  <a:cubicBezTo>
                    <a:pt x="21676" y="32539"/>
                    <a:pt x="13497" y="41751"/>
                    <a:pt x="2634" y="43047"/>
                  </a:cubicBezTo>
                  <a:lnTo>
                    <a:pt x="76" y="21600"/>
                  </a:lnTo>
                  <a:close/>
                </a:path>
              </a:pathLst>
            </a:custGeom>
            <a:noFill/>
            <a:ln w="9525">
              <a:solidFill>
                <a:srgbClr val="99CCFF"/>
              </a:solidFill>
              <a:round/>
              <a:headEnd/>
              <a:tailEnd/>
            </a:ln>
            <a:effectLst/>
          </p:spPr>
          <p:txBody>
            <a:bodyPr wrap="none" anchor="ctr"/>
            <a:lstStyle/>
            <a:p>
              <a:endParaRPr lang="fr-FR"/>
            </a:p>
          </p:txBody>
        </p:sp>
        <p:sp>
          <p:nvSpPr>
            <p:cNvPr id="38005" name="Arc 117"/>
            <p:cNvSpPr>
              <a:spLocks/>
            </p:cNvSpPr>
            <p:nvPr/>
          </p:nvSpPr>
          <p:spPr bwMode="auto">
            <a:xfrm rot="1338244" flipH="1">
              <a:off x="4262" y="1342"/>
              <a:ext cx="47" cy="528"/>
            </a:xfrm>
            <a:custGeom>
              <a:avLst/>
              <a:gdLst>
                <a:gd name="G0" fmla="+- 76 0 0"/>
                <a:gd name="G1" fmla="+- 21600 0 0"/>
                <a:gd name="G2" fmla="+- 21600 0 0"/>
                <a:gd name="T0" fmla="*/ 0 w 21676"/>
                <a:gd name="T1" fmla="*/ 0 h 43122"/>
                <a:gd name="T2" fmla="*/ 1910 w 21676"/>
                <a:gd name="T3" fmla="*/ 43122 h 43122"/>
                <a:gd name="T4" fmla="*/ 76 w 21676"/>
                <a:gd name="T5" fmla="*/ 21600 h 43122"/>
              </a:gdLst>
              <a:ahLst/>
              <a:cxnLst>
                <a:cxn ang="0">
                  <a:pos x="T0" y="T1"/>
                </a:cxn>
                <a:cxn ang="0">
                  <a:pos x="T2" y="T3"/>
                </a:cxn>
                <a:cxn ang="0">
                  <a:pos x="T4" y="T5"/>
                </a:cxn>
              </a:cxnLst>
              <a:rect l="0" t="0" r="r" b="b"/>
              <a:pathLst>
                <a:path w="21676" h="43122" fill="none" extrusionOk="0">
                  <a:moveTo>
                    <a:pt x="0" y="0"/>
                  </a:moveTo>
                  <a:cubicBezTo>
                    <a:pt x="25" y="0"/>
                    <a:pt x="50" y="-1"/>
                    <a:pt x="76" y="0"/>
                  </a:cubicBezTo>
                  <a:cubicBezTo>
                    <a:pt x="12005" y="0"/>
                    <a:pt x="21676" y="9670"/>
                    <a:pt x="21676" y="21600"/>
                  </a:cubicBezTo>
                  <a:cubicBezTo>
                    <a:pt x="21676" y="32818"/>
                    <a:pt x="13087" y="42169"/>
                    <a:pt x="1909" y="43121"/>
                  </a:cubicBezTo>
                </a:path>
                <a:path w="21676" h="43122" stroke="0" extrusionOk="0">
                  <a:moveTo>
                    <a:pt x="0" y="0"/>
                  </a:moveTo>
                  <a:cubicBezTo>
                    <a:pt x="25" y="0"/>
                    <a:pt x="50" y="-1"/>
                    <a:pt x="76" y="0"/>
                  </a:cubicBezTo>
                  <a:cubicBezTo>
                    <a:pt x="12005" y="0"/>
                    <a:pt x="21676" y="9670"/>
                    <a:pt x="21676" y="21600"/>
                  </a:cubicBezTo>
                  <a:cubicBezTo>
                    <a:pt x="21676" y="32818"/>
                    <a:pt x="13087" y="42169"/>
                    <a:pt x="1909" y="43121"/>
                  </a:cubicBezTo>
                  <a:lnTo>
                    <a:pt x="76" y="21600"/>
                  </a:lnTo>
                  <a:close/>
                </a:path>
              </a:pathLst>
            </a:custGeom>
            <a:noFill/>
            <a:ln w="9525">
              <a:solidFill>
                <a:srgbClr val="99CCFF"/>
              </a:solidFill>
              <a:round/>
              <a:headEnd/>
              <a:tailEnd/>
            </a:ln>
            <a:effectLst/>
          </p:spPr>
          <p:txBody>
            <a:bodyPr wrap="none" anchor="ctr"/>
            <a:lstStyle/>
            <a:p>
              <a:endParaRPr lang="fr-FR"/>
            </a:p>
          </p:txBody>
        </p:sp>
        <p:sp>
          <p:nvSpPr>
            <p:cNvPr id="38006" name="Arc 118"/>
            <p:cNvSpPr>
              <a:spLocks/>
            </p:cNvSpPr>
            <p:nvPr/>
          </p:nvSpPr>
          <p:spPr bwMode="auto">
            <a:xfrm rot="1338244">
              <a:off x="4305" y="1362"/>
              <a:ext cx="72" cy="524"/>
            </a:xfrm>
            <a:custGeom>
              <a:avLst/>
              <a:gdLst>
                <a:gd name="G0" fmla="+- 76 0 0"/>
                <a:gd name="G1" fmla="+- 21600 0 0"/>
                <a:gd name="G2" fmla="+- 21600 0 0"/>
                <a:gd name="T0" fmla="*/ 0 w 21676"/>
                <a:gd name="T1" fmla="*/ 0 h 42838"/>
                <a:gd name="T2" fmla="*/ 4012 w 21676"/>
                <a:gd name="T3" fmla="*/ 42838 h 42838"/>
                <a:gd name="T4" fmla="*/ 76 w 21676"/>
                <a:gd name="T5" fmla="*/ 21600 h 42838"/>
              </a:gdLst>
              <a:ahLst/>
              <a:cxnLst>
                <a:cxn ang="0">
                  <a:pos x="T0" y="T1"/>
                </a:cxn>
                <a:cxn ang="0">
                  <a:pos x="T2" y="T3"/>
                </a:cxn>
                <a:cxn ang="0">
                  <a:pos x="T4" y="T5"/>
                </a:cxn>
              </a:cxnLst>
              <a:rect l="0" t="0" r="r" b="b"/>
              <a:pathLst>
                <a:path w="21676" h="42838" fill="none" extrusionOk="0">
                  <a:moveTo>
                    <a:pt x="0" y="0"/>
                  </a:moveTo>
                  <a:cubicBezTo>
                    <a:pt x="25" y="0"/>
                    <a:pt x="50" y="-1"/>
                    <a:pt x="76" y="0"/>
                  </a:cubicBezTo>
                  <a:cubicBezTo>
                    <a:pt x="12005" y="0"/>
                    <a:pt x="21676" y="9670"/>
                    <a:pt x="21676" y="21600"/>
                  </a:cubicBezTo>
                  <a:cubicBezTo>
                    <a:pt x="21676" y="32011"/>
                    <a:pt x="14249" y="40941"/>
                    <a:pt x="4012" y="42838"/>
                  </a:cubicBezTo>
                </a:path>
                <a:path w="21676" h="42838" stroke="0" extrusionOk="0">
                  <a:moveTo>
                    <a:pt x="0" y="0"/>
                  </a:moveTo>
                  <a:cubicBezTo>
                    <a:pt x="25" y="0"/>
                    <a:pt x="50" y="-1"/>
                    <a:pt x="76" y="0"/>
                  </a:cubicBezTo>
                  <a:cubicBezTo>
                    <a:pt x="12005" y="0"/>
                    <a:pt x="21676" y="9670"/>
                    <a:pt x="21676" y="21600"/>
                  </a:cubicBezTo>
                  <a:cubicBezTo>
                    <a:pt x="21676" y="32011"/>
                    <a:pt x="14249" y="40941"/>
                    <a:pt x="4012" y="42838"/>
                  </a:cubicBezTo>
                  <a:lnTo>
                    <a:pt x="76" y="21600"/>
                  </a:lnTo>
                  <a:close/>
                </a:path>
              </a:pathLst>
            </a:custGeom>
            <a:noFill/>
            <a:ln w="9525">
              <a:solidFill>
                <a:srgbClr val="99CCFF"/>
              </a:solidFill>
              <a:round/>
              <a:headEnd/>
              <a:tailEnd/>
            </a:ln>
            <a:effectLst/>
          </p:spPr>
          <p:txBody>
            <a:bodyPr wrap="none" anchor="ctr"/>
            <a:lstStyle/>
            <a:p>
              <a:endParaRPr lang="fr-FR"/>
            </a:p>
          </p:txBody>
        </p:sp>
        <p:sp>
          <p:nvSpPr>
            <p:cNvPr id="38007" name="Arc 119"/>
            <p:cNvSpPr>
              <a:spLocks/>
            </p:cNvSpPr>
            <p:nvPr/>
          </p:nvSpPr>
          <p:spPr bwMode="auto">
            <a:xfrm rot="1338244">
              <a:off x="4302" y="1383"/>
              <a:ext cx="171" cy="515"/>
            </a:xfrm>
            <a:custGeom>
              <a:avLst/>
              <a:gdLst>
                <a:gd name="G0" fmla="+- 76 0 0"/>
                <a:gd name="G1" fmla="+- 21600 0 0"/>
                <a:gd name="G2" fmla="+- 21600 0 0"/>
                <a:gd name="T0" fmla="*/ 0 w 21676"/>
                <a:gd name="T1" fmla="*/ 0 h 42098"/>
                <a:gd name="T2" fmla="*/ 6888 w 21676"/>
                <a:gd name="T3" fmla="*/ 42098 h 42098"/>
                <a:gd name="T4" fmla="*/ 76 w 21676"/>
                <a:gd name="T5" fmla="*/ 21600 h 42098"/>
              </a:gdLst>
              <a:ahLst/>
              <a:cxnLst>
                <a:cxn ang="0">
                  <a:pos x="T0" y="T1"/>
                </a:cxn>
                <a:cxn ang="0">
                  <a:pos x="T2" y="T3"/>
                </a:cxn>
                <a:cxn ang="0">
                  <a:pos x="T4" y="T5"/>
                </a:cxn>
              </a:cxnLst>
              <a:rect l="0" t="0" r="r" b="b"/>
              <a:pathLst>
                <a:path w="21676" h="42098" fill="none" extrusionOk="0">
                  <a:moveTo>
                    <a:pt x="0" y="0"/>
                  </a:moveTo>
                  <a:cubicBezTo>
                    <a:pt x="25" y="0"/>
                    <a:pt x="50" y="-1"/>
                    <a:pt x="76" y="0"/>
                  </a:cubicBezTo>
                  <a:cubicBezTo>
                    <a:pt x="12005" y="0"/>
                    <a:pt x="21676" y="9670"/>
                    <a:pt x="21676" y="21600"/>
                  </a:cubicBezTo>
                  <a:cubicBezTo>
                    <a:pt x="21676" y="30904"/>
                    <a:pt x="15717" y="39163"/>
                    <a:pt x="6887" y="42097"/>
                  </a:cubicBezTo>
                </a:path>
                <a:path w="21676" h="42098" stroke="0" extrusionOk="0">
                  <a:moveTo>
                    <a:pt x="0" y="0"/>
                  </a:moveTo>
                  <a:cubicBezTo>
                    <a:pt x="25" y="0"/>
                    <a:pt x="50" y="-1"/>
                    <a:pt x="76" y="0"/>
                  </a:cubicBezTo>
                  <a:cubicBezTo>
                    <a:pt x="12005" y="0"/>
                    <a:pt x="21676" y="9670"/>
                    <a:pt x="21676" y="21600"/>
                  </a:cubicBezTo>
                  <a:cubicBezTo>
                    <a:pt x="21676" y="30904"/>
                    <a:pt x="15717" y="39163"/>
                    <a:pt x="6887" y="42097"/>
                  </a:cubicBezTo>
                  <a:lnTo>
                    <a:pt x="76" y="21600"/>
                  </a:lnTo>
                  <a:close/>
                </a:path>
              </a:pathLst>
            </a:custGeom>
            <a:noFill/>
            <a:ln w="9525">
              <a:solidFill>
                <a:srgbClr val="99CCFF"/>
              </a:solidFill>
              <a:round/>
              <a:headEnd/>
              <a:tailEnd/>
            </a:ln>
            <a:effectLst/>
          </p:spPr>
          <p:txBody>
            <a:bodyPr wrap="none" anchor="ctr"/>
            <a:lstStyle/>
            <a:p>
              <a:endParaRPr lang="fr-FR"/>
            </a:p>
          </p:txBody>
        </p:sp>
        <p:sp>
          <p:nvSpPr>
            <p:cNvPr id="38008" name="Arc 120"/>
            <p:cNvSpPr>
              <a:spLocks/>
            </p:cNvSpPr>
            <p:nvPr/>
          </p:nvSpPr>
          <p:spPr bwMode="auto">
            <a:xfrm rot="1338244">
              <a:off x="4003" y="1576"/>
              <a:ext cx="524" cy="152"/>
            </a:xfrm>
            <a:custGeom>
              <a:avLst/>
              <a:gdLst>
                <a:gd name="G0" fmla="+- 21600 0 0"/>
                <a:gd name="G1" fmla="+- 1090 0 0"/>
                <a:gd name="G2" fmla="+- 21600 0 0"/>
                <a:gd name="T0" fmla="*/ 42613 w 42613"/>
                <a:gd name="T1" fmla="*/ 6091 h 22690"/>
                <a:gd name="T2" fmla="*/ 28 w 42613"/>
                <a:gd name="T3" fmla="*/ 0 h 22690"/>
                <a:gd name="T4" fmla="*/ 21600 w 42613"/>
                <a:gd name="T5" fmla="*/ 1090 h 22690"/>
              </a:gdLst>
              <a:ahLst/>
              <a:cxnLst>
                <a:cxn ang="0">
                  <a:pos x="T0" y="T1"/>
                </a:cxn>
                <a:cxn ang="0">
                  <a:pos x="T2" y="T3"/>
                </a:cxn>
                <a:cxn ang="0">
                  <a:pos x="T4" y="T5"/>
                </a:cxn>
              </a:cxnLst>
              <a:rect l="0" t="0" r="r" b="b"/>
              <a:pathLst>
                <a:path w="42613" h="22690" fill="none" extrusionOk="0">
                  <a:moveTo>
                    <a:pt x="42613" y="6091"/>
                  </a:moveTo>
                  <a:cubicBezTo>
                    <a:pt x="40297" y="15822"/>
                    <a:pt x="31602" y="22689"/>
                    <a:pt x="21600" y="22690"/>
                  </a:cubicBezTo>
                  <a:cubicBezTo>
                    <a:pt x="9670" y="22690"/>
                    <a:pt x="0" y="13019"/>
                    <a:pt x="0" y="1090"/>
                  </a:cubicBezTo>
                  <a:cubicBezTo>
                    <a:pt x="-1" y="726"/>
                    <a:pt x="9" y="363"/>
                    <a:pt x="27" y="-1"/>
                  </a:cubicBezTo>
                </a:path>
                <a:path w="42613" h="22690" stroke="0" extrusionOk="0">
                  <a:moveTo>
                    <a:pt x="42613" y="6091"/>
                  </a:moveTo>
                  <a:cubicBezTo>
                    <a:pt x="40297" y="15822"/>
                    <a:pt x="31602" y="22689"/>
                    <a:pt x="21600" y="22690"/>
                  </a:cubicBezTo>
                  <a:cubicBezTo>
                    <a:pt x="9670" y="22690"/>
                    <a:pt x="0" y="13019"/>
                    <a:pt x="0" y="1090"/>
                  </a:cubicBezTo>
                  <a:cubicBezTo>
                    <a:pt x="-1" y="726"/>
                    <a:pt x="9" y="363"/>
                    <a:pt x="27" y="-1"/>
                  </a:cubicBezTo>
                  <a:lnTo>
                    <a:pt x="21600" y="1090"/>
                  </a:lnTo>
                  <a:close/>
                </a:path>
              </a:pathLst>
            </a:custGeom>
            <a:noFill/>
            <a:ln w="9525">
              <a:solidFill>
                <a:srgbClr val="99CCFF"/>
              </a:solidFill>
              <a:round/>
              <a:headEnd/>
              <a:tailEnd/>
            </a:ln>
            <a:effectLst/>
          </p:spPr>
          <p:txBody>
            <a:bodyPr wrap="none" anchor="ctr"/>
            <a:lstStyle/>
            <a:p>
              <a:endParaRPr lang="fr-FR"/>
            </a:p>
          </p:txBody>
        </p:sp>
        <p:sp>
          <p:nvSpPr>
            <p:cNvPr id="38009" name="Arc 121"/>
            <p:cNvSpPr>
              <a:spLocks/>
            </p:cNvSpPr>
            <p:nvPr/>
          </p:nvSpPr>
          <p:spPr bwMode="auto">
            <a:xfrm rot="1338244">
              <a:off x="3980" y="1663"/>
              <a:ext cx="487" cy="145"/>
            </a:xfrm>
            <a:custGeom>
              <a:avLst/>
              <a:gdLst>
                <a:gd name="G0" fmla="+- 21600 0 0"/>
                <a:gd name="G1" fmla="+- 1090 0 0"/>
                <a:gd name="G2" fmla="+- 21600 0 0"/>
                <a:gd name="T0" fmla="*/ 42613 w 42613"/>
                <a:gd name="T1" fmla="*/ 6091 h 22690"/>
                <a:gd name="T2" fmla="*/ 28 w 42613"/>
                <a:gd name="T3" fmla="*/ 0 h 22690"/>
                <a:gd name="T4" fmla="*/ 21600 w 42613"/>
                <a:gd name="T5" fmla="*/ 1090 h 22690"/>
              </a:gdLst>
              <a:ahLst/>
              <a:cxnLst>
                <a:cxn ang="0">
                  <a:pos x="T0" y="T1"/>
                </a:cxn>
                <a:cxn ang="0">
                  <a:pos x="T2" y="T3"/>
                </a:cxn>
                <a:cxn ang="0">
                  <a:pos x="T4" y="T5"/>
                </a:cxn>
              </a:cxnLst>
              <a:rect l="0" t="0" r="r" b="b"/>
              <a:pathLst>
                <a:path w="42613" h="22690" fill="none" extrusionOk="0">
                  <a:moveTo>
                    <a:pt x="42613" y="6091"/>
                  </a:moveTo>
                  <a:cubicBezTo>
                    <a:pt x="40297" y="15822"/>
                    <a:pt x="31602" y="22689"/>
                    <a:pt x="21600" y="22690"/>
                  </a:cubicBezTo>
                  <a:cubicBezTo>
                    <a:pt x="9670" y="22690"/>
                    <a:pt x="0" y="13019"/>
                    <a:pt x="0" y="1090"/>
                  </a:cubicBezTo>
                  <a:cubicBezTo>
                    <a:pt x="-1" y="726"/>
                    <a:pt x="9" y="363"/>
                    <a:pt x="27" y="-1"/>
                  </a:cubicBezTo>
                </a:path>
                <a:path w="42613" h="22690" stroke="0" extrusionOk="0">
                  <a:moveTo>
                    <a:pt x="42613" y="6091"/>
                  </a:moveTo>
                  <a:cubicBezTo>
                    <a:pt x="40297" y="15822"/>
                    <a:pt x="31602" y="22689"/>
                    <a:pt x="21600" y="22690"/>
                  </a:cubicBezTo>
                  <a:cubicBezTo>
                    <a:pt x="9670" y="22690"/>
                    <a:pt x="0" y="13019"/>
                    <a:pt x="0" y="1090"/>
                  </a:cubicBezTo>
                  <a:cubicBezTo>
                    <a:pt x="-1" y="726"/>
                    <a:pt x="9" y="363"/>
                    <a:pt x="27" y="-1"/>
                  </a:cubicBezTo>
                  <a:lnTo>
                    <a:pt x="21600" y="1090"/>
                  </a:lnTo>
                  <a:close/>
                </a:path>
              </a:pathLst>
            </a:custGeom>
            <a:noFill/>
            <a:ln w="9525">
              <a:solidFill>
                <a:srgbClr val="99CCFF"/>
              </a:solidFill>
              <a:round/>
              <a:headEnd/>
              <a:tailEnd/>
            </a:ln>
            <a:effectLst/>
          </p:spPr>
          <p:txBody>
            <a:bodyPr wrap="none" anchor="ctr"/>
            <a:lstStyle/>
            <a:p>
              <a:endParaRPr lang="fr-FR"/>
            </a:p>
          </p:txBody>
        </p:sp>
        <p:sp>
          <p:nvSpPr>
            <p:cNvPr id="38010" name="Arc 122"/>
            <p:cNvSpPr>
              <a:spLocks/>
            </p:cNvSpPr>
            <p:nvPr/>
          </p:nvSpPr>
          <p:spPr bwMode="auto">
            <a:xfrm rot="1338244">
              <a:off x="4046" y="1495"/>
              <a:ext cx="508" cy="145"/>
            </a:xfrm>
            <a:custGeom>
              <a:avLst/>
              <a:gdLst>
                <a:gd name="G0" fmla="+- 21141 0 0"/>
                <a:gd name="G1" fmla="+- 0 0 0"/>
                <a:gd name="G2" fmla="+- 21600 0 0"/>
                <a:gd name="T0" fmla="*/ 40752 w 40752"/>
                <a:gd name="T1" fmla="*/ 9054 h 21600"/>
                <a:gd name="T2" fmla="*/ 0 w 40752"/>
                <a:gd name="T3" fmla="*/ 4429 h 21600"/>
                <a:gd name="T4" fmla="*/ 21141 w 40752"/>
                <a:gd name="T5" fmla="*/ 0 h 21600"/>
              </a:gdLst>
              <a:ahLst/>
              <a:cxnLst>
                <a:cxn ang="0">
                  <a:pos x="T0" y="T1"/>
                </a:cxn>
                <a:cxn ang="0">
                  <a:pos x="T2" y="T3"/>
                </a:cxn>
                <a:cxn ang="0">
                  <a:pos x="T4" y="T5"/>
                </a:cxn>
              </a:cxnLst>
              <a:rect l="0" t="0" r="r" b="b"/>
              <a:pathLst>
                <a:path w="40752" h="21600" fill="none" extrusionOk="0">
                  <a:moveTo>
                    <a:pt x="40751" y="9053"/>
                  </a:moveTo>
                  <a:cubicBezTo>
                    <a:pt x="37220" y="16702"/>
                    <a:pt x="29565" y="21599"/>
                    <a:pt x="21141" y="21600"/>
                  </a:cubicBezTo>
                  <a:cubicBezTo>
                    <a:pt x="10918" y="21600"/>
                    <a:pt x="2096" y="14434"/>
                    <a:pt x="-1" y="4429"/>
                  </a:cubicBezTo>
                </a:path>
                <a:path w="40752" h="21600" stroke="0" extrusionOk="0">
                  <a:moveTo>
                    <a:pt x="40751" y="9053"/>
                  </a:moveTo>
                  <a:cubicBezTo>
                    <a:pt x="37220" y="16702"/>
                    <a:pt x="29565" y="21599"/>
                    <a:pt x="21141" y="21600"/>
                  </a:cubicBezTo>
                  <a:cubicBezTo>
                    <a:pt x="10918" y="21600"/>
                    <a:pt x="2096" y="14434"/>
                    <a:pt x="-1" y="4429"/>
                  </a:cubicBezTo>
                  <a:lnTo>
                    <a:pt x="21141" y="0"/>
                  </a:lnTo>
                  <a:close/>
                </a:path>
              </a:pathLst>
            </a:custGeom>
            <a:noFill/>
            <a:ln w="9525">
              <a:solidFill>
                <a:srgbClr val="99CCFF"/>
              </a:solidFill>
              <a:round/>
              <a:headEnd/>
              <a:tailEnd/>
            </a:ln>
            <a:effectLst/>
          </p:spPr>
          <p:txBody>
            <a:bodyPr wrap="none" anchor="ctr"/>
            <a:lstStyle/>
            <a:p>
              <a:endParaRPr lang="fr-FR"/>
            </a:p>
          </p:txBody>
        </p:sp>
        <p:sp>
          <p:nvSpPr>
            <p:cNvPr id="38011" name="Arc 123"/>
            <p:cNvSpPr>
              <a:spLocks/>
            </p:cNvSpPr>
            <p:nvPr/>
          </p:nvSpPr>
          <p:spPr bwMode="auto">
            <a:xfrm rot="1338244">
              <a:off x="4124" y="1402"/>
              <a:ext cx="439" cy="145"/>
            </a:xfrm>
            <a:custGeom>
              <a:avLst/>
              <a:gdLst>
                <a:gd name="G0" fmla="+- 18703 0 0"/>
                <a:gd name="G1" fmla="+- 0 0 0"/>
                <a:gd name="G2" fmla="+- 21600 0 0"/>
                <a:gd name="T0" fmla="*/ 36102 w 36102"/>
                <a:gd name="T1" fmla="*/ 12799 h 21600"/>
                <a:gd name="T2" fmla="*/ 0 w 36102"/>
                <a:gd name="T3" fmla="*/ 10806 h 21600"/>
                <a:gd name="T4" fmla="*/ 18703 w 36102"/>
                <a:gd name="T5" fmla="*/ 0 h 21600"/>
              </a:gdLst>
              <a:ahLst/>
              <a:cxnLst>
                <a:cxn ang="0">
                  <a:pos x="T0" y="T1"/>
                </a:cxn>
                <a:cxn ang="0">
                  <a:pos x="T2" y="T3"/>
                </a:cxn>
                <a:cxn ang="0">
                  <a:pos x="T4" y="T5"/>
                </a:cxn>
              </a:cxnLst>
              <a:rect l="0" t="0" r="r" b="b"/>
              <a:pathLst>
                <a:path w="36102" h="21600" fill="none" extrusionOk="0">
                  <a:moveTo>
                    <a:pt x="36102" y="12799"/>
                  </a:moveTo>
                  <a:cubicBezTo>
                    <a:pt x="32031" y="18332"/>
                    <a:pt x="25572" y="21599"/>
                    <a:pt x="18703" y="21600"/>
                  </a:cubicBezTo>
                  <a:cubicBezTo>
                    <a:pt x="10988" y="21600"/>
                    <a:pt x="3859" y="17485"/>
                    <a:pt x="0" y="10805"/>
                  </a:cubicBezTo>
                </a:path>
                <a:path w="36102" h="21600" stroke="0" extrusionOk="0">
                  <a:moveTo>
                    <a:pt x="36102" y="12799"/>
                  </a:moveTo>
                  <a:cubicBezTo>
                    <a:pt x="32031" y="18332"/>
                    <a:pt x="25572" y="21599"/>
                    <a:pt x="18703" y="21600"/>
                  </a:cubicBezTo>
                  <a:cubicBezTo>
                    <a:pt x="10988" y="21600"/>
                    <a:pt x="3859" y="17485"/>
                    <a:pt x="0" y="10805"/>
                  </a:cubicBezTo>
                  <a:lnTo>
                    <a:pt x="18703" y="0"/>
                  </a:lnTo>
                  <a:close/>
                </a:path>
              </a:pathLst>
            </a:custGeom>
            <a:noFill/>
            <a:ln w="9525">
              <a:solidFill>
                <a:srgbClr val="99CCFF"/>
              </a:solidFill>
              <a:round/>
              <a:headEnd/>
              <a:tailEnd/>
            </a:ln>
            <a:effectLst/>
          </p:spPr>
          <p:txBody>
            <a:bodyPr wrap="none" anchor="ctr"/>
            <a:lstStyle/>
            <a:p>
              <a:endParaRPr lang="fr-FR"/>
            </a:p>
          </p:txBody>
        </p:sp>
        <p:sp>
          <p:nvSpPr>
            <p:cNvPr id="38012" name="Arc 124"/>
            <p:cNvSpPr>
              <a:spLocks/>
            </p:cNvSpPr>
            <p:nvPr/>
          </p:nvSpPr>
          <p:spPr bwMode="auto">
            <a:xfrm rot="1338244">
              <a:off x="4209" y="1312"/>
              <a:ext cx="336" cy="145"/>
            </a:xfrm>
            <a:custGeom>
              <a:avLst/>
              <a:gdLst>
                <a:gd name="G0" fmla="+- 14152 0 0"/>
                <a:gd name="G1" fmla="+- 0 0 0"/>
                <a:gd name="G2" fmla="+- 21600 0 0"/>
                <a:gd name="T0" fmla="*/ 27637 w 27637"/>
                <a:gd name="T1" fmla="*/ 16874 h 21600"/>
                <a:gd name="T2" fmla="*/ 0 w 27637"/>
                <a:gd name="T3" fmla="*/ 16318 h 21600"/>
                <a:gd name="T4" fmla="*/ 14152 w 27637"/>
                <a:gd name="T5" fmla="*/ 0 h 21600"/>
              </a:gdLst>
              <a:ahLst/>
              <a:cxnLst>
                <a:cxn ang="0">
                  <a:pos x="T0" y="T1"/>
                </a:cxn>
                <a:cxn ang="0">
                  <a:pos x="T2" y="T3"/>
                </a:cxn>
                <a:cxn ang="0">
                  <a:pos x="T4" y="T5"/>
                </a:cxn>
              </a:cxnLst>
              <a:rect l="0" t="0" r="r" b="b"/>
              <a:pathLst>
                <a:path w="27637" h="21600" fill="none" extrusionOk="0">
                  <a:moveTo>
                    <a:pt x="27636" y="16873"/>
                  </a:moveTo>
                  <a:cubicBezTo>
                    <a:pt x="23808" y="19933"/>
                    <a:pt x="19052" y="21599"/>
                    <a:pt x="14152" y="21600"/>
                  </a:cubicBezTo>
                  <a:cubicBezTo>
                    <a:pt x="8952" y="21600"/>
                    <a:pt x="3927" y="19724"/>
                    <a:pt x="-1" y="16318"/>
                  </a:cubicBezTo>
                </a:path>
                <a:path w="27637" h="21600" stroke="0" extrusionOk="0">
                  <a:moveTo>
                    <a:pt x="27636" y="16873"/>
                  </a:moveTo>
                  <a:cubicBezTo>
                    <a:pt x="23808" y="19933"/>
                    <a:pt x="19052" y="21599"/>
                    <a:pt x="14152" y="21600"/>
                  </a:cubicBezTo>
                  <a:cubicBezTo>
                    <a:pt x="8952" y="21600"/>
                    <a:pt x="3927" y="19724"/>
                    <a:pt x="-1" y="16318"/>
                  </a:cubicBezTo>
                  <a:lnTo>
                    <a:pt x="14152" y="0"/>
                  </a:lnTo>
                  <a:close/>
                </a:path>
              </a:pathLst>
            </a:custGeom>
            <a:noFill/>
            <a:ln w="9525">
              <a:solidFill>
                <a:srgbClr val="99CCFF"/>
              </a:solidFill>
              <a:round/>
              <a:headEnd/>
              <a:tailEnd/>
            </a:ln>
            <a:effectLst/>
          </p:spPr>
          <p:txBody>
            <a:bodyPr wrap="none" anchor="ctr"/>
            <a:lstStyle/>
            <a:p>
              <a:endParaRPr lang="fr-FR"/>
            </a:p>
          </p:txBody>
        </p:sp>
        <p:sp>
          <p:nvSpPr>
            <p:cNvPr id="38013" name="Freeform 125"/>
            <p:cNvSpPr>
              <a:spLocks/>
            </p:cNvSpPr>
            <p:nvPr/>
          </p:nvSpPr>
          <p:spPr bwMode="auto">
            <a:xfrm>
              <a:off x="4076" y="1443"/>
              <a:ext cx="50" cy="69"/>
            </a:xfrm>
            <a:custGeom>
              <a:avLst/>
              <a:gdLst/>
              <a:ahLst/>
              <a:cxnLst>
                <a:cxn ang="0">
                  <a:pos x="159" y="225"/>
                </a:cxn>
                <a:cxn ang="0">
                  <a:pos x="174" y="165"/>
                </a:cxn>
                <a:cxn ang="0">
                  <a:pos x="198" y="213"/>
                </a:cxn>
                <a:cxn ang="0">
                  <a:pos x="225" y="153"/>
                </a:cxn>
                <a:cxn ang="0">
                  <a:pos x="228" y="186"/>
                </a:cxn>
                <a:cxn ang="0">
                  <a:pos x="270" y="162"/>
                </a:cxn>
                <a:cxn ang="0">
                  <a:pos x="390" y="0"/>
                </a:cxn>
                <a:cxn ang="0">
                  <a:pos x="258" y="252"/>
                </a:cxn>
                <a:cxn ang="0">
                  <a:pos x="273" y="267"/>
                </a:cxn>
                <a:cxn ang="0">
                  <a:pos x="267" y="297"/>
                </a:cxn>
                <a:cxn ang="0">
                  <a:pos x="315" y="324"/>
                </a:cxn>
                <a:cxn ang="0">
                  <a:pos x="252" y="330"/>
                </a:cxn>
                <a:cxn ang="0">
                  <a:pos x="270" y="378"/>
                </a:cxn>
                <a:cxn ang="0">
                  <a:pos x="225" y="357"/>
                </a:cxn>
                <a:cxn ang="0">
                  <a:pos x="228" y="441"/>
                </a:cxn>
                <a:cxn ang="0">
                  <a:pos x="177" y="372"/>
                </a:cxn>
                <a:cxn ang="0">
                  <a:pos x="120" y="450"/>
                </a:cxn>
                <a:cxn ang="0">
                  <a:pos x="132" y="402"/>
                </a:cxn>
                <a:cxn ang="0">
                  <a:pos x="57" y="426"/>
                </a:cxn>
                <a:cxn ang="0">
                  <a:pos x="78" y="363"/>
                </a:cxn>
                <a:cxn ang="0">
                  <a:pos x="30" y="354"/>
                </a:cxn>
                <a:cxn ang="0">
                  <a:pos x="63" y="345"/>
                </a:cxn>
                <a:cxn ang="0">
                  <a:pos x="0" y="303"/>
                </a:cxn>
                <a:cxn ang="0">
                  <a:pos x="81" y="291"/>
                </a:cxn>
                <a:cxn ang="0">
                  <a:pos x="75" y="252"/>
                </a:cxn>
                <a:cxn ang="0">
                  <a:pos x="99" y="255"/>
                </a:cxn>
                <a:cxn ang="0">
                  <a:pos x="96" y="198"/>
                </a:cxn>
                <a:cxn ang="0">
                  <a:pos x="135" y="237"/>
                </a:cxn>
                <a:cxn ang="0">
                  <a:pos x="138" y="174"/>
                </a:cxn>
                <a:cxn ang="0">
                  <a:pos x="168" y="231"/>
                </a:cxn>
              </a:cxnLst>
              <a:rect l="0" t="0" r="r" b="b"/>
              <a:pathLst>
                <a:path w="390" h="450">
                  <a:moveTo>
                    <a:pt x="159" y="225"/>
                  </a:moveTo>
                  <a:lnTo>
                    <a:pt x="174" y="165"/>
                  </a:lnTo>
                  <a:lnTo>
                    <a:pt x="198" y="213"/>
                  </a:lnTo>
                  <a:lnTo>
                    <a:pt x="225" y="153"/>
                  </a:lnTo>
                  <a:lnTo>
                    <a:pt x="228" y="186"/>
                  </a:lnTo>
                  <a:lnTo>
                    <a:pt x="270" y="162"/>
                  </a:lnTo>
                  <a:lnTo>
                    <a:pt x="390" y="0"/>
                  </a:lnTo>
                  <a:lnTo>
                    <a:pt x="258" y="252"/>
                  </a:lnTo>
                  <a:lnTo>
                    <a:pt x="273" y="267"/>
                  </a:lnTo>
                  <a:lnTo>
                    <a:pt x="267" y="297"/>
                  </a:lnTo>
                  <a:lnTo>
                    <a:pt x="315" y="324"/>
                  </a:lnTo>
                  <a:lnTo>
                    <a:pt x="252" y="330"/>
                  </a:lnTo>
                  <a:lnTo>
                    <a:pt x="270" y="378"/>
                  </a:lnTo>
                  <a:lnTo>
                    <a:pt x="225" y="357"/>
                  </a:lnTo>
                  <a:lnTo>
                    <a:pt x="228" y="441"/>
                  </a:lnTo>
                  <a:lnTo>
                    <a:pt x="177" y="372"/>
                  </a:lnTo>
                  <a:lnTo>
                    <a:pt x="120" y="450"/>
                  </a:lnTo>
                  <a:lnTo>
                    <a:pt x="132" y="402"/>
                  </a:lnTo>
                  <a:lnTo>
                    <a:pt x="57" y="426"/>
                  </a:lnTo>
                  <a:lnTo>
                    <a:pt x="78" y="363"/>
                  </a:lnTo>
                  <a:lnTo>
                    <a:pt x="30" y="354"/>
                  </a:lnTo>
                  <a:lnTo>
                    <a:pt x="63" y="345"/>
                  </a:lnTo>
                  <a:lnTo>
                    <a:pt x="0" y="303"/>
                  </a:lnTo>
                  <a:lnTo>
                    <a:pt x="81" y="291"/>
                  </a:lnTo>
                  <a:lnTo>
                    <a:pt x="75" y="252"/>
                  </a:lnTo>
                  <a:lnTo>
                    <a:pt x="99" y="255"/>
                  </a:lnTo>
                  <a:lnTo>
                    <a:pt x="96" y="198"/>
                  </a:lnTo>
                  <a:lnTo>
                    <a:pt x="135" y="237"/>
                  </a:lnTo>
                  <a:lnTo>
                    <a:pt x="138" y="174"/>
                  </a:lnTo>
                  <a:lnTo>
                    <a:pt x="168" y="231"/>
                  </a:lnTo>
                </a:path>
              </a:pathLst>
            </a:custGeom>
            <a:solidFill>
              <a:srgbClr val="FFFF00"/>
            </a:solidFill>
            <a:ln w="9525">
              <a:noFill/>
              <a:round/>
              <a:headEnd/>
              <a:tailEnd/>
            </a:ln>
            <a:effectLst/>
          </p:spPr>
          <p:txBody>
            <a:bodyPr wrap="none" anchor="ctr"/>
            <a:lstStyle/>
            <a:p>
              <a:endParaRPr lang="fr-FR"/>
            </a:p>
          </p:txBody>
        </p:sp>
        <p:sp>
          <p:nvSpPr>
            <p:cNvPr id="38014" name="Freeform 126"/>
            <p:cNvSpPr>
              <a:spLocks/>
            </p:cNvSpPr>
            <p:nvPr/>
          </p:nvSpPr>
          <p:spPr bwMode="auto">
            <a:xfrm rot="8794214" flipV="1">
              <a:off x="4226" y="1686"/>
              <a:ext cx="50" cy="69"/>
            </a:xfrm>
            <a:custGeom>
              <a:avLst/>
              <a:gdLst/>
              <a:ahLst/>
              <a:cxnLst>
                <a:cxn ang="0">
                  <a:pos x="159" y="225"/>
                </a:cxn>
                <a:cxn ang="0">
                  <a:pos x="174" y="165"/>
                </a:cxn>
                <a:cxn ang="0">
                  <a:pos x="198" y="213"/>
                </a:cxn>
                <a:cxn ang="0">
                  <a:pos x="225" y="153"/>
                </a:cxn>
                <a:cxn ang="0">
                  <a:pos x="228" y="186"/>
                </a:cxn>
                <a:cxn ang="0">
                  <a:pos x="270" y="162"/>
                </a:cxn>
                <a:cxn ang="0">
                  <a:pos x="390" y="0"/>
                </a:cxn>
                <a:cxn ang="0">
                  <a:pos x="258" y="252"/>
                </a:cxn>
                <a:cxn ang="0">
                  <a:pos x="273" y="267"/>
                </a:cxn>
                <a:cxn ang="0">
                  <a:pos x="267" y="297"/>
                </a:cxn>
                <a:cxn ang="0">
                  <a:pos x="315" y="324"/>
                </a:cxn>
                <a:cxn ang="0">
                  <a:pos x="252" y="330"/>
                </a:cxn>
                <a:cxn ang="0">
                  <a:pos x="270" y="378"/>
                </a:cxn>
                <a:cxn ang="0">
                  <a:pos x="225" y="357"/>
                </a:cxn>
                <a:cxn ang="0">
                  <a:pos x="228" y="441"/>
                </a:cxn>
                <a:cxn ang="0">
                  <a:pos x="177" y="372"/>
                </a:cxn>
                <a:cxn ang="0">
                  <a:pos x="120" y="450"/>
                </a:cxn>
                <a:cxn ang="0">
                  <a:pos x="132" y="402"/>
                </a:cxn>
                <a:cxn ang="0">
                  <a:pos x="57" y="426"/>
                </a:cxn>
                <a:cxn ang="0">
                  <a:pos x="78" y="363"/>
                </a:cxn>
                <a:cxn ang="0">
                  <a:pos x="30" y="354"/>
                </a:cxn>
                <a:cxn ang="0">
                  <a:pos x="63" y="345"/>
                </a:cxn>
                <a:cxn ang="0">
                  <a:pos x="0" y="303"/>
                </a:cxn>
                <a:cxn ang="0">
                  <a:pos x="81" y="291"/>
                </a:cxn>
                <a:cxn ang="0">
                  <a:pos x="75" y="252"/>
                </a:cxn>
                <a:cxn ang="0">
                  <a:pos x="99" y="255"/>
                </a:cxn>
                <a:cxn ang="0">
                  <a:pos x="96" y="198"/>
                </a:cxn>
                <a:cxn ang="0">
                  <a:pos x="135" y="237"/>
                </a:cxn>
                <a:cxn ang="0">
                  <a:pos x="138" y="174"/>
                </a:cxn>
                <a:cxn ang="0">
                  <a:pos x="168" y="231"/>
                </a:cxn>
              </a:cxnLst>
              <a:rect l="0" t="0" r="r" b="b"/>
              <a:pathLst>
                <a:path w="390" h="450">
                  <a:moveTo>
                    <a:pt x="159" y="225"/>
                  </a:moveTo>
                  <a:lnTo>
                    <a:pt x="174" y="165"/>
                  </a:lnTo>
                  <a:lnTo>
                    <a:pt x="198" y="213"/>
                  </a:lnTo>
                  <a:lnTo>
                    <a:pt x="225" y="153"/>
                  </a:lnTo>
                  <a:lnTo>
                    <a:pt x="228" y="186"/>
                  </a:lnTo>
                  <a:lnTo>
                    <a:pt x="270" y="162"/>
                  </a:lnTo>
                  <a:lnTo>
                    <a:pt x="390" y="0"/>
                  </a:lnTo>
                  <a:lnTo>
                    <a:pt x="258" y="252"/>
                  </a:lnTo>
                  <a:lnTo>
                    <a:pt x="273" y="267"/>
                  </a:lnTo>
                  <a:lnTo>
                    <a:pt x="267" y="297"/>
                  </a:lnTo>
                  <a:lnTo>
                    <a:pt x="315" y="324"/>
                  </a:lnTo>
                  <a:lnTo>
                    <a:pt x="252" y="330"/>
                  </a:lnTo>
                  <a:lnTo>
                    <a:pt x="270" y="378"/>
                  </a:lnTo>
                  <a:lnTo>
                    <a:pt x="225" y="357"/>
                  </a:lnTo>
                  <a:lnTo>
                    <a:pt x="228" y="441"/>
                  </a:lnTo>
                  <a:lnTo>
                    <a:pt x="177" y="372"/>
                  </a:lnTo>
                  <a:lnTo>
                    <a:pt x="120" y="450"/>
                  </a:lnTo>
                  <a:lnTo>
                    <a:pt x="132" y="402"/>
                  </a:lnTo>
                  <a:lnTo>
                    <a:pt x="57" y="426"/>
                  </a:lnTo>
                  <a:lnTo>
                    <a:pt x="78" y="363"/>
                  </a:lnTo>
                  <a:lnTo>
                    <a:pt x="30" y="354"/>
                  </a:lnTo>
                  <a:lnTo>
                    <a:pt x="63" y="345"/>
                  </a:lnTo>
                  <a:lnTo>
                    <a:pt x="0" y="303"/>
                  </a:lnTo>
                  <a:lnTo>
                    <a:pt x="81" y="291"/>
                  </a:lnTo>
                  <a:lnTo>
                    <a:pt x="75" y="252"/>
                  </a:lnTo>
                  <a:lnTo>
                    <a:pt x="99" y="255"/>
                  </a:lnTo>
                  <a:lnTo>
                    <a:pt x="96" y="198"/>
                  </a:lnTo>
                  <a:lnTo>
                    <a:pt x="135" y="237"/>
                  </a:lnTo>
                  <a:lnTo>
                    <a:pt x="138" y="174"/>
                  </a:lnTo>
                  <a:lnTo>
                    <a:pt x="168" y="231"/>
                  </a:lnTo>
                </a:path>
              </a:pathLst>
            </a:custGeom>
            <a:solidFill>
              <a:srgbClr val="FFFF00"/>
            </a:solidFill>
            <a:ln w="9525">
              <a:noFill/>
              <a:round/>
              <a:headEnd/>
              <a:tailEnd/>
            </a:ln>
            <a:effectLst/>
          </p:spPr>
          <p:txBody>
            <a:bodyPr wrap="none" anchor="ctr"/>
            <a:lstStyle/>
            <a:p>
              <a:endParaRPr lang="fr-FR"/>
            </a:p>
          </p:txBody>
        </p:sp>
        <p:sp>
          <p:nvSpPr>
            <p:cNvPr id="38015" name="Freeform 127"/>
            <p:cNvSpPr>
              <a:spLocks/>
            </p:cNvSpPr>
            <p:nvPr/>
          </p:nvSpPr>
          <p:spPr bwMode="auto">
            <a:xfrm rot="7389210" flipV="1">
              <a:off x="4383" y="1717"/>
              <a:ext cx="50" cy="69"/>
            </a:xfrm>
            <a:custGeom>
              <a:avLst/>
              <a:gdLst/>
              <a:ahLst/>
              <a:cxnLst>
                <a:cxn ang="0">
                  <a:pos x="159" y="225"/>
                </a:cxn>
                <a:cxn ang="0">
                  <a:pos x="174" y="165"/>
                </a:cxn>
                <a:cxn ang="0">
                  <a:pos x="198" y="213"/>
                </a:cxn>
                <a:cxn ang="0">
                  <a:pos x="225" y="153"/>
                </a:cxn>
                <a:cxn ang="0">
                  <a:pos x="228" y="186"/>
                </a:cxn>
                <a:cxn ang="0">
                  <a:pos x="270" y="162"/>
                </a:cxn>
                <a:cxn ang="0">
                  <a:pos x="390" y="0"/>
                </a:cxn>
                <a:cxn ang="0">
                  <a:pos x="258" y="252"/>
                </a:cxn>
                <a:cxn ang="0">
                  <a:pos x="273" y="267"/>
                </a:cxn>
                <a:cxn ang="0">
                  <a:pos x="267" y="297"/>
                </a:cxn>
                <a:cxn ang="0">
                  <a:pos x="315" y="324"/>
                </a:cxn>
                <a:cxn ang="0">
                  <a:pos x="252" y="330"/>
                </a:cxn>
                <a:cxn ang="0">
                  <a:pos x="270" y="378"/>
                </a:cxn>
                <a:cxn ang="0">
                  <a:pos x="225" y="357"/>
                </a:cxn>
                <a:cxn ang="0">
                  <a:pos x="228" y="441"/>
                </a:cxn>
                <a:cxn ang="0">
                  <a:pos x="177" y="372"/>
                </a:cxn>
                <a:cxn ang="0">
                  <a:pos x="120" y="450"/>
                </a:cxn>
                <a:cxn ang="0">
                  <a:pos x="132" y="402"/>
                </a:cxn>
                <a:cxn ang="0">
                  <a:pos x="57" y="426"/>
                </a:cxn>
                <a:cxn ang="0">
                  <a:pos x="78" y="363"/>
                </a:cxn>
                <a:cxn ang="0">
                  <a:pos x="30" y="354"/>
                </a:cxn>
                <a:cxn ang="0">
                  <a:pos x="63" y="345"/>
                </a:cxn>
                <a:cxn ang="0">
                  <a:pos x="0" y="303"/>
                </a:cxn>
                <a:cxn ang="0">
                  <a:pos x="81" y="291"/>
                </a:cxn>
                <a:cxn ang="0">
                  <a:pos x="75" y="252"/>
                </a:cxn>
                <a:cxn ang="0">
                  <a:pos x="99" y="255"/>
                </a:cxn>
                <a:cxn ang="0">
                  <a:pos x="96" y="198"/>
                </a:cxn>
                <a:cxn ang="0">
                  <a:pos x="135" y="237"/>
                </a:cxn>
                <a:cxn ang="0">
                  <a:pos x="138" y="174"/>
                </a:cxn>
                <a:cxn ang="0">
                  <a:pos x="168" y="231"/>
                </a:cxn>
              </a:cxnLst>
              <a:rect l="0" t="0" r="r" b="b"/>
              <a:pathLst>
                <a:path w="390" h="450">
                  <a:moveTo>
                    <a:pt x="159" y="225"/>
                  </a:moveTo>
                  <a:lnTo>
                    <a:pt x="174" y="165"/>
                  </a:lnTo>
                  <a:lnTo>
                    <a:pt x="198" y="213"/>
                  </a:lnTo>
                  <a:lnTo>
                    <a:pt x="225" y="153"/>
                  </a:lnTo>
                  <a:lnTo>
                    <a:pt x="228" y="186"/>
                  </a:lnTo>
                  <a:lnTo>
                    <a:pt x="270" y="162"/>
                  </a:lnTo>
                  <a:lnTo>
                    <a:pt x="390" y="0"/>
                  </a:lnTo>
                  <a:lnTo>
                    <a:pt x="258" y="252"/>
                  </a:lnTo>
                  <a:lnTo>
                    <a:pt x="273" y="267"/>
                  </a:lnTo>
                  <a:lnTo>
                    <a:pt x="267" y="297"/>
                  </a:lnTo>
                  <a:lnTo>
                    <a:pt x="315" y="324"/>
                  </a:lnTo>
                  <a:lnTo>
                    <a:pt x="252" y="330"/>
                  </a:lnTo>
                  <a:lnTo>
                    <a:pt x="270" y="378"/>
                  </a:lnTo>
                  <a:lnTo>
                    <a:pt x="225" y="357"/>
                  </a:lnTo>
                  <a:lnTo>
                    <a:pt x="228" y="441"/>
                  </a:lnTo>
                  <a:lnTo>
                    <a:pt x="177" y="372"/>
                  </a:lnTo>
                  <a:lnTo>
                    <a:pt x="120" y="450"/>
                  </a:lnTo>
                  <a:lnTo>
                    <a:pt x="132" y="402"/>
                  </a:lnTo>
                  <a:lnTo>
                    <a:pt x="57" y="426"/>
                  </a:lnTo>
                  <a:lnTo>
                    <a:pt x="78" y="363"/>
                  </a:lnTo>
                  <a:lnTo>
                    <a:pt x="30" y="354"/>
                  </a:lnTo>
                  <a:lnTo>
                    <a:pt x="63" y="345"/>
                  </a:lnTo>
                  <a:lnTo>
                    <a:pt x="0" y="303"/>
                  </a:lnTo>
                  <a:lnTo>
                    <a:pt x="81" y="291"/>
                  </a:lnTo>
                  <a:lnTo>
                    <a:pt x="75" y="252"/>
                  </a:lnTo>
                  <a:lnTo>
                    <a:pt x="99" y="255"/>
                  </a:lnTo>
                  <a:lnTo>
                    <a:pt x="96" y="198"/>
                  </a:lnTo>
                  <a:lnTo>
                    <a:pt x="135" y="237"/>
                  </a:lnTo>
                  <a:lnTo>
                    <a:pt x="138" y="174"/>
                  </a:lnTo>
                  <a:lnTo>
                    <a:pt x="168" y="231"/>
                  </a:lnTo>
                </a:path>
              </a:pathLst>
            </a:custGeom>
            <a:solidFill>
              <a:srgbClr val="FFFF00"/>
            </a:solidFill>
            <a:ln w="9525">
              <a:noFill/>
              <a:round/>
              <a:headEnd/>
              <a:tailEnd/>
            </a:ln>
            <a:effectLst/>
          </p:spPr>
          <p:txBody>
            <a:bodyPr wrap="none" anchor="ctr"/>
            <a:lstStyle/>
            <a:p>
              <a:endParaRPr lang="fr-FR"/>
            </a:p>
          </p:txBody>
        </p:sp>
        <p:sp>
          <p:nvSpPr>
            <p:cNvPr id="38016" name="Freeform 128"/>
            <p:cNvSpPr>
              <a:spLocks/>
            </p:cNvSpPr>
            <p:nvPr/>
          </p:nvSpPr>
          <p:spPr bwMode="auto">
            <a:xfrm rot="13832905" flipH="1">
              <a:off x="4387" y="1483"/>
              <a:ext cx="50" cy="69"/>
            </a:xfrm>
            <a:custGeom>
              <a:avLst/>
              <a:gdLst/>
              <a:ahLst/>
              <a:cxnLst>
                <a:cxn ang="0">
                  <a:pos x="159" y="225"/>
                </a:cxn>
                <a:cxn ang="0">
                  <a:pos x="174" y="165"/>
                </a:cxn>
                <a:cxn ang="0">
                  <a:pos x="198" y="213"/>
                </a:cxn>
                <a:cxn ang="0">
                  <a:pos x="225" y="153"/>
                </a:cxn>
                <a:cxn ang="0">
                  <a:pos x="228" y="186"/>
                </a:cxn>
                <a:cxn ang="0">
                  <a:pos x="270" y="162"/>
                </a:cxn>
                <a:cxn ang="0">
                  <a:pos x="390" y="0"/>
                </a:cxn>
                <a:cxn ang="0">
                  <a:pos x="258" y="252"/>
                </a:cxn>
                <a:cxn ang="0">
                  <a:pos x="273" y="267"/>
                </a:cxn>
                <a:cxn ang="0">
                  <a:pos x="267" y="297"/>
                </a:cxn>
                <a:cxn ang="0">
                  <a:pos x="315" y="324"/>
                </a:cxn>
                <a:cxn ang="0">
                  <a:pos x="252" y="330"/>
                </a:cxn>
                <a:cxn ang="0">
                  <a:pos x="270" y="378"/>
                </a:cxn>
                <a:cxn ang="0">
                  <a:pos x="225" y="357"/>
                </a:cxn>
                <a:cxn ang="0">
                  <a:pos x="228" y="441"/>
                </a:cxn>
                <a:cxn ang="0">
                  <a:pos x="177" y="372"/>
                </a:cxn>
                <a:cxn ang="0">
                  <a:pos x="120" y="450"/>
                </a:cxn>
                <a:cxn ang="0">
                  <a:pos x="132" y="402"/>
                </a:cxn>
                <a:cxn ang="0">
                  <a:pos x="57" y="426"/>
                </a:cxn>
                <a:cxn ang="0">
                  <a:pos x="78" y="363"/>
                </a:cxn>
                <a:cxn ang="0">
                  <a:pos x="30" y="354"/>
                </a:cxn>
                <a:cxn ang="0">
                  <a:pos x="63" y="345"/>
                </a:cxn>
                <a:cxn ang="0">
                  <a:pos x="0" y="303"/>
                </a:cxn>
                <a:cxn ang="0">
                  <a:pos x="81" y="291"/>
                </a:cxn>
                <a:cxn ang="0">
                  <a:pos x="75" y="252"/>
                </a:cxn>
                <a:cxn ang="0">
                  <a:pos x="99" y="255"/>
                </a:cxn>
                <a:cxn ang="0">
                  <a:pos x="96" y="198"/>
                </a:cxn>
                <a:cxn ang="0">
                  <a:pos x="135" y="237"/>
                </a:cxn>
                <a:cxn ang="0">
                  <a:pos x="138" y="174"/>
                </a:cxn>
                <a:cxn ang="0">
                  <a:pos x="168" y="231"/>
                </a:cxn>
              </a:cxnLst>
              <a:rect l="0" t="0" r="r" b="b"/>
              <a:pathLst>
                <a:path w="390" h="450">
                  <a:moveTo>
                    <a:pt x="159" y="225"/>
                  </a:moveTo>
                  <a:lnTo>
                    <a:pt x="174" y="165"/>
                  </a:lnTo>
                  <a:lnTo>
                    <a:pt x="198" y="213"/>
                  </a:lnTo>
                  <a:lnTo>
                    <a:pt x="225" y="153"/>
                  </a:lnTo>
                  <a:lnTo>
                    <a:pt x="228" y="186"/>
                  </a:lnTo>
                  <a:lnTo>
                    <a:pt x="270" y="162"/>
                  </a:lnTo>
                  <a:lnTo>
                    <a:pt x="390" y="0"/>
                  </a:lnTo>
                  <a:lnTo>
                    <a:pt x="258" y="252"/>
                  </a:lnTo>
                  <a:lnTo>
                    <a:pt x="273" y="267"/>
                  </a:lnTo>
                  <a:lnTo>
                    <a:pt x="267" y="297"/>
                  </a:lnTo>
                  <a:lnTo>
                    <a:pt x="315" y="324"/>
                  </a:lnTo>
                  <a:lnTo>
                    <a:pt x="252" y="330"/>
                  </a:lnTo>
                  <a:lnTo>
                    <a:pt x="270" y="378"/>
                  </a:lnTo>
                  <a:lnTo>
                    <a:pt x="225" y="357"/>
                  </a:lnTo>
                  <a:lnTo>
                    <a:pt x="228" y="441"/>
                  </a:lnTo>
                  <a:lnTo>
                    <a:pt x="177" y="372"/>
                  </a:lnTo>
                  <a:lnTo>
                    <a:pt x="120" y="450"/>
                  </a:lnTo>
                  <a:lnTo>
                    <a:pt x="132" y="402"/>
                  </a:lnTo>
                  <a:lnTo>
                    <a:pt x="57" y="426"/>
                  </a:lnTo>
                  <a:lnTo>
                    <a:pt x="78" y="363"/>
                  </a:lnTo>
                  <a:lnTo>
                    <a:pt x="30" y="354"/>
                  </a:lnTo>
                  <a:lnTo>
                    <a:pt x="63" y="345"/>
                  </a:lnTo>
                  <a:lnTo>
                    <a:pt x="0" y="303"/>
                  </a:lnTo>
                  <a:lnTo>
                    <a:pt x="81" y="291"/>
                  </a:lnTo>
                  <a:lnTo>
                    <a:pt x="75" y="252"/>
                  </a:lnTo>
                  <a:lnTo>
                    <a:pt x="99" y="255"/>
                  </a:lnTo>
                  <a:lnTo>
                    <a:pt x="96" y="198"/>
                  </a:lnTo>
                  <a:lnTo>
                    <a:pt x="135" y="237"/>
                  </a:lnTo>
                  <a:lnTo>
                    <a:pt x="138" y="174"/>
                  </a:lnTo>
                  <a:lnTo>
                    <a:pt x="168" y="231"/>
                  </a:lnTo>
                </a:path>
              </a:pathLst>
            </a:custGeom>
            <a:solidFill>
              <a:srgbClr val="FFFF00"/>
            </a:solidFill>
            <a:ln w="9525">
              <a:noFill/>
              <a:round/>
              <a:headEnd/>
              <a:tailEnd/>
            </a:ln>
            <a:effectLst/>
          </p:spPr>
          <p:txBody>
            <a:bodyPr wrap="none" anchor="ctr"/>
            <a:lstStyle/>
            <a:p>
              <a:endParaRPr lang="fr-FR"/>
            </a:p>
          </p:txBody>
        </p:sp>
      </p:grpSp>
      <p:sp>
        <p:nvSpPr>
          <p:cNvPr id="38017" name="Text Box 129"/>
          <p:cNvSpPr txBox="1">
            <a:spLocks noChangeArrowheads="1"/>
          </p:cNvSpPr>
          <p:nvPr/>
        </p:nvSpPr>
        <p:spPr bwMode="auto">
          <a:xfrm>
            <a:off x="6970137" y="2822575"/>
            <a:ext cx="1584683" cy="430887"/>
          </a:xfrm>
          <a:prstGeom prst="rect">
            <a:avLst/>
          </a:prstGeom>
          <a:noFill/>
          <a:ln w="9525">
            <a:noFill/>
            <a:miter lim="800000"/>
            <a:headEnd/>
            <a:tailEnd/>
          </a:ln>
          <a:effectLst/>
        </p:spPr>
        <p:txBody>
          <a:bodyPr wrap="square" anchor="ctr">
            <a:spAutoFit/>
          </a:bodyPr>
          <a:lstStyle/>
          <a:p>
            <a:pPr algn="ctr"/>
            <a:r>
              <a:rPr lang="en-US" sz="2200" b="1">
                <a:latin typeface="Arial" charset="0"/>
              </a:rPr>
              <a:t>Internet</a:t>
            </a:r>
          </a:p>
        </p:txBody>
      </p:sp>
      <p:grpSp>
        <p:nvGrpSpPr>
          <p:cNvPr id="38018" name="Group 130"/>
          <p:cNvGrpSpPr>
            <a:grpSpLocks/>
          </p:cNvGrpSpPr>
          <p:nvPr/>
        </p:nvGrpSpPr>
        <p:grpSpPr bwMode="auto">
          <a:xfrm>
            <a:off x="3659188" y="2382838"/>
            <a:ext cx="942975" cy="533400"/>
            <a:chOff x="2899" y="2529"/>
            <a:chExt cx="547" cy="309"/>
          </a:xfrm>
        </p:grpSpPr>
        <p:sp>
          <p:nvSpPr>
            <p:cNvPr id="38019" name="Freeform 131"/>
            <p:cNvSpPr>
              <a:spLocks/>
            </p:cNvSpPr>
            <p:nvPr/>
          </p:nvSpPr>
          <p:spPr bwMode="auto">
            <a:xfrm>
              <a:off x="3216" y="2606"/>
              <a:ext cx="230" cy="232"/>
            </a:xfrm>
            <a:custGeom>
              <a:avLst/>
              <a:gdLst/>
              <a:ahLst/>
              <a:cxnLst>
                <a:cxn ang="0">
                  <a:pos x="0" y="146"/>
                </a:cxn>
                <a:cxn ang="0">
                  <a:pos x="230" y="0"/>
                </a:cxn>
                <a:cxn ang="0">
                  <a:pos x="230" y="85"/>
                </a:cxn>
                <a:cxn ang="0">
                  <a:pos x="0" y="232"/>
                </a:cxn>
                <a:cxn ang="0">
                  <a:pos x="0" y="146"/>
                </a:cxn>
              </a:cxnLst>
              <a:rect l="0" t="0" r="r" b="b"/>
              <a:pathLst>
                <a:path w="230" h="232">
                  <a:moveTo>
                    <a:pt x="0" y="146"/>
                  </a:moveTo>
                  <a:lnTo>
                    <a:pt x="230" y="0"/>
                  </a:lnTo>
                  <a:lnTo>
                    <a:pt x="230" y="85"/>
                  </a:lnTo>
                  <a:lnTo>
                    <a:pt x="0" y="232"/>
                  </a:lnTo>
                  <a:lnTo>
                    <a:pt x="0" y="146"/>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38020" name="Freeform 132"/>
            <p:cNvSpPr>
              <a:spLocks/>
            </p:cNvSpPr>
            <p:nvPr/>
          </p:nvSpPr>
          <p:spPr bwMode="auto">
            <a:xfrm>
              <a:off x="2899" y="2672"/>
              <a:ext cx="318" cy="166"/>
            </a:xfrm>
            <a:custGeom>
              <a:avLst/>
              <a:gdLst/>
              <a:ahLst/>
              <a:cxnLst>
                <a:cxn ang="0">
                  <a:pos x="318" y="80"/>
                </a:cxn>
                <a:cxn ang="0">
                  <a:pos x="318" y="166"/>
                </a:cxn>
                <a:cxn ang="0">
                  <a:pos x="0" y="85"/>
                </a:cxn>
                <a:cxn ang="0">
                  <a:pos x="0" y="0"/>
                </a:cxn>
              </a:cxnLst>
              <a:rect l="0" t="0" r="r" b="b"/>
              <a:pathLst>
                <a:path w="318" h="166">
                  <a:moveTo>
                    <a:pt x="318" y="80"/>
                  </a:moveTo>
                  <a:lnTo>
                    <a:pt x="318" y="166"/>
                  </a:lnTo>
                  <a:lnTo>
                    <a:pt x="0" y="85"/>
                  </a:lnTo>
                  <a:lnTo>
                    <a:pt x="0" y="0"/>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38021" name="Oval 133"/>
            <p:cNvSpPr>
              <a:spLocks noChangeArrowheads="1"/>
            </p:cNvSpPr>
            <p:nvPr/>
          </p:nvSpPr>
          <p:spPr bwMode="auto">
            <a:xfrm>
              <a:off x="2993" y="2724"/>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38022" name="Oval 134"/>
            <p:cNvSpPr>
              <a:spLocks noChangeArrowheads="1"/>
            </p:cNvSpPr>
            <p:nvPr/>
          </p:nvSpPr>
          <p:spPr bwMode="auto">
            <a:xfrm>
              <a:off x="3044" y="2739"/>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38023" name="Oval 135"/>
            <p:cNvSpPr>
              <a:spLocks noChangeArrowheads="1"/>
            </p:cNvSpPr>
            <p:nvPr/>
          </p:nvSpPr>
          <p:spPr bwMode="auto">
            <a:xfrm>
              <a:off x="3099" y="2751"/>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38024" name="Oval 136"/>
            <p:cNvSpPr>
              <a:spLocks noChangeArrowheads="1"/>
            </p:cNvSpPr>
            <p:nvPr/>
          </p:nvSpPr>
          <p:spPr bwMode="auto">
            <a:xfrm>
              <a:off x="3149" y="2768"/>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38025" name="Freeform 137"/>
            <p:cNvSpPr>
              <a:spLocks/>
            </p:cNvSpPr>
            <p:nvPr/>
          </p:nvSpPr>
          <p:spPr bwMode="auto">
            <a:xfrm>
              <a:off x="2899" y="2529"/>
              <a:ext cx="547" cy="224"/>
            </a:xfrm>
            <a:custGeom>
              <a:avLst/>
              <a:gdLst/>
              <a:ahLst/>
              <a:cxnLst>
                <a:cxn ang="0">
                  <a:pos x="0" y="141"/>
                </a:cxn>
                <a:cxn ang="0">
                  <a:pos x="230" y="0"/>
                </a:cxn>
                <a:cxn ang="0">
                  <a:pos x="547" y="78"/>
                </a:cxn>
                <a:cxn ang="0">
                  <a:pos x="318" y="224"/>
                </a:cxn>
                <a:cxn ang="0">
                  <a:pos x="2" y="146"/>
                </a:cxn>
              </a:cxnLst>
              <a:rect l="0" t="0" r="r" b="b"/>
              <a:pathLst>
                <a:path w="547" h="224">
                  <a:moveTo>
                    <a:pt x="0" y="141"/>
                  </a:moveTo>
                  <a:lnTo>
                    <a:pt x="230" y="0"/>
                  </a:lnTo>
                  <a:lnTo>
                    <a:pt x="547" y="78"/>
                  </a:lnTo>
                  <a:lnTo>
                    <a:pt x="318" y="224"/>
                  </a:lnTo>
                  <a:lnTo>
                    <a:pt x="2" y="146"/>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grpSp>
      <p:grpSp>
        <p:nvGrpSpPr>
          <p:cNvPr id="38026" name="Group 138"/>
          <p:cNvGrpSpPr>
            <a:grpSpLocks/>
          </p:cNvGrpSpPr>
          <p:nvPr/>
        </p:nvGrpSpPr>
        <p:grpSpPr bwMode="auto">
          <a:xfrm>
            <a:off x="4330700" y="1524000"/>
            <a:ext cx="993775" cy="1606550"/>
            <a:chOff x="934" y="830"/>
            <a:chExt cx="626" cy="1012"/>
          </a:xfrm>
        </p:grpSpPr>
        <p:sp>
          <p:nvSpPr>
            <p:cNvPr id="38027" name="Freeform 139"/>
            <p:cNvSpPr>
              <a:spLocks/>
            </p:cNvSpPr>
            <p:nvPr/>
          </p:nvSpPr>
          <p:spPr bwMode="auto">
            <a:xfrm>
              <a:off x="946" y="1583"/>
              <a:ext cx="604" cy="259"/>
            </a:xfrm>
            <a:custGeom>
              <a:avLst/>
              <a:gdLst/>
              <a:ahLst/>
              <a:cxnLst>
                <a:cxn ang="0">
                  <a:pos x="0" y="292"/>
                </a:cxn>
                <a:cxn ang="0">
                  <a:pos x="0" y="370"/>
                </a:cxn>
                <a:cxn ang="0">
                  <a:pos x="567" y="535"/>
                </a:cxn>
                <a:cxn ang="0">
                  <a:pos x="1251" y="92"/>
                </a:cxn>
                <a:cxn ang="0">
                  <a:pos x="1251" y="0"/>
                </a:cxn>
              </a:cxnLst>
              <a:rect l="0" t="0" r="r" b="b"/>
              <a:pathLst>
                <a:path w="1252" h="536">
                  <a:moveTo>
                    <a:pt x="0" y="292"/>
                  </a:moveTo>
                  <a:lnTo>
                    <a:pt x="0" y="370"/>
                  </a:lnTo>
                  <a:lnTo>
                    <a:pt x="567" y="535"/>
                  </a:lnTo>
                  <a:lnTo>
                    <a:pt x="1251" y="92"/>
                  </a:lnTo>
                  <a:lnTo>
                    <a:pt x="1251" y="0"/>
                  </a:lnTo>
                </a:path>
              </a:pathLst>
            </a:custGeom>
            <a:solidFill>
              <a:srgbClr val="969696"/>
            </a:solidFill>
            <a:ln w="3175" cap="rnd" cmpd="sng">
              <a:solidFill>
                <a:schemeClr val="tx1"/>
              </a:solidFill>
              <a:prstDash val="solid"/>
              <a:round/>
              <a:headEnd type="none" w="med" len="med"/>
              <a:tailEnd type="none" w="med" len="med"/>
            </a:ln>
            <a:effectLst/>
          </p:spPr>
          <p:txBody>
            <a:bodyPr/>
            <a:lstStyle/>
            <a:p>
              <a:endParaRPr lang="fr-FR"/>
            </a:p>
          </p:txBody>
        </p:sp>
        <p:grpSp>
          <p:nvGrpSpPr>
            <p:cNvPr id="38028" name="Group 140"/>
            <p:cNvGrpSpPr>
              <a:grpSpLocks/>
            </p:cNvGrpSpPr>
            <p:nvPr/>
          </p:nvGrpSpPr>
          <p:grpSpPr bwMode="auto">
            <a:xfrm>
              <a:off x="934" y="830"/>
              <a:ext cx="626" cy="987"/>
              <a:chOff x="934" y="830"/>
              <a:chExt cx="626" cy="987"/>
            </a:xfrm>
          </p:grpSpPr>
          <p:sp>
            <p:nvSpPr>
              <p:cNvPr id="38029" name="Freeform 141"/>
              <p:cNvSpPr>
                <a:spLocks/>
              </p:cNvSpPr>
              <p:nvPr/>
            </p:nvSpPr>
            <p:spPr bwMode="auto">
              <a:xfrm>
                <a:off x="936" y="830"/>
                <a:ext cx="623" cy="217"/>
              </a:xfrm>
              <a:custGeom>
                <a:avLst/>
                <a:gdLst/>
                <a:ahLst/>
                <a:cxnLst>
                  <a:cxn ang="0">
                    <a:pos x="0" y="307"/>
                  </a:cxn>
                  <a:cxn ang="0">
                    <a:pos x="577" y="448"/>
                  </a:cxn>
                  <a:cxn ang="0">
                    <a:pos x="1290" y="127"/>
                  </a:cxn>
                  <a:cxn ang="0">
                    <a:pos x="727" y="0"/>
                  </a:cxn>
                  <a:cxn ang="0">
                    <a:pos x="0" y="307"/>
                  </a:cxn>
                </a:cxnLst>
                <a:rect l="0" t="0" r="r" b="b"/>
                <a:pathLst>
                  <a:path w="1291" h="449">
                    <a:moveTo>
                      <a:pt x="0" y="307"/>
                    </a:moveTo>
                    <a:lnTo>
                      <a:pt x="577" y="448"/>
                    </a:lnTo>
                    <a:lnTo>
                      <a:pt x="1290" y="127"/>
                    </a:lnTo>
                    <a:lnTo>
                      <a:pt x="727" y="0"/>
                    </a:lnTo>
                    <a:lnTo>
                      <a:pt x="0" y="307"/>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sp>
            <p:nvSpPr>
              <p:cNvPr id="38030" name="Freeform 142"/>
              <p:cNvSpPr>
                <a:spLocks/>
              </p:cNvSpPr>
              <p:nvPr/>
            </p:nvSpPr>
            <p:spPr bwMode="auto">
              <a:xfrm>
                <a:off x="1208" y="890"/>
                <a:ext cx="352" cy="927"/>
              </a:xfrm>
              <a:custGeom>
                <a:avLst/>
                <a:gdLst/>
                <a:ahLst/>
                <a:cxnLst>
                  <a:cxn ang="0">
                    <a:pos x="0" y="328"/>
                  </a:cxn>
                  <a:cxn ang="0">
                    <a:pos x="4" y="1915"/>
                  </a:cxn>
                  <a:cxn ang="0">
                    <a:pos x="728" y="1456"/>
                  </a:cxn>
                  <a:cxn ang="0">
                    <a:pos x="728" y="0"/>
                  </a:cxn>
                  <a:cxn ang="0">
                    <a:pos x="0" y="328"/>
                  </a:cxn>
                </a:cxnLst>
                <a:rect l="0" t="0" r="r" b="b"/>
                <a:pathLst>
                  <a:path w="729" h="1916">
                    <a:moveTo>
                      <a:pt x="0" y="328"/>
                    </a:moveTo>
                    <a:lnTo>
                      <a:pt x="4" y="1915"/>
                    </a:lnTo>
                    <a:lnTo>
                      <a:pt x="728" y="1456"/>
                    </a:lnTo>
                    <a:lnTo>
                      <a:pt x="728" y="0"/>
                    </a:lnTo>
                    <a:lnTo>
                      <a:pt x="0" y="32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38031" name="Freeform 143"/>
              <p:cNvSpPr>
                <a:spLocks/>
              </p:cNvSpPr>
              <p:nvPr/>
            </p:nvSpPr>
            <p:spPr bwMode="auto">
              <a:xfrm>
                <a:off x="934" y="978"/>
                <a:ext cx="278" cy="834"/>
              </a:xfrm>
              <a:custGeom>
                <a:avLst/>
                <a:gdLst/>
                <a:ahLst/>
                <a:cxnLst>
                  <a:cxn ang="0">
                    <a:pos x="576" y="140"/>
                  </a:cxn>
                  <a:cxn ang="0">
                    <a:pos x="576" y="1727"/>
                  </a:cxn>
                  <a:cxn ang="0">
                    <a:pos x="0" y="1568"/>
                  </a:cxn>
                  <a:cxn ang="0">
                    <a:pos x="0" y="0"/>
                  </a:cxn>
                  <a:cxn ang="0">
                    <a:pos x="576" y="140"/>
                  </a:cxn>
                </a:cxnLst>
                <a:rect l="0" t="0" r="r" b="b"/>
                <a:pathLst>
                  <a:path w="577" h="1728">
                    <a:moveTo>
                      <a:pt x="576" y="140"/>
                    </a:moveTo>
                    <a:lnTo>
                      <a:pt x="576" y="1727"/>
                    </a:lnTo>
                    <a:lnTo>
                      <a:pt x="0" y="1568"/>
                    </a:lnTo>
                    <a:lnTo>
                      <a:pt x="0" y="0"/>
                    </a:lnTo>
                    <a:lnTo>
                      <a:pt x="576" y="140"/>
                    </a:lnTo>
                  </a:path>
                </a:pathLst>
              </a:custGeom>
              <a:gradFill rotWithShape="0">
                <a:gsLst>
                  <a:gs pos="0">
                    <a:srgbClr val="B2B2B2">
                      <a:gamma/>
                      <a:tint val="23529"/>
                      <a:invGamma/>
                    </a:srgbClr>
                  </a:gs>
                  <a:gs pos="100000">
                    <a:srgbClr val="B2B2B2"/>
                  </a:gs>
                </a:gsLst>
                <a:lin ang="5400000" scaled="1"/>
              </a:gradFill>
              <a:ln w="3175" cap="rnd" cmpd="sng">
                <a:solidFill>
                  <a:schemeClr val="tx1"/>
                </a:solidFill>
                <a:prstDash val="solid"/>
                <a:round/>
                <a:headEnd type="none" w="med" len="med"/>
                <a:tailEnd type="none" w="med" len="med"/>
              </a:ln>
              <a:effectLst/>
            </p:spPr>
            <p:txBody>
              <a:bodyPr/>
              <a:lstStyle/>
              <a:p>
                <a:endParaRPr lang="fr-FR"/>
              </a:p>
            </p:txBody>
          </p:sp>
          <p:sp>
            <p:nvSpPr>
              <p:cNvPr id="38032" name="Line 144"/>
              <p:cNvSpPr>
                <a:spLocks noChangeShapeType="1"/>
              </p:cNvSpPr>
              <p:nvPr/>
            </p:nvSpPr>
            <p:spPr bwMode="auto">
              <a:xfrm>
                <a:off x="973" y="1680"/>
                <a:ext cx="192" cy="51"/>
              </a:xfrm>
              <a:prstGeom prst="line">
                <a:avLst/>
              </a:prstGeom>
              <a:noFill/>
              <a:ln w="6350">
                <a:solidFill>
                  <a:srgbClr val="676767"/>
                </a:solidFill>
                <a:round/>
                <a:headEnd/>
                <a:tailEnd/>
              </a:ln>
              <a:effectLst/>
            </p:spPr>
            <p:txBody>
              <a:bodyPr wrap="none" anchor="ctr"/>
              <a:lstStyle/>
              <a:p>
                <a:endParaRPr lang="fr-FR"/>
              </a:p>
            </p:txBody>
          </p:sp>
          <p:sp>
            <p:nvSpPr>
              <p:cNvPr id="38033" name="Oval 145"/>
              <p:cNvSpPr>
                <a:spLocks noChangeArrowheads="1"/>
              </p:cNvSpPr>
              <p:nvPr/>
            </p:nvSpPr>
            <p:spPr bwMode="auto">
              <a:xfrm>
                <a:off x="966" y="1019"/>
                <a:ext cx="31" cy="17"/>
              </a:xfrm>
              <a:prstGeom prst="ellipse">
                <a:avLst/>
              </a:prstGeom>
              <a:solidFill>
                <a:srgbClr val="D60093"/>
              </a:solidFill>
              <a:ln w="12700">
                <a:noFill/>
                <a:round/>
                <a:headEnd/>
                <a:tailEnd/>
              </a:ln>
              <a:effectLst/>
            </p:spPr>
            <p:txBody>
              <a:bodyPr wrap="none" anchor="ctr"/>
              <a:lstStyle/>
              <a:p>
                <a:endParaRPr lang="fr-FR"/>
              </a:p>
            </p:txBody>
          </p:sp>
          <p:sp>
            <p:nvSpPr>
              <p:cNvPr id="38034" name="Line 146"/>
              <p:cNvSpPr>
                <a:spLocks noChangeShapeType="1"/>
              </p:cNvSpPr>
              <p:nvPr/>
            </p:nvSpPr>
            <p:spPr bwMode="auto">
              <a:xfrm>
                <a:off x="973" y="1642"/>
                <a:ext cx="192" cy="51"/>
              </a:xfrm>
              <a:prstGeom prst="line">
                <a:avLst/>
              </a:prstGeom>
              <a:noFill/>
              <a:ln w="6350">
                <a:solidFill>
                  <a:srgbClr val="676767"/>
                </a:solidFill>
                <a:round/>
                <a:headEnd/>
                <a:tailEnd/>
              </a:ln>
              <a:effectLst/>
            </p:spPr>
            <p:txBody>
              <a:bodyPr wrap="none" anchor="ctr"/>
              <a:lstStyle/>
              <a:p>
                <a:endParaRPr lang="fr-FR"/>
              </a:p>
            </p:txBody>
          </p:sp>
          <p:sp>
            <p:nvSpPr>
              <p:cNvPr id="38035" name="Line 147"/>
              <p:cNvSpPr>
                <a:spLocks noChangeShapeType="1"/>
              </p:cNvSpPr>
              <p:nvPr/>
            </p:nvSpPr>
            <p:spPr bwMode="auto">
              <a:xfrm>
                <a:off x="973" y="1604"/>
                <a:ext cx="192" cy="52"/>
              </a:xfrm>
              <a:prstGeom prst="line">
                <a:avLst/>
              </a:prstGeom>
              <a:noFill/>
              <a:ln w="6350">
                <a:solidFill>
                  <a:srgbClr val="676767"/>
                </a:solidFill>
                <a:round/>
                <a:headEnd/>
                <a:tailEnd/>
              </a:ln>
              <a:effectLst/>
            </p:spPr>
            <p:txBody>
              <a:bodyPr wrap="none" anchor="ctr"/>
              <a:lstStyle/>
              <a:p>
                <a:endParaRPr lang="fr-FR"/>
              </a:p>
            </p:txBody>
          </p:sp>
          <p:sp>
            <p:nvSpPr>
              <p:cNvPr id="38036" name="Line 148"/>
              <p:cNvSpPr>
                <a:spLocks noChangeShapeType="1"/>
              </p:cNvSpPr>
              <p:nvPr/>
            </p:nvSpPr>
            <p:spPr bwMode="auto">
              <a:xfrm>
                <a:off x="973" y="1567"/>
                <a:ext cx="192" cy="51"/>
              </a:xfrm>
              <a:prstGeom prst="line">
                <a:avLst/>
              </a:prstGeom>
              <a:noFill/>
              <a:ln w="6350">
                <a:solidFill>
                  <a:srgbClr val="676767"/>
                </a:solidFill>
                <a:round/>
                <a:headEnd/>
                <a:tailEnd/>
              </a:ln>
              <a:effectLst/>
            </p:spPr>
            <p:txBody>
              <a:bodyPr wrap="none" anchor="ctr"/>
              <a:lstStyle/>
              <a:p>
                <a:endParaRPr lang="fr-FR"/>
              </a:p>
            </p:txBody>
          </p:sp>
          <p:sp>
            <p:nvSpPr>
              <p:cNvPr id="38037" name="Line 149"/>
              <p:cNvSpPr>
                <a:spLocks noChangeShapeType="1"/>
              </p:cNvSpPr>
              <p:nvPr/>
            </p:nvSpPr>
            <p:spPr bwMode="auto">
              <a:xfrm>
                <a:off x="973" y="1528"/>
                <a:ext cx="192" cy="51"/>
              </a:xfrm>
              <a:prstGeom prst="line">
                <a:avLst/>
              </a:prstGeom>
              <a:noFill/>
              <a:ln w="6350">
                <a:solidFill>
                  <a:srgbClr val="676767"/>
                </a:solidFill>
                <a:round/>
                <a:headEnd/>
                <a:tailEnd/>
              </a:ln>
              <a:effectLst/>
            </p:spPr>
            <p:txBody>
              <a:bodyPr wrap="none" anchor="ctr"/>
              <a:lstStyle/>
              <a:p>
                <a:endParaRPr lang="fr-FR"/>
              </a:p>
            </p:txBody>
          </p:sp>
          <p:sp>
            <p:nvSpPr>
              <p:cNvPr id="38038" name="Freeform 150"/>
              <p:cNvSpPr>
                <a:spLocks/>
              </p:cNvSpPr>
              <p:nvPr/>
            </p:nvSpPr>
            <p:spPr bwMode="auto">
              <a:xfrm>
                <a:off x="976" y="1164"/>
                <a:ext cx="190" cy="355"/>
              </a:xfrm>
              <a:custGeom>
                <a:avLst/>
                <a:gdLst/>
                <a:ahLst/>
                <a:cxnLst>
                  <a:cxn ang="0">
                    <a:pos x="0" y="628"/>
                  </a:cxn>
                  <a:cxn ang="0">
                    <a:pos x="396" y="732"/>
                  </a:cxn>
                  <a:cxn ang="0">
                    <a:pos x="396" y="0"/>
                  </a:cxn>
                </a:cxnLst>
                <a:rect l="0" t="0" r="r" b="b"/>
                <a:pathLst>
                  <a:path w="397" h="733">
                    <a:moveTo>
                      <a:pt x="0" y="628"/>
                    </a:moveTo>
                    <a:lnTo>
                      <a:pt x="396" y="732"/>
                    </a:lnTo>
                    <a:lnTo>
                      <a:pt x="396" y="0"/>
                    </a:lnTo>
                  </a:path>
                </a:pathLst>
              </a:custGeom>
              <a:noFill/>
              <a:ln w="3175" cap="rnd" cmpd="sng">
                <a:solidFill>
                  <a:srgbClr val="676767"/>
                </a:solidFill>
                <a:prstDash val="solid"/>
                <a:round/>
                <a:headEnd type="none" w="med" len="med"/>
                <a:tailEnd type="none" w="med" len="med"/>
              </a:ln>
              <a:effectLst/>
            </p:spPr>
            <p:txBody>
              <a:bodyPr/>
              <a:lstStyle/>
              <a:p>
                <a:endParaRPr lang="fr-FR"/>
              </a:p>
            </p:txBody>
          </p:sp>
          <p:sp>
            <p:nvSpPr>
              <p:cNvPr id="38039" name="Freeform 151"/>
              <p:cNvSpPr>
                <a:spLocks/>
              </p:cNvSpPr>
              <p:nvPr/>
            </p:nvSpPr>
            <p:spPr bwMode="auto">
              <a:xfrm>
                <a:off x="956" y="1094"/>
                <a:ext cx="218" cy="618"/>
              </a:xfrm>
              <a:custGeom>
                <a:avLst/>
                <a:gdLst/>
                <a:ahLst/>
                <a:cxnLst>
                  <a:cxn ang="0">
                    <a:pos x="452" y="105"/>
                  </a:cxn>
                  <a:cxn ang="0">
                    <a:pos x="0" y="0"/>
                  </a:cxn>
                  <a:cxn ang="0">
                    <a:pos x="0" y="1277"/>
                  </a:cxn>
                </a:cxnLst>
                <a:rect l="0" t="0" r="r" b="b"/>
                <a:pathLst>
                  <a:path w="453" h="1278">
                    <a:moveTo>
                      <a:pt x="452" y="105"/>
                    </a:moveTo>
                    <a:lnTo>
                      <a:pt x="0" y="0"/>
                    </a:lnTo>
                    <a:lnTo>
                      <a:pt x="0" y="1277"/>
                    </a:lnTo>
                  </a:path>
                </a:pathLst>
              </a:custGeom>
              <a:noFill/>
              <a:ln w="6350" cap="rnd" cmpd="sng">
                <a:solidFill>
                  <a:schemeClr val="tx1"/>
                </a:solidFill>
                <a:prstDash val="solid"/>
                <a:round/>
                <a:headEnd type="none" w="med" len="med"/>
                <a:tailEnd type="none" w="med" len="med"/>
              </a:ln>
              <a:effectLst/>
            </p:spPr>
            <p:txBody>
              <a:bodyPr/>
              <a:lstStyle/>
              <a:p>
                <a:endParaRPr lang="fr-FR"/>
              </a:p>
            </p:txBody>
          </p:sp>
          <p:sp>
            <p:nvSpPr>
              <p:cNvPr id="38040" name="Freeform 152"/>
              <p:cNvSpPr>
                <a:spLocks/>
              </p:cNvSpPr>
              <p:nvPr/>
            </p:nvSpPr>
            <p:spPr bwMode="auto">
              <a:xfrm>
                <a:off x="970" y="1117"/>
                <a:ext cx="194" cy="352"/>
              </a:xfrm>
              <a:custGeom>
                <a:avLst/>
                <a:gdLst/>
                <a:ahLst/>
                <a:cxnLst>
                  <a:cxn ang="0">
                    <a:pos x="401" y="96"/>
                  </a:cxn>
                  <a:cxn ang="0">
                    <a:pos x="0" y="0"/>
                  </a:cxn>
                  <a:cxn ang="0">
                    <a:pos x="0" y="725"/>
                  </a:cxn>
                </a:cxnLst>
                <a:rect l="0" t="0" r="r" b="b"/>
                <a:pathLst>
                  <a:path w="402" h="726">
                    <a:moveTo>
                      <a:pt x="401" y="96"/>
                    </a:moveTo>
                    <a:lnTo>
                      <a:pt x="0" y="0"/>
                    </a:lnTo>
                    <a:lnTo>
                      <a:pt x="0" y="725"/>
                    </a:lnTo>
                  </a:path>
                </a:pathLst>
              </a:custGeom>
              <a:noFill/>
              <a:ln w="3175" cap="rnd" cmpd="sng">
                <a:solidFill>
                  <a:schemeClr val="tx1"/>
                </a:solidFill>
                <a:prstDash val="solid"/>
                <a:round/>
                <a:headEnd type="none" w="med" len="med"/>
                <a:tailEnd type="none" w="med" len="med"/>
              </a:ln>
              <a:effectLst/>
            </p:spPr>
            <p:txBody>
              <a:bodyPr/>
              <a:lstStyle/>
              <a:p>
                <a:endParaRPr lang="fr-FR"/>
              </a:p>
            </p:txBody>
          </p:sp>
          <p:sp>
            <p:nvSpPr>
              <p:cNvPr id="38041" name="Line 153"/>
              <p:cNvSpPr>
                <a:spLocks noChangeShapeType="1"/>
              </p:cNvSpPr>
              <p:nvPr/>
            </p:nvSpPr>
            <p:spPr bwMode="auto">
              <a:xfrm>
                <a:off x="971" y="1198"/>
                <a:ext cx="187" cy="43"/>
              </a:xfrm>
              <a:prstGeom prst="line">
                <a:avLst/>
              </a:prstGeom>
              <a:noFill/>
              <a:ln w="3175">
                <a:solidFill>
                  <a:srgbClr val="676767"/>
                </a:solidFill>
                <a:round/>
                <a:headEnd/>
                <a:tailEnd/>
              </a:ln>
              <a:effectLst/>
            </p:spPr>
            <p:txBody>
              <a:bodyPr wrap="none" anchor="ctr"/>
              <a:lstStyle/>
              <a:p>
                <a:endParaRPr lang="fr-FR"/>
              </a:p>
            </p:txBody>
          </p:sp>
          <p:sp>
            <p:nvSpPr>
              <p:cNvPr id="38042" name="Line 154"/>
              <p:cNvSpPr>
                <a:spLocks noChangeShapeType="1"/>
              </p:cNvSpPr>
              <p:nvPr/>
            </p:nvSpPr>
            <p:spPr bwMode="auto">
              <a:xfrm>
                <a:off x="971" y="1273"/>
                <a:ext cx="189" cy="43"/>
              </a:xfrm>
              <a:prstGeom prst="line">
                <a:avLst/>
              </a:prstGeom>
              <a:noFill/>
              <a:ln w="3175">
                <a:solidFill>
                  <a:srgbClr val="676767"/>
                </a:solidFill>
                <a:round/>
                <a:headEnd/>
                <a:tailEnd/>
              </a:ln>
              <a:effectLst/>
            </p:spPr>
            <p:txBody>
              <a:bodyPr wrap="none" anchor="ctr"/>
              <a:lstStyle/>
              <a:p>
                <a:endParaRPr lang="fr-FR"/>
              </a:p>
            </p:txBody>
          </p:sp>
          <p:sp>
            <p:nvSpPr>
              <p:cNvPr id="38043" name="Line 155"/>
              <p:cNvSpPr>
                <a:spLocks noChangeShapeType="1"/>
              </p:cNvSpPr>
              <p:nvPr/>
            </p:nvSpPr>
            <p:spPr bwMode="auto">
              <a:xfrm>
                <a:off x="971" y="1366"/>
                <a:ext cx="180" cy="43"/>
              </a:xfrm>
              <a:prstGeom prst="line">
                <a:avLst/>
              </a:prstGeom>
              <a:noFill/>
              <a:ln w="3175">
                <a:solidFill>
                  <a:srgbClr val="676767"/>
                </a:solidFill>
                <a:round/>
                <a:headEnd/>
                <a:tailEnd/>
              </a:ln>
              <a:effectLst/>
            </p:spPr>
            <p:txBody>
              <a:bodyPr wrap="none" anchor="ctr"/>
              <a:lstStyle/>
              <a:p>
                <a:endParaRPr lang="fr-FR"/>
              </a:p>
            </p:txBody>
          </p:sp>
          <p:sp>
            <p:nvSpPr>
              <p:cNvPr id="38044" name="Freeform 156"/>
              <p:cNvSpPr>
                <a:spLocks/>
              </p:cNvSpPr>
              <p:nvPr/>
            </p:nvSpPr>
            <p:spPr bwMode="auto">
              <a:xfrm>
                <a:off x="1027" y="1161"/>
                <a:ext cx="74" cy="40"/>
              </a:xfrm>
              <a:custGeom>
                <a:avLst/>
                <a:gdLst/>
                <a:ahLst/>
                <a:cxnLst>
                  <a:cxn ang="0">
                    <a:pos x="0" y="0"/>
                  </a:cxn>
                  <a:cxn ang="0">
                    <a:pos x="0" y="48"/>
                  </a:cxn>
                  <a:cxn ang="0">
                    <a:pos x="151" y="81"/>
                  </a:cxn>
                  <a:cxn ang="0">
                    <a:pos x="151" y="33"/>
                  </a:cxn>
                  <a:cxn ang="0">
                    <a:pos x="0" y="0"/>
                  </a:cxn>
                </a:cxnLst>
                <a:rect l="0" t="0" r="r" b="b"/>
                <a:pathLst>
                  <a:path w="152" h="82">
                    <a:moveTo>
                      <a:pt x="0" y="0"/>
                    </a:moveTo>
                    <a:lnTo>
                      <a:pt x="0" y="48"/>
                    </a:lnTo>
                    <a:lnTo>
                      <a:pt x="151" y="81"/>
                    </a:lnTo>
                    <a:lnTo>
                      <a:pt x="151" y="33"/>
                    </a:lnTo>
                    <a:lnTo>
                      <a:pt x="0" y="0"/>
                    </a:lnTo>
                  </a:path>
                </a:pathLst>
              </a:custGeom>
              <a:solidFill>
                <a:srgbClr val="A9A9A9"/>
              </a:solidFill>
              <a:ln w="12700" cap="rnd" cmpd="sng">
                <a:noFill/>
                <a:prstDash val="solid"/>
                <a:round/>
                <a:headEnd type="none" w="med" len="med"/>
                <a:tailEnd type="none" w="med" len="med"/>
              </a:ln>
              <a:effectLst/>
            </p:spPr>
            <p:txBody>
              <a:bodyPr/>
              <a:lstStyle/>
              <a:p>
                <a:endParaRPr lang="fr-FR"/>
              </a:p>
            </p:txBody>
          </p:sp>
          <p:sp>
            <p:nvSpPr>
              <p:cNvPr id="38045" name="Line 157"/>
              <p:cNvSpPr>
                <a:spLocks noChangeShapeType="1"/>
              </p:cNvSpPr>
              <p:nvPr/>
            </p:nvSpPr>
            <p:spPr bwMode="auto">
              <a:xfrm>
                <a:off x="998" y="1167"/>
                <a:ext cx="138" cy="30"/>
              </a:xfrm>
              <a:prstGeom prst="line">
                <a:avLst/>
              </a:prstGeom>
              <a:noFill/>
              <a:ln w="6350">
                <a:solidFill>
                  <a:srgbClr val="919191"/>
                </a:solidFill>
                <a:round/>
                <a:headEnd/>
                <a:tailEnd/>
              </a:ln>
              <a:effectLst/>
            </p:spPr>
            <p:txBody>
              <a:bodyPr wrap="none" anchor="ctr"/>
              <a:lstStyle/>
              <a:p>
                <a:endParaRPr lang="fr-FR"/>
              </a:p>
            </p:txBody>
          </p:sp>
          <p:sp>
            <p:nvSpPr>
              <p:cNvPr id="38046" name="Freeform 158"/>
              <p:cNvSpPr>
                <a:spLocks/>
              </p:cNvSpPr>
              <p:nvPr/>
            </p:nvSpPr>
            <p:spPr bwMode="auto">
              <a:xfrm>
                <a:off x="984" y="1304"/>
                <a:ext cx="167" cy="75"/>
              </a:xfrm>
              <a:custGeom>
                <a:avLst/>
                <a:gdLst/>
                <a:ahLst/>
                <a:cxnLst>
                  <a:cxn ang="0">
                    <a:pos x="0" y="85"/>
                  </a:cxn>
                  <a:cxn ang="0">
                    <a:pos x="0" y="0"/>
                  </a:cxn>
                  <a:cxn ang="0">
                    <a:pos x="350" y="93"/>
                  </a:cxn>
                  <a:cxn ang="0">
                    <a:pos x="350" y="182"/>
                  </a:cxn>
                  <a:cxn ang="0">
                    <a:pos x="0" y="85"/>
                  </a:cxn>
                </a:cxnLst>
                <a:rect l="0" t="0" r="r" b="b"/>
                <a:pathLst>
                  <a:path w="351" h="183">
                    <a:moveTo>
                      <a:pt x="0" y="85"/>
                    </a:moveTo>
                    <a:lnTo>
                      <a:pt x="0" y="0"/>
                    </a:lnTo>
                    <a:lnTo>
                      <a:pt x="350" y="93"/>
                    </a:lnTo>
                    <a:lnTo>
                      <a:pt x="350" y="182"/>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38047" name="Freeform 159"/>
              <p:cNvSpPr>
                <a:spLocks/>
              </p:cNvSpPr>
              <p:nvPr/>
            </p:nvSpPr>
            <p:spPr bwMode="auto">
              <a:xfrm>
                <a:off x="984" y="1397"/>
                <a:ext cx="167" cy="83"/>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38048" name="Freeform 160"/>
              <p:cNvSpPr>
                <a:spLocks/>
              </p:cNvSpPr>
              <p:nvPr/>
            </p:nvSpPr>
            <p:spPr bwMode="auto">
              <a:xfrm>
                <a:off x="981" y="1220"/>
                <a:ext cx="170" cy="77"/>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38049" name="Line 161"/>
              <p:cNvSpPr>
                <a:spLocks noChangeShapeType="1"/>
              </p:cNvSpPr>
              <p:nvPr/>
            </p:nvSpPr>
            <p:spPr bwMode="auto">
              <a:xfrm flipH="1" flipV="1">
                <a:off x="1103" y="1267"/>
                <a:ext cx="33" cy="8"/>
              </a:xfrm>
              <a:prstGeom prst="line">
                <a:avLst/>
              </a:prstGeom>
              <a:noFill/>
              <a:ln w="9525">
                <a:solidFill>
                  <a:srgbClr val="D60093"/>
                </a:solidFill>
                <a:round/>
                <a:headEnd/>
                <a:tailEnd/>
              </a:ln>
              <a:effectLst/>
            </p:spPr>
            <p:txBody>
              <a:bodyPr wrap="none" tIns="27432" bIns="27432" anchor="ctr">
                <a:spAutoFit/>
              </a:bodyPr>
              <a:lstStyle/>
              <a:p>
                <a:endParaRPr lang="fr-FR"/>
              </a:p>
            </p:txBody>
          </p:sp>
          <p:sp>
            <p:nvSpPr>
              <p:cNvPr id="38050" name="Line 162"/>
              <p:cNvSpPr>
                <a:spLocks noChangeShapeType="1"/>
              </p:cNvSpPr>
              <p:nvPr/>
            </p:nvSpPr>
            <p:spPr bwMode="auto">
              <a:xfrm flipH="1" flipV="1">
                <a:off x="1103" y="1349"/>
                <a:ext cx="33" cy="7"/>
              </a:xfrm>
              <a:prstGeom prst="line">
                <a:avLst/>
              </a:prstGeom>
              <a:noFill/>
              <a:ln w="9525">
                <a:solidFill>
                  <a:srgbClr val="D60093"/>
                </a:solidFill>
                <a:round/>
                <a:headEnd/>
                <a:tailEnd/>
              </a:ln>
              <a:effectLst/>
            </p:spPr>
            <p:txBody>
              <a:bodyPr wrap="none" tIns="27432" bIns="27432" anchor="ctr">
                <a:spAutoFit/>
              </a:bodyPr>
              <a:lstStyle/>
              <a:p>
                <a:endParaRPr lang="fr-FR"/>
              </a:p>
            </p:txBody>
          </p:sp>
          <p:sp>
            <p:nvSpPr>
              <p:cNvPr id="38051" name="Line 163"/>
              <p:cNvSpPr>
                <a:spLocks noChangeShapeType="1"/>
              </p:cNvSpPr>
              <p:nvPr/>
            </p:nvSpPr>
            <p:spPr bwMode="auto">
              <a:xfrm flipH="1" flipV="1">
                <a:off x="1103" y="1448"/>
                <a:ext cx="33" cy="8"/>
              </a:xfrm>
              <a:prstGeom prst="line">
                <a:avLst/>
              </a:prstGeom>
              <a:noFill/>
              <a:ln w="9525">
                <a:solidFill>
                  <a:srgbClr val="D60093"/>
                </a:solidFill>
                <a:round/>
                <a:headEnd/>
                <a:tailEnd/>
              </a:ln>
              <a:effectLst/>
            </p:spPr>
            <p:txBody>
              <a:bodyPr wrap="none" tIns="27432" bIns="27432" anchor="ctr">
                <a:spAutoFit/>
              </a:bodyPr>
              <a:lstStyle/>
              <a:p>
                <a:endParaRPr lang="fr-FR"/>
              </a:p>
            </p:txBody>
          </p:sp>
        </p:grpSp>
      </p:grpSp>
      <p:grpSp>
        <p:nvGrpSpPr>
          <p:cNvPr id="38052" name="Group 164"/>
          <p:cNvGrpSpPr>
            <a:grpSpLocks/>
          </p:cNvGrpSpPr>
          <p:nvPr/>
        </p:nvGrpSpPr>
        <p:grpSpPr bwMode="auto">
          <a:xfrm>
            <a:off x="1392238" y="2373313"/>
            <a:ext cx="942975" cy="533400"/>
            <a:chOff x="2899" y="2529"/>
            <a:chExt cx="547" cy="309"/>
          </a:xfrm>
        </p:grpSpPr>
        <p:sp>
          <p:nvSpPr>
            <p:cNvPr id="38053" name="Freeform 165"/>
            <p:cNvSpPr>
              <a:spLocks/>
            </p:cNvSpPr>
            <p:nvPr/>
          </p:nvSpPr>
          <p:spPr bwMode="auto">
            <a:xfrm>
              <a:off x="3216" y="2606"/>
              <a:ext cx="230" cy="232"/>
            </a:xfrm>
            <a:custGeom>
              <a:avLst/>
              <a:gdLst/>
              <a:ahLst/>
              <a:cxnLst>
                <a:cxn ang="0">
                  <a:pos x="0" y="146"/>
                </a:cxn>
                <a:cxn ang="0">
                  <a:pos x="230" y="0"/>
                </a:cxn>
                <a:cxn ang="0">
                  <a:pos x="230" y="85"/>
                </a:cxn>
                <a:cxn ang="0">
                  <a:pos x="0" y="232"/>
                </a:cxn>
                <a:cxn ang="0">
                  <a:pos x="0" y="146"/>
                </a:cxn>
              </a:cxnLst>
              <a:rect l="0" t="0" r="r" b="b"/>
              <a:pathLst>
                <a:path w="230" h="232">
                  <a:moveTo>
                    <a:pt x="0" y="146"/>
                  </a:moveTo>
                  <a:lnTo>
                    <a:pt x="230" y="0"/>
                  </a:lnTo>
                  <a:lnTo>
                    <a:pt x="230" y="85"/>
                  </a:lnTo>
                  <a:lnTo>
                    <a:pt x="0" y="232"/>
                  </a:lnTo>
                  <a:lnTo>
                    <a:pt x="0" y="146"/>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38054" name="Freeform 166"/>
            <p:cNvSpPr>
              <a:spLocks/>
            </p:cNvSpPr>
            <p:nvPr/>
          </p:nvSpPr>
          <p:spPr bwMode="auto">
            <a:xfrm>
              <a:off x="2899" y="2672"/>
              <a:ext cx="318" cy="166"/>
            </a:xfrm>
            <a:custGeom>
              <a:avLst/>
              <a:gdLst/>
              <a:ahLst/>
              <a:cxnLst>
                <a:cxn ang="0">
                  <a:pos x="318" y="80"/>
                </a:cxn>
                <a:cxn ang="0">
                  <a:pos x="318" y="166"/>
                </a:cxn>
                <a:cxn ang="0">
                  <a:pos x="0" y="85"/>
                </a:cxn>
                <a:cxn ang="0">
                  <a:pos x="0" y="0"/>
                </a:cxn>
              </a:cxnLst>
              <a:rect l="0" t="0" r="r" b="b"/>
              <a:pathLst>
                <a:path w="318" h="166">
                  <a:moveTo>
                    <a:pt x="318" y="80"/>
                  </a:moveTo>
                  <a:lnTo>
                    <a:pt x="318" y="166"/>
                  </a:lnTo>
                  <a:lnTo>
                    <a:pt x="0" y="85"/>
                  </a:lnTo>
                  <a:lnTo>
                    <a:pt x="0" y="0"/>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38055" name="Oval 167"/>
            <p:cNvSpPr>
              <a:spLocks noChangeArrowheads="1"/>
            </p:cNvSpPr>
            <p:nvPr/>
          </p:nvSpPr>
          <p:spPr bwMode="auto">
            <a:xfrm>
              <a:off x="2993" y="2724"/>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38056" name="Oval 168"/>
            <p:cNvSpPr>
              <a:spLocks noChangeArrowheads="1"/>
            </p:cNvSpPr>
            <p:nvPr/>
          </p:nvSpPr>
          <p:spPr bwMode="auto">
            <a:xfrm>
              <a:off x="3044" y="2739"/>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38057" name="Oval 169"/>
            <p:cNvSpPr>
              <a:spLocks noChangeArrowheads="1"/>
            </p:cNvSpPr>
            <p:nvPr/>
          </p:nvSpPr>
          <p:spPr bwMode="auto">
            <a:xfrm>
              <a:off x="3099" y="2751"/>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38058" name="Oval 170"/>
            <p:cNvSpPr>
              <a:spLocks noChangeArrowheads="1"/>
            </p:cNvSpPr>
            <p:nvPr/>
          </p:nvSpPr>
          <p:spPr bwMode="auto">
            <a:xfrm>
              <a:off x="3149" y="2768"/>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38059" name="Freeform 171"/>
            <p:cNvSpPr>
              <a:spLocks/>
            </p:cNvSpPr>
            <p:nvPr/>
          </p:nvSpPr>
          <p:spPr bwMode="auto">
            <a:xfrm>
              <a:off x="2899" y="2529"/>
              <a:ext cx="547" cy="224"/>
            </a:xfrm>
            <a:custGeom>
              <a:avLst/>
              <a:gdLst/>
              <a:ahLst/>
              <a:cxnLst>
                <a:cxn ang="0">
                  <a:pos x="0" y="141"/>
                </a:cxn>
                <a:cxn ang="0">
                  <a:pos x="230" y="0"/>
                </a:cxn>
                <a:cxn ang="0">
                  <a:pos x="547" y="78"/>
                </a:cxn>
                <a:cxn ang="0">
                  <a:pos x="318" y="224"/>
                </a:cxn>
                <a:cxn ang="0">
                  <a:pos x="2" y="146"/>
                </a:cxn>
              </a:cxnLst>
              <a:rect l="0" t="0" r="r" b="b"/>
              <a:pathLst>
                <a:path w="547" h="224">
                  <a:moveTo>
                    <a:pt x="0" y="141"/>
                  </a:moveTo>
                  <a:lnTo>
                    <a:pt x="230" y="0"/>
                  </a:lnTo>
                  <a:lnTo>
                    <a:pt x="547" y="78"/>
                  </a:lnTo>
                  <a:lnTo>
                    <a:pt x="318" y="224"/>
                  </a:lnTo>
                  <a:lnTo>
                    <a:pt x="2" y="146"/>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grpSp>
      <p:sp>
        <p:nvSpPr>
          <p:cNvPr id="38060" name="Freeform 172"/>
          <p:cNvSpPr>
            <a:spLocks/>
          </p:cNvSpPr>
          <p:nvPr/>
        </p:nvSpPr>
        <p:spPr bwMode="auto">
          <a:xfrm rot="1147326">
            <a:off x="5651500" y="1755775"/>
            <a:ext cx="1577975" cy="879475"/>
          </a:xfrm>
          <a:custGeom>
            <a:avLst/>
            <a:gdLst/>
            <a:ahLst/>
            <a:cxnLst>
              <a:cxn ang="0">
                <a:pos x="0" y="548"/>
              </a:cxn>
              <a:cxn ang="0">
                <a:pos x="96" y="362"/>
              </a:cxn>
              <a:cxn ang="0">
                <a:pos x="110" y="434"/>
              </a:cxn>
              <a:cxn ang="0">
                <a:pos x="538" y="150"/>
              </a:cxn>
              <a:cxn ang="0">
                <a:pos x="514" y="274"/>
              </a:cxn>
              <a:cxn ang="0">
                <a:pos x="834" y="82"/>
              </a:cxn>
              <a:cxn ang="0">
                <a:pos x="722" y="74"/>
              </a:cxn>
              <a:cxn ang="0">
                <a:pos x="980" y="0"/>
              </a:cxn>
              <a:cxn ang="0">
                <a:pos x="888" y="162"/>
              </a:cxn>
              <a:cxn ang="0">
                <a:pos x="858" y="98"/>
              </a:cxn>
              <a:cxn ang="0">
                <a:pos x="434" y="410"/>
              </a:cxn>
              <a:cxn ang="0">
                <a:pos x="470" y="262"/>
              </a:cxn>
              <a:cxn ang="0">
                <a:pos x="132" y="454"/>
              </a:cxn>
              <a:cxn ang="0">
                <a:pos x="214" y="482"/>
              </a:cxn>
              <a:cxn ang="0">
                <a:pos x="0" y="548"/>
              </a:cxn>
            </a:cxnLst>
            <a:rect l="0" t="0" r="r" b="b"/>
            <a:pathLst>
              <a:path w="980" h="548">
                <a:moveTo>
                  <a:pt x="0" y="548"/>
                </a:moveTo>
                <a:lnTo>
                  <a:pt x="96" y="362"/>
                </a:lnTo>
                <a:lnTo>
                  <a:pt x="110" y="434"/>
                </a:lnTo>
                <a:lnTo>
                  <a:pt x="538" y="150"/>
                </a:lnTo>
                <a:lnTo>
                  <a:pt x="514" y="274"/>
                </a:lnTo>
                <a:lnTo>
                  <a:pt x="834" y="82"/>
                </a:lnTo>
                <a:lnTo>
                  <a:pt x="722" y="74"/>
                </a:lnTo>
                <a:lnTo>
                  <a:pt x="980" y="0"/>
                </a:lnTo>
                <a:lnTo>
                  <a:pt x="888" y="162"/>
                </a:lnTo>
                <a:lnTo>
                  <a:pt x="858" y="98"/>
                </a:lnTo>
                <a:lnTo>
                  <a:pt x="434" y="410"/>
                </a:lnTo>
                <a:lnTo>
                  <a:pt x="470" y="262"/>
                </a:lnTo>
                <a:lnTo>
                  <a:pt x="132" y="454"/>
                </a:lnTo>
                <a:lnTo>
                  <a:pt x="214" y="482"/>
                </a:lnTo>
                <a:lnTo>
                  <a:pt x="0" y="548"/>
                </a:lnTo>
                <a:close/>
              </a:path>
            </a:pathLst>
          </a:custGeom>
          <a:gradFill rotWithShape="0">
            <a:gsLst>
              <a:gs pos="0">
                <a:srgbClr val="D20091">
                  <a:gamma/>
                  <a:tint val="47451"/>
                  <a:invGamma/>
                </a:srgbClr>
              </a:gs>
              <a:gs pos="100000">
                <a:srgbClr val="D20091"/>
              </a:gs>
            </a:gsLst>
            <a:lin ang="18900000" scaled="1"/>
          </a:gradFill>
          <a:ln w="6350" cap="flat" cmpd="sng">
            <a:solidFill>
              <a:srgbClr val="800080"/>
            </a:solidFill>
            <a:prstDash val="solid"/>
            <a:round/>
            <a:headEnd type="none" w="med" len="med"/>
            <a:tailEnd type="none" w="med" len="med"/>
          </a:ln>
          <a:effectLst>
            <a:outerShdw dist="38100" dir="5400000" algn="ctr" rotWithShape="0">
              <a:srgbClr val="C0C0C0"/>
            </a:outerShdw>
          </a:effectLst>
        </p:spPr>
        <p:txBody>
          <a:bodyPr wrap="none" tIns="27432" bIns="27432" anchor="ctr"/>
          <a:lstStyle/>
          <a:p>
            <a:endParaRPr lang="fr-FR"/>
          </a:p>
        </p:txBody>
      </p:sp>
      <p:sp>
        <p:nvSpPr>
          <p:cNvPr id="38061" name="Freeform 173"/>
          <p:cNvSpPr>
            <a:spLocks/>
          </p:cNvSpPr>
          <p:nvPr/>
        </p:nvSpPr>
        <p:spPr bwMode="auto">
          <a:xfrm rot="1147326">
            <a:off x="2243138" y="1730375"/>
            <a:ext cx="1577975" cy="879475"/>
          </a:xfrm>
          <a:custGeom>
            <a:avLst/>
            <a:gdLst/>
            <a:ahLst/>
            <a:cxnLst>
              <a:cxn ang="0">
                <a:pos x="0" y="548"/>
              </a:cxn>
              <a:cxn ang="0">
                <a:pos x="96" y="362"/>
              </a:cxn>
              <a:cxn ang="0">
                <a:pos x="110" y="434"/>
              </a:cxn>
              <a:cxn ang="0">
                <a:pos x="538" y="150"/>
              </a:cxn>
              <a:cxn ang="0">
                <a:pos x="514" y="274"/>
              </a:cxn>
              <a:cxn ang="0">
                <a:pos x="834" y="82"/>
              </a:cxn>
              <a:cxn ang="0">
                <a:pos x="722" y="74"/>
              </a:cxn>
              <a:cxn ang="0">
                <a:pos x="980" y="0"/>
              </a:cxn>
              <a:cxn ang="0">
                <a:pos x="888" y="162"/>
              </a:cxn>
              <a:cxn ang="0">
                <a:pos x="858" y="98"/>
              </a:cxn>
              <a:cxn ang="0">
                <a:pos x="434" y="410"/>
              </a:cxn>
              <a:cxn ang="0">
                <a:pos x="470" y="262"/>
              </a:cxn>
              <a:cxn ang="0">
                <a:pos x="132" y="454"/>
              </a:cxn>
              <a:cxn ang="0">
                <a:pos x="214" y="482"/>
              </a:cxn>
              <a:cxn ang="0">
                <a:pos x="0" y="548"/>
              </a:cxn>
            </a:cxnLst>
            <a:rect l="0" t="0" r="r" b="b"/>
            <a:pathLst>
              <a:path w="980" h="548">
                <a:moveTo>
                  <a:pt x="0" y="548"/>
                </a:moveTo>
                <a:lnTo>
                  <a:pt x="96" y="362"/>
                </a:lnTo>
                <a:lnTo>
                  <a:pt x="110" y="434"/>
                </a:lnTo>
                <a:lnTo>
                  <a:pt x="538" y="150"/>
                </a:lnTo>
                <a:lnTo>
                  <a:pt x="514" y="274"/>
                </a:lnTo>
                <a:lnTo>
                  <a:pt x="834" y="82"/>
                </a:lnTo>
                <a:lnTo>
                  <a:pt x="722" y="74"/>
                </a:lnTo>
                <a:lnTo>
                  <a:pt x="980" y="0"/>
                </a:lnTo>
                <a:lnTo>
                  <a:pt x="888" y="162"/>
                </a:lnTo>
                <a:lnTo>
                  <a:pt x="858" y="98"/>
                </a:lnTo>
                <a:lnTo>
                  <a:pt x="434" y="410"/>
                </a:lnTo>
                <a:lnTo>
                  <a:pt x="470" y="262"/>
                </a:lnTo>
                <a:lnTo>
                  <a:pt x="132" y="454"/>
                </a:lnTo>
                <a:lnTo>
                  <a:pt x="214" y="482"/>
                </a:lnTo>
                <a:lnTo>
                  <a:pt x="0" y="548"/>
                </a:lnTo>
                <a:close/>
              </a:path>
            </a:pathLst>
          </a:custGeom>
          <a:gradFill rotWithShape="0">
            <a:gsLst>
              <a:gs pos="0">
                <a:srgbClr val="D20091">
                  <a:gamma/>
                  <a:tint val="47451"/>
                  <a:invGamma/>
                </a:srgbClr>
              </a:gs>
              <a:gs pos="100000">
                <a:srgbClr val="D20091"/>
              </a:gs>
            </a:gsLst>
            <a:lin ang="18900000" scaled="1"/>
          </a:gradFill>
          <a:ln w="6350" cap="flat" cmpd="sng">
            <a:solidFill>
              <a:srgbClr val="800080"/>
            </a:solidFill>
            <a:prstDash val="solid"/>
            <a:round/>
            <a:headEnd type="none" w="med" len="med"/>
            <a:tailEnd type="none" w="med" len="med"/>
          </a:ln>
          <a:effectLst>
            <a:outerShdw dist="38100" dir="5400000" algn="ctr" rotWithShape="0">
              <a:srgbClr val="C0C0C0"/>
            </a:outerShdw>
          </a:effectLst>
        </p:spPr>
        <p:txBody>
          <a:bodyPr wrap="none" tIns="27432" bIns="27432" anchor="ctr"/>
          <a:lstStyle/>
          <a:p>
            <a:endParaRPr lang="fr-F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vert="horz" anchor="b">
            <a:normAutofit fontScale="90000"/>
          </a:bodyPr>
          <a:lstStyle/>
          <a:p>
            <a:r>
              <a:rPr lang="fr-FR" dirty="0">
                <a:solidFill>
                  <a:srgbClr val="C00000"/>
                </a:solidFill>
              </a:rPr>
              <a:t>Établissement d'une session d'accès distant</a:t>
            </a:r>
            <a:endParaRPr lang="en-US" dirty="0">
              <a:solidFill>
                <a:srgbClr val="C00000"/>
              </a:solidFill>
            </a:endParaRPr>
          </a:p>
        </p:txBody>
      </p:sp>
      <p:sp>
        <p:nvSpPr>
          <p:cNvPr id="80900" name="Freeform 4"/>
          <p:cNvSpPr>
            <a:spLocks/>
          </p:cNvSpPr>
          <p:nvPr/>
        </p:nvSpPr>
        <p:spPr bwMode="auto">
          <a:xfrm>
            <a:off x="1189038" y="1893888"/>
            <a:ext cx="6051550" cy="4195762"/>
          </a:xfrm>
          <a:custGeom>
            <a:avLst/>
            <a:gdLst/>
            <a:ahLst/>
            <a:cxnLst>
              <a:cxn ang="0">
                <a:pos x="0" y="2016"/>
              </a:cxn>
              <a:cxn ang="0">
                <a:pos x="0" y="2920"/>
              </a:cxn>
              <a:cxn ang="0">
                <a:pos x="704" y="2920"/>
              </a:cxn>
              <a:cxn ang="0">
                <a:pos x="3592" y="688"/>
              </a:cxn>
              <a:cxn ang="0">
                <a:pos x="3888" y="1176"/>
              </a:cxn>
              <a:cxn ang="0">
                <a:pos x="4168" y="0"/>
              </a:cxn>
              <a:cxn ang="0">
                <a:pos x="2736" y="224"/>
              </a:cxn>
              <a:cxn ang="0">
                <a:pos x="3216" y="448"/>
              </a:cxn>
              <a:cxn ang="0">
                <a:pos x="0" y="2016"/>
              </a:cxn>
            </a:cxnLst>
            <a:rect l="0" t="0" r="r" b="b"/>
            <a:pathLst>
              <a:path w="4168" h="2920">
                <a:moveTo>
                  <a:pt x="0" y="2016"/>
                </a:moveTo>
                <a:lnTo>
                  <a:pt x="0" y="2920"/>
                </a:lnTo>
                <a:lnTo>
                  <a:pt x="704" y="2920"/>
                </a:lnTo>
                <a:lnTo>
                  <a:pt x="3592" y="688"/>
                </a:lnTo>
                <a:lnTo>
                  <a:pt x="3888" y="1176"/>
                </a:lnTo>
                <a:lnTo>
                  <a:pt x="4168" y="0"/>
                </a:lnTo>
                <a:lnTo>
                  <a:pt x="2736" y="224"/>
                </a:lnTo>
                <a:lnTo>
                  <a:pt x="3216" y="448"/>
                </a:lnTo>
                <a:lnTo>
                  <a:pt x="0" y="2016"/>
                </a:lnTo>
                <a:close/>
              </a:path>
            </a:pathLst>
          </a:custGeom>
          <a:gradFill rotWithShape="0">
            <a:gsLst>
              <a:gs pos="0">
                <a:srgbClr val="FFC249"/>
              </a:gs>
              <a:gs pos="100000">
                <a:srgbClr val="EFD58D"/>
              </a:gs>
            </a:gsLst>
            <a:path path="rect">
              <a:fillToRect t="100000" r="100000"/>
            </a:path>
          </a:gradFill>
          <a:ln w="9525" cap="flat" cmpd="sng">
            <a:noFill/>
            <a:prstDash val="solid"/>
            <a:round/>
            <a:headEnd type="none" w="med" len="med"/>
            <a:tailEnd type="none" w="med" len="med"/>
          </a:ln>
          <a:effectLst/>
        </p:spPr>
        <p:txBody>
          <a:bodyPr wrap="none" anchor="ctr"/>
          <a:lstStyle/>
          <a:p>
            <a:endParaRPr lang="fr-FR"/>
          </a:p>
        </p:txBody>
      </p:sp>
      <p:grpSp>
        <p:nvGrpSpPr>
          <p:cNvPr id="80901" name="Group 5"/>
          <p:cNvGrpSpPr>
            <a:grpSpLocks/>
          </p:cNvGrpSpPr>
          <p:nvPr/>
        </p:nvGrpSpPr>
        <p:grpSpPr bwMode="auto">
          <a:xfrm flipH="1">
            <a:off x="354013" y="4916488"/>
            <a:ext cx="1676400" cy="1663700"/>
            <a:chOff x="816" y="1017"/>
            <a:chExt cx="1175" cy="1167"/>
          </a:xfrm>
        </p:grpSpPr>
        <p:sp>
          <p:nvSpPr>
            <p:cNvPr id="80902" name="Freeform 6"/>
            <p:cNvSpPr>
              <a:spLocks noChangeAspect="1"/>
            </p:cNvSpPr>
            <p:nvPr/>
          </p:nvSpPr>
          <p:spPr bwMode="auto">
            <a:xfrm>
              <a:off x="816" y="1017"/>
              <a:ext cx="1175" cy="1167"/>
            </a:xfrm>
            <a:custGeom>
              <a:avLst/>
              <a:gdLst/>
              <a:ahLst/>
              <a:cxnLst>
                <a:cxn ang="0">
                  <a:pos x="1175" y="208"/>
                </a:cxn>
                <a:cxn ang="0">
                  <a:pos x="1081" y="477"/>
                </a:cxn>
                <a:cxn ang="0">
                  <a:pos x="985" y="751"/>
                </a:cxn>
                <a:cxn ang="0">
                  <a:pos x="911" y="720"/>
                </a:cxn>
                <a:cxn ang="0">
                  <a:pos x="910" y="725"/>
                </a:cxn>
                <a:cxn ang="0">
                  <a:pos x="979" y="761"/>
                </a:cxn>
                <a:cxn ang="0">
                  <a:pos x="981" y="761"/>
                </a:cxn>
                <a:cxn ang="0">
                  <a:pos x="981" y="763"/>
                </a:cxn>
                <a:cxn ang="0">
                  <a:pos x="982" y="763"/>
                </a:cxn>
                <a:cxn ang="0">
                  <a:pos x="982" y="764"/>
                </a:cxn>
                <a:cxn ang="0">
                  <a:pos x="982" y="765"/>
                </a:cxn>
                <a:cxn ang="0">
                  <a:pos x="982" y="768"/>
                </a:cxn>
                <a:cxn ang="0">
                  <a:pos x="982" y="886"/>
                </a:cxn>
                <a:cxn ang="0">
                  <a:pos x="958" y="902"/>
                </a:cxn>
                <a:cxn ang="0">
                  <a:pos x="933" y="920"/>
                </a:cxn>
                <a:cxn ang="0">
                  <a:pos x="909" y="939"/>
                </a:cxn>
                <a:cxn ang="0">
                  <a:pos x="884" y="955"/>
                </a:cxn>
                <a:cxn ang="0">
                  <a:pos x="857" y="974"/>
                </a:cxn>
                <a:cxn ang="0">
                  <a:pos x="833" y="990"/>
                </a:cxn>
                <a:cxn ang="0">
                  <a:pos x="808" y="1009"/>
                </a:cxn>
                <a:cxn ang="0">
                  <a:pos x="781" y="1027"/>
                </a:cxn>
                <a:cxn ang="0">
                  <a:pos x="757" y="1045"/>
                </a:cxn>
                <a:cxn ang="0">
                  <a:pos x="732" y="1061"/>
                </a:cxn>
                <a:cxn ang="0">
                  <a:pos x="707" y="1080"/>
                </a:cxn>
                <a:cxn ang="0">
                  <a:pos x="682" y="1097"/>
                </a:cxn>
                <a:cxn ang="0">
                  <a:pos x="657" y="1115"/>
                </a:cxn>
                <a:cxn ang="0">
                  <a:pos x="632" y="1131"/>
                </a:cxn>
                <a:cxn ang="0">
                  <a:pos x="582" y="1167"/>
                </a:cxn>
                <a:cxn ang="0">
                  <a:pos x="0" y="822"/>
                </a:cxn>
                <a:cxn ang="0">
                  <a:pos x="0" y="754"/>
                </a:cxn>
                <a:cxn ang="0">
                  <a:pos x="271" y="608"/>
                </a:cxn>
                <a:cxn ang="0">
                  <a:pos x="278" y="596"/>
                </a:cxn>
                <a:cxn ang="0">
                  <a:pos x="373" y="537"/>
                </a:cxn>
                <a:cxn ang="0">
                  <a:pos x="372" y="533"/>
                </a:cxn>
                <a:cxn ang="0">
                  <a:pos x="369" y="528"/>
                </a:cxn>
                <a:cxn ang="0">
                  <a:pos x="369" y="523"/>
                </a:cxn>
                <a:cxn ang="0">
                  <a:pos x="369" y="520"/>
                </a:cxn>
                <a:cxn ang="0">
                  <a:pos x="369" y="514"/>
                </a:cxn>
                <a:cxn ang="0">
                  <a:pos x="369" y="512"/>
                </a:cxn>
                <a:cxn ang="0">
                  <a:pos x="372" y="508"/>
                </a:cxn>
                <a:cxn ang="0">
                  <a:pos x="372" y="505"/>
                </a:cxn>
                <a:cxn ang="0">
                  <a:pos x="373" y="502"/>
                </a:cxn>
                <a:cxn ang="0">
                  <a:pos x="374" y="498"/>
                </a:cxn>
                <a:cxn ang="0">
                  <a:pos x="376" y="497"/>
                </a:cxn>
                <a:cxn ang="0">
                  <a:pos x="380" y="495"/>
                </a:cxn>
                <a:cxn ang="0">
                  <a:pos x="381" y="494"/>
                </a:cxn>
                <a:cxn ang="0">
                  <a:pos x="383" y="491"/>
                </a:cxn>
                <a:cxn ang="0">
                  <a:pos x="388" y="489"/>
                </a:cxn>
                <a:cxn ang="0">
                  <a:pos x="453" y="520"/>
                </a:cxn>
                <a:cxn ang="0">
                  <a:pos x="460" y="514"/>
                </a:cxn>
                <a:cxn ang="0">
                  <a:pos x="388" y="482"/>
                </a:cxn>
                <a:cxn ang="0">
                  <a:pos x="427" y="348"/>
                </a:cxn>
                <a:cxn ang="0">
                  <a:pos x="423" y="334"/>
                </a:cxn>
                <a:cxn ang="0">
                  <a:pos x="422" y="329"/>
                </a:cxn>
                <a:cxn ang="0">
                  <a:pos x="418" y="321"/>
                </a:cxn>
                <a:cxn ang="0">
                  <a:pos x="528" y="0"/>
                </a:cxn>
                <a:cxn ang="0">
                  <a:pos x="1150" y="193"/>
                </a:cxn>
                <a:cxn ang="0">
                  <a:pos x="1175" y="208"/>
                </a:cxn>
              </a:cxnLst>
              <a:rect l="0" t="0" r="r" b="b"/>
              <a:pathLst>
                <a:path w="1175" h="1167">
                  <a:moveTo>
                    <a:pt x="1175" y="208"/>
                  </a:moveTo>
                  <a:lnTo>
                    <a:pt x="1081" y="477"/>
                  </a:lnTo>
                  <a:lnTo>
                    <a:pt x="985" y="751"/>
                  </a:lnTo>
                  <a:lnTo>
                    <a:pt x="911" y="720"/>
                  </a:lnTo>
                  <a:lnTo>
                    <a:pt x="910" y="725"/>
                  </a:lnTo>
                  <a:lnTo>
                    <a:pt x="979" y="761"/>
                  </a:lnTo>
                  <a:lnTo>
                    <a:pt x="981" y="761"/>
                  </a:lnTo>
                  <a:lnTo>
                    <a:pt x="981" y="763"/>
                  </a:lnTo>
                  <a:lnTo>
                    <a:pt x="982" y="763"/>
                  </a:lnTo>
                  <a:lnTo>
                    <a:pt x="982" y="764"/>
                  </a:lnTo>
                  <a:lnTo>
                    <a:pt x="982" y="765"/>
                  </a:lnTo>
                  <a:lnTo>
                    <a:pt x="982" y="768"/>
                  </a:lnTo>
                  <a:lnTo>
                    <a:pt x="982" y="886"/>
                  </a:lnTo>
                  <a:lnTo>
                    <a:pt x="958" y="902"/>
                  </a:lnTo>
                  <a:lnTo>
                    <a:pt x="933" y="920"/>
                  </a:lnTo>
                  <a:lnTo>
                    <a:pt x="909" y="939"/>
                  </a:lnTo>
                  <a:lnTo>
                    <a:pt x="884" y="955"/>
                  </a:lnTo>
                  <a:lnTo>
                    <a:pt x="857" y="974"/>
                  </a:lnTo>
                  <a:lnTo>
                    <a:pt x="833" y="990"/>
                  </a:lnTo>
                  <a:lnTo>
                    <a:pt x="808" y="1009"/>
                  </a:lnTo>
                  <a:lnTo>
                    <a:pt x="781" y="1027"/>
                  </a:lnTo>
                  <a:lnTo>
                    <a:pt x="757" y="1045"/>
                  </a:lnTo>
                  <a:lnTo>
                    <a:pt x="732" y="1061"/>
                  </a:lnTo>
                  <a:lnTo>
                    <a:pt x="707" y="1080"/>
                  </a:lnTo>
                  <a:lnTo>
                    <a:pt x="682" y="1097"/>
                  </a:lnTo>
                  <a:lnTo>
                    <a:pt x="657" y="1115"/>
                  </a:lnTo>
                  <a:lnTo>
                    <a:pt x="632" y="1131"/>
                  </a:lnTo>
                  <a:lnTo>
                    <a:pt x="582" y="1167"/>
                  </a:lnTo>
                  <a:lnTo>
                    <a:pt x="0" y="822"/>
                  </a:lnTo>
                  <a:lnTo>
                    <a:pt x="0" y="754"/>
                  </a:lnTo>
                  <a:lnTo>
                    <a:pt x="271" y="608"/>
                  </a:lnTo>
                  <a:lnTo>
                    <a:pt x="278" y="596"/>
                  </a:lnTo>
                  <a:lnTo>
                    <a:pt x="373" y="537"/>
                  </a:lnTo>
                  <a:lnTo>
                    <a:pt x="372" y="533"/>
                  </a:lnTo>
                  <a:lnTo>
                    <a:pt x="369" y="528"/>
                  </a:lnTo>
                  <a:lnTo>
                    <a:pt x="369" y="523"/>
                  </a:lnTo>
                  <a:lnTo>
                    <a:pt x="369" y="520"/>
                  </a:lnTo>
                  <a:lnTo>
                    <a:pt x="369" y="514"/>
                  </a:lnTo>
                  <a:lnTo>
                    <a:pt x="369" y="512"/>
                  </a:lnTo>
                  <a:lnTo>
                    <a:pt x="372" y="508"/>
                  </a:lnTo>
                  <a:lnTo>
                    <a:pt x="372" y="505"/>
                  </a:lnTo>
                  <a:lnTo>
                    <a:pt x="373" y="502"/>
                  </a:lnTo>
                  <a:lnTo>
                    <a:pt x="374" y="498"/>
                  </a:lnTo>
                  <a:lnTo>
                    <a:pt x="376" y="497"/>
                  </a:lnTo>
                  <a:lnTo>
                    <a:pt x="380" y="495"/>
                  </a:lnTo>
                  <a:lnTo>
                    <a:pt x="381" y="494"/>
                  </a:lnTo>
                  <a:lnTo>
                    <a:pt x="383" y="491"/>
                  </a:lnTo>
                  <a:lnTo>
                    <a:pt x="388" y="489"/>
                  </a:lnTo>
                  <a:lnTo>
                    <a:pt x="453" y="520"/>
                  </a:lnTo>
                  <a:lnTo>
                    <a:pt x="460" y="514"/>
                  </a:lnTo>
                  <a:lnTo>
                    <a:pt x="388" y="482"/>
                  </a:lnTo>
                  <a:lnTo>
                    <a:pt x="427" y="348"/>
                  </a:lnTo>
                  <a:lnTo>
                    <a:pt x="423" y="334"/>
                  </a:lnTo>
                  <a:lnTo>
                    <a:pt x="422" y="329"/>
                  </a:lnTo>
                  <a:lnTo>
                    <a:pt x="418" y="321"/>
                  </a:lnTo>
                  <a:lnTo>
                    <a:pt x="528" y="0"/>
                  </a:lnTo>
                  <a:lnTo>
                    <a:pt x="1150" y="193"/>
                  </a:lnTo>
                  <a:lnTo>
                    <a:pt x="1175" y="208"/>
                  </a:lnTo>
                </a:path>
              </a:pathLst>
            </a:custGeom>
            <a:solidFill>
              <a:srgbClr val="B2B2B2"/>
            </a:solidFill>
            <a:ln w="3175" cap="rnd" cmpd="sng">
              <a:solidFill>
                <a:srgbClr val="000000"/>
              </a:solidFill>
              <a:prstDash val="solid"/>
              <a:round/>
              <a:headEnd type="none" w="med" len="med"/>
              <a:tailEnd type="none" w="med" len="med"/>
            </a:ln>
            <a:effectLst/>
          </p:spPr>
          <p:txBody>
            <a:bodyPr/>
            <a:lstStyle/>
            <a:p>
              <a:endParaRPr lang="fr-FR"/>
            </a:p>
          </p:txBody>
        </p:sp>
        <p:sp>
          <p:nvSpPr>
            <p:cNvPr id="80903" name="Freeform 7"/>
            <p:cNvSpPr>
              <a:spLocks noChangeAspect="1"/>
            </p:cNvSpPr>
            <p:nvPr/>
          </p:nvSpPr>
          <p:spPr bwMode="auto">
            <a:xfrm>
              <a:off x="1307" y="1116"/>
              <a:ext cx="559" cy="522"/>
            </a:xfrm>
            <a:custGeom>
              <a:avLst/>
              <a:gdLst/>
              <a:ahLst/>
              <a:cxnLst>
                <a:cxn ang="0">
                  <a:pos x="436" y="522"/>
                </a:cxn>
                <a:cxn ang="0">
                  <a:pos x="0" y="344"/>
                </a:cxn>
                <a:cxn ang="0">
                  <a:pos x="109" y="0"/>
                </a:cxn>
                <a:cxn ang="0">
                  <a:pos x="559" y="155"/>
                </a:cxn>
                <a:cxn ang="0">
                  <a:pos x="436" y="522"/>
                </a:cxn>
              </a:cxnLst>
              <a:rect l="0" t="0" r="r" b="b"/>
              <a:pathLst>
                <a:path w="559" h="522">
                  <a:moveTo>
                    <a:pt x="436" y="522"/>
                  </a:moveTo>
                  <a:lnTo>
                    <a:pt x="0" y="344"/>
                  </a:lnTo>
                  <a:lnTo>
                    <a:pt x="109" y="0"/>
                  </a:lnTo>
                  <a:lnTo>
                    <a:pt x="559" y="155"/>
                  </a:lnTo>
                  <a:lnTo>
                    <a:pt x="436" y="522"/>
                  </a:lnTo>
                </a:path>
              </a:pathLst>
            </a:custGeom>
            <a:gradFill rotWithShape="0">
              <a:gsLst>
                <a:gs pos="0">
                  <a:srgbClr val="6699FF"/>
                </a:gs>
                <a:gs pos="100000">
                  <a:srgbClr val="6699FF">
                    <a:gamma/>
                    <a:tint val="63922"/>
                    <a:invGamma/>
                  </a:srgbClr>
                </a:gs>
              </a:gsLst>
              <a:path path="rect">
                <a:fillToRect l="100000" t="100000"/>
              </a:path>
            </a:gradFill>
            <a:ln w="3175" cap="rnd" cmpd="sng">
              <a:noFill/>
              <a:prstDash val="solid"/>
              <a:round/>
              <a:headEnd type="none" w="med" len="med"/>
              <a:tailEnd type="none" w="med" len="med"/>
            </a:ln>
            <a:effectLst/>
          </p:spPr>
          <p:txBody>
            <a:bodyPr/>
            <a:lstStyle/>
            <a:p>
              <a:endParaRPr lang="fr-FR"/>
            </a:p>
          </p:txBody>
        </p:sp>
        <p:sp>
          <p:nvSpPr>
            <p:cNvPr id="80904" name="Freeform 8"/>
            <p:cNvSpPr>
              <a:spLocks noChangeAspect="1"/>
            </p:cNvSpPr>
            <p:nvPr/>
          </p:nvSpPr>
          <p:spPr bwMode="auto">
            <a:xfrm>
              <a:off x="1246" y="1032"/>
              <a:ext cx="715" cy="552"/>
            </a:xfrm>
            <a:custGeom>
              <a:avLst/>
              <a:gdLst/>
              <a:ahLst/>
              <a:cxnLst>
                <a:cxn ang="0">
                  <a:pos x="5" y="335"/>
                </a:cxn>
                <a:cxn ang="0">
                  <a:pos x="7" y="324"/>
                </a:cxn>
                <a:cxn ang="0">
                  <a:pos x="0" y="312"/>
                </a:cxn>
                <a:cxn ang="0">
                  <a:pos x="103" y="0"/>
                </a:cxn>
                <a:cxn ang="0">
                  <a:pos x="715" y="197"/>
                </a:cxn>
                <a:cxn ang="0">
                  <a:pos x="601" y="545"/>
                </a:cxn>
                <a:cxn ang="0">
                  <a:pos x="586" y="552"/>
                </a:cxn>
                <a:cxn ang="0">
                  <a:pos x="700" y="210"/>
                </a:cxn>
                <a:cxn ang="0">
                  <a:pos x="110" y="15"/>
                </a:cxn>
                <a:cxn ang="0">
                  <a:pos x="5" y="335"/>
                </a:cxn>
              </a:cxnLst>
              <a:rect l="0" t="0" r="r" b="b"/>
              <a:pathLst>
                <a:path w="715" h="552">
                  <a:moveTo>
                    <a:pt x="5" y="335"/>
                  </a:moveTo>
                  <a:lnTo>
                    <a:pt x="7" y="324"/>
                  </a:lnTo>
                  <a:lnTo>
                    <a:pt x="0" y="312"/>
                  </a:lnTo>
                  <a:lnTo>
                    <a:pt x="103" y="0"/>
                  </a:lnTo>
                  <a:lnTo>
                    <a:pt x="715" y="197"/>
                  </a:lnTo>
                  <a:lnTo>
                    <a:pt x="601" y="545"/>
                  </a:lnTo>
                  <a:lnTo>
                    <a:pt x="586" y="552"/>
                  </a:lnTo>
                  <a:lnTo>
                    <a:pt x="700" y="210"/>
                  </a:lnTo>
                  <a:lnTo>
                    <a:pt x="110" y="15"/>
                  </a:lnTo>
                  <a:lnTo>
                    <a:pt x="5" y="335"/>
                  </a:lnTo>
                </a:path>
              </a:pathLst>
            </a:custGeom>
            <a:solidFill>
              <a:schemeClr val="bg1"/>
            </a:solidFill>
            <a:ln w="3175" cap="rnd" cmpd="sng">
              <a:noFill/>
              <a:prstDash val="solid"/>
              <a:round/>
              <a:headEnd type="none" w="med" len="med"/>
              <a:tailEnd type="none" w="med" len="med"/>
            </a:ln>
            <a:effectLst/>
          </p:spPr>
          <p:txBody>
            <a:bodyPr/>
            <a:lstStyle/>
            <a:p>
              <a:endParaRPr lang="fr-FR"/>
            </a:p>
          </p:txBody>
        </p:sp>
        <p:sp>
          <p:nvSpPr>
            <p:cNvPr id="80905" name="Freeform 9"/>
            <p:cNvSpPr>
              <a:spLocks noChangeAspect="1"/>
            </p:cNvSpPr>
            <p:nvPr/>
          </p:nvSpPr>
          <p:spPr bwMode="auto">
            <a:xfrm>
              <a:off x="839" y="1640"/>
              <a:ext cx="802" cy="452"/>
            </a:xfrm>
            <a:custGeom>
              <a:avLst/>
              <a:gdLst/>
              <a:ahLst/>
              <a:cxnLst>
                <a:cxn ang="0">
                  <a:pos x="1464" y="519"/>
                </a:cxn>
                <a:cxn ang="0">
                  <a:pos x="453" y="0"/>
                </a:cxn>
                <a:cxn ang="0">
                  <a:pos x="0" y="243"/>
                </a:cxn>
                <a:cxn ang="0">
                  <a:pos x="1020" y="825"/>
                </a:cxn>
                <a:cxn ang="0">
                  <a:pos x="1464" y="519"/>
                </a:cxn>
              </a:cxnLst>
              <a:rect l="0" t="0" r="r" b="b"/>
              <a:pathLst>
                <a:path w="1465" h="826">
                  <a:moveTo>
                    <a:pt x="1464" y="519"/>
                  </a:moveTo>
                  <a:lnTo>
                    <a:pt x="453" y="0"/>
                  </a:lnTo>
                  <a:lnTo>
                    <a:pt x="0" y="243"/>
                  </a:lnTo>
                  <a:lnTo>
                    <a:pt x="1020" y="825"/>
                  </a:lnTo>
                  <a:lnTo>
                    <a:pt x="1464" y="519"/>
                  </a:lnTo>
                </a:path>
              </a:pathLst>
            </a:custGeom>
            <a:solidFill>
              <a:srgbClr val="DDDDDD"/>
            </a:solidFill>
            <a:ln w="3175" cap="rnd" cmpd="sng">
              <a:noFill/>
              <a:prstDash val="solid"/>
              <a:round/>
              <a:headEnd type="none" w="med" len="med"/>
              <a:tailEnd type="none" w="med" len="med"/>
            </a:ln>
            <a:effectLst/>
          </p:spPr>
          <p:txBody>
            <a:bodyPr/>
            <a:lstStyle/>
            <a:p>
              <a:endParaRPr lang="fr-FR"/>
            </a:p>
          </p:txBody>
        </p:sp>
        <p:sp>
          <p:nvSpPr>
            <p:cNvPr id="80906" name="Freeform 10"/>
            <p:cNvSpPr>
              <a:spLocks noChangeAspect="1"/>
            </p:cNvSpPr>
            <p:nvPr/>
          </p:nvSpPr>
          <p:spPr bwMode="auto">
            <a:xfrm>
              <a:off x="1764" y="1865"/>
              <a:ext cx="17" cy="15"/>
            </a:xfrm>
            <a:custGeom>
              <a:avLst/>
              <a:gdLst/>
              <a:ahLst/>
              <a:cxnLst>
                <a:cxn ang="0">
                  <a:pos x="9" y="0"/>
                </a:cxn>
                <a:cxn ang="0">
                  <a:pos x="9" y="3"/>
                </a:cxn>
                <a:cxn ang="0">
                  <a:pos x="6" y="3"/>
                </a:cxn>
                <a:cxn ang="0">
                  <a:pos x="6" y="6"/>
                </a:cxn>
                <a:cxn ang="0">
                  <a:pos x="3" y="6"/>
                </a:cxn>
                <a:cxn ang="0">
                  <a:pos x="0" y="6"/>
                </a:cxn>
                <a:cxn ang="0">
                  <a:pos x="0" y="9"/>
                </a:cxn>
                <a:cxn ang="0">
                  <a:pos x="0" y="12"/>
                </a:cxn>
                <a:cxn ang="0">
                  <a:pos x="0" y="15"/>
                </a:cxn>
                <a:cxn ang="0">
                  <a:pos x="0" y="18"/>
                </a:cxn>
                <a:cxn ang="0">
                  <a:pos x="0" y="21"/>
                </a:cxn>
                <a:cxn ang="0">
                  <a:pos x="3" y="21"/>
                </a:cxn>
                <a:cxn ang="0">
                  <a:pos x="6" y="21"/>
                </a:cxn>
                <a:cxn ang="0">
                  <a:pos x="6" y="24"/>
                </a:cxn>
                <a:cxn ang="0">
                  <a:pos x="9" y="24"/>
                </a:cxn>
                <a:cxn ang="0">
                  <a:pos x="12" y="24"/>
                </a:cxn>
                <a:cxn ang="0">
                  <a:pos x="15" y="21"/>
                </a:cxn>
                <a:cxn ang="0">
                  <a:pos x="18" y="21"/>
                </a:cxn>
                <a:cxn ang="0">
                  <a:pos x="21" y="18"/>
                </a:cxn>
                <a:cxn ang="0">
                  <a:pos x="24" y="18"/>
                </a:cxn>
                <a:cxn ang="0">
                  <a:pos x="24" y="15"/>
                </a:cxn>
                <a:cxn ang="0">
                  <a:pos x="27" y="15"/>
                </a:cxn>
                <a:cxn ang="0">
                  <a:pos x="27" y="12"/>
                </a:cxn>
                <a:cxn ang="0">
                  <a:pos x="30" y="12"/>
                </a:cxn>
                <a:cxn ang="0">
                  <a:pos x="30" y="9"/>
                </a:cxn>
                <a:cxn ang="0">
                  <a:pos x="27" y="6"/>
                </a:cxn>
                <a:cxn ang="0">
                  <a:pos x="24" y="3"/>
                </a:cxn>
                <a:cxn ang="0">
                  <a:pos x="21" y="0"/>
                </a:cxn>
                <a:cxn ang="0">
                  <a:pos x="18" y="0"/>
                </a:cxn>
                <a:cxn ang="0">
                  <a:pos x="15" y="0"/>
                </a:cxn>
                <a:cxn ang="0">
                  <a:pos x="12" y="0"/>
                </a:cxn>
                <a:cxn ang="0">
                  <a:pos x="9" y="0"/>
                </a:cxn>
              </a:cxnLst>
              <a:rect l="0" t="0" r="r" b="b"/>
              <a:pathLst>
                <a:path w="31" h="25">
                  <a:moveTo>
                    <a:pt x="9" y="0"/>
                  </a:moveTo>
                  <a:lnTo>
                    <a:pt x="9" y="3"/>
                  </a:lnTo>
                  <a:lnTo>
                    <a:pt x="6" y="3"/>
                  </a:lnTo>
                  <a:lnTo>
                    <a:pt x="6" y="6"/>
                  </a:lnTo>
                  <a:lnTo>
                    <a:pt x="3" y="6"/>
                  </a:lnTo>
                  <a:lnTo>
                    <a:pt x="0" y="6"/>
                  </a:lnTo>
                  <a:lnTo>
                    <a:pt x="0" y="9"/>
                  </a:lnTo>
                  <a:lnTo>
                    <a:pt x="0" y="12"/>
                  </a:lnTo>
                  <a:lnTo>
                    <a:pt x="0" y="15"/>
                  </a:lnTo>
                  <a:lnTo>
                    <a:pt x="0" y="18"/>
                  </a:lnTo>
                  <a:lnTo>
                    <a:pt x="0" y="21"/>
                  </a:lnTo>
                  <a:lnTo>
                    <a:pt x="3" y="21"/>
                  </a:lnTo>
                  <a:lnTo>
                    <a:pt x="6" y="21"/>
                  </a:lnTo>
                  <a:lnTo>
                    <a:pt x="6" y="24"/>
                  </a:lnTo>
                  <a:lnTo>
                    <a:pt x="9" y="24"/>
                  </a:lnTo>
                  <a:lnTo>
                    <a:pt x="12" y="24"/>
                  </a:lnTo>
                  <a:lnTo>
                    <a:pt x="15" y="21"/>
                  </a:lnTo>
                  <a:lnTo>
                    <a:pt x="18" y="21"/>
                  </a:lnTo>
                  <a:lnTo>
                    <a:pt x="21" y="18"/>
                  </a:lnTo>
                  <a:lnTo>
                    <a:pt x="24" y="18"/>
                  </a:lnTo>
                  <a:lnTo>
                    <a:pt x="24" y="15"/>
                  </a:lnTo>
                  <a:lnTo>
                    <a:pt x="27" y="15"/>
                  </a:lnTo>
                  <a:lnTo>
                    <a:pt x="27" y="12"/>
                  </a:lnTo>
                  <a:lnTo>
                    <a:pt x="30" y="12"/>
                  </a:lnTo>
                  <a:lnTo>
                    <a:pt x="30" y="9"/>
                  </a:lnTo>
                  <a:lnTo>
                    <a:pt x="27" y="6"/>
                  </a:lnTo>
                  <a:lnTo>
                    <a:pt x="24" y="3"/>
                  </a:lnTo>
                  <a:lnTo>
                    <a:pt x="21" y="0"/>
                  </a:lnTo>
                  <a:lnTo>
                    <a:pt x="18" y="0"/>
                  </a:lnTo>
                  <a:lnTo>
                    <a:pt x="15" y="0"/>
                  </a:lnTo>
                  <a:lnTo>
                    <a:pt x="12" y="0"/>
                  </a:lnTo>
                  <a:lnTo>
                    <a:pt x="9"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80907" name="Freeform 11"/>
            <p:cNvSpPr>
              <a:spLocks noChangeAspect="1"/>
            </p:cNvSpPr>
            <p:nvPr/>
          </p:nvSpPr>
          <p:spPr bwMode="auto">
            <a:xfrm>
              <a:off x="1787" y="1590"/>
              <a:ext cx="49" cy="173"/>
            </a:xfrm>
            <a:custGeom>
              <a:avLst/>
              <a:gdLst/>
              <a:ahLst/>
              <a:cxnLst>
                <a:cxn ang="0">
                  <a:pos x="90" y="0"/>
                </a:cxn>
                <a:cxn ang="0">
                  <a:pos x="81" y="87"/>
                </a:cxn>
                <a:cxn ang="0">
                  <a:pos x="0" y="318"/>
                </a:cxn>
              </a:cxnLst>
              <a:rect l="0" t="0" r="r" b="b"/>
              <a:pathLst>
                <a:path w="91" h="319">
                  <a:moveTo>
                    <a:pt x="90" y="0"/>
                  </a:moveTo>
                  <a:lnTo>
                    <a:pt x="81" y="87"/>
                  </a:lnTo>
                  <a:lnTo>
                    <a:pt x="0" y="318"/>
                  </a:lnTo>
                </a:path>
              </a:pathLst>
            </a:custGeom>
            <a:noFill/>
            <a:ln w="3175" cap="rnd" cmpd="sng">
              <a:solidFill>
                <a:srgbClr val="000000"/>
              </a:solidFill>
              <a:prstDash val="solid"/>
              <a:round/>
              <a:headEnd type="none" w="med" len="med"/>
              <a:tailEnd type="none" w="med" len="med"/>
            </a:ln>
            <a:effectLst/>
          </p:spPr>
          <p:txBody>
            <a:bodyPr/>
            <a:lstStyle/>
            <a:p>
              <a:endParaRPr lang="fr-FR"/>
            </a:p>
          </p:txBody>
        </p:sp>
        <p:sp>
          <p:nvSpPr>
            <p:cNvPr id="80908" name="Line 12"/>
            <p:cNvSpPr>
              <a:spLocks noChangeAspect="1" noChangeShapeType="1"/>
            </p:cNvSpPr>
            <p:nvPr/>
          </p:nvSpPr>
          <p:spPr bwMode="auto">
            <a:xfrm flipH="1" flipV="1">
              <a:off x="1060" y="1686"/>
              <a:ext cx="495" cy="257"/>
            </a:xfrm>
            <a:prstGeom prst="line">
              <a:avLst/>
            </a:prstGeom>
            <a:noFill/>
            <a:ln w="12700">
              <a:solidFill>
                <a:srgbClr val="808080"/>
              </a:solidFill>
              <a:round/>
              <a:headEnd/>
              <a:tailEnd/>
            </a:ln>
            <a:effectLst/>
          </p:spPr>
          <p:txBody>
            <a:bodyPr wrap="none" anchor="ctr"/>
            <a:lstStyle/>
            <a:p>
              <a:endParaRPr lang="fr-FR"/>
            </a:p>
          </p:txBody>
        </p:sp>
        <p:sp>
          <p:nvSpPr>
            <p:cNvPr id="80909" name="Line 13"/>
            <p:cNvSpPr>
              <a:spLocks noChangeAspect="1" noChangeShapeType="1"/>
            </p:cNvSpPr>
            <p:nvPr/>
          </p:nvSpPr>
          <p:spPr bwMode="auto">
            <a:xfrm flipH="1" flipV="1">
              <a:off x="1009" y="1730"/>
              <a:ext cx="469" cy="253"/>
            </a:xfrm>
            <a:prstGeom prst="line">
              <a:avLst/>
            </a:prstGeom>
            <a:noFill/>
            <a:ln w="12700">
              <a:solidFill>
                <a:srgbClr val="808080"/>
              </a:solidFill>
              <a:round/>
              <a:headEnd/>
              <a:tailEnd/>
            </a:ln>
            <a:effectLst/>
          </p:spPr>
          <p:txBody>
            <a:bodyPr wrap="none" anchor="ctr"/>
            <a:lstStyle/>
            <a:p>
              <a:endParaRPr lang="fr-FR"/>
            </a:p>
          </p:txBody>
        </p:sp>
        <p:sp>
          <p:nvSpPr>
            <p:cNvPr id="80910" name="Line 14"/>
            <p:cNvSpPr>
              <a:spLocks noChangeAspect="1" noChangeShapeType="1"/>
            </p:cNvSpPr>
            <p:nvPr/>
          </p:nvSpPr>
          <p:spPr bwMode="auto">
            <a:xfrm flipH="1" flipV="1">
              <a:off x="924" y="1763"/>
              <a:ext cx="475" cy="264"/>
            </a:xfrm>
            <a:prstGeom prst="line">
              <a:avLst/>
            </a:prstGeom>
            <a:noFill/>
            <a:ln w="12700">
              <a:solidFill>
                <a:srgbClr val="808080"/>
              </a:solidFill>
              <a:round/>
              <a:headEnd/>
              <a:tailEnd/>
            </a:ln>
            <a:effectLst/>
          </p:spPr>
          <p:txBody>
            <a:bodyPr wrap="none" anchor="ctr"/>
            <a:lstStyle/>
            <a:p>
              <a:endParaRPr lang="fr-FR"/>
            </a:p>
          </p:txBody>
        </p:sp>
        <p:sp>
          <p:nvSpPr>
            <p:cNvPr id="80911" name="Freeform 15"/>
            <p:cNvSpPr>
              <a:spLocks noChangeAspect="1"/>
            </p:cNvSpPr>
            <p:nvPr/>
          </p:nvSpPr>
          <p:spPr bwMode="auto">
            <a:xfrm>
              <a:off x="1104" y="1563"/>
              <a:ext cx="660" cy="336"/>
            </a:xfrm>
            <a:custGeom>
              <a:avLst/>
              <a:gdLst/>
              <a:ahLst/>
              <a:cxnLst>
                <a:cxn ang="0">
                  <a:pos x="93" y="0"/>
                </a:cxn>
                <a:cxn ang="0">
                  <a:pos x="0" y="60"/>
                </a:cxn>
                <a:cxn ang="0">
                  <a:pos x="568" y="336"/>
                </a:cxn>
                <a:cxn ang="0">
                  <a:pos x="660" y="266"/>
                </a:cxn>
              </a:cxnLst>
              <a:rect l="0" t="0" r="r" b="b"/>
              <a:pathLst>
                <a:path w="660" h="336">
                  <a:moveTo>
                    <a:pt x="93" y="0"/>
                  </a:moveTo>
                  <a:lnTo>
                    <a:pt x="0" y="60"/>
                  </a:lnTo>
                  <a:lnTo>
                    <a:pt x="568" y="336"/>
                  </a:lnTo>
                  <a:lnTo>
                    <a:pt x="660" y="266"/>
                  </a:lnTo>
                </a:path>
              </a:pathLst>
            </a:custGeom>
            <a:solidFill>
              <a:srgbClr val="DDDDDD"/>
            </a:solidFill>
            <a:ln w="3175" cap="rnd" cmpd="sng">
              <a:noFill/>
              <a:prstDash val="solid"/>
              <a:round/>
              <a:headEnd type="none" w="med" len="med"/>
              <a:tailEnd type="none" w="med" len="med"/>
            </a:ln>
            <a:effectLst/>
          </p:spPr>
          <p:txBody>
            <a:bodyPr/>
            <a:lstStyle/>
            <a:p>
              <a:endParaRPr lang="fr-FR"/>
            </a:p>
          </p:txBody>
        </p:sp>
        <p:sp>
          <p:nvSpPr>
            <p:cNvPr id="80912" name="Freeform 16"/>
            <p:cNvSpPr>
              <a:spLocks noChangeAspect="1"/>
            </p:cNvSpPr>
            <p:nvPr/>
          </p:nvSpPr>
          <p:spPr bwMode="auto">
            <a:xfrm>
              <a:off x="1685" y="1736"/>
              <a:ext cx="105" cy="86"/>
            </a:xfrm>
            <a:custGeom>
              <a:avLst/>
              <a:gdLst/>
              <a:ahLst/>
              <a:cxnLst>
                <a:cxn ang="0">
                  <a:pos x="48" y="0"/>
                </a:cxn>
                <a:cxn ang="0">
                  <a:pos x="186" y="63"/>
                </a:cxn>
                <a:cxn ang="0">
                  <a:pos x="183" y="66"/>
                </a:cxn>
                <a:cxn ang="0">
                  <a:pos x="177" y="66"/>
                </a:cxn>
                <a:cxn ang="0">
                  <a:pos x="171" y="69"/>
                </a:cxn>
                <a:cxn ang="0">
                  <a:pos x="165" y="72"/>
                </a:cxn>
                <a:cxn ang="0">
                  <a:pos x="159" y="75"/>
                </a:cxn>
                <a:cxn ang="0">
                  <a:pos x="153" y="81"/>
                </a:cxn>
                <a:cxn ang="0">
                  <a:pos x="150" y="84"/>
                </a:cxn>
                <a:cxn ang="0">
                  <a:pos x="147" y="93"/>
                </a:cxn>
                <a:cxn ang="0">
                  <a:pos x="144" y="99"/>
                </a:cxn>
                <a:cxn ang="0">
                  <a:pos x="141" y="105"/>
                </a:cxn>
                <a:cxn ang="0">
                  <a:pos x="141" y="111"/>
                </a:cxn>
                <a:cxn ang="0">
                  <a:pos x="141" y="120"/>
                </a:cxn>
                <a:cxn ang="0">
                  <a:pos x="141" y="129"/>
                </a:cxn>
                <a:cxn ang="0">
                  <a:pos x="144" y="135"/>
                </a:cxn>
                <a:cxn ang="0">
                  <a:pos x="150" y="153"/>
                </a:cxn>
                <a:cxn ang="0">
                  <a:pos x="9" y="87"/>
                </a:cxn>
                <a:cxn ang="0">
                  <a:pos x="6" y="84"/>
                </a:cxn>
                <a:cxn ang="0">
                  <a:pos x="6" y="78"/>
                </a:cxn>
                <a:cxn ang="0">
                  <a:pos x="3" y="72"/>
                </a:cxn>
                <a:cxn ang="0">
                  <a:pos x="0" y="66"/>
                </a:cxn>
                <a:cxn ang="0">
                  <a:pos x="0" y="57"/>
                </a:cxn>
                <a:cxn ang="0">
                  <a:pos x="0" y="51"/>
                </a:cxn>
                <a:cxn ang="0">
                  <a:pos x="0" y="42"/>
                </a:cxn>
                <a:cxn ang="0">
                  <a:pos x="3" y="36"/>
                </a:cxn>
                <a:cxn ang="0">
                  <a:pos x="6" y="30"/>
                </a:cxn>
                <a:cxn ang="0">
                  <a:pos x="6" y="21"/>
                </a:cxn>
                <a:cxn ang="0">
                  <a:pos x="12" y="18"/>
                </a:cxn>
                <a:cxn ang="0">
                  <a:pos x="18" y="12"/>
                </a:cxn>
                <a:cxn ang="0">
                  <a:pos x="24" y="6"/>
                </a:cxn>
                <a:cxn ang="0">
                  <a:pos x="30" y="3"/>
                </a:cxn>
                <a:cxn ang="0">
                  <a:pos x="48" y="0"/>
                </a:cxn>
              </a:cxnLst>
              <a:rect l="0" t="0" r="r" b="b"/>
              <a:pathLst>
                <a:path w="187" h="154">
                  <a:moveTo>
                    <a:pt x="48" y="0"/>
                  </a:moveTo>
                  <a:lnTo>
                    <a:pt x="186" y="63"/>
                  </a:lnTo>
                  <a:lnTo>
                    <a:pt x="183" y="66"/>
                  </a:lnTo>
                  <a:lnTo>
                    <a:pt x="177" y="66"/>
                  </a:lnTo>
                  <a:lnTo>
                    <a:pt x="171" y="69"/>
                  </a:lnTo>
                  <a:lnTo>
                    <a:pt x="165" y="72"/>
                  </a:lnTo>
                  <a:lnTo>
                    <a:pt x="159" y="75"/>
                  </a:lnTo>
                  <a:lnTo>
                    <a:pt x="153" y="81"/>
                  </a:lnTo>
                  <a:lnTo>
                    <a:pt x="150" y="84"/>
                  </a:lnTo>
                  <a:lnTo>
                    <a:pt x="147" y="93"/>
                  </a:lnTo>
                  <a:lnTo>
                    <a:pt x="144" y="99"/>
                  </a:lnTo>
                  <a:lnTo>
                    <a:pt x="141" y="105"/>
                  </a:lnTo>
                  <a:lnTo>
                    <a:pt x="141" y="111"/>
                  </a:lnTo>
                  <a:lnTo>
                    <a:pt x="141" y="120"/>
                  </a:lnTo>
                  <a:lnTo>
                    <a:pt x="141" y="129"/>
                  </a:lnTo>
                  <a:lnTo>
                    <a:pt x="144" y="135"/>
                  </a:lnTo>
                  <a:lnTo>
                    <a:pt x="150" y="153"/>
                  </a:lnTo>
                  <a:lnTo>
                    <a:pt x="9" y="87"/>
                  </a:lnTo>
                  <a:lnTo>
                    <a:pt x="6" y="84"/>
                  </a:lnTo>
                  <a:lnTo>
                    <a:pt x="6" y="78"/>
                  </a:lnTo>
                  <a:lnTo>
                    <a:pt x="3" y="72"/>
                  </a:lnTo>
                  <a:lnTo>
                    <a:pt x="0" y="66"/>
                  </a:lnTo>
                  <a:lnTo>
                    <a:pt x="0" y="57"/>
                  </a:lnTo>
                  <a:lnTo>
                    <a:pt x="0" y="51"/>
                  </a:lnTo>
                  <a:lnTo>
                    <a:pt x="0" y="42"/>
                  </a:lnTo>
                  <a:lnTo>
                    <a:pt x="3" y="36"/>
                  </a:lnTo>
                  <a:lnTo>
                    <a:pt x="6" y="30"/>
                  </a:lnTo>
                  <a:lnTo>
                    <a:pt x="6" y="21"/>
                  </a:lnTo>
                  <a:lnTo>
                    <a:pt x="12" y="18"/>
                  </a:lnTo>
                  <a:lnTo>
                    <a:pt x="18" y="12"/>
                  </a:lnTo>
                  <a:lnTo>
                    <a:pt x="24" y="6"/>
                  </a:lnTo>
                  <a:lnTo>
                    <a:pt x="30" y="3"/>
                  </a:lnTo>
                  <a:lnTo>
                    <a:pt x="48" y="0"/>
                  </a:lnTo>
                </a:path>
              </a:pathLst>
            </a:custGeom>
            <a:gradFill rotWithShape="0">
              <a:gsLst>
                <a:gs pos="0">
                  <a:srgbClr val="808080"/>
                </a:gs>
                <a:gs pos="100000">
                  <a:srgbClr val="FFFFFF"/>
                </a:gs>
              </a:gsLst>
              <a:lin ang="189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80913" name="Freeform 17"/>
            <p:cNvSpPr>
              <a:spLocks noChangeAspect="1"/>
            </p:cNvSpPr>
            <p:nvPr/>
          </p:nvSpPr>
          <p:spPr bwMode="auto">
            <a:xfrm>
              <a:off x="1333" y="1576"/>
              <a:ext cx="308" cy="178"/>
            </a:xfrm>
            <a:custGeom>
              <a:avLst/>
              <a:gdLst/>
              <a:ahLst/>
              <a:cxnLst>
                <a:cxn ang="0">
                  <a:pos x="564" y="225"/>
                </a:cxn>
                <a:cxn ang="0">
                  <a:pos x="60" y="3"/>
                </a:cxn>
                <a:cxn ang="0">
                  <a:pos x="51" y="0"/>
                </a:cxn>
                <a:cxn ang="0">
                  <a:pos x="45" y="0"/>
                </a:cxn>
                <a:cxn ang="0">
                  <a:pos x="39" y="3"/>
                </a:cxn>
                <a:cxn ang="0">
                  <a:pos x="30" y="6"/>
                </a:cxn>
                <a:cxn ang="0">
                  <a:pos x="24" y="12"/>
                </a:cxn>
                <a:cxn ang="0">
                  <a:pos x="21" y="15"/>
                </a:cxn>
                <a:cxn ang="0">
                  <a:pos x="15" y="21"/>
                </a:cxn>
                <a:cxn ang="0">
                  <a:pos x="9" y="30"/>
                </a:cxn>
                <a:cxn ang="0">
                  <a:pos x="6" y="36"/>
                </a:cxn>
                <a:cxn ang="0">
                  <a:pos x="3" y="42"/>
                </a:cxn>
                <a:cxn ang="0">
                  <a:pos x="0" y="51"/>
                </a:cxn>
                <a:cxn ang="0">
                  <a:pos x="0" y="57"/>
                </a:cxn>
                <a:cxn ang="0">
                  <a:pos x="0" y="66"/>
                </a:cxn>
                <a:cxn ang="0">
                  <a:pos x="3" y="72"/>
                </a:cxn>
                <a:cxn ang="0">
                  <a:pos x="9" y="84"/>
                </a:cxn>
                <a:cxn ang="0">
                  <a:pos x="528" y="324"/>
                </a:cxn>
                <a:cxn ang="0">
                  <a:pos x="525" y="318"/>
                </a:cxn>
                <a:cxn ang="0">
                  <a:pos x="522" y="309"/>
                </a:cxn>
                <a:cxn ang="0">
                  <a:pos x="522" y="303"/>
                </a:cxn>
                <a:cxn ang="0">
                  <a:pos x="519" y="294"/>
                </a:cxn>
                <a:cxn ang="0">
                  <a:pos x="519" y="288"/>
                </a:cxn>
                <a:cxn ang="0">
                  <a:pos x="519" y="282"/>
                </a:cxn>
                <a:cxn ang="0">
                  <a:pos x="519" y="273"/>
                </a:cxn>
                <a:cxn ang="0">
                  <a:pos x="522" y="267"/>
                </a:cxn>
                <a:cxn ang="0">
                  <a:pos x="525" y="261"/>
                </a:cxn>
                <a:cxn ang="0">
                  <a:pos x="528" y="255"/>
                </a:cxn>
                <a:cxn ang="0">
                  <a:pos x="531" y="249"/>
                </a:cxn>
                <a:cxn ang="0">
                  <a:pos x="537" y="243"/>
                </a:cxn>
                <a:cxn ang="0">
                  <a:pos x="543" y="237"/>
                </a:cxn>
                <a:cxn ang="0">
                  <a:pos x="549" y="234"/>
                </a:cxn>
                <a:cxn ang="0">
                  <a:pos x="564" y="225"/>
                </a:cxn>
              </a:cxnLst>
              <a:rect l="0" t="0" r="r" b="b"/>
              <a:pathLst>
                <a:path w="565" h="325">
                  <a:moveTo>
                    <a:pt x="564" y="225"/>
                  </a:moveTo>
                  <a:lnTo>
                    <a:pt x="60" y="3"/>
                  </a:lnTo>
                  <a:lnTo>
                    <a:pt x="51" y="0"/>
                  </a:lnTo>
                  <a:lnTo>
                    <a:pt x="45" y="0"/>
                  </a:lnTo>
                  <a:lnTo>
                    <a:pt x="39" y="3"/>
                  </a:lnTo>
                  <a:lnTo>
                    <a:pt x="30" y="6"/>
                  </a:lnTo>
                  <a:lnTo>
                    <a:pt x="24" y="12"/>
                  </a:lnTo>
                  <a:lnTo>
                    <a:pt x="21" y="15"/>
                  </a:lnTo>
                  <a:lnTo>
                    <a:pt x="15" y="21"/>
                  </a:lnTo>
                  <a:lnTo>
                    <a:pt x="9" y="30"/>
                  </a:lnTo>
                  <a:lnTo>
                    <a:pt x="6" y="36"/>
                  </a:lnTo>
                  <a:lnTo>
                    <a:pt x="3" y="42"/>
                  </a:lnTo>
                  <a:lnTo>
                    <a:pt x="0" y="51"/>
                  </a:lnTo>
                  <a:lnTo>
                    <a:pt x="0" y="57"/>
                  </a:lnTo>
                  <a:lnTo>
                    <a:pt x="0" y="66"/>
                  </a:lnTo>
                  <a:lnTo>
                    <a:pt x="3" y="72"/>
                  </a:lnTo>
                  <a:lnTo>
                    <a:pt x="9" y="84"/>
                  </a:lnTo>
                  <a:lnTo>
                    <a:pt x="528" y="324"/>
                  </a:lnTo>
                  <a:lnTo>
                    <a:pt x="525" y="318"/>
                  </a:lnTo>
                  <a:lnTo>
                    <a:pt x="522" y="309"/>
                  </a:lnTo>
                  <a:lnTo>
                    <a:pt x="522" y="303"/>
                  </a:lnTo>
                  <a:lnTo>
                    <a:pt x="519" y="294"/>
                  </a:lnTo>
                  <a:lnTo>
                    <a:pt x="519" y="288"/>
                  </a:lnTo>
                  <a:lnTo>
                    <a:pt x="519" y="282"/>
                  </a:lnTo>
                  <a:lnTo>
                    <a:pt x="519" y="273"/>
                  </a:lnTo>
                  <a:lnTo>
                    <a:pt x="522" y="267"/>
                  </a:lnTo>
                  <a:lnTo>
                    <a:pt x="525" y="261"/>
                  </a:lnTo>
                  <a:lnTo>
                    <a:pt x="528" y="255"/>
                  </a:lnTo>
                  <a:lnTo>
                    <a:pt x="531" y="249"/>
                  </a:lnTo>
                  <a:lnTo>
                    <a:pt x="537" y="243"/>
                  </a:lnTo>
                  <a:lnTo>
                    <a:pt x="543" y="237"/>
                  </a:lnTo>
                  <a:lnTo>
                    <a:pt x="549" y="234"/>
                  </a:lnTo>
                  <a:lnTo>
                    <a:pt x="564" y="225"/>
                  </a:lnTo>
                </a:path>
              </a:pathLst>
            </a:custGeom>
            <a:gradFill rotWithShape="0">
              <a:gsLst>
                <a:gs pos="0">
                  <a:srgbClr val="808080"/>
                </a:gs>
                <a:gs pos="100000">
                  <a:srgbClr val="FFFFFF"/>
                </a:gs>
              </a:gsLst>
              <a:lin ang="189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80914" name="Freeform 18"/>
            <p:cNvSpPr>
              <a:spLocks noChangeAspect="1"/>
            </p:cNvSpPr>
            <p:nvPr/>
          </p:nvSpPr>
          <p:spPr bwMode="auto">
            <a:xfrm>
              <a:off x="1179" y="1507"/>
              <a:ext cx="105" cy="86"/>
            </a:xfrm>
            <a:custGeom>
              <a:avLst/>
              <a:gdLst/>
              <a:ahLst/>
              <a:cxnLst>
                <a:cxn ang="0">
                  <a:pos x="48" y="0"/>
                </a:cxn>
                <a:cxn ang="0">
                  <a:pos x="186" y="63"/>
                </a:cxn>
                <a:cxn ang="0">
                  <a:pos x="183" y="66"/>
                </a:cxn>
                <a:cxn ang="0">
                  <a:pos x="177" y="66"/>
                </a:cxn>
                <a:cxn ang="0">
                  <a:pos x="171" y="69"/>
                </a:cxn>
                <a:cxn ang="0">
                  <a:pos x="165" y="72"/>
                </a:cxn>
                <a:cxn ang="0">
                  <a:pos x="159" y="75"/>
                </a:cxn>
                <a:cxn ang="0">
                  <a:pos x="153" y="81"/>
                </a:cxn>
                <a:cxn ang="0">
                  <a:pos x="150" y="84"/>
                </a:cxn>
                <a:cxn ang="0">
                  <a:pos x="147" y="93"/>
                </a:cxn>
                <a:cxn ang="0">
                  <a:pos x="144" y="99"/>
                </a:cxn>
                <a:cxn ang="0">
                  <a:pos x="141" y="105"/>
                </a:cxn>
                <a:cxn ang="0">
                  <a:pos x="141" y="111"/>
                </a:cxn>
                <a:cxn ang="0">
                  <a:pos x="141" y="120"/>
                </a:cxn>
                <a:cxn ang="0">
                  <a:pos x="141" y="129"/>
                </a:cxn>
                <a:cxn ang="0">
                  <a:pos x="144" y="135"/>
                </a:cxn>
                <a:cxn ang="0">
                  <a:pos x="150" y="153"/>
                </a:cxn>
                <a:cxn ang="0">
                  <a:pos x="9" y="87"/>
                </a:cxn>
                <a:cxn ang="0">
                  <a:pos x="6" y="84"/>
                </a:cxn>
                <a:cxn ang="0">
                  <a:pos x="6" y="78"/>
                </a:cxn>
                <a:cxn ang="0">
                  <a:pos x="3" y="72"/>
                </a:cxn>
                <a:cxn ang="0">
                  <a:pos x="0" y="66"/>
                </a:cxn>
                <a:cxn ang="0">
                  <a:pos x="0" y="57"/>
                </a:cxn>
                <a:cxn ang="0">
                  <a:pos x="0" y="51"/>
                </a:cxn>
                <a:cxn ang="0">
                  <a:pos x="0" y="42"/>
                </a:cxn>
                <a:cxn ang="0">
                  <a:pos x="3" y="36"/>
                </a:cxn>
                <a:cxn ang="0">
                  <a:pos x="6" y="30"/>
                </a:cxn>
                <a:cxn ang="0">
                  <a:pos x="6" y="21"/>
                </a:cxn>
                <a:cxn ang="0">
                  <a:pos x="12" y="18"/>
                </a:cxn>
                <a:cxn ang="0">
                  <a:pos x="18" y="12"/>
                </a:cxn>
                <a:cxn ang="0">
                  <a:pos x="24" y="6"/>
                </a:cxn>
                <a:cxn ang="0">
                  <a:pos x="30" y="3"/>
                </a:cxn>
                <a:cxn ang="0">
                  <a:pos x="48" y="0"/>
                </a:cxn>
              </a:cxnLst>
              <a:rect l="0" t="0" r="r" b="b"/>
              <a:pathLst>
                <a:path w="187" h="154">
                  <a:moveTo>
                    <a:pt x="48" y="0"/>
                  </a:moveTo>
                  <a:lnTo>
                    <a:pt x="186" y="63"/>
                  </a:lnTo>
                  <a:lnTo>
                    <a:pt x="183" y="66"/>
                  </a:lnTo>
                  <a:lnTo>
                    <a:pt x="177" y="66"/>
                  </a:lnTo>
                  <a:lnTo>
                    <a:pt x="171" y="69"/>
                  </a:lnTo>
                  <a:lnTo>
                    <a:pt x="165" y="72"/>
                  </a:lnTo>
                  <a:lnTo>
                    <a:pt x="159" y="75"/>
                  </a:lnTo>
                  <a:lnTo>
                    <a:pt x="153" y="81"/>
                  </a:lnTo>
                  <a:lnTo>
                    <a:pt x="150" y="84"/>
                  </a:lnTo>
                  <a:lnTo>
                    <a:pt x="147" y="93"/>
                  </a:lnTo>
                  <a:lnTo>
                    <a:pt x="144" y="99"/>
                  </a:lnTo>
                  <a:lnTo>
                    <a:pt x="141" y="105"/>
                  </a:lnTo>
                  <a:lnTo>
                    <a:pt x="141" y="111"/>
                  </a:lnTo>
                  <a:lnTo>
                    <a:pt x="141" y="120"/>
                  </a:lnTo>
                  <a:lnTo>
                    <a:pt x="141" y="129"/>
                  </a:lnTo>
                  <a:lnTo>
                    <a:pt x="144" y="135"/>
                  </a:lnTo>
                  <a:lnTo>
                    <a:pt x="150" y="153"/>
                  </a:lnTo>
                  <a:lnTo>
                    <a:pt x="9" y="87"/>
                  </a:lnTo>
                  <a:lnTo>
                    <a:pt x="6" y="84"/>
                  </a:lnTo>
                  <a:lnTo>
                    <a:pt x="6" y="78"/>
                  </a:lnTo>
                  <a:lnTo>
                    <a:pt x="3" y="72"/>
                  </a:lnTo>
                  <a:lnTo>
                    <a:pt x="0" y="66"/>
                  </a:lnTo>
                  <a:lnTo>
                    <a:pt x="0" y="57"/>
                  </a:lnTo>
                  <a:lnTo>
                    <a:pt x="0" y="51"/>
                  </a:lnTo>
                  <a:lnTo>
                    <a:pt x="0" y="42"/>
                  </a:lnTo>
                  <a:lnTo>
                    <a:pt x="3" y="36"/>
                  </a:lnTo>
                  <a:lnTo>
                    <a:pt x="6" y="30"/>
                  </a:lnTo>
                  <a:lnTo>
                    <a:pt x="6" y="21"/>
                  </a:lnTo>
                  <a:lnTo>
                    <a:pt x="12" y="18"/>
                  </a:lnTo>
                  <a:lnTo>
                    <a:pt x="18" y="12"/>
                  </a:lnTo>
                  <a:lnTo>
                    <a:pt x="24" y="6"/>
                  </a:lnTo>
                  <a:lnTo>
                    <a:pt x="30" y="3"/>
                  </a:lnTo>
                  <a:lnTo>
                    <a:pt x="48" y="0"/>
                  </a:lnTo>
                </a:path>
              </a:pathLst>
            </a:custGeom>
            <a:gradFill rotWithShape="0">
              <a:gsLst>
                <a:gs pos="0">
                  <a:srgbClr val="808080"/>
                </a:gs>
                <a:gs pos="100000">
                  <a:srgbClr val="FFFFFF"/>
                </a:gs>
              </a:gsLst>
              <a:lin ang="189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80915" name="Freeform 19"/>
            <p:cNvSpPr>
              <a:spLocks/>
            </p:cNvSpPr>
            <p:nvPr/>
          </p:nvSpPr>
          <p:spPr bwMode="auto">
            <a:xfrm>
              <a:off x="1307" y="1116"/>
              <a:ext cx="559" cy="345"/>
            </a:xfrm>
            <a:custGeom>
              <a:avLst/>
              <a:gdLst/>
              <a:ahLst/>
              <a:cxnLst>
                <a:cxn ang="0">
                  <a:pos x="559" y="156"/>
                </a:cxn>
                <a:cxn ang="0">
                  <a:pos x="109" y="0"/>
                </a:cxn>
                <a:cxn ang="0">
                  <a:pos x="0" y="345"/>
                </a:cxn>
              </a:cxnLst>
              <a:rect l="0" t="0" r="r" b="b"/>
              <a:pathLst>
                <a:path w="559" h="345">
                  <a:moveTo>
                    <a:pt x="559" y="156"/>
                  </a:moveTo>
                  <a:lnTo>
                    <a:pt x="109" y="0"/>
                  </a:lnTo>
                  <a:lnTo>
                    <a:pt x="0" y="345"/>
                  </a:lnTo>
                </a:path>
              </a:pathLst>
            </a:custGeom>
            <a:noFill/>
            <a:ln w="6350" cap="flat" cmpd="sng">
              <a:solidFill>
                <a:srgbClr val="808080"/>
              </a:solidFill>
              <a:prstDash val="solid"/>
              <a:round/>
              <a:headEnd/>
              <a:tailEnd/>
            </a:ln>
            <a:effectLst/>
          </p:spPr>
          <p:txBody>
            <a:bodyPr wrap="none" anchor="ctr"/>
            <a:lstStyle/>
            <a:p>
              <a:endParaRPr lang="fr-FR"/>
            </a:p>
          </p:txBody>
        </p:sp>
        <p:sp>
          <p:nvSpPr>
            <p:cNvPr id="80916" name="Freeform 20"/>
            <p:cNvSpPr>
              <a:spLocks/>
            </p:cNvSpPr>
            <p:nvPr/>
          </p:nvSpPr>
          <p:spPr bwMode="auto">
            <a:xfrm>
              <a:off x="1310" y="1275"/>
              <a:ext cx="556" cy="365"/>
            </a:xfrm>
            <a:custGeom>
              <a:avLst/>
              <a:gdLst/>
              <a:ahLst/>
              <a:cxnLst>
                <a:cxn ang="0">
                  <a:pos x="556" y="0"/>
                </a:cxn>
                <a:cxn ang="0">
                  <a:pos x="433" y="365"/>
                </a:cxn>
                <a:cxn ang="0">
                  <a:pos x="0" y="188"/>
                </a:cxn>
              </a:cxnLst>
              <a:rect l="0" t="0" r="r" b="b"/>
              <a:pathLst>
                <a:path w="556" h="365">
                  <a:moveTo>
                    <a:pt x="556" y="0"/>
                  </a:moveTo>
                  <a:lnTo>
                    <a:pt x="433" y="365"/>
                  </a:lnTo>
                  <a:lnTo>
                    <a:pt x="0" y="188"/>
                  </a:lnTo>
                </a:path>
              </a:pathLst>
            </a:custGeom>
            <a:noFill/>
            <a:ln w="3175" cap="flat" cmpd="sng">
              <a:solidFill>
                <a:srgbClr val="FFFFFF"/>
              </a:solidFill>
              <a:prstDash val="solid"/>
              <a:round/>
              <a:headEnd/>
              <a:tailEnd/>
            </a:ln>
            <a:effectLst/>
          </p:spPr>
          <p:txBody>
            <a:bodyPr wrap="none" anchor="ctr"/>
            <a:lstStyle/>
            <a:p>
              <a:endParaRPr lang="fr-FR"/>
            </a:p>
          </p:txBody>
        </p:sp>
      </p:grpSp>
      <p:grpSp>
        <p:nvGrpSpPr>
          <p:cNvPr id="80917" name="Group 21"/>
          <p:cNvGrpSpPr>
            <a:grpSpLocks/>
          </p:cNvGrpSpPr>
          <p:nvPr/>
        </p:nvGrpSpPr>
        <p:grpSpPr bwMode="auto">
          <a:xfrm>
            <a:off x="4446588" y="2205038"/>
            <a:ext cx="1135062" cy="1835150"/>
            <a:chOff x="516" y="612"/>
            <a:chExt cx="626" cy="1012"/>
          </a:xfrm>
        </p:grpSpPr>
        <p:sp>
          <p:nvSpPr>
            <p:cNvPr id="80918" name="Freeform 22"/>
            <p:cNvSpPr>
              <a:spLocks/>
            </p:cNvSpPr>
            <p:nvPr/>
          </p:nvSpPr>
          <p:spPr bwMode="auto">
            <a:xfrm>
              <a:off x="528" y="1365"/>
              <a:ext cx="604" cy="259"/>
            </a:xfrm>
            <a:custGeom>
              <a:avLst/>
              <a:gdLst/>
              <a:ahLst/>
              <a:cxnLst>
                <a:cxn ang="0">
                  <a:pos x="0" y="292"/>
                </a:cxn>
                <a:cxn ang="0">
                  <a:pos x="0" y="370"/>
                </a:cxn>
                <a:cxn ang="0">
                  <a:pos x="567" y="535"/>
                </a:cxn>
                <a:cxn ang="0">
                  <a:pos x="1251" y="92"/>
                </a:cxn>
                <a:cxn ang="0">
                  <a:pos x="1251" y="0"/>
                </a:cxn>
              </a:cxnLst>
              <a:rect l="0" t="0" r="r" b="b"/>
              <a:pathLst>
                <a:path w="1252" h="536">
                  <a:moveTo>
                    <a:pt x="0" y="292"/>
                  </a:moveTo>
                  <a:lnTo>
                    <a:pt x="0" y="370"/>
                  </a:lnTo>
                  <a:lnTo>
                    <a:pt x="567" y="535"/>
                  </a:lnTo>
                  <a:lnTo>
                    <a:pt x="1251" y="92"/>
                  </a:lnTo>
                  <a:lnTo>
                    <a:pt x="1251" y="0"/>
                  </a:lnTo>
                </a:path>
              </a:pathLst>
            </a:custGeom>
            <a:solidFill>
              <a:srgbClr val="969696"/>
            </a:solidFill>
            <a:ln w="3175" cap="rnd" cmpd="sng">
              <a:solidFill>
                <a:schemeClr val="tx1"/>
              </a:solidFill>
              <a:prstDash val="solid"/>
              <a:round/>
              <a:headEnd type="none" w="med" len="med"/>
              <a:tailEnd type="none" w="med" len="med"/>
            </a:ln>
            <a:effectLst/>
          </p:spPr>
          <p:txBody>
            <a:bodyPr/>
            <a:lstStyle/>
            <a:p>
              <a:endParaRPr lang="fr-FR"/>
            </a:p>
          </p:txBody>
        </p:sp>
        <p:sp>
          <p:nvSpPr>
            <p:cNvPr id="80919" name="Freeform 23"/>
            <p:cNvSpPr>
              <a:spLocks/>
            </p:cNvSpPr>
            <p:nvPr/>
          </p:nvSpPr>
          <p:spPr bwMode="auto">
            <a:xfrm>
              <a:off x="518" y="612"/>
              <a:ext cx="623" cy="217"/>
            </a:xfrm>
            <a:custGeom>
              <a:avLst/>
              <a:gdLst/>
              <a:ahLst/>
              <a:cxnLst>
                <a:cxn ang="0">
                  <a:pos x="0" y="307"/>
                </a:cxn>
                <a:cxn ang="0">
                  <a:pos x="577" y="448"/>
                </a:cxn>
                <a:cxn ang="0">
                  <a:pos x="1290" y="127"/>
                </a:cxn>
                <a:cxn ang="0">
                  <a:pos x="727" y="0"/>
                </a:cxn>
                <a:cxn ang="0">
                  <a:pos x="0" y="307"/>
                </a:cxn>
              </a:cxnLst>
              <a:rect l="0" t="0" r="r" b="b"/>
              <a:pathLst>
                <a:path w="1291" h="449">
                  <a:moveTo>
                    <a:pt x="0" y="307"/>
                  </a:moveTo>
                  <a:lnTo>
                    <a:pt x="577" y="448"/>
                  </a:lnTo>
                  <a:lnTo>
                    <a:pt x="1290" y="127"/>
                  </a:lnTo>
                  <a:lnTo>
                    <a:pt x="727" y="0"/>
                  </a:lnTo>
                  <a:lnTo>
                    <a:pt x="0" y="307"/>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sp>
          <p:nvSpPr>
            <p:cNvPr id="80920" name="Freeform 24"/>
            <p:cNvSpPr>
              <a:spLocks/>
            </p:cNvSpPr>
            <p:nvPr/>
          </p:nvSpPr>
          <p:spPr bwMode="auto">
            <a:xfrm>
              <a:off x="790" y="672"/>
              <a:ext cx="352" cy="927"/>
            </a:xfrm>
            <a:custGeom>
              <a:avLst/>
              <a:gdLst/>
              <a:ahLst/>
              <a:cxnLst>
                <a:cxn ang="0">
                  <a:pos x="0" y="328"/>
                </a:cxn>
                <a:cxn ang="0">
                  <a:pos x="4" y="1915"/>
                </a:cxn>
                <a:cxn ang="0">
                  <a:pos x="728" y="1456"/>
                </a:cxn>
                <a:cxn ang="0">
                  <a:pos x="728" y="0"/>
                </a:cxn>
                <a:cxn ang="0">
                  <a:pos x="0" y="328"/>
                </a:cxn>
              </a:cxnLst>
              <a:rect l="0" t="0" r="r" b="b"/>
              <a:pathLst>
                <a:path w="729" h="1916">
                  <a:moveTo>
                    <a:pt x="0" y="328"/>
                  </a:moveTo>
                  <a:lnTo>
                    <a:pt x="4" y="1915"/>
                  </a:lnTo>
                  <a:lnTo>
                    <a:pt x="728" y="1456"/>
                  </a:lnTo>
                  <a:lnTo>
                    <a:pt x="728" y="0"/>
                  </a:lnTo>
                  <a:lnTo>
                    <a:pt x="0" y="32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80921" name="Freeform 25"/>
            <p:cNvSpPr>
              <a:spLocks/>
            </p:cNvSpPr>
            <p:nvPr/>
          </p:nvSpPr>
          <p:spPr bwMode="auto">
            <a:xfrm>
              <a:off x="516" y="760"/>
              <a:ext cx="278" cy="834"/>
            </a:xfrm>
            <a:custGeom>
              <a:avLst/>
              <a:gdLst/>
              <a:ahLst/>
              <a:cxnLst>
                <a:cxn ang="0">
                  <a:pos x="576" y="140"/>
                </a:cxn>
                <a:cxn ang="0">
                  <a:pos x="576" y="1727"/>
                </a:cxn>
                <a:cxn ang="0">
                  <a:pos x="0" y="1568"/>
                </a:cxn>
                <a:cxn ang="0">
                  <a:pos x="0" y="0"/>
                </a:cxn>
                <a:cxn ang="0">
                  <a:pos x="576" y="140"/>
                </a:cxn>
              </a:cxnLst>
              <a:rect l="0" t="0" r="r" b="b"/>
              <a:pathLst>
                <a:path w="577" h="1728">
                  <a:moveTo>
                    <a:pt x="576" y="140"/>
                  </a:moveTo>
                  <a:lnTo>
                    <a:pt x="576" y="1727"/>
                  </a:lnTo>
                  <a:lnTo>
                    <a:pt x="0" y="1568"/>
                  </a:lnTo>
                  <a:lnTo>
                    <a:pt x="0" y="0"/>
                  </a:lnTo>
                  <a:lnTo>
                    <a:pt x="576" y="140"/>
                  </a:lnTo>
                </a:path>
              </a:pathLst>
            </a:custGeom>
            <a:gradFill rotWithShape="0">
              <a:gsLst>
                <a:gs pos="0">
                  <a:srgbClr val="B2B2B2">
                    <a:gamma/>
                    <a:tint val="23529"/>
                    <a:invGamma/>
                  </a:srgbClr>
                </a:gs>
                <a:gs pos="100000">
                  <a:srgbClr val="B2B2B2"/>
                </a:gs>
              </a:gsLst>
              <a:lin ang="5400000" scaled="1"/>
            </a:gradFill>
            <a:ln w="3175" cap="rnd" cmpd="sng">
              <a:solidFill>
                <a:schemeClr val="tx1"/>
              </a:solidFill>
              <a:prstDash val="solid"/>
              <a:round/>
              <a:headEnd type="none" w="med" len="med"/>
              <a:tailEnd type="none" w="med" len="med"/>
            </a:ln>
            <a:effectLst/>
          </p:spPr>
          <p:txBody>
            <a:bodyPr/>
            <a:lstStyle/>
            <a:p>
              <a:endParaRPr lang="fr-FR"/>
            </a:p>
          </p:txBody>
        </p:sp>
        <p:sp>
          <p:nvSpPr>
            <p:cNvPr id="80922" name="Line 26"/>
            <p:cNvSpPr>
              <a:spLocks noChangeShapeType="1"/>
            </p:cNvSpPr>
            <p:nvPr/>
          </p:nvSpPr>
          <p:spPr bwMode="auto">
            <a:xfrm>
              <a:off x="555" y="1462"/>
              <a:ext cx="192" cy="51"/>
            </a:xfrm>
            <a:prstGeom prst="line">
              <a:avLst/>
            </a:prstGeom>
            <a:noFill/>
            <a:ln w="6350">
              <a:solidFill>
                <a:srgbClr val="676767"/>
              </a:solidFill>
              <a:round/>
              <a:headEnd/>
              <a:tailEnd/>
            </a:ln>
            <a:effectLst/>
          </p:spPr>
          <p:txBody>
            <a:bodyPr wrap="none" anchor="ctr"/>
            <a:lstStyle/>
            <a:p>
              <a:endParaRPr lang="fr-FR"/>
            </a:p>
          </p:txBody>
        </p:sp>
        <p:sp>
          <p:nvSpPr>
            <p:cNvPr id="80923" name="Oval 27"/>
            <p:cNvSpPr>
              <a:spLocks noChangeArrowheads="1"/>
            </p:cNvSpPr>
            <p:nvPr/>
          </p:nvSpPr>
          <p:spPr bwMode="auto">
            <a:xfrm>
              <a:off x="548" y="801"/>
              <a:ext cx="31" cy="17"/>
            </a:xfrm>
            <a:prstGeom prst="ellipse">
              <a:avLst/>
            </a:prstGeom>
            <a:solidFill>
              <a:srgbClr val="D60093"/>
            </a:solidFill>
            <a:ln w="12700">
              <a:noFill/>
              <a:round/>
              <a:headEnd/>
              <a:tailEnd/>
            </a:ln>
            <a:effectLst/>
          </p:spPr>
          <p:txBody>
            <a:bodyPr wrap="none" anchor="ctr"/>
            <a:lstStyle/>
            <a:p>
              <a:endParaRPr lang="fr-FR"/>
            </a:p>
          </p:txBody>
        </p:sp>
        <p:sp>
          <p:nvSpPr>
            <p:cNvPr id="80924" name="Line 28"/>
            <p:cNvSpPr>
              <a:spLocks noChangeShapeType="1"/>
            </p:cNvSpPr>
            <p:nvPr/>
          </p:nvSpPr>
          <p:spPr bwMode="auto">
            <a:xfrm>
              <a:off x="555" y="1424"/>
              <a:ext cx="192" cy="51"/>
            </a:xfrm>
            <a:prstGeom prst="line">
              <a:avLst/>
            </a:prstGeom>
            <a:noFill/>
            <a:ln w="6350">
              <a:solidFill>
                <a:srgbClr val="676767"/>
              </a:solidFill>
              <a:round/>
              <a:headEnd/>
              <a:tailEnd/>
            </a:ln>
            <a:effectLst/>
          </p:spPr>
          <p:txBody>
            <a:bodyPr wrap="none" anchor="ctr"/>
            <a:lstStyle/>
            <a:p>
              <a:endParaRPr lang="fr-FR"/>
            </a:p>
          </p:txBody>
        </p:sp>
        <p:sp>
          <p:nvSpPr>
            <p:cNvPr id="80925" name="Line 29"/>
            <p:cNvSpPr>
              <a:spLocks noChangeShapeType="1"/>
            </p:cNvSpPr>
            <p:nvPr/>
          </p:nvSpPr>
          <p:spPr bwMode="auto">
            <a:xfrm>
              <a:off x="555" y="1386"/>
              <a:ext cx="192" cy="52"/>
            </a:xfrm>
            <a:prstGeom prst="line">
              <a:avLst/>
            </a:prstGeom>
            <a:noFill/>
            <a:ln w="6350">
              <a:solidFill>
                <a:srgbClr val="676767"/>
              </a:solidFill>
              <a:round/>
              <a:headEnd/>
              <a:tailEnd/>
            </a:ln>
            <a:effectLst/>
          </p:spPr>
          <p:txBody>
            <a:bodyPr wrap="none" anchor="ctr"/>
            <a:lstStyle/>
            <a:p>
              <a:endParaRPr lang="fr-FR"/>
            </a:p>
          </p:txBody>
        </p:sp>
        <p:sp>
          <p:nvSpPr>
            <p:cNvPr id="80926" name="Line 30"/>
            <p:cNvSpPr>
              <a:spLocks noChangeShapeType="1"/>
            </p:cNvSpPr>
            <p:nvPr/>
          </p:nvSpPr>
          <p:spPr bwMode="auto">
            <a:xfrm>
              <a:off x="555" y="1349"/>
              <a:ext cx="192" cy="51"/>
            </a:xfrm>
            <a:prstGeom prst="line">
              <a:avLst/>
            </a:prstGeom>
            <a:noFill/>
            <a:ln w="6350">
              <a:solidFill>
                <a:srgbClr val="676767"/>
              </a:solidFill>
              <a:round/>
              <a:headEnd/>
              <a:tailEnd/>
            </a:ln>
            <a:effectLst/>
          </p:spPr>
          <p:txBody>
            <a:bodyPr wrap="none" anchor="ctr"/>
            <a:lstStyle/>
            <a:p>
              <a:endParaRPr lang="fr-FR"/>
            </a:p>
          </p:txBody>
        </p:sp>
        <p:sp>
          <p:nvSpPr>
            <p:cNvPr id="80927" name="Line 31"/>
            <p:cNvSpPr>
              <a:spLocks noChangeShapeType="1"/>
            </p:cNvSpPr>
            <p:nvPr/>
          </p:nvSpPr>
          <p:spPr bwMode="auto">
            <a:xfrm>
              <a:off x="555" y="1310"/>
              <a:ext cx="192" cy="51"/>
            </a:xfrm>
            <a:prstGeom prst="line">
              <a:avLst/>
            </a:prstGeom>
            <a:noFill/>
            <a:ln w="6350">
              <a:solidFill>
                <a:srgbClr val="676767"/>
              </a:solidFill>
              <a:round/>
              <a:headEnd/>
              <a:tailEnd/>
            </a:ln>
            <a:effectLst/>
          </p:spPr>
          <p:txBody>
            <a:bodyPr wrap="none" anchor="ctr"/>
            <a:lstStyle/>
            <a:p>
              <a:endParaRPr lang="fr-FR"/>
            </a:p>
          </p:txBody>
        </p:sp>
        <p:sp>
          <p:nvSpPr>
            <p:cNvPr id="80928" name="Freeform 32"/>
            <p:cNvSpPr>
              <a:spLocks/>
            </p:cNvSpPr>
            <p:nvPr/>
          </p:nvSpPr>
          <p:spPr bwMode="auto">
            <a:xfrm>
              <a:off x="558" y="946"/>
              <a:ext cx="190" cy="355"/>
            </a:xfrm>
            <a:custGeom>
              <a:avLst/>
              <a:gdLst/>
              <a:ahLst/>
              <a:cxnLst>
                <a:cxn ang="0">
                  <a:pos x="0" y="628"/>
                </a:cxn>
                <a:cxn ang="0">
                  <a:pos x="396" y="732"/>
                </a:cxn>
                <a:cxn ang="0">
                  <a:pos x="396" y="0"/>
                </a:cxn>
              </a:cxnLst>
              <a:rect l="0" t="0" r="r" b="b"/>
              <a:pathLst>
                <a:path w="397" h="733">
                  <a:moveTo>
                    <a:pt x="0" y="628"/>
                  </a:moveTo>
                  <a:lnTo>
                    <a:pt x="396" y="732"/>
                  </a:lnTo>
                  <a:lnTo>
                    <a:pt x="396" y="0"/>
                  </a:lnTo>
                </a:path>
              </a:pathLst>
            </a:custGeom>
            <a:noFill/>
            <a:ln w="3175" cap="rnd" cmpd="sng">
              <a:solidFill>
                <a:srgbClr val="676767"/>
              </a:solidFill>
              <a:prstDash val="solid"/>
              <a:round/>
              <a:headEnd type="none" w="med" len="med"/>
              <a:tailEnd type="none" w="med" len="med"/>
            </a:ln>
            <a:effectLst/>
          </p:spPr>
          <p:txBody>
            <a:bodyPr/>
            <a:lstStyle/>
            <a:p>
              <a:endParaRPr lang="fr-FR"/>
            </a:p>
          </p:txBody>
        </p:sp>
        <p:sp>
          <p:nvSpPr>
            <p:cNvPr id="80929" name="Freeform 33"/>
            <p:cNvSpPr>
              <a:spLocks/>
            </p:cNvSpPr>
            <p:nvPr/>
          </p:nvSpPr>
          <p:spPr bwMode="auto">
            <a:xfrm>
              <a:off x="538" y="876"/>
              <a:ext cx="218" cy="618"/>
            </a:xfrm>
            <a:custGeom>
              <a:avLst/>
              <a:gdLst/>
              <a:ahLst/>
              <a:cxnLst>
                <a:cxn ang="0">
                  <a:pos x="452" y="105"/>
                </a:cxn>
                <a:cxn ang="0">
                  <a:pos x="0" y="0"/>
                </a:cxn>
                <a:cxn ang="0">
                  <a:pos x="0" y="1277"/>
                </a:cxn>
              </a:cxnLst>
              <a:rect l="0" t="0" r="r" b="b"/>
              <a:pathLst>
                <a:path w="453" h="1278">
                  <a:moveTo>
                    <a:pt x="452" y="105"/>
                  </a:moveTo>
                  <a:lnTo>
                    <a:pt x="0" y="0"/>
                  </a:lnTo>
                  <a:lnTo>
                    <a:pt x="0" y="1277"/>
                  </a:lnTo>
                </a:path>
              </a:pathLst>
            </a:custGeom>
            <a:noFill/>
            <a:ln w="6350" cap="rnd" cmpd="sng">
              <a:solidFill>
                <a:srgbClr val="808080"/>
              </a:solidFill>
              <a:prstDash val="solid"/>
              <a:round/>
              <a:headEnd type="none" w="med" len="med"/>
              <a:tailEnd type="none" w="med" len="med"/>
            </a:ln>
            <a:effectLst/>
          </p:spPr>
          <p:txBody>
            <a:bodyPr/>
            <a:lstStyle/>
            <a:p>
              <a:endParaRPr lang="fr-FR"/>
            </a:p>
          </p:txBody>
        </p:sp>
        <p:sp>
          <p:nvSpPr>
            <p:cNvPr id="80930" name="Freeform 34"/>
            <p:cNvSpPr>
              <a:spLocks/>
            </p:cNvSpPr>
            <p:nvPr/>
          </p:nvSpPr>
          <p:spPr bwMode="auto">
            <a:xfrm>
              <a:off x="552" y="899"/>
              <a:ext cx="194" cy="352"/>
            </a:xfrm>
            <a:custGeom>
              <a:avLst/>
              <a:gdLst/>
              <a:ahLst/>
              <a:cxnLst>
                <a:cxn ang="0">
                  <a:pos x="401" y="96"/>
                </a:cxn>
                <a:cxn ang="0">
                  <a:pos x="0" y="0"/>
                </a:cxn>
                <a:cxn ang="0">
                  <a:pos x="0" y="725"/>
                </a:cxn>
              </a:cxnLst>
              <a:rect l="0" t="0" r="r" b="b"/>
              <a:pathLst>
                <a:path w="402" h="726">
                  <a:moveTo>
                    <a:pt x="401" y="96"/>
                  </a:moveTo>
                  <a:lnTo>
                    <a:pt x="0" y="0"/>
                  </a:lnTo>
                  <a:lnTo>
                    <a:pt x="0" y="725"/>
                  </a:lnTo>
                </a:path>
              </a:pathLst>
            </a:custGeom>
            <a:noFill/>
            <a:ln w="3175" cap="rnd" cmpd="sng">
              <a:solidFill>
                <a:schemeClr val="tx1"/>
              </a:solidFill>
              <a:prstDash val="solid"/>
              <a:round/>
              <a:headEnd type="none" w="med" len="med"/>
              <a:tailEnd type="none" w="med" len="med"/>
            </a:ln>
            <a:effectLst/>
          </p:spPr>
          <p:txBody>
            <a:bodyPr/>
            <a:lstStyle/>
            <a:p>
              <a:endParaRPr lang="fr-FR"/>
            </a:p>
          </p:txBody>
        </p:sp>
        <p:sp>
          <p:nvSpPr>
            <p:cNvPr id="80931" name="Line 35"/>
            <p:cNvSpPr>
              <a:spLocks noChangeShapeType="1"/>
            </p:cNvSpPr>
            <p:nvPr/>
          </p:nvSpPr>
          <p:spPr bwMode="auto">
            <a:xfrm>
              <a:off x="553" y="980"/>
              <a:ext cx="187" cy="43"/>
            </a:xfrm>
            <a:prstGeom prst="line">
              <a:avLst/>
            </a:prstGeom>
            <a:noFill/>
            <a:ln w="3175">
              <a:solidFill>
                <a:srgbClr val="676767"/>
              </a:solidFill>
              <a:round/>
              <a:headEnd/>
              <a:tailEnd/>
            </a:ln>
            <a:effectLst/>
          </p:spPr>
          <p:txBody>
            <a:bodyPr wrap="none" anchor="ctr"/>
            <a:lstStyle/>
            <a:p>
              <a:endParaRPr lang="fr-FR"/>
            </a:p>
          </p:txBody>
        </p:sp>
        <p:sp>
          <p:nvSpPr>
            <p:cNvPr id="80932" name="Line 36"/>
            <p:cNvSpPr>
              <a:spLocks noChangeShapeType="1"/>
            </p:cNvSpPr>
            <p:nvPr/>
          </p:nvSpPr>
          <p:spPr bwMode="auto">
            <a:xfrm>
              <a:off x="553" y="1055"/>
              <a:ext cx="189" cy="43"/>
            </a:xfrm>
            <a:prstGeom prst="line">
              <a:avLst/>
            </a:prstGeom>
            <a:noFill/>
            <a:ln w="3175">
              <a:solidFill>
                <a:srgbClr val="676767"/>
              </a:solidFill>
              <a:round/>
              <a:headEnd/>
              <a:tailEnd/>
            </a:ln>
            <a:effectLst/>
          </p:spPr>
          <p:txBody>
            <a:bodyPr wrap="none" anchor="ctr"/>
            <a:lstStyle/>
            <a:p>
              <a:endParaRPr lang="fr-FR"/>
            </a:p>
          </p:txBody>
        </p:sp>
        <p:sp>
          <p:nvSpPr>
            <p:cNvPr id="80933" name="Line 37"/>
            <p:cNvSpPr>
              <a:spLocks noChangeShapeType="1"/>
            </p:cNvSpPr>
            <p:nvPr/>
          </p:nvSpPr>
          <p:spPr bwMode="auto">
            <a:xfrm>
              <a:off x="553" y="1148"/>
              <a:ext cx="180" cy="43"/>
            </a:xfrm>
            <a:prstGeom prst="line">
              <a:avLst/>
            </a:prstGeom>
            <a:noFill/>
            <a:ln w="3175">
              <a:solidFill>
                <a:srgbClr val="676767"/>
              </a:solidFill>
              <a:round/>
              <a:headEnd/>
              <a:tailEnd/>
            </a:ln>
            <a:effectLst/>
          </p:spPr>
          <p:txBody>
            <a:bodyPr wrap="none" anchor="ctr"/>
            <a:lstStyle/>
            <a:p>
              <a:endParaRPr lang="fr-FR"/>
            </a:p>
          </p:txBody>
        </p:sp>
        <p:sp>
          <p:nvSpPr>
            <p:cNvPr id="80934" name="Freeform 38"/>
            <p:cNvSpPr>
              <a:spLocks/>
            </p:cNvSpPr>
            <p:nvPr/>
          </p:nvSpPr>
          <p:spPr bwMode="auto">
            <a:xfrm>
              <a:off x="609" y="943"/>
              <a:ext cx="74" cy="40"/>
            </a:xfrm>
            <a:custGeom>
              <a:avLst/>
              <a:gdLst/>
              <a:ahLst/>
              <a:cxnLst>
                <a:cxn ang="0">
                  <a:pos x="0" y="0"/>
                </a:cxn>
                <a:cxn ang="0">
                  <a:pos x="0" y="48"/>
                </a:cxn>
                <a:cxn ang="0">
                  <a:pos x="151" y="81"/>
                </a:cxn>
                <a:cxn ang="0">
                  <a:pos x="151" y="33"/>
                </a:cxn>
                <a:cxn ang="0">
                  <a:pos x="0" y="0"/>
                </a:cxn>
              </a:cxnLst>
              <a:rect l="0" t="0" r="r" b="b"/>
              <a:pathLst>
                <a:path w="152" h="82">
                  <a:moveTo>
                    <a:pt x="0" y="0"/>
                  </a:moveTo>
                  <a:lnTo>
                    <a:pt x="0" y="48"/>
                  </a:lnTo>
                  <a:lnTo>
                    <a:pt x="151" y="81"/>
                  </a:lnTo>
                  <a:lnTo>
                    <a:pt x="151" y="33"/>
                  </a:lnTo>
                  <a:lnTo>
                    <a:pt x="0" y="0"/>
                  </a:lnTo>
                </a:path>
              </a:pathLst>
            </a:custGeom>
            <a:solidFill>
              <a:srgbClr val="A9A9A9"/>
            </a:solidFill>
            <a:ln w="12700" cap="rnd" cmpd="sng">
              <a:noFill/>
              <a:prstDash val="solid"/>
              <a:round/>
              <a:headEnd type="none" w="med" len="med"/>
              <a:tailEnd type="none" w="med" len="med"/>
            </a:ln>
            <a:effectLst/>
          </p:spPr>
          <p:txBody>
            <a:bodyPr/>
            <a:lstStyle/>
            <a:p>
              <a:endParaRPr lang="fr-FR"/>
            </a:p>
          </p:txBody>
        </p:sp>
        <p:sp>
          <p:nvSpPr>
            <p:cNvPr id="80935" name="Line 39"/>
            <p:cNvSpPr>
              <a:spLocks noChangeShapeType="1"/>
            </p:cNvSpPr>
            <p:nvPr/>
          </p:nvSpPr>
          <p:spPr bwMode="auto">
            <a:xfrm>
              <a:off x="580" y="949"/>
              <a:ext cx="138" cy="30"/>
            </a:xfrm>
            <a:prstGeom prst="line">
              <a:avLst/>
            </a:prstGeom>
            <a:noFill/>
            <a:ln w="6350">
              <a:solidFill>
                <a:srgbClr val="919191"/>
              </a:solidFill>
              <a:round/>
              <a:headEnd/>
              <a:tailEnd/>
            </a:ln>
            <a:effectLst/>
          </p:spPr>
          <p:txBody>
            <a:bodyPr wrap="none" anchor="ctr"/>
            <a:lstStyle/>
            <a:p>
              <a:endParaRPr lang="fr-FR"/>
            </a:p>
          </p:txBody>
        </p:sp>
        <p:sp>
          <p:nvSpPr>
            <p:cNvPr id="80936" name="Freeform 40"/>
            <p:cNvSpPr>
              <a:spLocks/>
            </p:cNvSpPr>
            <p:nvPr/>
          </p:nvSpPr>
          <p:spPr bwMode="auto">
            <a:xfrm>
              <a:off x="566" y="1086"/>
              <a:ext cx="167" cy="75"/>
            </a:xfrm>
            <a:custGeom>
              <a:avLst/>
              <a:gdLst/>
              <a:ahLst/>
              <a:cxnLst>
                <a:cxn ang="0">
                  <a:pos x="0" y="85"/>
                </a:cxn>
                <a:cxn ang="0">
                  <a:pos x="0" y="0"/>
                </a:cxn>
                <a:cxn ang="0">
                  <a:pos x="350" y="93"/>
                </a:cxn>
                <a:cxn ang="0">
                  <a:pos x="350" y="182"/>
                </a:cxn>
                <a:cxn ang="0">
                  <a:pos x="0" y="85"/>
                </a:cxn>
              </a:cxnLst>
              <a:rect l="0" t="0" r="r" b="b"/>
              <a:pathLst>
                <a:path w="351" h="183">
                  <a:moveTo>
                    <a:pt x="0" y="85"/>
                  </a:moveTo>
                  <a:lnTo>
                    <a:pt x="0" y="0"/>
                  </a:lnTo>
                  <a:lnTo>
                    <a:pt x="350" y="93"/>
                  </a:lnTo>
                  <a:lnTo>
                    <a:pt x="350" y="182"/>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80937" name="Freeform 41"/>
            <p:cNvSpPr>
              <a:spLocks/>
            </p:cNvSpPr>
            <p:nvPr/>
          </p:nvSpPr>
          <p:spPr bwMode="auto">
            <a:xfrm>
              <a:off x="566" y="1179"/>
              <a:ext cx="167" cy="83"/>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80938" name="Freeform 42"/>
            <p:cNvSpPr>
              <a:spLocks/>
            </p:cNvSpPr>
            <p:nvPr/>
          </p:nvSpPr>
          <p:spPr bwMode="auto">
            <a:xfrm>
              <a:off x="563" y="1002"/>
              <a:ext cx="170" cy="77"/>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80939" name="Line 43"/>
            <p:cNvSpPr>
              <a:spLocks noChangeShapeType="1"/>
            </p:cNvSpPr>
            <p:nvPr/>
          </p:nvSpPr>
          <p:spPr bwMode="auto">
            <a:xfrm flipH="1" flipV="1">
              <a:off x="685" y="1049"/>
              <a:ext cx="33" cy="8"/>
            </a:xfrm>
            <a:prstGeom prst="line">
              <a:avLst/>
            </a:prstGeom>
            <a:noFill/>
            <a:ln w="9525">
              <a:solidFill>
                <a:srgbClr val="D60093"/>
              </a:solidFill>
              <a:round/>
              <a:headEnd/>
              <a:tailEnd/>
            </a:ln>
            <a:effectLst/>
          </p:spPr>
          <p:txBody>
            <a:bodyPr wrap="none" tIns="27432" bIns="27432" anchor="ctr">
              <a:spAutoFit/>
            </a:bodyPr>
            <a:lstStyle/>
            <a:p>
              <a:endParaRPr lang="fr-FR"/>
            </a:p>
          </p:txBody>
        </p:sp>
        <p:sp>
          <p:nvSpPr>
            <p:cNvPr id="80940" name="Line 44"/>
            <p:cNvSpPr>
              <a:spLocks noChangeShapeType="1"/>
            </p:cNvSpPr>
            <p:nvPr/>
          </p:nvSpPr>
          <p:spPr bwMode="auto">
            <a:xfrm flipH="1" flipV="1">
              <a:off x="685" y="1131"/>
              <a:ext cx="33" cy="7"/>
            </a:xfrm>
            <a:prstGeom prst="line">
              <a:avLst/>
            </a:prstGeom>
            <a:noFill/>
            <a:ln w="9525">
              <a:solidFill>
                <a:srgbClr val="D60093"/>
              </a:solidFill>
              <a:round/>
              <a:headEnd/>
              <a:tailEnd/>
            </a:ln>
            <a:effectLst/>
          </p:spPr>
          <p:txBody>
            <a:bodyPr wrap="none" tIns="27432" bIns="27432" anchor="ctr">
              <a:spAutoFit/>
            </a:bodyPr>
            <a:lstStyle/>
            <a:p>
              <a:endParaRPr lang="fr-FR"/>
            </a:p>
          </p:txBody>
        </p:sp>
        <p:sp>
          <p:nvSpPr>
            <p:cNvPr id="80941" name="Line 45"/>
            <p:cNvSpPr>
              <a:spLocks noChangeShapeType="1"/>
            </p:cNvSpPr>
            <p:nvPr/>
          </p:nvSpPr>
          <p:spPr bwMode="auto">
            <a:xfrm flipH="1" flipV="1">
              <a:off x="685" y="1230"/>
              <a:ext cx="33" cy="8"/>
            </a:xfrm>
            <a:prstGeom prst="line">
              <a:avLst/>
            </a:prstGeom>
            <a:noFill/>
            <a:ln w="9525">
              <a:solidFill>
                <a:srgbClr val="D60093"/>
              </a:solidFill>
              <a:round/>
              <a:headEnd/>
              <a:tailEnd/>
            </a:ln>
            <a:effectLst/>
          </p:spPr>
          <p:txBody>
            <a:bodyPr wrap="none" tIns="27432" bIns="27432" anchor="ctr">
              <a:spAutoFit/>
            </a:bodyPr>
            <a:lstStyle/>
            <a:p>
              <a:endParaRPr lang="fr-FR"/>
            </a:p>
          </p:txBody>
        </p:sp>
      </p:grpSp>
      <p:sp>
        <p:nvSpPr>
          <p:cNvPr id="80942" name="AutoShape 46"/>
          <p:cNvSpPr>
            <a:spLocks noChangeArrowheads="1"/>
          </p:cNvSpPr>
          <p:nvPr/>
        </p:nvSpPr>
        <p:spPr bwMode="auto">
          <a:xfrm>
            <a:off x="3273425" y="3656013"/>
            <a:ext cx="319088" cy="323850"/>
          </a:xfrm>
          <a:custGeom>
            <a:avLst/>
            <a:gdLst>
              <a:gd name="G0" fmla="+- 9213 0 0"/>
              <a:gd name="G1" fmla="+- 5963859 0 0"/>
              <a:gd name="G2" fmla="+- 0 0 5963859"/>
              <a:gd name="T0" fmla="*/ 0 256 1"/>
              <a:gd name="T1" fmla="*/ 180 256 1"/>
              <a:gd name="G3" fmla="+- 5963859 T0 T1"/>
              <a:gd name="T2" fmla="*/ 0 256 1"/>
              <a:gd name="T3" fmla="*/ 90 256 1"/>
              <a:gd name="G4" fmla="+- 5963859 T2 T3"/>
              <a:gd name="G5" fmla="*/ G4 2 1"/>
              <a:gd name="T4" fmla="*/ 90 256 1"/>
              <a:gd name="T5" fmla="*/ 0 256 1"/>
              <a:gd name="G6" fmla="+- 5963859 T4 T5"/>
              <a:gd name="G7" fmla="*/ G6 2 1"/>
              <a:gd name="G8" fmla="abs 5963859"/>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213"/>
              <a:gd name="G18" fmla="*/ 9213 1 2"/>
              <a:gd name="G19" fmla="+- G18 5400 0"/>
              <a:gd name="G20" fmla="cos G19 5963859"/>
              <a:gd name="G21" fmla="sin G19 5963859"/>
              <a:gd name="G22" fmla="+- G20 10800 0"/>
              <a:gd name="G23" fmla="+- G21 10800 0"/>
              <a:gd name="G24" fmla="+- 10800 0 G20"/>
              <a:gd name="G25" fmla="+- 9213 10800 0"/>
              <a:gd name="G26" fmla="?: G9 G17 G25"/>
              <a:gd name="G27" fmla="?: G9 0 21600"/>
              <a:gd name="G28" fmla="cos 10800 5963859"/>
              <a:gd name="G29" fmla="sin 10800 5963859"/>
              <a:gd name="G30" fmla="sin 9213 5963859"/>
              <a:gd name="G31" fmla="+- G28 10800 0"/>
              <a:gd name="G32" fmla="+- G29 10800 0"/>
              <a:gd name="G33" fmla="+- G30 10800 0"/>
              <a:gd name="G34" fmla="?: G4 0 G31"/>
              <a:gd name="G35" fmla="?: 5963859 G34 0"/>
              <a:gd name="G36" fmla="?: G6 G35 G31"/>
              <a:gd name="G37" fmla="+- 21600 0 G36"/>
              <a:gd name="G38" fmla="?: G4 0 G33"/>
              <a:gd name="G39" fmla="?: 5963859 G38 G32"/>
              <a:gd name="G40" fmla="?: G6 G39 0"/>
              <a:gd name="G41" fmla="?: G4 G32 21600"/>
              <a:gd name="G42" fmla="?: G6 G41 G33"/>
              <a:gd name="T12" fmla="*/ 10800 w 21600"/>
              <a:gd name="T13" fmla="*/ 0 h 21600"/>
              <a:gd name="T14" fmla="*/ 10625 w 21600"/>
              <a:gd name="T15" fmla="*/ 20805 h 21600"/>
              <a:gd name="T16" fmla="*/ 10800 w 21600"/>
              <a:gd name="T17" fmla="*/ 1587 h 21600"/>
              <a:gd name="T18" fmla="*/ 10975 w 21600"/>
              <a:gd name="T19" fmla="*/ 20805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639" y="20011"/>
                </a:moveTo>
                <a:cubicBezTo>
                  <a:pt x="5614" y="19923"/>
                  <a:pt x="1587" y="15825"/>
                  <a:pt x="1587" y="10800"/>
                </a:cubicBezTo>
                <a:cubicBezTo>
                  <a:pt x="1587" y="5711"/>
                  <a:pt x="5711" y="1587"/>
                  <a:pt x="10800" y="1587"/>
                </a:cubicBezTo>
                <a:cubicBezTo>
                  <a:pt x="15888" y="1587"/>
                  <a:pt x="20013" y="5711"/>
                  <a:pt x="20013" y="10800"/>
                </a:cubicBezTo>
                <a:cubicBezTo>
                  <a:pt x="20013" y="15825"/>
                  <a:pt x="15985" y="19923"/>
                  <a:pt x="10960" y="20011"/>
                </a:cubicBezTo>
                <a:lnTo>
                  <a:pt x="10988" y="21598"/>
                </a:lnTo>
                <a:cubicBezTo>
                  <a:pt x="16878" y="21495"/>
                  <a:pt x="21600" y="16691"/>
                  <a:pt x="21600" y="10800"/>
                </a:cubicBezTo>
                <a:cubicBezTo>
                  <a:pt x="21600" y="4835"/>
                  <a:pt x="16764" y="0"/>
                  <a:pt x="10800" y="0"/>
                </a:cubicBezTo>
                <a:cubicBezTo>
                  <a:pt x="4835" y="0"/>
                  <a:pt x="0" y="4835"/>
                  <a:pt x="0" y="10800"/>
                </a:cubicBezTo>
                <a:cubicBezTo>
                  <a:pt x="-1" y="16691"/>
                  <a:pt x="4721" y="21495"/>
                  <a:pt x="10611" y="21598"/>
                </a:cubicBezTo>
                <a:close/>
              </a:path>
            </a:pathLst>
          </a:custGeom>
          <a:solidFill>
            <a:srgbClr val="333399"/>
          </a:solidFill>
          <a:ln w="9525">
            <a:miter lim="800000"/>
            <a:headEnd/>
            <a:tailEnd/>
          </a:ln>
          <a:effectLst/>
          <a:scene3d>
            <a:camera prst="legacyPerspectiveFront">
              <a:rot lat="2700000" lon="3000000" rev="0"/>
            </a:camera>
            <a:lightRig rig="legacyFlat2" dir="b"/>
          </a:scene3d>
          <a:sp3d extrusionH="430200" prstMaterial="legacyMatte">
            <a:bevelT w="13500" h="13500" prst="angle"/>
            <a:bevelB w="13500" h="13500" prst="angle"/>
            <a:extrusionClr>
              <a:srgbClr val="99CCFF"/>
            </a:extrusionClr>
          </a:sp3d>
        </p:spPr>
        <p:txBody>
          <a:bodyPr wrap="none" anchor="ctr">
            <a:flatTx/>
          </a:bodyPr>
          <a:lstStyle/>
          <a:p>
            <a:pPr algn="ctr" eaLnBrk="1" hangingPunct="1"/>
            <a:endParaRPr lang="fr-FR" sz="1800" b="1"/>
          </a:p>
        </p:txBody>
      </p:sp>
      <p:sp>
        <p:nvSpPr>
          <p:cNvPr id="80943" name="AutoShape 47"/>
          <p:cNvSpPr>
            <a:spLocks noChangeArrowheads="1"/>
          </p:cNvSpPr>
          <p:nvPr/>
        </p:nvSpPr>
        <p:spPr bwMode="auto">
          <a:xfrm rot="-473888">
            <a:off x="1920875" y="4260850"/>
            <a:ext cx="542925" cy="552450"/>
          </a:xfrm>
          <a:custGeom>
            <a:avLst/>
            <a:gdLst>
              <a:gd name="G0" fmla="+- 8441 0 0"/>
              <a:gd name="G1" fmla="+- 5954286 0 0"/>
              <a:gd name="G2" fmla="+- 0 0 5954286"/>
              <a:gd name="T0" fmla="*/ 0 256 1"/>
              <a:gd name="T1" fmla="*/ 180 256 1"/>
              <a:gd name="G3" fmla="+- 5954286 T0 T1"/>
              <a:gd name="T2" fmla="*/ 0 256 1"/>
              <a:gd name="T3" fmla="*/ 90 256 1"/>
              <a:gd name="G4" fmla="+- 5954286 T2 T3"/>
              <a:gd name="G5" fmla="*/ G4 2 1"/>
              <a:gd name="T4" fmla="*/ 90 256 1"/>
              <a:gd name="T5" fmla="*/ 0 256 1"/>
              <a:gd name="G6" fmla="+- 5954286 T4 T5"/>
              <a:gd name="G7" fmla="*/ G6 2 1"/>
              <a:gd name="G8" fmla="abs 595428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8441"/>
              <a:gd name="G18" fmla="*/ 8441 1 2"/>
              <a:gd name="G19" fmla="+- G18 5400 0"/>
              <a:gd name="G20" fmla="cos G19 5954286"/>
              <a:gd name="G21" fmla="sin G19 5954286"/>
              <a:gd name="G22" fmla="+- G20 10800 0"/>
              <a:gd name="G23" fmla="+- G21 10800 0"/>
              <a:gd name="G24" fmla="+- 10800 0 G20"/>
              <a:gd name="G25" fmla="+- 8441 10800 0"/>
              <a:gd name="G26" fmla="?: G9 G17 G25"/>
              <a:gd name="G27" fmla="?: G9 0 21600"/>
              <a:gd name="G28" fmla="cos 10800 5954286"/>
              <a:gd name="G29" fmla="sin 10800 5954286"/>
              <a:gd name="G30" fmla="sin 8441 5954286"/>
              <a:gd name="G31" fmla="+- G28 10800 0"/>
              <a:gd name="G32" fmla="+- G29 10800 0"/>
              <a:gd name="G33" fmla="+- G30 10800 0"/>
              <a:gd name="G34" fmla="?: G4 0 G31"/>
              <a:gd name="G35" fmla="?: 5954286 G34 0"/>
              <a:gd name="G36" fmla="?: G6 G35 G31"/>
              <a:gd name="G37" fmla="+- 21600 0 G36"/>
              <a:gd name="G38" fmla="?: G4 0 G33"/>
              <a:gd name="G39" fmla="?: 5954286 G38 G32"/>
              <a:gd name="G40" fmla="?: G6 G39 0"/>
              <a:gd name="G41" fmla="?: G4 G32 21600"/>
              <a:gd name="G42" fmla="?: G6 G41 G33"/>
              <a:gd name="T12" fmla="*/ 10800 w 21600"/>
              <a:gd name="T13" fmla="*/ 0 h 21600"/>
              <a:gd name="T14" fmla="*/ 10656 w 21600"/>
              <a:gd name="T15" fmla="*/ 20419 h 21600"/>
              <a:gd name="T16" fmla="*/ 10800 w 21600"/>
              <a:gd name="T17" fmla="*/ 2359 h 21600"/>
              <a:gd name="T18" fmla="*/ 10944 w 21600"/>
              <a:gd name="T19" fmla="*/ 20419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674" y="19240"/>
                </a:moveTo>
                <a:cubicBezTo>
                  <a:pt x="6061" y="19171"/>
                  <a:pt x="2359" y="15412"/>
                  <a:pt x="2359" y="10800"/>
                </a:cubicBezTo>
                <a:cubicBezTo>
                  <a:pt x="2359" y="6138"/>
                  <a:pt x="6138" y="2359"/>
                  <a:pt x="10800" y="2359"/>
                </a:cubicBezTo>
                <a:cubicBezTo>
                  <a:pt x="15461" y="2359"/>
                  <a:pt x="19241" y="6138"/>
                  <a:pt x="19241" y="10800"/>
                </a:cubicBezTo>
                <a:cubicBezTo>
                  <a:pt x="19241" y="15412"/>
                  <a:pt x="15538" y="19171"/>
                  <a:pt x="10925" y="19240"/>
                </a:cubicBezTo>
                <a:lnTo>
                  <a:pt x="10961" y="21598"/>
                </a:lnTo>
                <a:cubicBezTo>
                  <a:pt x="16862" y="21510"/>
                  <a:pt x="21600" y="16701"/>
                  <a:pt x="21600" y="10800"/>
                </a:cubicBezTo>
                <a:cubicBezTo>
                  <a:pt x="21600" y="4835"/>
                  <a:pt x="16764" y="0"/>
                  <a:pt x="10800" y="0"/>
                </a:cubicBezTo>
                <a:cubicBezTo>
                  <a:pt x="4835" y="0"/>
                  <a:pt x="0" y="4835"/>
                  <a:pt x="0" y="10800"/>
                </a:cubicBezTo>
                <a:cubicBezTo>
                  <a:pt x="-1" y="16701"/>
                  <a:pt x="4737" y="21510"/>
                  <a:pt x="10638" y="21598"/>
                </a:cubicBezTo>
                <a:close/>
              </a:path>
            </a:pathLst>
          </a:custGeom>
          <a:solidFill>
            <a:srgbClr val="CC0066"/>
          </a:solidFill>
          <a:ln w="9525">
            <a:miter lim="800000"/>
            <a:headEnd/>
            <a:tailEnd/>
          </a:ln>
          <a:effectLst/>
          <a:scene3d>
            <a:camera prst="legacyPerspectiveFront">
              <a:rot lat="2700000" lon="3000000" rev="0"/>
            </a:camera>
            <a:lightRig rig="legacyFlat4" dir="b"/>
          </a:scene3d>
          <a:sp3d extrusionH="1801800" prstMaterial="legacyMatte">
            <a:bevelT w="13500" h="13500" prst="angle"/>
            <a:bevelB w="13500" h="13500" prst="angle"/>
            <a:extrusionClr>
              <a:srgbClr val="FF7C80"/>
            </a:extrusionClr>
          </a:sp3d>
        </p:spPr>
        <p:txBody>
          <a:bodyPr wrap="none" anchor="ctr">
            <a:flatTx/>
          </a:bodyPr>
          <a:lstStyle/>
          <a:p>
            <a:pPr algn="ctr" eaLnBrk="1" hangingPunct="1"/>
            <a:endParaRPr lang="fr-FR" sz="1800" b="1"/>
          </a:p>
        </p:txBody>
      </p:sp>
      <p:sp>
        <p:nvSpPr>
          <p:cNvPr id="80944" name="AutoShape 48"/>
          <p:cNvSpPr>
            <a:spLocks noChangeArrowheads="1"/>
          </p:cNvSpPr>
          <p:nvPr/>
        </p:nvSpPr>
        <p:spPr bwMode="auto">
          <a:xfrm>
            <a:off x="1770063" y="4540250"/>
            <a:ext cx="319087" cy="323850"/>
          </a:xfrm>
          <a:custGeom>
            <a:avLst/>
            <a:gdLst>
              <a:gd name="G0" fmla="+- 9213 0 0"/>
              <a:gd name="G1" fmla="+- 5963859 0 0"/>
              <a:gd name="G2" fmla="+- 0 0 5963859"/>
              <a:gd name="T0" fmla="*/ 0 256 1"/>
              <a:gd name="T1" fmla="*/ 180 256 1"/>
              <a:gd name="G3" fmla="+- 5963859 T0 T1"/>
              <a:gd name="T2" fmla="*/ 0 256 1"/>
              <a:gd name="T3" fmla="*/ 90 256 1"/>
              <a:gd name="G4" fmla="+- 5963859 T2 T3"/>
              <a:gd name="G5" fmla="*/ G4 2 1"/>
              <a:gd name="T4" fmla="*/ 90 256 1"/>
              <a:gd name="T5" fmla="*/ 0 256 1"/>
              <a:gd name="G6" fmla="+- 5963859 T4 T5"/>
              <a:gd name="G7" fmla="*/ G6 2 1"/>
              <a:gd name="G8" fmla="abs 5963859"/>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213"/>
              <a:gd name="G18" fmla="*/ 9213 1 2"/>
              <a:gd name="G19" fmla="+- G18 5400 0"/>
              <a:gd name="G20" fmla="cos G19 5963859"/>
              <a:gd name="G21" fmla="sin G19 5963859"/>
              <a:gd name="G22" fmla="+- G20 10800 0"/>
              <a:gd name="G23" fmla="+- G21 10800 0"/>
              <a:gd name="G24" fmla="+- 10800 0 G20"/>
              <a:gd name="G25" fmla="+- 9213 10800 0"/>
              <a:gd name="G26" fmla="?: G9 G17 G25"/>
              <a:gd name="G27" fmla="?: G9 0 21600"/>
              <a:gd name="G28" fmla="cos 10800 5963859"/>
              <a:gd name="G29" fmla="sin 10800 5963859"/>
              <a:gd name="G30" fmla="sin 9213 5963859"/>
              <a:gd name="G31" fmla="+- G28 10800 0"/>
              <a:gd name="G32" fmla="+- G29 10800 0"/>
              <a:gd name="G33" fmla="+- G30 10800 0"/>
              <a:gd name="G34" fmla="?: G4 0 G31"/>
              <a:gd name="G35" fmla="?: 5963859 G34 0"/>
              <a:gd name="G36" fmla="?: G6 G35 G31"/>
              <a:gd name="G37" fmla="+- 21600 0 G36"/>
              <a:gd name="G38" fmla="?: G4 0 G33"/>
              <a:gd name="G39" fmla="?: 5963859 G38 G32"/>
              <a:gd name="G40" fmla="?: G6 G39 0"/>
              <a:gd name="G41" fmla="?: G4 G32 21600"/>
              <a:gd name="G42" fmla="?: G6 G41 G33"/>
              <a:gd name="T12" fmla="*/ 10800 w 21600"/>
              <a:gd name="T13" fmla="*/ 0 h 21600"/>
              <a:gd name="T14" fmla="*/ 10625 w 21600"/>
              <a:gd name="T15" fmla="*/ 20805 h 21600"/>
              <a:gd name="T16" fmla="*/ 10800 w 21600"/>
              <a:gd name="T17" fmla="*/ 1587 h 21600"/>
              <a:gd name="T18" fmla="*/ 10975 w 21600"/>
              <a:gd name="T19" fmla="*/ 20805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639" y="20011"/>
                </a:moveTo>
                <a:cubicBezTo>
                  <a:pt x="5614" y="19923"/>
                  <a:pt x="1587" y="15825"/>
                  <a:pt x="1587" y="10800"/>
                </a:cubicBezTo>
                <a:cubicBezTo>
                  <a:pt x="1587" y="5711"/>
                  <a:pt x="5711" y="1587"/>
                  <a:pt x="10800" y="1587"/>
                </a:cubicBezTo>
                <a:cubicBezTo>
                  <a:pt x="15888" y="1587"/>
                  <a:pt x="20013" y="5711"/>
                  <a:pt x="20013" y="10800"/>
                </a:cubicBezTo>
                <a:cubicBezTo>
                  <a:pt x="20013" y="15825"/>
                  <a:pt x="15985" y="19923"/>
                  <a:pt x="10960" y="20011"/>
                </a:cubicBezTo>
                <a:lnTo>
                  <a:pt x="10988" y="21598"/>
                </a:lnTo>
                <a:cubicBezTo>
                  <a:pt x="16878" y="21495"/>
                  <a:pt x="21600" y="16691"/>
                  <a:pt x="21600" y="10800"/>
                </a:cubicBezTo>
                <a:cubicBezTo>
                  <a:pt x="21600" y="4835"/>
                  <a:pt x="16764" y="0"/>
                  <a:pt x="10800" y="0"/>
                </a:cubicBezTo>
                <a:cubicBezTo>
                  <a:pt x="4835" y="0"/>
                  <a:pt x="0" y="4835"/>
                  <a:pt x="0" y="10800"/>
                </a:cubicBezTo>
                <a:cubicBezTo>
                  <a:pt x="-1" y="16691"/>
                  <a:pt x="4721" y="21495"/>
                  <a:pt x="10611" y="21598"/>
                </a:cubicBezTo>
                <a:close/>
              </a:path>
            </a:pathLst>
          </a:custGeom>
          <a:solidFill>
            <a:srgbClr val="333399"/>
          </a:solidFill>
          <a:ln w="9525">
            <a:miter lim="800000"/>
            <a:headEnd/>
            <a:tailEnd/>
          </a:ln>
          <a:effectLst/>
          <a:scene3d>
            <a:camera prst="legacyPerspectiveFront">
              <a:rot lat="2700000" lon="3000000" rev="0"/>
            </a:camera>
            <a:lightRig rig="legacyFlat2" dir="b"/>
          </a:scene3d>
          <a:sp3d extrusionH="303200" prstMaterial="legacyMatte">
            <a:bevelT w="13500" h="13500" prst="angle"/>
            <a:bevelB w="13500" h="13500" prst="angle"/>
            <a:extrusionClr>
              <a:srgbClr val="99CCFF"/>
            </a:extrusionClr>
          </a:sp3d>
        </p:spPr>
        <p:txBody>
          <a:bodyPr wrap="none" anchor="ctr">
            <a:flatTx/>
          </a:bodyPr>
          <a:lstStyle/>
          <a:p>
            <a:pPr algn="ctr" eaLnBrk="1" hangingPunct="1"/>
            <a:endParaRPr lang="fr-FR" sz="1800" b="1"/>
          </a:p>
        </p:txBody>
      </p:sp>
      <p:sp>
        <p:nvSpPr>
          <p:cNvPr id="80945" name="Oval 49"/>
          <p:cNvSpPr>
            <a:spLocks noChangeArrowheads="1"/>
          </p:cNvSpPr>
          <p:nvPr/>
        </p:nvSpPr>
        <p:spPr bwMode="auto">
          <a:xfrm>
            <a:off x="6708775" y="1033463"/>
            <a:ext cx="1949450" cy="1065212"/>
          </a:xfrm>
          <a:prstGeom prst="ellipse">
            <a:avLst/>
          </a:prstGeom>
          <a:solidFill>
            <a:schemeClr val="bg1"/>
          </a:solidFill>
          <a:ln w="28575">
            <a:solidFill>
              <a:srgbClr val="FF9900"/>
            </a:solidFill>
            <a:round/>
            <a:headEnd/>
            <a:tailEnd/>
          </a:ln>
          <a:effectLst/>
        </p:spPr>
        <p:txBody>
          <a:bodyPr anchor="ctr"/>
          <a:lstStyle/>
          <a:p>
            <a:pPr algn="ctr"/>
            <a:r>
              <a:rPr lang="en-US" sz="2200" b="1" dirty="0" err="1">
                <a:latin typeface="Arial" charset="0"/>
              </a:rPr>
              <a:t>Réseau</a:t>
            </a:r>
            <a:r>
              <a:rPr lang="en-US" sz="2200" b="1" dirty="0">
                <a:latin typeface="Arial" charset="0"/>
              </a:rPr>
              <a:t> local</a:t>
            </a:r>
          </a:p>
        </p:txBody>
      </p:sp>
      <p:grpSp>
        <p:nvGrpSpPr>
          <p:cNvPr id="80946" name="Group 50"/>
          <p:cNvGrpSpPr>
            <a:grpSpLocks/>
          </p:cNvGrpSpPr>
          <p:nvPr/>
        </p:nvGrpSpPr>
        <p:grpSpPr bwMode="auto">
          <a:xfrm>
            <a:off x="5910263" y="1116013"/>
            <a:ext cx="1041400" cy="923925"/>
            <a:chOff x="4466" y="2664"/>
            <a:chExt cx="932" cy="826"/>
          </a:xfrm>
        </p:grpSpPr>
        <p:sp>
          <p:nvSpPr>
            <p:cNvPr id="80947" name="AutoShape 51"/>
            <p:cNvSpPr>
              <a:spLocks noChangeArrowheads="1"/>
            </p:cNvSpPr>
            <p:nvPr/>
          </p:nvSpPr>
          <p:spPr bwMode="auto">
            <a:xfrm>
              <a:off x="4466" y="2716"/>
              <a:ext cx="480" cy="774"/>
            </a:xfrm>
            <a:prstGeom prst="cube">
              <a:avLst>
                <a:gd name="adj" fmla="val 25000"/>
              </a:avLst>
            </a:prstGeom>
            <a:gradFill rotWithShape="0">
              <a:gsLst>
                <a:gs pos="0">
                  <a:srgbClr val="CCFF66"/>
                </a:gs>
                <a:gs pos="100000">
                  <a:srgbClr val="CCFF66">
                    <a:gamma/>
                    <a:shade val="46275"/>
                    <a:invGamma/>
                  </a:srgbClr>
                </a:gs>
              </a:gsLst>
              <a:lin ang="5400000" scaled="1"/>
            </a:gradFill>
            <a:ln w="9525">
              <a:solidFill>
                <a:srgbClr val="339966"/>
              </a:solidFill>
              <a:miter lim="800000"/>
              <a:headEnd/>
              <a:tailEnd/>
            </a:ln>
            <a:effectLst/>
          </p:spPr>
          <p:txBody>
            <a:bodyPr wrap="none" anchor="ctr"/>
            <a:lstStyle/>
            <a:p>
              <a:endParaRPr lang="fr-FR"/>
            </a:p>
          </p:txBody>
        </p:sp>
        <p:sp>
          <p:nvSpPr>
            <p:cNvPr id="80948" name="AutoShape 52"/>
            <p:cNvSpPr>
              <a:spLocks noChangeArrowheads="1"/>
            </p:cNvSpPr>
            <p:nvPr/>
          </p:nvSpPr>
          <p:spPr bwMode="auto">
            <a:xfrm>
              <a:off x="4918" y="3040"/>
              <a:ext cx="480" cy="450"/>
            </a:xfrm>
            <a:prstGeom prst="cube">
              <a:avLst>
                <a:gd name="adj" fmla="val 25000"/>
              </a:avLst>
            </a:prstGeom>
            <a:gradFill rotWithShape="0">
              <a:gsLst>
                <a:gs pos="0">
                  <a:srgbClr val="CCFF66"/>
                </a:gs>
                <a:gs pos="100000">
                  <a:srgbClr val="CCFF66">
                    <a:gamma/>
                    <a:shade val="46275"/>
                    <a:invGamma/>
                  </a:srgbClr>
                </a:gs>
              </a:gsLst>
              <a:lin ang="5400000" scaled="1"/>
            </a:gradFill>
            <a:ln w="9525">
              <a:solidFill>
                <a:srgbClr val="339966"/>
              </a:solidFill>
              <a:miter lim="800000"/>
              <a:headEnd/>
              <a:tailEnd/>
            </a:ln>
            <a:effectLst/>
          </p:spPr>
          <p:txBody>
            <a:bodyPr wrap="none" anchor="ctr"/>
            <a:lstStyle/>
            <a:p>
              <a:endParaRPr lang="fr-FR"/>
            </a:p>
          </p:txBody>
        </p:sp>
        <p:grpSp>
          <p:nvGrpSpPr>
            <p:cNvPr id="80949" name="Group 53"/>
            <p:cNvGrpSpPr>
              <a:grpSpLocks/>
            </p:cNvGrpSpPr>
            <p:nvPr/>
          </p:nvGrpSpPr>
          <p:grpSpPr bwMode="auto">
            <a:xfrm>
              <a:off x="4503" y="2664"/>
              <a:ext cx="815" cy="763"/>
              <a:chOff x="3860" y="1921"/>
              <a:chExt cx="952" cy="891"/>
            </a:xfrm>
          </p:grpSpPr>
          <p:sp>
            <p:nvSpPr>
              <p:cNvPr id="80950" name="Freeform 54"/>
              <p:cNvSpPr>
                <a:spLocks/>
              </p:cNvSpPr>
              <p:nvPr/>
            </p:nvSpPr>
            <p:spPr bwMode="auto">
              <a:xfrm>
                <a:off x="4025" y="2078"/>
                <a:ext cx="643" cy="569"/>
              </a:xfrm>
              <a:custGeom>
                <a:avLst/>
                <a:gdLst/>
                <a:ahLst/>
                <a:cxnLst>
                  <a:cxn ang="0">
                    <a:pos x="357" y="0"/>
                  </a:cxn>
                  <a:cxn ang="0">
                    <a:pos x="125" y="144"/>
                  </a:cxn>
                  <a:cxn ang="0">
                    <a:pos x="242" y="130"/>
                  </a:cxn>
                  <a:cxn ang="0">
                    <a:pos x="0" y="360"/>
                  </a:cxn>
                  <a:cxn ang="0">
                    <a:pos x="362" y="408"/>
                  </a:cxn>
                  <a:cxn ang="0">
                    <a:pos x="247" y="449"/>
                  </a:cxn>
                  <a:cxn ang="0">
                    <a:pos x="643" y="569"/>
                  </a:cxn>
                  <a:cxn ang="0">
                    <a:pos x="475" y="312"/>
                  </a:cxn>
                  <a:cxn ang="0">
                    <a:pos x="578" y="356"/>
                  </a:cxn>
                  <a:cxn ang="0">
                    <a:pos x="357" y="0"/>
                  </a:cxn>
                </a:cxnLst>
                <a:rect l="0" t="0" r="r" b="b"/>
                <a:pathLst>
                  <a:path w="643" h="569">
                    <a:moveTo>
                      <a:pt x="357" y="0"/>
                    </a:moveTo>
                    <a:lnTo>
                      <a:pt x="125" y="144"/>
                    </a:lnTo>
                    <a:lnTo>
                      <a:pt x="242" y="130"/>
                    </a:lnTo>
                    <a:lnTo>
                      <a:pt x="0" y="360"/>
                    </a:lnTo>
                    <a:lnTo>
                      <a:pt x="362" y="408"/>
                    </a:lnTo>
                    <a:lnTo>
                      <a:pt x="247" y="449"/>
                    </a:lnTo>
                    <a:lnTo>
                      <a:pt x="643" y="569"/>
                    </a:lnTo>
                    <a:lnTo>
                      <a:pt x="475" y="312"/>
                    </a:lnTo>
                    <a:lnTo>
                      <a:pt x="578" y="356"/>
                    </a:lnTo>
                    <a:lnTo>
                      <a:pt x="357" y="0"/>
                    </a:lnTo>
                    <a:close/>
                  </a:path>
                </a:pathLst>
              </a:custGeom>
              <a:noFill/>
              <a:ln w="28575" cap="flat" cmpd="sng">
                <a:solidFill>
                  <a:schemeClr val="accent2"/>
                </a:solidFill>
                <a:prstDash val="solid"/>
                <a:round/>
                <a:headEnd type="none" w="med" len="med"/>
                <a:tailEnd type="none" w="med" len="med"/>
              </a:ln>
              <a:effectLst>
                <a:outerShdw dist="25400" dir="5400000" algn="ctr" rotWithShape="0">
                  <a:schemeClr val="accent1"/>
                </a:outerShdw>
              </a:effectLst>
            </p:spPr>
            <p:txBody>
              <a:bodyPr wrap="none" tIns="27432" bIns="27432" anchor="ctr">
                <a:spAutoFit/>
              </a:bodyPr>
              <a:lstStyle/>
              <a:p>
                <a:endParaRPr lang="fr-FR"/>
              </a:p>
            </p:txBody>
          </p:sp>
          <p:grpSp>
            <p:nvGrpSpPr>
              <p:cNvPr id="80951" name="Group 55"/>
              <p:cNvGrpSpPr>
                <a:grpSpLocks/>
              </p:cNvGrpSpPr>
              <p:nvPr/>
            </p:nvGrpSpPr>
            <p:grpSpPr bwMode="auto">
              <a:xfrm>
                <a:off x="3860" y="2302"/>
                <a:ext cx="326" cy="324"/>
                <a:chOff x="3375" y="2382"/>
                <a:chExt cx="326" cy="324"/>
              </a:xfrm>
            </p:grpSpPr>
            <p:grpSp>
              <p:nvGrpSpPr>
                <p:cNvPr id="80952" name="Group 56"/>
                <p:cNvGrpSpPr>
                  <a:grpSpLocks/>
                </p:cNvGrpSpPr>
                <p:nvPr/>
              </p:nvGrpSpPr>
              <p:grpSpPr bwMode="auto">
                <a:xfrm>
                  <a:off x="3375" y="2382"/>
                  <a:ext cx="326" cy="324"/>
                  <a:chOff x="3995" y="1370"/>
                  <a:chExt cx="288" cy="287"/>
                </a:xfrm>
              </p:grpSpPr>
              <p:sp>
                <p:nvSpPr>
                  <p:cNvPr id="80953" name="Freeform 57"/>
                  <p:cNvSpPr>
                    <a:spLocks/>
                  </p:cNvSpPr>
                  <p:nvPr/>
                </p:nvSpPr>
                <p:spPr bwMode="auto">
                  <a:xfrm>
                    <a:off x="4091" y="1370"/>
                    <a:ext cx="96" cy="72"/>
                  </a:xfrm>
                  <a:custGeom>
                    <a:avLst/>
                    <a:gdLst/>
                    <a:ahLst/>
                    <a:cxnLst>
                      <a:cxn ang="0">
                        <a:pos x="48" y="71"/>
                      </a:cxn>
                      <a:cxn ang="0">
                        <a:pos x="0" y="0"/>
                      </a:cxn>
                      <a:cxn ang="0">
                        <a:pos x="95" y="0"/>
                      </a:cxn>
                      <a:cxn ang="0">
                        <a:pos x="48" y="71"/>
                      </a:cxn>
                    </a:cxnLst>
                    <a:rect l="0" t="0" r="r" b="b"/>
                    <a:pathLst>
                      <a:path w="96" h="72">
                        <a:moveTo>
                          <a:pt x="48" y="71"/>
                        </a:moveTo>
                        <a:lnTo>
                          <a:pt x="0" y="0"/>
                        </a:lnTo>
                        <a:lnTo>
                          <a:pt x="95" y="0"/>
                        </a:lnTo>
                        <a:lnTo>
                          <a:pt x="48" y="71"/>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80954" name="Freeform 58"/>
                  <p:cNvSpPr>
                    <a:spLocks/>
                  </p:cNvSpPr>
                  <p:nvPr/>
                </p:nvSpPr>
                <p:spPr bwMode="auto">
                  <a:xfrm>
                    <a:off x="4091" y="1584"/>
                    <a:ext cx="96" cy="73"/>
                  </a:xfrm>
                  <a:custGeom>
                    <a:avLst/>
                    <a:gdLst/>
                    <a:ahLst/>
                    <a:cxnLst>
                      <a:cxn ang="0">
                        <a:pos x="48" y="0"/>
                      </a:cxn>
                      <a:cxn ang="0">
                        <a:pos x="0" y="72"/>
                      </a:cxn>
                      <a:cxn ang="0">
                        <a:pos x="95" y="72"/>
                      </a:cxn>
                      <a:cxn ang="0">
                        <a:pos x="48" y="0"/>
                      </a:cxn>
                    </a:cxnLst>
                    <a:rect l="0" t="0" r="r" b="b"/>
                    <a:pathLst>
                      <a:path w="96" h="73">
                        <a:moveTo>
                          <a:pt x="48" y="0"/>
                        </a:moveTo>
                        <a:lnTo>
                          <a:pt x="0" y="72"/>
                        </a:lnTo>
                        <a:lnTo>
                          <a:pt x="95" y="72"/>
                        </a:lnTo>
                        <a:lnTo>
                          <a:pt x="48" y="0"/>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80955" name="Freeform 59"/>
                  <p:cNvSpPr>
                    <a:spLocks/>
                  </p:cNvSpPr>
                  <p:nvPr/>
                </p:nvSpPr>
                <p:spPr bwMode="auto">
                  <a:xfrm>
                    <a:off x="4211" y="1465"/>
                    <a:ext cx="72" cy="97"/>
                  </a:xfrm>
                  <a:custGeom>
                    <a:avLst/>
                    <a:gdLst/>
                    <a:ahLst/>
                    <a:cxnLst>
                      <a:cxn ang="0">
                        <a:pos x="0" y="48"/>
                      </a:cxn>
                      <a:cxn ang="0">
                        <a:pos x="71" y="0"/>
                      </a:cxn>
                      <a:cxn ang="0">
                        <a:pos x="71" y="96"/>
                      </a:cxn>
                      <a:cxn ang="0">
                        <a:pos x="0" y="48"/>
                      </a:cxn>
                    </a:cxnLst>
                    <a:rect l="0" t="0" r="r" b="b"/>
                    <a:pathLst>
                      <a:path w="72" h="97">
                        <a:moveTo>
                          <a:pt x="0" y="48"/>
                        </a:moveTo>
                        <a:lnTo>
                          <a:pt x="71" y="0"/>
                        </a:lnTo>
                        <a:lnTo>
                          <a:pt x="71" y="96"/>
                        </a:lnTo>
                        <a:lnTo>
                          <a:pt x="0" y="48"/>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80956" name="Freeform 60"/>
                  <p:cNvSpPr>
                    <a:spLocks/>
                  </p:cNvSpPr>
                  <p:nvPr/>
                </p:nvSpPr>
                <p:spPr bwMode="auto">
                  <a:xfrm>
                    <a:off x="3995" y="1465"/>
                    <a:ext cx="73" cy="97"/>
                  </a:xfrm>
                  <a:custGeom>
                    <a:avLst/>
                    <a:gdLst/>
                    <a:ahLst/>
                    <a:cxnLst>
                      <a:cxn ang="0">
                        <a:pos x="72" y="48"/>
                      </a:cxn>
                      <a:cxn ang="0">
                        <a:pos x="0" y="0"/>
                      </a:cxn>
                      <a:cxn ang="0">
                        <a:pos x="0" y="96"/>
                      </a:cxn>
                      <a:cxn ang="0">
                        <a:pos x="72" y="48"/>
                      </a:cxn>
                    </a:cxnLst>
                    <a:rect l="0" t="0" r="r" b="b"/>
                    <a:pathLst>
                      <a:path w="73" h="97">
                        <a:moveTo>
                          <a:pt x="72" y="48"/>
                        </a:moveTo>
                        <a:lnTo>
                          <a:pt x="0" y="0"/>
                        </a:lnTo>
                        <a:lnTo>
                          <a:pt x="0" y="96"/>
                        </a:lnTo>
                        <a:lnTo>
                          <a:pt x="72" y="48"/>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80957" name="Oval 61"/>
                  <p:cNvSpPr>
                    <a:spLocks noChangeArrowheads="1"/>
                  </p:cNvSpPr>
                  <p:nvPr/>
                </p:nvSpPr>
                <p:spPr bwMode="auto">
                  <a:xfrm>
                    <a:off x="4043" y="1418"/>
                    <a:ext cx="191" cy="190"/>
                  </a:xfrm>
                  <a:prstGeom prst="ellipse">
                    <a:avLst/>
                  </a:prstGeom>
                  <a:solidFill>
                    <a:schemeClr val="bg1"/>
                  </a:solidFill>
                  <a:ln w="12700">
                    <a:noFill/>
                    <a:round/>
                    <a:headEnd/>
                    <a:tailEnd/>
                  </a:ln>
                  <a:effectLst/>
                </p:spPr>
                <p:txBody>
                  <a:bodyPr wrap="none" anchor="ctr"/>
                  <a:lstStyle/>
                  <a:p>
                    <a:endParaRPr lang="fr-FR"/>
                  </a:p>
                </p:txBody>
              </p:sp>
            </p:grpSp>
            <p:grpSp>
              <p:nvGrpSpPr>
                <p:cNvPr id="80958" name="Group 62"/>
                <p:cNvGrpSpPr>
                  <a:grpSpLocks/>
                </p:cNvGrpSpPr>
                <p:nvPr/>
              </p:nvGrpSpPr>
              <p:grpSpPr bwMode="auto">
                <a:xfrm>
                  <a:off x="3395" y="2400"/>
                  <a:ext cx="288" cy="287"/>
                  <a:chOff x="3871" y="2242"/>
                  <a:chExt cx="288" cy="287"/>
                </a:xfrm>
              </p:grpSpPr>
              <p:grpSp>
                <p:nvGrpSpPr>
                  <p:cNvPr id="80959" name="Group 63"/>
                  <p:cNvGrpSpPr>
                    <a:grpSpLocks/>
                  </p:cNvGrpSpPr>
                  <p:nvPr/>
                </p:nvGrpSpPr>
                <p:grpSpPr bwMode="auto">
                  <a:xfrm>
                    <a:off x="3871" y="2242"/>
                    <a:ext cx="288" cy="287"/>
                    <a:chOff x="3995" y="1370"/>
                    <a:chExt cx="288" cy="287"/>
                  </a:xfrm>
                </p:grpSpPr>
                <p:sp>
                  <p:nvSpPr>
                    <p:cNvPr id="80960" name="Freeform 64"/>
                    <p:cNvSpPr>
                      <a:spLocks/>
                    </p:cNvSpPr>
                    <p:nvPr/>
                  </p:nvSpPr>
                  <p:spPr bwMode="auto">
                    <a:xfrm>
                      <a:off x="4091" y="1370"/>
                      <a:ext cx="96" cy="72"/>
                    </a:xfrm>
                    <a:custGeom>
                      <a:avLst/>
                      <a:gdLst/>
                      <a:ahLst/>
                      <a:cxnLst>
                        <a:cxn ang="0">
                          <a:pos x="48" y="71"/>
                        </a:cxn>
                        <a:cxn ang="0">
                          <a:pos x="0" y="0"/>
                        </a:cxn>
                        <a:cxn ang="0">
                          <a:pos x="95" y="0"/>
                        </a:cxn>
                        <a:cxn ang="0">
                          <a:pos x="48" y="71"/>
                        </a:cxn>
                      </a:cxnLst>
                      <a:rect l="0" t="0" r="r" b="b"/>
                      <a:pathLst>
                        <a:path w="96" h="72">
                          <a:moveTo>
                            <a:pt x="48" y="71"/>
                          </a:moveTo>
                          <a:lnTo>
                            <a:pt x="0" y="0"/>
                          </a:lnTo>
                          <a:lnTo>
                            <a:pt x="95" y="0"/>
                          </a:lnTo>
                          <a:lnTo>
                            <a:pt x="48" y="71"/>
                          </a:lnTo>
                        </a:path>
                      </a:pathLst>
                    </a:custGeom>
                    <a:solidFill>
                      <a:srgbClr val="8901F3"/>
                    </a:solidFill>
                    <a:ln w="12700" cap="rnd" cmpd="sng">
                      <a:noFill/>
                      <a:prstDash val="solid"/>
                      <a:round/>
                      <a:headEnd type="none" w="med" len="med"/>
                      <a:tailEnd type="none" w="med" len="med"/>
                    </a:ln>
                    <a:effectLst/>
                  </p:spPr>
                  <p:txBody>
                    <a:bodyPr/>
                    <a:lstStyle/>
                    <a:p>
                      <a:endParaRPr lang="fr-FR"/>
                    </a:p>
                  </p:txBody>
                </p:sp>
                <p:sp>
                  <p:nvSpPr>
                    <p:cNvPr id="80961" name="Freeform 65"/>
                    <p:cNvSpPr>
                      <a:spLocks/>
                    </p:cNvSpPr>
                    <p:nvPr/>
                  </p:nvSpPr>
                  <p:spPr bwMode="auto">
                    <a:xfrm>
                      <a:off x="4091" y="1584"/>
                      <a:ext cx="96" cy="73"/>
                    </a:xfrm>
                    <a:custGeom>
                      <a:avLst/>
                      <a:gdLst/>
                      <a:ahLst/>
                      <a:cxnLst>
                        <a:cxn ang="0">
                          <a:pos x="48" y="0"/>
                        </a:cxn>
                        <a:cxn ang="0">
                          <a:pos x="0" y="72"/>
                        </a:cxn>
                        <a:cxn ang="0">
                          <a:pos x="95" y="72"/>
                        </a:cxn>
                        <a:cxn ang="0">
                          <a:pos x="48" y="0"/>
                        </a:cxn>
                      </a:cxnLst>
                      <a:rect l="0" t="0" r="r" b="b"/>
                      <a:pathLst>
                        <a:path w="96" h="73">
                          <a:moveTo>
                            <a:pt x="48" y="0"/>
                          </a:moveTo>
                          <a:lnTo>
                            <a:pt x="0" y="72"/>
                          </a:lnTo>
                          <a:lnTo>
                            <a:pt x="95" y="72"/>
                          </a:lnTo>
                          <a:lnTo>
                            <a:pt x="48" y="0"/>
                          </a:lnTo>
                        </a:path>
                      </a:pathLst>
                    </a:custGeom>
                    <a:solidFill>
                      <a:srgbClr val="8901F3"/>
                    </a:solidFill>
                    <a:ln w="12700" cap="rnd" cmpd="sng">
                      <a:noFill/>
                      <a:prstDash val="solid"/>
                      <a:round/>
                      <a:headEnd type="none" w="med" len="med"/>
                      <a:tailEnd type="none" w="med" len="med"/>
                    </a:ln>
                    <a:effectLst/>
                  </p:spPr>
                  <p:txBody>
                    <a:bodyPr/>
                    <a:lstStyle/>
                    <a:p>
                      <a:endParaRPr lang="fr-FR"/>
                    </a:p>
                  </p:txBody>
                </p:sp>
                <p:sp>
                  <p:nvSpPr>
                    <p:cNvPr id="80962" name="Freeform 66"/>
                    <p:cNvSpPr>
                      <a:spLocks/>
                    </p:cNvSpPr>
                    <p:nvPr/>
                  </p:nvSpPr>
                  <p:spPr bwMode="auto">
                    <a:xfrm>
                      <a:off x="4211" y="1465"/>
                      <a:ext cx="72" cy="97"/>
                    </a:xfrm>
                    <a:custGeom>
                      <a:avLst/>
                      <a:gdLst/>
                      <a:ahLst/>
                      <a:cxnLst>
                        <a:cxn ang="0">
                          <a:pos x="0" y="48"/>
                        </a:cxn>
                        <a:cxn ang="0">
                          <a:pos x="71" y="0"/>
                        </a:cxn>
                        <a:cxn ang="0">
                          <a:pos x="71" y="96"/>
                        </a:cxn>
                        <a:cxn ang="0">
                          <a:pos x="0" y="48"/>
                        </a:cxn>
                      </a:cxnLst>
                      <a:rect l="0" t="0" r="r" b="b"/>
                      <a:pathLst>
                        <a:path w="72" h="97">
                          <a:moveTo>
                            <a:pt x="0" y="48"/>
                          </a:moveTo>
                          <a:lnTo>
                            <a:pt x="71" y="0"/>
                          </a:lnTo>
                          <a:lnTo>
                            <a:pt x="71" y="96"/>
                          </a:lnTo>
                          <a:lnTo>
                            <a:pt x="0" y="48"/>
                          </a:lnTo>
                        </a:path>
                      </a:pathLst>
                    </a:custGeom>
                    <a:solidFill>
                      <a:srgbClr val="8901F3"/>
                    </a:solidFill>
                    <a:ln w="12700" cap="rnd" cmpd="sng">
                      <a:noFill/>
                      <a:prstDash val="solid"/>
                      <a:round/>
                      <a:headEnd type="none" w="med" len="med"/>
                      <a:tailEnd type="none" w="med" len="med"/>
                    </a:ln>
                    <a:effectLst/>
                  </p:spPr>
                  <p:txBody>
                    <a:bodyPr/>
                    <a:lstStyle/>
                    <a:p>
                      <a:endParaRPr lang="fr-FR"/>
                    </a:p>
                  </p:txBody>
                </p:sp>
                <p:sp>
                  <p:nvSpPr>
                    <p:cNvPr id="80963" name="Freeform 67"/>
                    <p:cNvSpPr>
                      <a:spLocks/>
                    </p:cNvSpPr>
                    <p:nvPr/>
                  </p:nvSpPr>
                  <p:spPr bwMode="auto">
                    <a:xfrm>
                      <a:off x="3995" y="1465"/>
                      <a:ext cx="73" cy="97"/>
                    </a:xfrm>
                    <a:custGeom>
                      <a:avLst/>
                      <a:gdLst/>
                      <a:ahLst/>
                      <a:cxnLst>
                        <a:cxn ang="0">
                          <a:pos x="72" y="48"/>
                        </a:cxn>
                        <a:cxn ang="0">
                          <a:pos x="0" y="0"/>
                        </a:cxn>
                        <a:cxn ang="0">
                          <a:pos x="0" y="96"/>
                        </a:cxn>
                        <a:cxn ang="0">
                          <a:pos x="72" y="48"/>
                        </a:cxn>
                      </a:cxnLst>
                      <a:rect l="0" t="0" r="r" b="b"/>
                      <a:pathLst>
                        <a:path w="73" h="97">
                          <a:moveTo>
                            <a:pt x="72" y="48"/>
                          </a:moveTo>
                          <a:lnTo>
                            <a:pt x="0" y="0"/>
                          </a:lnTo>
                          <a:lnTo>
                            <a:pt x="0" y="96"/>
                          </a:lnTo>
                          <a:lnTo>
                            <a:pt x="72" y="48"/>
                          </a:lnTo>
                        </a:path>
                      </a:pathLst>
                    </a:custGeom>
                    <a:solidFill>
                      <a:srgbClr val="8901F3"/>
                    </a:solidFill>
                    <a:ln w="12700" cap="rnd" cmpd="sng">
                      <a:noFill/>
                      <a:prstDash val="solid"/>
                      <a:round/>
                      <a:headEnd type="none" w="med" len="med"/>
                      <a:tailEnd type="none" w="med" len="med"/>
                    </a:ln>
                    <a:effectLst/>
                  </p:spPr>
                  <p:txBody>
                    <a:bodyPr/>
                    <a:lstStyle/>
                    <a:p>
                      <a:endParaRPr lang="fr-FR"/>
                    </a:p>
                  </p:txBody>
                </p:sp>
                <p:sp>
                  <p:nvSpPr>
                    <p:cNvPr id="80964" name="Oval 68"/>
                    <p:cNvSpPr>
                      <a:spLocks noChangeArrowheads="1"/>
                    </p:cNvSpPr>
                    <p:nvPr/>
                  </p:nvSpPr>
                  <p:spPr bwMode="auto">
                    <a:xfrm>
                      <a:off x="4043" y="1418"/>
                      <a:ext cx="191" cy="190"/>
                    </a:xfrm>
                    <a:prstGeom prst="ellipse">
                      <a:avLst/>
                    </a:prstGeom>
                    <a:solidFill>
                      <a:srgbClr val="8901F3"/>
                    </a:solidFill>
                    <a:ln w="12700">
                      <a:noFill/>
                      <a:round/>
                      <a:headEnd/>
                      <a:tailEnd/>
                    </a:ln>
                    <a:effectLst/>
                  </p:spPr>
                  <p:txBody>
                    <a:bodyPr wrap="none" anchor="ctr"/>
                    <a:lstStyle/>
                    <a:p>
                      <a:endParaRPr lang="fr-FR"/>
                    </a:p>
                  </p:txBody>
                </p:sp>
              </p:grpSp>
              <p:sp>
                <p:nvSpPr>
                  <p:cNvPr id="80965" name="Oval 69"/>
                  <p:cNvSpPr>
                    <a:spLocks noChangeArrowheads="1"/>
                  </p:cNvSpPr>
                  <p:nvPr/>
                </p:nvSpPr>
                <p:spPr bwMode="auto">
                  <a:xfrm>
                    <a:off x="3967" y="2337"/>
                    <a:ext cx="95" cy="96"/>
                  </a:xfrm>
                  <a:prstGeom prst="ellipse">
                    <a:avLst/>
                  </a:prstGeom>
                  <a:solidFill>
                    <a:srgbClr val="FCFEB9"/>
                  </a:solidFill>
                  <a:ln w="12700">
                    <a:noFill/>
                    <a:round/>
                    <a:headEnd/>
                    <a:tailEnd/>
                  </a:ln>
                  <a:effectLst/>
                </p:spPr>
                <p:txBody>
                  <a:bodyPr wrap="none" anchor="ctr"/>
                  <a:lstStyle/>
                  <a:p>
                    <a:endParaRPr lang="fr-FR"/>
                  </a:p>
                </p:txBody>
              </p:sp>
            </p:grpSp>
          </p:grpSp>
          <p:grpSp>
            <p:nvGrpSpPr>
              <p:cNvPr id="80966" name="Group 70"/>
              <p:cNvGrpSpPr>
                <a:grpSpLocks/>
              </p:cNvGrpSpPr>
              <p:nvPr/>
            </p:nvGrpSpPr>
            <p:grpSpPr bwMode="auto">
              <a:xfrm>
                <a:off x="4246" y="1921"/>
                <a:ext cx="326" cy="324"/>
                <a:chOff x="3375" y="2382"/>
                <a:chExt cx="326" cy="324"/>
              </a:xfrm>
            </p:grpSpPr>
            <p:grpSp>
              <p:nvGrpSpPr>
                <p:cNvPr id="80967" name="Group 71"/>
                <p:cNvGrpSpPr>
                  <a:grpSpLocks/>
                </p:cNvGrpSpPr>
                <p:nvPr/>
              </p:nvGrpSpPr>
              <p:grpSpPr bwMode="auto">
                <a:xfrm>
                  <a:off x="3375" y="2382"/>
                  <a:ext cx="326" cy="324"/>
                  <a:chOff x="3995" y="1370"/>
                  <a:chExt cx="288" cy="287"/>
                </a:xfrm>
              </p:grpSpPr>
              <p:sp>
                <p:nvSpPr>
                  <p:cNvPr id="80968" name="Freeform 72"/>
                  <p:cNvSpPr>
                    <a:spLocks/>
                  </p:cNvSpPr>
                  <p:nvPr/>
                </p:nvSpPr>
                <p:spPr bwMode="auto">
                  <a:xfrm>
                    <a:off x="4091" y="1370"/>
                    <a:ext cx="96" cy="72"/>
                  </a:xfrm>
                  <a:custGeom>
                    <a:avLst/>
                    <a:gdLst/>
                    <a:ahLst/>
                    <a:cxnLst>
                      <a:cxn ang="0">
                        <a:pos x="48" y="71"/>
                      </a:cxn>
                      <a:cxn ang="0">
                        <a:pos x="0" y="0"/>
                      </a:cxn>
                      <a:cxn ang="0">
                        <a:pos x="95" y="0"/>
                      </a:cxn>
                      <a:cxn ang="0">
                        <a:pos x="48" y="71"/>
                      </a:cxn>
                    </a:cxnLst>
                    <a:rect l="0" t="0" r="r" b="b"/>
                    <a:pathLst>
                      <a:path w="96" h="72">
                        <a:moveTo>
                          <a:pt x="48" y="71"/>
                        </a:moveTo>
                        <a:lnTo>
                          <a:pt x="0" y="0"/>
                        </a:lnTo>
                        <a:lnTo>
                          <a:pt x="95" y="0"/>
                        </a:lnTo>
                        <a:lnTo>
                          <a:pt x="48" y="71"/>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80969" name="Freeform 73"/>
                  <p:cNvSpPr>
                    <a:spLocks/>
                  </p:cNvSpPr>
                  <p:nvPr/>
                </p:nvSpPr>
                <p:spPr bwMode="auto">
                  <a:xfrm>
                    <a:off x="4091" y="1584"/>
                    <a:ext cx="96" cy="73"/>
                  </a:xfrm>
                  <a:custGeom>
                    <a:avLst/>
                    <a:gdLst/>
                    <a:ahLst/>
                    <a:cxnLst>
                      <a:cxn ang="0">
                        <a:pos x="48" y="0"/>
                      </a:cxn>
                      <a:cxn ang="0">
                        <a:pos x="0" y="72"/>
                      </a:cxn>
                      <a:cxn ang="0">
                        <a:pos x="95" y="72"/>
                      </a:cxn>
                      <a:cxn ang="0">
                        <a:pos x="48" y="0"/>
                      </a:cxn>
                    </a:cxnLst>
                    <a:rect l="0" t="0" r="r" b="b"/>
                    <a:pathLst>
                      <a:path w="96" h="73">
                        <a:moveTo>
                          <a:pt x="48" y="0"/>
                        </a:moveTo>
                        <a:lnTo>
                          <a:pt x="0" y="72"/>
                        </a:lnTo>
                        <a:lnTo>
                          <a:pt x="95" y="72"/>
                        </a:lnTo>
                        <a:lnTo>
                          <a:pt x="48" y="0"/>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80970" name="Freeform 74"/>
                  <p:cNvSpPr>
                    <a:spLocks/>
                  </p:cNvSpPr>
                  <p:nvPr/>
                </p:nvSpPr>
                <p:spPr bwMode="auto">
                  <a:xfrm>
                    <a:off x="4211" y="1465"/>
                    <a:ext cx="72" cy="97"/>
                  </a:xfrm>
                  <a:custGeom>
                    <a:avLst/>
                    <a:gdLst/>
                    <a:ahLst/>
                    <a:cxnLst>
                      <a:cxn ang="0">
                        <a:pos x="0" y="48"/>
                      </a:cxn>
                      <a:cxn ang="0">
                        <a:pos x="71" y="0"/>
                      </a:cxn>
                      <a:cxn ang="0">
                        <a:pos x="71" y="96"/>
                      </a:cxn>
                      <a:cxn ang="0">
                        <a:pos x="0" y="48"/>
                      </a:cxn>
                    </a:cxnLst>
                    <a:rect l="0" t="0" r="r" b="b"/>
                    <a:pathLst>
                      <a:path w="72" h="97">
                        <a:moveTo>
                          <a:pt x="0" y="48"/>
                        </a:moveTo>
                        <a:lnTo>
                          <a:pt x="71" y="0"/>
                        </a:lnTo>
                        <a:lnTo>
                          <a:pt x="71" y="96"/>
                        </a:lnTo>
                        <a:lnTo>
                          <a:pt x="0" y="48"/>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80971" name="Freeform 75"/>
                  <p:cNvSpPr>
                    <a:spLocks/>
                  </p:cNvSpPr>
                  <p:nvPr/>
                </p:nvSpPr>
                <p:spPr bwMode="auto">
                  <a:xfrm>
                    <a:off x="3995" y="1465"/>
                    <a:ext cx="73" cy="97"/>
                  </a:xfrm>
                  <a:custGeom>
                    <a:avLst/>
                    <a:gdLst/>
                    <a:ahLst/>
                    <a:cxnLst>
                      <a:cxn ang="0">
                        <a:pos x="72" y="48"/>
                      </a:cxn>
                      <a:cxn ang="0">
                        <a:pos x="0" y="0"/>
                      </a:cxn>
                      <a:cxn ang="0">
                        <a:pos x="0" y="96"/>
                      </a:cxn>
                      <a:cxn ang="0">
                        <a:pos x="72" y="48"/>
                      </a:cxn>
                    </a:cxnLst>
                    <a:rect l="0" t="0" r="r" b="b"/>
                    <a:pathLst>
                      <a:path w="73" h="97">
                        <a:moveTo>
                          <a:pt x="72" y="48"/>
                        </a:moveTo>
                        <a:lnTo>
                          <a:pt x="0" y="0"/>
                        </a:lnTo>
                        <a:lnTo>
                          <a:pt x="0" y="96"/>
                        </a:lnTo>
                        <a:lnTo>
                          <a:pt x="72" y="48"/>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80972" name="Oval 76"/>
                  <p:cNvSpPr>
                    <a:spLocks noChangeArrowheads="1"/>
                  </p:cNvSpPr>
                  <p:nvPr/>
                </p:nvSpPr>
                <p:spPr bwMode="auto">
                  <a:xfrm>
                    <a:off x="4043" y="1418"/>
                    <a:ext cx="191" cy="190"/>
                  </a:xfrm>
                  <a:prstGeom prst="ellipse">
                    <a:avLst/>
                  </a:prstGeom>
                  <a:solidFill>
                    <a:schemeClr val="bg1"/>
                  </a:solidFill>
                  <a:ln w="12700">
                    <a:noFill/>
                    <a:round/>
                    <a:headEnd/>
                    <a:tailEnd/>
                  </a:ln>
                  <a:effectLst/>
                </p:spPr>
                <p:txBody>
                  <a:bodyPr wrap="none" anchor="ctr"/>
                  <a:lstStyle/>
                  <a:p>
                    <a:endParaRPr lang="fr-FR"/>
                  </a:p>
                </p:txBody>
              </p:sp>
            </p:grpSp>
            <p:grpSp>
              <p:nvGrpSpPr>
                <p:cNvPr id="80973" name="Group 77"/>
                <p:cNvGrpSpPr>
                  <a:grpSpLocks/>
                </p:cNvGrpSpPr>
                <p:nvPr/>
              </p:nvGrpSpPr>
              <p:grpSpPr bwMode="auto">
                <a:xfrm>
                  <a:off x="3395" y="2400"/>
                  <a:ext cx="288" cy="287"/>
                  <a:chOff x="3871" y="2242"/>
                  <a:chExt cx="288" cy="287"/>
                </a:xfrm>
              </p:grpSpPr>
              <p:grpSp>
                <p:nvGrpSpPr>
                  <p:cNvPr id="80974" name="Group 78"/>
                  <p:cNvGrpSpPr>
                    <a:grpSpLocks/>
                  </p:cNvGrpSpPr>
                  <p:nvPr/>
                </p:nvGrpSpPr>
                <p:grpSpPr bwMode="auto">
                  <a:xfrm>
                    <a:off x="3871" y="2242"/>
                    <a:ext cx="288" cy="287"/>
                    <a:chOff x="3995" y="1370"/>
                    <a:chExt cx="288" cy="287"/>
                  </a:xfrm>
                </p:grpSpPr>
                <p:sp>
                  <p:nvSpPr>
                    <p:cNvPr id="80975" name="Freeform 79"/>
                    <p:cNvSpPr>
                      <a:spLocks/>
                    </p:cNvSpPr>
                    <p:nvPr/>
                  </p:nvSpPr>
                  <p:spPr bwMode="auto">
                    <a:xfrm>
                      <a:off x="4091" y="1370"/>
                      <a:ext cx="96" cy="72"/>
                    </a:xfrm>
                    <a:custGeom>
                      <a:avLst/>
                      <a:gdLst/>
                      <a:ahLst/>
                      <a:cxnLst>
                        <a:cxn ang="0">
                          <a:pos x="48" y="71"/>
                        </a:cxn>
                        <a:cxn ang="0">
                          <a:pos x="0" y="0"/>
                        </a:cxn>
                        <a:cxn ang="0">
                          <a:pos x="95" y="0"/>
                        </a:cxn>
                        <a:cxn ang="0">
                          <a:pos x="48" y="71"/>
                        </a:cxn>
                      </a:cxnLst>
                      <a:rect l="0" t="0" r="r" b="b"/>
                      <a:pathLst>
                        <a:path w="96" h="72">
                          <a:moveTo>
                            <a:pt x="48" y="71"/>
                          </a:moveTo>
                          <a:lnTo>
                            <a:pt x="0" y="0"/>
                          </a:lnTo>
                          <a:lnTo>
                            <a:pt x="95" y="0"/>
                          </a:lnTo>
                          <a:lnTo>
                            <a:pt x="48" y="71"/>
                          </a:lnTo>
                        </a:path>
                      </a:pathLst>
                    </a:custGeom>
                    <a:solidFill>
                      <a:srgbClr val="8901F3"/>
                    </a:solidFill>
                    <a:ln w="12700" cap="rnd" cmpd="sng">
                      <a:noFill/>
                      <a:prstDash val="solid"/>
                      <a:round/>
                      <a:headEnd type="none" w="med" len="med"/>
                      <a:tailEnd type="none" w="med" len="med"/>
                    </a:ln>
                    <a:effectLst/>
                  </p:spPr>
                  <p:txBody>
                    <a:bodyPr/>
                    <a:lstStyle/>
                    <a:p>
                      <a:endParaRPr lang="fr-FR"/>
                    </a:p>
                  </p:txBody>
                </p:sp>
                <p:sp>
                  <p:nvSpPr>
                    <p:cNvPr id="80976" name="Freeform 80"/>
                    <p:cNvSpPr>
                      <a:spLocks/>
                    </p:cNvSpPr>
                    <p:nvPr/>
                  </p:nvSpPr>
                  <p:spPr bwMode="auto">
                    <a:xfrm>
                      <a:off x="4091" y="1584"/>
                      <a:ext cx="96" cy="73"/>
                    </a:xfrm>
                    <a:custGeom>
                      <a:avLst/>
                      <a:gdLst/>
                      <a:ahLst/>
                      <a:cxnLst>
                        <a:cxn ang="0">
                          <a:pos x="48" y="0"/>
                        </a:cxn>
                        <a:cxn ang="0">
                          <a:pos x="0" y="72"/>
                        </a:cxn>
                        <a:cxn ang="0">
                          <a:pos x="95" y="72"/>
                        </a:cxn>
                        <a:cxn ang="0">
                          <a:pos x="48" y="0"/>
                        </a:cxn>
                      </a:cxnLst>
                      <a:rect l="0" t="0" r="r" b="b"/>
                      <a:pathLst>
                        <a:path w="96" h="73">
                          <a:moveTo>
                            <a:pt x="48" y="0"/>
                          </a:moveTo>
                          <a:lnTo>
                            <a:pt x="0" y="72"/>
                          </a:lnTo>
                          <a:lnTo>
                            <a:pt x="95" y="72"/>
                          </a:lnTo>
                          <a:lnTo>
                            <a:pt x="48" y="0"/>
                          </a:lnTo>
                        </a:path>
                      </a:pathLst>
                    </a:custGeom>
                    <a:solidFill>
                      <a:srgbClr val="8901F3"/>
                    </a:solidFill>
                    <a:ln w="12700" cap="rnd" cmpd="sng">
                      <a:noFill/>
                      <a:prstDash val="solid"/>
                      <a:round/>
                      <a:headEnd type="none" w="med" len="med"/>
                      <a:tailEnd type="none" w="med" len="med"/>
                    </a:ln>
                    <a:effectLst/>
                  </p:spPr>
                  <p:txBody>
                    <a:bodyPr/>
                    <a:lstStyle/>
                    <a:p>
                      <a:endParaRPr lang="fr-FR"/>
                    </a:p>
                  </p:txBody>
                </p:sp>
                <p:sp>
                  <p:nvSpPr>
                    <p:cNvPr id="80977" name="Freeform 81"/>
                    <p:cNvSpPr>
                      <a:spLocks/>
                    </p:cNvSpPr>
                    <p:nvPr/>
                  </p:nvSpPr>
                  <p:spPr bwMode="auto">
                    <a:xfrm>
                      <a:off x="4211" y="1465"/>
                      <a:ext cx="72" cy="97"/>
                    </a:xfrm>
                    <a:custGeom>
                      <a:avLst/>
                      <a:gdLst/>
                      <a:ahLst/>
                      <a:cxnLst>
                        <a:cxn ang="0">
                          <a:pos x="0" y="48"/>
                        </a:cxn>
                        <a:cxn ang="0">
                          <a:pos x="71" y="0"/>
                        </a:cxn>
                        <a:cxn ang="0">
                          <a:pos x="71" y="96"/>
                        </a:cxn>
                        <a:cxn ang="0">
                          <a:pos x="0" y="48"/>
                        </a:cxn>
                      </a:cxnLst>
                      <a:rect l="0" t="0" r="r" b="b"/>
                      <a:pathLst>
                        <a:path w="72" h="97">
                          <a:moveTo>
                            <a:pt x="0" y="48"/>
                          </a:moveTo>
                          <a:lnTo>
                            <a:pt x="71" y="0"/>
                          </a:lnTo>
                          <a:lnTo>
                            <a:pt x="71" y="96"/>
                          </a:lnTo>
                          <a:lnTo>
                            <a:pt x="0" y="48"/>
                          </a:lnTo>
                        </a:path>
                      </a:pathLst>
                    </a:custGeom>
                    <a:solidFill>
                      <a:srgbClr val="8901F3"/>
                    </a:solidFill>
                    <a:ln w="12700" cap="rnd" cmpd="sng">
                      <a:noFill/>
                      <a:prstDash val="solid"/>
                      <a:round/>
                      <a:headEnd type="none" w="med" len="med"/>
                      <a:tailEnd type="none" w="med" len="med"/>
                    </a:ln>
                    <a:effectLst/>
                  </p:spPr>
                  <p:txBody>
                    <a:bodyPr/>
                    <a:lstStyle/>
                    <a:p>
                      <a:endParaRPr lang="fr-FR"/>
                    </a:p>
                  </p:txBody>
                </p:sp>
                <p:sp>
                  <p:nvSpPr>
                    <p:cNvPr id="80978" name="Freeform 82"/>
                    <p:cNvSpPr>
                      <a:spLocks/>
                    </p:cNvSpPr>
                    <p:nvPr/>
                  </p:nvSpPr>
                  <p:spPr bwMode="auto">
                    <a:xfrm>
                      <a:off x="3995" y="1465"/>
                      <a:ext cx="73" cy="97"/>
                    </a:xfrm>
                    <a:custGeom>
                      <a:avLst/>
                      <a:gdLst/>
                      <a:ahLst/>
                      <a:cxnLst>
                        <a:cxn ang="0">
                          <a:pos x="72" y="48"/>
                        </a:cxn>
                        <a:cxn ang="0">
                          <a:pos x="0" y="0"/>
                        </a:cxn>
                        <a:cxn ang="0">
                          <a:pos x="0" y="96"/>
                        </a:cxn>
                        <a:cxn ang="0">
                          <a:pos x="72" y="48"/>
                        </a:cxn>
                      </a:cxnLst>
                      <a:rect l="0" t="0" r="r" b="b"/>
                      <a:pathLst>
                        <a:path w="73" h="97">
                          <a:moveTo>
                            <a:pt x="72" y="48"/>
                          </a:moveTo>
                          <a:lnTo>
                            <a:pt x="0" y="0"/>
                          </a:lnTo>
                          <a:lnTo>
                            <a:pt x="0" y="96"/>
                          </a:lnTo>
                          <a:lnTo>
                            <a:pt x="72" y="48"/>
                          </a:lnTo>
                        </a:path>
                      </a:pathLst>
                    </a:custGeom>
                    <a:solidFill>
                      <a:srgbClr val="8901F3"/>
                    </a:solidFill>
                    <a:ln w="12700" cap="rnd" cmpd="sng">
                      <a:noFill/>
                      <a:prstDash val="solid"/>
                      <a:round/>
                      <a:headEnd type="none" w="med" len="med"/>
                      <a:tailEnd type="none" w="med" len="med"/>
                    </a:ln>
                    <a:effectLst/>
                  </p:spPr>
                  <p:txBody>
                    <a:bodyPr/>
                    <a:lstStyle/>
                    <a:p>
                      <a:endParaRPr lang="fr-FR"/>
                    </a:p>
                  </p:txBody>
                </p:sp>
                <p:sp>
                  <p:nvSpPr>
                    <p:cNvPr id="80979" name="Oval 83"/>
                    <p:cNvSpPr>
                      <a:spLocks noChangeArrowheads="1"/>
                    </p:cNvSpPr>
                    <p:nvPr/>
                  </p:nvSpPr>
                  <p:spPr bwMode="auto">
                    <a:xfrm>
                      <a:off x="4043" y="1418"/>
                      <a:ext cx="191" cy="190"/>
                    </a:xfrm>
                    <a:prstGeom prst="ellipse">
                      <a:avLst/>
                    </a:prstGeom>
                    <a:solidFill>
                      <a:srgbClr val="8901F3"/>
                    </a:solidFill>
                    <a:ln w="12700">
                      <a:noFill/>
                      <a:round/>
                      <a:headEnd/>
                      <a:tailEnd/>
                    </a:ln>
                    <a:effectLst/>
                  </p:spPr>
                  <p:txBody>
                    <a:bodyPr wrap="none" anchor="ctr"/>
                    <a:lstStyle/>
                    <a:p>
                      <a:endParaRPr lang="fr-FR"/>
                    </a:p>
                  </p:txBody>
                </p:sp>
              </p:grpSp>
              <p:sp>
                <p:nvSpPr>
                  <p:cNvPr id="80980" name="Oval 84"/>
                  <p:cNvSpPr>
                    <a:spLocks noChangeArrowheads="1"/>
                  </p:cNvSpPr>
                  <p:nvPr/>
                </p:nvSpPr>
                <p:spPr bwMode="auto">
                  <a:xfrm>
                    <a:off x="3967" y="2337"/>
                    <a:ext cx="95" cy="96"/>
                  </a:xfrm>
                  <a:prstGeom prst="ellipse">
                    <a:avLst/>
                  </a:prstGeom>
                  <a:solidFill>
                    <a:srgbClr val="FCFEB9"/>
                  </a:solidFill>
                  <a:ln w="12700">
                    <a:noFill/>
                    <a:round/>
                    <a:headEnd/>
                    <a:tailEnd/>
                  </a:ln>
                  <a:effectLst/>
                </p:spPr>
                <p:txBody>
                  <a:bodyPr wrap="none" anchor="ctr"/>
                  <a:lstStyle/>
                  <a:p>
                    <a:endParaRPr lang="fr-FR"/>
                  </a:p>
                </p:txBody>
              </p:sp>
            </p:grpSp>
          </p:grpSp>
          <p:grpSp>
            <p:nvGrpSpPr>
              <p:cNvPr id="80981" name="Group 85"/>
              <p:cNvGrpSpPr>
                <a:grpSpLocks/>
              </p:cNvGrpSpPr>
              <p:nvPr/>
            </p:nvGrpSpPr>
            <p:grpSpPr bwMode="auto">
              <a:xfrm>
                <a:off x="4486" y="2488"/>
                <a:ext cx="326" cy="324"/>
                <a:chOff x="3375" y="2382"/>
                <a:chExt cx="326" cy="324"/>
              </a:xfrm>
            </p:grpSpPr>
            <p:grpSp>
              <p:nvGrpSpPr>
                <p:cNvPr id="80982" name="Group 86"/>
                <p:cNvGrpSpPr>
                  <a:grpSpLocks/>
                </p:cNvGrpSpPr>
                <p:nvPr/>
              </p:nvGrpSpPr>
              <p:grpSpPr bwMode="auto">
                <a:xfrm>
                  <a:off x="3375" y="2382"/>
                  <a:ext cx="326" cy="324"/>
                  <a:chOff x="3995" y="1370"/>
                  <a:chExt cx="288" cy="287"/>
                </a:xfrm>
              </p:grpSpPr>
              <p:sp>
                <p:nvSpPr>
                  <p:cNvPr id="80983" name="Freeform 87"/>
                  <p:cNvSpPr>
                    <a:spLocks/>
                  </p:cNvSpPr>
                  <p:nvPr/>
                </p:nvSpPr>
                <p:spPr bwMode="auto">
                  <a:xfrm>
                    <a:off x="4091" y="1370"/>
                    <a:ext cx="96" cy="72"/>
                  </a:xfrm>
                  <a:custGeom>
                    <a:avLst/>
                    <a:gdLst/>
                    <a:ahLst/>
                    <a:cxnLst>
                      <a:cxn ang="0">
                        <a:pos x="48" y="71"/>
                      </a:cxn>
                      <a:cxn ang="0">
                        <a:pos x="0" y="0"/>
                      </a:cxn>
                      <a:cxn ang="0">
                        <a:pos x="95" y="0"/>
                      </a:cxn>
                      <a:cxn ang="0">
                        <a:pos x="48" y="71"/>
                      </a:cxn>
                    </a:cxnLst>
                    <a:rect l="0" t="0" r="r" b="b"/>
                    <a:pathLst>
                      <a:path w="96" h="72">
                        <a:moveTo>
                          <a:pt x="48" y="71"/>
                        </a:moveTo>
                        <a:lnTo>
                          <a:pt x="0" y="0"/>
                        </a:lnTo>
                        <a:lnTo>
                          <a:pt x="95" y="0"/>
                        </a:lnTo>
                        <a:lnTo>
                          <a:pt x="48" y="71"/>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80984" name="Freeform 88"/>
                  <p:cNvSpPr>
                    <a:spLocks/>
                  </p:cNvSpPr>
                  <p:nvPr/>
                </p:nvSpPr>
                <p:spPr bwMode="auto">
                  <a:xfrm>
                    <a:off x="4091" y="1584"/>
                    <a:ext cx="96" cy="73"/>
                  </a:xfrm>
                  <a:custGeom>
                    <a:avLst/>
                    <a:gdLst/>
                    <a:ahLst/>
                    <a:cxnLst>
                      <a:cxn ang="0">
                        <a:pos x="48" y="0"/>
                      </a:cxn>
                      <a:cxn ang="0">
                        <a:pos x="0" y="72"/>
                      </a:cxn>
                      <a:cxn ang="0">
                        <a:pos x="95" y="72"/>
                      </a:cxn>
                      <a:cxn ang="0">
                        <a:pos x="48" y="0"/>
                      </a:cxn>
                    </a:cxnLst>
                    <a:rect l="0" t="0" r="r" b="b"/>
                    <a:pathLst>
                      <a:path w="96" h="73">
                        <a:moveTo>
                          <a:pt x="48" y="0"/>
                        </a:moveTo>
                        <a:lnTo>
                          <a:pt x="0" y="72"/>
                        </a:lnTo>
                        <a:lnTo>
                          <a:pt x="95" y="72"/>
                        </a:lnTo>
                        <a:lnTo>
                          <a:pt x="48" y="0"/>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80985" name="Freeform 89"/>
                  <p:cNvSpPr>
                    <a:spLocks/>
                  </p:cNvSpPr>
                  <p:nvPr/>
                </p:nvSpPr>
                <p:spPr bwMode="auto">
                  <a:xfrm>
                    <a:off x="4211" y="1465"/>
                    <a:ext cx="72" cy="97"/>
                  </a:xfrm>
                  <a:custGeom>
                    <a:avLst/>
                    <a:gdLst/>
                    <a:ahLst/>
                    <a:cxnLst>
                      <a:cxn ang="0">
                        <a:pos x="0" y="48"/>
                      </a:cxn>
                      <a:cxn ang="0">
                        <a:pos x="71" y="0"/>
                      </a:cxn>
                      <a:cxn ang="0">
                        <a:pos x="71" y="96"/>
                      </a:cxn>
                      <a:cxn ang="0">
                        <a:pos x="0" y="48"/>
                      </a:cxn>
                    </a:cxnLst>
                    <a:rect l="0" t="0" r="r" b="b"/>
                    <a:pathLst>
                      <a:path w="72" h="97">
                        <a:moveTo>
                          <a:pt x="0" y="48"/>
                        </a:moveTo>
                        <a:lnTo>
                          <a:pt x="71" y="0"/>
                        </a:lnTo>
                        <a:lnTo>
                          <a:pt x="71" y="96"/>
                        </a:lnTo>
                        <a:lnTo>
                          <a:pt x="0" y="48"/>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80986" name="Freeform 90"/>
                  <p:cNvSpPr>
                    <a:spLocks/>
                  </p:cNvSpPr>
                  <p:nvPr/>
                </p:nvSpPr>
                <p:spPr bwMode="auto">
                  <a:xfrm>
                    <a:off x="3995" y="1465"/>
                    <a:ext cx="73" cy="97"/>
                  </a:xfrm>
                  <a:custGeom>
                    <a:avLst/>
                    <a:gdLst/>
                    <a:ahLst/>
                    <a:cxnLst>
                      <a:cxn ang="0">
                        <a:pos x="72" y="48"/>
                      </a:cxn>
                      <a:cxn ang="0">
                        <a:pos x="0" y="0"/>
                      </a:cxn>
                      <a:cxn ang="0">
                        <a:pos x="0" y="96"/>
                      </a:cxn>
                      <a:cxn ang="0">
                        <a:pos x="72" y="48"/>
                      </a:cxn>
                    </a:cxnLst>
                    <a:rect l="0" t="0" r="r" b="b"/>
                    <a:pathLst>
                      <a:path w="73" h="97">
                        <a:moveTo>
                          <a:pt x="72" y="48"/>
                        </a:moveTo>
                        <a:lnTo>
                          <a:pt x="0" y="0"/>
                        </a:lnTo>
                        <a:lnTo>
                          <a:pt x="0" y="96"/>
                        </a:lnTo>
                        <a:lnTo>
                          <a:pt x="72" y="48"/>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80987" name="Oval 91"/>
                  <p:cNvSpPr>
                    <a:spLocks noChangeArrowheads="1"/>
                  </p:cNvSpPr>
                  <p:nvPr/>
                </p:nvSpPr>
                <p:spPr bwMode="auto">
                  <a:xfrm>
                    <a:off x="4043" y="1418"/>
                    <a:ext cx="191" cy="190"/>
                  </a:xfrm>
                  <a:prstGeom prst="ellipse">
                    <a:avLst/>
                  </a:prstGeom>
                  <a:solidFill>
                    <a:schemeClr val="bg1"/>
                  </a:solidFill>
                  <a:ln w="12700">
                    <a:noFill/>
                    <a:round/>
                    <a:headEnd/>
                    <a:tailEnd/>
                  </a:ln>
                  <a:effectLst/>
                </p:spPr>
                <p:txBody>
                  <a:bodyPr wrap="none" anchor="ctr"/>
                  <a:lstStyle/>
                  <a:p>
                    <a:endParaRPr lang="fr-FR"/>
                  </a:p>
                </p:txBody>
              </p:sp>
            </p:grpSp>
            <p:grpSp>
              <p:nvGrpSpPr>
                <p:cNvPr id="80988" name="Group 92"/>
                <p:cNvGrpSpPr>
                  <a:grpSpLocks/>
                </p:cNvGrpSpPr>
                <p:nvPr/>
              </p:nvGrpSpPr>
              <p:grpSpPr bwMode="auto">
                <a:xfrm>
                  <a:off x="3395" y="2400"/>
                  <a:ext cx="288" cy="287"/>
                  <a:chOff x="3871" y="2242"/>
                  <a:chExt cx="288" cy="287"/>
                </a:xfrm>
              </p:grpSpPr>
              <p:grpSp>
                <p:nvGrpSpPr>
                  <p:cNvPr id="80989" name="Group 93"/>
                  <p:cNvGrpSpPr>
                    <a:grpSpLocks/>
                  </p:cNvGrpSpPr>
                  <p:nvPr/>
                </p:nvGrpSpPr>
                <p:grpSpPr bwMode="auto">
                  <a:xfrm>
                    <a:off x="3871" y="2242"/>
                    <a:ext cx="288" cy="287"/>
                    <a:chOff x="3995" y="1370"/>
                    <a:chExt cx="288" cy="287"/>
                  </a:xfrm>
                </p:grpSpPr>
                <p:sp>
                  <p:nvSpPr>
                    <p:cNvPr id="80990" name="Freeform 94"/>
                    <p:cNvSpPr>
                      <a:spLocks/>
                    </p:cNvSpPr>
                    <p:nvPr/>
                  </p:nvSpPr>
                  <p:spPr bwMode="auto">
                    <a:xfrm>
                      <a:off x="4091" y="1370"/>
                      <a:ext cx="96" cy="72"/>
                    </a:xfrm>
                    <a:custGeom>
                      <a:avLst/>
                      <a:gdLst/>
                      <a:ahLst/>
                      <a:cxnLst>
                        <a:cxn ang="0">
                          <a:pos x="48" y="71"/>
                        </a:cxn>
                        <a:cxn ang="0">
                          <a:pos x="0" y="0"/>
                        </a:cxn>
                        <a:cxn ang="0">
                          <a:pos x="95" y="0"/>
                        </a:cxn>
                        <a:cxn ang="0">
                          <a:pos x="48" y="71"/>
                        </a:cxn>
                      </a:cxnLst>
                      <a:rect l="0" t="0" r="r" b="b"/>
                      <a:pathLst>
                        <a:path w="96" h="72">
                          <a:moveTo>
                            <a:pt x="48" y="71"/>
                          </a:moveTo>
                          <a:lnTo>
                            <a:pt x="0" y="0"/>
                          </a:lnTo>
                          <a:lnTo>
                            <a:pt x="95" y="0"/>
                          </a:lnTo>
                          <a:lnTo>
                            <a:pt x="48" y="71"/>
                          </a:lnTo>
                        </a:path>
                      </a:pathLst>
                    </a:custGeom>
                    <a:solidFill>
                      <a:srgbClr val="8901F3"/>
                    </a:solidFill>
                    <a:ln w="12700" cap="rnd" cmpd="sng">
                      <a:noFill/>
                      <a:prstDash val="solid"/>
                      <a:round/>
                      <a:headEnd type="none" w="med" len="med"/>
                      <a:tailEnd type="none" w="med" len="med"/>
                    </a:ln>
                    <a:effectLst/>
                  </p:spPr>
                  <p:txBody>
                    <a:bodyPr/>
                    <a:lstStyle/>
                    <a:p>
                      <a:endParaRPr lang="fr-FR"/>
                    </a:p>
                  </p:txBody>
                </p:sp>
                <p:sp>
                  <p:nvSpPr>
                    <p:cNvPr id="80991" name="Freeform 95"/>
                    <p:cNvSpPr>
                      <a:spLocks/>
                    </p:cNvSpPr>
                    <p:nvPr/>
                  </p:nvSpPr>
                  <p:spPr bwMode="auto">
                    <a:xfrm>
                      <a:off x="4091" y="1584"/>
                      <a:ext cx="96" cy="73"/>
                    </a:xfrm>
                    <a:custGeom>
                      <a:avLst/>
                      <a:gdLst/>
                      <a:ahLst/>
                      <a:cxnLst>
                        <a:cxn ang="0">
                          <a:pos x="48" y="0"/>
                        </a:cxn>
                        <a:cxn ang="0">
                          <a:pos x="0" y="72"/>
                        </a:cxn>
                        <a:cxn ang="0">
                          <a:pos x="95" y="72"/>
                        </a:cxn>
                        <a:cxn ang="0">
                          <a:pos x="48" y="0"/>
                        </a:cxn>
                      </a:cxnLst>
                      <a:rect l="0" t="0" r="r" b="b"/>
                      <a:pathLst>
                        <a:path w="96" h="73">
                          <a:moveTo>
                            <a:pt x="48" y="0"/>
                          </a:moveTo>
                          <a:lnTo>
                            <a:pt x="0" y="72"/>
                          </a:lnTo>
                          <a:lnTo>
                            <a:pt x="95" y="72"/>
                          </a:lnTo>
                          <a:lnTo>
                            <a:pt x="48" y="0"/>
                          </a:lnTo>
                        </a:path>
                      </a:pathLst>
                    </a:custGeom>
                    <a:solidFill>
                      <a:srgbClr val="8901F3"/>
                    </a:solidFill>
                    <a:ln w="12700" cap="rnd" cmpd="sng">
                      <a:noFill/>
                      <a:prstDash val="solid"/>
                      <a:round/>
                      <a:headEnd type="none" w="med" len="med"/>
                      <a:tailEnd type="none" w="med" len="med"/>
                    </a:ln>
                    <a:effectLst/>
                  </p:spPr>
                  <p:txBody>
                    <a:bodyPr/>
                    <a:lstStyle/>
                    <a:p>
                      <a:endParaRPr lang="fr-FR"/>
                    </a:p>
                  </p:txBody>
                </p:sp>
                <p:sp>
                  <p:nvSpPr>
                    <p:cNvPr id="80992" name="Freeform 96"/>
                    <p:cNvSpPr>
                      <a:spLocks/>
                    </p:cNvSpPr>
                    <p:nvPr/>
                  </p:nvSpPr>
                  <p:spPr bwMode="auto">
                    <a:xfrm>
                      <a:off x="4211" y="1465"/>
                      <a:ext cx="72" cy="97"/>
                    </a:xfrm>
                    <a:custGeom>
                      <a:avLst/>
                      <a:gdLst/>
                      <a:ahLst/>
                      <a:cxnLst>
                        <a:cxn ang="0">
                          <a:pos x="0" y="48"/>
                        </a:cxn>
                        <a:cxn ang="0">
                          <a:pos x="71" y="0"/>
                        </a:cxn>
                        <a:cxn ang="0">
                          <a:pos x="71" y="96"/>
                        </a:cxn>
                        <a:cxn ang="0">
                          <a:pos x="0" y="48"/>
                        </a:cxn>
                      </a:cxnLst>
                      <a:rect l="0" t="0" r="r" b="b"/>
                      <a:pathLst>
                        <a:path w="72" h="97">
                          <a:moveTo>
                            <a:pt x="0" y="48"/>
                          </a:moveTo>
                          <a:lnTo>
                            <a:pt x="71" y="0"/>
                          </a:lnTo>
                          <a:lnTo>
                            <a:pt x="71" y="96"/>
                          </a:lnTo>
                          <a:lnTo>
                            <a:pt x="0" y="48"/>
                          </a:lnTo>
                        </a:path>
                      </a:pathLst>
                    </a:custGeom>
                    <a:solidFill>
                      <a:srgbClr val="8901F3"/>
                    </a:solidFill>
                    <a:ln w="12700" cap="rnd" cmpd="sng">
                      <a:noFill/>
                      <a:prstDash val="solid"/>
                      <a:round/>
                      <a:headEnd type="none" w="med" len="med"/>
                      <a:tailEnd type="none" w="med" len="med"/>
                    </a:ln>
                    <a:effectLst/>
                  </p:spPr>
                  <p:txBody>
                    <a:bodyPr/>
                    <a:lstStyle/>
                    <a:p>
                      <a:endParaRPr lang="fr-FR"/>
                    </a:p>
                  </p:txBody>
                </p:sp>
                <p:sp>
                  <p:nvSpPr>
                    <p:cNvPr id="80993" name="Freeform 97"/>
                    <p:cNvSpPr>
                      <a:spLocks/>
                    </p:cNvSpPr>
                    <p:nvPr/>
                  </p:nvSpPr>
                  <p:spPr bwMode="auto">
                    <a:xfrm>
                      <a:off x="3995" y="1465"/>
                      <a:ext cx="73" cy="97"/>
                    </a:xfrm>
                    <a:custGeom>
                      <a:avLst/>
                      <a:gdLst/>
                      <a:ahLst/>
                      <a:cxnLst>
                        <a:cxn ang="0">
                          <a:pos x="72" y="48"/>
                        </a:cxn>
                        <a:cxn ang="0">
                          <a:pos x="0" y="0"/>
                        </a:cxn>
                        <a:cxn ang="0">
                          <a:pos x="0" y="96"/>
                        </a:cxn>
                        <a:cxn ang="0">
                          <a:pos x="72" y="48"/>
                        </a:cxn>
                      </a:cxnLst>
                      <a:rect l="0" t="0" r="r" b="b"/>
                      <a:pathLst>
                        <a:path w="73" h="97">
                          <a:moveTo>
                            <a:pt x="72" y="48"/>
                          </a:moveTo>
                          <a:lnTo>
                            <a:pt x="0" y="0"/>
                          </a:lnTo>
                          <a:lnTo>
                            <a:pt x="0" y="96"/>
                          </a:lnTo>
                          <a:lnTo>
                            <a:pt x="72" y="48"/>
                          </a:lnTo>
                        </a:path>
                      </a:pathLst>
                    </a:custGeom>
                    <a:solidFill>
                      <a:srgbClr val="8901F3"/>
                    </a:solidFill>
                    <a:ln w="12700" cap="rnd" cmpd="sng">
                      <a:noFill/>
                      <a:prstDash val="solid"/>
                      <a:round/>
                      <a:headEnd type="none" w="med" len="med"/>
                      <a:tailEnd type="none" w="med" len="med"/>
                    </a:ln>
                    <a:effectLst/>
                  </p:spPr>
                  <p:txBody>
                    <a:bodyPr/>
                    <a:lstStyle/>
                    <a:p>
                      <a:endParaRPr lang="fr-FR"/>
                    </a:p>
                  </p:txBody>
                </p:sp>
                <p:sp>
                  <p:nvSpPr>
                    <p:cNvPr id="80994" name="Oval 98"/>
                    <p:cNvSpPr>
                      <a:spLocks noChangeArrowheads="1"/>
                    </p:cNvSpPr>
                    <p:nvPr/>
                  </p:nvSpPr>
                  <p:spPr bwMode="auto">
                    <a:xfrm>
                      <a:off x="4043" y="1418"/>
                      <a:ext cx="191" cy="190"/>
                    </a:xfrm>
                    <a:prstGeom prst="ellipse">
                      <a:avLst/>
                    </a:prstGeom>
                    <a:solidFill>
                      <a:srgbClr val="8901F3"/>
                    </a:solidFill>
                    <a:ln w="12700">
                      <a:noFill/>
                      <a:round/>
                      <a:headEnd/>
                      <a:tailEnd/>
                    </a:ln>
                    <a:effectLst/>
                  </p:spPr>
                  <p:txBody>
                    <a:bodyPr wrap="none" anchor="ctr"/>
                    <a:lstStyle/>
                    <a:p>
                      <a:endParaRPr lang="fr-FR"/>
                    </a:p>
                  </p:txBody>
                </p:sp>
              </p:grpSp>
              <p:sp>
                <p:nvSpPr>
                  <p:cNvPr id="80995" name="Oval 99"/>
                  <p:cNvSpPr>
                    <a:spLocks noChangeArrowheads="1"/>
                  </p:cNvSpPr>
                  <p:nvPr/>
                </p:nvSpPr>
                <p:spPr bwMode="auto">
                  <a:xfrm>
                    <a:off x="3967" y="2337"/>
                    <a:ext cx="95" cy="96"/>
                  </a:xfrm>
                  <a:prstGeom prst="ellipse">
                    <a:avLst/>
                  </a:prstGeom>
                  <a:solidFill>
                    <a:srgbClr val="FCFEB9"/>
                  </a:solidFill>
                  <a:ln w="12700">
                    <a:noFill/>
                    <a:round/>
                    <a:headEnd/>
                    <a:tailEnd/>
                  </a:ln>
                  <a:effectLst/>
                </p:spPr>
                <p:txBody>
                  <a:bodyPr wrap="none" anchor="ctr"/>
                  <a:lstStyle/>
                  <a:p>
                    <a:endParaRPr lang="fr-FR"/>
                  </a:p>
                </p:txBody>
              </p:sp>
            </p:grpSp>
          </p:grpSp>
        </p:grpSp>
      </p:grpSp>
      <p:sp>
        <p:nvSpPr>
          <p:cNvPr id="80997" name="Line 101"/>
          <p:cNvSpPr>
            <a:spLocks noChangeShapeType="1"/>
          </p:cNvSpPr>
          <p:nvPr/>
        </p:nvSpPr>
        <p:spPr bwMode="auto">
          <a:xfrm flipV="1">
            <a:off x="7256463" y="1868488"/>
            <a:ext cx="296862" cy="193675"/>
          </a:xfrm>
          <a:prstGeom prst="line">
            <a:avLst/>
          </a:prstGeom>
          <a:noFill/>
          <a:ln w="38100">
            <a:solidFill>
              <a:schemeClr val="tx1"/>
            </a:solidFill>
            <a:round/>
            <a:headEnd/>
            <a:tailEnd/>
          </a:ln>
          <a:effectLst/>
        </p:spPr>
        <p:txBody>
          <a:bodyPr wrap="none" anchor="ctr"/>
          <a:lstStyle/>
          <a:p>
            <a:endParaRPr lang="fr-FR"/>
          </a:p>
        </p:txBody>
      </p:sp>
      <p:sp>
        <p:nvSpPr>
          <p:cNvPr id="80998" name="AutoShape 102"/>
          <p:cNvSpPr>
            <a:spLocks noChangeArrowheads="1"/>
          </p:cNvSpPr>
          <p:nvPr/>
        </p:nvSpPr>
        <p:spPr bwMode="auto">
          <a:xfrm>
            <a:off x="5616575" y="2735263"/>
            <a:ext cx="396875" cy="439737"/>
          </a:xfrm>
          <a:custGeom>
            <a:avLst/>
            <a:gdLst>
              <a:gd name="G0" fmla="+- 1835 0 0"/>
              <a:gd name="G1" fmla="+- 21600 0 1835"/>
              <a:gd name="G2" fmla="+- 21600 0 1835"/>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35" y="10800"/>
                </a:moveTo>
                <a:cubicBezTo>
                  <a:pt x="1835" y="15751"/>
                  <a:pt x="5849" y="19765"/>
                  <a:pt x="10800" y="19765"/>
                </a:cubicBezTo>
                <a:cubicBezTo>
                  <a:pt x="15751" y="19765"/>
                  <a:pt x="19765" y="15751"/>
                  <a:pt x="19765" y="10800"/>
                </a:cubicBezTo>
                <a:cubicBezTo>
                  <a:pt x="19765" y="5849"/>
                  <a:pt x="15751" y="1835"/>
                  <a:pt x="10800" y="1835"/>
                </a:cubicBezTo>
                <a:cubicBezTo>
                  <a:pt x="5849" y="1835"/>
                  <a:pt x="1835" y="5849"/>
                  <a:pt x="1835" y="10800"/>
                </a:cubicBezTo>
                <a:close/>
              </a:path>
            </a:pathLst>
          </a:custGeom>
          <a:solidFill>
            <a:srgbClr val="333399"/>
          </a:solidFill>
          <a:ln w="9525">
            <a:round/>
            <a:headEnd/>
            <a:tailEnd/>
          </a:ln>
          <a:effectLst/>
          <a:scene3d>
            <a:camera prst="legacyPerspectiveFront">
              <a:rot lat="2700000" lon="3000000" rev="0"/>
            </a:camera>
            <a:lightRig rig="legacyFlat2" dir="b"/>
          </a:scene3d>
          <a:sp3d extrusionH="1941500" prstMaterial="legacyMatte">
            <a:bevelT w="13500" h="13500" prst="angle"/>
            <a:bevelB w="13500" h="13500" prst="angle"/>
            <a:extrusionClr>
              <a:srgbClr val="99CCFF"/>
            </a:extrusionClr>
          </a:sp3d>
        </p:spPr>
        <p:txBody>
          <a:bodyPr wrap="none" anchor="ctr">
            <a:flatTx/>
          </a:bodyPr>
          <a:lstStyle/>
          <a:p>
            <a:endParaRPr lang="fr-FR"/>
          </a:p>
        </p:txBody>
      </p:sp>
      <p:sp>
        <p:nvSpPr>
          <p:cNvPr id="80999" name="Text Box 103"/>
          <p:cNvSpPr txBox="1">
            <a:spLocks noChangeArrowheads="1"/>
          </p:cNvSpPr>
          <p:nvPr/>
        </p:nvSpPr>
        <p:spPr bwMode="auto">
          <a:xfrm rot="-1862356">
            <a:off x="5803900" y="2252663"/>
            <a:ext cx="1674813" cy="454025"/>
          </a:xfrm>
          <a:prstGeom prst="rect">
            <a:avLst/>
          </a:prstGeom>
          <a:noFill/>
          <a:ln w="9525">
            <a:noFill/>
            <a:miter lim="800000"/>
            <a:headEnd/>
            <a:tailEnd/>
          </a:ln>
          <a:effectLst>
            <a:outerShdw dist="17961" dir="8100000" algn="ctr" rotWithShape="0">
              <a:srgbClr val="5F5F5F"/>
            </a:outerShdw>
          </a:effectLst>
        </p:spPr>
        <p:txBody>
          <a:bodyPr wrap="none">
            <a:spAutoFit/>
          </a:bodyPr>
          <a:lstStyle/>
          <a:p>
            <a:pPr algn="ctr">
              <a:lnSpc>
                <a:spcPct val="70000"/>
              </a:lnSpc>
            </a:pPr>
            <a:r>
              <a:rPr lang="en-US" sz="1700" b="1">
                <a:solidFill>
                  <a:srgbClr val="FFFFCC"/>
                </a:solidFill>
                <a:latin typeface="Arial" charset="0"/>
              </a:rPr>
              <a:t>Protocoles de </a:t>
            </a:r>
            <a:br>
              <a:rPr lang="en-US" sz="1700" b="1">
                <a:solidFill>
                  <a:srgbClr val="FFFFCC"/>
                </a:solidFill>
                <a:latin typeface="Arial" charset="0"/>
              </a:rPr>
            </a:br>
            <a:r>
              <a:rPr lang="en-US" sz="1700" b="1">
                <a:solidFill>
                  <a:srgbClr val="FFFFCC"/>
                </a:solidFill>
                <a:latin typeface="Arial" charset="0"/>
              </a:rPr>
              <a:t>réseau local</a:t>
            </a:r>
          </a:p>
        </p:txBody>
      </p:sp>
      <p:sp>
        <p:nvSpPr>
          <p:cNvPr id="81000" name="Line 104"/>
          <p:cNvSpPr>
            <a:spLocks noChangeShapeType="1"/>
          </p:cNvSpPr>
          <p:nvPr/>
        </p:nvSpPr>
        <p:spPr bwMode="auto">
          <a:xfrm flipV="1">
            <a:off x="5565775" y="2940050"/>
            <a:ext cx="296863" cy="193675"/>
          </a:xfrm>
          <a:prstGeom prst="line">
            <a:avLst/>
          </a:prstGeom>
          <a:noFill/>
          <a:ln w="38100">
            <a:solidFill>
              <a:schemeClr val="tx1"/>
            </a:solidFill>
            <a:round/>
            <a:headEnd/>
            <a:tailEnd/>
          </a:ln>
          <a:effectLst/>
        </p:spPr>
        <p:txBody>
          <a:bodyPr wrap="none" anchor="ctr"/>
          <a:lstStyle/>
          <a:p>
            <a:endParaRPr lang="fr-FR"/>
          </a:p>
        </p:txBody>
      </p:sp>
      <p:sp>
        <p:nvSpPr>
          <p:cNvPr id="81001" name="Text Box 105"/>
          <p:cNvSpPr txBox="1">
            <a:spLocks noChangeArrowheads="1"/>
          </p:cNvSpPr>
          <p:nvPr/>
        </p:nvSpPr>
        <p:spPr bwMode="auto">
          <a:xfrm rot="-1775907">
            <a:off x="2055813" y="3878263"/>
            <a:ext cx="1738312" cy="504825"/>
          </a:xfrm>
          <a:prstGeom prst="rect">
            <a:avLst/>
          </a:prstGeom>
          <a:noFill/>
          <a:ln w="9525">
            <a:noFill/>
            <a:miter lim="800000"/>
            <a:headEnd/>
            <a:tailEnd/>
          </a:ln>
          <a:effectLst>
            <a:outerShdw dist="17961" dir="8100000" algn="ctr" rotWithShape="0">
              <a:srgbClr val="5F5F5F"/>
            </a:outerShdw>
          </a:effectLst>
        </p:spPr>
        <p:txBody>
          <a:bodyPr wrap="none">
            <a:spAutoFit/>
          </a:bodyPr>
          <a:lstStyle/>
          <a:p>
            <a:pPr algn="ctr">
              <a:lnSpc>
                <a:spcPct val="80000"/>
              </a:lnSpc>
            </a:pPr>
            <a:r>
              <a:rPr lang="en-US" sz="1700" b="1">
                <a:solidFill>
                  <a:srgbClr val="FFFFCC"/>
                </a:solidFill>
                <a:latin typeface="Arial" charset="0"/>
              </a:rPr>
              <a:t>Protocoles </a:t>
            </a:r>
            <a:br>
              <a:rPr lang="en-US" sz="1700" b="1">
                <a:solidFill>
                  <a:srgbClr val="FFFFCC"/>
                </a:solidFill>
                <a:latin typeface="Arial" charset="0"/>
              </a:rPr>
            </a:br>
            <a:r>
              <a:rPr lang="en-US" sz="1700" b="1">
                <a:solidFill>
                  <a:srgbClr val="FFFFCC"/>
                </a:solidFill>
                <a:latin typeface="Arial" charset="0"/>
              </a:rPr>
              <a:t>d'accès distant</a:t>
            </a:r>
          </a:p>
        </p:txBody>
      </p:sp>
      <p:grpSp>
        <p:nvGrpSpPr>
          <p:cNvPr id="81002" name="Group 106"/>
          <p:cNvGrpSpPr>
            <a:grpSpLocks/>
          </p:cNvGrpSpPr>
          <p:nvPr/>
        </p:nvGrpSpPr>
        <p:grpSpPr bwMode="auto">
          <a:xfrm>
            <a:off x="4187825" y="2816225"/>
            <a:ext cx="838200" cy="630238"/>
            <a:chOff x="1491" y="3068"/>
            <a:chExt cx="748" cy="562"/>
          </a:xfrm>
        </p:grpSpPr>
        <p:grpSp>
          <p:nvGrpSpPr>
            <p:cNvPr id="81003" name="Group 107"/>
            <p:cNvGrpSpPr>
              <a:grpSpLocks/>
            </p:cNvGrpSpPr>
            <p:nvPr/>
          </p:nvGrpSpPr>
          <p:grpSpPr bwMode="auto">
            <a:xfrm>
              <a:off x="1491" y="3348"/>
              <a:ext cx="643" cy="282"/>
              <a:chOff x="1491" y="3348"/>
              <a:chExt cx="643" cy="282"/>
            </a:xfrm>
          </p:grpSpPr>
          <p:sp>
            <p:nvSpPr>
              <p:cNvPr id="81004" name="Freeform 108"/>
              <p:cNvSpPr>
                <a:spLocks/>
              </p:cNvSpPr>
              <p:nvPr/>
            </p:nvSpPr>
            <p:spPr bwMode="auto">
              <a:xfrm>
                <a:off x="1844" y="3402"/>
                <a:ext cx="290" cy="226"/>
              </a:xfrm>
              <a:custGeom>
                <a:avLst/>
                <a:gdLst/>
                <a:ahLst/>
                <a:cxnLst>
                  <a:cxn ang="0">
                    <a:pos x="0" y="123"/>
                  </a:cxn>
                  <a:cxn ang="0">
                    <a:pos x="290" y="0"/>
                  </a:cxn>
                  <a:cxn ang="0">
                    <a:pos x="290" y="98"/>
                  </a:cxn>
                  <a:cxn ang="0">
                    <a:pos x="0" y="226"/>
                  </a:cxn>
                  <a:cxn ang="0">
                    <a:pos x="0" y="123"/>
                  </a:cxn>
                </a:cxnLst>
                <a:rect l="0" t="0" r="r" b="b"/>
                <a:pathLst>
                  <a:path w="290" h="226">
                    <a:moveTo>
                      <a:pt x="0" y="123"/>
                    </a:moveTo>
                    <a:lnTo>
                      <a:pt x="290" y="0"/>
                    </a:lnTo>
                    <a:lnTo>
                      <a:pt x="290" y="98"/>
                    </a:lnTo>
                    <a:lnTo>
                      <a:pt x="0" y="226"/>
                    </a:lnTo>
                    <a:lnTo>
                      <a:pt x="0" y="123"/>
                    </a:lnTo>
                  </a:path>
                </a:pathLst>
              </a:custGeom>
              <a:gradFill rotWithShape="0">
                <a:gsLst>
                  <a:gs pos="0">
                    <a:srgbClr val="919191">
                      <a:gamma/>
                      <a:tint val="22745"/>
                      <a:invGamma/>
                    </a:srgbClr>
                  </a:gs>
                  <a:gs pos="100000">
                    <a:srgbClr val="919191"/>
                  </a:gs>
                </a:gsLst>
                <a:lin ang="18900000" scaled="1"/>
              </a:gradFill>
              <a:ln w="6350" cap="rnd" cmpd="sng">
                <a:solidFill>
                  <a:srgbClr val="333333"/>
                </a:solidFill>
                <a:prstDash val="solid"/>
                <a:miter lim="800000"/>
                <a:headEnd type="none" w="med" len="med"/>
                <a:tailEnd type="none" w="med" len="med"/>
              </a:ln>
              <a:effectLst/>
            </p:spPr>
            <p:txBody>
              <a:bodyPr/>
              <a:lstStyle/>
              <a:p>
                <a:endParaRPr lang="fr-FR"/>
              </a:p>
            </p:txBody>
          </p:sp>
          <p:sp>
            <p:nvSpPr>
              <p:cNvPr id="81005" name="Freeform 109"/>
              <p:cNvSpPr>
                <a:spLocks/>
              </p:cNvSpPr>
              <p:nvPr/>
            </p:nvSpPr>
            <p:spPr bwMode="auto">
              <a:xfrm>
                <a:off x="1491" y="3449"/>
                <a:ext cx="355" cy="181"/>
              </a:xfrm>
              <a:custGeom>
                <a:avLst/>
                <a:gdLst/>
                <a:ahLst/>
                <a:cxnLst>
                  <a:cxn ang="0">
                    <a:pos x="355" y="77"/>
                  </a:cxn>
                  <a:cxn ang="0">
                    <a:pos x="355" y="181"/>
                  </a:cxn>
                  <a:cxn ang="0">
                    <a:pos x="0" y="94"/>
                  </a:cxn>
                  <a:cxn ang="0">
                    <a:pos x="0" y="0"/>
                  </a:cxn>
                </a:cxnLst>
                <a:rect l="0" t="0" r="r" b="b"/>
                <a:pathLst>
                  <a:path w="355" h="181">
                    <a:moveTo>
                      <a:pt x="355" y="77"/>
                    </a:moveTo>
                    <a:lnTo>
                      <a:pt x="355" y="181"/>
                    </a:lnTo>
                    <a:lnTo>
                      <a:pt x="0" y="94"/>
                    </a:lnTo>
                    <a:lnTo>
                      <a:pt x="0" y="0"/>
                    </a:lnTo>
                  </a:path>
                </a:pathLst>
              </a:custGeom>
              <a:gradFill rotWithShape="0">
                <a:gsLst>
                  <a:gs pos="0">
                    <a:srgbClr val="919191">
                      <a:gamma/>
                      <a:tint val="22745"/>
                      <a:invGamma/>
                    </a:srgbClr>
                  </a:gs>
                  <a:gs pos="100000">
                    <a:srgbClr val="919191"/>
                  </a:gs>
                </a:gsLst>
                <a:lin ang="18900000" scaled="1"/>
              </a:gradFill>
              <a:ln w="6350" cap="rnd" cmpd="sng">
                <a:solidFill>
                  <a:srgbClr val="333333"/>
                </a:solidFill>
                <a:prstDash val="solid"/>
                <a:miter lim="800000"/>
                <a:headEnd type="none" w="med" len="med"/>
                <a:tailEnd type="none" w="med" len="med"/>
              </a:ln>
              <a:effectLst/>
            </p:spPr>
            <p:txBody>
              <a:bodyPr/>
              <a:lstStyle/>
              <a:p>
                <a:endParaRPr lang="fr-FR"/>
              </a:p>
            </p:txBody>
          </p:sp>
          <p:sp>
            <p:nvSpPr>
              <p:cNvPr id="81006" name="Oval 110"/>
              <p:cNvSpPr>
                <a:spLocks noChangeArrowheads="1"/>
              </p:cNvSpPr>
              <p:nvPr/>
            </p:nvSpPr>
            <p:spPr bwMode="auto">
              <a:xfrm>
                <a:off x="1592" y="3506"/>
                <a:ext cx="40" cy="40"/>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81007" name="Oval 111"/>
              <p:cNvSpPr>
                <a:spLocks noChangeArrowheads="1"/>
              </p:cNvSpPr>
              <p:nvPr/>
            </p:nvSpPr>
            <p:spPr bwMode="auto">
              <a:xfrm>
                <a:off x="1650" y="3523"/>
                <a:ext cx="40" cy="39"/>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81008" name="Oval 112"/>
              <p:cNvSpPr>
                <a:spLocks noChangeArrowheads="1"/>
              </p:cNvSpPr>
              <p:nvPr/>
            </p:nvSpPr>
            <p:spPr bwMode="auto">
              <a:xfrm>
                <a:off x="1712" y="3536"/>
                <a:ext cx="40" cy="40"/>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81009" name="Oval 113"/>
              <p:cNvSpPr>
                <a:spLocks noChangeArrowheads="1"/>
              </p:cNvSpPr>
              <p:nvPr/>
            </p:nvSpPr>
            <p:spPr bwMode="auto">
              <a:xfrm>
                <a:off x="1769" y="3555"/>
                <a:ext cx="40" cy="39"/>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81010" name="Freeform 114"/>
              <p:cNvSpPr>
                <a:spLocks/>
              </p:cNvSpPr>
              <p:nvPr/>
            </p:nvSpPr>
            <p:spPr bwMode="auto">
              <a:xfrm>
                <a:off x="1496" y="3348"/>
                <a:ext cx="636" cy="180"/>
              </a:xfrm>
              <a:custGeom>
                <a:avLst/>
                <a:gdLst/>
                <a:ahLst/>
                <a:cxnLst>
                  <a:cxn ang="0">
                    <a:pos x="0" y="102"/>
                  </a:cxn>
                  <a:cxn ang="0">
                    <a:pos x="252" y="0"/>
                  </a:cxn>
                  <a:cxn ang="0">
                    <a:pos x="636" y="54"/>
                  </a:cxn>
                  <a:cxn ang="0">
                    <a:pos x="344" y="180"/>
                  </a:cxn>
                  <a:cxn ang="0">
                    <a:pos x="1" y="102"/>
                  </a:cxn>
                </a:cxnLst>
                <a:rect l="0" t="0" r="r" b="b"/>
                <a:pathLst>
                  <a:path w="636" h="180">
                    <a:moveTo>
                      <a:pt x="0" y="102"/>
                    </a:moveTo>
                    <a:lnTo>
                      <a:pt x="252" y="0"/>
                    </a:lnTo>
                    <a:lnTo>
                      <a:pt x="636" y="54"/>
                    </a:lnTo>
                    <a:lnTo>
                      <a:pt x="344" y="180"/>
                    </a:lnTo>
                    <a:lnTo>
                      <a:pt x="1" y="102"/>
                    </a:lnTo>
                  </a:path>
                </a:pathLst>
              </a:custGeom>
              <a:solidFill>
                <a:srgbClr val="808080"/>
              </a:solidFill>
              <a:ln w="6350" cap="rnd" cmpd="sng">
                <a:solidFill>
                  <a:srgbClr val="333333"/>
                </a:solidFill>
                <a:prstDash val="solid"/>
                <a:miter lim="800000"/>
                <a:headEnd type="none" w="med" len="med"/>
                <a:tailEnd type="none" w="med" len="med"/>
              </a:ln>
              <a:effectLst/>
            </p:spPr>
            <p:txBody>
              <a:bodyPr/>
              <a:lstStyle/>
              <a:p>
                <a:endParaRPr lang="fr-FR"/>
              </a:p>
            </p:txBody>
          </p:sp>
        </p:grpSp>
        <p:grpSp>
          <p:nvGrpSpPr>
            <p:cNvPr id="81011" name="Group 115"/>
            <p:cNvGrpSpPr>
              <a:grpSpLocks/>
            </p:cNvGrpSpPr>
            <p:nvPr/>
          </p:nvGrpSpPr>
          <p:grpSpPr bwMode="auto">
            <a:xfrm>
              <a:off x="1503" y="3068"/>
              <a:ext cx="736" cy="456"/>
              <a:chOff x="2036" y="1670"/>
              <a:chExt cx="852" cy="504"/>
            </a:xfrm>
          </p:grpSpPr>
          <p:sp>
            <p:nvSpPr>
              <p:cNvPr id="81012" name="Freeform 116"/>
              <p:cNvSpPr>
                <a:spLocks/>
              </p:cNvSpPr>
              <p:nvPr/>
            </p:nvSpPr>
            <p:spPr bwMode="auto">
              <a:xfrm>
                <a:off x="2036" y="1731"/>
                <a:ext cx="719" cy="443"/>
              </a:xfrm>
              <a:custGeom>
                <a:avLst/>
                <a:gdLst/>
                <a:ahLst/>
                <a:cxnLst>
                  <a:cxn ang="0">
                    <a:pos x="256" y="46"/>
                  </a:cxn>
                  <a:cxn ang="0">
                    <a:pos x="16" y="250"/>
                  </a:cxn>
                  <a:cxn ang="0">
                    <a:pos x="0" y="269"/>
                  </a:cxn>
                  <a:cxn ang="0">
                    <a:pos x="1" y="361"/>
                  </a:cxn>
                  <a:cxn ang="0">
                    <a:pos x="366" y="443"/>
                  </a:cxn>
                  <a:cxn ang="0">
                    <a:pos x="390" y="441"/>
                  </a:cxn>
                  <a:cxn ang="0">
                    <a:pos x="716" y="308"/>
                  </a:cxn>
                  <a:cxn ang="0">
                    <a:pos x="719" y="46"/>
                  </a:cxn>
                  <a:cxn ang="0">
                    <a:pos x="320" y="0"/>
                  </a:cxn>
                  <a:cxn ang="0">
                    <a:pos x="261" y="22"/>
                  </a:cxn>
                  <a:cxn ang="0">
                    <a:pos x="256" y="46"/>
                  </a:cxn>
                </a:cxnLst>
                <a:rect l="0" t="0" r="r" b="b"/>
                <a:pathLst>
                  <a:path w="719" h="443">
                    <a:moveTo>
                      <a:pt x="256" y="46"/>
                    </a:moveTo>
                    <a:lnTo>
                      <a:pt x="16" y="250"/>
                    </a:lnTo>
                    <a:lnTo>
                      <a:pt x="0" y="269"/>
                    </a:lnTo>
                    <a:lnTo>
                      <a:pt x="1" y="361"/>
                    </a:lnTo>
                    <a:lnTo>
                      <a:pt x="366" y="443"/>
                    </a:lnTo>
                    <a:lnTo>
                      <a:pt x="390" y="441"/>
                    </a:lnTo>
                    <a:lnTo>
                      <a:pt x="716" y="308"/>
                    </a:lnTo>
                    <a:lnTo>
                      <a:pt x="719" y="46"/>
                    </a:lnTo>
                    <a:lnTo>
                      <a:pt x="320" y="0"/>
                    </a:lnTo>
                    <a:lnTo>
                      <a:pt x="261" y="22"/>
                    </a:lnTo>
                    <a:lnTo>
                      <a:pt x="256" y="46"/>
                    </a:lnTo>
                  </a:path>
                </a:pathLst>
              </a:custGeom>
              <a:solidFill>
                <a:srgbClr val="FCFEB9"/>
              </a:solidFill>
              <a:ln w="6350" cap="rnd" cmpd="sng">
                <a:solidFill>
                  <a:schemeClr val="tx1"/>
                </a:solidFill>
                <a:prstDash val="solid"/>
                <a:round/>
                <a:headEnd type="none" w="med" len="med"/>
                <a:tailEnd type="none" w="med" len="med"/>
              </a:ln>
              <a:effectLst/>
            </p:spPr>
            <p:txBody>
              <a:bodyPr/>
              <a:lstStyle/>
              <a:p>
                <a:endParaRPr lang="fr-FR"/>
              </a:p>
            </p:txBody>
          </p:sp>
          <p:sp>
            <p:nvSpPr>
              <p:cNvPr id="81013" name="Freeform 117"/>
              <p:cNvSpPr>
                <a:spLocks/>
              </p:cNvSpPr>
              <p:nvPr/>
            </p:nvSpPr>
            <p:spPr bwMode="auto">
              <a:xfrm rot="65756">
                <a:off x="2299" y="1735"/>
                <a:ext cx="453" cy="87"/>
              </a:xfrm>
              <a:custGeom>
                <a:avLst/>
                <a:gdLst/>
                <a:ahLst/>
                <a:cxnLst>
                  <a:cxn ang="0">
                    <a:pos x="0" y="29"/>
                  </a:cxn>
                  <a:cxn ang="0">
                    <a:pos x="66" y="0"/>
                  </a:cxn>
                  <a:cxn ang="0">
                    <a:pos x="514" y="50"/>
                  </a:cxn>
                  <a:cxn ang="0">
                    <a:pos x="435" y="107"/>
                  </a:cxn>
                  <a:cxn ang="0">
                    <a:pos x="435" y="86"/>
                  </a:cxn>
                  <a:cxn ang="0">
                    <a:pos x="374" y="76"/>
                  </a:cxn>
                  <a:cxn ang="0">
                    <a:pos x="374" y="110"/>
                  </a:cxn>
                  <a:cxn ang="0">
                    <a:pos x="53" y="68"/>
                  </a:cxn>
                  <a:cxn ang="0">
                    <a:pos x="53" y="29"/>
                  </a:cxn>
                  <a:cxn ang="0">
                    <a:pos x="0" y="29"/>
                  </a:cxn>
                </a:cxnLst>
                <a:rect l="0" t="0" r="r" b="b"/>
                <a:pathLst>
                  <a:path w="515" h="111">
                    <a:moveTo>
                      <a:pt x="0" y="29"/>
                    </a:moveTo>
                    <a:lnTo>
                      <a:pt x="66" y="0"/>
                    </a:lnTo>
                    <a:lnTo>
                      <a:pt x="514" y="50"/>
                    </a:lnTo>
                    <a:lnTo>
                      <a:pt x="435" y="107"/>
                    </a:lnTo>
                    <a:lnTo>
                      <a:pt x="435" y="86"/>
                    </a:lnTo>
                    <a:lnTo>
                      <a:pt x="374" y="76"/>
                    </a:lnTo>
                    <a:lnTo>
                      <a:pt x="374" y="110"/>
                    </a:lnTo>
                    <a:lnTo>
                      <a:pt x="53" y="68"/>
                    </a:lnTo>
                    <a:lnTo>
                      <a:pt x="53" y="29"/>
                    </a:lnTo>
                    <a:lnTo>
                      <a:pt x="0" y="29"/>
                    </a:lnTo>
                  </a:path>
                </a:pathLst>
              </a:custGeom>
              <a:solidFill>
                <a:schemeClr val="tx1"/>
              </a:solidFill>
              <a:ln w="12700" cap="rnd" cmpd="sng">
                <a:solidFill>
                  <a:schemeClr val="tx1"/>
                </a:solidFill>
                <a:prstDash val="solid"/>
                <a:round/>
                <a:headEnd type="none" w="med" len="med"/>
                <a:tailEnd type="none" w="med" len="med"/>
              </a:ln>
              <a:effectLst/>
            </p:spPr>
            <p:txBody>
              <a:bodyPr/>
              <a:lstStyle/>
              <a:p>
                <a:endParaRPr lang="fr-FR"/>
              </a:p>
            </p:txBody>
          </p:sp>
          <p:sp>
            <p:nvSpPr>
              <p:cNvPr id="81014" name="Freeform 118"/>
              <p:cNvSpPr>
                <a:spLocks/>
              </p:cNvSpPr>
              <p:nvPr/>
            </p:nvSpPr>
            <p:spPr bwMode="auto">
              <a:xfrm rot="65756">
                <a:off x="2413" y="1783"/>
                <a:ext cx="330" cy="379"/>
              </a:xfrm>
              <a:custGeom>
                <a:avLst/>
                <a:gdLst/>
                <a:ahLst/>
                <a:cxnLst>
                  <a:cxn ang="0">
                    <a:pos x="0" y="391"/>
                  </a:cxn>
                  <a:cxn ang="0">
                    <a:pos x="0" y="473"/>
                  </a:cxn>
                  <a:cxn ang="0">
                    <a:pos x="14" y="481"/>
                  </a:cxn>
                  <a:cxn ang="0">
                    <a:pos x="372" y="318"/>
                  </a:cxn>
                  <a:cxn ang="0">
                    <a:pos x="374" y="0"/>
                  </a:cxn>
                  <a:cxn ang="0">
                    <a:pos x="295" y="32"/>
                  </a:cxn>
                  <a:cxn ang="0">
                    <a:pos x="295" y="71"/>
                  </a:cxn>
                </a:cxnLst>
                <a:rect l="0" t="0" r="r" b="b"/>
                <a:pathLst>
                  <a:path w="375" h="482">
                    <a:moveTo>
                      <a:pt x="0" y="391"/>
                    </a:moveTo>
                    <a:lnTo>
                      <a:pt x="0" y="473"/>
                    </a:lnTo>
                    <a:lnTo>
                      <a:pt x="14" y="481"/>
                    </a:lnTo>
                    <a:lnTo>
                      <a:pt x="372" y="318"/>
                    </a:lnTo>
                    <a:lnTo>
                      <a:pt x="374" y="0"/>
                    </a:lnTo>
                    <a:lnTo>
                      <a:pt x="295" y="32"/>
                    </a:lnTo>
                    <a:lnTo>
                      <a:pt x="295" y="71"/>
                    </a:lnTo>
                  </a:path>
                </a:pathLst>
              </a:custGeom>
              <a:solidFill>
                <a:srgbClr val="EAEC5E"/>
              </a:solidFill>
              <a:ln w="12700" cap="rnd" cmpd="sng">
                <a:noFill/>
                <a:prstDash val="solid"/>
                <a:round/>
                <a:headEnd type="none" w="med" len="med"/>
                <a:tailEnd type="none" w="med" len="med"/>
              </a:ln>
              <a:effectLst/>
            </p:spPr>
            <p:txBody>
              <a:bodyPr/>
              <a:lstStyle/>
              <a:p>
                <a:endParaRPr lang="fr-FR"/>
              </a:p>
            </p:txBody>
          </p:sp>
          <p:grpSp>
            <p:nvGrpSpPr>
              <p:cNvPr id="81015" name="Group 119"/>
              <p:cNvGrpSpPr>
                <a:grpSpLocks/>
              </p:cNvGrpSpPr>
              <p:nvPr/>
            </p:nvGrpSpPr>
            <p:grpSpPr bwMode="auto">
              <a:xfrm rot="65756">
                <a:off x="2178" y="1841"/>
                <a:ext cx="325" cy="164"/>
                <a:chOff x="2004" y="2425"/>
                <a:chExt cx="370" cy="208"/>
              </a:xfrm>
            </p:grpSpPr>
            <p:sp>
              <p:nvSpPr>
                <p:cNvPr id="81016" name="Freeform 120"/>
                <p:cNvSpPr>
                  <a:spLocks/>
                </p:cNvSpPr>
                <p:nvPr/>
              </p:nvSpPr>
              <p:spPr bwMode="auto">
                <a:xfrm>
                  <a:off x="2004" y="2425"/>
                  <a:ext cx="370" cy="208"/>
                </a:xfrm>
                <a:custGeom>
                  <a:avLst/>
                  <a:gdLst/>
                  <a:ahLst/>
                  <a:cxnLst>
                    <a:cxn ang="0">
                      <a:pos x="175" y="0"/>
                    </a:cxn>
                    <a:cxn ang="0">
                      <a:pos x="0" y="175"/>
                    </a:cxn>
                    <a:cxn ang="0">
                      <a:pos x="199" y="207"/>
                    </a:cxn>
                    <a:cxn ang="0">
                      <a:pos x="369" y="26"/>
                    </a:cxn>
                    <a:cxn ang="0">
                      <a:pos x="175" y="0"/>
                    </a:cxn>
                  </a:cxnLst>
                  <a:rect l="0" t="0" r="r" b="b"/>
                  <a:pathLst>
                    <a:path w="370" h="208">
                      <a:moveTo>
                        <a:pt x="175" y="0"/>
                      </a:moveTo>
                      <a:lnTo>
                        <a:pt x="0" y="175"/>
                      </a:lnTo>
                      <a:lnTo>
                        <a:pt x="199" y="207"/>
                      </a:lnTo>
                      <a:lnTo>
                        <a:pt x="369" y="26"/>
                      </a:lnTo>
                      <a:lnTo>
                        <a:pt x="175" y="0"/>
                      </a:lnTo>
                    </a:path>
                  </a:pathLst>
                </a:custGeom>
                <a:solidFill>
                  <a:srgbClr val="B3B900"/>
                </a:solidFill>
                <a:ln w="12700" cap="rnd" cmpd="sng">
                  <a:noFill/>
                  <a:prstDash val="solid"/>
                  <a:round/>
                  <a:headEnd type="none" w="med" len="med"/>
                  <a:tailEnd type="none" w="med" len="med"/>
                </a:ln>
                <a:effectLst/>
              </p:spPr>
              <p:txBody>
                <a:bodyPr/>
                <a:lstStyle/>
                <a:p>
                  <a:endParaRPr lang="fr-FR"/>
                </a:p>
              </p:txBody>
            </p:sp>
            <p:sp>
              <p:nvSpPr>
                <p:cNvPr id="81017" name="Freeform 121"/>
                <p:cNvSpPr>
                  <a:spLocks/>
                </p:cNvSpPr>
                <p:nvPr/>
              </p:nvSpPr>
              <p:spPr bwMode="auto">
                <a:xfrm>
                  <a:off x="2162" y="2437"/>
                  <a:ext cx="60" cy="32"/>
                </a:xfrm>
                <a:custGeom>
                  <a:avLst/>
                  <a:gdLst/>
                  <a:ahLst/>
                  <a:cxnLst>
                    <a:cxn ang="0">
                      <a:pos x="26" y="0"/>
                    </a:cxn>
                    <a:cxn ang="0">
                      <a:pos x="0" y="25"/>
                    </a:cxn>
                    <a:cxn ang="0">
                      <a:pos x="33" y="31"/>
                    </a:cxn>
                    <a:cxn ang="0">
                      <a:pos x="59" y="4"/>
                    </a:cxn>
                    <a:cxn ang="0">
                      <a:pos x="26" y="0"/>
                    </a:cxn>
                  </a:cxnLst>
                  <a:rect l="0" t="0" r="r" b="b"/>
                  <a:pathLst>
                    <a:path w="60" h="32">
                      <a:moveTo>
                        <a:pt x="26" y="0"/>
                      </a:moveTo>
                      <a:lnTo>
                        <a:pt x="0" y="25"/>
                      </a:lnTo>
                      <a:lnTo>
                        <a:pt x="33" y="31"/>
                      </a:lnTo>
                      <a:lnTo>
                        <a:pt x="59" y="4"/>
                      </a:lnTo>
                      <a:lnTo>
                        <a:pt x="26" y="0"/>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81018" name="Freeform 122"/>
                <p:cNvSpPr>
                  <a:spLocks/>
                </p:cNvSpPr>
                <p:nvPr/>
              </p:nvSpPr>
              <p:spPr bwMode="auto">
                <a:xfrm>
                  <a:off x="2285" y="2454"/>
                  <a:ext cx="59" cy="33"/>
                </a:xfrm>
                <a:custGeom>
                  <a:avLst/>
                  <a:gdLst/>
                  <a:ahLst/>
                  <a:cxnLst>
                    <a:cxn ang="0">
                      <a:pos x="25" y="0"/>
                    </a:cxn>
                    <a:cxn ang="0">
                      <a:pos x="0" y="26"/>
                    </a:cxn>
                    <a:cxn ang="0">
                      <a:pos x="33" y="32"/>
                    </a:cxn>
                    <a:cxn ang="0">
                      <a:pos x="58" y="4"/>
                    </a:cxn>
                    <a:cxn ang="0">
                      <a:pos x="25" y="0"/>
                    </a:cxn>
                  </a:cxnLst>
                  <a:rect l="0" t="0" r="r" b="b"/>
                  <a:pathLst>
                    <a:path w="59" h="33">
                      <a:moveTo>
                        <a:pt x="25" y="0"/>
                      </a:moveTo>
                      <a:lnTo>
                        <a:pt x="0" y="26"/>
                      </a:lnTo>
                      <a:lnTo>
                        <a:pt x="33" y="32"/>
                      </a:lnTo>
                      <a:lnTo>
                        <a:pt x="58" y="4"/>
                      </a:lnTo>
                      <a:lnTo>
                        <a:pt x="25" y="0"/>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81019" name="Freeform 123"/>
                <p:cNvSpPr>
                  <a:spLocks/>
                </p:cNvSpPr>
                <p:nvPr/>
              </p:nvSpPr>
              <p:spPr bwMode="auto">
                <a:xfrm>
                  <a:off x="2222" y="2446"/>
                  <a:ext cx="60" cy="32"/>
                </a:xfrm>
                <a:custGeom>
                  <a:avLst/>
                  <a:gdLst/>
                  <a:ahLst/>
                  <a:cxnLst>
                    <a:cxn ang="0">
                      <a:pos x="26" y="0"/>
                    </a:cxn>
                    <a:cxn ang="0">
                      <a:pos x="0" y="25"/>
                    </a:cxn>
                    <a:cxn ang="0">
                      <a:pos x="33" y="31"/>
                    </a:cxn>
                    <a:cxn ang="0">
                      <a:pos x="59" y="4"/>
                    </a:cxn>
                    <a:cxn ang="0">
                      <a:pos x="26" y="0"/>
                    </a:cxn>
                  </a:cxnLst>
                  <a:rect l="0" t="0" r="r" b="b"/>
                  <a:pathLst>
                    <a:path w="60" h="32">
                      <a:moveTo>
                        <a:pt x="26" y="0"/>
                      </a:moveTo>
                      <a:lnTo>
                        <a:pt x="0" y="25"/>
                      </a:lnTo>
                      <a:lnTo>
                        <a:pt x="33" y="31"/>
                      </a:lnTo>
                      <a:lnTo>
                        <a:pt x="59" y="4"/>
                      </a:lnTo>
                      <a:lnTo>
                        <a:pt x="26" y="0"/>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81020" name="Freeform 124"/>
                <p:cNvSpPr>
                  <a:spLocks/>
                </p:cNvSpPr>
                <p:nvPr/>
              </p:nvSpPr>
              <p:spPr bwMode="auto">
                <a:xfrm>
                  <a:off x="2120" y="2479"/>
                  <a:ext cx="60" cy="34"/>
                </a:xfrm>
                <a:custGeom>
                  <a:avLst/>
                  <a:gdLst/>
                  <a:ahLst/>
                  <a:cxnLst>
                    <a:cxn ang="0">
                      <a:pos x="26" y="0"/>
                    </a:cxn>
                    <a:cxn ang="0">
                      <a:pos x="0" y="27"/>
                    </a:cxn>
                    <a:cxn ang="0">
                      <a:pos x="33" y="33"/>
                    </a:cxn>
                    <a:cxn ang="0">
                      <a:pos x="59" y="5"/>
                    </a:cxn>
                    <a:cxn ang="0">
                      <a:pos x="26" y="0"/>
                    </a:cxn>
                  </a:cxnLst>
                  <a:rect l="0" t="0" r="r" b="b"/>
                  <a:pathLst>
                    <a:path w="60" h="34">
                      <a:moveTo>
                        <a:pt x="26" y="0"/>
                      </a:moveTo>
                      <a:lnTo>
                        <a:pt x="0" y="27"/>
                      </a:lnTo>
                      <a:lnTo>
                        <a:pt x="33" y="33"/>
                      </a:lnTo>
                      <a:lnTo>
                        <a:pt x="59" y="5"/>
                      </a:lnTo>
                      <a:lnTo>
                        <a:pt x="26" y="0"/>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81021" name="Freeform 125"/>
                <p:cNvSpPr>
                  <a:spLocks/>
                </p:cNvSpPr>
                <p:nvPr/>
              </p:nvSpPr>
              <p:spPr bwMode="auto">
                <a:xfrm>
                  <a:off x="2242" y="2497"/>
                  <a:ext cx="61" cy="34"/>
                </a:xfrm>
                <a:custGeom>
                  <a:avLst/>
                  <a:gdLst/>
                  <a:ahLst/>
                  <a:cxnLst>
                    <a:cxn ang="0">
                      <a:pos x="26" y="0"/>
                    </a:cxn>
                    <a:cxn ang="0">
                      <a:pos x="0" y="27"/>
                    </a:cxn>
                    <a:cxn ang="0">
                      <a:pos x="34" y="33"/>
                    </a:cxn>
                    <a:cxn ang="0">
                      <a:pos x="60" y="5"/>
                    </a:cxn>
                    <a:cxn ang="0">
                      <a:pos x="26" y="0"/>
                    </a:cxn>
                  </a:cxnLst>
                  <a:rect l="0" t="0" r="r" b="b"/>
                  <a:pathLst>
                    <a:path w="61" h="34">
                      <a:moveTo>
                        <a:pt x="26" y="0"/>
                      </a:moveTo>
                      <a:lnTo>
                        <a:pt x="0" y="27"/>
                      </a:lnTo>
                      <a:lnTo>
                        <a:pt x="34" y="33"/>
                      </a:lnTo>
                      <a:lnTo>
                        <a:pt x="60" y="5"/>
                      </a:lnTo>
                      <a:lnTo>
                        <a:pt x="26" y="0"/>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81022" name="Freeform 126"/>
                <p:cNvSpPr>
                  <a:spLocks/>
                </p:cNvSpPr>
                <p:nvPr/>
              </p:nvSpPr>
              <p:spPr bwMode="auto">
                <a:xfrm>
                  <a:off x="2181" y="2488"/>
                  <a:ext cx="59" cy="33"/>
                </a:xfrm>
                <a:custGeom>
                  <a:avLst/>
                  <a:gdLst/>
                  <a:ahLst/>
                  <a:cxnLst>
                    <a:cxn ang="0">
                      <a:pos x="25" y="0"/>
                    </a:cxn>
                    <a:cxn ang="0">
                      <a:pos x="0" y="26"/>
                    </a:cxn>
                    <a:cxn ang="0">
                      <a:pos x="33" y="32"/>
                    </a:cxn>
                    <a:cxn ang="0">
                      <a:pos x="58" y="4"/>
                    </a:cxn>
                    <a:cxn ang="0">
                      <a:pos x="25" y="0"/>
                    </a:cxn>
                  </a:cxnLst>
                  <a:rect l="0" t="0" r="r" b="b"/>
                  <a:pathLst>
                    <a:path w="59" h="33">
                      <a:moveTo>
                        <a:pt x="25" y="0"/>
                      </a:moveTo>
                      <a:lnTo>
                        <a:pt x="0" y="26"/>
                      </a:lnTo>
                      <a:lnTo>
                        <a:pt x="33" y="32"/>
                      </a:lnTo>
                      <a:lnTo>
                        <a:pt x="58" y="4"/>
                      </a:lnTo>
                      <a:lnTo>
                        <a:pt x="25" y="0"/>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81023" name="Freeform 127"/>
                <p:cNvSpPr>
                  <a:spLocks/>
                </p:cNvSpPr>
                <p:nvPr/>
              </p:nvSpPr>
              <p:spPr bwMode="auto">
                <a:xfrm>
                  <a:off x="2081" y="2522"/>
                  <a:ext cx="60" cy="33"/>
                </a:xfrm>
                <a:custGeom>
                  <a:avLst/>
                  <a:gdLst/>
                  <a:ahLst/>
                  <a:cxnLst>
                    <a:cxn ang="0">
                      <a:pos x="26" y="0"/>
                    </a:cxn>
                    <a:cxn ang="0">
                      <a:pos x="0" y="26"/>
                    </a:cxn>
                    <a:cxn ang="0">
                      <a:pos x="33" y="32"/>
                    </a:cxn>
                    <a:cxn ang="0">
                      <a:pos x="59" y="4"/>
                    </a:cxn>
                    <a:cxn ang="0">
                      <a:pos x="26" y="0"/>
                    </a:cxn>
                  </a:cxnLst>
                  <a:rect l="0" t="0" r="r" b="b"/>
                  <a:pathLst>
                    <a:path w="60" h="33">
                      <a:moveTo>
                        <a:pt x="26" y="0"/>
                      </a:moveTo>
                      <a:lnTo>
                        <a:pt x="0" y="26"/>
                      </a:lnTo>
                      <a:lnTo>
                        <a:pt x="33" y="32"/>
                      </a:lnTo>
                      <a:lnTo>
                        <a:pt x="59" y="4"/>
                      </a:lnTo>
                      <a:lnTo>
                        <a:pt x="26" y="0"/>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81024" name="Freeform 128"/>
                <p:cNvSpPr>
                  <a:spLocks/>
                </p:cNvSpPr>
                <p:nvPr/>
              </p:nvSpPr>
              <p:spPr bwMode="auto">
                <a:xfrm>
                  <a:off x="2203" y="2540"/>
                  <a:ext cx="60" cy="32"/>
                </a:xfrm>
                <a:custGeom>
                  <a:avLst/>
                  <a:gdLst/>
                  <a:ahLst/>
                  <a:cxnLst>
                    <a:cxn ang="0">
                      <a:pos x="26" y="0"/>
                    </a:cxn>
                    <a:cxn ang="0">
                      <a:pos x="0" y="25"/>
                    </a:cxn>
                    <a:cxn ang="0">
                      <a:pos x="33" y="31"/>
                    </a:cxn>
                    <a:cxn ang="0">
                      <a:pos x="59" y="4"/>
                    </a:cxn>
                    <a:cxn ang="0">
                      <a:pos x="26" y="0"/>
                    </a:cxn>
                  </a:cxnLst>
                  <a:rect l="0" t="0" r="r" b="b"/>
                  <a:pathLst>
                    <a:path w="60" h="32">
                      <a:moveTo>
                        <a:pt x="26" y="0"/>
                      </a:moveTo>
                      <a:lnTo>
                        <a:pt x="0" y="25"/>
                      </a:lnTo>
                      <a:lnTo>
                        <a:pt x="33" y="31"/>
                      </a:lnTo>
                      <a:lnTo>
                        <a:pt x="59" y="4"/>
                      </a:lnTo>
                      <a:lnTo>
                        <a:pt x="26" y="0"/>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81025" name="Freeform 129"/>
                <p:cNvSpPr>
                  <a:spLocks/>
                </p:cNvSpPr>
                <p:nvPr/>
              </p:nvSpPr>
              <p:spPr bwMode="auto">
                <a:xfrm>
                  <a:off x="2141" y="2530"/>
                  <a:ext cx="59" cy="33"/>
                </a:xfrm>
                <a:custGeom>
                  <a:avLst/>
                  <a:gdLst/>
                  <a:ahLst/>
                  <a:cxnLst>
                    <a:cxn ang="0">
                      <a:pos x="25" y="0"/>
                    </a:cxn>
                    <a:cxn ang="0">
                      <a:pos x="0" y="26"/>
                    </a:cxn>
                    <a:cxn ang="0">
                      <a:pos x="33" y="32"/>
                    </a:cxn>
                    <a:cxn ang="0">
                      <a:pos x="58" y="4"/>
                    </a:cxn>
                    <a:cxn ang="0">
                      <a:pos x="25" y="0"/>
                    </a:cxn>
                  </a:cxnLst>
                  <a:rect l="0" t="0" r="r" b="b"/>
                  <a:pathLst>
                    <a:path w="59" h="33">
                      <a:moveTo>
                        <a:pt x="25" y="0"/>
                      </a:moveTo>
                      <a:lnTo>
                        <a:pt x="0" y="26"/>
                      </a:lnTo>
                      <a:lnTo>
                        <a:pt x="33" y="32"/>
                      </a:lnTo>
                      <a:lnTo>
                        <a:pt x="58" y="4"/>
                      </a:lnTo>
                      <a:lnTo>
                        <a:pt x="25" y="0"/>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81026" name="Freeform 130"/>
                <p:cNvSpPr>
                  <a:spLocks/>
                </p:cNvSpPr>
                <p:nvPr/>
              </p:nvSpPr>
              <p:spPr bwMode="auto">
                <a:xfrm>
                  <a:off x="2038" y="2563"/>
                  <a:ext cx="60" cy="33"/>
                </a:xfrm>
                <a:custGeom>
                  <a:avLst/>
                  <a:gdLst/>
                  <a:ahLst/>
                  <a:cxnLst>
                    <a:cxn ang="0">
                      <a:pos x="26" y="0"/>
                    </a:cxn>
                    <a:cxn ang="0">
                      <a:pos x="0" y="26"/>
                    </a:cxn>
                    <a:cxn ang="0">
                      <a:pos x="33" y="32"/>
                    </a:cxn>
                    <a:cxn ang="0">
                      <a:pos x="59" y="4"/>
                    </a:cxn>
                    <a:cxn ang="0">
                      <a:pos x="26" y="0"/>
                    </a:cxn>
                  </a:cxnLst>
                  <a:rect l="0" t="0" r="r" b="b"/>
                  <a:pathLst>
                    <a:path w="60" h="33">
                      <a:moveTo>
                        <a:pt x="26" y="0"/>
                      </a:moveTo>
                      <a:lnTo>
                        <a:pt x="0" y="26"/>
                      </a:lnTo>
                      <a:lnTo>
                        <a:pt x="33" y="32"/>
                      </a:lnTo>
                      <a:lnTo>
                        <a:pt x="59" y="4"/>
                      </a:lnTo>
                      <a:lnTo>
                        <a:pt x="26" y="0"/>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81027" name="Freeform 131"/>
                <p:cNvSpPr>
                  <a:spLocks/>
                </p:cNvSpPr>
                <p:nvPr/>
              </p:nvSpPr>
              <p:spPr bwMode="auto">
                <a:xfrm>
                  <a:off x="2162" y="2581"/>
                  <a:ext cx="59" cy="33"/>
                </a:xfrm>
                <a:custGeom>
                  <a:avLst/>
                  <a:gdLst/>
                  <a:ahLst/>
                  <a:cxnLst>
                    <a:cxn ang="0">
                      <a:pos x="25" y="0"/>
                    </a:cxn>
                    <a:cxn ang="0">
                      <a:pos x="0" y="26"/>
                    </a:cxn>
                    <a:cxn ang="0">
                      <a:pos x="33" y="32"/>
                    </a:cxn>
                    <a:cxn ang="0">
                      <a:pos x="58" y="4"/>
                    </a:cxn>
                    <a:cxn ang="0">
                      <a:pos x="25" y="0"/>
                    </a:cxn>
                  </a:cxnLst>
                  <a:rect l="0" t="0" r="r" b="b"/>
                  <a:pathLst>
                    <a:path w="59" h="33">
                      <a:moveTo>
                        <a:pt x="25" y="0"/>
                      </a:moveTo>
                      <a:lnTo>
                        <a:pt x="0" y="26"/>
                      </a:lnTo>
                      <a:lnTo>
                        <a:pt x="33" y="32"/>
                      </a:lnTo>
                      <a:lnTo>
                        <a:pt x="58" y="4"/>
                      </a:lnTo>
                      <a:lnTo>
                        <a:pt x="25" y="0"/>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81028" name="Freeform 132"/>
                <p:cNvSpPr>
                  <a:spLocks/>
                </p:cNvSpPr>
                <p:nvPr/>
              </p:nvSpPr>
              <p:spPr bwMode="auto">
                <a:xfrm>
                  <a:off x="2098" y="2572"/>
                  <a:ext cx="61" cy="33"/>
                </a:xfrm>
                <a:custGeom>
                  <a:avLst/>
                  <a:gdLst/>
                  <a:ahLst/>
                  <a:cxnLst>
                    <a:cxn ang="0">
                      <a:pos x="26" y="0"/>
                    </a:cxn>
                    <a:cxn ang="0">
                      <a:pos x="0" y="26"/>
                    </a:cxn>
                    <a:cxn ang="0">
                      <a:pos x="34" y="32"/>
                    </a:cxn>
                    <a:cxn ang="0">
                      <a:pos x="60" y="4"/>
                    </a:cxn>
                    <a:cxn ang="0">
                      <a:pos x="26" y="0"/>
                    </a:cxn>
                  </a:cxnLst>
                  <a:rect l="0" t="0" r="r" b="b"/>
                  <a:pathLst>
                    <a:path w="61" h="33">
                      <a:moveTo>
                        <a:pt x="26" y="0"/>
                      </a:moveTo>
                      <a:lnTo>
                        <a:pt x="0" y="26"/>
                      </a:lnTo>
                      <a:lnTo>
                        <a:pt x="34" y="32"/>
                      </a:lnTo>
                      <a:lnTo>
                        <a:pt x="60" y="4"/>
                      </a:lnTo>
                      <a:lnTo>
                        <a:pt x="26" y="0"/>
                      </a:lnTo>
                    </a:path>
                  </a:pathLst>
                </a:custGeom>
                <a:solidFill>
                  <a:schemeClr val="bg1"/>
                </a:solidFill>
                <a:ln w="12700" cap="rnd" cmpd="sng">
                  <a:noFill/>
                  <a:prstDash val="solid"/>
                  <a:round/>
                  <a:headEnd type="none" w="med" len="med"/>
                  <a:tailEnd type="none" w="med" len="med"/>
                </a:ln>
                <a:effectLst/>
              </p:spPr>
              <p:txBody>
                <a:bodyPr/>
                <a:lstStyle/>
                <a:p>
                  <a:endParaRPr lang="fr-FR"/>
                </a:p>
              </p:txBody>
            </p:sp>
          </p:grpSp>
          <p:sp>
            <p:nvSpPr>
              <p:cNvPr id="81029" name="Freeform 133"/>
              <p:cNvSpPr>
                <a:spLocks/>
              </p:cNvSpPr>
              <p:nvPr/>
            </p:nvSpPr>
            <p:spPr bwMode="auto">
              <a:xfrm rot="65756">
                <a:off x="2161" y="1670"/>
                <a:ext cx="727" cy="255"/>
              </a:xfrm>
              <a:custGeom>
                <a:avLst/>
                <a:gdLst/>
                <a:ahLst/>
                <a:cxnLst>
                  <a:cxn ang="0">
                    <a:pos x="187" y="97"/>
                  </a:cxn>
                  <a:cxn ang="0">
                    <a:pos x="352" y="110"/>
                  </a:cxn>
                  <a:cxn ang="0">
                    <a:pos x="508" y="134"/>
                  </a:cxn>
                  <a:cxn ang="0">
                    <a:pos x="568" y="144"/>
                  </a:cxn>
                  <a:cxn ang="0">
                    <a:pos x="605" y="158"/>
                  </a:cxn>
                  <a:cxn ang="0">
                    <a:pos x="621" y="176"/>
                  </a:cxn>
                  <a:cxn ang="0">
                    <a:pos x="629" y="202"/>
                  </a:cxn>
                  <a:cxn ang="0">
                    <a:pos x="618" y="226"/>
                  </a:cxn>
                  <a:cxn ang="0">
                    <a:pos x="613" y="247"/>
                  </a:cxn>
                  <a:cxn ang="0">
                    <a:pos x="608" y="281"/>
                  </a:cxn>
                  <a:cxn ang="0">
                    <a:pos x="629" y="310"/>
                  </a:cxn>
                  <a:cxn ang="0">
                    <a:pos x="668" y="320"/>
                  </a:cxn>
                  <a:cxn ang="0">
                    <a:pos x="705" y="323"/>
                  </a:cxn>
                  <a:cxn ang="0">
                    <a:pos x="747" y="320"/>
                  </a:cxn>
                  <a:cxn ang="0">
                    <a:pos x="797" y="305"/>
                  </a:cxn>
                  <a:cxn ang="0">
                    <a:pos x="823" y="276"/>
                  </a:cxn>
                  <a:cxn ang="0">
                    <a:pos x="826" y="242"/>
                  </a:cxn>
                  <a:cxn ang="0">
                    <a:pos x="823" y="202"/>
                  </a:cxn>
                  <a:cxn ang="0">
                    <a:pos x="800" y="160"/>
                  </a:cxn>
                  <a:cxn ang="0">
                    <a:pos x="760" y="113"/>
                  </a:cxn>
                  <a:cxn ang="0">
                    <a:pos x="723" y="87"/>
                  </a:cxn>
                  <a:cxn ang="0">
                    <a:pos x="668" y="60"/>
                  </a:cxn>
                  <a:cxn ang="0">
                    <a:pos x="510" y="26"/>
                  </a:cxn>
                  <a:cxn ang="0">
                    <a:pos x="358" y="5"/>
                  </a:cxn>
                  <a:cxn ang="0">
                    <a:pos x="163" y="0"/>
                  </a:cxn>
                  <a:cxn ang="0">
                    <a:pos x="116" y="11"/>
                  </a:cxn>
                  <a:cxn ang="0">
                    <a:pos x="63" y="39"/>
                  </a:cxn>
                  <a:cxn ang="0">
                    <a:pos x="26" y="79"/>
                  </a:cxn>
                  <a:cxn ang="0">
                    <a:pos x="3" y="118"/>
                  </a:cxn>
                  <a:cxn ang="0">
                    <a:pos x="0" y="155"/>
                  </a:cxn>
                  <a:cxn ang="0">
                    <a:pos x="13" y="194"/>
                  </a:cxn>
                  <a:cxn ang="0">
                    <a:pos x="71" y="223"/>
                  </a:cxn>
                  <a:cxn ang="0">
                    <a:pos x="153" y="147"/>
                  </a:cxn>
                  <a:cxn ang="0">
                    <a:pos x="155" y="102"/>
                  </a:cxn>
                  <a:cxn ang="0">
                    <a:pos x="187" y="97"/>
                  </a:cxn>
                </a:cxnLst>
                <a:rect l="0" t="0" r="r" b="b"/>
                <a:pathLst>
                  <a:path w="827" h="324">
                    <a:moveTo>
                      <a:pt x="187" y="97"/>
                    </a:moveTo>
                    <a:lnTo>
                      <a:pt x="352" y="110"/>
                    </a:lnTo>
                    <a:lnTo>
                      <a:pt x="508" y="134"/>
                    </a:lnTo>
                    <a:lnTo>
                      <a:pt x="568" y="144"/>
                    </a:lnTo>
                    <a:lnTo>
                      <a:pt x="605" y="158"/>
                    </a:lnTo>
                    <a:lnTo>
                      <a:pt x="621" y="176"/>
                    </a:lnTo>
                    <a:lnTo>
                      <a:pt x="629" y="202"/>
                    </a:lnTo>
                    <a:lnTo>
                      <a:pt x="618" y="226"/>
                    </a:lnTo>
                    <a:lnTo>
                      <a:pt x="613" y="247"/>
                    </a:lnTo>
                    <a:lnTo>
                      <a:pt x="608" y="281"/>
                    </a:lnTo>
                    <a:lnTo>
                      <a:pt x="629" y="310"/>
                    </a:lnTo>
                    <a:lnTo>
                      <a:pt x="668" y="320"/>
                    </a:lnTo>
                    <a:lnTo>
                      <a:pt x="705" y="323"/>
                    </a:lnTo>
                    <a:lnTo>
                      <a:pt x="747" y="320"/>
                    </a:lnTo>
                    <a:lnTo>
                      <a:pt x="797" y="305"/>
                    </a:lnTo>
                    <a:lnTo>
                      <a:pt x="823" y="276"/>
                    </a:lnTo>
                    <a:lnTo>
                      <a:pt x="826" y="242"/>
                    </a:lnTo>
                    <a:lnTo>
                      <a:pt x="823" y="202"/>
                    </a:lnTo>
                    <a:lnTo>
                      <a:pt x="800" y="160"/>
                    </a:lnTo>
                    <a:lnTo>
                      <a:pt x="760" y="113"/>
                    </a:lnTo>
                    <a:lnTo>
                      <a:pt x="723" y="87"/>
                    </a:lnTo>
                    <a:lnTo>
                      <a:pt x="668" y="60"/>
                    </a:lnTo>
                    <a:lnTo>
                      <a:pt x="510" y="26"/>
                    </a:lnTo>
                    <a:lnTo>
                      <a:pt x="358" y="5"/>
                    </a:lnTo>
                    <a:lnTo>
                      <a:pt x="163" y="0"/>
                    </a:lnTo>
                    <a:lnTo>
                      <a:pt x="116" y="11"/>
                    </a:lnTo>
                    <a:lnTo>
                      <a:pt x="63" y="39"/>
                    </a:lnTo>
                    <a:lnTo>
                      <a:pt x="26" y="79"/>
                    </a:lnTo>
                    <a:lnTo>
                      <a:pt x="3" y="118"/>
                    </a:lnTo>
                    <a:lnTo>
                      <a:pt x="0" y="155"/>
                    </a:lnTo>
                    <a:lnTo>
                      <a:pt x="13" y="194"/>
                    </a:lnTo>
                    <a:lnTo>
                      <a:pt x="71" y="223"/>
                    </a:lnTo>
                    <a:lnTo>
                      <a:pt x="153" y="147"/>
                    </a:lnTo>
                    <a:lnTo>
                      <a:pt x="155" y="102"/>
                    </a:lnTo>
                    <a:lnTo>
                      <a:pt x="187" y="97"/>
                    </a:lnTo>
                  </a:path>
                </a:pathLst>
              </a:custGeom>
              <a:solidFill>
                <a:srgbClr val="FCFEB9"/>
              </a:solidFill>
              <a:ln w="6350" cap="rnd" cmpd="sng">
                <a:solidFill>
                  <a:schemeClr val="tx1"/>
                </a:solidFill>
                <a:prstDash val="solid"/>
                <a:round/>
                <a:headEnd type="none" w="med" len="med"/>
                <a:tailEnd type="none" w="med" len="med"/>
              </a:ln>
              <a:effectLst/>
            </p:spPr>
            <p:txBody>
              <a:bodyPr/>
              <a:lstStyle/>
              <a:p>
                <a:endParaRPr lang="fr-FR"/>
              </a:p>
            </p:txBody>
          </p:sp>
          <p:sp>
            <p:nvSpPr>
              <p:cNvPr id="81030" name="Freeform 134"/>
              <p:cNvSpPr>
                <a:spLocks/>
              </p:cNvSpPr>
              <p:nvPr/>
            </p:nvSpPr>
            <p:spPr bwMode="auto">
              <a:xfrm rot="65756">
                <a:off x="2707" y="1866"/>
                <a:ext cx="174" cy="36"/>
              </a:xfrm>
              <a:custGeom>
                <a:avLst/>
                <a:gdLst/>
                <a:ahLst/>
                <a:cxnLst>
                  <a:cxn ang="0">
                    <a:pos x="0" y="32"/>
                  </a:cxn>
                  <a:cxn ang="0">
                    <a:pos x="21" y="40"/>
                  </a:cxn>
                  <a:cxn ang="0">
                    <a:pos x="58" y="45"/>
                  </a:cxn>
                  <a:cxn ang="0">
                    <a:pos x="92" y="42"/>
                  </a:cxn>
                  <a:cxn ang="0">
                    <a:pos x="126" y="40"/>
                  </a:cxn>
                  <a:cxn ang="0">
                    <a:pos x="152" y="37"/>
                  </a:cxn>
                  <a:cxn ang="0">
                    <a:pos x="176" y="21"/>
                  </a:cxn>
                  <a:cxn ang="0">
                    <a:pos x="197" y="0"/>
                  </a:cxn>
                </a:cxnLst>
                <a:rect l="0" t="0" r="r" b="b"/>
                <a:pathLst>
                  <a:path w="198" h="46">
                    <a:moveTo>
                      <a:pt x="0" y="32"/>
                    </a:moveTo>
                    <a:lnTo>
                      <a:pt x="21" y="40"/>
                    </a:lnTo>
                    <a:lnTo>
                      <a:pt x="58" y="45"/>
                    </a:lnTo>
                    <a:lnTo>
                      <a:pt x="92" y="42"/>
                    </a:lnTo>
                    <a:lnTo>
                      <a:pt x="126" y="40"/>
                    </a:lnTo>
                    <a:lnTo>
                      <a:pt x="152" y="37"/>
                    </a:lnTo>
                    <a:lnTo>
                      <a:pt x="176" y="21"/>
                    </a:lnTo>
                    <a:lnTo>
                      <a:pt x="197" y="0"/>
                    </a:lnTo>
                  </a:path>
                </a:pathLst>
              </a:custGeom>
              <a:noFill/>
              <a:ln w="12700" cap="rnd" cmpd="sng">
                <a:solidFill>
                  <a:srgbClr val="B3B900"/>
                </a:solidFill>
                <a:prstDash val="solid"/>
                <a:round/>
                <a:headEnd type="none" w="med" len="med"/>
                <a:tailEnd type="none" w="med" len="med"/>
              </a:ln>
              <a:effectLst/>
            </p:spPr>
            <p:txBody>
              <a:bodyPr/>
              <a:lstStyle/>
              <a:p>
                <a:endParaRPr lang="fr-FR"/>
              </a:p>
            </p:txBody>
          </p:sp>
          <p:sp>
            <p:nvSpPr>
              <p:cNvPr id="81031" name="Freeform 135"/>
              <p:cNvSpPr>
                <a:spLocks/>
              </p:cNvSpPr>
              <p:nvPr/>
            </p:nvSpPr>
            <p:spPr bwMode="auto">
              <a:xfrm rot="65756">
                <a:off x="2169" y="1792"/>
                <a:ext cx="72" cy="20"/>
              </a:xfrm>
              <a:custGeom>
                <a:avLst/>
                <a:gdLst/>
                <a:ahLst/>
                <a:cxnLst>
                  <a:cxn ang="0">
                    <a:pos x="0" y="0"/>
                  </a:cxn>
                  <a:cxn ang="0">
                    <a:pos x="39" y="17"/>
                  </a:cxn>
                  <a:cxn ang="0">
                    <a:pos x="81" y="25"/>
                  </a:cxn>
                </a:cxnLst>
                <a:rect l="0" t="0" r="r" b="b"/>
                <a:pathLst>
                  <a:path w="82" h="26">
                    <a:moveTo>
                      <a:pt x="0" y="0"/>
                    </a:moveTo>
                    <a:lnTo>
                      <a:pt x="39" y="17"/>
                    </a:lnTo>
                    <a:lnTo>
                      <a:pt x="81" y="25"/>
                    </a:lnTo>
                  </a:path>
                </a:pathLst>
              </a:custGeom>
              <a:noFill/>
              <a:ln w="12700" cap="rnd" cmpd="sng">
                <a:solidFill>
                  <a:srgbClr val="B3B900"/>
                </a:solidFill>
                <a:prstDash val="solid"/>
                <a:round/>
                <a:headEnd type="none" w="med" len="med"/>
                <a:tailEnd type="none" w="med" len="med"/>
              </a:ln>
              <a:effectLst/>
            </p:spPr>
            <p:txBody>
              <a:bodyPr/>
              <a:lstStyle/>
              <a:p>
                <a:endParaRPr lang="fr-FR"/>
              </a:p>
            </p:txBody>
          </p:sp>
        </p:grpSp>
      </p:grpSp>
      <p:sp>
        <p:nvSpPr>
          <p:cNvPr id="81032" name="Line 136"/>
          <p:cNvSpPr>
            <a:spLocks noChangeShapeType="1"/>
          </p:cNvSpPr>
          <p:nvPr/>
        </p:nvSpPr>
        <p:spPr bwMode="auto">
          <a:xfrm flipH="1">
            <a:off x="1566863" y="3929063"/>
            <a:ext cx="3265487" cy="1806575"/>
          </a:xfrm>
          <a:prstGeom prst="line">
            <a:avLst/>
          </a:prstGeom>
          <a:noFill/>
          <a:ln w="76200" cap="rnd">
            <a:solidFill>
              <a:schemeClr val="tx1"/>
            </a:solidFill>
            <a:prstDash val="sysDot"/>
            <a:round/>
            <a:headEnd/>
            <a:tailEnd/>
          </a:ln>
          <a:effectLst/>
        </p:spPr>
        <p:txBody>
          <a:bodyPr/>
          <a:lstStyle/>
          <a:p>
            <a:endParaRPr lang="fr-FR"/>
          </a:p>
        </p:txBody>
      </p:sp>
      <p:grpSp>
        <p:nvGrpSpPr>
          <p:cNvPr id="81033" name="Group 137"/>
          <p:cNvGrpSpPr>
            <a:grpSpLocks/>
          </p:cNvGrpSpPr>
          <p:nvPr/>
        </p:nvGrpSpPr>
        <p:grpSpPr bwMode="auto">
          <a:xfrm>
            <a:off x="2087563" y="4254500"/>
            <a:ext cx="2111375" cy="1366838"/>
            <a:chOff x="1166" y="2635"/>
            <a:chExt cx="1330" cy="861"/>
          </a:xfrm>
        </p:grpSpPr>
        <p:sp>
          <p:nvSpPr>
            <p:cNvPr id="81034" name="AutoShape 138"/>
            <p:cNvSpPr>
              <a:spLocks noChangeArrowheads="1"/>
            </p:cNvSpPr>
            <p:nvPr/>
          </p:nvSpPr>
          <p:spPr bwMode="auto">
            <a:xfrm>
              <a:off x="2323" y="2635"/>
              <a:ext cx="173" cy="175"/>
            </a:xfrm>
            <a:custGeom>
              <a:avLst/>
              <a:gdLst>
                <a:gd name="G0" fmla="+- 9213 0 0"/>
                <a:gd name="G1" fmla="+- 5963859 0 0"/>
                <a:gd name="G2" fmla="+- 0 0 5963859"/>
                <a:gd name="T0" fmla="*/ 0 256 1"/>
                <a:gd name="T1" fmla="*/ 180 256 1"/>
                <a:gd name="G3" fmla="+- 5963859 T0 T1"/>
                <a:gd name="T2" fmla="*/ 0 256 1"/>
                <a:gd name="T3" fmla="*/ 90 256 1"/>
                <a:gd name="G4" fmla="+- 5963859 T2 T3"/>
                <a:gd name="G5" fmla="*/ G4 2 1"/>
                <a:gd name="T4" fmla="*/ 90 256 1"/>
                <a:gd name="T5" fmla="*/ 0 256 1"/>
                <a:gd name="G6" fmla="+- 5963859 T4 T5"/>
                <a:gd name="G7" fmla="*/ G6 2 1"/>
                <a:gd name="G8" fmla="abs 5963859"/>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213"/>
                <a:gd name="G18" fmla="*/ 9213 1 2"/>
                <a:gd name="G19" fmla="+- G18 5400 0"/>
                <a:gd name="G20" fmla="cos G19 5963859"/>
                <a:gd name="G21" fmla="sin G19 5963859"/>
                <a:gd name="G22" fmla="+- G20 10800 0"/>
                <a:gd name="G23" fmla="+- G21 10800 0"/>
                <a:gd name="G24" fmla="+- 10800 0 G20"/>
                <a:gd name="G25" fmla="+- 9213 10800 0"/>
                <a:gd name="G26" fmla="?: G9 G17 G25"/>
                <a:gd name="G27" fmla="?: G9 0 21600"/>
                <a:gd name="G28" fmla="cos 10800 5963859"/>
                <a:gd name="G29" fmla="sin 10800 5963859"/>
                <a:gd name="G30" fmla="sin 9213 5963859"/>
                <a:gd name="G31" fmla="+- G28 10800 0"/>
                <a:gd name="G32" fmla="+- G29 10800 0"/>
                <a:gd name="G33" fmla="+- G30 10800 0"/>
                <a:gd name="G34" fmla="?: G4 0 G31"/>
                <a:gd name="G35" fmla="?: 5963859 G34 0"/>
                <a:gd name="G36" fmla="?: G6 G35 G31"/>
                <a:gd name="G37" fmla="+- 21600 0 G36"/>
                <a:gd name="G38" fmla="?: G4 0 G33"/>
                <a:gd name="G39" fmla="?: 5963859 G38 G32"/>
                <a:gd name="G40" fmla="?: G6 G39 0"/>
                <a:gd name="G41" fmla="?: G4 G32 21600"/>
                <a:gd name="G42" fmla="?: G6 G41 G33"/>
                <a:gd name="T12" fmla="*/ 10800 w 21600"/>
                <a:gd name="T13" fmla="*/ 0 h 21600"/>
                <a:gd name="T14" fmla="*/ 10625 w 21600"/>
                <a:gd name="T15" fmla="*/ 20805 h 21600"/>
                <a:gd name="T16" fmla="*/ 10800 w 21600"/>
                <a:gd name="T17" fmla="*/ 1587 h 21600"/>
                <a:gd name="T18" fmla="*/ 10975 w 21600"/>
                <a:gd name="T19" fmla="*/ 20805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639" y="20011"/>
                  </a:moveTo>
                  <a:cubicBezTo>
                    <a:pt x="5614" y="19923"/>
                    <a:pt x="1587" y="15825"/>
                    <a:pt x="1587" y="10800"/>
                  </a:cubicBezTo>
                  <a:cubicBezTo>
                    <a:pt x="1587" y="5711"/>
                    <a:pt x="5711" y="1587"/>
                    <a:pt x="10800" y="1587"/>
                  </a:cubicBezTo>
                  <a:cubicBezTo>
                    <a:pt x="15888" y="1587"/>
                    <a:pt x="20013" y="5711"/>
                    <a:pt x="20013" y="10800"/>
                  </a:cubicBezTo>
                  <a:cubicBezTo>
                    <a:pt x="20013" y="15825"/>
                    <a:pt x="15985" y="19923"/>
                    <a:pt x="10960" y="20011"/>
                  </a:cubicBezTo>
                  <a:lnTo>
                    <a:pt x="10988" y="21598"/>
                  </a:lnTo>
                  <a:cubicBezTo>
                    <a:pt x="16878" y="21495"/>
                    <a:pt x="21600" y="16691"/>
                    <a:pt x="21600" y="10800"/>
                  </a:cubicBezTo>
                  <a:cubicBezTo>
                    <a:pt x="21600" y="4835"/>
                    <a:pt x="16764" y="0"/>
                    <a:pt x="10800" y="0"/>
                  </a:cubicBezTo>
                  <a:cubicBezTo>
                    <a:pt x="4835" y="0"/>
                    <a:pt x="0" y="4835"/>
                    <a:pt x="0" y="10800"/>
                  </a:cubicBezTo>
                  <a:cubicBezTo>
                    <a:pt x="-1" y="16691"/>
                    <a:pt x="4721" y="21495"/>
                    <a:pt x="10611" y="21598"/>
                  </a:cubicBezTo>
                  <a:close/>
                </a:path>
              </a:pathLst>
            </a:custGeom>
            <a:solidFill>
              <a:srgbClr val="333399"/>
            </a:solidFill>
            <a:ln w="9525">
              <a:miter lim="800000"/>
              <a:headEnd/>
              <a:tailEnd/>
            </a:ln>
            <a:effectLst/>
            <a:scene3d>
              <a:camera prst="legacyPerspectiveFront">
                <a:rot lat="2400000" lon="3000000" rev="0"/>
              </a:camera>
              <a:lightRig rig="legacyFlat4" dir="b"/>
            </a:scene3d>
            <a:sp3d extrusionH="430200" prstMaterial="legacyMatte">
              <a:bevelT w="13500" h="13500" prst="angle"/>
              <a:bevelB w="13500" h="13500" prst="angle"/>
              <a:extrusionClr>
                <a:srgbClr val="99CCFF"/>
              </a:extrusionClr>
            </a:sp3d>
          </p:spPr>
          <p:txBody>
            <a:bodyPr wrap="none" anchor="ctr">
              <a:flatTx/>
            </a:bodyPr>
            <a:lstStyle/>
            <a:p>
              <a:pPr algn="ctr" eaLnBrk="1" hangingPunct="1"/>
              <a:endParaRPr lang="fr-FR" sz="1800" b="1"/>
            </a:p>
          </p:txBody>
        </p:sp>
        <p:sp>
          <p:nvSpPr>
            <p:cNvPr id="81035" name="AutoShape 139"/>
            <p:cNvSpPr>
              <a:spLocks noChangeArrowheads="1"/>
            </p:cNvSpPr>
            <p:nvPr/>
          </p:nvSpPr>
          <p:spPr bwMode="auto">
            <a:xfrm>
              <a:off x="2150" y="2652"/>
              <a:ext cx="294" cy="299"/>
            </a:xfrm>
            <a:custGeom>
              <a:avLst/>
              <a:gdLst>
                <a:gd name="G0" fmla="+- 8441 0 0"/>
                <a:gd name="G1" fmla="+- 5954286 0 0"/>
                <a:gd name="G2" fmla="+- 0 0 5954286"/>
                <a:gd name="T0" fmla="*/ 0 256 1"/>
                <a:gd name="T1" fmla="*/ 180 256 1"/>
                <a:gd name="G3" fmla="+- 5954286 T0 T1"/>
                <a:gd name="T2" fmla="*/ 0 256 1"/>
                <a:gd name="T3" fmla="*/ 90 256 1"/>
                <a:gd name="G4" fmla="+- 5954286 T2 T3"/>
                <a:gd name="G5" fmla="*/ G4 2 1"/>
                <a:gd name="T4" fmla="*/ 90 256 1"/>
                <a:gd name="T5" fmla="*/ 0 256 1"/>
                <a:gd name="G6" fmla="+- 5954286 T4 T5"/>
                <a:gd name="G7" fmla="*/ G6 2 1"/>
                <a:gd name="G8" fmla="abs 595428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8441"/>
                <a:gd name="G18" fmla="*/ 8441 1 2"/>
                <a:gd name="G19" fmla="+- G18 5400 0"/>
                <a:gd name="G20" fmla="cos G19 5954286"/>
                <a:gd name="G21" fmla="sin G19 5954286"/>
                <a:gd name="G22" fmla="+- G20 10800 0"/>
                <a:gd name="G23" fmla="+- G21 10800 0"/>
                <a:gd name="G24" fmla="+- 10800 0 G20"/>
                <a:gd name="G25" fmla="+- 8441 10800 0"/>
                <a:gd name="G26" fmla="?: G9 G17 G25"/>
                <a:gd name="G27" fmla="?: G9 0 21600"/>
                <a:gd name="G28" fmla="cos 10800 5954286"/>
                <a:gd name="G29" fmla="sin 10800 5954286"/>
                <a:gd name="G30" fmla="sin 8441 5954286"/>
                <a:gd name="G31" fmla="+- G28 10800 0"/>
                <a:gd name="G32" fmla="+- G29 10800 0"/>
                <a:gd name="G33" fmla="+- G30 10800 0"/>
                <a:gd name="G34" fmla="?: G4 0 G31"/>
                <a:gd name="G35" fmla="?: 5954286 G34 0"/>
                <a:gd name="G36" fmla="?: G6 G35 G31"/>
                <a:gd name="G37" fmla="+- 21600 0 G36"/>
                <a:gd name="G38" fmla="?: G4 0 G33"/>
                <a:gd name="G39" fmla="?: 5954286 G38 G32"/>
                <a:gd name="G40" fmla="?: G6 G39 0"/>
                <a:gd name="G41" fmla="?: G4 G32 21600"/>
                <a:gd name="G42" fmla="?: G6 G41 G33"/>
                <a:gd name="T12" fmla="*/ 10800 w 21600"/>
                <a:gd name="T13" fmla="*/ 0 h 21600"/>
                <a:gd name="T14" fmla="*/ 10656 w 21600"/>
                <a:gd name="T15" fmla="*/ 20419 h 21600"/>
                <a:gd name="T16" fmla="*/ 10800 w 21600"/>
                <a:gd name="T17" fmla="*/ 2359 h 21600"/>
                <a:gd name="T18" fmla="*/ 10944 w 21600"/>
                <a:gd name="T19" fmla="*/ 20419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674" y="19240"/>
                  </a:moveTo>
                  <a:cubicBezTo>
                    <a:pt x="6061" y="19171"/>
                    <a:pt x="2359" y="15412"/>
                    <a:pt x="2359" y="10800"/>
                  </a:cubicBezTo>
                  <a:cubicBezTo>
                    <a:pt x="2359" y="6138"/>
                    <a:pt x="6138" y="2359"/>
                    <a:pt x="10800" y="2359"/>
                  </a:cubicBezTo>
                  <a:cubicBezTo>
                    <a:pt x="15461" y="2359"/>
                    <a:pt x="19241" y="6138"/>
                    <a:pt x="19241" y="10800"/>
                  </a:cubicBezTo>
                  <a:cubicBezTo>
                    <a:pt x="19241" y="15412"/>
                    <a:pt x="15538" y="19171"/>
                    <a:pt x="10925" y="19240"/>
                  </a:cubicBezTo>
                  <a:lnTo>
                    <a:pt x="10961" y="21598"/>
                  </a:lnTo>
                  <a:cubicBezTo>
                    <a:pt x="16862" y="21510"/>
                    <a:pt x="21600" y="16701"/>
                    <a:pt x="21600" y="10800"/>
                  </a:cubicBezTo>
                  <a:cubicBezTo>
                    <a:pt x="21600" y="4835"/>
                    <a:pt x="16764" y="0"/>
                    <a:pt x="10800" y="0"/>
                  </a:cubicBezTo>
                  <a:cubicBezTo>
                    <a:pt x="4835" y="0"/>
                    <a:pt x="0" y="4835"/>
                    <a:pt x="0" y="10800"/>
                  </a:cubicBezTo>
                  <a:cubicBezTo>
                    <a:pt x="-1" y="16701"/>
                    <a:pt x="4737" y="21510"/>
                    <a:pt x="10638" y="21598"/>
                  </a:cubicBezTo>
                  <a:close/>
                </a:path>
              </a:pathLst>
            </a:custGeom>
            <a:solidFill>
              <a:srgbClr val="CC0066"/>
            </a:solidFill>
            <a:ln w="9525">
              <a:miter lim="800000"/>
              <a:headEnd/>
              <a:tailEnd/>
            </a:ln>
            <a:effectLst/>
            <a:scene3d>
              <a:camera prst="legacyPerspectiveFront">
                <a:rot lat="2700000" lon="3000000" rev="0"/>
              </a:camera>
              <a:lightRig rig="legacyFlat4" dir="b"/>
            </a:scene3d>
            <a:sp3d extrusionH="430200" prstMaterial="legacyMatte">
              <a:bevelT w="13500" h="13500" prst="angle"/>
              <a:bevelB w="13500" h="13500" prst="angle"/>
              <a:extrusionClr>
                <a:srgbClr val="FF7C80"/>
              </a:extrusionClr>
            </a:sp3d>
          </p:spPr>
          <p:txBody>
            <a:bodyPr wrap="none" anchor="ctr">
              <a:flatTx/>
            </a:bodyPr>
            <a:lstStyle/>
            <a:p>
              <a:pPr algn="ctr" eaLnBrk="1" hangingPunct="1"/>
              <a:endParaRPr lang="fr-FR" sz="1800" b="1"/>
            </a:p>
          </p:txBody>
        </p:sp>
        <p:sp>
          <p:nvSpPr>
            <p:cNvPr id="81036" name="AutoShape 140"/>
            <p:cNvSpPr>
              <a:spLocks noChangeArrowheads="1"/>
            </p:cNvSpPr>
            <p:nvPr/>
          </p:nvSpPr>
          <p:spPr bwMode="auto">
            <a:xfrm>
              <a:off x="1962" y="2692"/>
              <a:ext cx="395" cy="402"/>
            </a:xfrm>
            <a:custGeom>
              <a:avLst/>
              <a:gdLst>
                <a:gd name="G0" fmla="+- 8441 0 0"/>
                <a:gd name="G1" fmla="+- 5954286 0 0"/>
                <a:gd name="G2" fmla="+- 0 0 5954286"/>
                <a:gd name="T0" fmla="*/ 0 256 1"/>
                <a:gd name="T1" fmla="*/ 180 256 1"/>
                <a:gd name="G3" fmla="+- 5954286 T0 T1"/>
                <a:gd name="T2" fmla="*/ 0 256 1"/>
                <a:gd name="T3" fmla="*/ 90 256 1"/>
                <a:gd name="G4" fmla="+- 5954286 T2 T3"/>
                <a:gd name="G5" fmla="*/ G4 2 1"/>
                <a:gd name="T4" fmla="*/ 90 256 1"/>
                <a:gd name="T5" fmla="*/ 0 256 1"/>
                <a:gd name="G6" fmla="+- 5954286 T4 T5"/>
                <a:gd name="G7" fmla="*/ G6 2 1"/>
                <a:gd name="G8" fmla="abs 595428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8441"/>
                <a:gd name="G18" fmla="*/ 8441 1 2"/>
                <a:gd name="G19" fmla="+- G18 5400 0"/>
                <a:gd name="G20" fmla="cos G19 5954286"/>
                <a:gd name="G21" fmla="sin G19 5954286"/>
                <a:gd name="G22" fmla="+- G20 10800 0"/>
                <a:gd name="G23" fmla="+- G21 10800 0"/>
                <a:gd name="G24" fmla="+- 10800 0 G20"/>
                <a:gd name="G25" fmla="+- 8441 10800 0"/>
                <a:gd name="G26" fmla="?: G9 G17 G25"/>
                <a:gd name="G27" fmla="?: G9 0 21600"/>
                <a:gd name="G28" fmla="cos 10800 5954286"/>
                <a:gd name="G29" fmla="sin 10800 5954286"/>
                <a:gd name="G30" fmla="sin 8441 5954286"/>
                <a:gd name="G31" fmla="+- G28 10800 0"/>
                <a:gd name="G32" fmla="+- G29 10800 0"/>
                <a:gd name="G33" fmla="+- G30 10800 0"/>
                <a:gd name="G34" fmla="?: G4 0 G31"/>
                <a:gd name="G35" fmla="?: 5954286 G34 0"/>
                <a:gd name="G36" fmla="?: G6 G35 G31"/>
                <a:gd name="G37" fmla="+- 21600 0 G36"/>
                <a:gd name="G38" fmla="?: G4 0 G33"/>
                <a:gd name="G39" fmla="?: 5954286 G38 G32"/>
                <a:gd name="G40" fmla="?: G6 G39 0"/>
                <a:gd name="G41" fmla="?: G4 G32 21600"/>
                <a:gd name="G42" fmla="?: G6 G41 G33"/>
                <a:gd name="T12" fmla="*/ 10800 w 21600"/>
                <a:gd name="T13" fmla="*/ 0 h 21600"/>
                <a:gd name="T14" fmla="*/ 10656 w 21600"/>
                <a:gd name="T15" fmla="*/ 20419 h 21600"/>
                <a:gd name="T16" fmla="*/ 10800 w 21600"/>
                <a:gd name="T17" fmla="*/ 2359 h 21600"/>
                <a:gd name="T18" fmla="*/ 10944 w 21600"/>
                <a:gd name="T19" fmla="*/ 20419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674" y="19240"/>
                  </a:moveTo>
                  <a:cubicBezTo>
                    <a:pt x="6061" y="19171"/>
                    <a:pt x="2359" y="15412"/>
                    <a:pt x="2359" y="10800"/>
                  </a:cubicBezTo>
                  <a:cubicBezTo>
                    <a:pt x="2359" y="6138"/>
                    <a:pt x="6138" y="2359"/>
                    <a:pt x="10800" y="2359"/>
                  </a:cubicBezTo>
                  <a:cubicBezTo>
                    <a:pt x="15461" y="2359"/>
                    <a:pt x="19241" y="6138"/>
                    <a:pt x="19241" y="10800"/>
                  </a:cubicBezTo>
                  <a:cubicBezTo>
                    <a:pt x="19241" y="15412"/>
                    <a:pt x="15538" y="19171"/>
                    <a:pt x="10925" y="19240"/>
                  </a:cubicBezTo>
                  <a:lnTo>
                    <a:pt x="10961" y="21598"/>
                  </a:lnTo>
                  <a:cubicBezTo>
                    <a:pt x="16862" y="21510"/>
                    <a:pt x="21600" y="16701"/>
                    <a:pt x="21600" y="10800"/>
                  </a:cubicBezTo>
                  <a:cubicBezTo>
                    <a:pt x="21600" y="4835"/>
                    <a:pt x="16764" y="0"/>
                    <a:pt x="10800" y="0"/>
                  </a:cubicBezTo>
                  <a:cubicBezTo>
                    <a:pt x="4835" y="0"/>
                    <a:pt x="0" y="4835"/>
                    <a:pt x="0" y="10800"/>
                  </a:cubicBezTo>
                  <a:cubicBezTo>
                    <a:pt x="-1" y="16701"/>
                    <a:pt x="4737" y="21510"/>
                    <a:pt x="10638" y="21598"/>
                  </a:cubicBezTo>
                  <a:close/>
                </a:path>
              </a:pathLst>
            </a:custGeom>
            <a:gradFill rotWithShape="0">
              <a:gsLst>
                <a:gs pos="0">
                  <a:srgbClr val="CC0099">
                    <a:gamma/>
                    <a:tint val="58824"/>
                    <a:invGamma/>
                  </a:srgbClr>
                </a:gs>
                <a:gs pos="100000">
                  <a:srgbClr val="CC0099"/>
                </a:gs>
              </a:gsLst>
              <a:lin ang="0" scaled="1"/>
            </a:gradFill>
            <a:ln w="9525">
              <a:miter lim="800000"/>
              <a:headEnd/>
              <a:tailEnd/>
            </a:ln>
            <a:effectLst/>
            <a:scene3d>
              <a:camera prst="legacyPerspectiveFront">
                <a:rot lat="2700000" lon="3000000" rev="0"/>
              </a:camera>
              <a:lightRig rig="legacyFlat4" dir="b"/>
            </a:scene3d>
            <a:sp3d extrusionH="430200" prstMaterial="legacyMatte">
              <a:bevelT w="13500" h="13500" prst="angle"/>
              <a:bevelB w="13500" h="13500" prst="angle"/>
              <a:extrusionClr>
                <a:srgbClr val="FFCCFF"/>
              </a:extrusionClr>
            </a:sp3d>
          </p:spPr>
          <p:txBody>
            <a:bodyPr wrap="none" anchor="ctr">
              <a:flatTx/>
            </a:bodyPr>
            <a:lstStyle/>
            <a:p>
              <a:pPr algn="ctr"/>
              <a:endParaRPr lang="fr-FR" sz="1800" b="1"/>
            </a:p>
          </p:txBody>
        </p:sp>
        <p:pic>
          <p:nvPicPr>
            <p:cNvPr id="81037" name="Picture 141" descr="Internet"/>
            <p:cNvPicPr>
              <a:picLocks noChangeAspect="1" noChangeArrowheads="1"/>
            </p:cNvPicPr>
            <p:nvPr/>
          </p:nvPicPr>
          <p:blipFill>
            <a:blip r:embed="rId2"/>
            <a:srcRect/>
            <a:stretch>
              <a:fillRect/>
            </a:stretch>
          </p:blipFill>
          <p:spPr bwMode="auto">
            <a:xfrm>
              <a:off x="1684" y="2643"/>
              <a:ext cx="659" cy="659"/>
            </a:xfrm>
            <a:prstGeom prst="rect">
              <a:avLst/>
            </a:prstGeom>
            <a:noFill/>
          </p:spPr>
        </p:pic>
        <p:sp>
          <p:nvSpPr>
            <p:cNvPr id="81038" name="AutoShape 142"/>
            <p:cNvSpPr>
              <a:spLocks noChangeArrowheads="1"/>
            </p:cNvSpPr>
            <p:nvPr/>
          </p:nvSpPr>
          <p:spPr bwMode="auto">
            <a:xfrm>
              <a:off x="1422" y="2993"/>
              <a:ext cx="395" cy="402"/>
            </a:xfrm>
            <a:custGeom>
              <a:avLst/>
              <a:gdLst>
                <a:gd name="G0" fmla="+- 8441 0 0"/>
                <a:gd name="G1" fmla="+- 5954286 0 0"/>
                <a:gd name="G2" fmla="+- 0 0 5954286"/>
                <a:gd name="T0" fmla="*/ 0 256 1"/>
                <a:gd name="T1" fmla="*/ 180 256 1"/>
                <a:gd name="G3" fmla="+- 5954286 T0 T1"/>
                <a:gd name="T2" fmla="*/ 0 256 1"/>
                <a:gd name="T3" fmla="*/ 90 256 1"/>
                <a:gd name="G4" fmla="+- 5954286 T2 T3"/>
                <a:gd name="G5" fmla="*/ G4 2 1"/>
                <a:gd name="T4" fmla="*/ 90 256 1"/>
                <a:gd name="T5" fmla="*/ 0 256 1"/>
                <a:gd name="G6" fmla="+- 5954286 T4 T5"/>
                <a:gd name="G7" fmla="*/ G6 2 1"/>
                <a:gd name="G8" fmla="abs 595428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8441"/>
                <a:gd name="G18" fmla="*/ 8441 1 2"/>
                <a:gd name="G19" fmla="+- G18 5400 0"/>
                <a:gd name="G20" fmla="cos G19 5954286"/>
                <a:gd name="G21" fmla="sin G19 5954286"/>
                <a:gd name="G22" fmla="+- G20 10800 0"/>
                <a:gd name="G23" fmla="+- G21 10800 0"/>
                <a:gd name="G24" fmla="+- 10800 0 G20"/>
                <a:gd name="G25" fmla="+- 8441 10800 0"/>
                <a:gd name="G26" fmla="?: G9 G17 G25"/>
                <a:gd name="G27" fmla="?: G9 0 21600"/>
                <a:gd name="G28" fmla="cos 10800 5954286"/>
                <a:gd name="G29" fmla="sin 10800 5954286"/>
                <a:gd name="G30" fmla="sin 8441 5954286"/>
                <a:gd name="G31" fmla="+- G28 10800 0"/>
                <a:gd name="G32" fmla="+- G29 10800 0"/>
                <a:gd name="G33" fmla="+- G30 10800 0"/>
                <a:gd name="G34" fmla="?: G4 0 G31"/>
                <a:gd name="G35" fmla="?: 5954286 G34 0"/>
                <a:gd name="G36" fmla="?: G6 G35 G31"/>
                <a:gd name="G37" fmla="+- 21600 0 G36"/>
                <a:gd name="G38" fmla="?: G4 0 G33"/>
                <a:gd name="G39" fmla="?: 5954286 G38 G32"/>
                <a:gd name="G40" fmla="?: G6 G39 0"/>
                <a:gd name="G41" fmla="?: G4 G32 21600"/>
                <a:gd name="G42" fmla="?: G6 G41 G33"/>
                <a:gd name="T12" fmla="*/ 10800 w 21600"/>
                <a:gd name="T13" fmla="*/ 0 h 21600"/>
                <a:gd name="T14" fmla="*/ 10656 w 21600"/>
                <a:gd name="T15" fmla="*/ 20419 h 21600"/>
                <a:gd name="T16" fmla="*/ 10800 w 21600"/>
                <a:gd name="T17" fmla="*/ 2359 h 21600"/>
                <a:gd name="T18" fmla="*/ 10944 w 21600"/>
                <a:gd name="T19" fmla="*/ 20419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674" y="19240"/>
                  </a:moveTo>
                  <a:cubicBezTo>
                    <a:pt x="6061" y="19171"/>
                    <a:pt x="2359" y="15412"/>
                    <a:pt x="2359" y="10800"/>
                  </a:cubicBezTo>
                  <a:cubicBezTo>
                    <a:pt x="2359" y="6138"/>
                    <a:pt x="6138" y="2359"/>
                    <a:pt x="10800" y="2359"/>
                  </a:cubicBezTo>
                  <a:cubicBezTo>
                    <a:pt x="15461" y="2359"/>
                    <a:pt x="19241" y="6138"/>
                    <a:pt x="19241" y="10800"/>
                  </a:cubicBezTo>
                  <a:cubicBezTo>
                    <a:pt x="19241" y="15412"/>
                    <a:pt x="15538" y="19171"/>
                    <a:pt x="10925" y="19240"/>
                  </a:cubicBezTo>
                  <a:lnTo>
                    <a:pt x="10961" y="21598"/>
                  </a:lnTo>
                  <a:cubicBezTo>
                    <a:pt x="16862" y="21510"/>
                    <a:pt x="21600" y="16701"/>
                    <a:pt x="21600" y="10800"/>
                  </a:cubicBezTo>
                  <a:cubicBezTo>
                    <a:pt x="21600" y="4835"/>
                    <a:pt x="16764" y="0"/>
                    <a:pt x="10800" y="0"/>
                  </a:cubicBezTo>
                  <a:cubicBezTo>
                    <a:pt x="4835" y="0"/>
                    <a:pt x="0" y="4835"/>
                    <a:pt x="0" y="10800"/>
                  </a:cubicBezTo>
                  <a:cubicBezTo>
                    <a:pt x="-1" y="16701"/>
                    <a:pt x="4737" y="21510"/>
                    <a:pt x="10638" y="21598"/>
                  </a:cubicBezTo>
                  <a:close/>
                </a:path>
              </a:pathLst>
            </a:custGeom>
            <a:gradFill rotWithShape="0">
              <a:gsLst>
                <a:gs pos="0">
                  <a:srgbClr val="CC0099">
                    <a:gamma/>
                    <a:tint val="58824"/>
                    <a:invGamma/>
                  </a:srgbClr>
                </a:gs>
                <a:gs pos="100000">
                  <a:srgbClr val="CC0099"/>
                </a:gs>
              </a:gsLst>
              <a:lin ang="0" scaled="1"/>
            </a:gradFill>
            <a:ln w="9525">
              <a:miter lim="800000"/>
              <a:headEnd/>
              <a:tailEnd/>
            </a:ln>
            <a:effectLst/>
            <a:scene3d>
              <a:camera prst="legacyPerspectiveFront">
                <a:rot lat="2700000" lon="3000000" rev="0"/>
              </a:camera>
              <a:lightRig rig="legacyFlat4" dir="b"/>
            </a:scene3d>
            <a:sp3d extrusionH="430200" prstMaterial="legacyMatte">
              <a:bevelT w="13500" h="13500" prst="angle"/>
              <a:bevelB w="13500" h="13500" prst="angle"/>
              <a:extrusionClr>
                <a:srgbClr val="FFCCFF"/>
              </a:extrusionClr>
            </a:sp3d>
          </p:spPr>
          <p:txBody>
            <a:bodyPr wrap="none" anchor="ctr">
              <a:flatTx/>
            </a:bodyPr>
            <a:lstStyle/>
            <a:p>
              <a:pPr algn="ctr"/>
              <a:endParaRPr lang="fr-FR" sz="1800" b="1"/>
            </a:p>
          </p:txBody>
        </p:sp>
        <p:sp>
          <p:nvSpPr>
            <p:cNvPr id="81039" name="AutoShape 143"/>
            <p:cNvSpPr>
              <a:spLocks noChangeArrowheads="1"/>
            </p:cNvSpPr>
            <p:nvPr/>
          </p:nvSpPr>
          <p:spPr bwMode="auto">
            <a:xfrm>
              <a:off x="1256" y="3170"/>
              <a:ext cx="293" cy="298"/>
            </a:xfrm>
            <a:custGeom>
              <a:avLst/>
              <a:gdLst>
                <a:gd name="G0" fmla="+- 8441 0 0"/>
                <a:gd name="G1" fmla="+- 5954286 0 0"/>
                <a:gd name="G2" fmla="+- 0 0 5954286"/>
                <a:gd name="T0" fmla="*/ 0 256 1"/>
                <a:gd name="T1" fmla="*/ 180 256 1"/>
                <a:gd name="G3" fmla="+- 5954286 T0 T1"/>
                <a:gd name="T2" fmla="*/ 0 256 1"/>
                <a:gd name="T3" fmla="*/ 90 256 1"/>
                <a:gd name="G4" fmla="+- 5954286 T2 T3"/>
                <a:gd name="G5" fmla="*/ G4 2 1"/>
                <a:gd name="T4" fmla="*/ 90 256 1"/>
                <a:gd name="T5" fmla="*/ 0 256 1"/>
                <a:gd name="G6" fmla="+- 5954286 T4 T5"/>
                <a:gd name="G7" fmla="*/ G6 2 1"/>
                <a:gd name="G8" fmla="abs 595428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8441"/>
                <a:gd name="G18" fmla="*/ 8441 1 2"/>
                <a:gd name="G19" fmla="+- G18 5400 0"/>
                <a:gd name="G20" fmla="cos G19 5954286"/>
                <a:gd name="G21" fmla="sin G19 5954286"/>
                <a:gd name="G22" fmla="+- G20 10800 0"/>
                <a:gd name="G23" fmla="+- G21 10800 0"/>
                <a:gd name="G24" fmla="+- 10800 0 G20"/>
                <a:gd name="G25" fmla="+- 8441 10800 0"/>
                <a:gd name="G26" fmla="?: G9 G17 G25"/>
                <a:gd name="G27" fmla="?: G9 0 21600"/>
                <a:gd name="G28" fmla="cos 10800 5954286"/>
                <a:gd name="G29" fmla="sin 10800 5954286"/>
                <a:gd name="G30" fmla="sin 8441 5954286"/>
                <a:gd name="G31" fmla="+- G28 10800 0"/>
                <a:gd name="G32" fmla="+- G29 10800 0"/>
                <a:gd name="G33" fmla="+- G30 10800 0"/>
                <a:gd name="G34" fmla="?: G4 0 G31"/>
                <a:gd name="G35" fmla="?: 5954286 G34 0"/>
                <a:gd name="G36" fmla="?: G6 G35 G31"/>
                <a:gd name="G37" fmla="+- 21600 0 G36"/>
                <a:gd name="G38" fmla="?: G4 0 G33"/>
                <a:gd name="G39" fmla="?: 5954286 G38 G32"/>
                <a:gd name="G40" fmla="?: G6 G39 0"/>
                <a:gd name="G41" fmla="?: G4 G32 21600"/>
                <a:gd name="G42" fmla="?: G6 G41 G33"/>
                <a:gd name="T12" fmla="*/ 10800 w 21600"/>
                <a:gd name="T13" fmla="*/ 0 h 21600"/>
                <a:gd name="T14" fmla="*/ 10656 w 21600"/>
                <a:gd name="T15" fmla="*/ 20419 h 21600"/>
                <a:gd name="T16" fmla="*/ 10800 w 21600"/>
                <a:gd name="T17" fmla="*/ 2359 h 21600"/>
                <a:gd name="T18" fmla="*/ 10944 w 21600"/>
                <a:gd name="T19" fmla="*/ 20419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674" y="19240"/>
                  </a:moveTo>
                  <a:cubicBezTo>
                    <a:pt x="6061" y="19171"/>
                    <a:pt x="2359" y="15412"/>
                    <a:pt x="2359" y="10800"/>
                  </a:cubicBezTo>
                  <a:cubicBezTo>
                    <a:pt x="2359" y="6138"/>
                    <a:pt x="6138" y="2359"/>
                    <a:pt x="10800" y="2359"/>
                  </a:cubicBezTo>
                  <a:cubicBezTo>
                    <a:pt x="15461" y="2359"/>
                    <a:pt x="19241" y="6138"/>
                    <a:pt x="19241" y="10800"/>
                  </a:cubicBezTo>
                  <a:cubicBezTo>
                    <a:pt x="19241" y="15412"/>
                    <a:pt x="15538" y="19171"/>
                    <a:pt x="10925" y="19240"/>
                  </a:cubicBezTo>
                  <a:lnTo>
                    <a:pt x="10961" y="21598"/>
                  </a:lnTo>
                  <a:cubicBezTo>
                    <a:pt x="16862" y="21510"/>
                    <a:pt x="21600" y="16701"/>
                    <a:pt x="21600" y="10800"/>
                  </a:cubicBezTo>
                  <a:cubicBezTo>
                    <a:pt x="21600" y="4835"/>
                    <a:pt x="16764" y="0"/>
                    <a:pt x="10800" y="0"/>
                  </a:cubicBezTo>
                  <a:cubicBezTo>
                    <a:pt x="4835" y="0"/>
                    <a:pt x="0" y="4835"/>
                    <a:pt x="0" y="10800"/>
                  </a:cubicBezTo>
                  <a:cubicBezTo>
                    <a:pt x="-1" y="16701"/>
                    <a:pt x="4737" y="21510"/>
                    <a:pt x="10638" y="21598"/>
                  </a:cubicBezTo>
                  <a:close/>
                </a:path>
              </a:pathLst>
            </a:custGeom>
            <a:solidFill>
              <a:srgbClr val="CC0066"/>
            </a:solidFill>
            <a:ln w="9525">
              <a:miter lim="800000"/>
              <a:headEnd/>
              <a:tailEnd/>
            </a:ln>
            <a:effectLst/>
            <a:scene3d>
              <a:camera prst="legacyPerspectiveFront">
                <a:rot lat="2700000" lon="3000000" rev="0"/>
              </a:camera>
              <a:lightRig rig="legacyFlat4" dir="b"/>
            </a:scene3d>
            <a:sp3d extrusionH="430200" prstMaterial="legacyMatte">
              <a:bevelT w="13500" h="13500" prst="angle"/>
              <a:bevelB w="13500" h="13500" prst="angle"/>
              <a:extrusionClr>
                <a:srgbClr val="FF7C80"/>
              </a:extrusionClr>
            </a:sp3d>
          </p:spPr>
          <p:txBody>
            <a:bodyPr wrap="none" anchor="ctr">
              <a:flatTx/>
            </a:bodyPr>
            <a:lstStyle/>
            <a:p>
              <a:pPr algn="ctr" eaLnBrk="1" hangingPunct="1"/>
              <a:endParaRPr lang="fr-FR" sz="1800" b="1"/>
            </a:p>
          </p:txBody>
        </p:sp>
        <p:sp>
          <p:nvSpPr>
            <p:cNvPr id="81040" name="AutoShape 144"/>
            <p:cNvSpPr>
              <a:spLocks noChangeArrowheads="1"/>
            </p:cNvSpPr>
            <p:nvPr/>
          </p:nvSpPr>
          <p:spPr bwMode="auto">
            <a:xfrm>
              <a:off x="1166" y="3321"/>
              <a:ext cx="173" cy="175"/>
            </a:xfrm>
            <a:custGeom>
              <a:avLst/>
              <a:gdLst>
                <a:gd name="G0" fmla="+- 9213 0 0"/>
                <a:gd name="G1" fmla="+- 5963859 0 0"/>
                <a:gd name="G2" fmla="+- 0 0 5963859"/>
                <a:gd name="T0" fmla="*/ 0 256 1"/>
                <a:gd name="T1" fmla="*/ 180 256 1"/>
                <a:gd name="G3" fmla="+- 5963859 T0 T1"/>
                <a:gd name="T2" fmla="*/ 0 256 1"/>
                <a:gd name="T3" fmla="*/ 90 256 1"/>
                <a:gd name="G4" fmla="+- 5963859 T2 T3"/>
                <a:gd name="G5" fmla="*/ G4 2 1"/>
                <a:gd name="T4" fmla="*/ 90 256 1"/>
                <a:gd name="T5" fmla="*/ 0 256 1"/>
                <a:gd name="G6" fmla="+- 5963859 T4 T5"/>
                <a:gd name="G7" fmla="*/ G6 2 1"/>
                <a:gd name="G8" fmla="abs 5963859"/>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213"/>
                <a:gd name="G18" fmla="*/ 9213 1 2"/>
                <a:gd name="G19" fmla="+- G18 5400 0"/>
                <a:gd name="G20" fmla="cos G19 5963859"/>
                <a:gd name="G21" fmla="sin G19 5963859"/>
                <a:gd name="G22" fmla="+- G20 10800 0"/>
                <a:gd name="G23" fmla="+- G21 10800 0"/>
                <a:gd name="G24" fmla="+- 10800 0 G20"/>
                <a:gd name="G25" fmla="+- 9213 10800 0"/>
                <a:gd name="G26" fmla="?: G9 G17 G25"/>
                <a:gd name="G27" fmla="?: G9 0 21600"/>
                <a:gd name="G28" fmla="cos 10800 5963859"/>
                <a:gd name="G29" fmla="sin 10800 5963859"/>
                <a:gd name="G30" fmla="sin 9213 5963859"/>
                <a:gd name="G31" fmla="+- G28 10800 0"/>
                <a:gd name="G32" fmla="+- G29 10800 0"/>
                <a:gd name="G33" fmla="+- G30 10800 0"/>
                <a:gd name="G34" fmla="?: G4 0 G31"/>
                <a:gd name="G35" fmla="?: 5963859 G34 0"/>
                <a:gd name="G36" fmla="?: G6 G35 G31"/>
                <a:gd name="G37" fmla="+- 21600 0 G36"/>
                <a:gd name="G38" fmla="?: G4 0 G33"/>
                <a:gd name="G39" fmla="?: 5963859 G38 G32"/>
                <a:gd name="G40" fmla="?: G6 G39 0"/>
                <a:gd name="G41" fmla="?: G4 G32 21600"/>
                <a:gd name="G42" fmla="?: G6 G41 G33"/>
                <a:gd name="T12" fmla="*/ 10800 w 21600"/>
                <a:gd name="T13" fmla="*/ 0 h 21600"/>
                <a:gd name="T14" fmla="*/ 10625 w 21600"/>
                <a:gd name="T15" fmla="*/ 20805 h 21600"/>
                <a:gd name="T16" fmla="*/ 10800 w 21600"/>
                <a:gd name="T17" fmla="*/ 1587 h 21600"/>
                <a:gd name="T18" fmla="*/ 10975 w 21600"/>
                <a:gd name="T19" fmla="*/ 20805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639" y="20011"/>
                  </a:moveTo>
                  <a:cubicBezTo>
                    <a:pt x="5614" y="19923"/>
                    <a:pt x="1587" y="15825"/>
                    <a:pt x="1587" y="10800"/>
                  </a:cubicBezTo>
                  <a:cubicBezTo>
                    <a:pt x="1587" y="5711"/>
                    <a:pt x="5711" y="1587"/>
                    <a:pt x="10800" y="1587"/>
                  </a:cubicBezTo>
                  <a:cubicBezTo>
                    <a:pt x="15888" y="1587"/>
                    <a:pt x="20013" y="5711"/>
                    <a:pt x="20013" y="10800"/>
                  </a:cubicBezTo>
                  <a:cubicBezTo>
                    <a:pt x="20013" y="15825"/>
                    <a:pt x="15985" y="19923"/>
                    <a:pt x="10960" y="20011"/>
                  </a:cubicBezTo>
                  <a:lnTo>
                    <a:pt x="10988" y="21598"/>
                  </a:lnTo>
                  <a:cubicBezTo>
                    <a:pt x="16878" y="21495"/>
                    <a:pt x="21600" y="16691"/>
                    <a:pt x="21600" y="10800"/>
                  </a:cubicBezTo>
                  <a:cubicBezTo>
                    <a:pt x="21600" y="4835"/>
                    <a:pt x="16764" y="0"/>
                    <a:pt x="10800" y="0"/>
                  </a:cubicBezTo>
                  <a:cubicBezTo>
                    <a:pt x="4835" y="0"/>
                    <a:pt x="0" y="4835"/>
                    <a:pt x="0" y="10800"/>
                  </a:cubicBezTo>
                  <a:cubicBezTo>
                    <a:pt x="-1" y="16691"/>
                    <a:pt x="4721" y="21495"/>
                    <a:pt x="10611" y="21598"/>
                  </a:cubicBezTo>
                  <a:close/>
                </a:path>
              </a:pathLst>
            </a:custGeom>
            <a:solidFill>
              <a:srgbClr val="333399"/>
            </a:solidFill>
            <a:ln w="9525">
              <a:miter lim="800000"/>
              <a:headEnd/>
              <a:tailEnd/>
            </a:ln>
            <a:effectLst/>
            <a:scene3d>
              <a:camera prst="legacyPerspectiveFront">
                <a:rot lat="2400000" lon="3000000" rev="0"/>
              </a:camera>
              <a:lightRig rig="legacyFlat4" dir="b"/>
            </a:scene3d>
            <a:sp3d extrusionH="303200" prstMaterial="legacyMatte">
              <a:bevelT w="13500" h="13500" prst="angle"/>
              <a:bevelB w="13500" h="13500" prst="angle"/>
              <a:extrusionClr>
                <a:srgbClr val="99CCFF"/>
              </a:extrusionClr>
            </a:sp3d>
          </p:spPr>
          <p:txBody>
            <a:bodyPr wrap="none" anchor="ctr">
              <a:flatTx/>
            </a:bodyPr>
            <a:lstStyle/>
            <a:p>
              <a:pPr algn="ctr" eaLnBrk="1" hangingPunct="1"/>
              <a:endParaRPr lang="fr-FR" sz="1800" b="1"/>
            </a:p>
          </p:txBody>
        </p:sp>
        <p:sp>
          <p:nvSpPr>
            <p:cNvPr id="81041" name="Text Box 145"/>
            <p:cNvSpPr txBox="1">
              <a:spLocks noChangeArrowheads="1"/>
            </p:cNvSpPr>
            <p:nvPr/>
          </p:nvSpPr>
          <p:spPr bwMode="auto">
            <a:xfrm>
              <a:off x="1792" y="2804"/>
              <a:ext cx="644" cy="231"/>
            </a:xfrm>
            <a:prstGeom prst="rect">
              <a:avLst/>
            </a:prstGeom>
            <a:noFill/>
            <a:ln w="9525">
              <a:noFill/>
              <a:miter lim="800000"/>
              <a:headEnd/>
              <a:tailEnd/>
            </a:ln>
            <a:effectLst>
              <a:outerShdw dist="17961" dir="2700000" algn="ctr" rotWithShape="0">
                <a:srgbClr val="000000"/>
              </a:outerShdw>
            </a:effectLst>
          </p:spPr>
          <p:txBody>
            <a:bodyPr wrap="none">
              <a:spAutoFit/>
            </a:bodyPr>
            <a:lstStyle/>
            <a:p>
              <a:r>
                <a:rPr lang="en-US" sz="1800" b="1">
                  <a:solidFill>
                    <a:srgbClr val="FFFFFF"/>
                  </a:solidFill>
                  <a:latin typeface="Arial" charset="0"/>
                </a:rPr>
                <a:t>Internet</a:t>
              </a:r>
            </a:p>
          </p:txBody>
        </p:sp>
      </p:grpSp>
      <p:sp>
        <p:nvSpPr>
          <p:cNvPr id="81042" name="Line 146"/>
          <p:cNvSpPr>
            <a:spLocks noChangeShapeType="1"/>
          </p:cNvSpPr>
          <p:nvPr/>
        </p:nvSpPr>
        <p:spPr bwMode="auto">
          <a:xfrm flipH="1">
            <a:off x="1306513" y="4700588"/>
            <a:ext cx="628650" cy="357187"/>
          </a:xfrm>
          <a:prstGeom prst="line">
            <a:avLst/>
          </a:prstGeom>
          <a:noFill/>
          <a:ln w="76200" cap="rnd">
            <a:solidFill>
              <a:schemeClr val="tx1"/>
            </a:solidFill>
            <a:prstDash val="sysDot"/>
            <a:round/>
            <a:headEnd/>
            <a:tailEnd/>
          </a:ln>
          <a:effectLst/>
        </p:spPr>
        <p:txBody>
          <a:bodyPr/>
          <a:lstStyle/>
          <a:p>
            <a:endParaRPr lang="fr-FR"/>
          </a:p>
        </p:txBody>
      </p:sp>
      <p:sp>
        <p:nvSpPr>
          <p:cNvPr id="81043" name="Line 147"/>
          <p:cNvSpPr>
            <a:spLocks noChangeShapeType="1"/>
          </p:cNvSpPr>
          <p:nvPr/>
        </p:nvSpPr>
        <p:spPr bwMode="auto">
          <a:xfrm flipH="1">
            <a:off x="3798888" y="3241675"/>
            <a:ext cx="569912" cy="322263"/>
          </a:xfrm>
          <a:prstGeom prst="line">
            <a:avLst/>
          </a:prstGeom>
          <a:noFill/>
          <a:ln w="76200" cap="rnd">
            <a:solidFill>
              <a:schemeClr val="tx1"/>
            </a:solidFill>
            <a:prstDash val="sysDot"/>
            <a:round/>
            <a:headEnd/>
            <a:tailEnd/>
          </a:ln>
          <a:effectLst/>
        </p:spPr>
        <p:txBody>
          <a:bodyPr/>
          <a:lstStyle/>
          <a:p>
            <a:endParaRPr lang="fr-FR"/>
          </a:p>
        </p:txBody>
      </p:sp>
      <p:grpSp>
        <p:nvGrpSpPr>
          <p:cNvPr id="81044" name="Group 148"/>
          <p:cNvGrpSpPr>
            <a:grpSpLocks/>
          </p:cNvGrpSpPr>
          <p:nvPr/>
        </p:nvGrpSpPr>
        <p:grpSpPr bwMode="auto">
          <a:xfrm>
            <a:off x="717550" y="4716463"/>
            <a:ext cx="838200" cy="630237"/>
            <a:chOff x="1491" y="3068"/>
            <a:chExt cx="748" cy="562"/>
          </a:xfrm>
        </p:grpSpPr>
        <p:grpSp>
          <p:nvGrpSpPr>
            <p:cNvPr id="81045" name="Group 149"/>
            <p:cNvGrpSpPr>
              <a:grpSpLocks/>
            </p:cNvGrpSpPr>
            <p:nvPr/>
          </p:nvGrpSpPr>
          <p:grpSpPr bwMode="auto">
            <a:xfrm>
              <a:off x="1491" y="3348"/>
              <a:ext cx="643" cy="282"/>
              <a:chOff x="1491" y="3348"/>
              <a:chExt cx="643" cy="282"/>
            </a:xfrm>
          </p:grpSpPr>
          <p:sp>
            <p:nvSpPr>
              <p:cNvPr id="81046" name="Freeform 150"/>
              <p:cNvSpPr>
                <a:spLocks/>
              </p:cNvSpPr>
              <p:nvPr/>
            </p:nvSpPr>
            <p:spPr bwMode="auto">
              <a:xfrm>
                <a:off x="1844" y="3402"/>
                <a:ext cx="290" cy="226"/>
              </a:xfrm>
              <a:custGeom>
                <a:avLst/>
                <a:gdLst/>
                <a:ahLst/>
                <a:cxnLst>
                  <a:cxn ang="0">
                    <a:pos x="0" y="123"/>
                  </a:cxn>
                  <a:cxn ang="0">
                    <a:pos x="290" y="0"/>
                  </a:cxn>
                  <a:cxn ang="0">
                    <a:pos x="290" y="98"/>
                  </a:cxn>
                  <a:cxn ang="0">
                    <a:pos x="0" y="226"/>
                  </a:cxn>
                  <a:cxn ang="0">
                    <a:pos x="0" y="123"/>
                  </a:cxn>
                </a:cxnLst>
                <a:rect l="0" t="0" r="r" b="b"/>
                <a:pathLst>
                  <a:path w="290" h="226">
                    <a:moveTo>
                      <a:pt x="0" y="123"/>
                    </a:moveTo>
                    <a:lnTo>
                      <a:pt x="290" y="0"/>
                    </a:lnTo>
                    <a:lnTo>
                      <a:pt x="290" y="98"/>
                    </a:lnTo>
                    <a:lnTo>
                      <a:pt x="0" y="226"/>
                    </a:lnTo>
                    <a:lnTo>
                      <a:pt x="0" y="123"/>
                    </a:lnTo>
                  </a:path>
                </a:pathLst>
              </a:custGeom>
              <a:gradFill rotWithShape="0">
                <a:gsLst>
                  <a:gs pos="0">
                    <a:srgbClr val="919191">
                      <a:gamma/>
                      <a:tint val="22745"/>
                      <a:invGamma/>
                    </a:srgbClr>
                  </a:gs>
                  <a:gs pos="100000">
                    <a:srgbClr val="919191"/>
                  </a:gs>
                </a:gsLst>
                <a:lin ang="18900000" scaled="1"/>
              </a:gradFill>
              <a:ln w="6350" cap="rnd" cmpd="sng">
                <a:solidFill>
                  <a:srgbClr val="333333"/>
                </a:solidFill>
                <a:prstDash val="solid"/>
                <a:miter lim="800000"/>
                <a:headEnd type="none" w="med" len="med"/>
                <a:tailEnd type="none" w="med" len="med"/>
              </a:ln>
              <a:effectLst/>
            </p:spPr>
            <p:txBody>
              <a:bodyPr/>
              <a:lstStyle/>
              <a:p>
                <a:endParaRPr lang="fr-FR"/>
              </a:p>
            </p:txBody>
          </p:sp>
          <p:sp>
            <p:nvSpPr>
              <p:cNvPr id="81047" name="Freeform 151"/>
              <p:cNvSpPr>
                <a:spLocks/>
              </p:cNvSpPr>
              <p:nvPr/>
            </p:nvSpPr>
            <p:spPr bwMode="auto">
              <a:xfrm>
                <a:off x="1491" y="3449"/>
                <a:ext cx="355" cy="181"/>
              </a:xfrm>
              <a:custGeom>
                <a:avLst/>
                <a:gdLst/>
                <a:ahLst/>
                <a:cxnLst>
                  <a:cxn ang="0">
                    <a:pos x="355" y="77"/>
                  </a:cxn>
                  <a:cxn ang="0">
                    <a:pos x="355" y="181"/>
                  </a:cxn>
                  <a:cxn ang="0">
                    <a:pos x="0" y="94"/>
                  </a:cxn>
                  <a:cxn ang="0">
                    <a:pos x="0" y="0"/>
                  </a:cxn>
                </a:cxnLst>
                <a:rect l="0" t="0" r="r" b="b"/>
                <a:pathLst>
                  <a:path w="355" h="181">
                    <a:moveTo>
                      <a:pt x="355" y="77"/>
                    </a:moveTo>
                    <a:lnTo>
                      <a:pt x="355" y="181"/>
                    </a:lnTo>
                    <a:lnTo>
                      <a:pt x="0" y="94"/>
                    </a:lnTo>
                    <a:lnTo>
                      <a:pt x="0" y="0"/>
                    </a:lnTo>
                  </a:path>
                </a:pathLst>
              </a:custGeom>
              <a:gradFill rotWithShape="0">
                <a:gsLst>
                  <a:gs pos="0">
                    <a:srgbClr val="919191">
                      <a:gamma/>
                      <a:tint val="22745"/>
                      <a:invGamma/>
                    </a:srgbClr>
                  </a:gs>
                  <a:gs pos="100000">
                    <a:srgbClr val="919191"/>
                  </a:gs>
                </a:gsLst>
                <a:lin ang="18900000" scaled="1"/>
              </a:gradFill>
              <a:ln w="6350" cap="rnd" cmpd="sng">
                <a:solidFill>
                  <a:srgbClr val="333333"/>
                </a:solidFill>
                <a:prstDash val="solid"/>
                <a:miter lim="800000"/>
                <a:headEnd type="none" w="med" len="med"/>
                <a:tailEnd type="none" w="med" len="med"/>
              </a:ln>
              <a:effectLst/>
            </p:spPr>
            <p:txBody>
              <a:bodyPr/>
              <a:lstStyle/>
              <a:p>
                <a:endParaRPr lang="fr-FR"/>
              </a:p>
            </p:txBody>
          </p:sp>
          <p:sp>
            <p:nvSpPr>
              <p:cNvPr id="81048" name="Oval 152"/>
              <p:cNvSpPr>
                <a:spLocks noChangeArrowheads="1"/>
              </p:cNvSpPr>
              <p:nvPr/>
            </p:nvSpPr>
            <p:spPr bwMode="auto">
              <a:xfrm>
                <a:off x="1592" y="3506"/>
                <a:ext cx="40" cy="40"/>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81049" name="Oval 153"/>
              <p:cNvSpPr>
                <a:spLocks noChangeArrowheads="1"/>
              </p:cNvSpPr>
              <p:nvPr/>
            </p:nvSpPr>
            <p:spPr bwMode="auto">
              <a:xfrm>
                <a:off x="1650" y="3523"/>
                <a:ext cx="40" cy="39"/>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81050" name="Oval 154"/>
              <p:cNvSpPr>
                <a:spLocks noChangeArrowheads="1"/>
              </p:cNvSpPr>
              <p:nvPr/>
            </p:nvSpPr>
            <p:spPr bwMode="auto">
              <a:xfrm>
                <a:off x="1712" y="3536"/>
                <a:ext cx="40" cy="40"/>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81051" name="Oval 155"/>
              <p:cNvSpPr>
                <a:spLocks noChangeArrowheads="1"/>
              </p:cNvSpPr>
              <p:nvPr/>
            </p:nvSpPr>
            <p:spPr bwMode="auto">
              <a:xfrm>
                <a:off x="1769" y="3555"/>
                <a:ext cx="40" cy="39"/>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81052" name="Freeform 156"/>
              <p:cNvSpPr>
                <a:spLocks/>
              </p:cNvSpPr>
              <p:nvPr/>
            </p:nvSpPr>
            <p:spPr bwMode="auto">
              <a:xfrm>
                <a:off x="1496" y="3348"/>
                <a:ext cx="636" cy="180"/>
              </a:xfrm>
              <a:custGeom>
                <a:avLst/>
                <a:gdLst/>
                <a:ahLst/>
                <a:cxnLst>
                  <a:cxn ang="0">
                    <a:pos x="0" y="102"/>
                  </a:cxn>
                  <a:cxn ang="0">
                    <a:pos x="252" y="0"/>
                  </a:cxn>
                  <a:cxn ang="0">
                    <a:pos x="636" y="54"/>
                  </a:cxn>
                  <a:cxn ang="0">
                    <a:pos x="344" y="180"/>
                  </a:cxn>
                  <a:cxn ang="0">
                    <a:pos x="1" y="102"/>
                  </a:cxn>
                </a:cxnLst>
                <a:rect l="0" t="0" r="r" b="b"/>
                <a:pathLst>
                  <a:path w="636" h="180">
                    <a:moveTo>
                      <a:pt x="0" y="102"/>
                    </a:moveTo>
                    <a:lnTo>
                      <a:pt x="252" y="0"/>
                    </a:lnTo>
                    <a:lnTo>
                      <a:pt x="636" y="54"/>
                    </a:lnTo>
                    <a:lnTo>
                      <a:pt x="344" y="180"/>
                    </a:lnTo>
                    <a:lnTo>
                      <a:pt x="1" y="102"/>
                    </a:lnTo>
                  </a:path>
                </a:pathLst>
              </a:custGeom>
              <a:solidFill>
                <a:srgbClr val="808080"/>
              </a:solidFill>
              <a:ln w="6350" cap="rnd" cmpd="sng">
                <a:solidFill>
                  <a:srgbClr val="333333"/>
                </a:solidFill>
                <a:prstDash val="solid"/>
                <a:miter lim="800000"/>
                <a:headEnd type="none" w="med" len="med"/>
                <a:tailEnd type="none" w="med" len="med"/>
              </a:ln>
              <a:effectLst/>
            </p:spPr>
            <p:txBody>
              <a:bodyPr/>
              <a:lstStyle/>
              <a:p>
                <a:endParaRPr lang="fr-FR"/>
              </a:p>
            </p:txBody>
          </p:sp>
        </p:grpSp>
        <p:grpSp>
          <p:nvGrpSpPr>
            <p:cNvPr id="81053" name="Group 157"/>
            <p:cNvGrpSpPr>
              <a:grpSpLocks/>
            </p:cNvGrpSpPr>
            <p:nvPr/>
          </p:nvGrpSpPr>
          <p:grpSpPr bwMode="auto">
            <a:xfrm>
              <a:off x="1503" y="3068"/>
              <a:ext cx="736" cy="456"/>
              <a:chOff x="2036" y="1670"/>
              <a:chExt cx="852" cy="504"/>
            </a:xfrm>
          </p:grpSpPr>
          <p:sp>
            <p:nvSpPr>
              <p:cNvPr id="81054" name="Freeform 158"/>
              <p:cNvSpPr>
                <a:spLocks/>
              </p:cNvSpPr>
              <p:nvPr/>
            </p:nvSpPr>
            <p:spPr bwMode="auto">
              <a:xfrm>
                <a:off x="2036" y="1731"/>
                <a:ext cx="719" cy="443"/>
              </a:xfrm>
              <a:custGeom>
                <a:avLst/>
                <a:gdLst/>
                <a:ahLst/>
                <a:cxnLst>
                  <a:cxn ang="0">
                    <a:pos x="256" y="46"/>
                  </a:cxn>
                  <a:cxn ang="0">
                    <a:pos x="16" y="250"/>
                  </a:cxn>
                  <a:cxn ang="0">
                    <a:pos x="0" y="269"/>
                  </a:cxn>
                  <a:cxn ang="0">
                    <a:pos x="1" y="361"/>
                  </a:cxn>
                  <a:cxn ang="0">
                    <a:pos x="366" y="443"/>
                  </a:cxn>
                  <a:cxn ang="0">
                    <a:pos x="390" y="441"/>
                  </a:cxn>
                  <a:cxn ang="0">
                    <a:pos x="716" y="308"/>
                  </a:cxn>
                  <a:cxn ang="0">
                    <a:pos x="719" y="46"/>
                  </a:cxn>
                  <a:cxn ang="0">
                    <a:pos x="320" y="0"/>
                  </a:cxn>
                  <a:cxn ang="0">
                    <a:pos x="261" y="22"/>
                  </a:cxn>
                  <a:cxn ang="0">
                    <a:pos x="256" y="46"/>
                  </a:cxn>
                </a:cxnLst>
                <a:rect l="0" t="0" r="r" b="b"/>
                <a:pathLst>
                  <a:path w="719" h="443">
                    <a:moveTo>
                      <a:pt x="256" y="46"/>
                    </a:moveTo>
                    <a:lnTo>
                      <a:pt x="16" y="250"/>
                    </a:lnTo>
                    <a:lnTo>
                      <a:pt x="0" y="269"/>
                    </a:lnTo>
                    <a:lnTo>
                      <a:pt x="1" y="361"/>
                    </a:lnTo>
                    <a:lnTo>
                      <a:pt x="366" y="443"/>
                    </a:lnTo>
                    <a:lnTo>
                      <a:pt x="390" y="441"/>
                    </a:lnTo>
                    <a:lnTo>
                      <a:pt x="716" y="308"/>
                    </a:lnTo>
                    <a:lnTo>
                      <a:pt x="719" y="46"/>
                    </a:lnTo>
                    <a:lnTo>
                      <a:pt x="320" y="0"/>
                    </a:lnTo>
                    <a:lnTo>
                      <a:pt x="261" y="22"/>
                    </a:lnTo>
                    <a:lnTo>
                      <a:pt x="256" y="46"/>
                    </a:lnTo>
                  </a:path>
                </a:pathLst>
              </a:custGeom>
              <a:solidFill>
                <a:srgbClr val="FCFEB9"/>
              </a:solidFill>
              <a:ln w="6350" cap="rnd" cmpd="sng">
                <a:solidFill>
                  <a:schemeClr val="tx1"/>
                </a:solidFill>
                <a:prstDash val="solid"/>
                <a:round/>
                <a:headEnd type="none" w="med" len="med"/>
                <a:tailEnd type="none" w="med" len="med"/>
              </a:ln>
              <a:effectLst/>
            </p:spPr>
            <p:txBody>
              <a:bodyPr/>
              <a:lstStyle/>
              <a:p>
                <a:endParaRPr lang="fr-FR"/>
              </a:p>
            </p:txBody>
          </p:sp>
          <p:sp>
            <p:nvSpPr>
              <p:cNvPr id="81055" name="Freeform 159"/>
              <p:cNvSpPr>
                <a:spLocks/>
              </p:cNvSpPr>
              <p:nvPr/>
            </p:nvSpPr>
            <p:spPr bwMode="auto">
              <a:xfrm rot="65756">
                <a:off x="2299" y="1735"/>
                <a:ext cx="453" cy="87"/>
              </a:xfrm>
              <a:custGeom>
                <a:avLst/>
                <a:gdLst/>
                <a:ahLst/>
                <a:cxnLst>
                  <a:cxn ang="0">
                    <a:pos x="0" y="29"/>
                  </a:cxn>
                  <a:cxn ang="0">
                    <a:pos x="66" y="0"/>
                  </a:cxn>
                  <a:cxn ang="0">
                    <a:pos x="514" y="50"/>
                  </a:cxn>
                  <a:cxn ang="0">
                    <a:pos x="435" y="107"/>
                  </a:cxn>
                  <a:cxn ang="0">
                    <a:pos x="435" y="86"/>
                  </a:cxn>
                  <a:cxn ang="0">
                    <a:pos x="374" y="76"/>
                  </a:cxn>
                  <a:cxn ang="0">
                    <a:pos x="374" y="110"/>
                  </a:cxn>
                  <a:cxn ang="0">
                    <a:pos x="53" y="68"/>
                  </a:cxn>
                  <a:cxn ang="0">
                    <a:pos x="53" y="29"/>
                  </a:cxn>
                  <a:cxn ang="0">
                    <a:pos x="0" y="29"/>
                  </a:cxn>
                </a:cxnLst>
                <a:rect l="0" t="0" r="r" b="b"/>
                <a:pathLst>
                  <a:path w="515" h="111">
                    <a:moveTo>
                      <a:pt x="0" y="29"/>
                    </a:moveTo>
                    <a:lnTo>
                      <a:pt x="66" y="0"/>
                    </a:lnTo>
                    <a:lnTo>
                      <a:pt x="514" y="50"/>
                    </a:lnTo>
                    <a:lnTo>
                      <a:pt x="435" y="107"/>
                    </a:lnTo>
                    <a:lnTo>
                      <a:pt x="435" y="86"/>
                    </a:lnTo>
                    <a:lnTo>
                      <a:pt x="374" y="76"/>
                    </a:lnTo>
                    <a:lnTo>
                      <a:pt x="374" y="110"/>
                    </a:lnTo>
                    <a:lnTo>
                      <a:pt x="53" y="68"/>
                    </a:lnTo>
                    <a:lnTo>
                      <a:pt x="53" y="29"/>
                    </a:lnTo>
                    <a:lnTo>
                      <a:pt x="0" y="29"/>
                    </a:lnTo>
                  </a:path>
                </a:pathLst>
              </a:custGeom>
              <a:solidFill>
                <a:schemeClr val="tx1"/>
              </a:solidFill>
              <a:ln w="12700" cap="rnd" cmpd="sng">
                <a:solidFill>
                  <a:schemeClr val="tx1"/>
                </a:solidFill>
                <a:prstDash val="solid"/>
                <a:round/>
                <a:headEnd type="none" w="med" len="med"/>
                <a:tailEnd type="none" w="med" len="med"/>
              </a:ln>
              <a:effectLst/>
            </p:spPr>
            <p:txBody>
              <a:bodyPr/>
              <a:lstStyle/>
              <a:p>
                <a:endParaRPr lang="fr-FR"/>
              </a:p>
            </p:txBody>
          </p:sp>
          <p:sp>
            <p:nvSpPr>
              <p:cNvPr id="81056" name="Freeform 160"/>
              <p:cNvSpPr>
                <a:spLocks/>
              </p:cNvSpPr>
              <p:nvPr/>
            </p:nvSpPr>
            <p:spPr bwMode="auto">
              <a:xfrm rot="65756">
                <a:off x="2413" y="1783"/>
                <a:ext cx="330" cy="379"/>
              </a:xfrm>
              <a:custGeom>
                <a:avLst/>
                <a:gdLst/>
                <a:ahLst/>
                <a:cxnLst>
                  <a:cxn ang="0">
                    <a:pos x="0" y="391"/>
                  </a:cxn>
                  <a:cxn ang="0">
                    <a:pos x="0" y="473"/>
                  </a:cxn>
                  <a:cxn ang="0">
                    <a:pos x="14" y="481"/>
                  </a:cxn>
                  <a:cxn ang="0">
                    <a:pos x="372" y="318"/>
                  </a:cxn>
                  <a:cxn ang="0">
                    <a:pos x="374" y="0"/>
                  </a:cxn>
                  <a:cxn ang="0">
                    <a:pos x="295" y="32"/>
                  </a:cxn>
                  <a:cxn ang="0">
                    <a:pos x="295" y="71"/>
                  </a:cxn>
                </a:cxnLst>
                <a:rect l="0" t="0" r="r" b="b"/>
                <a:pathLst>
                  <a:path w="375" h="482">
                    <a:moveTo>
                      <a:pt x="0" y="391"/>
                    </a:moveTo>
                    <a:lnTo>
                      <a:pt x="0" y="473"/>
                    </a:lnTo>
                    <a:lnTo>
                      <a:pt x="14" y="481"/>
                    </a:lnTo>
                    <a:lnTo>
                      <a:pt x="372" y="318"/>
                    </a:lnTo>
                    <a:lnTo>
                      <a:pt x="374" y="0"/>
                    </a:lnTo>
                    <a:lnTo>
                      <a:pt x="295" y="32"/>
                    </a:lnTo>
                    <a:lnTo>
                      <a:pt x="295" y="71"/>
                    </a:lnTo>
                  </a:path>
                </a:pathLst>
              </a:custGeom>
              <a:solidFill>
                <a:srgbClr val="EAEC5E"/>
              </a:solidFill>
              <a:ln w="12700" cap="rnd" cmpd="sng">
                <a:noFill/>
                <a:prstDash val="solid"/>
                <a:round/>
                <a:headEnd type="none" w="med" len="med"/>
                <a:tailEnd type="none" w="med" len="med"/>
              </a:ln>
              <a:effectLst/>
            </p:spPr>
            <p:txBody>
              <a:bodyPr/>
              <a:lstStyle/>
              <a:p>
                <a:endParaRPr lang="fr-FR"/>
              </a:p>
            </p:txBody>
          </p:sp>
          <p:grpSp>
            <p:nvGrpSpPr>
              <p:cNvPr id="81057" name="Group 161"/>
              <p:cNvGrpSpPr>
                <a:grpSpLocks/>
              </p:cNvGrpSpPr>
              <p:nvPr/>
            </p:nvGrpSpPr>
            <p:grpSpPr bwMode="auto">
              <a:xfrm rot="65756">
                <a:off x="2178" y="1841"/>
                <a:ext cx="325" cy="164"/>
                <a:chOff x="2004" y="2425"/>
                <a:chExt cx="370" cy="208"/>
              </a:xfrm>
            </p:grpSpPr>
            <p:sp>
              <p:nvSpPr>
                <p:cNvPr id="81058" name="Freeform 162"/>
                <p:cNvSpPr>
                  <a:spLocks/>
                </p:cNvSpPr>
                <p:nvPr/>
              </p:nvSpPr>
              <p:spPr bwMode="auto">
                <a:xfrm>
                  <a:off x="2004" y="2425"/>
                  <a:ext cx="370" cy="208"/>
                </a:xfrm>
                <a:custGeom>
                  <a:avLst/>
                  <a:gdLst/>
                  <a:ahLst/>
                  <a:cxnLst>
                    <a:cxn ang="0">
                      <a:pos x="175" y="0"/>
                    </a:cxn>
                    <a:cxn ang="0">
                      <a:pos x="0" y="175"/>
                    </a:cxn>
                    <a:cxn ang="0">
                      <a:pos x="199" y="207"/>
                    </a:cxn>
                    <a:cxn ang="0">
                      <a:pos x="369" y="26"/>
                    </a:cxn>
                    <a:cxn ang="0">
                      <a:pos x="175" y="0"/>
                    </a:cxn>
                  </a:cxnLst>
                  <a:rect l="0" t="0" r="r" b="b"/>
                  <a:pathLst>
                    <a:path w="370" h="208">
                      <a:moveTo>
                        <a:pt x="175" y="0"/>
                      </a:moveTo>
                      <a:lnTo>
                        <a:pt x="0" y="175"/>
                      </a:lnTo>
                      <a:lnTo>
                        <a:pt x="199" y="207"/>
                      </a:lnTo>
                      <a:lnTo>
                        <a:pt x="369" y="26"/>
                      </a:lnTo>
                      <a:lnTo>
                        <a:pt x="175" y="0"/>
                      </a:lnTo>
                    </a:path>
                  </a:pathLst>
                </a:custGeom>
                <a:solidFill>
                  <a:srgbClr val="B3B900"/>
                </a:solidFill>
                <a:ln w="12700" cap="rnd" cmpd="sng">
                  <a:noFill/>
                  <a:prstDash val="solid"/>
                  <a:round/>
                  <a:headEnd type="none" w="med" len="med"/>
                  <a:tailEnd type="none" w="med" len="med"/>
                </a:ln>
                <a:effectLst/>
              </p:spPr>
              <p:txBody>
                <a:bodyPr/>
                <a:lstStyle/>
                <a:p>
                  <a:endParaRPr lang="fr-FR"/>
                </a:p>
              </p:txBody>
            </p:sp>
            <p:sp>
              <p:nvSpPr>
                <p:cNvPr id="81059" name="Freeform 163"/>
                <p:cNvSpPr>
                  <a:spLocks/>
                </p:cNvSpPr>
                <p:nvPr/>
              </p:nvSpPr>
              <p:spPr bwMode="auto">
                <a:xfrm>
                  <a:off x="2162" y="2437"/>
                  <a:ext cx="60" cy="32"/>
                </a:xfrm>
                <a:custGeom>
                  <a:avLst/>
                  <a:gdLst/>
                  <a:ahLst/>
                  <a:cxnLst>
                    <a:cxn ang="0">
                      <a:pos x="26" y="0"/>
                    </a:cxn>
                    <a:cxn ang="0">
                      <a:pos x="0" y="25"/>
                    </a:cxn>
                    <a:cxn ang="0">
                      <a:pos x="33" y="31"/>
                    </a:cxn>
                    <a:cxn ang="0">
                      <a:pos x="59" y="4"/>
                    </a:cxn>
                    <a:cxn ang="0">
                      <a:pos x="26" y="0"/>
                    </a:cxn>
                  </a:cxnLst>
                  <a:rect l="0" t="0" r="r" b="b"/>
                  <a:pathLst>
                    <a:path w="60" h="32">
                      <a:moveTo>
                        <a:pt x="26" y="0"/>
                      </a:moveTo>
                      <a:lnTo>
                        <a:pt x="0" y="25"/>
                      </a:lnTo>
                      <a:lnTo>
                        <a:pt x="33" y="31"/>
                      </a:lnTo>
                      <a:lnTo>
                        <a:pt x="59" y="4"/>
                      </a:lnTo>
                      <a:lnTo>
                        <a:pt x="26" y="0"/>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81060" name="Freeform 164"/>
                <p:cNvSpPr>
                  <a:spLocks/>
                </p:cNvSpPr>
                <p:nvPr/>
              </p:nvSpPr>
              <p:spPr bwMode="auto">
                <a:xfrm>
                  <a:off x="2285" y="2454"/>
                  <a:ext cx="59" cy="33"/>
                </a:xfrm>
                <a:custGeom>
                  <a:avLst/>
                  <a:gdLst/>
                  <a:ahLst/>
                  <a:cxnLst>
                    <a:cxn ang="0">
                      <a:pos x="25" y="0"/>
                    </a:cxn>
                    <a:cxn ang="0">
                      <a:pos x="0" y="26"/>
                    </a:cxn>
                    <a:cxn ang="0">
                      <a:pos x="33" y="32"/>
                    </a:cxn>
                    <a:cxn ang="0">
                      <a:pos x="58" y="4"/>
                    </a:cxn>
                    <a:cxn ang="0">
                      <a:pos x="25" y="0"/>
                    </a:cxn>
                  </a:cxnLst>
                  <a:rect l="0" t="0" r="r" b="b"/>
                  <a:pathLst>
                    <a:path w="59" h="33">
                      <a:moveTo>
                        <a:pt x="25" y="0"/>
                      </a:moveTo>
                      <a:lnTo>
                        <a:pt x="0" y="26"/>
                      </a:lnTo>
                      <a:lnTo>
                        <a:pt x="33" y="32"/>
                      </a:lnTo>
                      <a:lnTo>
                        <a:pt x="58" y="4"/>
                      </a:lnTo>
                      <a:lnTo>
                        <a:pt x="25" y="0"/>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81061" name="Freeform 165"/>
                <p:cNvSpPr>
                  <a:spLocks/>
                </p:cNvSpPr>
                <p:nvPr/>
              </p:nvSpPr>
              <p:spPr bwMode="auto">
                <a:xfrm>
                  <a:off x="2222" y="2446"/>
                  <a:ext cx="60" cy="32"/>
                </a:xfrm>
                <a:custGeom>
                  <a:avLst/>
                  <a:gdLst/>
                  <a:ahLst/>
                  <a:cxnLst>
                    <a:cxn ang="0">
                      <a:pos x="26" y="0"/>
                    </a:cxn>
                    <a:cxn ang="0">
                      <a:pos x="0" y="25"/>
                    </a:cxn>
                    <a:cxn ang="0">
                      <a:pos x="33" y="31"/>
                    </a:cxn>
                    <a:cxn ang="0">
                      <a:pos x="59" y="4"/>
                    </a:cxn>
                    <a:cxn ang="0">
                      <a:pos x="26" y="0"/>
                    </a:cxn>
                  </a:cxnLst>
                  <a:rect l="0" t="0" r="r" b="b"/>
                  <a:pathLst>
                    <a:path w="60" h="32">
                      <a:moveTo>
                        <a:pt x="26" y="0"/>
                      </a:moveTo>
                      <a:lnTo>
                        <a:pt x="0" y="25"/>
                      </a:lnTo>
                      <a:lnTo>
                        <a:pt x="33" y="31"/>
                      </a:lnTo>
                      <a:lnTo>
                        <a:pt x="59" y="4"/>
                      </a:lnTo>
                      <a:lnTo>
                        <a:pt x="26" y="0"/>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81062" name="Freeform 166"/>
                <p:cNvSpPr>
                  <a:spLocks/>
                </p:cNvSpPr>
                <p:nvPr/>
              </p:nvSpPr>
              <p:spPr bwMode="auto">
                <a:xfrm>
                  <a:off x="2120" y="2479"/>
                  <a:ext cx="60" cy="34"/>
                </a:xfrm>
                <a:custGeom>
                  <a:avLst/>
                  <a:gdLst/>
                  <a:ahLst/>
                  <a:cxnLst>
                    <a:cxn ang="0">
                      <a:pos x="26" y="0"/>
                    </a:cxn>
                    <a:cxn ang="0">
                      <a:pos x="0" y="27"/>
                    </a:cxn>
                    <a:cxn ang="0">
                      <a:pos x="33" y="33"/>
                    </a:cxn>
                    <a:cxn ang="0">
                      <a:pos x="59" y="5"/>
                    </a:cxn>
                    <a:cxn ang="0">
                      <a:pos x="26" y="0"/>
                    </a:cxn>
                  </a:cxnLst>
                  <a:rect l="0" t="0" r="r" b="b"/>
                  <a:pathLst>
                    <a:path w="60" h="34">
                      <a:moveTo>
                        <a:pt x="26" y="0"/>
                      </a:moveTo>
                      <a:lnTo>
                        <a:pt x="0" y="27"/>
                      </a:lnTo>
                      <a:lnTo>
                        <a:pt x="33" y="33"/>
                      </a:lnTo>
                      <a:lnTo>
                        <a:pt x="59" y="5"/>
                      </a:lnTo>
                      <a:lnTo>
                        <a:pt x="26" y="0"/>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81063" name="Freeform 167"/>
                <p:cNvSpPr>
                  <a:spLocks/>
                </p:cNvSpPr>
                <p:nvPr/>
              </p:nvSpPr>
              <p:spPr bwMode="auto">
                <a:xfrm>
                  <a:off x="2242" y="2497"/>
                  <a:ext cx="61" cy="34"/>
                </a:xfrm>
                <a:custGeom>
                  <a:avLst/>
                  <a:gdLst/>
                  <a:ahLst/>
                  <a:cxnLst>
                    <a:cxn ang="0">
                      <a:pos x="26" y="0"/>
                    </a:cxn>
                    <a:cxn ang="0">
                      <a:pos x="0" y="27"/>
                    </a:cxn>
                    <a:cxn ang="0">
                      <a:pos x="34" y="33"/>
                    </a:cxn>
                    <a:cxn ang="0">
                      <a:pos x="60" y="5"/>
                    </a:cxn>
                    <a:cxn ang="0">
                      <a:pos x="26" y="0"/>
                    </a:cxn>
                  </a:cxnLst>
                  <a:rect l="0" t="0" r="r" b="b"/>
                  <a:pathLst>
                    <a:path w="61" h="34">
                      <a:moveTo>
                        <a:pt x="26" y="0"/>
                      </a:moveTo>
                      <a:lnTo>
                        <a:pt x="0" y="27"/>
                      </a:lnTo>
                      <a:lnTo>
                        <a:pt x="34" y="33"/>
                      </a:lnTo>
                      <a:lnTo>
                        <a:pt x="60" y="5"/>
                      </a:lnTo>
                      <a:lnTo>
                        <a:pt x="26" y="0"/>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81064" name="Freeform 168"/>
                <p:cNvSpPr>
                  <a:spLocks/>
                </p:cNvSpPr>
                <p:nvPr/>
              </p:nvSpPr>
              <p:spPr bwMode="auto">
                <a:xfrm>
                  <a:off x="2181" y="2488"/>
                  <a:ext cx="59" cy="33"/>
                </a:xfrm>
                <a:custGeom>
                  <a:avLst/>
                  <a:gdLst/>
                  <a:ahLst/>
                  <a:cxnLst>
                    <a:cxn ang="0">
                      <a:pos x="25" y="0"/>
                    </a:cxn>
                    <a:cxn ang="0">
                      <a:pos x="0" y="26"/>
                    </a:cxn>
                    <a:cxn ang="0">
                      <a:pos x="33" y="32"/>
                    </a:cxn>
                    <a:cxn ang="0">
                      <a:pos x="58" y="4"/>
                    </a:cxn>
                    <a:cxn ang="0">
                      <a:pos x="25" y="0"/>
                    </a:cxn>
                  </a:cxnLst>
                  <a:rect l="0" t="0" r="r" b="b"/>
                  <a:pathLst>
                    <a:path w="59" h="33">
                      <a:moveTo>
                        <a:pt x="25" y="0"/>
                      </a:moveTo>
                      <a:lnTo>
                        <a:pt x="0" y="26"/>
                      </a:lnTo>
                      <a:lnTo>
                        <a:pt x="33" y="32"/>
                      </a:lnTo>
                      <a:lnTo>
                        <a:pt x="58" y="4"/>
                      </a:lnTo>
                      <a:lnTo>
                        <a:pt x="25" y="0"/>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81065" name="Freeform 169"/>
                <p:cNvSpPr>
                  <a:spLocks/>
                </p:cNvSpPr>
                <p:nvPr/>
              </p:nvSpPr>
              <p:spPr bwMode="auto">
                <a:xfrm>
                  <a:off x="2081" y="2522"/>
                  <a:ext cx="60" cy="33"/>
                </a:xfrm>
                <a:custGeom>
                  <a:avLst/>
                  <a:gdLst/>
                  <a:ahLst/>
                  <a:cxnLst>
                    <a:cxn ang="0">
                      <a:pos x="26" y="0"/>
                    </a:cxn>
                    <a:cxn ang="0">
                      <a:pos x="0" y="26"/>
                    </a:cxn>
                    <a:cxn ang="0">
                      <a:pos x="33" y="32"/>
                    </a:cxn>
                    <a:cxn ang="0">
                      <a:pos x="59" y="4"/>
                    </a:cxn>
                    <a:cxn ang="0">
                      <a:pos x="26" y="0"/>
                    </a:cxn>
                  </a:cxnLst>
                  <a:rect l="0" t="0" r="r" b="b"/>
                  <a:pathLst>
                    <a:path w="60" h="33">
                      <a:moveTo>
                        <a:pt x="26" y="0"/>
                      </a:moveTo>
                      <a:lnTo>
                        <a:pt x="0" y="26"/>
                      </a:lnTo>
                      <a:lnTo>
                        <a:pt x="33" y="32"/>
                      </a:lnTo>
                      <a:lnTo>
                        <a:pt x="59" y="4"/>
                      </a:lnTo>
                      <a:lnTo>
                        <a:pt x="26" y="0"/>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81066" name="Freeform 170"/>
                <p:cNvSpPr>
                  <a:spLocks/>
                </p:cNvSpPr>
                <p:nvPr/>
              </p:nvSpPr>
              <p:spPr bwMode="auto">
                <a:xfrm>
                  <a:off x="2203" y="2540"/>
                  <a:ext cx="60" cy="32"/>
                </a:xfrm>
                <a:custGeom>
                  <a:avLst/>
                  <a:gdLst/>
                  <a:ahLst/>
                  <a:cxnLst>
                    <a:cxn ang="0">
                      <a:pos x="26" y="0"/>
                    </a:cxn>
                    <a:cxn ang="0">
                      <a:pos x="0" y="25"/>
                    </a:cxn>
                    <a:cxn ang="0">
                      <a:pos x="33" y="31"/>
                    </a:cxn>
                    <a:cxn ang="0">
                      <a:pos x="59" y="4"/>
                    </a:cxn>
                    <a:cxn ang="0">
                      <a:pos x="26" y="0"/>
                    </a:cxn>
                  </a:cxnLst>
                  <a:rect l="0" t="0" r="r" b="b"/>
                  <a:pathLst>
                    <a:path w="60" h="32">
                      <a:moveTo>
                        <a:pt x="26" y="0"/>
                      </a:moveTo>
                      <a:lnTo>
                        <a:pt x="0" y="25"/>
                      </a:lnTo>
                      <a:lnTo>
                        <a:pt x="33" y="31"/>
                      </a:lnTo>
                      <a:lnTo>
                        <a:pt x="59" y="4"/>
                      </a:lnTo>
                      <a:lnTo>
                        <a:pt x="26" y="0"/>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81067" name="Freeform 171"/>
                <p:cNvSpPr>
                  <a:spLocks/>
                </p:cNvSpPr>
                <p:nvPr/>
              </p:nvSpPr>
              <p:spPr bwMode="auto">
                <a:xfrm>
                  <a:off x="2141" y="2530"/>
                  <a:ext cx="59" cy="33"/>
                </a:xfrm>
                <a:custGeom>
                  <a:avLst/>
                  <a:gdLst/>
                  <a:ahLst/>
                  <a:cxnLst>
                    <a:cxn ang="0">
                      <a:pos x="25" y="0"/>
                    </a:cxn>
                    <a:cxn ang="0">
                      <a:pos x="0" y="26"/>
                    </a:cxn>
                    <a:cxn ang="0">
                      <a:pos x="33" y="32"/>
                    </a:cxn>
                    <a:cxn ang="0">
                      <a:pos x="58" y="4"/>
                    </a:cxn>
                    <a:cxn ang="0">
                      <a:pos x="25" y="0"/>
                    </a:cxn>
                  </a:cxnLst>
                  <a:rect l="0" t="0" r="r" b="b"/>
                  <a:pathLst>
                    <a:path w="59" h="33">
                      <a:moveTo>
                        <a:pt x="25" y="0"/>
                      </a:moveTo>
                      <a:lnTo>
                        <a:pt x="0" y="26"/>
                      </a:lnTo>
                      <a:lnTo>
                        <a:pt x="33" y="32"/>
                      </a:lnTo>
                      <a:lnTo>
                        <a:pt x="58" y="4"/>
                      </a:lnTo>
                      <a:lnTo>
                        <a:pt x="25" y="0"/>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81068" name="Freeform 172"/>
                <p:cNvSpPr>
                  <a:spLocks/>
                </p:cNvSpPr>
                <p:nvPr/>
              </p:nvSpPr>
              <p:spPr bwMode="auto">
                <a:xfrm>
                  <a:off x="2038" y="2563"/>
                  <a:ext cx="60" cy="33"/>
                </a:xfrm>
                <a:custGeom>
                  <a:avLst/>
                  <a:gdLst/>
                  <a:ahLst/>
                  <a:cxnLst>
                    <a:cxn ang="0">
                      <a:pos x="26" y="0"/>
                    </a:cxn>
                    <a:cxn ang="0">
                      <a:pos x="0" y="26"/>
                    </a:cxn>
                    <a:cxn ang="0">
                      <a:pos x="33" y="32"/>
                    </a:cxn>
                    <a:cxn ang="0">
                      <a:pos x="59" y="4"/>
                    </a:cxn>
                    <a:cxn ang="0">
                      <a:pos x="26" y="0"/>
                    </a:cxn>
                  </a:cxnLst>
                  <a:rect l="0" t="0" r="r" b="b"/>
                  <a:pathLst>
                    <a:path w="60" h="33">
                      <a:moveTo>
                        <a:pt x="26" y="0"/>
                      </a:moveTo>
                      <a:lnTo>
                        <a:pt x="0" y="26"/>
                      </a:lnTo>
                      <a:lnTo>
                        <a:pt x="33" y="32"/>
                      </a:lnTo>
                      <a:lnTo>
                        <a:pt x="59" y="4"/>
                      </a:lnTo>
                      <a:lnTo>
                        <a:pt x="26" y="0"/>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81069" name="Freeform 173"/>
                <p:cNvSpPr>
                  <a:spLocks/>
                </p:cNvSpPr>
                <p:nvPr/>
              </p:nvSpPr>
              <p:spPr bwMode="auto">
                <a:xfrm>
                  <a:off x="2162" y="2581"/>
                  <a:ext cx="59" cy="33"/>
                </a:xfrm>
                <a:custGeom>
                  <a:avLst/>
                  <a:gdLst/>
                  <a:ahLst/>
                  <a:cxnLst>
                    <a:cxn ang="0">
                      <a:pos x="25" y="0"/>
                    </a:cxn>
                    <a:cxn ang="0">
                      <a:pos x="0" y="26"/>
                    </a:cxn>
                    <a:cxn ang="0">
                      <a:pos x="33" y="32"/>
                    </a:cxn>
                    <a:cxn ang="0">
                      <a:pos x="58" y="4"/>
                    </a:cxn>
                    <a:cxn ang="0">
                      <a:pos x="25" y="0"/>
                    </a:cxn>
                  </a:cxnLst>
                  <a:rect l="0" t="0" r="r" b="b"/>
                  <a:pathLst>
                    <a:path w="59" h="33">
                      <a:moveTo>
                        <a:pt x="25" y="0"/>
                      </a:moveTo>
                      <a:lnTo>
                        <a:pt x="0" y="26"/>
                      </a:lnTo>
                      <a:lnTo>
                        <a:pt x="33" y="32"/>
                      </a:lnTo>
                      <a:lnTo>
                        <a:pt x="58" y="4"/>
                      </a:lnTo>
                      <a:lnTo>
                        <a:pt x="25" y="0"/>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81070" name="Freeform 174"/>
                <p:cNvSpPr>
                  <a:spLocks/>
                </p:cNvSpPr>
                <p:nvPr/>
              </p:nvSpPr>
              <p:spPr bwMode="auto">
                <a:xfrm>
                  <a:off x="2098" y="2572"/>
                  <a:ext cx="61" cy="33"/>
                </a:xfrm>
                <a:custGeom>
                  <a:avLst/>
                  <a:gdLst/>
                  <a:ahLst/>
                  <a:cxnLst>
                    <a:cxn ang="0">
                      <a:pos x="26" y="0"/>
                    </a:cxn>
                    <a:cxn ang="0">
                      <a:pos x="0" y="26"/>
                    </a:cxn>
                    <a:cxn ang="0">
                      <a:pos x="34" y="32"/>
                    </a:cxn>
                    <a:cxn ang="0">
                      <a:pos x="60" y="4"/>
                    </a:cxn>
                    <a:cxn ang="0">
                      <a:pos x="26" y="0"/>
                    </a:cxn>
                  </a:cxnLst>
                  <a:rect l="0" t="0" r="r" b="b"/>
                  <a:pathLst>
                    <a:path w="61" h="33">
                      <a:moveTo>
                        <a:pt x="26" y="0"/>
                      </a:moveTo>
                      <a:lnTo>
                        <a:pt x="0" y="26"/>
                      </a:lnTo>
                      <a:lnTo>
                        <a:pt x="34" y="32"/>
                      </a:lnTo>
                      <a:lnTo>
                        <a:pt x="60" y="4"/>
                      </a:lnTo>
                      <a:lnTo>
                        <a:pt x="26" y="0"/>
                      </a:lnTo>
                    </a:path>
                  </a:pathLst>
                </a:custGeom>
                <a:solidFill>
                  <a:schemeClr val="bg1"/>
                </a:solidFill>
                <a:ln w="12700" cap="rnd" cmpd="sng">
                  <a:noFill/>
                  <a:prstDash val="solid"/>
                  <a:round/>
                  <a:headEnd type="none" w="med" len="med"/>
                  <a:tailEnd type="none" w="med" len="med"/>
                </a:ln>
                <a:effectLst/>
              </p:spPr>
              <p:txBody>
                <a:bodyPr/>
                <a:lstStyle/>
                <a:p>
                  <a:endParaRPr lang="fr-FR"/>
                </a:p>
              </p:txBody>
            </p:sp>
          </p:grpSp>
          <p:sp>
            <p:nvSpPr>
              <p:cNvPr id="81071" name="Freeform 175"/>
              <p:cNvSpPr>
                <a:spLocks/>
              </p:cNvSpPr>
              <p:nvPr/>
            </p:nvSpPr>
            <p:spPr bwMode="auto">
              <a:xfrm rot="65756">
                <a:off x="2161" y="1670"/>
                <a:ext cx="727" cy="255"/>
              </a:xfrm>
              <a:custGeom>
                <a:avLst/>
                <a:gdLst/>
                <a:ahLst/>
                <a:cxnLst>
                  <a:cxn ang="0">
                    <a:pos x="187" y="97"/>
                  </a:cxn>
                  <a:cxn ang="0">
                    <a:pos x="352" y="110"/>
                  </a:cxn>
                  <a:cxn ang="0">
                    <a:pos x="508" y="134"/>
                  </a:cxn>
                  <a:cxn ang="0">
                    <a:pos x="568" y="144"/>
                  </a:cxn>
                  <a:cxn ang="0">
                    <a:pos x="605" y="158"/>
                  </a:cxn>
                  <a:cxn ang="0">
                    <a:pos x="621" y="176"/>
                  </a:cxn>
                  <a:cxn ang="0">
                    <a:pos x="629" y="202"/>
                  </a:cxn>
                  <a:cxn ang="0">
                    <a:pos x="618" y="226"/>
                  </a:cxn>
                  <a:cxn ang="0">
                    <a:pos x="613" y="247"/>
                  </a:cxn>
                  <a:cxn ang="0">
                    <a:pos x="608" y="281"/>
                  </a:cxn>
                  <a:cxn ang="0">
                    <a:pos x="629" y="310"/>
                  </a:cxn>
                  <a:cxn ang="0">
                    <a:pos x="668" y="320"/>
                  </a:cxn>
                  <a:cxn ang="0">
                    <a:pos x="705" y="323"/>
                  </a:cxn>
                  <a:cxn ang="0">
                    <a:pos x="747" y="320"/>
                  </a:cxn>
                  <a:cxn ang="0">
                    <a:pos x="797" y="305"/>
                  </a:cxn>
                  <a:cxn ang="0">
                    <a:pos x="823" y="276"/>
                  </a:cxn>
                  <a:cxn ang="0">
                    <a:pos x="826" y="242"/>
                  </a:cxn>
                  <a:cxn ang="0">
                    <a:pos x="823" y="202"/>
                  </a:cxn>
                  <a:cxn ang="0">
                    <a:pos x="800" y="160"/>
                  </a:cxn>
                  <a:cxn ang="0">
                    <a:pos x="760" y="113"/>
                  </a:cxn>
                  <a:cxn ang="0">
                    <a:pos x="723" y="87"/>
                  </a:cxn>
                  <a:cxn ang="0">
                    <a:pos x="668" y="60"/>
                  </a:cxn>
                  <a:cxn ang="0">
                    <a:pos x="510" y="26"/>
                  </a:cxn>
                  <a:cxn ang="0">
                    <a:pos x="358" y="5"/>
                  </a:cxn>
                  <a:cxn ang="0">
                    <a:pos x="163" y="0"/>
                  </a:cxn>
                  <a:cxn ang="0">
                    <a:pos x="116" y="11"/>
                  </a:cxn>
                  <a:cxn ang="0">
                    <a:pos x="63" y="39"/>
                  </a:cxn>
                  <a:cxn ang="0">
                    <a:pos x="26" y="79"/>
                  </a:cxn>
                  <a:cxn ang="0">
                    <a:pos x="3" y="118"/>
                  </a:cxn>
                  <a:cxn ang="0">
                    <a:pos x="0" y="155"/>
                  </a:cxn>
                  <a:cxn ang="0">
                    <a:pos x="13" y="194"/>
                  </a:cxn>
                  <a:cxn ang="0">
                    <a:pos x="71" y="223"/>
                  </a:cxn>
                  <a:cxn ang="0">
                    <a:pos x="153" y="147"/>
                  </a:cxn>
                  <a:cxn ang="0">
                    <a:pos x="155" y="102"/>
                  </a:cxn>
                  <a:cxn ang="0">
                    <a:pos x="187" y="97"/>
                  </a:cxn>
                </a:cxnLst>
                <a:rect l="0" t="0" r="r" b="b"/>
                <a:pathLst>
                  <a:path w="827" h="324">
                    <a:moveTo>
                      <a:pt x="187" y="97"/>
                    </a:moveTo>
                    <a:lnTo>
                      <a:pt x="352" y="110"/>
                    </a:lnTo>
                    <a:lnTo>
                      <a:pt x="508" y="134"/>
                    </a:lnTo>
                    <a:lnTo>
                      <a:pt x="568" y="144"/>
                    </a:lnTo>
                    <a:lnTo>
                      <a:pt x="605" y="158"/>
                    </a:lnTo>
                    <a:lnTo>
                      <a:pt x="621" y="176"/>
                    </a:lnTo>
                    <a:lnTo>
                      <a:pt x="629" y="202"/>
                    </a:lnTo>
                    <a:lnTo>
                      <a:pt x="618" y="226"/>
                    </a:lnTo>
                    <a:lnTo>
                      <a:pt x="613" y="247"/>
                    </a:lnTo>
                    <a:lnTo>
                      <a:pt x="608" y="281"/>
                    </a:lnTo>
                    <a:lnTo>
                      <a:pt x="629" y="310"/>
                    </a:lnTo>
                    <a:lnTo>
                      <a:pt x="668" y="320"/>
                    </a:lnTo>
                    <a:lnTo>
                      <a:pt x="705" y="323"/>
                    </a:lnTo>
                    <a:lnTo>
                      <a:pt x="747" y="320"/>
                    </a:lnTo>
                    <a:lnTo>
                      <a:pt x="797" y="305"/>
                    </a:lnTo>
                    <a:lnTo>
                      <a:pt x="823" y="276"/>
                    </a:lnTo>
                    <a:lnTo>
                      <a:pt x="826" y="242"/>
                    </a:lnTo>
                    <a:lnTo>
                      <a:pt x="823" y="202"/>
                    </a:lnTo>
                    <a:lnTo>
                      <a:pt x="800" y="160"/>
                    </a:lnTo>
                    <a:lnTo>
                      <a:pt x="760" y="113"/>
                    </a:lnTo>
                    <a:lnTo>
                      <a:pt x="723" y="87"/>
                    </a:lnTo>
                    <a:lnTo>
                      <a:pt x="668" y="60"/>
                    </a:lnTo>
                    <a:lnTo>
                      <a:pt x="510" y="26"/>
                    </a:lnTo>
                    <a:lnTo>
                      <a:pt x="358" y="5"/>
                    </a:lnTo>
                    <a:lnTo>
                      <a:pt x="163" y="0"/>
                    </a:lnTo>
                    <a:lnTo>
                      <a:pt x="116" y="11"/>
                    </a:lnTo>
                    <a:lnTo>
                      <a:pt x="63" y="39"/>
                    </a:lnTo>
                    <a:lnTo>
                      <a:pt x="26" y="79"/>
                    </a:lnTo>
                    <a:lnTo>
                      <a:pt x="3" y="118"/>
                    </a:lnTo>
                    <a:lnTo>
                      <a:pt x="0" y="155"/>
                    </a:lnTo>
                    <a:lnTo>
                      <a:pt x="13" y="194"/>
                    </a:lnTo>
                    <a:lnTo>
                      <a:pt x="71" y="223"/>
                    </a:lnTo>
                    <a:lnTo>
                      <a:pt x="153" y="147"/>
                    </a:lnTo>
                    <a:lnTo>
                      <a:pt x="155" y="102"/>
                    </a:lnTo>
                    <a:lnTo>
                      <a:pt x="187" y="97"/>
                    </a:lnTo>
                  </a:path>
                </a:pathLst>
              </a:custGeom>
              <a:solidFill>
                <a:srgbClr val="FCFEB9"/>
              </a:solidFill>
              <a:ln w="6350" cap="rnd" cmpd="sng">
                <a:solidFill>
                  <a:schemeClr val="tx1"/>
                </a:solidFill>
                <a:prstDash val="solid"/>
                <a:round/>
                <a:headEnd type="none" w="med" len="med"/>
                <a:tailEnd type="none" w="med" len="med"/>
              </a:ln>
              <a:effectLst/>
            </p:spPr>
            <p:txBody>
              <a:bodyPr/>
              <a:lstStyle/>
              <a:p>
                <a:endParaRPr lang="fr-FR"/>
              </a:p>
            </p:txBody>
          </p:sp>
          <p:sp>
            <p:nvSpPr>
              <p:cNvPr id="81072" name="Freeform 176"/>
              <p:cNvSpPr>
                <a:spLocks/>
              </p:cNvSpPr>
              <p:nvPr/>
            </p:nvSpPr>
            <p:spPr bwMode="auto">
              <a:xfrm rot="65756">
                <a:off x="2707" y="1866"/>
                <a:ext cx="174" cy="36"/>
              </a:xfrm>
              <a:custGeom>
                <a:avLst/>
                <a:gdLst/>
                <a:ahLst/>
                <a:cxnLst>
                  <a:cxn ang="0">
                    <a:pos x="0" y="32"/>
                  </a:cxn>
                  <a:cxn ang="0">
                    <a:pos x="21" y="40"/>
                  </a:cxn>
                  <a:cxn ang="0">
                    <a:pos x="58" y="45"/>
                  </a:cxn>
                  <a:cxn ang="0">
                    <a:pos x="92" y="42"/>
                  </a:cxn>
                  <a:cxn ang="0">
                    <a:pos x="126" y="40"/>
                  </a:cxn>
                  <a:cxn ang="0">
                    <a:pos x="152" y="37"/>
                  </a:cxn>
                  <a:cxn ang="0">
                    <a:pos x="176" y="21"/>
                  </a:cxn>
                  <a:cxn ang="0">
                    <a:pos x="197" y="0"/>
                  </a:cxn>
                </a:cxnLst>
                <a:rect l="0" t="0" r="r" b="b"/>
                <a:pathLst>
                  <a:path w="198" h="46">
                    <a:moveTo>
                      <a:pt x="0" y="32"/>
                    </a:moveTo>
                    <a:lnTo>
                      <a:pt x="21" y="40"/>
                    </a:lnTo>
                    <a:lnTo>
                      <a:pt x="58" y="45"/>
                    </a:lnTo>
                    <a:lnTo>
                      <a:pt x="92" y="42"/>
                    </a:lnTo>
                    <a:lnTo>
                      <a:pt x="126" y="40"/>
                    </a:lnTo>
                    <a:lnTo>
                      <a:pt x="152" y="37"/>
                    </a:lnTo>
                    <a:lnTo>
                      <a:pt x="176" y="21"/>
                    </a:lnTo>
                    <a:lnTo>
                      <a:pt x="197" y="0"/>
                    </a:lnTo>
                  </a:path>
                </a:pathLst>
              </a:custGeom>
              <a:noFill/>
              <a:ln w="12700" cap="rnd" cmpd="sng">
                <a:solidFill>
                  <a:srgbClr val="B3B900"/>
                </a:solidFill>
                <a:prstDash val="solid"/>
                <a:round/>
                <a:headEnd type="none" w="med" len="med"/>
                <a:tailEnd type="none" w="med" len="med"/>
              </a:ln>
              <a:effectLst/>
            </p:spPr>
            <p:txBody>
              <a:bodyPr/>
              <a:lstStyle/>
              <a:p>
                <a:endParaRPr lang="fr-FR"/>
              </a:p>
            </p:txBody>
          </p:sp>
          <p:sp>
            <p:nvSpPr>
              <p:cNvPr id="81073" name="Freeform 177"/>
              <p:cNvSpPr>
                <a:spLocks/>
              </p:cNvSpPr>
              <p:nvPr/>
            </p:nvSpPr>
            <p:spPr bwMode="auto">
              <a:xfrm rot="65756">
                <a:off x="2169" y="1792"/>
                <a:ext cx="72" cy="20"/>
              </a:xfrm>
              <a:custGeom>
                <a:avLst/>
                <a:gdLst/>
                <a:ahLst/>
                <a:cxnLst>
                  <a:cxn ang="0">
                    <a:pos x="0" y="0"/>
                  </a:cxn>
                  <a:cxn ang="0">
                    <a:pos x="39" y="17"/>
                  </a:cxn>
                  <a:cxn ang="0">
                    <a:pos x="81" y="25"/>
                  </a:cxn>
                </a:cxnLst>
                <a:rect l="0" t="0" r="r" b="b"/>
                <a:pathLst>
                  <a:path w="82" h="26">
                    <a:moveTo>
                      <a:pt x="0" y="0"/>
                    </a:moveTo>
                    <a:lnTo>
                      <a:pt x="39" y="17"/>
                    </a:lnTo>
                    <a:lnTo>
                      <a:pt x="81" y="25"/>
                    </a:lnTo>
                  </a:path>
                </a:pathLst>
              </a:custGeom>
              <a:noFill/>
              <a:ln w="12700" cap="rnd" cmpd="sng">
                <a:solidFill>
                  <a:srgbClr val="B3B900"/>
                </a:solidFill>
                <a:prstDash val="solid"/>
                <a:round/>
                <a:headEnd type="none" w="med" len="med"/>
                <a:tailEnd type="none" w="med" len="med"/>
              </a:ln>
              <a:effectLst/>
            </p:spPr>
            <p:txBody>
              <a:bodyPr/>
              <a:lstStyle/>
              <a:p>
                <a:endParaRPr lang="fr-FR"/>
              </a:p>
            </p:txBody>
          </p:sp>
        </p:grpSp>
      </p:grpSp>
      <p:sp>
        <p:nvSpPr>
          <p:cNvPr id="81074" name="Text Box 178"/>
          <p:cNvSpPr txBox="1">
            <a:spLocks noChangeArrowheads="1"/>
          </p:cNvSpPr>
          <p:nvPr/>
        </p:nvSpPr>
        <p:spPr bwMode="auto">
          <a:xfrm>
            <a:off x="2081213" y="5761038"/>
            <a:ext cx="2844048" cy="430887"/>
          </a:xfrm>
          <a:prstGeom prst="rect">
            <a:avLst/>
          </a:prstGeom>
          <a:noFill/>
          <a:ln w="9525">
            <a:noFill/>
            <a:miter lim="800000"/>
            <a:headEnd/>
            <a:tailEnd/>
          </a:ln>
          <a:effectLst/>
        </p:spPr>
        <p:txBody>
          <a:bodyPr wrap="none">
            <a:spAutoFit/>
          </a:bodyPr>
          <a:lstStyle/>
          <a:p>
            <a:pPr eaLnBrk="1" hangingPunct="1"/>
            <a:r>
              <a:rPr lang="en-US" sz="2200">
                <a:latin typeface="Arial" charset="0"/>
              </a:rPr>
              <a:t>Client d'accès distant</a:t>
            </a:r>
          </a:p>
        </p:txBody>
      </p:sp>
      <p:sp>
        <p:nvSpPr>
          <p:cNvPr id="81075" name="Text Box 179"/>
          <p:cNvSpPr txBox="1">
            <a:spLocks noChangeArrowheads="1"/>
          </p:cNvSpPr>
          <p:nvPr/>
        </p:nvSpPr>
        <p:spPr bwMode="auto">
          <a:xfrm>
            <a:off x="5145088" y="3798888"/>
            <a:ext cx="3111750" cy="430887"/>
          </a:xfrm>
          <a:prstGeom prst="rect">
            <a:avLst/>
          </a:prstGeom>
          <a:noFill/>
          <a:ln w="9525">
            <a:noFill/>
            <a:miter lim="800000"/>
            <a:headEnd/>
            <a:tailEnd/>
          </a:ln>
          <a:effectLst/>
        </p:spPr>
        <p:txBody>
          <a:bodyPr wrap="none">
            <a:spAutoFit/>
          </a:bodyPr>
          <a:lstStyle/>
          <a:p>
            <a:pPr algn="ctr" eaLnBrk="1" hangingPunct="1"/>
            <a:r>
              <a:rPr lang="en-US" sz="2200" dirty="0" err="1">
                <a:latin typeface="Arial" charset="0"/>
              </a:rPr>
              <a:t>Serveur</a:t>
            </a:r>
            <a:r>
              <a:rPr lang="en-US" sz="2200" dirty="0">
                <a:latin typeface="Arial" charset="0"/>
              </a:rPr>
              <a:t> </a:t>
            </a:r>
            <a:r>
              <a:rPr lang="en-US" sz="2200" dirty="0" err="1">
                <a:latin typeface="Arial" charset="0"/>
              </a:rPr>
              <a:t>d'accès</a:t>
            </a:r>
            <a:r>
              <a:rPr lang="en-US" sz="2200" dirty="0">
                <a:latin typeface="Arial" charset="0"/>
              </a:rPr>
              <a:t> distant</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vert="horz" anchor="b">
            <a:normAutofit fontScale="90000"/>
          </a:bodyPr>
          <a:lstStyle/>
          <a:p>
            <a:r>
              <a:rPr lang="fr-FR" dirty="0">
                <a:solidFill>
                  <a:srgbClr val="C00000"/>
                </a:solidFill>
              </a:rPr>
              <a:t>Étude des protocoles de transport de données</a:t>
            </a:r>
            <a:endParaRPr lang="en-US" dirty="0">
              <a:solidFill>
                <a:srgbClr val="C00000"/>
              </a:solidFill>
            </a:endParaRPr>
          </a:p>
        </p:txBody>
      </p:sp>
      <p:sp>
        <p:nvSpPr>
          <p:cNvPr id="60420" name="Rectangle 4"/>
          <p:cNvSpPr>
            <a:spLocks noChangeArrowheads="1"/>
          </p:cNvSpPr>
          <p:nvPr/>
        </p:nvSpPr>
        <p:spPr bwMode="auto">
          <a:xfrm>
            <a:off x="198120" y="1290638"/>
            <a:ext cx="8717280" cy="5354002"/>
          </a:xfrm>
          <a:prstGeom prst="rect">
            <a:avLst/>
          </a:prstGeom>
          <a:gradFill rotWithShape="0">
            <a:gsLst>
              <a:gs pos="0">
                <a:srgbClr val="FFCC66"/>
              </a:gs>
              <a:gs pos="100000">
                <a:srgbClr val="FCFEB9"/>
              </a:gs>
            </a:gsLst>
            <a:lin ang="5400000" scaled="1"/>
          </a:gradFill>
          <a:ln w="9525">
            <a:noFill/>
            <a:miter lim="800000"/>
            <a:headEnd/>
            <a:tailEnd/>
          </a:ln>
          <a:effectLst/>
        </p:spPr>
        <p:txBody>
          <a:bodyPr wrap="none" anchor="ctr"/>
          <a:lstStyle/>
          <a:p>
            <a:endParaRPr lang="fr-FR"/>
          </a:p>
        </p:txBody>
      </p:sp>
      <p:grpSp>
        <p:nvGrpSpPr>
          <p:cNvPr id="60423" name="Group 7"/>
          <p:cNvGrpSpPr>
            <a:grpSpLocks/>
          </p:cNvGrpSpPr>
          <p:nvPr/>
        </p:nvGrpSpPr>
        <p:grpSpPr bwMode="auto">
          <a:xfrm>
            <a:off x="6543675" y="3779838"/>
            <a:ext cx="1874838" cy="1860550"/>
            <a:chOff x="816" y="1017"/>
            <a:chExt cx="1175" cy="1167"/>
          </a:xfrm>
        </p:grpSpPr>
        <p:sp>
          <p:nvSpPr>
            <p:cNvPr id="60424" name="Freeform 8"/>
            <p:cNvSpPr>
              <a:spLocks noChangeAspect="1"/>
            </p:cNvSpPr>
            <p:nvPr/>
          </p:nvSpPr>
          <p:spPr bwMode="auto">
            <a:xfrm>
              <a:off x="816" y="1017"/>
              <a:ext cx="1175" cy="1167"/>
            </a:xfrm>
            <a:custGeom>
              <a:avLst/>
              <a:gdLst/>
              <a:ahLst/>
              <a:cxnLst>
                <a:cxn ang="0">
                  <a:pos x="1175" y="208"/>
                </a:cxn>
                <a:cxn ang="0">
                  <a:pos x="1081" y="477"/>
                </a:cxn>
                <a:cxn ang="0">
                  <a:pos x="985" y="751"/>
                </a:cxn>
                <a:cxn ang="0">
                  <a:pos x="911" y="720"/>
                </a:cxn>
                <a:cxn ang="0">
                  <a:pos x="910" y="725"/>
                </a:cxn>
                <a:cxn ang="0">
                  <a:pos x="979" y="761"/>
                </a:cxn>
                <a:cxn ang="0">
                  <a:pos x="981" y="761"/>
                </a:cxn>
                <a:cxn ang="0">
                  <a:pos x="981" y="763"/>
                </a:cxn>
                <a:cxn ang="0">
                  <a:pos x="982" y="763"/>
                </a:cxn>
                <a:cxn ang="0">
                  <a:pos x="982" y="764"/>
                </a:cxn>
                <a:cxn ang="0">
                  <a:pos x="982" y="765"/>
                </a:cxn>
                <a:cxn ang="0">
                  <a:pos x="982" y="768"/>
                </a:cxn>
                <a:cxn ang="0">
                  <a:pos x="982" y="886"/>
                </a:cxn>
                <a:cxn ang="0">
                  <a:pos x="958" y="902"/>
                </a:cxn>
                <a:cxn ang="0">
                  <a:pos x="933" y="920"/>
                </a:cxn>
                <a:cxn ang="0">
                  <a:pos x="909" y="939"/>
                </a:cxn>
                <a:cxn ang="0">
                  <a:pos x="884" y="955"/>
                </a:cxn>
                <a:cxn ang="0">
                  <a:pos x="857" y="974"/>
                </a:cxn>
                <a:cxn ang="0">
                  <a:pos x="833" y="990"/>
                </a:cxn>
                <a:cxn ang="0">
                  <a:pos x="808" y="1009"/>
                </a:cxn>
                <a:cxn ang="0">
                  <a:pos x="781" y="1027"/>
                </a:cxn>
                <a:cxn ang="0">
                  <a:pos x="757" y="1045"/>
                </a:cxn>
                <a:cxn ang="0">
                  <a:pos x="732" y="1061"/>
                </a:cxn>
                <a:cxn ang="0">
                  <a:pos x="707" y="1080"/>
                </a:cxn>
                <a:cxn ang="0">
                  <a:pos x="682" y="1097"/>
                </a:cxn>
                <a:cxn ang="0">
                  <a:pos x="657" y="1115"/>
                </a:cxn>
                <a:cxn ang="0">
                  <a:pos x="632" y="1131"/>
                </a:cxn>
                <a:cxn ang="0">
                  <a:pos x="582" y="1167"/>
                </a:cxn>
                <a:cxn ang="0">
                  <a:pos x="0" y="822"/>
                </a:cxn>
                <a:cxn ang="0">
                  <a:pos x="0" y="754"/>
                </a:cxn>
                <a:cxn ang="0">
                  <a:pos x="271" y="608"/>
                </a:cxn>
                <a:cxn ang="0">
                  <a:pos x="278" y="596"/>
                </a:cxn>
                <a:cxn ang="0">
                  <a:pos x="373" y="537"/>
                </a:cxn>
                <a:cxn ang="0">
                  <a:pos x="372" y="533"/>
                </a:cxn>
                <a:cxn ang="0">
                  <a:pos x="369" y="528"/>
                </a:cxn>
                <a:cxn ang="0">
                  <a:pos x="369" y="523"/>
                </a:cxn>
                <a:cxn ang="0">
                  <a:pos x="369" y="520"/>
                </a:cxn>
                <a:cxn ang="0">
                  <a:pos x="369" y="514"/>
                </a:cxn>
                <a:cxn ang="0">
                  <a:pos x="369" y="512"/>
                </a:cxn>
                <a:cxn ang="0">
                  <a:pos x="372" y="508"/>
                </a:cxn>
                <a:cxn ang="0">
                  <a:pos x="372" y="505"/>
                </a:cxn>
                <a:cxn ang="0">
                  <a:pos x="373" y="502"/>
                </a:cxn>
                <a:cxn ang="0">
                  <a:pos x="374" y="498"/>
                </a:cxn>
                <a:cxn ang="0">
                  <a:pos x="376" y="497"/>
                </a:cxn>
                <a:cxn ang="0">
                  <a:pos x="380" y="495"/>
                </a:cxn>
                <a:cxn ang="0">
                  <a:pos x="381" y="494"/>
                </a:cxn>
                <a:cxn ang="0">
                  <a:pos x="383" y="491"/>
                </a:cxn>
                <a:cxn ang="0">
                  <a:pos x="388" y="489"/>
                </a:cxn>
                <a:cxn ang="0">
                  <a:pos x="453" y="520"/>
                </a:cxn>
                <a:cxn ang="0">
                  <a:pos x="460" y="514"/>
                </a:cxn>
                <a:cxn ang="0">
                  <a:pos x="388" y="482"/>
                </a:cxn>
                <a:cxn ang="0">
                  <a:pos x="427" y="348"/>
                </a:cxn>
                <a:cxn ang="0">
                  <a:pos x="423" y="334"/>
                </a:cxn>
                <a:cxn ang="0">
                  <a:pos x="422" y="329"/>
                </a:cxn>
                <a:cxn ang="0">
                  <a:pos x="418" y="321"/>
                </a:cxn>
                <a:cxn ang="0">
                  <a:pos x="528" y="0"/>
                </a:cxn>
                <a:cxn ang="0">
                  <a:pos x="1150" y="193"/>
                </a:cxn>
                <a:cxn ang="0">
                  <a:pos x="1175" y="208"/>
                </a:cxn>
              </a:cxnLst>
              <a:rect l="0" t="0" r="r" b="b"/>
              <a:pathLst>
                <a:path w="1175" h="1167">
                  <a:moveTo>
                    <a:pt x="1175" y="208"/>
                  </a:moveTo>
                  <a:lnTo>
                    <a:pt x="1081" y="477"/>
                  </a:lnTo>
                  <a:lnTo>
                    <a:pt x="985" y="751"/>
                  </a:lnTo>
                  <a:lnTo>
                    <a:pt x="911" y="720"/>
                  </a:lnTo>
                  <a:lnTo>
                    <a:pt x="910" y="725"/>
                  </a:lnTo>
                  <a:lnTo>
                    <a:pt x="979" y="761"/>
                  </a:lnTo>
                  <a:lnTo>
                    <a:pt x="981" y="761"/>
                  </a:lnTo>
                  <a:lnTo>
                    <a:pt x="981" y="763"/>
                  </a:lnTo>
                  <a:lnTo>
                    <a:pt x="982" y="763"/>
                  </a:lnTo>
                  <a:lnTo>
                    <a:pt x="982" y="764"/>
                  </a:lnTo>
                  <a:lnTo>
                    <a:pt x="982" y="765"/>
                  </a:lnTo>
                  <a:lnTo>
                    <a:pt x="982" y="768"/>
                  </a:lnTo>
                  <a:lnTo>
                    <a:pt x="982" y="886"/>
                  </a:lnTo>
                  <a:lnTo>
                    <a:pt x="958" y="902"/>
                  </a:lnTo>
                  <a:lnTo>
                    <a:pt x="933" y="920"/>
                  </a:lnTo>
                  <a:lnTo>
                    <a:pt x="909" y="939"/>
                  </a:lnTo>
                  <a:lnTo>
                    <a:pt x="884" y="955"/>
                  </a:lnTo>
                  <a:lnTo>
                    <a:pt x="857" y="974"/>
                  </a:lnTo>
                  <a:lnTo>
                    <a:pt x="833" y="990"/>
                  </a:lnTo>
                  <a:lnTo>
                    <a:pt x="808" y="1009"/>
                  </a:lnTo>
                  <a:lnTo>
                    <a:pt x="781" y="1027"/>
                  </a:lnTo>
                  <a:lnTo>
                    <a:pt x="757" y="1045"/>
                  </a:lnTo>
                  <a:lnTo>
                    <a:pt x="732" y="1061"/>
                  </a:lnTo>
                  <a:lnTo>
                    <a:pt x="707" y="1080"/>
                  </a:lnTo>
                  <a:lnTo>
                    <a:pt x="682" y="1097"/>
                  </a:lnTo>
                  <a:lnTo>
                    <a:pt x="657" y="1115"/>
                  </a:lnTo>
                  <a:lnTo>
                    <a:pt x="632" y="1131"/>
                  </a:lnTo>
                  <a:lnTo>
                    <a:pt x="582" y="1167"/>
                  </a:lnTo>
                  <a:lnTo>
                    <a:pt x="0" y="822"/>
                  </a:lnTo>
                  <a:lnTo>
                    <a:pt x="0" y="754"/>
                  </a:lnTo>
                  <a:lnTo>
                    <a:pt x="271" y="608"/>
                  </a:lnTo>
                  <a:lnTo>
                    <a:pt x="278" y="596"/>
                  </a:lnTo>
                  <a:lnTo>
                    <a:pt x="373" y="537"/>
                  </a:lnTo>
                  <a:lnTo>
                    <a:pt x="372" y="533"/>
                  </a:lnTo>
                  <a:lnTo>
                    <a:pt x="369" y="528"/>
                  </a:lnTo>
                  <a:lnTo>
                    <a:pt x="369" y="523"/>
                  </a:lnTo>
                  <a:lnTo>
                    <a:pt x="369" y="520"/>
                  </a:lnTo>
                  <a:lnTo>
                    <a:pt x="369" y="514"/>
                  </a:lnTo>
                  <a:lnTo>
                    <a:pt x="369" y="512"/>
                  </a:lnTo>
                  <a:lnTo>
                    <a:pt x="372" y="508"/>
                  </a:lnTo>
                  <a:lnTo>
                    <a:pt x="372" y="505"/>
                  </a:lnTo>
                  <a:lnTo>
                    <a:pt x="373" y="502"/>
                  </a:lnTo>
                  <a:lnTo>
                    <a:pt x="374" y="498"/>
                  </a:lnTo>
                  <a:lnTo>
                    <a:pt x="376" y="497"/>
                  </a:lnTo>
                  <a:lnTo>
                    <a:pt x="380" y="495"/>
                  </a:lnTo>
                  <a:lnTo>
                    <a:pt x="381" y="494"/>
                  </a:lnTo>
                  <a:lnTo>
                    <a:pt x="383" y="491"/>
                  </a:lnTo>
                  <a:lnTo>
                    <a:pt x="388" y="489"/>
                  </a:lnTo>
                  <a:lnTo>
                    <a:pt x="453" y="520"/>
                  </a:lnTo>
                  <a:lnTo>
                    <a:pt x="460" y="514"/>
                  </a:lnTo>
                  <a:lnTo>
                    <a:pt x="388" y="482"/>
                  </a:lnTo>
                  <a:lnTo>
                    <a:pt x="427" y="348"/>
                  </a:lnTo>
                  <a:lnTo>
                    <a:pt x="423" y="334"/>
                  </a:lnTo>
                  <a:lnTo>
                    <a:pt x="422" y="329"/>
                  </a:lnTo>
                  <a:lnTo>
                    <a:pt x="418" y="321"/>
                  </a:lnTo>
                  <a:lnTo>
                    <a:pt x="528" y="0"/>
                  </a:lnTo>
                  <a:lnTo>
                    <a:pt x="1150" y="193"/>
                  </a:lnTo>
                  <a:lnTo>
                    <a:pt x="1175" y="208"/>
                  </a:lnTo>
                </a:path>
              </a:pathLst>
            </a:custGeom>
            <a:solidFill>
              <a:srgbClr val="B2B2B2"/>
            </a:solidFill>
            <a:ln w="3175" cap="rnd" cmpd="sng">
              <a:solidFill>
                <a:srgbClr val="000000"/>
              </a:solidFill>
              <a:prstDash val="solid"/>
              <a:round/>
              <a:headEnd type="none" w="med" len="med"/>
              <a:tailEnd type="none" w="med" len="med"/>
            </a:ln>
            <a:effectLst/>
          </p:spPr>
          <p:txBody>
            <a:bodyPr/>
            <a:lstStyle/>
            <a:p>
              <a:endParaRPr lang="fr-FR"/>
            </a:p>
          </p:txBody>
        </p:sp>
        <p:sp>
          <p:nvSpPr>
            <p:cNvPr id="60425" name="Freeform 9"/>
            <p:cNvSpPr>
              <a:spLocks noChangeAspect="1"/>
            </p:cNvSpPr>
            <p:nvPr/>
          </p:nvSpPr>
          <p:spPr bwMode="auto">
            <a:xfrm>
              <a:off x="1307" y="1116"/>
              <a:ext cx="559" cy="522"/>
            </a:xfrm>
            <a:custGeom>
              <a:avLst/>
              <a:gdLst/>
              <a:ahLst/>
              <a:cxnLst>
                <a:cxn ang="0">
                  <a:pos x="436" y="522"/>
                </a:cxn>
                <a:cxn ang="0">
                  <a:pos x="0" y="344"/>
                </a:cxn>
                <a:cxn ang="0">
                  <a:pos x="109" y="0"/>
                </a:cxn>
                <a:cxn ang="0">
                  <a:pos x="559" y="155"/>
                </a:cxn>
                <a:cxn ang="0">
                  <a:pos x="436" y="522"/>
                </a:cxn>
              </a:cxnLst>
              <a:rect l="0" t="0" r="r" b="b"/>
              <a:pathLst>
                <a:path w="559" h="522">
                  <a:moveTo>
                    <a:pt x="436" y="522"/>
                  </a:moveTo>
                  <a:lnTo>
                    <a:pt x="0" y="344"/>
                  </a:lnTo>
                  <a:lnTo>
                    <a:pt x="109" y="0"/>
                  </a:lnTo>
                  <a:lnTo>
                    <a:pt x="559" y="155"/>
                  </a:lnTo>
                  <a:lnTo>
                    <a:pt x="436" y="522"/>
                  </a:lnTo>
                </a:path>
              </a:pathLst>
            </a:custGeom>
            <a:gradFill rotWithShape="0">
              <a:gsLst>
                <a:gs pos="0">
                  <a:srgbClr val="6699FF"/>
                </a:gs>
                <a:gs pos="100000">
                  <a:srgbClr val="6699FF">
                    <a:gamma/>
                    <a:tint val="63922"/>
                    <a:invGamma/>
                  </a:srgbClr>
                </a:gs>
              </a:gsLst>
              <a:path path="rect">
                <a:fillToRect l="100000" t="100000"/>
              </a:path>
            </a:gradFill>
            <a:ln w="3175" cap="rnd" cmpd="sng">
              <a:noFill/>
              <a:prstDash val="solid"/>
              <a:round/>
              <a:headEnd type="none" w="med" len="med"/>
              <a:tailEnd type="none" w="med" len="med"/>
            </a:ln>
            <a:effectLst/>
          </p:spPr>
          <p:txBody>
            <a:bodyPr/>
            <a:lstStyle/>
            <a:p>
              <a:endParaRPr lang="fr-FR"/>
            </a:p>
          </p:txBody>
        </p:sp>
        <p:sp>
          <p:nvSpPr>
            <p:cNvPr id="60426" name="Freeform 10"/>
            <p:cNvSpPr>
              <a:spLocks noChangeAspect="1"/>
            </p:cNvSpPr>
            <p:nvPr/>
          </p:nvSpPr>
          <p:spPr bwMode="auto">
            <a:xfrm>
              <a:off x="1246" y="1032"/>
              <a:ext cx="715" cy="552"/>
            </a:xfrm>
            <a:custGeom>
              <a:avLst/>
              <a:gdLst/>
              <a:ahLst/>
              <a:cxnLst>
                <a:cxn ang="0">
                  <a:pos x="5" y="335"/>
                </a:cxn>
                <a:cxn ang="0">
                  <a:pos x="7" y="324"/>
                </a:cxn>
                <a:cxn ang="0">
                  <a:pos x="0" y="312"/>
                </a:cxn>
                <a:cxn ang="0">
                  <a:pos x="103" y="0"/>
                </a:cxn>
                <a:cxn ang="0">
                  <a:pos x="715" y="197"/>
                </a:cxn>
                <a:cxn ang="0">
                  <a:pos x="601" y="545"/>
                </a:cxn>
                <a:cxn ang="0">
                  <a:pos x="586" y="552"/>
                </a:cxn>
                <a:cxn ang="0">
                  <a:pos x="700" y="210"/>
                </a:cxn>
                <a:cxn ang="0">
                  <a:pos x="110" y="15"/>
                </a:cxn>
                <a:cxn ang="0">
                  <a:pos x="5" y="335"/>
                </a:cxn>
              </a:cxnLst>
              <a:rect l="0" t="0" r="r" b="b"/>
              <a:pathLst>
                <a:path w="715" h="552">
                  <a:moveTo>
                    <a:pt x="5" y="335"/>
                  </a:moveTo>
                  <a:lnTo>
                    <a:pt x="7" y="324"/>
                  </a:lnTo>
                  <a:lnTo>
                    <a:pt x="0" y="312"/>
                  </a:lnTo>
                  <a:lnTo>
                    <a:pt x="103" y="0"/>
                  </a:lnTo>
                  <a:lnTo>
                    <a:pt x="715" y="197"/>
                  </a:lnTo>
                  <a:lnTo>
                    <a:pt x="601" y="545"/>
                  </a:lnTo>
                  <a:lnTo>
                    <a:pt x="586" y="552"/>
                  </a:lnTo>
                  <a:lnTo>
                    <a:pt x="700" y="210"/>
                  </a:lnTo>
                  <a:lnTo>
                    <a:pt x="110" y="15"/>
                  </a:lnTo>
                  <a:lnTo>
                    <a:pt x="5" y="335"/>
                  </a:lnTo>
                </a:path>
              </a:pathLst>
            </a:custGeom>
            <a:solidFill>
              <a:schemeClr val="bg1"/>
            </a:solidFill>
            <a:ln w="3175" cap="rnd" cmpd="sng">
              <a:noFill/>
              <a:prstDash val="solid"/>
              <a:round/>
              <a:headEnd type="none" w="med" len="med"/>
              <a:tailEnd type="none" w="med" len="med"/>
            </a:ln>
            <a:effectLst/>
          </p:spPr>
          <p:txBody>
            <a:bodyPr/>
            <a:lstStyle/>
            <a:p>
              <a:endParaRPr lang="fr-FR"/>
            </a:p>
          </p:txBody>
        </p:sp>
        <p:sp>
          <p:nvSpPr>
            <p:cNvPr id="60427" name="Freeform 11"/>
            <p:cNvSpPr>
              <a:spLocks noChangeAspect="1"/>
            </p:cNvSpPr>
            <p:nvPr/>
          </p:nvSpPr>
          <p:spPr bwMode="auto">
            <a:xfrm>
              <a:off x="839" y="1640"/>
              <a:ext cx="802" cy="452"/>
            </a:xfrm>
            <a:custGeom>
              <a:avLst/>
              <a:gdLst/>
              <a:ahLst/>
              <a:cxnLst>
                <a:cxn ang="0">
                  <a:pos x="1464" y="519"/>
                </a:cxn>
                <a:cxn ang="0">
                  <a:pos x="453" y="0"/>
                </a:cxn>
                <a:cxn ang="0">
                  <a:pos x="0" y="243"/>
                </a:cxn>
                <a:cxn ang="0">
                  <a:pos x="1020" y="825"/>
                </a:cxn>
                <a:cxn ang="0">
                  <a:pos x="1464" y="519"/>
                </a:cxn>
              </a:cxnLst>
              <a:rect l="0" t="0" r="r" b="b"/>
              <a:pathLst>
                <a:path w="1465" h="826">
                  <a:moveTo>
                    <a:pt x="1464" y="519"/>
                  </a:moveTo>
                  <a:lnTo>
                    <a:pt x="453" y="0"/>
                  </a:lnTo>
                  <a:lnTo>
                    <a:pt x="0" y="243"/>
                  </a:lnTo>
                  <a:lnTo>
                    <a:pt x="1020" y="825"/>
                  </a:lnTo>
                  <a:lnTo>
                    <a:pt x="1464" y="519"/>
                  </a:lnTo>
                </a:path>
              </a:pathLst>
            </a:custGeom>
            <a:solidFill>
              <a:srgbClr val="DDDDDD"/>
            </a:solidFill>
            <a:ln w="3175" cap="rnd" cmpd="sng">
              <a:noFill/>
              <a:prstDash val="solid"/>
              <a:round/>
              <a:headEnd type="none" w="med" len="med"/>
              <a:tailEnd type="none" w="med" len="med"/>
            </a:ln>
            <a:effectLst/>
          </p:spPr>
          <p:txBody>
            <a:bodyPr/>
            <a:lstStyle/>
            <a:p>
              <a:endParaRPr lang="fr-FR"/>
            </a:p>
          </p:txBody>
        </p:sp>
        <p:sp>
          <p:nvSpPr>
            <p:cNvPr id="60428" name="Freeform 12"/>
            <p:cNvSpPr>
              <a:spLocks noChangeAspect="1"/>
            </p:cNvSpPr>
            <p:nvPr/>
          </p:nvSpPr>
          <p:spPr bwMode="auto">
            <a:xfrm>
              <a:off x="1764" y="1865"/>
              <a:ext cx="17" cy="15"/>
            </a:xfrm>
            <a:custGeom>
              <a:avLst/>
              <a:gdLst/>
              <a:ahLst/>
              <a:cxnLst>
                <a:cxn ang="0">
                  <a:pos x="9" y="0"/>
                </a:cxn>
                <a:cxn ang="0">
                  <a:pos x="9" y="3"/>
                </a:cxn>
                <a:cxn ang="0">
                  <a:pos x="6" y="3"/>
                </a:cxn>
                <a:cxn ang="0">
                  <a:pos x="6" y="6"/>
                </a:cxn>
                <a:cxn ang="0">
                  <a:pos x="3" y="6"/>
                </a:cxn>
                <a:cxn ang="0">
                  <a:pos x="0" y="6"/>
                </a:cxn>
                <a:cxn ang="0">
                  <a:pos x="0" y="9"/>
                </a:cxn>
                <a:cxn ang="0">
                  <a:pos x="0" y="12"/>
                </a:cxn>
                <a:cxn ang="0">
                  <a:pos x="0" y="15"/>
                </a:cxn>
                <a:cxn ang="0">
                  <a:pos x="0" y="18"/>
                </a:cxn>
                <a:cxn ang="0">
                  <a:pos x="0" y="21"/>
                </a:cxn>
                <a:cxn ang="0">
                  <a:pos x="3" y="21"/>
                </a:cxn>
                <a:cxn ang="0">
                  <a:pos x="6" y="21"/>
                </a:cxn>
                <a:cxn ang="0">
                  <a:pos x="6" y="24"/>
                </a:cxn>
                <a:cxn ang="0">
                  <a:pos x="9" y="24"/>
                </a:cxn>
                <a:cxn ang="0">
                  <a:pos x="12" y="24"/>
                </a:cxn>
                <a:cxn ang="0">
                  <a:pos x="15" y="21"/>
                </a:cxn>
                <a:cxn ang="0">
                  <a:pos x="18" y="21"/>
                </a:cxn>
                <a:cxn ang="0">
                  <a:pos x="21" y="18"/>
                </a:cxn>
                <a:cxn ang="0">
                  <a:pos x="24" y="18"/>
                </a:cxn>
                <a:cxn ang="0">
                  <a:pos x="24" y="15"/>
                </a:cxn>
                <a:cxn ang="0">
                  <a:pos x="27" y="15"/>
                </a:cxn>
                <a:cxn ang="0">
                  <a:pos x="27" y="12"/>
                </a:cxn>
                <a:cxn ang="0">
                  <a:pos x="30" y="12"/>
                </a:cxn>
                <a:cxn ang="0">
                  <a:pos x="30" y="9"/>
                </a:cxn>
                <a:cxn ang="0">
                  <a:pos x="27" y="6"/>
                </a:cxn>
                <a:cxn ang="0">
                  <a:pos x="24" y="3"/>
                </a:cxn>
                <a:cxn ang="0">
                  <a:pos x="21" y="0"/>
                </a:cxn>
                <a:cxn ang="0">
                  <a:pos x="18" y="0"/>
                </a:cxn>
                <a:cxn ang="0">
                  <a:pos x="15" y="0"/>
                </a:cxn>
                <a:cxn ang="0">
                  <a:pos x="12" y="0"/>
                </a:cxn>
                <a:cxn ang="0">
                  <a:pos x="9" y="0"/>
                </a:cxn>
              </a:cxnLst>
              <a:rect l="0" t="0" r="r" b="b"/>
              <a:pathLst>
                <a:path w="31" h="25">
                  <a:moveTo>
                    <a:pt x="9" y="0"/>
                  </a:moveTo>
                  <a:lnTo>
                    <a:pt x="9" y="3"/>
                  </a:lnTo>
                  <a:lnTo>
                    <a:pt x="6" y="3"/>
                  </a:lnTo>
                  <a:lnTo>
                    <a:pt x="6" y="6"/>
                  </a:lnTo>
                  <a:lnTo>
                    <a:pt x="3" y="6"/>
                  </a:lnTo>
                  <a:lnTo>
                    <a:pt x="0" y="6"/>
                  </a:lnTo>
                  <a:lnTo>
                    <a:pt x="0" y="9"/>
                  </a:lnTo>
                  <a:lnTo>
                    <a:pt x="0" y="12"/>
                  </a:lnTo>
                  <a:lnTo>
                    <a:pt x="0" y="15"/>
                  </a:lnTo>
                  <a:lnTo>
                    <a:pt x="0" y="18"/>
                  </a:lnTo>
                  <a:lnTo>
                    <a:pt x="0" y="21"/>
                  </a:lnTo>
                  <a:lnTo>
                    <a:pt x="3" y="21"/>
                  </a:lnTo>
                  <a:lnTo>
                    <a:pt x="6" y="21"/>
                  </a:lnTo>
                  <a:lnTo>
                    <a:pt x="6" y="24"/>
                  </a:lnTo>
                  <a:lnTo>
                    <a:pt x="9" y="24"/>
                  </a:lnTo>
                  <a:lnTo>
                    <a:pt x="12" y="24"/>
                  </a:lnTo>
                  <a:lnTo>
                    <a:pt x="15" y="21"/>
                  </a:lnTo>
                  <a:lnTo>
                    <a:pt x="18" y="21"/>
                  </a:lnTo>
                  <a:lnTo>
                    <a:pt x="21" y="18"/>
                  </a:lnTo>
                  <a:lnTo>
                    <a:pt x="24" y="18"/>
                  </a:lnTo>
                  <a:lnTo>
                    <a:pt x="24" y="15"/>
                  </a:lnTo>
                  <a:lnTo>
                    <a:pt x="27" y="15"/>
                  </a:lnTo>
                  <a:lnTo>
                    <a:pt x="27" y="12"/>
                  </a:lnTo>
                  <a:lnTo>
                    <a:pt x="30" y="12"/>
                  </a:lnTo>
                  <a:lnTo>
                    <a:pt x="30" y="9"/>
                  </a:lnTo>
                  <a:lnTo>
                    <a:pt x="27" y="6"/>
                  </a:lnTo>
                  <a:lnTo>
                    <a:pt x="24" y="3"/>
                  </a:lnTo>
                  <a:lnTo>
                    <a:pt x="21" y="0"/>
                  </a:lnTo>
                  <a:lnTo>
                    <a:pt x="18" y="0"/>
                  </a:lnTo>
                  <a:lnTo>
                    <a:pt x="15" y="0"/>
                  </a:lnTo>
                  <a:lnTo>
                    <a:pt x="12" y="0"/>
                  </a:lnTo>
                  <a:lnTo>
                    <a:pt x="9"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60429" name="Freeform 13"/>
            <p:cNvSpPr>
              <a:spLocks noChangeAspect="1"/>
            </p:cNvSpPr>
            <p:nvPr/>
          </p:nvSpPr>
          <p:spPr bwMode="auto">
            <a:xfrm>
              <a:off x="1787" y="1590"/>
              <a:ext cx="49" cy="173"/>
            </a:xfrm>
            <a:custGeom>
              <a:avLst/>
              <a:gdLst/>
              <a:ahLst/>
              <a:cxnLst>
                <a:cxn ang="0">
                  <a:pos x="90" y="0"/>
                </a:cxn>
                <a:cxn ang="0">
                  <a:pos x="81" y="87"/>
                </a:cxn>
                <a:cxn ang="0">
                  <a:pos x="0" y="318"/>
                </a:cxn>
              </a:cxnLst>
              <a:rect l="0" t="0" r="r" b="b"/>
              <a:pathLst>
                <a:path w="91" h="319">
                  <a:moveTo>
                    <a:pt x="90" y="0"/>
                  </a:moveTo>
                  <a:lnTo>
                    <a:pt x="81" y="87"/>
                  </a:lnTo>
                  <a:lnTo>
                    <a:pt x="0" y="318"/>
                  </a:lnTo>
                </a:path>
              </a:pathLst>
            </a:custGeom>
            <a:noFill/>
            <a:ln w="3175" cap="rnd" cmpd="sng">
              <a:solidFill>
                <a:srgbClr val="000000"/>
              </a:solidFill>
              <a:prstDash val="solid"/>
              <a:round/>
              <a:headEnd type="none" w="med" len="med"/>
              <a:tailEnd type="none" w="med" len="med"/>
            </a:ln>
            <a:effectLst/>
          </p:spPr>
          <p:txBody>
            <a:bodyPr/>
            <a:lstStyle/>
            <a:p>
              <a:endParaRPr lang="fr-FR"/>
            </a:p>
          </p:txBody>
        </p:sp>
        <p:sp>
          <p:nvSpPr>
            <p:cNvPr id="60430" name="Line 14"/>
            <p:cNvSpPr>
              <a:spLocks noChangeAspect="1" noChangeShapeType="1"/>
            </p:cNvSpPr>
            <p:nvPr/>
          </p:nvSpPr>
          <p:spPr bwMode="auto">
            <a:xfrm flipH="1" flipV="1">
              <a:off x="1060" y="1686"/>
              <a:ext cx="495" cy="257"/>
            </a:xfrm>
            <a:prstGeom prst="line">
              <a:avLst/>
            </a:prstGeom>
            <a:noFill/>
            <a:ln w="12700">
              <a:solidFill>
                <a:srgbClr val="808080"/>
              </a:solidFill>
              <a:round/>
              <a:headEnd/>
              <a:tailEnd/>
            </a:ln>
            <a:effectLst/>
          </p:spPr>
          <p:txBody>
            <a:bodyPr wrap="none" anchor="ctr"/>
            <a:lstStyle/>
            <a:p>
              <a:endParaRPr lang="fr-FR"/>
            </a:p>
          </p:txBody>
        </p:sp>
        <p:sp>
          <p:nvSpPr>
            <p:cNvPr id="60431" name="Line 15"/>
            <p:cNvSpPr>
              <a:spLocks noChangeAspect="1" noChangeShapeType="1"/>
            </p:cNvSpPr>
            <p:nvPr/>
          </p:nvSpPr>
          <p:spPr bwMode="auto">
            <a:xfrm flipH="1" flipV="1">
              <a:off x="1009" y="1730"/>
              <a:ext cx="469" cy="253"/>
            </a:xfrm>
            <a:prstGeom prst="line">
              <a:avLst/>
            </a:prstGeom>
            <a:noFill/>
            <a:ln w="12700">
              <a:solidFill>
                <a:srgbClr val="808080"/>
              </a:solidFill>
              <a:round/>
              <a:headEnd/>
              <a:tailEnd/>
            </a:ln>
            <a:effectLst/>
          </p:spPr>
          <p:txBody>
            <a:bodyPr wrap="none" anchor="ctr"/>
            <a:lstStyle/>
            <a:p>
              <a:endParaRPr lang="fr-FR"/>
            </a:p>
          </p:txBody>
        </p:sp>
        <p:sp>
          <p:nvSpPr>
            <p:cNvPr id="60432" name="Line 16"/>
            <p:cNvSpPr>
              <a:spLocks noChangeAspect="1" noChangeShapeType="1"/>
            </p:cNvSpPr>
            <p:nvPr/>
          </p:nvSpPr>
          <p:spPr bwMode="auto">
            <a:xfrm flipH="1" flipV="1">
              <a:off x="924" y="1763"/>
              <a:ext cx="475" cy="264"/>
            </a:xfrm>
            <a:prstGeom prst="line">
              <a:avLst/>
            </a:prstGeom>
            <a:noFill/>
            <a:ln w="12700">
              <a:solidFill>
                <a:srgbClr val="808080"/>
              </a:solidFill>
              <a:round/>
              <a:headEnd/>
              <a:tailEnd/>
            </a:ln>
            <a:effectLst/>
          </p:spPr>
          <p:txBody>
            <a:bodyPr wrap="none" anchor="ctr"/>
            <a:lstStyle/>
            <a:p>
              <a:endParaRPr lang="fr-FR"/>
            </a:p>
          </p:txBody>
        </p:sp>
        <p:sp>
          <p:nvSpPr>
            <p:cNvPr id="60433" name="Freeform 17"/>
            <p:cNvSpPr>
              <a:spLocks noChangeAspect="1"/>
            </p:cNvSpPr>
            <p:nvPr/>
          </p:nvSpPr>
          <p:spPr bwMode="auto">
            <a:xfrm>
              <a:off x="1104" y="1563"/>
              <a:ext cx="660" cy="336"/>
            </a:xfrm>
            <a:custGeom>
              <a:avLst/>
              <a:gdLst/>
              <a:ahLst/>
              <a:cxnLst>
                <a:cxn ang="0">
                  <a:pos x="93" y="0"/>
                </a:cxn>
                <a:cxn ang="0">
                  <a:pos x="0" y="60"/>
                </a:cxn>
                <a:cxn ang="0">
                  <a:pos x="568" y="336"/>
                </a:cxn>
                <a:cxn ang="0">
                  <a:pos x="660" y="266"/>
                </a:cxn>
              </a:cxnLst>
              <a:rect l="0" t="0" r="r" b="b"/>
              <a:pathLst>
                <a:path w="660" h="336">
                  <a:moveTo>
                    <a:pt x="93" y="0"/>
                  </a:moveTo>
                  <a:lnTo>
                    <a:pt x="0" y="60"/>
                  </a:lnTo>
                  <a:lnTo>
                    <a:pt x="568" y="336"/>
                  </a:lnTo>
                  <a:lnTo>
                    <a:pt x="660" y="266"/>
                  </a:lnTo>
                </a:path>
              </a:pathLst>
            </a:custGeom>
            <a:solidFill>
              <a:srgbClr val="DDDDDD"/>
            </a:solidFill>
            <a:ln w="3175" cap="rnd" cmpd="sng">
              <a:noFill/>
              <a:prstDash val="solid"/>
              <a:round/>
              <a:headEnd type="none" w="med" len="med"/>
              <a:tailEnd type="none" w="med" len="med"/>
            </a:ln>
            <a:effectLst/>
          </p:spPr>
          <p:txBody>
            <a:bodyPr/>
            <a:lstStyle/>
            <a:p>
              <a:endParaRPr lang="fr-FR"/>
            </a:p>
          </p:txBody>
        </p:sp>
        <p:sp>
          <p:nvSpPr>
            <p:cNvPr id="60434" name="Freeform 18"/>
            <p:cNvSpPr>
              <a:spLocks noChangeAspect="1"/>
            </p:cNvSpPr>
            <p:nvPr/>
          </p:nvSpPr>
          <p:spPr bwMode="auto">
            <a:xfrm>
              <a:off x="1685" y="1736"/>
              <a:ext cx="105" cy="86"/>
            </a:xfrm>
            <a:custGeom>
              <a:avLst/>
              <a:gdLst/>
              <a:ahLst/>
              <a:cxnLst>
                <a:cxn ang="0">
                  <a:pos x="48" y="0"/>
                </a:cxn>
                <a:cxn ang="0">
                  <a:pos x="186" y="63"/>
                </a:cxn>
                <a:cxn ang="0">
                  <a:pos x="183" y="66"/>
                </a:cxn>
                <a:cxn ang="0">
                  <a:pos x="177" y="66"/>
                </a:cxn>
                <a:cxn ang="0">
                  <a:pos x="171" y="69"/>
                </a:cxn>
                <a:cxn ang="0">
                  <a:pos x="165" y="72"/>
                </a:cxn>
                <a:cxn ang="0">
                  <a:pos x="159" y="75"/>
                </a:cxn>
                <a:cxn ang="0">
                  <a:pos x="153" y="81"/>
                </a:cxn>
                <a:cxn ang="0">
                  <a:pos x="150" y="84"/>
                </a:cxn>
                <a:cxn ang="0">
                  <a:pos x="147" y="93"/>
                </a:cxn>
                <a:cxn ang="0">
                  <a:pos x="144" y="99"/>
                </a:cxn>
                <a:cxn ang="0">
                  <a:pos x="141" y="105"/>
                </a:cxn>
                <a:cxn ang="0">
                  <a:pos x="141" y="111"/>
                </a:cxn>
                <a:cxn ang="0">
                  <a:pos x="141" y="120"/>
                </a:cxn>
                <a:cxn ang="0">
                  <a:pos x="141" y="129"/>
                </a:cxn>
                <a:cxn ang="0">
                  <a:pos x="144" y="135"/>
                </a:cxn>
                <a:cxn ang="0">
                  <a:pos x="150" y="153"/>
                </a:cxn>
                <a:cxn ang="0">
                  <a:pos x="9" y="87"/>
                </a:cxn>
                <a:cxn ang="0">
                  <a:pos x="6" y="84"/>
                </a:cxn>
                <a:cxn ang="0">
                  <a:pos x="6" y="78"/>
                </a:cxn>
                <a:cxn ang="0">
                  <a:pos x="3" y="72"/>
                </a:cxn>
                <a:cxn ang="0">
                  <a:pos x="0" y="66"/>
                </a:cxn>
                <a:cxn ang="0">
                  <a:pos x="0" y="57"/>
                </a:cxn>
                <a:cxn ang="0">
                  <a:pos x="0" y="51"/>
                </a:cxn>
                <a:cxn ang="0">
                  <a:pos x="0" y="42"/>
                </a:cxn>
                <a:cxn ang="0">
                  <a:pos x="3" y="36"/>
                </a:cxn>
                <a:cxn ang="0">
                  <a:pos x="6" y="30"/>
                </a:cxn>
                <a:cxn ang="0">
                  <a:pos x="6" y="21"/>
                </a:cxn>
                <a:cxn ang="0">
                  <a:pos x="12" y="18"/>
                </a:cxn>
                <a:cxn ang="0">
                  <a:pos x="18" y="12"/>
                </a:cxn>
                <a:cxn ang="0">
                  <a:pos x="24" y="6"/>
                </a:cxn>
                <a:cxn ang="0">
                  <a:pos x="30" y="3"/>
                </a:cxn>
                <a:cxn ang="0">
                  <a:pos x="48" y="0"/>
                </a:cxn>
              </a:cxnLst>
              <a:rect l="0" t="0" r="r" b="b"/>
              <a:pathLst>
                <a:path w="187" h="154">
                  <a:moveTo>
                    <a:pt x="48" y="0"/>
                  </a:moveTo>
                  <a:lnTo>
                    <a:pt x="186" y="63"/>
                  </a:lnTo>
                  <a:lnTo>
                    <a:pt x="183" y="66"/>
                  </a:lnTo>
                  <a:lnTo>
                    <a:pt x="177" y="66"/>
                  </a:lnTo>
                  <a:lnTo>
                    <a:pt x="171" y="69"/>
                  </a:lnTo>
                  <a:lnTo>
                    <a:pt x="165" y="72"/>
                  </a:lnTo>
                  <a:lnTo>
                    <a:pt x="159" y="75"/>
                  </a:lnTo>
                  <a:lnTo>
                    <a:pt x="153" y="81"/>
                  </a:lnTo>
                  <a:lnTo>
                    <a:pt x="150" y="84"/>
                  </a:lnTo>
                  <a:lnTo>
                    <a:pt x="147" y="93"/>
                  </a:lnTo>
                  <a:lnTo>
                    <a:pt x="144" y="99"/>
                  </a:lnTo>
                  <a:lnTo>
                    <a:pt x="141" y="105"/>
                  </a:lnTo>
                  <a:lnTo>
                    <a:pt x="141" y="111"/>
                  </a:lnTo>
                  <a:lnTo>
                    <a:pt x="141" y="120"/>
                  </a:lnTo>
                  <a:lnTo>
                    <a:pt x="141" y="129"/>
                  </a:lnTo>
                  <a:lnTo>
                    <a:pt x="144" y="135"/>
                  </a:lnTo>
                  <a:lnTo>
                    <a:pt x="150" y="153"/>
                  </a:lnTo>
                  <a:lnTo>
                    <a:pt x="9" y="87"/>
                  </a:lnTo>
                  <a:lnTo>
                    <a:pt x="6" y="84"/>
                  </a:lnTo>
                  <a:lnTo>
                    <a:pt x="6" y="78"/>
                  </a:lnTo>
                  <a:lnTo>
                    <a:pt x="3" y="72"/>
                  </a:lnTo>
                  <a:lnTo>
                    <a:pt x="0" y="66"/>
                  </a:lnTo>
                  <a:lnTo>
                    <a:pt x="0" y="57"/>
                  </a:lnTo>
                  <a:lnTo>
                    <a:pt x="0" y="51"/>
                  </a:lnTo>
                  <a:lnTo>
                    <a:pt x="0" y="42"/>
                  </a:lnTo>
                  <a:lnTo>
                    <a:pt x="3" y="36"/>
                  </a:lnTo>
                  <a:lnTo>
                    <a:pt x="6" y="30"/>
                  </a:lnTo>
                  <a:lnTo>
                    <a:pt x="6" y="21"/>
                  </a:lnTo>
                  <a:lnTo>
                    <a:pt x="12" y="18"/>
                  </a:lnTo>
                  <a:lnTo>
                    <a:pt x="18" y="12"/>
                  </a:lnTo>
                  <a:lnTo>
                    <a:pt x="24" y="6"/>
                  </a:lnTo>
                  <a:lnTo>
                    <a:pt x="30" y="3"/>
                  </a:lnTo>
                  <a:lnTo>
                    <a:pt x="48" y="0"/>
                  </a:lnTo>
                </a:path>
              </a:pathLst>
            </a:custGeom>
            <a:gradFill rotWithShape="0">
              <a:gsLst>
                <a:gs pos="0">
                  <a:srgbClr val="808080"/>
                </a:gs>
                <a:gs pos="100000">
                  <a:srgbClr val="FFFFFF"/>
                </a:gs>
              </a:gsLst>
              <a:lin ang="189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60435" name="Freeform 19"/>
            <p:cNvSpPr>
              <a:spLocks noChangeAspect="1"/>
            </p:cNvSpPr>
            <p:nvPr/>
          </p:nvSpPr>
          <p:spPr bwMode="auto">
            <a:xfrm>
              <a:off x="1333" y="1576"/>
              <a:ext cx="308" cy="178"/>
            </a:xfrm>
            <a:custGeom>
              <a:avLst/>
              <a:gdLst/>
              <a:ahLst/>
              <a:cxnLst>
                <a:cxn ang="0">
                  <a:pos x="564" y="225"/>
                </a:cxn>
                <a:cxn ang="0">
                  <a:pos x="60" y="3"/>
                </a:cxn>
                <a:cxn ang="0">
                  <a:pos x="51" y="0"/>
                </a:cxn>
                <a:cxn ang="0">
                  <a:pos x="45" y="0"/>
                </a:cxn>
                <a:cxn ang="0">
                  <a:pos x="39" y="3"/>
                </a:cxn>
                <a:cxn ang="0">
                  <a:pos x="30" y="6"/>
                </a:cxn>
                <a:cxn ang="0">
                  <a:pos x="24" y="12"/>
                </a:cxn>
                <a:cxn ang="0">
                  <a:pos x="21" y="15"/>
                </a:cxn>
                <a:cxn ang="0">
                  <a:pos x="15" y="21"/>
                </a:cxn>
                <a:cxn ang="0">
                  <a:pos x="9" y="30"/>
                </a:cxn>
                <a:cxn ang="0">
                  <a:pos x="6" y="36"/>
                </a:cxn>
                <a:cxn ang="0">
                  <a:pos x="3" y="42"/>
                </a:cxn>
                <a:cxn ang="0">
                  <a:pos x="0" y="51"/>
                </a:cxn>
                <a:cxn ang="0">
                  <a:pos x="0" y="57"/>
                </a:cxn>
                <a:cxn ang="0">
                  <a:pos x="0" y="66"/>
                </a:cxn>
                <a:cxn ang="0">
                  <a:pos x="3" y="72"/>
                </a:cxn>
                <a:cxn ang="0">
                  <a:pos x="9" y="84"/>
                </a:cxn>
                <a:cxn ang="0">
                  <a:pos x="528" y="324"/>
                </a:cxn>
                <a:cxn ang="0">
                  <a:pos x="525" y="318"/>
                </a:cxn>
                <a:cxn ang="0">
                  <a:pos x="522" y="309"/>
                </a:cxn>
                <a:cxn ang="0">
                  <a:pos x="522" y="303"/>
                </a:cxn>
                <a:cxn ang="0">
                  <a:pos x="519" y="294"/>
                </a:cxn>
                <a:cxn ang="0">
                  <a:pos x="519" y="288"/>
                </a:cxn>
                <a:cxn ang="0">
                  <a:pos x="519" y="282"/>
                </a:cxn>
                <a:cxn ang="0">
                  <a:pos x="519" y="273"/>
                </a:cxn>
                <a:cxn ang="0">
                  <a:pos x="522" y="267"/>
                </a:cxn>
                <a:cxn ang="0">
                  <a:pos x="525" y="261"/>
                </a:cxn>
                <a:cxn ang="0">
                  <a:pos x="528" y="255"/>
                </a:cxn>
                <a:cxn ang="0">
                  <a:pos x="531" y="249"/>
                </a:cxn>
                <a:cxn ang="0">
                  <a:pos x="537" y="243"/>
                </a:cxn>
                <a:cxn ang="0">
                  <a:pos x="543" y="237"/>
                </a:cxn>
                <a:cxn ang="0">
                  <a:pos x="549" y="234"/>
                </a:cxn>
                <a:cxn ang="0">
                  <a:pos x="564" y="225"/>
                </a:cxn>
              </a:cxnLst>
              <a:rect l="0" t="0" r="r" b="b"/>
              <a:pathLst>
                <a:path w="565" h="325">
                  <a:moveTo>
                    <a:pt x="564" y="225"/>
                  </a:moveTo>
                  <a:lnTo>
                    <a:pt x="60" y="3"/>
                  </a:lnTo>
                  <a:lnTo>
                    <a:pt x="51" y="0"/>
                  </a:lnTo>
                  <a:lnTo>
                    <a:pt x="45" y="0"/>
                  </a:lnTo>
                  <a:lnTo>
                    <a:pt x="39" y="3"/>
                  </a:lnTo>
                  <a:lnTo>
                    <a:pt x="30" y="6"/>
                  </a:lnTo>
                  <a:lnTo>
                    <a:pt x="24" y="12"/>
                  </a:lnTo>
                  <a:lnTo>
                    <a:pt x="21" y="15"/>
                  </a:lnTo>
                  <a:lnTo>
                    <a:pt x="15" y="21"/>
                  </a:lnTo>
                  <a:lnTo>
                    <a:pt x="9" y="30"/>
                  </a:lnTo>
                  <a:lnTo>
                    <a:pt x="6" y="36"/>
                  </a:lnTo>
                  <a:lnTo>
                    <a:pt x="3" y="42"/>
                  </a:lnTo>
                  <a:lnTo>
                    <a:pt x="0" y="51"/>
                  </a:lnTo>
                  <a:lnTo>
                    <a:pt x="0" y="57"/>
                  </a:lnTo>
                  <a:lnTo>
                    <a:pt x="0" y="66"/>
                  </a:lnTo>
                  <a:lnTo>
                    <a:pt x="3" y="72"/>
                  </a:lnTo>
                  <a:lnTo>
                    <a:pt x="9" y="84"/>
                  </a:lnTo>
                  <a:lnTo>
                    <a:pt x="528" y="324"/>
                  </a:lnTo>
                  <a:lnTo>
                    <a:pt x="525" y="318"/>
                  </a:lnTo>
                  <a:lnTo>
                    <a:pt x="522" y="309"/>
                  </a:lnTo>
                  <a:lnTo>
                    <a:pt x="522" y="303"/>
                  </a:lnTo>
                  <a:lnTo>
                    <a:pt x="519" y="294"/>
                  </a:lnTo>
                  <a:lnTo>
                    <a:pt x="519" y="288"/>
                  </a:lnTo>
                  <a:lnTo>
                    <a:pt x="519" y="282"/>
                  </a:lnTo>
                  <a:lnTo>
                    <a:pt x="519" y="273"/>
                  </a:lnTo>
                  <a:lnTo>
                    <a:pt x="522" y="267"/>
                  </a:lnTo>
                  <a:lnTo>
                    <a:pt x="525" y="261"/>
                  </a:lnTo>
                  <a:lnTo>
                    <a:pt x="528" y="255"/>
                  </a:lnTo>
                  <a:lnTo>
                    <a:pt x="531" y="249"/>
                  </a:lnTo>
                  <a:lnTo>
                    <a:pt x="537" y="243"/>
                  </a:lnTo>
                  <a:lnTo>
                    <a:pt x="543" y="237"/>
                  </a:lnTo>
                  <a:lnTo>
                    <a:pt x="549" y="234"/>
                  </a:lnTo>
                  <a:lnTo>
                    <a:pt x="564" y="225"/>
                  </a:lnTo>
                </a:path>
              </a:pathLst>
            </a:custGeom>
            <a:gradFill rotWithShape="0">
              <a:gsLst>
                <a:gs pos="0">
                  <a:srgbClr val="808080"/>
                </a:gs>
                <a:gs pos="100000">
                  <a:srgbClr val="FFFFFF"/>
                </a:gs>
              </a:gsLst>
              <a:lin ang="189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60436" name="Freeform 20"/>
            <p:cNvSpPr>
              <a:spLocks noChangeAspect="1"/>
            </p:cNvSpPr>
            <p:nvPr/>
          </p:nvSpPr>
          <p:spPr bwMode="auto">
            <a:xfrm>
              <a:off x="1179" y="1507"/>
              <a:ext cx="105" cy="86"/>
            </a:xfrm>
            <a:custGeom>
              <a:avLst/>
              <a:gdLst/>
              <a:ahLst/>
              <a:cxnLst>
                <a:cxn ang="0">
                  <a:pos x="48" y="0"/>
                </a:cxn>
                <a:cxn ang="0">
                  <a:pos x="186" y="63"/>
                </a:cxn>
                <a:cxn ang="0">
                  <a:pos x="183" y="66"/>
                </a:cxn>
                <a:cxn ang="0">
                  <a:pos x="177" y="66"/>
                </a:cxn>
                <a:cxn ang="0">
                  <a:pos x="171" y="69"/>
                </a:cxn>
                <a:cxn ang="0">
                  <a:pos x="165" y="72"/>
                </a:cxn>
                <a:cxn ang="0">
                  <a:pos x="159" y="75"/>
                </a:cxn>
                <a:cxn ang="0">
                  <a:pos x="153" y="81"/>
                </a:cxn>
                <a:cxn ang="0">
                  <a:pos x="150" y="84"/>
                </a:cxn>
                <a:cxn ang="0">
                  <a:pos x="147" y="93"/>
                </a:cxn>
                <a:cxn ang="0">
                  <a:pos x="144" y="99"/>
                </a:cxn>
                <a:cxn ang="0">
                  <a:pos x="141" y="105"/>
                </a:cxn>
                <a:cxn ang="0">
                  <a:pos x="141" y="111"/>
                </a:cxn>
                <a:cxn ang="0">
                  <a:pos x="141" y="120"/>
                </a:cxn>
                <a:cxn ang="0">
                  <a:pos x="141" y="129"/>
                </a:cxn>
                <a:cxn ang="0">
                  <a:pos x="144" y="135"/>
                </a:cxn>
                <a:cxn ang="0">
                  <a:pos x="150" y="153"/>
                </a:cxn>
                <a:cxn ang="0">
                  <a:pos x="9" y="87"/>
                </a:cxn>
                <a:cxn ang="0">
                  <a:pos x="6" y="84"/>
                </a:cxn>
                <a:cxn ang="0">
                  <a:pos x="6" y="78"/>
                </a:cxn>
                <a:cxn ang="0">
                  <a:pos x="3" y="72"/>
                </a:cxn>
                <a:cxn ang="0">
                  <a:pos x="0" y="66"/>
                </a:cxn>
                <a:cxn ang="0">
                  <a:pos x="0" y="57"/>
                </a:cxn>
                <a:cxn ang="0">
                  <a:pos x="0" y="51"/>
                </a:cxn>
                <a:cxn ang="0">
                  <a:pos x="0" y="42"/>
                </a:cxn>
                <a:cxn ang="0">
                  <a:pos x="3" y="36"/>
                </a:cxn>
                <a:cxn ang="0">
                  <a:pos x="6" y="30"/>
                </a:cxn>
                <a:cxn ang="0">
                  <a:pos x="6" y="21"/>
                </a:cxn>
                <a:cxn ang="0">
                  <a:pos x="12" y="18"/>
                </a:cxn>
                <a:cxn ang="0">
                  <a:pos x="18" y="12"/>
                </a:cxn>
                <a:cxn ang="0">
                  <a:pos x="24" y="6"/>
                </a:cxn>
                <a:cxn ang="0">
                  <a:pos x="30" y="3"/>
                </a:cxn>
                <a:cxn ang="0">
                  <a:pos x="48" y="0"/>
                </a:cxn>
              </a:cxnLst>
              <a:rect l="0" t="0" r="r" b="b"/>
              <a:pathLst>
                <a:path w="187" h="154">
                  <a:moveTo>
                    <a:pt x="48" y="0"/>
                  </a:moveTo>
                  <a:lnTo>
                    <a:pt x="186" y="63"/>
                  </a:lnTo>
                  <a:lnTo>
                    <a:pt x="183" y="66"/>
                  </a:lnTo>
                  <a:lnTo>
                    <a:pt x="177" y="66"/>
                  </a:lnTo>
                  <a:lnTo>
                    <a:pt x="171" y="69"/>
                  </a:lnTo>
                  <a:lnTo>
                    <a:pt x="165" y="72"/>
                  </a:lnTo>
                  <a:lnTo>
                    <a:pt x="159" y="75"/>
                  </a:lnTo>
                  <a:lnTo>
                    <a:pt x="153" y="81"/>
                  </a:lnTo>
                  <a:lnTo>
                    <a:pt x="150" y="84"/>
                  </a:lnTo>
                  <a:lnTo>
                    <a:pt x="147" y="93"/>
                  </a:lnTo>
                  <a:lnTo>
                    <a:pt x="144" y="99"/>
                  </a:lnTo>
                  <a:lnTo>
                    <a:pt x="141" y="105"/>
                  </a:lnTo>
                  <a:lnTo>
                    <a:pt x="141" y="111"/>
                  </a:lnTo>
                  <a:lnTo>
                    <a:pt x="141" y="120"/>
                  </a:lnTo>
                  <a:lnTo>
                    <a:pt x="141" y="129"/>
                  </a:lnTo>
                  <a:lnTo>
                    <a:pt x="144" y="135"/>
                  </a:lnTo>
                  <a:lnTo>
                    <a:pt x="150" y="153"/>
                  </a:lnTo>
                  <a:lnTo>
                    <a:pt x="9" y="87"/>
                  </a:lnTo>
                  <a:lnTo>
                    <a:pt x="6" y="84"/>
                  </a:lnTo>
                  <a:lnTo>
                    <a:pt x="6" y="78"/>
                  </a:lnTo>
                  <a:lnTo>
                    <a:pt x="3" y="72"/>
                  </a:lnTo>
                  <a:lnTo>
                    <a:pt x="0" y="66"/>
                  </a:lnTo>
                  <a:lnTo>
                    <a:pt x="0" y="57"/>
                  </a:lnTo>
                  <a:lnTo>
                    <a:pt x="0" y="51"/>
                  </a:lnTo>
                  <a:lnTo>
                    <a:pt x="0" y="42"/>
                  </a:lnTo>
                  <a:lnTo>
                    <a:pt x="3" y="36"/>
                  </a:lnTo>
                  <a:lnTo>
                    <a:pt x="6" y="30"/>
                  </a:lnTo>
                  <a:lnTo>
                    <a:pt x="6" y="21"/>
                  </a:lnTo>
                  <a:lnTo>
                    <a:pt x="12" y="18"/>
                  </a:lnTo>
                  <a:lnTo>
                    <a:pt x="18" y="12"/>
                  </a:lnTo>
                  <a:lnTo>
                    <a:pt x="24" y="6"/>
                  </a:lnTo>
                  <a:lnTo>
                    <a:pt x="30" y="3"/>
                  </a:lnTo>
                  <a:lnTo>
                    <a:pt x="48" y="0"/>
                  </a:lnTo>
                </a:path>
              </a:pathLst>
            </a:custGeom>
            <a:gradFill rotWithShape="0">
              <a:gsLst>
                <a:gs pos="0">
                  <a:srgbClr val="808080"/>
                </a:gs>
                <a:gs pos="100000">
                  <a:srgbClr val="FFFFFF"/>
                </a:gs>
              </a:gsLst>
              <a:lin ang="189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60437" name="Freeform 21"/>
            <p:cNvSpPr>
              <a:spLocks/>
            </p:cNvSpPr>
            <p:nvPr/>
          </p:nvSpPr>
          <p:spPr bwMode="auto">
            <a:xfrm>
              <a:off x="1307" y="1116"/>
              <a:ext cx="559" cy="345"/>
            </a:xfrm>
            <a:custGeom>
              <a:avLst/>
              <a:gdLst/>
              <a:ahLst/>
              <a:cxnLst>
                <a:cxn ang="0">
                  <a:pos x="559" y="156"/>
                </a:cxn>
                <a:cxn ang="0">
                  <a:pos x="109" y="0"/>
                </a:cxn>
                <a:cxn ang="0">
                  <a:pos x="0" y="345"/>
                </a:cxn>
              </a:cxnLst>
              <a:rect l="0" t="0" r="r" b="b"/>
              <a:pathLst>
                <a:path w="559" h="345">
                  <a:moveTo>
                    <a:pt x="559" y="156"/>
                  </a:moveTo>
                  <a:lnTo>
                    <a:pt x="109" y="0"/>
                  </a:lnTo>
                  <a:lnTo>
                    <a:pt x="0" y="345"/>
                  </a:lnTo>
                </a:path>
              </a:pathLst>
            </a:custGeom>
            <a:noFill/>
            <a:ln w="6350" cap="flat" cmpd="sng">
              <a:solidFill>
                <a:srgbClr val="808080"/>
              </a:solidFill>
              <a:prstDash val="solid"/>
              <a:round/>
              <a:headEnd/>
              <a:tailEnd/>
            </a:ln>
            <a:effectLst/>
          </p:spPr>
          <p:txBody>
            <a:bodyPr wrap="none" anchor="ctr"/>
            <a:lstStyle/>
            <a:p>
              <a:endParaRPr lang="fr-FR"/>
            </a:p>
          </p:txBody>
        </p:sp>
        <p:sp>
          <p:nvSpPr>
            <p:cNvPr id="60438" name="Freeform 22"/>
            <p:cNvSpPr>
              <a:spLocks/>
            </p:cNvSpPr>
            <p:nvPr/>
          </p:nvSpPr>
          <p:spPr bwMode="auto">
            <a:xfrm>
              <a:off x="1310" y="1275"/>
              <a:ext cx="556" cy="365"/>
            </a:xfrm>
            <a:custGeom>
              <a:avLst/>
              <a:gdLst/>
              <a:ahLst/>
              <a:cxnLst>
                <a:cxn ang="0">
                  <a:pos x="556" y="0"/>
                </a:cxn>
                <a:cxn ang="0">
                  <a:pos x="433" y="365"/>
                </a:cxn>
                <a:cxn ang="0">
                  <a:pos x="0" y="188"/>
                </a:cxn>
              </a:cxnLst>
              <a:rect l="0" t="0" r="r" b="b"/>
              <a:pathLst>
                <a:path w="556" h="365">
                  <a:moveTo>
                    <a:pt x="556" y="0"/>
                  </a:moveTo>
                  <a:lnTo>
                    <a:pt x="433" y="365"/>
                  </a:lnTo>
                  <a:lnTo>
                    <a:pt x="0" y="188"/>
                  </a:lnTo>
                </a:path>
              </a:pathLst>
            </a:custGeom>
            <a:noFill/>
            <a:ln w="3175" cap="flat" cmpd="sng">
              <a:solidFill>
                <a:srgbClr val="FFFFFF"/>
              </a:solidFill>
              <a:prstDash val="solid"/>
              <a:round/>
              <a:headEnd/>
              <a:tailEnd/>
            </a:ln>
            <a:effectLst/>
          </p:spPr>
          <p:txBody>
            <a:bodyPr wrap="none" anchor="ctr"/>
            <a:lstStyle/>
            <a:p>
              <a:endParaRPr lang="fr-FR"/>
            </a:p>
          </p:txBody>
        </p:sp>
      </p:grpSp>
      <p:grpSp>
        <p:nvGrpSpPr>
          <p:cNvPr id="60439" name="Group 23"/>
          <p:cNvGrpSpPr>
            <a:grpSpLocks/>
          </p:cNvGrpSpPr>
          <p:nvPr/>
        </p:nvGrpSpPr>
        <p:grpSpPr bwMode="auto">
          <a:xfrm>
            <a:off x="812800" y="3744913"/>
            <a:ext cx="1330325" cy="2149475"/>
            <a:chOff x="516" y="612"/>
            <a:chExt cx="626" cy="1012"/>
          </a:xfrm>
        </p:grpSpPr>
        <p:sp>
          <p:nvSpPr>
            <p:cNvPr id="60440" name="Freeform 24"/>
            <p:cNvSpPr>
              <a:spLocks/>
            </p:cNvSpPr>
            <p:nvPr/>
          </p:nvSpPr>
          <p:spPr bwMode="auto">
            <a:xfrm>
              <a:off x="528" y="1365"/>
              <a:ext cx="604" cy="259"/>
            </a:xfrm>
            <a:custGeom>
              <a:avLst/>
              <a:gdLst/>
              <a:ahLst/>
              <a:cxnLst>
                <a:cxn ang="0">
                  <a:pos x="0" y="292"/>
                </a:cxn>
                <a:cxn ang="0">
                  <a:pos x="0" y="370"/>
                </a:cxn>
                <a:cxn ang="0">
                  <a:pos x="567" y="535"/>
                </a:cxn>
                <a:cxn ang="0">
                  <a:pos x="1251" y="92"/>
                </a:cxn>
                <a:cxn ang="0">
                  <a:pos x="1251" y="0"/>
                </a:cxn>
              </a:cxnLst>
              <a:rect l="0" t="0" r="r" b="b"/>
              <a:pathLst>
                <a:path w="1252" h="536">
                  <a:moveTo>
                    <a:pt x="0" y="292"/>
                  </a:moveTo>
                  <a:lnTo>
                    <a:pt x="0" y="370"/>
                  </a:lnTo>
                  <a:lnTo>
                    <a:pt x="567" y="535"/>
                  </a:lnTo>
                  <a:lnTo>
                    <a:pt x="1251" y="92"/>
                  </a:lnTo>
                  <a:lnTo>
                    <a:pt x="1251" y="0"/>
                  </a:lnTo>
                </a:path>
              </a:pathLst>
            </a:custGeom>
            <a:solidFill>
              <a:srgbClr val="969696"/>
            </a:solidFill>
            <a:ln w="3175" cap="rnd" cmpd="sng">
              <a:solidFill>
                <a:schemeClr val="tx1"/>
              </a:solidFill>
              <a:prstDash val="solid"/>
              <a:round/>
              <a:headEnd type="none" w="med" len="med"/>
              <a:tailEnd type="none" w="med" len="med"/>
            </a:ln>
            <a:effectLst/>
          </p:spPr>
          <p:txBody>
            <a:bodyPr/>
            <a:lstStyle/>
            <a:p>
              <a:endParaRPr lang="fr-FR"/>
            </a:p>
          </p:txBody>
        </p:sp>
        <p:sp>
          <p:nvSpPr>
            <p:cNvPr id="60441" name="Freeform 25"/>
            <p:cNvSpPr>
              <a:spLocks/>
            </p:cNvSpPr>
            <p:nvPr/>
          </p:nvSpPr>
          <p:spPr bwMode="auto">
            <a:xfrm>
              <a:off x="518" y="612"/>
              <a:ext cx="623" cy="217"/>
            </a:xfrm>
            <a:custGeom>
              <a:avLst/>
              <a:gdLst/>
              <a:ahLst/>
              <a:cxnLst>
                <a:cxn ang="0">
                  <a:pos x="0" y="307"/>
                </a:cxn>
                <a:cxn ang="0">
                  <a:pos x="577" y="448"/>
                </a:cxn>
                <a:cxn ang="0">
                  <a:pos x="1290" y="127"/>
                </a:cxn>
                <a:cxn ang="0">
                  <a:pos x="727" y="0"/>
                </a:cxn>
                <a:cxn ang="0">
                  <a:pos x="0" y="307"/>
                </a:cxn>
              </a:cxnLst>
              <a:rect l="0" t="0" r="r" b="b"/>
              <a:pathLst>
                <a:path w="1291" h="449">
                  <a:moveTo>
                    <a:pt x="0" y="307"/>
                  </a:moveTo>
                  <a:lnTo>
                    <a:pt x="577" y="448"/>
                  </a:lnTo>
                  <a:lnTo>
                    <a:pt x="1290" y="127"/>
                  </a:lnTo>
                  <a:lnTo>
                    <a:pt x="727" y="0"/>
                  </a:lnTo>
                  <a:lnTo>
                    <a:pt x="0" y="307"/>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sp>
          <p:nvSpPr>
            <p:cNvPr id="60442" name="Freeform 26"/>
            <p:cNvSpPr>
              <a:spLocks/>
            </p:cNvSpPr>
            <p:nvPr/>
          </p:nvSpPr>
          <p:spPr bwMode="auto">
            <a:xfrm>
              <a:off x="790" y="672"/>
              <a:ext cx="352" cy="927"/>
            </a:xfrm>
            <a:custGeom>
              <a:avLst/>
              <a:gdLst/>
              <a:ahLst/>
              <a:cxnLst>
                <a:cxn ang="0">
                  <a:pos x="0" y="328"/>
                </a:cxn>
                <a:cxn ang="0">
                  <a:pos x="4" y="1915"/>
                </a:cxn>
                <a:cxn ang="0">
                  <a:pos x="728" y="1456"/>
                </a:cxn>
                <a:cxn ang="0">
                  <a:pos x="728" y="0"/>
                </a:cxn>
                <a:cxn ang="0">
                  <a:pos x="0" y="328"/>
                </a:cxn>
              </a:cxnLst>
              <a:rect l="0" t="0" r="r" b="b"/>
              <a:pathLst>
                <a:path w="729" h="1916">
                  <a:moveTo>
                    <a:pt x="0" y="328"/>
                  </a:moveTo>
                  <a:lnTo>
                    <a:pt x="4" y="1915"/>
                  </a:lnTo>
                  <a:lnTo>
                    <a:pt x="728" y="1456"/>
                  </a:lnTo>
                  <a:lnTo>
                    <a:pt x="728" y="0"/>
                  </a:lnTo>
                  <a:lnTo>
                    <a:pt x="0" y="32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60443" name="Freeform 27"/>
            <p:cNvSpPr>
              <a:spLocks/>
            </p:cNvSpPr>
            <p:nvPr/>
          </p:nvSpPr>
          <p:spPr bwMode="auto">
            <a:xfrm>
              <a:off x="516" y="760"/>
              <a:ext cx="278" cy="834"/>
            </a:xfrm>
            <a:custGeom>
              <a:avLst/>
              <a:gdLst/>
              <a:ahLst/>
              <a:cxnLst>
                <a:cxn ang="0">
                  <a:pos x="576" y="140"/>
                </a:cxn>
                <a:cxn ang="0">
                  <a:pos x="576" y="1727"/>
                </a:cxn>
                <a:cxn ang="0">
                  <a:pos x="0" y="1568"/>
                </a:cxn>
                <a:cxn ang="0">
                  <a:pos x="0" y="0"/>
                </a:cxn>
                <a:cxn ang="0">
                  <a:pos x="576" y="140"/>
                </a:cxn>
              </a:cxnLst>
              <a:rect l="0" t="0" r="r" b="b"/>
              <a:pathLst>
                <a:path w="577" h="1728">
                  <a:moveTo>
                    <a:pt x="576" y="140"/>
                  </a:moveTo>
                  <a:lnTo>
                    <a:pt x="576" y="1727"/>
                  </a:lnTo>
                  <a:lnTo>
                    <a:pt x="0" y="1568"/>
                  </a:lnTo>
                  <a:lnTo>
                    <a:pt x="0" y="0"/>
                  </a:lnTo>
                  <a:lnTo>
                    <a:pt x="576" y="140"/>
                  </a:lnTo>
                </a:path>
              </a:pathLst>
            </a:custGeom>
            <a:gradFill rotWithShape="0">
              <a:gsLst>
                <a:gs pos="0">
                  <a:srgbClr val="B2B2B2">
                    <a:gamma/>
                    <a:tint val="23529"/>
                    <a:invGamma/>
                  </a:srgbClr>
                </a:gs>
                <a:gs pos="100000">
                  <a:srgbClr val="B2B2B2"/>
                </a:gs>
              </a:gsLst>
              <a:lin ang="5400000" scaled="1"/>
            </a:gradFill>
            <a:ln w="3175" cap="rnd" cmpd="sng">
              <a:solidFill>
                <a:schemeClr val="tx1"/>
              </a:solidFill>
              <a:prstDash val="solid"/>
              <a:round/>
              <a:headEnd type="none" w="med" len="med"/>
              <a:tailEnd type="none" w="med" len="med"/>
            </a:ln>
            <a:effectLst/>
          </p:spPr>
          <p:txBody>
            <a:bodyPr/>
            <a:lstStyle/>
            <a:p>
              <a:endParaRPr lang="fr-FR"/>
            </a:p>
          </p:txBody>
        </p:sp>
        <p:sp>
          <p:nvSpPr>
            <p:cNvPr id="60444" name="Line 28"/>
            <p:cNvSpPr>
              <a:spLocks noChangeShapeType="1"/>
            </p:cNvSpPr>
            <p:nvPr/>
          </p:nvSpPr>
          <p:spPr bwMode="auto">
            <a:xfrm>
              <a:off x="555" y="1462"/>
              <a:ext cx="192" cy="51"/>
            </a:xfrm>
            <a:prstGeom prst="line">
              <a:avLst/>
            </a:prstGeom>
            <a:noFill/>
            <a:ln w="6350">
              <a:solidFill>
                <a:srgbClr val="676767"/>
              </a:solidFill>
              <a:round/>
              <a:headEnd/>
              <a:tailEnd/>
            </a:ln>
            <a:effectLst/>
          </p:spPr>
          <p:txBody>
            <a:bodyPr wrap="none" anchor="ctr"/>
            <a:lstStyle/>
            <a:p>
              <a:endParaRPr lang="fr-FR"/>
            </a:p>
          </p:txBody>
        </p:sp>
        <p:sp>
          <p:nvSpPr>
            <p:cNvPr id="60445" name="Oval 29"/>
            <p:cNvSpPr>
              <a:spLocks noChangeArrowheads="1"/>
            </p:cNvSpPr>
            <p:nvPr/>
          </p:nvSpPr>
          <p:spPr bwMode="auto">
            <a:xfrm>
              <a:off x="548" y="801"/>
              <a:ext cx="31" cy="17"/>
            </a:xfrm>
            <a:prstGeom prst="ellipse">
              <a:avLst/>
            </a:prstGeom>
            <a:solidFill>
              <a:srgbClr val="D60093"/>
            </a:solidFill>
            <a:ln w="12700">
              <a:noFill/>
              <a:round/>
              <a:headEnd/>
              <a:tailEnd/>
            </a:ln>
            <a:effectLst/>
          </p:spPr>
          <p:txBody>
            <a:bodyPr wrap="none" anchor="ctr"/>
            <a:lstStyle/>
            <a:p>
              <a:endParaRPr lang="fr-FR"/>
            </a:p>
          </p:txBody>
        </p:sp>
        <p:sp>
          <p:nvSpPr>
            <p:cNvPr id="60446" name="Line 30"/>
            <p:cNvSpPr>
              <a:spLocks noChangeShapeType="1"/>
            </p:cNvSpPr>
            <p:nvPr/>
          </p:nvSpPr>
          <p:spPr bwMode="auto">
            <a:xfrm>
              <a:off x="555" y="1424"/>
              <a:ext cx="192" cy="51"/>
            </a:xfrm>
            <a:prstGeom prst="line">
              <a:avLst/>
            </a:prstGeom>
            <a:noFill/>
            <a:ln w="6350">
              <a:solidFill>
                <a:srgbClr val="676767"/>
              </a:solidFill>
              <a:round/>
              <a:headEnd/>
              <a:tailEnd/>
            </a:ln>
            <a:effectLst/>
          </p:spPr>
          <p:txBody>
            <a:bodyPr wrap="none" anchor="ctr"/>
            <a:lstStyle/>
            <a:p>
              <a:endParaRPr lang="fr-FR"/>
            </a:p>
          </p:txBody>
        </p:sp>
        <p:sp>
          <p:nvSpPr>
            <p:cNvPr id="60447" name="Line 31"/>
            <p:cNvSpPr>
              <a:spLocks noChangeShapeType="1"/>
            </p:cNvSpPr>
            <p:nvPr/>
          </p:nvSpPr>
          <p:spPr bwMode="auto">
            <a:xfrm>
              <a:off x="555" y="1386"/>
              <a:ext cx="192" cy="52"/>
            </a:xfrm>
            <a:prstGeom prst="line">
              <a:avLst/>
            </a:prstGeom>
            <a:noFill/>
            <a:ln w="6350">
              <a:solidFill>
                <a:srgbClr val="676767"/>
              </a:solidFill>
              <a:round/>
              <a:headEnd/>
              <a:tailEnd/>
            </a:ln>
            <a:effectLst/>
          </p:spPr>
          <p:txBody>
            <a:bodyPr wrap="none" anchor="ctr"/>
            <a:lstStyle/>
            <a:p>
              <a:endParaRPr lang="fr-FR"/>
            </a:p>
          </p:txBody>
        </p:sp>
        <p:sp>
          <p:nvSpPr>
            <p:cNvPr id="60448" name="Line 32"/>
            <p:cNvSpPr>
              <a:spLocks noChangeShapeType="1"/>
            </p:cNvSpPr>
            <p:nvPr/>
          </p:nvSpPr>
          <p:spPr bwMode="auto">
            <a:xfrm>
              <a:off x="555" y="1349"/>
              <a:ext cx="192" cy="51"/>
            </a:xfrm>
            <a:prstGeom prst="line">
              <a:avLst/>
            </a:prstGeom>
            <a:noFill/>
            <a:ln w="6350">
              <a:solidFill>
                <a:srgbClr val="676767"/>
              </a:solidFill>
              <a:round/>
              <a:headEnd/>
              <a:tailEnd/>
            </a:ln>
            <a:effectLst/>
          </p:spPr>
          <p:txBody>
            <a:bodyPr wrap="none" anchor="ctr"/>
            <a:lstStyle/>
            <a:p>
              <a:endParaRPr lang="fr-FR"/>
            </a:p>
          </p:txBody>
        </p:sp>
        <p:sp>
          <p:nvSpPr>
            <p:cNvPr id="60449" name="Line 33"/>
            <p:cNvSpPr>
              <a:spLocks noChangeShapeType="1"/>
            </p:cNvSpPr>
            <p:nvPr/>
          </p:nvSpPr>
          <p:spPr bwMode="auto">
            <a:xfrm>
              <a:off x="555" y="1310"/>
              <a:ext cx="192" cy="51"/>
            </a:xfrm>
            <a:prstGeom prst="line">
              <a:avLst/>
            </a:prstGeom>
            <a:noFill/>
            <a:ln w="6350">
              <a:solidFill>
                <a:srgbClr val="676767"/>
              </a:solidFill>
              <a:round/>
              <a:headEnd/>
              <a:tailEnd/>
            </a:ln>
            <a:effectLst/>
          </p:spPr>
          <p:txBody>
            <a:bodyPr wrap="none" anchor="ctr"/>
            <a:lstStyle/>
            <a:p>
              <a:endParaRPr lang="fr-FR"/>
            </a:p>
          </p:txBody>
        </p:sp>
        <p:sp>
          <p:nvSpPr>
            <p:cNvPr id="60450" name="Freeform 34"/>
            <p:cNvSpPr>
              <a:spLocks/>
            </p:cNvSpPr>
            <p:nvPr/>
          </p:nvSpPr>
          <p:spPr bwMode="auto">
            <a:xfrm>
              <a:off x="558" y="946"/>
              <a:ext cx="190" cy="355"/>
            </a:xfrm>
            <a:custGeom>
              <a:avLst/>
              <a:gdLst/>
              <a:ahLst/>
              <a:cxnLst>
                <a:cxn ang="0">
                  <a:pos x="0" y="628"/>
                </a:cxn>
                <a:cxn ang="0">
                  <a:pos x="396" y="732"/>
                </a:cxn>
                <a:cxn ang="0">
                  <a:pos x="396" y="0"/>
                </a:cxn>
              </a:cxnLst>
              <a:rect l="0" t="0" r="r" b="b"/>
              <a:pathLst>
                <a:path w="397" h="733">
                  <a:moveTo>
                    <a:pt x="0" y="628"/>
                  </a:moveTo>
                  <a:lnTo>
                    <a:pt x="396" y="732"/>
                  </a:lnTo>
                  <a:lnTo>
                    <a:pt x="396" y="0"/>
                  </a:lnTo>
                </a:path>
              </a:pathLst>
            </a:custGeom>
            <a:noFill/>
            <a:ln w="3175" cap="rnd" cmpd="sng">
              <a:solidFill>
                <a:srgbClr val="676767"/>
              </a:solidFill>
              <a:prstDash val="solid"/>
              <a:round/>
              <a:headEnd type="none" w="med" len="med"/>
              <a:tailEnd type="none" w="med" len="med"/>
            </a:ln>
            <a:effectLst/>
          </p:spPr>
          <p:txBody>
            <a:bodyPr/>
            <a:lstStyle/>
            <a:p>
              <a:endParaRPr lang="fr-FR"/>
            </a:p>
          </p:txBody>
        </p:sp>
        <p:sp>
          <p:nvSpPr>
            <p:cNvPr id="60451" name="Freeform 35"/>
            <p:cNvSpPr>
              <a:spLocks/>
            </p:cNvSpPr>
            <p:nvPr/>
          </p:nvSpPr>
          <p:spPr bwMode="auto">
            <a:xfrm>
              <a:off x="538" y="876"/>
              <a:ext cx="218" cy="618"/>
            </a:xfrm>
            <a:custGeom>
              <a:avLst/>
              <a:gdLst/>
              <a:ahLst/>
              <a:cxnLst>
                <a:cxn ang="0">
                  <a:pos x="452" y="105"/>
                </a:cxn>
                <a:cxn ang="0">
                  <a:pos x="0" y="0"/>
                </a:cxn>
                <a:cxn ang="0">
                  <a:pos x="0" y="1277"/>
                </a:cxn>
              </a:cxnLst>
              <a:rect l="0" t="0" r="r" b="b"/>
              <a:pathLst>
                <a:path w="453" h="1278">
                  <a:moveTo>
                    <a:pt x="452" y="105"/>
                  </a:moveTo>
                  <a:lnTo>
                    <a:pt x="0" y="0"/>
                  </a:lnTo>
                  <a:lnTo>
                    <a:pt x="0" y="1277"/>
                  </a:lnTo>
                </a:path>
              </a:pathLst>
            </a:custGeom>
            <a:noFill/>
            <a:ln w="6350" cap="rnd" cmpd="sng">
              <a:solidFill>
                <a:srgbClr val="808080"/>
              </a:solidFill>
              <a:prstDash val="solid"/>
              <a:round/>
              <a:headEnd type="none" w="med" len="med"/>
              <a:tailEnd type="none" w="med" len="med"/>
            </a:ln>
            <a:effectLst/>
          </p:spPr>
          <p:txBody>
            <a:bodyPr/>
            <a:lstStyle/>
            <a:p>
              <a:endParaRPr lang="fr-FR"/>
            </a:p>
          </p:txBody>
        </p:sp>
        <p:sp>
          <p:nvSpPr>
            <p:cNvPr id="60452" name="Freeform 36"/>
            <p:cNvSpPr>
              <a:spLocks/>
            </p:cNvSpPr>
            <p:nvPr/>
          </p:nvSpPr>
          <p:spPr bwMode="auto">
            <a:xfrm>
              <a:off x="552" y="899"/>
              <a:ext cx="194" cy="352"/>
            </a:xfrm>
            <a:custGeom>
              <a:avLst/>
              <a:gdLst/>
              <a:ahLst/>
              <a:cxnLst>
                <a:cxn ang="0">
                  <a:pos x="401" y="96"/>
                </a:cxn>
                <a:cxn ang="0">
                  <a:pos x="0" y="0"/>
                </a:cxn>
                <a:cxn ang="0">
                  <a:pos x="0" y="725"/>
                </a:cxn>
              </a:cxnLst>
              <a:rect l="0" t="0" r="r" b="b"/>
              <a:pathLst>
                <a:path w="402" h="726">
                  <a:moveTo>
                    <a:pt x="401" y="96"/>
                  </a:moveTo>
                  <a:lnTo>
                    <a:pt x="0" y="0"/>
                  </a:lnTo>
                  <a:lnTo>
                    <a:pt x="0" y="725"/>
                  </a:lnTo>
                </a:path>
              </a:pathLst>
            </a:custGeom>
            <a:noFill/>
            <a:ln w="3175" cap="rnd" cmpd="sng">
              <a:solidFill>
                <a:schemeClr val="tx1"/>
              </a:solidFill>
              <a:prstDash val="solid"/>
              <a:round/>
              <a:headEnd type="none" w="med" len="med"/>
              <a:tailEnd type="none" w="med" len="med"/>
            </a:ln>
            <a:effectLst/>
          </p:spPr>
          <p:txBody>
            <a:bodyPr/>
            <a:lstStyle/>
            <a:p>
              <a:endParaRPr lang="fr-FR"/>
            </a:p>
          </p:txBody>
        </p:sp>
        <p:sp>
          <p:nvSpPr>
            <p:cNvPr id="60453" name="Line 37"/>
            <p:cNvSpPr>
              <a:spLocks noChangeShapeType="1"/>
            </p:cNvSpPr>
            <p:nvPr/>
          </p:nvSpPr>
          <p:spPr bwMode="auto">
            <a:xfrm>
              <a:off x="553" y="980"/>
              <a:ext cx="187" cy="43"/>
            </a:xfrm>
            <a:prstGeom prst="line">
              <a:avLst/>
            </a:prstGeom>
            <a:noFill/>
            <a:ln w="3175">
              <a:solidFill>
                <a:srgbClr val="676767"/>
              </a:solidFill>
              <a:round/>
              <a:headEnd/>
              <a:tailEnd/>
            </a:ln>
            <a:effectLst/>
          </p:spPr>
          <p:txBody>
            <a:bodyPr wrap="none" anchor="ctr"/>
            <a:lstStyle/>
            <a:p>
              <a:endParaRPr lang="fr-FR"/>
            </a:p>
          </p:txBody>
        </p:sp>
        <p:sp>
          <p:nvSpPr>
            <p:cNvPr id="60454" name="Line 38"/>
            <p:cNvSpPr>
              <a:spLocks noChangeShapeType="1"/>
            </p:cNvSpPr>
            <p:nvPr/>
          </p:nvSpPr>
          <p:spPr bwMode="auto">
            <a:xfrm>
              <a:off x="553" y="1055"/>
              <a:ext cx="189" cy="43"/>
            </a:xfrm>
            <a:prstGeom prst="line">
              <a:avLst/>
            </a:prstGeom>
            <a:noFill/>
            <a:ln w="3175">
              <a:solidFill>
                <a:srgbClr val="676767"/>
              </a:solidFill>
              <a:round/>
              <a:headEnd/>
              <a:tailEnd/>
            </a:ln>
            <a:effectLst/>
          </p:spPr>
          <p:txBody>
            <a:bodyPr wrap="none" anchor="ctr"/>
            <a:lstStyle/>
            <a:p>
              <a:endParaRPr lang="fr-FR"/>
            </a:p>
          </p:txBody>
        </p:sp>
        <p:sp>
          <p:nvSpPr>
            <p:cNvPr id="60455" name="Line 39"/>
            <p:cNvSpPr>
              <a:spLocks noChangeShapeType="1"/>
            </p:cNvSpPr>
            <p:nvPr/>
          </p:nvSpPr>
          <p:spPr bwMode="auto">
            <a:xfrm>
              <a:off x="553" y="1148"/>
              <a:ext cx="180" cy="43"/>
            </a:xfrm>
            <a:prstGeom prst="line">
              <a:avLst/>
            </a:prstGeom>
            <a:noFill/>
            <a:ln w="3175">
              <a:solidFill>
                <a:srgbClr val="676767"/>
              </a:solidFill>
              <a:round/>
              <a:headEnd/>
              <a:tailEnd/>
            </a:ln>
            <a:effectLst/>
          </p:spPr>
          <p:txBody>
            <a:bodyPr wrap="none" anchor="ctr"/>
            <a:lstStyle/>
            <a:p>
              <a:endParaRPr lang="fr-FR"/>
            </a:p>
          </p:txBody>
        </p:sp>
        <p:sp>
          <p:nvSpPr>
            <p:cNvPr id="60456" name="Freeform 40"/>
            <p:cNvSpPr>
              <a:spLocks/>
            </p:cNvSpPr>
            <p:nvPr/>
          </p:nvSpPr>
          <p:spPr bwMode="auto">
            <a:xfrm>
              <a:off x="609" y="943"/>
              <a:ext cx="74" cy="40"/>
            </a:xfrm>
            <a:custGeom>
              <a:avLst/>
              <a:gdLst/>
              <a:ahLst/>
              <a:cxnLst>
                <a:cxn ang="0">
                  <a:pos x="0" y="0"/>
                </a:cxn>
                <a:cxn ang="0">
                  <a:pos x="0" y="48"/>
                </a:cxn>
                <a:cxn ang="0">
                  <a:pos x="151" y="81"/>
                </a:cxn>
                <a:cxn ang="0">
                  <a:pos x="151" y="33"/>
                </a:cxn>
                <a:cxn ang="0">
                  <a:pos x="0" y="0"/>
                </a:cxn>
              </a:cxnLst>
              <a:rect l="0" t="0" r="r" b="b"/>
              <a:pathLst>
                <a:path w="152" h="82">
                  <a:moveTo>
                    <a:pt x="0" y="0"/>
                  </a:moveTo>
                  <a:lnTo>
                    <a:pt x="0" y="48"/>
                  </a:lnTo>
                  <a:lnTo>
                    <a:pt x="151" y="81"/>
                  </a:lnTo>
                  <a:lnTo>
                    <a:pt x="151" y="33"/>
                  </a:lnTo>
                  <a:lnTo>
                    <a:pt x="0" y="0"/>
                  </a:lnTo>
                </a:path>
              </a:pathLst>
            </a:custGeom>
            <a:solidFill>
              <a:srgbClr val="A9A9A9"/>
            </a:solidFill>
            <a:ln w="12700" cap="rnd" cmpd="sng">
              <a:noFill/>
              <a:prstDash val="solid"/>
              <a:round/>
              <a:headEnd type="none" w="med" len="med"/>
              <a:tailEnd type="none" w="med" len="med"/>
            </a:ln>
            <a:effectLst/>
          </p:spPr>
          <p:txBody>
            <a:bodyPr/>
            <a:lstStyle/>
            <a:p>
              <a:endParaRPr lang="fr-FR"/>
            </a:p>
          </p:txBody>
        </p:sp>
        <p:sp>
          <p:nvSpPr>
            <p:cNvPr id="60457" name="Line 41"/>
            <p:cNvSpPr>
              <a:spLocks noChangeShapeType="1"/>
            </p:cNvSpPr>
            <p:nvPr/>
          </p:nvSpPr>
          <p:spPr bwMode="auto">
            <a:xfrm>
              <a:off x="580" y="949"/>
              <a:ext cx="138" cy="30"/>
            </a:xfrm>
            <a:prstGeom prst="line">
              <a:avLst/>
            </a:prstGeom>
            <a:noFill/>
            <a:ln w="6350">
              <a:solidFill>
                <a:srgbClr val="919191"/>
              </a:solidFill>
              <a:round/>
              <a:headEnd/>
              <a:tailEnd/>
            </a:ln>
            <a:effectLst/>
          </p:spPr>
          <p:txBody>
            <a:bodyPr wrap="none" anchor="ctr"/>
            <a:lstStyle/>
            <a:p>
              <a:endParaRPr lang="fr-FR"/>
            </a:p>
          </p:txBody>
        </p:sp>
        <p:sp>
          <p:nvSpPr>
            <p:cNvPr id="60458" name="Freeform 42"/>
            <p:cNvSpPr>
              <a:spLocks/>
            </p:cNvSpPr>
            <p:nvPr/>
          </p:nvSpPr>
          <p:spPr bwMode="auto">
            <a:xfrm>
              <a:off x="566" y="1086"/>
              <a:ext cx="167" cy="75"/>
            </a:xfrm>
            <a:custGeom>
              <a:avLst/>
              <a:gdLst/>
              <a:ahLst/>
              <a:cxnLst>
                <a:cxn ang="0">
                  <a:pos x="0" y="85"/>
                </a:cxn>
                <a:cxn ang="0">
                  <a:pos x="0" y="0"/>
                </a:cxn>
                <a:cxn ang="0">
                  <a:pos x="350" y="93"/>
                </a:cxn>
                <a:cxn ang="0">
                  <a:pos x="350" y="182"/>
                </a:cxn>
                <a:cxn ang="0">
                  <a:pos x="0" y="85"/>
                </a:cxn>
              </a:cxnLst>
              <a:rect l="0" t="0" r="r" b="b"/>
              <a:pathLst>
                <a:path w="351" h="183">
                  <a:moveTo>
                    <a:pt x="0" y="85"/>
                  </a:moveTo>
                  <a:lnTo>
                    <a:pt x="0" y="0"/>
                  </a:lnTo>
                  <a:lnTo>
                    <a:pt x="350" y="93"/>
                  </a:lnTo>
                  <a:lnTo>
                    <a:pt x="350" y="182"/>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60459" name="Freeform 43"/>
            <p:cNvSpPr>
              <a:spLocks/>
            </p:cNvSpPr>
            <p:nvPr/>
          </p:nvSpPr>
          <p:spPr bwMode="auto">
            <a:xfrm>
              <a:off x="566" y="1179"/>
              <a:ext cx="167" cy="83"/>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60460" name="Freeform 44"/>
            <p:cNvSpPr>
              <a:spLocks/>
            </p:cNvSpPr>
            <p:nvPr/>
          </p:nvSpPr>
          <p:spPr bwMode="auto">
            <a:xfrm>
              <a:off x="563" y="1002"/>
              <a:ext cx="170" cy="77"/>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60461" name="Line 45"/>
            <p:cNvSpPr>
              <a:spLocks noChangeShapeType="1"/>
            </p:cNvSpPr>
            <p:nvPr/>
          </p:nvSpPr>
          <p:spPr bwMode="auto">
            <a:xfrm flipH="1" flipV="1">
              <a:off x="685" y="1049"/>
              <a:ext cx="33" cy="8"/>
            </a:xfrm>
            <a:prstGeom prst="line">
              <a:avLst/>
            </a:prstGeom>
            <a:noFill/>
            <a:ln w="9525">
              <a:solidFill>
                <a:srgbClr val="D60093"/>
              </a:solidFill>
              <a:round/>
              <a:headEnd/>
              <a:tailEnd/>
            </a:ln>
            <a:effectLst/>
          </p:spPr>
          <p:txBody>
            <a:bodyPr wrap="none" tIns="27432" bIns="27432" anchor="ctr">
              <a:spAutoFit/>
            </a:bodyPr>
            <a:lstStyle/>
            <a:p>
              <a:endParaRPr lang="fr-FR"/>
            </a:p>
          </p:txBody>
        </p:sp>
        <p:sp>
          <p:nvSpPr>
            <p:cNvPr id="60462" name="Line 46"/>
            <p:cNvSpPr>
              <a:spLocks noChangeShapeType="1"/>
            </p:cNvSpPr>
            <p:nvPr/>
          </p:nvSpPr>
          <p:spPr bwMode="auto">
            <a:xfrm flipH="1" flipV="1">
              <a:off x="685" y="1131"/>
              <a:ext cx="33" cy="7"/>
            </a:xfrm>
            <a:prstGeom prst="line">
              <a:avLst/>
            </a:prstGeom>
            <a:noFill/>
            <a:ln w="9525">
              <a:solidFill>
                <a:srgbClr val="D60093"/>
              </a:solidFill>
              <a:round/>
              <a:headEnd/>
              <a:tailEnd/>
            </a:ln>
            <a:effectLst/>
          </p:spPr>
          <p:txBody>
            <a:bodyPr wrap="none" tIns="27432" bIns="27432" anchor="ctr">
              <a:spAutoFit/>
            </a:bodyPr>
            <a:lstStyle/>
            <a:p>
              <a:endParaRPr lang="fr-FR"/>
            </a:p>
          </p:txBody>
        </p:sp>
        <p:sp>
          <p:nvSpPr>
            <p:cNvPr id="60463" name="Line 47"/>
            <p:cNvSpPr>
              <a:spLocks noChangeShapeType="1"/>
            </p:cNvSpPr>
            <p:nvPr/>
          </p:nvSpPr>
          <p:spPr bwMode="auto">
            <a:xfrm flipH="1" flipV="1">
              <a:off x="685" y="1230"/>
              <a:ext cx="33" cy="8"/>
            </a:xfrm>
            <a:prstGeom prst="line">
              <a:avLst/>
            </a:prstGeom>
            <a:noFill/>
            <a:ln w="9525">
              <a:solidFill>
                <a:srgbClr val="D60093"/>
              </a:solidFill>
              <a:round/>
              <a:headEnd/>
              <a:tailEnd/>
            </a:ln>
            <a:effectLst/>
          </p:spPr>
          <p:txBody>
            <a:bodyPr wrap="none" tIns="27432" bIns="27432" anchor="ctr">
              <a:spAutoFit/>
            </a:bodyPr>
            <a:lstStyle/>
            <a:p>
              <a:endParaRPr lang="fr-FR"/>
            </a:p>
          </p:txBody>
        </p:sp>
      </p:grpSp>
      <p:sp>
        <p:nvSpPr>
          <p:cNvPr id="60466" name="Rectangle 50"/>
          <p:cNvSpPr>
            <a:spLocks noChangeArrowheads="1"/>
          </p:cNvSpPr>
          <p:nvPr/>
        </p:nvSpPr>
        <p:spPr bwMode="auto">
          <a:xfrm>
            <a:off x="1265238" y="2063750"/>
            <a:ext cx="3261042" cy="419100"/>
          </a:xfrm>
          <a:prstGeom prst="rect">
            <a:avLst/>
          </a:prstGeom>
          <a:solidFill>
            <a:srgbClr val="FFFFFF"/>
          </a:solidFill>
          <a:ln w="9525">
            <a:solidFill>
              <a:srgbClr val="003300"/>
            </a:solidFill>
            <a:miter lim="800000"/>
            <a:headEnd/>
            <a:tailEnd/>
          </a:ln>
          <a:effectLst>
            <a:outerShdw dist="53882" dir="2700000" algn="ctr" rotWithShape="0">
              <a:srgbClr val="CECECE"/>
            </a:outerShdw>
          </a:effectLst>
        </p:spPr>
        <p:txBody>
          <a:bodyPr wrap="none" anchor="ctr"/>
          <a:lstStyle/>
          <a:p>
            <a:pPr algn="ctr">
              <a:lnSpc>
                <a:spcPct val="80000"/>
              </a:lnSpc>
            </a:pPr>
            <a:r>
              <a:rPr lang="en-US" sz="2200">
                <a:latin typeface="Arial" charset="0"/>
              </a:rPr>
              <a:t>PPP</a:t>
            </a:r>
          </a:p>
        </p:txBody>
      </p:sp>
      <p:sp>
        <p:nvSpPr>
          <p:cNvPr id="60467" name="Rectangle 51"/>
          <p:cNvSpPr>
            <a:spLocks noChangeArrowheads="1"/>
          </p:cNvSpPr>
          <p:nvPr/>
        </p:nvSpPr>
        <p:spPr bwMode="auto">
          <a:xfrm>
            <a:off x="1265238" y="2482850"/>
            <a:ext cx="3261042" cy="419100"/>
          </a:xfrm>
          <a:prstGeom prst="rect">
            <a:avLst/>
          </a:prstGeom>
          <a:solidFill>
            <a:srgbClr val="FFFFFF"/>
          </a:solidFill>
          <a:ln w="9525">
            <a:solidFill>
              <a:srgbClr val="003300"/>
            </a:solidFill>
            <a:miter lim="800000"/>
            <a:headEnd/>
            <a:tailEnd/>
          </a:ln>
          <a:effectLst>
            <a:outerShdw dist="53882" dir="2700000" algn="ctr" rotWithShape="0">
              <a:srgbClr val="CECECE"/>
            </a:outerShdw>
          </a:effectLst>
        </p:spPr>
        <p:txBody>
          <a:bodyPr wrap="none" anchor="ctr"/>
          <a:lstStyle/>
          <a:p>
            <a:pPr algn="ctr"/>
            <a:r>
              <a:rPr lang="en-US" sz="2200">
                <a:latin typeface="Arial" charset="0"/>
              </a:rPr>
              <a:t>SLIP (client uniquement)</a:t>
            </a:r>
          </a:p>
        </p:txBody>
      </p:sp>
      <p:sp>
        <p:nvSpPr>
          <p:cNvPr id="60468" name="Rectangle 52"/>
          <p:cNvSpPr>
            <a:spLocks noChangeArrowheads="1"/>
          </p:cNvSpPr>
          <p:nvPr/>
        </p:nvSpPr>
        <p:spPr bwMode="auto">
          <a:xfrm>
            <a:off x="1265238" y="2901950"/>
            <a:ext cx="3261042" cy="419100"/>
          </a:xfrm>
          <a:prstGeom prst="rect">
            <a:avLst/>
          </a:prstGeom>
          <a:solidFill>
            <a:srgbClr val="FFFFFF"/>
          </a:solidFill>
          <a:ln w="9525">
            <a:solidFill>
              <a:srgbClr val="003300"/>
            </a:solidFill>
            <a:miter lim="800000"/>
            <a:headEnd/>
            <a:tailEnd/>
          </a:ln>
          <a:effectLst>
            <a:outerShdw dist="53882" dir="2700000" algn="ctr" rotWithShape="0">
              <a:srgbClr val="CECECE"/>
            </a:outerShdw>
          </a:effectLst>
        </p:spPr>
        <p:txBody>
          <a:bodyPr wrap="none" anchor="ctr"/>
          <a:lstStyle/>
          <a:p>
            <a:pPr algn="ctr"/>
            <a:r>
              <a:rPr lang="en-US" sz="2200">
                <a:latin typeface="Arial" charset="0"/>
              </a:rPr>
              <a:t>RAS (Microsoft)</a:t>
            </a:r>
          </a:p>
        </p:txBody>
      </p:sp>
      <p:sp>
        <p:nvSpPr>
          <p:cNvPr id="60471" name="Rectangle 55"/>
          <p:cNvSpPr>
            <a:spLocks noChangeArrowheads="1"/>
          </p:cNvSpPr>
          <p:nvPr/>
        </p:nvSpPr>
        <p:spPr bwMode="auto">
          <a:xfrm>
            <a:off x="5132388" y="2076450"/>
            <a:ext cx="3508692" cy="419100"/>
          </a:xfrm>
          <a:prstGeom prst="rect">
            <a:avLst/>
          </a:prstGeom>
          <a:solidFill>
            <a:srgbClr val="FFFFFF"/>
          </a:solidFill>
          <a:ln w="9525">
            <a:solidFill>
              <a:srgbClr val="003300"/>
            </a:solidFill>
            <a:miter lim="800000"/>
            <a:headEnd/>
            <a:tailEnd/>
          </a:ln>
          <a:effectLst>
            <a:outerShdw dist="53882" dir="2700000" algn="ctr" rotWithShape="0">
              <a:srgbClr val="CECECE"/>
            </a:outerShdw>
          </a:effectLst>
        </p:spPr>
        <p:txBody>
          <a:bodyPr wrap="none" anchor="ctr"/>
          <a:lstStyle/>
          <a:p>
            <a:pPr algn="ctr"/>
            <a:r>
              <a:rPr lang="en-US" sz="2200">
                <a:latin typeface="Arial" charset="0"/>
              </a:rPr>
              <a:t>TCP/IP</a:t>
            </a:r>
          </a:p>
        </p:txBody>
      </p:sp>
      <p:sp>
        <p:nvSpPr>
          <p:cNvPr id="60472" name="Rectangle 56"/>
          <p:cNvSpPr>
            <a:spLocks noChangeArrowheads="1"/>
          </p:cNvSpPr>
          <p:nvPr/>
        </p:nvSpPr>
        <p:spPr bwMode="auto">
          <a:xfrm>
            <a:off x="5132388" y="2495550"/>
            <a:ext cx="3508692" cy="420688"/>
          </a:xfrm>
          <a:prstGeom prst="rect">
            <a:avLst/>
          </a:prstGeom>
          <a:solidFill>
            <a:srgbClr val="FFFFFF"/>
          </a:solidFill>
          <a:ln w="9525">
            <a:solidFill>
              <a:srgbClr val="003300"/>
            </a:solidFill>
            <a:miter lim="800000"/>
            <a:headEnd/>
            <a:tailEnd/>
          </a:ln>
          <a:effectLst>
            <a:outerShdw dist="53882" dir="2700000" algn="ctr" rotWithShape="0">
              <a:srgbClr val="CECECE"/>
            </a:outerShdw>
          </a:effectLst>
        </p:spPr>
        <p:txBody>
          <a:bodyPr wrap="none" anchor="ctr"/>
          <a:lstStyle/>
          <a:p>
            <a:pPr algn="ctr"/>
            <a:r>
              <a:rPr lang="en-US" sz="2200">
                <a:latin typeface="Arial" charset="0"/>
              </a:rPr>
              <a:t>NWLink</a:t>
            </a:r>
          </a:p>
        </p:txBody>
      </p:sp>
      <p:sp>
        <p:nvSpPr>
          <p:cNvPr id="60475" name="Rectangle 59"/>
          <p:cNvSpPr>
            <a:spLocks noChangeArrowheads="1"/>
          </p:cNvSpPr>
          <p:nvPr/>
        </p:nvSpPr>
        <p:spPr bwMode="auto">
          <a:xfrm>
            <a:off x="1097280" y="1565275"/>
            <a:ext cx="3566160" cy="517525"/>
          </a:xfrm>
          <a:prstGeom prst="rect">
            <a:avLst/>
          </a:prstGeom>
          <a:gradFill rotWithShape="0">
            <a:gsLst>
              <a:gs pos="0">
                <a:srgbClr val="FF7C80">
                  <a:gamma/>
                  <a:shade val="70588"/>
                  <a:invGamma/>
                </a:srgbClr>
              </a:gs>
              <a:gs pos="50000">
                <a:srgbClr val="FF7C80"/>
              </a:gs>
              <a:gs pos="100000">
                <a:srgbClr val="FF7C80">
                  <a:gamma/>
                  <a:shade val="70588"/>
                  <a:invGamma/>
                </a:srgbClr>
              </a:gs>
            </a:gsLst>
            <a:lin ang="5400000" scaled="1"/>
          </a:gradFill>
          <a:ln w="9525">
            <a:solidFill>
              <a:srgbClr val="FF7C80"/>
            </a:solidFill>
            <a:miter lim="800000"/>
            <a:headEnd/>
            <a:tailEnd/>
          </a:ln>
          <a:effectLst/>
        </p:spPr>
        <p:txBody>
          <a:bodyPr anchor="ctr"/>
          <a:lstStyle/>
          <a:p>
            <a:pPr marL="166688" indent="-166688" algn="ctr">
              <a:lnSpc>
                <a:spcPct val="80000"/>
              </a:lnSpc>
            </a:pPr>
            <a:r>
              <a:rPr lang="en-US" sz="2200" b="1" dirty="0" err="1">
                <a:solidFill>
                  <a:srgbClr val="FFFFFF"/>
                </a:solidFill>
                <a:effectLst>
                  <a:outerShdw blurRad="38100" dist="38100" dir="2700000" algn="tl">
                    <a:srgbClr val="000000"/>
                  </a:outerShdw>
                </a:effectLst>
                <a:latin typeface="Arial" charset="0"/>
              </a:rPr>
              <a:t>Protocoles</a:t>
            </a:r>
            <a:r>
              <a:rPr lang="en-US" sz="2200" b="1" dirty="0">
                <a:solidFill>
                  <a:srgbClr val="FFFFFF"/>
                </a:solidFill>
                <a:effectLst>
                  <a:outerShdw blurRad="38100" dist="38100" dir="2700000" algn="tl">
                    <a:srgbClr val="000000"/>
                  </a:outerShdw>
                </a:effectLst>
                <a:latin typeface="Arial" charset="0"/>
              </a:rPr>
              <a:t> </a:t>
            </a:r>
            <a:r>
              <a:rPr lang="en-US" sz="2200" b="1" dirty="0" err="1">
                <a:solidFill>
                  <a:srgbClr val="FFFFFF"/>
                </a:solidFill>
                <a:effectLst>
                  <a:outerShdw blurRad="38100" dist="38100" dir="2700000" algn="tl">
                    <a:srgbClr val="000000"/>
                  </a:outerShdw>
                </a:effectLst>
                <a:latin typeface="Arial" charset="0"/>
              </a:rPr>
              <a:t>d'accès</a:t>
            </a:r>
            <a:r>
              <a:rPr lang="en-US" sz="2200" b="1" dirty="0">
                <a:solidFill>
                  <a:srgbClr val="FFFFFF"/>
                </a:solidFill>
                <a:effectLst>
                  <a:outerShdw blurRad="38100" dist="38100" dir="2700000" algn="tl">
                    <a:srgbClr val="000000"/>
                  </a:outerShdw>
                </a:effectLst>
                <a:latin typeface="Arial" charset="0"/>
              </a:rPr>
              <a:t> distant</a:t>
            </a:r>
          </a:p>
        </p:txBody>
      </p:sp>
      <p:sp>
        <p:nvSpPr>
          <p:cNvPr id="60476" name="Rectangle 60"/>
          <p:cNvSpPr>
            <a:spLocks noChangeArrowheads="1"/>
          </p:cNvSpPr>
          <p:nvPr/>
        </p:nvSpPr>
        <p:spPr bwMode="auto">
          <a:xfrm>
            <a:off x="4983480" y="1550035"/>
            <a:ext cx="3825240" cy="517525"/>
          </a:xfrm>
          <a:prstGeom prst="rect">
            <a:avLst/>
          </a:prstGeom>
          <a:gradFill rotWithShape="0">
            <a:gsLst>
              <a:gs pos="0">
                <a:srgbClr val="6699FF">
                  <a:gamma/>
                  <a:shade val="80392"/>
                  <a:invGamma/>
                </a:srgbClr>
              </a:gs>
              <a:gs pos="50000">
                <a:srgbClr val="6699FF"/>
              </a:gs>
              <a:gs pos="100000">
                <a:srgbClr val="6699FF">
                  <a:gamma/>
                  <a:shade val="80392"/>
                  <a:invGamma/>
                </a:srgbClr>
              </a:gs>
            </a:gsLst>
            <a:lin ang="5400000" scaled="1"/>
          </a:gradFill>
          <a:ln w="9525">
            <a:solidFill>
              <a:srgbClr val="333399"/>
            </a:solidFill>
            <a:miter lim="800000"/>
            <a:headEnd/>
            <a:tailEnd/>
          </a:ln>
          <a:effectLst/>
        </p:spPr>
        <p:txBody>
          <a:bodyPr anchor="ctr"/>
          <a:lstStyle/>
          <a:p>
            <a:pPr marL="166688" indent="-166688" algn="ctr">
              <a:lnSpc>
                <a:spcPct val="80000"/>
              </a:lnSpc>
            </a:pPr>
            <a:r>
              <a:rPr lang="en-US" sz="2200" b="1" dirty="0" err="1">
                <a:solidFill>
                  <a:srgbClr val="FFFFFF"/>
                </a:solidFill>
                <a:effectLst>
                  <a:outerShdw blurRad="38100" dist="38100" dir="2700000" algn="tl">
                    <a:srgbClr val="000000"/>
                  </a:outerShdw>
                </a:effectLst>
                <a:latin typeface="Arial" charset="0"/>
              </a:rPr>
              <a:t>Protocoles</a:t>
            </a:r>
            <a:r>
              <a:rPr lang="en-US" sz="2200" b="1" dirty="0">
                <a:solidFill>
                  <a:srgbClr val="FFFFFF"/>
                </a:solidFill>
                <a:effectLst>
                  <a:outerShdw blurRad="38100" dist="38100" dir="2700000" algn="tl">
                    <a:srgbClr val="000000"/>
                  </a:outerShdw>
                </a:effectLst>
                <a:latin typeface="Arial" charset="0"/>
              </a:rPr>
              <a:t> de </a:t>
            </a:r>
            <a:r>
              <a:rPr lang="en-US" sz="2200" b="1" dirty="0" err="1">
                <a:solidFill>
                  <a:srgbClr val="FFFFFF"/>
                </a:solidFill>
                <a:effectLst>
                  <a:outerShdw blurRad="38100" dist="38100" dir="2700000" algn="tl">
                    <a:srgbClr val="000000"/>
                  </a:outerShdw>
                </a:effectLst>
                <a:latin typeface="Arial" charset="0"/>
              </a:rPr>
              <a:t>réseau</a:t>
            </a:r>
            <a:r>
              <a:rPr lang="en-US" sz="2200" b="1" dirty="0">
                <a:solidFill>
                  <a:srgbClr val="FFFFFF"/>
                </a:solidFill>
                <a:effectLst>
                  <a:outerShdw blurRad="38100" dist="38100" dir="2700000" algn="tl">
                    <a:srgbClr val="000000"/>
                  </a:outerShdw>
                </a:effectLst>
                <a:latin typeface="Arial" charset="0"/>
              </a:rPr>
              <a:t> local</a:t>
            </a:r>
          </a:p>
        </p:txBody>
      </p:sp>
      <p:sp>
        <p:nvSpPr>
          <p:cNvPr id="60479" name="Rectangle 63"/>
          <p:cNvSpPr>
            <a:spLocks noChangeArrowheads="1"/>
          </p:cNvSpPr>
          <p:nvPr/>
        </p:nvSpPr>
        <p:spPr bwMode="auto">
          <a:xfrm>
            <a:off x="2792413" y="3992562"/>
            <a:ext cx="3669347" cy="2453957"/>
          </a:xfrm>
          <a:prstGeom prst="rect">
            <a:avLst/>
          </a:prstGeom>
          <a:gradFill rotWithShape="0">
            <a:gsLst>
              <a:gs pos="0">
                <a:srgbClr val="FFFFCC"/>
              </a:gs>
              <a:gs pos="100000">
                <a:srgbClr val="FFFFFF"/>
              </a:gs>
            </a:gsLst>
            <a:lin ang="0" scaled="1"/>
          </a:gradFill>
          <a:ln w="9525">
            <a:solidFill>
              <a:srgbClr val="FFCC00"/>
            </a:solidFill>
            <a:miter lim="800000"/>
            <a:headEnd/>
            <a:tailEnd/>
          </a:ln>
          <a:effectLst>
            <a:outerShdw dist="35921" dir="2700000" algn="ctr" rotWithShape="0">
              <a:srgbClr val="B2B2B2"/>
            </a:outerShdw>
          </a:effectLst>
        </p:spPr>
        <p:txBody>
          <a:bodyPr anchor="ctr"/>
          <a:lstStyle/>
          <a:p>
            <a:pPr algn="r" eaLnBrk="1" hangingPunct="1"/>
            <a:endParaRPr lang="fr-FR" sz="1800" b="1"/>
          </a:p>
        </p:txBody>
      </p:sp>
      <p:sp>
        <p:nvSpPr>
          <p:cNvPr id="60480" name="AutoShape 64"/>
          <p:cNvSpPr>
            <a:spLocks noChangeArrowheads="1"/>
          </p:cNvSpPr>
          <p:nvPr/>
        </p:nvSpPr>
        <p:spPr bwMode="auto">
          <a:xfrm>
            <a:off x="4616450" y="4192588"/>
            <a:ext cx="368300" cy="373062"/>
          </a:xfrm>
          <a:custGeom>
            <a:avLst/>
            <a:gdLst>
              <a:gd name="G0" fmla="+- 9213 0 0"/>
              <a:gd name="G1" fmla="+- 5963859 0 0"/>
              <a:gd name="G2" fmla="+- 0 0 5963859"/>
              <a:gd name="T0" fmla="*/ 0 256 1"/>
              <a:gd name="T1" fmla="*/ 180 256 1"/>
              <a:gd name="G3" fmla="+- 5963859 T0 T1"/>
              <a:gd name="T2" fmla="*/ 0 256 1"/>
              <a:gd name="T3" fmla="*/ 90 256 1"/>
              <a:gd name="G4" fmla="+- 5963859 T2 T3"/>
              <a:gd name="G5" fmla="*/ G4 2 1"/>
              <a:gd name="T4" fmla="*/ 90 256 1"/>
              <a:gd name="T5" fmla="*/ 0 256 1"/>
              <a:gd name="G6" fmla="+- 5963859 T4 T5"/>
              <a:gd name="G7" fmla="*/ G6 2 1"/>
              <a:gd name="G8" fmla="abs 5963859"/>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9213"/>
              <a:gd name="G18" fmla="*/ 9213 1 2"/>
              <a:gd name="G19" fmla="+- G18 5400 0"/>
              <a:gd name="G20" fmla="cos G19 5963859"/>
              <a:gd name="G21" fmla="sin G19 5963859"/>
              <a:gd name="G22" fmla="+- G20 10800 0"/>
              <a:gd name="G23" fmla="+- G21 10800 0"/>
              <a:gd name="G24" fmla="+- 10800 0 G20"/>
              <a:gd name="G25" fmla="+- 9213 10800 0"/>
              <a:gd name="G26" fmla="?: G9 G17 G25"/>
              <a:gd name="G27" fmla="?: G9 0 21600"/>
              <a:gd name="G28" fmla="cos 10800 5963859"/>
              <a:gd name="G29" fmla="sin 10800 5963859"/>
              <a:gd name="G30" fmla="sin 9213 5963859"/>
              <a:gd name="G31" fmla="+- G28 10800 0"/>
              <a:gd name="G32" fmla="+- G29 10800 0"/>
              <a:gd name="G33" fmla="+- G30 10800 0"/>
              <a:gd name="G34" fmla="?: G4 0 G31"/>
              <a:gd name="G35" fmla="?: 5963859 G34 0"/>
              <a:gd name="G36" fmla="?: G6 G35 G31"/>
              <a:gd name="G37" fmla="+- 21600 0 G36"/>
              <a:gd name="G38" fmla="?: G4 0 G33"/>
              <a:gd name="G39" fmla="?: 5963859 G38 G32"/>
              <a:gd name="G40" fmla="?: G6 G39 0"/>
              <a:gd name="G41" fmla="?: G4 G32 21600"/>
              <a:gd name="G42" fmla="?: G6 G41 G33"/>
              <a:gd name="T12" fmla="*/ 10800 w 21600"/>
              <a:gd name="T13" fmla="*/ 0 h 21600"/>
              <a:gd name="T14" fmla="*/ 10625 w 21600"/>
              <a:gd name="T15" fmla="*/ 20805 h 21600"/>
              <a:gd name="T16" fmla="*/ 10800 w 21600"/>
              <a:gd name="T17" fmla="*/ 1587 h 21600"/>
              <a:gd name="T18" fmla="*/ 10975 w 21600"/>
              <a:gd name="T19" fmla="*/ 20805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639" y="20011"/>
                </a:moveTo>
                <a:cubicBezTo>
                  <a:pt x="5614" y="19923"/>
                  <a:pt x="1587" y="15825"/>
                  <a:pt x="1587" y="10800"/>
                </a:cubicBezTo>
                <a:cubicBezTo>
                  <a:pt x="1587" y="5711"/>
                  <a:pt x="5711" y="1587"/>
                  <a:pt x="10800" y="1587"/>
                </a:cubicBezTo>
                <a:cubicBezTo>
                  <a:pt x="15888" y="1587"/>
                  <a:pt x="20013" y="5711"/>
                  <a:pt x="20013" y="10800"/>
                </a:cubicBezTo>
                <a:cubicBezTo>
                  <a:pt x="20013" y="15825"/>
                  <a:pt x="15985" y="19923"/>
                  <a:pt x="10960" y="20011"/>
                </a:cubicBezTo>
                <a:lnTo>
                  <a:pt x="10988" y="21598"/>
                </a:lnTo>
                <a:cubicBezTo>
                  <a:pt x="16878" y="21495"/>
                  <a:pt x="21600" y="16691"/>
                  <a:pt x="21600" y="10800"/>
                </a:cubicBezTo>
                <a:cubicBezTo>
                  <a:pt x="21600" y="4835"/>
                  <a:pt x="16764" y="0"/>
                  <a:pt x="10800" y="0"/>
                </a:cubicBezTo>
                <a:cubicBezTo>
                  <a:pt x="4835" y="0"/>
                  <a:pt x="0" y="4835"/>
                  <a:pt x="0" y="10800"/>
                </a:cubicBezTo>
                <a:cubicBezTo>
                  <a:pt x="-1" y="16691"/>
                  <a:pt x="4721" y="21495"/>
                  <a:pt x="10611" y="21598"/>
                </a:cubicBezTo>
                <a:close/>
              </a:path>
            </a:pathLst>
          </a:custGeom>
          <a:solidFill>
            <a:srgbClr val="333399"/>
          </a:solidFill>
          <a:ln w="9525">
            <a:miter lim="800000"/>
            <a:headEnd/>
            <a:tailEnd/>
          </a:ln>
          <a:effectLst/>
          <a:scene3d>
            <a:camera prst="legacyPerspectiveFront">
              <a:rot lat="600000" lon="3000000" rev="0"/>
            </a:camera>
            <a:lightRig rig="legacyFlat4" dir="b"/>
          </a:scene3d>
          <a:sp3d extrusionH="303200" prstMaterial="legacyMatte">
            <a:bevelT w="13500" h="13500" prst="angle"/>
            <a:bevelB w="13500" h="13500" prst="angle"/>
            <a:extrusionClr>
              <a:srgbClr val="99CCFF"/>
            </a:extrusionClr>
          </a:sp3d>
        </p:spPr>
        <p:txBody>
          <a:bodyPr wrap="none" anchor="ctr">
            <a:flatTx/>
          </a:bodyPr>
          <a:lstStyle/>
          <a:p>
            <a:pPr algn="ctr" eaLnBrk="1" hangingPunct="1"/>
            <a:endParaRPr lang="fr-FR" sz="1800" b="1"/>
          </a:p>
        </p:txBody>
      </p:sp>
      <p:sp>
        <p:nvSpPr>
          <p:cNvPr id="60481" name="AutoShape 65"/>
          <p:cNvSpPr>
            <a:spLocks noChangeArrowheads="1"/>
          </p:cNvSpPr>
          <p:nvPr/>
        </p:nvSpPr>
        <p:spPr bwMode="auto">
          <a:xfrm>
            <a:off x="3216275" y="4160838"/>
            <a:ext cx="627063" cy="638175"/>
          </a:xfrm>
          <a:custGeom>
            <a:avLst/>
            <a:gdLst>
              <a:gd name="G0" fmla="+- 8441 0 0"/>
              <a:gd name="G1" fmla="+- 5954286 0 0"/>
              <a:gd name="G2" fmla="+- 0 0 5954286"/>
              <a:gd name="T0" fmla="*/ 0 256 1"/>
              <a:gd name="T1" fmla="*/ 180 256 1"/>
              <a:gd name="G3" fmla="+- 5954286 T0 T1"/>
              <a:gd name="T2" fmla="*/ 0 256 1"/>
              <a:gd name="T3" fmla="*/ 90 256 1"/>
              <a:gd name="G4" fmla="+- 5954286 T2 T3"/>
              <a:gd name="G5" fmla="*/ G4 2 1"/>
              <a:gd name="T4" fmla="*/ 90 256 1"/>
              <a:gd name="T5" fmla="*/ 0 256 1"/>
              <a:gd name="G6" fmla="+- 5954286 T4 T5"/>
              <a:gd name="G7" fmla="*/ G6 2 1"/>
              <a:gd name="G8" fmla="abs 595428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8441"/>
              <a:gd name="G18" fmla="*/ 8441 1 2"/>
              <a:gd name="G19" fmla="+- G18 5400 0"/>
              <a:gd name="G20" fmla="cos G19 5954286"/>
              <a:gd name="G21" fmla="sin G19 5954286"/>
              <a:gd name="G22" fmla="+- G20 10800 0"/>
              <a:gd name="G23" fmla="+- G21 10800 0"/>
              <a:gd name="G24" fmla="+- 10800 0 G20"/>
              <a:gd name="G25" fmla="+- 8441 10800 0"/>
              <a:gd name="G26" fmla="?: G9 G17 G25"/>
              <a:gd name="G27" fmla="?: G9 0 21600"/>
              <a:gd name="G28" fmla="cos 10800 5954286"/>
              <a:gd name="G29" fmla="sin 10800 5954286"/>
              <a:gd name="G30" fmla="sin 8441 5954286"/>
              <a:gd name="G31" fmla="+- G28 10800 0"/>
              <a:gd name="G32" fmla="+- G29 10800 0"/>
              <a:gd name="G33" fmla="+- G30 10800 0"/>
              <a:gd name="G34" fmla="?: G4 0 G31"/>
              <a:gd name="G35" fmla="?: 5954286 G34 0"/>
              <a:gd name="G36" fmla="?: G6 G35 G31"/>
              <a:gd name="G37" fmla="+- 21600 0 G36"/>
              <a:gd name="G38" fmla="?: G4 0 G33"/>
              <a:gd name="G39" fmla="?: 5954286 G38 G32"/>
              <a:gd name="G40" fmla="?: G6 G39 0"/>
              <a:gd name="G41" fmla="?: G4 G32 21600"/>
              <a:gd name="G42" fmla="?: G6 G41 G33"/>
              <a:gd name="T12" fmla="*/ 10800 w 21600"/>
              <a:gd name="T13" fmla="*/ 0 h 21600"/>
              <a:gd name="T14" fmla="*/ 10656 w 21600"/>
              <a:gd name="T15" fmla="*/ 20419 h 21600"/>
              <a:gd name="T16" fmla="*/ 10800 w 21600"/>
              <a:gd name="T17" fmla="*/ 2359 h 21600"/>
              <a:gd name="T18" fmla="*/ 10944 w 21600"/>
              <a:gd name="T19" fmla="*/ 20419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674" y="19240"/>
                </a:moveTo>
                <a:cubicBezTo>
                  <a:pt x="6061" y="19171"/>
                  <a:pt x="2359" y="15412"/>
                  <a:pt x="2359" y="10800"/>
                </a:cubicBezTo>
                <a:cubicBezTo>
                  <a:pt x="2359" y="6138"/>
                  <a:pt x="6138" y="2359"/>
                  <a:pt x="10800" y="2359"/>
                </a:cubicBezTo>
                <a:cubicBezTo>
                  <a:pt x="15461" y="2359"/>
                  <a:pt x="19241" y="6138"/>
                  <a:pt x="19241" y="10800"/>
                </a:cubicBezTo>
                <a:cubicBezTo>
                  <a:pt x="19241" y="15412"/>
                  <a:pt x="15538" y="19171"/>
                  <a:pt x="10925" y="19240"/>
                </a:cubicBezTo>
                <a:lnTo>
                  <a:pt x="10961" y="21598"/>
                </a:lnTo>
                <a:cubicBezTo>
                  <a:pt x="16862" y="21510"/>
                  <a:pt x="21600" y="16701"/>
                  <a:pt x="21600" y="10800"/>
                </a:cubicBezTo>
                <a:cubicBezTo>
                  <a:pt x="21600" y="4835"/>
                  <a:pt x="16764" y="0"/>
                  <a:pt x="10800" y="0"/>
                </a:cubicBezTo>
                <a:cubicBezTo>
                  <a:pt x="4835" y="0"/>
                  <a:pt x="0" y="4835"/>
                  <a:pt x="0" y="10800"/>
                </a:cubicBezTo>
                <a:cubicBezTo>
                  <a:pt x="-1" y="16701"/>
                  <a:pt x="4737" y="21510"/>
                  <a:pt x="10638" y="21598"/>
                </a:cubicBezTo>
                <a:close/>
              </a:path>
            </a:pathLst>
          </a:custGeom>
          <a:solidFill>
            <a:srgbClr val="CC0066"/>
          </a:solidFill>
          <a:ln w="9525">
            <a:miter lim="800000"/>
            <a:headEnd/>
            <a:tailEnd/>
          </a:ln>
          <a:effectLst/>
          <a:scene3d>
            <a:camera prst="legacyPerspectiveFront">
              <a:rot lat="300000" lon="3000000" rev="0"/>
            </a:camera>
            <a:lightRig rig="legacyFlat4" dir="b"/>
          </a:scene3d>
          <a:sp3d extrusionH="1801800" prstMaterial="legacyMatte">
            <a:bevelT w="13500" h="13500" prst="angle"/>
            <a:bevelB w="13500" h="13500" prst="angle"/>
            <a:extrusionClr>
              <a:srgbClr val="FF7C80"/>
            </a:extrusionClr>
          </a:sp3d>
        </p:spPr>
        <p:txBody>
          <a:bodyPr wrap="none" anchor="ctr">
            <a:flatTx/>
          </a:bodyPr>
          <a:lstStyle/>
          <a:p>
            <a:pPr algn="ctr" eaLnBrk="1" hangingPunct="1"/>
            <a:endParaRPr lang="fr-FR" sz="1800" b="1"/>
          </a:p>
        </p:txBody>
      </p:sp>
      <p:sp>
        <p:nvSpPr>
          <p:cNvPr id="60482" name="AutoShape 66"/>
          <p:cNvSpPr>
            <a:spLocks noChangeArrowheads="1"/>
          </p:cNvSpPr>
          <p:nvPr/>
        </p:nvSpPr>
        <p:spPr bwMode="auto">
          <a:xfrm>
            <a:off x="2787650" y="4300538"/>
            <a:ext cx="415925" cy="431800"/>
          </a:xfrm>
          <a:custGeom>
            <a:avLst/>
            <a:gdLst>
              <a:gd name="G0" fmla="+- 7466 0 0"/>
              <a:gd name="G1" fmla="+- 5981222 0 0"/>
              <a:gd name="G2" fmla="+- 0 0 5981222"/>
              <a:gd name="T0" fmla="*/ 0 256 1"/>
              <a:gd name="T1" fmla="*/ 180 256 1"/>
              <a:gd name="G3" fmla="+- 5981222 T0 T1"/>
              <a:gd name="T2" fmla="*/ 0 256 1"/>
              <a:gd name="T3" fmla="*/ 90 256 1"/>
              <a:gd name="G4" fmla="+- 5981222 T2 T3"/>
              <a:gd name="G5" fmla="*/ G4 2 1"/>
              <a:gd name="T4" fmla="*/ 90 256 1"/>
              <a:gd name="T5" fmla="*/ 0 256 1"/>
              <a:gd name="G6" fmla="+- 5981222 T4 T5"/>
              <a:gd name="G7" fmla="*/ G6 2 1"/>
              <a:gd name="G8" fmla="abs 5981222"/>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7466"/>
              <a:gd name="G18" fmla="*/ 7466 1 2"/>
              <a:gd name="G19" fmla="+- G18 5400 0"/>
              <a:gd name="G20" fmla="cos G19 5981222"/>
              <a:gd name="G21" fmla="sin G19 5981222"/>
              <a:gd name="G22" fmla="+- G20 10800 0"/>
              <a:gd name="G23" fmla="+- G21 10800 0"/>
              <a:gd name="G24" fmla="+- 10800 0 G20"/>
              <a:gd name="G25" fmla="+- 7466 10800 0"/>
              <a:gd name="G26" fmla="?: G9 G17 G25"/>
              <a:gd name="G27" fmla="?: G9 0 21600"/>
              <a:gd name="G28" fmla="cos 10800 5981222"/>
              <a:gd name="G29" fmla="sin 10800 5981222"/>
              <a:gd name="G30" fmla="sin 7466 5981222"/>
              <a:gd name="G31" fmla="+- G28 10800 0"/>
              <a:gd name="G32" fmla="+- G29 10800 0"/>
              <a:gd name="G33" fmla="+- G30 10800 0"/>
              <a:gd name="G34" fmla="?: G4 0 G31"/>
              <a:gd name="G35" fmla="?: 5981222 G34 0"/>
              <a:gd name="G36" fmla="?: G6 G35 G31"/>
              <a:gd name="G37" fmla="+- 21600 0 G36"/>
              <a:gd name="G38" fmla="?: G4 0 G33"/>
              <a:gd name="G39" fmla="?: 5981222 G38 G32"/>
              <a:gd name="G40" fmla="?: G6 G39 0"/>
              <a:gd name="G41" fmla="?: G4 G32 21600"/>
              <a:gd name="G42" fmla="?: G6 G41 G33"/>
              <a:gd name="T12" fmla="*/ 10800 w 21600"/>
              <a:gd name="T13" fmla="*/ 0 h 21600"/>
              <a:gd name="T14" fmla="*/ 10598 w 21600"/>
              <a:gd name="T15" fmla="*/ 19930 h 21600"/>
              <a:gd name="T16" fmla="*/ 10800 w 21600"/>
              <a:gd name="T17" fmla="*/ 3334 h 21600"/>
              <a:gd name="T18" fmla="*/ 11002 w 21600"/>
              <a:gd name="T19" fmla="*/ 1993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635" y="18264"/>
                </a:moveTo>
                <a:cubicBezTo>
                  <a:pt x="6576" y="18174"/>
                  <a:pt x="3334" y="14859"/>
                  <a:pt x="3334" y="10800"/>
                </a:cubicBezTo>
                <a:cubicBezTo>
                  <a:pt x="3334" y="6676"/>
                  <a:pt x="6676" y="3334"/>
                  <a:pt x="10800" y="3334"/>
                </a:cubicBezTo>
                <a:cubicBezTo>
                  <a:pt x="14923" y="3334"/>
                  <a:pt x="18266" y="6676"/>
                  <a:pt x="18266" y="10800"/>
                </a:cubicBezTo>
                <a:cubicBezTo>
                  <a:pt x="18266" y="14859"/>
                  <a:pt x="15023" y="18174"/>
                  <a:pt x="10964" y="18264"/>
                </a:cubicBezTo>
                <a:lnTo>
                  <a:pt x="11038" y="21597"/>
                </a:lnTo>
                <a:cubicBezTo>
                  <a:pt x="16908" y="21467"/>
                  <a:pt x="21600" y="16671"/>
                  <a:pt x="21600" y="10800"/>
                </a:cubicBezTo>
                <a:cubicBezTo>
                  <a:pt x="21600" y="4835"/>
                  <a:pt x="16764" y="0"/>
                  <a:pt x="10800" y="0"/>
                </a:cubicBezTo>
                <a:cubicBezTo>
                  <a:pt x="4835" y="0"/>
                  <a:pt x="0" y="4835"/>
                  <a:pt x="0" y="10800"/>
                </a:cubicBezTo>
                <a:cubicBezTo>
                  <a:pt x="-1" y="16671"/>
                  <a:pt x="4691" y="21467"/>
                  <a:pt x="10561" y="21597"/>
                </a:cubicBezTo>
                <a:close/>
              </a:path>
            </a:pathLst>
          </a:custGeom>
          <a:solidFill>
            <a:srgbClr val="3366CC"/>
          </a:solidFill>
          <a:ln w="9525">
            <a:miter lim="800000"/>
            <a:headEnd/>
            <a:tailEnd/>
          </a:ln>
          <a:effectLst/>
          <a:scene3d>
            <a:camera prst="legacyPerspectiveFront">
              <a:rot lat="300000" lon="3000000" rev="0"/>
            </a:camera>
            <a:lightRig rig="legacyFlat4" dir="b"/>
          </a:scene3d>
          <a:sp3d extrusionH="684200" prstMaterial="legacyMatte">
            <a:bevelT w="13500" h="13500" prst="angle"/>
            <a:bevelB w="13500" h="13500" prst="angle"/>
            <a:extrusionClr>
              <a:srgbClr val="99CCFF"/>
            </a:extrusionClr>
          </a:sp3d>
        </p:spPr>
        <p:txBody>
          <a:bodyPr wrap="none" anchor="ctr">
            <a:flatTx/>
          </a:bodyPr>
          <a:lstStyle/>
          <a:p>
            <a:pPr algn="ctr" eaLnBrk="1" hangingPunct="1"/>
            <a:endParaRPr lang="fr-FR" sz="1800" b="1"/>
          </a:p>
        </p:txBody>
      </p:sp>
      <p:sp>
        <p:nvSpPr>
          <p:cNvPr id="60483" name="Text Box 67"/>
          <p:cNvSpPr txBox="1">
            <a:spLocks noChangeArrowheads="1"/>
          </p:cNvSpPr>
          <p:nvPr/>
        </p:nvSpPr>
        <p:spPr bwMode="auto">
          <a:xfrm>
            <a:off x="3430588" y="5448300"/>
            <a:ext cx="2389918" cy="769441"/>
          </a:xfrm>
          <a:prstGeom prst="rect">
            <a:avLst/>
          </a:prstGeom>
          <a:noFill/>
          <a:ln w="9525">
            <a:noFill/>
            <a:miter lim="800000"/>
            <a:headEnd/>
            <a:tailEnd/>
          </a:ln>
          <a:effectLst/>
        </p:spPr>
        <p:txBody>
          <a:bodyPr wrap="square">
            <a:spAutoFit/>
          </a:bodyPr>
          <a:lstStyle/>
          <a:p>
            <a:pPr eaLnBrk="1" hangingPunct="1"/>
            <a:r>
              <a:rPr lang="en-US" sz="2200" b="1" dirty="0" err="1">
                <a:solidFill>
                  <a:srgbClr val="3366CC"/>
                </a:solidFill>
                <a:latin typeface="Arial" charset="0"/>
              </a:rPr>
              <a:t>Protocoles</a:t>
            </a:r>
            <a:r>
              <a:rPr lang="en-US" sz="2200" b="1" dirty="0">
                <a:solidFill>
                  <a:srgbClr val="3366CC"/>
                </a:solidFill>
                <a:latin typeface="Arial" charset="0"/>
              </a:rPr>
              <a:t> de </a:t>
            </a:r>
            <a:br>
              <a:rPr lang="en-US" sz="2200" b="1" dirty="0">
                <a:solidFill>
                  <a:srgbClr val="3366CC"/>
                </a:solidFill>
                <a:latin typeface="Arial" charset="0"/>
              </a:rPr>
            </a:br>
            <a:r>
              <a:rPr lang="en-US" sz="2200" b="1" dirty="0" err="1">
                <a:solidFill>
                  <a:srgbClr val="3366CC"/>
                </a:solidFill>
                <a:latin typeface="Arial" charset="0"/>
              </a:rPr>
              <a:t>réseau</a:t>
            </a:r>
            <a:r>
              <a:rPr lang="en-US" sz="2200" b="1" dirty="0">
                <a:solidFill>
                  <a:srgbClr val="3366CC"/>
                </a:solidFill>
                <a:latin typeface="Arial" charset="0"/>
              </a:rPr>
              <a:t> local</a:t>
            </a:r>
            <a:endParaRPr lang="en-US" sz="2200" dirty="0">
              <a:solidFill>
                <a:srgbClr val="3366CC"/>
              </a:solidFill>
              <a:latin typeface="Arial" charset="0"/>
            </a:endParaRPr>
          </a:p>
        </p:txBody>
      </p:sp>
      <p:sp>
        <p:nvSpPr>
          <p:cNvPr id="60484" name="Text Box 68"/>
          <p:cNvSpPr txBox="1">
            <a:spLocks noChangeArrowheads="1"/>
          </p:cNvSpPr>
          <p:nvPr/>
        </p:nvSpPr>
        <p:spPr bwMode="auto">
          <a:xfrm>
            <a:off x="3968750" y="4806950"/>
            <a:ext cx="2462530" cy="769441"/>
          </a:xfrm>
          <a:prstGeom prst="rect">
            <a:avLst/>
          </a:prstGeom>
          <a:noFill/>
          <a:ln w="9525">
            <a:noFill/>
            <a:miter lim="800000"/>
            <a:headEnd/>
            <a:tailEnd/>
          </a:ln>
          <a:effectLst/>
        </p:spPr>
        <p:txBody>
          <a:bodyPr wrap="square">
            <a:spAutoFit/>
          </a:bodyPr>
          <a:lstStyle/>
          <a:p>
            <a:pPr eaLnBrk="1" hangingPunct="1"/>
            <a:r>
              <a:rPr lang="en-US" sz="2200" b="1" dirty="0" err="1">
                <a:solidFill>
                  <a:srgbClr val="DF2177"/>
                </a:solidFill>
                <a:latin typeface="Arial" charset="0"/>
              </a:rPr>
              <a:t>Protocoles</a:t>
            </a:r>
            <a:r>
              <a:rPr lang="en-US" sz="2200" b="1" dirty="0">
                <a:solidFill>
                  <a:srgbClr val="DF2177"/>
                </a:solidFill>
                <a:latin typeface="Arial" charset="0"/>
              </a:rPr>
              <a:t> </a:t>
            </a:r>
            <a:r>
              <a:rPr lang="en-US" sz="2200" b="1" dirty="0" err="1">
                <a:solidFill>
                  <a:srgbClr val="DF2177"/>
                </a:solidFill>
                <a:latin typeface="Arial" charset="0"/>
              </a:rPr>
              <a:t>d'accès</a:t>
            </a:r>
            <a:r>
              <a:rPr lang="en-US" sz="2200" b="1" dirty="0">
                <a:solidFill>
                  <a:srgbClr val="DF2177"/>
                </a:solidFill>
                <a:latin typeface="Arial" charset="0"/>
              </a:rPr>
              <a:t> distant</a:t>
            </a:r>
          </a:p>
        </p:txBody>
      </p:sp>
      <p:sp>
        <p:nvSpPr>
          <p:cNvPr id="60485" name="Freeform 69"/>
          <p:cNvSpPr>
            <a:spLocks/>
          </p:cNvSpPr>
          <p:nvPr/>
        </p:nvSpPr>
        <p:spPr bwMode="auto">
          <a:xfrm>
            <a:off x="3159125" y="4814888"/>
            <a:ext cx="273050" cy="808037"/>
          </a:xfrm>
          <a:custGeom>
            <a:avLst/>
            <a:gdLst/>
            <a:ahLst/>
            <a:cxnLst>
              <a:cxn ang="0">
                <a:pos x="0" y="0"/>
              </a:cxn>
              <a:cxn ang="0">
                <a:pos x="0" y="509"/>
              </a:cxn>
              <a:cxn ang="0">
                <a:pos x="172" y="509"/>
              </a:cxn>
            </a:cxnLst>
            <a:rect l="0" t="0" r="r" b="b"/>
            <a:pathLst>
              <a:path w="172" h="509">
                <a:moveTo>
                  <a:pt x="0" y="0"/>
                </a:moveTo>
                <a:lnTo>
                  <a:pt x="0" y="509"/>
                </a:lnTo>
                <a:lnTo>
                  <a:pt x="172" y="509"/>
                </a:lnTo>
              </a:path>
            </a:pathLst>
          </a:custGeom>
          <a:noFill/>
          <a:ln w="38100" cmpd="sng">
            <a:solidFill>
              <a:srgbClr val="3366CC"/>
            </a:solidFill>
            <a:round/>
            <a:headEnd/>
            <a:tailEnd/>
          </a:ln>
          <a:effectLst/>
        </p:spPr>
        <p:txBody>
          <a:bodyPr/>
          <a:lstStyle/>
          <a:p>
            <a:endParaRPr lang="fr-FR"/>
          </a:p>
        </p:txBody>
      </p:sp>
      <p:sp>
        <p:nvSpPr>
          <p:cNvPr id="60486" name="Freeform 70"/>
          <p:cNvSpPr>
            <a:spLocks/>
          </p:cNvSpPr>
          <p:nvPr/>
        </p:nvSpPr>
        <p:spPr bwMode="auto">
          <a:xfrm>
            <a:off x="3717925" y="4827588"/>
            <a:ext cx="273050" cy="296862"/>
          </a:xfrm>
          <a:custGeom>
            <a:avLst/>
            <a:gdLst/>
            <a:ahLst/>
            <a:cxnLst>
              <a:cxn ang="0">
                <a:pos x="0" y="0"/>
              </a:cxn>
              <a:cxn ang="0">
                <a:pos x="0" y="509"/>
              </a:cxn>
              <a:cxn ang="0">
                <a:pos x="172" y="509"/>
              </a:cxn>
            </a:cxnLst>
            <a:rect l="0" t="0" r="r" b="b"/>
            <a:pathLst>
              <a:path w="172" h="509">
                <a:moveTo>
                  <a:pt x="0" y="0"/>
                </a:moveTo>
                <a:lnTo>
                  <a:pt x="0" y="509"/>
                </a:lnTo>
                <a:lnTo>
                  <a:pt x="172" y="509"/>
                </a:lnTo>
              </a:path>
            </a:pathLst>
          </a:custGeom>
          <a:noFill/>
          <a:ln w="38100" cmpd="sng">
            <a:solidFill>
              <a:srgbClr val="DF2177"/>
            </a:solidFill>
            <a:round/>
            <a:headEnd/>
            <a:tailEnd/>
          </a:ln>
          <a:effectLst/>
        </p:spPr>
        <p:txBody>
          <a:bodyPr/>
          <a:lstStyle/>
          <a:p>
            <a:endParaRPr lang="fr-FR"/>
          </a:p>
        </p:txBody>
      </p:sp>
      <p:sp>
        <p:nvSpPr>
          <p:cNvPr id="60421" name="Rectangle 5"/>
          <p:cNvSpPr>
            <a:spLocks noChangeArrowheads="1"/>
          </p:cNvSpPr>
          <p:nvPr/>
        </p:nvSpPr>
        <p:spPr bwMode="auto">
          <a:xfrm>
            <a:off x="173167" y="5877878"/>
            <a:ext cx="2404428" cy="599122"/>
          </a:xfrm>
          <a:prstGeom prst="rect">
            <a:avLst/>
          </a:prstGeom>
          <a:noFill/>
          <a:ln w="9525">
            <a:noFill/>
            <a:miter lim="800000"/>
            <a:headEnd/>
            <a:tailEnd/>
          </a:ln>
          <a:effectLst/>
        </p:spPr>
        <p:txBody>
          <a:bodyPr anchor="ctr"/>
          <a:lstStyle/>
          <a:p>
            <a:pPr algn="ctr"/>
            <a:r>
              <a:rPr lang="en-US" sz="2000" b="1" dirty="0" err="1">
                <a:latin typeface="Arial" charset="0"/>
              </a:rPr>
              <a:t>Serveur</a:t>
            </a:r>
            <a:r>
              <a:rPr lang="en-US" sz="2000" b="1" dirty="0">
                <a:latin typeface="Arial" charset="0"/>
              </a:rPr>
              <a:t> </a:t>
            </a:r>
            <a:r>
              <a:rPr lang="en-US" sz="2000" b="1" dirty="0" err="1">
                <a:latin typeface="Arial" charset="0"/>
              </a:rPr>
              <a:t>d'accès</a:t>
            </a:r>
            <a:r>
              <a:rPr lang="en-US" sz="2000" b="1" dirty="0">
                <a:latin typeface="Arial" charset="0"/>
              </a:rPr>
              <a:t> distant</a:t>
            </a:r>
          </a:p>
        </p:txBody>
      </p:sp>
      <p:sp>
        <p:nvSpPr>
          <p:cNvPr id="60422" name="Rectangle 6"/>
          <p:cNvSpPr>
            <a:spLocks noChangeArrowheads="1"/>
          </p:cNvSpPr>
          <p:nvPr/>
        </p:nvSpPr>
        <p:spPr bwMode="auto">
          <a:xfrm>
            <a:off x="6476812" y="5632450"/>
            <a:ext cx="2042348" cy="692150"/>
          </a:xfrm>
          <a:prstGeom prst="rect">
            <a:avLst/>
          </a:prstGeom>
          <a:noFill/>
          <a:ln w="9525">
            <a:noFill/>
            <a:miter lim="800000"/>
            <a:headEnd/>
            <a:tailEnd/>
          </a:ln>
          <a:effectLst/>
        </p:spPr>
        <p:txBody>
          <a:bodyPr anchor="ctr"/>
          <a:lstStyle/>
          <a:p>
            <a:pPr algn="ctr"/>
            <a:r>
              <a:rPr lang="en-US" sz="2000" b="1" dirty="0">
                <a:latin typeface="Arial" charset="0"/>
              </a:rPr>
              <a:t>Client </a:t>
            </a:r>
            <a:r>
              <a:rPr lang="en-US" sz="2000" b="1" dirty="0" err="1">
                <a:latin typeface="Arial" charset="0"/>
              </a:rPr>
              <a:t>d'accès</a:t>
            </a:r>
            <a:r>
              <a:rPr lang="en-US" sz="2000" b="1" dirty="0">
                <a:latin typeface="Arial" charset="0"/>
              </a:rPr>
              <a:t> distant</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0" y="320040"/>
            <a:ext cx="9144000" cy="758952"/>
          </a:xfrm>
        </p:spPr>
        <p:txBody>
          <a:bodyPr vert="horz" anchor="b">
            <a:normAutofit fontScale="90000"/>
          </a:bodyPr>
          <a:lstStyle/>
          <a:p>
            <a:r>
              <a:rPr lang="fr-FR" dirty="0">
                <a:solidFill>
                  <a:srgbClr val="C00000"/>
                </a:solidFill>
              </a:rPr>
              <a:t>Configuration de connexions à liaisons multiples</a:t>
            </a:r>
            <a:endParaRPr lang="en-US" dirty="0">
              <a:solidFill>
                <a:srgbClr val="C00000"/>
              </a:solidFill>
            </a:endParaRPr>
          </a:p>
        </p:txBody>
      </p:sp>
      <p:sp>
        <p:nvSpPr>
          <p:cNvPr id="61444" name="Rectangle 4"/>
          <p:cNvSpPr>
            <a:spLocks noChangeArrowheads="1"/>
          </p:cNvSpPr>
          <p:nvPr/>
        </p:nvSpPr>
        <p:spPr bwMode="auto">
          <a:xfrm>
            <a:off x="182881" y="3596640"/>
            <a:ext cx="8763000" cy="2895599"/>
          </a:xfrm>
          <a:prstGeom prst="rect">
            <a:avLst/>
          </a:prstGeom>
          <a:gradFill rotWithShape="0">
            <a:gsLst>
              <a:gs pos="0">
                <a:srgbClr val="FCFEB9"/>
              </a:gs>
              <a:gs pos="100000">
                <a:srgbClr val="FFCC66"/>
              </a:gs>
            </a:gsLst>
            <a:lin ang="5400000" scaled="1"/>
          </a:gradFill>
          <a:ln w="9525">
            <a:noFill/>
            <a:miter lim="800000"/>
            <a:headEnd/>
            <a:tailEnd/>
          </a:ln>
          <a:effectLst/>
        </p:spPr>
        <p:txBody>
          <a:bodyPr wrap="none" anchor="ctr"/>
          <a:lstStyle/>
          <a:p>
            <a:endParaRPr lang="fr-FR"/>
          </a:p>
        </p:txBody>
      </p:sp>
      <p:grpSp>
        <p:nvGrpSpPr>
          <p:cNvPr id="61445" name="Group 5"/>
          <p:cNvGrpSpPr>
            <a:grpSpLocks/>
          </p:cNvGrpSpPr>
          <p:nvPr/>
        </p:nvGrpSpPr>
        <p:grpSpPr bwMode="auto">
          <a:xfrm>
            <a:off x="4305300" y="4413250"/>
            <a:ext cx="596900" cy="338138"/>
            <a:chOff x="2899" y="2529"/>
            <a:chExt cx="547" cy="309"/>
          </a:xfrm>
        </p:grpSpPr>
        <p:sp>
          <p:nvSpPr>
            <p:cNvPr id="61446" name="Freeform 6"/>
            <p:cNvSpPr>
              <a:spLocks/>
            </p:cNvSpPr>
            <p:nvPr/>
          </p:nvSpPr>
          <p:spPr bwMode="auto">
            <a:xfrm>
              <a:off x="3216" y="2606"/>
              <a:ext cx="230" cy="232"/>
            </a:xfrm>
            <a:custGeom>
              <a:avLst/>
              <a:gdLst/>
              <a:ahLst/>
              <a:cxnLst>
                <a:cxn ang="0">
                  <a:pos x="0" y="146"/>
                </a:cxn>
                <a:cxn ang="0">
                  <a:pos x="230" y="0"/>
                </a:cxn>
                <a:cxn ang="0">
                  <a:pos x="230" y="85"/>
                </a:cxn>
                <a:cxn ang="0">
                  <a:pos x="0" y="232"/>
                </a:cxn>
                <a:cxn ang="0">
                  <a:pos x="0" y="146"/>
                </a:cxn>
              </a:cxnLst>
              <a:rect l="0" t="0" r="r" b="b"/>
              <a:pathLst>
                <a:path w="230" h="232">
                  <a:moveTo>
                    <a:pt x="0" y="146"/>
                  </a:moveTo>
                  <a:lnTo>
                    <a:pt x="230" y="0"/>
                  </a:lnTo>
                  <a:lnTo>
                    <a:pt x="230" y="85"/>
                  </a:lnTo>
                  <a:lnTo>
                    <a:pt x="0" y="232"/>
                  </a:lnTo>
                  <a:lnTo>
                    <a:pt x="0" y="146"/>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61447" name="Freeform 7"/>
            <p:cNvSpPr>
              <a:spLocks/>
            </p:cNvSpPr>
            <p:nvPr/>
          </p:nvSpPr>
          <p:spPr bwMode="auto">
            <a:xfrm>
              <a:off x="2899" y="2672"/>
              <a:ext cx="318" cy="166"/>
            </a:xfrm>
            <a:custGeom>
              <a:avLst/>
              <a:gdLst/>
              <a:ahLst/>
              <a:cxnLst>
                <a:cxn ang="0">
                  <a:pos x="318" y="80"/>
                </a:cxn>
                <a:cxn ang="0">
                  <a:pos x="318" y="166"/>
                </a:cxn>
                <a:cxn ang="0">
                  <a:pos x="0" y="85"/>
                </a:cxn>
                <a:cxn ang="0">
                  <a:pos x="0" y="0"/>
                </a:cxn>
              </a:cxnLst>
              <a:rect l="0" t="0" r="r" b="b"/>
              <a:pathLst>
                <a:path w="318" h="166">
                  <a:moveTo>
                    <a:pt x="318" y="80"/>
                  </a:moveTo>
                  <a:lnTo>
                    <a:pt x="318" y="166"/>
                  </a:lnTo>
                  <a:lnTo>
                    <a:pt x="0" y="85"/>
                  </a:lnTo>
                  <a:lnTo>
                    <a:pt x="0" y="0"/>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61448" name="Oval 8"/>
            <p:cNvSpPr>
              <a:spLocks noChangeArrowheads="1"/>
            </p:cNvSpPr>
            <p:nvPr/>
          </p:nvSpPr>
          <p:spPr bwMode="auto">
            <a:xfrm>
              <a:off x="2993" y="2724"/>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449" name="Oval 9"/>
            <p:cNvSpPr>
              <a:spLocks noChangeArrowheads="1"/>
            </p:cNvSpPr>
            <p:nvPr/>
          </p:nvSpPr>
          <p:spPr bwMode="auto">
            <a:xfrm>
              <a:off x="3044" y="2739"/>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450" name="Oval 10"/>
            <p:cNvSpPr>
              <a:spLocks noChangeArrowheads="1"/>
            </p:cNvSpPr>
            <p:nvPr/>
          </p:nvSpPr>
          <p:spPr bwMode="auto">
            <a:xfrm>
              <a:off x="3099" y="2751"/>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451" name="Oval 11"/>
            <p:cNvSpPr>
              <a:spLocks noChangeArrowheads="1"/>
            </p:cNvSpPr>
            <p:nvPr/>
          </p:nvSpPr>
          <p:spPr bwMode="auto">
            <a:xfrm>
              <a:off x="3149" y="2768"/>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452" name="Freeform 12"/>
            <p:cNvSpPr>
              <a:spLocks/>
            </p:cNvSpPr>
            <p:nvPr/>
          </p:nvSpPr>
          <p:spPr bwMode="auto">
            <a:xfrm>
              <a:off x="2899" y="2529"/>
              <a:ext cx="547" cy="224"/>
            </a:xfrm>
            <a:custGeom>
              <a:avLst/>
              <a:gdLst/>
              <a:ahLst/>
              <a:cxnLst>
                <a:cxn ang="0">
                  <a:pos x="0" y="141"/>
                </a:cxn>
                <a:cxn ang="0">
                  <a:pos x="230" y="0"/>
                </a:cxn>
                <a:cxn ang="0">
                  <a:pos x="547" y="78"/>
                </a:cxn>
                <a:cxn ang="0">
                  <a:pos x="318" y="224"/>
                </a:cxn>
                <a:cxn ang="0">
                  <a:pos x="2" y="146"/>
                </a:cxn>
              </a:cxnLst>
              <a:rect l="0" t="0" r="r" b="b"/>
              <a:pathLst>
                <a:path w="547" h="224">
                  <a:moveTo>
                    <a:pt x="0" y="141"/>
                  </a:moveTo>
                  <a:lnTo>
                    <a:pt x="230" y="0"/>
                  </a:lnTo>
                  <a:lnTo>
                    <a:pt x="547" y="78"/>
                  </a:lnTo>
                  <a:lnTo>
                    <a:pt x="318" y="224"/>
                  </a:lnTo>
                  <a:lnTo>
                    <a:pt x="2" y="146"/>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grpSp>
      <p:grpSp>
        <p:nvGrpSpPr>
          <p:cNvPr id="61453" name="Group 13"/>
          <p:cNvGrpSpPr>
            <a:grpSpLocks/>
          </p:cNvGrpSpPr>
          <p:nvPr/>
        </p:nvGrpSpPr>
        <p:grpSpPr bwMode="auto">
          <a:xfrm>
            <a:off x="4305300" y="4146550"/>
            <a:ext cx="596900" cy="338138"/>
            <a:chOff x="2899" y="2529"/>
            <a:chExt cx="547" cy="309"/>
          </a:xfrm>
        </p:grpSpPr>
        <p:sp>
          <p:nvSpPr>
            <p:cNvPr id="61454" name="Freeform 14"/>
            <p:cNvSpPr>
              <a:spLocks/>
            </p:cNvSpPr>
            <p:nvPr/>
          </p:nvSpPr>
          <p:spPr bwMode="auto">
            <a:xfrm>
              <a:off x="3216" y="2606"/>
              <a:ext cx="230" cy="232"/>
            </a:xfrm>
            <a:custGeom>
              <a:avLst/>
              <a:gdLst/>
              <a:ahLst/>
              <a:cxnLst>
                <a:cxn ang="0">
                  <a:pos x="0" y="146"/>
                </a:cxn>
                <a:cxn ang="0">
                  <a:pos x="230" y="0"/>
                </a:cxn>
                <a:cxn ang="0">
                  <a:pos x="230" y="85"/>
                </a:cxn>
                <a:cxn ang="0">
                  <a:pos x="0" y="232"/>
                </a:cxn>
                <a:cxn ang="0">
                  <a:pos x="0" y="146"/>
                </a:cxn>
              </a:cxnLst>
              <a:rect l="0" t="0" r="r" b="b"/>
              <a:pathLst>
                <a:path w="230" h="232">
                  <a:moveTo>
                    <a:pt x="0" y="146"/>
                  </a:moveTo>
                  <a:lnTo>
                    <a:pt x="230" y="0"/>
                  </a:lnTo>
                  <a:lnTo>
                    <a:pt x="230" y="85"/>
                  </a:lnTo>
                  <a:lnTo>
                    <a:pt x="0" y="232"/>
                  </a:lnTo>
                  <a:lnTo>
                    <a:pt x="0" y="146"/>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61455" name="Freeform 15"/>
            <p:cNvSpPr>
              <a:spLocks/>
            </p:cNvSpPr>
            <p:nvPr/>
          </p:nvSpPr>
          <p:spPr bwMode="auto">
            <a:xfrm>
              <a:off x="2899" y="2672"/>
              <a:ext cx="318" cy="166"/>
            </a:xfrm>
            <a:custGeom>
              <a:avLst/>
              <a:gdLst/>
              <a:ahLst/>
              <a:cxnLst>
                <a:cxn ang="0">
                  <a:pos x="318" y="80"/>
                </a:cxn>
                <a:cxn ang="0">
                  <a:pos x="318" y="166"/>
                </a:cxn>
                <a:cxn ang="0">
                  <a:pos x="0" y="85"/>
                </a:cxn>
                <a:cxn ang="0">
                  <a:pos x="0" y="0"/>
                </a:cxn>
              </a:cxnLst>
              <a:rect l="0" t="0" r="r" b="b"/>
              <a:pathLst>
                <a:path w="318" h="166">
                  <a:moveTo>
                    <a:pt x="318" y="80"/>
                  </a:moveTo>
                  <a:lnTo>
                    <a:pt x="318" y="166"/>
                  </a:lnTo>
                  <a:lnTo>
                    <a:pt x="0" y="85"/>
                  </a:lnTo>
                  <a:lnTo>
                    <a:pt x="0" y="0"/>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61456" name="Oval 16"/>
            <p:cNvSpPr>
              <a:spLocks noChangeArrowheads="1"/>
            </p:cNvSpPr>
            <p:nvPr/>
          </p:nvSpPr>
          <p:spPr bwMode="auto">
            <a:xfrm>
              <a:off x="2993" y="2724"/>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457" name="Oval 17"/>
            <p:cNvSpPr>
              <a:spLocks noChangeArrowheads="1"/>
            </p:cNvSpPr>
            <p:nvPr/>
          </p:nvSpPr>
          <p:spPr bwMode="auto">
            <a:xfrm>
              <a:off x="3044" y="2739"/>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458" name="Oval 18"/>
            <p:cNvSpPr>
              <a:spLocks noChangeArrowheads="1"/>
            </p:cNvSpPr>
            <p:nvPr/>
          </p:nvSpPr>
          <p:spPr bwMode="auto">
            <a:xfrm>
              <a:off x="3099" y="2751"/>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459" name="Oval 19"/>
            <p:cNvSpPr>
              <a:spLocks noChangeArrowheads="1"/>
            </p:cNvSpPr>
            <p:nvPr/>
          </p:nvSpPr>
          <p:spPr bwMode="auto">
            <a:xfrm>
              <a:off x="3149" y="2768"/>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460" name="Freeform 20"/>
            <p:cNvSpPr>
              <a:spLocks/>
            </p:cNvSpPr>
            <p:nvPr/>
          </p:nvSpPr>
          <p:spPr bwMode="auto">
            <a:xfrm>
              <a:off x="2899" y="2529"/>
              <a:ext cx="547" cy="224"/>
            </a:xfrm>
            <a:custGeom>
              <a:avLst/>
              <a:gdLst/>
              <a:ahLst/>
              <a:cxnLst>
                <a:cxn ang="0">
                  <a:pos x="0" y="141"/>
                </a:cxn>
                <a:cxn ang="0">
                  <a:pos x="230" y="0"/>
                </a:cxn>
                <a:cxn ang="0">
                  <a:pos x="547" y="78"/>
                </a:cxn>
                <a:cxn ang="0">
                  <a:pos x="318" y="224"/>
                </a:cxn>
                <a:cxn ang="0">
                  <a:pos x="2" y="146"/>
                </a:cxn>
              </a:cxnLst>
              <a:rect l="0" t="0" r="r" b="b"/>
              <a:pathLst>
                <a:path w="547" h="224">
                  <a:moveTo>
                    <a:pt x="0" y="141"/>
                  </a:moveTo>
                  <a:lnTo>
                    <a:pt x="230" y="0"/>
                  </a:lnTo>
                  <a:lnTo>
                    <a:pt x="547" y="78"/>
                  </a:lnTo>
                  <a:lnTo>
                    <a:pt x="318" y="224"/>
                  </a:lnTo>
                  <a:lnTo>
                    <a:pt x="2" y="146"/>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grpSp>
      <p:grpSp>
        <p:nvGrpSpPr>
          <p:cNvPr id="61461" name="Group 21"/>
          <p:cNvGrpSpPr>
            <a:grpSpLocks/>
          </p:cNvGrpSpPr>
          <p:nvPr/>
        </p:nvGrpSpPr>
        <p:grpSpPr bwMode="auto">
          <a:xfrm>
            <a:off x="4305300" y="4729163"/>
            <a:ext cx="596900" cy="338137"/>
            <a:chOff x="2899" y="2529"/>
            <a:chExt cx="547" cy="309"/>
          </a:xfrm>
        </p:grpSpPr>
        <p:sp>
          <p:nvSpPr>
            <p:cNvPr id="61462" name="Freeform 22"/>
            <p:cNvSpPr>
              <a:spLocks/>
            </p:cNvSpPr>
            <p:nvPr/>
          </p:nvSpPr>
          <p:spPr bwMode="auto">
            <a:xfrm>
              <a:off x="3216" y="2606"/>
              <a:ext cx="230" cy="232"/>
            </a:xfrm>
            <a:custGeom>
              <a:avLst/>
              <a:gdLst/>
              <a:ahLst/>
              <a:cxnLst>
                <a:cxn ang="0">
                  <a:pos x="0" y="146"/>
                </a:cxn>
                <a:cxn ang="0">
                  <a:pos x="230" y="0"/>
                </a:cxn>
                <a:cxn ang="0">
                  <a:pos x="230" y="85"/>
                </a:cxn>
                <a:cxn ang="0">
                  <a:pos x="0" y="232"/>
                </a:cxn>
                <a:cxn ang="0">
                  <a:pos x="0" y="146"/>
                </a:cxn>
              </a:cxnLst>
              <a:rect l="0" t="0" r="r" b="b"/>
              <a:pathLst>
                <a:path w="230" h="232">
                  <a:moveTo>
                    <a:pt x="0" y="146"/>
                  </a:moveTo>
                  <a:lnTo>
                    <a:pt x="230" y="0"/>
                  </a:lnTo>
                  <a:lnTo>
                    <a:pt x="230" y="85"/>
                  </a:lnTo>
                  <a:lnTo>
                    <a:pt x="0" y="232"/>
                  </a:lnTo>
                  <a:lnTo>
                    <a:pt x="0" y="146"/>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61463" name="Freeform 23"/>
            <p:cNvSpPr>
              <a:spLocks/>
            </p:cNvSpPr>
            <p:nvPr/>
          </p:nvSpPr>
          <p:spPr bwMode="auto">
            <a:xfrm>
              <a:off x="2899" y="2672"/>
              <a:ext cx="318" cy="166"/>
            </a:xfrm>
            <a:custGeom>
              <a:avLst/>
              <a:gdLst/>
              <a:ahLst/>
              <a:cxnLst>
                <a:cxn ang="0">
                  <a:pos x="318" y="80"/>
                </a:cxn>
                <a:cxn ang="0">
                  <a:pos x="318" y="166"/>
                </a:cxn>
                <a:cxn ang="0">
                  <a:pos x="0" y="85"/>
                </a:cxn>
                <a:cxn ang="0">
                  <a:pos x="0" y="0"/>
                </a:cxn>
              </a:cxnLst>
              <a:rect l="0" t="0" r="r" b="b"/>
              <a:pathLst>
                <a:path w="318" h="166">
                  <a:moveTo>
                    <a:pt x="318" y="80"/>
                  </a:moveTo>
                  <a:lnTo>
                    <a:pt x="318" y="166"/>
                  </a:lnTo>
                  <a:lnTo>
                    <a:pt x="0" y="85"/>
                  </a:lnTo>
                  <a:lnTo>
                    <a:pt x="0" y="0"/>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61464" name="Oval 24"/>
            <p:cNvSpPr>
              <a:spLocks noChangeArrowheads="1"/>
            </p:cNvSpPr>
            <p:nvPr/>
          </p:nvSpPr>
          <p:spPr bwMode="auto">
            <a:xfrm>
              <a:off x="2993" y="2724"/>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465" name="Oval 25"/>
            <p:cNvSpPr>
              <a:spLocks noChangeArrowheads="1"/>
            </p:cNvSpPr>
            <p:nvPr/>
          </p:nvSpPr>
          <p:spPr bwMode="auto">
            <a:xfrm>
              <a:off x="3044" y="2739"/>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466" name="Oval 26"/>
            <p:cNvSpPr>
              <a:spLocks noChangeArrowheads="1"/>
            </p:cNvSpPr>
            <p:nvPr/>
          </p:nvSpPr>
          <p:spPr bwMode="auto">
            <a:xfrm>
              <a:off x="3099" y="2751"/>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467" name="Oval 27"/>
            <p:cNvSpPr>
              <a:spLocks noChangeArrowheads="1"/>
            </p:cNvSpPr>
            <p:nvPr/>
          </p:nvSpPr>
          <p:spPr bwMode="auto">
            <a:xfrm>
              <a:off x="3149" y="2768"/>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468" name="Freeform 28"/>
            <p:cNvSpPr>
              <a:spLocks/>
            </p:cNvSpPr>
            <p:nvPr/>
          </p:nvSpPr>
          <p:spPr bwMode="auto">
            <a:xfrm>
              <a:off x="2899" y="2529"/>
              <a:ext cx="547" cy="224"/>
            </a:xfrm>
            <a:custGeom>
              <a:avLst/>
              <a:gdLst/>
              <a:ahLst/>
              <a:cxnLst>
                <a:cxn ang="0">
                  <a:pos x="0" y="141"/>
                </a:cxn>
                <a:cxn ang="0">
                  <a:pos x="230" y="0"/>
                </a:cxn>
                <a:cxn ang="0">
                  <a:pos x="547" y="78"/>
                </a:cxn>
                <a:cxn ang="0">
                  <a:pos x="318" y="224"/>
                </a:cxn>
                <a:cxn ang="0">
                  <a:pos x="2" y="146"/>
                </a:cxn>
              </a:cxnLst>
              <a:rect l="0" t="0" r="r" b="b"/>
              <a:pathLst>
                <a:path w="547" h="224">
                  <a:moveTo>
                    <a:pt x="0" y="141"/>
                  </a:moveTo>
                  <a:lnTo>
                    <a:pt x="230" y="0"/>
                  </a:lnTo>
                  <a:lnTo>
                    <a:pt x="547" y="78"/>
                  </a:lnTo>
                  <a:lnTo>
                    <a:pt x="318" y="224"/>
                  </a:lnTo>
                  <a:lnTo>
                    <a:pt x="2" y="146"/>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grpSp>
      <p:grpSp>
        <p:nvGrpSpPr>
          <p:cNvPr id="61469" name="Group 29"/>
          <p:cNvGrpSpPr>
            <a:grpSpLocks/>
          </p:cNvGrpSpPr>
          <p:nvPr/>
        </p:nvGrpSpPr>
        <p:grpSpPr bwMode="auto">
          <a:xfrm>
            <a:off x="4305300" y="5046663"/>
            <a:ext cx="596900" cy="338137"/>
            <a:chOff x="285" y="3268"/>
            <a:chExt cx="376" cy="213"/>
          </a:xfrm>
        </p:grpSpPr>
        <p:sp>
          <p:nvSpPr>
            <p:cNvPr id="61470" name="Freeform 30"/>
            <p:cNvSpPr>
              <a:spLocks/>
            </p:cNvSpPr>
            <p:nvPr/>
          </p:nvSpPr>
          <p:spPr bwMode="auto">
            <a:xfrm>
              <a:off x="503" y="3321"/>
              <a:ext cx="158" cy="160"/>
            </a:xfrm>
            <a:custGeom>
              <a:avLst/>
              <a:gdLst/>
              <a:ahLst/>
              <a:cxnLst>
                <a:cxn ang="0">
                  <a:pos x="0" y="146"/>
                </a:cxn>
                <a:cxn ang="0">
                  <a:pos x="230" y="0"/>
                </a:cxn>
                <a:cxn ang="0">
                  <a:pos x="230" y="85"/>
                </a:cxn>
                <a:cxn ang="0">
                  <a:pos x="0" y="232"/>
                </a:cxn>
                <a:cxn ang="0">
                  <a:pos x="0" y="146"/>
                </a:cxn>
              </a:cxnLst>
              <a:rect l="0" t="0" r="r" b="b"/>
              <a:pathLst>
                <a:path w="230" h="232">
                  <a:moveTo>
                    <a:pt x="0" y="146"/>
                  </a:moveTo>
                  <a:lnTo>
                    <a:pt x="230" y="0"/>
                  </a:lnTo>
                  <a:lnTo>
                    <a:pt x="230" y="85"/>
                  </a:lnTo>
                  <a:lnTo>
                    <a:pt x="0" y="232"/>
                  </a:lnTo>
                  <a:lnTo>
                    <a:pt x="0" y="146"/>
                  </a:lnTo>
                </a:path>
              </a:pathLst>
            </a:custGeom>
            <a:gradFill rotWithShape="0">
              <a:gsLst>
                <a:gs pos="0">
                  <a:srgbClr val="CC0099">
                    <a:gamma/>
                    <a:tint val="22745"/>
                    <a:invGamma/>
                  </a:srgbClr>
                </a:gs>
                <a:gs pos="100000">
                  <a:srgbClr val="CC0099"/>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61471" name="Freeform 31"/>
            <p:cNvSpPr>
              <a:spLocks/>
            </p:cNvSpPr>
            <p:nvPr/>
          </p:nvSpPr>
          <p:spPr bwMode="auto">
            <a:xfrm>
              <a:off x="285" y="3367"/>
              <a:ext cx="219" cy="114"/>
            </a:xfrm>
            <a:custGeom>
              <a:avLst/>
              <a:gdLst/>
              <a:ahLst/>
              <a:cxnLst>
                <a:cxn ang="0">
                  <a:pos x="318" y="80"/>
                </a:cxn>
                <a:cxn ang="0">
                  <a:pos x="318" y="166"/>
                </a:cxn>
                <a:cxn ang="0">
                  <a:pos x="0" y="85"/>
                </a:cxn>
                <a:cxn ang="0">
                  <a:pos x="0" y="0"/>
                </a:cxn>
              </a:cxnLst>
              <a:rect l="0" t="0" r="r" b="b"/>
              <a:pathLst>
                <a:path w="318" h="166">
                  <a:moveTo>
                    <a:pt x="318" y="80"/>
                  </a:moveTo>
                  <a:lnTo>
                    <a:pt x="318" y="166"/>
                  </a:lnTo>
                  <a:lnTo>
                    <a:pt x="0" y="85"/>
                  </a:lnTo>
                  <a:lnTo>
                    <a:pt x="0" y="0"/>
                  </a:lnTo>
                </a:path>
              </a:pathLst>
            </a:custGeom>
            <a:gradFill rotWithShape="0">
              <a:gsLst>
                <a:gs pos="0">
                  <a:srgbClr val="CC0099">
                    <a:gamma/>
                    <a:tint val="22745"/>
                    <a:invGamma/>
                  </a:srgbClr>
                </a:gs>
                <a:gs pos="100000">
                  <a:srgbClr val="CC0099"/>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61472" name="Oval 32"/>
            <p:cNvSpPr>
              <a:spLocks noChangeArrowheads="1"/>
            </p:cNvSpPr>
            <p:nvPr/>
          </p:nvSpPr>
          <p:spPr bwMode="auto">
            <a:xfrm>
              <a:off x="350" y="3402"/>
              <a:ext cx="24" cy="25"/>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473" name="Oval 33"/>
            <p:cNvSpPr>
              <a:spLocks noChangeArrowheads="1"/>
            </p:cNvSpPr>
            <p:nvPr/>
          </p:nvSpPr>
          <p:spPr bwMode="auto">
            <a:xfrm>
              <a:off x="385" y="3413"/>
              <a:ext cx="24" cy="25"/>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474" name="Oval 34"/>
            <p:cNvSpPr>
              <a:spLocks noChangeArrowheads="1"/>
            </p:cNvSpPr>
            <p:nvPr/>
          </p:nvSpPr>
          <p:spPr bwMode="auto">
            <a:xfrm>
              <a:off x="422" y="3421"/>
              <a:ext cx="25" cy="25"/>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475" name="Oval 35"/>
            <p:cNvSpPr>
              <a:spLocks noChangeArrowheads="1"/>
            </p:cNvSpPr>
            <p:nvPr/>
          </p:nvSpPr>
          <p:spPr bwMode="auto">
            <a:xfrm>
              <a:off x="457" y="3433"/>
              <a:ext cx="25" cy="25"/>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476" name="Freeform 36"/>
            <p:cNvSpPr>
              <a:spLocks/>
            </p:cNvSpPr>
            <p:nvPr/>
          </p:nvSpPr>
          <p:spPr bwMode="auto">
            <a:xfrm>
              <a:off x="285" y="3268"/>
              <a:ext cx="376" cy="154"/>
            </a:xfrm>
            <a:custGeom>
              <a:avLst/>
              <a:gdLst/>
              <a:ahLst/>
              <a:cxnLst>
                <a:cxn ang="0">
                  <a:pos x="0" y="141"/>
                </a:cxn>
                <a:cxn ang="0">
                  <a:pos x="230" y="0"/>
                </a:cxn>
                <a:cxn ang="0">
                  <a:pos x="547" y="78"/>
                </a:cxn>
                <a:cxn ang="0">
                  <a:pos x="318" y="224"/>
                </a:cxn>
                <a:cxn ang="0">
                  <a:pos x="2" y="146"/>
                </a:cxn>
              </a:cxnLst>
              <a:rect l="0" t="0" r="r" b="b"/>
              <a:pathLst>
                <a:path w="547" h="224">
                  <a:moveTo>
                    <a:pt x="0" y="141"/>
                  </a:moveTo>
                  <a:lnTo>
                    <a:pt x="230" y="0"/>
                  </a:lnTo>
                  <a:lnTo>
                    <a:pt x="547" y="78"/>
                  </a:lnTo>
                  <a:lnTo>
                    <a:pt x="318" y="224"/>
                  </a:lnTo>
                  <a:lnTo>
                    <a:pt x="2" y="146"/>
                  </a:lnTo>
                </a:path>
              </a:pathLst>
            </a:custGeom>
            <a:gradFill rotWithShape="0">
              <a:gsLst>
                <a:gs pos="0">
                  <a:srgbClr val="CC0099">
                    <a:gamma/>
                    <a:tint val="22745"/>
                    <a:invGamma/>
                  </a:srgbClr>
                </a:gs>
                <a:gs pos="100000">
                  <a:srgbClr val="CC0099"/>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grpSp>
      <p:sp>
        <p:nvSpPr>
          <p:cNvPr id="61477" name="Rectangle 37"/>
          <p:cNvSpPr>
            <a:spLocks noChangeArrowheads="1"/>
          </p:cNvSpPr>
          <p:nvPr/>
        </p:nvSpPr>
        <p:spPr bwMode="auto">
          <a:xfrm>
            <a:off x="182880" y="1051560"/>
            <a:ext cx="8778240" cy="2454275"/>
          </a:xfrm>
          <a:prstGeom prst="rect">
            <a:avLst/>
          </a:prstGeom>
          <a:gradFill rotWithShape="0">
            <a:gsLst>
              <a:gs pos="0">
                <a:srgbClr val="FCFEB9"/>
              </a:gs>
              <a:gs pos="100000">
                <a:srgbClr val="FFCC66"/>
              </a:gs>
            </a:gsLst>
            <a:lin ang="5400000" scaled="1"/>
          </a:gradFill>
          <a:ln w="9525">
            <a:noFill/>
            <a:miter lim="800000"/>
            <a:headEnd/>
            <a:tailEnd/>
          </a:ln>
          <a:effectLst/>
        </p:spPr>
        <p:txBody>
          <a:bodyPr wrap="none" anchor="ctr"/>
          <a:lstStyle/>
          <a:p>
            <a:endParaRPr lang="fr-FR"/>
          </a:p>
        </p:txBody>
      </p:sp>
      <p:grpSp>
        <p:nvGrpSpPr>
          <p:cNvPr id="61478" name="Group 38"/>
          <p:cNvGrpSpPr>
            <a:grpSpLocks/>
          </p:cNvGrpSpPr>
          <p:nvPr/>
        </p:nvGrpSpPr>
        <p:grpSpPr bwMode="auto">
          <a:xfrm>
            <a:off x="4292600" y="1910715"/>
            <a:ext cx="596900" cy="338138"/>
            <a:chOff x="2899" y="2529"/>
            <a:chExt cx="547" cy="309"/>
          </a:xfrm>
        </p:grpSpPr>
        <p:sp>
          <p:nvSpPr>
            <p:cNvPr id="61479" name="Freeform 39"/>
            <p:cNvSpPr>
              <a:spLocks/>
            </p:cNvSpPr>
            <p:nvPr/>
          </p:nvSpPr>
          <p:spPr bwMode="auto">
            <a:xfrm>
              <a:off x="3216" y="2606"/>
              <a:ext cx="230" cy="232"/>
            </a:xfrm>
            <a:custGeom>
              <a:avLst/>
              <a:gdLst/>
              <a:ahLst/>
              <a:cxnLst>
                <a:cxn ang="0">
                  <a:pos x="0" y="146"/>
                </a:cxn>
                <a:cxn ang="0">
                  <a:pos x="230" y="0"/>
                </a:cxn>
                <a:cxn ang="0">
                  <a:pos x="230" y="85"/>
                </a:cxn>
                <a:cxn ang="0">
                  <a:pos x="0" y="232"/>
                </a:cxn>
                <a:cxn ang="0">
                  <a:pos x="0" y="146"/>
                </a:cxn>
              </a:cxnLst>
              <a:rect l="0" t="0" r="r" b="b"/>
              <a:pathLst>
                <a:path w="230" h="232">
                  <a:moveTo>
                    <a:pt x="0" y="146"/>
                  </a:moveTo>
                  <a:lnTo>
                    <a:pt x="230" y="0"/>
                  </a:lnTo>
                  <a:lnTo>
                    <a:pt x="230" y="85"/>
                  </a:lnTo>
                  <a:lnTo>
                    <a:pt x="0" y="232"/>
                  </a:lnTo>
                  <a:lnTo>
                    <a:pt x="0" y="146"/>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61480" name="Freeform 40"/>
            <p:cNvSpPr>
              <a:spLocks/>
            </p:cNvSpPr>
            <p:nvPr/>
          </p:nvSpPr>
          <p:spPr bwMode="auto">
            <a:xfrm>
              <a:off x="2899" y="2672"/>
              <a:ext cx="318" cy="166"/>
            </a:xfrm>
            <a:custGeom>
              <a:avLst/>
              <a:gdLst/>
              <a:ahLst/>
              <a:cxnLst>
                <a:cxn ang="0">
                  <a:pos x="318" y="80"/>
                </a:cxn>
                <a:cxn ang="0">
                  <a:pos x="318" y="166"/>
                </a:cxn>
                <a:cxn ang="0">
                  <a:pos x="0" y="85"/>
                </a:cxn>
                <a:cxn ang="0">
                  <a:pos x="0" y="0"/>
                </a:cxn>
              </a:cxnLst>
              <a:rect l="0" t="0" r="r" b="b"/>
              <a:pathLst>
                <a:path w="318" h="166">
                  <a:moveTo>
                    <a:pt x="318" y="80"/>
                  </a:moveTo>
                  <a:lnTo>
                    <a:pt x="318" y="166"/>
                  </a:lnTo>
                  <a:lnTo>
                    <a:pt x="0" y="85"/>
                  </a:lnTo>
                  <a:lnTo>
                    <a:pt x="0" y="0"/>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61481" name="Oval 41"/>
            <p:cNvSpPr>
              <a:spLocks noChangeArrowheads="1"/>
            </p:cNvSpPr>
            <p:nvPr/>
          </p:nvSpPr>
          <p:spPr bwMode="auto">
            <a:xfrm>
              <a:off x="2993" y="2724"/>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482" name="Oval 42"/>
            <p:cNvSpPr>
              <a:spLocks noChangeArrowheads="1"/>
            </p:cNvSpPr>
            <p:nvPr/>
          </p:nvSpPr>
          <p:spPr bwMode="auto">
            <a:xfrm>
              <a:off x="3044" y="2739"/>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483" name="Oval 43"/>
            <p:cNvSpPr>
              <a:spLocks noChangeArrowheads="1"/>
            </p:cNvSpPr>
            <p:nvPr/>
          </p:nvSpPr>
          <p:spPr bwMode="auto">
            <a:xfrm>
              <a:off x="3099" y="2751"/>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484" name="Oval 44"/>
            <p:cNvSpPr>
              <a:spLocks noChangeArrowheads="1"/>
            </p:cNvSpPr>
            <p:nvPr/>
          </p:nvSpPr>
          <p:spPr bwMode="auto">
            <a:xfrm>
              <a:off x="3149" y="2768"/>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485" name="Freeform 45"/>
            <p:cNvSpPr>
              <a:spLocks/>
            </p:cNvSpPr>
            <p:nvPr/>
          </p:nvSpPr>
          <p:spPr bwMode="auto">
            <a:xfrm>
              <a:off x="2899" y="2529"/>
              <a:ext cx="547" cy="224"/>
            </a:xfrm>
            <a:custGeom>
              <a:avLst/>
              <a:gdLst/>
              <a:ahLst/>
              <a:cxnLst>
                <a:cxn ang="0">
                  <a:pos x="0" y="141"/>
                </a:cxn>
                <a:cxn ang="0">
                  <a:pos x="230" y="0"/>
                </a:cxn>
                <a:cxn ang="0">
                  <a:pos x="547" y="78"/>
                </a:cxn>
                <a:cxn ang="0">
                  <a:pos x="318" y="224"/>
                </a:cxn>
                <a:cxn ang="0">
                  <a:pos x="2" y="146"/>
                </a:cxn>
              </a:cxnLst>
              <a:rect l="0" t="0" r="r" b="b"/>
              <a:pathLst>
                <a:path w="547" h="224">
                  <a:moveTo>
                    <a:pt x="0" y="141"/>
                  </a:moveTo>
                  <a:lnTo>
                    <a:pt x="230" y="0"/>
                  </a:lnTo>
                  <a:lnTo>
                    <a:pt x="547" y="78"/>
                  </a:lnTo>
                  <a:lnTo>
                    <a:pt x="318" y="224"/>
                  </a:lnTo>
                  <a:lnTo>
                    <a:pt x="2" y="146"/>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grpSp>
      <p:grpSp>
        <p:nvGrpSpPr>
          <p:cNvPr id="61486" name="Group 46"/>
          <p:cNvGrpSpPr>
            <a:grpSpLocks/>
          </p:cNvGrpSpPr>
          <p:nvPr/>
        </p:nvGrpSpPr>
        <p:grpSpPr bwMode="auto">
          <a:xfrm>
            <a:off x="4292600" y="1644015"/>
            <a:ext cx="596900" cy="338138"/>
            <a:chOff x="2899" y="2529"/>
            <a:chExt cx="547" cy="309"/>
          </a:xfrm>
        </p:grpSpPr>
        <p:sp>
          <p:nvSpPr>
            <p:cNvPr id="61487" name="Freeform 47"/>
            <p:cNvSpPr>
              <a:spLocks/>
            </p:cNvSpPr>
            <p:nvPr/>
          </p:nvSpPr>
          <p:spPr bwMode="auto">
            <a:xfrm>
              <a:off x="3216" y="2606"/>
              <a:ext cx="230" cy="232"/>
            </a:xfrm>
            <a:custGeom>
              <a:avLst/>
              <a:gdLst/>
              <a:ahLst/>
              <a:cxnLst>
                <a:cxn ang="0">
                  <a:pos x="0" y="146"/>
                </a:cxn>
                <a:cxn ang="0">
                  <a:pos x="230" y="0"/>
                </a:cxn>
                <a:cxn ang="0">
                  <a:pos x="230" y="85"/>
                </a:cxn>
                <a:cxn ang="0">
                  <a:pos x="0" y="232"/>
                </a:cxn>
                <a:cxn ang="0">
                  <a:pos x="0" y="146"/>
                </a:cxn>
              </a:cxnLst>
              <a:rect l="0" t="0" r="r" b="b"/>
              <a:pathLst>
                <a:path w="230" h="232">
                  <a:moveTo>
                    <a:pt x="0" y="146"/>
                  </a:moveTo>
                  <a:lnTo>
                    <a:pt x="230" y="0"/>
                  </a:lnTo>
                  <a:lnTo>
                    <a:pt x="230" y="85"/>
                  </a:lnTo>
                  <a:lnTo>
                    <a:pt x="0" y="232"/>
                  </a:lnTo>
                  <a:lnTo>
                    <a:pt x="0" y="146"/>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61488" name="Freeform 48"/>
            <p:cNvSpPr>
              <a:spLocks/>
            </p:cNvSpPr>
            <p:nvPr/>
          </p:nvSpPr>
          <p:spPr bwMode="auto">
            <a:xfrm>
              <a:off x="2899" y="2672"/>
              <a:ext cx="318" cy="166"/>
            </a:xfrm>
            <a:custGeom>
              <a:avLst/>
              <a:gdLst/>
              <a:ahLst/>
              <a:cxnLst>
                <a:cxn ang="0">
                  <a:pos x="318" y="80"/>
                </a:cxn>
                <a:cxn ang="0">
                  <a:pos x="318" y="166"/>
                </a:cxn>
                <a:cxn ang="0">
                  <a:pos x="0" y="85"/>
                </a:cxn>
                <a:cxn ang="0">
                  <a:pos x="0" y="0"/>
                </a:cxn>
              </a:cxnLst>
              <a:rect l="0" t="0" r="r" b="b"/>
              <a:pathLst>
                <a:path w="318" h="166">
                  <a:moveTo>
                    <a:pt x="318" y="80"/>
                  </a:moveTo>
                  <a:lnTo>
                    <a:pt x="318" y="166"/>
                  </a:lnTo>
                  <a:lnTo>
                    <a:pt x="0" y="85"/>
                  </a:lnTo>
                  <a:lnTo>
                    <a:pt x="0" y="0"/>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61489" name="Oval 49"/>
            <p:cNvSpPr>
              <a:spLocks noChangeArrowheads="1"/>
            </p:cNvSpPr>
            <p:nvPr/>
          </p:nvSpPr>
          <p:spPr bwMode="auto">
            <a:xfrm>
              <a:off x="2993" y="2724"/>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490" name="Oval 50"/>
            <p:cNvSpPr>
              <a:spLocks noChangeArrowheads="1"/>
            </p:cNvSpPr>
            <p:nvPr/>
          </p:nvSpPr>
          <p:spPr bwMode="auto">
            <a:xfrm>
              <a:off x="3044" y="2739"/>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491" name="Oval 51"/>
            <p:cNvSpPr>
              <a:spLocks noChangeArrowheads="1"/>
            </p:cNvSpPr>
            <p:nvPr/>
          </p:nvSpPr>
          <p:spPr bwMode="auto">
            <a:xfrm>
              <a:off x="3099" y="2751"/>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492" name="Oval 52"/>
            <p:cNvSpPr>
              <a:spLocks noChangeArrowheads="1"/>
            </p:cNvSpPr>
            <p:nvPr/>
          </p:nvSpPr>
          <p:spPr bwMode="auto">
            <a:xfrm>
              <a:off x="3149" y="2768"/>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493" name="Freeform 53"/>
            <p:cNvSpPr>
              <a:spLocks/>
            </p:cNvSpPr>
            <p:nvPr/>
          </p:nvSpPr>
          <p:spPr bwMode="auto">
            <a:xfrm>
              <a:off x="2899" y="2529"/>
              <a:ext cx="547" cy="224"/>
            </a:xfrm>
            <a:custGeom>
              <a:avLst/>
              <a:gdLst/>
              <a:ahLst/>
              <a:cxnLst>
                <a:cxn ang="0">
                  <a:pos x="0" y="141"/>
                </a:cxn>
                <a:cxn ang="0">
                  <a:pos x="230" y="0"/>
                </a:cxn>
                <a:cxn ang="0">
                  <a:pos x="547" y="78"/>
                </a:cxn>
                <a:cxn ang="0">
                  <a:pos x="318" y="224"/>
                </a:cxn>
                <a:cxn ang="0">
                  <a:pos x="2" y="146"/>
                </a:cxn>
              </a:cxnLst>
              <a:rect l="0" t="0" r="r" b="b"/>
              <a:pathLst>
                <a:path w="547" h="224">
                  <a:moveTo>
                    <a:pt x="0" y="141"/>
                  </a:moveTo>
                  <a:lnTo>
                    <a:pt x="230" y="0"/>
                  </a:lnTo>
                  <a:lnTo>
                    <a:pt x="547" y="78"/>
                  </a:lnTo>
                  <a:lnTo>
                    <a:pt x="318" y="224"/>
                  </a:lnTo>
                  <a:lnTo>
                    <a:pt x="2" y="146"/>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grpSp>
      <p:grpSp>
        <p:nvGrpSpPr>
          <p:cNvPr id="61494" name="Group 54"/>
          <p:cNvGrpSpPr>
            <a:grpSpLocks/>
          </p:cNvGrpSpPr>
          <p:nvPr/>
        </p:nvGrpSpPr>
        <p:grpSpPr bwMode="auto">
          <a:xfrm>
            <a:off x="4294188" y="2533015"/>
            <a:ext cx="596900" cy="338138"/>
            <a:chOff x="2899" y="2529"/>
            <a:chExt cx="547" cy="309"/>
          </a:xfrm>
        </p:grpSpPr>
        <p:sp>
          <p:nvSpPr>
            <p:cNvPr id="61495" name="Freeform 55"/>
            <p:cNvSpPr>
              <a:spLocks/>
            </p:cNvSpPr>
            <p:nvPr/>
          </p:nvSpPr>
          <p:spPr bwMode="auto">
            <a:xfrm>
              <a:off x="3216" y="2606"/>
              <a:ext cx="230" cy="232"/>
            </a:xfrm>
            <a:custGeom>
              <a:avLst/>
              <a:gdLst/>
              <a:ahLst/>
              <a:cxnLst>
                <a:cxn ang="0">
                  <a:pos x="0" y="146"/>
                </a:cxn>
                <a:cxn ang="0">
                  <a:pos x="230" y="0"/>
                </a:cxn>
                <a:cxn ang="0">
                  <a:pos x="230" y="85"/>
                </a:cxn>
                <a:cxn ang="0">
                  <a:pos x="0" y="232"/>
                </a:cxn>
                <a:cxn ang="0">
                  <a:pos x="0" y="146"/>
                </a:cxn>
              </a:cxnLst>
              <a:rect l="0" t="0" r="r" b="b"/>
              <a:pathLst>
                <a:path w="230" h="232">
                  <a:moveTo>
                    <a:pt x="0" y="146"/>
                  </a:moveTo>
                  <a:lnTo>
                    <a:pt x="230" y="0"/>
                  </a:lnTo>
                  <a:lnTo>
                    <a:pt x="230" y="85"/>
                  </a:lnTo>
                  <a:lnTo>
                    <a:pt x="0" y="232"/>
                  </a:lnTo>
                  <a:lnTo>
                    <a:pt x="0" y="146"/>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61496" name="Freeform 56"/>
            <p:cNvSpPr>
              <a:spLocks/>
            </p:cNvSpPr>
            <p:nvPr/>
          </p:nvSpPr>
          <p:spPr bwMode="auto">
            <a:xfrm>
              <a:off x="2899" y="2672"/>
              <a:ext cx="318" cy="166"/>
            </a:xfrm>
            <a:custGeom>
              <a:avLst/>
              <a:gdLst/>
              <a:ahLst/>
              <a:cxnLst>
                <a:cxn ang="0">
                  <a:pos x="318" y="80"/>
                </a:cxn>
                <a:cxn ang="0">
                  <a:pos x="318" y="166"/>
                </a:cxn>
                <a:cxn ang="0">
                  <a:pos x="0" y="85"/>
                </a:cxn>
                <a:cxn ang="0">
                  <a:pos x="0" y="0"/>
                </a:cxn>
              </a:cxnLst>
              <a:rect l="0" t="0" r="r" b="b"/>
              <a:pathLst>
                <a:path w="318" h="166">
                  <a:moveTo>
                    <a:pt x="318" y="80"/>
                  </a:moveTo>
                  <a:lnTo>
                    <a:pt x="318" y="166"/>
                  </a:lnTo>
                  <a:lnTo>
                    <a:pt x="0" y="85"/>
                  </a:lnTo>
                  <a:lnTo>
                    <a:pt x="0" y="0"/>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61497" name="Oval 57"/>
            <p:cNvSpPr>
              <a:spLocks noChangeArrowheads="1"/>
            </p:cNvSpPr>
            <p:nvPr/>
          </p:nvSpPr>
          <p:spPr bwMode="auto">
            <a:xfrm>
              <a:off x="2993" y="2724"/>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498" name="Oval 58"/>
            <p:cNvSpPr>
              <a:spLocks noChangeArrowheads="1"/>
            </p:cNvSpPr>
            <p:nvPr/>
          </p:nvSpPr>
          <p:spPr bwMode="auto">
            <a:xfrm>
              <a:off x="3044" y="2739"/>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499" name="Oval 59"/>
            <p:cNvSpPr>
              <a:spLocks noChangeArrowheads="1"/>
            </p:cNvSpPr>
            <p:nvPr/>
          </p:nvSpPr>
          <p:spPr bwMode="auto">
            <a:xfrm>
              <a:off x="3099" y="2751"/>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500" name="Oval 60"/>
            <p:cNvSpPr>
              <a:spLocks noChangeArrowheads="1"/>
            </p:cNvSpPr>
            <p:nvPr/>
          </p:nvSpPr>
          <p:spPr bwMode="auto">
            <a:xfrm>
              <a:off x="3149" y="2768"/>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501" name="Freeform 61"/>
            <p:cNvSpPr>
              <a:spLocks/>
            </p:cNvSpPr>
            <p:nvPr/>
          </p:nvSpPr>
          <p:spPr bwMode="auto">
            <a:xfrm>
              <a:off x="2899" y="2529"/>
              <a:ext cx="547" cy="224"/>
            </a:xfrm>
            <a:custGeom>
              <a:avLst/>
              <a:gdLst/>
              <a:ahLst/>
              <a:cxnLst>
                <a:cxn ang="0">
                  <a:pos x="0" y="141"/>
                </a:cxn>
                <a:cxn ang="0">
                  <a:pos x="230" y="0"/>
                </a:cxn>
                <a:cxn ang="0">
                  <a:pos x="547" y="78"/>
                </a:cxn>
                <a:cxn ang="0">
                  <a:pos x="318" y="224"/>
                </a:cxn>
                <a:cxn ang="0">
                  <a:pos x="2" y="146"/>
                </a:cxn>
              </a:cxnLst>
              <a:rect l="0" t="0" r="r" b="b"/>
              <a:pathLst>
                <a:path w="547" h="224">
                  <a:moveTo>
                    <a:pt x="0" y="141"/>
                  </a:moveTo>
                  <a:lnTo>
                    <a:pt x="230" y="0"/>
                  </a:lnTo>
                  <a:lnTo>
                    <a:pt x="547" y="78"/>
                  </a:lnTo>
                  <a:lnTo>
                    <a:pt x="318" y="224"/>
                  </a:lnTo>
                  <a:lnTo>
                    <a:pt x="2" y="146"/>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grpSp>
      <p:grpSp>
        <p:nvGrpSpPr>
          <p:cNvPr id="61502" name="Group 62"/>
          <p:cNvGrpSpPr>
            <a:grpSpLocks/>
          </p:cNvGrpSpPr>
          <p:nvPr/>
        </p:nvGrpSpPr>
        <p:grpSpPr bwMode="auto">
          <a:xfrm>
            <a:off x="4294188" y="2266315"/>
            <a:ext cx="596900" cy="338138"/>
            <a:chOff x="2899" y="2529"/>
            <a:chExt cx="547" cy="309"/>
          </a:xfrm>
        </p:grpSpPr>
        <p:sp>
          <p:nvSpPr>
            <p:cNvPr id="61503" name="Freeform 63"/>
            <p:cNvSpPr>
              <a:spLocks/>
            </p:cNvSpPr>
            <p:nvPr/>
          </p:nvSpPr>
          <p:spPr bwMode="auto">
            <a:xfrm>
              <a:off x="3216" y="2606"/>
              <a:ext cx="230" cy="232"/>
            </a:xfrm>
            <a:custGeom>
              <a:avLst/>
              <a:gdLst/>
              <a:ahLst/>
              <a:cxnLst>
                <a:cxn ang="0">
                  <a:pos x="0" y="146"/>
                </a:cxn>
                <a:cxn ang="0">
                  <a:pos x="230" y="0"/>
                </a:cxn>
                <a:cxn ang="0">
                  <a:pos x="230" y="85"/>
                </a:cxn>
                <a:cxn ang="0">
                  <a:pos x="0" y="232"/>
                </a:cxn>
                <a:cxn ang="0">
                  <a:pos x="0" y="146"/>
                </a:cxn>
              </a:cxnLst>
              <a:rect l="0" t="0" r="r" b="b"/>
              <a:pathLst>
                <a:path w="230" h="232">
                  <a:moveTo>
                    <a:pt x="0" y="146"/>
                  </a:moveTo>
                  <a:lnTo>
                    <a:pt x="230" y="0"/>
                  </a:lnTo>
                  <a:lnTo>
                    <a:pt x="230" y="85"/>
                  </a:lnTo>
                  <a:lnTo>
                    <a:pt x="0" y="232"/>
                  </a:lnTo>
                  <a:lnTo>
                    <a:pt x="0" y="146"/>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61504" name="Freeform 64"/>
            <p:cNvSpPr>
              <a:spLocks/>
            </p:cNvSpPr>
            <p:nvPr/>
          </p:nvSpPr>
          <p:spPr bwMode="auto">
            <a:xfrm>
              <a:off x="2899" y="2672"/>
              <a:ext cx="318" cy="166"/>
            </a:xfrm>
            <a:custGeom>
              <a:avLst/>
              <a:gdLst/>
              <a:ahLst/>
              <a:cxnLst>
                <a:cxn ang="0">
                  <a:pos x="318" y="80"/>
                </a:cxn>
                <a:cxn ang="0">
                  <a:pos x="318" y="166"/>
                </a:cxn>
                <a:cxn ang="0">
                  <a:pos x="0" y="85"/>
                </a:cxn>
                <a:cxn ang="0">
                  <a:pos x="0" y="0"/>
                </a:cxn>
              </a:cxnLst>
              <a:rect l="0" t="0" r="r" b="b"/>
              <a:pathLst>
                <a:path w="318" h="166">
                  <a:moveTo>
                    <a:pt x="318" y="80"/>
                  </a:moveTo>
                  <a:lnTo>
                    <a:pt x="318" y="166"/>
                  </a:lnTo>
                  <a:lnTo>
                    <a:pt x="0" y="85"/>
                  </a:lnTo>
                  <a:lnTo>
                    <a:pt x="0" y="0"/>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61505" name="Oval 65"/>
            <p:cNvSpPr>
              <a:spLocks noChangeArrowheads="1"/>
            </p:cNvSpPr>
            <p:nvPr/>
          </p:nvSpPr>
          <p:spPr bwMode="auto">
            <a:xfrm>
              <a:off x="2993" y="2724"/>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506" name="Oval 66"/>
            <p:cNvSpPr>
              <a:spLocks noChangeArrowheads="1"/>
            </p:cNvSpPr>
            <p:nvPr/>
          </p:nvSpPr>
          <p:spPr bwMode="auto">
            <a:xfrm>
              <a:off x="3044" y="2739"/>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507" name="Oval 67"/>
            <p:cNvSpPr>
              <a:spLocks noChangeArrowheads="1"/>
            </p:cNvSpPr>
            <p:nvPr/>
          </p:nvSpPr>
          <p:spPr bwMode="auto">
            <a:xfrm>
              <a:off x="3099" y="2751"/>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508" name="Oval 68"/>
            <p:cNvSpPr>
              <a:spLocks noChangeArrowheads="1"/>
            </p:cNvSpPr>
            <p:nvPr/>
          </p:nvSpPr>
          <p:spPr bwMode="auto">
            <a:xfrm>
              <a:off x="3149" y="2768"/>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509" name="Freeform 69"/>
            <p:cNvSpPr>
              <a:spLocks/>
            </p:cNvSpPr>
            <p:nvPr/>
          </p:nvSpPr>
          <p:spPr bwMode="auto">
            <a:xfrm>
              <a:off x="2899" y="2529"/>
              <a:ext cx="547" cy="224"/>
            </a:xfrm>
            <a:custGeom>
              <a:avLst/>
              <a:gdLst/>
              <a:ahLst/>
              <a:cxnLst>
                <a:cxn ang="0">
                  <a:pos x="0" y="141"/>
                </a:cxn>
                <a:cxn ang="0">
                  <a:pos x="230" y="0"/>
                </a:cxn>
                <a:cxn ang="0">
                  <a:pos x="547" y="78"/>
                </a:cxn>
                <a:cxn ang="0">
                  <a:pos x="318" y="224"/>
                </a:cxn>
                <a:cxn ang="0">
                  <a:pos x="2" y="146"/>
                </a:cxn>
              </a:cxnLst>
              <a:rect l="0" t="0" r="r" b="b"/>
              <a:pathLst>
                <a:path w="547" h="224">
                  <a:moveTo>
                    <a:pt x="0" y="141"/>
                  </a:moveTo>
                  <a:lnTo>
                    <a:pt x="230" y="0"/>
                  </a:lnTo>
                  <a:lnTo>
                    <a:pt x="547" y="78"/>
                  </a:lnTo>
                  <a:lnTo>
                    <a:pt x="318" y="224"/>
                  </a:lnTo>
                  <a:lnTo>
                    <a:pt x="2" y="146"/>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grpSp>
      <p:grpSp>
        <p:nvGrpSpPr>
          <p:cNvPr id="61510" name="Group 70"/>
          <p:cNvGrpSpPr>
            <a:grpSpLocks/>
          </p:cNvGrpSpPr>
          <p:nvPr/>
        </p:nvGrpSpPr>
        <p:grpSpPr bwMode="auto">
          <a:xfrm>
            <a:off x="4868863" y="1209040"/>
            <a:ext cx="938212" cy="1517650"/>
            <a:chOff x="934" y="830"/>
            <a:chExt cx="626" cy="1012"/>
          </a:xfrm>
        </p:grpSpPr>
        <p:sp>
          <p:nvSpPr>
            <p:cNvPr id="61511" name="Freeform 71"/>
            <p:cNvSpPr>
              <a:spLocks/>
            </p:cNvSpPr>
            <p:nvPr/>
          </p:nvSpPr>
          <p:spPr bwMode="auto">
            <a:xfrm>
              <a:off x="946" y="1583"/>
              <a:ext cx="604" cy="259"/>
            </a:xfrm>
            <a:custGeom>
              <a:avLst/>
              <a:gdLst/>
              <a:ahLst/>
              <a:cxnLst>
                <a:cxn ang="0">
                  <a:pos x="0" y="292"/>
                </a:cxn>
                <a:cxn ang="0">
                  <a:pos x="0" y="370"/>
                </a:cxn>
                <a:cxn ang="0">
                  <a:pos x="567" y="535"/>
                </a:cxn>
                <a:cxn ang="0">
                  <a:pos x="1251" y="92"/>
                </a:cxn>
                <a:cxn ang="0">
                  <a:pos x="1251" y="0"/>
                </a:cxn>
              </a:cxnLst>
              <a:rect l="0" t="0" r="r" b="b"/>
              <a:pathLst>
                <a:path w="1252" h="536">
                  <a:moveTo>
                    <a:pt x="0" y="292"/>
                  </a:moveTo>
                  <a:lnTo>
                    <a:pt x="0" y="370"/>
                  </a:lnTo>
                  <a:lnTo>
                    <a:pt x="567" y="535"/>
                  </a:lnTo>
                  <a:lnTo>
                    <a:pt x="1251" y="92"/>
                  </a:lnTo>
                  <a:lnTo>
                    <a:pt x="1251" y="0"/>
                  </a:lnTo>
                </a:path>
              </a:pathLst>
            </a:custGeom>
            <a:solidFill>
              <a:srgbClr val="969696"/>
            </a:solidFill>
            <a:ln w="3175" cap="rnd" cmpd="sng">
              <a:solidFill>
                <a:schemeClr val="tx1"/>
              </a:solidFill>
              <a:prstDash val="solid"/>
              <a:round/>
              <a:headEnd type="none" w="med" len="med"/>
              <a:tailEnd type="none" w="med" len="med"/>
            </a:ln>
            <a:effectLst/>
          </p:spPr>
          <p:txBody>
            <a:bodyPr/>
            <a:lstStyle/>
            <a:p>
              <a:endParaRPr lang="fr-FR"/>
            </a:p>
          </p:txBody>
        </p:sp>
        <p:grpSp>
          <p:nvGrpSpPr>
            <p:cNvPr id="61512" name="Group 72"/>
            <p:cNvGrpSpPr>
              <a:grpSpLocks/>
            </p:cNvGrpSpPr>
            <p:nvPr/>
          </p:nvGrpSpPr>
          <p:grpSpPr bwMode="auto">
            <a:xfrm>
              <a:off x="934" y="830"/>
              <a:ext cx="626" cy="987"/>
              <a:chOff x="934" y="830"/>
              <a:chExt cx="626" cy="987"/>
            </a:xfrm>
          </p:grpSpPr>
          <p:sp>
            <p:nvSpPr>
              <p:cNvPr id="61513" name="Freeform 73"/>
              <p:cNvSpPr>
                <a:spLocks/>
              </p:cNvSpPr>
              <p:nvPr/>
            </p:nvSpPr>
            <p:spPr bwMode="auto">
              <a:xfrm>
                <a:off x="936" y="830"/>
                <a:ext cx="623" cy="217"/>
              </a:xfrm>
              <a:custGeom>
                <a:avLst/>
                <a:gdLst/>
                <a:ahLst/>
                <a:cxnLst>
                  <a:cxn ang="0">
                    <a:pos x="0" y="307"/>
                  </a:cxn>
                  <a:cxn ang="0">
                    <a:pos x="577" y="448"/>
                  </a:cxn>
                  <a:cxn ang="0">
                    <a:pos x="1290" y="127"/>
                  </a:cxn>
                  <a:cxn ang="0">
                    <a:pos x="727" y="0"/>
                  </a:cxn>
                  <a:cxn ang="0">
                    <a:pos x="0" y="307"/>
                  </a:cxn>
                </a:cxnLst>
                <a:rect l="0" t="0" r="r" b="b"/>
                <a:pathLst>
                  <a:path w="1291" h="449">
                    <a:moveTo>
                      <a:pt x="0" y="307"/>
                    </a:moveTo>
                    <a:lnTo>
                      <a:pt x="577" y="448"/>
                    </a:lnTo>
                    <a:lnTo>
                      <a:pt x="1290" y="127"/>
                    </a:lnTo>
                    <a:lnTo>
                      <a:pt x="727" y="0"/>
                    </a:lnTo>
                    <a:lnTo>
                      <a:pt x="0" y="307"/>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sp>
            <p:nvSpPr>
              <p:cNvPr id="61514" name="Freeform 74"/>
              <p:cNvSpPr>
                <a:spLocks/>
              </p:cNvSpPr>
              <p:nvPr/>
            </p:nvSpPr>
            <p:spPr bwMode="auto">
              <a:xfrm>
                <a:off x="1208" y="890"/>
                <a:ext cx="352" cy="927"/>
              </a:xfrm>
              <a:custGeom>
                <a:avLst/>
                <a:gdLst/>
                <a:ahLst/>
                <a:cxnLst>
                  <a:cxn ang="0">
                    <a:pos x="0" y="328"/>
                  </a:cxn>
                  <a:cxn ang="0">
                    <a:pos x="4" y="1915"/>
                  </a:cxn>
                  <a:cxn ang="0">
                    <a:pos x="728" y="1456"/>
                  </a:cxn>
                  <a:cxn ang="0">
                    <a:pos x="728" y="0"/>
                  </a:cxn>
                  <a:cxn ang="0">
                    <a:pos x="0" y="328"/>
                  </a:cxn>
                </a:cxnLst>
                <a:rect l="0" t="0" r="r" b="b"/>
                <a:pathLst>
                  <a:path w="729" h="1916">
                    <a:moveTo>
                      <a:pt x="0" y="328"/>
                    </a:moveTo>
                    <a:lnTo>
                      <a:pt x="4" y="1915"/>
                    </a:lnTo>
                    <a:lnTo>
                      <a:pt x="728" y="1456"/>
                    </a:lnTo>
                    <a:lnTo>
                      <a:pt x="728" y="0"/>
                    </a:lnTo>
                    <a:lnTo>
                      <a:pt x="0" y="32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61515" name="Freeform 75"/>
              <p:cNvSpPr>
                <a:spLocks/>
              </p:cNvSpPr>
              <p:nvPr/>
            </p:nvSpPr>
            <p:spPr bwMode="auto">
              <a:xfrm>
                <a:off x="934" y="978"/>
                <a:ext cx="278" cy="834"/>
              </a:xfrm>
              <a:custGeom>
                <a:avLst/>
                <a:gdLst/>
                <a:ahLst/>
                <a:cxnLst>
                  <a:cxn ang="0">
                    <a:pos x="576" y="140"/>
                  </a:cxn>
                  <a:cxn ang="0">
                    <a:pos x="576" y="1727"/>
                  </a:cxn>
                  <a:cxn ang="0">
                    <a:pos x="0" y="1568"/>
                  </a:cxn>
                  <a:cxn ang="0">
                    <a:pos x="0" y="0"/>
                  </a:cxn>
                  <a:cxn ang="0">
                    <a:pos x="576" y="140"/>
                  </a:cxn>
                </a:cxnLst>
                <a:rect l="0" t="0" r="r" b="b"/>
                <a:pathLst>
                  <a:path w="577" h="1728">
                    <a:moveTo>
                      <a:pt x="576" y="140"/>
                    </a:moveTo>
                    <a:lnTo>
                      <a:pt x="576" y="1727"/>
                    </a:lnTo>
                    <a:lnTo>
                      <a:pt x="0" y="1568"/>
                    </a:lnTo>
                    <a:lnTo>
                      <a:pt x="0" y="0"/>
                    </a:lnTo>
                    <a:lnTo>
                      <a:pt x="576" y="140"/>
                    </a:lnTo>
                  </a:path>
                </a:pathLst>
              </a:custGeom>
              <a:gradFill rotWithShape="0">
                <a:gsLst>
                  <a:gs pos="0">
                    <a:srgbClr val="B2B2B2">
                      <a:gamma/>
                      <a:tint val="23529"/>
                      <a:invGamma/>
                    </a:srgbClr>
                  </a:gs>
                  <a:gs pos="100000">
                    <a:srgbClr val="B2B2B2"/>
                  </a:gs>
                </a:gsLst>
                <a:lin ang="5400000" scaled="1"/>
              </a:gradFill>
              <a:ln w="3175" cap="rnd" cmpd="sng">
                <a:solidFill>
                  <a:schemeClr val="tx1"/>
                </a:solidFill>
                <a:prstDash val="solid"/>
                <a:round/>
                <a:headEnd type="none" w="med" len="med"/>
                <a:tailEnd type="none" w="med" len="med"/>
              </a:ln>
              <a:effectLst/>
            </p:spPr>
            <p:txBody>
              <a:bodyPr/>
              <a:lstStyle/>
              <a:p>
                <a:endParaRPr lang="fr-FR"/>
              </a:p>
            </p:txBody>
          </p:sp>
          <p:sp>
            <p:nvSpPr>
              <p:cNvPr id="61516" name="Line 76"/>
              <p:cNvSpPr>
                <a:spLocks noChangeShapeType="1"/>
              </p:cNvSpPr>
              <p:nvPr/>
            </p:nvSpPr>
            <p:spPr bwMode="auto">
              <a:xfrm>
                <a:off x="973" y="1680"/>
                <a:ext cx="192" cy="51"/>
              </a:xfrm>
              <a:prstGeom prst="line">
                <a:avLst/>
              </a:prstGeom>
              <a:noFill/>
              <a:ln w="6350">
                <a:solidFill>
                  <a:srgbClr val="676767"/>
                </a:solidFill>
                <a:round/>
                <a:headEnd/>
                <a:tailEnd/>
              </a:ln>
              <a:effectLst/>
            </p:spPr>
            <p:txBody>
              <a:bodyPr wrap="none" anchor="ctr"/>
              <a:lstStyle/>
              <a:p>
                <a:endParaRPr lang="fr-FR"/>
              </a:p>
            </p:txBody>
          </p:sp>
          <p:sp>
            <p:nvSpPr>
              <p:cNvPr id="61517" name="Oval 77"/>
              <p:cNvSpPr>
                <a:spLocks noChangeArrowheads="1"/>
              </p:cNvSpPr>
              <p:nvPr/>
            </p:nvSpPr>
            <p:spPr bwMode="auto">
              <a:xfrm>
                <a:off x="966" y="1019"/>
                <a:ext cx="31" cy="17"/>
              </a:xfrm>
              <a:prstGeom prst="ellipse">
                <a:avLst/>
              </a:prstGeom>
              <a:solidFill>
                <a:srgbClr val="D60093"/>
              </a:solidFill>
              <a:ln w="12700">
                <a:noFill/>
                <a:round/>
                <a:headEnd/>
                <a:tailEnd/>
              </a:ln>
              <a:effectLst/>
            </p:spPr>
            <p:txBody>
              <a:bodyPr wrap="none" anchor="ctr"/>
              <a:lstStyle/>
              <a:p>
                <a:endParaRPr lang="fr-FR"/>
              </a:p>
            </p:txBody>
          </p:sp>
          <p:sp>
            <p:nvSpPr>
              <p:cNvPr id="61518" name="Line 78"/>
              <p:cNvSpPr>
                <a:spLocks noChangeShapeType="1"/>
              </p:cNvSpPr>
              <p:nvPr/>
            </p:nvSpPr>
            <p:spPr bwMode="auto">
              <a:xfrm>
                <a:off x="973" y="1642"/>
                <a:ext cx="192" cy="51"/>
              </a:xfrm>
              <a:prstGeom prst="line">
                <a:avLst/>
              </a:prstGeom>
              <a:noFill/>
              <a:ln w="6350">
                <a:solidFill>
                  <a:srgbClr val="676767"/>
                </a:solidFill>
                <a:round/>
                <a:headEnd/>
                <a:tailEnd/>
              </a:ln>
              <a:effectLst/>
            </p:spPr>
            <p:txBody>
              <a:bodyPr wrap="none" anchor="ctr"/>
              <a:lstStyle/>
              <a:p>
                <a:endParaRPr lang="fr-FR"/>
              </a:p>
            </p:txBody>
          </p:sp>
          <p:sp>
            <p:nvSpPr>
              <p:cNvPr id="61519" name="Line 79"/>
              <p:cNvSpPr>
                <a:spLocks noChangeShapeType="1"/>
              </p:cNvSpPr>
              <p:nvPr/>
            </p:nvSpPr>
            <p:spPr bwMode="auto">
              <a:xfrm>
                <a:off x="973" y="1604"/>
                <a:ext cx="192" cy="52"/>
              </a:xfrm>
              <a:prstGeom prst="line">
                <a:avLst/>
              </a:prstGeom>
              <a:noFill/>
              <a:ln w="6350">
                <a:solidFill>
                  <a:srgbClr val="676767"/>
                </a:solidFill>
                <a:round/>
                <a:headEnd/>
                <a:tailEnd/>
              </a:ln>
              <a:effectLst/>
            </p:spPr>
            <p:txBody>
              <a:bodyPr wrap="none" anchor="ctr"/>
              <a:lstStyle/>
              <a:p>
                <a:endParaRPr lang="fr-FR"/>
              </a:p>
            </p:txBody>
          </p:sp>
          <p:sp>
            <p:nvSpPr>
              <p:cNvPr id="61520" name="Line 80"/>
              <p:cNvSpPr>
                <a:spLocks noChangeShapeType="1"/>
              </p:cNvSpPr>
              <p:nvPr/>
            </p:nvSpPr>
            <p:spPr bwMode="auto">
              <a:xfrm>
                <a:off x="973" y="1567"/>
                <a:ext cx="192" cy="51"/>
              </a:xfrm>
              <a:prstGeom prst="line">
                <a:avLst/>
              </a:prstGeom>
              <a:noFill/>
              <a:ln w="6350">
                <a:solidFill>
                  <a:srgbClr val="676767"/>
                </a:solidFill>
                <a:round/>
                <a:headEnd/>
                <a:tailEnd/>
              </a:ln>
              <a:effectLst/>
            </p:spPr>
            <p:txBody>
              <a:bodyPr wrap="none" anchor="ctr"/>
              <a:lstStyle/>
              <a:p>
                <a:endParaRPr lang="fr-FR"/>
              </a:p>
            </p:txBody>
          </p:sp>
          <p:sp>
            <p:nvSpPr>
              <p:cNvPr id="61521" name="Line 81"/>
              <p:cNvSpPr>
                <a:spLocks noChangeShapeType="1"/>
              </p:cNvSpPr>
              <p:nvPr/>
            </p:nvSpPr>
            <p:spPr bwMode="auto">
              <a:xfrm>
                <a:off x="973" y="1528"/>
                <a:ext cx="192" cy="51"/>
              </a:xfrm>
              <a:prstGeom prst="line">
                <a:avLst/>
              </a:prstGeom>
              <a:noFill/>
              <a:ln w="6350">
                <a:solidFill>
                  <a:srgbClr val="676767"/>
                </a:solidFill>
                <a:round/>
                <a:headEnd/>
                <a:tailEnd/>
              </a:ln>
              <a:effectLst/>
            </p:spPr>
            <p:txBody>
              <a:bodyPr wrap="none" anchor="ctr"/>
              <a:lstStyle/>
              <a:p>
                <a:endParaRPr lang="fr-FR"/>
              </a:p>
            </p:txBody>
          </p:sp>
          <p:sp>
            <p:nvSpPr>
              <p:cNvPr id="61522" name="Freeform 82"/>
              <p:cNvSpPr>
                <a:spLocks/>
              </p:cNvSpPr>
              <p:nvPr/>
            </p:nvSpPr>
            <p:spPr bwMode="auto">
              <a:xfrm>
                <a:off x="976" y="1164"/>
                <a:ext cx="190" cy="355"/>
              </a:xfrm>
              <a:custGeom>
                <a:avLst/>
                <a:gdLst/>
                <a:ahLst/>
                <a:cxnLst>
                  <a:cxn ang="0">
                    <a:pos x="0" y="628"/>
                  </a:cxn>
                  <a:cxn ang="0">
                    <a:pos x="396" y="732"/>
                  </a:cxn>
                  <a:cxn ang="0">
                    <a:pos x="396" y="0"/>
                  </a:cxn>
                </a:cxnLst>
                <a:rect l="0" t="0" r="r" b="b"/>
                <a:pathLst>
                  <a:path w="397" h="733">
                    <a:moveTo>
                      <a:pt x="0" y="628"/>
                    </a:moveTo>
                    <a:lnTo>
                      <a:pt x="396" y="732"/>
                    </a:lnTo>
                    <a:lnTo>
                      <a:pt x="396" y="0"/>
                    </a:lnTo>
                  </a:path>
                </a:pathLst>
              </a:custGeom>
              <a:noFill/>
              <a:ln w="3175" cap="rnd" cmpd="sng">
                <a:solidFill>
                  <a:srgbClr val="676767"/>
                </a:solidFill>
                <a:prstDash val="solid"/>
                <a:round/>
                <a:headEnd type="none" w="med" len="med"/>
                <a:tailEnd type="none" w="med" len="med"/>
              </a:ln>
              <a:effectLst/>
            </p:spPr>
            <p:txBody>
              <a:bodyPr/>
              <a:lstStyle/>
              <a:p>
                <a:endParaRPr lang="fr-FR"/>
              </a:p>
            </p:txBody>
          </p:sp>
          <p:sp>
            <p:nvSpPr>
              <p:cNvPr id="61523" name="Freeform 83"/>
              <p:cNvSpPr>
                <a:spLocks/>
              </p:cNvSpPr>
              <p:nvPr/>
            </p:nvSpPr>
            <p:spPr bwMode="auto">
              <a:xfrm>
                <a:off x="956" y="1094"/>
                <a:ext cx="218" cy="618"/>
              </a:xfrm>
              <a:custGeom>
                <a:avLst/>
                <a:gdLst/>
                <a:ahLst/>
                <a:cxnLst>
                  <a:cxn ang="0">
                    <a:pos x="452" y="105"/>
                  </a:cxn>
                  <a:cxn ang="0">
                    <a:pos x="0" y="0"/>
                  </a:cxn>
                  <a:cxn ang="0">
                    <a:pos x="0" y="1277"/>
                  </a:cxn>
                </a:cxnLst>
                <a:rect l="0" t="0" r="r" b="b"/>
                <a:pathLst>
                  <a:path w="453" h="1278">
                    <a:moveTo>
                      <a:pt x="452" y="105"/>
                    </a:moveTo>
                    <a:lnTo>
                      <a:pt x="0" y="0"/>
                    </a:lnTo>
                    <a:lnTo>
                      <a:pt x="0" y="1277"/>
                    </a:lnTo>
                  </a:path>
                </a:pathLst>
              </a:custGeom>
              <a:noFill/>
              <a:ln w="6350" cap="rnd" cmpd="sng">
                <a:solidFill>
                  <a:schemeClr val="tx1"/>
                </a:solidFill>
                <a:prstDash val="solid"/>
                <a:round/>
                <a:headEnd type="none" w="med" len="med"/>
                <a:tailEnd type="none" w="med" len="med"/>
              </a:ln>
              <a:effectLst/>
            </p:spPr>
            <p:txBody>
              <a:bodyPr/>
              <a:lstStyle/>
              <a:p>
                <a:endParaRPr lang="fr-FR"/>
              </a:p>
            </p:txBody>
          </p:sp>
          <p:sp>
            <p:nvSpPr>
              <p:cNvPr id="61524" name="Freeform 84"/>
              <p:cNvSpPr>
                <a:spLocks/>
              </p:cNvSpPr>
              <p:nvPr/>
            </p:nvSpPr>
            <p:spPr bwMode="auto">
              <a:xfrm>
                <a:off x="970" y="1117"/>
                <a:ext cx="194" cy="352"/>
              </a:xfrm>
              <a:custGeom>
                <a:avLst/>
                <a:gdLst/>
                <a:ahLst/>
                <a:cxnLst>
                  <a:cxn ang="0">
                    <a:pos x="401" y="96"/>
                  </a:cxn>
                  <a:cxn ang="0">
                    <a:pos x="0" y="0"/>
                  </a:cxn>
                  <a:cxn ang="0">
                    <a:pos x="0" y="725"/>
                  </a:cxn>
                </a:cxnLst>
                <a:rect l="0" t="0" r="r" b="b"/>
                <a:pathLst>
                  <a:path w="402" h="726">
                    <a:moveTo>
                      <a:pt x="401" y="96"/>
                    </a:moveTo>
                    <a:lnTo>
                      <a:pt x="0" y="0"/>
                    </a:lnTo>
                    <a:lnTo>
                      <a:pt x="0" y="725"/>
                    </a:lnTo>
                  </a:path>
                </a:pathLst>
              </a:custGeom>
              <a:noFill/>
              <a:ln w="3175" cap="rnd" cmpd="sng">
                <a:solidFill>
                  <a:schemeClr val="tx1"/>
                </a:solidFill>
                <a:prstDash val="solid"/>
                <a:round/>
                <a:headEnd type="none" w="med" len="med"/>
                <a:tailEnd type="none" w="med" len="med"/>
              </a:ln>
              <a:effectLst/>
            </p:spPr>
            <p:txBody>
              <a:bodyPr/>
              <a:lstStyle/>
              <a:p>
                <a:endParaRPr lang="fr-FR"/>
              </a:p>
            </p:txBody>
          </p:sp>
          <p:sp>
            <p:nvSpPr>
              <p:cNvPr id="61525" name="Line 85"/>
              <p:cNvSpPr>
                <a:spLocks noChangeShapeType="1"/>
              </p:cNvSpPr>
              <p:nvPr/>
            </p:nvSpPr>
            <p:spPr bwMode="auto">
              <a:xfrm>
                <a:off x="971" y="1198"/>
                <a:ext cx="187" cy="43"/>
              </a:xfrm>
              <a:prstGeom prst="line">
                <a:avLst/>
              </a:prstGeom>
              <a:noFill/>
              <a:ln w="3175">
                <a:solidFill>
                  <a:srgbClr val="676767"/>
                </a:solidFill>
                <a:round/>
                <a:headEnd/>
                <a:tailEnd/>
              </a:ln>
              <a:effectLst/>
            </p:spPr>
            <p:txBody>
              <a:bodyPr wrap="none" anchor="ctr"/>
              <a:lstStyle/>
              <a:p>
                <a:endParaRPr lang="fr-FR"/>
              </a:p>
            </p:txBody>
          </p:sp>
          <p:sp>
            <p:nvSpPr>
              <p:cNvPr id="61526" name="Line 86"/>
              <p:cNvSpPr>
                <a:spLocks noChangeShapeType="1"/>
              </p:cNvSpPr>
              <p:nvPr/>
            </p:nvSpPr>
            <p:spPr bwMode="auto">
              <a:xfrm>
                <a:off x="971" y="1273"/>
                <a:ext cx="189" cy="43"/>
              </a:xfrm>
              <a:prstGeom prst="line">
                <a:avLst/>
              </a:prstGeom>
              <a:noFill/>
              <a:ln w="3175">
                <a:solidFill>
                  <a:srgbClr val="676767"/>
                </a:solidFill>
                <a:round/>
                <a:headEnd/>
                <a:tailEnd/>
              </a:ln>
              <a:effectLst/>
            </p:spPr>
            <p:txBody>
              <a:bodyPr wrap="none" anchor="ctr"/>
              <a:lstStyle/>
              <a:p>
                <a:endParaRPr lang="fr-FR"/>
              </a:p>
            </p:txBody>
          </p:sp>
          <p:sp>
            <p:nvSpPr>
              <p:cNvPr id="61527" name="Line 87"/>
              <p:cNvSpPr>
                <a:spLocks noChangeShapeType="1"/>
              </p:cNvSpPr>
              <p:nvPr/>
            </p:nvSpPr>
            <p:spPr bwMode="auto">
              <a:xfrm>
                <a:off x="971" y="1366"/>
                <a:ext cx="180" cy="43"/>
              </a:xfrm>
              <a:prstGeom prst="line">
                <a:avLst/>
              </a:prstGeom>
              <a:noFill/>
              <a:ln w="3175">
                <a:solidFill>
                  <a:srgbClr val="676767"/>
                </a:solidFill>
                <a:round/>
                <a:headEnd/>
                <a:tailEnd/>
              </a:ln>
              <a:effectLst/>
            </p:spPr>
            <p:txBody>
              <a:bodyPr wrap="none" anchor="ctr"/>
              <a:lstStyle/>
              <a:p>
                <a:endParaRPr lang="fr-FR"/>
              </a:p>
            </p:txBody>
          </p:sp>
          <p:sp>
            <p:nvSpPr>
              <p:cNvPr id="61528" name="Freeform 88"/>
              <p:cNvSpPr>
                <a:spLocks/>
              </p:cNvSpPr>
              <p:nvPr/>
            </p:nvSpPr>
            <p:spPr bwMode="auto">
              <a:xfrm>
                <a:off x="1027" y="1161"/>
                <a:ext cx="74" cy="40"/>
              </a:xfrm>
              <a:custGeom>
                <a:avLst/>
                <a:gdLst/>
                <a:ahLst/>
                <a:cxnLst>
                  <a:cxn ang="0">
                    <a:pos x="0" y="0"/>
                  </a:cxn>
                  <a:cxn ang="0">
                    <a:pos x="0" y="48"/>
                  </a:cxn>
                  <a:cxn ang="0">
                    <a:pos x="151" y="81"/>
                  </a:cxn>
                  <a:cxn ang="0">
                    <a:pos x="151" y="33"/>
                  </a:cxn>
                  <a:cxn ang="0">
                    <a:pos x="0" y="0"/>
                  </a:cxn>
                </a:cxnLst>
                <a:rect l="0" t="0" r="r" b="b"/>
                <a:pathLst>
                  <a:path w="152" h="82">
                    <a:moveTo>
                      <a:pt x="0" y="0"/>
                    </a:moveTo>
                    <a:lnTo>
                      <a:pt x="0" y="48"/>
                    </a:lnTo>
                    <a:lnTo>
                      <a:pt x="151" y="81"/>
                    </a:lnTo>
                    <a:lnTo>
                      <a:pt x="151" y="33"/>
                    </a:lnTo>
                    <a:lnTo>
                      <a:pt x="0" y="0"/>
                    </a:lnTo>
                  </a:path>
                </a:pathLst>
              </a:custGeom>
              <a:solidFill>
                <a:srgbClr val="A9A9A9"/>
              </a:solidFill>
              <a:ln w="12700" cap="rnd" cmpd="sng">
                <a:noFill/>
                <a:prstDash val="solid"/>
                <a:round/>
                <a:headEnd type="none" w="med" len="med"/>
                <a:tailEnd type="none" w="med" len="med"/>
              </a:ln>
              <a:effectLst/>
            </p:spPr>
            <p:txBody>
              <a:bodyPr/>
              <a:lstStyle/>
              <a:p>
                <a:endParaRPr lang="fr-FR"/>
              </a:p>
            </p:txBody>
          </p:sp>
          <p:sp>
            <p:nvSpPr>
              <p:cNvPr id="61529" name="Line 89"/>
              <p:cNvSpPr>
                <a:spLocks noChangeShapeType="1"/>
              </p:cNvSpPr>
              <p:nvPr/>
            </p:nvSpPr>
            <p:spPr bwMode="auto">
              <a:xfrm>
                <a:off x="998" y="1167"/>
                <a:ext cx="138" cy="30"/>
              </a:xfrm>
              <a:prstGeom prst="line">
                <a:avLst/>
              </a:prstGeom>
              <a:noFill/>
              <a:ln w="6350">
                <a:solidFill>
                  <a:srgbClr val="919191"/>
                </a:solidFill>
                <a:round/>
                <a:headEnd/>
                <a:tailEnd/>
              </a:ln>
              <a:effectLst/>
            </p:spPr>
            <p:txBody>
              <a:bodyPr wrap="none" anchor="ctr"/>
              <a:lstStyle/>
              <a:p>
                <a:endParaRPr lang="fr-FR"/>
              </a:p>
            </p:txBody>
          </p:sp>
          <p:sp>
            <p:nvSpPr>
              <p:cNvPr id="61530" name="Freeform 90"/>
              <p:cNvSpPr>
                <a:spLocks/>
              </p:cNvSpPr>
              <p:nvPr/>
            </p:nvSpPr>
            <p:spPr bwMode="auto">
              <a:xfrm>
                <a:off x="984" y="1304"/>
                <a:ext cx="167" cy="75"/>
              </a:xfrm>
              <a:custGeom>
                <a:avLst/>
                <a:gdLst/>
                <a:ahLst/>
                <a:cxnLst>
                  <a:cxn ang="0">
                    <a:pos x="0" y="85"/>
                  </a:cxn>
                  <a:cxn ang="0">
                    <a:pos x="0" y="0"/>
                  </a:cxn>
                  <a:cxn ang="0">
                    <a:pos x="350" y="93"/>
                  </a:cxn>
                  <a:cxn ang="0">
                    <a:pos x="350" y="182"/>
                  </a:cxn>
                  <a:cxn ang="0">
                    <a:pos x="0" y="85"/>
                  </a:cxn>
                </a:cxnLst>
                <a:rect l="0" t="0" r="r" b="b"/>
                <a:pathLst>
                  <a:path w="351" h="183">
                    <a:moveTo>
                      <a:pt x="0" y="85"/>
                    </a:moveTo>
                    <a:lnTo>
                      <a:pt x="0" y="0"/>
                    </a:lnTo>
                    <a:lnTo>
                      <a:pt x="350" y="93"/>
                    </a:lnTo>
                    <a:lnTo>
                      <a:pt x="350" y="182"/>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61531" name="Freeform 91"/>
              <p:cNvSpPr>
                <a:spLocks/>
              </p:cNvSpPr>
              <p:nvPr/>
            </p:nvSpPr>
            <p:spPr bwMode="auto">
              <a:xfrm>
                <a:off x="984" y="1397"/>
                <a:ext cx="167" cy="83"/>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61532" name="Freeform 92"/>
              <p:cNvSpPr>
                <a:spLocks/>
              </p:cNvSpPr>
              <p:nvPr/>
            </p:nvSpPr>
            <p:spPr bwMode="auto">
              <a:xfrm>
                <a:off x="981" y="1220"/>
                <a:ext cx="170" cy="77"/>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61533" name="Line 93"/>
              <p:cNvSpPr>
                <a:spLocks noChangeShapeType="1"/>
              </p:cNvSpPr>
              <p:nvPr/>
            </p:nvSpPr>
            <p:spPr bwMode="auto">
              <a:xfrm flipH="1" flipV="1">
                <a:off x="1103" y="1267"/>
                <a:ext cx="33" cy="8"/>
              </a:xfrm>
              <a:prstGeom prst="line">
                <a:avLst/>
              </a:prstGeom>
              <a:noFill/>
              <a:ln w="9525">
                <a:solidFill>
                  <a:srgbClr val="D60093"/>
                </a:solidFill>
                <a:round/>
                <a:headEnd/>
                <a:tailEnd/>
              </a:ln>
              <a:effectLst/>
            </p:spPr>
            <p:txBody>
              <a:bodyPr wrap="none" tIns="27432" bIns="27432" anchor="ctr">
                <a:spAutoFit/>
              </a:bodyPr>
              <a:lstStyle/>
              <a:p>
                <a:endParaRPr lang="fr-FR"/>
              </a:p>
            </p:txBody>
          </p:sp>
          <p:sp>
            <p:nvSpPr>
              <p:cNvPr id="61534" name="Line 94"/>
              <p:cNvSpPr>
                <a:spLocks noChangeShapeType="1"/>
              </p:cNvSpPr>
              <p:nvPr/>
            </p:nvSpPr>
            <p:spPr bwMode="auto">
              <a:xfrm flipH="1" flipV="1">
                <a:off x="1103" y="1349"/>
                <a:ext cx="33" cy="7"/>
              </a:xfrm>
              <a:prstGeom prst="line">
                <a:avLst/>
              </a:prstGeom>
              <a:noFill/>
              <a:ln w="9525">
                <a:solidFill>
                  <a:srgbClr val="D60093"/>
                </a:solidFill>
                <a:round/>
                <a:headEnd/>
                <a:tailEnd/>
              </a:ln>
              <a:effectLst/>
            </p:spPr>
            <p:txBody>
              <a:bodyPr wrap="none" tIns="27432" bIns="27432" anchor="ctr">
                <a:spAutoFit/>
              </a:bodyPr>
              <a:lstStyle/>
              <a:p>
                <a:endParaRPr lang="fr-FR"/>
              </a:p>
            </p:txBody>
          </p:sp>
          <p:sp>
            <p:nvSpPr>
              <p:cNvPr id="61535" name="Line 95"/>
              <p:cNvSpPr>
                <a:spLocks noChangeShapeType="1"/>
              </p:cNvSpPr>
              <p:nvPr/>
            </p:nvSpPr>
            <p:spPr bwMode="auto">
              <a:xfrm flipH="1" flipV="1">
                <a:off x="1103" y="1448"/>
                <a:ext cx="33" cy="8"/>
              </a:xfrm>
              <a:prstGeom prst="line">
                <a:avLst/>
              </a:prstGeom>
              <a:noFill/>
              <a:ln w="9525">
                <a:solidFill>
                  <a:srgbClr val="D60093"/>
                </a:solidFill>
                <a:round/>
                <a:headEnd/>
                <a:tailEnd/>
              </a:ln>
              <a:effectLst/>
            </p:spPr>
            <p:txBody>
              <a:bodyPr wrap="none" tIns="27432" bIns="27432" anchor="ctr">
                <a:spAutoFit/>
              </a:bodyPr>
              <a:lstStyle/>
              <a:p>
                <a:endParaRPr lang="fr-FR"/>
              </a:p>
            </p:txBody>
          </p:sp>
        </p:grpSp>
      </p:grpSp>
      <p:grpSp>
        <p:nvGrpSpPr>
          <p:cNvPr id="61536" name="Group 96"/>
          <p:cNvGrpSpPr>
            <a:grpSpLocks/>
          </p:cNvGrpSpPr>
          <p:nvPr/>
        </p:nvGrpSpPr>
        <p:grpSpPr bwMode="auto">
          <a:xfrm>
            <a:off x="1562100" y="2390140"/>
            <a:ext cx="1038225" cy="1144588"/>
            <a:chOff x="2967" y="2733"/>
            <a:chExt cx="789" cy="870"/>
          </a:xfrm>
        </p:grpSpPr>
        <p:grpSp>
          <p:nvGrpSpPr>
            <p:cNvPr id="61537" name="Group 97"/>
            <p:cNvGrpSpPr>
              <a:grpSpLocks/>
            </p:cNvGrpSpPr>
            <p:nvPr/>
          </p:nvGrpSpPr>
          <p:grpSpPr bwMode="auto">
            <a:xfrm>
              <a:off x="2967" y="3191"/>
              <a:ext cx="763" cy="412"/>
              <a:chOff x="1929" y="1343"/>
              <a:chExt cx="763" cy="412"/>
            </a:xfrm>
          </p:grpSpPr>
          <p:sp>
            <p:nvSpPr>
              <p:cNvPr id="61538" name="Freeform 98"/>
              <p:cNvSpPr>
                <a:spLocks noChangeAspect="1"/>
              </p:cNvSpPr>
              <p:nvPr/>
            </p:nvSpPr>
            <p:spPr bwMode="auto">
              <a:xfrm>
                <a:off x="2428" y="1450"/>
                <a:ext cx="263" cy="305"/>
              </a:xfrm>
              <a:custGeom>
                <a:avLst/>
                <a:gdLst/>
                <a:ahLst/>
                <a:cxnLst>
                  <a:cxn ang="0">
                    <a:pos x="3" y="212"/>
                  </a:cxn>
                  <a:cxn ang="0">
                    <a:pos x="364" y="0"/>
                  </a:cxn>
                  <a:cxn ang="0">
                    <a:pos x="364" y="180"/>
                  </a:cxn>
                  <a:cxn ang="0">
                    <a:pos x="0" y="422"/>
                  </a:cxn>
                </a:cxnLst>
                <a:rect l="0" t="0" r="r" b="b"/>
                <a:pathLst>
                  <a:path w="364" h="422">
                    <a:moveTo>
                      <a:pt x="3" y="212"/>
                    </a:moveTo>
                    <a:lnTo>
                      <a:pt x="364" y="0"/>
                    </a:lnTo>
                    <a:lnTo>
                      <a:pt x="364" y="180"/>
                    </a:lnTo>
                    <a:lnTo>
                      <a:pt x="0" y="422"/>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61539" name="Freeform 99"/>
              <p:cNvSpPr>
                <a:spLocks noChangeAspect="1"/>
              </p:cNvSpPr>
              <p:nvPr/>
            </p:nvSpPr>
            <p:spPr bwMode="auto">
              <a:xfrm>
                <a:off x="1929" y="1343"/>
                <a:ext cx="763" cy="264"/>
              </a:xfrm>
              <a:custGeom>
                <a:avLst/>
                <a:gdLst/>
                <a:ahLst/>
                <a:cxnLst>
                  <a:cxn ang="0">
                    <a:pos x="715" y="376"/>
                  </a:cxn>
                  <a:cxn ang="0">
                    <a:pos x="0" y="187"/>
                  </a:cxn>
                  <a:cxn ang="0">
                    <a:pos x="397" y="0"/>
                  </a:cxn>
                  <a:cxn ang="0">
                    <a:pos x="1090" y="152"/>
                  </a:cxn>
                  <a:cxn ang="0">
                    <a:pos x="715" y="376"/>
                  </a:cxn>
                </a:cxnLst>
                <a:rect l="0" t="0" r="r" b="b"/>
                <a:pathLst>
                  <a:path w="1091" h="377">
                    <a:moveTo>
                      <a:pt x="715" y="376"/>
                    </a:moveTo>
                    <a:lnTo>
                      <a:pt x="0" y="187"/>
                    </a:lnTo>
                    <a:lnTo>
                      <a:pt x="397" y="0"/>
                    </a:lnTo>
                    <a:lnTo>
                      <a:pt x="1090" y="152"/>
                    </a:lnTo>
                    <a:lnTo>
                      <a:pt x="715" y="376"/>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61540" name="Freeform 100"/>
              <p:cNvSpPr>
                <a:spLocks noChangeAspect="1"/>
              </p:cNvSpPr>
              <p:nvPr/>
            </p:nvSpPr>
            <p:spPr bwMode="auto">
              <a:xfrm>
                <a:off x="1929" y="1473"/>
                <a:ext cx="499" cy="282"/>
              </a:xfrm>
              <a:custGeom>
                <a:avLst/>
                <a:gdLst/>
                <a:ahLst/>
                <a:cxnLst>
                  <a:cxn ang="0">
                    <a:pos x="0" y="5"/>
                  </a:cxn>
                  <a:cxn ang="0">
                    <a:pos x="0" y="192"/>
                  </a:cxn>
                  <a:cxn ang="0">
                    <a:pos x="690" y="390"/>
                  </a:cxn>
                  <a:cxn ang="0">
                    <a:pos x="690" y="185"/>
                  </a:cxn>
                  <a:cxn ang="0">
                    <a:pos x="4" y="0"/>
                  </a:cxn>
                </a:cxnLst>
                <a:rect l="0" t="0" r="r" b="b"/>
                <a:pathLst>
                  <a:path w="690" h="390">
                    <a:moveTo>
                      <a:pt x="0" y="5"/>
                    </a:moveTo>
                    <a:lnTo>
                      <a:pt x="0" y="192"/>
                    </a:lnTo>
                    <a:lnTo>
                      <a:pt x="690" y="390"/>
                    </a:lnTo>
                    <a:lnTo>
                      <a:pt x="690" y="185"/>
                    </a:lnTo>
                    <a:lnTo>
                      <a:pt x="4" y="0"/>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61541" name="Freeform 101"/>
              <p:cNvSpPr>
                <a:spLocks noChangeAspect="1"/>
              </p:cNvSpPr>
              <p:nvPr/>
            </p:nvSpPr>
            <p:spPr bwMode="auto">
              <a:xfrm>
                <a:off x="2190" y="1573"/>
                <a:ext cx="196" cy="137"/>
              </a:xfrm>
              <a:custGeom>
                <a:avLst/>
                <a:gdLst/>
                <a:ahLst/>
                <a:cxnLst>
                  <a:cxn ang="0">
                    <a:pos x="0" y="0"/>
                  </a:cxn>
                  <a:cxn ang="0">
                    <a:pos x="271" y="73"/>
                  </a:cxn>
                  <a:cxn ang="0">
                    <a:pos x="271" y="189"/>
                  </a:cxn>
                  <a:cxn ang="0">
                    <a:pos x="0" y="115"/>
                  </a:cxn>
                  <a:cxn ang="0">
                    <a:pos x="0" y="0"/>
                  </a:cxn>
                </a:cxnLst>
                <a:rect l="0" t="0" r="r" b="b"/>
                <a:pathLst>
                  <a:path w="271" h="189">
                    <a:moveTo>
                      <a:pt x="0" y="0"/>
                    </a:moveTo>
                    <a:lnTo>
                      <a:pt x="271" y="73"/>
                    </a:lnTo>
                    <a:lnTo>
                      <a:pt x="271" y="189"/>
                    </a:lnTo>
                    <a:lnTo>
                      <a:pt x="0" y="115"/>
                    </a:lnTo>
                    <a:lnTo>
                      <a:pt x="0" y="0"/>
                    </a:lnTo>
                  </a:path>
                </a:pathLst>
              </a:custGeom>
              <a:gradFill rotWithShape="0">
                <a:gsLst>
                  <a:gs pos="0">
                    <a:srgbClr val="B2B2B2"/>
                  </a:gs>
                  <a:gs pos="100000">
                    <a:srgbClr val="B2B2B2">
                      <a:gamma/>
                      <a:tint val="41176"/>
                      <a:invGamma/>
                    </a:srgbClr>
                  </a:gs>
                </a:gsLst>
                <a:lin ang="2700000" scaled="1"/>
              </a:gradFill>
              <a:ln w="6350" cap="rnd" cmpd="sng">
                <a:noFill/>
                <a:prstDash val="solid"/>
                <a:round/>
                <a:headEnd type="none" w="med" len="med"/>
                <a:tailEnd type="none" w="med" len="med"/>
              </a:ln>
              <a:effectLst/>
            </p:spPr>
            <p:txBody>
              <a:bodyPr/>
              <a:lstStyle/>
              <a:p>
                <a:endParaRPr lang="fr-FR"/>
              </a:p>
            </p:txBody>
          </p:sp>
          <p:sp>
            <p:nvSpPr>
              <p:cNvPr id="61542" name="Freeform 102"/>
              <p:cNvSpPr>
                <a:spLocks noChangeAspect="1" noChangeArrowheads="1"/>
              </p:cNvSpPr>
              <p:nvPr/>
            </p:nvSpPr>
            <p:spPr bwMode="auto">
              <a:xfrm>
                <a:off x="2194" y="1624"/>
                <a:ext cx="189" cy="49"/>
              </a:xfrm>
              <a:custGeom>
                <a:avLst/>
                <a:gdLst/>
                <a:ahLst/>
                <a:cxnLst>
                  <a:cxn ang="0">
                    <a:pos x="0" y="0"/>
                  </a:cxn>
                  <a:cxn ang="0">
                    <a:pos x="261" y="69"/>
                  </a:cxn>
                </a:cxnLst>
                <a:rect l="0" t="0" r="r" b="b"/>
                <a:pathLst>
                  <a:path w="261" h="69">
                    <a:moveTo>
                      <a:pt x="0" y="0"/>
                    </a:moveTo>
                    <a:lnTo>
                      <a:pt x="261" y="69"/>
                    </a:lnTo>
                  </a:path>
                </a:pathLst>
              </a:custGeom>
              <a:noFill/>
              <a:ln w="3175">
                <a:solidFill>
                  <a:srgbClr val="777777"/>
                </a:solidFill>
                <a:round/>
                <a:headEnd/>
                <a:tailEnd/>
              </a:ln>
              <a:effectLst/>
            </p:spPr>
            <p:txBody>
              <a:bodyPr wrap="none" anchor="ctr"/>
              <a:lstStyle/>
              <a:p>
                <a:endParaRPr lang="fr-FR"/>
              </a:p>
            </p:txBody>
          </p:sp>
          <p:sp>
            <p:nvSpPr>
              <p:cNvPr id="61543" name="Freeform 103"/>
              <p:cNvSpPr>
                <a:spLocks/>
              </p:cNvSpPr>
              <p:nvPr/>
            </p:nvSpPr>
            <p:spPr bwMode="auto">
              <a:xfrm>
                <a:off x="2190" y="1572"/>
                <a:ext cx="195" cy="84"/>
              </a:xfrm>
              <a:custGeom>
                <a:avLst/>
                <a:gdLst/>
                <a:ahLst/>
                <a:cxnLst>
                  <a:cxn ang="0">
                    <a:pos x="0" y="84"/>
                  </a:cxn>
                  <a:cxn ang="0">
                    <a:pos x="0" y="0"/>
                  </a:cxn>
                  <a:cxn ang="0">
                    <a:pos x="195" y="54"/>
                  </a:cxn>
                </a:cxnLst>
                <a:rect l="0" t="0" r="r" b="b"/>
                <a:pathLst>
                  <a:path w="195" h="84">
                    <a:moveTo>
                      <a:pt x="0" y="84"/>
                    </a:moveTo>
                    <a:lnTo>
                      <a:pt x="0" y="0"/>
                    </a:lnTo>
                    <a:lnTo>
                      <a:pt x="195" y="54"/>
                    </a:lnTo>
                  </a:path>
                </a:pathLst>
              </a:custGeom>
              <a:noFill/>
              <a:ln w="6350" cap="flat" cmpd="sng">
                <a:solidFill>
                  <a:srgbClr val="777777"/>
                </a:solidFill>
                <a:prstDash val="solid"/>
                <a:round/>
                <a:headEnd type="none" w="med" len="med"/>
                <a:tailEnd type="none" w="med" len="med"/>
              </a:ln>
              <a:effectLst/>
            </p:spPr>
            <p:txBody>
              <a:bodyPr wrap="none" tIns="27432" bIns="27432" anchor="ctr">
                <a:spAutoFit/>
              </a:bodyPr>
              <a:lstStyle/>
              <a:p>
                <a:endParaRPr lang="fr-FR"/>
              </a:p>
            </p:txBody>
          </p:sp>
          <p:sp>
            <p:nvSpPr>
              <p:cNvPr id="61544" name="Line 104"/>
              <p:cNvSpPr>
                <a:spLocks noChangeShapeType="1"/>
              </p:cNvSpPr>
              <p:nvPr/>
            </p:nvSpPr>
            <p:spPr bwMode="auto">
              <a:xfrm>
                <a:off x="2207" y="1600"/>
                <a:ext cx="153" cy="38"/>
              </a:xfrm>
              <a:prstGeom prst="line">
                <a:avLst/>
              </a:prstGeom>
              <a:noFill/>
              <a:ln w="3175">
                <a:solidFill>
                  <a:srgbClr val="777777"/>
                </a:solidFill>
                <a:round/>
                <a:headEnd/>
                <a:tailEnd/>
              </a:ln>
              <a:effectLst/>
            </p:spPr>
            <p:txBody>
              <a:bodyPr wrap="none" tIns="27432" bIns="27432" anchor="ctr">
                <a:spAutoFit/>
              </a:bodyPr>
              <a:lstStyle/>
              <a:p>
                <a:endParaRPr lang="fr-FR"/>
              </a:p>
            </p:txBody>
          </p:sp>
          <p:sp>
            <p:nvSpPr>
              <p:cNvPr id="61545" name="Line 105"/>
              <p:cNvSpPr>
                <a:spLocks noChangeShapeType="1"/>
              </p:cNvSpPr>
              <p:nvPr/>
            </p:nvSpPr>
            <p:spPr bwMode="auto">
              <a:xfrm>
                <a:off x="2337" y="1678"/>
                <a:ext cx="29" cy="6"/>
              </a:xfrm>
              <a:prstGeom prst="line">
                <a:avLst/>
              </a:prstGeom>
              <a:noFill/>
              <a:ln w="19050">
                <a:solidFill>
                  <a:srgbClr val="D60093"/>
                </a:solidFill>
                <a:round/>
                <a:headEnd/>
                <a:tailEnd/>
              </a:ln>
              <a:effectLst/>
            </p:spPr>
            <p:txBody>
              <a:bodyPr wrap="none" tIns="27432" bIns="27432" anchor="ctr">
                <a:spAutoFit/>
              </a:bodyPr>
              <a:lstStyle/>
              <a:p>
                <a:endParaRPr lang="fr-FR"/>
              </a:p>
            </p:txBody>
          </p:sp>
          <p:sp>
            <p:nvSpPr>
              <p:cNvPr id="61546" name="Freeform 106"/>
              <p:cNvSpPr>
                <a:spLocks/>
              </p:cNvSpPr>
              <p:nvPr/>
            </p:nvSpPr>
            <p:spPr bwMode="auto">
              <a:xfrm>
                <a:off x="2255" y="1610"/>
                <a:ext cx="47" cy="25"/>
              </a:xfrm>
              <a:custGeom>
                <a:avLst/>
                <a:gdLst/>
                <a:ahLst/>
                <a:cxnLst>
                  <a:cxn ang="0">
                    <a:pos x="0" y="0"/>
                  </a:cxn>
                  <a:cxn ang="0">
                    <a:pos x="1" y="18"/>
                  </a:cxn>
                  <a:cxn ang="0">
                    <a:pos x="64" y="35"/>
                  </a:cxn>
                  <a:cxn ang="0">
                    <a:pos x="64" y="19"/>
                  </a:cxn>
                  <a:cxn ang="0">
                    <a:pos x="0" y="0"/>
                  </a:cxn>
                </a:cxnLst>
                <a:rect l="0" t="0" r="r" b="b"/>
                <a:pathLst>
                  <a:path w="64" h="35">
                    <a:moveTo>
                      <a:pt x="0" y="0"/>
                    </a:moveTo>
                    <a:lnTo>
                      <a:pt x="1" y="18"/>
                    </a:lnTo>
                    <a:lnTo>
                      <a:pt x="64" y="35"/>
                    </a:lnTo>
                    <a:lnTo>
                      <a:pt x="64" y="19"/>
                    </a:lnTo>
                    <a:lnTo>
                      <a:pt x="0" y="0"/>
                    </a:lnTo>
                    <a:close/>
                  </a:path>
                </a:pathLst>
              </a:custGeom>
              <a:solidFill>
                <a:srgbClr val="777777"/>
              </a:solidFill>
              <a:ln w="19050" cap="flat" cmpd="sng">
                <a:noFill/>
                <a:prstDash val="solid"/>
                <a:round/>
                <a:headEnd type="none" w="med" len="med"/>
                <a:tailEnd type="none" w="med" len="med"/>
              </a:ln>
              <a:effectLst/>
            </p:spPr>
            <p:txBody>
              <a:bodyPr tIns="27432" bIns="27432" anchor="ctr">
                <a:spAutoFit/>
              </a:bodyPr>
              <a:lstStyle/>
              <a:p>
                <a:endParaRPr lang="fr-FR"/>
              </a:p>
            </p:txBody>
          </p:sp>
          <p:sp>
            <p:nvSpPr>
              <p:cNvPr id="61547" name="Line 107"/>
              <p:cNvSpPr>
                <a:spLocks noChangeShapeType="1"/>
              </p:cNvSpPr>
              <p:nvPr/>
            </p:nvSpPr>
            <p:spPr bwMode="auto">
              <a:xfrm>
                <a:off x="1942" y="1503"/>
                <a:ext cx="202" cy="57"/>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61548" name="Line 108"/>
              <p:cNvSpPr>
                <a:spLocks noChangeShapeType="1"/>
              </p:cNvSpPr>
              <p:nvPr/>
            </p:nvSpPr>
            <p:spPr bwMode="auto">
              <a:xfrm>
                <a:off x="1942" y="1525"/>
                <a:ext cx="202" cy="56"/>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61549" name="Line 109"/>
              <p:cNvSpPr>
                <a:spLocks noChangeShapeType="1"/>
              </p:cNvSpPr>
              <p:nvPr/>
            </p:nvSpPr>
            <p:spPr bwMode="auto">
              <a:xfrm>
                <a:off x="1942" y="1548"/>
                <a:ext cx="202" cy="57"/>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61550" name="Line 110"/>
              <p:cNvSpPr>
                <a:spLocks noChangeShapeType="1"/>
              </p:cNvSpPr>
              <p:nvPr/>
            </p:nvSpPr>
            <p:spPr bwMode="auto">
              <a:xfrm>
                <a:off x="1942" y="1570"/>
                <a:ext cx="202" cy="56"/>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61551" name="Freeform 111"/>
              <p:cNvSpPr>
                <a:spLocks/>
              </p:cNvSpPr>
              <p:nvPr/>
            </p:nvSpPr>
            <p:spPr bwMode="auto">
              <a:xfrm>
                <a:off x="2192" y="1632"/>
                <a:ext cx="198" cy="84"/>
              </a:xfrm>
              <a:custGeom>
                <a:avLst/>
                <a:gdLst/>
                <a:ahLst/>
                <a:cxnLst>
                  <a:cxn ang="0">
                    <a:pos x="0" y="40"/>
                  </a:cxn>
                  <a:cxn ang="0">
                    <a:pos x="275" y="117"/>
                  </a:cxn>
                  <a:cxn ang="0">
                    <a:pos x="275" y="0"/>
                  </a:cxn>
                </a:cxnLst>
                <a:rect l="0" t="0" r="r" b="b"/>
                <a:pathLst>
                  <a:path w="275" h="117">
                    <a:moveTo>
                      <a:pt x="0" y="40"/>
                    </a:moveTo>
                    <a:lnTo>
                      <a:pt x="275" y="117"/>
                    </a:lnTo>
                    <a:lnTo>
                      <a:pt x="275" y="0"/>
                    </a:lnTo>
                  </a:path>
                </a:pathLst>
              </a:custGeom>
              <a:noFill/>
              <a:ln w="6350" cap="flat" cmpd="sng">
                <a:solidFill>
                  <a:schemeClr val="bg1"/>
                </a:solidFill>
                <a:prstDash val="solid"/>
                <a:round/>
                <a:headEnd type="none" w="med" len="med"/>
                <a:tailEnd type="none" w="med" len="med"/>
              </a:ln>
              <a:effectLst/>
            </p:spPr>
            <p:txBody>
              <a:bodyPr wrap="none" tIns="27432" bIns="27432" anchor="ctr">
                <a:spAutoFit/>
              </a:bodyPr>
              <a:lstStyle/>
              <a:p>
                <a:endParaRPr lang="fr-FR"/>
              </a:p>
            </p:txBody>
          </p:sp>
        </p:grpSp>
        <p:grpSp>
          <p:nvGrpSpPr>
            <p:cNvPr id="61552" name="Group 112"/>
            <p:cNvGrpSpPr>
              <a:grpSpLocks/>
            </p:cNvGrpSpPr>
            <p:nvPr/>
          </p:nvGrpSpPr>
          <p:grpSpPr bwMode="auto">
            <a:xfrm>
              <a:off x="3042" y="2733"/>
              <a:ext cx="714" cy="672"/>
              <a:chOff x="2004" y="885"/>
              <a:chExt cx="714" cy="672"/>
            </a:xfrm>
          </p:grpSpPr>
          <p:sp>
            <p:nvSpPr>
              <p:cNvPr id="61553" name="Freeform 113"/>
              <p:cNvSpPr>
                <a:spLocks/>
              </p:cNvSpPr>
              <p:nvPr/>
            </p:nvSpPr>
            <p:spPr bwMode="auto">
              <a:xfrm>
                <a:off x="2058" y="1322"/>
                <a:ext cx="556" cy="235"/>
              </a:xfrm>
              <a:custGeom>
                <a:avLst/>
                <a:gdLst/>
                <a:ahLst/>
                <a:cxnLst>
                  <a:cxn ang="0">
                    <a:pos x="0" y="128"/>
                  </a:cxn>
                  <a:cxn ang="0">
                    <a:pos x="238" y="0"/>
                  </a:cxn>
                  <a:cxn ang="0">
                    <a:pos x="556" y="91"/>
                  </a:cxn>
                  <a:cxn ang="0">
                    <a:pos x="556" y="108"/>
                  </a:cxn>
                  <a:cxn ang="0">
                    <a:pos x="334" y="235"/>
                  </a:cxn>
                  <a:cxn ang="0">
                    <a:pos x="0" y="148"/>
                  </a:cxn>
                  <a:cxn ang="0">
                    <a:pos x="0" y="128"/>
                  </a:cxn>
                </a:cxnLst>
                <a:rect l="0" t="0" r="r" b="b"/>
                <a:pathLst>
                  <a:path w="556" h="235">
                    <a:moveTo>
                      <a:pt x="0" y="128"/>
                    </a:moveTo>
                    <a:lnTo>
                      <a:pt x="238" y="0"/>
                    </a:lnTo>
                    <a:lnTo>
                      <a:pt x="556" y="91"/>
                    </a:lnTo>
                    <a:lnTo>
                      <a:pt x="556" y="108"/>
                    </a:lnTo>
                    <a:lnTo>
                      <a:pt x="334" y="235"/>
                    </a:lnTo>
                    <a:lnTo>
                      <a:pt x="0" y="148"/>
                    </a:lnTo>
                    <a:lnTo>
                      <a:pt x="0" y="128"/>
                    </a:lnTo>
                    <a:close/>
                  </a:path>
                </a:pathLst>
              </a:custGeom>
              <a:solidFill>
                <a:srgbClr val="DDDDDD"/>
              </a:solidFill>
              <a:ln w="3175" cap="rnd" cmpd="sng">
                <a:solidFill>
                  <a:srgbClr val="000000"/>
                </a:solidFill>
                <a:prstDash val="solid"/>
                <a:round/>
                <a:headEnd type="none" w="med" len="med"/>
                <a:tailEnd type="none" w="med" len="med"/>
              </a:ln>
              <a:effectLst/>
            </p:spPr>
            <p:txBody>
              <a:bodyPr/>
              <a:lstStyle/>
              <a:p>
                <a:endParaRPr lang="fr-FR"/>
              </a:p>
            </p:txBody>
          </p:sp>
          <p:sp>
            <p:nvSpPr>
              <p:cNvPr id="61554" name="Freeform 114"/>
              <p:cNvSpPr>
                <a:spLocks/>
              </p:cNvSpPr>
              <p:nvPr/>
            </p:nvSpPr>
            <p:spPr bwMode="auto">
              <a:xfrm>
                <a:off x="2065" y="1327"/>
                <a:ext cx="538" cy="208"/>
              </a:xfrm>
              <a:custGeom>
                <a:avLst/>
                <a:gdLst/>
                <a:ahLst/>
                <a:cxnLst>
                  <a:cxn ang="0">
                    <a:pos x="0" y="124"/>
                  </a:cxn>
                  <a:cxn ang="0">
                    <a:pos x="327" y="208"/>
                  </a:cxn>
                  <a:cxn ang="0">
                    <a:pos x="538" y="86"/>
                  </a:cxn>
                  <a:cxn ang="0">
                    <a:pos x="233" y="0"/>
                  </a:cxn>
                  <a:cxn ang="0">
                    <a:pos x="0" y="124"/>
                  </a:cxn>
                </a:cxnLst>
                <a:rect l="0" t="0" r="r" b="b"/>
                <a:pathLst>
                  <a:path w="538" h="208">
                    <a:moveTo>
                      <a:pt x="0" y="124"/>
                    </a:moveTo>
                    <a:lnTo>
                      <a:pt x="327" y="208"/>
                    </a:lnTo>
                    <a:lnTo>
                      <a:pt x="538" y="86"/>
                    </a:lnTo>
                    <a:lnTo>
                      <a:pt x="233" y="0"/>
                    </a:lnTo>
                    <a:lnTo>
                      <a:pt x="0" y="124"/>
                    </a:lnTo>
                    <a:close/>
                  </a:path>
                </a:pathLst>
              </a:custGeom>
              <a:solidFill>
                <a:srgbClr val="B2B2B2"/>
              </a:solidFill>
              <a:ln w="6350" cap="rnd" cmpd="sng">
                <a:noFill/>
                <a:prstDash val="solid"/>
                <a:round/>
                <a:headEnd type="none" w="med" len="med"/>
                <a:tailEnd type="none" w="med" len="med"/>
              </a:ln>
              <a:effectLst/>
            </p:spPr>
            <p:txBody>
              <a:bodyPr/>
              <a:lstStyle/>
              <a:p>
                <a:endParaRPr lang="fr-FR"/>
              </a:p>
            </p:txBody>
          </p:sp>
          <p:sp>
            <p:nvSpPr>
              <p:cNvPr id="61555" name="Oval 115"/>
              <p:cNvSpPr>
                <a:spLocks noChangeArrowheads="1"/>
              </p:cNvSpPr>
              <p:nvPr/>
            </p:nvSpPr>
            <p:spPr bwMode="auto">
              <a:xfrm>
                <a:off x="2199" y="1378"/>
                <a:ext cx="280" cy="112"/>
              </a:xfrm>
              <a:prstGeom prst="ellipse">
                <a:avLst/>
              </a:prstGeom>
              <a:solidFill>
                <a:srgbClr val="B2B2B2"/>
              </a:solidFill>
              <a:ln w="3175" cap="rnd">
                <a:solidFill>
                  <a:schemeClr val="tx1"/>
                </a:solidFill>
                <a:round/>
                <a:headEnd/>
                <a:tailEnd/>
              </a:ln>
              <a:effectLst/>
            </p:spPr>
            <p:txBody>
              <a:bodyPr/>
              <a:lstStyle/>
              <a:p>
                <a:endParaRPr lang="fr-FR"/>
              </a:p>
            </p:txBody>
          </p:sp>
          <p:sp>
            <p:nvSpPr>
              <p:cNvPr id="61556" name="Freeform 116"/>
              <p:cNvSpPr>
                <a:spLocks/>
              </p:cNvSpPr>
              <p:nvPr/>
            </p:nvSpPr>
            <p:spPr bwMode="auto">
              <a:xfrm>
                <a:off x="2046" y="1382"/>
                <a:ext cx="452" cy="126"/>
              </a:xfrm>
              <a:custGeom>
                <a:avLst/>
                <a:gdLst/>
                <a:ahLst/>
                <a:cxnLst>
                  <a:cxn ang="0">
                    <a:pos x="0" y="0"/>
                  </a:cxn>
                  <a:cxn ang="0">
                    <a:pos x="20" y="36"/>
                  </a:cxn>
                  <a:cxn ang="0">
                    <a:pos x="574" y="180"/>
                  </a:cxn>
                  <a:cxn ang="0">
                    <a:pos x="646" y="158"/>
                  </a:cxn>
                </a:cxnLst>
                <a:rect l="0" t="0" r="r" b="b"/>
                <a:pathLst>
                  <a:path w="646" h="180">
                    <a:moveTo>
                      <a:pt x="0" y="0"/>
                    </a:moveTo>
                    <a:lnTo>
                      <a:pt x="20" y="36"/>
                    </a:lnTo>
                    <a:lnTo>
                      <a:pt x="574" y="180"/>
                    </a:lnTo>
                    <a:lnTo>
                      <a:pt x="646" y="158"/>
                    </a:lnTo>
                  </a:path>
                </a:pathLst>
              </a:custGeom>
              <a:solidFill>
                <a:srgbClr val="B2B2B2"/>
              </a:solidFill>
              <a:ln w="3175" cap="rnd" cmpd="sng">
                <a:solidFill>
                  <a:schemeClr val="tx1"/>
                </a:solidFill>
                <a:prstDash val="solid"/>
                <a:round/>
                <a:headEnd type="none" w="med" len="med"/>
                <a:tailEnd type="none" w="med" len="med"/>
              </a:ln>
              <a:effectLst/>
            </p:spPr>
            <p:txBody>
              <a:bodyPr/>
              <a:lstStyle/>
              <a:p>
                <a:endParaRPr lang="fr-FR"/>
              </a:p>
            </p:txBody>
          </p:sp>
          <p:sp>
            <p:nvSpPr>
              <p:cNvPr id="61557" name="Freeform 117"/>
              <p:cNvSpPr>
                <a:spLocks noChangeAspect="1"/>
              </p:cNvSpPr>
              <p:nvPr/>
            </p:nvSpPr>
            <p:spPr bwMode="auto">
              <a:xfrm>
                <a:off x="2154" y="885"/>
                <a:ext cx="564" cy="520"/>
              </a:xfrm>
              <a:custGeom>
                <a:avLst/>
                <a:gdLst/>
                <a:ahLst/>
                <a:cxnLst>
                  <a:cxn ang="0">
                    <a:pos x="620" y="746"/>
                  </a:cxn>
                  <a:cxn ang="0">
                    <a:pos x="808" y="525"/>
                  </a:cxn>
                  <a:cxn ang="0">
                    <a:pos x="808" y="106"/>
                  </a:cxn>
                  <a:cxn ang="0">
                    <a:pos x="336" y="0"/>
                  </a:cxn>
                  <a:cxn ang="0">
                    <a:pos x="0" y="48"/>
                  </a:cxn>
                </a:cxnLst>
                <a:rect l="0" t="0" r="r" b="b"/>
                <a:pathLst>
                  <a:path w="808" h="746">
                    <a:moveTo>
                      <a:pt x="620" y="746"/>
                    </a:moveTo>
                    <a:lnTo>
                      <a:pt x="808" y="525"/>
                    </a:lnTo>
                    <a:lnTo>
                      <a:pt x="808" y="106"/>
                    </a:lnTo>
                    <a:lnTo>
                      <a:pt x="336" y="0"/>
                    </a:lnTo>
                    <a:lnTo>
                      <a:pt x="0" y="4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61558" name="Freeform 118"/>
              <p:cNvSpPr>
                <a:spLocks noChangeAspect="1"/>
              </p:cNvSpPr>
              <p:nvPr/>
            </p:nvSpPr>
            <p:spPr bwMode="auto">
              <a:xfrm>
                <a:off x="2506" y="1000"/>
                <a:ext cx="113" cy="506"/>
              </a:xfrm>
              <a:custGeom>
                <a:avLst/>
                <a:gdLst/>
                <a:ahLst/>
                <a:cxnLst>
                  <a:cxn ang="0">
                    <a:pos x="0" y="644"/>
                  </a:cxn>
                  <a:cxn ang="0">
                    <a:pos x="0" y="79"/>
                  </a:cxn>
                  <a:cxn ang="0">
                    <a:pos x="144" y="0"/>
                  </a:cxn>
                  <a:cxn ang="0">
                    <a:pos x="144" y="554"/>
                  </a:cxn>
                  <a:cxn ang="0">
                    <a:pos x="0" y="644"/>
                  </a:cxn>
                </a:cxnLst>
                <a:rect l="0" t="0" r="r" b="b"/>
                <a:pathLst>
                  <a:path w="144" h="644">
                    <a:moveTo>
                      <a:pt x="0" y="644"/>
                    </a:moveTo>
                    <a:lnTo>
                      <a:pt x="0" y="79"/>
                    </a:lnTo>
                    <a:lnTo>
                      <a:pt x="144" y="0"/>
                    </a:lnTo>
                    <a:lnTo>
                      <a:pt x="144" y="554"/>
                    </a:lnTo>
                    <a:lnTo>
                      <a:pt x="0" y="644"/>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61559" name="Freeform 119"/>
              <p:cNvSpPr>
                <a:spLocks noChangeAspect="1"/>
              </p:cNvSpPr>
              <p:nvPr/>
            </p:nvSpPr>
            <p:spPr bwMode="auto">
              <a:xfrm>
                <a:off x="2004" y="891"/>
                <a:ext cx="615" cy="172"/>
              </a:xfrm>
              <a:custGeom>
                <a:avLst/>
                <a:gdLst/>
                <a:ahLst/>
                <a:cxnLst>
                  <a:cxn ang="0">
                    <a:pos x="638" y="219"/>
                  </a:cxn>
                  <a:cxn ang="0">
                    <a:pos x="0" y="67"/>
                  </a:cxn>
                  <a:cxn ang="0">
                    <a:pos x="160" y="0"/>
                  </a:cxn>
                  <a:cxn ang="0">
                    <a:pos x="782" y="139"/>
                  </a:cxn>
                  <a:cxn ang="0">
                    <a:pos x="638" y="219"/>
                  </a:cxn>
                </a:cxnLst>
                <a:rect l="0" t="0" r="r" b="b"/>
                <a:pathLst>
                  <a:path w="782" h="219">
                    <a:moveTo>
                      <a:pt x="638" y="219"/>
                    </a:moveTo>
                    <a:lnTo>
                      <a:pt x="0" y="67"/>
                    </a:lnTo>
                    <a:lnTo>
                      <a:pt x="160" y="0"/>
                    </a:lnTo>
                    <a:lnTo>
                      <a:pt x="782" y="139"/>
                    </a:lnTo>
                    <a:lnTo>
                      <a:pt x="638" y="219"/>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sp>
            <p:nvSpPr>
              <p:cNvPr id="61560" name="Freeform 120"/>
              <p:cNvSpPr>
                <a:spLocks noChangeAspect="1"/>
              </p:cNvSpPr>
              <p:nvPr/>
            </p:nvSpPr>
            <p:spPr bwMode="auto">
              <a:xfrm>
                <a:off x="2004" y="942"/>
                <a:ext cx="502" cy="566"/>
              </a:xfrm>
              <a:custGeom>
                <a:avLst/>
                <a:gdLst/>
                <a:ahLst/>
                <a:cxnLst>
                  <a:cxn ang="0">
                    <a:pos x="671" y="753"/>
                  </a:cxn>
                  <a:cxn ang="0">
                    <a:pos x="671" y="160"/>
                  </a:cxn>
                  <a:cxn ang="0">
                    <a:pos x="0" y="0"/>
                  </a:cxn>
                  <a:cxn ang="0">
                    <a:pos x="0" y="578"/>
                  </a:cxn>
                  <a:cxn ang="0">
                    <a:pos x="671" y="753"/>
                  </a:cxn>
                </a:cxnLst>
                <a:rect l="0" t="0" r="r" b="b"/>
                <a:pathLst>
                  <a:path w="672" h="754">
                    <a:moveTo>
                      <a:pt x="671" y="753"/>
                    </a:moveTo>
                    <a:lnTo>
                      <a:pt x="671" y="160"/>
                    </a:lnTo>
                    <a:lnTo>
                      <a:pt x="0" y="0"/>
                    </a:lnTo>
                    <a:lnTo>
                      <a:pt x="0" y="578"/>
                    </a:lnTo>
                    <a:lnTo>
                      <a:pt x="671" y="753"/>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61561" name="Freeform 121"/>
              <p:cNvSpPr>
                <a:spLocks noChangeAspect="1"/>
              </p:cNvSpPr>
              <p:nvPr/>
            </p:nvSpPr>
            <p:spPr bwMode="auto">
              <a:xfrm>
                <a:off x="2043" y="992"/>
                <a:ext cx="425" cy="464"/>
              </a:xfrm>
              <a:custGeom>
                <a:avLst/>
                <a:gdLst/>
                <a:ahLst/>
                <a:cxnLst>
                  <a:cxn ang="0">
                    <a:pos x="490" y="548"/>
                  </a:cxn>
                  <a:cxn ang="0">
                    <a:pos x="490" y="117"/>
                  </a:cxn>
                  <a:cxn ang="0">
                    <a:pos x="0" y="0"/>
                  </a:cxn>
                  <a:cxn ang="0">
                    <a:pos x="0" y="424"/>
                  </a:cxn>
                  <a:cxn ang="0">
                    <a:pos x="490" y="548"/>
                  </a:cxn>
                </a:cxnLst>
                <a:rect l="0" t="0" r="r" b="b"/>
                <a:pathLst>
                  <a:path w="491" h="549">
                    <a:moveTo>
                      <a:pt x="490" y="548"/>
                    </a:moveTo>
                    <a:lnTo>
                      <a:pt x="490" y="117"/>
                    </a:lnTo>
                    <a:lnTo>
                      <a:pt x="0" y="0"/>
                    </a:lnTo>
                    <a:lnTo>
                      <a:pt x="0" y="424"/>
                    </a:lnTo>
                    <a:lnTo>
                      <a:pt x="490" y="548"/>
                    </a:lnTo>
                  </a:path>
                </a:pathLst>
              </a:custGeom>
              <a:solidFill>
                <a:srgbClr val="CECECE"/>
              </a:solidFill>
              <a:ln w="6350" cap="rnd" cmpd="sng">
                <a:solidFill>
                  <a:srgbClr val="808080"/>
                </a:solidFill>
                <a:prstDash val="solid"/>
                <a:round/>
                <a:headEnd type="none" w="med" len="med"/>
                <a:tailEnd type="none" w="med" len="med"/>
              </a:ln>
              <a:effectLst/>
            </p:spPr>
            <p:txBody>
              <a:bodyPr/>
              <a:lstStyle/>
              <a:p>
                <a:endParaRPr lang="fr-FR"/>
              </a:p>
            </p:txBody>
          </p:sp>
          <p:sp>
            <p:nvSpPr>
              <p:cNvPr id="61562" name="Freeform 122"/>
              <p:cNvSpPr>
                <a:spLocks/>
              </p:cNvSpPr>
              <p:nvPr/>
            </p:nvSpPr>
            <p:spPr bwMode="auto">
              <a:xfrm>
                <a:off x="2069" y="1023"/>
                <a:ext cx="372" cy="400"/>
              </a:xfrm>
              <a:custGeom>
                <a:avLst/>
                <a:gdLst/>
                <a:ahLst/>
                <a:cxnLst>
                  <a:cxn ang="0">
                    <a:pos x="0" y="0"/>
                  </a:cxn>
                  <a:cxn ang="0">
                    <a:pos x="0" y="454"/>
                  </a:cxn>
                  <a:cxn ang="0">
                    <a:pos x="542" y="592"/>
                  </a:cxn>
                  <a:cxn ang="0">
                    <a:pos x="542" y="130"/>
                  </a:cxn>
                  <a:cxn ang="0">
                    <a:pos x="0" y="0"/>
                  </a:cxn>
                </a:cxnLst>
                <a:rect l="0" t="0" r="r" b="b"/>
                <a:pathLst>
                  <a:path w="542" h="592">
                    <a:moveTo>
                      <a:pt x="0" y="0"/>
                    </a:moveTo>
                    <a:lnTo>
                      <a:pt x="0" y="454"/>
                    </a:lnTo>
                    <a:lnTo>
                      <a:pt x="542" y="592"/>
                    </a:lnTo>
                    <a:lnTo>
                      <a:pt x="542" y="130"/>
                    </a:lnTo>
                    <a:lnTo>
                      <a:pt x="0" y="0"/>
                    </a:lnTo>
                    <a:close/>
                  </a:path>
                </a:pathLst>
              </a:custGeom>
              <a:gradFill rotWithShape="0">
                <a:gsLst>
                  <a:gs pos="0">
                    <a:srgbClr val="618FFD"/>
                  </a:gs>
                  <a:gs pos="100000">
                    <a:srgbClr val="618FFD">
                      <a:gamma/>
                      <a:shade val="75294"/>
                      <a:invGamma/>
                    </a:srgbClr>
                  </a:gs>
                </a:gsLst>
                <a:path path="rect">
                  <a:fillToRect r="100000" b="100000"/>
                </a:path>
              </a:gradFill>
              <a:ln w="6350" cap="flat" cmpd="sng">
                <a:solidFill>
                  <a:srgbClr val="777777"/>
                </a:solidFill>
                <a:prstDash val="solid"/>
                <a:round/>
                <a:headEnd type="none" w="med" len="med"/>
                <a:tailEnd type="none" w="med" len="med"/>
              </a:ln>
              <a:effectLst>
                <a:outerShdw dist="17961" dir="2700000" algn="ctr" rotWithShape="0">
                  <a:schemeClr val="bg1"/>
                </a:outerShdw>
              </a:effectLst>
            </p:spPr>
            <p:txBody>
              <a:bodyPr wrap="none" anchor="ctr"/>
              <a:lstStyle/>
              <a:p>
                <a:endParaRPr lang="fr-FR"/>
              </a:p>
            </p:txBody>
          </p:sp>
          <p:sp>
            <p:nvSpPr>
              <p:cNvPr id="61563" name="Line 123"/>
              <p:cNvSpPr>
                <a:spLocks noChangeShapeType="1"/>
              </p:cNvSpPr>
              <p:nvPr/>
            </p:nvSpPr>
            <p:spPr bwMode="auto">
              <a:xfrm>
                <a:off x="2102" y="1056"/>
                <a:ext cx="0" cy="61"/>
              </a:xfrm>
              <a:prstGeom prst="line">
                <a:avLst/>
              </a:prstGeom>
              <a:noFill/>
              <a:ln w="25400">
                <a:solidFill>
                  <a:schemeClr val="bg1"/>
                </a:solidFill>
                <a:round/>
                <a:headEnd/>
                <a:tailEnd/>
              </a:ln>
              <a:effectLst/>
            </p:spPr>
            <p:txBody>
              <a:bodyPr wrap="none" anchor="ctr"/>
              <a:lstStyle/>
              <a:p>
                <a:endParaRPr lang="fr-FR"/>
              </a:p>
            </p:txBody>
          </p:sp>
        </p:grpSp>
      </p:grpSp>
      <p:grpSp>
        <p:nvGrpSpPr>
          <p:cNvPr id="61564" name="Group 124"/>
          <p:cNvGrpSpPr>
            <a:grpSpLocks/>
          </p:cNvGrpSpPr>
          <p:nvPr/>
        </p:nvGrpSpPr>
        <p:grpSpPr bwMode="auto">
          <a:xfrm>
            <a:off x="863600" y="1336040"/>
            <a:ext cx="1038225" cy="1144588"/>
            <a:chOff x="2967" y="2733"/>
            <a:chExt cx="789" cy="870"/>
          </a:xfrm>
        </p:grpSpPr>
        <p:grpSp>
          <p:nvGrpSpPr>
            <p:cNvPr id="61565" name="Group 125"/>
            <p:cNvGrpSpPr>
              <a:grpSpLocks/>
            </p:cNvGrpSpPr>
            <p:nvPr/>
          </p:nvGrpSpPr>
          <p:grpSpPr bwMode="auto">
            <a:xfrm>
              <a:off x="2967" y="3191"/>
              <a:ext cx="763" cy="412"/>
              <a:chOff x="1929" y="1343"/>
              <a:chExt cx="763" cy="412"/>
            </a:xfrm>
          </p:grpSpPr>
          <p:sp>
            <p:nvSpPr>
              <p:cNvPr id="61566" name="Freeform 126"/>
              <p:cNvSpPr>
                <a:spLocks noChangeAspect="1"/>
              </p:cNvSpPr>
              <p:nvPr/>
            </p:nvSpPr>
            <p:spPr bwMode="auto">
              <a:xfrm>
                <a:off x="2428" y="1450"/>
                <a:ext cx="263" cy="305"/>
              </a:xfrm>
              <a:custGeom>
                <a:avLst/>
                <a:gdLst/>
                <a:ahLst/>
                <a:cxnLst>
                  <a:cxn ang="0">
                    <a:pos x="3" y="212"/>
                  </a:cxn>
                  <a:cxn ang="0">
                    <a:pos x="364" y="0"/>
                  </a:cxn>
                  <a:cxn ang="0">
                    <a:pos x="364" y="180"/>
                  </a:cxn>
                  <a:cxn ang="0">
                    <a:pos x="0" y="422"/>
                  </a:cxn>
                </a:cxnLst>
                <a:rect l="0" t="0" r="r" b="b"/>
                <a:pathLst>
                  <a:path w="364" h="422">
                    <a:moveTo>
                      <a:pt x="3" y="212"/>
                    </a:moveTo>
                    <a:lnTo>
                      <a:pt x="364" y="0"/>
                    </a:lnTo>
                    <a:lnTo>
                      <a:pt x="364" y="180"/>
                    </a:lnTo>
                    <a:lnTo>
                      <a:pt x="0" y="422"/>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61567" name="Freeform 127"/>
              <p:cNvSpPr>
                <a:spLocks noChangeAspect="1"/>
              </p:cNvSpPr>
              <p:nvPr/>
            </p:nvSpPr>
            <p:spPr bwMode="auto">
              <a:xfrm>
                <a:off x="1929" y="1343"/>
                <a:ext cx="763" cy="264"/>
              </a:xfrm>
              <a:custGeom>
                <a:avLst/>
                <a:gdLst/>
                <a:ahLst/>
                <a:cxnLst>
                  <a:cxn ang="0">
                    <a:pos x="715" y="376"/>
                  </a:cxn>
                  <a:cxn ang="0">
                    <a:pos x="0" y="187"/>
                  </a:cxn>
                  <a:cxn ang="0">
                    <a:pos x="397" y="0"/>
                  </a:cxn>
                  <a:cxn ang="0">
                    <a:pos x="1090" y="152"/>
                  </a:cxn>
                  <a:cxn ang="0">
                    <a:pos x="715" y="376"/>
                  </a:cxn>
                </a:cxnLst>
                <a:rect l="0" t="0" r="r" b="b"/>
                <a:pathLst>
                  <a:path w="1091" h="377">
                    <a:moveTo>
                      <a:pt x="715" y="376"/>
                    </a:moveTo>
                    <a:lnTo>
                      <a:pt x="0" y="187"/>
                    </a:lnTo>
                    <a:lnTo>
                      <a:pt x="397" y="0"/>
                    </a:lnTo>
                    <a:lnTo>
                      <a:pt x="1090" y="152"/>
                    </a:lnTo>
                    <a:lnTo>
                      <a:pt x="715" y="376"/>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61568" name="Freeform 128"/>
              <p:cNvSpPr>
                <a:spLocks noChangeAspect="1"/>
              </p:cNvSpPr>
              <p:nvPr/>
            </p:nvSpPr>
            <p:spPr bwMode="auto">
              <a:xfrm>
                <a:off x="1929" y="1473"/>
                <a:ext cx="499" cy="282"/>
              </a:xfrm>
              <a:custGeom>
                <a:avLst/>
                <a:gdLst/>
                <a:ahLst/>
                <a:cxnLst>
                  <a:cxn ang="0">
                    <a:pos x="0" y="5"/>
                  </a:cxn>
                  <a:cxn ang="0">
                    <a:pos x="0" y="192"/>
                  </a:cxn>
                  <a:cxn ang="0">
                    <a:pos x="690" y="390"/>
                  </a:cxn>
                  <a:cxn ang="0">
                    <a:pos x="690" y="185"/>
                  </a:cxn>
                  <a:cxn ang="0">
                    <a:pos x="4" y="0"/>
                  </a:cxn>
                </a:cxnLst>
                <a:rect l="0" t="0" r="r" b="b"/>
                <a:pathLst>
                  <a:path w="690" h="390">
                    <a:moveTo>
                      <a:pt x="0" y="5"/>
                    </a:moveTo>
                    <a:lnTo>
                      <a:pt x="0" y="192"/>
                    </a:lnTo>
                    <a:lnTo>
                      <a:pt x="690" y="390"/>
                    </a:lnTo>
                    <a:lnTo>
                      <a:pt x="690" y="185"/>
                    </a:lnTo>
                    <a:lnTo>
                      <a:pt x="4" y="0"/>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61569" name="Freeform 129"/>
              <p:cNvSpPr>
                <a:spLocks noChangeAspect="1"/>
              </p:cNvSpPr>
              <p:nvPr/>
            </p:nvSpPr>
            <p:spPr bwMode="auto">
              <a:xfrm>
                <a:off x="2190" y="1573"/>
                <a:ext cx="196" cy="137"/>
              </a:xfrm>
              <a:custGeom>
                <a:avLst/>
                <a:gdLst/>
                <a:ahLst/>
                <a:cxnLst>
                  <a:cxn ang="0">
                    <a:pos x="0" y="0"/>
                  </a:cxn>
                  <a:cxn ang="0">
                    <a:pos x="271" y="73"/>
                  </a:cxn>
                  <a:cxn ang="0">
                    <a:pos x="271" y="189"/>
                  </a:cxn>
                  <a:cxn ang="0">
                    <a:pos x="0" y="115"/>
                  </a:cxn>
                  <a:cxn ang="0">
                    <a:pos x="0" y="0"/>
                  </a:cxn>
                </a:cxnLst>
                <a:rect l="0" t="0" r="r" b="b"/>
                <a:pathLst>
                  <a:path w="271" h="189">
                    <a:moveTo>
                      <a:pt x="0" y="0"/>
                    </a:moveTo>
                    <a:lnTo>
                      <a:pt x="271" y="73"/>
                    </a:lnTo>
                    <a:lnTo>
                      <a:pt x="271" y="189"/>
                    </a:lnTo>
                    <a:lnTo>
                      <a:pt x="0" y="115"/>
                    </a:lnTo>
                    <a:lnTo>
                      <a:pt x="0" y="0"/>
                    </a:lnTo>
                  </a:path>
                </a:pathLst>
              </a:custGeom>
              <a:gradFill rotWithShape="0">
                <a:gsLst>
                  <a:gs pos="0">
                    <a:srgbClr val="B2B2B2"/>
                  </a:gs>
                  <a:gs pos="100000">
                    <a:srgbClr val="B2B2B2">
                      <a:gamma/>
                      <a:tint val="41176"/>
                      <a:invGamma/>
                    </a:srgbClr>
                  </a:gs>
                </a:gsLst>
                <a:lin ang="2700000" scaled="1"/>
              </a:gradFill>
              <a:ln w="6350" cap="rnd" cmpd="sng">
                <a:noFill/>
                <a:prstDash val="solid"/>
                <a:round/>
                <a:headEnd type="none" w="med" len="med"/>
                <a:tailEnd type="none" w="med" len="med"/>
              </a:ln>
              <a:effectLst/>
            </p:spPr>
            <p:txBody>
              <a:bodyPr/>
              <a:lstStyle/>
              <a:p>
                <a:endParaRPr lang="fr-FR"/>
              </a:p>
            </p:txBody>
          </p:sp>
          <p:sp>
            <p:nvSpPr>
              <p:cNvPr id="61570" name="Freeform 130"/>
              <p:cNvSpPr>
                <a:spLocks noChangeAspect="1" noChangeArrowheads="1"/>
              </p:cNvSpPr>
              <p:nvPr/>
            </p:nvSpPr>
            <p:spPr bwMode="auto">
              <a:xfrm>
                <a:off x="2194" y="1624"/>
                <a:ext cx="189" cy="49"/>
              </a:xfrm>
              <a:custGeom>
                <a:avLst/>
                <a:gdLst/>
                <a:ahLst/>
                <a:cxnLst>
                  <a:cxn ang="0">
                    <a:pos x="0" y="0"/>
                  </a:cxn>
                  <a:cxn ang="0">
                    <a:pos x="261" y="69"/>
                  </a:cxn>
                </a:cxnLst>
                <a:rect l="0" t="0" r="r" b="b"/>
                <a:pathLst>
                  <a:path w="261" h="69">
                    <a:moveTo>
                      <a:pt x="0" y="0"/>
                    </a:moveTo>
                    <a:lnTo>
                      <a:pt x="261" y="69"/>
                    </a:lnTo>
                  </a:path>
                </a:pathLst>
              </a:custGeom>
              <a:noFill/>
              <a:ln w="3175">
                <a:solidFill>
                  <a:srgbClr val="777777"/>
                </a:solidFill>
                <a:round/>
                <a:headEnd/>
                <a:tailEnd/>
              </a:ln>
              <a:effectLst/>
            </p:spPr>
            <p:txBody>
              <a:bodyPr wrap="none" anchor="ctr"/>
              <a:lstStyle/>
              <a:p>
                <a:endParaRPr lang="fr-FR"/>
              </a:p>
            </p:txBody>
          </p:sp>
          <p:sp>
            <p:nvSpPr>
              <p:cNvPr id="61571" name="Freeform 131"/>
              <p:cNvSpPr>
                <a:spLocks/>
              </p:cNvSpPr>
              <p:nvPr/>
            </p:nvSpPr>
            <p:spPr bwMode="auto">
              <a:xfrm>
                <a:off x="2190" y="1572"/>
                <a:ext cx="195" cy="84"/>
              </a:xfrm>
              <a:custGeom>
                <a:avLst/>
                <a:gdLst/>
                <a:ahLst/>
                <a:cxnLst>
                  <a:cxn ang="0">
                    <a:pos x="0" y="84"/>
                  </a:cxn>
                  <a:cxn ang="0">
                    <a:pos x="0" y="0"/>
                  </a:cxn>
                  <a:cxn ang="0">
                    <a:pos x="195" y="54"/>
                  </a:cxn>
                </a:cxnLst>
                <a:rect l="0" t="0" r="r" b="b"/>
                <a:pathLst>
                  <a:path w="195" h="84">
                    <a:moveTo>
                      <a:pt x="0" y="84"/>
                    </a:moveTo>
                    <a:lnTo>
                      <a:pt x="0" y="0"/>
                    </a:lnTo>
                    <a:lnTo>
                      <a:pt x="195" y="54"/>
                    </a:lnTo>
                  </a:path>
                </a:pathLst>
              </a:custGeom>
              <a:noFill/>
              <a:ln w="6350" cap="flat" cmpd="sng">
                <a:solidFill>
                  <a:srgbClr val="777777"/>
                </a:solidFill>
                <a:prstDash val="solid"/>
                <a:round/>
                <a:headEnd type="none" w="med" len="med"/>
                <a:tailEnd type="none" w="med" len="med"/>
              </a:ln>
              <a:effectLst/>
            </p:spPr>
            <p:txBody>
              <a:bodyPr wrap="none" tIns="27432" bIns="27432" anchor="ctr">
                <a:spAutoFit/>
              </a:bodyPr>
              <a:lstStyle/>
              <a:p>
                <a:endParaRPr lang="fr-FR"/>
              </a:p>
            </p:txBody>
          </p:sp>
          <p:sp>
            <p:nvSpPr>
              <p:cNvPr id="61572" name="Line 132"/>
              <p:cNvSpPr>
                <a:spLocks noChangeShapeType="1"/>
              </p:cNvSpPr>
              <p:nvPr/>
            </p:nvSpPr>
            <p:spPr bwMode="auto">
              <a:xfrm>
                <a:off x="2207" y="1600"/>
                <a:ext cx="153" cy="38"/>
              </a:xfrm>
              <a:prstGeom prst="line">
                <a:avLst/>
              </a:prstGeom>
              <a:noFill/>
              <a:ln w="3175">
                <a:solidFill>
                  <a:srgbClr val="777777"/>
                </a:solidFill>
                <a:round/>
                <a:headEnd/>
                <a:tailEnd/>
              </a:ln>
              <a:effectLst/>
            </p:spPr>
            <p:txBody>
              <a:bodyPr wrap="none" tIns="27432" bIns="27432" anchor="ctr">
                <a:spAutoFit/>
              </a:bodyPr>
              <a:lstStyle/>
              <a:p>
                <a:endParaRPr lang="fr-FR"/>
              </a:p>
            </p:txBody>
          </p:sp>
          <p:sp>
            <p:nvSpPr>
              <p:cNvPr id="61573" name="Line 133"/>
              <p:cNvSpPr>
                <a:spLocks noChangeShapeType="1"/>
              </p:cNvSpPr>
              <p:nvPr/>
            </p:nvSpPr>
            <p:spPr bwMode="auto">
              <a:xfrm>
                <a:off x="2337" y="1678"/>
                <a:ext cx="29" cy="6"/>
              </a:xfrm>
              <a:prstGeom prst="line">
                <a:avLst/>
              </a:prstGeom>
              <a:noFill/>
              <a:ln w="19050">
                <a:solidFill>
                  <a:srgbClr val="D60093"/>
                </a:solidFill>
                <a:round/>
                <a:headEnd/>
                <a:tailEnd/>
              </a:ln>
              <a:effectLst/>
            </p:spPr>
            <p:txBody>
              <a:bodyPr wrap="none" tIns="27432" bIns="27432" anchor="ctr">
                <a:spAutoFit/>
              </a:bodyPr>
              <a:lstStyle/>
              <a:p>
                <a:endParaRPr lang="fr-FR"/>
              </a:p>
            </p:txBody>
          </p:sp>
          <p:sp>
            <p:nvSpPr>
              <p:cNvPr id="61574" name="Freeform 134"/>
              <p:cNvSpPr>
                <a:spLocks/>
              </p:cNvSpPr>
              <p:nvPr/>
            </p:nvSpPr>
            <p:spPr bwMode="auto">
              <a:xfrm>
                <a:off x="2255" y="1610"/>
                <a:ext cx="47" cy="25"/>
              </a:xfrm>
              <a:custGeom>
                <a:avLst/>
                <a:gdLst/>
                <a:ahLst/>
                <a:cxnLst>
                  <a:cxn ang="0">
                    <a:pos x="0" y="0"/>
                  </a:cxn>
                  <a:cxn ang="0">
                    <a:pos x="1" y="18"/>
                  </a:cxn>
                  <a:cxn ang="0">
                    <a:pos x="64" y="35"/>
                  </a:cxn>
                  <a:cxn ang="0">
                    <a:pos x="64" y="19"/>
                  </a:cxn>
                  <a:cxn ang="0">
                    <a:pos x="0" y="0"/>
                  </a:cxn>
                </a:cxnLst>
                <a:rect l="0" t="0" r="r" b="b"/>
                <a:pathLst>
                  <a:path w="64" h="35">
                    <a:moveTo>
                      <a:pt x="0" y="0"/>
                    </a:moveTo>
                    <a:lnTo>
                      <a:pt x="1" y="18"/>
                    </a:lnTo>
                    <a:lnTo>
                      <a:pt x="64" y="35"/>
                    </a:lnTo>
                    <a:lnTo>
                      <a:pt x="64" y="19"/>
                    </a:lnTo>
                    <a:lnTo>
                      <a:pt x="0" y="0"/>
                    </a:lnTo>
                    <a:close/>
                  </a:path>
                </a:pathLst>
              </a:custGeom>
              <a:solidFill>
                <a:srgbClr val="777777"/>
              </a:solidFill>
              <a:ln w="19050" cap="flat" cmpd="sng">
                <a:noFill/>
                <a:prstDash val="solid"/>
                <a:round/>
                <a:headEnd type="none" w="med" len="med"/>
                <a:tailEnd type="none" w="med" len="med"/>
              </a:ln>
              <a:effectLst/>
            </p:spPr>
            <p:txBody>
              <a:bodyPr tIns="27432" bIns="27432" anchor="ctr">
                <a:spAutoFit/>
              </a:bodyPr>
              <a:lstStyle/>
              <a:p>
                <a:endParaRPr lang="fr-FR"/>
              </a:p>
            </p:txBody>
          </p:sp>
          <p:sp>
            <p:nvSpPr>
              <p:cNvPr id="61575" name="Line 135"/>
              <p:cNvSpPr>
                <a:spLocks noChangeShapeType="1"/>
              </p:cNvSpPr>
              <p:nvPr/>
            </p:nvSpPr>
            <p:spPr bwMode="auto">
              <a:xfrm>
                <a:off x="1942" y="1503"/>
                <a:ext cx="202" cy="57"/>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61576" name="Line 136"/>
              <p:cNvSpPr>
                <a:spLocks noChangeShapeType="1"/>
              </p:cNvSpPr>
              <p:nvPr/>
            </p:nvSpPr>
            <p:spPr bwMode="auto">
              <a:xfrm>
                <a:off x="1942" y="1525"/>
                <a:ext cx="202" cy="56"/>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61577" name="Line 137"/>
              <p:cNvSpPr>
                <a:spLocks noChangeShapeType="1"/>
              </p:cNvSpPr>
              <p:nvPr/>
            </p:nvSpPr>
            <p:spPr bwMode="auto">
              <a:xfrm>
                <a:off x="1942" y="1548"/>
                <a:ext cx="202" cy="57"/>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61578" name="Line 138"/>
              <p:cNvSpPr>
                <a:spLocks noChangeShapeType="1"/>
              </p:cNvSpPr>
              <p:nvPr/>
            </p:nvSpPr>
            <p:spPr bwMode="auto">
              <a:xfrm>
                <a:off x="1942" y="1570"/>
                <a:ext cx="202" cy="56"/>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61579" name="Freeform 139"/>
              <p:cNvSpPr>
                <a:spLocks/>
              </p:cNvSpPr>
              <p:nvPr/>
            </p:nvSpPr>
            <p:spPr bwMode="auto">
              <a:xfrm>
                <a:off x="2192" y="1632"/>
                <a:ext cx="198" cy="84"/>
              </a:xfrm>
              <a:custGeom>
                <a:avLst/>
                <a:gdLst/>
                <a:ahLst/>
                <a:cxnLst>
                  <a:cxn ang="0">
                    <a:pos x="0" y="40"/>
                  </a:cxn>
                  <a:cxn ang="0">
                    <a:pos x="275" y="117"/>
                  </a:cxn>
                  <a:cxn ang="0">
                    <a:pos x="275" y="0"/>
                  </a:cxn>
                </a:cxnLst>
                <a:rect l="0" t="0" r="r" b="b"/>
                <a:pathLst>
                  <a:path w="275" h="117">
                    <a:moveTo>
                      <a:pt x="0" y="40"/>
                    </a:moveTo>
                    <a:lnTo>
                      <a:pt x="275" y="117"/>
                    </a:lnTo>
                    <a:lnTo>
                      <a:pt x="275" y="0"/>
                    </a:lnTo>
                  </a:path>
                </a:pathLst>
              </a:custGeom>
              <a:noFill/>
              <a:ln w="6350" cap="flat" cmpd="sng">
                <a:solidFill>
                  <a:schemeClr val="bg1"/>
                </a:solidFill>
                <a:prstDash val="solid"/>
                <a:round/>
                <a:headEnd type="none" w="med" len="med"/>
                <a:tailEnd type="none" w="med" len="med"/>
              </a:ln>
              <a:effectLst/>
            </p:spPr>
            <p:txBody>
              <a:bodyPr wrap="none" tIns="27432" bIns="27432" anchor="ctr">
                <a:spAutoFit/>
              </a:bodyPr>
              <a:lstStyle/>
              <a:p>
                <a:endParaRPr lang="fr-FR"/>
              </a:p>
            </p:txBody>
          </p:sp>
        </p:grpSp>
        <p:grpSp>
          <p:nvGrpSpPr>
            <p:cNvPr id="61580" name="Group 140"/>
            <p:cNvGrpSpPr>
              <a:grpSpLocks/>
            </p:cNvGrpSpPr>
            <p:nvPr/>
          </p:nvGrpSpPr>
          <p:grpSpPr bwMode="auto">
            <a:xfrm>
              <a:off x="3042" y="2733"/>
              <a:ext cx="714" cy="672"/>
              <a:chOff x="2004" y="885"/>
              <a:chExt cx="714" cy="672"/>
            </a:xfrm>
          </p:grpSpPr>
          <p:sp>
            <p:nvSpPr>
              <p:cNvPr id="61581" name="Freeform 141"/>
              <p:cNvSpPr>
                <a:spLocks/>
              </p:cNvSpPr>
              <p:nvPr/>
            </p:nvSpPr>
            <p:spPr bwMode="auto">
              <a:xfrm>
                <a:off x="2058" y="1322"/>
                <a:ext cx="556" cy="235"/>
              </a:xfrm>
              <a:custGeom>
                <a:avLst/>
                <a:gdLst/>
                <a:ahLst/>
                <a:cxnLst>
                  <a:cxn ang="0">
                    <a:pos x="0" y="128"/>
                  </a:cxn>
                  <a:cxn ang="0">
                    <a:pos x="238" y="0"/>
                  </a:cxn>
                  <a:cxn ang="0">
                    <a:pos x="556" y="91"/>
                  </a:cxn>
                  <a:cxn ang="0">
                    <a:pos x="556" y="108"/>
                  </a:cxn>
                  <a:cxn ang="0">
                    <a:pos x="334" y="235"/>
                  </a:cxn>
                  <a:cxn ang="0">
                    <a:pos x="0" y="148"/>
                  </a:cxn>
                  <a:cxn ang="0">
                    <a:pos x="0" y="128"/>
                  </a:cxn>
                </a:cxnLst>
                <a:rect l="0" t="0" r="r" b="b"/>
                <a:pathLst>
                  <a:path w="556" h="235">
                    <a:moveTo>
                      <a:pt x="0" y="128"/>
                    </a:moveTo>
                    <a:lnTo>
                      <a:pt x="238" y="0"/>
                    </a:lnTo>
                    <a:lnTo>
                      <a:pt x="556" y="91"/>
                    </a:lnTo>
                    <a:lnTo>
                      <a:pt x="556" y="108"/>
                    </a:lnTo>
                    <a:lnTo>
                      <a:pt x="334" y="235"/>
                    </a:lnTo>
                    <a:lnTo>
                      <a:pt x="0" y="148"/>
                    </a:lnTo>
                    <a:lnTo>
                      <a:pt x="0" y="128"/>
                    </a:lnTo>
                    <a:close/>
                  </a:path>
                </a:pathLst>
              </a:custGeom>
              <a:solidFill>
                <a:srgbClr val="DDDDDD"/>
              </a:solidFill>
              <a:ln w="3175" cap="rnd" cmpd="sng">
                <a:solidFill>
                  <a:srgbClr val="000000"/>
                </a:solidFill>
                <a:prstDash val="solid"/>
                <a:round/>
                <a:headEnd type="none" w="med" len="med"/>
                <a:tailEnd type="none" w="med" len="med"/>
              </a:ln>
              <a:effectLst/>
            </p:spPr>
            <p:txBody>
              <a:bodyPr/>
              <a:lstStyle/>
              <a:p>
                <a:endParaRPr lang="fr-FR"/>
              </a:p>
            </p:txBody>
          </p:sp>
          <p:sp>
            <p:nvSpPr>
              <p:cNvPr id="61582" name="Freeform 142"/>
              <p:cNvSpPr>
                <a:spLocks/>
              </p:cNvSpPr>
              <p:nvPr/>
            </p:nvSpPr>
            <p:spPr bwMode="auto">
              <a:xfrm>
                <a:off x="2065" y="1327"/>
                <a:ext cx="538" cy="208"/>
              </a:xfrm>
              <a:custGeom>
                <a:avLst/>
                <a:gdLst/>
                <a:ahLst/>
                <a:cxnLst>
                  <a:cxn ang="0">
                    <a:pos x="0" y="124"/>
                  </a:cxn>
                  <a:cxn ang="0">
                    <a:pos x="327" y="208"/>
                  </a:cxn>
                  <a:cxn ang="0">
                    <a:pos x="538" y="86"/>
                  </a:cxn>
                  <a:cxn ang="0">
                    <a:pos x="233" y="0"/>
                  </a:cxn>
                  <a:cxn ang="0">
                    <a:pos x="0" y="124"/>
                  </a:cxn>
                </a:cxnLst>
                <a:rect l="0" t="0" r="r" b="b"/>
                <a:pathLst>
                  <a:path w="538" h="208">
                    <a:moveTo>
                      <a:pt x="0" y="124"/>
                    </a:moveTo>
                    <a:lnTo>
                      <a:pt x="327" y="208"/>
                    </a:lnTo>
                    <a:lnTo>
                      <a:pt x="538" y="86"/>
                    </a:lnTo>
                    <a:lnTo>
                      <a:pt x="233" y="0"/>
                    </a:lnTo>
                    <a:lnTo>
                      <a:pt x="0" y="124"/>
                    </a:lnTo>
                    <a:close/>
                  </a:path>
                </a:pathLst>
              </a:custGeom>
              <a:solidFill>
                <a:srgbClr val="B2B2B2"/>
              </a:solidFill>
              <a:ln w="6350" cap="rnd" cmpd="sng">
                <a:noFill/>
                <a:prstDash val="solid"/>
                <a:round/>
                <a:headEnd type="none" w="med" len="med"/>
                <a:tailEnd type="none" w="med" len="med"/>
              </a:ln>
              <a:effectLst/>
            </p:spPr>
            <p:txBody>
              <a:bodyPr/>
              <a:lstStyle/>
              <a:p>
                <a:endParaRPr lang="fr-FR"/>
              </a:p>
            </p:txBody>
          </p:sp>
          <p:sp>
            <p:nvSpPr>
              <p:cNvPr id="61583" name="Oval 143"/>
              <p:cNvSpPr>
                <a:spLocks noChangeArrowheads="1"/>
              </p:cNvSpPr>
              <p:nvPr/>
            </p:nvSpPr>
            <p:spPr bwMode="auto">
              <a:xfrm>
                <a:off x="2199" y="1378"/>
                <a:ext cx="280" cy="112"/>
              </a:xfrm>
              <a:prstGeom prst="ellipse">
                <a:avLst/>
              </a:prstGeom>
              <a:solidFill>
                <a:srgbClr val="B2B2B2"/>
              </a:solidFill>
              <a:ln w="3175" cap="rnd">
                <a:solidFill>
                  <a:schemeClr val="tx1"/>
                </a:solidFill>
                <a:round/>
                <a:headEnd/>
                <a:tailEnd/>
              </a:ln>
              <a:effectLst/>
            </p:spPr>
            <p:txBody>
              <a:bodyPr/>
              <a:lstStyle/>
              <a:p>
                <a:endParaRPr lang="fr-FR"/>
              </a:p>
            </p:txBody>
          </p:sp>
          <p:sp>
            <p:nvSpPr>
              <p:cNvPr id="61584" name="Freeform 144"/>
              <p:cNvSpPr>
                <a:spLocks/>
              </p:cNvSpPr>
              <p:nvPr/>
            </p:nvSpPr>
            <p:spPr bwMode="auto">
              <a:xfrm>
                <a:off x="2046" y="1382"/>
                <a:ext cx="452" cy="126"/>
              </a:xfrm>
              <a:custGeom>
                <a:avLst/>
                <a:gdLst/>
                <a:ahLst/>
                <a:cxnLst>
                  <a:cxn ang="0">
                    <a:pos x="0" y="0"/>
                  </a:cxn>
                  <a:cxn ang="0">
                    <a:pos x="20" y="36"/>
                  </a:cxn>
                  <a:cxn ang="0">
                    <a:pos x="574" y="180"/>
                  </a:cxn>
                  <a:cxn ang="0">
                    <a:pos x="646" y="158"/>
                  </a:cxn>
                </a:cxnLst>
                <a:rect l="0" t="0" r="r" b="b"/>
                <a:pathLst>
                  <a:path w="646" h="180">
                    <a:moveTo>
                      <a:pt x="0" y="0"/>
                    </a:moveTo>
                    <a:lnTo>
                      <a:pt x="20" y="36"/>
                    </a:lnTo>
                    <a:lnTo>
                      <a:pt x="574" y="180"/>
                    </a:lnTo>
                    <a:lnTo>
                      <a:pt x="646" y="158"/>
                    </a:lnTo>
                  </a:path>
                </a:pathLst>
              </a:custGeom>
              <a:solidFill>
                <a:srgbClr val="B2B2B2"/>
              </a:solidFill>
              <a:ln w="3175" cap="rnd" cmpd="sng">
                <a:solidFill>
                  <a:schemeClr val="tx1"/>
                </a:solidFill>
                <a:prstDash val="solid"/>
                <a:round/>
                <a:headEnd type="none" w="med" len="med"/>
                <a:tailEnd type="none" w="med" len="med"/>
              </a:ln>
              <a:effectLst/>
            </p:spPr>
            <p:txBody>
              <a:bodyPr/>
              <a:lstStyle/>
              <a:p>
                <a:endParaRPr lang="fr-FR"/>
              </a:p>
            </p:txBody>
          </p:sp>
          <p:sp>
            <p:nvSpPr>
              <p:cNvPr id="61585" name="Freeform 145"/>
              <p:cNvSpPr>
                <a:spLocks noChangeAspect="1"/>
              </p:cNvSpPr>
              <p:nvPr/>
            </p:nvSpPr>
            <p:spPr bwMode="auto">
              <a:xfrm>
                <a:off x="2154" y="885"/>
                <a:ext cx="564" cy="520"/>
              </a:xfrm>
              <a:custGeom>
                <a:avLst/>
                <a:gdLst/>
                <a:ahLst/>
                <a:cxnLst>
                  <a:cxn ang="0">
                    <a:pos x="620" y="746"/>
                  </a:cxn>
                  <a:cxn ang="0">
                    <a:pos x="808" y="525"/>
                  </a:cxn>
                  <a:cxn ang="0">
                    <a:pos x="808" y="106"/>
                  </a:cxn>
                  <a:cxn ang="0">
                    <a:pos x="336" y="0"/>
                  </a:cxn>
                  <a:cxn ang="0">
                    <a:pos x="0" y="48"/>
                  </a:cxn>
                </a:cxnLst>
                <a:rect l="0" t="0" r="r" b="b"/>
                <a:pathLst>
                  <a:path w="808" h="746">
                    <a:moveTo>
                      <a:pt x="620" y="746"/>
                    </a:moveTo>
                    <a:lnTo>
                      <a:pt x="808" y="525"/>
                    </a:lnTo>
                    <a:lnTo>
                      <a:pt x="808" y="106"/>
                    </a:lnTo>
                    <a:lnTo>
                      <a:pt x="336" y="0"/>
                    </a:lnTo>
                    <a:lnTo>
                      <a:pt x="0" y="4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61586" name="Freeform 146"/>
              <p:cNvSpPr>
                <a:spLocks noChangeAspect="1"/>
              </p:cNvSpPr>
              <p:nvPr/>
            </p:nvSpPr>
            <p:spPr bwMode="auto">
              <a:xfrm>
                <a:off x="2506" y="1000"/>
                <a:ext cx="113" cy="506"/>
              </a:xfrm>
              <a:custGeom>
                <a:avLst/>
                <a:gdLst/>
                <a:ahLst/>
                <a:cxnLst>
                  <a:cxn ang="0">
                    <a:pos x="0" y="644"/>
                  </a:cxn>
                  <a:cxn ang="0">
                    <a:pos x="0" y="79"/>
                  </a:cxn>
                  <a:cxn ang="0">
                    <a:pos x="144" y="0"/>
                  </a:cxn>
                  <a:cxn ang="0">
                    <a:pos x="144" y="554"/>
                  </a:cxn>
                  <a:cxn ang="0">
                    <a:pos x="0" y="644"/>
                  </a:cxn>
                </a:cxnLst>
                <a:rect l="0" t="0" r="r" b="b"/>
                <a:pathLst>
                  <a:path w="144" h="644">
                    <a:moveTo>
                      <a:pt x="0" y="644"/>
                    </a:moveTo>
                    <a:lnTo>
                      <a:pt x="0" y="79"/>
                    </a:lnTo>
                    <a:lnTo>
                      <a:pt x="144" y="0"/>
                    </a:lnTo>
                    <a:lnTo>
                      <a:pt x="144" y="554"/>
                    </a:lnTo>
                    <a:lnTo>
                      <a:pt x="0" y="644"/>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61587" name="Freeform 147"/>
              <p:cNvSpPr>
                <a:spLocks noChangeAspect="1"/>
              </p:cNvSpPr>
              <p:nvPr/>
            </p:nvSpPr>
            <p:spPr bwMode="auto">
              <a:xfrm>
                <a:off x="2004" y="891"/>
                <a:ext cx="615" cy="172"/>
              </a:xfrm>
              <a:custGeom>
                <a:avLst/>
                <a:gdLst/>
                <a:ahLst/>
                <a:cxnLst>
                  <a:cxn ang="0">
                    <a:pos x="638" y="219"/>
                  </a:cxn>
                  <a:cxn ang="0">
                    <a:pos x="0" y="67"/>
                  </a:cxn>
                  <a:cxn ang="0">
                    <a:pos x="160" y="0"/>
                  </a:cxn>
                  <a:cxn ang="0">
                    <a:pos x="782" y="139"/>
                  </a:cxn>
                  <a:cxn ang="0">
                    <a:pos x="638" y="219"/>
                  </a:cxn>
                </a:cxnLst>
                <a:rect l="0" t="0" r="r" b="b"/>
                <a:pathLst>
                  <a:path w="782" h="219">
                    <a:moveTo>
                      <a:pt x="638" y="219"/>
                    </a:moveTo>
                    <a:lnTo>
                      <a:pt x="0" y="67"/>
                    </a:lnTo>
                    <a:lnTo>
                      <a:pt x="160" y="0"/>
                    </a:lnTo>
                    <a:lnTo>
                      <a:pt x="782" y="139"/>
                    </a:lnTo>
                    <a:lnTo>
                      <a:pt x="638" y="219"/>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sp>
            <p:nvSpPr>
              <p:cNvPr id="61588" name="Freeform 148"/>
              <p:cNvSpPr>
                <a:spLocks noChangeAspect="1"/>
              </p:cNvSpPr>
              <p:nvPr/>
            </p:nvSpPr>
            <p:spPr bwMode="auto">
              <a:xfrm>
                <a:off x="2004" y="942"/>
                <a:ext cx="502" cy="566"/>
              </a:xfrm>
              <a:custGeom>
                <a:avLst/>
                <a:gdLst/>
                <a:ahLst/>
                <a:cxnLst>
                  <a:cxn ang="0">
                    <a:pos x="671" y="753"/>
                  </a:cxn>
                  <a:cxn ang="0">
                    <a:pos x="671" y="160"/>
                  </a:cxn>
                  <a:cxn ang="0">
                    <a:pos x="0" y="0"/>
                  </a:cxn>
                  <a:cxn ang="0">
                    <a:pos x="0" y="578"/>
                  </a:cxn>
                  <a:cxn ang="0">
                    <a:pos x="671" y="753"/>
                  </a:cxn>
                </a:cxnLst>
                <a:rect l="0" t="0" r="r" b="b"/>
                <a:pathLst>
                  <a:path w="672" h="754">
                    <a:moveTo>
                      <a:pt x="671" y="753"/>
                    </a:moveTo>
                    <a:lnTo>
                      <a:pt x="671" y="160"/>
                    </a:lnTo>
                    <a:lnTo>
                      <a:pt x="0" y="0"/>
                    </a:lnTo>
                    <a:lnTo>
                      <a:pt x="0" y="578"/>
                    </a:lnTo>
                    <a:lnTo>
                      <a:pt x="671" y="753"/>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61589" name="Freeform 149"/>
              <p:cNvSpPr>
                <a:spLocks noChangeAspect="1"/>
              </p:cNvSpPr>
              <p:nvPr/>
            </p:nvSpPr>
            <p:spPr bwMode="auto">
              <a:xfrm>
                <a:off x="2043" y="992"/>
                <a:ext cx="425" cy="464"/>
              </a:xfrm>
              <a:custGeom>
                <a:avLst/>
                <a:gdLst/>
                <a:ahLst/>
                <a:cxnLst>
                  <a:cxn ang="0">
                    <a:pos x="490" y="548"/>
                  </a:cxn>
                  <a:cxn ang="0">
                    <a:pos x="490" y="117"/>
                  </a:cxn>
                  <a:cxn ang="0">
                    <a:pos x="0" y="0"/>
                  </a:cxn>
                  <a:cxn ang="0">
                    <a:pos x="0" y="424"/>
                  </a:cxn>
                  <a:cxn ang="0">
                    <a:pos x="490" y="548"/>
                  </a:cxn>
                </a:cxnLst>
                <a:rect l="0" t="0" r="r" b="b"/>
                <a:pathLst>
                  <a:path w="491" h="549">
                    <a:moveTo>
                      <a:pt x="490" y="548"/>
                    </a:moveTo>
                    <a:lnTo>
                      <a:pt x="490" y="117"/>
                    </a:lnTo>
                    <a:lnTo>
                      <a:pt x="0" y="0"/>
                    </a:lnTo>
                    <a:lnTo>
                      <a:pt x="0" y="424"/>
                    </a:lnTo>
                    <a:lnTo>
                      <a:pt x="490" y="548"/>
                    </a:lnTo>
                  </a:path>
                </a:pathLst>
              </a:custGeom>
              <a:solidFill>
                <a:srgbClr val="CECECE"/>
              </a:solidFill>
              <a:ln w="6350" cap="rnd" cmpd="sng">
                <a:solidFill>
                  <a:srgbClr val="808080"/>
                </a:solidFill>
                <a:prstDash val="solid"/>
                <a:round/>
                <a:headEnd type="none" w="med" len="med"/>
                <a:tailEnd type="none" w="med" len="med"/>
              </a:ln>
              <a:effectLst/>
            </p:spPr>
            <p:txBody>
              <a:bodyPr/>
              <a:lstStyle/>
              <a:p>
                <a:endParaRPr lang="fr-FR"/>
              </a:p>
            </p:txBody>
          </p:sp>
          <p:sp>
            <p:nvSpPr>
              <p:cNvPr id="61590" name="Freeform 150"/>
              <p:cNvSpPr>
                <a:spLocks/>
              </p:cNvSpPr>
              <p:nvPr/>
            </p:nvSpPr>
            <p:spPr bwMode="auto">
              <a:xfrm>
                <a:off x="2069" y="1023"/>
                <a:ext cx="372" cy="400"/>
              </a:xfrm>
              <a:custGeom>
                <a:avLst/>
                <a:gdLst/>
                <a:ahLst/>
                <a:cxnLst>
                  <a:cxn ang="0">
                    <a:pos x="0" y="0"/>
                  </a:cxn>
                  <a:cxn ang="0">
                    <a:pos x="0" y="454"/>
                  </a:cxn>
                  <a:cxn ang="0">
                    <a:pos x="542" y="592"/>
                  </a:cxn>
                  <a:cxn ang="0">
                    <a:pos x="542" y="130"/>
                  </a:cxn>
                  <a:cxn ang="0">
                    <a:pos x="0" y="0"/>
                  </a:cxn>
                </a:cxnLst>
                <a:rect l="0" t="0" r="r" b="b"/>
                <a:pathLst>
                  <a:path w="542" h="592">
                    <a:moveTo>
                      <a:pt x="0" y="0"/>
                    </a:moveTo>
                    <a:lnTo>
                      <a:pt x="0" y="454"/>
                    </a:lnTo>
                    <a:lnTo>
                      <a:pt x="542" y="592"/>
                    </a:lnTo>
                    <a:lnTo>
                      <a:pt x="542" y="130"/>
                    </a:lnTo>
                    <a:lnTo>
                      <a:pt x="0" y="0"/>
                    </a:lnTo>
                    <a:close/>
                  </a:path>
                </a:pathLst>
              </a:custGeom>
              <a:gradFill rotWithShape="0">
                <a:gsLst>
                  <a:gs pos="0">
                    <a:srgbClr val="618FFD"/>
                  </a:gs>
                  <a:gs pos="100000">
                    <a:srgbClr val="618FFD">
                      <a:gamma/>
                      <a:shade val="75294"/>
                      <a:invGamma/>
                    </a:srgbClr>
                  </a:gs>
                </a:gsLst>
                <a:path path="rect">
                  <a:fillToRect r="100000" b="100000"/>
                </a:path>
              </a:gradFill>
              <a:ln w="6350" cap="flat" cmpd="sng">
                <a:solidFill>
                  <a:srgbClr val="777777"/>
                </a:solidFill>
                <a:prstDash val="solid"/>
                <a:round/>
                <a:headEnd type="none" w="med" len="med"/>
                <a:tailEnd type="none" w="med" len="med"/>
              </a:ln>
              <a:effectLst>
                <a:outerShdw dist="17961" dir="2700000" algn="ctr" rotWithShape="0">
                  <a:schemeClr val="bg1"/>
                </a:outerShdw>
              </a:effectLst>
            </p:spPr>
            <p:txBody>
              <a:bodyPr wrap="none" anchor="ctr"/>
              <a:lstStyle/>
              <a:p>
                <a:endParaRPr lang="fr-FR"/>
              </a:p>
            </p:txBody>
          </p:sp>
          <p:sp>
            <p:nvSpPr>
              <p:cNvPr id="61591" name="Line 151"/>
              <p:cNvSpPr>
                <a:spLocks noChangeShapeType="1"/>
              </p:cNvSpPr>
              <p:nvPr/>
            </p:nvSpPr>
            <p:spPr bwMode="auto">
              <a:xfrm>
                <a:off x="2102" y="1056"/>
                <a:ext cx="0" cy="61"/>
              </a:xfrm>
              <a:prstGeom prst="line">
                <a:avLst/>
              </a:prstGeom>
              <a:noFill/>
              <a:ln w="25400">
                <a:solidFill>
                  <a:schemeClr val="bg1"/>
                </a:solidFill>
                <a:round/>
                <a:headEnd/>
                <a:tailEnd/>
              </a:ln>
              <a:effectLst/>
            </p:spPr>
            <p:txBody>
              <a:bodyPr wrap="none" anchor="ctr"/>
              <a:lstStyle/>
              <a:p>
                <a:endParaRPr lang="fr-FR"/>
              </a:p>
            </p:txBody>
          </p:sp>
        </p:grpSp>
      </p:grpSp>
      <p:sp>
        <p:nvSpPr>
          <p:cNvPr id="61592" name="Text Box 152"/>
          <p:cNvSpPr txBox="1">
            <a:spLocks noChangeArrowheads="1"/>
          </p:cNvSpPr>
          <p:nvPr/>
        </p:nvSpPr>
        <p:spPr bwMode="auto">
          <a:xfrm>
            <a:off x="1098550" y="1540828"/>
            <a:ext cx="382588" cy="457200"/>
          </a:xfrm>
          <a:prstGeom prst="rect">
            <a:avLst/>
          </a:prstGeom>
          <a:noFill/>
          <a:ln w="9525">
            <a:noFill/>
            <a:miter lim="800000"/>
            <a:headEnd/>
            <a:tailEnd/>
          </a:ln>
          <a:effectLst/>
        </p:spPr>
        <p:txBody>
          <a:bodyPr anchor="ctr">
            <a:spAutoFit/>
          </a:bodyPr>
          <a:lstStyle/>
          <a:p>
            <a:pPr algn="ctr"/>
            <a:r>
              <a:rPr lang="en-US" sz="2400" b="1">
                <a:solidFill>
                  <a:srgbClr val="FFFFFF"/>
                </a:solidFill>
                <a:latin typeface="Arial" charset="0"/>
              </a:rPr>
              <a:t>A</a:t>
            </a:r>
          </a:p>
        </p:txBody>
      </p:sp>
      <p:sp>
        <p:nvSpPr>
          <p:cNvPr id="61593" name="Text Box 153"/>
          <p:cNvSpPr txBox="1">
            <a:spLocks noChangeArrowheads="1"/>
          </p:cNvSpPr>
          <p:nvPr/>
        </p:nvSpPr>
        <p:spPr bwMode="auto">
          <a:xfrm>
            <a:off x="1822450" y="2594928"/>
            <a:ext cx="382588" cy="457200"/>
          </a:xfrm>
          <a:prstGeom prst="rect">
            <a:avLst/>
          </a:prstGeom>
          <a:noFill/>
          <a:ln w="9525">
            <a:noFill/>
            <a:miter lim="800000"/>
            <a:headEnd/>
            <a:tailEnd/>
          </a:ln>
          <a:effectLst/>
        </p:spPr>
        <p:txBody>
          <a:bodyPr anchor="ctr">
            <a:spAutoFit/>
          </a:bodyPr>
          <a:lstStyle/>
          <a:p>
            <a:pPr algn="ctr"/>
            <a:r>
              <a:rPr lang="en-US" sz="2400" b="1">
                <a:solidFill>
                  <a:srgbClr val="FFFFFF"/>
                </a:solidFill>
                <a:latin typeface="Arial" charset="0"/>
              </a:rPr>
              <a:t>B</a:t>
            </a:r>
          </a:p>
        </p:txBody>
      </p:sp>
      <p:cxnSp>
        <p:nvCxnSpPr>
          <p:cNvPr id="61594" name="AutoShape 154"/>
          <p:cNvCxnSpPr>
            <a:cxnSpLocks noChangeShapeType="1"/>
          </p:cNvCxnSpPr>
          <p:nvPr/>
        </p:nvCxnSpPr>
        <p:spPr bwMode="auto">
          <a:xfrm>
            <a:off x="2387600" y="1650365"/>
            <a:ext cx="1930400" cy="171450"/>
          </a:xfrm>
          <a:prstGeom prst="straightConnector1">
            <a:avLst/>
          </a:prstGeom>
          <a:noFill/>
          <a:ln w="28575">
            <a:solidFill>
              <a:schemeClr val="tx1"/>
            </a:solidFill>
            <a:round/>
            <a:headEnd type="triangle" w="med" len="med"/>
            <a:tailEnd type="triangle" w="med" len="med"/>
          </a:ln>
          <a:effectLst/>
        </p:spPr>
      </p:cxnSp>
      <p:cxnSp>
        <p:nvCxnSpPr>
          <p:cNvPr id="61595" name="AutoShape 155"/>
          <p:cNvCxnSpPr>
            <a:cxnSpLocks noChangeShapeType="1"/>
          </p:cNvCxnSpPr>
          <p:nvPr/>
        </p:nvCxnSpPr>
        <p:spPr bwMode="auto">
          <a:xfrm>
            <a:off x="2387600" y="1955165"/>
            <a:ext cx="1930400" cy="171450"/>
          </a:xfrm>
          <a:prstGeom prst="straightConnector1">
            <a:avLst/>
          </a:prstGeom>
          <a:noFill/>
          <a:ln w="28575">
            <a:solidFill>
              <a:schemeClr val="tx1"/>
            </a:solidFill>
            <a:round/>
            <a:headEnd type="triangle" w="med" len="med"/>
            <a:tailEnd type="triangle" w="med" len="med"/>
          </a:ln>
          <a:effectLst/>
        </p:spPr>
      </p:cxnSp>
      <p:cxnSp>
        <p:nvCxnSpPr>
          <p:cNvPr id="61596" name="AutoShape 156"/>
          <p:cNvCxnSpPr>
            <a:cxnSpLocks noChangeShapeType="1"/>
          </p:cNvCxnSpPr>
          <p:nvPr/>
        </p:nvCxnSpPr>
        <p:spPr bwMode="auto">
          <a:xfrm flipV="1">
            <a:off x="3073400" y="2431415"/>
            <a:ext cx="1244600" cy="361950"/>
          </a:xfrm>
          <a:prstGeom prst="straightConnector1">
            <a:avLst/>
          </a:prstGeom>
          <a:noFill/>
          <a:ln w="28575">
            <a:solidFill>
              <a:schemeClr val="tx1"/>
            </a:solidFill>
            <a:round/>
            <a:headEnd type="triangle" w="med" len="med"/>
            <a:tailEnd type="triangle" w="med" len="med"/>
          </a:ln>
          <a:effectLst/>
        </p:spPr>
      </p:cxnSp>
      <p:cxnSp>
        <p:nvCxnSpPr>
          <p:cNvPr id="61597" name="AutoShape 157"/>
          <p:cNvCxnSpPr>
            <a:cxnSpLocks noChangeShapeType="1"/>
          </p:cNvCxnSpPr>
          <p:nvPr/>
        </p:nvCxnSpPr>
        <p:spPr bwMode="auto">
          <a:xfrm flipV="1">
            <a:off x="3073400" y="2736215"/>
            <a:ext cx="1244600" cy="361950"/>
          </a:xfrm>
          <a:prstGeom prst="straightConnector1">
            <a:avLst/>
          </a:prstGeom>
          <a:noFill/>
          <a:ln w="28575">
            <a:solidFill>
              <a:schemeClr val="tx1"/>
            </a:solidFill>
            <a:round/>
            <a:headEnd type="triangle" w="med" len="med"/>
            <a:tailEnd type="triangle" w="med" len="med"/>
          </a:ln>
          <a:effectLst/>
        </p:spPr>
      </p:cxnSp>
      <p:grpSp>
        <p:nvGrpSpPr>
          <p:cNvPr id="61598" name="Group 158"/>
          <p:cNvGrpSpPr>
            <a:grpSpLocks/>
          </p:cNvGrpSpPr>
          <p:nvPr/>
        </p:nvGrpSpPr>
        <p:grpSpPr bwMode="auto">
          <a:xfrm>
            <a:off x="4894263" y="3708400"/>
            <a:ext cx="938212" cy="1517650"/>
            <a:chOff x="934" y="830"/>
            <a:chExt cx="626" cy="1012"/>
          </a:xfrm>
        </p:grpSpPr>
        <p:sp>
          <p:nvSpPr>
            <p:cNvPr id="61599" name="Freeform 159"/>
            <p:cNvSpPr>
              <a:spLocks/>
            </p:cNvSpPr>
            <p:nvPr/>
          </p:nvSpPr>
          <p:spPr bwMode="auto">
            <a:xfrm>
              <a:off x="946" y="1583"/>
              <a:ext cx="604" cy="259"/>
            </a:xfrm>
            <a:custGeom>
              <a:avLst/>
              <a:gdLst/>
              <a:ahLst/>
              <a:cxnLst>
                <a:cxn ang="0">
                  <a:pos x="0" y="292"/>
                </a:cxn>
                <a:cxn ang="0">
                  <a:pos x="0" y="370"/>
                </a:cxn>
                <a:cxn ang="0">
                  <a:pos x="567" y="535"/>
                </a:cxn>
                <a:cxn ang="0">
                  <a:pos x="1251" y="92"/>
                </a:cxn>
                <a:cxn ang="0">
                  <a:pos x="1251" y="0"/>
                </a:cxn>
              </a:cxnLst>
              <a:rect l="0" t="0" r="r" b="b"/>
              <a:pathLst>
                <a:path w="1252" h="536">
                  <a:moveTo>
                    <a:pt x="0" y="292"/>
                  </a:moveTo>
                  <a:lnTo>
                    <a:pt x="0" y="370"/>
                  </a:lnTo>
                  <a:lnTo>
                    <a:pt x="567" y="535"/>
                  </a:lnTo>
                  <a:lnTo>
                    <a:pt x="1251" y="92"/>
                  </a:lnTo>
                  <a:lnTo>
                    <a:pt x="1251" y="0"/>
                  </a:lnTo>
                </a:path>
              </a:pathLst>
            </a:custGeom>
            <a:solidFill>
              <a:srgbClr val="969696"/>
            </a:solidFill>
            <a:ln w="3175" cap="rnd" cmpd="sng">
              <a:solidFill>
                <a:schemeClr val="tx1"/>
              </a:solidFill>
              <a:prstDash val="solid"/>
              <a:round/>
              <a:headEnd type="none" w="med" len="med"/>
              <a:tailEnd type="none" w="med" len="med"/>
            </a:ln>
            <a:effectLst/>
          </p:spPr>
          <p:txBody>
            <a:bodyPr/>
            <a:lstStyle/>
            <a:p>
              <a:endParaRPr lang="fr-FR"/>
            </a:p>
          </p:txBody>
        </p:sp>
        <p:grpSp>
          <p:nvGrpSpPr>
            <p:cNvPr id="61600" name="Group 160"/>
            <p:cNvGrpSpPr>
              <a:grpSpLocks/>
            </p:cNvGrpSpPr>
            <p:nvPr/>
          </p:nvGrpSpPr>
          <p:grpSpPr bwMode="auto">
            <a:xfrm>
              <a:off x="934" y="830"/>
              <a:ext cx="626" cy="987"/>
              <a:chOff x="934" y="830"/>
              <a:chExt cx="626" cy="987"/>
            </a:xfrm>
          </p:grpSpPr>
          <p:sp>
            <p:nvSpPr>
              <p:cNvPr id="61601" name="Freeform 161"/>
              <p:cNvSpPr>
                <a:spLocks/>
              </p:cNvSpPr>
              <p:nvPr/>
            </p:nvSpPr>
            <p:spPr bwMode="auto">
              <a:xfrm>
                <a:off x="936" y="830"/>
                <a:ext cx="623" cy="217"/>
              </a:xfrm>
              <a:custGeom>
                <a:avLst/>
                <a:gdLst/>
                <a:ahLst/>
                <a:cxnLst>
                  <a:cxn ang="0">
                    <a:pos x="0" y="307"/>
                  </a:cxn>
                  <a:cxn ang="0">
                    <a:pos x="577" y="448"/>
                  </a:cxn>
                  <a:cxn ang="0">
                    <a:pos x="1290" y="127"/>
                  </a:cxn>
                  <a:cxn ang="0">
                    <a:pos x="727" y="0"/>
                  </a:cxn>
                  <a:cxn ang="0">
                    <a:pos x="0" y="307"/>
                  </a:cxn>
                </a:cxnLst>
                <a:rect l="0" t="0" r="r" b="b"/>
                <a:pathLst>
                  <a:path w="1291" h="449">
                    <a:moveTo>
                      <a:pt x="0" y="307"/>
                    </a:moveTo>
                    <a:lnTo>
                      <a:pt x="577" y="448"/>
                    </a:lnTo>
                    <a:lnTo>
                      <a:pt x="1290" y="127"/>
                    </a:lnTo>
                    <a:lnTo>
                      <a:pt x="727" y="0"/>
                    </a:lnTo>
                    <a:lnTo>
                      <a:pt x="0" y="307"/>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sp>
            <p:nvSpPr>
              <p:cNvPr id="61602" name="Freeform 162"/>
              <p:cNvSpPr>
                <a:spLocks/>
              </p:cNvSpPr>
              <p:nvPr/>
            </p:nvSpPr>
            <p:spPr bwMode="auto">
              <a:xfrm>
                <a:off x="1208" y="890"/>
                <a:ext cx="352" cy="927"/>
              </a:xfrm>
              <a:custGeom>
                <a:avLst/>
                <a:gdLst/>
                <a:ahLst/>
                <a:cxnLst>
                  <a:cxn ang="0">
                    <a:pos x="0" y="328"/>
                  </a:cxn>
                  <a:cxn ang="0">
                    <a:pos x="4" y="1915"/>
                  </a:cxn>
                  <a:cxn ang="0">
                    <a:pos x="728" y="1456"/>
                  </a:cxn>
                  <a:cxn ang="0">
                    <a:pos x="728" y="0"/>
                  </a:cxn>
                  <a:cxn ang="0">
                    <a:pos x="0" y="328"/>
                  </a:cxn>
                </a:cxnLst>
                <a:rect l="0" t="0" r="r" b="b"/>
                <a:pathLst>
                  <a:path w="729" h="1916">
                    <a:moveTo>
                      <a:pt x="0" y="328"/>
                    </a:moveTo>
                    <a:lnTo>
                      <a:pt x="4" y="1915"/>
                    </a:lnTo>
                    <a:lnTo>
                      <a:pt x="728" y="1456"/>
                    </a:lnTo>
                    <a:lnTo>
                      <a:pt x="728" y="0"/>
                    </a:lnTo>
                    <a:lnTo>
                      <a:pt x="0" y="32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61603" name="Freeform 163"/>
              <p:cNvSpPr>
                <a:spLocks/>
              </p:cNvSpPr>
              <p:nvPr/>
            </p:nvSpPr>
            <p:spPr bwMode="auto">
              <a:xfrm>
                <a:off x="934" y="978"/>
                <a:ext cx="278" cy="834"/>
              </a:xfrm>
              <a:custGeom>
                <a:avLst/>
                <a:gdLst/>
                <a:ahLst/>
                <a:cxnLst>
                  <a:cxn ang="0">
                    <a:pos x="576" y="140"/>
                  </a:cxn>
                  <a:cxn ang="0">
                    <a:pos x="576" y="1727"/>
                  </a:cxn>
                  <a:cxn ang="0">
                    <a:pos x="0" y="1568"/>
                  </a:cxn>
                  <a:cxn ang="0">
                    <a:pos x="0" y="0"/>
                  </a:cxn>
                  <a:cxn ang="0">
                    <a:pos x="576" y="140"/>
                  </a:cxn>
                </a:cxnLst>
                <a:rect l="0" t="0" r="r" b="b"/>
                <a:pathLst>
                  <a:path w="577" h="1728">
                    <a:moveTo>
                      <a:pt x="576" y="140"/>
                    </a:moveTo>
                    <a:lnTo>
                      <a:pt x="576" y="1727"/>
                    </a:lnTo>
                    <a:lnTo>
                      <a:pt x="0" y="1568"/>
                    </a:lnTo>
                    <a:lnTo>
                      <a:pt x="0" y="0"/>
                    </a:lnTo>
                    <a:lnTo>
                      <a:pt x="576" y="140"/>
                    </a:lnTo>
                  </a:path>
                </a:pathLst>
              </a:custGeom>
              <a:gradFill rotWithShape="0">
                <a:gsLst>
                  <a:gs pos="0">
                    <a:srgbClr val="B2B2B2">
                      <a:gamma/>
                      <a:tint val="23529"/>
                      <a:invGamma/>
                    </a:srgbClr>
                  </a:gs>
                  <a:gs pos="100000">
                    <a:srgbClr val="B2B2B2"/>
                  </a:gs>
                </a:gsLst>
                <a:lin ang="5400000" scaled="1"/>
              </a:gradFill>
              <a:ln w="3175" cap="rnd" cmpd="sng">
                <a:solidFill>
                  <a:schemeClr val="tx1"/>
                </a:solidFill>
                <a:prstDash val="solid"/>
                <a:round/>
                <a:headEnd type="none" w="med" len="med"/>
                <a:tailEnd type="none" w="med" len="med"/>
              </a:ln>
              <a:effectLst/>
            </p:spPr>
            <p:txBody>
              <a:bodyPr/>
              <a:lstStyle/>
              <a:p>
                <a:endParaRPr lang="fr-FR"/>
              </a:p>
            </p:txBody>
          </p:sp>
          <p:sp>
            <p:nvSpPr>
              <p:cNvPr id="61604" name="Line 164"/>
              <p:cNvSpPr>
                <a:spLocks noChangeShapeType="1"/>
              </p:cNvSpPr>
              <p:nvPr/>
            </p:nvSpPr>
            <p:spPr bwMode="auto">
              <a:xfrm>
                <a:off x="973" y="1680"/>
                <a:ext cx="192" cy="51"/>
              </a:xfrm>
              <a:prstGeom prst="line">
                <a:avLst/>
              </a:prstGeom>
              <a:noFill/>
              <a:ln w="6350">
                <a:solidFill>
                  <a:srgbClr val="676767"/>
                </a:solidFill>
                <a:round/>
                <a:headEnd/>
                <a:tailEnd/>
              </a:ln>
              <a:effectLst/>
            </p:spPr>
            <p:txBody>
              <a:bodyPr wrap="none" anchor="ctr"/>
              <a:lstStyle/>
              <a:p>
                <a:endParaRPr lang="fr-FR"/>
              </a:p>
            </p:txBody>
          </p:sp>
          <p:sp>
            <p:nvSpPr>
              <p:cNvPr id="61605" name="Oval 165"/>
              <p:cNvSpPr>
                <a:spLocks noChangeArrowheads="1"/>
              </p:cNvSpPr>
              <p:nvPr/>
            </p:nvSpPr>
            <p:spPr bwMode="auto">
              <a:xfrm>
                <a:off x="966" y="1019"/>
                <a:ext cx="31" cy="17"/>
              </a:xfrm>
              <a:prstGeom prst="ellipse">
                <a:avLst/>
              </a:prstGeom>
              <a:solidFill>
                <a:srgbClr val="D60093"/>
              </a:solidFill>
              <a:ln w="12700">
                <a:noFill/>
                <a:round/>
                <a:headEnd/>
                <a:tailEnd/>
              </a:ln>
              <a:effectLst/>
            </p:spPr>
            <p:txBody>
              <a:bodyPr wrap="none" anchor="ctr"/>
              <a:lstStyle/>
              <a:p>
                <a:endParaRPr lang="fr-FR"/>
              </a:p>
            </p:txBody>
          </p:sp>
          <p:sp>
            <p:nvSpPr>
              <p:cNvPr id="61606" name="Line 166"/>
              <p:cNvSpPr>
                <a:spLocks noChangeShapeType="1"/>
              </p:cNvSpPr>
              <p:nvPr/>
            </p:nvSpPr>
            <p:spPr bwMode="auto">
              <a:xfrm>
                <a:off x="973" y="1642"/>
                <a:ext cx="192" cy="51"/>
              </a:xfrm>
              <a:prstGeom prst="line">
                <a:avLst/>
              </a:prstGeom>
              <a:noFill/>
              <a:ln w="6350">
                <a:solidFill>
                  <a:srgbClr val="676767"/>
                </a:solidFill>
                <a:round/>
                <a:headEnd/>
                <a:tailEnd/>
              </a:ln>
              <a:effectLst/>
            </p:spPr>
            <p:txBody>
              <a:bodyPr wrap="none" anchor="ctr"/>
              <a:lstStyle/>
              <a:p>
                <a:endParaRPr lang="fr-FR"/>
              </a:p>
            </p:txBody>
          </p:sp>
          <p:sp>
            <p:nvSpPr>
              <p:cNvPr id="61607" name="Line 167"/>
              <p:cNvSpPr>
                <a:spLocks noChangeShapeType="1"/>
              </p:cNvSpPr>
              <p:nvPr/>
            </p:nvSpPr>
            <p:spPr bwMode="auto">
              <a:xfrm>
                <a:off x="973" y="1604"/>
                <a:ext cx="192" cy="52"/>
              </a:xfrm>
              <a:prstGeom prst="line">
                <a:avLst/>
              </a:prstGeom>
              <a:noFill/>
              <a:ln w="6350">
                <a:solidFill>
                  <a:srgbClr val="676767"/>
                </a:solidFill>
                <a:round/>
                <a:headEnd/>
                <a:tailEnd/>
              </a:ln>
              <a:effectLst/>
            </p:spPr>
            <p:txBody>
              <a:bodyPr wrap="none" anchor="ctr"/>
              <a:lstStyle/>
              <a:p>
                <a:endParaRPr lang="fr-FR"/>
              </a:p>
            </p:txBody>
          </p:sp>
          <p:sp>
            <p:nvSpPr>
              <p:cNvPr id="61608" name="Line 168"/>
              <p:cNvSpPr>
                <a:spLocks noChangeShapeType="1"/>
              </p:cNvSpPr>
              <p:nvPr/>
            </p:nvSpPr>
            <p:spPr bwMode="auto">
              <a:xfrm>
                <a:off x="973" y="1567"/>
                <a:ext cx="192" cy="51"/>
              </a:xfrm>
              <a:prstGeom prst="line">
                <a:avLst/>
              </a:prstGeom>
              <a:noFill/>
              <a:ln w="6350">
                <a:solidFill>
                  <a:srgbClr val="676767"/>
                </a:solidFill>
                <a:round/>
                <a:headEnd/>
                <a:tailEnd/>
              </a:ln>
              <a:effectLst/>
            </p:spPr>
            <p:txBody>
              <a:bodyPr wrap="none" anchor="ctr"/>
              <a:lstStyle/>
              <a:p>
                <a:endParaRPr lang="fr-FR"/>
              </a:p>
            </p:txBody>
          </p:sp>
          <p:sp>
            <p:nvSpPr>
              <p:cNvPr id="61609" name="Line 169"/>
              <p:cNvSpPr>
                <a:spLocks noChangeShapeType="1"/>
              </p:cNvSpPr>
              <p:nvPr/>
            </p:nvSpPr>
            <p:spPr bwMode="auto">
              <a:xfrm>
                <a:off x="973" y="1528"/>
                <a:ext cx="192" cy="51"/>
              </a:xfrm>
              <a:prstGeom prst="line">
                <a:avLst/>
              </a:prstGeom>
              <a:noFill/>
              <a:ln w="6350">
                <a:solidFill>
                  <a:srgbClr val="676767"/>
                </a:solidFill>
                <a:round/>
                <a:headEnd/>
                <a:tailEnd/>
              </a:ln>
              <a:effectLst/>
            </p:spPr>
            <p:txBody>
              <a:bodyPr wrap="none" anchor="ctr"/>
              <a:lstStyle/>
              <a:p>
                <a:endParaRPr lang="fr-FR"/>
              </a:p>
            </p:txBody>
          </p:sp>
          <p:sp>
            <p:nvSpPr>
              <p:cNvPr id="61610" name="Freeform 170"/>
              <p:cNvSpPr>
                <a:spLocks/>
              </p:cNvSpPr>
              <p:nvPr/>
            </p:nvSpPr>
            <p:spPr bwMode="auto">
              <a:xfrm>
                <a:off x="976" y="1164"/>
                <a:ext cx="190" cy="355"/>
              </a:xfrm>
              <a:custGeom>
                <a:avLst/>
                <a:gdLst/>
                <a:ahLst/>
                <a:cxnLst>
                  <a:cxn ang="0">
                    <a:pos x="0" y="628"/>
                  </a:cxn>
                  <a:cxn ang="0">
                    <a:pos x="396" y="732"/>
                  </a:cxn>
                  <a:cxn ang="0">
                    <a:pos x="396" y="0"/>
                  </a:cxn>
                </a:cxnLst>
                <a:rect l="0" t="0" r="r" b="b"/>
                <a:pathLst>
                  <a:path w="397" h="733">
                    <a:moveTo>
                      <a:pt x="0" y="628"/>
                    </a:moveTo>
                    <a:lnTo>
                      <a:pt x="396" y="732"/>
                    </a:lnTo>
                    <a:lnTo>
                      <a:pt x="396" y="0"/>
                    </a:lnTo>
                  </a:path>
                </a:pathLst>
              </a:custGeom>
              <a:noFill/>
              <a:ln w="3175" cap="rnd" cmpd="sng">
                <a:solidFill>
                  <a:srgbClr val="676767"/>
                </a:solidFill>
                <a:prstDash val="solid"/>
                <a:round/>
                <a:headEnd type="none" w="med" len="med"/>
                <a:tailEnd type="none" w="med" len="med"/>
              </a:ln>
              <a:effectLst/>
            </p:spPr>
            <p:txBody>
              <a:bodyPr/>
              <a:lstStyle/>
              <a:p>
                <a:endParaRPr lang="fr-FR"/>
              </a:p>
            </p:txBody>
          </p:sp>
          <p:sp>
            <p:nvSpPr>
              <p:cNvPr id="61611" name="Freeform 171"/>
              <p:cNvSpPr>
                <a:spLocks/>
              </p:cNvSpPr>
              <p:nvPr/>
            </p:nvSpPr>
            <p:spPr bwMode="auto">
              <a:xfrm>
                <a:off x="956" y="1094"/>
                <a:ext cx="218" cy="618"/>
              </a:xfrm>
              <a:custGeom>
                <a:avLst/>
                <a:gdLst/>
                <a:ahLst/>
                <a:cxnLst>
                  <a:cxn ang="0">
                    <a:pos x="452" y="105"/>
                  </a:cxn>
                  <a:cxn ang="0">
                    <a:pos x="0" y="0"/>
                  </a:cxn>
                  <a:cxn ang="0">
                    <a:pos x="0" y="1277"/>
                  </a:cxn>
                </a:cxnLst>
                <a:rect l="0" t="0" r="r" b="b"/>
                <a:pathLst>
                  <a:path w="453" h="1278">
                    <a:moveTo>
                      <a:pt x="452" y="105"/>
                    </a:moveTo>
                    <a:lnTo>
                      <a:pt x="0" y="0"/>
                    </a:lnTo>
                    <a:lnTo>
                      <a:pt x="0" y="1277"/>
                    </a:lnTo>
                  </a:path>
                </a:pathLst>
              </a:custGeom>
              <a:noFill/>
              <a:ln w="6350" cap="rnd" cmpd="sng">
                <a:solidFill>
                  <a:schemeClr val="tx1"/>
                </a:solidFill>
                <a:prstDash val="solid"/>
                <a:round/>
                <a:headEnd type="none" w="med" len="med"/>
                <a:tailEnd type="none" w="med" len="med"/>
              </a:ln>
              <a:effectLst/>
            </p:spPr>
            <p:txBody>
              <a:bodyPr/>
              <a:lstStyle/>
              <a:p>
                <a:endParaRPr lang="fr-FR"/>
              </a:p>
            </p:txBody>
          </p:sp>
          <p:sp>
            <p:nvSpPr>
              <p:cNvPr id="61612" name="Freeform 172"/>
              <p:cNvSpPr>
                <a:spLocks/>
              </p:cNvSpPr>
              <p:nvPr/>
            </p:nvSpPr>
            <p:spPr bwMode="auto">
              <a:xfrm>
                <a:off x="970" y="1117"/>
                <a:ext cx="194" cy="352"/>
              </a:xfrm>
              <a:custGeom>
                <a:avLst/>
                <a:gdLst/>
                <a:ahLst/>
                <a:cxnLst>
                  <a:cxn ang="0">
                    <a:pos x="401" y="96"/>
                  </a:cxn>
                  <a:cxn ang="0">
                    <a:pos x="0" y="0"/>
                  </a:cxn>
                  <a:cxn ang="0">
                    <a:pos x="0" y="725"/>
                  </a:cxn>
                </a:cxnLst>
                <a:rect l="0" t="0" r="r" b="b"/>
                <a:pathLst>
                  <a:path w="402" h="726">
                    <a:moveTo>
                      <a:pt x="401" y="96"/>
                    </a:moveTo>
                    <a:lnTo>
                      <a:pt x="0" y="0"/>
                    </a:lnTo>
                    <a:lnTo>
                      <a:pt x="0" y="725"/>
                    </a:lnTo>
                  </a:path>
                </a:pathLst>
              </a:custGeom>
              <a:noFill/>
              <a:ln w="3175" cap="rnd" cmpd="sng">
                <a:solidFill>
                  <a:schemeClr val="tx1"/>
                </a:solidFill>
                <a:prstDash val="solid"/>
                <a:round/>
                <a:headEnd type="none" w="med" len="med"/>
                <a:tailEnd type="none" w="med" len="med"/>
              </a:ln>
              <a:effectLst/>
            </p:spPr>
            <p:txBody>
              <a:bodyPr/>
              <a:lstStyle/>
              <a:p>
                <a:endParaRPr lang="fr-FR"/>
              </a:p>
            </p:txBody>
          </p:sp>
          <p:sp>
            <p:nvSpPr>
              <p:cNvPr id="61613" name="Line 173"/>
              <p:cNvSpPr>
                <a:spLocks noChangeShapeType="1"/>
              </p:cNvSpPr>
              <p:nvPr/>
            </p:nvSpPr>
            <p:spPr bwMode="auto">
              <a:xfrm>
                <a:off x="971" y="1198"/>
                <a:ext cx="187" cy="43"/>
              </a:xfrm>
              <a:prstGeom prst="line">
                <a:avLst/>
              </a:prstGeom>
              <a:noFill/>
              <a:ln w="3175">
                <a:solidFill>
                  <a:srgbClr val="676767"/>
                </a:solidFill>
                <a:round/>
                <a:headEnd/>
                <a:tailEnd/>
              </a:ln>
              <a:effectLst/>
            </p:spPr>
            <p:txBody>
              <a:bodyPr wrap="none" anchor="ctr"/>
              <a:lstStyle/>
              <a:p>
                <a:endParaRPr lang="fr-FR"/>
              </a:p>
            </p:txBody>
          </p:sp>
          <p:sp>
            <p:nvSpPr>
              <p:cNvPr id="61614" name="Line 174"/>
              <p:cNvSpPr>
                <a:spLocks noChangeShapeType="1"/>
              </p:cNvSpPr>
              <p:nvPr/>
            </p:nvSpPr>
            <p:spPr bwMode="auto">
              <a:xfrm>
                <a:off x="971" y="1273"/>
                <a:ext cx="189" cy="43"/>
              </a:xfrm>
              <a:prstGeom prst="line">
                <a:avLst/>
              </a:prstGeom>
              <a:noFill/>
              <a:ln w="3175">
                <a:solidFill>
                  <a:srgbClr val="676767"/>
                </a:solidFill>
                <a:round/>
                <a:headEnd/>
                <a:tailEnd/>
              </a:ln>
              <a:effectLst/>
            </p:spPr>
            <p:txBody>
              <a:bodyPr wrap="none" anchor="ctr"/>
              <a:lstStyle/>
              <a:p>
                <a:endParaRPr lang="fr-FR"/>
              </a:p>
            </p:txBody>
          </p:sp>
          <p:sp>
            <p:nvSpPr>
              <p:cNvPr id="61615" name="Line 175"/>
              <p:cNvSpPr>
                <a:spLocks noChangeShapeType="1"/>
              </p:cNvSpPr>
              <p:nvPr/>
            </p:nvSpPr>
            <p:spPr bwMode="auto">
              <a:xfrm>
                <a:off x="971" y="1366"/>
                <a:ext cx="180" cy="43"/>
              </a:xfrm>
              <a:prstGeom prst="line">
                <a:avLst/>
              </a:prstGeom>
              <a:noFill/>
              <a:ln w="3175">
                <a:solidFill>
                  <a:srgbClr val="676767"/>
                </a:solidFill>
                <a:round/>
                <a:headEnd/>
                <a:tailEnd/>
              </a:ln>
              <a:effectLst/>
            </p:spPr>
            <p:txBody>
              <a:bodyPr wrap="none" anchor="ctr"/>
              <a:lstStyle/>
              <a:p>
                <a:endParaRPr lang="fr-FR"/>
              </a:p>
            </p:txBody>
          </p:sp>
          <p:sp>
            <p:nvSpPr>
              <p:cNvPr id="61616" name="Freeform 176"/>
              <p:cNvSpPr>
                <a:spLocks/>
              </p:cNvSpPr>
              <p:nvPr/>
            </p:nvSpPr>
            <p:spPr bwMode="auto">
              <a:xfrm>
                <a:off x="1027" y="1161"/>
                <a:ext cx="74" cy="40"/>
              </a:xfrm>
              <a:custGeom>
                <a:avLst/>
                <a:gdLst/>
                <a:ahLst/>
                <a:cxnLst>
                  <a:cxn ang="0">
                    <a:pos x="0" y="0"/>
                  </a:cxn>
                  <a:cxn ang="0">
                    <a:pos x="0" y="48"/>
                  </a:cxn>
                  <a:cxn ang="0">
                    <a:pos x="151" y="81"/>
                  </a:cxn>
                  <a:cxn ang="0">
                    <a:pos x="151" y="33"/>
                  </a:cxn>
                  <a:cxn ang="0">
                    <a:pos x="0" y="0"/>
                  </a:cxn>
                </a:cxnLst>
                <a:rect l="0" t="0" r="r" b="b"/>
                <a:pathLst>
                  <a:path w="152" h="82">
                    <a:moveTo>
                      <a:pt x="0" y="0"/>
                    </a:moveTo>
                    <a:lnTo>
                      <a:pt x="0" y="48"/>
                    </a:lnTo>
                    <a:lnTo>
                      <a:pt x="151" y="81"/>
                    </a:lnTo>
                    <a:lnTo>
                      <a:pt x="151" y="33"/>
                    </a:lnTo>
                    <a:lnTo>
                      <a:pt x="0" y="0"/>
                    </a:lnTo>
                  </a:path>
                </a:pathLst>
              </a:custGeom>
              <a:solidFill>
                <a:srgbClr val="A9A9A9"/>
              </a:solidFill>
              <a:ln w="12700" cap="rnd" cmpd="sng">
                <a:noFill/>
                <a:prstDash val="solid"/>
                <a:round/>
                <a:headEnd type="none" w="med" len="med"/>
                <a:tailEnd type="none" w="med" len="med"/>
              </a:ln>
              <a:effectLst/>
            </p:spPr>
            <p:txBody>
              <a:bodyPr/>
              <a:lstStyle/>
              <a:p>
                <a:endParaRPr lang="fr-FR"/>
              </a:p>
            </p:txBody>
          </p:sp>
          <p:sp>
            <p:nvSpPr>
              <p:cNvPr id="61617" name="Line 177"/>
              <p:cNvSpPr>
                <a:spLocks noChangeShapeType="1"/>
              </p:cNvSpPr>
              <p:nvPr/>
            </p:nvSpPr>
            <p:spPr bwMode="auto">
              <a:xfrm>
                <a:off x="998" y="1167"/>
                <a:ext cx="138" cy="30"/>
              </a:xfrm>
              <a:prstGeom prst="line">
                <a:avLst/>
              </a:prstGeom>
              <a:noFill/>
              <a:ln w="6350">
                <a:solidFill>
                  <a:srgbClr val="919191"/>
                </a:solidFill>
                <a:round/>
                <a:headEnd/>
                <a:tailEnd/>
              </a:ln>
              <a:effectLst/>
            </p:spPr>
            <p:txBody>
              <a:bodyPr wrap="none" anchor="ctr"/>
              <a:lstStyle/>
              <a:p>
                <a:endParaRPr lang="fr-FR"/>
              </a:p>
            </p:txBody>
          </p:sp>
          <p:sp>
            <p:nvSpPr>
              <p:cNvPr id="61618" name="Freeform 178"/>
              <p:cNvSpPr>
                <a:spLocks/>
              </p:cNvSpPr>
              <p:nvPr/>
            </p:nvSpPr>
            <p:spPr bwMode="auto">
              <a:xfrm>
                <a:off x="984" y="1304"/>
                <a:ext cx="167" cy="75"/>
              </a:xfrm>
              <a:custGeom>
                <a:avLst/>
                <a:gdLst/>
                <a:ahLst/>
                <a:cxnLst>
                  <a:cxn ang="0">
                    <a:pos x="0" y="85"/>
                  </a:cxn>
                  <a:cxn ang="0">
                    <a:pos x="0" y="0"/>
                  </a:cxn>
                  <a:cxn ang="0">
                    <a:pos x="350" y="93"/>
                  </a:cxn>
                  <a:cxn ang="0">
                    <a:pos x="350" y="182"/>
                  </a:cxn>
                  <a:cxn ang="0">
                    <a:pos x="0" y="85"/>
                  </a:cxn>
                </a:cxnLst>
                <a:rect l="0" t="0" r="r" b="b"/>
                <a:pathLst>
                  <a:path w="351" h="183">
                    <a:moveTo>
                      <a:pt x="0" y="85"/>
                    </a:moveTo>
                    <a:lnTo>
                      <a:pt x="0" y="0"/>
                    </a:lnTo>
                    <a:lnTo>
                      <a:pt x="350" y="93"/>
                    </a:lnTo>
                    <a:lnTo>
                      <a:pt x="350" y="182"/>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61619" name="Freeform 179"/>
              <p:cNvSpPr>
                <a:spLocks/>
              </p:cNvSpPr>
              <p:nvPr/>
            </p:nvSpPr>
            <p:spPr bwMode="auto">
              <a:xfrm>
                <a:off x="984" y="1397"/>
                <a:ext cx="167" cy="83"/>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61620" name="Freeform 180"/>
              <p:cNvSpPr>
                <a:spLocks/>
              </p:cNvSpPr>
              <p:nvPr/>
            </p:nvSpPr>
            <p:spPr bwMode="auto">
              <a:xfrm>
                <a:off x="981" y="1220"/>
                <a:ext cx="170" cy="77"/>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61621" name="Line 181"/>
              <p:cNvSpPr>
                <a:spLocks noChangeShapeType="1"/>
              </p:cNvSpPr>
              <p:nvPr/>
            </p:nvSpPr>
            <p:spPr bwMode="auto">
              <a:xfrm flipH="1" flipV="1">
                <a:off x="1103" y="1267"/>
                <a:ext cx="33" cy="8"/>
              </a:xfrm>
              <a:prstGeom prst="line">
                <a:avLst/>
              </a:prstGeom>
              <a:noFill/>
              <a:ln w="9525">
                <a:solidFill>
                  <a:srgbClr val="D60093"/>
                </a:solidFill>
                <a:round/>
                <a:headEnd/>
                <a:tailEnd/>
              </a:ln>
              <a:effectLst/>
            </p:spPr>
            <p:txBody>
              <a:bodyPr wrap="none" tIns="27432" bIns="27432" anchor="ctr">
                <a:spAutoFit/>
              </a:bodyPr>
              <a:lstStyle/>
              <a:p>
                <a:endParaRPr lang="fr-FR"/>
              </a:p>
            </p:txBody>
          </p:sp>
          <p:sp>
            <p:nvSpPr>
              <p:cNvPr id="61622" name="Line 182"/>
              <p:cNvSpPr>
                <a:spLocks noChangeShapeType="1"/>
              </p:cNvSpPr>
              <p:nvPr/>
            </p:nvSpPr>
            <p:spPr bwMode="auto">
              <a:xfrm flipH="1" flipV="1">
                <a:off x="1103" y="1349"/>
                <a:ext cx="33" cy="7"/>
              </a:xfrm>
              <a:prstGeom prst="line">
                <a:avLst/>
              </a:prstGeom>
              <a:noFill/>
              <a:ln w="9525">
                <a:solidFill>
                  <a:srgbClr val="D60093"/>
                </a:solidFill>
                <a:round/>
                <a:headEnd/>
                <a:tailEnd/>
              </a:ln>
              <a:effectLst/>
            </p:spPr>
            <p:txBody>
              <a:bodyPr wrap="none" tIns="27432" bIns="27432" anchor="ctr">
                <a:spAutoFit/>
              </a:bodyPr>
              <a:lstStyle/>
              <a:p>
                <a:endParaRPr lang="fr-FR"/>
              </a:p>
            </p:txBody>
          </p:sp>
          <p:sp>
            <p:nvSpPr>
              <p:cNvPr id="61623" name="Line 183"/>
              <p:cNvSpPr>
                <a:spLocks noChangeShapeType="1"/>
              </p:cNvSpPr>
              <p:nvPr/>
            </p:nvSpPr>
            <p:spPr bwMode="auto">
              <a:xfrm flipH="1" flipV="1">
                <a:off x="1103" y="1448"/>
                <a:ext cx="33" cy="8"/>
              </a:xfrm>
              <a:prstGeom prst="line">
                <a:avLst/>
              </a:prstGeom>
              <a:noFill/>
              <a:ln w="9525">
                <a:solidFill>
                  <a:srgbClr val="D60093"/>
                </a:solidFill>
                <a:round/>
                <a:headEnd/>
                <a:tailEnd/>
              </a:ln>
              <a:effectLst/>
            </p:spPr>
            <p:txBody>
              <a:bodyPr wrap="none" tIns="27432" bIns="27432" anchor="ctr">
                <a:spAutoFit/>
              </a:bodyPr>
              <a:lstStyle/>
              <a:p>
                <a:endParaRPr lang="fr-FR"/>
              </a:p>
            </p:txBody>
          </p:sp>
        </p:grpSp>
      </p:grpSp>
      <p:grpSp>
        <p:nvGrpSpPr>
          <p:cNvPr id="61624" name="Group 184"/>
          <p:cNvGrpSpPr>
            <a:grpSpLocks/>
          </p:cNvGrpSpPr>
          <p:nvPr/>
        </p:nvGrpSpPr>
        <p:grpSpPr bwMode="auto">
          <a:xfrm>
            <a:off x="1562100" y="4889500"/>
            <a:ext cx="1038225" cy="1144588"/>
            <a:chOff x="2967" y="2733"/>
            <a:chExt cx="789" cy="870"/>
          </a:xfrm>
        </p:grpSpPr>
        <p:grpSp>
          <p:nvGrpSpPr>
            <p:cNvPr id="61625" name="Group 185"/>
            <p:cNvGrpSpPr>
              <a:grpSpLocks/>
            </p:cNvGrpSpPr>
            <p:nvPr/>
          </p:nvGrpSpPr>
          <p:grpSpPr bwMode="auto">
            <a:xfrm>
              <a:off x="2967" y="3191"/>
              <a:ext cx="763" cy="412"/>
              <a:chOff x="1929" y="1343"/>
              <a:chExt cx="763" cy="412"/>
            </a:xfrm>
          </p:grpSpPr>
          <p:sp>
            <p:nvSpPr>
              <p:cNvPr id="61626" name="Freeform 186"/>
              <p:cNvSpPr>
                <a:spLocks noChangeAspect="1"/>
              </p:cNvSpPr>
              <p:nvPr/>
            </p:nvSpPr>
            <p:spPr bwMode="auto">
              <a:xfrm>
                <a:off x="2428" y="1450"/>
                <a:ext cx="263" cy="305"/>
              </a:xfrm>
              <a:custGeom>
                <a:avLst/>
                <a:gdLst/>
                <a:ahLst/>
                <a:cxnLst>
                  <a:cxn ang="0">
                    <a:pos x="3" y="212"/>
                  </a:cxn>
                  <a:cxn ang="0">
                    <a:pos x="364" y="0"/>
                  </a:cxn>
                  <a:cxn ang="0">
                    <a:pos x="364" y="180"/>
                  </a:cxn>
                  <a:cxn ang="0">
                    <a:pos x="0" y="422"/>
                  </a:cxn>
                </a:cxnLst>
                <a:rect l="0" t="0" r="r" b="b"/>
                <a:pathLst>
                  <a:path w="364" h="422">
                    <a:moveTo>
                      <a:pt x="3" y="212"/>
                    </a:moveTo>
                    <a:lnTo>
                      <a:pt x="364" y="0"/>
                    </a:lnTo>
                    <a:lnTo>
                      <a:pt x="364" y="180"/>
                    </a:lnTo>
                    <a:lnTo>
                      <a:pt x="0" y="422"/>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61627" name="Freeform 187"/>
              <p:cNvSpPr>
                <a:spLocks noChangeAspect="1"/>
              </p:cNvSpPr>
              <p:nvPr/>
            </p:nvSpPr>
            <p:spPr bwMode="auto">
              <a:xfrm>
                <a:off x="1929" y="1343"/>
                <a:ext cx="763" cy="264"/>
              </a:xfrm>
              <a:custGeom>
                <a:avLst/>
                <a:gdLst/>
                <a:ahLst/>
                <a:cxnLst>
                  <a:cxn ang="0">
                    <a:pos x="715" y="376"/>
                  </a:cxn>
                  <a:cxn ang="0">
                    <a:pos x="0" y="187"/>
                  </a:cxn>
                  <a:cxn ang="0">
                    <a:pos x="397" y="0"/>
                  </a:cxn>
                  <a:cxn ang="0">
                    <a:pos x="1090" y="152"/>
                  </a:cxn>
                  <a:cxn ang="0">
                    <a:pos x="715" y="376"/>
                  </a:cxn>
                </a:cxnLst>
                <a:rect l="0" t="0" r="r" b="b"/>
                <a:pathLst>
                  <a:path w="1091" h="377">
                    <a:moveTo>
                      <a:pt x="715" y="376"/>
                    </a:moveTo>
                    <a:lnTo>
                      <a:pt x="0" y="187"/>
                    </a:lnTo>
                    <a:lnTo>
                      <a:pt x="397" y="0"/>
                    </a:lnTo>
                    <a:lnTo>
                      <a:pt x="1090" y="152"/>
                    </a:lnTo>
                    <a:lnTo>
                      <a:pt x="715" y="376"/>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61628" name="Freeform 188"/>
              <p:cNvSpPr>
                <a:spLocks noChangeAspect="1"/>
              </p:cNvSpPr>
              <p:nvPr/>
            </p:nvSpPr>
            <p:spPr bwMode="auto">
              <a:xfrm>
                <a:off x="1929" y="1473"/>
                <a:ext cx="499" cy="282"/>
              </a:xfrm>
              <a:custGeom>
                <a:avLst/>
                <a:gdLst/>
                <a:ahLst/>
                <a:cxnLst>
                  <a:cxn ang="0">
                    <a:pos x="0" y="5"/>
                  </a:cxn>
                  <a:cxn ang="0">
                    <a:pos x="0" y="192"/>
                  </a:cxn>
                  <a:cxn ang="0">
                    <a:pos x="690" y="390"/>
                  </a:cxn>
                  <a:cxn ang="0">
                    <a:pos x="690" y="185"/>
                  </a:cxn>
                  <a:cxn ang="0">
                    <a:pos x="4" y="0"/>
                  </a:cxn>
                </a:cxnLst>
                <a:rect l="0" t="0" r="r" b="b"/>
                <a:pathLst>
                  <a:path w="690" h="390">
                    <a:moveTo>
                      <a:pt x="0" y="5"/>
                    </a:moveTo>
                    <a:lnTo>
                      <a:pt x="0" y="192"/>
                    </a:lnTo>
                    <a:lnTo>
                      <a:pt x="690" y="390"/>
                    </a:lnTo>
                    <a:lnTo>
                      <a:pt x="690" y="185"/>
                    </a:lnTo>
                    <a:lnTo>
                      <a:pt x="4" y="0"/>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61629" name="Freeform 189"/>
              <p:cNvSpPr>
                <a:spLocks noChangeAspect="1"/>
              </p:cNvSpPr>
              <p:nvPr/>
            </p:nvSpPr>
            <p:spPr bwMode="auto">
              <a:xfrm>
                <a:off x="2190" y="1573"/>
                <a:ext cx="196" cy="137"/>
              </a:xfrm>
              <a:custGeom>
                <a:avLst/>
                <a:gdLst/>
                <a:ahLst/>
                <a:cxnLst>
                  <a:cxn ang="0">
                    <a:pos x="0" y="0"/>
                  </a:cxn>
                  <a:cxn ang="0">
                    <a:pos x="271" y="73"/>
                  </a:cxn>
                  <a:cxn ang="0">
                    <a:pos x="271" y="189"/>
                  </a:cxn>
                  <a:cxn ang="0">
                    <a:pos x="0" y="115"/>
                  </a:cxn>
                  <a:cxn ang="0">
                    <a:pos x="0" y="0"/>
                  </a:cxn>
                </a:cxnLst>
                <a:rect l="0" t="0" r="r" b="b"/>
                <a:pathLst>
                  <a:path w="271" h="189">
                    <a:moveTo>
                      <a:pt x="0" y="0"/>
                    </a:moveTo>
                    <a:lnTo>
                      <a:pt x="271" y="73"/>
                    </a:lnTo>
                    <a:lnTo>
                      <a:pt x="271" y="189"/>
                    </a:lnTo>
                    <a:lnTo>
                      <a:pt x="0" y="115"/>
                    </a:lnTo>
                    <a:lnTo>
                      <a:pt x="0" y="0"/>
                    </a:lnTo>
                  </a:path>
                </a:pathLst>
              </a:custGeom>
              <a:gradFill rotWithShape="0">
                <a:gsLst>
                  <a:gs pos="0">
                    <a:srgbClr val="B2B2B2"/>
                  </a:gs>
                  <a:gs pos="100000">
                    <a:srgbClr val="B2B2B2">
                      <a:gamma/>
                      <a:tint val="41176"/>
                      <a:invGamma/>
                    </a:srgbClr>
                  </a:gs>
                </a:gsLst>
                <a:lin ang="2700000" scaled="1"/>
              </a:gradFill>
              <a:ln w="6350" cap="rnd" cmpd="sng">
                <a:noFill/>
                <a:prstDash val="solid"/>
                <a:round/>
                <a:headEnd type="none" w="med" len="med"/>
                <a:tailEnd type="none" w="med" len="med"/>
              </a:ln>
              <a:effectLst/>
            </p:spPr>
            <p:txBody>
              <a:bodyPr/>
              <a:lstStyle/>
              <a:p>
                <a:endParaRPr lang="fr-FR"/>
              </a:p>
            </p:txBody>
          </p:sp>
          <p:sp>
            <p:nvSpPr>
              <p:cNvPr id="61630" name="Freeform 190"/>
              <p:cNvSpPr>
                <a:spLocks noChangeAspect="1" noChangeArrowheads="1"/>
              </p:cNvSpPr>
              <p:nvPr/>
            </p:nvSpPr>
            <p:spPr bwMode="auto">
              <a:xfrm>
                <a:off x="2194" y="1624"/>
                <a:ext cx="189" cy="49"/>
              </a:xfrm>
              <a:custGeom>
                <a:avLst/>
                <a:gdLst/>
                <a:ahLst/>
                <a:cxnLst>
                  <a:cxn ang="0">
                    <a:pos x="0" y="0"/>
                  </a:cxn>
                  <a:cxn ang="0">
                    <a:pos x="261" y="69"/>
                  </a:cxn>
                </a:cxnLst>
                <a:rect l="0" t="0" r="r" b="b"/>
                <a:pathLst>
                  <a:path w="261" h="69">
                    <a:moveTo>
                      <a:pt x="0" y="0"/>
                    </a:moveTo>
                    <a:lnTo>
                      <a:pt x="261" y="69"/>
                    </a:lnTo>
                  </a:path>
                </a:pathLst>
              </a:custGeom>
              <a:noFill/>
              <a:ln w="3175">
                <a:solidFill>
                  <a:srgbClr val="777777"/>
                </a:solidFill>
                <a:round/>
                <a:headEnd/>
                <a:tailEnd/>
              </a:ln>
              <a:effectLst/>
            </p:spPr>
            <p:txBody>
              <a:bodyPr wrap="none" anchor="ctr"/>
              <a:lstStyle/>
              <a:p>
                <a:endParaRPr lang="fr-FR"/>
              </a:p>
            </p:txBody>
          </p:sp>
          <p:sp>
            <p:nvSpPr>
              <p:cNvPr id="61631" name="Freeform 191"/>
              <p:cNvSpPr>
                <a:spLocks/>
              </p:cNvSpPr>
              <p:nvPr/>
            </p:nvSpPr>
            <p:spPr bwMode="auto">
              <a:xfrm>
                <a:off x="2190" y="1572"/>
                <a:ext cx="195" cy="84"/>
              </a:xfrm>
              <a:custGeom>
                <a:avLst/>
                <a:gdLst/>
                <a:ahLst/>
                <a:cxnLst>
                  <a:cxn ang="0">
                    <a:pos x="0" y="84"/>
                  </a:cxn>
                  <a:cxn ang="0">
                    <a:pos x="0" y="0"/>
                  </a:cxn>
                  <a:cxn ang="0">
                    <a:pos x="195" y="54"/>
                  </a:cxn>
                </a:cxnLst>
                <a:rect l="0" t="0" r="r" b="b"/>
                <a:pathLst>
                  <a:path w="195" h="84">
                    <a:moveTo>
                      <a:pt x="0" y="84"/>
                    </a:moveTo>
                    <a:lnTo>
                      <a:pt x="0" y="0"/>
                    </a:lnTo>
                    <a:lnTo>
                      <a:pt x="195" y="54"/>
                    </a:lnTo>
                  </a:path>
                </a:pathLst>
              </a:custGeom>
              <a:noFill/>
              <a:ln w="6350" cap="flat" cmpd="sng">
                <a:solidFill>
                  <a:srgbClr val="777777"/>
                </a:solidFill>
                <a:prstDash val="solid"/>
                <a:round/>
                <a:headEnd type="none" w="med" len="med"/>
                <a:tailEnd type="none" w="med" len="med"/>
              </a:ln>
              <a:effectLst/>
            </p:spPr>
            <p:txBody>
              <a:bodyPr wrap="none" tIns="27432" bIns="27432" anchor="ctr">
                <a:spAutoFit/>
              </a:bodyPr>
              <a:lstStyle/>
              <a:p>
                <a:endParaRPr lang="fr-FR"/>
              </a:p>
            </p:txBody>
          </p:sp>
          <p:sp>
            <p:nvSpPr>
              <p:cNvPr id="61632" name="Line 192"/>
              <p:cNvSpPr>
                <a:spLocks noChangeShapeType="1"/>
              </p:cNvSpPr>
              <p:nvPr/>
            </p:nvSpPr>
            <p:spPr bwMode="auto">
              <a:xfrm>
                <a:off x="2207" y="1600"/>
                <a:ext cx="153" cy="38"/>
              </a:xfrm>
              <a:prstGeom prst="line">
                <a:avLst/>
              </a:prstGeom>
              <a:noFill/>
              <a:ln w="3175">
                <a:solidFill>
                  <a:srgbClr val="777777"/>
                </a:solidFill>
                <a:round/>
                <a:headEnd/>
                <a:tailEnd/>
              </a:ln>
              <a:effectLst/>
            </p:spPr>
            <p:txBody>
              <a:bodyPr wrap="none" tIns="27432" bIns="27432" anchor="ctr">
                <a:spAutoFit/>
              </a:bodyPr>
              <a:lstStyle/>
              <a:p>
                <a:endParaRPr lang="fr-FR"/>
              </a:p>
            </p:txBody>
          </p:sp>
          <p:sp>
            <p:nvSpPr>
              <p:cNvPr id="61633" name="Line 193"/>
              <p:cNvSpPr>
                <a:spLocks noChangeShapeType="1"/>
              </p:cNvSpPr>
              <p:nvPr/>
            </p:nvSpPr>
            <p:spPr bwMode="auto">
              <a:xfrm>
                <a:off x="2337" y="1678"/>
                <a:ext cx="29" cy="6"/>
              </a:xfrm>
              <a:prstGeom prst="line">
                <a:avLst/>
              </a:prstGeom>
              <a:noFill/>
              <a:ln w="19050">
                <a:solidFill>
                  <a:srgbClr val="D60093"/>
                </a:solidFill>
                <a:round/>
                <a:headEnd/>
                <a:tailEnd/>
              </a:ln>
              <a:effectLst/>
            </p:spPr>
            <p:txBody>
              <a:bodyPr wrap="none" tIns="27432" bIns="27432" anchor="ctr">
                <a:spAutoFit/>
              </a:bodyPr>
              <a:lstStyle/>
              <a:p>
                <a:endParaRPr lang="fr-FR"/>
              </a:p>
            </p:txBody>
          </p:sp>
          <p:sp>
            <p:nvSpPr>
              <p:cNvPr id="61634" name="Freeform 194"/>
              <p:cNvSpPr>
                <a:spLocks/>
              </p:cNvSpPr>
              <p:nvPr/>
            </p:nvSpPr>
            <p:spPr bwMode="auto">
              <a:xfrm>
                <a:off x="2255" y="1610"/>
                <a:ext cx="47" cy="25"/>
              </a:xfrm>
              <a:custGeom>
                <a:avLst/>
                <a:gdLst/>
                <a:ahLst/>
                <a:cxnLst>
                  <a:cxn ang="0">
                    <a:pos x="0" y="0"/>
                  </a:cxn>
                  <a:cxn ang="0">
                    <a:pos x="1" y="18"/>
                  </a:cxn>
                  <a:cxn ang="0">
                    <a:pos x="64" y="35"/>
                  </a:cxn>
                  <a:cxn ang="0">
                    <a:pos x="64" y="19"/>
                  </a:cxn>
                  <a:cxn ang="0">
                    <a:pos x="0" y="0"/>
                  </a:cxn>
                </a:cxnLst>
                <a:rect l="0" t="0" r="r" b="b"/>
                <a:pathLst>
                  <a:path w="64" h="35">
                    <a:moveTo>
                      <a:pt x="0" y="0"/>
                    </a:moveTo>
                    <a:lnTo>
                      <a:pt x="1" y="18"/>
                    </a:lnTo>
                    <a:lnTo>
                      <a:pt x="64" y="35"/>
                    </a:lnTo>
                    <a:lnTo>
                      <a:pt x="64" y="19"/>
                    </a:lnTo>
                    <a:lnTo>
                      <a:pt x="0" y="0"/>
                    </a:lnTo>
                    <a:close/>
                  </a:path>
                </a:pathLst>
              </a:custGeom>
              <a:solidFill>
                <a:srgbClr val="777777"/>
              </a:solidFill>
              <a:ln w="19050" cap="flat" cmpd="sng">
                <a:noFill/>
                <a:prstDash val="solid"/>
                <a:round/>
                <a:headEnd type="none" w="med" len="med"/>
                <a:tailEnd type="none" w="med" len="med"/>
              </a:ln>
              <a:effectLst/>
            </p:spPr>
            <p:txBody>
              <a:bodyPr tIns="27432" bIns="27432" anchor="ctr">
                <a:spAutoFit/>
              </a:bodyPr>
              <a:lstStyle/>
              <a:p>
                <a:endParaRPr lang="fr-FR"/>
              </a:p>
            </p:txBody>
          </p:sp>
          <p:sp>
            <p:nvSpPr>
              <p:cNvPr id="61635" name="Line 195"/>
              <p:cNvSpPr>
                <a:spLocks noChangeShapeType="1"/>
              </p:cNvSpPr>
              <p:nvPr/>
            </p:nvSpPr>
            <p:spPr bwMode="auto">
              <a:xfrm>
                <a:off x="1942" y="1503"/>
                <a:ext cx="202" cy="57"/>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61636" name="Line 196"/>
              <p:cNvSpPr>
                <a:spLocks noChangeShapeType="1"/>
              </p:cNvSpPr>
              <p:nvPr/>
            </p:nvSpPr>
            <p:spPr bwMode="auto">
              <a:xfrm>
                <a:off x="1942" y="1525"/>
                <a:ext cx="202" cy="56"/>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61637" name="Line 197"/>
              <p:cNvSpPr>
                <a:spLocks noChangeShapeType="1"/>
              </p:cNvSpPr>
              <p:nvPr/>
            </p:nvSpPr>
            <p:spPr bwMode="auto">
              <a:xfrm>
                <a:off x="1942" y="1548"/>
                <a:ext cx="202" cy="57"/>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61638" name="Line 198"/>
              <p:cNvSpPr>
                <a:spLocks noChangeShapeType="1"/>
              </p:cNvSpPr>
              <p:nvPr/>
            </p:nvSpPr>
            <p:spPr bwMode="auto">
              <a:xfrm>
                <a:off x="1942" y="1570"/>
                <a:ext cx="202" cy="56"/>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61639" name="Freeform 199"/>
              <p:cNvSpPr>
                <a:spLocks/>
              </p:cNvSpPr>
              <p:nvPr/>
            </p:nvSpPr>
            <p:spPr bwMode="auto">
              <a:xfrm>
                <a:off x="2192" y="1632"/>
                <a:ext cx="198" cy="84"/>
              </a:xfrm>
              <a:custGeom>
                <a:avLst/>
                <a:gdLst/>
                <a:ahLst/>
                <a:cxnLst>
                  <a:cxn ang="0">
                    <a:pos x="0" y="40"/>
                  </a:cxn>
                  <a:cxn ang="0">
                    <a:pos x="275" y="117"/>
                  </a:cxn>
                  <a:cxn ang="0">
                    <a:pos x="275" y="0"/>
                  </a:cxn>
                </a:cxnLst>
                <a:rect l="0" t="0" r="r" b="b"/>
                <a:pathLst>
                  <a:path w="275" h="117">
                    <a:moveTo>
                      <a:pt x="0" y="40"/>
                    </a:moveTo>
                    <a:lnTo>
                      <a:pt x="275" y="117"/>
                    </a:lnTo>
                    <a:lnTo>
                      <a:pt x="275" y="0"/>
                    </a:lnTo>
                  </a:path>
                </a:pathLst>
              </a:custGeom>
              <a:noFill/>
              <a:ln w="6350" cap="flat" cmpd="sng">
                <a:solidFill>
                  <a:schemeClr val="bg1"/>
                </a:solidFill>
                <a:prstDash val="solid"/>
                <a:round/>
                <a:headEnd type="none" w="med" len="med"/>
                <a:tailEnd type="none" w="med" len="med"/>
              </a:ln>
              <a:effectLst/>
            </p:spPr>
            <p:txBody>
              <a:bodyPr wrap="none" tIns="27432" bIns="27432" anchor="ctr">
                <a:spAutoFit/>
              </a:bodyPr>
              <a:lstStyle/>
              <a:p>
                <a:endParaRPr lang="fr-FR"/>
              </a:p>
            </p:txBody>
          </p:sp>
        </p:grpSp>
        <p:grpSp>
          <p:nvGrpSpPr>
            <p:cNvPr id="61640" name="Group 200"/>
            <p:cNvGrpSpPr>
              <a:grpSpLocks/>
            </p:cNvGrpSpPr>
            <p:nvPr/>
          </p:nvGrpSpPr>
          <p:grpSpPr bwMode="auto">
            <a:xfrm>
              <a:off x="3042" y="2733"/>
              <a:ext cx="714" cy="672"/>
              <a:chOff x="2004" y="885"/>
              <a:chExt cx="714" cy="672"/>
            </a:xfrm>
          </p:grpSpPr>
          <p:sp>
            <p:nvSpPr>
              <p:cNvPr id="61641" name="Freeform 201"/>
              <p:cNvSpPr>
                <a:spLocks/>
              </p:cNvSpPr>
              <p:nvPr/>
            </p:nvSpPr>
            <p:spPr bwMode="auto">
              <a:xfrm>
                <a:off x="2058" y="1322"/>
                <a:ext cx="556" cy="235"/>
              </a:xfrm>
              <a:custGeom>
                <a:avLst/>
                <a:gdLst/>
                <a:ahLst/>
                <a:cxnLst>
                  <a:cxn ang="0">
                    <a:pos x="0" y="128"/>
                  </a:cxn>
                  <a:cxn ang="0">
                    <a:pos x="238" y="0"/>
                  </a:cxn>
                  <a:cxn ang="0">
                    <a:pos x="556" y="91"/>
                  </a:cxn>
                  <a:cxn ang="0">
                    <a:pos x="556" y="108"/>
                  </a:cxn>
                  <a:cxn ang="0">
                    <a:pos x="334" y="235"/>
                  </a:cxn>
                  <a:cxn ang="0">
                    <a:pos x="0" y="148"/>
                  </a:cxn>
                  <a:cxn ang="0">
                    <a:pos x="0" y="128"/>
                  </a:cxn>
                </a:cxnLst>
                <a:rect l="0" t="0" r="r" b="b"/>
                <a:pathLst>
                  <a:path w="556" h="235">
                    <a:moveTo>
                      <a:pt x="0" y="128"/>
                    </a:moveTo>
                    <a:lnTo>
                      <a:pt x="238" y="0"/>
                    </a:lnTo>
                    <a:lnTo>
                      <a:pt x="556" y="91"/>
                    </a:lnTo>
                    <a:lnTo>
                      <a:pt x="556" y="108"/>
                    </a:lnTo>
                    <a:lnTo>
                      <a:pt x="334" y="235"/>
                    </a:lnTo>
                    <a:lnTo>
                      <a:pt x="0" y="148"/>
                    </a:lnTo>
                    <a:lnTo>
                      <a:pt x="0" y="128"/>
                    </a:lnTo>
                    <a:close/>
                  </a:path>
                </a:pathLst>
              </a:custGeom>
              <a:solidFill>
                <a:srgbClr val="DDDDDD"/>
              </a:solidFill>
              <a:ln w="3175" cap="rnd" cmpd="sng">
                <a:solidFill>
                  <a:srgbClr val="000000"/>
                </a:solidFill>
                <a:prstDash val="solid"/>
                <a:round/>
                <a:headEnd type="none" w="med" len="med"/>
                <a:tailEnd type="none" w="med" len="med"/>
              </a:ln>
              <a:effectLst/>
            </p:spPr>
            <p:txBody>
              <a:bodyPr/>
              <a:lstStyle/>
              <a:p>
                <a:endParaRPr lang="fr-FR"/>
              </a:p>
            </p:txBody>
          </p:sp>
          <p:sp>
            <p:nvSpPr>
              <p:cNvPr id="61642" name="Freeform 202"/>
              <p:cNvSpPr>
                <a:spLocks/>
              </p:cNvSpPr>
              <p:nvPr/>
            </p:nvSpPr>
            <p:spPr bwMode="auto">
              <a:xfrm>
                <a:off x="2065" y="1327"/>
                <a:ext cx="538" cy="208"/>
              </a:xfrm>
              <a:custGeom>
                <a:avLst/>
                <a:gdLst/>
                <a:ahLst/>
                <a:cxnLst>
                  <a:cxn ang="0">
                    <a:pos x="0" y="124"/>
                  </a:cxn>
                  <a:cxn ang="0">
                    <a:pos x="327" y="208"/>
                  </a:cxn>
                  <a:cxn ang="0">
                    <a:pos x="538" y="86"/>
                  </a:cxn>
                  <a:cxn ang="0">
                    <a:pos x="233" y="0"/>
                  </a:cxn>
                  <a:cxn ang="0">
                    <a:pos x="0" y="124"/>
                  </a:cxn>
                </a:cxnLst>
                <a:rect l="0" t="0" r="r" b="b"/>
                <a:pathLst>
                  <a:path w="538" h="208">
                    <a:moveTo>
                      <a:pt x="0" y="124"/>
                    </a:moveTo>
                    <a:lnTo>
                      <a:pt x="327" y="208"/>
                    </a:lnTo>
                    <a:lnTo>
                      <a:pt x="538" y="86"/>
                    </a:lnTo>
                    <a:lnTo>
                      <a:pt x="233" y="0"/>
                    </a:lnTo>
                    <a:lnTo>
                      <a:pt x="0" y="124"/>
                    </a:lnTo>
                    <a:close/>
                  </a:path>
                </a:pathLst>
              </a:custGeom>
              <a:solidFill>
                <a:srgbClr val="B2B2B2"/>
              </a:solidFill>
              <a:ln w="6350" cap="rnd" cmpd="sng">
                <a:noFill/>
                <a:prstDash val="solid"/>
                <a:round/>
                <a:headEnd type="none" w="med" len="med"/>
                <a:tailEnd type="none" w="med" len="med"/>
              </a:ln>
              <a:effectLst/>
            </p:spPr>
            <p:txBody>
              <a:bodyPr/>
              <a:lstStyle/>
              <a:p>
                <a:endParaRPr lang="fr-FR"/>
              </a:p>
            </p:txBody>
          </p:sp>
          <p:sp>
            <p:nvSpPr>
              <p:cNvPr id="61643" name="Oval 203"/>
              <p:cNvSpPr>
                <a:spLocks noChangeArrowheads="1"/>
              </p:cNvSpPr>
              <p:nvPr/>
            </p:nvSpPr>
            <p:spPr bwMode="auto">
              <a:xfrm>
                <a:off x="2199" y="1378"/>
                <a:ext cx="280" cy="112"/>
              </a:xfrm>
              <a:prstGeom prst="ellipse">
                <a:avLst/>
              </a:prstGeom>
              <a:solidFill>
                <a:srgbClr val="B2B2B2"/>
              </a:solidFill>
              <a:ln w="3175" cap="rnd">
                <a:solidFill>
                  <a:schemeClr val="tx1"/>
                </a:solidFill>
                <a:round/>
                <a:headEnd/>
                <a:tailEnd/>
              </a:ln>
              <a:effectLst/>
            </p:spPr>
            <p:txBody>
              <a:bodyPr/>
              <a:lstStyle/>
              <a:p>
                <a:endParaRPr lang="fr-FR"/>
              </a:p>
            </p:txBody>
          </p:sp>
          <p:sp>
            <p:nvSpPr>
              <p:cNvPr id="61644" name="Freeform 204"/>
              <p:cNvSpPr>
                <a:spLocks/>
              </p:cNvSpPr>
              <p:nvPr/>
            </p:nvSpPr>
            <p:spPr bwMode="auto">
              <a:xfrm>
                <a:off x="2046" y="1382"/>
                <a:ext cx="452" cy="126"/>
              </a:xfrm>
              <a:custGeom>
                <a:avLst/>
                <a:gdLst/>
                <a:ahLst/>
                <a:cxnLst>
                  <a:cxn ang="0">
                    <a:pos x="0" y="0"/>
                  </a:cxn>
                  <a:cxn ang="0">
                    <a:pos x="20" y="36"/>
                  </a:cxn>
                  <a:cxn ang="0">
                    <a:pos x="574" y="180"/>
                  </a:cxn>
                  <a:cxn ang="0">
                    <a:pos x="646" y="158"/>
                  </a:cxn>
                </a:cxnLst>
                <a:rect l="0" t="0" r="r" b="b"/>
                <a:pathLst>
                  <a:path w="646" h="180">
                    <a:moveTo>
                      <a:pt x="0" y="0"/>
                    </a:moveTo>
                    <a:lnTo>
                      <a:pt x="20" y="36"/>
                    </a:lnTo>
                    <a:lnTo>
                      <a:pt x="574" y="180"/>
                    </a:lnTo>
                    <a:lnTo>
                      <a:pt x="646" y="158"/>
                    </a:lnTo>
                  </a:path>
                </a:pathLst>
              </a:custGeom>
              <a:solidFill>
                <a:srgbClr val="B2B2B2"/>
              </a:solidFill>
              <a:ln w="3175" cap="rnd" cmpd="sng">
                <a:solidFill>
                  <a:schemeClr val="tx1"/>
                </a:solidFill>
                <a:prstDash val="solid"/>
                <a:round/>
                <a:headEnd type="none" w="med" len="med"/>
                <a:tailEnd type="none" w="med" len="med"/>
              </a:ln>
              <a:effectLst/>
            </p:spPr>
            <p:txBody>
              <a:bodyPr/>
              <a:lstStyle/>
              <a:p>
                <a:endParaRPr lang="fr-FR"/>
              </a:p>
            </p:txBody>
          </p:sp>
          <p:sp>
            <p:nvSpPr>
              <p:cNvPr id="61645" name="Freeform 205"/>
              <p:cNvSpPr>
                <a:spLocks noChangeAspect="1"/>
              </p:cNvSpPr>
              <p:nvPr/>
            </p:nvSpPr>
            <p:spPr bwMode="auto">
              <a:xfrm>
                <a:off x="2154" y="885"/>
                <a:ext cx="564" cy="520"/>
              </a:xfrm>
              <a:custGeom>
                <a:avLst/>
                <a:gdLst/>
                <a:ahLst/>
                <a:cxnLst>
                  <a:cxn ang="0">
                    <a:pos x="620" y="746"/>
                  </a:cxn>
                  <a:cxn ang="0">
                    <a:pos x="808" y="525"/>
                  </a:cxn>
                  <a:cxn ang="0">
                    <a:pos x="808" y="106"/>
                  </a:cxn>
                  <a:cxn ang="0">
                    <a:pos x="336" y="0"/>
                  </a:cxn>
                  <a:cxn ang="0">
                    <a:pos x="0" y="48"/>
                  </a:cxn>
                </a:cxnLst>
                <a:rect l="0" t="0" r="r" b="b"/>
                <a:pathLst>
                  <a:path w="808" h="746">
                    <a:moveTo>
                      <a:pt x="620" y="746"/>
                    </a:moveTo>
                    <a:lnTo>
                      <a:pt x="808" y="525"/>
                    </a:lnTo>
                    <a:lnTo>
                      <a:pt x="808" y="106"/>
                    </a:lnTo>
                    <a:lnTo>
                      <a:pt x="336" y="0"/>
                    </a:lnTo>
                    <a:lnTo>
                      <a:pt x="0" y="4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61646" name="Freeform 206"/>
              <p:cNvSpPr>
                <a:spLocks noChangeAspect="1"/>
              </p:cNvSpPr>
              <p:nvPr/>
            </p:nvSpPr>
            <p:spPr bwMode="auto">
              <a:xfrm>
                <a:off x="2506" y="1000"/>
                <a:ext cx="113" cy="506"/>
              </a:xfrm>
              <a:custGeom>
                <a:avLst/>
                <a:gdLst/>
                <a:ahLst/>
                <a:cxnLst>
                  <a:cxn ang="0">
                    <a:pos x="0" y="644"/>
                  </a:cxn>
                  <a:cxn ang="0">
                    <a:pos x="0" y="79"/>
                  </a:cxn>
                  <a:cxn ang="0">
                    <a:pos x="144" y="0"/>
                  </a:cxn>
                  <a:cxn ang="0">
                    <a:pos x="144" y="554"/>
                  </a:cxn>
                  <a:cxn ang="0">
                    <a:pos x="0" y="644"/>
                  </a:cxn>
                </a:cxnLst>
                <a:rect l="0" t="0" r="r" b="b"/>
                <a:pathLst>
                  <a:path w="144" h="644">
                    <a:moveTo>
                      <a:pt x="0" y="644"/>
                    </a:moveTo>
                    <a:lnTo>
                      <a:pt x="0" y="79"/>
                    </a:lnTo>
                    <a:lnTo>
                      <a:pt x="144" y="0"/>
                    </a:lnTo>
                    <a:lnTo>
                      <a:pt x="144" y="554"/>
                    </a:lnTo>
                    <a:lnTo>
                      <a:pt x="0" y="644"/>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61647" name="Freeform 207"/>
              <p:cNvSpPr>
                <a:spLocks noChangeAspect="1"/>
              </p:cNvSpPr>
              <p:nvPr/>
            </p:nvSpPr>
            <p:spPr bwMode="auto">
              <a:xfrm>
                <a:off x="2004" y="891"/>
                <a:ext cx="615" cy="172"/>
              </a:xfrm>
              <a:custGeom>
                <a:avLst/>
                <a:gdLst/>
                <a:ahLst/>
                <a:cxnLst>
                  <a:cxn ang="0">
                    <a:pos x="638" y="219"/>
                  </a:cxn>
                  <a:cxn ang="0">
                    <a:pos x="0" y="67"/>
                  </a:cxn>
                  <a:cxn ang="0">
                    <a:pos x="160" y="0"/>
                  </a:cxn>
                  <a:cxn ang="0">
                    <a:pos x="782" y="139"/>
                  </a:cxn>
                  <a:cxn ang="0">
                    <a:pos x="638" y="219"/>
                  </a:cxn>
                </a:cxnLst>
                <a:rect l="0" t="0" r="r" b="b"/>
                <a:pathLst>
                  <a:path w="782" h="219">
                    <a:moveTo>
                      <a:pt x="638" y="219"/>
                    </a:moveTo>
                    <a:lnTo>
                      <a:pt x="0" y="67"/>
                    </a:lnTo>
                    <a:lnTo>
                      <a:pt x="160" y="0"/>
                    </a:lnTo>
                    <a:lnTo>
                      <a:pt x="782" y="139"/>
                    </a:lnTo>
                    <a:lnTo>
                      <a:pt x="638" y="219"/>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sp>
            <p:nvSpPr>
              <p:cNvPr id="61648" name="Freeform 208"/>
              <p:cNvSpPr>
                <a:spLocks noChangeAspect="1"/>
              </p:cNvSpPr>
              <p:nvPr/>
            </p:nvSpPr>
            <p:spPr bwMode="auto">
              <a:xfrm>
                <a:off x="2004" y="942"/>
                <a:ext cx="502" cy="566"/>
              </a:xfrm>
              <a:custGeom>
                <a:avLst/>
                <a:gdLst/>
                <a:ahLst/>
                <a:cxnLst>
                  <a:cxn ang="0">
                    <a:pos x="671" y="753"/>
                  </a:cxn>
                  <a:cxn ang="0">
                    <a:pos x="671" y="160"/>
                  </a:cxn>
                  <a:cxn ang="0">
                    <a:pos x="0" y="0"/>
                  </a:cxn>
                  <a:cxn ang="0">
                    <a:pos x="0" y="578"/>
                  </a:cxn>
                  <a:cxn ang="0">
                    <a:pos x="671" y="753"/>
                  </a:cxn>
                </a:cxnLst>
                <a:rect l="0" t="0" r="r" b="b"/>
                <a:pathLst>
                  <a:path w="672" h="754">
                    <a:moveTo>
                      <a:pt x="671" y="753"/>
                    </a:moveTo>
                    <a:lnTo>
                      <a:pt x="671" y="160"/>
                    </a:lnTo>
                    <a:lnTo>
                      <a:pt x="0" y="0"/>
                    </a:lnTo>
                    <a:lnTo>
                      <a:pt x="0" y="578"/>
                    </a:lnTo>
                    <a:lnTo>
                      <a:pt x="671" y="753"/>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61649" name="Freeform 209"/>
              <p:cNvSpPr>
                <a:spLocks noChangeAspect="1"/>
              </p:cNvSpPr>
              <p:nvPr/>
            </p:nvSpPr>
            <p:spPr bwMode="auto">
              <a:xfrm>
                <a:off x="2043" y="992"/>
                <a:ext cx="425" cy="464"/>
              </a:xfrm>
              <a:custGeom>
                <a:avLst/>
                <a:gdLst/>
                <a:ahLst/>
                <a:cxnLst>
                  <a:cxn ang="0">
                    <a:pos x="490" y="548"/>
                  </a:cxn>
                  <a:cxn ang="0">
                    <a:pos x="490" y="117"/>
                  </a:cxn>
                  <a:cxn ang="0">
                    <a:pos x="0" y="0"/>
                  </a:cxn>
                  <a:cxn ang="0">
                    <a:pos x="0" y="424"/>
                  </a:cxn>
                  <a:cxn ang="0">
                    <a:pos x="490" y="548"/>
                  </a:cxn>
                </a:cxnLst>
                <a:rect l="0" t="0" r="r" b="b"/>
                <a:pathLst>
                  <a:path w="491" h="549">
                    <a:moveTo>
                      <a:pt x="490" y="548"/>
                    </a:moveTo>
                    <a:lnTo>
                      <a:pt x="490" y="117"/>
                    </a:lnTo>
                    <a:lnTo>
                      <a:pt x="0" y="0"/>
                    </a:lnTo>
                    <a:lnTo>
                      <a:pt x="0" y="424"/>
                    </a:lnTo>
                    <a:lnTo>
                      <a:pt x="490" y="548"/>
                    </a:lnTo>
                  </a:path>
                </a:pathLst>
              </a:custGeom>
              <a:solidFill>
                <a:srgbClr val="CECECE"/>
              </a:solidFill>
              <a:ln w="6350" cap="rnd" cmpd="sng">
                <a:solidFill>
                  <a:srgbClr val="808080"/>
                </a:solidFill>
                <a:prstDash val="solid"/>
                <a:round/>
                <a:headEnd type="none" w="med" len="med"/>
                <a:tailEnd type="none" w="med" len="med"/>
              </a:ln>
              <a:effectLst/>
            </p:spPr>
            <p:txBody>
              <a:bodyPr/>
              <a:lstStyle/>
              <a:p>
                <a:endParaRPr lang="fr-FR"/>
              </a:p>
            </p:txBody>
          </p:sp>
          <p:sp>
            <p:nvSpPr>
              <p:cNvPr id="61650" name="Freeform 210"/>
              <p:cNvSpPr>
                <a:spLocks/>
              </p:cNvSpPr>
              <p:nvPr/>
            </p:nvSpPr>
            <p:spPr bwMode="auto">
              <a:xfrm>
                <a:off x="2069" y="1023"/>
                <a:ext cx="372" cy="400"/>
              </a:xfrm>
              <a:custGeom>
                <a:avLst/>
                <a:gdLst/>
                <a:ahLst/>
                <a:cxnLst>
                  <a:cxn ang="0">
                    <a:pos x="0" y="0"/>
                  </a:cxn>
                  <a:cxn ang="0">
                    <a:pos x="0" y="454"/>
                  </a:cxn>
                  <a:cxn ang="0">
                    <a:pos x="542" y="592"/>
                  </a:cxn>
                  <a:cxn ang="0">
                    <a:pos x="542" y="130"/>
                  </a:cxn>
                  <a:cxn ang="0">
                    <a:pos x="0" y="0"/>
                  </a:cxn>
                </a:cxnLst>
                <a:rect l="0" t="0" r="r" b="b"/>
                <a:pathLst>
                  <a:path w="542" h="592">
                    <a:moveTo>
                      <a:pt x="0" y="0"/>
                    </a:moveTo>
                    <a:lnTo>
                      <a:pt x="0" y="454"/>
                    </a:lnTo>
                    <a:lnTo>
                      <a:pt x="542" y="592"/>
                    </a:lnTo>
                    <a:lnTo>
                      <a:pt x="542" y="130"/>
                    </a:lnTo>
                    <a:lnTo>
                      <a:pt x="0" y="0"/>
                    </a:lnTo>
                    <a:close/>
                  </a:path>
                </a:pathLst>
              </a:custGeom>
              <a:gradFill rotWithShape="0">
                <a:gsLst>
                  <a:gs pos="0">
                    <a:srgbClr val="618FFD"/>
                  </a:gs>
                  <a:gs pos="100000">
                    <a:srgbClr val="618FFD">
                      <a:gamma/>
                      <a:shade val="75294"/>
                      <a:invGamma/>
                    </a:srgbClr>
                  </a:gs>
                </a:gsLst>
                <a:path path="rect">
                  <a:fillToRect r="100000" b="100000"/>
                </a:path>
              </a:gradFill>
              <a:ln w="6350" cap="flat" cmpd="sng">
                <a:solidFill>
                  <a:srgbClr val="777777"/>
                </a:solidFill>
                <a:prstDash val="solid"/>
                <a:round/>
                <a:headEnd type="none" w="med" len="med"/>
                <a:tailEnd type="none" w="med" len="med"/>
              </a:ln>
              <a:effectLst>
                <a:outerShdw dist="17961" dir="2700000" algn="ctr" rotWithShape="0">
                  <a:schemeClr val="bg1"/>
                </a:outerShdw>
              </a:effectLst>
            </p:spPr>
            <p:txBody>
              <a:bodyPr wrap="none" anchor="ctr"/>
              <a:lstStyle/>
              <a:p>
                <a:endParaRPr lang="fr-FR"/>
              </a:p>
            </p:txBody>
          </p:sp>
          <p:sp>
            <p:nvSpPr>
              <p:cNvPr id="61651" name="Line 211"/>
              <p:cNvSpPr>
                <a:spLocks noChangeShapeType="1"/>
              </p:cNvSpPr>
              <p:nvPr/>
            </p:nvSpPr>
            <p:spPr bwMode="auto">
              <a:xfrm>
                <a:off x="2102" y="1056"/>
                <a:ext cx="0" cy="61"/>
              </a:xfrm>
              <a:prstGeom prst="line">
                <a:avLst/>
              </a:prstGeom>
              <a:noFill/>
              <a:ln w="25400">
                <a:solidFill>
                  <a:schemeClr val="bg1"/>
                </a:solidFill>
                <a:round/>
                <a:headEnd/>
                <a:tailEnd/>
              </a:ln>
              <a:effectLst/>
            </p:spPr>
            <p:txBody>
              <a:bodyPr wrap="none" anchor="ctr"/>
              <a:lstStyle/>
              <a:p>
                <a:endParaRPr lang="fr-FR"/>
              </a:p>
            </p:txBody>
          </p:sp>
        </p:grpSp>
      </p:grpSp>
      <p:grpSp>
        <p:nvGrpSpPr>
          <p:cNvPr id="61652" name="Group 212"/>
          <p:cNvGrpSpPr>
            <a:grpSpLocks/>
          </p:cNvGrpSpPr>
          <p:nvPr/>
        </p:nvGrpSpPr>
        <p:grpSpPr bwMode="auto">
          <a:xfrm>
            <a:off x="6827838" y="4968875"/>
            <a:ext cx="1057275" cy="1154113"/>
            <a:chOff x="3999" y="2751"/>
            <a:chExt cx="808" cy="883"/>
          </a:xfrm>
        </p:grpSpPr>
        <p:grpSp>
          <p:nvGrpSpPr>
            <p:cNvPr id="61653" name="Group 213"/>
            <p:cNvGrpSpPr>
              <a:grpSpLocks/>
            </p:cNvGrpSpPr>
            <p:nvPr/>
          </p:nvGrpSpPr>
          <p:grpSpPr bwMode="auto">
            <a:xfrm>
              <a:off x="4030" y="3214"/>
              <a:ext cx="777" cy="420"/>
              <a:chOff x="4082" y="1377"/>
              <a:chExt cx="835" cy="451"/>
            </a:xfrm>
          </p:grpSpPr>
          <p:sp>
            <p:nvSpPr>
              <p:cNvPr id="61654" name="Freeform 214"/>
              <p:cNvSpPr>
                <a:spLocks noChangeAspect="1"/>
              </p:cNvSpPr>
              <p:nvPr/>
            </p:nvSpPr>
            <p:spPr bwMode="auto">
              <a:xfrm>
                <a:off x="4083" y="1494"/>
                <a:ext cx="289" cy="334"/>
              </a:xfrm>
              <a:custGeom>
                <a:avLst/>
                <a:gdLst/>
                <a:ahLst/>
                <a:cxnLst>
                  <a:cxn ang="0">
                    <a:pos x="289" y="174"/>
                  </a:cxn>
                  <a:cxn ang="0">
                    <a:pos x="0" y="0"/>
                  </a:cxn>
                  <a:cxn ang="0">
                    <a:pos x="0" y="142"/>
                  </a:cxn>
                  <a:cxn ang="0">
                    <a:pos x="288" y="334"/>
                  </a:cxn>
                </a:cxnLst>
                <a:rect l="0" t="0" r="r" b="b"/>
                <a:pathLst>
                  <a:path w="289" h="334">
                    <a:moveTo>
                      <a:pt x="289" y="174"/>
                    </a:moveTo>
                    <a:lnTo>
                      <a:pt x="0" y="0"/>
                    </a:lnTo>
                    <a:lnTo>
                      <a:pt x="0" y="142"/>
                    </a:lnTo>
                    <a:lnTo>
                      <a:pt x="288" y="334"/>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61655" name="Freeform 215"/>
              <p:cNvSpPr>
                <a:spLocks noChangeAspect="1"/>
              </p:cNvSpPr>
              <p:nvPr/>
            </p:nvSpPr>
            <p:spPr bwMode="auto">
              <a:xfrm flipH="1">
                <a:off x="4082" y="1377"/>
                <a:ext cx="835" cy="289"/>
              </a:xfrm>
              <a:custGeom>
                <a:avLst/>
                <a:gdLst/>
                <a:ahLst/>
                <a:cxnLst>
                  <a:cxn ang="0">
                    <a:pos x="715" y="376"/>
                  </a:cxn>
                  <a:cxn ang="0">
                    <a:pos x="0" y="187"/>
                  </a:cxn>
                  <a:cxn ang="0">
                    <a:pos x="397" y="0"/>
                  </a:cxn>
                  <a:cxn ang="0">
                    <a:pos x="1090" y="152"/>
                  </a:cxn>
                  <a:cxn ang="0">
                    <a:pos x="715" y="376"/>
                  </a:cxn>
                </a:cxnLst>
                <a:rect l="0" t="0" r="r" b="b"/>
                <a:pathLst>
                  <a:path w="1091" h="377">
                    <a:moveTo>
                      <a:pt x="715" y="376"/>
                    </a:moveTo>
                    <a:lnTo>
                      <a:pt x="0" y="187"/>
                    </a:lnTo>
                    <a:lnTo>
                      <a:pt x="397" y="0"/>
                    </a:lnTo>
                    <a:lnTo>
                      <a:pt x="1090" y="152"/>
                    </a:lnTo>
                    <a:lnTo>
                      <a:pt x="715" y="376"/>
                    </a:lnTo>
                  </a:path>
                </a:pathLst>
              </a:custGeom>
              <a:gradFill rotWithShape="0">
                <a:gsLst>
                  <a:gs pos="0">
                    <a:srgbClr val="B2B2B2"/>
                  </a:gs>
                  <a:gs pos="100000">
                    <a:srgbClr val="B2B2B2">
                      <a:gamma/>
                      <a:tint val="34118"/>
                      <a:invGamma/>
                    </a:srgbClr>
                  </a:gs>
                </a:gsLst>
                <a:path path="rect">
                  <a:fillToRect t="100000" r="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61656" name="Freeform 216"/>
              <p:cNvSpPr>
                <a:spLocks noChangeAspect="1"/>
              </p:cNvSpPr>
              <p:nvPr/>
            </p:nvSpPr>
            <p:spPr bwMode="auto">
              <a:xfrm flipH="1">
                <a:off x="4371" y="1519"/>
                <a:ext cx="546" cy="309"/>
              </a:xfrm>
              <a:custGeom>
                <a:avLst/>
                <a:gdLst/>
                <a:ahLst/>
                <a:cxnLst>
                  <a:cxn ang="0">
                    <a:pos x="0" y="5"/>
                  </a:cxn>
                  <a:cxn ang="0">
                    <a:pos x="0" y="192"/>
                  </a:cxn>
                  <a:cxn ang="0">
                    <a:pos x="690" y="390"/>
                  </a:cxn>
                  <a:cxn ang="0">
                    <a:pos x="690" y="185"/>
                  </a:cxn>
                  <a:cxn ang="0">
                    <a:pos x="4" y="0"/>
                  </a:cxn>
                </a:cxnLst>
                <a:rect l="0" t="0" r="r" b="b"/>
                <a:pathLst>
                  <a:path w="690" h="390">
                    <a:moveTo>
                      <a:pt x="0" y="5"/>
                    </a:moveTo>
                    <a:lnTo>
                      <a:pt x="0" y="192"/>
                    </a:lnTo>
                    <a:lnTo>
                      <a:pt x="690" y="390"/>
                    </a:lnTo>
                    <a:lnTo>
                      <a:pt x="690" y="185"/>
                    </a:lnTo>
                    <a:lnTo>
                      <a:pt x="4" y="0"/>
                    </a:lnTo>
                  </a:path>
                </a:pathLst>
              </a:custGeom>
              <a:gradFill rotWithShape="0">
                <a:gsLst>
                  <a:gs pos="0">
                    <a:srgbClr val="B2B2B2"/>
                  </a:gs>
                  <a:gs pos="100000">
                    <a:srgbClr val="B2B2B2">
                      <a:gamma/>
                      <a:tint val="34118"/>
                      <a:invGamma/>
                    </a:srgbClr>
                  </a:gs>
                </a:gsLst>
                <a:path path="rect">
                  <a:fillToRect t="100000" r="100000"/>
                </a:path>
              </a:gradFill>
              <a:ln w="3175" cap="rnd" cmpd="sng">
                <a:solidFill>
                  <a:schemeClr val="tx1"/>
                </a:solidFill>
                <a:prstDash val="solid"/>
                <a:round/>
                <a:headEnd type="none" w="med" len="med"/>
                <a:tailEnd type="none" w="med" len="med"/>
              </a:ln>
              <a:effectLst/>
            </p:spPr>
            <p:txBody>
              <a:bodyPr/>
              <a:lstStyle/>
              <a:p>
                <a:endParaRPr lang="fr-FR"/>
              </a:p>
            </p:txBody>
          </p:sp>
          <p:grpSp>
            <p:nvGrpSpPr>
              <p:cNvPr id="61657" name="Group 217"/>
              <p:cNvGrpSpPr>
                <a:grpSpLocks/>
              </p:cNvGrpSpPr>
              <p:nvPr/>
            </p:nvGrpSpPr>
            <p:grpSpPr bwMode="auto">
              <a:xfrm>
                <a:off x="4400" y="1640"/>
                <a:ext cx="221" cy="135"/>
                <a:chOff x="1566" y="3268"/>
                <a:chExt cx="221" cy="135"/>
              </a:xfrm>
            </p:grpSpPr>
            <p:sp>
              <p:nvSpPr>
                <p:cNvPr id="61658" name="Line 218"/>
                <p:cNvSpPr>
                  <a:spLocks noChangeShapeType="1"/>
                </p:cNvSpPr>
                <p:nvPr/>
              </p:nvSpPr>
              <p:spPr bwMode="auto">
                <a:xfrm flipH="1">
                  <a:off x="1566" y="3268"/>
                  <a:ext cx="221" cy="63"/>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61659" name="Line 219"/>
                <p:cNvSpPr>
                  <a:spLocks noChangeShapeType="1"/>
                </p:cNvSpPr>
                <p:nvPr/>
              </p:nvSpPr>
              <p:spPr bwMode="auto">
                <a:xfrm flipH="1">
                  <a:off x="1566" y="3292"/>
                  <a:ext cx="221" cy="62"/>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61660" name="Line 220"/>
                <p:cNvSpPr>
                  <a:spLocks noChangeShapeType="1"/>
                </p:cNvSpPr>
                <p:nvPr/>
              </p:nvSpPr>
              <p:spPr bwMode="auto">
                <a:xfrm flipH="1">
                  <a:off x="1566" y="3317"/>
                  <a:ext cx="221" cy="63"/>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61661" name="Line 221"/>
                <p:cNvSpPr>
                  <a:spLocks noChangeShapeType="1"/>
                </p:cNvSpPr>
                <p:nvPr/>
              </p:nvSpPr>
              <p:spPr bwMode="auto">
                <a:xfrm flipH="1">
                  <a:off x="1566" y="3341"/>
                  <a:ext cx="221" cy="62"/>
                </a:xfrm>
                <a:prstGeom prst="line">
                  <a:avLst/>
                </a:prstGeom>
                <a:noFill/>
                <a:ln w="6350">
                  <a:solidFill>
                    <a:srgbClr val="777777"/>
                  </a:solidFill>
                  <a:round/>
                  <a:headEnd/>
                  <a:tailEnd/>
                </a:ln>
                <a:effectLst/>
              </p:spPr>
              <p:txBody>
                <a:bodyPr tIns="27432" bIns="27432" anchor="ctr">
                  <a:spAutoFit/>
                </a:bodyPr>
                <a:lstStyle/>
                <a:p>
                  <a:endParaRPr lang="fr-FR"/>
                </a:p>
              </p:txBody>
            </p:sp>
          </p:grpSp>
          <p:sp>
            <p:nvSpPr>
              <p:cNvPr id="61662" name="Freeform 222"/>
              <p:cNvSpPr>
                <a:spLocks noChangeAspect="1"/>
              </p:cNvSpPr>
              <p:nvPr/>
            </p:nvSpPr>
            <p:spPr bwMode="auto">
              <a:xfrm flipH="1">
                <a:off x="4667" y="1557"/>
                <a:ext cx="214" cy="150"/>
              </a:xfrm>
              <a:custGeom>
                <a:avLst/>
                <a:gdLst/>
                <a:ahLst/>
                <a:cxnLst>
                  <a:cxn ang="0">
                    <a:pos x="0" y="0"/>
                  </a:cxn>
                  <a:cxn ang="0">
                    <a:pos x="271" y="73"/>
                  </a:cxn>
                  <a:cxn ang="0">
                    <a:pos x="271" y="189"/>
                  </a:cxn>
                  <a:cxn ang="0">
                    <a:pos x="0" y="115"/>
                  </a:cxn>
                  <a:cxn ang="0">
                    <a:pos x="0" y="0"/>
                  </a:cxn>
                </a:cxnLst>
                <a:rect l="0" t="0" r="r" b="b"/>
                <a:pathLst>
                  <a:path w="271" h="189">
                    <a:moveTo>
                      <a:pt x="0" y="0"/>
                    </a:moveTo>
                    <a:lnTo>
                      <a:pt x="271" y="73"/>
                    </a:lnTo>
                    <a:lnTo>
                      <a:pt x="271" y="189"/>
                    </a:lnTo>
                    <a:lnTo>
                      <a:pt x="0" y="115"/>
                    </a:lnTo>
                    <a:lnTo>
                      <a:pt x="0" y="0"/>
                    </a:lnTo>
                  </a:path>
                </a:pathLst>
              </a:custGeom>
              <a:gradFill rotWithShape="0">
                <a:gsLst>
                  <a:gs pos="0">
                    <a:srgbClr val="B2B2B2"/>
                  </a:gs>
                  <a:gs pos="100000">
                    <a:srgbClr val="B2B2B2">
                      <a:gamma/>
                      <a:tint val="41176"/>
                      <a:invGamma/>
                    </a:srgbClr>
                  </a:gs>
                </a:gsLst>
                <a:lin ang="2700000" scaled="1"/>
              </a:gradFill>
              <a:ln w="6350" cap="rnd" cmpd="sng">
                <a:noFill/>
                <a:prstDash val="solid"/>
                <a:round/>
                <a:headEnd type="none" w="med" len="med"/>
                <a:tailEnd type="none" w="med" len="med"/>
              </a:ln>
              <a:effectLst/>
            </p:spPr>
            <p:txBody>
              <a:bodyPr/>
              <a:lstStyle/>
              <a:p>
                <a:endParaRPr lang="fr-FR"/>
              </a:p>
            </p:txBody>
          </p:sp>
          <p:sp>
            <p:nvSpPr>
              <p:cNvPr id="61663" name="Freeform 223"/>
              <p:cNvSpPr>
                <a:spLocks noChangeAspect="1" noChangeArrowheads="1"/>
              </p:cNvSpPr>
              <p:nvPr/>
            </p:nvSpPr>
            <p:spPr bwMode="auto">
              <a:xfrm flipH="1">
                <a:off x="4670" y="1613"/>
                <a:ext cx="207" cy="53"/>
              </a:xfrm>
              <a:custGeom>
                <a:avLst/>
                <a:gdLst/>
                <a:ahLst/>
                <a:cxnLst>
                  <a:cxn ang="0">
                    <a:pos x="0" y="0"/>
                  </a:cxn>
                  <a:cxn ang="0">
                    <a:pos x="261" y="69"/>
                  </a:cxn>
                </a:cxnLst>
                <a:rect l="0" t="0" r="r" b="b"/>
                <a:pathLst>
                  <a:path w="261" h="69">
                    <a:moveTo>
                      <a:pt x="0" y="0"/>
                    </a:moveTo>
                    <a:lnTo>
                      <a:pt x="261" y="69"/>
                    </a:lnTo>
                  </a:path>
                </a:pathLst>
              </a:custGeom>
              <a:noFill/>
              <a:ln w="3175">
                <a:solidFill>
                  <a:srgbClr val="777777"/>
                </a:solidFill>
                <a:round/>
                <a:headEnd/>
                <a:tailEnd/>
              </a:ln>
              <a:effectLst/>
            </p:spPr>
            <p:txBody>
              <a:bodyPr wrap="none" anchor="ctr"/>
              <a:lstStyle/>
              <a:p>
                <a:endParaRPr lang="fr-FR"/>
              </a:p>
            </p:txBody>
          </p:sp>
          <p:sp>
            <p:nvSpPr>
              <p:cNvPr id="61664" name="Freeform 224"/>
              <p:cNvSpPr>
                <a:spLocks/>
              </p:cNvSpPr>
              <p:nvPr/>
            </p:nvSpPr>
            <p:spPr bwMode="auto">
              <a:xfrm>
                <a:off x="4668" y="1556"/>
                <a:ext cx="213" cy="93"/>
              </a:xfrm>
              <a:custGeom>
                <a:avLst/>
                <a:gdLst/>
                <a:ahLst/>
                <a:cxnLst>
                  <a:cxn ang="0">
                    <a:pos x="213" y="93"/>
                  </a:cxn>
                  <a:cxn ang="0">
                    <a:pos x="213" y="0"/>
                  </a:cxn>
                  <a:cxn ang="0">
                    <a:pos x="0" y="59"/>
                  </a:cxn>
                </a:cxnLst>
                <a:rect l="0" t="0" r="r" b="b"/>
                <a:pathLst>
                  <a:path w="213" h="93">
                    <a:moveTo>
                      <a:pt x="213" y="93"/>
                    </a:moveTo>
                    <a:lnTo>
                      <a:pt x="213" y="0"/>
                    </a:lnTo>
                    <a:lnTo>
                      <a:pt x="0" y="59"/>
                    </a:lnTo>
                  </a:path>
                </a:pathLst>
              </a:custGeom>
              <a:noFill/>
              <a:ln w="6350" cap="flat" cmpd="sng">
                <a:solidFill>
                  <a:srgbClr val="777777"/>
                </a:solidFill>
                <a:prstDash val="solid"/>
                <a:round/>
                <a:headEnd type="none" w="med" len="med"/>
                <a:tailEnd type="none" w="med" len="med"/>
              </a:ln>
              <a:effectLst/>
            </p:spPr>
            <p:txBody>
              <a:bodyPr wrap="none" tIns="27432" bIns="27432" anchor="ctr">
                <a:spAutoFit/>
              </a:bodyPr>
              <a:lstStyle/>
              <a:p>
                <a:endParaRPr lang="fr-FR"/>
              </a:p>
            </p:txBody>
          </p:sp>
          <p:sp>
            <p:nvSpPr>
              <p:cNvPr id="61665" name="Line 225"/>
              <p:cNvSpPr>
                <a:spLocks noChangeShapeType="1"/>
              </p:cNvSpPr>
              <p:nvPr/>
            </p:nvSpPr>
            <p:spPr bwMode="auto">
              <a:xfrm flipH="1">
                <a:off x="4695" y="1586"/>
                <a:ext cx="168" cy="42"/>
              </a:xfrm>
              <a:prstGeom prst="line">
                <a:avLst/>
              </a:prstGeom>
              <a:noFill/>
              <a:ln w="3175">
                <a:solidFill>
                  <a:srgbClr val="777777"/>
                </a:solidFill>
                <a:round/>
                <a:headEnd/>
                <a:tailEnd/>
              </a:ln>
              <a:effectLst/>
            </p:spPr>
            <p:txBody>
              <a:bodyPr wrap="none" tIns="27432" bIns="27432" anchor="ctr">
                <a:spAutoFit/>
              </a:bodyPr>
              <a:lstStyle/>
              <a:p>
                <a:endParaRPr lang="fr-FR"/>
              </a:p>
            </p:txBody>
          </p:sp>
          <p:sp>
            <p:nvSpPr>
              <p:cNvPr id="61666" name="Line 226"/>
              <p:cNvSpPr>
                <a:spLocks noChangeShapeType="1"/>
              </p:cNvSpPr>
              <p:nvPr/>
            </p:nvSpPr>
            <p:spPr bwMode="auto">
              <a:xfrm flipH="1">
                <a:off x="4827" y="1640"/>
                <a:ext cx="31" cy="6"/>
              </a:xfrm>
              <a:prstGeom prst="line">
                <a:avLst/>
              </a:prstGeom>
              <a:noFill/>
              <a:ln w="19050">
                <a:solidFill>
                  <a:srgbClr val="D60093"/>
                </a:solidFill>
                <a:round/>
                <a:headEnd/>
                <a:tailEnd/>
              </a:ln>
              <a:effectLst/>
            </p:spPr>
            <p:txBody>
              <a:bodyPr wrap="none" tIns="27432" bIns="27432" anchor="ctr">
                <a:spAutoFit/>
              </a:bodyPr>
              <a:lstStyle/>
              <a:p>
                <a:endParaRPr lang="fr-FR"/>
              </a:p>
            </p:txBody>
          </p:sp>
          <p:sp>
            <p:nvSpPr>
              <p:cNvPr id="61667" name="Freeform 227"/>
              <p:cNvSpPr>
                <a:spLocks/>
              </p:cNvSpPr>
              <p:nvPr/>
            </p:nvSpPr>
            <p:spPr bwMode="auto">
              <a:xfrm flipH="1">
                <a:off x="4759" y="1597"/>
                <a:ext cx="51" cy="28"/>
              </a:xfrm>
              <a:custGeom>
                <a:avLst/>
                <a:gdLst/>
                <a:ahLst/>
                <a:cxnLst>
                  <a:cxn ang="0">
                    <a:pos x="0" y="0"/>
                  </a:cxn>
                  <a:cxn ang="0">
                    <a:pos x="1" y="18"/>
                  </a:cxn>
                  <a:cxn ang="0">
                    <a:pos x="64" y="35"/>
                  </a:cxn>
                  <a:cxn ang="0">
                    <a:pos x="64" y="19"/>
                  </a:cxn>
                  <a:cxn ang="0">
                    <a:pos x="0" y="0"/>
                  </a:cxn>
                </a:cxnLst>
                <a:rect l="0" t="0" r="r" b="b"/>
                <a:pathLst>
                  <a:path w="64" h="35">
                    <a:moveTo>
                      <a:pt x="0" y="0"/>
                    </a:moveTo>
                    <a:lnTo>
                      <a:pt x="1" y="18"/>
                    </a:lnTo>
                    <a:lnTo>
                      <a:pt x="64" y="35"/>
                    </a:lnTo>
                    <a:lnTo>
                      <a:pt x="64" y="19"/>
                    </a:lnTo>
                    <a:lnTo>
                      <a:pt x="0" y="0"/>
                    </a:lnTo>
                    <a:close/>
                  </a:path>
                </a:pathLst>
              </a:custGeom>
              <a:solidFill>
                <a:srgbClr val="777777"/>
              </a:solidFill>
              <a:ln w="19050" cap="flat" cmpd="sng">
                <a:noFill/>
                <a:prstDash val="solid"/>
                <a:round/>
                <a:headEnd type="none" w="med" len="med"/>
                <a:tailEnd type="none" w="med" len="med"/>
              </a:ln>
              <a:effectLst/>
            </p:spPr>
            <p:txBody>
              <a:bodyPr tIns="27432" bIns="27432" anchor="ctr">
                <a:spAutoFit/>
              </a:bodyPr>
              <a:lstStyle/>
              <a:p>
                <a:endParaRPr lang="fr-FR"/>
              </a:p>
            </p:txBody>
          </p:sp>
          <p:sp>
            <p:nvSpPr>
              <p:cNvPr id="61668" name="Freeform 228"/>
              <p:cNvSpPr>
                <a:spLocks/>
              </p:cNvSpPr>
              <p:nvPr/>
            </p:nvSpPr>
            <p:spPr bwMode="auto">
              <a:xfrm flipH="1">
                <a:off x="4662" y="1621"/>
                <a:ext cx="217" cy="92"/>
              </a:xfrm>
              <a:custGeom>
                <a:avLst/>
                <a:gdLst/>
                <a:ahLst/>
                <a:cxnLst>
                  <a:cxn ang="0">
                    <a:pos x="0" y="40"/>
                  </a:cxn>
                  <a:cxn ang="0">
                    <a:pos x="275" y="117"/>
                  </a:cxn>
                  <a:cxn ang="0">
                    <a:pos x="275" y="0"/>
                  </a:cxn>
                </a:cxnLst>
                <a:rect l="0" t="0" r="r" b="b"/>
                <a:pathLst>
                  <a:path w="275" h="117">
                    <a:moveTo>
                      <a:pt x="0" y="40"/>
                    </a:moveTo>
                    <a:lnTo>
                      <a:pt x="275" y="117"/>
                    </a:lnTo>
                    <a:lnTo>
                      <a:pt x="275" y="0"/>
                    </a:lnTo>
                  </a:path>
                </a:pathLst>
              </a:custGeom>
              <a:noFill/>
              <a:ln w="6350" cap="flat" cmpd="sng">
                <a:solidFill>
                  <a:schemeClr val="bg1"/>
                </a:solidFill>
                <a:prstDash val="solid"/>
                <a:round/>
                <a:headEnd type="none" w="med" len="med"/>
                <a:tailEnd type="none" w="med" len="med"/>
              </a:ln>
              <a:effectLst/>
            </p:spPr>
            <p:txBody>
              <a:bodyPr wrap="none" tIns="27432" bIns="27432" anchor="ctr">
                <a:spAutoFit/>
              </a:bodyPr>
              <a:lstStyle/>
              <a:p>
                <a:endParaRPr lang="fr-FR"/>
              </a:p>
            </p:txBody>
          </p:sp>
        </p:grpSp>
        <p:grpSp>
          <p:nvGrpSpPr>
            <p:cNvPr id="61669" name="Group 229"/>
            <p:cNvGrpSpPr>
              <a:grpSpLocks/>
            </p:cNvGrpSpPr>
            <p:nvPr/>
          </p:nvGrpSpPr>
          <p:grpSpPr bwMode="auto">
            <a:xfrm>
              <a:off x="3999" y="2751"/>
              <a:ext cx="727" cy="684"/>
              <a:chOff x="952" y="2351"/>
              <a:chExt cx="781" cy="735"/>
            </a:xfrm>
          </p:grpSpPr>
          <p:sp>
            <p:nvSpPr>
              <p:cNvPr id="61670" name="Freeform 230"/>
              <p:cNvSpPr>
                <a:spLocks/>
              </p:cNvSpPr>
              <p:nvPr/>
            </p:nvSpPr>
            <p:spPr bwMode="auto">
              <a:xfrm flipH="1">
                <a:off x="1066" y="2829"/>
                <a:ext cx="608" cy="257"/>
              </a:xfrm>
              <a:custGeom>
                <a:avLst/>
                <a:gdLst/>
                <a:ahLst/>
                <a:cxnLst>
                  <a:cxn ang="0">
                    <a:pos x="0" y="128"/>
                  </a:cxn>
                  <a:cxn ang="0">
                    <a:pos x="238" y="0"/>
                  </a:cxn>
                  <a:cxn ang="0">
                    <a:pos x="556" y="91"/>
                  </a:cxn>
                  <a:cxn ang="0">
                    <a:pos x="556" y="108"/>
                  </a:cxn>
                  <a:cxn ang="0">
                    <a:pos x="334" y="235"/>
                  </a:cxn>
                  <a:cxn ang="0">
                    <a:pos x="0" y="148"/>
                  </a:cxn>
                  <a:cxn ang="0">
                    <a:pos x="0" y="128"/>
                  </a:cxn>
                </a:cxnLst>
                <a:rect l="0" t="0" r="r" b="b"/>
                <a:pathLst>
                  <a:path w="556" h="235">
                    <a:moveTo>
                      <a:pt x="0" y="128"/>
                    </a:moveTo>
                    <a:lnTo>
                      <a:pt x="238" y="0"/>
                    </a:lnTo>
                    <a:lnTo>
                      <a:pt x="556" y="91"/>
                    </a:lnTo>
                    <a:lnTo>
                      <a:pt x="556" y="108"/>
                    </a:lnTo>
                    <a:lnTo>
                      <a:pt x="334" y="235"/>
                    </a:lnTo>
                    <a:lnTo>
                      <a:pt x="0" y="148"/>
                    </a:lnTo>
                    <a:lnTo>
                      <a:pt x="0" y="128"/>
                    </a:lnTo>
                    <a:close/>
                  </a:path>
                </a:pathLst>
              </a:custGeom>
              <a:solidFill>
                <a:srgbClr val="DDDDDD"/>
              </a:solidFill>
              <a:ln w="3175" cap="rnd" cmpd="sng">
                <a:solidFill>
                  <a:srgbClr val="000000"/>
                </a:solidFill>
                <a:prstDash val="solid"/>
                <a:round/>
                <a:headEnd type="none" w="med" len="med"/>
                <a:tailEnd type="none" w="med" len="med"/>
              </a:ln>
              <a:effectLst/>
            </p:spPr>
            <p:txBody>
              <a:bodyPr/>
              <a:lstStyle/>
              <a:p>
                <a:endParaRPr lang="fr-FR"/>
              </a:p>
            </p:txBody>
          </p:sp>
          <p:sp>
            <p:nvSpPr>
              <p:cNvPr id="61671" name="Freeform 231"/>
              <p:cNvSpPr>
                <a:spLocks/>
              </p:cNvSpPr>
              <p:nvPr/>
            </p:nvSpPr>
            <p:spPr bwMode="auto">
              <a:xfrm flipH="1">
                <a:off x="1078" y="2834"/>
                <a:ext cx="588" cy="228"/>
              </a:xfrm>
              <a:custGeom>
                <a:avLst/>
                <a:gdLst/>
                <a:ahLst/>
                <a:cxnLst>
                  <a:cxn ang="0">
                    <a:pos x="0" y="124"/>
                  </a:cxn>
                  <a:cxn ang="0">
                    <a:pos x="327" y="208"/>
                  </a:cxn>
                  <a:cxn ang="0">
                    <a:pos x="538" y="86"/>
                  </a:cxn>
                  <a:cxn ang="0">
                    <a:pos x="233" y="0"/>
                  </a:cxn>
                  <a:cxn ang="0">
                    <a:pos x="0" y="124"/>
                  </a:cxn>
                </a:cxnLst>
                <a:rect l="0" t="0" r="r" b="b"/>
                <a:pathLst>
                  <a:path w="538" h="208">
                    <a:moveTo>
                      <a:pt x="0" y="124"/>
                    </a:moveTo>
                    <a:lnTo>
                      <a:pt x="327" y="208"/>
                    </a:lnTo>
                    <a:lnTo>
                      <a:pt x="538" y="86"/>
                    </a:lnTo>
                    <a:lnTo>
                      <a:pt x="233" y="0"/>
                    </a:lnTo>
                    <a:lnTo>
                      <a:pt x="0" y="124"/>
                    </a:lnTo>
                    <a:close/>
                  </a:path>
                </a:pathLst>
              </a:custGeom>
              <a:solidFill>
                <a:srgbClr val="B2B2B2"/>
              </a:solidFill>
              <a:ln w="6350" cap="rnd" cmpd="sng">
                <a:noFill/>
                <a:prstDash val="solid"/>
                <a:round/>
                <a:headEnd type="none" w="med" len="med"/>
                <a:tailEnd type="none" w="med" len="med"/>
              </a:ln>
              <a:effectLst/>
            </p:spPr>
            <p:txBody>
              <a:bodyPr/>
              <a:lstStyle/>
              <a:p>
                <a:endParaRPr lang="fr-FR"/>
              </a:p>
            </p:txBody>
          </p:sp>
          <p:sp>
            <p:nvSpPr>
              <p:cNvPr id="61672" name="Oval 232"/>
              <p:cNvSpPr>
                <a:spLocks noChangeArrowheads="1"/>
              </p:cNvSpPr>
              <p:nvPr/>
            </p:nvSpPr>
            <p:spPr bwMode="auto">
              <a:xfrm flipH="1">
                <a:off x="1213" y="2890"/>
                <a:ext cx="307" cy="123"/>
              </a:xfrm>
              <a:prstGeom prst="ellipse">
                <a:avLst/>
              </a:prstGeom>
              <a:solidFill>
                <a:srgbClr val="B2B2B2"/>
              </a:solidFill>
              <a:ln w="3175" cap="rnd">
                <a:solidFill>
                  <a:schemeClr val="tx1"/>
                </a:solidFill>
                <a:round/>
                <a:headEnd/>
                <a:tailEnd/>
              </a:ln>
              <a:effectLst/>
            </p:spPr>
            <p:txBody>
              <a:bodyPr/>
              <a:lstStyle/>
              <a:p>
                <a:endParaRPr lang="fr-FR"/>
              </a:p>
            </p:txBody>
          </p:sp>
          <p:sp>
            <p:nvSpPr>
              <p:cNvPr id="61673" name="Freeform 233"/>
              <p:cNvSpPr>
                <a:spLocks/>
              </p:cNvSpPr>
              <p:nvPr/>
            </p:nvSpPr>
            <p:spPr bwMode="auto">
              <a:xfrm flipH="1">
                <a:off x="1193" y="2895"/>
                <a:ext cx="494" cy="137"/>
              </a:xfrm>
              <a:custGeom>
                <a:avLst/>
                <a:gdLst/>
                <a:ahLst/>
                <a:cxnLst>
                  <a:cxn ang="0">
                    <a:pos x="0" y="0"/>
                  </a:cxn>
                  <a:cxn ang="0">
                    <a:pos x="20" y="36"/>
                  </a:cxn>
                  <a:cxn ang="0">
                    <a:pos x="574" y="180"/>
                  </a:cxn>
                  <a:cxn ang="0">
                    <a:pos x="646" y="158"/>
                  </a:cxn>
                </a:cxnLst>
                <a:rect l="0" t="0" r="r" b="b"/>
                <a:pathLst>
                  <a:path w="646" h="180">
                    <a:moveTo>
                      <a:pt x="0" y="0"/>
                    </a:moveTo>
                    <a:lnTo>
                      <a:pt x="20" y="36"/>
                    </a:lnTo>
                    <a:lnTo>
                      <a:pt x="574" y="180"/>
                    </a:lnTo>
                    <a:lnTo>
                      <a:pt x="646" y="158"/>
                    </a:lnTo>
                  </a:path>
                </a:pathLst>
              </a:custGeom>
              <a:solidFill>
                <a:srgbClr val="B2B2B2"/>
              </a:solidFill>
              <a:ln w="3175" cap="rnd" cmpd="sng">
                <a:solidFill>
                  <a:schemeClr val="tx1"/>
                </a:solidFill>
                <a:prstDash val="solid"/>
                <a:round/>
                <a:headEnd type="none" w="med" len="med"/>
                <a:tailEnd type="none" w="med" len="med"/>
              </a:ln>
              <a:effectLst/>
            </p:spPr>
            <p:txBody>
              <a:bodyPr/>
              <a:lstStyle/>
              <a:p>
                <a:endParaRPr lang="fr-FR"/>
              </a:p>
            </p:txBody>
          </p:sp>
          <p:sp>
            <p:nvSpPr>
              <p:cNvPr id="61674" name="Freeform 234"/>
              <p:cNvSpPr>
                <a:spLocks noChangeAspect="1"/>
              </p:cNvSpPr>
              <p:nvPr/>
            </p:nvSpPr>
            <p:spPr bwMode="auto">
              <a:xfrm flipH="1">
                <a:off x="952" y="2351"/>
                <a:ext cx="617" cy="569"/>
              </a:xfrm>
              <a:custGeom>
                <a:avLst/>
                <a:gdLst/>
                <a:ahLst/>
                <a:cxnLst>
                  <a:cxn ang="0">
                    <a:pos x="620" y="746"/>
                  </a:cxn>
                  <a:cxn ang="0">
                    <a:pos x="808" y="525"/>
                  </a:cxn>
                  <a:cxn ang="0">
                    <a:pos x="808" y="106"/>
                  </a:cxn>
                  <a:cxn ang="0">
                    <a:pos x="336" y="0"/>
                  </a:cxn>
                  <a:cxn ang="0">
                    <a:pos x="0" y="48"/>
                  </a:cxn>
                </a:cxnLst>
                <a:rect l="0" t="0" r="r" b="b"/>
                <a:pathLst>
                  <a:path w="808" h="746">
                    <a:moveTo>
                      <a:pt x="620" y="746"/>
                    </a:moveTo>
                    <a:lnTo>
                      <a:pt x="808" y="525"/>
                    </a:lnTo>
                    <a:lnTo>
                      <a:pt x="808" y="106"/>
                    </a:lnTo>
                    <a:lnTo>
                      <a:pt x="336" y="0"/>
                    </a:lnTo>
                    <a:lnTo>
                      <a:pt x="0" y="48"/>
                    </a:lnTo>
                  </a:path>
                </a:pathLst>
              </a:custGeom>
              <a:gradFill rotWithShape="0">
                <a:gsLst>
                  <a:gs pos="0">
                    <a:srgbClr val="B2B2B2"/>
                  </a:gs>
                  <a:gs pos="100000">
                    <a:srgbClr val="B2B2B2">
                      <a:gamma/>
                      <a:tint val="34118"/>
                      <a:invGamma/>
                    </a:srgbClr>
                  </a:gs>
                </a:gsLst>
                <a:path path="rect">
                  <a:fillToRect t="100000" r="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61675" name="Freeform 235"/>
              <p:cNvSpPr>
                <a:spLocks noChangeAspect="1"/>
              </p:cNvSpPr>
              <p:nvPr/>
            </p:nvSpPr>
            <p:spPr bwMode="auto">
              <a:xfrm flipH="1">
                <a:off x="1060" y="2477"/>
                <a:ext cx="124" cy="553"/>
              </a:xfrm>
              <a:custGeom>
                <a:avLst/>
                <a:gdLst/>
                <a:ahLst/>
                <a:cxnLst>
                  <a:cxn ang="0">
                    <a:pos x="0" y="644"/>
                  </a:cxn>
                  <a:cxn ang="0">
                    <a:pos x="0" y="79"/>
                  </a:cxn>
                  <a:cxn ang="0">
                    <a:pos x="144" y="0"/>
                  </a:cxn>
                  <a:cxn ang="0">
                    <a:pos x="144" y="554"/>
                  </a:cxn>
                  <a:cxn ang="0">
                    <a:pos x="0" y="644"/>
                  </a:cxn>
                </a:cxnLst>
                <a:rect l="0" t="0" r="r" b="b"/>
                <a:pathLst>
                  <a:path w="144" h="644">
                    <a:moveTo>
                      <a:pt x="0" y="644"/>
                    </a:moveTo>
                    <a:lnTo>
                      <a:pt x="0" y="79"/>
                    </a:lnTo>
                    <a:lnTo>
                      <a:pt x="144" y="0"/>
                    </a:lnTo>
                    <a:lnTo>
                      <a:pt x="144" y="554"/>
                    </a:lnTo>
                    <a:lnTo>
                      <a:pt x="0" y="644"/>
                    </a:lnTo>
                  </a:path>
                </a:pathLst>
              </a:custGeom>
              <a:gradFill rotWithShape="0">
                <a:gsLst>
                  <a:gs pos="0">
                    <a:srgbClr val="B2B2B2">
                      <a:gamma/>
                      <a:tint val="34118"/>
                      <a:invGamma/>
                    </a:srgbClr>
                  </a:gs>
                  <a:gs pos="100000">
                    <a:srgbClr val="B2B2B2"/>
                  </a:gs>
                </a:gsLst>
                <a:lin ang="5400000" scaled="1"/>
              </a:gradFill>
              <a:ln w="3175" cap="rnd" cmpd="sng">
                <a:solidFill>
                  <a:schemeClr val="tx1"/>
                </a:solidFill>
                <a:prstDash val="solid"/>
                <a:round/>
                <a:headEnd type="none" w="med" len="med"/>
                <a:tailEnd type="none" w="med" len="med"/>
              </a:ln>
              <a:effectLst/>
            </p:spPr>
            <p:txBody>
              <a:bodyPr/>
              <a:lstStyle/>
              <a:p>
                <a:endParaRPr lang="fr-FR"/>
              </a:p>
            </p:txBody>
          </p:sp>
          <p:sp>
            <p:nvSpPr>
              <p:cNvPr id="61676" name="Freeform 236"/>
              <p:cNvSpPr>
                <a:spLocks noChangeAspect="1"/>
              </p:cNvSpPr>
              <p:nvPr/>
            </p:nvSpPr>
            <p:spPr bwMode="auto">
              <a:xfrm flipH="1">
                <a:off x="1060" y="2358"/>
                <a:ext cx="673" cy="188"/>
              </a:xfrm>
              <a:custGeom>
                <a:avLst/>
                <a:gdLst/>
                <a:ahLst/>
                <a:cxnLst>
                  <a:cxn ang="0">
                    <a:pos x="638" y="219"/>
                  </a:cxn>
                  <a:cxn ang="0">
                    <a:pos x="0" y="67"/>
                  </a:cxn>
                  <a:cxn ang="0">
                    <a:pos x="160" y="0"/>
                  </a:cxn>
                  <a:cxn ang="0">
                    <a:pos x="782" y="139"/>
                  </a:cxn>
                  <a:cxn ang="0">
                    <a:pos x="638" y="219"/>
                  </a:cxn>
                </a:cxnLst>
                <a:rect l="0" t="0" r="r" b="b"/>
                <a:pathLst>
                  <a:path w="782" h="219">
                    <a:moveTo>
                      <a:pt x="638" y="219"/>
                    </a:moveTo>
                    <a:lnTo>
                      <a:pt x="0" y="67"/>
                    </a:lnTo>
                    <a:lnTo>
                      <a:pt x="160" y="0"/>
                    </a:lnTo>
                    <a:lnTo>
                      <a:pt x="782" y="139"/>
                    </a:lnTo>
                    <a:lnTo>
                      <a:pt x="638" y="219"/>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sp>
            <p:nvSpPr>
              <p:cNvPr id="61677" name="Freeform 237"/>
              <p:cNvSpPr>
                <a:spLocks noChangeAspect="1"/>
              </p:cNvSpPr>
              <p:nvPr/>
            </p:nvSpPr>
            <p:spPr bwMode="auto">
              <a:xfrm flipH="1">
                <a:off x="1184" y="2413"/>
                <a:ext cx="549" cy="619"/>
              </a:xfrm>
              <a:custGeom>
                <a:avLst/>
                <a:gdLst/>
                <a:ahLst/>
                <a:cxnLst>
                  <a:cxn ang="0">
                    <a:pos x="671" y="753"/>
                  </a:cxn>
                  <a:cxn ang="0">
                    <a:pos x="671" y="160"/>
                  </a:cxn>
                  <a:cxn ang="0">
                    <a:pos x="0" y="0"/>
                  </a:cxn>
                  <a:cxn ang="0">
                    <a:pos x="0" y="578"/>
                  </a:cxn>
                  <a:cxn ang="0">
                    <a:pos x="671" y="753"/>
                  </a:cxn>
                </a:cxnLst>
                <a:rect l="0" t="0" r="r" b="b"/>
                <a:pathLst>
                  <a:path w="672" h="754">
                    <a:moveTo>
                      <a:pt x="671" y="753"/>
                    </a:moveTo>
                    <a:lnTo>
                      <a:pt x="671" y="160"/>
                    </a:lnTo>
                    <a:lnTo>
                      <a:pt x="0" y="0"/>
                    </a:lnTo>
                    <a:lnTo>
                      <a:pt x="0" y="578"/>
                    </a:lnTo>
                    <a:lnTo>
                      <a:pt x="671" y="753"/>
                    </a:lnTo>
                  </a:path>
                </a:pathLst>
              </a:custGeom>
              <a:gradFill rotWithShape="0">
                <a:gsLst>
                  <a:gs pos="0">
                    <a:srgbClr val="B2B2B2"/>
                  </a:gs>
                  <a:gs pos="100000">
                    <a:srgbClr val="B2B2B2">
                      <a:gamma/>
                      <a:tint val="34118"/>
                      <a:invGamma/>
                    </a:srgbClr>
                  </a:gs>
                </a:gsLst>
                <a:path path="rect">
                  <a:fillToRect t="100000" r="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61678" name="Freeform 238"/>
              <p:cNvSpPr>
                <a:spLocks noChangeAspect="1"/>
              </p:cNvSpPr>
              <p:nvPr/>
            </p:nvSpPr>
            <p:spPr bwMode="auto">
              <a:xfrm flipH="1">
                <a:off x="1225" y="2468"/>
                <a:ext cx="465" cy="508"/>
              </a:xfrm>
              <a:custGeom>
                <a:avLst/>
                <a:gdLst/>
                <a:ahLst/>
                <a:cxnLst>
                  <a:cxn ang="0">
                    <a:pos x="490" y="548"/>
                  </a:cxn>
                  <a:cxn ang="0">
                    <a:pos x="490" y="117"/>
                  </a:cxn>
                  <a:cxn ang="0">
                    <a:pos x="0" y="0"/>
                  </a:cxn>
                  <a:cxn ang="0">
                    <a:pos x="0" y="424"/>
                  </a:cxn>
                  <a:cxn ang="0">
                    <a:pos x="490" y="548"/>
                  </a:cxn>
                </a:cxnLst>
                <a:rect l="0" t="0" r="r" b="b"/>
                <a:pathLst>
                  <a:path w="491" h="549">
                    <a:moveTo>
                      <a:pt x="490" y="548"/>
                    </a:moveTo>
                    <a:lnTo>
                      <a:pt x="490" y="117"/>
                    </a:lnTo>
                    <a:lnTo>
                      <a:pt x="0" y="0"/>
                    </a:lnTo>
                    <a:lnTo>
                      <a:pt x="0" y="424"/>
                    </a:lnTo>
                    <a:lnTo>
                      <a:pt x="490" y="548"/>
                    </a:lnTo>
                  </a:path>
                </a:pathLst>
              </a:custGeom>
              <a:solidFill>
                <a:srgbClr val="CECECE"/>
              </a:solidFill>
              <a:ln w="6350" cap="rnd" cmpd="sng">
                <a:solidFill>
                  <a:srgbClr val="808080"/>
                </a:solidFill>
                <a:prstDash val="solid"/>
                <a:round/>
                <a:headEnd type="none" w="med" len="med"/>
                <a:tailEnd type="none" w="med" len="med"/>
              </a:ln>
              <a:effectLst/>
            </p:spPr>
            <p:txBody>
              <a:bodyPr/>
              <a:lstStyle/>
              <a:p>
                <a:endParaRPr lang="fr-FR"/>
              </a:p>
            </p:txBody>
          </p:sp>
          <p:sp>
            <p:nvSpPr>
              <p:cNvPr id="61679" name="Freeform 239"/>
              <p:cNvSpPr>
                <a:spLocks/>
              </p:cNvSpPr>
              <p:nvPr/>
            </p:nvSpPr>
            <p:spPr bwMode="auto">
              <a:xfrm flipH="1">
                <a:off x="1255" y="2502"/>
                <a:ext cx="407" cy="437"/>
              </a:xfrm>
              <a:custGeom>
                <a:avLst/>
                <a:gdLst/>
                <a:ahLst/>
                <a:cxnLst>
                  <a:cxn ang="0">
                    <a:pos x="0" y="0"/>
                  </a:cxn>
                  <a:cxn ang="0">
                    <a:pos x="0" y="454"/>
                  </a:cxn>
                  <a:cxn ang="0">
                    <a:pos x="542" y="592"/>
                  </a:cxn>
                  <a:cxn ang="0">
                    <a:pos x="542" y="130"/>
                  </a:cxn>
                  <a:cxn ang="0">
                    <a:pos x="0" y="0"/>
                  </a:cxn>
                </a:cxnLst>
                <a:rect l="0" t="0" r="r" b="b"/>
                <a:pathLst>
                  <a:path w="542" h="592">
                    <a:moveTo>
                      <a:pt x="0" y="0"/>
                    </a:moveTo>
                    <a:lnTo>
                      <a:pt x="0" y="454"/>
                    </a:lnTo>
                    <a:lnTo>
                      <a:pt x="542" y="592"/>
                    </a:lnTo>
                    <a:lnTo>
                      <a:pt x="542" y="130"/>
                    </a:lnTo>
                    <a:lnTo>
                      <a:pt x="0" y="0"/>
                    </a:lnTo>
                    <a:close/>
                  </a:path>
                </a:pathLst>
              </a:custGeom>
              <a:gradFill rotWithShape="0">
                <a:gsLst>
                  <a:gs pos="0">
                    <a:srgbClr val="618FFD"/>
                  </a:gs>
                  <a:gs pos="100000">
                    <a:srgbClr val="618FFD">
                      <a:gamma/>
                      <a:shade val="75294"/>
                      <a:invGamma/>
                    </a:srgbClr>
                  </a:gs>
                </a:gsLst>
                <a:path path="rect">
                  <a:fillToRect l="100000" b="100000"/>
                </a:path>
              </a:gradFill>
              <a:ln w="6350" cap="flat" cmpd="sng">
                <a:solidFill>
                  <a:srgbClr val="777777"/>
                </a:solidFill>
                <a:prstDash val="solid"/>
                <a:round/>
                <a:headEnd type="none" w="med" len="med"/>
                <a:tailEnd type="none" w="med" len="med"/>
              </a:ln>
              <a:effectLst>
                <a:outerShdw dist="17961" dir="2700000" algn="ctr" rotWithShape="0">
                  <a:schemeClr val="bg1"/>
                </a:outerShdw>
              </a:effectLst>
            </p:spPr>
            <p:txBody>
              <a:bodyPr wrap="none" anchor="ctr"/>
              <a:lstStyle/>
              <a:p>
                <a:endParaRPr lang="fr-FR"/>
              </a:p>
            </p:txBody>
          </p:sp>
          <p:sp>
            <p:nvSpPr>
              <p:cNvPr id="61680" name="Line 240"/>
              <p:cNvSpPr>
                <a:spLocks noChangeShapeType="1"/>
              </p:cNvSpPr>
              <p:nvPr/>
            </p:nvSpPr>
            <p:spPr bwMode="auto">
              <a:xfrm flipH="1">
                <a:off x="1626" y="2538"/>
                <a:ext cx="0" cy="67"/>
              </a:xfrm>
              <a:prstGeom prst="line">
                <a:avLst/>
              </a:prstGeom>
              <a:noFill/>
              <a:ln w="25400">
                <a:solidFill>
                  <a:schemeClr val="bg1"/>
                </a:solidFill>
                <a:round/>
                <a:headEnd/>
                <a:tailEnd/>
              </a:ln>
              <a:effectLst/>
            </p:spPr>
            <p:txBody>
              <a:bodyPr wrap="none" anchor="ctr"/>
              <a:lstStyle/>
              <a:p>
                <a:endParaRPr lang="fr-FR"/>
              </a:p>
            </p:txBody>
          </p:sp>
        </p:grpSp>
      </p:grpSp>
      <p:grpSp>
        <p:nvGrpSpPr>
          <p:cNvPr id="61681" name="Group 241"/>
          <p:cNvGrpSpPr>
            <a:grpSpLocks/>
          </p:cNvGrpSpPr>
          <p:nvPr/>
        </p:nvGrpSpPr>
        <p:grpSpPr bwMode="auto">
          <a:xfrm>
            <a:off x="863600" y="3835400"/>
            <a:ext cx="1038225" cy="1144588"/>
            <a:chOff x="2967" y="2733"/>
            <a:chExt cx="789" cy="870"/>
          </a:xfrm>
        </p:grpSpPr>
        <p:grpSp>
          <p:nvGrpSpPr>
            <p:cNvPr id="61682" name="Group 242"/>
            <p:cNvGrpSpPr>
              <a:grpSpLocks/>
            </p:cNvGrpSpPr>
            <p:nvPr/>
          </p:nvGrpSpPr>
          <p:grpSpPr bwMode="auto">
            <a:xfrm>
              <a:off x="2967" y="3191"/>
              <a:ext cx="763" cy="412"/>
              <a:chOff x="1929" y="1343"/>
              <a:chExt cx="763" cy="412"/>
            </a:xfrm>
          </p:grpSpPr>
          <p:sp>
            <p:nvSpPr>
              <p:cNvPr id="61683" name="Freeform 243"/>
              <p:cNvSpPr>
                <a:spLocks noChangeAspect="1"/>
              </p:cNvSpPr>
              <p:nvPr/>
            </p:nvSpPr>
            <p:spPr bwMode="auto">
              <a:xfrm>
                <a:off x="2428" y="1450"/>
                <a:ext cx="263" cy="305"/>
              </a:xfrm>
              <a:custGeom>
                <a:avLst/>
                <a:gdLst/>
                <a:ahLst/>
                <a:cxnLst>
                  <a:cxn ang="0">
                    <a:pos x="3" y="212"/>
                  </a:cxn>
                  <a:cxn ang="0">
                    <a:pos x="364" y="0"/>
                  </a:cxn>
                  <a:cxn ang="0">
                    <a:pos x="364" y="180"/>
                  </a:cxn>
                  <a:cxn ang="0">
                    <a:pos x="0" y="422"/>
                  </a:cxn>
                </a:cxnLst>
                <a:rect l="0" t="0" r="r" b="b"/>
                <a:pathLst>
                  <a:path w="364" h="422">
                    <a:moveTo>
                      <a:pt x="3" y="212"/>
                    </a:moveTo>
                    <a:lnTo>
                      <a:pt x="364" y="0"/>
                    </a:lnTo>
                    <a:lnTo>
                      <a:pt x="364" y="180"/>
                    </a:lnTo>
                    <a:lnTo>
                      <a:pt x="0" y="422"/>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61684" name="Freeform 244"/>
              <p:cNvSpPr>
                <a:spLocks noChangeAspect="1"/>
              </p:cNvSpPr>
              <p:nvPr/>
            </p:nvSpPr>
            <p:spPr bwMode="auto">
              <a:xfrm>
                <a:off x="1929" y="1343"/>
                <a:ext cx="763" cy="264"/>
              </a:xfrm>
              <a:custGeom>
                <a:avLst/>
                <a:gdLst/>
                <a:ahLst/>
                <a:cxnLst>
                  <a:cxn ang="0">
                    <a:pos x="715" y="376"/>
                  </a:cxn>
                  <a:cxn ang="0">
                    <a:pos x="0" y="187"/>
                  </a:cxn>
                  <a:cxn ang="0">
                    <a:pos x="397" y="0"/>
                  </a:cxn>
                  <a:cxn ang="0">
                    <a:pos x="1090" y="152"/>
                  </a:cxn>
                  <a:cxn ang="0">
                    <a:pos x="715" y="376"/>
                  </a:cxn>
                </a:cxnLst>
                <a:rect l="0" t="0" r="r" b="b"/>
                <a:pathLst>
                  <a:path w="1091" h="377">
                    <a:moveTo>
                      <a:pt x="715" y="376"/>
                    </a:moveTo>
                    <a:lnTo>
                      <a:pt x="0" y="187"/>
                    </a:lnTo>
                    <a:lnTo>
                      <a:pt x="397" y="0"/>
                    </a:lnTo>
                    <a:lnTo>
                      <a:pt x="1090" y="152"/>
                    </a:lnTo>
                    <a:lnTo>
                      <a:pt x="715" y="376"/>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61685" name="Freeform 245"/>
              <p:cNvSpPr>
                <a:spLocks noChangeAspect="1"/>
              </p:cNvSpPr>
              <p:nvPr/>
            </p:nvSpPr>
            <p:spPr bwMode="auto">
              <a:xfrm>
                <a:off x="1929" y="1473"/>
                <a:ext cx="499" cy="282"/>
              </a:xfrm>
              <a:custGeom>
                <a:avLst/>
                <a:gdLst/>
                <a:ahLst/>
                <a:cxnLst>
                  <a:cxn ang="0">
                    <a:pos x="0" y="5"/>
                  </a:cxn>
                  <a:cxn ang="0">
                    <a:pos x="0" y="192"/>
                  </a:cxn>
                  <a:cxn ang="0">
                    <a:pos x="690" y="390"/>
                  </a:cxn>
                  <a:cxn ang="0">
                    <a:pos x="690" y="185"/>
                  </a:cxn>
                  <a:cxn ang="0">
                    <a:pos x="4" y="0"/>
                  </a:cxn>
                </a:cxnLst>
                <a:rect l="0" t="0" r="r" b="b"/>
                <a:pathLst>
                  <a:path w="690" h="390">
                    <a:moveTo>
                      <a:pt x="0" y="5"/>
                    </a:moveTo>
                    <a:lnTo>
                      <a:pt x="0" y="192"/>
                    </a:lnTo>
                    <a:lnTo>
                      <a:pt x="690" y="390"/>
                    </a:lnTo>
                    <a:lnTo>
                      <a:pt x="690" y="185"/>
                    </a:lnTo>
                    <a:lnTo>
                      <a:pt x="4" y="0"/>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61686" name="Freeform 246"/>
              <p:cNvSpPr>
                <a:spLocks noChangeAspect="1"/>
              </p:cNvSpPr>
              <p:nvPr/>
            </p:nvSpPr>
            <p:spPr bwMode="auto">
              <a:xfrm>
                <a:off x="2190" y="1573"/>
                <a:ext cx="196" cy="137"/>
              </a:xfrm>
              <a:custGeom>
                <a:avLst/>
                <a:gdLst/>
                <a:ahLst/>
                <a:cxnLst>
                  <a:cxn ang="0">
                    <a:pos x="0" y="0"/>
                  </a:cxn>
                  <a:cxn ang="0">
                    <a:pos x="271" y="73"/>
                  </a:cxn>
                  <a:cxn ang="0">
                    <a:pos x="271" y="189"/>
                  </a:cxn>
                  <a:cxn ang="0">
                    <a:pos x="0" y="115"/>
                  </a:cxn>
                  <a:cxn ang="0">
                    <a:pos x="0" y="0"/>
                  </a:cxn>
                </a:cxnLst>
                <a:rect l="0" t="0" r="r" b="b"/>
                <a:pathLst>
                  <a:path w="271" h="189">
                    <a:moveTo>
                      <a:pt x="0" y="0"/>
                    </a:moveTo>
                    <a:lnTo>
                      <a:pt x="271" y="73"/>
                    </a:lnTo>
                    <a:lnTo>
                      <a:pt x="271" y="189"/>
                    </a:lnTo>
                    <a:lnTo>
                      <a:pt x="0" y="115"/>
                    </a:lnTo>
                    <a:lnTo>
                      <a:pt x="0" y="0"/>
                    </a:lnTo>
                  </a:path>
                </a:pathLst>
              </a:custGeom>
              <a:gradFill rotWithShape="0">
                <a:gsLst>
                  <a:gs pos="0">
                    <a:srgbClr val="B2B2B2"/>
                  </a:gs>
                  <a:gs pos="100000">
                    <a:srgbClr val="B2B2B2">
                      <a:gamma/>
                      <a:tint val="41176"/>
                      <a:invGamma/>
                    </a:srgbClr>
                  </a:gs>
                </a:gsLst>
                <a:lin ang="2700000" scaled="1"/>
              </a:gradFill>
              <a:ln w="6350" cap="rnd" cmpd="sng">
                <a:noFill/>
                <a:prstDash val="solid"/>
                <a:round/>
                <a:headEnd type="none" w="med" len="med"/>
                <a:tailEnd type="none" w="med" len="med"/>
              </a:ln>
              <a:effectLst/>
            </p:spPr>
            <p:txBody>
              <a:bodyPr/>
              <a:lstStyle/>
              <a:p>
                <a:endParaRPr lang="fr-FR"/>
              </a:p>
            </p:txBody>
          </p:sp>
          <p:sp>
            <p:nvSpPr>
              <p:cNvPr id="61687" name="Freeform 247"/>
              <p:cNvSpPr>
                <a:spLocks noChangeAspect="1" noChangeArrowheads="1"/>
              </p:cNvSpPr>
              <p:nvPr/>
            </p:nvSpPr>
            <p:spPr bwMode="auto">
              <a:xfrm>
                <a:off x="2194" y="1624"/>
                <a:ext cx="189" cy="49"/>
              </a:xfrm>
              <a:custGeom>
                <a:avLst/>
                <a:gdLst/>
                <a:ahLst/>
                <a:cxnLst>
                  <a:cxn ang="0">
                    <a:pos x="0" y="0"/>
                  </a:cxn>
                  <a:cxn ang="0">
                    <a:pos x="261" y="69"/>
                  </a:cxn>
                </a:cxnLst>
                <a:rect l="0" t="0" r="r" b="b"/>
                <a:pathLst>
                  <a:path w="261" h="69">
                    <a:moveTo>
                      <a:pt x="0" y="0"/>
                    </a:moveTo>
                    <a:lnTo>
                      <a:pt x="261" y="69"/>
                    </a:lnTo>
                  </a:path>
                </a:pathLst>
              </a:custGeom>
              <a:noFill/>
              <a:ln w="3175">
                <a:solidFill>
                  <a:srgbClr val="777777"/>
                </a:solidFill>
                <a:round/>
                <a:headEnd/>
                <a:tailEnd/>
              </a:ln>
              <a:effectLst/>
            </p:spPr>
            <p:txBody>
              <a:bodyPr wrap="none" anchor="ctr"/>
              <a:lstStyle/>
              <a:p>
                <a:endParaRPr lang="fr-FR"/>
              </a:p>
            </p:txBody>
          </p:sp>
          <p:sp>
            <p:nvSpPr>
              <p:cNvPr id="61688" name="Freeform 248"/>
              <p:cNvSpPr>
                <a:spLocks/>
              </p:cNvSpPr>
              <p:nvPr/>
            </p:nvSpPr>
            <p:spPr bwMode="auto">
              <a:xfrm>
                <a:off x="2190" y="1572"/>
                <a:ext cx="195" cy="84"/>
              </a:xfrm>
              <a:custGeom>
                <a:avLst/>
                <a:gdLst/>
                <a:ahLst/>
                <a:cxnLst>
                  <a:cxn ang="0">
                    <a:pos x="0" y="84"/>
                  </a:cxn>
                  <a:cxn ang="0">
                    <a:pos x="0" y="0"/>
                  </a:cxn>
                  <a:cxn ang="0">
                    <a:pos x="195" y="54"/>
                  </a:cxn>
                </a:cxnLst>
                <a:rect l="0" t="0" r="r" b="b"/>
                <a:pathLst>
                  <a:path w="195" h="84">
                    <a:moveTo>
                      <a:pt x="0" y="84"/>
                    </a:moveTo>
                    <a:lnTo>
                      <a:pt x="0" y="0"/>
                    </a:lnTo>
                    <a:lnTo>
                      <a:pt x="195" y="54"/>
                    </a:lnTo>
                  </a:path>
                </a:pathLst>
              </a:custGeom>
              <a:noFill/>
              <a:ln w="6350" cap="flat" cmpd="sng">
                <a:solidFill>
                  <a:srgbClr val="777777"/>
                </a:solidFill>
                <a:prstDash val="solid"/>
                <a:round/>
                <a:headEnd type="none" w="med" len="med"/>
                <a:tailEnd type="none" w="med" len="med"/>
              </a:ln>
              <a:effectLst/>
            </p:spPr>
            <p:txBody>
              <a:bodyPr wrap="none" tIns="27432" bIns="27432" anchor="ctr">
                <a:spAutoFit/>
              </a:bodyPr>
              <a:lstStyle/>
              <a:p>
                <a:endParaRPr lang="fr-FR"/>
              </a:p>
            </p:txBody>
          </p:sp>
          <p:sp>
            <p:nvSpPr>
              <p:cNvPr id="61689" name="Line 249"/>
              <p:cNvSpPr>
                <a:spLocks noChangeShapeType="1"/>
              </p:cNvSpPr>
              <p:nvPr/>
            </p:nvSpPr>
            <p:spPr bwMode="auto">
              <a:xfrm>
                <a:off x="2207" y="1600"/>
                <a:ext cx="153" cy="38"/>
              </a:xfrm>
              <a:prstGeom prst="line">
                <a:avLst/>
              </a:prstGeom>
              <a:noFill/>
              <a:ln w="3175">
                <a:solidFill>
                  <a:srgbClr val="777777"/>
                </a:solidFill>
                <a:round/>
                <a:headEnd/>
                <a:tailEnd/>
              </a:ln>
              <a:effectLst/>
            </p:spPr>
            <p:txBody>
              <a:bodyPr wrap="none" tIns="27432" bIns="27432" anchor="ctr">
                <a:spAutoFit/>
              </a:bodyPr>
              <a:lstStyle/>
              <a:p>
                <a:endParaRPr lang="fr-FR"/>
              </a:p>
            </p:txBody>
          </p:sp>
          <p:sp>
            <p:nvSpPr>
              <p:cNvPr id="61690" name="Line 250"/>
              <p:cNvSpPr>
                <a:spLocks noChangeShapeType="1"/>
              </p:cNvSpPr>
              <p:nvPr/>
            </p:nvSpPr>
            <p:spPr bwMode="auto">
              <a:xfrm>
                <a:off x="2337" y="1678"/>
                <a:ext cx="29" cy="6"/>
              </a:xfrm>
              <a:prstGeom prst="line">
                <a:avLst/>
              </a:prstGeom>
              <a:noFill/>
              <a:ln w="19050">
                <a:solidFill>
                  <a:srgbClr val="D60093"/>
                </a:solidFill>
                <a:round/>
                <a:headEnd/>
                <a:tailEnd/>
              </a:ln>
              <a:effectLst/>
            </p:spPr>
            <p:txBody>
              <a:bodyPr wrap="none" tIns="27432" bIns="27432" anchor="ctr">
                <a:spAutoFit/>
              </a:bodyPr>
              <a:lstStyle/>
              <a:p>
                <a:endParaRPr lang="fr-FR"/>
              </a:p>
            </p:txBody>
          </p:sp>
          <p:sp>
            <p:nvSpPr>
              <p:cNvPr id="61691" name="Freeform 251"/>
              <p:cNvSpPr>
                <a:spLocks/>
              </p:cNvSpPr>
              <p:nvPr/>
            </p:nvSpPr>
            <p:spPr bwMode="auto">
              <a:xfrm>
                <a:off x="2255" y="1610"/>
                <a:ext cx="47" cy="25"/>
              </a:xfrm>
              <a:custGeom>
                <a:avLst/>
                <a:gdLst/>
                <a:ahLst/>
                <a:cxnLst>
                  <a:cxn ang="0">
                    <a:pos x="0" y="0"/>
                  </a:cxn>
                  <a:cxn ang="0">
                    <a:pos x="1" y="18"/>
                  </a:cxn>
                  <a:cxn ang="0">
                    <a:pos x="64" y="35"/>
                  </a:cxn>
                  <a:cxn ang="0">
                    <a:pos x="64" y="19"/>
                  </a:cxn>
                  <a:cxn ang="0">
                    <a:pos x="0" y="0"/>
                  </a:cxn>
                </a:cxnLst>
                <a:rect l="0" t="0" r="r" b="b"/>
                <a:pathLst>
                  <a:path w="64" h="35">
                    <a:moveTo>
                      <a:pt x="0" y="0"/>
                    </a:moveTo>
                    <a:lnTo>
                      <a:pt x="1" y="18"/>
                    </a:lnTo>
                    <a:lnTo>
                      <a:pt x="64" y="35"/>
                    </a:lnTo>
                    <a:lnTo>
                      <a:pt x="64" y="19"/>
                    </a:lnTo>
                    <a:lnTo>
                      <a:pt x="0" y="0"/>
                    </a:lnTo>
                    <a:close/>
                  </a:path>
                </a:pathLst>
              </a:custGeom>
              <a:solidFill>
                <a:srgbClr val="777777"/>
              </a:solidFill>
              <a:ln w="19050" cap="flat" cmpd="sng">
                <a:noFill/>
                <a:prstDash val="solid"/>
                <a:round/>
                <a:headEnd type="none" w="med" len="med"/>
                <a:tailEnd type="none" w="med" len="med"/>
              </a:ln>
              <a:effectLst/>
            </p:spPr>
            <p:txBody>
              <a:bodyPr tIns="27432" bIns="27432" anchor="ctr">
                <a:spAutoFit/>
              </a:bodyPr>
              <a:lstStyle/>
              <a:p>
                <a:endParaRPr lang="fr-FR"/>
              </a:p>
            </p:txBody>
          </p:sp>
          <p:sp>
            <p:nvSpPr>
              <p:cNvPr id="61692" name="Line 252"/>
              <p:cNvSpPr>
                <a:spLocks noChangeShapeType="1"/>
              </p:cNvSpPr>
              <p:nvPr/>
            </p:nvSpPr>
            <p:spPr bwMode="auto">
              <a:xfrm>
                <a:off x="1942" y="1503"/>
                <a:ext cx="202" cy="57"/>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61693" name="Line 253"/>
              <p:cNvSpPr>
                <a:spLocks noChangeShapeType="1"/>
              </p:cNvSpPr>
              <p:nvPr/>
            </p:nvSpPr>
            <p:spPr bwMode="auto">
              <a:xfrm>
                <a:off x="1942" y="1525"/>
                <a:ext cx="202" cy="56"/>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61694" name="Line 254"/>
              <p:cNvSpPr>
                <a:spLocks noChangeShapeType="1"/>
              </p:cNvSpPr>
              <p:nvPr/>
            </p:nvSpPr>
            <p:spPr bwMode="auto">
              <a:xfrm>
                <a:off x="1942" y="1548"/>
                <a:ext cx="202" cy="57"/>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61695" name="Line 255"/>
              <p:cNvSpPr>
                <a:spLocks noChangeShapeType="1"/>
              </p:cNvSpPr>
              <p:nvPr/>
            </p:nvSpPr>
            <p:spPr bwMode="auto">
              <a:xfrm>
                <a:off x="1942" y="1570"/>
                <a:ext cx="202" cy="56"/>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61696" name="Freeform 256"/>
              <p:cNvSpPr>
                <a:spLocks/>
              </p:cNvSpPr>
              <p:nvPr/>
            </p:nvSpPr>
            <p:spPr bwMode="auto">
              <a:xfrm>
                <a:off x="2192" y="1632"/>
                <a:ext cx="198" cy="84"/>
              </a:xfrm>
              <a:custGeom>
                <a:avLst/>
                <a:gdLst/>
                <a:ahLst/>
                <a:cxnLst>
                  <a:cxn ang="0">
                    <a:pos x="0" y="40"/>
                  </a:cxn>
                  <a:cxn ang="0">
                    <a:pos x="275" y="117"/>
                  </a:cxn>
                  <a:cxn ang="0">
                    <a:pos x="275" y="0"/>
                  </a:cxn>
                </a:cxnLst>
                <a:rect l="0" t="0" r="r" b="b"/>
                <a:pathLst>
                  <a:path w="275" h="117">
                    <a:moveTo>
                      <a:pt x="0" y="40"/>
                    </a:moveTo>
                    <a:lnTo>
                      <a:pt x="275" y="117"/>
                    </a:lnTo>
                    <a:lnTo>
                      <a:pt x="275" y="0"/>
                    </a:lnTo>
                  </a:path>
                </a:pathLst>
              </a:custGeom>
              <a:noFill/>
              <a:ln w="6350" cap="flat" cmpd="sng">
                <a:solidFill>
                  <a:schemeClr val="bg1"/>
                </a:solidFill>
                <a:prstDash val="solid"/>
                <a:round/>
                <a:headEnd type="none" w="med" len="med"/>
                <a:tailEnd type="none" w="med" len="med"/>
              </a:ln>
              <a:effectLst/>
            </p:spPr>
            <p:txBody>
              <a:bodyPr wrap="none" tIns="27432" bIns="27432" anchor="ctr">
                <a:spAutoFit/>
              </a:bodyPr>
              <a:lstStyle/>
              <a:p>
                <a:endParaRPr lang="fr-FR"/>
              </a:p>
            </p:txBody>
          </p:sp>
        </p:grpSp>
        <p:grpSp>
          <p:nvGrpSpPr>
            <p:cNvPr id="61697" name="Group 257"/>
            <p:cNvGrpSpPr>
              <a:grpSpLocks/>
            </p:cNvGrpSpPr>
            <p:nvPr/>
          </p:nvGrpSpPr>
          <p:grpSpPr bwMode="auto">
            <a:xfrm>
              <a:off x="3042" y="2733"/>
              <a:ext cx="714" cy="672"/>
              <a:chOff x="2004" y="885"/>
              <a:chExt cx="714" cy="672"/>
            </a:xfrm>
          </p:grpSpPr>
          <p:sp>
            <p:nvSpPr>
              <p:cNvPr id="61698" name="Freeform 258"/>
              <p:cNvSpPr>
                <a:spLocks/>
              </p:cNvSpPr>
              <p:nvPr/>
            </p:nvSpPr>
            <p:spPr bwMode="auto">
              <a:xfrm>
                <a:off x="2058" y="1322"/>
                <a:ext cx="556" cy="235"/>
              </a:xfrm>
              <a:custGeom>
                <a:avLst/>
                <a:gdLst/>
                <a:ahLst/>
                <a:cxnLst>
                  <a:cxn ang="0">
                    <a:pos x="0" y="128"/>
                  </a:cxn>
                  <a:cxn ang="0">
                    <a:pos x="238" y="0"/>
                  </a:cxn>
                  <a:cxn ang="0">
                    <a:pos x="556" y="91"/>
                  </a:cxn>
                  <a:cxn ang="0">
                    <a:pos x="556" y="108"/>
                  </a:cxn>
                  <a:cxn ang="0">
                    <a:pos x="334" y="235"/>
                  </a:cxn>
                  <a:cxn ang="0">
                    <a:pos x="0" y="148"/>
                  </a:cxn>
                  <a:cxn ang="0">
                    <a:pos x="0" y="128"/>
                  </a:cxn>
                </a:cxnLst>
                <a:rect l="0" t="0" r="r" b="b"/>
                <a:pathLst>
                  <a:path w="556" h="235">
                    <a:moveTo>
                      <a:pt x="0" y="128"/>
                    </a:moveTo>
                    <a:lnTo>
                      <a:pt x="238" y="0"/>
                    </a:lnTo>
                    <a:lnTo>
                      <a:pt x="556" y="91"/>
                    </a:lnTo>
                    <a:lnTo>
                      <a:pt x="556" y="108"/>
                    </a:lnTo>
                    <a:lnTo>
                      <a:pt x="334" y="235"/>
                    </a:lnTo>
                    <a:lnTo>
                      <a:pt x="0" y="148"/>
                    </a:lnTo>
                    <a:lnTo>
                      <a:pt x="0" y="128"/>
                    </a:lnTo>
                    <a:close/>
                  </a:path>
                </a:pathLst>
              </a:custGeom>
              <a:solidFill>
                <a:srgbClr val="DDDDDD"/>
              </a:solidFill>
              <a:ln w="3175" cap="rnd" cmpd="sng">
                <a:solidFill>
                  <a:srgbClr val="000000"/>
                </a:solidFill>
                <a:prstDash val="solid"/>
                <a:round/>
                <a:headEnd type="none" w="med" len="med"/>
                <a:tailEnd type="none" w="med" len="med"/>
              </a:ln>
              <a:effectLst/>
            </p:spPr>
            <p:txBody>
              <a:bodyPr/>
              <a:lstStyle/>
              <a:p>
                <a:endParaRPr lang="fr-FR"/>
              </a:p>
            </p:txBody>
          </p:sp>
          <p:sp>
            <p:nvSpPr>
              <p:cNvPr id="61699" name="Freeform 259"/>
              <p:cNvSpPr>
                <a:spLocks/>
              </p:cNvSpPr>
              <p:nvPr/>
            </p:nvSpPr>
            <p:spPr bwMode="auto">
              <a:xfrm>
                <a:off x="2065" y="1327"/>
                <a:ext cx="538" cy="208"/>
              </a:xfrm>
              <a:custGeom>
                <a:avLst/>
                <a:gdLst/>
                <a:ahLst/>
                <a:cxnLst>
                  <a:cxn ang="0">
                    <a:pos x="0" y="124"/>
                  </a:cxn>
                  <a:cxn ang="0">
                    <a:pos x="327" y="208"/>
                  </a:cxn>
                  <a:cxn ang="0">
                    <a:pos x="538" y="86"/>
                  </a:cxn>
                  <a:cxn ang="0">
                    <a:pos x="233" y="0"/>
                  </a:cxn>
                  <a:cxn ang="0">
                    <a:pos x="0" y="124"/>
                  </a:cxn>
                </a:cxnLst>
                <a:rect l="0" t="0" r="r" b="b"/>
                <a:pathLst>
                  <a:path w="538" h="208">
                    <a:moveTo>
                      <a:pt x="0" y="124"/>
                    </a:moveTo>
                    <a:lnTo>
                      <a:pt x="327" y="208"/>
                    </a:lnTo>
                    <a:lnTo>
                      <a:pt x="538" y="86"/>
                    </a:lnTo>
                    <a:lnTo>
                      <a:pt x="233" y="0"/>
                    </a:lnTo>
                    <a:lnTo>
                      <a:pt x="0" y="124"/>
                    </a:lnTo>
                    <a:close/>
                  </a:path>
                </a:pathLst>
              </a:custGeom>
              <a:solidFill>
                <a:srgbClr val="B2B2B2"/>
              </a:solidFill>
              <a:ln w="6350" cap="rnd" cmpd="sng">
                <a:noFill/>
                <a:prstDash val="solid"/>
                <a:round/>
                <a:headEnd type="none" w="med" len="med"/>
                <a:tailEnd type="none" w="med" len="med"/>
              </a:ln>
              <a:effectLst/>
            </p:spPr>
            <p:txBody>
              <a:bodyPr/>
              <a:lstStyle/>
              <a:p>
                <a:endParaRPr lang="fr-FR"/>
              </a:p>
            </p:txBody>
          </p:sp>
          <p:sp>
            <p:nvSpPr>
              <p:cNvPr id="61700" name="Oval 260"/>
              <p:cNvSpPr>
                <a:spLocks noChangeArrowheads="1"/>
              </p:cNvSpPr>
              <p:nvPr/>
            </p:nvSpPr>
            <p:spPr bwMode="auto">
              <a:xfrm>
                <a:off x="2199" y="1378"/>
                <a:ext cx="280" cy="112"/>
              </a:xfrm>
              <a:prstGeom prst="ellipse">
                <a:avLst/>
              </a:prstGeom>
              <a:solidFill>
                <a:srgbClr val="B2B2B2"/>
              </a:solidFill>
              <a:ln w="3175" cap="rnd">
                <a:solidFill>
                  <a:schemeClr val="tx1"/>
                </a:solidFill>
                <a:round/>
                <a:headEnd/>
                <a:tailEnd/>
              </a:ln>
              <a:effectLst/>
            </p:spPr>
            <p:txBody>
              <a:bodyPr/>
              <a:lstStyle/>
              <a:p>
                <a:endParaRPr lang="fr-FR"/>
              </a:p>
            </p:txBody>
          </p:sp>
          <p:sp>
            <p:nvSpPr>
              <p:cNvPr id="61701" name="Freeform 261"/>
              <p:cNvSpPr>
                <a:spLocks/>
              </p:cNvSpPr>
              <p:nvPr/>
            </p:nvSpPr>
            <p:spPr bwMode="auto">
              <a:xfrm>
                <a:off x="2046" y="1382"/>
                <a:ext cx="452" cy="126"/>
              </a:xfrm>
              <a:custGeom>
                <a:avLst/>
                <a:gdLst/>
                <a:ahLst/>
                <a:cxnLst>
                  <a:cxn ang="0">
                    <a:pos x="0" y="0"/>
                  </a:cxn>
                  <a:cxn ang="0">
                    <a:pos x="20" y="36"/>
                  </a:cxn>
                  <a:cxn ang="0">
                    <a:pos x="574" y="180"/>
                  </a:cxn>
                  <a:cxn ang="0">
                    <a:pos x="646" y="158"/>
                  </a:cxn>
                </a:cxnLst>
                <a:rect l="0" t="0" r="r" b="b"/>
                <a:pathLst>
                  <a:path w="646" h="180">
                    <a:moveTo>
                      <a:pt x="0" y="0"/>
                    </a:moveTo>
                    <a:lnTo>
                      <a:pt x="20" y="36"/>
                    </a:lnTo>
                    <a:lnTo>
                      <a:pt x="574" y="180"/>
                    </a:lnTo>
                    <a:lnTo>
                      <a:pt x="646" y="158"/>
                    </a:lnTo>
                  </a:path>
                </a:pathLst>
              </a:custGeom>
              <a:solidFill>
                <a:srgbClr val="B2B2B2"/>
              </a:solidFill>
              <a:ln w="3175" cap="rnd" cmpd="sng">
                <a:solidFill>
                  <a:schemeClr val="tx1"/>
                </a:solidFill>
                <a:prstDash val="solid"/>
                <a:round/>
                <a:headEnd type="none" w="med" len="med"/>
                <a:tailEnd type="none" w="med" len="med"/>
              </a:ln>
              <a:effectLst/>
            </p:spPr>
            <p:txBody>
              <a:bodyPr/>
              <a:lstStyle/>
              <a:p>
                <a:endParaRPr lang="fr-FR"/>
              </a:p>
            </p:txBody>
          </p:sp>
          <p:sp>
            <p:nvSpPr>
              <p:cNvPr id="61702" name="Freeform 262"/>
              <p:cNvSpPr>
                <a:spLocks noChangeAspect="1"/>
              </p:cNvSpPr>
              <p:nvPr/>
            </p:nvSpPr>
            <p:spPr bwMode="auto">
              <a:xfrm>
                <a:off x="2154" y="885"/>
                <a:ext cx="564" cy="520"/>
              </a:xfrm>
              <a:custGeom>
                <a:avLst/>
                <a:gdLst/>
                <a:ahLst/>
                <a:cxnLst>
                  <a:cxn ang="0">
                    <a:pos x="620" y="746"/>
                  </a:cxn>
                  <a:cxn ang="0">
                    <a:pos x="808" y="525"/>
                  </a:cxn>
                  <a:cxn ang="0">
                    <a:pos x="808" y="106"/>
                  </a:cxn>
                  <a:cxn ang="0">
                    <a:pos x="336" y="0"/>
                  </a:cxn>
                  <a:cxn ang="0">
                    <a:pos x="0" y="48"/>
                  </a:cxn>
                </a:cxnLst>
                <a:rect l="0" t="0" r="r" b="b"/>
                <a:pathLst>
                  <a:path w="808" h="746">
                    <a:moveTo>
                      <a:pt x="620" y="746"/>
                    </a:moveTo>
                    <a:lnTo>
                      <a:pt x="808" y="525"/>
                    </a:lnTo>
                    <a:lnTo>
                      <a:pt x="808" y="106"/>
                    </a:lnTo>
                    <a:lnTo>
                      <a:pt x="336" y="0"/>
                    </a:lnTo>
                    <a:lnTo>
                      <a:pt x="0" y="4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61703" name="Freeform 263"/>
              <p:cNvSpPr>
                <a:spLocks noChangeAspect="1"/>
              </p:cNvSpPr>
              <p:nvPr/>
            </p:nvSpPr>
            <p:spPr bwMode="auto">
              <a:xfrm>
                <a:off x="2506" y="1000"/>
                <a:ext cx="113" cy="506"/>
              </a:xfrm>
              <a:custGeom>
                <a:avLst/>
                <a:gdLst/>
                <a:ahLst/>
                <a:cxnLst>
                  <a:cxn ang="0">
                    <a:pos x="0" y="644"/>
                  </a:cxn>
                  <a:cxn ang="0">
                    <a:pos x="0" y="79"/>
                  </a:cxn>
                  <a:cxn ang="0">
                    <a:pos x="144" y="0"/>
                  </a:cxn>
                  <a:cxn ang="0">
                    <a:pos x="144" y="554"/>
                  </a:cxn>
                  <a:cxn ang="0">
                    <a:pos x="0" y="644"/>
                  </a:cxn>
                </a:cxnLst>
                <a:rect l="0" t="0" r="r" b="b"/>
                <a:pathLst>
                  <a:path w="144" h="644">
                    <a:moveTo>
                      <a:pt x="0" y="644"/>
                    </a:moveTo>
                    <a:lnTo>
                      <a:pt x="0" y="79"/>
                    </a:lnTo>
                    <a:lnTo>
                      <a:pt x="144" y="0"/>
                    </a:lnTo>
                    <a:lnTo>
                      <a:pt x="144" y="554"/>
                    </a:lnTo>
                    <a:lnTo>
                      <a:pt x="0" y="644"/>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61704" name="Freeform 264"/>
              <p:cNvSpPr>
                <a:spLocks noChangeAspect="1"/>
              </p:cNvSpPr>
              <p:nvPr/>
            </p:nvSpPr>
            <p:spPr bwMode="auto">
              <a:xfrm>
                <a:off x="2004" y="891"/>
                <a:ext cx="615" cy="172"/>
              </a:xfrm>
              <a:custGeom>
                <a:avLst/>
                <a:gdLst/>
                <a:ahLst/>
                <a:cxnLst>
                  <a:cxn ang="0">
                    <a:pos x="638" y="219"/>
                  </a:cxn>
                  <a:cxn ang="0">
                    <a:pos x="0" y="67"/>
                  </a:cxn>
                  <a:cxn ang="0">
                    <a:pos x="160" y="0"/>
                  </a:cxn>
                  <a:cxn ang="0">
                    <a:pos x="782" y="139"/>
                  </a:cxn>
                  <a:cxn ang="0">
                    <a:pos x="638" y="219"/>
                  </a:cxn>
                </a:cxnLst>
                <a:rect l="0" t="0" r="r" b="b"/>
                <a:pathLst>
                  <a:path w="782" h="219">
                    <a:moveTo>
                      <a:pt x="638" y="219"/>
                    </a:moveTo>
                    <a:lnTo>
                      <a:pt x="0" y="67"/>
                    </a:lnTo>
                    <a:lnTo>
                      <a:pt x="160" y="0"/>
                    </a:lnTo>
                    <a:lnTo>
                      <a:pt x="782" y="139"/>
                    </a:lnTo>
                    <a:lnTo>
                      <a:pt x="638" y="219"/>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sp>
            <p:nvSpPr>
              <p:cNvPr id="61705" name="Freeform 265"/>
              <p:cNvSpPr>
                <a:spLocks noChangeAspect="1"/>
              </p:cNvSpPr>
              <p:nvPr/>
            </p:nvSpPr>
            <p:spPr bwMode="auto">
              <a:xfrm>
                <a:off x="2004" y="942"/>
                <a:ext cx="502" cy="566"/>
              </a:xfrm>
              <a:custGeom>
                <a:avLst/>
                <a:gdLst/>
                <a:ahLst/>
                <a:cxnLst>
                  <a:cxn ang="0">
                    <a:pos x="671" y="753"/>
                  </a:cxn>
                  <a:cxn ang="0">
                    <a:pos x="671" y="160"/>
                  </a:cxn>
                  <a:cxn ang="0">
                    <a:pos x="0" y="0"/>
                  </a:cxn>
                  <a:cxn ang="0">
                    <a:pos x="0" y="578"/>
                  </a:cxn>
                  <a:cxn ang="0">
                    <a:pos x="671" y="753"/>
                  </a:cxn>
                </a:cxnLst>
                <a:rect l="0" t="0" r="r" b="b"/>
                <a:pathLst>
                  <a:path w="672" h="754">
                    <a:moveTo>
                      <a:pt x="671" y="753"/>
                    </a:moveTo>
                    <a:lnTo>
                      <a:pt x="671" y="160"/>
                    </a:lnTo>
                    <a:lnTo>
                      <a:pt x="0" y="0"/>
                    </a:lnTo>
                    <a:lnTo>
                      <a:pt x="0" y="578"/>
                    </a:lnTo>
                    <a:lnTo>
                      <a:pt x="671" y="753"/>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61706" name="Freeform 266"/>
              <p:cNvSpPr>
                <a:spLocks noChangeAspect="1"/>
              </p:cNvSpPr>
              <p:nvPr/>
            </p:nvSpPr>
            <p:spPr bwMode="auto">
              <a:xfrm>
                <a:off x="2043" y="992"/>
                <a:ext cx="425" cy="464"/>
              </a:xfrm>
              <a:custGeom>
                <a:avLst/>
                <a:gdLst/>
                <a:ahLst/>
                <a:cxnLst>
                  <a:cxn ang="0">
                    <a:pos x="490" y="548"/>
                  </a:cxn>
                  <a:cxn ang="0">
                    <a:pos x="490" y="117"/>
                  </a:cxn>
                  <a:cxn ang="0">
                    <a:pos x="0" y="0"/>
                  </a:cxn>
                  <a:cxn ang="0">
                    <a:pos x="0" y="424"/>
                  </a:cxn>
                  <a:cxn ang="0">
                    <a:pos x="490" y="548"/>
                  </a:cxn>
                </a:cxnLst>
                <a:rect l="0" t="0" r="r" b="b"/>
                <a:pathLst>
                  <a:path w="491" h="549">
                    <a:moveTo>
                      <a:pt x="490" y="548"/>
                    </a:moveTo>
                    <a:lnTo>
                      <a:pt x="490" y="117"/>
                    </a:lnTo>
                    <a:lnTo>
                      <a:pt x="0" y="0"/>
                    </a:lnTo>
                    <a:lnTo>
                      <a:pt x="0" y="424"/>
                    </a:lnTo>
                    <a:lnTo>
                      <a:pt x="490" y="548"/>
                    </a:lnTo>
                  </a:path>
                </a:pathLst>
              </a:custGeom>
              <a:solidFill>
                <a:srgbClr val="CECECE"/>
              </a:solidFill>
              <a:ln w="6350" cap="rnd" cmpd="sng">
                <a:solidFill>
                  <a:srgbClr val="808080"/>
                </a:solidFill>
                <a:prstDash val="solid"/>
                <a:round/>
                <a:headEnd type="none" w="med" len="med"/>
                <a:tailEnd type="none" w="med" len="med"/>
              </a:ln>
              <a:effectLst/>
            </p:spPr>
            <p:txBody>
              <a:bodyPr/>
              <a:lstStyle/>
              <a:p>
                <a:endParaRPr lang="fr-FR"/>
              </a:p>
            </p:txBody>
          </p:sp>
          <p:sp>
            <p:nvSpPr>
              <p:cNvPr id="61707" name="Freeform 267"/>
              <p:cNvSpPr>
                <a:spLocks/>
              </p:cNvSpPr>
              <p:nvPr/>
            </p:nvSpPr>
            <p:spPr bwMode="auto">
              <a:xfrm>
                <a:off x="2069" y="1023"/>
                <a:ext cx="372" cy="400"/>
              </a:xfrm>
              <a:custGeom>
                <a:avLst/>
                <a:gdLst/>
                <a:ahLst/>
                <a:cxnLst>
                  <a:cxn ang="0">
                    <a:pos x="0" y="0"/>
                  </a:cxn>
                  <a:cxn ang="0">
                    <a:pos x="0" y="454"/>
                  </a:cxn>
                  <a:cxn ang="0">
                    <a:pos x="542" y="592"/>
                  </a:cxn>
                  <a:cxn ang="0">
                    <a:pos x="542" y="130"/>
                  </a:cxn>
                  <a:cxn ang="0">
                    <a:pos x="0" y="0"/>
                  </a:cxn>
                </a:cxnLst>
                <a:rect l="0" t="0" r="r" b="b"/>
                <a:pathLst>
                  <a:path w="542" h="592">
                    <a:moveTo>
                      <a:pt x="0" y="0"/>
                    </a:moveTo>
                    <a:lnTo>
                      <a:pt x="0" y="454"/>
                    </a:lnTo>
                    <a:lnTo>
                      <a:pt x="542" y="592"/>
                    </a:lnTo>
                    <a:lnTo>
                      <a:pt x="542" y="130"/>
                    </a:lnTo>
                    <a:lnTo>
                      <a:pt x="0" y="0"/>
                    </a:lnTo>
                    <a:close/>
                  </a:path>
                </a:pathLst>
              </a:custGeom>
              <a:gradFill rotWithShape="0">
                <a:gsLst>
                  <a:gs pos="0">
                    <a:srgbClr val="618FFD"/>
                  </a:gs>
                  <a:gs pos="100000">
                    <a:srgbClr val="618FFD">
                      <a:gamma/>
                      <a:shade val="75294"/>
                      <a:invGamma/>
                    </a:srgbClr>
                  </a:gs>
                </a:gsLst>
                <a:path path="rect">
                  <a:fillToRect r="100000" b="100000"/>
                </a:path>
              </a:gradFill>
              <a:ln w="6350" cap="flat" cmpd="sng">
                <a:solidFill>
                  <a:srgbClr val="777777"/>
                </a:solidFill>
                <a:prstDash val="solid"/>
                <a:round/>
                <a:headEnd type="none" w="med" len="med"/>
                <a:tailEnd type="none" w="med" len="med"/>
              </a:ln>
              <a:effectLst>
                <a:outerShdw dist="17961" dir="2700000" algn="ctr" rotWithShape="0">
                  <a:schemeClr val="bg1"/>
                </a:outerShdw>
              </a:effectLst>
            </p:spPr>
            <p:txBody>
              <a:bodyPr wrap="none" anchor="ctr"/>
              <a:lstStyle/>
              <a:p>
                <a:endParaRPr lang="fr-FR"/>
              </a:p>
            </p:txBody>
          </p:sp>
          <p:sp>
            <p:nvSpPr>
              <p:cNvPr id="61708" name="Line 268"/>
              <p:cNvSpPr>
                <a:spLocks noChangeShapeType="1"/>
              </p:cNvSpPr>
              <p:nvPr/>
            </p:nvSpPr>
            <p:spPr bwMode="auto">
              <a:xfrm>
                <a:off x="2102" y="1056"/>
                <a:ext cx="0" cy="61"/>
              </a:xfrm>
              <a:prstGeom prst="line">
                <a:avLst/>
              </a:prstGeom>
              <a:noFill/>
              <a:ln w="25400">
                <a:solidFill>
                  <a:schemeClr val="bg1"/>
                </a:solidFill>
                <a:round/>
                <a:headEnd/>
                <a:tailEnd/>
              </a:ln>
              <a:effectLst/>
            </p:spPr>
            <p:txBody>
              <a:bodyPr wrap="none" anchor="ctr"/>
              <a:lstStyle/>
              <a:p>
                <a:endParaRPr lang="fr-FR"/>
              </a:p>
            </p:txBody>
          </p:sp>
        </p:grpSp>
      </p:grpSp>
      <p:sp>
        <p:nvSpPr>
          <p:cNvPr id="61709" name="Text Box 269"/>
          <p:cNvSpPr txBox="1">
            <a:spLocks noChangeArrowheads="1"/>
          </p:cNvSpPr>
          <p:nvPr/>
        </p:nvSpPr>
        <p:spPr bwMode="auto">
          <a:xfrm>
            <a:off x="1098550" y="4040188"/>
            <a:ext cx="382588" cy="457200"/>
          </a:xfrm>
          <a:prstGeom prst="rect">
            <a:avLst/>
          </a:prstGeom>
          <a:noFill/>
          <a:ln w="9525">
            <a:noFill/>
            <a:miter lim="800000"/>
            <a:headEnd/>
            <a:tailEnd/>
          </a:ln>
          <a:effectLst/>
        </p:spPr>
        <p:txBody>
          <a:bodyPr anchor="ctr">
            <a:spAutoFit/>
          </a:bodyPr>
          <a:lstStyle/>
          <a:p>
            <a:pPr algn="ctr"/>
            <a:r>
              <a:rPr lang="en-US" sz="2400" b="1">
                <a:solidFill>
                  <a:srgbClr val="FFFFFF"/>
                </a:solidFill>
                <a:latin typeface="Arial" charset="0"/>
              </a:rPr>
              <a:t>A</a:t>
            </a:r>
          </a:p>
        </p:txBody>
      </p:sp>
      <p:sp>
        <p:nvSpPr>
          <p:cNvPr id="61710" name="Text Box 270"/>
          <p:cNvSpPr txBox="1">
            <a:spLocks noChangeArrowheads="1"/>
          </p:cNvSpPr>
          <p:nvPr/>
        </p:nvSpPr>
        <p:spPr bwMode="auto">
          <a:xfrm>
            <a:off x="1822450" y="5094288"/>
            <a:ext cx="382588" cy="457200"/>
          </a:xfrm>
          <a:prstGeom prst="rect">
            <a:avLst/>
          </a:prstGeom>
          <a:noFill/>
          <a:ln w="9525">
            <a:noFill/>
            <a:miter lim="800000"/>
            <a:headEnd/>
            <a:tailEnd/>
          </a:ln>
          <a:effectLst/>
        </p:spPr>
        <p:txBody>
          <a:bodyPr anchor="ctr">
            <a:spAutoFit/>
          </a:bodyPr>
          <a:lstStyle/>
          <a:p>
            <a:pPr algn="ctr"/>
            <a:r>
              <a:rPr lang="en-US" sz="2400" b="1">
                <a:solidFill>
                  <a:srgbClr val="FFFFFF"/>
                </a:solidFill>
                <a:latin typeface="Arial" charset="0"/>
              </a:rPr>
              <a:t>B</a:t>
            </a:r>
          </a:p>
        </p:txBody>
      </p:sp>
      <p:sp>
        <p:nvSpPr>
          <p:cNvPr id="61711" name="Text Box 271"/>
          <p:cNvSpPr txBox="1">
            <a:spLocks noChangeArrowheads="1"/>
          </p:cNvSpPr>
          <p:nvPr/>
        </p:nvSpPr>
        <p:spPr bwMode="auto">
          <a:xfrm>
            <a:off x="7312025" y="5208588"/>
            <a:ext cx="382588" cy="457200"/>
          </a:xfrm>
          <a:prstGeom prst="rect">
            <a:avLst/>
          </a:prstGeom>
          <a:noFill/>
          <a:ln w="9525">
            <a:noFill/>
            <a:miter lim="800000"/>
            <a:headEnd/>
            <a:tailEnd/>
          </a:ln>
          <a:effectLst/>
        </p:spPr>
        <p:txBody>
          <a:bodyPr anchor="ctr">
            <a:spAutoFit/>
          </a:bodyPr>
          <a:lstStyle/>
          <a:p>
            <a:pPr algn="ctr"/>
            <a:r>
              <a:rPr lang="en-US" sz="2400" b="1">
                <a:solidFill>
                  <a:srgbClr val="FFFFFF"/>
                </a:solidFill>
                <a:latin typeface="Arial" charset="0"/>
              </a:rPr>
              <a:t>C</a:t>
            </a:r>
          </a:p>
        </p:txBody>
      </p:sp>
      <p:cxnSp>
        <p:nvCxnSpPr>
          <p:cNvPr id="61712" name="AutoShape 272"/>
          <p:cNvCxnSpPr>
            <a:cxnSpLocks noChangeShapeType="1"/>
            <a:endCxn id="61455" idx="2"/>
          </p:cNvCxnSpPr>
          <p:nvPr/>
        </p:nvCxnSpPr>
        <p:spPr bwMode="auto">
          <a:xfrm>
            <a:off x="2387600" y="4149725"/>
            <a:ext cx="1917700" cy="246063"/>
          </a:xfrm>
          <a:prstGeom prst="straightConnector1">
            <a:avLst/>
          </a:prstGeom>
          <a:noFill/>
          <a:ln w="28575">
            <a:solidFill>
              <a:schemeClr val="tx1"/>
            </a:solidFill>
            <a:round/>
            <a:headEnd type="triangle" w="med" len="med"/>
            <a:tailEnd type="triangle" w="med" len="med"/>
          </a:ln>
          <a:effectLst/>
        </p:spPr>
      </p:cxnSp>
      <p:cxnSp>
        <p:nvCxnSpPr>
          <p:cNvPr id="61713" name="AutoShape 273"/>
          <p:cNvCxnSpPr>
            <a:cxnSpLocks noChangeShapeType="1"/>
          </p:cNvCxnSpPr>
          <p:nvPr/>
        </p:nvCxnSpPr>
        <p:spPr bwMode="auto">
          <a:xfrm>
            <a:off x="2387600" y="4454525"/>
            <a:ext cx="1930400" cy="171450"/>
          </a:xfrm>
          <a:prstGeom prst="straightConnector1">
            <a:avLst/>
          </a:prstGeom>
          <a:noFill/>
          <a:ln w="28575">
            <a:solidFill>
              <a:schemeClr val="tx1"/>
            </a:solidFill>
            <a:round/>
            <a:headEnd type="triangle" w="med" len="med"/>
            <a:tailEnd type="triangle" w="med" len="med"/>
          </a:ln>
          <a:effectLst/>
        </p:spPr>
      </p:cxnSp>
      <p:cxnSp>
        <p:nvCxnSpPr>
          <p:cNvPr id="61714" name="AutoShape 274"/>
          <p:cNvCxnSpPr>
            <a:cxnSpLocks noChangeShapeType="1"/>
          </p:cNvCxnSpPr>
          <p:nvPr/>
        </p:nvCxnSpPr>
        <p:spPr bwMode="auto">
          <a:xfrm flipV="1">
            <a:off x="3073400" y="4930775"/>
            <a:ext cx="1244600" cy="361950"/>
          </a:xfrm>
          <a:prstGeom prst="straightConnector1">
            <a:avLst/>
          </a:prstGeom>
          <a:noFill/>
          <a:ln w="28575">
            <a:solidFill>
              <a:schemeClr val="tx1"/>
            </a:solidFill>
            <a:round/>
            <a:headEnd type="triangle" w="med" len="med"/>
            <a:tailEnd type="triangle" w="med" len="med"/>
          </a:ln>
          <a:effectLst/>
        </p:spPr>
      </p:cxnSp>
      <p:cxnSp>
        <p:nvCxnSpPr>
          <p:cNvPr id="61715" name="AutoShape 275"/>
          <p:cNvCxnSpPr>
            <a:cxnSpLocks noChangeShapeType="1"/>
          </p:cNvCxnSpPr>
          <p:nvPr/>
        </p:nvCxnSpPr>
        <p:spPr bwMode="auto">
          <a:xfrm flipV="1">
            <a:off x="3073400" y="5235575"/>
            <a:ext cx="1244600" cy="361950"/>
          </a:xfrm>
          <a:prstGeom prst="straightConnector1">
            <a:avLst/>
          </a:prstGeom>
          <a:noFill/>
          <a:ln w="38100">
            <a:solidFill>
              <a:schemeClr val="tx1"/>
            </a:solidFill>
            <a:prstDash val="dash"/>
            <a:round/>
            <a:headEnd type="triangle" w="med" len="med"/>
            <a:tailEnd type="triangle" w="med" len="med"/>
          </a:ln>
          <a:effectLst/>
        </p:spPr>
      </p:cxnSp>
      <p:cxnSp>
        <p:nvCxnSpPr>
          <p:cNvPr id="61716" name="AutoShape 276"/>
          <p:cNvCxnSpPr>
            <a:cxnSpLocks noChangeShapeType="1"/>
            <a:stCxn id="61470" idx="2"/>
          </p:cNvCxnSpPr>
          <p:nvPr/>
        </p:nvCxnSpPr>
        <p:spPr bwMode="auto">
          <a:xfrm>
            <a:off x="4902200" y="5224463"/>
            <a:ext cx="1435100" cy="430212"/>
          </a:xfrm>
          <a:prstGeom prst="straightConnector1">
            <a:avLst/>
          </a:prstGeom>
          <a:noFill/>
          <a:ln w="38100">
            <a:solidFill>
              <a:schemeClr val="tx1"/>
            </a:solidFill>
            <a:prstDash val="dash"/>
            <a:round/>
            <a:headEnd type="triangle" w="med" len="med"/>
            <a:tailEnd type="triangle" w="med" len="med"/>
          </a:ln>
          <a:effectLst/>
        </p:spPr>
      </p:cxnSp>
      <p:sp>
        <p:nvSpPr>
          <p:cNvPr id="61717" name="Text Box 277"/>
          <p:cNvSpPr txBox="1">
            <a:spLocks noChangeArrowheads="1"/>
          </p:cNvSpPr>
          <p:nvPr/>
        </p:nvSpPr>
        <p:spPr bwMode="auto">
          <a:xfrm>
            <a:off x="5041900" y="2271078"/>
            <a:ext cx="2767013" cy="769441"/>
          </a:xfrm>
          <a:prstGeom prst="rect">
            <a:avLst/>
          </a:prstGeom>
          <a:noFill/>
          <a:ln w="9525">
            <a:noFill/>
            <a:miter lim="800000"/>
            <a:headEnd/>
            <a:tailEnd/>
          </a:ln>
          <a:effectLst/>
        </p:spPr>
        <p:txBody>
          <a:bodyPr anchor="ctr">
            <a:spAutoFit/>
          </a:bodyPr>
          <a:lstStyle/>
          <a:p>
            <a:pPr algn="ctr"/>
            <a:r>
              <a:rPr lang="en-US" sz="2200" dirty="0" err="1">
                <a:latin typeface="Arial" charset="0"/>
              </a:rPr>
              <a:t>Serveur</a:t>
            </a:r>
            <a:r>
              <a:rPr lang="en-US" sz="2200" dirty="0">
                <a:latin typeface="Arial" charset="0"/>
              </a:rPr>
              <a:t> </a:t>
            </a:r>
            <a:br>
              <a:rPr lang="en-US" sz="2200" dirty="0">
                <a:latin typeface="Arial" charset="0"/>
              </a:rPr>
            </a:br>
            <a:r>
              <a:rPr lang="en-US" sz="2200" dirty="0" err="1">
                <a:latin typeface="Arial" charset="0"/>
              </a:rPr>
              <a:t>d'accès</a:t>
            </a:r>
            <a:r>
              <a:rPr lang="en-US" sz="2200" dirty="0">
                <a:latin typeface="Arial" charset="0"/>
              </a:rPr>
              <a:t> distant</a:t>
            </a:r>
          </a:p>
        </p:txBody>
      </p:sp>
      <p:sp>
        <p:nvSpPr>
          <p:cNvPr id="61718" name="Rectangle 278"/>
          <p:cNvSpPr>
            <a:spLocks noChangeArrowheads="1"/>
          </p:cNvSpPr>
          <p:nvPr/>
        </p:nvSpPr>
        <p:spPr bwMode="auto">
          <a:xfrm>
            <a:off x="4696460" y="3502978"/>
            <a:ext cx="4210050" cy="441325"/>
          </a:xfrm>
          <a:prstGeom prst="rect">
            <a:avLst/>
          </a:prstGeom>
          <a:solidFill>
            <a:srgbClr val="666699"/>
          </a:solidFill>
          <a:ln w="9525">
            <a:solidFill>
              <a:srgbClr val="0033CC"/>
            </a:solidFill>
            <a:miter lim="800000"/>
            <a:headEnd/>
            <a:tailEnd/>
          </a:ln>
          <a:effectLst>
            <a:outerShdw dist="45791" dir="3378596" algn="ctr" rotWithShape="0">
              <a:srgbClr val="C0C0C0"/>
            </a:outerShdw>
          </a:effectLst>
        </p:spPr>
        <p:txBody>
          <a:bodyPr wrap="none" tIns="27432" bIns="27432" anchor="ctr"/>
          <a:lstStyle/>
          <a:p>
            <a:pPr algn="ctr"/>
            <a:r>
              <a:rPr lang="en-US" sz="2000" b="1">
                <a:solidFill>
                  <a:srgbClr val="FFFFFF"/>
                </a:solidFill>
                <a:effectLst>
                  <a:outerShdw blurRad="38100" dist="38100" dir="2700000" algn="tl">
                    <a:srgbClr val="000000"/>
                  </a:outerShdw>
                </a:effectLst>
                <a:latin typeface="Arial" charset="0"/>
              </a:rPr>
              <a:t>Liaisons multiples PPP avec BAP</a:t>
            </a:r>
          </a:p>
        </p:txBody>
      </p:sp>
      <p:sp>
        <p:nvSpPr>
          <p:cNvPr id="61719" name="Rectangle 279"/>
          <p:cNvSpPr>
            <a:spLocks noChangeArrowheads="1"/>
          </p:cNvSpPr>
          <p:nvPr/>
        </p:nvSpPr>
        <p:spPr bwMode="auto">
          <a:xfrm>
            <a:off x="1264920" y="5875338"/>
            <a:ext cx="6355079" cy="479425"/>
          </a:xfrm>
          <a:prstGeom prst="rect">
            <a:avLst/>
          </a:prstGeom>
          <a:gradFill rotWithShape="0">
            <a:gsLst>
              <a:gs pos="0">
                <a:srgbClr val="99CCFF">
                  <a:gamma/>
                  <a:tint val="4314"/>
                  <a:invGamma/>
                </a:srgbClr>
              </a:gs>
              <a:gs pos="100000">
                <a:srgbClr val="99CCFF"/>
              </a:gs>
            </a:gsLst>
            <a:lin ang="5400000" scaled="1"/>
          </a:gradFill>
          <a:ln w="9525">
            <a:solidFill>
              <a:srgbClr val="0033CC"/>
            </a:solidFill>
            <a:miter lim="800000"/>
            <a:headEnd/>
            <a:tailEnd/>
          </a:ln>
          <a:effectLst>
            <a:outerShdw dist="53882" dir="2700000" algn="ctr" rotWithShape="0">
              <a:srgbClr val="C0C0C0"/>
            </a:outerShdw>
          </a:effectLst>
        </p:spPr>
        <p:txBody>
          <a:bodyPr wrap="none" tIns="27432" bIns="27432" anchor="ctr"/>
          <a:lstStyle/>
          <a:p>
            <a:pPr algn="ctr"/>
            <a:r>
              <a:rPr lang="en-US" sz="2200" b="1">
                <a:latin typeface="Arial" charset="0"/>
              </a:rPr>
              <a:t>Commutateurs de connexion à la demande</a:t>
            </a:r>
          </a:p>
        </p:txBody>
      </p:sp>
      <p:grpSp>
        <p:nvGrpSpPr>
          <p:cNvPr id="61720" name="Group 280"/>
          <p:cNvGrpSpPr>
            <a:grpSpLocks/>
          </p:cNvGrpSpPr>
          <p:nvPr/>
        </p:nvGrpSpPr>
        <p:grpSpPr bwMode="auto">
          <a:xfrm>
            <a:off x="1820863" y="1782128"/>
            <a:ext cx="596900" cy="338137"/>
            <a:chOff x="2899" y="2529"/>
            <a:chExt cx="547" cy="309"/>
          </a:xfrm>
        </p:grpSpPr>
        <p:sp>
          <p:nvSpPr>
            <p:cNvPr id="61721" name="Freeform 281"/>
            <p:cNvSpPr>
              <a:spLocks/>
            </p:cNvSpPr>
            <p:nvPr/>
          </p:nvSpPr>
          <p:spPr bwMode="auto">
            <a:xfrm>
              <a:off x="3216" y="2606"/>
              <a:ext cx="230" cy="232"/>
            </a:xfrm>
            <a:custGeom>
              <a:avLst/>
              <a:gdLst/>
              <a:ahLst/>
              <a:cxnLst>
                <a:cxn ang="0">
                  <a:pos x="0" y="146"/>
                </a:cxn>
                <a:cxn ang="0">
                  <a:pos x="230" y="0"/>
                </a:cxn>
                <a:cxn ang="0">
                  <a:pos x="230" y="85"/>
                </a:cxn>
                <a:cxn ang="0">
                  <a:pos x="0" y="232"/>
                </a:cxn>
                <a:cxn ang="0">
                  <a:pos x="0" y="146"/>
                </a:cxn>
              </a:cxnLst>
              <a:rect l="0" t="0" r="r" b="b"/>
              <a:pathLst>
                <a:path w="230" h="232">
                  <a:moveTo>
                    <a:pt x="0" y="146"/>
                  </a:moveTo>
                  <a:lnTo>
                    <a:pt x="230" y="0"/>
                  </a:lnTo>
                  <a:lnTo>
                    <a:pt x="230" y="85"/>
                  </a:lnTo>
                  <a:lnTo>
                    <a:pt x="0" y="232"/>
                  </a:lnTo>
                  <a:lnTo>
                    <a:pt x="0" y="146"/>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61722" name="Freeform 282"/>
            <p:cNvSpPr>
              <a:spLocks/>
            </p:cNvSpPr>
            <p:nvPr/>
          </p:nvSpPr>
          <p:spPr bwMode="auto">
            <a:xfrm>
              <a:off x="2899" y="2672"/>
              <a:ext cx="318" cy="166"/>
            </a:xfrm>
            <a:custGeom>
              <a:avLst/>
              <a:gdLst/>
              <a:ahLst/>
              <a:cxnLst>
                <a:cxn ang="0">
                  <a:pos x="318" y="80"/>
                </a:cxn>
                <a:cxn ang="0">
                  <a:pos x="318" y="166"/>
                </a:cxn>
                <a:cxn ang="0">
                  <a:pos x="0" y="85"/>
                </a:cxn>
                <a:cxn ang="0">
                  <a:pos x="0" y="0"/>
                </a:cxn>
              </a:cxnLst>
              <a:rect l="0" t="0" r="r" b="b"/>
              <a:pathLst>
                <a:path w="318" h="166">
                  <a:moveTo>
                    <a:pt x="318" y="80"/>
                  </a:moveTo>
                  <a:lnTo>
                    <a:pt x="318" y="166"/>
                  </a:lnTo>
                  <a:lnTo>
                    <a:pt x="0" y="85"/>
                  </a:lnTo>
                  <a:lnTo>
                    <a:pt x="0" y="0"/>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61723" name="Oval 283"/>
            <p:cNvSpPr>
              <a:spLocks noChangeArrowheads="1"/>
            </p:cNvSpPr>
            <p:nvPr/>
          </p:nvSpPr>
          <p:spPr bwMode="auto">
            <a:xfrm>
              <a:off x="2993" y="2724"/>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724" name="Oval 284"/>
            <p:cNvSpPr>
              <a:spLocks noChangeArrowheads="1"/>
            </p:cNvSpPr>
            <p:nvPr/>
          </p:nvSpPr>
          <p:spPr bwMode="auto">
            <a:xfrm>
              <a:off x="3044" y="2739"/>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725" name="Oval 285"/>
            <p:cNvSpPr>
              <a:spLocks noChangeArrowheads="1"/>
            </p:cNvSpPr>
            <p:nvPr/>
          </p:nvSpPr>
          <p:spPr bwMode="auto">
            <a:xfrm>
              <a:off x="3099" y="2751"/>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726" name="Oval 286"/>
            <p:cNvSpPr>
              <a:spLocks noChangeArrowheads="1"/>
            </p:cNvSpPr>
            <p:nvPr/>
          </p:nvSpPr>
          <p:spPr bwMode="auto">
            <a:xfrm>
              <a:off x="3149" y="2768"/>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727" name="Freeform 287"/>
            <p:cNvSpPr>
              <a:spLocks/>
            </p:cNvSpPr>
            <p:nvPr/>
          </p:nvSpPr>
          <p:spPr bwMode="auto">
            <a:xfrm>
              <a:off x="2899" y="2529"/>
              <a:ext cx="547" cy="224"/>
            </a:xfrm>
            <a:custGeom>
              <a:avLst/>
              <a:gdLst/>
              <a:ahLst/>
              <a:cxnLst>
                <a:cxn ang="0">
                  <a:pos x="0" y="141"/>
                </a:cxn>
                <a:cxn ang="0">
                  <a:pos x="230" y="0"/>
                </a:cxn>
                <a:cxn ang="0">
                  <a:pos x="547" y="78"/>
                </a:cxn>
                <a:cxn ang="0">
                  <a:pos x="318" y="224"/>
                </a:cxn>
                <a:cxn ang="0">
                  <a:pos x="2" y="146"/>
                </a:cxn>
              </a:cxnLst>
              <a:rect l="0" t="0" r="r" b="b"/>
              <a:pathLst>
                <a:path w="547" h="224">
                  <a:moveTo>
                    <a:pt x="0" y="141"/>
                  </a:moveTo>
                  <a:lnTo>
                    <a:pt x="230" y="0"/>
                  </a:lnTo>
                  <a:lnTo>
                    <a:pt x="547" y="78"/>
                  </a:lnTo>
                  <a:lnTo>
                    <a:pt x="318" y="224"/>
                  </a:lnTo>
                  <a:lnTo>
                    <a:pt x="2" y="146"/>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grpSp>
      <p:grpSp>
        <p:nvGrpSpPr>
          <p:cNvPr id="61728" name="Group 288"/>
          <p:cNvGrpSpPr>
            <a:grpSpLocks/>
          </p:cNvGrpSpPr>
          <p:nvPr/>
        </p:nvGrpSpPr>
        <p:grpSpPr bwMode="auto">
          <a:xfrm>
            <a:off x="1820863" y="1515428"/>
            <a:ext cx="596900" cy="338137"/>
            <a:chOff x="2899" y="2529"/>
            <a:chExt cx="547" cy="309"/>
          </a:xfrm>
        </p:grpSpPr>
        <p:sp>
          <p:nvSpPr>
            <p:cNvPr id="61729" name="Freeform 289"/>
            <p:cNvSpPr>
              <a:spLocks/>
            </p:cNvSpPr>
            <p:nvPr/>
          </p:nvSpPr>
          <p:spPr bwMode="auto">
            <a:xfrm>
              <a:off x="3216" y="2606"/>
              <a:ext cx="230" cy="232"/>
            </a:xfrm>
            <a:custGeom>
              <a:avLst/>
              <a:gdLst/>
              <a:ahLst/>
              <a:cxnLst>
                <a:cxn ang="0">
                  <a:pos x="0" y="146"/>
                </a:cxn>
                <a:cxn ang="0">
                  <a:pos x="230" y="0"/>
                </a:cxn>
                <a:cxn ang="0">
                  <a:pos x="230" y="85"/>
                </a:cxn>
                <a:cxn ang="0">
                  <a:pos x="0" y="232"/>
                </a:cxn>
                <a:cxn ang="0">
                  <a:pos x="0" y="146"/>
                </a:cxn>
              </a:cxnLst>
              <a:rect l="0" t="0" r="r" b="b"/>
              <a:pathLst>
                <a:path w="230" h="232">
                  <a:moveTo>
                    <a:pt x="0" y="146"/>
                  </a:moveTo>
                  <a:lnTo>
                    <a:pt x="230" y="0"/>
                  </a:lnTo>
                  <a:lnTo>
                    <a:pt x="230" y="85"/>
                  </a:lnTo>
                  <a:lnTo>
                    <a:pt x="0" y="232"/>
                  </a:lnTo>
                  <a:lnTo>
                    <a:pt x="0" y="146"/>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61730" name="Freeform 290"/>
            <p:cNvSpPr>
              <a:spLocks/>
            </p:cNvSpPr>
            <p:nvPr/>
          </p:nvSpPr>
          <p:spPr bwMode="auto">
            <a:xfrm>
              <a:off x="2899" y="2672"/>
              <a:ext cx="318" cy="166"/>
            </a:xfrm>
            <a:custGeom>
              <a:avLst/>
              <a:gdLst/>
              <a:ahLst/>
              <a:cxnLst>
                <a:cxn ang="0">
                  <a:pos x="318" y="80"/>
                </a:cxn>
                <a:cxn ang="0">
                  <a:pos x="318" y="166"/>
                </a:cxn>
                <a:cxn ang="0">
                  <a:pos x="0" y="85"/>
                </a:cxn>
                <a:cxn ang="0">
                  <a:pos x="0" y="0"/>
                </a:cxn>
              </a:cxnLst>
              <a:rect l="0" t="0" r="r" b="b"/>
              <a:pathLst>
                <a:path w="318" h="166">
                  <a:moveTo>
                    <a:pt x="318" y="80"/>
                  </a:moveTo>
                  <a:lnTo>
                    <a:pt x="318" y="166"/>
                  </a:lnTo>
                  <a:lnTo>
                    <a:pt x="0" y="85"/>
                  </a:lnTo>
                  <a:lnTo>
                    <a:pt x="0" y="0"/>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61731" name="Oval 291"/>
            <p:cNvSpPr>
              <a:spLocks noChangeArrowheads="1"/>
            </p:cNvSpPr>
            <p:nvPr/>
          </p:nvSpPr>
          <p:spPr bwMode="auto">
            <a:xfrm>
              <a:off x="2993" y="2724"/>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732" name="Oval 292"/>
            <p:cNvSpPr>
              <a:spLocks noChangeArrowheads="1"/>
            </p:cNvSpPr>
            <p:nvPr/>
          </p:nvSpPr>
          <p:spPr bwMode="auto">
            <a:xfrm>
              <a:off x="3044" y="2739"/>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733" name="Oval 293"/>
            <p:cNvSpPr>
              <a:spLocks noChangeArrowheads="1"/>
            </p:cNvSpPr>
            <p:nvPr/>
          </p:nvSpPr>
          <p:spPr bwMode="auto">
            <a:xfrm>
              <a:off x="3099" y="2751"/>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734" name="Oval 294"/>
            <p:cNvSpPr>
              <a:spLocks noChangeArrowheads="1"/>
            </p:cNvSpPr>
            <p:nvPr/>
          </p:nvSpPr>
          <p:spPr bwMode="auto">
            <a:xfrm>
              <a:off x="3149" y="2768"/>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735" name="Freeform 295"/>
            <p:cNvSpPr>
              <a:spLocks/>
            </p:cNvSpPr>
            <p:nvPr/>
          </p:nvSpPr>
          <p:spPr bwMode="auto">
            <a:xfrm>
              <a:off x="2899" y="2529"/>
              <a:ext cx="547" cy="224"/>
            </a:xfrm>
            <a:custGeom>
              <a:avLst/>
              <a:gdLst/>
              <a:ahLst/>
              <a:cxnLst>
                <a:cxn ang="0">
                  <a:pos x="0" y="141"/>
                </a:cxn>
                <a:cxn ang="0">
                  <a:pos x="230" y="0"/>
                </a:cxn>
                <a:cxn ang="0">
                  <a:pos x="547" y="78"/>
                </a:cxn>
                <a:cxn ang="0">
                  <a:pos x="318" y="224"/>
                </a:cxn>
                <a:cxn ang="0">
                  <a:pos x="2" y="146"/>
                </a:cxn>
              </a:cxnLst>
              <a:rect l="0" t="0" r="r" b="b"/>
              <a:pathLst>
                <a:path w="547" h="224">
                  <a:moveTo>
                    <a:pt x="0" y="141"/>
                  </a:moveTo>
                  <a:lnTo>
                    <a:pt x="230" y="0"/>
                  </a:lnTo>
                  <a:lnTo>
                    <a:pt x="547" y="78"/>
                  </a:lnTo>
                  <a:lnTo>
                    <a:pt x="318" y="224"/>
                  </a:lnTo>
                  <a:lnTo>
                    <a:pt x="2" y="146"/>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grpSp>
      <p:grpSp>
        <p:nvGrpSpPr>
          <p:cNvPr id="61736" name="Group 296"/>
          <p:cNvGrpSpPr>
            <a:grpSpLocks/>
          </p:cNvGrpSpPr>
          <p:nvPr/>
        </p:nvGrpSpPr>
        <p:grpSpPr bwMode="auto">
          <a:xfrm>
            <a:off x="2509838" y="2947353"/>
            <a:ext cx="596900" cy="338137"/>
            <a:chOff x="2899" y="2529"/>
            <a:chExt cx="547" cy="309"/>
          </a:xfrm>
        </p:grpSpPr>
        <p:sp>
          <p:nvSpPr>
            <p:cNvPr id="61737" name="Freeform 297"/>
            <p:cNvSpPr>
              <a:spLocks/>
            </p:cNvSpPr>
            <p:nvPr/>
          </p:nvSpPr>
          <p:spPr bwMode="auto">
            <a:xfrm>
              <a:off x="3216" y="2606"/>
              <a:ext cx="230" cy="232"/>
            </a:xfrm>
            <a:custGeom>
              <a:avLst/>
              <a:gdLst/>
              <a:ahLst/>
              <a:cxnLst>
                <a:cxn ang="0">
                  <a:pos x="0" y="146"/>
                </a:cxn>
                <a:cxn ang="0">
                  <a:pos x="230" y="0"/>
                </a:cxn>
                <a:cxn ang="0">
                  <a:pos x="230" y="85"/>
                </a:cxn>
                <a:cxn ang="0">
                  <a:pos x="0" y="232"/>
                </a:cxn>
                <a:cxn ang="0">
                  <a:pos x="0" y="146"/>
                </a:cxn>
              </a:cxnLst>
              <a:rect l="0" t="0" r="r" b="b"/>
              <a:pathLst>
                <a:path w="230" h="232">
                  <a:moveTo>
                    <a:pt x="0" y="146"/>
                  </a:moveTo>
                  <a:lnTo>
                    <a:pt x="230" y="0"/>
                  </a:lnTo>
                  <a:lnTo>
                    <a:pt x="230" y="85"/>
                  </a:lnTo>
                  <a:lnTo>
                    <a:pt x="0" y="232"/>
                  </a:lnTo>
                  <a:lnTo>
                    <a:pt x="0" y="146"/>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61738" name="Freeform 298"/>
            <p:cNvSpPr>
              <a:spLocks/>
            </p:cNvSpPr>
            <p:nvPr/>
          </p:nvSpPr>
          <p:spPr bwMode="auto">
            <a:xfrm>
              <a:off x="2899" y="2672"/>
              <a:ext cx="318" cy="166"/>
            </a:xfrm>
            <a:custGeom>
              <a:avLst/>
              <a:gdLst/>
              <a:ahLst/>
              <a:cxnLst>
                <a:cxn ang="0">
                  <a:pos x="318" y="80"/>
                </a:cxn>
                <a:cxn ang="0">
                  <a:pos x="318" y="166"/>
                </a:cxn>
                <a:cxn ang="0">
                  <a:pos x="0" y="85"/>
                </a:cxn>
                <a:cxn ang="0">
                  <a:pos x="0" y="0"/>
                </a:cxn>
              </a:cxnLst>
              <a:rect l="0" t="0" r="r" b="b"/>
              <a:pathLst>
                <a:path w="318" h="166">
                  <a:moveTo>
                    <a:pt x="318" y="80"/>
                  </a:moveTo>
                  <a:lnTo>
                    <a:pt x="318" y="166"/>
                  </a:lnTo>
                  <a:lnTo>
                    <a:pt x="0" y="85"/>
                  </a:lnTo>
                  <a:lnTo>
                    <a:pt x="0" y="0"/>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61739" name="Oval 299"/>
            <p:cNvSpPr>
              <a:spLocks noChangeArrowheads="1"/>
            </p:cNvSpPr>
            <p:nvPr/>
          </p:nvSpPr>
          <p:spPr bwMode="auto">
            <a:xfrm>
              <a:off x="2993" y="2724"/>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740" name="Oval 300"/>
            <p:cNvSpPr>
              <a:spLocks noChangeArrowheads="1"/>
            </p:cNvSpPr>
            <p:nvPr/>
          </p:nvSpPr>
          <p:spPr bwMode="auto">
            <a:xfrm>
              <a:off x="3044" y="2739"/>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741" name="Oval 301"/>
            <p:cNvSpPr>
              <a:spLocks noChangeArrowheads="1"/>
            </p:cNvSpPr>
            <p:nvPr/>
          </p:nvSpPr>
          <p:spPr bwMode="auto">
            <a:xfrm>
              <a:off x="3099" y="2751"/>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742" name="Oval 302"/>
            <p:cNvSpPr>
              <a:spLocks noChangeArrowheads="1"/>
            </p:cNvSpPr>
            <p:nvPr/>
          </p:nvSpPr>
          <p:spPr bwMode="auto">
            <a:xfrm>
              <a:off x="3149" y="2768"/>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743" name="Freeform 303"/>
            <p:cNvSpPr>
              <a:spLocks/>
            </p:cNvSpPr>
            <p:nvPr/>
          </p:nvSpPr>
          <p:spPr bwMode="auto">
            <a:xfrm>
              <a:off x="2899" y="2529"/>
              <a:ext cx="547" cy="224"/>
            </a:xfrm>
            <a:custGeom>
              <a:avLst/>
              <a:gdLst/>
              <a:ahLst/>
              <a:cxnLst>
                <a:cxn ang="0">
                  <a:pos x="0" y="141"/>
                </a:cxn>
                <a:cxn ang="0">
                  <a:pos x="230" y="0"/>
                </a:cxn>
                <a:cxn ang="0">
                  <a:pos x="547" y="78"/>
                </a:cxn>
                <a:cxn ang="0">
                  <a:pos x="318" y="224"/>
                </a:cxn>
                <a:cxn ang="0">
                  <a:pos x="2" y="146"/>
                </a:cxn>
              </a:cxnLst>
              <a:rect l="0" t="0" r="r" b="b"/>
              <a:pathLst>
                <a:path w="547" h="224">
                  <a:moveTo>
                    <a:pt x="0" y="141"/>
                  </a:moveTo>
                  <a:lnTo>
                    <a:pt x="230" y="0"/>
                  </a:lnTo>
                  <a:lnTo>
                    <a:pt x="547" y="78"/>
                  </a:lnTo>
                  <a:lnTo>
                    <a:pt x="318" y="224"/>
                  </a:lnTo>
                  <a:lnTo>
                    <a:pt x="2" y="146"/>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grpSp>
      <p:grpSp>
        <p:nvGrpSpPr>
          <p:cNvPr id="61744" name="Group 304"/>
          <p:cNvGrpSpPr>
            <a:grpSpLocks/>
          </p:cNvGrpSpPr>
          <p:nvPr/>
        </p:nvGrpSpPr>
        <p:grpSpPr bwMode="auto">
          <a:xfrm>
            <a:off x="2509838" y="2680653"/>
            <a:ext cx="596900" cy="338137"/>
            <a:chOff x="2899" y="2529"/>
            <a:chExt cx="547" cy="309"/>
          </a:xfrm>
        </p:grpSpPr>
        <p:sp>
          <p:nvSpPr>
            <p:cNvPr id="61745" name="Freeform 305"/>
            <p:cNvSpPr>
              <a:spLocks/>
            </p:cNvSpPr>
            <p:nvPr/>
          </p:nvSpPr>
          <p:spPr bwMode="auto">
            <a:xfrm>
              <a:off x="3216" y="2606"/>
              <a:ext cx="230" cy="232"/>
            </a:xfrm>
            <a:custGeom>
              <a:avLst/>
              <a:gdLst/>
              <a:ahLst/>
              <a:cxnLst>
                <a:cxn ang="0">
                  <a:pos x="0" y="146"/>
                </a:cxn>
                <a:cxn ang="0">
                  <a:pos x="230" y="0"/>
                </a:cxn>
                <a:cxn ang="0">
                  <a:pos x="230" y="85"/>
                </a:cxn>
                <a:cxn ang="0">
                  <a:pos x="0" y="232"/>
                </a:cxn>
                <a:cxn ang="0">
                  <a:pos x="0" y="146"/>
                </a:cxn>
              </a:cxnLst>
              <a:rect l="0" t="0" r="r" b="b"/>
              <a:pathLst>
                <a:path w="230" h="232">
                  <a:moveTo>
                    <a:pt x="0" y="146"/>
                  </a:moveTo>
                  <a:lnTo>
                    <a:pt x="230" y="0"/>
                  </a:lnTo>
                  <a:lnTo>
                    <a:pt x="230" y="85"/>
                  </a:lnTo>
                  <a:lnTo>
                    <a:pt x="0" y="232"/>
                  </a:lnTo>
                  <a:lnTo>
                    <a:pt x="0" y="146"/>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61746" name="Freeform 306"/>
            <p:cNvSpPr>
              <a:spLocks/>
            </p:cNvSpPr>
            <p:nvPr/>
          </p:nvSpPr>
          <p:spPr bwMode="auto">
            <a:xfrm>
              <a:off x="2899" y="2672"/>
              <a:ext cx="318" cy="166"/>
            </a:xfrm>
            <a:custGeom>
              <a:avLst/>
              <a:gdLst/>
              <a:ahLst/>
              <a:cxnLst>
                <a:cxn ang="0">
                  <a:pos x="318" y="80"/>
                </a:cxn>
                <a:cxn ang="0">
                  <a:pos x="318" y="166"/>
                </a:cxn>
                <a:cxn ang="0">
                  <a:pos x="0" y="85"/>
                </a:cxn>
                <a:cxn ang="0">
                  <a:pos x="0" y="0"/>
                </a:cxn>
              </a:cxnLst>
              <a:rect l="0" t="0" r="r" b="b"/>
              <a:pathLst>
                <a:path w="318" h="166">
                  <a:moveTo>
                    <a:pt x="318" y="80"/>
                  </a:moveTo>
                  <a:lnTo>
                    <a:pt x="318" y="166"/>
                  </a:lnTo>
                  <a:lnTo>
                    <a:pt x="0" y="85"/>
                  </a:lnTo>
                  <a:lnTo>
                    <a:pt x="0" y="0"/>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61747" name="Oval 307"/>
            <p:cNvSpPr>
              <a:spLocks noChangeArrowheads="1"/>
            </p:cNvSpPr>
            <p:nvPr/>
          </p:nvSpPr>
          <p:spPr bwMode="auto">
            <a:xfrm>
              <a:off x="2993" y="2724"/>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748" name="Oval 308"/>
            <p:cNvSpPr>
              <a:spLocks noChangeArrowheads="1"/>
            </p:cNvSpPr>
            <p:nvPr/>
          </p:nvSpPr>
          <p:spPr bwMode="auto">
            <a:xfrm>
              <a:off x="3044" y="2739"/>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749" name="Oval 309"/>
            <p:cNvSpPr>
              <a:spLocks noChangeArrowheads="1"/>
            </p:cNvSpPr>
            <p:nvPr/>
          </p:nvSpPr>
          <p:spPr bwMode="auto">
            <a:xfrm>
              <a:off x="3099" y="2751"/>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750" name="Oval 310"/>
            <p:cNvSpPr>
              <a:spLocks noChangeArrowheads="1"/>
            </p:cNvSpPr>
            <p:nvPr/>
          </p:nvSpPr>
          <p:spPr bwMode="auto">
            <a:xfrm>
              <a:off x="3149" y="2768"/>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751" name="Freeform 311"/>
            <p:cNvSpPr>
              <a:spLocks/>
            </p:cNvSpPr>
            <p:nvPr/>
          </p:nvSpPr>
          <p:spPr bwMode="auto">
            <a:xfrm>
              <a:off x="2899" y="2529"/>
              <a:ext cx="547" cy="224"/>
            </a:xfrm>
            <a:custGeom>
              <a:avLst/>
              <a:gdLst/>
              <a:ahLst/>
              <a:cxnLst>
                <a:cxn ang="0">
                  <a:pos x="0" y="141"/>
                </a:cxn>
                <a:cxn ang="0">
                  <a:pos x="230" y="0"/>
                </a:cxn>
                <a:cxn ang="0">
                  <a:pos x="547" y="78"/>
                </a:cxn>
                <a:cxn ang="0">
                  <a:pos x="318" y="224"/>
                </a:cxn>
                <a:cxn ang="0">
                  <a:pos x="2" y="146"/>
                </a:cxn>
              </a:cxnLst>
              <a:rect l="0" t="0" r="r" b="b"/>
              <a:pathLst>
                <a:path w="547" h="224">
                  <a:moveTo>
                    <a:pt x="0" y="141"/>
                  </a:moveTo>
                  <a:lnTo>
                    <a:pt x="230" y="0"/>
                  </a:lnTo>
                  <a:lnTo>
                    <a:pt x="547" y="78"/>
                  </a:lnTo>
                  <a:lnTo>
                    <a:pt x="318" y="224"/>
                  </a:lnTo>
                  <a:lnTo>
                    <a:pt x="2" y="146"/>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grpSp>
      <p:grpSp>
        <p:nvGrpSpPr>
          <p:cNvPr id="61752" name="Group 312"/>
          <p:cNvGrpSpPr>
            <a:grpSpLocks/>
          </p:cNvGrpSpPr>
          <p:nvPr/>
        </p:nvGrpSpPr>
        <p:grpSpPr bwMode="auto">
          <a:xfrm>
            <a:off x="1790700" y="4291013"/>
            <a:ext cx="596900" cy="338137"/>
            <a:chOff x="2899" y="2529"/>
            <a:chExt cx="547" cy="309"/>
          </a:xfrm>
        </p:grpSpPr>
        <p:sp>
          <p:nvSpPr>
            <p:cNvPr id="61753" name="Freeform 313"/>
            <p:cNvSpPr>
              <a:spLocks/>
            </p:cNvSpPr>
            <p:nvPr/>
          </p:nvSpPr>
          <p:spPr bwMode="auto">
            <a:xfrm>
              <a:off x="3216" y="2606"/>
              <a:ext cx="230" cy="232"/>
            </a:xfrm>
            <a:custGeom>
              <a:avLst/>
              <a:gdLst/>
              <a:ahLst/>
              <a:cxnLst>
                <a:cxn ang="0">
                  <a:pos x="0" y="146"/>
                </a:cxn>
                <a:cxn ang="0">
                  <a:pos x="230" y="0"/>
                </a:cxn>
                <a:cxn ang="0">
                  <a:pos x="230" y="85"/>
                </a:cxn>
                <a:cxn ang="0">
                  <a:pos x="0" y="232"/>
                </a:cxn>
                <a:cxn ang="0">
                  <a:pos x="0" y="146"/>
                </a:cxn>
              </a:cxnLst>
              <a:rect l="0" t="0" r="r" b="b"/>
              <a:pathLst>
                <a:path w="230" h="232">
                  <a:moveTo>
                    <a:pt x="0" y="146"/>
                  </a:moveTo>
                  <a:lnTo>
                    <a:pt x="230" y="0"/>
                  </a:lnTo>
                  <a:lnTo>
                    <a:pt x="230" y="85"/>
                  </a:lnTo>
                  <a:lnTo>
                    <a:pt x="0" y="232"/>
                  </a:lnTo>
                  <a:lnTo>
                    <a:pt x="0" y="146"/>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61754" name="Freeform 314"/>
            <p:cNvSpPr>
              <a:spLocks/>
            </p:cNvSpPr>
            <p:nvPr/>
          </p:nvSpPr>
          <p:spPr bwMode="auto">
            <a:xfrm>
              <a:off x="2899" y="2672"/>
              <a:ext cx="318" cy="166"/>
            </a:xfrm>
            <a:custGeom>
              <a:avLst/>
              <a:gdLst/>
              <a:ahLst/>
              <a:cxnLst>
                <a:cxn ang="0">
                  <a:pos x="318" y="80"/>
                </a:cxn>
                <a:cxn ang="0">
                  <a:pos x="318" y="166"/>
                </a:cxn>
                <a:cxn ang="0">
                  <a:pos x="0" y="85"/>
                </a:cxn>
                <a:cxn ang="0">
                  <a:pos x="0" y="0"/>
                </a:cxn>
              </a:cxnLst>
              <a:rect l="0" t="0" r="r" b="b"/>
              <a:pathLst>
                <a:path w="318" h="166">
                  <a:moveTo>
                    <a:pt x="318" y="80"/>
                  </a:moveTo>
                  <a:lnTo>
                    <a:pt x="318" y="166"/>
                  </a:lnTo>
                  <a:lnTo>
                    <a:pt x="0" y="85"/>
                  </a:lnTo>
                  <a:lnTo>
                    <a:pt x="0" y="0"/>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61755" name="Oval 315"/>
            <p:cNvSpPr>
              <a:spLocks noChangeArrowheads="1"/>
            </p:cNvSpPr>
            <p:nvPr/>
          </p:nvSpPr>
          <p:spPr bwMode="auto">
            <a:xfrm>
              <a:off x="2993" y="2724"/>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756" name="Oval 316"/>
            <p:cNvSpPr>
              <a:spLocks noChangeArrowheads="1"/>
            </p:cNvSpPr>
            <p:nvPr/>
          </p:nvSpPr>
          <p:spPr bwMode="auto">
            <a:xfrm>
              <a:off x="3044" y="2739"/>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757" name="Oval 317"/>
            <p:cNvSpPr>
              <a:spLocks noChangeArrowheads="1"/>
            </p:cNvSpPr>
            <p:nvPr/>
          </p:nvSpPr>
          <p:spPr bwMode="auto">
            <a:xfrm>
              <a:off x="3099" y="2751"/>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758" name="Oval 318"/>
            <p:cNvSpPr>
              <a:spLocks noChangeArrowheads="1"/>
            </p:cNvSpPr>
            <p:nvPr/>
          </p:nvSpPr>
          <p:spPr bwMode="auto">
            <a:xfrm>
              <a:off x="3149" y="2768"/>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759" name="Freeform 319"/>
            <p:cNvSpPr>
              <a:spLocks/>
            </p:cNvSpPr>
            <p:nvPr/>
          </p:nvSpPr>
          <p:spPr bwMode="auto">
            <a:xfrm>
              <a:off x="2899" y="2529"/>
              <a:ext cx="547" cy="224"/>
            </a:xfrm>
            <a:custGeom>
              <a:avLst/>
              <a:gdLst/>
              <a:ahLst/>
              <a:cxnLst>
                <a:cxn ang="0">
                  <a:pos x="0" y="141"/>
                </a:cxn>
                <a:cxn ang="0">
                  <a:pos x="230" y="0"/>
                </a:cxn>
                <a:cxn ang="0">
                  <a:pos x="547" y="78"/>
                </a:cxn>
                <a:cxn ang="0">
                  <a:pos x="318" y="224"/>
                </a:cxn>
                <a:cxn ang="0">
                  <a:pos x="2" y="146"/>
                </a:cxn>
              </a:cxnLst>
              <a:rect l="0" t="0" r="r" b="b"/>
              <a:pathLst>
                <a:path w="547" h="224">
                  <a:moveTo>
                    <a:pt x="0" y="141"/>
                  </a:moveTo>
                  <a:lnTo>
                    <a:pt x="230" y="0"/>
                  </a:lnTo>
                  <a:lnTo>
                    <a:pt x="547" y="78"/>
                  </a:lnTo>
                  <a:lnTo>
                    <a:pt x="318" y="224"/>
                  </a:lnTo>
                  <a:lnTo>
                    <a:pt x="2" y="146"/>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grpSp>
      <p:grpSp>
        <p:nvGrpSpPr>
          <p:cNvPr id="61760" name="Group 320"/>
          <p:cNvGrpSpPr>
            <a:grpSpLocks/>
          </p:cNvGrpSpPr>
          <p:nvPr/>
        </p:nvGrpSpPr>
        <p:grpSpPr bwMode="auto">
          <a:xfrm>
            <a:off x="1790700" y="4024313"/>
            <a:ext cx="596900" cy="338137"/>
            <a:chOff x="2899" y="2529"/>
            <a:chExt cx="547" cy="309"/>
          </a:xfrm>
        </p:grpSpPr>
        <p:sp>
          <p:nvSpPr>
            <p:cNvPr id="61761" name="Freeform 321"/>
            <p:cNvSpPr>
              <a:spLocks/>
            </p:cNvSpPr>
            <p:nvPr/>
          </p:nvSpPr>
          <p:spPr bwMode="auto">
            <a:xfrm>
              <a:off x="3216" y="2606"/>
              <a:ext cx="230" cy="232"/>
            </a:xfrm>
            <a:custGeom>
              <a:avLst/>
              <a:gdLst/>
              <a:ahLst/>
              <a:cxnLst>
                <a:cxn ang="0">
                  <a:pos x="0" y="146"/>
                </a:cxn>
                <a:cxn ang="0">
                  <a:pos x="230" y="0"/>
                </a:cxn>
                <a:cxn ang="0">
                  <a:pos x="230" y="85"/>
                </a:cxn>
                <a:cxn ang="0">
                  <a:pos x="0" y="232"/>
                </a:cxn>
                <a:cxn ang="0">
                  <a:pos x="0" y="146"/>
                </a:cxn>
              </a:cxnLst>
              <a:rect l="0" t="0" r="r" b="b"/>
              <a:pathLst>
                <a:path w="230" h="232">
                  <a:moveTo>
                    <a:pt x="0" y="146"/>
                  </a:moveTo>
                  <a:lnTo>
                    <a:pt x="230" y="0"/>
                  </a:lnTo>
                  <a:lnTo>
                    <a:pt x="230" y="85"/>
                  </a:lnTo>
                  <a:lnTo>
                    <a:pt x="0" y="232"/>
                  </a:lnTo>
                  <a:lnTo>
                    <a:pt x="0" y="146"/>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61762" name="Freeform 322"/>
            <p:cNvSpPr>
              <a:spLocks/>
            </p:cNvSpPr>
            <p:nvPr/>
          </p:nvSpPr>
          <p:spPr bwMode="auto">
            <a:xfrm>
              <a:off x="2899" y="2672"/>
              <a:ext cx="318" cy="166"/>
            </a:xfrm>
            <a:custGeom>
              <a:avLst/>
              <a:gdLst/>
              <a:ahLst/>
              <a:cxnLst>
                <a:cxn ang="0">
                  <a:pos x="318" y="80"/>
                </a:cxn>
                <a:cxn ang="0">
                  <a:pos x="318" y="166"/>
                </a:cxn>
                <a:cxn ang="0">
                  <a:pos x="0" y="85"/>
                </a:cxn>
                <a:cxn ang="0">
                  <a:pos x="0" y="0"/>
                </a:cxn>
              </a:cxnLst>
              <a:rect l="0" t="0" r="r" b="b"/>
              <a:pathLst>
                <a:path w="318" h="166">
                  <a:moveTo>
                    <a:pt x="318" y="80"/>
                  </a:moveTo>
                  <a:lnTo>
                    <a:pt x="318" y="166"/>
                  </a:lnTo>
                  <a:lnTo>
                    <a:pt x="0" y="85"/>
                  </a:lnTo>
                  <a:lnTo>
                    <a:pt x="0" y="0"/>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61763" name="Oval 323"/>
            <p:cNvSpPr>
              <a:spLocks noChangeArrowheads="1"/>
            </p:cNvSpPr>
            <p:nvPr/>
          </p:nvSpPr>
          <p:spPr bwMode="auto">
            <a:xfrm>
              <a:off x="2993" y="2724"/>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764" name="Oval 324"/>
            <p:cNvSpPr>
              <a:spLocks noChangeArrowheads="1"/>
            </p:cNvSpPr>
            <p:nvPr/>
          </p:nvSpPr>
          <p:spPr bwMode="auto">
            <a:xfrm>
              <a:off x="3044" y="2739"/>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765" name="Oval 325"/>
            <p:cNvSpPr>
              <a:spLocks noChangeArrowheads="1"/>
            </p:cNvSpPr>
            <p:nvPr/>
          </p:nvSpPr>
          <p:spPr bwMode="auto">
            <a:xfrm>
              <a:off x="3099" y="2751"/>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766" name="Oval 326"/>
            <p:cNvSpPr>
              <a:spLocks noChangeArrowheads="1"/>
            </p:cNvSpPr>
            <p:nvPr/>
          </p:nvSpPr>
          <p:spPr bwMode="auto">
            <a:xfrm>
              <a:off x="3149" y="2768"/>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767" name="Freeform 327"/>
            <p:cNvSpPr>
              <a:spLocks/>
            </p:cNvSpPr>
            <p:nvPr/>
          </p:nvSpPr>
          <p:spPr bwMode="auto">
            <a:xfrm>
              <a:off x="2899" y="2529"/>
              <a:ext cx="547" cy="224"/>
            </a:xfrm>
            <a:custGeom>
              <a:avLst/>
              <a:gdLst/>
              <a:ahLst/>
              <a:cxnLst>
                <a:cxn ang="0">
                  <a:pos x="0" y="141"/>
                </a:cxn>
                <a:cxn ang="0">
                  <a:pos x="230" y="0"/>
                </a:cxn>
                <a:cxn ang="0">
                  <a:pos x="547" y="78"/>
                </a:cxn>
                <a:cxn ang="0">
                  <a:pos x="318" y="224"/>
                </a:cxn>
                <a:cxn ang="0">
                  <a:pos x="2" y="146"/>
                </a:cxn>
              </a:cxnLst>
              <a:rect l="0" t="0" r="r" b="b"/>
              <a:pathLst>
                <a:path w="547" h="224">
                  <a:moveTo>
                    <a:pt x="0" y="141"/>
                  </a:moveTo>
                  <a:lnTo>
                    <a:pt x="230" y="0"/>
                  </a:lnTo>
                  <a:lnTo>
                    <a:pt x="547" y="78"/>
                  </a:lnTo>
                  <a:lnTo>
                    <a:pt x="318" y="224"/>
                  </a:lnTo>
                  <a:lnTo>
                    <a:pt x="2" y="146"/>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grpSp>
      <p:grpSp>
        <p:nvGrpSpPr>
          <p:cNvPr id="61768" name="Group 328"/>
          <p:cNvGrpSpPr>
            <a:grpSpLocks/>
          </p:cNvGrpSpPr>
          <p:nvPr/>
        </p:nvGrpSpPr>
        <p:grpSpPr bwMode="auto">
          <a:xfrm>
            <a:off x="2486025" y="5146675"/>
            <a:ext cx="596900" cy="338138"/>
            <a:chOff x="2899" y="2529"/>
            <a:chExt cx="547" cy="309"/>
          </a:xfrm>
        </p:grpSpPr>
        <p:sp>
          <p:nvSpPr>
            <p:cNvPr id="61769" name="Freeform 329"/>
            <p:cNvSpPr>
              <a:spLocks/>
            </p:cNvSpPr>
            <p:nvPr/>
          </p:nvSpPr>
          <p:spPr bwMode="auto">
            <a:xfrm>
              <a:off x="3216" y="2606"/>
              <a:ext cx="230" cy="232"/>
            </a:xfrm>
            <a:custGeom>
              <a:avLst/>
              <a:gdLst/>
              <a:ahLst/>
              <a:cxnLst>
                <a:cxn ang="0">
                  <a:pos x="0" y="146"/>
                </a:cxn>
                <a:cxn ang="0">
                  <a:pos x="230" y="0"/>
                </a:cxn>
                <a:cxn ang="0">
                  <a:pos x="230" y="85"/>
                </a:cxn>
                <a:cxn ang="0">
                  <a:pos x="0" y="232"/>
                </a:cxn>
                <a:cxn ang="0">
                  <a:pos x="0" y="146"/>
                </a:cxn>
              </a:cxnLst>
              <a:rect l="0" t="0" r="r" b="b"/>
              <a:pathLst>
                <a:path w="230" h="232">
                  <a:moveTo>
                    <a:pt x="0" y="146"/>
                  </a:moveTo>
                  <a:lnTo>
                    <a:pt x="230" y="0"/>
                  </a:lnTo>
                  <a:lnTo>
                    <a:pt x="230" y="85"/>
                  </a:lnTo>
                  <a:lnTo>
                    <a:pt x="0" y="232"/>
                  </a:lnTo>
                  <a:lnTo>
                    <a:pt x="0" y="146"/>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61770" name="Freeform 330"/>
            <p:cNvSpPr>
              <a:spLocks/>
            </p:cNvSpPr>
            <p:nvPr/>
          </p:nvSpPr>
          <p:spPr bwMode="auto">
            <a:xfrm>
              <a:off x="2899" y="2672"/>
              <a:ext cx="318" cy="166"/>
            </a:xfrm>
            <a:custGeom>
              <a:avLst/>
              <a:gdLst/>
              <a:ahLst/>
              <a:cxnLst>
                <a:cxn ang="0">
                  <a:pos x="318" y="80"/>
                </a:cxn>
                <a:cxn ang="0">
                  <a:pos x="318" y="166"/>
                </a:cxn>
                <a:cxn ang="0">
                  <a:pos x="0" y="85"/>
                </a:cxn>
                <a:cxn ang="0">
                  <a:pos x="0" y="0"/>
                </a:cxn>
              </a:cxnLst>
              <a:rect l="0" t="0" r="r" b="b"/>
              <a:pathLst>
                <a:path w="318" h="166">
                  <a:moveTo>
                    <a:pt x="318" y="80"/>
                  </a:moveTo>
                  <a:lnTo>
                    <a:pt x="318" y="166"/>
                  </a:lnTo>
                  <a:lnTo>
                    <a:pt x="0" y="85"/>
                  </a:lnTo>
                  <a:lnTo>
                    <a:pt x="0" y="0"/>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61771" name="Oval 331"/>
            <p:cNvSpPr>
              <a:spLocks noChangeArrowheads="1"/>
            </p:cNvSpPr>
            <p:nvPr/>
          </p:nvSpPr>
          <p:spPr bwMode="auto">
            <a:xfrm>
              <a:off x="2993" y="2724"/>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772" name="Oval 332"/>
            <p:cNvSpPr>
              <a:spLocks noChangeArrowheads="1"/>
            </p:cNvSpPr>
            <p:nvPr/>
          </p:nvSpPr>
          <p:spPr bwMode="auto">
            <a:xfrm>
              <a:off x="3044" y="2739"/>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773" name="Oval 333"/>
            <p:cNvSpPr>
              <a:spLocks noChangeArrowheads="1"/>
            </p:cNvSpPr>
            <p:nvPr/>
          </p:nvSpPr>
          <p:spPr bwMode="auto">
            <a:xfrm>
              <a:off x="3099" y="2751"/>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774" name="Oval 334"/>
            <p:cNvSpPr>
              <a:spLocks noChangeArrowheads="1"/>
            </p:cNvSpPr>
            <p:nvPr/>
          </p:nvSpPr>
          <p:spPr bwMode="auto">
            <a:xfrm>
              <a:off x="3149" y="2768"/>
              <a:ext cx="36" cy="36"/>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775" name="Freeform 335"/>
            <p:cNvSpPr>
              <a:spLocks/>
            </p:cNvSpPr>
            <p:nvPr/>
          </p:nvSpPr>
          <p:spPr bwMode="auto">
            <a:xfrm>
              <a:off x="2899" y="2529"/>
              <a:ext cx="547" cy="224"/>
            </a:xfrm>
            <a:custGeom>
              <a:avLst/>
              <a:gdLst/>
              <a:ahLst/>
              <a:cxnLst>
                <a:cxn ang="0">
                  <a:pos x="0" y="141"/>
                </a:cxn>
                <a:cxn ang="0">
                  <a:pos x="230" y="0"/>
                </a:cxn>
                <a:cxn ang="0">
                  <a:pos x="547" y="78"/>
                </a:cxn>
                <a:cxn ang="0">
                  <a:pos x="318" y="224"/>
                </a:cxn>
                <a:cxn ang="0">
                  <a:pos x="2" y="146"/>
                </a:cxn>
              </a:cxnLst>
              <a:rect l="0" t="0" r="r" b="b"/>
              <a:pathLst>
                <a:path w="547" h="224">
                  <a:moveTo>
                    <a:pt x="0" y="141"/>
                  </a:moveTo>
                  <a:lnTo>
                    <a:pt x="230" y="0"/>
                  </a:lnTo>
                  <a:lnTo>
                    <a:pt x="547" y="78"/>
                  </a:lnTo>
                  <a:lnTo>
                    <a:pt x="318" y="224"/>
                  </a:lnTo>
                  <a:lnTo>
                    <a:pt x="2" y="146"/>
                  </a:lnTo>
                </a:path>
              </a:pathLst>
            </a:custGeom>
            <a:gradFill rotWithShape="0">
              <a:gsLst>
                <a:gs pos="0">
                  <a:srgbClr val="919191">
                    <a:gamma/>
                    <a:tint val="22745"/>
                    <a:invGamma/>
                  </a:srgbClr>
                </a:gs>
                <a:gs pos="100000">
                  <a:srgbClr val="919191"/>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grpSp>
      <p:grpSp>
        <p:nvGrpSpPr>
          <p:cNvPr id="61776" name="Group 336"/>
          <p:cNvGrpSpPr>
            <a:grpSpLocks/>
          </p:cNvGrpSpPr>
          <p:nvPr/>
        </p:nvGrpSpPr>
        <p:grpSpPr bwMode="auto">
          <a:xfrm>
            <a:off x="2479675" y="5456238"/>
            <a:ext cx="596900" cy="338137"/>
            <a:chOff x="285" y="3268"/>
            <a:chExt cx="376" cy="213"/>
          </a:xfrm>
        </p:grpSpPr>
        <p:sp>
          <p:nvSpPr>
            <p:cNvPr id="61777" name="Freeform 337"/>
            <p:cNvSpPr>
              <a:spLocks/>
            </p:cNvSpPr>
            <p:nvPr/>
          </p:nvSpPr>
          <p:spPr bwMode="auto">
            <a:xfrm>
              <a:off x="503" y="3321"/>
              <a:ext cx="158" cy="160"/>
            </a:xfrm>
            <a:custGeom>
              <a:avLst/>
              <a:gdLst/>
              <a:ahLst/>
              <a:cxnLst>
                <a:cxn ang="0">
                  <a:pos x="0" y="146"/>
                </a:cxn>
                <a:cxn ang="0">
                  <a:pos x="230" y="0"/>
                </a:cxn>
                <a:cxn ang="0">
                  <a:pos x="230" y="85"/>
                </a:cxn>
                <a:cxn ang="0">
                  <a:pos x="0" y="232"/>
                </a:cxn>
                <a:cxn ang="0">
                  <a:pos x="0" y="146"/>
                </a:cxn>
              </a:cxnLst>
              <a:rect l="0" t="0" r="r" b="b"/>
              <a:pathLst>
                <a:path w="230" h="232">
                  <a:moveTo>
                    <a:pt x="0" y="146"/>
                  </a:moveTo>
                  <a:lnTo>
                    <a:pt x="230" y="0"/>
                  </a:lnTo>
                  <a:lnTo>
                    <a:pt x="230" y="85"/>
                  </a:lnTo>
                  <a:lnTo>
                    <a:pt x="0" y="232"/>
                  </a:lnTo>
                  <a:lnTo>
                    <a:pt x="0" y="146"/>
                  </a:lnTo>
                </a:path>
              </a:pathLst>
            </a:custGeom>
            <a:gradFill rotWithShape="0">
              <a:gsLst>
                <a:gs pos="0">
                  <a:srgbClr val="CC0099">
                    <a:gamma/>
                    <a:tint val="22745"/>
                    <a:invGamma/>
                  </a:srgbClr>
                </a:gs>
                <a:gs pos="100000">
                  <a:srgbClr val="CC0099"/>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61778" name="Freeform 338"/>
            <p:cNvSpPr>
              <a:spLocks/>
            </p:cNvSpPr>
            <p:nvPr/>
          </p:nvSpPr>
          <p:spPr bwMode="auto">
            <a:xfrm>
              <a:off x="285" y="3367"/>
              <a:ext cx="219" cy="114"/>
            </a:xfrm>
            <a:custGeom>
              <a:avLst/>
              <a:gdLst/>
              <a:ahLst/>
              <a:cxnLst>
                <a:cxn ang="0">
                  <a:pos x="318" y="80"/>
                </a:cxn>
                <a:cxn ang="0">
                  <a:pos x="318" y="166"/>
                </a:cxn>
                <a:cxn ang="0">
                  <a:pos x="0" y="85"/>
                </a:cxn>
                <a:cxn ang="0">
                  <a:pos x="0" y="0"/>
                </a:cxn>
              </a:cxnLst>
              <a:rect l="0" t="0" r="r" b="b"/>
              <a:pathLst>
                <a:path w="318" h="166">
                  <a:moveTo>
                    <a:pt x="318" y="80"/>
                  </a:moveTo>
                  <a:lnTo>
                    <a:pt x="318" y="166"/>
                  </a:lnTo>
                  <a:lnTo>
                    <a:pt x="0" y="85"/>
                  </a:lnTo>
                  <a:lnTo>
                    <a:pt x="0" y="0"/>
                  </a:lnTo>
                </a:path>
              </a:pathLst>
            </a:custGeom>
            <a:gradFill rotWithShape="0">
              <a:gsLst>
                <a:gs pos="0">
                  <a:srgbClr val="CC0099">
                    <a:gamma/>
                    <a:tint val="22745"/>
                    <a:invGamma/>
                  </a:srgbClr>
                </a:gs>
                <a:gs pos="100000">
                  <a:srgbClr val="CC0099"/>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61779" name="Oval 339"/>
            <p:cNvSpPr>
              <a:spLocks noChangeArrowheads="1"/>
            </p:cNvSpPr>
            <p:nvPr/>
          </p:nvSpPr>
          <p:spPr bwMode="auto">
            <a:xfrm>
              <a:off x="350" y="3402"/>
              <a:ext cx="24" cy="25"/>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780" name="Oval 340"/>
            <p:cNvSpPr>
              <a:spLocks noChangeArrowheads="1"/>
            </p:cNvSpPr>
            <p:nvPr/>
          </p:nvSpPr>
          <p:spPr bwMode="auto">
            <a:xfrm>
              <a:off x="385" y="3413"/>
              <a:ext cx="24" cy="25"/>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781" name="Oval 341"/>
            <p:cNvSpPr>
              <a:spLocks noChangeArrowheads="1"/>
            </p:cNvSpPr>
            <p:nvPr/>
          </p:nvSpPr>
          <p:spPr bwMode="auto">
            <a:xfrm>
              <a:off x="422" y="3421"/>
              <a:ext cx="25" cy="25"/>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782" name="Oval 342"/>
            <p:cNvSpPr>
              <a:spLocks noChangeArrowheads="1"/>
            </p:cNvSpPr>
            <p:nvPr/>
          </p:nvSpPr>
          <p:spPr bwMode="auto">
            <a:xfrm>
              <a:off x="457" y="3433"/>
              <a:ext cx="25" cy="25"/>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783" name="Freeform 343"/>
            <p:cNvSpPr>
              <a:spLocks/>
            </p:cNvSpPr>
            <p:nvPr/>
          </p:nvSpPr>
          <p:spPr bwMode="auto">
            <a:xfrm>
              <a:off x="285" y="3268"/>
              <a:ext cx="376" cy="154"/>
            </a:xfrm>
            <a:custGeom>
              <a:avLst/>
              <a:gdLst/>
              <a:ahLst/>
              <a:cxnLst>
                <a:cxn ang="0">
                  <a:pos x="0" y="141"/>
                </a:cxn>
                <a:cxn ang="0">
                  <a:pos x="230" y="0"/>
                </a:cxn>
                <a:cxn ang="0">
                  <a:pos x="547" y="78"/>
                </a:cxn>
                <a:cxn ang="0">
                  <a:pos x="318" y="224"/>
                </a:cxn>
                <a:cxn ang="0">
                  <a:pos x="2" y="146"/>
                </a:cxn>
              </a:cxnLst>
              <a:rect l="0" t="0" r="r" b="b"/>
              <a:pathLst>
                <a:path w="547" h="224">
                  <a:moveTo>
                    <a:pt x="0" y="141"/>
                  </a:moveTo>
                  <a:lnTo>
                    <a:pt x="230" y="0"/>
                  </a:lnTo>
                  <a:lnTo>
                    <a:pt x="547" y="78"/>
                  </a:lnTo>
                  <a:lnTo>
                    <a:pt x="318" y="224"/>
                  </a:lnTo>
                  <a:lnTo>
                    <a:pt x="2" y="146"/>
                  </a:lnTo>
                </a:path>
              </a:pathLst>
            </a:custGeom>
            <a:gradFill rotWithShape="0">
              <a:gsLst>
                <a:gs pos="0">
                  <a:srgbClr val="CC0099">
                    <a:gamma/>
                    <a:tint val="22745"/>
                    <a:invGamma/>
                  </a:srgbClr>
                </a:gs>
                <a:gs pos="100000">
                  <a:srgbClr val="CC0099"/>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grpSp>
      <p:grpSp>
        <p:nvGrpSpPr>
          <p:cNvPr id="61784" name="Group 344"/>
          <p:cNvGrpSpPr>
            <a:grpSpLocks/>
          </p:cNvGrpSpPr>
          <p:nvPr/>
        </p:nvGrpSpPr>
        <p:grpSpPr bwMode="auto">
          <a:xfrm>
            <a:off x="6319838" y="5449888"/>
            <a:ext cx="596900" cy="338137"/>
            <a:chOff x="285" y="3268"/>
            <a:chExt cx="376" cy="213"/>
          </a:xfrm>
        </p:grpSpPr>
        <p:sp>
          <p:nvSpPr>
            <p:cNvPr id="61785" name="Freeform 345"/>
            <p:cNvSpPr>
              <a:spLocks/>
            </p:cNvSpPr>
            <p:nvPr/>
          </p:nvSpPr>
          <p:spPr bwMode="auto">
            <a:xfrm>
              <a:off x="503" y="3321"/>
              <a:ext cx="158" cy="160"/>
            </a:xfrm>
            <a:custGeom>
              <a:avLst/>
              <a:gdLst/>
              <a:ahLst/>
              <a:cxnLst>
                <a:cxn ang="0">
                  <a:pos x="0" y="146"/>
                </a:cxn>
                <a:cxn ang="0">
                  <a:pos x="230" y="0"/>
                </a:cxn>
                <a:cxn ang="0">
                  <a:pos x="230" y="85"/>
                </a:cxn>
                <a:cxn ang="0">
                  <a:pos x="0" y="232"/>
                </a:cxn>
                <a:cxn ang="0">
                  <a:pos x="0" y="146"/>
                </a:cxn>
              </a:cxnLst>
              <a:rect l="0" t="0" r="r" b="b"/>
              <a:pathLst>
                <a:path w="230" h="232">
                  <a:moveTo>
                    <a:pt x="0" y="146"/>
                  </a:moveTo>
                  <a:lnTo>
                    <a:pt x="230" y="0"/>
                  </a:lnTo>
                  <a:lnTo>
                    <a:pt x="230" y="85"/>
                  </a:lnTo>
                  <a:lnTo>
                    <a:pt x="0" y="232"/>
                  </a:lnTo>
                  <a:lnTo>
                    <a:pt x="0" y="146"/>
                  </a:lnTo>
                </a:path>
              </a:pathLst>
            </a:custGeom>
            <a:gradFill rotWithShape="0">
              <a:gsLst>
                <a:gs pos="0">
                  <a:srgbClr val="CC0099">
                    <a:gamma/>
                    <a:tint val="22745"/>
                    <a:invGamma/>
                  </a:srgbClr>
                </a:gs>
                <a:gs pos="100000">
                  <a:srgbClr val="CC0099"/>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61786" name="Freeform 346"/>
            <p:cNvSpPr>
              <a:spLocks/>
            </p:cNvSpPr>
            <p:nvPr/>
          </p:nvSpPr>
          <p:spPr bwMode="auto">
            <a:xfrm>
              <a:off x="285" y="3367"/>
              <a:ext cx="219" cy="114"/>
            </a:xfrm>
            <a:custGeom>
              <a:avLst/>
              <a:gdLst/>
              <a:ahLst/>
              <a:cxnLst>
                <a:cxn ang="0">
                  <a:pos x="318" y="80"/>
                </a:cxn>
                <a:cxn ang="0">
                  <a:pos x="318" y="166"/>
                </a:cxn>
                <a:cxn ang="0">
                  <a:pos x="0" y="85"/>
                </a:cxn>
                <a:cxn ang="0">
                  <a:pos x="0" y="0"/>
                </a:cxn>
              </a:cxnLst>
              <a:rect l="0" t="0" r="r" b="b"/>
              <a:pathLst>
                <a:path w="318" h="166">
                  <a:moveTo>
                    <a:pt x="318" y="80"/>
                  </a:moveTo>
                  <a:lnTo>
                    <a:pt x="318" y="166"/>
                  </a:lnTo>
                  <a:lnTo>
                    <a:pt x="0" y="85"/>
                  </a:lnTo>
                  <a:lnTo>
                    <a:pt x="0" y="0"/>
                  </a:lnTo>
                </a:path>
              </a:pathLst>
            </a:custGeom>
            <a:gradFill rotWithShape="0">
              <a:gsLst>
                <a:gs pos="0">
                  <a:srgbClr val="CC0099">
                    <a:gamma/>
                    <a:tint val="22745"/>
                    <a:invGamma/>
                  </a:srgbClr>
                </a:gs>
                <a:gs pos="100000">
                  <a:srgbClr val="CC0099"/>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sp>
          <p:nvSpPr>
            <p:cNvPr id="61787" name="Oval 347"/>
            <p:cNvSpPr>
              <a:spLocks noChangeArrowheads="1"/>
            </p:cNvSpPr>
            <p:nvPr/>
          </p:nvSpPr>
          <p:spPr bwMode="auto">
            <a:xfrm>
              <a:off x="350" y="3402"/>
              <a:ext cx="24" cy="25"/>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788" name="Oval 348"/>
            <p:cNvSpPr>
              <a:spLocks noChangeArrowheads="1"/>
            </p:cNvSpPr>
            <p:nvPr/>
          </p:nvSpPr>
          <p:spPr bwMode="auto">
            <a:xfrm>
              <a:off x="385" y="3413"/>
              <a:ext cx="24" cy="25"/>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789" name="Oval 349"/>
            <p:cNvSpPr>
              <a:spLocks noChangeArrowheads="1"/>
            </p:cNvSpPr>
            <p:nvPr/>
          </p:nvSpPr>
          <p:spPr bwMode="auto">
            <a:xfrm>
              <a:off x="422" y="3421"/>
              <a:ext cx="25" cy="25"/>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790" name="Oval 350"/>
            <p:cNvSpPr>
              <a:spLocks noChangeArrowheads="1"/>
            </p:cNvSpPr>
            <p:nvPr/>
          </p:nvSpPr>
          <p:spPr bwMode="auto">
            <a:xfrm>
              <a:off x="457" y="3433"/>
              <a:ext cx="25" cy="25"/>
            </a:xfrm>
            <a:prstGeom prst="ellipse">
              <a:avLst/>
            </a:prstGeom>
            <a:solidFill>
              <a:srgbClr val="FF0000"/>
            </a:solidFill>
            <a:ln w="6350">
              <a:noFill/>
              <a:round/>
              <a:headEnd/>
              <a:tailEnd/>
            </a:ln>
            <a:effectLst/>
          </p:spPr>
          <p:txBody>
            <a:bodyPr wrap="none" tIns="27432" bIns="27432" anchor="ctr">
              <a:spAutoFit/>
            </a:bodyPr>
            <a:lstStyle/>
            <a:p>
              <a:endParaRPr lang="fr-FR"/>
            </a:p>
          </p:txBody>
        </p:sp>
        <p:sp>
          <p:nvSpPr>
            <p:cNvPr id="61791" name="Freeform 351"/>
            <p:cNvSpPr>
              <a:spLocks/>
            </p:cNvSpPr>
            <p:nvPr/>
          </p:nvSpPr>
          <p:spPr bwMode="auto">
            <a:xfrm>
              <a:off x="285" y="3268"/>
              <a:ext cx="376" cy="154"/>
            </a:xfrm>
            <a:custGeom>
              <a:avLst/>
              <a:gdLst/>
              <a:ahLst/>
              <a:cxnLst>
                <a:cxn ang="0">
                  <a:pos x="0" y="141"/>
                </a:cxn>
                <a:cxn ang="0">
                  <a:pos x="230" y="0"/>
                </a:cxn>
                <a:cxn ang="0">
                  <a:pos x="547" y="78"/>
                </a:cxn>
                <a:cxn ang="0">
                  <a:pos x="318" y="224"/>
                </a:cxn>
                <a:cxn ang="0">
                  <a:pos x="2" y="146"/>
                </a:cxn>
              </a:cxnLst>
              <a:rect l="0" t="0" r="r" b="b"/>
              <a:pathLst>
                <a:path w="547" h="224">
                  <a:moveTo>
                    <a:pt x="0" y="141"/>
                  </a:moveTo>
                  <a:lnTo>
                    <a:pt x="230" y="0"/>
                  </a:lnTo>
                  <a:lnTo>
                    <a:pt x="547" y="78"/>
                  </a:lnTo>
                  <a:lnTo>
                    <a:pt x="318" y="224"/>
                  </a:lnTo>
                  <a:lnTo>
                    <a:pt x="2" y="146"/>
                  </a:lnTo>
                </a:path>
              </a:pathLst>
            </a:custGeom>
            <a:gradFill rotWithShape="0">
              <a:gsLst>
                <a:gs pos="0">
                  <a:srgbClr val="CC0099">
                    <a:gamma/>
                    <a:tint val="22745"/>
                    <a:invGamma/>
                  </a:srgbClr>
                </a:gs>
                <a:gs pos="100000">
                  <a:srgbClr val="CC0099"/>
                </a:gs>
              </a:gsLst>
              <a:lin ang="18900000" scaled="1"/>
            </a:gradFill>
            <a:ln w="3175" cap="rnd" cmpd="sng">
              <a:solidFill>
                <a:schemeClr val="tx1"/>
              </a:solidFill>
              <a:prstDash val="solid"/>
              <a:miter lim="800000"/>
              <a:headEnd type="none" w="med" len="med"/>
              <a:tailEnd type="none" w="med" len="med"/>
            </a:ln>
            <a:effectLst/>
          </p:spPr>
          <p:txBody>
            <a:bodyPr/>
            <a:lstStyle/>
            <a:p>
              <a:endParaRPr lang="fr-FR"/>
            </a:p>
          </p:txBody>
        </p:sp>
      </p:grpSp>
      <p:sp>
        <p:nvSpPr>
          <p:cNvPr id="61792" name="Text Box 352"/>
          <p:cNvSpPr txBox="1">
            <a:spLocks noChangeArrowheads="1"/>
          </p:cNvSpPr>
          <p:nvPr/>
        </p:nvSpPr>
        <p:spPr bwMode="auto">
          <a:xfrm>
            <a:off x="5226050" y="4043363"/>
            <a:ext cx="2747963" cy="769441"/>
          </a:xfrm>
          <a:prstGeom prst="rect">
            <a:avLst/>
          </a:prstGeom>
          <a:noFill/>
          <a:ln w="9525">
            <a:noFill/>
            <a:miter lim="800000"/>
            <a:headEnd/>
            <a:tailEnd/>
          </a:ln>
          <a:effectLst/>
        </p:spPr>
        <p:txBody>
          <a:bodyPr anchor="ctr">
            <a:spAutoFit/>
          </a:bodyPr>
          <a:lstStyle/>
          <a:p>
            <a:pPr algn="ctr"/>
            <a:r>
              <a:rPr lang="en-US" sz="2200" dirty="0" err="1">
                <a:latin typeface="Arial" charset="0"/>
              </a:rPr>
              <a:t>Serveur</a:t>
            </a:r>
            <a:r>
              <a:rPr lang="en-US" sz="2200" dirty="0">
                <a:latin typeface="Arial" charset="0"/>
              </a:rPr>
              <a:t> </a:t>
            </a:r>
            <a:br>
              <a:rPr lang="en-US" sz="2200" dirty="0">
                <a:latin typeface="Arial" charset="0"/>
              </a:rPr>
            </a:br>
            <a:r>
              <a:rPr lang="en-US" sz="2200" dirty="0" err="1">
                <a:latin typeface="Arial" charset="0"/>
              </a:rPr>
              <a:t>d'accès</a:t>
            </a:r>
            <a:r>
              <a:rPr lang="en-US" sz="2200" dirty="0">
                <a:latin typeface="Arial" charset="0"/>
              </a:rPr>
              <a:t> distant</a:t>
            </a:r>
          </a:p>
        </p:txBody>
      </p:sp>
      <p:sp>
        <p:nvSpPr>
          <p:cNvPr id="61793" name="Rectangle 353"/>
          <p:cNvSpPr>
            <a:spLocks noChangeArrowheads="1"/>
          </p:cNvSpPr>
          <p:nvPr/>
        </p:nvSpPr>
        <p:spPr bwMode="auto">
          <a:xfrm>
            <a:off x="5435282" y="1418590"/>
            <a:ext cx="3419157" cy="441325"/>
          </a:xfrm>
          <a:prstGeom prst="rect">
            <a:avLst/>
          </a:prstGeom>
          <a:solidFill>
            <a:srgbClr val="666699"/>
          </a:solidFill>
          <a:ln w="9525">
            <a:solidFill>
              <a:srgbClr val="0033CC"/>
            </a:solidFill>
            <a:miter lim="800000"/>
            <a:headEnd/>
            <a:tailEnd/>
          </a:ln>
          <a:effectLst>
            <a:outerShdw dist="45791" dir="3378596" algn="ctr" rotWithShape="0">
              <a:srgbClr val="C0C0C0"/>
            </a:outerShdw>
          </a:effectLst>
        </p:spPr>
        <p:txBody>
          <a:bodyPr wrap="none" tIns="27432" bIns="27432" anchor="ctr"/>
          <a:lstStyle/>
          <a:p>
            <a:pPr algn="ctr"/>
            <a:r>
              <a:rPr lang="en-US" sz="2400" b="1" dirty="0">
                <a:solidFill>
                  <a:srgbClr val="FFFFFF"/>
                </a:solidFill>
                <a:effectLst>
                  <a:outerShdw blurRad="38100" dist="38100" dir="2700000" algn="tl">
                    <a:srgbClr val="000000"/>
                  </a:outerShdw>
                </a:effectLst>
                <a:latin typeface="Arial" charset="0"/>
              </a:rPr>
              <a:t>Liaisons multiples PPP</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normAutofit/>
          </a:bodyPr>
          <a:lstStyle/>
          <a:p>
            <a:pPr marL="460375" indent="-460375">
              <a:buClr>
                <a:schemeClr val="accent2"/>
              </a:buClr>
            </a:pPr>
            <a:r>
              <a:rPr lang="fr-FR" dirty="0" smtClean="0">
                <a:cs typeface="Times New Roman" pitchFamily="18" charset="0"/>
              </a:rPr>
              <a:t>2. Connexion </a:t>
            </a:r>
            <a:r>
              <a:rPr lang="fr-FR" dirty="0">
                <a:cs typeface="Times New Roman" pitchFamily="18" charset="0"/>
              </a:rPr>
              <a:t>aux réseaux privés virtuels</a:t>
            </a:r>
            <a:r>
              <a:rPr lang="fr-FR" dirty="0"/>
              <a:t> </a:t>
            </a:r>
            <a:endParaRPr lang="en-US" dirty="0"/>
          </a:p>
        </p:txBody>
      </p:sp>
      <p:sp>
        <p:nvSpPr>
          <p:cNvPr id="62469" name="Freeform 5"/>
          <p:cNvSpPr>
            <a:spLocks/>
          </p:cNvSpPr>
          <p:nvPr/>
        </p:nvSpPr>
        <p:spPr bwMode="auto">
          <a:xfrm>
            <a:off x="952500" y="1485900"/>
            <a:ext cx="6616700" cy="4635500"/>
          </a:xfrm>
          <a:custGeom>
            <a:avLst/>
            <a:gdLst/>
            <a:ahLst/>
            <a:cxnLst>
              <a:cxn ang="0">
                <a:pos x="0" y="2016"/>
              </a:cxn>
              <a:cxn ang="0">
                <a:pos x="0" y="2920"/>
              </a:cxn>
              <a:cxn ang="0">
                <a:pos x="704" y="2920"/>
              </a:cxn>
              <a:cxn ang="0">
                <a:pos x="3592" y="688"/>
              </a:cxn>
              <a:cxn ang="0">
                <a:pos x="3888" y="1176"/>
              </a:cxn>
              <a:cxn ang="0">
                <a:pos x="4168" y="0"/>
              </a:cxn>
              <a:cxn ang="0">
                <a:pos x="2736" y="224"/>
              </a:cxn>
              <a:cxn ang="0">
                <a:pos x="3216" y="448"/>
              </a:cxn>
              <a:cxn ang="0">
                <a:pos x="0" y="2016"/>
              </a:cxn>
            </a:cxnLst>
            <a:rect l="0" t="0" r="r" b="b"/>
            <a:pathLst>
              <a:path w="4168" h="2920">
                <a:moveTo>
                  <a:pt x="0" y="2016"/>
                </a:moveTo>
                <a:lnTo>
                  <a:pt x="0" y="2920"/>
                </a:lnTo>
                <a:lnTo>
                  <a:pt x="704" y="2920"/>
                </a:lnTo>
                <a:lnTo>
                  <a:pt x="3592" y="688"/>
                </a:lnTo>
                <a:lnTo>
                  <a:pt x="3888" y="1176"/>
                </a:lnTo>
                <a:lnTo>
                  <a:pt x="4168" y="0"/>
                </a:lnTo>
                <a:lnTo>
                  <a:pt x="2736" y="224"/>
                </a:lnTo>
                <a:lnTo>
                  <a:pt x="3216" y="448"/>
                </a:lnTo>
                <a:lnTo>
                  <a:pt x="0" y="2016"/>
                </a:lnTo>
                <a:close/>
              </a:path>
            </a:pathLst>
          </a:custGeom>
          <a:gradFill rotWithShape="0">
            <a:gsLst>
              <a:gs pos="0">
                <a:srgbClr val="FFC249"/>
              </a:gs>
              <a:gs pos="100000">
                <a:srgbClr val="EFD58D"/>
              </a:gs>
            </a:gsLst>
            <a:path path="rect">
              <a:fillToRect t="100000" r="100000"/>
            </a:path>
          </a:gradFill>
          <a:ln w="9525" cap="flat" cmpd="sng">
            <a:noFill/>
            <a:prstDash val="solid"/>
            <a:round/>
            <a:headEnd type="none" w="med" len="med"/>
            <a:tailEnd type="none" w="med" len="med"/>
          </a:ln>
          <a:effectLst/>
        </p:spPr>
        <p:txBody>
          <a:bodyPr wrap="none" anchor="ctr"/>
          <a:lstStyle/>
          <a:p>
            <a:endParaRPr lang="fr-FR"/>
          </a:p>
        </p:txBody>
      </p:sp>
      <p:sp>
        <p:nvSpPr>
          <p:cNvPr id="62470" name="Text Box 6"/>
          <p:cNvSpPr txBox="1">
            <a:spLocks noChangeArrowheads="1"/>
          </p:cNvSpPr>
          <p:nvPr/>
        </p:nvSpPr>
        <p:spPr bwMode="auto">
          <a:xfrm>
            <a:off x="3441700" y="4198938"/>
            <a:ext cx="5051704" cy="400110"/>
          </a:xfrm>
          <a:prstGeom prst="rect">
            <a:avLst/>
          </a:prstGeom>
          <a:noFill/>
          <a:ln w="9525">
            <a:noFill/>
            <a:miter lim="800000"/>
            <a:headEnd/>
            <a:tailEnd/>
          </a:ln>
          <a:effectLst/>
        </p:spPr>
        <p:txBody>
          <a:bodyPr wrap="none" anchor="ctr">
            <a:spAutoFit/>
          </a:bodyPr>
          <a:lstStyle/>
          <a:p>
            <a:pPr algn="ctr"/>
            <a:r>
              <a:rPr lang="en-US" sz="2000" b="1" dirty="0">
                <a:latin typeface="Arial" charset="0"/>
              </a:rPr>
              <a:t>Windows 2000 </a:t>
            </a:r>
            <a:r>
              <a:rPr lang="en-US" sz="2000" b="1" dirty="0" err="1">
                <a:latin typeface="Arial" charset="0"/>
              </a:rPr>
              <a:t>ou</a:t>
            </a:r>
            <a:r>
              <a:rPr lang="en-US" sz="2000" b="1" dirty="0">
                <a:latin typeface="Arial" charset="0"/>
              </a:rPr>
              <a:t> Windows .NET Server</a:t>
            </a:r>
          </a:p>
        </p:txBody>
      </p:sp>
      <p:grpSp>
        <p:nvGrpSpPr>
          <p:cNvPr id="62471" name="Group 7"/>
          <p:cNvGrpSpPr>
            <a:grpSpLocks/>
          </p:cNvGrpSpPr>
          <p:nvPr/>
        </p:nvGrpSpPr>
        <p:grpSpPr bwMode="auto">
          <a:xfrm>
            <a:off x="4914900" y="2513013"/>
            <a:ext cx="1006475" cy="455612"/>
            <a:chOff x="3312" y="3168"/>
            <a:chExt cx="1120" cy="508"/>
          </a:xfrm>
        </p:grpSpPr>
        <p:sp>
          <p:nvSpPr>
            <p:cNvPr id="62472" name="Freeform 8"/>
            <p:cNvSpPr>
              <a:spLocks/>
            </p:cNvSpPr>
            <p:nvPr/>
          </p:nvSpPr>
          <p:spPr bwMode="auto">
            <a:xfrm>
              <a:off x="3312" y="3168"/>
              <a:ext cx="1120" cy="508"/>
            </a:xfrm>
            <a:custGeom>
              <a:avLst/>
              <a:gdLst/>
              <a:ahLst/>
              <a:cxnLst>
                <a:cxn ang="0">
                  <a:pos x="0" y="0"/>
                </a:cxn>
                <a:cxn ang="0">
                  <a:pos x="1410" y="0"/>
                </a:cxn>
                <a:cxn ang="0">
                  <a:pos x="1410" y="561"/>
                </a:cxn>
                <a:cxn ang="0">
                  <a:pos x="772" y="561"/>
                </a:cxn>
                <a:cxn ang="0">
                  <a:pos x="772" y="639"/>
                </a:cxn>
                <a:cxn ang="0">
                  <a:pos x="242" y="639"/>
                </a:cxn>
                <a:cxn ang="0">
                  <a:pos x="242" y="561"/>
                </a:cxn>
                <a:cxn ang="0">
                  <a:pos x="0" y="561"/>
                </a:cxn>
                <a:cxn ang="0">
                  <a:pos x="0" y="0"/>
                </a:cxn>
              </a:cxnLst>
              <a:rect l="0" t="0" r="r" b="b"/>
              <a:pathLst>
                <a:path w="1411" h="640">
                  <a:moveTo>
                    <a:pt x="0" y="0"/>
                  </a:moveTo>
                  <a:lnTo>
                    <a:pt x="1410" y="0"/>
                  </a:lnTo>
                  <a:lnTo>
                    <a:pt x="1410" y="561"/>
                  </a:lnTo>
                  <a:lnTo>
                    <a:pt x="772" y="561"/>
                  </a:lnTo>
                  <a:lnTo>
                    <a:pt x="772" y="639"/>
                  </a:lnTo>
                  <a:lnTo>
                    <a:pt x="242" y="639"/>
                  </a:lnTo>
                  <a:lnTo>
                    <a:pt x="242" y="561"/>
                  </a:lnTo>
                  <a:lnTo>
                    <a:pt x="0" y="561"/>
                  </a:lnTo>
                  <a:lnTo>
                    <a:pt x="0" y="0"/>
                  </a:lnTo>
                </a:path>
              </a:pathLst>
            </a:custGeom>
            <a:gradFill rotWithShape="0">
              <a:gsLst>
                <a:gs pos="0">
                  <a:srgbClr val="408585"/>
                </a:gs>
                <a:gs pos="100000">
                  <a:srgbClr val="408585">
                    <a:gamma/>
                    <a:tint val="73725"/>
                    <a:invGamma/>
                  </a:srgbClr>
                </a:gs>
              </a:gsLst>
              <a:lin ang="18900000" scaled="1"/>
            </a:gradFill>
            <a:ln w="9525" cap="rnd" cmpd="sng">
              <a:solidFill>
                <a:srgbClr val="000000"/>
              </a:solidFill>
              <a:prstDash val="solid"/>
              <a:round/>
              <a:headEnd type="none" w="med" len="med"/>
              <a:tailEnd type="none" w="med" len="med"/>
            </a:ln>
            <a:effectLst>
              <a:outerShdw dist="53882" dir="2700000" algn="ctr" rotWithShape="0">
                <a:schemeClr val="folHlink"/>
              </a:outerShdw>
            </a:effectLst>
          </p:spPr>
          <p:txBody>
            <a:bodyPr/>
            <a:lstStyle/>
            <a:p>
              <a:endParaRPr lang="fr-FR"/>
            </a:p>
          </p:txBody>
        </p:sp>
        <p:sp>
          <p:nvSpPr>
            <p:cNvPr id="62473" name="Freeform 9"/>
            <p:cNvSpPr>
              <a:spLocks/>
            </p:cNvSpPr>
            <p:nvPr/>
          </p:nvSpPr>
          <p:spPr bwMode="auto">
            <a:xfrm>
              <a:off x="3360" y="3216"/>
              <a:ext cx="104" cy="95"/>
            </a:xfrm>
            <a:custGeom>
              <a:avLst/>
              <a:gdLst/>
              <a:ahLst/>
              <a:cxnLst>
                <a:cxn ang="0">
                  <a:pos x="0" y="0"/>
                </a:cxn>
                <a:cxn ang="0">
                  <a:pos x="131" y="0"/>
                </a:cxn>
                <a:cxn ang="0">
                  <a:pos x="131" y="118"/>
                </a:cxn>
                <a:cxn ang="0">
                  <a:pos x="0" y="118"/>
                </a:cxn>
                <a:cxn ang="0">
                  <a:pos x="0" y="0"/>
                </a:cxn>
              </a:cxnLst>
              <a:rect l="0" t="0" r="r" b="b"/>
              <a:pathLst>
                <a:path w="132" h="119">
                  <a:moveTo>
                    <a:pt x="0" y="0"/>
                  </a:moveTo>
                  <a:lnTo>
                    <a:pt x="131" y="0"/>
                  </a:lnTo>
                  <a:lnTo>
                    <a:pt x="131" y="118"/>
                  </a:lnTo>
                  <a:lnTo>
                    <a:pt x="0" y="118"/>
                  </a:lnTo>
                  <a:lnTo>
                    <a:pt x="0" y="0"/>
                  </a:lnTo>
                </a:path>
              </a:pathLst>
            </a:custGeom>
            <a:gradFill rotWithShape="0">
              <a:gsLst>
                <a:gs pos="0">
                  <a:srgbClr val="CECECE">
                    <a:gamma/>
                    <a:shade val="46275"/>
                    <a:invGamma/>
                  </a:srgbClr>
                </a:gs>
                <a:gs pos="100000">
                  <a:srgbClr val="CECECE"/>
                </a:gs>
              </a:gsLst>
              <a:lin ang="18900000" scaled="1"/>
            </a:gradFill>
            <a:ln w="6350" cap="rnd" cmpd="sng">
              <a:solidFill>
                <a:srgbClr val="000000"/>
              </a:solidFill>
              <a:prstDash val="solid"/>
              <a:round/>
              <a:headEnd type="none" w="med" len="med"/>
              <a:tailEnd type="none" w="med" len="med"/>
            </a:ln>
            <a:effectLst/>
          </p:spPr>
          <p:txBody>
            <a:bodyPr/>
            <a:lstStyle/>
            <a:p>
              <a:endParaRPr lang="fr-FR"/>
            </a:p>
          </p:txBody>
        </p:sp>
        <p:sp>
          <p:nvSpPr>
            <p:cNvPr id="62474" name="Freeform 10"/>
            <p:cNvSpPr>
              <a:spLocks/>
            </p:cNvSpPr>
            <p:nvPr/>
          </p:nvSpPr>
          <p:spPr bwMode="auto">
            <a:xfrm>
              <a:off x="3360" y="3340"/>
              <a:ext cx="104" cy="95"/>
            </a:xfrm>
            <a:custGeom>
              <a:avLst/>
              <a:gdLst/>
              <a:ahLst/>
              <a:cxnLst>
                <a:cxn ang="0">
                  <a:pos x="0" y="0"/>
                </a:cxn>
                <a:cxn ang="0">
                  <a:pos x="131" y="0"/>
                </a:cxn>
                <a:cxn ang="0">
                  <a:pos x="131" y="118"/>
                </a:cxn>
                <a:cxn ang="0">
                  <a:pos x="0" y="118"/>
                </a:cxn>
                <a:cxn ang="0">
                  <a:pos x="0" y="0"/>
                </a:cxn>
              </a:cxnLst>
              <a:rect l="0" t="0" r="r" b="b"/>
              <a:pathLst>
                <a:path w="132" h="119">
                  <a:moveTo>
                    <a:pt x="0" y="0"/>
                  </a:moveTo>
                  <a:lnTo>
                    <a:pt x="131" y="0"/>
                  </a:lnTo>
                  <a:lnTo>
                    <a:pt x="131" y="118"/>
                  </a:lnTo>
                  <a:lnTo>
                    <a:pt x="0" y="118"/>
                  </a:lnTo>
                  <a:lnTo>
                    <a:pt x="0" y="0"/>
                  </a:lnTo>
                </a:path>
              </a:pathLst>
            </a:custGeom>
            <a:gradFill rotWithShape="0">
              <a:gsLst>
                <a:gs pos="0">
                  <a:srgbClr val="CECECE">
                    <a:gamma/>
                    <a:shade val="46275"/>
                    <a:invGamma/>
                  </a:srgbClr>
                </a:gs>
                <a:gs pos="100000">
                  <a:srgbClr val="CECECE"/>
                </a:gs>
              </a:gsLst>
              <a:lin ang="18900000" scaled="1"/>
            </a:gradFill>
            <a:ln w="6350" cap="rnd" cmpd="sng">
              <a:solidFill>
                <a:srgbClr val="000000"/>
              </a:solidFill>
              <a:prstDash val="solid"/>
              <a:round/>
              <a:headEnd type="none" w="med" len="med"/>
              <a:tailEnd type="none" w="med" len="med"/>
            </a:ln>
            <a:effectLst/>
          </p:spPr>
          <p:txBody>
            <a:bodyPr/>
            <a:lstStyle/>
            <a:p>
              <a:endParaRPr lang="fr-FR"/>
            </a:p>
          </p:txBody>
        </p:sp>
        <p:sp>
          <p:nvSpPr>
            <p:cNvPr id="62475" name="Freeform 11"/>
            <p:cNvSpPr>
              <a:spLocks/>
            </p:cNvSpPr>
            <p:nvPr/>
          </p:nvSpPr>
          <p:spPr bwMode="auto">
            <a:xfrm>
              <a:off x="3493" y="3216"/>
              <a:ext cx="159" cy="51"/>
            </a:xfrm>
            <a:custGeom>
              <a:avLst/>
              <a:gdLst/>
              <a:ahLst/>
              <a:cxnLst>
                <a:cxn ang="0">
                  <a:pos x="0" y="0"/>
                </a:cxn>
                <a:cxn ang="0">
                  <a:pos x="199" y="0"/>
                </a:cxn>
                <a:cxn ang="0">
                  <a:pos x="199" y="63"/>
                </a:cxn>
                <a:cxn ang="0">
                  <a:pos x="0" y="63"/>
                </a:cxn>
                <a:cxn ang="0">
                  <a:pos x="0" y="0"/>
                </a:cxn>
              </a:cxnLst>
              <a:rect l="0" t="0" r="r" b="b"/>
              <a:pathLst>
                <a:path w="200" h="64">
                  <a:moveTo>
                    <a:pt x="0" y="0"/>
                  </a:moveTo>
                  <a:lnTo>
                    <a:pt x="199" y="0"/>
                  </a:lnTo>
                  <a:lnTo>
                    <a:pt x="199" y="63"/>
                  </a:lnTo>
                  <a:lnTo>
                    <a:pt x="0" y="63"/>
                  </a:lnTo>
                  <a:lnTo>
                    <a:pt x="0" y="0"/>
                  </a:lnTo>
                </a:path>
              </a:pathLst>
            </a:custGeom>
            <a:gradFill rotWithShape="0">
              <a:gsLst>
                <a:gs pos="0">
                  <a:srgbClr val="CECECE">
                    <a:gamma/>
                    <a:shade val="46275"/>
                    <a:invGamma/>
                  </a:srgbClr>
                </a:gs>
                <a:gs pos="100000">
                  <a:srgbClr val="CECECE"/>
                </a:gs>
              </a:gsLst>
              <a:lin ang="18900000" scaled="1"/>
            </a:gradFill>
            <a:ln w="6350" cap="rnd" cmpd="sng">
              <a:solidFill>
                <a:srgbClr val="000000"/>
              </a:solidFill>
              <a:prstDash val="solid"/>
              <a:round/>
              <a:headEnd type="none" w="med" len="med"/>
              <a:tailEnd type="none" w="med" len="med"/>
            </a:ln>
            <a:effectLst/>
          </p:spPr>
          <p:txBody>
            <a:bodyPr/>
            <a:lstStyle/>
            <a:p>
              <a:endParaRPr lang="fr-FR"/>
            </a:p>
          </p:txBody>
        </p:sp>
        <p:sp>
          <p:nvSpPr>
            <p:cNvPr id="62476" name="Freeform 12"/>
            <p:cNvSpPr>
              <a:spLocks/>
            </p:cNvSpPr>
            <p:nvPr/>
          </p:nvSpPr>
          <p:spPr bwMode="auto">
            <a:xfrm>
              <a:off x="3867" y="3359"/>
              <a:ext cx="245" cy="95"/>
            </a:xfrm>
            <a:custGeom>
              <a:avLst/>
              <a:gdLst/>
              <a:ahLst/>
              <a:cxnLst>
                <a:cxn ang="0">
                  <a:pos x="0" y="0"/>
                </a:cxn>
                <a:cxn ang="0">
                  <a:pos x="308" y="0"/>
                </a:cxn>
                <a:cxn ang="0">
                  <a:pos x="308" y="119"/>
                </a:cxn>
                <a:cxn ang="0">
                  <a:pos x="0" y="119"/>
                </a:cxn>
                <a:cxn ang="0">
                  <a:pos x="0" y="0"/>
                </a:cxn>
              </a:cxnLst>
              <a:rect l="0" t="0" r="r" b="b"/>
              <a:pathLst>
                <a:path w="309" h="120">
                  <a:moveTo>
                    <a:pt x="0" y="0"/>
                  </a:moveTo>
                  <a:lnTo>
                    <a:pt x="308" y="0"/>
                  </a:lnTo>
                  <a:lnTo>
                    <a:pt x="308" y="119"/>
                  </a:lnTo>
                  <a:lnTo>
                    <a:pt x="0" y="119"/>
                  </a:lnTo>
                  <a:lnTo>
                    <a:pt x="0" y="0"/>
                  </a:lnTo>
                </a:path>
              </a:pathLst>
            </a:custGeom>
            <a:gradFill rotWithShape="0">
              <a:gsLst>
                <a:gs pos="0">
                  <a:srgbClr val="CECECE">
                    <a:gamma/>
                    <a:shade val="46275"/>
                    <a:invGamma/>
                  </a:srgbClr>
                </a:gs>
                <a:gs pos="100000">
                  <a:srgbClr val="CECECE"/>
                </a:gs>
              </a:gsLst>
              <a:lin ang="18900000" scaled="1"/>
            </a:gradFill>
            <a:ln w="6350" cap="rnd" cmpd="sng">
              <a:solidFill>
                <a:srgbClr val="000000"/>
              </a:solidFill>
              <a:prstDash val="solid"/>
              <a:round/>
              <a:headEnd type="none" w="med" len="med"/>
              <a:tailEnd type="none" w="med" len="med"/>
            </a:ln>
            <a:effectLst/>
          </p:spPr>
          <p:txBody>
            <a:bodyPr/>
            <a:lstStyle/>
            <a:p>
              <a:endParaRPr lang="fr-FR"/>
            </a:p>
          </p:txBody>
        </p:sp>
        <p:sp>
          <p:nvSpPr>
            <p:cNvPr id="62477" name="Freeform 13"/>
            <p:cNvSpPr>
              <a:spLocks/>
            </p:cNvSpPr>
            <p:nvPr/>
          </p:nvSpPr>
          <p:spPr bwMode="auto">
            <a:xfrm>
              <a:off x="3867" y="3479"/>
              <a:ext cx="245" cy="95"/>
            </a:xfrm>
            <a:custGeom>
              <a:avLst/>
              <a:gdLst/>
              <a:ahLst/>
              <a:cxnLst>
                <a:cxn ang="0">
                  <a:pos x="0" y="0"/>
                </a:cxn>
                <a:cxn ang="0">
                  <a:pos x="308" y="0"/>
                </a:cxn>
                <a:cxn ang="0">
                  <a:pos x="308" y="119"/>
                </a:cxn>
                <a:cxn ang="0">
                  <a:pos x="0" y="119"/>
                </a:cxn>
                <a:cxn ang="0">
                  <a:pos x="0" y="0"/>
                </a:cxn>
              </a:cxnLst>
              <a:rect l="0" t="0" r="r" b="b"/>
              <a:pathLst>
                <a:path w="309" h="120">
                  <a:moveTo>
                    <a:pt x="0" y="0"/>
                  </a:moveTo>
                  <a:lnTo>
                    <a:pt x="308" y="0"/>
                  </a:lnTo>
                  <a:lnTo>
                    <a:pt x="308" y="119"/>
                  </a:lnTo>
                  <a:lnTo>
                    <a:pt x="0" y="119"/>
                  </a:lnTo>
                  <a:lnTo>
                    <a:pt x="0" y="0"/>
                  </a:lnTo>
                </a:path>
              </a:pathLst>
            </a:custGeom>
            <a:gradFill rotWithShape="0">
              <a:gsLst>
                <a:gs pos="0">
                  <a:srgbClr val="CECECE">
                    <a:gamma/>
                    <a:shade val="46275"/>
                    <a:invGamma/>
                  </a:srgbClr>
                </a:gs>
                <a:gs pos="100000">
                  <a:srgbClr val="CECECE"/>
                </a:gs>
              </a:gsLst>
              <a:lin ang="18900000" scaled="1"/>
            </a:gradFill>
            <a:ln w="6350" cap="rnd" cmpd="sng">
              <a:solidFill>
                <a:srgbClr val="000000"/>
              </a:solidFill>
              <a:prstDash val="solid"/>
              <a:round/>
              <a:headEnd type="none" w="med" len="med"/>
              <a:tailEnd type="none" w="med" len="med"/>
            </a:ln>
            <a:effectLst/>
          </p:spPr>
          <p:txBody>
            <a:bodyPr/>
            <a:lstStyle/>
            <a:p>
              <a:endParaRPr lang="fr-FR"/>
            </a:p>
          </p:txBody>
        </p:sp>
        <p:sp>
          <p:nvSpPr>
            <p:cNvPr id="62478" name="Freeform 14"/>
            <p:cNvSpPr>
              <a:spLocks/>
            </p:cNvSpPr>
            <p:nvPr/>
          </p:nvSpPr>
          <p:spPr bwMode="auto">
            <a:xfrm>
              <a:off x="4141" y="3359"/>
              <a:ext cx="247" cy="95"/>
            </a:xfrm>
            <a:custGeom>
              <a:avLst/>
              <a:gdLst/>
              <a:ahLst/>
              <a:cxnLst>
                <a:cxn ang="0">
                  <a:pos x="0" y="0"/>
                </a:cxn>
                <a:cxn ang="0">
                  <a:pos x="309" y="0"/>
                </a:cxn>
                <a:cxn ang="0">
                  <a:pos x="309" y="119"/>
                </a:cxn>
                <a:cxn ang="0">
                  <a:pos x="0" y="119"/>
                </a:cxn>
                <a:cxn ang="0">
                  <a:pos x="0" y="0"/>
                </a:cxn>
              </a:cxnLst>
              <a:rect l="0" t="0" r="r" b="b"/>
              <a:pathLst>
                <a:path w="310" h="120">
                  <a:moveTo>
                    <a:pt x="0" y="0"/>
                  </a:moveTo>
                  <a:lnTo>
                    <a:pt x="309" y="0"/>
                  </a:lnTo>
                  <a:lnTo>
                    <a:pt x="309" y="119"/>
                  </a:lnTo>
                  <a:lnTo>
                    <a:pt x="0" y="119"/>
                  </a:lnTo>
                  <a:lnTo>
                    <a:pt x="0" y="0"/>
                  </a:lnTo>
                </a:path>
              </a:pathLst>
            </a:custGeom>
            <a:gradFill rotWithShape="0">
              <a:gsLst>
                <a:gs pos="0">
                  <a:srgbClr val="CECECE">
                    <a:gamma/>
                    <a:shade val="46275"/>
                    <a:invGamma/>
                  </a:srgbClr>
                </a:gs>
                <a:gs pos="100000">
                  <a:srgbClr val="CECECE"/>
                </a:gs>
              </a:gsLst>
              <a:lin ang="18900000" scaled="1"/>
            </a:gradFill>
            <a:ln w="6350" cap="rnd" cmpd="sng">
              <a:solidFill>
                <a:srgbClr val="000000"/>
              </a:solidFill>
              <a:prstDash val="solid"/>
              <a:round/>
              <a:headEnd type="none" w="med" len="med"/>
              <a:tailEnd type="none" w="med" len="med"/>
            </a:ln>
            <a:effectLst/>
          </p:spPr>
          <p:txBody>
            <a:bodyPr/>
            <a:lstStyle/>
            <a:p>
              <a:endParaRPr lang="fr-FR"/>
            </a:p>
          </p:txBody>
        </p:sp>
        <p:sp>
          <p:nvSpPr>
            <p:cNvPr id="62479" name="Freeform 15"/>
            <p:cNvSpPr>
              <a:spLocks/>
            </p:cNvSpPr>
            <p:nvPr/>
          </p:nvSpPr>
          <p:spPr bwMode="auto">
            <a:xfrm>
              <a:off x="3688" y="3216"/>
              <a:ext cx="159" cy="51"/>
            </a:xfrm>
            <a:custGeom>
              <a:avLst/>
              <a:gdLst/>
              <a:ahLst/>
              <a:cxnLst>
                <a:cxn ang="0">
                  <a:pos x="0" y="0"/>
                </a:cxn>
                <a:cxn ang="0">
                  <a:pos x="199" y="0"/>
                </a:cxn>
                <a:cxn ang="0">
                  <a:pos x="199" y="63"/>
                </a:cxn>
                <a:cxn ang="0">
                  <a:pos x="0" y="63"/>
                </a:cxn>
                <a:cxn ang="0">
                  <a:pos x="0" y="0"/>
                </a:cxn>
              </a:cxnLst>
              <a:rect l="0" t="0" r="r" b="b"/>
              <a:pathLst>
                <a:path w="200" h="64">
                  <a:moveTo>
                    <a:pt x="0" y="0"/>
                  </a:moveTo>
                  <a:lnTo>
                    <a:pt x="199" y="0"/>
                  </a:lnTo>
                  <a:lnTo>
                    <a:pt x="199" y="63"/>
                  </a:lnTo>
                  <a:lnTo>
                    <a:pt x="0" y="63"/>
                  </a:lnTo>
                  <a:lnTo>
                    <a:pt x="0" y="0"/>
                  </a:lnTo>
                </a:path>
              </a:pathLst>
            </a:custGeom>
            <a:gradFill rotWithShape="0">
              <a:gsLst>
                <a:gs pos="0">
                  <a:srgbClr val="CECECE">
                    <a:gamma/>
                    <a:shade val="46275"/>
                    <a:invGamma/>
                  </a:srgbClr>
                </a:gs>
                <a:gs pos="100000">
                  <a:srgbClr val="CECECE"/>
                </a:gs>
              </a:gsLst>
              <a:lin ang="18900000" scaled="1"/>
            </a:gradFill>
            <a:ln w="6350" cap="rnd" cmpd="sng">
              <a:solidFill>
                <a:srgbClr val="000000"/>
              </a:solidFill>
              <a:prstDash val="solid"/>
              <a:round/>
              <a:headEnd type="none" w="med" len="med"/>
              <a:tailEnd type="none" w="med" len="med"/>
            </a:ln>
            <a:effectLst/>
          </p:spPr>
          <p:txBody>
            <a:bodyPr/>
            <a:lstStyle/>
            <a:p>
              <a:endParaRPr lang="fr-FR"/>
            </a:p>
          </p:txBody>
        </p:sp>
        <p:sp>
          <p:nvSpPr>
            <p:cNvPr id="62480" name="Freeform 16"/>
            <p:cNvSpPr>
              <a:spLocks/>
            </p:cNvSpPr>
            <p:nvPr/>
          </p:nvSpPr>
          <p:spPr bwMode="auto">
            <a:xfrm>
              <a:off x="3493" y="3295"/>
              <a:ext cx="159" cy="50"/>
            </a:xfrm>
            <a:custGeom>
              <a:avLst/>
              <a:gdLst/>
              <a:ahLst/>
              <a:cxnLst>
                <a:cxn ang="0">
                  <a:pos x="0" y="0"/>
                </a:cxn>
                <a:cxn ang="0">
                  <a:pos x="199" y="0"/>
                </a:cxn>
                <a:cxn ang="0">
                  <a:pos x="199" y="62"/>
                </a:cxn>
                <a:cxn ang="0">
                  <a:pos x="0" y="62"/>
                </a:cxn>
                <a:cxn ang="0">
                  <a:pos x="0" y="0"/>
                </a:cxn>
              </a:cxnLst>
              <a:rect l="0" t="0" r="r" b="b"/>
              <a:pathLst>
                <a:path w="200" h="63">
                  <a:moveTo>
                    <a:pt x="0" y="0"/>
                  </a:moveTo>
                  <a:lnTo>
                    <a:pt x="199" y="0"/>
                  </a:lnTo>
                  <a:lnTo>
                    <a:pt x="199" y="62"/>
                  </a:lnTo>
                  <a:lnTo>
                    <a:pt x="0" y="62"/>
                  </a:lnTo>
                  <a:lnTo>
                    <a:pt x="0" y="0"/>
                  </a:lnTo>
                </a:path>
              </a:pathLst>
            </a:custGeom>
            <a:gradFill rotWithShape="0">
              <a:gsLst>
                <a:gs pos="0">
                  <a:srgbClr val="CECECE">
                    <a:gamma/>
                    <a:shade val="46275"/>
                    <a:invGamma/>
                  </a:srgbClr>
                </a:gs>
                <a:gs pos="100000">
                  <a:srgbClr val="CECECE"/>
                </a:gs>
              </a:gsLst>
              <a:lin ang="18900000" scaled="1"/>
            </a:gradFill>
            <a:ln w="6350" cap="rnd" cmpd="sng">
              <a:solidFill>
                <a:srgbClr val="000000"/>
              </a:solidFill>
              <a:prstDash val="solid"/>
              <a:round/>
              <a:headEnd type="none" w="med" len="med"/>
              <a:tailEnd type="none" w="med" len="med"/>
            </a:ln>
            <a:effectLst/>
          </p:spPr>
          <p:txBody>
            <a:bodyPr/>
            <a:lstStyle/>
            <a:p>
              <a:endParaRPr lang="fr-FR"/>
            </a:p>
          </p:txBody>
        </p:sp>
        <p:sp>
          <p:nvSpPr>
            <p:cNvPr id="62481" name="Freeform 17"/>
            <p:cNvSpPr>
              <a:spLocks/>
            </p:cNvSpPr>
            <p:nvPr/>
          </p:nvSpPr>
          <p:spPr bwMode="auto">
            <a:xfrm>
              <a:off x="3688" y="3295"/>
              <a:ext cx="159" cy="50"/>
            </a:xfrm>
            <a:custGeom>
              <a:avLst/>
              <a:gdLst/>
              <a:ahLst/>
              <a:cxnLst>
                <a:cxn ang="0">
                  <a:pos x="0" y="0"/>
                </a:cxn>
                <a:cxn ang="0">
                  <a:pos x="199" y="0"/>
                </a:cxn>
                <a:cxn ang="0">
                  <a:pos x="199" y="62"/>
                </a:cxn>
                <a:cxn ang="0">
                  <a:pos x="0" y="62"/>
                </a:cxn>
                <a:cxn ang="0">
                  <a:pos x="0" y="0"/>
                </a:cxn>
              </a:cxnLst>
              <a:rect l="0" t="0" r="r" b="b"/>
              <a:pathLst>
                <a:path w="200" h="63">
                  <a:moveTo>
                    <a:pt x="0" y="0"/>
                  </a:moveTo>
                  <a:lnTo>
                    <a:pt x="199" y="0"/>
                  </a:lnTo>
                  <a:lnTo>
                    <a:pt x="199" y="62"/>
                  </a:lnTo>
                  <a:lnTo>
                    <a:pt x="0" y="62"/>
                  </a:lnTo>
                  <a:lnTo>
                    <a:pt x="0" y="0"/>
                  </a:lnTo>
                </a:path>
              </a:pathLst>
            </a:custGeom>
            <a:gradFill rotWithShape="0">
              <a:gsLst>
                <a:gs pos="0">
                  <a:srgbClr val="CECECE">
                    <a:gamma/>
                    <a:shade val="46275"/>
                    <a:invGamma/>
                  </a:srgbClr>
                </a:gs>
                <a:gs pos="100000">
                  <a:srgbClr val="CECECE"/>
                </a:gs>
              </a:gsLst>
              <a:lin ang="18900000" scaled="1"/>
            </a:gradFill>
            <a:ln w="6350" cap="rnd" cmpd="sng">
              <a:solidFill>
                <a:srgbClr val="000000"/>
              </a:solidFill>
              <a:prstDash val="solid"/>
              <a:round/>
              <a:headEnd type="none" w="med" len="med"/>
              <a:tailEnd type="none" w="med" len="med"/>
            </a:ln>
            <a:effectLst/>
          </p:spPr>
          <p:txBody>
            <a:bodyPr/>
            <a:lstStyle/>
            <a:p>
              <a:endParaRPr lang="fr-FR"/>
            </a:p>
          </p:txBody>
        </p:sp>
        <p:grpSp>
          <p:nvGrpSpPr>
            <p:cNvPr id="62482" name="Group 18"/>
            <p:cNvGrpSpPr>
              <a:grpSpLocks/>
            </p:cNvGrpSpPr>
            <p:nvPr/>
          </p:nvGrpSpPr>
          <p:grpSpPr bwMode="auto">
            <a:xfrm>
              <a:off x="4006" y="3198"/>
              <a:ext cx="26" cy="130"/>
              <a:chOff x="4999" y="2951"/>
              <a:chExt cx="33" cy="163"/>
            </a:xfrm>
          </p:grpSpPr>
          <p:sp>
            <p:nvSpPr>
              <p:cNvPr id="62483" name="Rectangle 19"/>
              <p:cNvSpPr>
                <a:spLocks noChangeArrowheads="1"/>
              </p:cNvSpPr>
              <p:nvPr/>
            </p:nvSpPr>
            <p:spPr bwMode="auto">
              <a:xfrm>
                <a:off x="4999" y="2983"/>
                <a:ext cx="33" cy="99"/>
              </a:xfrm>
              <a:prstGeom prst="rect">
                <a:avLst/>
              </a:prstGeom>
              <a:solidFill>
                <a:srgbClr val="FFCC00"/>
              </a:solidFill>
              <a:ln w="6350">
                <a:solidFill>
                  <a:schemeClr val="tx1"/>
                </a:solidFill>
                <a:miter lim="800000"/>
                <a:headEnd/>
                <a:tailEnd/>
              </a:ln>
              <a:effectLst/>
            </p:spPr>
            <p:txBody>
              <a:bodyPr wrap="none" anchor="ctr"/>
              <a:lstStyle/>
              <a:p>
                <a:endParaRPr lang="fr-FR"/>
              </a:p>
            </p:txBody>
          </p:sp>
          <p:sp>
            <p:nvSpPr>
              <p:cNvPr id="62484" name="Line 20"/>
              <p:cNvSpPr>
                <a:spLocks noChangeShapeType="1"/>
              </p:cNvSpPr>
              <p:nvPr/>
            </p:nvSpPr>
            <p:spPr bwMode="auto">
              <a:xfrm flipV="1">
                <a:off x="5014" y="2951"/>
                <a:ext cx="0" cy="32"/>
              </a:xfrm>
              <a:prstGeom prst="line">
                <a:avLst/>
              </a:prstGeom>
              <a:noFill/>
              <a:ln w="6350">
                <a:solidFill>
                  <a:schemeClr val="tx1"/>
                </a:solidFill>
                <a:round/>
                <a:headEnd/>
                <a:tailEnd/>
              </a:ln>
              <a:effectLst/>
            </p:spPr>
            <p:txBody>
              <a:bodyPr wrap="none" anchor="ctr"/>
              <a:lstStyle/>
              <a:p>
                <a:endParaRPr lang="fr-FR"/>
              </a:p>
            </p:txBody>
          </p:sp>
          <p:sp>
            <p:nvSpPr>
              <p:cNvPr id="62485" name="Line 21"/>
              <p:cNvSpPr>
                <a:spLocks noChangeShapeType="1"/>
              </p:cNvSpPr>
              <p:nvPr/>
            </p:nvSpPr>
            <p:spPr bwMode="auto">
              <a:xfrm flipV="1">
                <a:off x="5014" y="3082"/>
                <a:ext cx="0" cy="32"/>
              </a:xfrm>
              <a:prstGeom prst="line">
                <a:avLst/>
              </a:prstGeom>
              <a:noFill/>
              <a:ln w="6350">
                <a:solidFill>
                  <a:schemeClr val="tx1"/>
                </a:solidFill>
                <a:round/>
                <a:headEnd/>
                <a:tailEnd/>
              </a:ln>
              <a:effectLst/>
            </p:spPr>
            <p:txBody>
              <a:bodyPr wrap="none" anchor="ctr"/>
              <a:lstStyle/>
              <a:p>
                <a:endParaRPr lang="fr-FR"/>
              </a:p>
            </p:txBody>
          </p:sp>
        </p:grpSp>
        <p:grpSp>
          <p:nvGrpSpPr>
            <p:cNvPr id="62486" name="Group 22"/>
            <p:cNvGrpSpPr>
              <a:grpSpLocks/>
            </p:cNvGrpSpPr>
            <p:nvPr/>
          </p:nvGrpSpPr>
          <p:grpSpPr bwMode="auto">
            <a:xfrm>
              <a:off x="4066" y="3198"/>
              <a:ext cx="26" cy="130"/>
              <a:chOff x="5075" y="2951"/>
              <a:chExt cx="33" cy="163"/>
            </a:xfrm>
          </p:grpSpPr>
          <p:sp>
            <p:nvSpPr>
              <p:cNvPr id="62487" name="Rectangle 23"/>
              <p:cNvSpPr>
                <a:spLocks noChangeArrowheads="1"/>
              </p:cNvSpPr>
              <p:nvPr/>
            </p:nvSpPr>
            <p:spPr bwMode="auto">
              <a:xfrm>
                <a:off x="5075" y="2983"/>
                <a:ext cx="33" cy="99"/>
              </a:xfrm>
              <a:prstGeom prst="rect">
                <a:avLst/>
              </a:prstGeom>
              <a:solidFill>
                <a:srgbClr val="FFCC00"/>
              </a:solidFill>
              <a:ln w="6350">
                <a:solidFill>
                  <a:schemeClr val="tx1"/>
                </a:solidFill>
                <a:miter lim="800000"/>
                <a:headEnd/>
                <a:tailEnd/>
              </a:ln>
              <a:effectLst/>
            </p:spPr>
            <p:txBody>
              <a:bodyPr wrap="none" anchor="ctr"/>
              <a:lstStyle/>
              <a:p>
                <a:endParaRPr lang="fr-FR"/>
              </a:p>
            </p:txBody>
          </p:sp>
          <p:sp>
            <p:nvSpPr>
              <p:cNvPr id="62488" name="Line 24"/>
              <p:cNvSpPr>
                <a:spLocks noChangeShapeType="1"/>
              </p:cNvSpPr>
              <p:nvPr/>
            </p:nvSpPr>
            <p:spPr bwMode="auto">
              <a:xfrm flipV="1">
                <a:off x="5092" y="2951"/>
                <a:ext cx="0" cy="32"/>
              </a:xfrm>
              <a:prstGeom prst="line">
                <a:avLst/>
              </a:prstGeom>
              <a:noFill/>
              <a:ln w="6350">
                <a:solidFill>
                  <a:schemeClr val="tx1"/>
                </a:solidFill>
                <a:round/>
                <a:headEnd/>
                <a:tailEnd/>
              </a:ln>
              <a:effectLst/>
            </p:spPr>
            <p:txBody>
              <a:bodyPr wrap="none" anchor="ctr"/>
              <a:lstStyle/>
              <a:p>
                <a:endParaRPr lang="fr-FR"/>
              </a:p>
            </p:txBody>
          </p:sp>
          <p:sp>
            <p:nvSpPr>
              <p:cNvPr id="62489" name="Line 25"/>
              <p:cNvSpPr>
                <a:spLocks noChangeShapeType="1"/>
              </p:cNvSpPr>
              <p:nvPr/>
            </p:nvSpPr>
            <p:spPr bwMode="auto">
              <a:xfrm flipV="1">
                <a:off x="5092" y="3082"/>
                <a:ext cx="0" cy="32"/>
              </a:xfrm>
              <a:prstGeom prst="line">
                <a:avLst/>
              </a:prstGeom>
              <a:noFill/>
              <a:ln w="6350">
                <a:solidFill>
                  <a:schemeClr val="tx1"/>
                </a:solidFill>
                <a:round/>
                <a:headEnd/>
                <a:tailEnd/>
              </a:ln>
              <a:effectLst/>
            </p:spPr>
            <p:txBody>
              <a:bodyPr wrap="none" anchor="ctr"/>
              <a:lstStyle/>
              <a:p>
                <a:endParaRPr lang="fr-FR"/>
              </a:p>
            </p:txBody>
          </p:sp>
        </p:grpSp>
        <p:grpSp>
          <p:nvGrpSpPr>
            <p:cNvPr id="62490" name="Group 26"/>
            <p:cNvGrpSpPr>
              <a:grpSpLocks/>
            </p:cNvGrpSpPr>
            <p:nvPr/>
          </p:nvGrpSpPr>
          <p:grpSpPr bwMode="auto">
            <a:xfrm>
              <a:off x="4129" y="3198"/>
              <a:ext cx="26" cy="130"/>
              <a:chOff x="5154" y="2951"/>
              <a:chExt cx="33" cy="163"/>
            </a:xfrm>
          </p:grpSpPr>
          <p:sp>
            <p:nvSpPr>
              <p:cNvPr id="62491" name="Rectangle 27"/>
              <p:cNvSpPr>
                <a:spLocks noChangeArrowheads="1"/>
              </p:cNvSpPr>
              <p:nvPr/>
            </p:nvSpPr>
            <p:spPr bwMode="auto">
              <a:xfrm>
                <a:off x="5154" y="2983"/>
                <a:ext cx="33" cy="99"/>
              </a:xfrm>
              <a:prstGeom prst="rect">
                <a:avLst/>
              </a:prstGeom>
              <a:solidFill>
                <a:srgbClr val="FFCC00"/>
              </a:solidFill>
              <a:ln w="6350">
                <a:solidFill>
                  <a:schemeClr val="tx1"/>
                </a:solidFill>
                <a:miter lim="800000"/>
                <a:headEnd/>
                <a:tailEnd/>
              </a:ln>
              <a:effectLst/>
            </p:spPr>
            <p:txBody>
              <a:bodyPr wrap="none" anchor="ctr"/>
              <a:lstStyle/>
              <a:p>
                <a:endParaRPr lang="fr-FR"/>
              </a:p>
            </p:txBody>
          </p:sp>
          <p:sp>
            <p:nvSpPr>
              <p:cNvPr id="62492" name="Line 28"/>
              <p:cNvSpPr>
                <a:spLocks noChangeShapeType="1"/>
              </p:cNvSpPr>
              <p:nvPr/>
            </p:nvSpPr>
            <p:spPr bwMode="auto">
              <a:xfrm flipV="1">
                <a:off x="5170" y="2951"/>
                <a:ext cx="0" cy="32"/>
              </a:xfrm>
              <a:prstGeom prst="line">
                <a:avLst/>
              </a:prstGeom>
              <a:noFill/>
              <a:ln w="6350">
                <a:solidFill>
                  <a:schemeClr val="tx1"/>
                </a:solidFill>
                <a:round/>
                <a:headEnd/>
                <a:tailEnd/>
              </a:ln>
              <a:effectLst/>
            </p:spPr>
            <p:txBody>
              <a:bodyPr wrap="none" anchor="ctr"/>
              <a:lstStyle/>
              <a:p>
                <a:endParaRPr lang="fr-FR"/>
              </a:p>
            </p:txBody>
          </p:sp>
          <p:sp>
            <p:nvSpPr>
              <p:cNvPr id="62493" name="Line 29"/>
              <p:cNvSpPr>
                <a:spLocks noChangeShapeType="1"/>
              </p:cNvSpPr>
              <p:nvPr/>
            </p:nvSpPr>
            <p:spPr bwMode="auto">
              <a:xfrm flipV="1">
                <a:off x="5170" y="3082"/>
                <a:ext cx="0" cy="32"/>
              </a:xfrm>
              <a:prstGeom prst="line">
                <a:avLst/>
              </a:prstGeom>
              <a:noFill/>
              <a:ln w="6350">
                <a:solidFill>
                  <a:schemeClr val="tx1"/>
                </a:solidFill>
                <a:round/>
                <a:headEnd/>
                <a:tailEnd/>
              </a:ln>
              <a:effectLst/>
            </p:spPr>
            <p:txBody>
              <a:bodyPr wrap="none" anchor="ctr"/>
              <a:lstStyle/>
              <a:p>
                <a:endParaRPr lang="fr-FR"/>
              </a:p>
            </p:txBody>
          </p:sp>
        </p:grpSp>
        <p:grpSp>
          <p:nvGrpSpPr>
            <p:cNvPr id="62494" name="Group 30"/>
            <p:cNvGrpSpPr>
              <a:grpSpLocks/>
            </p:cNvGrpSpPr>
            <p:nvPr/>
          </p:nvGrpSpPr>
          <p:grpSpPr bwMode="auto">
            <a:xfrm>
              <a:off x="4190" y="3198"/>
              <a:ext cx="26" cy="130"/>
              <a:chOff x="5231" y="2951"/>
              <a:chExt cx="33" cy="163"/>
            </a:xfrm>
          </p:grpSpPr>
          <p:sp>
            <p:nvSpPr>
              <p:cNvPr id="62495" name="Rectangle 31"/>
              <p:cNvSpPr>
                <a:spLocks noChangeArrowheads="1"/>
              </p:cNvSpPr>
              <p:nvPr/>
            </p:nvSpPr>
            <p:spPr bwMode="auto">
              <a:xfrm>
                <a:off x="5231" y="2983"/>
                <a:ext cx="33" cy="99"/>
              </a:xfrm>
              <a:prstGeom prst="rect">
                <a:avLst/>
              </a:prstGeom>
              <a:solidFill>
                <a:srgbClr val="FFCC00"/>
              </a:solidFill>
              <a:ln w="6350">
                <a:solidFill>
                  <a:schemeClr val="tx1"/>
                </a:solidFill>
                <a:miter lim="800000"/>
                <a:headEnd/>
                <a:tailEnd/>
              </a:ln>
              <a:effectLst/>
            </p:spPr>
            <p:txBody>
              <a:bodyPr wrap="none" anchor="ctr"/>
              <a:lstStyle/>
              <a:p>
                <a:endParaRPr lang="fr-FR"/>
              </a:p>
            </p:txBody>
          </p:sp>
          <p:sp>
            <p:nvSpPr>
              <p:cNvPr id="62496" name="Line 32"/>
              <p:cNvSpPr>
                <a:spLocks noChangeShapeType="1"/>
              </p:cNvSpPr>
              <p:nvPr/>
            </p:nvSpPr>
            <p:spPr bwMode="auto">
              <a:xfrm flipV="1">
                <a:off x="5246" y="2951"/>
                <a:ext cx="0" cy="32"/>
              </a:xfrm>
              <a:prstGeom prst="line">
                <a:avLst/>
              </a:prstGeom>
              <a:noFill/>
              <a:ln w="6350">
                <a:solidFill>
                  <a:schemeClr val="tx1"/>
                </a:solidFill>
                <a:round/>
                <a:headEnd/>
                <a:tailEnd/>
              </a:ln>
              <a:effectLst/>
            </p:spPr>
            <p:txBody>
              <a:bodyPr wrap="none" anchor="ctr"/>
              <a:lstStyle/>
              <a:p>
                <a:endParaRPr lang="fr-FR"/>
              </a:p>
            </p:txBody>
          </p:sp>
          <p:sp>
            <p:nvSpPr>
              <p:cNvPr id="62497" name="Line 33"/>
              <p:cNvSpPr>
                <a:spLocks noChangeShapeType="1"/>
              </p:cNvSpPr>
              <p:nvPr/>
            </p:nvSpPr>
            <p:spPr bwMode="auto">
              <a:xfrm flipV="1">
                <a:off x="5246" y="3082"/>
                <a:ext cx="0" cy="32"/>
              </a:xfrm>
              <a:prstGeom prst="line">
                <a:avLst/>
              </a:prstGeom>
              <a:noFill/>
              <a:ln w="6350">
                <a:solidFill>
                  <a:schemeClr val="tx1"/>
                </a:solidFill>
                <a:round/>
                <a:headEnd/>
                <a:tailEnd/>
              </a:ln>
              <a:effectLst/>
            </p:spPr>
            <p:txBody>
              <a:bodyPr wrap="none" anchor="ctr"/>
              <a:lstStyle/>
              <a:p>
                <a:endParaRPr lang="fr-FR"/>
              </a:p>
            </p:txBody>
          </p:sp>
        </p:grpSp>
        <p:grpSp>
          <p:nvGrpSpPr>
            <p:cNvPr id="62498" name="Group 34"/>
            <p:cNvGrpSpPr>
              <a:grpSpLocks/>
            </p:cNvGrpSpPr>
            <p:nvPr/>
          </p:nvGrpSpPr>
          <p:grpSpPr bwMode="auto">
            <a:xfrm>
              <a:off x="3558" y="3414"/>
              <a:ext cx="26" cy="129"/>
              <a:chOff x="4999" y="2951"/>
              <a:chExt cx="33" cy="163"/>
            </a:xfrm>
          </p:grpSpPr>
          <p:sp>
            <p:nvSpPr>
              <p:cNvPr id="62499" name="Rectangle 35"/>
              <p:cNvSpPr>
                <a:spLocks noChangeArrowheads="1"/>
              </p:cNvSpPr>
              <p:nvPr/>
            </p:nvSpPr>
            <p:spPr bwMode="auto">
              <a:xfrm>
                <a:off x="4999" y="2983"/>
                <a:ext cx="33" cy="99"/>
              </a:xfrm>
              <a:prstGeom prst="rect">
                <a:avLst/>
              </a:prstGeom>
              <a:solidFill>
                <a:srgbClr val="FFCC00"/>
              </a:solidFill>
              <a:ln w="6350">
                <a:solidFill>
                  <a:schemeClr val="tx1"/>
                </a:solidFill>
                <a:miter lim="800000"/>
                <a:headEnd/>
                <a:tailEnd/>
              </a:ln>
              <a:effectLst/>
            </p:spPr>
            <p:txBody>
              <a:bodyPr wrap="none" anchor="ctr"/>
              <a:lstStyle/>
              <a:p>
                <a:endParaRPr lang="fr-FR"/>
              </a:p>
            </p:txBody>
          </p:sp>
          <p:sp>
            <p:nvSpPr>
              <p:cNvPr id="62500" name="Line 36"/>
              <p:cNvSpPr>
                <a:spLocks noChangeShapeType="1"/>
              </p:cNvSpPr>
              <p:nvPr/>
            </p:nvSpPr>
            <p:spPr bwMode="auto">
              <a:xfrm flipV="1">
                <a:off x="5014" y="2951"/>
                <a:ext cx="0" cy="32"/>
              </a:xfrm>
              <a:prstGeom prst="line">
                <a:avLst/>
              </a:prstGeom>
              <a:noFill/>
              <a:ln w="6350">
                <a:solidFill>
                  <a:schemeClr val="tx1"/>
                </a:solidFill>
                <a:round/>
                <a:headEnd/>
                <a:tailEnd/>
              </a:ln>
              <a:effectLst/>
            </p:spPr>
            <p:txBody>
              <a:bodyPr wrap="none" anchor="ctr"/>
              <a:lstStyle/>
              <a:p>
                <a:endParaRPr lang="fr-FR"/>
              </a:p>
            </p:txBody>
          </p:sp>
          <p:sp>
            <p:nvSpPr>
              <p:cNvPr id="62501" name="Line 37"/>
              <p:cNvSpPr>
                <a:spLocks noChangeShapeType="1"/>
              </p:cNvSpPr>
              <p:nvPr/>
            </p:nvSpPr>
            <p:spPr bwMode="auto">
              <a:xfrm flipV="1">
                <a:off x="5014" y="3082"/>
                <a:ext cx="0" cy="32"/>
              </a:xfrm>
              <a:prstGeom prst="line">
                <a:avLst/>
              </a:prstGeom>
              <a:noFill/>
              <a:ln w="6350">
                <a:solidFill>
                  <a:schemeClr val="tx1"/>
                </a:solidFill>
                <a:round/>
                <a:headEnd/>
                <a:tailEnd/>
              </a:ln>
              <a:effectLst/>
            </p:spPr>
            <p:txBody>
              <a:bodyPr wrap="none" anchor="ctr"/>
              <a:lstStyle/>
              <a:p>
                <a:endParaRPr lang="fr-FR"/>
              </a:p>
            </p:txBody>
          </p:sp>
        </p:grpSp>
        <p:grpSp>
          <p:nvGrpSpPr>
            <p:cNvPr id="62502" name="Group 38"/>
            <p:cNvGrpSpPr>
              <a:grpSpLocks/>
            </p:cNvGrpSpPr>
            <p:nvPr/>
          </p:nvGrpSpPr>
          <p:grpSpPr bwMode="auto">
            <a:xfrm>
              <a:off x="3618" y="3414"/>
              <a:ext cx="27" cy="129"/>
              <a:chOff x="5075" y="2951"/>
              <a:chExt cx="33" cy="163"/>
            </a:xfrm>
          </p:grpSpPr>
          <p:sp>
            <p:nvSpPr>
              <p:cNvPr id="62503" name="Rectangle 39"/>
              <p:cNvSpPr>
                <a:spLocks noChangeArrowheads="1"/>
              </p:cNvSpPr>
              <p:nvPr/>
            </p:nvSpPr>
            <p:spPr bwMode="auto">
              <a:xfrm>
                <a:off x="5075" y="2983"/>
                <a:ext cx="33" cy="99"/>
              </a:xfrm>
              <a:prstGeom prst="rect">
                <a:avLst/>
              </a:prstGeom>
              <a:solidFill>
                <a:srgbClr val="FFCC00"/>
              </a:solidFill>
              <a:ln w="6350">
                <a:solidFill>
                  <a:schemeClr val="tx1"/>
                </a:solidFill>
                <a:miter lim="800000"/>
                <a:headEnd/>
                <a:tailEnd/>
              </a:ln>
              <a:effectLst/>
            </p:spPr>
            <p:txBody>
              <a:bodyPr wrap="none" anchor="ctr"/>
              <a:lstStyle/>
              <a:p>
                <a:endParaRPr lang="fr-FR"/>
              </a:p>
            </p:txBody>
          </p:sp>
          <p:sp>
            <p:nvSpPr>
              <p:cNvPr id="62504" name="Line 40"/>
              <p:cNvSpPr>
                <a:spLocks noChangeShapeType="1"/>
              </p:cNvSpPr>
              <p:nvPr/>
            </p:nvSpPr>
            <p:spPr bwMode="auto">
              <a:xfrm flipV="1">
                <a:off x="5092" y="2951"/>
                <a:ext cx="0" cy="32"/>
              </a:xfrm>
              <a:prstGeom prst="line">
                <a:avLst/>
              </a:prstGeom>
              <a:noFill/>
              <a:ln w="6350">
                <a:solidFill>
                  <a:schemeClr val="tx1"/>
                </a:solidFill>
                <a:round/>
                <a:headEnd/>
                <a:tailEnd/>
              </a:ln>
              <a:effectLst/>
            </p:spPr>
            <p:txBody>
              <a:bodyPr wrap="none" anchor="ctr"/>
              <a:lstStyle/>
              <a:p>
                <a:endParaRPr lang="fr-FR"/>
              </a:p>
            </p:txBody>
          </p:sp>
          <p:sp>
            <p:nvSpPr>
              <p:cNvPr id="62505" name="Line 41"/>
              <p:cNvSpPr>
                <a:spLocks noChangeShapeType="1"/>
              </p:cNvSpPr>
              <p:nvPr/>
            </p:nvSpPr>
            <p:spPr bwMode="auto">
              <a:xfrm flipV="1">
                <a:off x="5092" y="3082"/>
                <a:ext cx="0" cy="32"/>
              </a:xfrm>
              <a:prstGeom prst="line">
                <a:avLst/>
              </a:prstGeom>
              <a:noFill/>
              <a:ln w="6350">
                <a:solidFill>
                  <a:schemeClr val="tx1"/>
                </a:solidFill>
                <a:round/>
                <a:headEnd/>
                <a:tailEnd/>
              </a:ln>
              <a:effectLst/>
            </p:spPr>
            <p:txBody>
              <a:bodyPr wrap="none" anchor="ctr"/>
              <a:lstStyle/>
              <a:p>
                <a:endParaRPr lang="fr-FR"/>
              </a:p>
            </p:txBody>
          </p:sp>
        </p:grpSp>
        <p:grpSp>
          <p:nvGrpSpPr>
            <p:cNvPr id="62506" name="Group 42"/>
            <p:cNvGrpSpPr>
              <a:grpSpLocks/>
            </p:cNvGrpSpPr>
            <p:nvPr/>
          </p:nvGrpSpPr>
          <p:grpSpPr bwMode="auto">
            <a:xfrm>
              <a:off x="3681" y="3414"/>
              <a:ext cx="26" cy="129"/>
              <a:chOff x="5154" y="2951"/>
              <a:chExt cx="33" cy="163"/>
            </a:xfrm>
          </p:grpSpPr>
          <p:sp>
            <p:nvSpPr>
              <p:cNvPr id="62507" name="Rectangle 43"/>
              <p:cNvSpPr>
                <a:spLocks noChangeArrowheads="1"/>
              </p:cNvSpPr>
              <p:nvPr/>
            </p:nvSpPr>
            <p:spPr bwMode="auto">
              <a:xfrm>
                <a:off x="5154" y="2983"/>
                <a:ext cx="33" cy="99"/>
              </a:xfrm>
              <a:prstGeom prst="rect">
                <a:avLst/>
              </a:prstGeom>
              <a:solidFill>
                <a:srgbClr val="FFCC00"/>
              </a:solidFill>
              <a:ln w="6350">
                <a:solidFill>
                  <a:schemeClr val="tx1"/>
                </a:solidFill>
                <a:miter lim="800000"/>
                <a:headEnd/>
                <a:tailEnd/>
              </a:ln>
              <a:effectLst/>
            </p:spPr>
            <p:txBody>
              <a:bodyPr wrap="none" anchor="ctr"/>
              <a:lstStyle/>
              <a:p>
                <a:endParaRPr lang="fr-FR"/>
              </a:p>
            </p:txBody>
          </p:sp>
          <p:sp>
            <p:nvSpPr>
              <p:cNvPr id="62508" name="Line 44"/>
              <p:cNvSpPr>
                <a:spLocks noChangeShapeType="1"/>
              </p:cNvSpPr>
              <p:nvPr/>
            </p:nvSpPr>
            <p:spPr bwMode="auto">
              <a:xfrm flipV="1">
                <a:off x="5170" y="2951"/>
                <a:ext cx="0" cy="32"/>
              </a:xfrm>
              <a:prstGeom prst="line">
                <a:avLst/>
              </a:prstGeom>
              <a:noFill/>
              <a:ln w="6350">
                <a:solidFill>
                  <a:schemeClr val="tx1"/>
                </a:solidFill>
                <a:round/>
                <a:headEnd/>
                <a:tailEnd/>
              </a:ln>
              <a:effectLst/>
            </p:spPr>
            <p:txBody>
              <a:bodyPr wrap="none" anchor="ctr"/>
              <a:lstStyle/>
              <a:p>
                <a:endParaRPr lang="fr-FR"/>
              </a:p>
            </p:txBody>
          </p:sp>
          <p:sp>
            <p:nvSpPr>
              <p:cNvPr id="62509" name="Line 45"/>
              <p:cNvSpPr>
                <a:spLocks noChangeShapeType="1"/>
              </p:cNvSpPr>
              <p:nvPr/>
            </p:nvSpPr>
            <p:spPr bwMode="auto">
              <a:xfrm flipV="1">
                <a:off x="5170" y="3082"/>
                <a:ext cx="0" cy="32"/>
              </a:xfrm>
              <a:prstGeom prst="line">
                <a:avLst/>
              </a:prstGeom>
              <a:noFill/>
              <a:ln w="6350">
                <a:solidFill>
                  <a:schemeClr val="tx1"/>
                </a:solidFill>
                <a:round/>
                <a:headEnd/>
                <a:tailEnd/>
              </a:ln>
              <a:effectLst/>
            </p:spPr>
            <p:txBody>
              <a:bodyPr wrap="none" anchor="ctr"/>
              <a:lstStyle/>
              <a:p>
                <a:endParaRPr lang="fr-FR"/>
              </a:p>
            </p:txBody>
          </p:sp>
        </p:grpSp>
        <p:grpSp>
          <p:nvGrpSpPr>
            <p:cNvPr id="62510" name="Group 46"/>
            <p:cNvGrpSpPr>
              <a:grpSpLocks/>
            </p:cNvGrpSpPr>
            <p:nvPr/>
          </p:nvGrpSpPr>
          <p:grpSpPr bwMode="auto">
            <a:xfrm>
              <a:off x="3742" y="3414"/>
              <a:ext cx="26" cy="129"/>
              <a:chOff x="5231" y="2951"/>
              <a:chExt cx="33" cy="163"/>
            </a:xfrm>
          </p:grpSpPr>
          <p:sp>
            <p:nvSpPr>
              <p:cNvPr id="62511" name="Rectangle 47"/>
              <p:cNvSpPr>
                <a:spLocks noChangeArrowheads="1"/>
              </p:cNvSpPr>
              <p:nvPr/>
            </p:nvSpPr>
            <p:spPr bwMode="auto">
              <a:xfrm>
                <a:off x="5231" y="2983"/>
                <a:ext cx="33" cy="99"/>
              </a:xfrm>
              <a:prstGeom prst="rect">
                <a:avLst/>
              </a:prstGeom>
              <a:solidFill>
                <a:srgbClr val="FFCC00"/>
              </a:solidFill>
              <a:ln w="6350">
                <a:solidFill>
                  <a:schemeClr val="tx1"/>
                </a:solidFill>
                <a:miter lim="800000"/>
                <a:headEnd/>
                <a:tailEnd/>
              </a:ln>
              <a:effectLst/>
            </p:spPr>
            <p:txBody>
              <a:bodyPr wrap="none" anchor="ctr"/>
              <a:lstStyle/>
              <a:p>
                <a:endParaRPr lang="fr-FR"/>
              </a:p>
            </p:txBody>
          </p:sp>
          <p:sp>
            <p:nvSpPr>
              <p:cNvPr id="62512" name="Line 48"/>
              <p:cNvSpPr>
                <a:spLocks noChangeShapeType="1"/>
              </p:cNvSpPr>
              <p:nvPr/>
            </p:nvSpPr>
            <p:spPr bwMode="auto">
              <a:xfrm flipV="1">
                <a:off x="5246" y="2951"/>
                <a:ext cx="0" cy="32"/>
              </a:xfrm>
              <a:prstGeom prst="line">
                <a:avLst/>
              </a:prstGeom>
              <a:noFill/>
              <a:ln w="6350">
                <a:solidFill>
                  <a:schemeClr val="tx1"/>
                </a:solidFill>
                <a:round/>
                <a:headEnd/>
                <a:tailEnd/>
              </a:ln>
              <a:effectLst/>
            </p:spPr>
            <p:txBody>
              <a:bodyPr wrap="none" anchor="ctr"/>
              <a:lstStyle/>
              <a:p>
                <a:endParaRPr lang="fr-FR"/>
              </a:p>
            </p:txBody>
          </p:sp>
          <p:sp>
            <p:nvSpPr>
              <p:cNvPr id="62513" name="Line 49"/>
              <p:cNvSpPr>
                <a:spLocks noChangeShapeType="1"/>
              </p:cNvSpPr>
              <p:nvPr/>
            </p:nvSpPr>
            <p:spPr bwMode="auto">
              <a:xfrm flipV="1">
                <a:off x="5246" y="3082"/>
                <a:ext cx="0" cy="32"/>
              </a:xfrm>
              <a:prstGeom prst="line">
                <a:avLst/>
              </a:prstGeom>
              <a:noFill/>
              <a:ln w="6350">
                <a:solidFill>
                  <a:schemeClr val="tx1"/>
                </a:solidFill>
                <a:round/>
                <a:headEnd/>
                <a:tailEnd/>
              </a:ln>
              <a:effectLst/>
            </p:spPr>
            <p:txBody>
              <a:bodyPr wrap="none" anchor="ctr"/>
              <a:lstStyle/>
              <a:p>
                <a:endParaRPr lang="fr-FR"/>
              </a:p>
            </p:txBody>
          </p:sp>
        </p:grpSp>
        <p:sp>
          <p:nvSpPr>
            <p:cNvPr id="62514" name="Line 50"/>
            <p:cNvSpPr>
              <a:spLocks noChangeShapeType="1"/>
            </p:cNvSpPr>
            <p:nvPr/>
          </p:nvSpPr>
          <p:spPr bwMode="auto">
            <a:xfrm>
              <a:off x="3551" y="3612"/>
              <a:ext cx="0" cy="60"/>
            </a:xfrm>
            <a:prstGeom prst="line">
              <a:avLst/>
            </a:prstGeom>
            <a:noFill/>
            <a:ln w="9525">
              <a:solidFill>
                <a:schemeClr val="tx1"/>
              </a:solidFill>
              <a:round/>
              <a:headEnd/>
              <a:tailEnd/>
            </a:ln>
            <a:effectLst/>
          </p:spPr>
          <p:txBody>
            <a:bodyPr wrap="none" anchor="ctr"/>
            <a:lstStyle/>
            <a:p>
              <a:endParaRPr lang="fr-FR"/>
            </a:p>
          </p:txBody>
        </p:sp>
        <p:sp>
          <p:nvSpPr>
            <p:cNvPr id="62515" name="Line 51"/>
            <p:cNvSpPr>
              <a:spLocks noChangeShapeType="1"/>
            </p:cNvSpPr>
            <p:nvPr/>
          </p:nvSpPr>
          <p:spPr bwMode="auto">
            <a:xfrm>
              <a:off x="3605" y="3612"/>
              <a:ext cx="0" cy="60"/>
            </a:xfrm>
            <a:prstGeom prst="line">
              <a:avLst/>
            </a:prstGeom>
            <a:noFill/>
            <a:ln w="9525">
              <a:solidFill>
                <a:schemeClr val="tx1"/>
              </a:solidFill>
              <a:round/>
              <a:headEnd/>
              <a:tailEnd/>
            </a:ln>
            <a:effectLst/>
          </p:spPr>
          <p:txBody>
            <a:bodyPr wrap="none" anchor="ctr"/>
            <a:lstStyle/>
            <a:p>
              <a:endParaRPr lang="fr-FR"/>
            </a:p>
          </p:txBody>
        </p:sp>
        <p:sp>
          <p:nvSpPr>
            <p:cNvPr id="62516" name="Line 52"/>
            <p:cNvSpPr>
              <a:spLocks noChangeShapeType="1"/>
            </p:cNvSpPr>
            <p:nvPr/>
          </p:nvSpPr>
          <p:spPr bwMode="auto">
            <a:xfrm>
              <a:off x="3657" y="3612"/>
              <a:ext cx="0" cy="60"/>
            </a:xfrm>
            <a:prstGeom prst="line">
              <a:avLst/>
            </a:prstGeom>
            <a:noFill/>
            <a:ln w="9525">
              <a:solidFill>
                <a:schemeClr val="tx1"/>
              </a:solidFill>
              <a:round/>
              <a:headEnd/>
              <a:tailEnd/>
            </a:ln>
            <a:effectLst/>
          </p:spPr>
          <p:txBody>
            <a:bodyPr wrap="none" anchor="ctr"/>
            <a:lstStyle/>
            <a:p>
              <a:endParaRPr lang="fr-FR"/>
            </a:p>
          </p:txBody>
        </p:sp>
        <p:sp>
          <p:nvSpPr>
            <p:cNvPr id="62517" name="Line 53"/>
            <p:cNvSpPr>
              <a:spLocks noChangeShapeType="1"/>
            </p:cNvSpPr>
            <p:nvPr/>
          </p:nvSpPr>
          <p:spPr bwMode="auto">
            <a:xfrm>
              <a:off x="3711" y="3612"/>
              <a:ext cx="0" cy="60"/>
            </a:xfrm>
            <a:prstGeom prst="line">
              <a:avLst/>
            </a:prstGeom>
            <a:noFill/>
            <a:ln w="9525">
              <a:solidFill>
                <a:schemeClr val="tx1"/>
              </a:solidFill>
              <a:round/>
              <a:headEnd/>
              <a:tailEnd/>
            </a:ln>
            <a:effectLst/>
          </p:spPr>
          <p:txBody>
            <a:bodyPr wrap="none" anchor="ctr"/>
            <a:lstStyle/>
            <a:p>
              <a:endParaRPr lang="fr-FR"/>
            </a:p>
          </p:txBody>
        </p:sp>
        <p:sp>
          <p:nvSpPr>
            <p:cNvPr id="62518" name="Line 54"/>
            <p:cNvSpPr>
              <a:spLocks noChangeShapeType="1"/>
            </p:cNvSpPr>
            <p:nvPr/>
          </p:nvSpPr>
          <p:spPr bwMode="auto">
            <a:xfrm>
              <a:off x="3770" y="3612"/>
              <a:ext cx="0" cy="60"/>
            </a:xfrm>
            <a:prstGeom prst="line">
              <a:avLst/>
            </a:prstGeom>
            <a:noFill/>
            <a:ln w="9525">
              <a:solidFill>
                <a:schemeClr val="tx1"/>
              </a:solidFill>
              <a:round/>
              <a:headEnd/>
              <a:tailEnd/>
            </a:ln>
            <a:effectLst/>
          </p:spPr>
          <p:txBody>
            <a:bodyPr wrap="none" anchor="ctr"/>
            <a:lstStyle/>
            <a:p>
              <a:endParaRPr lang="fr-FR"/>
            </a:p>
          </p:txBody>
        </p:sp>
        <p:sp>
          <p:nvSpPr>
            <p:cNvPr id="62519" name="Line 55"/>
            <p:cNvSpPr>
              <a:spLocks noChangeShapeType="1"/>
            </p:cNvSpPr>
            <p:nvPr/>
          </p:nvSpPr>
          <p:spPr bwMode="auto">
            <a:xfrm>
              <a:off x="3824" y="3612"/>
              <a:ext cx="0" cy="60"/>
            </a:xfrm>
            <a:prstGeom prst="line">
              <a:avLst/>
            </a:prstGeom>
            <a:noFill/>
            <a:ln w="9525">
              <a:solidFill>
                <a:schemeClr val="tx1"/>
              </a:solidFill>
              <a:round/>
              <a:headEnd/>
              <a:tailEnd/>
            </a:ln>
            <a:effectLst/>
          </p:spPr>
          <p:txBody>
            <a:bodyPr wrap="none" anchor="ctr"/>
            <a:lstStyle/>
            <a:p>
              <a:endParaRPr lang="fr-FR"/>
            </a:p>
          </p:txBody>
        </p:sp>
        <p:sp>
          <p:nvSpPr>
            <p:cNvPr id="62520" name="Line 56"/>
            <p:cNvSpPr>
              <a:spLocks noChangeShapeType="1"/>
            </p:cNvSpPr>
            <p:nvPr/>
          </p:nvSpPr>
          <p:spPr bwMode="auto">
            <a:xfrm>
              <a:off x="3878" y="3612"/>
              <a:ext cx="0" cy="60"/>
            </a:xfrm>
            <a:prstGeom prst="line">
              <a:avLst/>
            </a:prstGeom>
            <a:noFill/>
            <a:ln w="9525">
              <a:solidFill>
                <a:schemeClr val="tx1"/>
              </a:solidFill>
              <a:round/>
              <a:headEnd/>
              <a:tailEnd/>
            </a:ln>
            <a:effectLst/>
          </p:spPr>
          <p:txBody>
            <a:bodyPr wrap="none" anchor="ctr"/>
            <a:lstStyle/>
            <a:p>
              <a:endParaRPr lang="fr-FR"/>
            </a:p>
          </p:txBody>
        </p:sp>
      </p:grpSp>
      <p:sp>
        <p:nvSpPr>
          <p:cNvPr id="62560" name="Text Box 96"/>
          <p:cNvSpPr txBox="1">
            <a:spLocks noChangeArrowheads="1"/>
          </p:cNvSpPr>
          <p:nvPr/>
        </p:nvSpPr>
        <p:spPr bwMode="auto">
          <a:xfrm>
            <a:off x="1970088" y="3255963"/>
            <a:ext cx="1670050" cy="366712"/>
          </a:xfrm>
          <a:prstGeom prst="rect">
            <a:avLst/>
          </a:prstGeom>
          <a:noFill/>
          <a:ln w="9525">
            <a:noFill/>
            <a:miter lim="800000"/>
            <a:headEnd/>
            <a:tailEnd/>
          </a:ln>
          <a:effectLst/>
        </p:spPr>
        <p:txBody>
          <a:bodyPr wrap="none" anchor="ctr">
            <a:spAutoFit/>
          </a:bodyPr>
          <a:lstStyle/>
          <a:p>
            <a:pPr algn="ctr"/>
            <a:r>
              <a:rPr lang="en-US" sz="1800" b="1">
                <a:latin typeface="Arial" charset="0"/>
              </a:rPr>
              <a:t>Carte Internet</a:t>
            </a:r>
          </a:p>
        </p:txBody>
      </p:sp>
      <p:sp>
        <p:nvSpPr>
          <p:cNvPr id="62561" name="Text Box 97"/>
          <p:cNvSpPr txBox="1">
            <a:spLocks noChangeArrowheads="1"/>
          </p:cNvSpPr>
          <p:nvPr/>
        </p:nvSpPr>
        <p:spPr bwMode="auto">
          <a:xfrm>
            <a:off x="4918075" y="2109788"/>
            <a:ext cx="1850186" cy="400110"/>
          </a:xfrm>
          <a:prstGeom prst="rect">
            <a:avLst/>
          </a:prstGeom>
          <a:noFill/>
          <a:ln w="9525">
            <a:noFill/>
            <a:miter lim="800000"/>
            <a:headEnd/>
            <a:tailEnd/>
          </a:ln>
          <a:effectLst/>
        </p:spPr>
        <p:txBody>
          <a:bodyPr wrap="none" anchor="ctr">
            <a:spAutoFit/>
          </a:bodyPr>
          <a:lstStyle/>
          <a:p>
            <a:pPr algn="ctr"/>
            <a:r>
              <a:rPr lang="en-US" sz="2000" b="1">
                <a:latin typeface="Arial" charset="0"/>
              </a:rPr>
              <a:t>Carte intranet</a:t>
            </a:r>
          </a:p>
        </p:txBody>
      </p:sp>
      <p:grpSp>
        <p:nvGrpSpPr>
          <p:cNvPr id="62562" name="Group 98"/>
          <p:cNvGrpSpPr>
            <a:grpSpLocks/>
          </p:cNvGrpSpPr>
          <p:nvPr/>
        </p:nvGrpSpPr>
        <p:grpSpPr bwMode="auto">
          <a:xfrm>
            <a:off x="3013075" y="3643313"/>
            <a:ext cx="1006475" cy="455612"/>
            <a:chOff x="3312" y="3168"/>
            <a:chExt cx="1120" cy="508"/>
          </a:xfrm>
        </p:grpSpPr>
        <p:sp>
          <p:nvSpPr>
            <p:cNvPr id="62563" name="Freeform 99"/>
            <p:cNvSpPr>
              <a:spLocks/>
            </p:cNvSpPr>
            <p:nvPr/>
          </p:nvSpPr>
          <p:spPr bwMode="auto">
            <a:xfrm>
              <a:off x="3312" y="3168"/>
              <a:ext cx="1120" cy="508"/>
            </a:xfrm>
            <a:custGeom>
              <a:avLst/>
              <a:gdLst/>
              <a:ahLst/>
              <a:cxnLst>
                <a:cxn ang="0">
                  <a:pos x="0" y="0"/>
                </a:cxn>
                <a:cxn ang="0">
                  <a:pos x="1410" y="0"/>
                </a:cxn>
                <a:cxn ang="0">
                  <a:pos x="1410" y="561"/>
                </a:cxn>
                <a:cxn ang="0">
                  <a:pos x="772" y="561"/>
                </a:cxn>
                <a:cxn ang="0">
                  <a:pos x="772" y="639"/>
                </a:cxn>
                <a:cxn ang="0">
                  <a:pos x="242" y="639"/>
                </a:cxn>
                <a:cxn ang="0">
                  <a:pos x="242" y="561"/>
                </a:cxn>
                <a:cxn ang="0">
                  <a:pos x="0" y="561"/>
                </a:cxn>
                <a:cxn ang="0">
                  <a:pos x="0" y="0"/>
                </a:cxn>
              </a:cxnLst>
              <a:rect l="0" t="0" r="r" b="b"/>
              <a:pathLst>
                <a:path w="1411" h="640">
                  <a:moveTo>
                    <a:pt x="0" y="0"/>
                  </a:moveTo>
                  <a:lnTo>
                    <a:pt x="1410" y="0"/>
                  </a:lnTo>
                  <a:lnTo>
                    <a:pt x="1410" y="561"/>
                  </a:lnTo>
                  <a:lnTo>
                    <a:pt x="772" y="561"/>
                  </a:lnTo>
                  <a:lnTo>
                    <a:pt x="772" y="639"/>
                  </a:lnTo>
                  <a:lnTo>
                    <a:pt x="242" y="639"/>
                  </a:lnTo>
                  <a:lnTo>
                    <a:pt x="242" y="561"/>
                  </a:lnTo>
                  <a:lnTo>
                    <a:pt x="0" y="561"/>
                  </a:lnTo>
                  <a:lnTo>
                    <a:pt x="0" y="0"/>
                  </a:lnTo>
                </a:path>
              </a:pathLst>
            </a:custGeom>
            <a:gradFill rotWithShape="0">
              <a:gsLst>
                <a:gs pos="0">
                  <a:srgbClr val="408585"/>
                </a:gs>
                <a:gs pos="100000">
                  <a:srgbClr val="408585">
                    <a:gamma/>
                    <a:tint val="73725"/>
                    <a:invGamma/>
                  </a:srgbClr>
                </a:gs>
              </a:gsLst>
              <a:lin ang="18900000" scaled="1"/>
            </a:gradFill>
            <a:ln w="9525" cap="rnd" cmpd="sng">
              <a:solidFill>
                <a:srgbClr val="000000"/>
              </a:solidFill>
              <a:prstDash val="solid"/>
              <a:round/>
              <a:headEnd type="none" w="med" len="med"/>
              <a:tailEnd type="none" w="med" len="med"/>
            </a:ln>
            <a:effectLst>
              <a:outerShdw dist="53882" dir="2700000" algn="ctr" rotWithShape="0">
                <a:schemeClr val="folHlink"/>
              </a:outerShdw>
            </a:effectLst>
          </p:spPr>
          <p:txBody>
            <a:bodyPr/>
            <a:lstStyle/>
            <a:p>
              <a:endParaRPr lang="fr-FR"/>
            </a:p>
          </p:txBody>
        </p:sp>
        <p:sp>
          <p:nvSpPr>
            <p:cNvPr id="62564" name="Freeform 100"/>
            <p:cNvSpPr>
              <a:spLocks/>
            </p:cNvSpPr>
            <p:nvPr/>
          </p:nvSpPr>
          <p:spPr bwMode="auto">
            <a:xfrm>
              <a:off x="3360" y="3216"/>
              <a:ext cx="104" cy="95"/>
            </a:xfrm>
            <a:custGeom>
              <a:avLst/>
              <a:gdLst/>
              <a:ahLst/>
              <a:cxnLst>
                <a:cxn ang="0">
                  <a:pos x="0" y="0"/>
                </a:cxn>
                <a:cxn ang="0">
                  <a:pos x="131" y="0"/>
                </a:cxn>
                <a:cxn ang="0">
                  <a:pos x="131" y="118"/>
                </a:cxn>
                <a:cxn ang="0">
                  <a:pos x="0" y="118"/>
                </a:cxn>
                <a:cxn ang="0">
                  <a:pos x="0" y="0"/>
                </a:cxn>
              </a:cxnLst>
              <a:rect l="0" t="0" r="r" b="b"/>
              <a:pathLst>
                <a:path w="132" h="119">
                  <a:moveTo>
                    <a:pt x="0" y="0"/>
                  </a:moveTo>
                  <a:lnTo>
                    <a:pt x="131" y="0"/>
                  </a:lnTo>
                  <a:lnTo>
                    <a:pt x="131" y="118"/>
                  </a:lnTo>
                  <a:lnTo>
                    <a:pt x="0" y="118"/>
                  </a:lnTo>
                  <a:lnTo>
                    <a:pt x="0" y="0"/>
                  </a:lnTo>
                </a:path>
              </a:pathLst>
            </a:custGeom>
            <a:gradFill rotWithShape="0">
              <a:gsLst>
                <a:gs pos="0">
                  <a:srgbClr val="CECECE">
                    <a:gamma/>
                    <a:shade val="46275"/>
                    <a:invGamma/>
                  </a:srgbClr>
                </a:gs>
                <a:gs pos="100000">
                  <a:srgbClr val="CECECE"/>
                </a:gs>
              </a:gsLst>
              <a:lin ang="18900000" scaled="1"/>
            </a:gradFill>
            <a:ln w="6350" cap="rnd" cmpd="sng">
              <a:solidFill>
                <a:srgbClr val="000000"/>
              </a:solidFill>
              <a:prstDash val="solid"/>
              <a:round/>
              <a:headEnd type="none" w="med" len="med"/>
              <a:tailEnd type="none" w="med" len="med"/>
            </a:ln>
            <a:effectLst/>
          </p:spPr>
          <p:txBody>
            <a:bodyPr/>
            <a:lstStyle/>
            <a:p>
              <a:endParaRPr lang="fr-FR"/>
            </a:p>
          </p:txBody>
        </p:sp>
        <p:sp>
          <p:nvSpPr>
            <p:cNvPr id="62565" name="Freeform 101"/>
            <p:cNvSpPr>
              <a:spLocks/>
            </p:cNvSpPr>
            <p:nvPr/>
          </p:nvSpPr>
          <p:spPr bwMode="auto">
            <a:xfrm>
              <a:off x="3360" y="3340"/>
              <a:ext cx="104" cy="95"/>
            </a:xfrm>
            <a:custGeom>
              <a:avLst/>
              <a:gdLst/>
              <a:ahLst/>
              <a:cxnLst>
                <a:cxn ang="0">
                  <a:pos x="0" y="0"/>
                </a:cxn>
                <a:cxn ang="0">
                  <a:pos x="131" y="0"/>
                </a:cxn>
                <a:cxn ang="0">
                  <a:pos x="131" y="118"/>
                </a:cxn>
                <a:cxn ang="0">
                  <a:pos x="0" y="118"/>
                </a:cxn>
                <a:cxn ang="0">
                  <a:pos x="0" y="0"/>
                </a:cxn>
              </a:cxnLst>
              <a:rect l="0" t="0" r="r" b="b"/>
              <a:pathLst>
                <a:path w="132" h="119">
                  <a:moveTo>
                    <a:pt x="0" y="0"/>
                  </a:moveTo>
                  <a:lnTo>
                    <a:pt x="131" y="0"/>
                  </a:lnTo>
                  <a:lnTo>
                    <a:pt x="131" y="118"/>
                  </a:lnTo>
                  <a:lnTo>
                    <a:pt x="0" y="118"/>
                  </a:lnTo>
                  <a:lnTo>
                    <a:pt x="0" y="0"/>
                  </a:lnTo>
                </a:path>
              </a:pathLst>
            </a:custGeom>
            <a:gradFill rotWithShape="0">
              <a:gsLst>
                <a:gs pos="0">
                  <a:srgbClr val="CECECE">
                    <a:gamma/>
                    <a:shade val="46275"/>
                    <a:invGamma/>
                  </a:srgbClr>
                </a:gs>
                <a:gs pos="100000">
                  <a:srgbClr val="CECECE"/>
                </a:gs>
              </a:gsLst>
              <a:lin ang="18900000" scaled="1"/>
            </a:gradFill>
            <a:ln w="6350" cap="rnd" cmpd="sng">
              <a:solidFill>
                <a:srgbClr val="000000"/>
              </a:solidFill>
              <a:prstDash val="solid"/>
              <a:round/>
              <a:headEnd type="none" w="med" len="med"/>
              <a:tailEnd type="none" w="med" len="med"/>
            </a:ln>
            <a:effectLst/>
          </p:spPr>
          <p:txBody>
            <a:bodyPr/>
            <a:lstStyle/>
            <a:p>
              <a:endParaRPr lang="fr-FR"/>
            </a:p>
          </p:txBody>
        </p:sp>
        <p:sp>
          <p:nvSpPr>
            <p:cNvPr id="62566" name="Freeform 102"/>
            <p:cNvSpPr>
              <a:spLocks/>
            </p:cNvSpPr>
            <p:nvPr/>
          </p:nvSpPr>
          <p:spPr bwMode="auto">
            <a:xfrm>
              <a:off x="3493" y="3216"/>
              <a:ext cx="159" cy="51"/>
            </a:xfrm>
            <a:custGeom>
              <a:avLst/>
              <a:gdLst/>
              <a:ahLst/>
              <a:cxnLst>
                <a:cxn ang="0">
                  <a:pos x="0" y="0"/>
                </a:cxn>
                <a:cxn ang="0">
                  <a:pos x="199" y="0"/>
                </a:cxn>
                <a:cxn ang="0">
                  <a:pos x="199" y="63"/>
                </a:cxn>
                <a:cxn ang="0">
                  <a:pos x="0" y="63"/>
                </a:cxn>
                <a:cxn ang="0">
                  <a:pos x="0" y="0"/>
                </a:cxn>
              </a:cxnLst>
              <a:rect l="0" t="0" r="r" b="b"/>
              <a:pathLst>
                <a:path w="200" h="64">
                  <a:moveTo>
                    <a:pt x="0" y="0"/>
                  </a:moveTo>
                  <a:lnTo>
                    <a:pt x="199" y="0"/>
                  </a:lnTo>
                  <a:lnTo>
                    <a:pt x="199" y="63"/>
                  </a:lnTo>
                  <a:lnTo>
                    <a:pt x="0" y="63"/>
                  </a:lnTo>
                  <a:lnTo>
                    <a:pt x="0" y="0"/>
                  </a:lnTo>
                </a:path>
              </a:pathLst>
            </a:custGeom>
            <a:gradFill rotWithShape="0">
              <a:gsLst>
                <a:gs pos="0">
                  <a:srgbClr val="CECECE">
                    <a:gamma/>
                    <a:shade val="46275"/>
                    <a:invGamma/>
                  </a:srgbClr>
                </a:gs>
                <a:gs pos="100000">
                  <a:srgbClr val="CECECE"/>
                </a:gs>
              </a:gsLst>
              <a:lin ang="18900000" scaled="1"/>
            </a:gradFill>
            <a:ln w="6350" cap="rnd" cmpd="sng">
              <a:solidFill>
                <a:srgbClr val="000000"/>
              </a:solidFill>
              <a:prstDash val="solid"/>
              <a:round/>
              <a:headEnd type="none" w="med" len="med"/>
              <a:tailEnd type="none" w="med" len="med"/>
            </a:ln>
            <a:effectLst/>
          </p:spPr>
          <p:txBody>
            <a:bodyPr/>
            <a:lstStyle/>
            <a:p>
              <a:endParaRPr lang="fr-FR"/>
            </a:p>
          </p:txBody>
        </p:sp>
        <p:sp>
          <p:nvSpPr>
            <p:cNvPr id="62567" name="Freeform 103"/>
            <p:cNvSpPr>
              <a:spLocks/>
            </p:cNvSpPr>
            <p:nvPr/>
          </p:nvSpPr>
          <p:spPr bwMode="auto">
            <a:xfrm>
              <a:off x="3867" y="3359"/>
              <a:ext cx="245" cy="95"/>
            </a:xfrm>
            <a:custGeom>
              <a:avLst/>
              <a:gdLst/>
              <a:ahLst/>
              <a:cxnLst>
                <a:cxn ang="0">
                  <a:pos x="0" y="0"/>
                </a:cxn>
                <a:cxn ang="0">
                  <a:pos x="308" y="0"/>
                </a:cxn>
                <a:cxn ang="0">
                  <a:pos x="308" y="119"/>
                </a:cxn>
                <a:cxn ang="0">
                  <a:pos x="0" y="119"/>
                </a:cxn>
                <a:cxn ang="0">
                  <a:pos x="0" y="0"/>
                </a:cxn>
              </a:cxnLst>
              <a:rect l="0" t="0" r="r" b="b"/>
              <a:pathLst>
                <a:path w="309" h="120">
                  <a:moveTo>
                    <a:pt x="0" y="0"/>
                  </a:moveTo>
                  <a:lnTo>
                    <a:pt x="308" y="0"/>
                  </a:lnTo>
                  <a:lnTo>
                    <a:pt x="308" y="119"/>
                  </a:lnTo>
                  <a:lnTo>
                    <a:pt x="0" y="119"/>
                  </a:lnTo>
                  <a:lnTo>
                    <a:pt x="0" y="0"/>
                  </a:lnTo>
                </a:path>
              </a:pathLst>
            </a:custGeom>
            <a:gradFill rotWithShape="0">
              <a:gsLst>
                <a:gs pos="0">
                  <a:srgbClr val="CECECE">
                    <a:gamma/>
                    <a:shade val="46275"/>
                    <a:invGamma/>
                  </a:srgbClr>
                </a:gs>
                <a:gs pos="100000">
                  <a:srgbClr val="CECECE"/>
                </a:gs>
              </a:gsLst>
              <a:lin ang="18900000" scaled="1"/>
            </a:gradFill>
            <a:ln w="6350" cap="rnd" cmpd="sng">
              <a:solidFill>
                <a:srgbClr val="000000"/>
              </a:solidFill>
              <a:prstDash val="solid"/>
              <a:round/>
              <a:headEnd type="none" w="med" len="med"/>
              <a:tailEnd type="none" w="med" len="med"/>
            </a:ln>
            <a:effectLst/>
          </p:spPr>
          <p:txBody>
            <a:bodyPr/>
            <a:lstStyle/>
            <a:p>
              <a:endParaRPr lang="fr-FR"/>
            </a:p>
          </p:txBody>
        </p:sp>
        <p:sp>
          <p:nvSpPr>
            <p:cNvPr id="62568" name="Freeform 104"/>
            <p:cNvSpPr>
              <a:spLocks/>
            </p:cNvSpPr>
            <p:nvPr/>
          </p:nvSpPr>
          <p:spPr bwMode="auto">
            <a:xfrm>
              <a:off x="3867" y="3479"/>
              <a:ext cx="245" cy="95"/>
            </a:xfrm>
            <a:custGeom>
              <a:avLst/>
              <a:gdLst/>
              <a:ahLst/>
              <a:cxnLst>
                <a:cxn ang="0">
                  <a:pos x="0" y="0"/>
                </a:cxn>
                <a:cxn ang="0">
                  <a:pos x="308" y="0"/>
                </a:cxn>
                <a:cxn ang="0">
                  <a:pos x="308" y="119"/>
                </a:cxn>
                <a:cxn ang="0">
                  <a:pos x="0" y="119"/>
                </a:cxn>
                <a:cxn ang="0">
                  <a:pos x="0" y="0"/>
                </a:cxn>
              </a:cxnLst>
              <a:rect l="0" t="0" r="r" b="b"/>
              <a:pathLst>
                <a:path w="309" h="120">
                  <a:moveTo>
                    <a:pt x="0" y="0"/>
                  </a:moveTo>
                  <a:lnTo>
                    <a:pt x="308" y="0"/>
                  </a:lnTo>
                  <a:lnTo>
                    <a:pt x="308" y="119"/>
                  </a:lnTo>
                  <a:lnTo>
                    <a:pt x="0" y="119"/>
                  </a:lnTo>
                  <a:lnTo>
                    <a:pt x="0" y="0"/>
                  </a:lnTo>
                </a:path>
              </a:pathLst>
            </a:custGeom>
            <a:gradFill rotWithShape="0">
              <a:gsLst>
                <a:gs pos="0">
                  <a:srgbClr val="CECECE">
                    <a:gamma/>
                    <a:shade val="46275"/>
                    <a:invGamma/>
                  </a:srgbClr>
                </a:gs>
                <a:gs pos="100000">
                  <a:srgbClr val="CECECE"/>
                </a:gs>
              </a:gsLst>
              <a:lin ang="18900000" scaled="1"/>
            </a:gradFill>
            <a:ln w="6350" cap="rnd" cmpd="sng">
              <a:solidFill>
                <a:srgbClr val="000000"/>
              </a:solidFill>
              <a:prstDash val="solid"/>
              <a:round/>
              <a:headEnd type="none" w="med" len="med"/>
              <a:tailEnd type="none" w="med" len="med"/>
            </a:ln>
            <a:effectLst/>
          </p:spPr>
          <p:txBody>
            <a:bodyPr/>
            <a:lstStyle/>
            <a:p>
              <a:endParaRPr lang="fr-FR"/>
            </a:p>
          </p:txBody>
        </p:sp>
        <p:sp>
          <p:nvSpPr>
            <p:cNvPr id="62569" name="Freeform 105"/>
            <p:cNvSpPr>
              <a:spLocks/>
            </p:cNvSpPr>
            <p:nvPr/>
          </p:nvSpPr>
          <p:spPr bwMode="auto">
            <a:xfrm>
              <a:off x="4141" y="3359"/>
              <a:ext cx="247" cy="95"/>
            </a:xfrm>
            <a:custGeom>
              <a:avLst/>
              <a:gdLst/>
              <a:ahLst/>
              <a:cxnLst>
                <a:cxn ang="0">
                  <a:pos x="0" y="0"/>
                </a:cxn>
                <a:cxn ang="0">
                  <a:pos x="309" y="0"/>
                </a:cxn>
                <a:cxn ang="0">
                  <a:pos x="309" y="119"/>
                </a:cxn>
                <a:cxn ang="0">
                  <a:pos x="0" y="119"/>
                </a:cxn>
                <a:cxn ang="0">
                  <a:pos x="0" y="0"/>
                </a:cxn>
              </a:cxnLst>
              <a:rect l="0" t="0" r="r" b="b"/>
              <a:pathLst>
                <a:path w="310" h="120">
                  <a:moveTo>
                    <a:pt x="0" y="0"/>
                  </a:moveTo>
                  <a:lnTo>
                    <a:pt x="309" y="0"/>
                  </a:lnTo>
                  <a:lnTo>
                    <a:pt x="309" y="119"/>
                  </a:lnTo>
                  <a:lnTo>
                    <a:pt x="0" y="119"/>
                  </a:lnTo>
                  <a:lnTo>
                    <a:pt x="0" y="0"/>
                  </a:lnTo>
                </a:path>
              </a:pathLst>
            </a:custGeom>
            <a:gradFill rotWithShape="0">
              <a:gsLst>
                <a:gs pos="0">
                  <a:srgbClr val="CECECE">
                    <a:gamma/>
                    <a:shade val="46275"/>
                    <a:invGamma/>
                  </a:srgbClr>
                </a:gs>
                <a:gs pos="100000">
                  <a:srgbClr val="CECECE"/>
                </a:gs>
              </a:gsLst>
              <a:lin ang="18900000" scaled="1"/>
            </a:gradFill>
            <a:ln w="6350" cap="rnd" cmpd="sng">
              <a:solidFill>
                <a:srgbClr val="000000"/>
              </a:solidFill>
              <a:prstDash val="solid"/>
              <a:round/>
              <a:headEnd type="none" w="med" len="med"/>
              <a:tailEnd type="none" w="med" len="med"/>
            </a:ln>
            <a:effectLst/>
          </p:spPr>
          <p:txBody>
            <a:bodyPr/>
            <a:lstStyle/>
            <a:p>
              <a:endParaRPr lang="fr-FR"/>
            </a:p>
          </p:txBody>
        </p:sp>
        <p:sp>
          <p:nvSpPr>
            <p:cNvPr id="62570" name="Freeform 106"/>
            <p:cNvSpPr>
              <a:spLocks/>
            </p:cNvSpPr>
            <p:nvPr/>
          </p:nvSpPr>
          <p:spPr bwMode="auto">
            <a:xfrm>
              <a:off x="3688" y="3216"/>
              <a:ext cx="159" cy="51"/>
            </a:xfrm>
            <a:custGeom>
              <a:avLst/>
              <a:gdLst/>
              <a:ahLst/>
              <a:cxnLst>
                <a:cxn ang="0">
                  <a:pos x="0" y="0"/>
                </a:cxn>
                <a:cxn ang="0">
                  <a:pos x="199" y="0"/>
                </a:cxn>
                <a:cxn ang="0">
                  <a:pos x="199" y="63"/>
                </a:cxn>
                <a:cxn ang="0">
                  <a:pos x="0" y="63"/>
                </a:cxn>
                <a:cxn ang="0">
                  <a:pos x="0" y="0"/>
                </a:cxn>
              </a:cxnLst>
              <a:rect l="0" t="0" r="r" b="b"/>
              <a:pathLst>
                <a:path w="200" h="64">
                  <a:moveTo>
                    <a:pt x="0" y="0"/>
                  </a:moveTo>
                  <a:lnTo>
                    <a:pt x="199" y="0"/>
                  </a:lnTo>
                  <a:lnTo>
                    <a:pt x="199" y="63"/>
                  </a:lnTo>
                  <a:lnTo>
                    <a:pt x="0" y="63"/>
                  </a:lnTo>
                  <a:lnTo>
                    <a:pt x="0" y="0"/>
                  </a:lnTo>
                </a:path>
              </a:pathLst>
            </a:custGeom>
            <a:gradFill rotWithShape="0">
              <a:gsLst>
                <a:gs pos="0">
                  <a:srgbClr val="CECECE">
                    <a:gamma/>
                    <a:shade val="46275"/>
                    <a:invGamma/>
                  </a:srgbClr>
                </a:gs>
                <a:gs pos="100000">
                  <a:srgbClr val="CECECE"/>
                </a:gs>
              </a:gsLst>
              <a:lin ang="18900000" scaled="1"/>
            </a:gradFill>
            <a:ln w="6350" cap="rnd" cmpd="sng">
              <a:solidFill>
                <a:srgbClr val="000000"/>
              </a:solidFill>
              <a:prstDash val="solid"/>
              <a:round/>
              <a:headEnd type="none" w="med" len="med"/>
              <a:tailEnd type="none" w="med" len="med"/>
            </a:ln>
            <a:effectLst/>
          </p:spPr>
          <p:txBody>
            <a:bodyPr/>
            <a:lstStyle/>
            <a:p>
              <a:endParaRPr lang="fr-FR"/>
            </a:p>
          </p:txBody>
        </p:sp>
        <p:sp>
          <p:nvSpPr>
            <p:cNvPr id="62571" name="Freeform 107"/>
            <p:cNvSpPr>
              <a:spLocks/>
            </p:cNvSpPr>
            <p:nvPr/>
          </p:nvSpPr>
          <p:spPr bwMode="auto">
            <a:xfrm>
              <a:off x="3493" y="3295"/>
              <a:ext cx="159" cy="50"/>
            </a:xfrm>
            <a:custGeom>
              <a:avLst/>
              <a:gdLst/>
              <a:ahLst/>
              <a:cxnLst>
                <a:cxn ang="0">
                  <a:pos x="0" y="0"/>
                </a:cxn>
                <a:cxn ang="0">
                  <a:pos x="199" y="0"/>
                </a:cxn>
                <a:cxn ang="0">
                  <a:pos x="199" y="62"/>
                </a:cxn>
                <a:cxn ang="0">
                  <a:pos x="0" y="62"/>
                </a:cxn>
                <a:cxn ang="0">
                  <a:pos x="0" y="0"/>
                </a:cxn>
              </a:cxnLst>
              <a:rect l="0" t="0" r="r" b="b"/>
              <a:pathLst>
                <a:path w="200" h="63">
                  <a:moveTo>
                    <a:pt x="0" y="0"/>
                  </a:moveTo>
                  <a:lnTo>
                    <a:pt x="199" y="0"/>
                  </a:lnTo>
                  <a:lnTo>
                    <a:pt x="199" y="62"/>
                  </a:lnTo>
                  <a:lnTo>
                    <a:pt x="0" y="62"/>
                  </a:lnTo>
                  <a:lnTo>
                    <a:pt x="0" y="0"/>
                  </a:lnTo>
                </a:path>
              </a:pathLst>
            </a:custGeom>
            <a:gradFill rotWithShape="0">
              <a:gsLst>
                <a:gs pos="0">
                  <a:srgbClr val="CECECE">
                    <a:gamma/>
                    <a:shade val="46275"/>
                    <a:invGamma/>
                  </a:srgbClr>
                </a:gs>
                <a:gs pos="100000">
                  <a:srgbClr val="CECECE"/>
                </a:gs>
              </a:gsLst>
              <a:lin ang="18900000" scaled="1"/>
            </a:gradFill>
            <a:ln w="6350" cap="rnd" cmpd="sng">
              <a:solidFill>
                <a:srgbClr val="000000"/>
              </a:solidFill>
              <a:prstDash val="solid"/>
              <a:round/>
              <a:headEnd type="none" w="med" len="med"/>
              <a:tailEnd type="none" w="med" len="med"/>
            </a:ln>
            <a:effectLst/>
          </p:spPr>
          <p:txBody>
            <a:bodyPr/>
            <a:lstStyle/>
            <a:p>
              <a:endParaRPr lang="fr-FR"/>
            </a:p>
          </p:txBody>
        </p:sp>
        <p:sp>
          <p:nvSpPr>
            <p:cNvPr id="62572" name="Freeform 108"/>
            <p:cNvSpPr>
              <a:spLocks/>
            </p:cNvSpPr>
            <p:nvPr/>
          </p:nvSpPr>
          <p:spPr bwMode="auto">
            <a:xfrm>
              <a:off x="3688" y="3295"/>
              <a:ext cx="159" cy="50"/>
            </a:xfrm>
            <a:custGeom>
              <a:avLst/>
              <a:gdLst/>
              <a:ahLst/>
              <a:cxnLst>
                <a:cxn ang="0">
                  <a:pos x="0" y="0"/>
                </a:cxn>
                <a:cxn ang="0">
                  <a:pos x="199" y="0"/>
                </a:cxn>
                <a:cxn ang="0">
                  <a:pos x="199" y="62"/>
                </a:cxn>
                <a:cxn ang="0">
                  <a:pos x="0" y="62"/>
                </a:cxn>
                <a:cxn ang="0">
                  <a:pos x="0" y="0"/>
                </a:cxn>
              </a:cxnLst>
              <a:rect l="0" t="0" r="r" b="b"/>
              <a:pathLst>
                <a:path w="200" h="63">
                  <a:moveTo>
                    <a:pt x="0" y="0"/>
                  </a:moveTo>
                  <a:lnTo>
                    <a:pt x="199" y="0"/>
                  </a:lnTo>
                  <a:lnTo>
                    <a:pt x="199" y="62"/>
                  </a:lnTo>
                  <a:lnTo>
                    <a:pt x="0" y="62"/>
                  </a:lnTo>
                  <a:lnTo>
                    <a:pt x="0" y="0"/>
                  </a:lnTo>
                </a:path>
              </a:pathLst>
            </a:custGeom>
            <a:gradFill rotWithShape="0">
              <a:gsLst>
                <a:gs pos="0">
                  <a:srgbClr val="CECECE">
                    <a:gamma/>
                    <a:shade val="46275"/>
                    <a:invGamma/>
                  </a:srgbClr>
                </a:gs>
                <a:gs pos="100000">
                  <a:srgbClr val="CECECE"/>
                </a:gs>
              </a:gsLst>
              <a:lin ang="18900000" scaled="1"/>
            </a:gradFill>
            <a:ln w="6350" cap="rnd" cmpd="sng">
              <a:solidFill>
                <a:srgbClr val="000000"/>
              </a:solidFill>
              <a:prstDash val="solid"/>
              <a:round/>
              <a:headEnd type="none" w="med" len="med"/>
              <a:tailEnd type="none" w="med" len="med"/>
            </a:ln>
            <a:effectLst/>
          </p:spPr>
          <p:txBody>
            <a:bodyPr/>
            <a:lstStyle/>
            <a:p>
              <a:endParaRPr lang="fr-FR"/>
            </a:p>
          </p:txBody>
        </p:sp>
        <p:grpSp>
          <p:nvGrpSpPr>
            <p:cNvPr id="62573" name="Group 109"/>
            <p:cNvGrpSpPr>
              <a:grpSpLocks/>
            </p:cNvGrpSpPr>
            <p:nvPr/>
          </p:nvGrpSpPr>
          <p:grpSpPr bwMode="auto">
            <a:xfrm>
              <a:off x="4006" y="3198"/>
              <a:ext cx="26" cy="130"/>
              <a:chOff x="4999" y="2951"/>
              <a:chExt cx="33" cy="163"/>
            </a:xfrm>
          </p:grpSpPr>
          <p:sp>
            <p:nvSpPr>
              <p:cNvPr id="62574" name="Rectangle 110"/>
              <p:cNvSpPr>
                <a:spLocks noChangeArrowheads="1"/>
              </p:cNvSpPr>
              <p:nvPr/>
            </p:nvSpPr>
            <p:spPr bwMode="auto">
              <a:xfrm>
                <a:off x="4999" y="2983"/>
                <a:ext cx="33" cy="99"/>
              </a:xfrm>
              <a:prstGeom prst="rect">
                <a:avLst/>
              </a:prstGeom>
              <a:solidFill>
                <a:srgbClr val="FFCC00"/>
              </a:solidFill>
              <a:ln w="6350">
                <a:solidFill>
                  <a:schemeClr val="tx1"/>
                </a:solidFill>
                <a:miter lim="800000"/>
                <a:headEnd/>
                <a:tailEnd/>
              </a:ln>
              <a:effectLst/>
            </p:spPr>
            <p:txBody>
              <a:bodyPr wrap="none" anchor="ctr"/>
              <a:lstStyle/>
              <a:p>
                <a:endParaRPr lang="fr-FR"/>
              </a:p>
            </p:txBody>
          </p:sp>
          <p:sp>
            <p:nvSpPr>
              <p:cNvPr id="62575" name="Line 111"/>
              <p:cNvSpPr>
                <a:spLocks noChangeShapeType="1"/>
              </p:cNvSpPr>
              <p:nvPr/>
            </p:nvSpPr>
            <p:spPr bwMode="auto">
              <a:xfrm flipV="1">
                <a:off x="5014" y="2951"/>
                <a:ext cx="0" cy="32"/>
              </a:xfrm>
              <a:prstGeom prst="line">
                <a:avLst/>
              </a:prstGeom>
              <a:noFill/>
              <a:ln w="6350">
                <a:solidFill>
                  <a:schemeClr val="tx1"/>
                </a:solidFill>
                <a:round/>
                <a:headEnd/>
                <a:tailEnd/>
              </a:ln>
              <a:effectLst/>
            </p:spPr>
            <p:txBody>
              <a:bodyPr wrap="none" anchor="ctr"/>
              <a:lstStyle/>
              <a:p>
                <a:endParaRPr lang="fr-FR"/>
              </a:p>
            </p:txBody>
          </p:sp>
          <p:sp>
            <p:nvSpPr>
              <p:cNvPr id="62576" name="Line 112"/>
              <p:cNvSpPr>
                <a:spLocks noChangeShapeType="1"/>
              </p:cNvSpPr>
              <p:nvPr/>
            </p:nvSpPr>
            <p:spPr bwMode="auto">
              <a:xfrm flipV="1">
                <a:off x="5014" y="3082"/>
                <a:ext cx="0" cy="32"/>
              </a:xfrm>
              <a:prstGeom prst="line">
                <a:avLst/>
              </a:prstGeom>
              <a:noFill/>
              <a:ln w="6350">
                <a:solidFill>
                  <a:schemeClr val="tx1"/>
                </a:solidFill>
                <a:round/>
                <a:headEnd/>
                <a:tailEnd/>
              </a:ln>
              <a:effectLst/>
            </p:spPr>
            <p:txBody>
              <a:bodyPr wrap="none" anchor="ctr"/>
              <a:lstStyle/>
              <a:p>
                <a:endParaRPr lang="fr-FR"/>
              </a:p>
            </p:txBody>
          </p:sp>
        </p:grpSp>
        <p:grpSp>
          <p:nvGrpSpPr>
            <p:cNvPr id="62577" name="Group 113"/>
            <p:cNvGrpSpPr>
              <a:grpSpLocks/>
            </p:cNvGrpSpPr>
            <p:nvPr/>
          </p:nvGrpSpPr>
          <p:grpSpPr bwMode="auto">
            <a:xfrm>
              <a:off x="4066" y="3198"/>
              <a:ext cx="26" cy="130"/>
              <a:chOff x="5075" y="2951"/>
              <a:chExt cx="33" cy="163"/>
            </a:xfrm>
          </p:grpSpPr>
          <p:sp>
            <p:nvSpPr>
              <p:cNvPr id="62578" name="Rectangle 114"/>
              <p:cNvSpPr>
                <a:spLocks noChangeArrowheads="1"/>
              </p:cNvSpPr>
              <p:nvPr/>
            </p:nvSpPr>
            <p:spPr bwMode="auto">
              <a:xfrm>
                <a:off x="5075" y="2983"/>
                <a:ext cx="33" cy="99"/>
              </a:xfrm>
              <a:prstGeom prst="rect">
                <a:avLst/>
              </a:prstGeom>
              <a:solidFill>
                <a:srgbClr val="FFCC00"/>
              </a:solidFill>
              <a:ln w="6350">
                <a:solidFill>
                  <a:schemeClr val="tx1"/>
                </a:solidFill>
                <a:miter lim="800000"/>
                <a:headEnd/>
                <a:tailEnd/>
              </a:ln>
              <a:effectLst/>
            </p:spPr>
            <p:txBody>
              <a:bodyPr wrap="none" anchor="ctr"/>
              <a:lstStyle/>
              <a:p>
                <a:endParaRPr lang="fr-FR"/>
              </a:p>
            </p:txBody>
          </p:sp>
          <p:sp>
            <p:nvSpPr>
              <p:cNvPr id="62579" name="Line 115"/>
              <p:cNvSpPr>
                <a:spLocks noChangeShapeType="1"/>
              </p:cNvSpPr>
              <p:nvPr/>
            </p:nvSpPr>
            <p:spPr bwMode="auto">
              <a:xfrm flipV="1">
                <a:off x="5092" y="2951"/>
                <a:ext cx="0" cy="32"/>
              </a:xfrm>
              <a:prstGeom prst="line">
                <a:avLst/>
              </a:prstGeom>
              <a:noFill/>
              <a:ln w="6350">
                <a:solidFill>
                  <a:schemeClr val="tx1"/>
                </a:solidFill>
                <a:round/>
                <a:headEnd/>
                <a:tailEnd/>
              </a:ln>
              <a:effectLst/>
            </p:spPr>
            <p:txBody>
              <a:bodyPr wrap="none" anchor="ctr"/>
              <a:lstStyle/>
              <a:p>
                <a:endParaRPr lang="fr-FR"/>
              </a:p>
            </p:txBody>
          </p:sp>
          <p:sp>
            <p:nvSpPr>
              <p:cNvPr id="62580" name="Line 116"/>
              <p:cNvSpPr>
                <a:spLocks noChangeShapeType="1"/>
              </p:cNvSpPr>
              <p:nvPr/>
            </p:nvSpPr>
            <p:spPr bwMode="auto">
              <a:xfrm flipV="1">
                <a:off x="5092" y="3082"/>
                <a:ext cx="0" cy="32"/>
              </a:xfrm>
              <a:prstGeom prst="line">
                <a:avLst/>
              </a:prstGeom>
              <a:noFill/>
              <a:ln w="6350">
                <a:solidFill>
                  <a:schemeClr val="tx1"/>
                </a:solidFill>
                <a:round/>
                <a:headEnd/>
                <a:tailEnd/>
              </a:ln>
              <a:effectLst/>
            </p:spPr>
            <p:txBody>
              <a:bodyPr wrap="none" anchor="ctr"/>
              <a:lstStyle/>
              <a:p>
                <a:endParaRPr lang="fr-FR"/>
              </a:p>
            </p:txBody>
          </p:sp>
        </p:grpSp>
        <p:grpSp>
          <p:nvGrpSpPr>
            <p:cNvPr id="62581" name="Group 117"/>
            <p:cNvGrpSpPr>
              <a:grpSpLocks/>
            </p:cNvGrpSpPr>
            <p:nvPr/>
          </p:nvGrpSpPr>
          <p:grpSpPr bwMode="auto">
            <a:xfrm>
              <a:off x="4129" y="3198"/>
              <a:ext cx="26" cy="130"/>
              <a:chOff x="5154" y="2951"/>
              <a:chExt cx="33" cy="163"/>
            </a:xfrm>
          </p:grpSpPr>
          <p:sp>
            <p:nvSpPr>
              <p:cNvPr id="62582" name="Rectangle 118"/>
              <p:cNvSpPr>
                <a:spLocks noChangeArrowheads="1"/>
              </p:cNvSpPr>
              <p:nvPr/>
            </p:nvSpPr>
            <p:spPr bwMode="auto">
              <a:xfrm>
                <a:off x="5154" y="2983"/>
                <a:ext cx="33" cy="99"/>
              </a:xfrm>
              <a:prstGeom prst="rect">
                <a:avLst/>
              </a:prstGeom>
              <a:solidFill>
                <a:srgbClr val="FFCC00"/>
              </a:solidFill>
              <a:ln w="6350">
                <a:solidFill>
                  <a:schemeClr val="tx1"/>
                </a:solidFill>
                <a:miter lim="800000"/>
                <a:headEnd/>
                <a:tailEnd/>
              </a:ln>
              <a:effectLst/>
            </p:spPr>
            <p:txBody>
              <a:bodyPr wrap="none" anchor="ctr"/>
              <a:lstStyle/>
              <a:p>
                <a:endParaRPr lang="fr-FR"/>
              </a:p>
            </p:txBody>
          </p:sp>
          <p:sp>
            <p:nvSpPr>
              <p:cNvPr id="62583" name="Line 119"/>
              <p:cNvSpPr>
                <a:spLocks noChangeShapeType="1"/>
              </p:cNvSpPr>
              <p:nvPr/>
            </p:nvSpPr>
            <p:spPr bwMode="auto">
              <a:xfrm flipV="1">
                <a:off x="5170" y="2951"/>
                <a:ext cx="0" cy="32"/>
              </a:xfrm>
              <a:prstGeom prst="line">
                <a:avLst/>
              </a:prstGeom>
              <a:noFill/>
              <a:ln w="6350">
                <a:solidFill>
                  <a:schemeClr val="tx1"/>
                </a:solidFill>
                <a:round/>
                <a:headEnd/>
                <a:tailEnd/>
              </a:ln>
              <a:effectLst/>
            </p:spPr>
            <p:txBody>
              <a:bodyPr wrap="none" anchor="ctr"/>
              <a:lstStyle/>
              <a:p>
                <a:endParaRPr lang="fr-FR"/>
              </a:p>
            </p:txBody>
          </p:sp>
          <p:sp>
            <p:nvSpPr>
              <p:cNvPr id="62584" name="Line 120"/>
              <p:cNvSpPr>
                <a:spLocks noChangeShapeType="1"/>
              </p:cNvSpPr>
              <p:nvPr/>
            </p:nvSpPr>
            <p:spPr bwMode="auto">
              <a:xfrm flipV="1">
                <a:off x="5170" y="3082"/>
                <a:ext cx="0" cy="32"/>
              </a:xfrm>
              <a:prstGeom prst="line">
                <a:avLst/>
              </a:prstGeom>
              <a:noFill/>
              <a:ln w="6350">
                <a:solidFill>
                  <a:schemeClr val="tx1"/>
                </a:solidFill>
                <a:round/>
                <a:headEnd/>
                <a:tailEnd/>
              </a:ln>
              <a:effectLst/>
            </p:spPr>
            <p:txBody>
              <a:bodyPr wrap="none" anchor="ctr"/>
              <a:lstStyle/>
              <a:p>
                <a:endParaRPr lang="fr-FR"/>
              </a:p>
            </p:txBody>
          </p:sp>
        </p:grpSp>
        <p:grpSp>
          <p:nvGrpSpPr>
            <p:cNvPr id="62585" name="Group 121"/>
            <p:cNvGrpSpPr>
              <a:grpSpLocks/>
            </p:cNvGrpSpPr>
            <p:nvPr/>
          </p:nvGrpSpPr>
          <p:grpSpPr bwMode="auto">
            <a:xfrm>
              <a:off x="4190" y="3198"/>
              <a:ext cx="26" cy="130"/>
              <a:chOff x="5231" y="2951"/>
              <a:chExt cx="33" cy="163"/>
            </a:xfrm>
          </p:grpSpPr>
          <p:sp>
            <p:nvSpPr>
              <p:cNvPr id="62586" name="Rectangle 122"/>
              <p:cNvSpPr>
                <a:spLocks noChangeArrowheads="1"/>
              </p:cNvSpPr>
              <p:nvPr/>
            </p:nvSpPr>
            <p:spPr bwMode="auto">
              <a:xfrm>
                <a:off x="5231" y="2983"/>
                <a:ext cx="33" cy="99"/>
              </a:xfrm>
              <a:prstGeom prst="rect">
                <a:avLst/>
              </a:prstGeom>
              <a:solidFill>
                <a:srgbClr val="FFCC00"/>
              </a:solidFill>
              <a:ln w="6350">
                <a:solidFill>
                  <a:schemeClr val="tx1"/>
                </a:solidFill>
                <a:miter lim="800000"/>
                <a:headEnd/>
                <a:tailEnd/>
              </a:ln>
              <a:effectLst/>
            </p:spPr>
            <p:txBody>
              <a:bodyPr wrap="none" anchor="ctr"/>
              <a:lstStyle/>
              <a:p>
                <a:endParaRPr lang="fr-FR"/>
              </a:p>
            </p:txBody>
          </p:sp>
          <p:sp>
            <p:nvSpPr>
              <p:cNvPr id="62587" name="Line 123"/>
              <p:cNvSpPr>
                <a:spLocks noChangeShapeType="1"/>
              </p:cNvSpPr>
              <p:nvPr/>
            </p:nvSpPr>
            <p:spPr bwMode="auto">
              <a:xfrm flipV="1">
                <a:off x="5246" y="2951"/>
                <a:ext cx="0" cy="32"/>
              </a:xfrm>
              <a:prstGeom prst="line">
                <a:avLst/>
              </a:prstGeom>
              <a:noFill/>
              <a:ln w="6350">
                <a:solidFill>
                  <a:schemeClr val="tx1"/>
                </a:solidFill>
                <a:round/>
                <a:headEnd/>
                <a:tailEnd/>
              </a:ln>
              <a:effectLst/>
            </p:spPr>
            <p:txBody>
              <a:bodyPr wrap="none" anchor="ctr"/>
              <a:lstStyle/>
              <a:p>
                <a:endParaRPr lang="fr-FR"/>
              </a:p>
            </p:txBody>
          </p:sp>
          <p:sp>
            <p:nvSpPr>
              <p:cNvPr id="62588" name="Line 124"/>
              <p:cNvSpPr>
                <a:spLocks noChangeShapeType="1"/>
              </p:cNvSpPr>
              <p:nvPr/>
            </p:nvSpPr>
            <p:spPr bwMode="auto">
              <a:xfrm flipV="1">
                <a:off x="5246" y="3082"/>
                <a:ext cx="0" cy="32"/>
              </a:xfrm>
              <a:prstGeom prst="line">
                <a:avLst/>
              </a:prstGeom>
              <a:noFill/>
              <a:ln w="6350">
                <a:solidFill>
                  <a:schemeClr val="tx1"/>
                </a:solidFill>
                <a:round/>
                <a:headEnd/>
                <a:tailEnd/>
              </a:ln>
              <a:effectLst/>
            </p:spPr>
            <p:txBody>
              <a:bodyPr wrap="none" anchor="ctr"/>
              <a:lstStyle/>
              <a:p>
                <a:endParaRPr lang="fr-FR"/>
              </a:p>
            </p:txBody>
          </p:sp>
        </p:grpSp>
        <p:grpSp>
          <p:nvGrpSpPr>
            <p:cNvPr id="62589" name="Group 125"/>
            <p:cNvGrpSpPr>
              <a:grpSpLocks/>
            </p:cNvGrpSpPr>
            <p:nvPr/>
          </p:nvGrpSpPr>
          <p:grpSpPr bwMode="auto">
            <a:xfrm>
              <a:off x="3558" y="3414"/>
              <a:ext cx="26" cy="129"/>
              <a:chOff x="4999" y="2951"/>
              <a:chExt cx="33" cy="163"/>
            </a:xfrm>
          </p:grpSpPr>
          <p:sp>
            <p:nvSpPr>
              <p:cNvPr id="62590" name="Rectangle 126"/>
              <p:cNvSpPr>
                <a:spLocks noChangeArrowheads="1"/>
              </p:cNvSpPr>
              <p:nvPr/>
            </p:nvSpPr>
            <p:spPr bwMode="auto">
              <a:xfrm>
                <a:off x="4999" y="2983"/>
                <a:ext cx="33" cy="99"/>
              </a:xfrm>
              <a:prstGeom prst="rect">
                <a:avLst/>
              </a:prstGeom>
              <a:solidFill>
                <a:srgbClr val="FFCC00"/>
              </a:solidFill>
              <a:ln w="6350">
                <a:solidFill>
                  <a:schemeClr val="tx1"/>
                </a:solidFill>
                <a:miter lim="800000"/>
                <a:headEnd/>
                <a:tailEnd/>
              </a:ln>
              <a:effectLst/>
            </p:spPr>
            <p:txBody>
              <a:bodyPr wrap="none" anchor="ctr"/>
              <a:lstStyle/>
              <a:p>
                <a:endParaRPr lang="fr-FR"/>
              </a:p>
            </p:txBody>
          </p:sp>
          <p:sp>
            <p:nvSpPr>
              <p:cNvPr id="62591" name="Line 127"/>
              <p:cNvSpPr>
                <a:spLocks noChangeShapeType="1"/>
              </p:cNvSpPr>
              <p:nvPr/>
            </p:nvSpPr>
            <p:spPr bwMode="auto">
              <a:xfrm flipV="1">
                <a:off x="5014" y="2951"/>
                <a:ext cx="0" cy="32"/>
              </a:xfrm>
              <a:prstGeom prst="line">
                <a:avLst/>
              </a:prstGeom>
              <a:noFill/>
              <a:ln w="6350">
                <a:solidFill>
                  <a:schemeClr val="tx1"/>
                </a:solidFill>
                <a:round/>
                <a:headEnd/>
                <a:tailEnd/>
              </a:ln>
              <a:effectLst/>
            </p:spPr>
            <p:txBody>
              <a:bodyPr wrap="none" anchor="ctr"/>
              <a:lstStyle/>
              <a:p>
                <a:endParaRPr lang="fr-FR"/>
              </a:p>
            </p:txBody>
          </p:sp>
          <p:sp>
            <p:nvSpPr>
              <p:cNvPr id="62592" name="Line 128"/>
              <p:cNvSpPr>
                <a:spLocks noChangeShapeType="1"/>
              </p:cNvSpPr>
              <p:nvPr/>
            </p:nvSpPr>
            <p:spPr bwMode="auto">
              <a:xfrm flipV="1">
                <a:off x="5014" y="3082"/>
                <a:ext cx="0" cy="32"/>
              </a:xfrm>
              <a:prstGeom prst="line">
                <a:avLst/>
              </a:prstGeom>
              <a:noFill/>
              <a:ln w="6350">
                <a:solidFill>
                  <a:schemeClr val="tx1"/>
                </a:solidFill>
                <a:round/>
                <a:headEnd/>
                <a:tailEnd/>
              </a:ln>
              <a:effectLst/>
            </p:spPr>
            <p:txBody>
              <a:bodyPr wrap="none" anchor="ctr"/>
              <a:lstStyle/>
              <a:p>
                <a:endParaRPr lang="fr-FR"/>
              </a:p>
            </p:txBody>
          </p:sp>
        </p:grpSp>
        <p:grpSp>
          <p:nvGrpSpPr>
            <p:cNvPr id="62593" name="Group 129"/>
            <p:cNvGrpSpPr>
              <a:grpSpLocks/>
            </p:cNvGrpSpPr>
            <p:nvPr/>
          </p:nvGrpSpPr>
          <p:grpSpPr bwMode="auto">
            <a:xfrm>
              <a:off x="3618" y="3414"/>
              <a:ext cx="27" cy="129"/>
              <a:chOff x="5075" y="2951"/>
              <a:chExt cx="33" cy="163"/>
            </a:xfrm>
          </p:grpSpPr>
          <p:sp>
            <p:nvSpPr>
              <p:cNvPr id="62594" name="Rectangle 130"/>
              <p:cNvSpPr>
                <a:spLocks noChangeArrowheads="1"/>
              </p:cNvSpPr>
              <p:nvPr/>
            </p:nvSpPr>
            <p:spPr bwMode="auto">
              <a:xfrm>
                <a:off x="5075" y="2983"/>
                <a:ext cx="33" cy="99"/>
              </a:xfrm>
              <a:prstGeom prst="rect">
                <a:avLst/>
              </a:prstGeom>
              <a:solidFill>
                <a:srgbClr val="FFCC00"/>
              </a:solidFill>
              <a:ln w="6350">
                <a:solidFill>
                  <a:schemeClr val="tx1"/>
                </a:solidFill>
                <a:miter lim="800000"/>
                <a:headEnd/>
                <a:tailEnd/>
              </a:ln>
              <a:effectLst/>
            </p:spPr>
            <p:txBody>
              <a:bodyPr wrap="none" anchor="ctr"/>
              <a:lstStyle/>
              <a:p>
                <a:endParaRPr lang="fr-FR"/>
              </a:p>
            </p:txBody>
          </p:sp>
          <p:sp>
            <p:nvSpPr>
              <p:cNvPr id="62595" name="Line 131"/>
              <p:cNvSpPr>
                <a:spLocks noChangeShapeType="1"/>
              </p:cNvSpPr>
              <p:nvPr/>
            </p:nvSpPr>
            <p:spPr bwMode="auto">
              <a:xfrm flipV="1">
                <a:off x="5092" y="2951"/>
                <a:ext cx="0" cy="32"/>
              </a:xfrm>
              <a:prstGeom prst="line">
                <a:avLst/>
              </a:prstGeom>
              <a:noFill/>
              <a:ln w="6350">
                <a:solidFill>
                  <a:schemeClr val="tx1"/>
                </a:solidFill>
                <a:round/>
                <a:headEnd/>
                <a:tailEnd/>
              </a:ln>
              <a:effectLst/>
            </p:spPr>
            <p:txBody>
              <a:bodyPr wrap="none" anchor="ctr"/>
              <a:lstStyle/>
              <a:p>
                <a:endParaRPr lang="fr-FR"/>
              </a:p>
            </p:txBody>
          </p:sp>
          <p:sp>
            <p:nvSpPr>
              <p:cNvPr id="62596" name="Line 132"/>
              <p:cNvSpPr>
                <a:spLocks noChangeShapeType="1"/>
              </p:cNvSpPr>
              <p:nvPr/>
            </p:nvSpPr>
            <p:spPr bwMode="auto">
              <a:xfrm flipV="1">
                <a:off x="5092" y="3082"/>
                <a:ext cx="0" cy="32"/>
              </a:xfrm>
              <a:prstGeom prst="line">
                <a:avLst/>
              </a:prstGeom>
              <a:noFill/>
              <a:ln w="6350">
                <a:solidFill>
                  <a:schemeClr val="tx1"/>
                </a:solidFill>
                <a:round/>
                <a:headEnd/>
                <a:tailEnd/>
              </a:ln>
              <a:effectLst/>
            </p:spPr>
            <p:txBody>
              <a:bodyPr wrap="none" anchor="ctr"/>
              <a:lstStyle/>
              <a:p>
                <a:endParaRPr lang="fr-FR"/>
              </a:p>
            </p:txBody>
          </p:sp>
        </p:grpSp>
        <p:grpSp>
          <p:nvGrpSpPr>
            <p:cNvPr id="62597" name="Group 133"/>
            <p:cNvGrpSpPr>
              <a:grpSpLocks/>
            </p:cNvGrpSpPr>
            <p:nvPr/>
          </p:nvGrpSpPr>
          <p:grpSpPr bwMode="auto">
            <a:xfrm>
              <a:off x="3681" y="3414"/>
              <a:ext cx="26" cy="129"/>
              <a:chOff x="5154" y="2951"/>
              <a:chExt cx="33" cy="163"/>
            </a:xfrm>
          </p:grpSpPr>
          <p:sp>
            <p:nvSpPr>
              <p:cNvPr id="62598" name="Rectangle 134"/>
              <p:cNvSpPr>
                <a:spLocks noChangeArrowheads="1"/>
              </p:cNvSpPr>
              <p:nvPr/>
            </p:nvSpPr>
            <p:spPr bwMode="auto">
              <a:xfrm>
                <a:off x="5154" y="2983"/>
                <a:ext cx="33" cy="99"/>
              </a:xfrm>
              <a:prstGeom prst="rect">
                <a:avLst/>
              </a:prstGeom>
              <a:solidFill>
                <a:srgbClr val="FFCC00"/>
              </a:solidFill>
              <a:ln w="6350">
                <a:solidFill>
                  <a:schemeClr val="tx1"/>
                </a:solidFill>
                <a:miter lim="800000"/>
                <a:headEnd/>
                <a:tailEnd/>
              </a:ln>
              <a:effectLst/>
            </p:spPr>
            <p:txBody>
              <a:bodyPr wrap="none" anchor="ctr"/>
              <a:lstStyle/>
              <a:p>
                <a:endParaRPr lang="fr-FR"/>
              </a:p>
            </p:txBody>
          </p:sp>
          <p:sp>
            <p:nvSpPr>
              <p:cNvPr id="62599" name="Line 135"/>
              <p:cNvSpPr>
                <a:spLocks noChangeShapeType="1"/>
              </p:cNvSpPr>
              <p:nvPr/>
            </p:nvSpPr>
            <p:spPr bwMode="auto">
              <a:xfrm flipV="1">
                <a:off x="5170" y="2951"/>
                <a:ext cx="0" cy="32"/>
              </a:xfrm>
              <a:prstGeom prst="line">
                <a:avLst/>
              </a:prstGeom>
              <a:noFill/>
              <a:ln w="6350">
                <a:solidFill>
                  <a:schemeClr val="tx1"/>
                </a:solidFill>
                <a:round/>
                <a:headEnd/>
                <a:tailEnd/>
              </a:ln>
              <a:effectLst/>
            </p:spPr>
            <p:txBody>
              <a:bodyPr wrap="none" anchor="ctr"/>
              <a:lstStyle/>
              <a:p>
                <a:endParaRPr lang="fr-FR"/>
              </a:p>
            </p:txBody>
          </p:sp>
          <p:sp>
            <p:nvSpPr>
              <p:cNvPr id="62600" name="Line 136"/>
              <p:cNvSpPr>
                <a:spLocks noChangeShapeType="1"/>
              </p:cNvSpPr>
              <p:nvPr/>
            </p:nvSpPr>
            <p:spPr bwMode="auto">
              <a:xfrm flipV="1">
                <a:off x="5170" y="3082"/>
                <a:ext cx="0" cy="32"/>
              </a:xfrm>
              <a:prstGeom prst="line">
                <a:avLst/>
              </a:prstGeom>
              <a:noFill/>
              <a:ln w="6350">
                <a:solidFill>
                  <a:schemeClr val="tx1"/>
                </a:solidFill>
                <a:round/>
                <a:headEnd/>
                <a:tailEnd/>
              </a:ln>
              <a:effectLst/>
            </p:spPr>
            <p:txBody>
              <a:bodyPr wrap="none" anchor="ctr"/>
              <a:lstStyle/>
              <a:p>
                <a:endParaRPr lang="fr-FR"/>
              </a:p>
            </p:txBody>
          </p:sp>
        </p:grpSp>
        <p:grpSp>
          <p:nvGrpSpPr>
            <p:cNvPr id="62601" name="Group 137"/>
            <p:cNvGrpSpPr>
              <a:grpSpLocks/>
            </p:cNvGrpSpPr>
            <p:nvPr/>
          </p:nvGrpSpPr>
          <p:grpSpPr bwMode="auto">
            <a:xfrm>
              <a:off x="3742" y="3414"/>
              <a:ext cx="26" cy="129"/>
              <a:chOff x="5231" y="2951"/>
              <a:chExt cx="33" cy="163"/>
            </a:xfrm>
          </p:grpSpPr>
          <p:sp>
            <p:nvSpPr>
              <p:cNvPr id="62602" name="Rectangle 138"/>
              <p:cNvSpPr>
                <a:spLocks noChangeArrowheads="1"/>
              </p:cNvSpPr>
              <p:nvPr/>
            </p:nvSpPr>
            <p:spPr bwMode="auto">
              <a:xfrm>
                <a:off x="5231" y="2983"/>
                <a:ext cx="33" cy="99"/>
              </a:xfrm>
              <a:prstGeom prst="rect">
                <a:avLst/>
              </a:prstGeom>
              <a:solidFill>
                <a:srgbClr val="FFCC00"/>
              </a:solidFill>
              <a:ln w="6350">
                <a:solidFill>
                  <a:schemeClr val="tx1"/>
                </a:solidFill>
                <a:miter lim="800000"/>
                <a:headEnd/>
                <a:tailEnd/>
              </a:ln>
              <a:effectLst/>
            </p:spPr>
            <p:txBody>
              <a:bodyPr wrap="none" anchor="ctr"/>
              <a:lstStyle/>
              <a:p>
                <a:endParaRPr lang="fr-FR"/>
              </a:p>
            </p:txBody>
          </p:sp>
          <p:sp>
            <p:nvSpPr>
              <p:cNvPr id="62603" name="Line 139"/>
              <p:cNvSpPr>
                <a:spLocks noChangeShapeType="1"/>
              </p:cNvSpPr>
              <p:nvPr/>
            </p:nvSpPr>
            <p:spPr bwMode="auto">
              <a:xfrm flipV="1">
                <a:off x="5246" y="2951"/>
                <a:ext cx="0" cy="32"/>
              </a:xfrm>
              <a:prstGeom prst="line">
                <a:avLst/>
              </a:prstGeom>
              <a:noFill/>
              <a:ln w="6350">
                <a:solidFill>
                  <a:schemeClr val="tx1"/>
                </a:solidFill>
                <a:round/>
                <a:headEnd/>
                <a:tailEnd/>
              </a:ln>
              <a:effectLst/>
            </p:spPr>
            <p:txBody>
              <a:bodyPr wrap="none" anchor="ctr"/>
              <a:lstStyle/>
              <a:p>
                <a:endParaRPr lang="fr-FR"/>
              </a:p>
            </p:txBody>
          </p:sp>
          <p:sp>
            <p:nvSpPr>
              <p:cNvPr id="62604" name="Line 140"/>
              <p:cNvSpPr>
                <a:spLocks noChangeShapeType="1"/>
              </p:cNvSpPr>
              <p:nvPr/>
            </p:nvSpPr>
            <p:spPr bwMode="auto">
              <a:xfrm flipV="1">
                <a:off x="5246" y="3082"/>
                <a:ext cx="0" cy="32"/>
              </a:xfrm>
              <a:prstGeom prst="line">
                <a:avLst/>
              </a:prstGeom>
              <a:noFill/>
              <a:ln w="6350">
                <a:solidFill>
                  <a:schemeClr val="tx1"/>
                </a:solidFill>
                <a:round/>
                <a:headEnd/>
                <a:tailEnd/>
              </a:ln>
              <a:effectLst/>
            </p:spPr>
            <p:txBody>
              <a:bodyPr wrap="none" anchor="ctr"/>
              <a:lstStyle/>
              <a:p>
                <a:endParaRPr lang="fr-FR"/>
              </a:p>
            </p:txBody>
          </p:sp>
        </p:grpSp>
        <p:sp>
          <p:nvSpPr>
            <p:cNvPr id="62605" name="Line 141"/>
            <p:cNvSpPr>
              <a:spLocks noChangeShapeType="1"/>
            </p:cNvSpPr>
            <p:nvPr/>
          </p:nvSpPr>
          <p:spPr bwMode="auto">
            <a:xfrm>
              <a:off x="3551" y="3612"/>
              <a:ext cx="0" cy="60"/>
            </a:xfrm>
            <a:prstGeom prst="line">
              <a:avLst/>
            </a:prstGeom>
            <a:noFill/>
            <a:ln w="9525">
              <a:solidFill>
                <a:schemeClr val="tx1"/>
              </a:solidFill>
              <a:round/>
              <a:headEnd/>
              <a:tailEnd/>
            </a:ln>
            <a:effectLst/>
          </p:spPr>
          <p:txBody>
            <a:bodyPr wrap="none" anchor="ctr"/>
            <a:lstStyle/>
            <a:p>
              <a:endParaRPr lang="fr-FR"/>
            </a:p>
          </p:txBody>
        </p:sp>
        <p:sp>
          <p:nvSpPr>
            <p:cNvPr id="62606" name="Line 142"/>
            <p:cNvSpPr>
              <a:spLocks noChangeShapeType="1"/>
            </p:cNvSpPr>
            <p:nvPr/>
          </p:nvSpPr>
          <p:spPr bwMode="auto">
            <a:xfrm>
              <a:off x="3605" y="3612"/>
              <a:ext cx="0" cy="60"/>
            </a:xfrm>
            <a:prstGeom prst="line">
              <a:avLst/>
            </a:prstGeom>
            <a:noFill/>
            <a:ln w="9525">
              <a:solidFill>
                <a:schemeClr val="tx1"/>
              </a:solidFill>
              <a:round/>
              <a:headEnd/>
              <a:tailEnd/>
            </a:ln>
            <a:effectLst/>
          </p:spPr>
          <p:txBody>
            <a:bodyPr wrap="none" anchor="ctr"/>
            <a:lstStyle/>
            <a:p>
              <a:endParaRPr lang="fr-FR"/>
            </a:p>
          </p:txBody>
        </p:sp>
        <p:sp>
          <p:nvSpPr>
            <p:cNvPr id="62607" name="Line 143"/>
            <p:cNvSpPr>
              <a:spLocks noChangeShapeType="1"/>
            </p:cNvSpPr>
            <p:nvPr/>
          </p:nvSpPr>
          <p:spPr bwMode="auto">
            <a:xfrm>
              <a:off x="3657" y="3612"/>
              <a:ext cx="0" cy="60"/>
            </a:xfrm>
            <a:prstGeom prst="line">
              <a:avLst/>
            </a:prstGeom>
            <a:noFill/>
            <a:ln w="9525">
              <a:solidFill>
                <a:schemeClr val="tx1"/>
              </a:solidFill>
              <a:round/>
              <a:headEnd/>
              <a:tailEnd/>
            </a:ln>
            <a:effectLst/>
          </p:spPr>
          <p:txBody>
            <a:bodyPr wrap="none" anchor="ctr"/>
            <a:lstStyle/>
            <a:p>
              <a:endParaRPr lang="fr-FR"/>
            </a:p>
          </p:txBody>
        </p:sp>
        <p:sp>
          <p:nvSpPr>
            <p:cNvPr id="62608" name="Line 144"/>
            <p:cNvSpPr>
              <a:spLocks noChangeShapeType="1"/>
            </p:cNvSpPr>
            <p:nvPr/>
          </p:nvSpPr>
          <p:spPr bwMode="auto">
            <a:xfrm>
              <a:off x="3711" y="3612"/>
              <a:ext cx="0" cy="60"/>
            </a:xfrm>
            <a:prstGeom prst="line">
              <a:avLst/>
            </a:prstGeom>
            <a:noFill/>
            <a:ln w="9525">
              <a:solidFill>
                <a:schemeClr val="tx1"/>
              </a:solidFill>
              <a:round/>
              <a:headEnd/>
              <a:tailEnd/>
            </a:ln>
            <a:effectLst/>
          </p:spPr>
          <p:txBody>
            <a:bodyPr wrap="none" anchor="ctr"/>
            <a:lstStyle/>
            <a:p>
              <a:endParaRPr lang="fr-FR"/>
            </a:p>
          </p:txBody>
        </p:sp>
        <p:sp>
          <p:nvSpPr>
            <p:cNvPr id="62609" name="Line 145"/>
            <p:cNvSpPr>
              <a:spLocks noChangeShapeType="1"/>
            </p:cNvSpPr>
            <p:nvPr/>
          </p:nvSpPr>
          <p:spPr bwMode="auto">
            <a:xfrm>
              <a:off x="3770" y="3612"/>
              <a:ext cx="0" cy="60"/>
            </a:xfrm>
            <a:prstGeom prst="line">
              <a:avLst/>
            </a:prstGeom>
            <a:noFill/>
            <a:ln w="9525">
              <a:solidFill>
                <a:schemeClr val="tx1"/>
              </a:solidFill>
              <a:round/>
              <a:headEnd/>
              <a:tailEnd/>
            </a:ln>
            <a:effectLst/>
          </p:spPr>
          <p:txBody>
            <a:bodyPr wrap="none" anchor="ctr"/>
            <a:lstStyle/>
            <a:p>
              <a:endParaRPr lang="fr-FR"/>
            </a:p>
          </p:txBody>
        </p:sp>
        <p:sp>
          <p:nvSpPr>
            <p:cNvPr id="62610" name="Line 146"/>
            <p:cNvSpPr>
              <a:spLocks noChangeShapeType="1"/>
            </p:cNvSpPr>
            <p:nvPr/>
          </p:nvSpPr>
          <p:spPr bwMode="auto">
            <a:xfrm>
              <a:off x="3824" y="3612"/>
              <a:ext cx="0" cy="60"/>
            </a:xfrm>
            <a:prstGeom prst="line">
              <a:avLst/>
            </a:prstGeom>
            <a:noFill/>
            <a:ln w="9525">
              <a:solidFill>
                <a:schemeClr val="tx1"/>
              </a:solidFill>
              <a:round/>
              <a:headEnd/>
              <a:tailEnd/>
            </a:ln>
            <a:effectLst/>
          </p:spPr>
          <p:txBody>
            <a:bodyPr wrap="none" anchor="ctr"/>
            <a:lstStyle/>
            <a:p>
              <a:endParaRPr lang="fr-FR"/>
            </a:p>
          </p:txBody>
        </p:sp>
        <p:sp>
          <p:nvSpPr>
            <p:cNvPr id="62611" name="Line 147"/>
            <p:cNvSpPr>
              <a:spLocks noChangeShapeType="1"/>
            </p:cNvSpPr>
            <p:nvPr/>
          </p:nvSpPr>
          <p:spPr bwMode="auto">
            <a:xfrm>
              <a:off x="3878" y="3612"/>
              <a:ext cx="0" cy="60"/>
            </a:xfrm>
            <a:prstGeom prst="line">
              <a:avLst/>
            </a:prstGeom>
            <a:noFill/>
            <a:ln w="9525">
              <a:solidFill>
                <a:schemeClr val="tx1"/>
              </a:solidFill>
              <a:round/>
              <a:headEnd/>
              <a:tailEnd/>
            </a:ln>
            <a:effectLst/>
          </p:spPr>
          <p:txBody>
            <a:bodyPr wrap="none" anchor="ctr"/>
            <a:lstStyle/>
            <a:p>
              <a:endParaRPr lang="fr-FR"/>
            </a:p>
          </p:txBody>
        </p:sp>
      </p:grpSp>
      <p:sp>
        <p:nvSpPr>
          <p:cNvPr id="62612" name="Text Box 148"/>
          <p:cNvSpPr txBox="1">
            <a:spLocks noChangeArrowheads="1"/>
          </p:cNvSpPr>
          <p:nvPr/>
        </p:nvSpPr>
        <p:spPr bwMode="auto">
          <a:xfrm>
            <a:off x="4334901" y="1385888"/>
            <a:ext cx="2651688" cy="400110"/>
          </a:xfrm>
          <a:prstGeom prst="rect">
            <a:avLst/>
          </a:prstGeom>
          <a:noFill/>
          <a:ln w="9525">
            <a:noFill/>
            <a:miter lim="800000"/>
            <a:headEnd/>
            <a:tailEnd/>
          </a:ln>
          <a:effectLst/>
        </p:spPr>
        <p:txBody>
          <a:bodyPr wrap="none" anchor="ctr">
            <a:spAutoFit/>
          </a:bodyPr>
          <a:lstStyle/>
          <a:p>
            <a:pPr algn="r"/>
            <a:r>
              <a:rPr lang="en-US" sz="2000" b="1">
                <a:latin typeface="Arial" charset="0"/>
              </a:rPr>
              <a:t>Intranet d'entreprise</a:t>
            </a:r>
          </a:p>
        </p:txBody>
      </p:sp>
      <p:sp>
        <p:nvSpPr>
          <p:cNvPr id="62613" name="Text Box 149"/>
          <p:cNvSpPr txBox="1">
            <a:spLocks noChangeArrowheads="1"/>
          </p:cNvSpPr>
          <p:nvPr/>
        </p:nvSpPr>
        <p:spPr bwMode="auto">
          <a:xfrm>
            <a:off x="1635125" y="5748338"/>
            <a:ext cx="3408305" cy="400110"/>
          </a:xfrm>
          <a:prstGeom prst="rect">
            <a:avLst/>
          </a:prstGeom>
          <a:noFill/>
          <a:ln w="9525">
            <a:noFill/>
            <a:miter lim="800000"/>
            <a:headEnd/>
            <a:tailEnd/>
          </a:ln>
          <a:effectLst/>
        </p:spPr>
        <p:txBody>
          <a:bodyPr wrap="none" anchor="ctr">
            <a:spAutoFit/>
          </a:bodyPr>
          <a:lstStyle/>
          <a:p>
            <a:pPr algn="ctr"/>
            <a:r>
              <a:rPr lang="en-US" sz="2000" b="1">
                <a:latin typeface="Arial" charset="0"/>
              </a:rPr>
              <a:t>Client d'accès distant VPN</a:t>
            </a:r>
          </a:p>
        </p:txBody>
      </p:sp>
      <p:grpSp>
        <p:nvGrpSpPr>
          <p:cNvPr id="62614" name="Group 150"/>
          <p:cNvGrpSpPr>
            <a:grpSpLocks/>
          </p:cNvGrpSpPr>
          <p:nvPr/>
        </p:nvGrpSpPr>
        <p:grpSpPr bwMode="auto">
          <a:xfrm>
            <a:off x="7051675" y="838200"/>
            <a:ext cx="1479550" cy="1311275"/>
            <a:chOff x="4466" y="2664"/>
            <a:chExt cx="932" cy="826"/>
          </a:xfrm>
        </p:grpSpPr>
        <p:sp>
          <p:nvSpPr>
            <p:cNvPr id="62615" name="AutoShape 151"/>
            <p:cNvSpPr>
              <a:spLocks noChangeArrowheads="1"/>
            </p:cNvSpPr>
            <p:nvPr/>
          </p:nvSpPr>
          <p:spPr bwMode="auto">
            <a:xfrm>
              <a:off x="4466" y="2716"/>
              <a:ext cx="480" cy="774"/>
            </a:xfrm>
            <a:prstGeom prst="cube">
              <a:avLst>
                <a:gd name="adj" fmla="val 25000"/>
              </a:avLst>
            </a:prstGeom>
            <a:gradFill rotWithShape="0">
              <a:gsLst>
                <a:gs pos="0">
                  <a:srgbClr val="CCFF66"/>
                </a:gs>
                <a:gs pos="100000">
                  <a:srgbClr val="CCFF66">
                    <a:gamma/>
                    <a:shade val="46275"/>
                    <a:invGamma/>
                  </a:srgbClr>
                </a:gs>
              </a:gsLst>
              <a:lin ang="5400000" scaled="1"/>
            </a:gradFill>
            <a:ln w="9525">
              <a:solidFill>
                <a:srgbClr val="339966"/>
              </a:solidFill>
              <a:miter lim="800000"/>
              <a:headEnd/>
              <a:tailEnd/>
            </a:ln>
            <a:effectLst/>
          </p:spPr>
          <p:txBody>
            <a:bodyPr wrap="none" anchor="ctr"/>
            <a:lstStyle/>
            <a:p>
              <a:endParaRPr lang="fr-FR"/>
            </a:p>
          </p:txBody>
        </p:sp>
        <p:sp>
          <p:nvSpPr>
            <p:cNvPr id="62616" name="AutoShape 152"/>
            <p:cNvSpPr>
              <a:spLocks noChangeArrowheads="1"/>
            </p:cNvSpPr>
            <p:nvPr/>
          </p:nvSpPr>
          <p:spPr bwMode="auto">
            <a:xfrm>
              <a:off x="4918" y="3040"/>
              <a:ext cx="480" cy="450"/>
            </a:xfrm>
            <a:prstGeom prst="cube">
              <a:avLst>
                <a:gd name="adj" fmla="val 25000"/>
              </a:avLst>
            </a:prstGeom>
            <a:gradFill rotWithShape="0">
              <a:gsLst>
                <a:gs pos="0">
                  <a:srgbClr val="CCFF66"/>
                </a:gs>
                <a:gs pos="100000">
                  <a:srgbClr val="CCFF66">
                    <a:gamma/>
                    <a:shade val="46275"/>
                    <a:invGamma/>
                  </a:srgbClr>
                </a:gs>
              </a:gsLst>
              <a:lin ang="5400000" scaled="1"/>
            </a:gradFill>
            <a:ln w="9525">
              <a:solidFill>
                <a:srgbClr val="339966"/>
              </a:solidFill>
              <a:miter lim="800000"/>
              <a:headEnd/>
              <a:tailEnd/>
            </a:ln>
            <a:effectLst/>
          </p:spPr>
          <p:txBody>
            <a:bodyPr wrap="none" anchor="ctr"/>
            <a:lstStyle/>
            <a:p>
              <a:endParaRPr lang="fr-FR"/>
            </a:p>
          </p:txBody>
        </p:sp>
        <p:grpSp>
          <p:nvGrpSpPr>
            <p:cNvPr id="62617" name="Group 153"/>
            <p:cNvGrpSpPr>
              <a:grpSpLocks/>
            </p:cNvGrpSpPr>
            <p:nvPr/>
          </p:nvGrpSpPr>
          <p:grpSpPr bwMode="auto">
            <a:xfrm>
              <a:off x="4503" y="2664"/>
              <a:ext cx="815" cy="763"/>
              <a:chOff x="3860" y="1921"/>
              <a:chExt cx="952" cy="891"/>
            </a:xfrm>
          </p:grpSpPr>
          <p:sp>
            <p:nvSpPr>
              <p:cNvPr id="62618" name="Freeform 154"/>
              <p:cNvSpPr>
                <a:spLocks/>
              </p:cNvSpPr>
              <p:nvPr/>
            </p:nvSpPr>
            <p:spPr bwMode="auto">
              <a:xfrm>
                <a:off x="4025" y="2078"/>
                <a:ext cx="643" cy="569"/>
              </a:xfrm>
              <a:custGeom>
                <a:avLst/>
                <a:gdLst/>
                <a:ahLst/>
                <a:cxnLst>
                  <a:cxn ang="0">
                    <a:pos x="357" y="0"/>
                  </a:cxn>
                  <a:cxn ang="0">
                    <a:pos x="125" y="144"/>
                  </a:cxn>
                  <a:cxn ang="0">
                    <a:pos x="242" y="130"/>
                  </a:cxn>
                  <a:cxn ang="0">
                    <a:pos x="0" y="360"/>
                  </a:cxn>
                  <a:cxn ang="0">
                    <a:pos x="362" y="408"/>
                  </a:cxn>
                  <a:cxn ang="0">
                    <a:pos x="247" y="449"/>
                  </a:cxn>
                  <a:cxn ang="0">
                    <a:pos x="643" y="569"/>
                  </a:cxn>
                  <a:cxn ang="0">
                    <a:pos x="475" y="312"/>
                  </a:cxn>
                  <a:cxn ang="0">
                    <a:pos x="578" y="356"/>
                  </a:cxn>
                  <a:cxn ang="0">
                    <a:pos x="357" y="0"/>
                  </a:cxn>
                </a:cxnLst>
                <a:rect l="0" t="0" r="r" b="b"/>
                <a:pathLst>
                  <a:path w="643" h="569">
                    <a:moveTo>
                      <a:pt x="357" y="0"/>
                    </a:moveTo>
                    <a:lnTo>
                      <a:pt x="125" y="144"/>
                    </a:lnTo>
                    <a:lnTo>
                      <a:pt x="242" y="130"/>
                    </a:lnTo>
                    <a:lnTo>
                      <a:pt x="0" y="360"/>
                    </a:lnTo>
                    <a:lnTo>
                      <a:pt x="362" y="408"/>
                    </a:lnTo>
                    <a:lnTo>
                      <a:pt x="247" y="449"/>
                    </a:lnTo>
                    <a:lnTo>
                      <a:pt x="643" y="569"/>
                    </a:lnTo>
                    <a:lnTo>
                      <a:pt x="475" y="312"/>
                    </a:lnTo>
                    <a:lnTo>
                      <a:pt x="578" y="356"/>
                    </a:lnTo>
                    <a:lnTo>
                      <a:pt x="357" y="0"/>
                    </a:lnTo>
                    <a:close/>
                  </a:path>
                </a:pathLst>
              </a:custGeom>
              <a:noFill/>
              <a:ln w="28575" cap="flat" cmpd="sng">
                <a:solidFill>
                  <a:schemeClr val="accent2"/>
                </a:solidFill>
                <a:prstDash val="solid"/>
                <a:round/>
                <a:headEnd type="none" w="med" len="med"/>
                <a:tailEnd type="none" w="med" len="med"/>
              </a:ln>
              <a:effectLst>
                <a:outerShdw dist="25400" dir="5400000" algn="ctr" rotWithShape="0">
                  <a:schemeClr val="accent1"/>
                </a:outerShdw>
              </a:effectLst>
            </p:spPr>
            <p:txBody>
              <a:bodyPr wrap="none" tIns="27432" bIns="27432" anchor="ctr">
                <a:spAutoFit/>
              </a:bodyPr>
              <a:lstStyle/>
              <a:p>
                <a:endParaRPr lang="fr-FR"/>
              </a:p>
            </p:txBody>
          </p:sp>
          <p:grpSp>
            <p:nvGrpSpPr>
              <p:cNvPr id="62619" name="Group 155"/>
              <p:cNvGrpSpPr>
                <a:grpSpLocks/>
              </p:cNvGrpSpPr>
              <p:nvPr/>
            </p:nvGrpSpPr>
            <p:grpSpPr bwMode="auto">
              <a:xfrm>
                <a:off x="3860" y="2302"/>
                <a:ext cx="326" cy="324"/>
                <a:chOff x="3375" y="2382"/>
                <a:chExt cx="326" cy="324"/>
              </a:xfrm>
            </p:grpSpPr>
            <p:grpSp>
              <p:nvGrpSpPr>
                <p:cNvPr id="62620" name="Group 156"/>
                <p:cNvGrpSpPr>
                  <a:grpSpLocks/>
                </p:cNvGrpSpPr>
                <p:nvPr/>
              </p:nvGrpSpPr>
              <p:grpSpPr bwMode="auto">
                <a:xfrm>
                  <a:off x="3375" y="2382"/>
                  <a:ext cx="326" cy="324"/>
                  <a:chOff x="3995" y="1370"/>
                  <a:chExt cx="288" cy="287"/>
                </a:xfrm>
              </p:grpSpPr>
              <p:sp>
                <p:nvSpPr>
                  <p:cNvPr id="62621" name="Freeform 157"/>
                  <p:cNvSpPr>
                    <a:spLocks/>
                  </p:cNvSpPr>
                  <p:nvPr/>
                </p:nvSpPr>
                <p:spPr bwMode="auto">
                  <a:xfrm>
                    <a:off x="4091" y="1370"/>
                    <a:ext cx="96" cy="72"/>
                  </a:xfrm>
                  <a:custGeom>
                    <a:avLst/>
                    <a:gdLst/>
                    <a:ahLst/>
                    <a:cxnLst>
                      <a:cxn ang="0">
                        <a:pos x="48" y="71"/>
                      </a:cxn>
                      <a:cxn ang="0">
                        <a:pos x="0" y="0"/>
                      </a:cxn>
                      <a:cxn ang="0">
                        <a:pos x="95" y="0"/>
                      </a:cxn>
                      <a:cxn ang="0">
                        <a:pos x="48" y="71"/>
                      </a:cxn>
                    </a:cxnLst>
                    <a:rect l="0" t="0" r="r" b="b"/>
                    <a:pathLst>
                      <a:path w="96" h="72">
                        <a:moveTo>
                          <a:pt x="48" y="71"/>
                        </a:moveTo>
                        <a:lnTo>
                          <a:pt x="0" y="0"/>
                        </a:lnTo>
                        <a:lnTo>
                          <a:pt x="95" y="0"/>
                        </a:lnTo>
                        <a:lnTo>
                          <a:pt x="48" y="71"/>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62622" name="Freeform 158"/>
                  <p:cNvSpPr>
                    <a:spLocks/>
                  </p:cNvSpPr>
                  <p:nvPr/>
                </p:nvSpPr>
                <p:spPr bwMode="auto">
                  <a:xfrm>
                    <a:off x="4091" y="1584"/>
                    <a:ext cx="96" cy="73"/>
                  </a:xfrm>
                  <a:custGeom>
                    <a:avLst/>
                    <a:gdLst/>
                    <a:ahLst/>
                    <a:cxnLst>
                      <a:cxn ang="0">
                        <a:pos x="48" y="0"/>
                      </a:cxn>
                      <a:cxn ang="0">
                        <a:pos x="0" y="72"/>
                      </a:cxn>
                      <a:cxn ang="0">
                        <a:pos x="95" y="72"/>
                      </a:cxn>
                      <a:cxn ang="0">
                        <a:pos x="48" y="0"/>
                      </a:cxn>
                    </a:cxnLst>
                    <a:rect l="0" t="0" r="r" b="b"/>
                    <a:pathLst>
                      <a:path w="96" h="73">
                        <a:moveTo>
                          <a:pt x="48" y="0"/>
                        </a:moveTo>
                        <a:lnTo>
                          <a:pt x="0" y="72"/>
                        </a:lnTo>
                        <a:lnTo>
                          <a:pt x="95" y="72"/>
                        </a:lnTo>
                        <a:lnTo>
                          <a:pt x="48" y="0"/>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62623" name="Freeform 159"/>
                  <p:cNvSpPr>
                    <a:spLocks/>
                  </p:cNvSpPr>
                  <p:nvPr/>
                </p:nvSpPr>
                <p:spPr bwMode="auto">
                  <a:xfrm>
                    <a:off x="4211" y="1465"/>
                    <a:ext cx="72" cy="97"/>
                  </a:xfrm>
                  <a:custGeom>
                    <a:avLst/>
                    <a:gdLst/>
                    <a:ahLst/>
                    <a:cxnLst>
                      <a:cxn ang="0">
                        <a:pos x="0" y="48"/>
                      </a:cxn>
                      <a:cxn ang="0">
                        <a:pos x="71" y="0"/>
                      </a:cxn>
                      <a:cxn ang="0">
                        <a:pos x="71" y="96"/>
                      </a:cxn>
                      <a:cxn ang="0">
                        <a:pos x="0" y="48"/>
                      </a:cxn>
                    </a:cxnLst>
                    <a:rect l="0" t="0" r="r" b="b"/>
                    <a:pathLst>
                      <a:path w="72" h="97">
                        <a:moveTo>
                          <a:pt x="0" y="48"/>
                        </a:moveTo>
                        <a:lnTo>
                          <a:pt x="71" y="0"/>
                        </a:lnTo>
                        <a:lnTo>
                          <a:pt x="71" y="96"/>
                        </a:lnTo>
                        <a:lnTo>
                          <a:pt x="0" y="48"/>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62624" name="Freeform 160"/>
                  <p:cNvSpPr>
                    <a:spLocks/>
                  </p:cNvSpPr>
                  <p:nvPr/>
                </p:nvSpPr>
                <p:spPr bwMode="auto">
                  <a:xfrm>
                    <a:off x="3995" y="1465"/>
                    <a:ext cx="73" cy="97"/>
                  </a:xfrm>
                  <a:custGeom>
                    <a:avLst/>
                    <a:gdLst/>
                    <a:ahLst/>
                    <a:cxnLst>
                      <a:cxn ang="0">
                        <a:pos x="72" y="48"/>
                      </a:cxn>
                      <a:cxn ang="0">
                        <a:pos x="0" y="0"/>
                      </a:cxn>
                      <a:cxn ang="0">
                        <a:pos x="0" y="96"/>
                      </a:cxn>
                      <a:cxn ang="0">
                        <a:pos x="72" y="48"/>
                      </a:cxn>
                    </a:cxnLst>
                    <a:rect l="0" t="0" r="r" b="b"/>
                    <a:pathLst>
                      <a:path w="73" h="97">
                        <a:moveTo>
                          <a:pt x="72" y="48"/>
                        </a:moveTo>
                        <a:lnTo>
                          <a:pt x="0" y="0"/>
                        </a:lnTo>
                        <a:lnTo>
                          <a:pt x="0" y="96"/>
                        </a:lnTo>
                        <a:lnTo>
                          <a:pt x="72" y="48"/>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62625" name="Oval 161"/>
                  <p:cNvSpPr>
                    <a:spLocks noChangeArrowheads="1"/>
                  </p:cNvSpPr>
                  <p:nvPr/>
                </p:nvSpPr>
                <p:spPr bwMode="auto">
                  <a:xfrm>
                    <a:off x="4043" y="1418"/>
                    <a:ext cx="191" cy="190"/>
                  </a:xfrm>
                  <a:prstGeom prst="ellipse">
                    <a:avLst/>
                  </a:prstGeom>
                  <a:solidFill>
                    <a:schemeClr val="bg1"/>
                  </a:solidFill>
                  <a:ln w="12700">
                    <a:noFill/>
                    <a:round/>
                    <a:headEnd/>
                    <a:tailEnd/>
                  </a:ln>
                  <a:effectLst/>
                </p:spPr>
                <p:txBody>
                  <a:bodyPr wrap="none" anchor="ctr"/>
                  <a:lstStyle/>
                  <a:p>
                    <a:endParaRPr lang="fr-FR"/>
                  </a:p>
                </p:txBody>
              </p:sp>
            </p:grpSp>
            <p:grpSp>
              <p:nvGrpSpPr>
                <p:cNvPr id="62626" name="Group 162"/>
                <p:cNvGrpSpPr>
                  <a:grpSpLocks/>
                </p:cNvGrpSpPr>
                <p:nvPr/>
              </p:nvGrpSpPr>
              <p:grpSpPr bwMode="auto">
                <a:xfrm>
                  <a:off x="3395" y="2400"/>
                  <a:ext cx="288" cy="287"/>
                  <a:chOff x="3871" y="2242"/>
                  <a:chExt cx="288" cy="287"/>
                </a:xfrm>
              </p:grpSpPr>
              <p:grpSp>
                <p:nvGrpSpPr>
                  <p:cNvPr id="62627" name="Group 163"/>
                  <p:cNvGrpSpPr>
                    <a:grpSpLocks/>
                  </p:cNvGrpSpPr>
                  <p:nvPr/>
                </p:nvGrpSpPr>
                <p:grpSpPr bwMode="auto">
                  <a:xfrm>
                    <a:off x="3871" y="2242"/>
                    <a:ext cx="288" cy="287"/>
                    <a:chOff x="3995" y="1370"/>
                    <a:chExt cx="288" cy="287"/>
                  </a:xfrm>
                </p:grpSpPr>
                <p:sp>
                  <p:nvSpPr>
                    <p:cNvPr id="62628" name="Freeform 164"/>
                    <p:cNvSpPr>
                      <a:spLocks/>
                    </p:cNvSpPr>
                    <p:nvPr/>
                  </p:nvSpPr>
                  <p:spPr bwMode="auto">
                    <a:xfrm>
                      <a:off x="4091" y="1370"/>
                      <a:ext cx="96" cy="72"/>
                    </a:xfrm>
                    <a:custGeom>
                      <a:avLst/>
                      <a:gdLst/>
                      <a:ahLst/>
                      <a:cxnLst>
                        <a:cxn ang="0">
                          <a:pos x="48" y="71"/>
                        </a:cxn>
                        <a:cxn ang="0">
                          <a:pos x="0" y="0"/>
                        </a:cxn>
                        <a:cxn ang="0">
                          <a:pos x="95" y="0"/>
                        </a:cxn>
                        <a:cxn ang="0">
                          <a:pos x="48" y="71"/>
                        </a:cxn>
                      </a:cxnLst>
                      <a:rect l="0" t="0" r="r" b="b"/>
                      <a:pathLst>
                        <a:path w="96" h="72">
                          <a:moveTo>
                            <a:pt x="48" y="71"/>
                          </a:moveTo>
                          <a:lnTo>
                            <a:pt x="0" y="0"/>
                          </a:lnTo>
                          <a:lnTo>
                            <a:pt x="95" y="0"/>
                          </a:lnTo>
                          <a:lnTo>
                            <a:pt x="48" y="71"/>
                          </a:lnTo>
                        </a:path>
                      </a:pathLst>
                    </a:custGeom>
                    <a:solidFill>
                      <a:srgbClr val="8901F3"/>
                    </a:solidFill>
                    <a:ln w="12700" cap="rnd" cmpd="sng">
                      <a:noFill/>
                      <a:prstDash val="solid"/>
                      <a:round/>
                      <a:headEnd type="none" w="med" len="med"/>
                      <a:tailEnd type="none" w="med" len="med"/>
                    </a:ln>
                    <a:effectLst/>
                  </p:spPr>
                  <p:txBody>
                    <a:bodyPr/>
                    <a:lstStyle/>
                    <a:p>
                      <a:endParaRPr lang="fr-FR"/>
                    </a:p>
                  </p:txBody>
                </p:sp>
                <p:sp>
                  <p:nvSpPr>
                    <p:cNvPr id="62629" name="Freeform 165"/>
                    <p:cNvSpPr>
                      <a:spLocks/>
                    </p:cNvSpPr>
                    <p:nvPr/>
                  </p:nvSpPr>
                  <p:spPr bwMode="auto">
                    <a:xfrm>
                      <a:off x="4091" y="1584"/>
                      <a:ext cx="96" cy="73"/>
                    </a:xfrm>
                    <a:custGeom>
                      <a:avLst/>
                      <a:gdLst/>
                      <a:ahLst/>
                      <a:cxnLst>
                        <a:cxn ang="0">
                          <a:pos x="48" y="0"/>
                        </a:cxn>
                        <a:cxn ang="0">
                          <a:pos x="0" y="72"/>
                        </a:cxn>
                        <a:cxn ang="0">
                          <a:pos x="95" y="72"/>
                        </a:cxn>
                        <a:cxn ang="0">
                          <a:pos x="48" y="0"/>
                        </a:cxn>
                      </a:cxnLst>
                      <a:rect l="0" t="0" r="r" b="b"/>
                      <a:pathLst>
                        <a:path w="96" h="73">
                          <a:moveTo>
                            <a:pt x="48" y="0"/>
                          </a:moveTo>
                          <a:lnTo>
                            <a:pt x="0" y="72"/>
                          </a:lnTo>
                          <a:lnTo>
                            <a:pt x="95" y="72"/>
                          </a:lnTo>
                          <a:lnTo>
                            <a:pt x="48" y="0"/>
                          </a:lnTo>
                        </a:path>
                      </a:pathLst>
                    </a:custGeom>
                    <a:solidFill>
                      <a:srgbClr val="8901F3"/>
                    </a:solidFill>
                    <a:ln w="12700" cap="rnd" cmpd="sng">
                      <a:noFill/>
                      <a:prstDash val="solid"/>
                      <a:round/>
                      <a:headEnd type="none" w="med" len="med"/>
                      <a:tailEnd type="none" w="med" len="med"/>
                    </a:ln>
                    <a:effectLst/>
                  </p:spPr>
                  <p:txBody>
                    <a:bodyPr/>
                    <a:lstStyle/>
                    <a:p>
                      <a:endParaRPr lang="fr-FR"/>
                    </a:p>
                  </p:txBody>
                </p:sp>
                <p:sp>
                  <p:nvSpPr>
                    <p:cNvPr id="62630" name="Freeform 166"/>
                    <p:cNvSpPr>
                      <a:spLocks/>
                    </p:cNvSpPr>
                    <p:nvPr/>
                  </p:nvSpPr>
                  <p:spPr bwMode="auto">
                    <a:xfrm>
                      <a:off x="4211" y="1465"/>
                      <a:ext cx="72" cy="97"/>
                    </a:xfrm>
                    <a:custGeom>
                      <a:avLst/>
                      <a:gdLst/>
                      <a:ahLst/>
                      <a:cxnLst>
                        <a:cxn ang="0">
                          <a:pos x="0" y="48"/>
                        </a:cxn>
                        <a:cxn ang="0">
                          <a:pos x="71" y="0"/>
                        </a:cxn>
                        <a:cxn ang="0">
                          <a:pos x="71" y="96"/>
                        </a:cxn>
                        <a:cxn ang="0">
                          <a:pos x="0" y="48"/>
                        </a:cxn>
                      </a:cxnLst>
                      <a:rect l="0" t="0" r="r" b="b"/>
                      <a:pathLst>
                        <a:path w="72" h="97">
                          <a:moveTo>
                            <a:pt x="0" y="48"/>
                          </a:moveTo>
                          <a:lnTo>
                            <a:pt x="71" y="0"/>
                          </a:lnTo>
                          <a:lnTo>
                            <a:pt x="71" y="96"/>
                          </a:lnTo>
                          <a:lnTo>
                            <a:pt x="0" y="48"/>
                          </a:lnTo>
                        </a:path>
                      </a:pathLst>
                    </a:custGeom>
                    <a:solidFill>
                      <a:srgbClr val="8901F3"/>
                    </a:solidFill>
                    <a:ln w="12700" cap="rnd" cmpd="sng">
                      <a:noFill/>
                      <a:prstDash val="solid"/>
                      <a:round/>
                      <a:headEnd type="none" w="med" len="med"/>
                      <a:tailEnd type="none" w="med" len="med"/>
                    </a:ln>
                    <a:effectLst/>
                  </p:spPr>
                  <p:txBody>
                    <a:bodyPr/>
                    <a:lstStyle/>
                    <a:p>
                      <a:endParaRPr lang="fr-FR"/>
                    </a:p>
                  </p:txBody>
                </p:sp>
                <p:sp>
                  <p:nvSpPr>
                    <p:cNvPr id="62631" name="Freeform 167"/>
                    <p:cNvSpPr>
                      <a:spLocks/>
                    </p:cNvSpPr>
                    <p:nvPr/>
                  </p:nvSpPr>
                  <p:spPr bwMode="auto">
                    <a:xfrm>
                      <a:off x="3995" y="1465"/>
                      <a:ext cx="73" cy="97"/>
                    </a:xfrm>
                    <a:custGeom>
                      <a:avLst/>
                      <a:gdLst/>
                      <a:ahLst/>
                      <a:cxnLst>
                        <a:cxn ang="0">
                          <a:pos x="72" y="48"/>
                        </a:cxn>
                        <a:cxn ang="0">
                          <a:pos x="0" y="0"/>
                        </a:cxn>
                        <a:cxn ang="0">
                          <a:pos x="0" y="96"/>
                        </a:cxn>
                        <a:cxn ang="0">
                          <a:pos x="72" y="48"/>
                        </a:cxn>
                      </a:cxnLst>
                      <a:rect l="0" t="0" r="r" b="b"/>
                      <a:pathLst>
                        <a:path w="73" h="97">
                          <a:moveTo>
                            <a:pt x="72" y="48"/>
                          </a:moveTo>
                          <a:lnTo>
                            <a:pt x="0" y="0"/>
                          </a:lnTo>
                          <a:lnTo>
                            <a:pt x="0" y="96"/>
                          </a:lnTo>
                          <a:lnTo>
                            <a:pt x="72" y="48"/>
                          </a:lnTo>
                        </a:path>
                      </a:pathLst>
                    </a:custGeom>
                    <a:solidFill>
                      <a:srgbClr val="8901F3"/>
                    </a:solidFill>
                    <a:ln w="12700" cap="rnd" cmpd="sng">
                      <a:noFill/>
                      <a:prstDash val="solid"/>
                      <a:round/>
                      <a:headEnd type="none" w="med" len="med"/>
                      <a:tailEnd type="none" w="med" len="med"/>
                    </a:ln>
                    <a:effectLst/>
                  </p:spPr>
                  <p:txBody>
                    <a:bodyPr/>
                    <a:lstStyle/>
                    <a:p>
                      <a:endParaRPr lang="fr-FR"/>
                    </a:p>
                  </p:txBody>
                </p:sp>
                <p:sp>
                  <p:nvSpPr>
                    <p:cNvPr id="62632" name="Oval 168"/>
                    <p:cNvSpPr>
                      <a:spLocks noChangeArrowheads="1"/>
                    </p:cNvSpPr>
                    <p:nvPr/>
                  </p:nvSpPr>
                  <p:spPr bwMode="auto">
                    <a:xfrm>
                      <a:off x="4043" y="1418"/>
                      <a:ext cx="191" cy="190"/>
                    </a:xfrm>
                    <a:prstGeom prst="ellipse">
                      <a:avLst/>
                    </a:prstGeom>
                    <a:solidFill>
                      <a:srgbClr val="8901F3"/>
                    </a:solidFill>
                    <a:ln w="12700">
                      <a:noFill/>
                      <a:round/>
                      <a:headEnd/>
                      <a:tailEnd/>
                    </a:ln>
                    <a:effectLst/>
                  </p:spPr>
                  <p:txBody>
                    <a:bodyPr wrap="none" anchor="ctr"/>
                    <a:lstStyle/>
                    <a:p>
                      <a:endParaRPr lang="fr-FR"/>
                    </a:p>
                  </p:txBody>
                </p:sp>
              </p:grpSp>
              <p:sp>
                <p:nvSpPr>
                  <p:cNvPr id="62633" name="Oval 169"/>
                  <p:cNvSpPr>
                    <a:spLocks noChangeArrowheads="1"/>
                  </p:cNvSpPr>
                  <p:nvPr/>
                </p:nvSpPr>
                <p:spPr bwMode="auto">
                  <a:xfrm>
                    <a:off x="3967" y="2337"/>
                    <a:ext cx="95" cy="96"/>
                  </a:xfrm>
                  <a:prstGeom prst="ellipse">
                    <a:avLst/>
                  </a:prstGeom>
                  <a:solidFill>
                    <a:srgbClr val="FCFEB9"/>
                  </a:solidFill>
                  <a:ln w="12700">
                    <a:noFill/>
                    <a:round/>
                    <a:headEnd/>
                    <a:tailEnd/>
                  </a:ln>
                  <a:effectLst/>
                </p:spPr>
                <p:txBody>
                  <a:bodyPr wrap="none" anchor="ctr"/>
                  <a:lstStyle/>
                  <a:p>
                    <a:endParaRPr lang="fr-FR"/>
                  </a:p>
                </p:txBody>
              </p:sp>
            </p:grpSp>
          </p:grpSp>
          <p:grpSp>
            <p:nvGrpSpPr>
              <p:cNvPr id="62634" name="Group 170"/>
              <p:cNvGrpSpPr>
                <a:grpSpLocks/>
              </p:cNvGrpSpPr>
              <p:nvPr/>
            </p:nvGrpSpPr>
            <p:grpSpPr bwMode="auto">
              <a:xfrm>
                <a:off x="4246" y="1921"/>
                <a:ext cx="326" cy="324"/>
                <a:chOff x="3375" y="2382"/>
                <a:chExt cx="326" cy="324"/>
              </a:xfrm>
            </p:grpSpPr>
            <p:grpSp>
              <p:nvGrpSpPr>
                <p:cNvPr id="62635" name="Group 171"/>
                <p:cNvGrpSpPr>
                  <a:grpSpLocks/>
                </p:cNvGrpSpPr>
                <p:nvPr/>
              </p:nvGrpSpPr>
              <p:grpSpPr bwMode="auto">
                <a:xfrm>
                  <a:off x="3375" y="2382"/>
                  <a:ext cx="326" cy="324"/>
                  <a:chOff x="3995" y="1370"/>
                  <a:chExt cx="288" cy="287"/>
                </a:xfrm>
              </p:grpSpPr>
              <p:sp>
                <p:nvSpPr>
                  <p:cNvPr id="62636" name="Freeform 172"/>
                  <p:cNvSpPr>
                    <a:spLocks/>
                  </p:cNvSpPr>
                  <p:nvPr/>
                </p:nvSpPr>
                <p:spPr bwMode="auto">
                  <a:xfrm>
                    <a:off x="4091" y="1370"/>
                    <a:ext cx="96" cy="72"/>
                  </a:xfrm>
                  <a:custGeom>
                    <a:avLst/>
                    <a:gdLst/>
                    <a:ahLst/>
                    <a:cxnLst>
                      <a:cxn ang="0">
                        <a:pos x="48" y="71"/>
                      </a:cxn>
                      <a:cxn ang="0">
                        <a:pos x="0" y="0"/>
                      </a:cxn>
                      <a:cxn ang="0">
                        <a:pos x="95" y="0"/>
                      </a:cxn>
                      <a:cxn ang="0">
                        <a:pos x="48" y="71"/>
                      </a:cxn>
                    </a:cxnLst>
                    <a:rect l="0" t="0" r="r" b="b"/>
                    <a:pathLst>
                      <a:path w="96" h="72">
                        <a:moveTo>
                          <a:pt x="48" y="71"/>
                        </a:moveTo>
                        <a:lnTo>
                          <a:pt x="0" y="0"/>
                        </a:lnTo>
                        <a:lnTo>
                          <a:pt x="95" y="0"/>
                        </a:lnTo>
                        <a:lnTo>
                          <a:pt x="48" y="71"/>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62637" name="Freeform 173"/>
                  <p:cNvSpPr>
                    <a:spLocks/>
                  </p:cNvSpPr>
                  <p:nvPr/>
                </p:nvSpPr>
                <p:spPr bwMode="auto">
                  <a:xfrm>
                    <a:off x="4091" y="1584"/>
                    <a:ext cx="96" cy="73"/>
                  </a:xfrm>
                  <a:custGeom>
                    <a:avLst/>
                    <a:gdLst/>
                    <a:ahLst/>
                    <a:cxnLst>
                      <a:cxn ang="0">
                        <a:pos x="48" y="0"/>
                      </a:cxn>
                      <a:cxn ang="0">
                        <a:pos x="0" y="72"/>
                      </a:cxn>
                      <a:cxn ang="0">
                        <a:pos x="95" y="72"/>
                      </a:cxn>
                      <a:cxn ang="0">
                        <a:pos x="48" y="0"/>
                      </a:cxn>
                    </a:cxnLst>
                    <a:rect l="0" t="0" r="r" b="b"/>
                    <a:pathLst>
                      <a:path w="96" h="73">
                        <a:moveTo>
                          <a:pt x="48" y="0"/>
                        </a:moveTo>
                        <a:lnTo>
                          <a:pt x="0" y="72"/>
                        </a:lnTo>
                        <a:lnTo>
                          <a:pt x="95" y="72"/>
                        </a:lnTo>
                        <a:lnTo>
                          <a:pt x="48" y="0"/>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62638" name="Freeform 174"/>
                  <p:cNvSpPr>
                    <a:spLocks/>
                  </p:cNvSpPr>
                  <p:nvPr/>
                </p:nvSpPr>
                <p:spPr bwMode="auto">
                  <a:xfrm>
                    <a:off x="4211" y="1465"/>
                    <a:ext cx="72" cy="97"/>
                  </a:xfrm>
                  <a:custGeom>
                    <a:avLst/>
                    <a:gdLst/>
                    <a:ahLst/>
                    <a:cxnLst>
                      <a:cxn ang="0">
                        <a:pos x="0" y="48"/>
                      </a:cxn>
                      <a:cxn ang="0">
                        <a:pos x="71" y="0"/>
                      </a:cxn>
                      <a:cxn ang="0">
                        <a:pos x="71" y="96"/>
                      </a:cxn>
                      <a:cxn ang="0">
                        <a:pos x="0" y="48"/>
                      </a:cxn>
                    </a:cxnLst>
                    <a:rect l="0" t="0" r="r" b="b"/>
                    <a:pathLst>
                      <a:path w="72" h="97">
                        <a:moveTo>
                          <a:pt x="0" y="48"/>
                        </a:moveTo>
                        <a:lnTo>
                          <a:pt x="71" y="0"/>
                        </a:lnTo>
                        <a:lnTo>
                          <a:pt x="71" y="96"/>
                        </a:lnTo>
                        <a:lnTo>
                          <a:pt x="0" y="48"/>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62639" name="Freeform 175"/>
                  <p:cNvSpPr>
                    <a:spLocks/>
                  </p:cNvSpPr>
                  <p:nvPr/>
                </p:nvSpPr>
                <p:spPr bwMode="auto">
                  <a:xfrm>
                    <a:off x="3995" y="1465"/>
                    <a:ext cx="73" cy="97"/>
                  </a:xfrm>
                  <a:custGeom>
                    <a:avLst/>
                    <a:gdLst/>
                    <a:ahLst/>
                    <a:cxnLst>
                      <a:cxn ang="0">
                        <a:pos x="72" y="48"/>
                      </a:cxn>
                      <a:cxn ang="0">
                        <a:pos x="0" y="0"/>
                      </a:cxn>
                      <a:cxn ang="0">
                        <a:pos x="0" y="96"/>
                      </a:cxn>
                      <a:cxn ang="0">
                        <a:pos x="72" y="48"/>
                      </a:cxn>
                    </a:cxnLst>
                    <a:rect l="0" t="0" r="r" b="b"/>
                    <a:pathLst>
                      <a:path w="73" h="97">
                        <a:moveTo>
                          <a:pt x="72" y="48"/>
                        </a:moveTo>
                        <a:lnTo>
                          <a:pt x="0" y="0"/>
                        </a:lnTo>
                        <a:lnTo>
                          <a:pt x="0" y="96"/>
                        </a:lnTo>
                        <a:lnTo>
                          <a:pt x="72" y="48"/>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62640" name="Oval 176"/>
                  <p:cNvSpPr>
                    <a:spLocks noChangeArrowheads="1"/>
                  </p:cNvSpPr>
                  <p:nvPr/>
                </p:nvSpPr>
                <p:spPr bwMode="auto">
                  <a:xfrm>
                    <a:off x="4043" y="1418"/>
                    <a:ext cx="191" cy="190"/>
                  </a:xfrm>
                  <a:prstGeom prst="ellipse">
                    <a:avLst/>
                  </a:prstGeom>
                  <a:solidFill>
                    <a:schemeClr val="bg1"/>
                  </a:solidFill>
                  <a:ln w="12700">
                    <a:noFill/>
                    <a:round/>
                    <a:headEnd/>
                    <a:tailEnd/>
                  </a:ln>
                  <a:effectLst/>
                </p:spPr>
                <p:txBody>
                  <a:bodyPr wrap="none" anchor="ctr"/>
                  <a:lstStyle/>
                  <a:p>
                    <a:endParaRPr lang="fr-FR"/>
                  </a:p>
                </p:txBody>
              </p:sp>
            </p:grpSp>
            <p:grpSp>
              <p:nvGrpSpPr>
                <p:cNvPr id="62641" name="Group 177"/>
                <p:cNvGrpSpPr>
                  <a:grpSpLocks/>
                </p:cNvGrpSpPr>
                <p:nvPr/>
              </p:nvGrpSpPr>
              <p:grpSpPr bwMode="auto">
                <a:xfrm>
                  <a:off x="3395" y="2400"/>
                  <a:ext cx="288" cy="287"/>
                  <a:chOff x="3871" y="2242"/>
                  <a:chExt cx="288" cy="287"/>
                </a:xfrm>
              </p:grpSpPr>
              <p:grpSp>
                <p:nvGrpSpPr>
                  <p:cNvPr id="62642" name="Group 178"/>
                  <p:cNvGrpSpPr>
                    <a:grpSpLocks/>
                  </p:cNvGrpSpPr>
                  <p:nvPr/>
                </p:nvGrpSpPr>
                <p:grpSpPr bwMode="auto">
                  <a:xfrm>
                    <a:off x="3871" y="2242"/>
                    <a:ext cx="288" cy="287"/>
                    <a:chOff x="3995" y="1370"/>
                    <a:chExt cx="288" cy="287"/>
                  </a:xfrm>
                </p:grpSpPr>
                <p:sp>
                  <p:nvSpPr>
                    <p:cNvPr id="62643" name="Freeform 179"/>
                    <p:cNvSpPr>
                      <a:spLocks/>
                    </p:cNvSpPr>
                    <p:nvPr/>
                  </p:nvSpPr>
                  <p:spPr bwMode="auto">
                    <a:xfrm>
                      <a:off x="4091" y="1370"/>
                      <a:ext cx="96" cy="72"/>
                    </a:xfrm>
                    <a:custGeom>
                      <a:avLst/>
                      <a:gdLst/>
                      <a:ahLst/>
                      <a:cxnLst>
                        <a:cxn ang="0">
                          <a:pos x="48" y="71"/>
                        </a:cxn>
                        <a:cxn ang="0">
                          <a:pos x="0" y="0"/>
                        </a:cxn>
                        <a:cxn ang="0">
                          <a:pos x="95" y="0"/>
                        </a:cxn>
                        <a:cxn ang="0">
                          <a:pos x="48" y="71"/>
                        </a:cxn>
                      </a:cxnLst>
                      <a:rect l="0" t="0" r="r" b="b"/>
                      <a:pathLst>
                        <a:path w="96" h="72">
                          <a:moveTo>
                            <a:pt x="48" y="71"/>
                          </a:moveTo>
                          <a:lnTo>
                            <a:pt x="0" y="0"/>
                          </a:lnTo>
                          <a:lnTo>
                            <a:pt x="95" y="0"/>
                          </a:lnTo>
                          <a:lnTo>
                            <a:pt x="48" y="71"/>
                          </a:lnTo>
                        </a:path>
                      </a:pathLst>
                    </a:custGeom>
                    <a:solidFill>
                      <a:srgbClr val="8901F3"/>
                    </a:solidFill>
                    <a:ln w="12700" cap="rnd" cmpd="sng">
                      <a:noFill/>
                      <a:prstDash val="solid"/>
                      <a:round/>
                      <a:headEnd type="none" w="med" len="med"/>
                      <a:tailEnd type="none" w="med" len="med"/>
                    </a:ln>
                    <a:effectLst/>
                  </p:spPr>
                  <p:txBody>
                    <a:bodyPr/>
                    <a:lstStyle/>
                    <a:p>
                      <a:endParaRPr lang="fr-FR"/>
                    </a:p>
                  </p:txBody>
                </p:sp>
                <p:sp>
                  <p:nvSpPr>
                    <p:cNvPr id="62644" name="Freeform 180"/>
                    <p:cNvSpPr>
                      <a:spLocks/>
                    </p:cNvSpPr>
                    <p:nvPr/>
                  </p:nvSpPr>
                  <p:spPr bwMode="auto">
                    <a:xfrm>
                      <a:off x="4091" y="1584"/>
                      <a:ext cx="96" cy="73"/>
                    </a:xfrm>
                    <a:custGeom>
                      <a:avLst/>
                      <a:gdLst/>
                      <a:ahLst/>
                      <a:cxnLst>
                        <a:cxn ang="0">
                          <a:pos x="48" y="0"/>
                        </a:cxn>
                        <a:cxn ang="0">
                          <a:pos x="0" y="72"/>
                        </a:cxn>
                        <a:cxn ang="0">
                          <a:pos x="95" y="72"/>
                        </a:cxn>
                        <a:cxn ang="0">
                          <a:pos x="48" y="0"/>
                        </a:cxn>
                      </a:cxnLst>
                      <a:rect l="0" t="0" r="r" b="b"/>
                      <a:pathLst>
                        <a:path w="96" h="73">
                          <a:moveTo>
                            <a:pt x="48" y="0"/>
                          </a:moveTo>
                          <a:lnTo>
                            <a:pt x="0" y="72"/>
                          </a:lnTo>
                          <a:lnTo>
                            <a:pt x="95" y="72"/>
                          </a:lnTo>
                          <a:lnTo>
                            <a:pt x="48" y="0"/>
                          </a:lnTo>
                        </a:path>
                      </a:pathLst>
                    </a:custGeom>
                    <a:solidFill>
                      <a:srgbClr val="8901F3"/>
                    </a:solidFill>
                    <a:ln w="12700" cap="rnd" cmpd="sng">
                      <a:noFill/>
                      <a:prstDash val="solid"/>
                      <a:round/>
                      <a:headEnd type="none" w="med" len="med"/>
                      <a:tailEnd type="none" w="med" len="med"/>
                    </a:ln>
                    <a:effectLst/>
                  </p:spPr>
                  <p:txBody>
                    <a:bodyPr/>
                    <a:lstStyle/>
                    <a:p>
                      <a:endParaRPr lang="fr-FR"/>
                    </a:p>
                  </p:txBody>
                </p:sp>
                <p:sp>
                  <p:nvSpPr>
                    <p:cNvPr id="62645" name="Freeform 181"/>
                    <p:cNvSpPr>
                      <a:spLocks/>
                    </p:cNvSpPr>
                    <p:nvPr/>
                  </p:nvSpPr>
                  <p:spPr bwMode="auto">
                    <a:xfrm>
                      <a:off x="4211" y="1465"/>
                      <a:ext cx="72" cy="97"/>
                    </a:xfrm>
                    <a:custGeom>
                      <a:avLst/>
                      <a:gdLst/>
                      <a:ahLst/>
                      <a:cxnLst>
                        <a:cxn ang="0">
                          <a:pos x="0" y="48"/>
                        </a:cxn>
                        <a:cxn ang="0">
                          <a:pos x="71" y="0"/>
                        </a:cxn>
                        <a:cxn ang="0">
                          <a:pos x="71" y="96"/>
                        </a:cxn>
                        <a:cxn ang="0">
                          <a:pos x="0" y="48"/>
                        </a:cxn>
                      </a:cxnLst>
                      <a:rect l="0" t="0" r="r" b="b"/>
                      <a:pathLst>
                        <a:path w="72" h="97">
                          <a:moveTo>
                            <a:pt x="0" y="48"/>
                          </a:moveTo>
                          <a:lnTo>
                            <a:pt x="71" y="0"/>
                          </a:lnTo>
                          <a:lnTo>
                            <a:pt x="71" y="96"/>
                          </a:lnTo>
                          <a:lnTo>
                            <a:pt x="0" y="48"/>
                          </a:lnTo>
                        </a:path>
                      </a:pathLst>
                    </a:custGeom>
                    <a:solidFill>
                      <a:srgbClr val="8901F3"/>
                    </a:solidFill>
                    <a:ln w="12700" cap="rnd" cmpd="sng">
                      <a:noFill/>
                      <a:prstDash val="solid"/>
                      <a:round/>
                      <a:headEnd type="none" w="med" len="med"/>
                      <a:tailEnd type="none" w="med" len="med"/>
                    </a:ln>
                    <a:effectLst/>
                  </p:spPr>
                  <p:txBody>
                    <a:bodyPr/>
                    <a:lstStyle/>
                    <a:p>
                      <a:endParaRPr lang="fr-FR"/>
                    </a:p>
                  </p:txBody>
                </p:sp>
                <p:sp>
                  <p:nvSpPr>
                    <p:cNvPr id="62646" name="Freeform 182"/>
                    <p:cNvSpPr>
                      <a:spLocks/>
                    </p:cNvSpPr>
                    <p:nvPr/>
                  </p:nvSpPr>
                  <p:spPr bwMode="auto">
                    <a:xfrm>
                      <a:off x="3995" y="1465"/>
                      <a:ext cx="73" cy="97"/>
                    </a:xfrm>
                    <a:custGeom>
                      <a:avLst/>
                      <a:gdLst/>
                      <a:ahLst/>
                      <a:cxnLst>
                        <a:cxn ang="0">
                          <a:pos x="72" y="48"/>
                        </a:cxn>
                        <a:cxn ang="0">
                          <a:pos x="0" y="0"/>
                        </a:cxn>
                        <a:cxn ang="0">
                          <a:pos x="0" y="96"/>
                        </a:cxn>
                        <a:cxn ang="0">
                          <a:pos x="72" y="48"/>
                        </a:cxn>
                      </a:cxnLst>
                      <a:rect l="0" t="0" r="r" b="b"/>
                      <a:pathLst>
                        <a:path w="73" h="97">
                          <a:moveTo>
                            <a:pt x="72" y="48"/>
                          </a:moveTo>
                          <a:lnTo>
                            <a:pt x="0" y="0"/>
                          </a:lnTo>
                          <a:lnTo>
                            <a:pt x="0" y="96"/>
                          </a:lnTo>
                          <a:lnTo>
                            <a:pt x="72" y="48"/>
                          </a:lnTo>
                        </a:path>
                      </a:pathLst>
                    </a:custGeom>
                    <a:solidFill>
                      <a:srgbClr val="8901F3"/>
                    </a:solidFill>
                    <a:ln w="12700" cap="rnd" cmpd="sng">
                      <a:noFill/>
                      <a:prstDash val="solid"/>
                      <a:round/>
                      <a:headEnd type="none" w="med" len="med"/>
                      <a:tailEnd type="none" w="med" len="med"/>
                    </a:ln>
                    <a:effectLst/>
                  </p:spPr>
                  <p:txBody>
                    <a:bodyPr/>
                    <a:lstStyle/>
                    <a:p>
                      <a:endParaRPr lang="fr-FR"/>
                    </a:p>
                  </p:txBody>
                </p:sp>
                <p:sp>
                  <p:nvSpPr>
                    <p:cNvPr id="62647" name="Oval 183"/>
                    <p:cNvSpPr>
                      <a:spLocks noChangeArrowheads="1"/>
                    </p:cNvSpPr>
                    <p:nvPr/>
                  </p:nvSpPr>
                  <p:spPr bwMode="auto">
                    <a:xfrm>
                      <a:off x="4043" y="1418"/>
                      <a:ext cx="191" cy="190"/>
                    </a:xfrm>
                    <a:prstGeom prst="ellipse">
                      <a:avLst/>
                    </a:prstGeom>
                    <a:solidFill>
                      <a:srgbClr val="8901F3"/>
                    </a:solidFill>
                    <a:ln w="12700">
                      <a:noFill/>
                      <a:round/>
                      <a:headEnd/>
                      <a:tailEnd/>
                    </a:ln>
                    <a:effectLst/>
                  </p:spPr>
                  <p:txBody>
                    <a:bodyPr wrap="none" anchor="ctr"/>
                    <a:lstStyle/>
                    <a:p>
                      <a:endParaRPr lang="fr-FR"/>
                    </a:p>
                  </p:txBody>
                </p:sp>
              </p:grpSp>
              <p:sp>
                <p:nvSpPr>
                  <p:cNvPr id="62648" name="Oval 184"/>
                  <p:cNvSpPr>
                    <a:spLocks noChangeArrowheads="1"/>
                  </p:cNvSpPr>
                  <p:nvPr/>
                </p:nvSpPr>
                <p:spPr bwMode="auto">
                  <a:xfrm>
                    <a:off x="3967" y="2337"/>
                    <a:ext cx="95" cy="96"/>
                  </a:xfrm>
                  <a:prstGeom prst="ellipse">
                    <a:avLst/>
                  </a:prstGeom>
                  <a:solidFill>
                    <a:srgbClr val="FCFEB9"/>
                  </a:solidFill>
                  <a:ln w="12700">
                    <a:noFill/>
                    <a:round/>
                    <a:headEnd/>
                    <a:tailEnd/>
                  </a:ln>
                  <a:effectLst/>
                </p:spPr>
                <p:txBody>
                  <a:bodyPr wrap="none" anchor="ctr"/>
                  <a:lstStyle/>
                  <a:p>
                    <a:endParaRPr lang="fr-FR"/>
                  </a:p>
                </p:txBody>
              </p:sp>
            </p:grpSp>
          </p:grpSp>
          <p:grpSp>
            <p:nvGrpSpPr>
              <p:cNvPr id="62649" name="Group 185"/>
              <p:cNvGrpSpPr>
                <a:grpSpLocks/>
              </p:cNvGrpSpPr>
              <p:nvPr/>
            </p:nvGrpSpPr>
            <p:grpSpPr bwMode="auto">
              <a:xfrm>
                <a:off x="4486" y="2488"/>
                <a:ext cx="326" cy="324"/>
                <a:chOff x="3375" y="2382"/>
                <a:chExt cx="326" cy="324"/>
              </a:xfrm>
            </p:grpSpPr>
            <p:grpSp>
              <p:nvGrpSpPr>
                <p:cNvPr id="62650" name="Group 186"/>
                <p:cNvGrpSpPr>
                  <a:grpSpLocks/>
                </p:cNvGrpSpPr>
                <p:nvPr/>
              </p:nvGrpSpPr>
              <p:grpSpPr bwMode="auto">
                <a:xfrm>
                  <a:off x="3375" y="2382"/>
                  <a:ext cx="326" cy="324"/>
                  <a:chOff x="3995" y="1370"/>
                  <a:chExt cx="288" cy="287"/>
                </a:xfrm>
              </p:grpSpPr>
              <p:sp>
                <p:nvSpPr>
                  <p:cNvPr id="62651" name="Freeform 187"/>
                  <p:cNvSpPr>
                    <a:spLocks/>
                  </p:cNvSpPr>
                  <p:nvPr/>
                </p:nvSpPr>
                <p:spPr bwMode="auto">
                  <a:xfrm>
                    <a:off x="4091" y="1370"/>
                    <a:ext cx="96" cy="72"/>
                  </a:xfrm>
                  <a:custGeom>
                    <a:avLst/>
                    <a:gdLst/>
                    <a:ahLst/>
                    <a:cxnLst>
                      <a:cxn ang="0">
                        <a:pos x="48" y="71"/>
                      </a:cxn>
                      <a:cxn ang="0">
                        <a:pos x="0" y="0"/>
                      </a:cxn>
                      <a:cxn ang="0">
                        <a:pos x="95" y="0"/>
                      </a:cxn>
                      <a:cxn ang="0">
                        <a:pos x="48" y="71"/>
                      </a:cxn>
                    </a:cxnLst>
                    <a:rect l="0" t="0" r="r" b="b"/>
                    <a:pathLst>
                      <a:path w="96" h="72">
                        <a:moveTo>
                          <a:pt x="48" y="71"/>
                        </a:moveTo>
                        <a:lnTo>
                          <a:pt x="0" y="0"/>
                        </a:lnTo>
                        <a:lnTo>
                          <a:pt x="95" y="0"/>
                        </a:lnTo>
                        <a:lnTo>
                          <a:pt x="48" y="71"/>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62652" name="Freeform 188"/>
                  <p:cNvSpPr>
                    <a:spLocks/>
                  </p:cNvSpPr>
                  <p:nvPr/>
                </p:nvSpPr>
                <p:spPr bwMode="auto">
                  <a:xfrm>
                    <a:off x="4091" y="1584"/>
                    <a:ext cx="96" cy="73"/>
                  </a:xfrm>
                  <a:custGeom>
                    <a:avLst/>
                    <a:gdLst/>
                    <a:ahLst/>
                    <a:cxnLst>
                      <a:cxn ang="0">
                        <a:pos x="48" y="0"/>
                      </a:cxn>
                      <a:cxn ang="0">
                        <a:pos x="0" y="72"/>
                      </a:cxn>
                      <a:cxn ang="0">
                        <a:pos x="95" y="72"/>
                      </a:cxn>
                      <a:cxn ang="0">
                        <a:pos x="48" y="0"/>
                      </a:cxn>
                    </a:cxnLst>
                    <a:rect l="0" t="0" r="r" b="b"/>
                    <a:pathLst>
                      <a:path w="96" h="73">
                        <a:moveTo>
                          <a:pt x="48" y="0"/>
                        </a:moveTo>
                        <a:lnTo>
                          <a:pt x="0" y="72"/>
                        </a:lnTo>
                        <a:lnTo>
                          <a:pt x="95" y="72"/>
                        </a:lnTo>
                        <a:lnTo>
                          <a:pt x="48" y="0"/>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62653" name="Freeform 189"/>
                  <p:cNvSpPr>
                    <a:spLocks/>
                  </p:cNvSpPr>
                  <p:nvPr/>
                </p:nvSpPr>
                <p:spPr bwMode="auto">
                  <a:xfrm>
                    <a:off x="4211" y="1465"/>
                    <a:ext cx="72" cy="97"/>
                  </a:xfrm>
                  <a:custGeom>
                    <a:avLst/>
                    <a:gdLst/>
                    <a:ahLst/>
                    <a:cxnLst>
                      <a:cxn ang="0">
                        <a:pos x="0" y="48"/>
                      </a:cxn>
                      <a:cxn ang="0">
                        <a:pos x="71" y="0"/>
                      </a:cxn>
                      <a:cxn ang="0">
                        <a:pos x="71" y="96"/>
                      </a:cxn>
                      <a:cxn ang="0">
                        <a:pos x="0" y="48"/>
                      </a:cxn>
                    </a:cxnLst>
                    <a:rect l="0" t="0" r="r" b="b"/>
                    <a:pathLst>
                      <a:path w="72" h="97">
                        <a:moveTo>
                          <a:pt x="0" y="48"/>
                        </a:moveTo>
                        <a:lnTo>
                          <a:pt x="71" y="0"/>
                        </a:lnTo>
                        <a:lnTo>
                          <a:pt x="71" y="96"/>
                        </a:lnTo>
                        <a:lnTo>
                          <a:pt x="0" y="48"/>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62654" name="Freeform 190"/>
                  <p:cNvSpPr>
                    <a:spLocks/>
                  </p:cNvSpPr>
                  <p:nvPr/>
                </p:nvSpPr>
                <p:spPr bwMode="auto">
                  <a:xfrm>
                    <a:off x="3995" y="1465"/>
                    <a:ext cx="73" cy="97"/>
                  </a:xfrm>
                  <a:custGeom>
                    <a:avLst/>
                    <a:gdLst/>
                    <a:ahLst/>
                    <a:cxnLst>
                      <a:cxn ang="0">
                        <a:pos x="72" y="48"/>
                      </a:cxn>
                      <a:cxn ang="0">
                        <a:pos x="0" y="0"/>
                      </a:cxn>
                      <a:cxn ang="0">
                        <a:pos x="0" y="96"/>
                      </a:cxn>
                      <a:cxn ang="0">
                        <a:pos x="72" y="48"/>
                      </a:cxn>
                    </a:cxnLst>
                    <a:rect l="0" t="0" r="r" b="b"/>
                    <a:pathLst>
                      <a:path w="73" h="97">
                        <a:moveTo>
                          <a:pt x="72" y="48"/>
                        </a:moveTo>
                        <a:lnTo>
                          <a:pt x="0" y="0"/>
                        </a:lnTo>
                        <a:lnTo>
                          <a:pt x="0" y="96"/>
                        </a:lnTo>
                        <a:lnTo>
                          <a:pt x="72" y="48"/>
                        </a:lnTo>
                      </a:path>
                    </a:pathLst>
                  </a:custGeom>
                  <a:solidFill>
                    <a:schemeClr val="bg1"/>
                  </a:solidFill>
                  <a:ln w="12700" cap="rnd" cmpd="sng">
                    <a:noFill/>
                    <a:prstDash val="solid"/>
                    <a:round/>
                    <a:headEnd type="none" w="med" len="med"/>
                    <a:tailEnd type="none" w="med" len="med"/>
                  </a:ln>
                  <a:effectLst/>
                </p:spPr>
                <p:txBody>
                  <a:bodyPr/>
                  <a:lstStyle/>
                  <a:p>
                    <a:endParaRPr lang="fr-FR"/>
                  </a:p>
                </p:txBody>
              </p:sp>
              <p:sp>
                <p:nvSpPr>
                  <p:cNvPr id="62655" name="Oval 191"/>
                  <p:cNvSpPr>
                    <a:spLocks noChangeArrowheads="1"/>
                  </p:cNvSpPr>
                  <p:nvPr/>
                </p:nvSpPr>
                <p:spPr bwMode="auto">
                  <a:xfrm>
                    <a:off x="4043" y="1418"/>
                    <a:ext cx="191" cy="190"/>
                  </a:xfrm>
                  <a:prstGeom prst="ellipse">
                    <a:avLst/>
                  </a:prstGeom>
                  <a:solidFill>
                    <a:schemeClr val="bg1"/>
                  </a:solidFill>
                  <a:ln w="12700">
                    <a:noFill/>
                    <a:round/>
                    <a:headEnd/>
                    <a:tailEnd/>
                  </a:ln>
                  <a:effectLst/>
                </p:spPr>
                <p:txBody>
                  <a:bodyPr wrap="none" anchor="ctr"/>
                  <a:lstStyle/>
                  <a:p>
                    <a:endParaRPr lang="fr-FR"/>
                  </a:p>
                </p:txBody>
              </p:sp>
            </p:grpSp>
            <p:grpSp>
              <p:nvGrpSpPr>
                <p:cNvPr id="62656" name="Group 192"/>
                <p:cNvGrpSpPr>
                  <a:grpSpLocks/>
                </p:cNvGrpSpPr>
                <p:nvPr/>
              </p:nvGrpSpPr>
              <p:grpSpPr bwMode="auto">
                <a:xfrm>
                  <a:off x="3395" y="2400"/>
                  <a:ext cx="288" cy="287"/>
                  <a:chOff x="3871" y="2242"/>
                  <a:chExt cx="288" cy="287"/>
                </a:xfrm>
              </p:grpSpPr>
              <p:grpSp>
                <p:nvGrpSpPr>
                  <p:cNvPr id="62657" name="Group 193"/>
                  <p:cNvGrpSpPr>
                    <a:grpSpLocks/>
                  </p:cNvGrpSpPr>
                  <p:nvPr/>
                </p:nvGrpSpPr>
                <p:grpSpPr bwMode="auto">
                  <a:xfrm>
                    <a:off x="3871" y="2242"/>
                    <a:ext cx="288" cy="287"/>
                    <a:chOff x="3995" y="1370"/>
                    <a:chExt cx="288" cy="287"/>
                  </a:xfrm>
                </p:grpSpPr>
                <p:sp>
                  <p:nvSpPr>
                    <p:cNvPr id="62658" name="Freeform 194"/>
                    <p:cNvSpPr>
                      <a:spLocks/>
                    </p:cNvSpPr>
                    <p:nvPr/>
                  </p:nvSpPr>
                  <p:spPr bwMode="auto">
                    <a:xfrm>
                      <a:off x="4091" y="1370"/>
                      <a:ext cx="96" cy="72"/>
                    </a:xfrm>
                    <a:custGeom>
                      <a:avLst/>
                      <a:gdLst/>
                      <a:ahLst/>
                      <a:cxnLst>
                        <a:cxn ang="0">
                          <a:pos x="48" y="71"/>
                        </a:cxn>
                        <a:cxn ang="0">
                          <a:pos x="0" y="0"/>
                        </a:cxn>
                        <a:cxn ang="0">
                          <a:pos x="95" y="0"/>
                        </a:cxn>
                        <a:cxn ang="0">
                          <a:pos x="48" y="71"/>
                        </a:cxn>
                      </a:cxnLst>
                      <a:rect l="0" t="0" r="r" b="b"/>
                      <a:pathLst>
                        <a:path w="96" h="72">
                          <a:moveTo>
                            <a:pt x="48" y="71"/>
                          </a:moveTo>
                          <a:lnTo>
                            <a:pt x="0" y="0"/>
                          </a:lnTo>
                          <a:lnTo>
                            <a:pt x="95" y="0"/>
                          </a:lnTo>
                          <a:lnTo>
                            <a:pt x="48" y="71"/>
                          </a:lnTo>
                        </a:path>
                      </a:pathLst>
                    </a:custGeom>
                    <a:solidFill>
                      <a:srgbClr val="8901F3"/>
                    </a:solidFill>
                    <a:ln w="12700" cap="rnd" cmpd="sng">
                      <a:noFill/>
                      <a:prstDash val="solid"/>
                      <a:round/>
                      <a:headEnd type="none" w="med" len="med"/>
                      <a:tailEnd type="none" w="med" len="med"/>
                    </a:ln>
                    <a:effectLst/>
                  </p:spPr>
                  <p:txBody>
                    <a:bodyPr/>
                    <a:lstStyle/>
                    <a:p>
                      <a:endParaRPr lang="fr-FR"/>
                    </a:p>
                  </p:txBody>
                </p:sp>
                <p:sp>
                  <p:nvSpPr>
                    <p:cNvPr id="62659" name="Freeform 195"/>
                    <p:cNvSpPr>
                      <a:spLocks/>
                    </p:cNvSpPr>
                    <p:nvPr/>
                  </p:nvSpPr>
                  <p:spPr bwMode="auto">
                    <a:xfrm>
                      <a:off x="4091" y="1584"/>
                      <a:ext cx="96" cy="73"/>
                    </a:xfrm>
                    <a:custGeom>
                      <a:avLst/>
                      <a:gdLst/>
                      <a:ahLst/>
                      <a:cxnLst>
                        <a:cxn ang="0">
                          <a:pos x="48" y="0"/>
                        </a:cxn>
                        <a:cxn ang="0">
                          <a:pos x="0" y="72"/>
                        </a:cxn>
                        <a:cxn ang="0">
                          <a:pos x="95" y="72"/>
                        </a:cxn>
                        <a:cxn ang="0">
                          <a:pos x="48" y="0"/>
                        </a:cxn>
                      </a:cxnLst>
                      <a:rect l="0" t="0" r="r" b="b"/>
                      <a:pathLst>
                        <a:path w="96" h="73">
                          <a:moveTo>
                            <a:pt x="48" y="0"/>
                          </a:moveTo>
                          <a:lnTo>
                            <a:pt x="0" y="72"/>
                          </a:lnTo>
                          <a:lnTo>
                            <a:pt x="95" y="72"/>
                          </a:lnTo>
                          <a:lnTo>
                            <a:pt x="48" y="0"/>
                          </a:lnTo>
                        </a:path>
                      </a:pathLst>
                    </a:custGeom>
                    <a:solidFill>
                      <a:srgbClr val="8901F3"/>
                    </a:solidFill>
                    <a:ln w="12700" cap="rnd" cmpd="sng">
                      <a:noFill/>
                      <a:prstDash val="solid"/>
                      <a:round/>
                      <a:headEnd type="none" w="med" len="med"/>
                      <a:tailEnd type="none" w="med" len="med"/>
                    </a:ln>
                    <a:effectLst/>
                  </p:spPr>
                  <p:txBody>
                    <a:bodyPr/>
                    <a:lstStyle/>
                    <a:p>
                      <a:endParaRPr lang="fr-FR"/>
                    </a:p>
                  </p:txBody>
                </p:sp>
                <p:sp>
                  <p:nvSpPr>
                    <p:cNvPr id="62660" name="Freeform 196"/>
                    <p:cNvSpPr>
                      <a:spLocks/>
                    </p:cNvSpPr>
                    <p:nvPr/>
                  </p:nvSpPr>
                  <p:spPr bwMode="auto">
                    <a:xfrm>
                      <a:off x="4211" y="1465"/>
                      <a:ext cx="72" cy="97"/>
                    </a:xfrm>
                    <a:custGeom>
                      <a:avLst/>
                      <a:gdLst/>
                      <a:ahLst/>
                      <a:cxnLst>
                        <a:cxn ang="0">
                          <a:pos x="0" y="48"/>
                        </a:cxn>
                        <a:cxn ang="0">
                          <a:pos x="71" y="0"/>
                        </a:cxn>
                        <a:cxn ang="0">
                          <a:pos x="71" y="96"/>
                        </a:cxn>
                        <a:cxn ang="0">
                          <a:pos x="0" y="48"/>
                        </a:cxn>
                      </a:cxnLst>
                      <a:rect l="0" t="0" r="r" b="b"/>
                      <a:pathLst>
                        <a:path w="72" h="97">
                          <a:moveTo>
                            <a:pt x="0" y="48"/>
                          </a:moveTo>
                          <a:lnTo>
                            <a:pt x="71" y="0"/>
                          </a:lnTo>
                          <a:lnTo>
                            <a:pt x="71" y="96"/>
                          </a:lnTo>
                          <a:lnTo>
                            <a:pt x="0" y="48"/>
                          </a:lnTo>
                        </a:path>
                      </a:pathLst>
                    </a:custGeom>
                    <a:solidFill>
                      <a:srgbClr val="8901F3"/>
                    </a:solidFill>
                    <a:ln w="12700" cap="rnd" cmpd="sng">
                      <a:noFill/>
                      <a:prstDash val="solid"/>
                      <a:round/>
                      <a:headEnd type="none" w="med" len="med"/>
                      <a:tailEnd type="none" w="med" len="med"/>
                    </a:ln>
                    <a:effectLst/>
                  </p:spPr>
                  <p:txBody>
                    <a:bodyPr/>
                    <a:lstStyle/>
                    <a:p>
                      <a:endParaRPr lang="fr-FR"/>
                    </a:p>
                  </p:txBody>
                </p:sp>
                <p:sp>
                  <p:nvSpPr>
                    <p:cNvPr id="62661" name="Freeform 197"/>
                    <p:cNvSpPr>
                      <a:spLocks/>
                    </p:cNvSpPr>
                    <p:nvPr/>
                  </p:nvSpPr>
                  <p:spPr bwMode="auto">
                    <a:xfrm>
                      <a:off x="3995" y="1465"/>
                      <a:ext cx="73" cy="97"/>
                    </a:xfrm>
                    <a:custGeom>
                      <a:avLst/>
                      <a:gdLst/>
                      <a:ahLst/>
                      <a:cxnLst>
                        <a:cxn ang="0">
                          <a:pos x="72" y="48"/>
                        </a:cxn>
                        <a:cxn ang="0">
                          <a:pos x="0" y="0"/>
                        </a:cxn>
                        <a:cxn ang="0">
                          <a:pos x="0" y="96"/>
                        </a:cxn>
                        <a:cxn ang="0">
                          <a:pos x="72" y="48"/>
                        </a:cxn>
                      </a:cxnLst>
                      <a:rect l="0" t="0" r="r" b="b"/>
                      <a:pathLst>
                        <a:path w="73" h="97">
                          <a:moveTo>
                            <a:pt x="72" y="48"/>
                          </a:moveTo>
                          <a:lnTo>
                            <a:pt x="0" y="0"/>
                          </a:lnTo>
                          <a:lnTo>
                            <a:pt x="0" y="96"/>
                          </a:lnTo>
                          <a:lnTo>
                            <a:pt x="72" y="48"/>
                          </a:lnTo>
                        </a:path>
                      </a:pathLst>
                    </a:custGeom>
                    <a:solidFill>
                      <a:srgbClr val="8901F3"/>
                    </a:solidFill>
                    <a:ln w="12700" cap="rnd" cmpd="sng">
                      <a:noFill/>
                      <a:prstDash val="solid"/>
                      <a:round/>
                      <a:headEnd type="none" w="med" len="med"/>
                      <a:tailEnd type="none" w="med" len="med"/>
                    </a:ln>
                    <a:effectLst/>
                  </p:spPr>
                  <p:txBody>
                    <a:bodyPr/>
                    <a:lstStyle/>
                    <a:p>
                      <a:endParaRPr lang="fr-FR"/>
                    </a:p>
                  </p:txBody>
                </p:sp>
                <p:sp>
                  <p:nvSpPr>
                    <p:cNvPr id="62662" name="Oval 198"/>
                    <p:cNvSpPr>
                      <a:spLocks noChangeArrowheads="1"/>
                    </p:cNvSpPr>
                    <p:nvPr/>
                  </p:nvSpPr>
                  <p:spPr bwMode="auto">
                    <a:xfrm>
                      <a:off x="4043" y="1418"/>
                      <a:ext cx="191" cy="190"/>
                    </a:xfrm>
                    <a:prstGeom prst="ellipse">
                      <a:avLst/>
                    </a:prstGeom>
                    <a:solidFill>
                      <a:srgbClr val="8901F3"/>
                    </a:solidFill>
                    <a:ln w="12700">
                      <a:noFill/>
                      <a:round/>
                      <a:headEnd/>
                      <a:tailEnd/>
                    </a:ln>
                    <a:effectLst/>
                  </p:spPr>
                  <p:txBody>
                    <a:bodyPr wrap="none" anchor="ctr"/>
                    <a:lstStyle/>
                    <a:p>
                      <a:endParaRPr lang="fr-FR"/>
                    </a:p>
                  </p:txBody>
                </p:sp>
              </p:grpSp>
              <p:sp>
                <p:nvSpPr>
                  <p:cNvPr id="62663" name="Oval 199"/>
                  <p:cNvSpPr>
                    <a:spLocks noChangeArrowheads="1"/>
                  </p:cNvSpPr>
                  <p:nvPr/>
                </p:nvSpPr>
                <p:spPr bwMode="auto">
                  <a:xfrm>
                    <a:off x="3967" y="2337"/>
                    <a:ext cx="95" cy="96"/>
                  </a:xfrm>
                  <a:prstGeom prst="ellipse">
                    <a:avLst/>
                  </a:prstGeom>
                  <a:solidFill>
                    <a:srgbClr val="FCFEB9"/>
                  </a:solidFill>
                  <a:ln w="12700">
                    <a:noFill/>
                    <a:round/>
                    <a:headEnd/>
                    <a:tailEnd/>
                  </a:ln>
                  <a:effectLst/>
                </p:spPr>
                <p:txBody>
                  <a:bodyPr wrap="none" anchor="ctr"/>
                  <a:lstStyle/>
                  <a:p>
                    <a:endParaRPr lang="fr-FR"/>
                  </a:p>
                </p:txBody>
              </p:sp>
            </p:grpSp>
          </p:grpSp>
        </p:grpSp>
      </p:grpSp>
      <p:grpSp>
        <p:nvGrpSpPr>
          <p:cNvPr id="62664" name="Group 200"/>
          <p:cNvGrpSpPr>
            <a:grpSpLocks/>
          </p:cNvGrpSpPr>
          <p:nvPr/>
        </p:nvGrpSpPr>
        <p:grpSpPr bwMode="auto">
          <a:xfrm flipH="1">
            <a:off x="523875" y="4725988"/>
            <a:ext cx="1381125" cy="1370012"/>
            <a:chOff x="816" y="1017"/>
            <a:chExt cx="1175" cy="1167"/>
          </a:xfrm>
        </p:grpSpPr>
        <p:sp>
          <p:nvSpPr>
            <p:cNvPr id="62665" name="Freeform 201"/>
            <p:cNvSpPr>
              <a:spLocks noChangeAspect="1"/>
            </p:cNvSpPr>
            <p:nvPr/>
          </p:nvSpPr>
          <p:spPr bwMode="auto">
            <a:xfrm>
              <a:off x="816" y="1017"/>
              <a:ext cx="1175" cy="1167"/>
            </a:xfrm>
            <a:custGeom>
              <a:avLst/>
              <a:gdLst/>
              <a:ahLst/>
              <a:cxnLst>
                <a:cxn ang="0">
                  <a:pos x="1175" y="208"/>
                </a:cxn>
                <a:cxn ang="0">
                  <a:pos x="1081" y="477"/>
                </a:cxn>
                <a:cxn ang="0">
                  <a:pos x="985" y="751"/>
                </a:cxn>
                <a:cxn ang="0">
                  <a:pos x="911" y="720"/>
                </a:cxn>
                <a:cxn ang="0">
                  <a:pos x="910" y="725"/>
                </a:cxn>
                <a:cxn ang="0">
                  <a:pos x="979" y="761"/>
                </a:cxn>
                <a:cxn ang="0">
                  <a:pos x="981" y="761"/>
                </a:cxn>
                <a:cxn ang="0">
                  <a:pos x="981" y="763"/>
                </a:cxn>
                <a:cxn ang="0">
                  <a:pos x="982" y="763"/>
                </a:cxn>
                <a:cxn ang="0">
                  <a:pos x="982" y="764"/>
                </a:cxn>
                <a:cxn ang="0">
                  <a:pos x="982" y="765"/>
                </a:cxn>
                <a:cxn ang="0">
                  <a:pos x="982" y="768"/>
                </a:cxn>
                <a:cxn ang="0">
                  <a:pos x="982" y="886"/>
                </a:cxn>
                <a:cxn ang="0">
                  <a:pos x="958" y="902"/>
                </a:cxn>
                <a:cxn ang="0">
                  <a:pos x="933" y="920"/>
                </a:cxn>
                <a:cxn ang="0">
                  <a:pos x="909" y="939"/>
                </a:cxn>
                <a:cxn ang="0">
                  <a:pos x="884" y="955"/>
                </a:cxn>
                <a:cxn ang="0">
                  <a:pos x="857" y="974"/>
                </a:cxn>
                <a:cxn ang="0">
                  <a:pos x="833" y="990"/>
                </a:cxn>
                <a:cxn ang="0">
                  <a:pos x="808" y="1009"/>
                </a:cxn>
                <a:cxn ang="0">
                  <a:pos x="781" y="1027"/>
                </a:cxn>
                <a:cxn ang="0">
                  <a:pos x="757" y="1045"/>
                </a:cxn>
                <a:cxn ang="0">
                  <a:pos x="732" y="1061"/>
                </a:cxn>
                <a:cxn ang="0">
                  <a:pos x="707" y="1080"/>
                </a:cxn>
                <a:cxn ang="0">
                  <a:pos x="682" y="1097"/>
                </a:cxn>
                <a:cxn ang="0">
                  <a:pos x="657" y="1115"/>
                </a:cxn>
                <a:cxn ang="0">
                  <a:pos x="632" y="1131"/>
                </a:cxn>
                <a:cxn ang="0">
                  <a:pos x="582" y="1167"/>
                </a:cxn>
                <a:cxn ang="0">
                  <a:pos x="0" y="822"/>
                </a:cxn>
                <a:cxn ang="0">
                  <a:pos x="0" y="754"/>
                </a:cxn>
                <a:cxn ang="0">
                  <a:pos x="271" y="608"/>
                </a:cxn>
                <a:cxn ang="0">
                  <a:pos x="278" y="596"/>
                </a:cxn>
                <a:cxn ang="0">
                  <a:pos x="373" y="537"/>
                </a:cxn>
                <a:cxn ang="0">
                  <a:pos x="372" y="533"/>
                </a:cxn>
                <a:cxn ang="0">
                  <a:pos x="369" y="528"/>
                </a:cxn>
                <a:cxn ang="0">
                  <a:pos x="369" y="523"/>
                </a:cxn>
                <a:cxn ang="0">
                  <a:pos x="369" y="520"/>
                </a:cxn>
                <a:cxn ang="0">
                  <a:pos x="369" y="514"/>
                </a:cxn>
                <a:cxn ang="0">
                  <a:pos x="369" y="512"/>
                </a:cxn>
                <a:cxn ang="0">
                  <a:pos x="372" y="508"/>
                </a:cxn>
                <a:cxn ang="0">
                  <a:pos x="372" y="505"/>
                </a:cxn>
                <a:cxn ang="0">
                  <a:pos x="373" y="502"/>
                </a:cxn>
                <a:cxn ang="0">
                  <a:pos x="374" y="498"/>
                </a:cxn>
                <a:cxn ang="0">
                  <a:pos x="376" y="497"/>
                </a:cxn>
                <a:cxn ang="0">
                  <a:pos x="380" y="495"/>
                </a:cxn>
                <a:cxn ang="0">
                  <a:pos x="381" y="494"/>
                </a:cxn>
                <a:cxn ang="0">
                  <a:pos x="383" y="491"/>
                </a:cxn>
                <a:cxn ang="0">
                  <a:pos x="388" y="489"/>
                </a:cxn>
                <a:cxn ang="0">
                  <a:pos x="453" y="520"/>
                </a:cxn>
                <a:cxn ang="0">
                  <a:pos x="460" y="514"/>
                </a:cxn>
                <a:cxn ang="0">
                  <a:pos x="388" y="482"/>
                </a:cxn>
                <a:cxn ang="0">
                  <a:pos x="427" y="348"/>
                </a:cxn>
                <a:cxn ang="0">
                  <a:pos x="423" y="334"/>
                </a:cxn>
                <a:cxn ang="0">
                  <a:pos x="422" y="329"/>
                </a:cxn>
                <a:cxn ang="0">
                  <a:pos x="418" y="321"/>
                </a:cxn>
                <a:cxn ang="0">
                  <a:pos x="528" y="0"/>
                </a:cxn>
                <a:cxn ang="0">
                  <a:pos x="1150" y="193"/>
                </a:cxn>
                <a:cxn ang="0">
                  <a:pos x="1175" y="208"/>
                </a:cxn>
              </a:cxnLst>
              <a:rect l="0" t="0" r="r" b="b"/>
              <a:pathLst>
                <a:path w="1175" h="1167">
                  <a:moveTo>
                    <a:pt x="1175" y="208"/>
                  </a:moveTo>
                  <a:lnTo>
                    <a:pt x="1081" y="477"/>
                  </a:lnTo>
                  <a:lnTo>
                    <a:pt x="985" y="751"/>
                  </a:lnTo>
                  <a:lnTo>
                    <a:pt x="911" y="720"/>
                  </a:lnTo>
                  <a:lnTo>
                    <a:pt x="910" y="725"/>
                  </a:lnTo>
                  <a:lnTo>
                    <a:pt x="979" y="761"/>
                  </a:lnTo>
                  <a:lnTo>
                    <a:pt x="981" y="761"/>
                  </a:lnTo>
                  <a:lnTo>
                    <a:pt x="981" y="763"/>
                  </a:lnTo>
                  <a:lnTo>
                    <a:pt x="982" y="763"/>
                  </a:lnTo>
                  <a:lnTo>
                    <a:pt x="982" y="764"/>
                  </a:lnTo>
                  <a:lnTo>
                    <a:pt x="982" y="765"/>
                  </a:lnTo>
                  <a:lnTo>
                    <a:pt x="982" y="768"/>
                  </a:lnTo>
                  <a:lnTo>
                    <a:pt x="982" y="886"/>
                  </a:lnTo>
                  <a:lnTo>
                    <a:pt x="958" y="902"/>
                  </a:lnTo>
                  <a:lnTo>
                    <a:pt x="933" y="920"/>
                  </a:lnTo>
                  <a:lnTo>
                    <a:pt x="909" y="939"/>
                  </a:lnTo>
                  <a:lnTo>
                    <a:pt x="884" y="955"/>
                  </a:lnTo>
                  <a:lnTo>
                    <a:pt x="857" y="974"/>
                  </a:lnTo>
                  <a:lnTo>
                    <a:pt x="833" y="990"/>
                  </a:lnTo>
                  <a:lnTo>
                    <a:pt x="808" y="1009"/>
                  </a:lnTo>
                  <a:lnTo>
                    <a:pt x="781" y="1027"/>
                  </a:lnTo>
                  <a:lnTo>
                    <a:pt x="757" y="1045"/>
                  </a:lnTo>
                  <a:lnTo>
                    <a:pt x="732" y="1061"/>
                  </a:lnTo>
                  <a:lnTo>
                    <a:pt x="707" y="1080"/>
                  </a:lnTo>
                  <a:lnTo>
                    <a:pt x="682" y="1097"/>
                  </a:lnTo>
                  <a:lnTo>
                    <a:pt x="657" y="1115"/>
                  </a:lnTo>
                  <a:lnTo>
                    <a:pt x="632" y="1131"/>
                  </a:lnTo>
                  <a:lnTo>
                    <a:pt x="582" y="1167"/>
                  </a:lnTo>
                  <a:lnTo>
                    <a:pt x="0" y="822"/>
                  </a:lnTo>
                  <a:lnTo>
                    <a:pt x="0" y="754"/>
                  </a:lnTo>
                  <a:lnTo>
                    <a:pt x="271" y="608"/>
                  </a:lnTo>
                  <a:lnTo>
                    <a:pt x="278" y="596"/>
                  </a:lnTo>
                  <a:lnTo>
                    <a:pt x="373" y="537"/>
                  </a:lnTo>
                  <a:lnTo>
                    <a:pt x="372" y="533"/>
                  </a:lnTo>
                  <a:lnTo>
                    <a:pt x="369" y="528"/>
                  </a:lnTo>
                  <a:lnTo>
                    <a:pt x="369" y="523"/>
                  </a:lnTo>
                  <a:lnTo>
                    <a:pt x="369" y="520"/>
                  </a:lnTo>
                  <a:lnTo>
                    <a:pt x="369" y="514"/>
                  </a:lnTo>
                  <a:lnTo>
                    <a:pt x="369" y="512"/>
                  </a:lnTo>
                  <a:lnTo>
                    <a:pt x="372" y="508"/>
                  </a:lnTo>
                  <a:lnTo>
                    <a:pt x="372" y="505"/>
                  </a:lnTo>
                  <a:lnTo>
                    <a:pt x="373" y="502"/>
                  </a:lnTo>
                  <a:lnTo>
                    <a:pt x="374" y="498"/>
                  </a:lnTo>
                  <a:lnTo>
                    <a:pt x="376" y="497"/>
                  </a:lnTo>
                  <a:lnTo>
                    <a:pt x="380" y="495"/>
                  </a:lnTo>
                  <a:lnTo>
                    <a:pt x="381" y="494"/>
                  </a:lnTo>
                  <a:lnTo>
                    <a:pt x="383" y="491"/>
                  </a:lnTo>
                  <a:lnTo>
                    <a:pt x="388" y="489"/>
                  </a:lnTo>
                  <a:lnTo>
                    <a:pt x="453" y="520"/>
                  </a:lnTo>
                  <a:lnTo>
                    <a:pt x="460" y="514"/>
                  </a:lnTo>
                  <a:lnTo>
                    <a:pt x="388" y="482"/>
                  </a:lnTo>
                  <a:lnTo>
                    <a:pt x="427" y="348"/>
                  </a:lnTo>
                  <a:lnTo>
                    <a:pt x="423" y="334"/>
                  </a:lnTo>
                  <a:lnTo>
                    <a:pt x="422" y="329"/>
                  </a:lnTo>
                  <a:lnTo>
                    <a:pt x="418" y="321"/>
                  </a:lnTo>
                  <a:lnTo>
                    <a:pt x="528" y="0"/>
                  </a:lnTo>
                  <a:lnTo>
                    <a:pt x="1150" y="193"/>
                  </a:lnTo>
                  <a:lnTo>
                    <a:pt x="1175" y="208"/>
                  </a:lnTo>
                </a:path>
              </a:pathLst>
            </a:custGeom>
            <a:solidFill>
              <a:srgbClr val="B2B2B2"/>
            </a:solidFill>
            <a:ln w="3175" cap="rnd" cmpd="sng">
              <a:solidFill>
                <a:srgbClr val="000000"/>
              </a:solidFill>
              <a:prstDash val="solid"/>
              <a:round/>
              <a:headEnd type="none" w="med" len="med"/>
              <a:tailEnd type="none" w="med" len="med"/>
            </a:ln>
            <a:effectLst/>
          </p:spPr>
          <p:txBody>
            <a:bodyPr/>
            <a:lstStyle/>
            <a:p>
              <a:endParaRPr lang="fr-FR"/>
            </a:p>
          </p:txBody>
        </p:sp>
        <p:sp>
          <p:nvSpPr>
            <p:cNvPr id="62666" name="Freeform 202"/>
            <p:cNvSpPr>
              <a:spLocks noChangeAspect="1"/>
            </p:cNvSpPr>
            <p:nvPr/>
          </p:nvSpPr>
          <p:spPr bwMode="auto">
            <a:xfrm>
              <a:off x="1307" y="1116"/>
              <a:ext cx="559" cy="522"/>
            </a:xfrm>
            <a:custGeom>
              <a:avLst/>
              <a:gdLst/>
              <a:ahLst/>
              <a:cxnLst>
                <a:cxn ang="0">
                  <a:pos x="436" y="522"/>
                </a:cxn>
                <a:cxn ang="0">
                  <a:pos x="0" y="344"/>
                </a:cxn>
                <a:cxn ang="0">
                  <a:pos x="109" y="0"/>
                </a:cxn>
                <a:cxn ang="0">
                  <a:pos x="559" y="155"/>
                </a:cxn>
                <a:cxn ang="0">
                  <a:pos x="436" y="522"/>
                </a:cxn>
              </a:cxnLst>
              <a:rect l="0" t="0" r="r" b="b"/>
              <a:pathLst>
                <a:path w="559" h="522">
                  <a:moveTo>
                    <a:pt x="436" y="522"/>
                  </a:moveTo>
                  <a:lnTo>
                    <a:pt x="0" y="344"/>
                  </a:lnTo>
                  <a:lnTo>
                    <a:pt x="109" y="0"/>
                  </a:lnTo>
                  <a:lnTo>
                    <a:pt x="559" y="155"/>
                  </a:lnTo>
                  <a:lnTo>
                    <a:pt x="436" y="522"/>
                  </a:lnTo>
                </a:path>
              </a:pathLst>
            </a:custGeom>
            <a:gradFill rotWithShape="0">
              <a:gsLst>
                <a:gs pos="0">
                  <a:srgbClr val="6699FF"/>
                </a:gs>
                <a:gs pos="100000">
                  <a:srgbClr val="6699FF">
                    <a:gamma/>
                    <a:tint val="63922"/>
                    <a:invGamma/>
                  </a:srgbClr>
                </a:gs>
              </a:gsLst>
              <a:path path="rect">
                <a:fillToRect l="100000" t="100000"/>
              </a:path>
            </a:gradFill>
            <a:ln w="3175" cap="rnd" cmpd="sng">
              <a:noFill/>
              <a:prstDash val="solid"/>
              <a:round/>
              <a:headEnd type="none" w="med" len="med"/>
              <a:tailEnd type="none" w="med" len="med"/>
            </a:ln>
            <a:effectLst/>
          </p:spPr>
          <p:txBody>
            <a:bodyPr/>
            <a:lstStyle/>
            <a:p>
              <a:endParaRPr lang="fr-FR"/>
            </a:p>
          </p:txBody>
        </p:sp>
        <p:sp>
          <p:nvSpPr>
            <p:cNvPr id="62667" name="Freeform 203"/>
            <p:cNvSpPr>
              <a:spLocks noChangeAspect="1"/>
            </p:cNvSpPr>
            <p:nvPr/>
          </p:nvSpPr>
          <p:spPr bwMode="auto">
            <a:xfrm>
              <a:off x="1246" y="1032"/>
              <a:ext cx="715" cy="552"/>
            </a:xfrm>
            <a:custGeom>
              <a:avLst/>
              <a:gdLst/>
              <a:ahLst/>
              <a:cxnLst>
                <a:cxn ang="0">
                  <a:pos x="5" y="335"/>
                </a:cxn>
                <a:cxn ang="0">
                  <a:pos x="7" y="324"/>
                </a:cxn>
                <a:cxn ang="0">
                  <a:pos x="0" y="312"/>
                </a:cxn>
                <a:cxn ang="0">
                  <a:pos x="103" y="0"/>
                </a:cxn>
                <a:cxn ang="0">
                  <a:pos x="715" y="197"/>
                </a:cxn>
                <a:cxn ang="0">
                  <a:pos x="601" y="545"/>
                </a:cxn>
                <a:cxn ang="0">
                  <a:pos x="586" y="552"/>
                </a:cxn>
                <a:cxn ang="0">
                  <a:pos x="700" y="210"/>
                </a:cxn>
                <a:cxn ang="0">
                  <a:pos x="110" y="15"/>
                </a:cxn>
                <a:cxn ang="0">
                  <a:pos x="5" y="335"/>
                </a:cxn>
              </a:cxnLst>
              <a:rect l="0" t="0" r="r" b="b"/>
              <a:pathLst>
                <a:path w="715" h="552">
                  <a:moveTo>
                    <a:pt x="5" y="335"/>
                  </a:moveTo>
                  <a:lnTo>
                    <a:pt x="7" y="324"/>
                  </a:lnTo>
                  <a:lnTo>
                    <a:pt x="0" y="312"/>
                  </a:lnTo>
                  <a:lnTo>
                    <a:pt x="103" y="0"/>
                  </a:lnTo>
                  <a:lnTo>
                    <a:pt x="715" y="197"/>
                  </a:lnTo>
                  <a:lnTo>
                    <a:pt x="601" y="545"/>
                  </a:lnTo>
                  <a:lnTo>
                    <a:pt x="586" y="552"/>
                  </a:lnTo>
                  <a:lnTo>
                    <a:pt x="700" y="210"/>
                  </a:lnTo>
                  <a:lnTo>
                    <a:pt x="110" y="15"/>
                  </a:lnTo>
                  <a:lnTo>
                    <a:pt x="5" y="335"/>
                  </a:lnTo>
                </a:path>
              </a:pathLst>
            </a:custGeom>
            <a:solidFill>
              <a:schemeClr val="bg1"/>
            </a:solidFill>
            <a:ln w="3175" cap="rnd" cmpd="sng">
              <a:noFill/>
              <a:prstDash val="solid"/>
              <a:round/>
              <a:headEnd type="none" w="med" len="med"/>
              <a:tailEnd type="none" w="med" len="med"/>
            </a:ln>
            <a:effectLst/>
          </p:spPr>
          <p:txBody>
            <a:bodyPr/>
            <a:lstStyle/>
            <a:p>
              <a:endParaRPr lang="fr-FR"/>
            </a:p>
          </p:txBody>
        </p:sp>
        <p:sp>
          <p:nvSpPr>
            <p:cNvPr id="62668" name="Freeform 204"/>
            <p:cNvSpPr>
              <a:spLocks noChangeAspect="1"/>
            </p:cNvSpPr>
            <p:nvPr/>
          </p:nvSpPr>
          <p:spPr bwMode="auto">
            <a:xfrm>
              <a:off x="839" y="1640"/>
              <a:ext cx="802" cy="452"/>
            </a:xfrm>
            <a:custGeom>
              <a:avLst/>
              <a:gdLst/>
              <a:ahLst/>
              <a:cxnLst>
                <a:cxn ang="0">
                  <a:pos x="1464" y="519"/>
                </a:cxn>
                <a:cxn ang="0">
                  <a:pos x="453" y="0"/>
                </a:cxn>
                <a:cxn ang="0">
                  <a:pos x="0" y="243"/>
                </a:cxn>
                <a:cxn ang="0">
                  <a:pos x="1020" y="825"/>
                </a:cxn>
                <a:cxn ang="0">
                  <a:pos x="1464" y="519"/>
                </a:cxn>
              </a:cxnLst>
              <a:rect l="0" t="0" r="r" b="b"/>
              <a:pathLst>
                <a:path w="1465" h="826">
                  <a:moveTo>
                    <a:pt x="1464" y="519"/>
                  </a:moveTo>
                  <a:lnTo>
                    <a:pt x="453" y="0"/>
                  </a:lnTo>
                  <a:lnTo>
                    <a:pt x="0" y="243"/>
                  </a:lnTo>
                  <a:lnTo>
                    <a:pt x="1020" y="825"/>
                  </a:lnTo>
                  <a:lnTo>
                    <a:pt x="1464" y="519"/>
                  </a:lnTo>
                </a:path>
              </a:pathLst>
            </a:custGeom>
            <a:solidFill>
              <a:srgbClr val="DDDDDD"/>
            </a:solidFill>
            <a:ln w="3175" cap="rnd" cmpd="sng">
              <a:noFill/>
              <a:prstDash val="solid"/>
              <a:round/>
              <a:headEnd type="none" w="med" len="med"/>
              <a:tailEnd type="none" w="med" len="med"/>
            </a:ln>
            <a:effectLst/>
          </p:spPr>
          <p:txBody>
            <a:bodyPr/>
            <a:lstStyle/>
            <a:p>
              <a:endParaRPr lang="fr-FR"/>
            </a:p>
          </p:txBody>
        </p:sp>
        <p:sp>
          <p:nvSpPr>
            <p:cNvPr id="62669" name="Freeform 205"/>
            <p:cNvSpPr>
              <a:spLocks noChangeAspect="1"/>
            </p:cNvSpPr>
            <p:nvPr/>
          </p:nvSpPr>
          <p:spPr bwMode="auto">
            <a:xfrm>
              <a:off x="1764" y="1865"/>
              <a:ext cx="17" cy="15"/>
            </a:xfrm>
            <a:custGeom>
              <a:avLst/>
              <a:gdLst/>
              <a:ahLst/>
              <a:cxnLst>
                <a:cxn ang="0">
                  <a:pos x="9" y="0"/>
                </a:cxn>
                <a:cxn ang="0">
                  <a:pos x="9" y="3"/>
                </a:cxn>
                <a:cxn ang="0">
                  <a:pos x="6" y="3"/>
                </a:cxn>
                <a:cxn ang="0">
                  <a:pos x="6" y="6"/>
                </a:cxn>
                <a:cxn ang="0">
                  <a:pos x="3" y="6"/>
                </a:cxn>
                <a:cxn ang="0">
                  <a:pos x="0" y="6"/>
                </a:cxn>
                <a:cxn ang="0">
                  <a:pos x="0" y="9"/>
                </a:cxn>
                <a:cxn ang="0">
                  <a:pos x="0" y="12"/>
                </a:cxn>
                <a:cxn ang="0">
                  <a:pos x="0" y="15"/>
                </a:cxn>
                <a:cxn ang="0">
                  <a:pos x="0" y="18"/>
                </a:cxn>
                <a:cxn ang="0">
                  <a:pos x="0" y="21"/>
                </a:cxn>
                <a:cxn ang="0">
                  <a:pos x="3" y="21"/>
                </a:cxn>
                <a:cxn ang="0">
                  <a:pos x="6" y="21"/>
                </a:cxn>
                <a:cxn ang="0">
                  <a:pos x="6" y="24"/>
                </a:cxn>
                <a:cxn ang="0">
                  <a:pos x="9" y="24"/>
                </a:cxn>
                <a:cxn ang="0">
                  <a:pos x="12" y="24"/>
                </a:cxn>
                <a:cxn ang="0">
                  <a:pos x="15" y="21"/>
                </a:cxn>
                <a:cxn ang="0">
                  <a:pos x="18" y="21"/>
                </a:cxn>
                <a:cxn ang="0">
                  <a:pos x="21" y="18"/>
                </a:cxn>
                <a:cxn ang="0">
                  <a:pos x="24" y="18"/>
                </a:cxn>
                <a:cxn ang="0">
                  <a:pos x="24" y="15"/>
                </a:cxn>
                <a:cxn ang="0">
                  <a:pos x="27" y="15"/>
                </a:cxn>
                <a:cxn ang="0">
                  <a:pos x="27" y="12"/>
                </a:cxn>
                <a:cxn ang="0">
                  <a:pos x="30" y="12"/>
                </a:cxn>
                <a:cxn ang="0">
                  <a:pos x="30" y="9"/>
                </a:cxn>
                <a:cxn ang="0">
                  <a:pos x="27" y="6"/>
                </a:cxn>
                <a:cxn ang="0">
                  <a:pos x="24" y="3"/>
                </a:cxn>
                <a:cxn ang="0">
                  <a:pos x="21" y="0"/>
                </a:cxn>
                <a:cxn ang="0">
                  <a:pos x="18" y="0"/>
                </a:cxn>
                <a:cxn ang="0">
                  <a:pos x="15" y="0"/>
                </a:cxn>
                <a:cxn ang="0">
                  <a:pos x="12" y="0"/>
                </a:cxn>
                <a:cxn ang="0">
                  <a:pos x="9" y="0"/>
                </a:cxn>
              </a:cxnLst>
              <a:rect l="0" t="0" r="r" b="b"/>
              <a:pathLst>
                <a:path w="31" h="25">
                  <a:moveTo>
                    <a:pt x="9" y="0"/>
                  </a:moveTo>
                  <a:lnTo>
                    <a:pt x="9" y="3"/>
                  </a:lnTo>
                  <a:lnTo>
                    <a:pt x="6" y="3"/>
                  </a:lnTo>
                  <a:lnTo>
                    <a:pt x="6" y="6"/>
                  </a:lnTo>
                  <a:lnTo>
                    <a:pt x="3" y="6"/>
                  </a:lnTo>
                  <a:lnTo>
                    <a:pt x="0" y="6"/>
                  </a:lnTo>
                  <a:lnTo>
                    <a:pt x="0" y="9"/>
                  </a:lnTo>
                  <a:lnTo>
                    <a:pt x="0" y="12"/>
                  </a:lnTo>
                  <a:lnTo>
                    <a:pt x="0" y="15"/>
                  </a:lnTo>
                  <a:lnTo>
                    <a:pt x="0" y="18"/>
                  </a:lnTo>
                  <a:lnTo>
                    <a:pt x="0" y="21"/>
                  </a:lnTo>
                  <a:lnTo>
                    <a:pt x="3" y="21"/>
                  </a:lnTo>
                  <a:lnTo>
                    <a:pt x="6" y="21"/>
                  </a:lnTo>
                  <a:lnTo>
                    <a:pt x="6" y="24"/>
                  </a:lnTo>
                  <a:lnTo>
                    <a:pt x="9" y="24"/>
                  </a:lnTo>
                  <a:lnTo>
                    <a:pt x="12" y="24"/>
                  </a:lnTo>
                  <a:lnTo>
                    <a:pt x="15" y="21"/>
                  </a:lnTo>
                  <a:lnTo>
                    <a:pt x="18" y="21"/>
                  </a:lnTo>
                  <a:lnTo>
                    <a:pt x="21" y="18"/>
                  </a:lnTo>
                  <a:lnTo>
                    <a:pt x="24" y="18"/>
                  </a:lnTo>
                  <a:lnTo>
                    <a:pt x="24" y="15"/>
                  </a:lnTo>
                  <a:lnTo>
                    <a:pt x="27" y="15"/>
                  </a:lnTo>
                  <a:lnTo>
                    <a:pt x="27" y="12"/>
                  </a:lnTo>
                  <a:lnTo>
                    <a:pt x="30" y="12"/>
                  </a:lnTo>
                  <a:lnTo>
                    <a:pt x="30" y="9"/>
                  </a:lnTo>
                  <a:lnTo>
                    <a:pt x="27" y="6"/>
                  </a:lnTo>
                  <a:lnTo>
                    <a:pt x="24" y="3"/>
                  </a:lnTo>
                  <a:lnTo>
                    <a:pt x="21" y="0"/>
                  </a:lnTo>
                  <a:lnTo>
                    <a:pt x="18" y="0"/>
                  </a:lnTo>
                  <a:lnTo>
                    <a:pt x="15" y="0"/>
                  </a:lnTo>
                  <a:lnTo>
                    <a:pt x="12" y="0"/>
                  </a:lnTo>
                  <a:lnTo>
                    <a:pt x="9"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62670" name="Freeform 206"/>
            <p:cNvSpPr>
              <a:spLocks noChangeAspect="1"/>
            </p:cNvSpPr>
            <p:nvPr/>
          </p:nvSpPr>
          <p:spPr bwMode="auto">
            <a:xfrm>
              <a:off x="1787" y="1590"/>
              <a:ext cx="49" cy="173"/>
            </a:xfrm>
            <a:custGeom>
              <a:avLst/>
              <a:gdLst/>
              <a:ahLst/>
              <a:cxnLst>
                <a:cxn ang="0">
                  <a:pos x="90" y="0"/>
                </a:cxn>
                <a:cxn ang="0">
                  <a:pos x="81" y="87"/>
                </a:cxn>
                <a:cxn ang="0">
                  <a:pos x="0" y="318"/>
                </a:cxn>
              </a:cxnLst>
              <a:rect l="0" t="0" r="r" b="b"/>
              <a:pathLst>
                <a:path w="91" h="319">
                  <a:moveTo>
                    <a:pt x="90" y="0"/>
                  </a:moveTo>
                  <a:lnTo>
                    <a:pt x="81" y="87"/>
                  </a:lnTo>
                  <a:lnTo>
                    <a:pt x="0" y="318"/>
                  </a:lnTo>
                </a:path>
              </a:pathLst>
            </a:custGeom>
            <a:noFill/>
            <a:ln w="3175" cap="rnd" cmpd="sng">
              <a:solidFill>
                <a:srgbClr val="000000"/>
              </a:solidFill>
              <a:prstDash val="solid"/>
              <a:round/>
              <a:headEnd type="none" w="med" len="med"/>
              <a:tailEnd type="none" w="med" len="med"/>
            </a:ln>
            <a:effectLst/>
          </p:spPr>
          <p:txBody>
            <a:bodyPr/>
            <a:lstStyle/>
            <a:p>
              <a:endParaRPr lang="fr-FR"/>
            </a:p>
          </p:txBody>
        </p:sp>
        <p:sp>
          <p:nvSpPr>
            <p:cNvPr id="62671" name="Line 207"/>
            <p:cNvSpPr>
              <a:spLocks noChangeAspect="1" noChangeShapeType="1"/>
            </p:cNvSpPr>
            <p:nvPr/>
          </p:nvSpPr>
          <p:spPr bwMode="auto">
            <a:xfrm flipH="1" flipV="1">
              <a:off x="1060" y="1686"/>
              <a:ext cx="495" cy="257"/>
            </a:xfrm>
            <a:prstGeom prst="line">
              <a:avLst/>
            </a:prstGeom>
            <a:noFill/>
            <a:ln w="12700">
              <a:solidFill>
                <a:srgbClr val="808080"/>
              </a:solidFill>
              <a:round/>
              <a:headEnd/>
              <a:tailEnd/>
            </a:ln>
            <a:effectLst/>
          </p:spPr>
          <p:txBody>
            <a:bodyPr wrap="none" anchor="ctr"/>
            <a:lstStyle/>
            <a:p>
              <a:endParaRPr lang="fr-FR"/>
            </a:p>
          </p:txBody>
        </p:sp>
        <p:sp>
          <p:nvSpPr>
            <p:cNvPr id="62672" name="Line 208"/>
            <p:cNvSpPr>
              <a:spLocks noChangeAspect="1" noChangeShapeType="1"/>
            </p:cNvSpPr>
            <p:nvPr/>
          </p:nvSpPr>
          <p:spPr bwMode="auto">
            <a:xfrm flipH="1" flipV="1">
              <a:off x="1009" y="1730"/>
              <a:ext cx="469" cy="253"/>
            </a:xfrm>
            <a:prstGeom prst="line">
              <a:avLst/>
            </a:prstGeom>
            <a:noFill/>
            <a:ln w="12700">
              <a:solidFill>
                <a:srgbClr val="808080"/>
              </a:solidFill>
              <a:round/>
              <a:headEnd/>
              <a:tailEnd/>
            </a:ln>
            <a:effectLst/>
          </p:spPr>
          <p:txBody>
            <a:bodyPr wrap="none" anchor="ctr"/>
            <a:lstStyle/>
            <a:p>
              <a:endParaRPr lang="fr-FR"/>
            </a:p>
          </p:txBody>
        </p:sp>
        <p:sp>
          <p:nvSpPr>
            <p:cNvPr id="62673" name="Line 209"/>
            <p:cNvSpPr>
              <a:spLocks noChangeAspect="1" noChangeShapeType="1"/>
            </p:cNvSpPr>
            <p:nvPr/>
          </p:nvSpPr>
          <p:spPr bwMode="auto">
            <a:xfrm flipH="1" flipV="1">
              <a:off x="924" y="1763"/>
              <a:ext cx="475" cy="264"/>
            </a:xfrm>
            <a:prstGeom prst="line">
              <a:avLst/>
            </a:prstGeom>
            <a:noFill/>
            <a:ln w="12700">
              <a:solidFill>
                <a:srgbClr val="808080"/>
              </a:solidFill>
              <a:round/>
              <a:headEnd/>
              <a:tailEnd/>
            </a:ln>
            <a:effectLst/>
          </p:spPr>
          <p:txBody>
            <a:bodyPr wrap="none" anchor="ctr"/>
            <a:lstStyle/>
            <a:p>
              <a:endParaRPr lang="fr-FR"/>
            </a:p>
          </p:txBody>
        </p:sp>
        <p:sp>
          <p:nvSpPr>
            <p:cNvPr id="62674" name="Freeform 210"/>
            <p:cNvSpPr>
              <a:spLocks noChangeAspect="1"/>
            </p:cNvSpPr>
            <p:nvPr/>
          </p:nvSpPr>
          <p:spPr bwMode="auto">
            <a:xfrm>
              <a:off x="1104" y="1563"/>
              <a:ext cx="660" cy="336"/>
            </a:xfrm>
            <a:custGeom>
              <a:avLst/>
              <a:gdLst/>
              <a:ahLst/>
              <a:cxnLst>
                <a:cxn ang="0">
                  <a:pos x="93" y="0"/>
                </a:cxn>
                <a:cxn ang="0">
                  <a:pos x="0" y="60"/>
                </a:cxn>
                <a:cxn ang="0">
                  <a:pos x="568" y="336"/>
                </a:cxn>
                <a:cxn ang="0">
                  <a:pos x="660" y="266"/>
                </a:cxn>
              </a:cxnLst>
              <a:rect l="0" t="0" r="r" b="b"/>
              <a:pathLst>
                <a:path w="660" h="336">
                  <a:moveTo>
                    <a:pt x="93" y="0"/>
                  </a:moveTo>
                  <a:lnTo>
                    <a:pt x="0" y="60"/>
                  </a:lnTo>
                  <a:lnTo>
                    <a:pt x="568" y="336"/>
                  </a:lnTo>
                  <a:lnTo>
                    <a:pt x="660" y="266"/>
                  </a:lnTo>
                </a:path>
              </a:pathLst>
            </a:custGeom>
            <a:solidFill>
              <a:srgbClr val="DDDDDD"/>
            </a:solidFill>
            <a:ln w="3175" cap="rnd" cmpd="sng">
              <a:noFill/>
              <a:prstDash val="solid"/>
              <a:round/>
              <a:headEnd type="none" w="med" len="med"/>
              <a:tailEnd type="none" w="med" len="med"/>
            </a:ln>
            <a:effectLst/>
          </p:spPr>
          <p:txBody>
            <a:bodyPr/>
            <a:lstStyle/>
            <a:p>
              <a:endParaRPr lang="fr-FR"/>
            </a:p>
          </p:txBody>
        </p:sp>
        <p:sp>
          <p:nvSpPr>
            <p:cNvPr id="62675" name="Freeform 211"/>
            <p:cNvSpPr>
              <a:spLocks noChangeAspect="1"/>
            </p:cNvSpPr>
            <p:nvPr/>
          </p:nvSpPr>
          <p:spPr bwMode="auto">
            <a:xfrm>
              <a:off x="1685" y="1736"/>
              <a:ext cx="105" cy="86"/>
            </a:xfrm>
            <a:custGeom>
              <a:avLst/>
              <a:gdLst/>
              <a:ahLst/>
              <a:cxnLst>
                <a:cxn ang="0">
                  <a:pos x="48" y="0"/>
                </a:cxn>
                <a:cxn ang="0">
                  <a:pos x="186" y="63"/>
                </a:cxn>
                <a:cxn ang="0">
                  <a:pos x="183" y="66"/>
                </a:cxn>
                <a:cxn ang="0">
                  <a:pos x="177" y="66"/>
                </a:cxn>
                <a:cxn ang="0">
                  <a:pos x="171" y="69"/>
                </a:cxn>
                <a:cxn ang="0">
                  <a:pos x="165" y="72"/>
                </a:cxn>
                <a:cxn ang="0">
                  <a:pos x="159" y="75"/>
                </a:cxn>
                <a:cxn ang="0">
                  <a:pos x="153" y="81"/>
                </a:cxn>
                <a:cxn ang="0">
                  <a:pos x="150" y="84"/>
                </a:cxn>
                <a:cxn ang="0">
                  <a:pos x="147" y="93"/>
                </a:cxn>
                <a:cxn ang="0">
                  <a:pos x="144" y="99"/>
                </a:cxn>
                <a:cxn ang="0">
                  <a:pos x="141" y="105"/>
                </a:cxn>
                <a:cxn ang="0">
                  <a:pos x="141" y="111"/>
                </a:cxn>
                <a:cxn ang="0">
                  <a:pos x="141" y="120"/>
                </a:cxn>
                <a:cxn ang="0">
                  <a:pos x="141" y="129"/>
                </a:cxn>
                <a:cxn ang="0">
                  <a:pos x="144" y="135"/>
                </a:cxn>
                <a:cxn ang="0">
                  <a:pos x="150" y="153"/>
                </a:cxn>
                <a:cxn ang="0">
                  <a:pos x="9" y="87"/>
                </a:cxn>
                <a:cxn ang="0">
                  <a:pos x="6" y="84"/>
                </a:cxn>
                <a:cxn ang="0">
                  <a:pos x="6" y="78"/>
                </a:cxn>
                <a:cxn ang="0">
                  <a:pos x="3" y="72"/>
                </a:cxn>
                <a:cxn ang="0">
                  <a:pos x="0" y="66"/>
                </a:cxn>
                <a:cxn ang="0">
                  <a:pos x="0" y="57"/>
                </a:cxn>
                <a:cxn ang="0">
                  <a:pos x="0" y="51"/>
                </a:cxn>
                <a:cxn ang="0">
                  <a:pos x="0" y="42"/>
                </a:cxn>
                <a:cxn ang="0">
                  <a:pos x="3" y="36"/>
                </a:cxn>
                <a:cxn ang="0">
                  <a:pos x="6" y="30"/>
                </a:cxn>
                <a:cxn ang="0">
                  <a:pos x="6" y="21"/>
                </a:cxn>
                <a:cxn ang="0">
                  <a:pos x="12" y="18"/>
                </a:cxn>
                <a:cxn ang="0">
                  <a:pos x="18" y="12"/>
                </a:cxn>
                <a:cxn ang="0">
                  <a:pos x="24" y="6"/>
                </a:cxn>
                <a:cxn ang="0">
                  <a:pos x="30" y="3"/>
                </a:cxn>
                <a:cxn ang="0">
                  <a:pos x="48" y="0"/>
                </a:cxn>
              </a:cxnLst>
              <a:rect l="0" t="0" r="r" b="b"/>
              <a:pathLst>
                <a:path w="187" h="154">
                  <a:moveTo>
                    <a:pt x="48" y="0"/>
                  </a:moveTo>
                  <a:lnTo>
                    <a:pt x="186" y="63"/>
                  </a:lnTo>
                  <a:lnTo>
                    <a:pt x="183" y="66"/>
                  </a:lnTo>
                  <a:lnTo>
                    <a:pt x="177" y="66"/>
                  </a:lnTo>
                  <a:lnTo>
                    <a:pt x="171" y="69"/>
                  </a:lnTo>
                  <a:lnTo>
                    <a:pt x="165" y="72"/>
                  </a:lnTo>
                  <a:lnTo>
                    <a:pt x="159" y="75"/>
                  </a:lnTo>
                  <a:lnTo>
                    <a:pt x="153" y="81"/>
                  </a:lnTo>
                  <a:lnTo>
                    <a:pt x="150" y="84"/>
                  </a:lnTo>
                  <a:lnTo>
                    <a:pt x="147" y="93"/>
                  </a:lnTo>
                  <a:lnTo>
                    <a:pt x="144" y="99"/>
                  </a:lnTo>
                  <a:lnTo>
                    <a:pt x="141" y="105"/>
                  </a:lnTo>
                  <a:lnTo>
                    <a:pt x="141" y="111"/>
                  </a:lnTo>
                  <a:lnTo>
                    <a:pt x="141" y="120"/>
                  </a:lnTo>
                  <a:lnTo>
                    <a:pt x="141" y="129"/>
                  </a:lnTo>
                  <a:lnTo>
                    <a:pt x="144" y="135"/>
                  </a:lnTo>
                  <a:lnTo>
                    <a:pt x="150" y="153"/>
                  </a:lnTo>
                  <a:lnTo>
                    <a:pt x="9" y="87"/>
                  </a:lnTo>
                  <a:lnTo>
                    <a:pt x="6" y="84"/>
                  </a:lnTo>
                  <a:lnTo>
                    <a:pt x="6" y="78"/>
                  </a:lnTo>
                  <a:lnTo>
                    <a:pt x="3" y="72"/>
                  </a:lnTo>
                  <a:lnTo>
                    <a:pt x="0" y="66"/>
                  </a:lnTo>
                  <a:lnTo>
                    <a:pt x="0" y="57"/>
                  </a:lnTo>
                  <a:lnTo>
                    <a:pt x="0" y="51"/>
                  </a:lnTo>
                  <a:lnTo>
                    <a:pt x="0" y="42"/>
                  </a:lnTo>
                  <a:lnTo>
                    <a:pt x="3" y="36"/>
                  </a:lnTo>
                  <a:lnTo>
                    <a:pt x="6" y="30"/>
                  </a:lnTo>
                  <a:lnTo>
                    <a:pt x="6" y="21"/>
                  </a:lnTo>
                  <a:lnTo>
                    <a:pt x="12" y="18"/>
                  </a:lnTo>
                  <a:lnTo>
                    <a:pt x="18" y="12"/>
                  </a:lnTo>
                  <a:lnTo>
                    <a:pt x="24" y="6"/>
                  </a:lnTo>
                  <a:lnTo>
                    <a:pt x="30" y="3"/>
                  </a:lnTo>
                  <a:lnTo>
                    <a:pt x="48" y="0"/>
                  </a:lnTo>
                </a:path>
              </a:pathLst>
            </a:custGeom>
            <a:gradFill rotWithShape="0">
              <a:gsLst>
                <a:gs pos="0">
                  <a:srgbClr val="808080"/>
                </a:gs>
                <a:gs pos="100000">
                  <a:srgbClr val="FFFFFF"/>
                </a:gs>
              </a:gsLst>
              <a:lin ang="189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62676" name="Freeform 212"/>
            <p:cNvSpPr>
              <a:spLocks noChangeAspect="1"/>
            </p:cNvSpPr>
            <p:nvPr/>
          </p:nvSpPr>
          <p:spPr bwMode="auto">
            <a:xfrm>
              <a:off x="1333" y="1576"/>
              <a:ext cx="308" cy="178"/>
            </a:xfrm>
            <a:custGeom>
              <a:avLst/>
              <a:gdLst/>
              <a:ahLst/>
              <a:cxnLst>
                <a:cxn ang="0">
                  <a:pos x="564" y="225"/>
                </a:cxn>
                <a:cxn ang="0">
                  <a:pos x="60" y="3"/>
                </a:cxn>
                <a:cxn ang="0">
                  <a:pos x="51" y="0"/>
                </a:cxn>
                <a:cxn ang="0">
                  <a:pos x="45" y="0"/>
                </a:cxn>
                <a:cxn ang="0">
                  <a:pos x="39" y="3"/>
                </a:cxn>
                <a:cxn ang="0">
                  <a:pos x="30" y="6"/>
                </a:cxn>
                <a:cxn ang="0">
                  <a:pos x="24" y="12"/>
                </a:cxn>
                <a:cxn ang="0">
                  <a:pos x="21" y="15"/>
                </a:cxn>
                <a:cxn ang="0">
                  <a:pos x="15" y="21"/>
                </a:cxn>
                <a:cxn ang="0">
                  <a:pos x="9" y="30"/>
                </a:cxn>
                <a:cxn ang="0">
                  <a:pos x="6" y="36"/>
                </a:cxn>
                <a:cxn ang="0">
                  <a:pos x="3" y="42"/>
                </a:cxn>
                <a:cxn ang="0">
                  <a:pos x="0" y="51"/>
                </a:cxn>
                <a:cxn ang="0">
                  <a:pos x="0" y="57"/>
                </a:cxn>
                <a:cxn ang="0">
                  <a:pos x="0" y="66"/>
                </a:cxn>
                <a:cxn ang="0">
                  <a:pos x="3" y="72"/>
                </a:cxn>
                <a:cxn ang="0">
                  <a:pos x="9" y="84"/>
                </a:cxn>
                <a:cxn ang="0">
                  <a:pos x="528" y="324"/>
                </a:cxn>
                <a:cxn ang="0">
                  <a:pos x="525" y="318"/>
                </a:cxn>
                <a:cxn ang="0">
                  <a:pos x="522" y="309"/>
                </a:cxn>
                <a:cxn ang="0">
                  <a:pos x="522" y="303"/>
                </a:cxn>
                <a:cxn ang="0">
                  <a:pos x="519" y="294"/>
                </a:cxn>
                <a:cxn ang="0">
                  <a:pos x="519" y="288"/>
                </a:cxn>
                <a:cxn ang="0">
                  <a:pos x="519" y="282"/>
                </a:cxn>
                <a:cxn ang="0">
                  <a:pos x="519" y="273"/>
                </a:cxn>
                <a:cxn ang="0">
                  <a:pos x="522" y="267"/>
                </a:cxn>
                <a:cxn ang="0">
                  <a:pos x="525" y="261"/>
                </a:cxn>
                <a:cxn ang="0">
                  <a:pos x="528" y="255"/>
                </a:cxn>
                <a:cxn ang="0">
                  <a:pos x="531" y="249"/>
                </a:cxn>
                <a:cxn ang="0">
                  <a:pos x="537" y="243"/>
                </a:cxn>
                <a:cxn ang="0">
                  <a:pos x="543" y="237"/>
                </a:cxn>
                <a:cxn ang="0">
                  <a:pos x="549" y="234"/>
                </a:cxn>
                <a:cxn ang="0">
                  <a:pos x="564" y="225"/>
                </a:cxn>
              </a:cxnLst>
              <a:rect l="0" t="0" r="r" b="b"/>
              <a:pathLst>
                <a:path w="565" h="325">
                  <a:moveTo>
                    <a:pt x="564" y="225"/>
                  </a:moveTo>
                  <a:lnTo>
                    <a:pt x="60" y="3"/>
                  </a:lnTo>
                  <a:lnTo>
                    <a:pt x="51" y="0"/>
                  </a:lnTo>
                  <a:lnTo>
                    <a:pt x="45" y="0"/>
                  </a:lnTo>
                  <a:lnTo>
                    <a:pt x="39" y="3"/>
                  </a:lnTo>
                  <a:lnTo>
                    <a:pt x="30" y="6"/>
                  </a:lnTo>
                  <a:lnTo>
                    <a:pt x="24" y="12"/>
                  </a:lnTo>
                  <a:lnTo>
                    <a:pt x="21" y="15"/>
                  </a:lnTo>
                  <a:lnTo>
                    <a:pt x="15" y="21"/>
                  </a:lnTo>
                  <a:lnTo>
                    <a:pt x="9" y="30"/>
                  </a:lnTo>
                  <a:lnTo>
                    <a:pt x="6" y="36"/>
                  </a:lnTo>
                  <a:lnTo>
                    <a:pt x="3" y="42"/>
                  </a:lnTo>
                  <a:lnTo>
                    <a:pt x="0" y="51"/>
                  </a:lnTo>
                  <a:lnTo>
                    <a:pt x="0" y="57"/>
                  </a:lnTo>
                  <a:lnTo>
                    <a:pt x="0" y="66"/>
                  </a:lnTo>
                  <a:lnTo>
                    <a:pt x="3" y="72"/>
                  </a:lnTo>
                  <a:lnTo>
                    <a:pt x="9" y="84"/>
                  </a:lnTo>
                  <a:lnTo>
                    <a:pt x="528" y="324"/>
                  </a:lnTo>
                  <a:lnTo>
                    <a:pt x="525" y="318"/>
                  </a:lnTo>
                  <a:lnTo>
                    <a:pt x="522" y="309"/>
                  </a:lnTo>
                  <a:lnTo>
                    <a:pt x="522" y="303"/>
                  </a:lnTo>
                  <a:lnTo>
                    <a:pt x="519" y="294"/>
                  </a:lnTo>
                  <a:lnTo>
                    <a:pt x="519" y="288"/>
                  </a:lnTo>
                  <a:lnTo>
                    <a:pt x="519" y="282"/>
                  </a:lnTo>
                  <a:lnTo>
                    <a:pt x="519" y="273"/>
                  </a:lnTo>
                  <a:lnTo>
                    <a:pt x="522" y="267"/>
                  </a:lnTo>
                  <a:lnTo>
                    <a:pt x="525" y="261"/>
                  </a:lnTo>
                  <a:lnTo>
                    <a:pt x="528" y="255"/>
                  </a:lnTo>
                  <a:lnTo>
                    <a:pt x="531" y="249"/>
                  </a:lnTo>
                  <a:lnTo>
                    <a:pt x="537" y="243"/>
                  </a:lnTo>
                  <a:lnTo>
                    <a:pt x="543" y="237"/>
                  </a:lnTo>
                  <a:lnTo>
                    <a:pt x="549" y="234"/>
                  </a:lnTo>
                  <a:lnTo>
                    <a:pt x="564" y="225"/>
                  </a:lnTo>
                </a:path>
              </a:pathLst>
            </a:custGeom>
            <a:gradFill rotWithShape="0">
              <a:gsLst>
                <a:gs pos="0">
                  <a:srgbClr val="808080"/>
                </a:gs>
                <a:gs pos="100000">
                  <a:srgbClr val="FFFFFF"/>
                </a:gs>
              </a:gsLst>
              <a:lin ang="189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62677" name="Freeform 213"/>
            <p:cNvSpPr>
              <a:spLocks noChangeAspect="1"/>
            </p:cNvSpPr>
            <p:nvPr/>
          </p:nvSpPr>
          <p:spPr bwMode="auto">
            <a:xfrm>
              <a:off x="1179" y="1507"/>
              <a:ext cx="105" cy="86"/>
            </a:xfrm>
            <a:custGeom>
              <a:avLst/>
              <a:gdLst/>
              <a:ahLst/>
              <a:cxnLst>
                <a:cxn ang="0">
                  <a:pos x="48" y="0"/>
                </a:cxn>
                <a:cxn ang="0">
                  <a:pos x="186" y="63"/>
                </a:cxn>
                <a:cxn ang="0">
                  <a:pos x="183" y="66"/>
                </a:cxn>
                <a:cxn ang="0">
                  <a:pos x="177" y="66"/>
                </a:cxn>
                <a:cxn ang="0">
                  <a:pos x="171" y="69"/>
                </a:cxn>
                <a:cxn ang="0">
                  <a:pos x="165" y="72"/>
                </a:cxn>
                <a:cxn ang="0">
                  <a:pos x="159" y="75"/>
                </a:cxn>
                <a:cxn ang="0">
                  <a:pos x="153" y="81"/>
                </a:cxn>
                <a:cxn ang="0">
                  <a:pos x="150" y="84"/>
                </a:cxn>
                <a:cxn ang="0">
                  <a:pos x="147" y="93"/>
                </a:cxn>
                <a:cxn ang="0">
                  <a:pos x="144" y="99"/>
                </a:cxn>
                <a:cxn ang="0">
                  <a:pos x="141" y="105"/>
                </a:cxn>
                <a:cxn ang="0">
                  <a:pos x="141" y="111"/>
                </a:cxn>
                <a:cxn ang="0">
                  <a:pos x="141" y="120"/>
                </a:cxn>
                <a:cxn ang="0">
                  <a:pos x="141" y="129"/>
                </a:cxn>
                <a:cxn ang="0">
                  <a:pos x="144" y="135"/>
                </a:cxn>
                <a:cxn ang="0">
                  <a:pos x="150" y="153"/>
                </a:cxn>
                <a:cxn ang="0">
                  <a:pos x="9" y="87"/>
                </a:cxn>
                <a:cxn ang="0">
                  <a:pos x="6" y="84"/>
                </a:cxn>
                <a:cxn ang="0">
                  <a:pos x="6" y="78"/>
                </a:cxn>
                <a:cxn ang="0">
                  <a:pos x="3" y="72"/>
                </a:cxn>
                <a:cxn ang="0">
                  <a:pos x="0" y="66"/>
                </a:cxn>
                <a:cxn ang="0">
                  <a:pos x="0" y="57"/>
                </a:cxn>
                <a:cxn ang="0">
                  <a:pos x="0" y="51"/>
                </a:cxn>
                <a:cxn ang="0">
                  <a:pos x="0" y="42"/>
                </a:cxn>
                <a:cxn ang="0">
                  <a:pos x="3" y="36"/>
                </a:cxn>
                <a:cxn ang="0">
                  <a:pos x="6" y="30"/>
                </a:cxn>
                <a:cxn ang="0">
                  <a:pos x="6" y="21"/>
                </a:cxn>
                <a:cxn ang="0">
                  <a:pos x="12" y="18"/>
                </a:cxn>
                <a:cxn ang="0">
                  <a:pos x="18" y="12"/>
                </a:cxn>
                <a:cxn ang="0">
                  <a:pos x="24" y="6"/>
                </a:cxn>
                <a:cxn ang="0">
                  <a:pos x="30" y="3"/>
                </a:cxn>
                <a:cxn ang="0">
                  <a:pos x="48" y="0"/>
                </a:cxn>
              </a:cxnLst>
              <a:rect l="0" t="0" r="r" b="b"/>
              <a:pathLst>
                <a:path w="187" h="154">
                  <a:moveTo>
                    <a:pt x="48" y="0"/>
                  </a:moveTo>
                  <a:lnTo>
                    <a:pt x="186" y="63"/>
                  </a:lnTo>
                  <a:lnTo>
                    <a:pt x="183" y="66"/>
                  </a:lnTo>
                  <a:lnTo>
                    <a:pt x="177" y="66"/>
                  </a:lnTo>
                  <a:lnTo>
                    <a:pt x="171" y="69"/>
                  </a:lnTo>
                  <a:lnTo>
                    <a:pt x="165" y="72"/>
                  </a:lnTo>
                  <a:lnTo>
                    <a:pt x="159" y="75"/>
                  </a:lnTo>
                  <a:lnTo>
                    <a:pt x="153" y="81"/>
                  </a:lnTo>
                  <a:lnTo>
                    <a:pt x="150" y="84"/>
                  </a:lnTo>
                  <a:lnTo>
                    <a:pt x="147" y="93"/>
                  </a:lnTo>
                  <a:lnTo>
                    <a:pt x="144" y="99"/>
                  </a:lnTo>
                  <a:lnTo>
                    <a:pt x="141" y="105"/>
                  </a:lnTo>
                  <a:lnTo>
                    <a:pt x="141" y="111"/>
                  </a:lnTo>
                  <a:lnTo>
                    <a:pt x="141" y="120"/>
                  </a:lnTo>
                  <a:lnTo>
                    <a:pt x="141" y="129"/>
                  </a:lnTo>
                  <a:lnTo>
                    <a:pt x="144" y="135"/>
                  </a:lnTo>
                  <a:lnTo>
                    <a:pt x="150" y="153"/>
                  </a:lnTo>
                  <a:lnTo>
                    <a:pt x="9" y="87"/>
                  </a:lnTo>
                  <a:lnTo>
                    <a:pt x="6" y="84"/>
                  </a:lnTo>
                  <a:lnTo>
                    <a:pt x="6" y="78"/>
                  </a:lnTo>
                  <a:lnTo>
                    <a:pt x="3" y="72"/>
                  </a:lnTo>
                  <a:lnTo>
                    <a:pt x="0" y="66"/>
                  </a:lnTo>
                  <a:lnTo>
                    <a:pt x="0" y="57"/>
                  </a:lnTo>
                  <a:lnTo>
                    <a:pt x="0" y="51"/>
                  </a:lnTo>
                  <a:lnTo>
                    <a:pt x="0" y="42"/>
                  </a:lnTo>
                  <a:lnTo>
                    <a:pt x="3" y="36"/>
                  </a:lnTo>
                  <a:lnTo>
                    <a:pt x="6" y="30"/>
                  </a:lnTo>
                  <a:lnTo>
                    <a:pt x="6" y="21"/>
                  </a:lnTo>
                  <a:lnTo>
                    <a:pt x="12" y="18"/>
                  </a:lnTo>
                  <a:lnTo>
                    <a:pt x="18" y="12"/>
                  </a:lnTo>
                  <a:lnTo>
                    <a:pt x="24" y="6"/>
                  </a:lnTo>
                  <a:lnTo>
                    <a:pt x="30" y="3"/>
                  </a:lnTo>
                  <a:lnTo>
                    <a:pt x="48" y="0"/>
                  </a:lnTo>
                </a:path>
              </a:pathLst>
            </a:custGeom>
            <a:gradFill rotWithShape="0">
              <a:gsLst>
                <a:gs pos="0">
                  <a:srgbClr val="808080"/>
                </a:gs>
                <a:gs pos="100000">
                  <a:srgbClr val="FFFFFF"/>
                </a:gs>
              </a:gsLst>
              <a:lin ang="189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62678" name="Freeform 214"/>
            <p:cNvSpPr>
              <a:spLocks/>
            </p:cNvSpPr>
            <p:nvPr/>
          </p:nvSpPr>
          <p:spPr bwMode="auto">
            <a:xfrm>
              <a:off x="1307" y="1116"/>
              <a:ext cx="559" cy="345"/>
            </a:xfrm>
            <a:custGeom>
              <a:avLst/>
              <a:gdLst/>
              <a:ahLst/>
              <a:cxnLst>
                <a:cxn ang="0">
                  <a:pos x="559" y="156"/>
                </a:cxn>
                <a:cxn ang="0">
                  <a:pos x="109" y="0"/>
                </a:cxn>
                <a:cxn ang="0">
                  <a:pos x="0" y="345"/>
                </a:cxn>
              </a:cxnLst>
              <a:rect l="0" t="0" r="r" b="b"/>
              <a:pathLst>
                <a:path w="559" h="345">
                  <a:moveTo>
                    <a:pt x="559" y="156"/>
                  </a:moveTo>
                  <a:lnTo>
                    <a:pt x="109" y="0"/>
                  </a:lnTo>
                  <a:lnTo>
                    <a:pt x="0" y="345"/>
                  </a:lnTo>
                </a:path>
              </a:pathLst>
            </a:custGeom>
            <a:noFill/>
            <a:ln w="6350" cap="flat" cmpd="sng">
              <a:solidFill>
                <a:srgbClr val="808080"/>
              </a:solidFill>
              <a:prstDash val="solid"/>
              <a:round/>
              <a:headEnd/>
              <a:tailEnd/>
            </a:ln>
            <a:effectLst/>
          </p:spPr>
          <p:txBody>
            <a:bodyPr wrap="none" anchor="ctr"/>
            <a:lstStyle/>
            <a:p>
              <a:endParaRPr lang="fr-FR"/>
            </a:p>
          </p:txBody>
        </p:sp>
        <p:sp>
          <p:nvSpPr>
            <p:cNvPr id="62679" name="Freeform 215"/>
            <p:cNvSpPr>
              <a:spLocks/>
            </p:cNvSpPr>
            <p:nvPr/>
          </p:nvSpPr>
          <p:spPr bwMode="auto">
            <a:xfrm>
              <a:off x="1310" y="1275"/>
              <a:ext cx="556" cy="365"/>
            </a:xfrm>
            <a:custGeom>
              <a:avLst/>
              <a:gdLst/>
              <a:ahLst/>
              <a:cxnLst>
                <a:cxn ang="0">
                  <a:pos x="556" y="0"/>
                </a:cxn>
                <a:cxn ang="0">
                  <a:pos x="433" y="365"/>
                </a:cxn>
                <a:cxn ang="0">
                  <a:pos x="0" y="188"/>
                </a:cxn>
              </a:cxnLst>
              <a:rect l="0" t="0" r="r" b="b"/>
              <a:pathLst>
                <a:path w="556" h="365">
                  <a:moveTo>
                    <a:pt x="556" y="0"/>
                  </a:moveTo>
                  <a:lnTo>
                    <a:pt x="433" y="365"/>
                  </a:lnTo>
                  <a:lnTo>
                    <a:pt x="0" y="188"/>
                  </a:lnTo>
                </a:path>
              </a:pathLst>
            </a:custGeom>
            <a:noFill/>
            <a:ln w="3175" cap="flat" cmpd="sng">
              <a:solidFill>
                <a:srgbClr val="FFFFFF"/>
              </a:solidFill>
              <a:prstDash val="solid"/>
              <a:round/>
              <a:headEnd/>
              <a:tailEnd/>
            </a:ln>
            <a:effectLst/>
          </p:spPr>
          <p:txBody>
            <a:bodyPr wrap="none" anchor="ctr"/>
            <a:lstStyle/>
            <a:p>
              <a:endParaRPr lang="fr-FR"/>
            </a:p>
          </p:txBody>
        </p:sp>
      </p:grpSp>
      <p:grpSp>
        <p:nvGrpSpPr>
          <p:cNvPr id="62680" name="Group 216"/>
          <p:cNvGrpSpPr>
            <a:grpSpLocks/>
          </p:cNvGrpSpPr>
          <p:nvPr/>
        </p:nvGrpSpPr>
        <p:grpSpPr bwMode="auto">
          <a:xfrm>
            <a:off x="1476375" y="4195763"/>
            <a:ext cx="1655763" cy="1322387"/>
            <a:chOff x="3234" y="3047"/>
            <a:chExt cx="1043" cy="833"/>
          </a:xfrm>
        </p:grpSpPr>
        <p:sp>
          <p:nvSpPr>
            <p:cNvPr id="62681" name="AutoShape 217"/>
            <p:cNvSpPr>
              <a:spLocks noChangeArrowheads="1"/>
            </p:cNvSpPr>
            <p:nvPr/>
          </p:nvSpPr>
          <p:spPr bwMode="auto">
            <a:xfrm>
              <a:off x="3872" y="3238"/>
              <a:ext cx="262" cy="268"/>
            </a:xfrm>
            <a:custGeom>
              <a:avLst/>
              <a:gdLst>
                <a:gd name="G0" fmla="+- 8279 0 0"/>
                <a:gd name="G1" fmla="+- 10640959 0 0"/>
                <a:gd name="G2" fmla="+- 0 0 10640959"/>
                <a:gd name="T0" fmla="*/ 0 256 1"/>
                <a:gd name="T1" fmla="*/ 180 256 1"/>
                <a:gd name="G3" fmla="+- 10640959 T0 T1"/>
                <a:gd name="T2" fmla="*/ 0 256 1"/>
                <a:gd name="T3" fmla="*/ 90 256 1"/>
                <a:gd name="G4" fmla="+- 10640959 T2 T3"/>
                <a:gd name="G5" fmla="*/ G4 2 1"/>
                <a:gd name="T4" fmla="*/ 90 256 1"/>
                <a:gd name="T5" fmla="*/ 0 256 1"/>
                <a:gd name="G6" fmla="+- 10640959 T4 T5"/>
                <a:gd name="G7" fmla="*/ G6 2 1"/>
                <a:gd name="G8" fmla="abs 10640959"/>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8279"/>
                <a:gd name="G18" fmla="*/ 8279 1 2"/>
                <a:gd name="G19" fmla="+- G18 5400 0"/>
                <a:gd name="G20" fmla="cos G19 10640959"/>
                <a:gd name="G21" fmla="sin G19 10640959"/>
                <a:gd name="G22" fmla="+- G20 10800 0"/>
                <a:gd name="G23" fmla="+- G21 10800 0"/>
                <a:gd name="G24" fmla="+- 10800 0 G20"/>
                <a:gd name="G25" fmla="+- 8279 10800 0"/>
                <a:gd name="G26" fmla="?: G9 G17 G25"/>
                <a:gd name="G27" fmla="?: G9 0 21600"/>
                <a:gd name="G28" fmla="cos 10800 10640959"/>
                <a:gd name="G29" fmla="sin 10800 10640959"/>
                <a:gd name="G30" fmla="sin 8279 10640959"/>
                <a:gd name="G31" fmla="+- G28 10800 0"/>
                <a:gd name="G32" fmla="+- G29 10800 0"/>
                <a:gd name="G33" fmla="+- G30 10800 0"/>
                <a:gd name="G34" fmla="?: G4 0 G31"/>
                <a:gd name="G35" fmla="?: 10640959 G34 0"/>
                <a:gd name="G36" fmla="?: G6 G35 G31"/>
                <a:gd name="G37" fmla="+- 21600 0 G36"/>
                <a:gd name="G38" fmla="?: G4 0 G33"/>
                <a:gd name="G39" fmla="?: 10640959 G38 G32"/>
                <a:gd name="G40" fmla="?: G6 G39 0"/>
                <a:gd name="G41" fmla="?: G4 G32 21600"/>
                <a:gd name="G42" fmla="?: G6 G41 G33"/>
                <a:gd name="T12" fmla="*/ 10800 w 21600"/>
                <a:gd name="T13" fmla="*/ 0 h 21600"/>
                <a:gd name="T14" fmla="*/ 1708 w 21600"/>
                <a:gd name="T15" fmla="*/ 13689 h 21600"/>
                <a:gd name="T16" fmla="*/ 10800 w 21600"/>
                <a:gd name="T17" fmla="*/ 2521 h 21600"/>
                <a:gd name="T18" fmla="*/ 19892 w 21600"/>
                <a:gd name="T19" fmla="*/ 13689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09" y="13307"/>
                  </a:moveTo>
                  <a:cubicBezTo>
                    <a:pt x="2652" y="12496"/>
                    <a:pt x="2521" y="11650"/>
                    <a:pt x="2521" y="10800"/>
                  </a:cubicBezTo>
                  <a:cubicBezTo>
                    <a:pt x="2521" y="6227"/>
                    <a:pt x="6227" y="2521"/>
                    <a:pt x="10800" y="2521"/>
                  </a:cubicBezTo>
                  <a:cubicBezTo>
                    <a:pt x="15372" y="2521"/>
                    <a:pt x="19079" y="6227"/>
                    <a:pt x="19079" y="10800"/>
                  </a:cubicBezTo>
                  <a:cubicBezTo>
                    <a:pt x="19079" y="11650"/>
                    <a:pt x="18947" y="12496"/>
                    <a:pt x="18690" y="13307"/>
                  </a:cubicBezTo>
                  <a:lnTo>
                    <a:pt x="21092" y="14071"/>
                  </a:lnTo>
                  <a:cubicBezTo>
                    <a:pt x="21428" y="13013"/>
                    <a:pt x="21600" y="11910"/>
                    <a:pt x="21600" y="10800"/>
                  </a:cubicBezTo>
                  <a:cubicBezTo>
                    <a:pt x="21600" y="4835"/>
                    <a:pt x="16764" y="0"/>
                    <a:pt x="10800" y="0"/>
                  </a:cubicBezTo>
                  <a:cubicBezTo>
                    <a:pt x="4835" y="0"/>
                    <a:pt x="0" y="4835"/>
                    <a:pt x="0" y="10800"/>
                  </a:cubicBezTo>
                  <a:cubicBezTo>
                    <a:pt x="-1" y="11910"/>
                    <a:pt x="171" y="13013"/>
                    <a:pt x="507" y="14071"/>
                  </a:cubicBezTo>
                  <a:close/>
                </a:path>
              </a:pathLst>
            </a:custGeom>
            <a:solidFill>
              <a:srgbClr val="F3EFA9"/>
            </a:solidFill>
            <a:ln w="9525">
              <a:miter lim="800000"/>
              <a:headEnd/>
              <a:tailEnd/>
            </a:ln>
            <a:effectLst/>
            <a:scene3d>
              <a:camera prst="legacyPerspectiveFront">
                <a:rot lat="2400000" lon="3000000" rev="0"/>
              </a:camera>
              <a:lightRig rig="legacyFlat2" dir="b"/>
            </a:scene3d>
            <a:sp3d extrusionH="887400" prstMaterial="legacyMatte">
              <a:bevelT w="13500" h="13500" prst="angle"/>
              <a:bevelB w="13500" h="13500" prst="angle"/>
              <a:extrusionClr>
                <a:srgbClr val="FF7C80"/>
              </a:extrusionClr>
            </a:sp3d>
          </p:spPr>
          <p:txBody>
            <a:bodyPr wrap="none" anchor="ctr">
              <a:flatTx/>
            </a:bodyPr>
            <a:lstStyle/>
            <a:p>
              <a:pPr algn="ctr"/>
              <a:endParaRPr lang="fr-FR" sz="1800" b="1"/>
            </a:p>
          </p:txBody>
        </p:sp>
        <p:pic>
          <p:nvPicPr>
            <p:cNvPr id="62682" name="Picture 218" descr="Internet"/>
            <p:cNvPicPr>
              <a:picLocks noChangeAspect="1" noChangeArrowheads="1"/>
            </p:cNvPicPr>
            <p:nvPr/>
          </p:nvPicPr>
          <p:blipFill>
            <a:blip r:embed="rId2"/>
            <a:srcRect/>
            <a:stretch>
              <a:fillRect/>
            </a:stretch>
          </p:blipFill>
          <p:spPr bwMode="auto">
            <a:xfrm>
              <a:off x="3531" y="3047"/>
              <a:ext cx="746" cy="748"/>
            </a:xfrm>
            <a:prstGeom prst="rect">
              <a:avLst/>
            </a:prstGeom>
            <a:noFill/>
          </p:spPr>
        </p:pic>
        <p:sp>
          <p:nvSpPr>
            <p:cNvPr id="62683" name="Text Box 219"/>
            <p:cNvSpPr txBox="1">
              <a:spLocks noChangeArrowheads="1"/>
            </p:cNvSpPr>
            <p:nvPr/>
          </p:nvSpPr>
          <p:spPr bwMode="auto">
            <a:xfrm>
              <a:off x="3628" y="3153"/>
              <a:ext cx="588" cy="231"/>
            </a:xfrm>
            <a:prstGeom prst="rect">
              <a:avLst/>
            </a:prstGeom>
            <a:noFill/>
            <a:ln w="9525">
              <a:noFill/>
              <a:miter lim="800000"/>
              <a:headEnd/>
              <a:tailEnd/>
            </a:ln>
            <a:effectLst>
              <a:outerShdw dist="17961" dir="2700000" algn="ctr" rotWithShape="0">
                <a:srgbClr val="000000"/>
              </a:outerShdw>
            </a:effectLst>
          </p:spPr>
          <p:txBody>
            <a:bodyPr wrap="none">
              <a:spAutoFit/>
            </a:bodyPr>
            <a:lstStyle/>
            <a:p>
              <a:r>
                <a:rPr lang="en-US" sz="1800" b="1">
                  <a:solidFill>
                    <a:srgbClr val="FFFFFF"/>
                  </a:solidFill>
                  <a:latin typeface="Arial" charset="0"/>
                </a:rPr>
                <a:t>Tunnel</a:t>
              </a:r>
            </a:p>
          </p:txBody>
        </p:sp>
        <p:sp>
          <p:nvSpPr>
            <p:cNvPr id="62684" name="AutoShape 220"/>
            <p:cNvSpPr>
              <a:spLocks noChangeArrowheads="1"/>
            </p:cNvSpPr>
            <p:nvPr/>
          </p:nvSpPr>
          <p:spPr bwMode="auto">
            <a:xfrm>
              <a:off x="3234" y="3588"/>
              <a:ext cx="287" cy="292"/>
            </a:xfrm>
            <a:custGeom>
              <a:avLst/>
              <a:gdLst>
                <a:gd name="G0" fmla="+- 8279 0 0"/>
                <a:gd name="G1" fmla="+- 10640959 0 0"/>
                <a:gd name="G2" fmla="+- 0 0 10640959"/>
                <a:gd name="T0" fmla="*/ 0 256 1"/>
                <a:gd name="T1" fmla="*/ 180 256 1"/>
                <a:gd name="G3" fmla="+- 10640959 T0 T1"/>
                <a:gd name="T2" fmla="*/ 0 256 1"/>
                <a:gd name="T3" fmla="*/ 90 256 1"/>
                <a:gd name="G4" fmla="+- 10640959 T2 T3"/>
                <a:gd name="G5" fmla="*/ G4 2 1"/>
                <a:gd name="T4" fmla="*/ 90 256 1"/>
                <a:gd name="T5" fmla="*/ 0 256 1"/>
                <a:gd name="G6" fmla="+- 10640959 T4 T5"/>
                <a:gd name="G7" fmla="*/ G6 2 1"/>
                <a:gd name="G8" fmla="abs 10640959"/>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8279"/>
                <a:gd name="G18" fmla="*/ 8279 1 2"/>
                <a:gd name="G19" fmla="+- G18 5400 0"/>
                <a:gd name="G20" fmla="cos G19 10640959"/>
                <a:gd name="G21" fmla="sin G19 10640959"/>
                <a:gd name="G22" fmla="+- G20 10800 0"/>
                <a:gd name="G23" fmla="+- G21 10800 0"/>
                <a:gd name="G24" fmla="+- 10800 0 G20"/>
                <a:gd name="G25" fmla="+- 8279 10800 0"/>
                <a:gd name="G26" fmla="?: G9 G17 G25"/>
                <a:gd name="G27" fmla="?: G9 0 21600"/>
                <a:gd name="G28" fmla="cos 10800 10640959"/>
                <a:gd name="G29" fmla="sin 10800 10640959"/>
                <a:gd name="G30" fmla="sin 8279 10640959"/>
                <a:gd name="G31" fmla="+- G28 10800 0"/>
                <a:gd name="G32" fmla="+- G29 10800 0"/>
                <a:gd name="G33" fmla="+- G30 10800 0"/>
                <a:gd name="G34" fmla="?: G4 0 G31"/>
                <a:gd name="G35" fmla="?: 10640959 G34 0"/>
                <a:gd name="G36" fmla="?: G6 G35 G31"/>
                <a:gd name="G37" fmla="+- 21600 0 G36"/>
                <a:gd name="G38" fmla="?: G4 0 G33"/>
                <a:gd name="G39" fmla="?: 10640959 G38 G32"/>
                <a:gd name="G40" fmla="?: G6 G39 0"/>
                <a:gd name="G41" fmla="?: G4 G32 21600"/>
                <a:gd name="G42" fmla="?: G6 G41 G33"/>
                <a:gd name="T12" fmla="*/ 10800 w 21600"/>
                <a:gd name="T13" fmla="*/ 0 h 21600"/>
                <a:gd name="T14" fmla="*/ 1708 w 21600"/>
                <a:gd name="T15" fmla="*/ 13689 h 21600"/>
                <a:gd name="T16" fmla="*/ 10800 w 21600"/>
                <a:gd name="T17" fmla="*/ 2521 h 21600"/>
                <a:gd name="T18" fmla="*/ 19892 w 21600"/>
                <a:gd name="T19" fmla="*/ 13689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2909" y="13307"/>
                  </a:moveTo>
                  <a:cubicBezTo>
                    <a:pt x="2652" y="12496"/>
                    <a:pt x="2521" y="11650"/>
                    <a:pt x="2521" y="10800"/>
                  </a:cubicBezTo>
                  <a:cubicBezTo>
                    <a:pt x="2521" y="6227"/>
                    <a:pt x="6227" y="2521"/>
                    <a:pt x="10800" y="2521"/>
                  </a:cubicBezTo>
                  <a:cubicBezTo>
                    <a:pt x="15372" y="2521"/>
                    <a:pt x="19079" y="6227"/>
                    <a:pt x="19079" y="10800"/>
                  </a:cubicBezTo>
                  <a:cubicBezTo>
                    <a:pt x="19079" y="11650"/>
                    <a:pt x="18947" y="12496"/>
                    <a:pt x="18690" y="13307"/>
                  </a:cubicBezTo>
                  <a:lnTo>
                    <a:pt x="21092" y="14071"/>
                  </a:lnTo>
                  <a:cubicBezTo>
                    <a:pt x="21428" y="13013"/>
                    <a:pt x="21600" y="11910"/>
                    <a:pt x="21600" y="10800"/>
                  </a:cubicBezTo>
                  <a:cubicBezTo>
                    <a:pt x="21600" y="4835"/>
                    <a:pt x="16764" y="0"/>
                    <a:pt x="10800" y="0"/>
                  </a:cubicBezTo>
                  <a:cubicBezTo>
                    <a:pt x="4835" y="0"/>
                    <a:pt x="0" y="4835"/>
                    <a:pt x="0" y="10800"/>
                  </a:cubicBezTo>
                  <a:cubicBezTo>
                    <a:pt x="-1" y="11910"/>
                    <a:pt x="171" y="13013"/>
                    <a:pt x="507" y="14071"/>
                  </a:cubicBezTo>
                  <a:close/>
                </a:path>
              </a:pathLst>
            </a:custGeom>
            <a:solidFill>
              <a:srgbClr val="CC0066"/>
            </a:solidFill>
            <a:ln w="9525">
              <a:miter lim="800000"/>
              <a:headEnd/>
              <a:tailEnd/>
            </a:ln>
            <a:effectLst/>
            <a:scene3d>
              <a:camera prst="legacyPerspectiveFront">
                <a:rot lat="2400000" lon="3000000" rev="0"/>
              </a:camera>
              <a:lightRig rig="legacyFlat2" dir="b"/>
            </a:scene3d>
            <a:sp3d extrusionH="887400" prstMaterial="legacyMatte">
              <a:bevelT w="13500" h="13500" prst="angle"/>
              <a:bevelB w="13500" h="13500" prst="angle"/>
              <a:extrusionClr>
                <a:srgbClr val="FF7C80"/>
              </a:extrusionClr>
            </a:sp3d>
          </p:spPr>
          <p:txBody>
            <a:bodyPr wrap="none" anchor="ctr">
              <a:flatTx/>
            </a:bodyPr>
            <a:lstStyle/>
            <a:p>
              <a:pPr algn="ctr"/>
              <a:endParaRPr lang="fr-FR" sz="1800" b="1"/>
            </a:p>
          </p:txBody>
        </p:sp>
        <p:sp>
          <p:nvSpPr>
            <p:cNvPr id="62685" name="Text Box 221"/>
            <p:cNvSpPr txBox="1">
              <a:spLocks noChangeArrowheads="1"/>
            </p:cNvSpPr>
            <p:nvPr/>
          </p:nvSpPr>
          <p:spPr bwMode="auto">
            <a:xfrm>
              <a:off x="3355" y="3505"/>
              <a:ext cx="644" cy="231"/>
            </a:xfrm>
            <a:prstGeom prst="rect">
              <a:avLst/>
            </a:prstGeom>
            <a:noFill/>
            <a:ln w="9525">
              <a:noFill/>
              <a:miter lim="800000"/>
              <a:headEnd/>
              <a:tailEnd/>
            </a:ln>
            <a:effectLst>
              <a:outerShdw dist="17961" dir="2700000" algn="ctr" rotWithShape="0">
                <a:srgbClr val="000000"/>
              </a:outerShdw>
            </a:effectLst>
          </p:spPr>
          <p:txBody>
            <a:bodyPr wrap="none">
              <a:spAutoFit/>
            </a:bodyPr>
            <a:lstStyle/>
            <a:p>
              <a:r>
                <a:rPr lang="en-US" sz="1800" b="1">
                  <a:solidFill>
                    <a:srgbClr val="FFFFFF"/>
                  </a:solidFill>
                  <a:latin typeface="Arial" charset="0"/>
                </a:rPr>
                <a:t>Internet</a:t>
              </a:r>
            </a:p>
          </p:txBody>
        </p:sp>
      </p:grpSp>
      <p:sp>
        <p:nvSpPr>
          <p:cNvPr id="62686" name="Text Box 222"/>
          <p:cNvSpPr txBox="1">
            <a:spLocks noChangeArrowheads="1"/>
          </p:cNvSpPr>
          <p:nvPr/>
        </p:nvSpPr>
        <p:spPr bwMode="auto">
          <a:xfrm>
            <a:off x="251143" y="1174433"/>
            <a:ext cx="3908425" cy="1735137"/>
          </a:xfrm>
          <a:prstGeom prst="rect">
            <a:avLst/>
          </a:prstGeom>
          <a:noFill/>
          <a:ln w="9525">
            <a:noFill/>
            <a:miter lim="800000"/>
            <a:headEnd/>
            <a:tailEnd/>
          </a:ln>
          <a:effectLst/>
        </p:spPr>
        <p:txBody>
          <a:bodyPr>
            <a:spAutoFit/>
          </a:bodyPr>
          <a:lstStyle/>
          <a:p>
            <a:pPr marL="263525" indent="-263525">
              <a:spcBef>
                <a:spcPct val="50000"/>
              </a:spcBef>
              <a:buFontTx/>
              <a:buChar char="•"/>
            </a:pPr>
            <a:r>
              <a:rPr lang="en-US" sz="2400" b="1" dirty="0">
                <a:latin typeface="Arial" charset="0"/>
              </a:rPr>
              <a:t>Configuration </a:t>
            </a:r>
            <a:r>
              <a:rPr lang="en-US" sz="2400" b="1" dirty="0" err="1">
                <a:latin typeface="Arial" charset="0"/>
              </a:rPr>
              <a:t>d'une</a:t>
            </a:r>
            <a:r>
              <a:rPr lang="en-US" sz="2400" b="1" dirty="0">
                <a:latin typeface="Arial" charset="0"/>
              </a:rPr>
              <a:t> </a:t>
            </a:r>
            <a:r>
              <a:rPr lang="en-US" sz="2400" b="1" dirty="0" err="1">
                <a:latin typeface="Arial" charset="0"/>
              </a:rPr>
              <a:t>connexion</a:t>
            </a:r>
            <a:r>
              <a:rPr lang="en-US" sz="2400" b="1" dirty="0">
                <a:latin typeface="Arial" charset="0"/>
              </a:rPr>
              <a:t> VPN</a:t>
            </a:r>
          </a:p>
          <a:p>
            <a:pPr marL="263525" indent="-263525">
              <a:spcBef>
                <a:spcPct val="50000"/>
              </a:spcBef>
              <a:buFontTx/>
              <a:buChar char="•"/>
            </a:pPr>
            <a:r>
              <a:rPr lang="en-US" sz="2400" b="1" dirty="0">
                <a:latin typeface="Arial" charset="0"/>
              </a:rPr>
              <a:t>Configuration de </a:t>
            </a:r>
            <a:r>
              <a:rPr lang="en-US" sz="2400" b="1" dirty="0" err="1">
                <a:latin typeface="Arial" charset="0"/>
              </a:rPr>
              <a:t>protocoles</a:t>
            </a:r>
            <a:r>
              <a:rPr lang="en-US" sz="2400" b="1" dirty="0">
                <a:latin typeface="Arial" charset="0"/>
              </a:rPr>
              <a:t> VPN</a:t>
            </a:r>
          </a:p>
        </p:txBody>
      </p:sp>
      <p:grpSp>
        <p:nvGrpSpPr>
          <p:cNvPr id="62521" name="Group 57"/>
          <p:cNvGrpSpPr>
            <a:grpSpLocks/>
          </p:cNvGrpSpPr>
          <p:nvPr/>
        </p:nvGrpSpPr>
        <p:grpSpPr bwMode="auto">
          <a:xfrm>
            <a:off x="3838575" y="2368550"/>
            <a:ext cx="1682750" cy="1798638"/>
            <a:chOff x="2056" y="2056"/>
            <a:chExt cx="1060" cy="1133"/>
          </a:xfrm>
        </p:grpSpPr>
        <p:grpSp>
          <p:nvGrpSpPr>
            <p:cNvPr id="62522" name="Group 58"/>
            <p:cNvGrpSpPr>
              <a:grpSpLocks/>
            </p:cNvGrpSpPr>
            <p:nvPr/>
          </p:nvGrpSpPr>
          <p:grpSpPr bwMode="auto">
            <a:xfrm>
              <a:off x="2056" y="2056"/>
              <a:ext cx="626" cy="1012"/>
              <a:chOff x="934" y="830"/>
              <a:chExt cx="626" cy="1012"/>
            </a:xfrm>
          </p:grpSpPr>
          <p:sp>
            <p:nvSpPr>
              <p:cNvPr id="62523" name="Freeform 59"/>
              <p:cNvSpPr>
                <a:spLocks/>
              </p:cNvSpPr>
              <p:nvPr/>
            </p:nvSpPr>
            <p:spPr bwMode="auto">
              <a:xfrm>
                <a:off x="946" y="1583"/>
                <a:ext cx="604" cy="259"/>
              </a:xfrm>
              <a:custGeom>
                <a:avLst/>
                <a:gdLst/>
                <a:ahLst/>
                <a:cxnLst>
                  <a:cxn ang="0">
                    <a:pos x="0" y="292"/>
                  </a:cxn>
                  <a:cxn ang="0">
                    <a:pos x="0" y="370"/>
                  </a:cxn>
                  <a:cxn ang="0">
                    <a:pos x="567" y="535"/>
                  </a:cxn>
                  <a:cxn ang="0">
                    <a:pos x="1251" y="92"/>
                  </a:cxn>
                  <a:cxn ang="0">
                    <a:pos x="1251" y="0"/>
                  </a:cxn>
                </a:cxnLst>
                <a:rect l="0" t="0" r="r" b="b"/>
                <a:pathLst>
                  <a:path w="1252" h="536">
                    <a:moveTo>
                      <a:pt x="0" y="292"/>
                    </a:moveTo>
                    <a:lnTo>
                      <a:pt x="0" y="370"/>
                    </a:lnTo>
                    <a:lnTo>
                      <a:pt x="567" y="535"/>
                    </a:lnTo>
                    <a:lnTo>
                      <a:pt x="1251" y="92"/>
                    </a:lnTo>
                    <a:lnTo>
                      <a:pt x="1251" y="0"/>
                    </a:lnTo>
                  </a:path>
                </a:pathLst>
              </a:custGeom>
              <a:solidFill>
                <a:srgbClr val="969696"/>
              </a:solidFill>
              <a:ln w="3175" cap="rnd" cmpd="sng">
                <a:solidFill>
                  <a:schemeClr val="tx1"/>
                </a:solidFill>
                <a:prstDash val="solid"/>
                <a:round/>
                <a:headEnd type="none" w="med" len="med"/>
                <a:tailEnd type="none" w="med" len="med"/>
              </a:ln>
              <a:effectLst/>
            </p:spPr>
            <p:txBody>
              <a:bodyPr/>
              <a:lstStyle/>
              <a:p>
                <a:endParaRPr lang="fr-FR"/>
              </a:p>
            </p:txBody>
          </p:sp>
          <p:grpSp>
            <p:nvGrpSpPr>
              <p:cNvPr id="62524" name="Group 60"/>
              <p:cNvGrpSpPr>
                <a:grpSpLocks/>
              </p:cNvGrpSpPr>
              <p:nvPr/>
            </p:nvGrpSpPr>
            <p:grpSpPr bwMode="auto">
              <a:xfrm>
                <a:off x="934" y="830"/>
                <a:ext cx="626" cy="987"/>
                <a:chOff x="934" y="830"/>
                <a:chExt cx="626" cy="987"/>
              </a:xfrm>
            </p:grpSpPr>
            <p:sp>
              <p:nvSpPr>
                <p:cNvPr id="62525" name="Freeform 61"/>
                <p:cNvSpPr>
                  <a:spLocks/>
                </p:cNvSpPr>
                <p:nvPr/>
              </p:nvSpPr>
              <p:spPr bwMode="auto">
                <a:xfrm>
                  <a:off x="936" y="830"/>
                  <a:ext cx="623" cy="217"/>
                </a:xfrm>
                <a:custGeom>
                  <a:avLst/>
                  <a:gdLst/>
                  <a:ahLst/>
                  <a:cxnLst>
                    <a:cxn ang="0">
                      <a:pos x="0" y="307"/>
                    </a:cxn>
                    <a:cxn ang="0">
                      <a:pos x="577" y="448"/>
                    </a:cxn>
                    <a:cxn ang="0">
                      <a:pos x="1290" y="127"/>
                    </a:cxn>
                    <a:cxn ang="0">
                      <a:pos x="727" y="0"/>
                    </a:cxn>
                    <a:cxn ang="0">
                      <a:pos x="0" y="307"/>
                    </a:cxn>
                  </a:cxnLst>
                  <a:rect l="0" t="0" r="r" b="b"/>
                  <a:pathLst>
                    <a:path w="1291" h="449">
                      <a:moveTo>
                        <a:pt x="0" y="307"/>
                      </a:moveTo>
                      <a:lnTo>
                        <a:pt x="577" y="448"/>
                      </a:lnTo>
                      <a:lnTo>
                        <a:pt x="1290" y="127"/>
                      </a:lnTo>
                      <a:lnTo>
                        <a:pt x="727" y="0"/>
                      </a:lnTo>
                      <a:lnTo>
                        <a:pt x="0" y="307"/>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sp>
              <p:nvSpPr>
                <p:cNvPr id="62526" name="Freeform 62"/>
                <p:cNvSpPr>
                  <a:spLocks/>
                </p:cNvSpPr>
                <p:nvPr/>
              </p:nvSpPr>
              <p:spPr bwMode="auto">
                <a:xfrm>
                  <a:off x="1208" y="890"/>
                  <a:ext cx="352" cy="927"/>
                </a:xfrm>
                <a:custGeom>
                  <a:avLst/>
                  <a:gdLst/>
                  <a:ahLst/>
                  <a:cxnLst>
                    <a:cxn ang="0">
                      <a:pos x="0" y="328"/>
                    </a:cxn>
                    <a:cxn ang="0">
                      <a:pos x="4" y="1915"/>
                    </a:cxn>
                    <a:cxn ang="0">
                      <a:pos x="728" y="1456"/>
                    </a:cxn>
                    <a:cxn ang="0">
                      <a:pos x="728" y="0"/>
                    </a:cxn>
                    <a:cxn ang="0">
                      <a:pos x="0" y="328"/>
                    </a:cxn>
                  </a:cxnLst>
                  <a:rect l="0" t="0" r="r" b="b"/>
                  <a:pathLst>
                    <a:path w="729" h="1916">
                      <a:moveTo>
                        <a:pt x="0" y="328"/>
                      </a:moveTo>
                      <a:lnTo>
                        <a:pt x="4" y="1915"/>
                      </a:lnTo>
                      <a:lnTo>
                        <a:pt x="728" y="1456"/>
                      </a:lnTo>
                      <a:lnTo>
                        <a:pt x="728" y="0"/>
                      </a:lnTo>
                      <a:lnTo>
                        <a:pt x="0" y="32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62527" name="Freeform 63"/>
                <p:cNvSpPr>
                  <a:spLocks/>
                </p:cNvSpPr>
                <p:nvPr/>
              </p:nvSpPr>
              <p:spPr bwMode="auto">
                <a:xfrm>
                  <a:off x="934" y="978"/>
                  <a:ext cx="278" cy="834"/>
                </a:xfrm>
                <a:custGeom>
                  <a:avLst/>
                  <a:gdLst/>
                  <a:ahLst/>
                  <a:cxnLst>
                    <a:cxn ang="0">
                      <a:pos x="576" y="140"/>
                    </a:cxn>
                    <a:cxn ang="0">
                      <a:pos x="576" y="1727"/>
                    </a:cxn>
                    <a:cxn ang="0">
                      <a:pos x="0" y="1568"/>
                    </a:cxn>
                    <a:cxn ang="0">
                      <a:pos x="0" y="0"/>
                    </a:cxn>
                    <a:cxn ang="0">
                      <a:pos x="576" y="140"/>
                    </a:cxn>
                  </a:cxnLst>
                  <a:rect l="0" t="0" r="r" b="b"/>
                  <a:pathLst>
                    <a:path w="577" h="1728">
                      <a:moveTo>
                        <a:pt x="576" y="140"/>
                      </a:moveTo>
                      <a:lnTo>
                        <a:pt x="576" y="1727"/>
                      </a:lnTo>
                      <a:lnTo>
                        <a:pt x="0" y="1568"/>
                      </a:lnTo>
                      <a:lnTo>
                        <a:pt x="0" y="0"/>
                      </a:lnTo>
                      <a:lnTo>
                        <a:pt x="576" y="140"/>
                      </a:lnTo>
                    </a:path>
                  </a:pathLst>
                </a:custGeom>
                <a:gradFill rotWithShape="0">
                  <a:gsLst>
                    <a:gs pos="0">
                      <a:srgbClr val="B2B2B2">
                        <a:gamma/>
                        <a:tint val="23529"/>
                        <a:invGamma/>
                      </a:srgbClr>
                    </a:gs>
                    <a:gs pos="100000">
                      <a:srgbClr val="B2B2B2"/>
                    </a:gs>
                  </a:gsLst>
                  <a:lin ang="5400000" scaled="1"/>
                </a:gradFill>
                <a:ln w="3175" cap="rnd" cmpd="sng">
                  <a:solidFill>
                    <a:schemeClr val="tx1"/>
                  </a:solidFill>
                  <a:prstDash val="solid"/>
                  <a:round/>
                  <a:headEnd type="none" w="med" len="med"/>
                  <a:tailEnd type="none" w="med" len="med"/>
                </a:ln>
                <a:effectLst/>
              </p:spPr>
              <p:txBody>
                <a:bodyPr/>
                <a:lstStyle/>
                <a:p>
                  <a:endParaRPr lang="fr-FR"/>
                </a:p>
              </p:txBody>
            </p:sp>
            <p:sp>
              <p:nvSpPr>
                <p:cNvPr id="62528" name="Line 64"/>
                <p:cNvSpPr>
                  <a:spLocks noChangeShapeType="1"/>
                </p:cNvSpPr>
                <p:nvPr/>
              </p:nvSpPr>
              <p:spPr bwMode="auto">
                <a:xfrm>
                  <a:off x="973" y="1680"/>
                  <a:ext cx="192" cy="51"/>
                </a:xfrm>
                <a:prstGeom prst="line">
                  <a:avLst/>
                </a:prstGeom>
                <a:noFill/>
                <a:ln w="6350">
                  <a:solidFill>
                    <a:srgbClr val="676767"/>
                  </a:solidFill>
                  <a:round/>
                  <a:headEnd/>
                  <a:tailEnd/>
                </a:ln>
                <a:effectLst/>
              </p:spPr>
              <p:txBody>
                <a:bodyPr wrap="none" anchor="ctr"/>
                <a:lstStyle/>
                <a:p>
                  <a:endParaRPr lang="fr-FR"/>
                </a:p>
              </p:txBody>
            </p:sp>
            <p:sp>
              <p:nvSpPr>
                <p:cNvPr id="62529" name="Oval 65"/>
                <p:cNvSpPr>
                  <a:spLocks noChangeArrowheads="1"/>
                </p:cNvSpPr>
                <p:nvPr/>
              </p:nvSpPr>
              <p:spPr bwMode="auto">
                <a:xfrm>
                  <a:off x="966" y="1019"/>
                  <a:ext cx="31" cy="17"/>
                </a:xfrm>
                <a:prstGeom prst="ellipse">
                  <a:avLst/>
                </a:prstGeom>
                <a:solidFill>
                  <a:srgbClr val="D60093"/>
                </a:solidFill>
                <a:ln w="12700">
                  <a:noFill/>
                  <a:round/>
                  <a:headEnd/>
                  <a:tailEnd/>
                </a:ln>
                <a:effectLst/>
              </p:spPr>
              <p:txBody>
                <a:bodyPr wrap="none" anchor="ctr"/>
                <a:lstStyle/>
                <a:p>
                  <a:endParaRPr lang="fr-FR"/>
                </a:p>
              </p:txBody>
            </p:sp>
            <p:sp>
              <p:nvSpPr>
                <p:cNvPr id="62530" name="Line 66"/>
                <p:cNvSpPr>
                  <a:spLocks noChangeShapeType="1"/>
                </p:cNvSpPr>
                <p:nvPr/>
              </p:nvSpPr>
              <p:spPr bwMode="auto">
                <a:xfrm>
                  <a:off x="973" y="1642"/>
                  <a:ext cx="192" cy="51"/>
                </a:xfrm>
                <a:prstGeom prst="line">
                  <a:avLst/>
                </a:prstGeom>
                <a:noFill/>
                <a:ln w="6350">
                  <a:solidFill>
                    <a:srgbClr val="676767"/>
                  </a:solidFill>
                  <a:round/>
                  <a:headEnd/>
                  <a:tailEnd/>
                </a:ln>
                <a:effectLst/>
              </p:spPr>
              <p:txBody>
                <a:bodyPr wrap="none" anchor="ctr"/>
                <a:lstStyle/>
                <a:p>
                  <a:endParaRPr lang="fr-FR"/>
                </a:p>
              </p:txBody>
            </p:sp>
            <p:sp>
              <p:nvSpPr>
                <p:cNvPr id="62531" name="Line 67"/>
                <p:cNvSpPr>
                  <a:spLocks noChangeShapeType="1"/>
                </p:cNvSpPr>
                <p:nvPr/>
              </p:nvSpPr>
              <p:spPr bwMode="auto">
                <a:xfrm>
                  <a:off x="973" y="1604"/>
                  <a:ext cx="192" cy="52"/>
                </a:xfrm>
                <a:prstGeom prst="line">
                  <a:avLst/>
                </a:prstGeom>
                <a:noFill/>
                <a:ln w="6350">
                  <a:solidFill>
                    <a:srgbClr val="676767"/>
                  </a:solidFill>
                  <a:round/>
                  <a:headEnd/>
                  <a:tailEnd/>
                </a:ln>
                <a:effectLst/>
              </p:spPr>
              <p:txBody>
                <a:bodyPr wrap="none" anchor="ctr"/>
                <a:lstStyle/>
                <a:p>
                  <a:endParaRPr lang="fr-FR"/>
                </a:p>
              </p:txBody>
            </p:sp>
            <p:sp>
              <p:nvSpPr>
                <p:cNvPr id="62532" name="Line 68"/>
                <p:cNvSpPr>
                  <a:spLocks noChangeShapeType="1"/>
                </p:cNvSpPr>
                <p:nvPr/>
              </p:nvSpPr>
              <p:spPr bwMode="auto">
                <a:xfrm>
                  <a:off x="973" y="1567"/>
                  <a:ext cx="192" cy="51"/>
                </a:xfrm>
                <a:prstGeom prst="line">
                  <a:avLst/>
                </a:prstGeom>
                <a:noFill/>
                <a:ln w="6350">
                  <a:solidFill>
                    <a:srgbClr val="676767"/>
                  </a:solidFill>
                  <a:round/>
                  <a:headEnd/>
                  <a:tailEnd/>
                </a:ln>
                <a:effectLst/>
              </p:spPr>
              <p:txBody>
                <a:bodyPr wrap="none" anchor="ctr"/>
                <a:lstStyle/>
                <a:p>
                  <a:endParaRPr lang="fr-FR"/>
                </a:p>
              </p:txBody>
            </p:sp>
            <p:sp>
              <p:nvSpPr>
                <p:cNvPr id="62533" name="Line 69"/>
                <p:cNvSpPr>
                  <a:spLocks noChangeShapeType="1"/>
                </p:cNvSpPr>
                <p:nvPr/>
              </p:nvSpPr>
              <p:spPr bwMode="auto">
                <a:xfrm>
                  <a:off x="973" y="1528"/>
                  <a:ext cx="192" cy="51"/>
                </a:xfrm>
                <a:prstGeom prst="line">
                  <a:avLst/>
                </a:prstGeom>
                <a:noFill/>
                <a:ln w="6350">
                  <a:solidFill>
                    <a:srgbClr val="676767"/>
                  </a:solidFill>
                  <a:round/>
                  <a:headEnd/>
                  <a:tailEnd/>
                </a:ln>
                <a:effectLst/>
              </p:spPr>
              <p:txBody>
                <a:bodyPr wrap="none" anchor="ctr"/>
                <a:lstStyle/>
                <a:p>
                  <a:endParaRPr lang="fr-FR"/>
                </a:p>
              </p:txBody>
            </p:sp>
            <p:sp>
              <p:nvSpPr>
                <p:cNvPr id="62534" name="Freeform 70"/>
                <p:cNvSpPr>
                  <a:spLocks/>
                </p:cNvSpPr>
                <p:nvPr/>
              </p:nvSpPr>
              <p:spPr bwMode="auto">
                <a:xfrm>
                  <a:off x="976" y="1164"/>
                  <a:ext cx="190" cy="355"/>
                </a:xfrm>
                <a:custGeom>
                  <a:avLst/>
                  <a:gdLst/>
                  <a:ahLst/>
                  <a:cxnLst>
                    <a:cxn ang="0">
                      <a:pos x="0" y="628"/>
                    </a:cxn>
                    <a:cxn ang="0">
                      <a:pos x="396" y="732"/>
                    </a:cxn>
                    <a:cxn ang="0">
                      <a:pos x="396" y="0"/>
                    </a:cxn>
                  </a:cxnLst>
                  <a:rect l="0" t="0" r="r" b="b"/>
                  <a:pathLst>
                    <a:path w="397" h="733">
                      <a:moveTo>
                        <a:pt x="0" y="628"/>
                      </a:moveTo>
                      <a:lnTo>
                        <a:pt x="396" y="732"/>
                      </a:lnTo>
                      <a:lnTo>
                        <a:pt x="396" y="0"/>
                      </a:lnTo>
                    </a:path>
                  </a:pathLst>
                </a:custGeom>
                <a:noFill/>
                <a:ln w="3175" cap="rnd" cmpd="sng">
                  <a:solidFill>
                    <a:srgbClr val="676767"/>
                  </a:solidFill>
                  <a:prstDash val="solid"/>
                  <a:round/>
                  <a:headEnd type="none" w="med" len="med"/>
                  <a:tailEnd type="none" w="med" len="med"/>
                </a:ln>
                <a:effectLst/>
              </p:spPr>
              <p:txBody>
                <a:bodyPr/>
                <a:lstStyle/>
                <a:p>
                  <a:endParaRPr lang="fr-FR"/>
                </a:p>
              </p:txBody>
            </p:sp>
            <p:sp>
              <p:nvSpPr>
                <p:cNvPr id="62535" name="Freeform 71"/>
                <p:cNvSpPr>
                  <a:spLocks/>
                </p:cNvSpPr>
                <p:nvPr/>
              </p:nvSpPr>
              <p:spPr bwMode="auto">
                <a:xfrm>
                  <a:off x="956" y="1094"/>
                  <a:ext cx="218" cy="618"/>
                </a:xfrm>
                <a:custGeom>
                  <a:avLst/>
                  <a:gdLst/>
                  <a:ahLst/>
                  <a:cxnLst>
                    <a:cxn ang="0">
                      <a:pos x="452" y="105"/>
                    </a:cxn>
                    <a:cxn ang="0">
                      <a:pos x="0" y="0"/>
                    </a:cxn>
                    <a:cxn ang="0">
                      <a:pos x="0" y="1277"/>
                    </a:cxn>
                  </a:cxnLst>
                  <a:rect l="0" t="0" r="r" b="b"/>
                  <a:pathLst>
                    <a:path w="453" h="1278">
                      <a:moveTo>
                        <a:pt x="452" y="105"/>
                      </a:moveTo>
                      <a:lnTo>
                        <a:pt x="0" y="0"/>
                      </a:lnTo>
                      <a:lnTo>
                        <a:pt x="0" y="1277"/>
                      </a:lnTo>
                    </a:path>
                  </a:pathLst>
                </a:custGeom>
                <a:noFill/>
                <a:ln w="6350" cap="rnd" cmpd="sng">
                  <a:solidFill>
                    <a:schemeClr val="tx1"/>
                  </a:solidFill>
                  <a:prstDash val="solid"/>
                  <a:round/>
                  <a:headEnd type="none" w="med" len="med"/>
                  <a:tailEnd type="none" w="med" len="med"/>
                </a:ln>
                <a:effectLst/>
              </p:spPr>
              <p:txBody>
                <a:bodyPr/>
                <a:lstStyle/>
                <a:p>
                  <a:endParaRPr lang="fr-FR"/>
                </a:p>
              </p:txBody>
            </p:sp>
            <p:sp>
              <p:nvSpPr>
                <p:cNvPr id="62536" name="Freeform 72"/>
                <p:cNvSpPr>
                  <a:spLocks/>
                </p:cNvSpPr>
                <p:nvPr/>
              </p:nvSpPr>
              <p:spPr bwMode="auto">
                <a:xfrm>
                  <a:off x="970" y="1117"/>
                  <a:ext cx="194" cy="352"/>
                </a:xfrm>
                <a:custGeom>
                  <a:avLst/>
                  <a:gdLst/>
                  <a:ahLst/>
                  <a:cxnLst>
                    <a:cxn ang="0">
                      <a:pos x="401" y="96"/>
                    </a:cxn>
                    <a:cxn ang="0">
                      <a:pos x="0" y="0"/>
                    </a:cxn>
                    <a:cxn ang="0">
                      <a:pos x="0" y="725"/>
                    </a:cxn>
                  </a:cxnLst>
                  <a:rect l="0" t="0" r="r" b="b"/>
                  <a:pathLst>
                    <a:path w="402" h="726">
                      <a:moveTo>
                        <a:pt x="401" y="96"/>
                      </a:moveTo>
                      <a:lnTo>
                        <a:pt x="0" y="0"/>
                      </a:lnTo>
                      <a:lnTo>
                        <a:pt x="0" y="725"/>
                      </a:lnTo>
                    </a:path>
                  </a:pathLst>
                </a:custGeom>
                <a:noFill/>
                <a:ln w="3175" cap="rnd" cmpd="sng">
                  <a:solidFill>
                    <a:schemeClr val="tx1"/>
                  </a:solidFill>
                  <a:prstDash val="solid"/>
                  <a:round/>
                  <a:headEnd type="none" w="med" len="med"/>
                  <a:tailEnd type="none" w="med" len="med"/>
                </a:ln>
                <a:effectLst/>
              </p:spPr>
              <p:txBody>
                <a:bodyPr/>
                <a:lstStyle/>
                <a:p>
                  <a:endParaRPr lang="fr-FR"/>
                </a:p>
              </p:txBody>
            </p:sp>
            <p:sp>
              <p:nvSpPr>
                <p:cNvPr id="62537" name="Line 73"/>
                <p:cNvSpPr>
                  <a:spLocks noChangeShapeType="1"/>
                </p:cNvSpPr>
                <p:nvPr/>
              </p:nvSpPr>
              <p:spPr bwMode="auto">
                <a:xfrm>
                  <a:off x="971" y="1198"/>
                  <a:ext cx="187" cy="43"/>
                </a:xfrm>
                <a:prstGeom prst="line">
                  <a:avLst/>
                </a:prstGeom>
                <a:noFill/>
                <a:ln w="3175">
                  <a:solidFill>
                    <a:srgbClr val="676767"/>
                  </a:solidFill>
                  <a:round/>
                  <a:headEnd/>
                  <a:tailEnd/>
                </a:ln>
                <a:effectLst/>
              </p:spPr>
              <p:txBody>
                <a:bodyPr wrap="none" anchor="ctr"/>
                <a:lstStyle/>
                <a:p>
                  <a:endParaRPr lang="fr-FR"/>
                </a:p>
              </p:txBody>
            </p:sp>
            <p:sp>
              <p:nvSpPr>
                <p:cNvPr id="62538" name="Line 74"/>
                <p:cNvSpPr>
                  <a:spLocks noChangeShapeType="1"/>
                </p:cNvSpPr>
                <p:nvPr/>
              </p:nvSpPr>
              <p:spPr bwMode="auto">
                <a:xfrm>
                  <a:off x="971" y="1273"/>
                  <a:ext cx="189" cy="43"/>
                </a:xfrm>
                <a:prstGeom prst="line">
                  <a:avLst/>
                </a:prstGeom>
                <a:noFill/>
                <a:ln w="3175">
                  <a:solidFill>
                    <a:srgbClr val="676767"/>
                  </a:solidFill>
                  <a:round/>
                  <a:headEnd/>
                  <a:tailEnd/>
                </a:ln>
                <a:effectLst/>
              </p:spPr>
              <p:txBody>
                <a:bodyPr wrap="none" anchor="ctr"/>
                <a:lstStyle/>
                <a:p>
                  <a:endParaRPr lang="fr-FR"/>
                </a:p>
              </p:txBody>
            </p:sp>
            <p:sp>
              <p:nvSpPr>
                <p:cNvPr id="62539" name="Line 75"/>
                <p:cNvSpPr>
                  <a:spLocks noChangeShapeType="1"/>
                </p:cNvSpPr>
                <p:nvPr/>
              </p:nvSpPr>
              <p:spPr bwMode="auto">
                <a:xfrm>
                  <a:off x="971" y="1366"/>
                  <a:ext cx="180" cy="43"/>
                </a:xfrm>
                <a:prstGeom prst="line">
                  <a:avLst/>
                </a:prstGeom>
                <a:noFill/>
                <a:ln w="3175">
                  <a:solidFill>
                    <a:srgbClr val="676767"/>
                  </a:solidFill>
                  <a:round/>
                  <a:headEnd/>
                  <a:tailEnd/>
                </a:ln>
                <a:effectLst/>
              </p:spPr>
              <p:txBody>
                <a:bodyPr wrap="none" anchor="ctr"/>
                <a:lstStyle/>
                <a:p>
                  <a:endParaRPr lang="fr-FR"/>
                </a:p>
              </p:txBody>
            </p:sp>
            <p:sp>
              <p:nvSpPr>
                <p:cNvPr id="62540" name="Freeform 76"/>
                <p:cNvSpPr>
                  <a:spLocks/>
                </p:cNvSpPr>
                <p:nvPr/>
              </p:nvSpPr>
              <p:spPr bwMode="auto">
                <a:xfrm>
                  <a:off x="1027" y="1161"/>
                  <a:ext cx="74" cy="40"/>
                </a:xfrm>
                <a:custGeom>
                  <a:avLst/>
                  <a:gdLst/>
                  <a:ahLst/>
                  <a:cxnLst>
                    <a:cxn ang="0">
                      <a:pos x="0" y="0"/>
                    </a:cxn>
                    <a:cxn ang="0">
                      <a:pos x="0" y="48"/>
                    </a:cxn>
                    <a:cxn ang="0">
                      <a:pos x="151" y="81"/>
                    </a:cxn>
                    <a:cxn ang="0">
                      <a:pos x="151" y="33"/>
                    </a:cxn>
                    <a:cxn ang="0">
                      <a:pos x="0" y="0"/>
                    </a:cxn>
                  </a:cxnLst>
                  <a:rect l="0" t="0" r="r" b="b"/>
                  <a:pathLst>
                    <a:path w="152" h="82">
                      <a:moveTo>
                        <a:pt x="0" y="0"/>
                      </a:moveTo>
                      <a:lnTo>
                        <a:pt x="0" y="48"/>
                      </a:lnTo>
                      <a:lnTo>
                        <a:pt x="151" y="81"/>
                      </a:lnTo>
                      <a:lnTo>
                        <a:pt x="151" y="33"/>
                      </a:lnTo>
                      <a:lnTo>
                        <a:pt x="0" y="0"/>
                      </a:lnTo>
                    </a:path>
                  </a:pathLst>
                </a:custGeom>
                <a:solidFill>
                  <a:srgbClr val="A9A9A9"/>
                </a:solidFill>
                <a:ln w="12700" cap="rnd" cmpd="sng">
                  <a:noFill/>
                  <a:prstDash val="solid"/>
                  <a:round/>
                  <a:headEnd type="none" w="med" len="med"/>
                  <a:tailEnd type="none" w="med" len="med"/>
                </a:ln>
                <a:effectLst/>
              </p:spPr>
              <p:txBody>
                <a:bodyPr/>
                <a:lstStyle/>
                <a:p>
                  <a:endParaRPr lang="fr-FR"/>
                </a:p>
              </p:txBody>
            </p:sp>
            <p:sp>
              <p:nvSpPr>
                <p:cNvPr id="62541" name="Line 77"/>
                <p:cNvSpPr>
                  <a:spLocks noChangeShapeType="1"/>
                </p:cNvSpPr>
                <p:nvPr/>
              </p:nvSpPr>
              <p:spPr bwMode="auto">
                <a:xfrm>
                  <a:off x="998" y="1167"/>
                  <a:ext cx="138" cy="30"/>
                </a:xfrm>
                <a:prstGeom prst="line">
                  <a:avLst/>
                </a:prstGeom>
                <a:noFill/>
                <a:ln w="6350">
                  <a:solidFill>
                    <a:srgbClr val="919191"/>
                  </a:solidFill>
                  <a:round/>
                  <a:headEnd/>
                  <a:tailEnd/>
                </a:ln>
                <a:effectLst/>
              </p:spPr>
              <p:txBody>
                <a:bodyPr wrap="none" anchor="ctr"/>
                <a:lstStyle/>
                <a:p>
                  <a:endParaRPr lang="fr-FR"/>
                </a:p>
              </p:txBody>
            </p:sp>
            <p:sp>
              <p:nvSpPr>
                <p:cNvPr id="62542" name="Freeform 78"/>
                <p:cNvSpPr>
                  <a:spLocks/>
                </p:cNvSpPr>
                <p:nvPr/>
              </p:nvSpPr>
              <p:spPr bwMode="auto">
                <a:xfrm>
                  <a:off x="984" y="1304"/>
                  <a:ext cx="167" cy="75"/>
                </a:xfrm>
                <a:custGeom>
                  <a:avLst/>
                  <a:gdLst/>
                  <a:ahLst/>
                  <a:cxnLst>
                    <a:cxn ang="0">
                      <a:pos x="0" y="85"/>
                    </a:cxn>
                    <a:cxn ang="0">
                      <a:pos x="0" y="0"/>
                    </a:cxn>
                    <a:cxn ang="0">
                      <a:pos x="350" y="93"/>
                    </a:cxn>
                    <a:cxn ang="0">
                      <a:pos x="350" y="182"/>
                    </a:cxn>
                    <a:cxn ang="0">
                      <a:pos x="0" y="85"/>
                    </a:cxn>
                  </a:cxnLst>
                  <a:rect l="0" t="0" r="r" b="b"/>
                  <a:pathLst>
                    <a:path w="351" h="183">
                      <a:moveTo>
                        <a:pt x="0" y="85"/>
                      </a:moveTo>
                      <a:lnTo>
                        <a:pt x="0" y="0"/>
                      </a:lnTo>
                      <a:lnTo>
                        <a:pt x="350" y="93"/>
                      </a:lnTo>
                      <a:lnTo>
                        <a:pt x="350" y="182"/>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62543" name="Freeform 79"/>
                <p:cNvSpPr>
                  <a:spLocks/>
                </p:cNvSpPr>
                <p:nvPr/>
              </p:nvSpPr>
              <p:spPr bwMode="auto">
                <a:xfrm>
                  <a:off x="984" y="1397"/>
                  <a:ext cx="167" cy="83"/>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62544" name="Freeform 80"/>
                <p:cNvSpPr>
                  <a:spLocks/>
                </p:cNvSpPr>
                <p:nvPr/>
              </p:nvSpPr>
              <p:spPr bwMode="auto">
                <a:xfrm>
                  <a:off x="981" y="1220"/>
                  <a:ext cx="170" cy="77"/>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62545" name="Line 81"/>
                <p:cNvSpPr>
                  <a:spLocks noChangeShapeType="1"/>
                </p:cNvSpPr>
                <p:nvPr/>
              </p:nvSpPr>
              <p:spPr bwMode="auto">
                <a:xfrm flipH="1" flipV="1">
                  <a:off x="1103" y="1267"/>
                  <a:ext cx="33" cy="8"/>
                </a:xfrm>
                <a:prstGeom prst="line">
                  <a:avLst/>
                </a:prstGeom>
                <a:noFill/>
                <a:ln w="9525">
                  <a:solidFill>
                    <a:srgbClr val="D60093"/>
                  </a:solidFill>
                  <a:round/>
                  <a:headEnd/>
                  <a:tailEnd/>
                </a:ln>
                <a:effectLst/>
              </p:spPr>
              <p:txBody>
                <a:bodyPr wrap="none" tIns="27432" bIns="27432" anchor="ctr">
                  <a:spAutoFit/>
                </a:bodyPr>
                <a:lstStyle/>
                <a:p>
                  <a:endParaRPr lang="fr-FR"/>
                </a:p>
              </p:txBody>
            </p:sp>
            <p:sp>
              <p:nvSpPr>
                <p:cNvPr id="62546" name="Line 82"/>
                <p:cNvSpPr>
                  <a:spLocks noChangeShapeType="1"/>
                </p:cNvSpPr>
                <p:nvPr/>
              </p:nvSpPr>
              <p:spPr bwMode="auto">
                <a:xfrm flipH="1" flipV="1">
                  <a:off x="1103" y="1349"/>
                  <a:ext cx="33" cy="7"/>
                </a:xfrm>
                <a:prstGeom prst="line">
                  <a:avLst/>
                </a:prstGeom>
                <a:noFill/>
                <a:ln w="9525">
                  <a:solidFill>
                    <a:srgbClr val="D60093"/>
                  </a:solidFill>
                  <a:round/>
                  <a:headEnd/>
                  <a:tailEnd/>
                </a:ln>
                <a:effectLst/>
              </p:spPr>
              <p:txBody>
                <a:bodyPr wrap="none" tIns="27432" bIns="27432" anchor="ctr">
                  <a:spAutoFit/>
                </a:bodyPr>
                <a:lstStyle/>
                <a:p>
                  <a:endParaRPr lang="fr-FR"/>
                </a:p>
              </p:txBody>
            </p:sp>
            <p:sp>
              <p:nvSpPr>
                <p:cNvPr id="62547" name="Line 83"/>
                <p:cNvSpPr>
                  <a:spLocks noChangeShapeType="1"/>
                </p:cNvSpPr>
                <p:nvPr/>
              </p:nvSpPr>
              <p:spPr bwMode="auto">
                <a:xfrm flipH="1" flipV="1">
                  <a:off x="1103" y="1448"/>
                  <a:ext cx="33" cy="8"/>
                </a:xfrm>
                <a:prstGeom prst="line">
                  <a:avLst/>
                </a:prstGeom>
                <a:noFill/>
                <a:ln w="9525">
                  <a:solidFill>
                    <a:srgbClr val="D60093"/>
                  </a:solidFill>
                  <a:round/>
                  <a:headEnd/>
                  <a:tailEnd/>
                </a:ln>
                <a:effectLst/>
              </p:spPr>
              <p:txBody>
                <a:bodyPr wrap="none" tIns="27432" bIns="27432" anchor="ctr">
                  <a:spAutoFit/>
                </a:bodyPr>
                <a:lstStyle/>
                <a:p>
                  <a:endParaRPr lang="fr-FR"/>
                </a:p>
              </p:txBody>
            </p:sp>
          </p:grpSp>
        </p:grpSp>
        <p:grpSp>
          <p:nvGrpSpPr>
            <p:cNvPr id="62548" name="Group 84"/>
            <p:cNvGrpSpPr>
              <a:grpSpLocks/>
            </p:cNvGrpSpPr>
            <p:nvPr/>
          </p:nvGrpSpPr>
          <p:grpSpPr bwMode="auto">
            <a:xfrm>
              <a:off x="2402" y="2517"/>
              <a:ext cx="714" cy="672"/>
              <a:chOff x="2004" y="885"/>
              <a:chExt cx="714" cy="672"/>
            </a:xfrm>
          </p:grpSpPr>
          <p:sp>
            <p:nvSpPr>
              <p:cNvPr id="62549" name="Freeform 85"/>
              <p:cNvSpPr>
                <a:spLocks/>
              </p:cNvSpPr>
              <p:nvPr/>
            </p:nvSpPr>
            <p:spPr bwMode="auto">
              <a:xfrm>
                <a:off x="2058" y="1322"/>
                <a:ext cx="556" cy="235"/>
              </a:xfrm>
              <a:custGeom>
                <a:avLst/>
                <a:gdLst/>
                <a:ahLst/>
                <a:cxnLst>
                  <a:cxn ang="0">
                    <a:pos x="0" y="128"/>
                  </a:cxn>
                  <a:cxn ang="0">
                    <a:pos x="238" y="0"/>
                  </a:cxn>
                  <a:cxn ang="0">
                    <a:pos x="556" y="91"/>
                  </a:cxn>
                  <a:cxn ang="0">
                    <a:pos x="556" y="108"/>
                  </a:cxn>
                  <a:cxn ang="0">
                    <a:pos x="334" y="235"/>
                  </a:cxn>
                  <a:cxn ang="0">
                    <a:pos x="0" y="148"/>
                  </a:cxn>
                  <a:cxn ang="0">
                    <a:pos x="0" y="128"/>
                  </a:cxn>
                </a:cxnLst>
                <a:rect l="0" t="0" r="r" b="b"/>
                <a:pathLst>
                  <a:path w="556" h="235">
                    <a:moveTo>
                      <a:pt x="0" y="128"/>
                    </a:moveTo>
                    <a:lnTo>
                      <a:pt x="238" y="0"/>
                    </a:lnTo>
                    <a:lnTo>
                      <a:pt x="556" y="91"/>
                    </a:lnTo>
                    <a:lnTo>
                      <a:pt x="556" y="108"/>
                    </a:lnTo>
                    <a:lnTo>
                      <a:pt x="334" y="235"/>
                    </a:lnTo>
                    <a:lnTo>
                      <a:pt x="0" y="148"/>
                    </a:lnTo>
                    <a:lnTo>
                      <a:pt x="0" y="128"/>
                    </a:lnTo>
                    <a:close/>
                  </a:path>
                </a:pathLst>
              </a:custGeom>
              <a:solidFill>
                <a:srgbClr val="DDDDDD"/>
              </a:solidFill>
              <a:ln w="3175" cap="rnd" cmpd="sng">
                <a:solidFill>
                  <a:srgbClr val="000000"/>
                </a:solidFill>
                <a:prstDash val="solid"/>
                <a:round/>
                <a:headEnd type="none" w="med" len="med"/>
                <a:tailEnd type="none" w="med" len="med"/>
              </a:ln>
              <a:effectLst/>
            </p:spPr>
            <p:txBody>
              <a:bodyPr/>
              <a:lstStyle/>
              <a:p>
                <a:endParaRPr lang="fr-FR"/>
              </a:p>
            </p:txBody>
          </p:sp>
          <p:sp>
            <p:nvSpPr>
              <p:cNvPr id="62550" name="Freeform 86"/>
              <p:cNvSpPr>
                <a:spLocks/>
              </p:cNvSpPr>
              <p:nvPr/>
            </p:nvSpPr>
            <p:spPr bwMode="auto">
              <a:xfrm>
                <a:off x="2065" y="1327"/>
                <a:ext cx="538" cy="208"/>
              </a:xfrm>
              <a:custGeom>
                <a:avLst/>
                <a:gdLst/>
                <a:ahLst/>
                <a:cxnLst>
                  <a:cxn ang="0">
                    <a:pos x="0" y="124"/>
                  </a:cxn>
                  <a:cxn ang="0">
                    <a:pos x="327" y="208"/>
                  </a:cxn>
                  <a:cxn ang="0">
                    <a:pos x="538" y="86"/>
                  </a:cxn>
                  <a:cxn ang="0">
                    <a:pos x="233" y="0"/>
                  </a:cxn>
                  <a:cxn ang="0">
                    <a:pos x="0" y="124"/>
                  </a:cxn>
                </a:cxnLst>
                <a:rect l="0" t="0" r="r" b="b"/>
                <a:pathLst>
                  <a:path w="538" h="208">
                    <a:moveTo>
                      <a:pt x="0" y="124"/>
                    </a:moveTo>
                    <a:lnTo>
                      <a:pt x="327" y="208"/>
                    </a:lnTo>
                    <a:lnTo>
                      <a:pt x="538" y="86"/>
                    </a:lnTo>
                    <a:lnTo>
                      <a:pt x="233" y="0"/>
                    </a:lnTo>
                    <a:lnTo>
                      <a:pt x="0" y="124"/>
                    </a:lnTo>
                    <a:close/>
                  </a:path>
                </a:pathLst>
              </a:custGeom>
              <a:solidFill>
                <a:srgbClr val="B2B2B2"/>
              </a:solidFill>
              <a:ln w="6350" cap="rnd" cmpd="sng">
                <a:noFill/>
                <a:prstDash val="solid"/>
                <a:round/>
                <a:headEnd type="none" w="med" len="med"/>
                <a:tailEnd type="none" w="med" len="med"/>
              </a:ln>
              <a:effectLst/>
            </p:spPr>
            <p:txBody>
              <a:bodyPr/>
              <a:lstStyle/>
              <a:p>
                <a:endParaRPr lang="fr-FR"/>
              </a:p>
            </p:txBody>
          </p:sp>
          <p:sp>
            <p:nvSpPr>
              <p:cNvPr id="62551" name="Oval 87"/>
              <p:cNvSpPr>
                <a:spLocks noChangeArrowheads="1"/>
              </p:cNvSpPr>
              <p:nvPr/>
            </p:nvSpPr>
            <p:spPr bwMode="auto">
              <a:xfrm>
                <a:off x="2199" y="1378"/>
                <a:ext cx="280" cy="112"/>
              </a:xfrm>
              <a:prstGeom prst="ellipse">
                <a:avLst/>
              </a:prstGeom>
              <a:solidFill>
                <a:srgbClr val="B2B2B2"/>
              </a:solidFill>
              <a:ln w="3175" cap="rnd">
                <a:solidFill>
                  <a:schemeClr val="tx1"/>
                </a:solidFill>
                <a:round/>
                <a:headEnd/>
                <a:tailEnd/>
              </a:ln>
              <a:effectLst/>
            </p:spPr>
            <p:txBody>
              <a:bodyPr/>
              <a:lstStyle/>
              <a:p>
                <a:endParaRPr lang="fr-FR"/>
              </a:p>
            </p:txBody>
          </p:sp>
          <p:sp>
            <p:nvSpPr>
              <p:cNvPr id="62552" name="Freeform 88"/>
              <p:cNvSpPr>
                <a:spLocks/>
              </p:cNvSpPr>
              <p:nvPr/>
            </p:nvSpPr>
            <p:spPr bwMode="auto">
              <a:xfrm>
                <a:off x="2046" y="1382"/>
                <a:ext cx="452" cy="126"/>
              </a:xfrm>
              <a:custGeom>
                <a:avLst/>
                <a:gdLst/>
                <a:ahLst/>
                <a:cxnLst>
                  <a:cxn ang="0">
                    <a:pos x="0" y="0"/>
                  </a:cxn>
                  <a:cxn ang="0">
                    <a:pos x="20" y="36"/>
                  </a:cxn>
                  <a:cxn ang="0">
                    <a:pos x="574" y="180"/>
                  </a:cxn>
                  <a:cxn ang="0">
                    <a:pos x="646" y="158"/>
                  </a:cxn>
                </a:cxnLst>
                <a:rect l="0" t="0" r="r" b="b"/>
                <a:pathLst>
                  <a:path w="646" h="180">
                    <a:moveTo>
                      <a:pt x="0" y="0"/>
                    </a:moveTo>
                    <a:lnTo>
                      <a:pt x="20" y="36"/>
                    </a:lnTo>
                    <a:lnTo>
                      <a:pt x="574" y="180"/>
                    </a:lnTo>
                    <a:lnTo>
                      <a:pt x="646" y="158"/>
                    </a:lnTo>
                  </a:path>
                </a:pathLst>
              </a:custGeom>
              <a:solidFill>
                <a:srgbClr val="B2B2B2"/>
              </a:solidFill>
              <a:ln w="3175" cap="rnd" cmpd="sng">
                <a:solidFill>
                  <a:schemeClr val="tx1"/>
                </a:solidFill>
                <a:prstDash val="solid"/>
                <a:round/>
                <a:headEnd type="none" w="med" len="med"/>
                <a:tailEnd type="none" w="med" len="med"/>
              </a:ln>
              <a:effectLst/>
            </p:spPr>
            <p:txBody>
              <a:bodyPr/>
              <a:lstStyle/>
              <a:p>
                <a:endParaRPr lang="fr-FR"/>
              </a:p>
            </p:txBody>
          </p:sp>
          <p:sp>
            <p:nvSpPr>
              <p:cNvPr id="62553" name="Freeform 89"/>
              <p:cNvSpPr>
                <a:spLocks noChangeAspect="1"/>
              </p:cNvSpPr>
              <p:nvPr/>
            </p:nvSpPr>
            <p:spPr bwMode="auto">
              <a:xfrm>
                <a:off x="2154" y="885"/>
                <a:ext cx="564" cy="520"/>
              </a:xfrm>
              <a:custGeom>
                <a:avLst/>
                <a:gdLst/>
                <a:ahLst/>
                <a:cxnLst>
                  <a:cxn ang="0">
                    <a:pos x="620" y="746"/>
                  </a:cxn>
                  <a:cxn ang="0">
                    <a:pos x="808" y="525"/>
                  </a:cxn>
                  <a:cxn ang="0">
                    <a:pos x="808" y="106"/>
                  </a:cxn>
                  <a:cxn ang="0">
                    <a:pos x="336" y="0"/>
                  </a:cxn>
                  <a:cxn ang="0">
                    <a:pos x="0" y="48"/>
                  </a:cxn>
                </a:cxnLst>
                <a:rect l="0" t="0" r="r" b="b"/>
                <a:pathLst>
                  <a:path w="808" h="746">
                    <a:moveTo>
                      <a:pt x="620" y="746"/>
                    </a:moveTo>
                    <a:lnTo>
                      <a:pt x="808" y="525"/>
                    </a:lnTo>
                    <a:lnTo>
                      <a:pt x="808" y="106"/>
                    </a:lnTo>
                    <a:lnTo>
                      <a:pt x="336" y="0"/>
                    </a:lnTo>
                    <a:lnTo>
                      <a:pt x="0" y="4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62554" name="Freeform 90"/>
              <p:cNvSpPr>
                <a:spLocks noChangeAspect="1"/>
              </p:cNvSpPr>
              <p:nvPr/>
            </p:nvSpPr>
            <p:spPr bwMode="auto">
              <a:xfrm>
                <a:off x="2506" y="1000"/>
                <a:ext cx="113" cy="506"/>
              </a:xfrm>
              <a:custGeom>
                <a:avLst/>
                <a:gdLst/>
                <a:ahLst/>
                <a:cxnLst>
                  <a:cxn ang="0">
                    <a:pos x="0" y="644"/>
                  </a:cxn>
                  <a:cxn ang="0">
                    <a:pos x="0" y="79"/>
                  </a:cxn>
                  <a:cxn ang="0">
                    <a:pos x="144" y="0"/>
                  </a:cxn>
                  <a:cxn ang="0">
                    <a:pos x="144" y="554"/>
                  </a:cxn>
                  <a:cxn ang="0">
                    <a:pos x="0" y="644"/>
                  </a:cxn>
                </a:cxnLst>
                <a:rect l="0" t="0" r="r" b="b"/>
                <a:pathLst>
                  <a:path w="144" h="644">
                    <a:moveTo>
                      <a:pt x="0" y="644"/>
                    </a:moveTo>
                    <a:lnTo>
                      <a:pt x="0" y="79"/>
                    </a:lnTo>
                    <a:lnTo>
                      <a:pt x="144" y="0"/>
                    </a:lnTo>
                    <a:lnTo>
                      <a:pt x="144" y="554"/>
                    </a:lnTo>
                    <a:lnTo>
                      <a:pt x="0" y="644"/>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62555" name="Freeform 91"/>
              <p:cNvSpPr>
                <a:spLocks noChangeAspect="1"/>
              </p:cNvSpPr>
              <p:nvPr/>
            </p:nvSpPr>
            <p:spPr bwMode="auto">
              <a:xfrm>
                <a:off x="2004" y="891"/>
                <a:ext cx="615" cy="172"/>
              </a:xfrm>
              <a:custGeom>
                <a:avLst/>
                <a:gdLst/>
                <a:ahLst/>
                <a:cxnLst>
                  <a:cxn ang="0">
                    <a:pos x="638" y="219"/>
                  </a:cxn>
                  <a:cxn ang="0">
                    <a:pos x="0" y="67"/>
                  </a:cxn>
                  <a:cxn ang="0">
                    <a:pos x="160" y="0"/>
                  </a:cxn>
                  <a:cxn ang="0">
                    <a:pos x="782" y="139"/>
                  </a:cxn>
                  <a:cxn ang="0">
                    <a:pos x="638" y="219"/>
                  </a:cxn>
                </a:cxnLst>
                <a:rect l="0" t="0" r="r" b="b"/>
                <a:pathLst>
                  <a:path w="782" h="219">
                    <a:moveTo>
                      <a:pt x="638" y="219"/>
                    </a:moveTo>
                    <a:lnTo>
                      <a:pt x="0" y="67"/>
                    </a:lnTo>
                    <a:lnTo>
                      <a:pt x="160" y="0"/>
                    </a:lnTo>
                    <a:lnTo>
                      <a:pt x="782" y="139"/>
                    </a:lnTo>
                    <a:lnTo>
                      <a:pt x="638" y="219"/>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sp>
            <p:nvSpPr>
              <p:cNvPr id="62556" name="Freeform 92"/>
              <p:cNvSpPr>
                <a:spLocks noChangeAspect="1"/>
              </p:cNvSpPr>
              <p:nvPr/>
            </p:nvSpPr>
            <p:spPr bwMode="auto">
              <a:xfrm>
                <a:off x="2004" y="942"/>
                <a:ext cx="502" cy="566"/>
              </a:xfrm>
              <a:custGeom>
                <a:avLst/>
                <a:gdLst/>
                <a:ahLst/>
                <a:cxnLst>
                  <a:cxn ang="0">
                    <a:pos x="671" y="753"/>
                  </a:cxn>
                  <a:cxn ang="0">
                    <a:pos x="671" y="160"/>
                  </a:cxn>
                  <a:cxn ang="0">
                    <a:pos x="0" y="0"/>
                  </a:cxn>
                  <a:cxn ang="0">
                    <a:pos x="0" y="578"/>
                  </a:cxn>
                  <a:cxn ang="0">
                    <a:pos x="671" y="753"/>
                  </a:cxn>
                </a:cxnLst>
                <a:rect l="0" t="0" r="r" b="b"/>
                <a:pathLst>
                  <a:path w="672" h="754">
                    <a:moveTo>
                      <a:pt x="671" y="753"/>
                    </a:moveTo>
                    <a:lnTo>
                      <a:pt x="671" y="160"/>
                    </a:lnTo>
                    <a:lnTo>
                      <a:pt x="0" y="0"/>
                    </a:lnTo>
                    <a:lnTo>
                      <a:pt x="0" y="578"/>
                    </a:lnTo>
                    <a:lnTo>
                      <a:pt x="671" y="753"/>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62557" name="Freeform 93"/>
              <p:cNvSpPr>
                <a:spLocks noChangeAspect="1"/>
              </p:cNvSpPr>
              <p:nvPr/>
            </p:nvSpPr>
            <p:spPr bwMode="auto">
              <a:xfrm>
                <a:off x="2043" y="992"/>
                <a:ext cx="425" cy="464"/>
              </a:xfrm>
              <a:custGeom>
                <a:avLst/>
                <a:gdLst/>
                <a:ahLst/>
                <a:cxnLst>
                  <a:cxn ang="0">
                    <a:pos x="490" y="548"/>
                  </a:cxn>
                  <a:cxn ang="0">
                    <a:pos x="490" y="117"/>
                  </a:cxn>
                  <a:cxn ang="0">
                    <a:pos x="0" y="0"/>
                  </a:cxn>
                  <a:cxn ang="0">
                    <a:pos x="0" y="424"/>
                  </a:cxn>
                  <a:cxn ang="0">
                    <a:pos x="490" y="548"/>
                  </a:cxn>
                </a:cxnLst>
                <a:rect l="0" t="0" r="r" b="b"/>
                <a:pathLst>
                  <a:path w="491" h="549">
                    <a:moveTo>
                      <a:pt x="490" y="548"/>
                    </a:moveTo>
                    <a:lnTo>
                      <a:pt x="490" y="117"/>
                    </a:lnTo>
                    <a:lnTo>
                      <a:pt x="0" y="0"/>
                    </a:lnTo>
                    <a:lnTo>
                      <a:pt x="0" y="424"/>
                    </a:lnTo>
                    <a:lnTo>
                      <a:pt x="490" y="548"/>
                    </a:lnTo>
                  </a:path>
                </a:pathLst>
              </a:custGeom>
              <a:solidFill>
                <a:srgbClr val="CECECE"/>
              </a:solidFill>
              <a:ln w="6350" cap="rnd" cmpd="sng">
                <a:solidFill>
                  <a:srgbClr val="808080"/>
                </a:solidFill>
                <a:prstDash val="solid"/>
                <a:round/>
                <a:headEnd type="none" w="med" len="med"/>
                <a:tailEnd type="none" w="med" len="med"/>
              </a:ln>
              <a:effectLst/>
            </p:spPr>
            <p:txBody>
              <a:bodyPr/>
              <a:lstStyle/>
              <a:p>
                <a:endParaRPr lang="fr-FR"/>
              </a:p>
            </p:txBody>
          </p:sp>
          <p:sp>
            <p:nvSpPr>
              <p:cNvPr id="62558" name="Freeform 94"/>
              <p:cNvSpPr>
                <a:spLocks/>
              </p:cNvSpPr>
              <p:nvPr/>
            </p:nvSpPr>
            <p:spPr bwMode="auto">
              <a:xfrm>
                <a:off x="2069" y="1023"/>
                <a:ext cx="372" cy="400"/>
              </a:xfrm>
              <a:custGeom>
                <a:avLst/>
                <a:gdLst/>
                <a:ahLst/>
                <a:cxnLst>
                  <a:cxn ang="0">
                    <a:pos x="0" y="0"/>
                  </a:cxn>
                  <a:cxn ang="0">
                    <a:pos x="0" y="454"/>
                  </a:cxn>
                  <a:cxn ang="0">
                    <a:pos x="542" y="592"/>
                  </a:cxn>
                  <a:cxn ang="0">
                    <a:pos x="542" y="130"/>
                  </a:cxn>
                  <a:cxn ang="0">
                    <a:pos x="0" y="0"/>
                  </a:cxn>
                </a:cxnLst>
                <a:rect l="0" t="0" r="r" b="b"/>
                <a:pathLst>
                  <a:path w="542" h="592">
                    <a:moveTo>
                      <a:pt x="0" y="0"/>
                    </a:moveTo>
                    <a:lnTo>
                      <a:pt x="0" y="454"/>
                    </a:lnTo>
                    <a:lnTo>
                      <a:pt x="542" y="592"/>
                    </a:lnTo>
                    <a:lnTo>
                      <a:pt x="542" y="130"/>
                    </a:lnTo>
                    <a:lnTo>
                      <a:pt x="0" y="0"/>
                    </a:lnTo>
                    <a:close/>
                  </a:path>
                </a:pathLst>
              </a:custGeom>
              <a:gradFill rotWithShape="0">
                <a:gsLst>
                  <a:gs pos="0">
                    <a:srgbClr val="618FFD"/>
                  </a:gs>
                  <a:gs pos="100000">
                    <a:srgbClr val="618FFD">
                      <a:gamma/>
                      <a:shade val="75294"/>
                      <a:invGamma/>
                    </a:srgbClr>
                  </a:gs>
                </a:gsLst>
                <a:path path="rect">
                  <a:fillToRect r="100000" b="100000"/>
                </a:path>
              </a:gradFill>
              <a:ln w="6350" cap="flat" cmpd="sng">
                <a:solidFill>
                  <a:srgbClr val="777777"/>
                </a:solidFill>
                <a:prstDash val="solid"/>
                <a:round/>
                <a:headEnd type="none" w="med" len="med"/>
                <a:tailEnd type="none" w="med" len="med"/>
              </a:ln>
              <a:effectLst>
                <a:outerShdw dist="17961" dir="2700000" algn="ctr" rotWithShape="0">
                  <a:schemeClr val="bg1"/>
                </a:outerShdw>
              </a:effectLst>
            </p:spPr>
            <p:txBody>
              <a:bodyPr wrap="none" anchor="ctr"/>
              <a:lstStyle/>
              <a:p>
                <a:endParaRPr lang="fr-FR"/>
              </a:p>
            </p:txBody>
          </p:sp>
          <p:sp>
            <p:nvSpPr>
              <p:cNvPr id="62559" name="Line 95"/>
              <p:cNvSpPr>
                <a:spLocks noChangeShapeType="1"/>
              </p:cNvSpPr>
              <p:nvPr/>
            </p:nvSpPr>
            <p:spPr bwMode="auto">
              <a:xfrm>
                <a:off x="2102" y="1056"/>
                <a:ext cx="0" cy="61"/>
              </a:xfrm>
              <a:prstGeom prst="line">
                <a:avLst/>
              </a:prstGeom>
              <a:noFill/>
              <a:ln w="25400">
                <a:solidFill>
                  <a:schemeClr val="bg1"/>
                </a:solidFill>
                <a:round/>
                <a:headEnd/>
                <a:tailEnd/>
              </a:ln>
              <a:effectLst/>
            </p:spPr>
            <p:txBody>
              <a:bodyPr wrap="none" anchor="ctr"/>
              <a:lstStyle/>
              <a:p>
                <a:endParaRPr lang="fr-FR"/>
              </a:p>
            </p:txBody>
          </p:sp>
        </p:grpSp>
      </p:gr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7" name="Rectangle 9"/>
          <p:cNvSpPr>
            <a:spLocks noGrp="1" noChangeArrowheads="1"/>
          </p:cNvSpPr>
          <p:nvPr>
            <p:ph type="title"/>
          </p:nvPr>
        </p:nvSpPr>
        <p:spPr/>
        <p:txBody>
          <a:bodyPr vert="horz" anchor="b">
            <a:normAutofit/>
          </a:bodyPr>
          <a:lstStyle/>
          <a:p>
            <a:r>
              <a:rPr lang="fr-FR" dirty="0">
                <a:solidFill>
                  <a:srgbClr val="C00000"/>
                </a:solidFill>
              </a:rPr>
              <a:t>Configuration d'une connexion VPN</a:t>
            </a:r>
            <a:endParaRPr lang="en-US" dirty="0">
              <a:solidFill>
                <a:srgbClr val="C00000"/>
              </a:solidFill>
            </a:endParaRPr>
          </a:p>
        </p:txBody>
      </p:sp>
      <p:pic>
        <p:nvPicPr>
          <p:cNvPr id="63499" name="Picture 11" descr="P2272bW10_12-"/>
          <p:cNvPicPr>
            <a:picLocks noGrp="1" noChangeAspect="1" noChangeArrowheads="1"/>
          </p:cNvPicPr>
          <p:nvPr>
            <p:ph sz="quarter" idx="1"/>
          </p:nvPr>
        </p:nvPicPr>
        <p:blipFill>
          <a:blip r:embed="rId3"/>
          <a:srcRect/>
          <a:stretch>
            <a:fillRect/>
          </a:stretch>
        </p:blipFill>
        <p:spPr>
          <a:xfrm>
            <a:off x="1140142" y="1147024"/>
            <a:ext cx="6845617" cy="5634776"/>
          </a:xfrm>
          <a:noFill/>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vert="horz" anchor="b">
            <a:normAutofit/>
          </a:bodyPr>
          <a:lstStyle/>
          <a:p>
            <a:r>
              <a:rPr lang="fr-FR" dirty="0">
                <a:solidFill>
                  <a:srgbClr val="C00000"/>
                </a:solidFill>
              </a:rPr>
              <a:t>Configuration des protocoles VPN </a:t>
            </a:r>
            <a:endParaRPr lang="en-US" dirty="0">
              <a:solidFill>
                <a:srgbClr val="C00000"/>
              </a:solidFill>
            </a:endParaRPr>
          </a:p>
        </p:txBody>
      </p:sp>
      <p:sp>
        <p:nvSpPr>
          <p:cNvPr id="64517" name="Rectangle 5"/>
          <p:cNvSpPr>
            <a:spLocks noChangeArrowheads="1"/>
          </p:cNvSpPr>
          <p:nvPr/>
        </p:nvSpPr>
        <p:spPr bwMode="auto">
          <a:xfrm>
            <a:off x="1447800" y="5505450"/>
            <a:ext cx="1360488" cy="454025"/>
          </a:xfrm>
          <a:prstGeom prst="rect">
            <a:avLst/>
          </a:prstGeom>
          <a:noFill/>
          <a:ln w="9525">
            <a:noFill/>
            <a:miter lim="800000"/>
            <a:headEnd/>
            <a:tailEnd/>
          </a:ln>
          <a:effectLst/>
        </p:spPr>
        <p:txBody>
          <a:bodyPr lIns="548640" anchor="ctr"/>
          <a:lstStyle/>
          <a:p>
            <a:pPr algn="r"/>
            <a:r>
              <a:rPr lang="en-US" sz="2200">
                <a:latin typeface="Arial" charset="0"/>
              </a:rPr>
              <a:t>Client</a:t>
            </a:r>
          </a:p>
        </p:txBody>
      </p:sp>
      <p:sp>
        <p:nvSpPr>
          <p:cNvPr id="64518" name="Rectangle 6"/>
          <p:cNvSpPr>
            <a:spLocks noChangeArrowheads="1"/>
          </p:cNvSpPr>
          <p:nvPr/>
        </p:nvSpPr>
        <p:spPr bwMode="auto">
          <a:xfrm>
            <a:off x="6014403" y="5505450"/>
            <a:ext cx="1168400" cy="454025"/>
          </a:xfrm>
          <a:prstGeom prst="rect">
            <a:avLst/>
          </a:prstGeom>
          <a:noFill/>
          <a:ln w="9525">
            <a:noFill/>
            <a:miter lim="800000"/>
            <a:headEnd/>
            <a:tailEnd/>
          </a:ln>
          <a:effectLst/>
        </p:spPr>
        <p:txBody>
          <a:bodyPr anchor="ctr"/>
          <a:lstStyle/>
          <a:p>
            <a:r>
              <a:rPr lang="en-US" sz="2200" dirty="0" err="1">
                <a:latin typeface="Arial" charset="0"/>
              </a:rPr>
              <a:t>Serveur</a:t>
            </a:r>
            <a:endParaRPr lang="en-US" sz="2200" dirty="0">
              <a:latin typeface="Arial" charset="0"/>
            </a:endParaRPr>
          </a:p>
        </p:txBody>
      </p:sp>
      <p:grpSp>
        <p:nvGrpSpPr>
          <p:cNvPr id="64519" name="Group 7"/>
          <p:cNvGrpSpPr>
            <a:grpSpLocks/>
          </p:cNvGrpSpPr>
          <p:nvPr/>
        </p:nvGrpSpPr>
        <p:grpSpPr bwMode="auto">
          <a:xfrm>
            <a:off x="388938" y="4332288"/>
            <a:ext cx="1874837" cy="1860550"/>
            <a:chOff x="816" y="1017"/>
            <a:chExt cx="1175" cy="1167"/>
          </a:xfrm>
        </p:grpSpPr>
        <p:sp>
          <p:nvSpPr>
            <p:cNvPr id="64520" name="Freeform 8"/>
            <p:cNvSpPr>
              <a:spLocks noChangeAspect="1"/>
            </p:cNvSpPr>
            <p:nvPr/>
          </p:nvSpPr>
          <p:spPr bwMode="auto">
            <a:xfrm>
              <a:off x="816" y="1017"/>
              <a:ext cx="1175" cy="1167"/>
            </a:xfrm>
            <a:custGeom>
              <a:avLst/>
              <a:gdLst/>
              <a:ahLst/>
              <a:cxnLst>
                <a:cxn ang="0">
                  <a:pos x="1175" y="208"/>
                </a:cxn>
                <a:cxn ang="0">
                  <a:pos x="1081" y="477"/>
                </a:cxn>
                <a:cxn ang="0">
                  <a:pos x="985" y="751"/>
                </a:cxn>
                <a:cxn ang="0">
                  <a:pos x="911" y="720"/>
                </a:cxn>
                <a:cxn ang="0">
                  <a:pos x="910" y="725"/>
                </a:cxn>
                <a:cxn ang="0">
                  <a:pos x="979" y="761"/>
                </a:cxn>
                <a:cxn ang="0">
                  <a:pos x="981" y="761"/>
                </a:cxn>
                <a:cxn ang="0">
                  <a:pos x="981" y="763"/>
                </a:cxn>
                <a:cxn ang="0">
                  <a:pos x="982" y="763"/>
                </a:cxn>
                <a:cxn ang="0">
                  <a:pos x="982" y="764"/>
                </a:cxn>
                <a:cxn ang="0">
                  <a:pos x="982" y="765"/>
                </a:cxn>
                <a:cxn ang="0">
                  <a:pos x="982" y="768"/>
                </a:cxn>
                <a:cxn ang="0">
                  <a:pos x="982" y="886"/>
                </a:cxn>
                <a:cxn ang="0">
                  <a:pos x="958" y="902"/>
                </a:cxn>
                <a:cxn ang="0">
                  <a:pos x="933" y="920"/>
                </a:cxn>
                <a:cxn ang="0">
                  <a:pos x="909" y="939"/>
                </a:cxn>
                <a:cxn ang="0">
                  <a:pos x="884" y="955"/>
                </a:cxn>
                <a:cxn ang="0">
                  <a:pos x="857" y="974"/>
                </a:cxn>
                <a:cxn ang="0">
                  <a:pos x="833" y="990"/>
                </a:cxn>
                <a:cxn ang="0">
                  <a:pos x="808" y="1009"/>
                </a:cxn>
                <a:cxn ang="0">
                  <a:pos x="781" y="1027"/>
                </a:cxn>
                <a:cxn ang="0">
                  <a:pos x="757" y="1045"/>
                </a:cxn>
                <a:cxn ang="0">
                  <a:pos x="732" y="1061"/>
                </a:cxn>
                <a:cxn ang="0">
                  <a:pos x="707" y="1080"/>
                </a:cxn>
                <a:cxn ang="0">
                  <a:pos x="682" y="1097"/>
                </a:cxn>
                <a:cxn ang="0">
                  <a:pos x="657" y="1115"/>
                </a:cxn>
                <a:cxn ang="0">
                  <a:pos x="632" y="1131"/>
                </a:cxn>
                <a:cxn ang="0">
                  <a:pos x="582" y="1167"/>
                </a:cxn>
                <a:cxn ang="0">
                  <a:pos x="0" y="822"/>
                </a:cxn>
                <a:cxn ang="0">
                  <a:pos x="0" y="754"/>
                </a:cxn>
                <a:cxn ang="0">
                  <a:pos x="271" y="608"/>
                </a:cxn>
                <a:cxn ang="0">
                  <a:pos x="278" y="596"/>
                </a:cxn>
                <a:cxn ang="0">
                  <a:pos x="373" y="537"/>
                </a:cxn>
                <a:cxn ang="0">
                  <a:pos x="372" y="533"/>
                </a:cxn>
                <a:cxn ang="0">
                  <a:pos x="369" y="528"/>
                </a:cxn>
                <a:cxn ang="0">
                  <a:pos x="369" y="523"/>
                </a:cxn>
                <a:cxn ang="0">
                  <a:pos x="369" y="520"/>
                </a:cxn>
                <a:cxn ang="0">
                  <a:pos x="369" y="514"/>
                </a:cxn>
                <a:cxn ang="0">
                  <a:pos x="369" y="512"/>
                </a:cxn>
                <a:cxn ang="0">
                  <a:pos x="372" y="508"/>
                </a:cxn>
                <a:cxn ang="0">
                  <a:pos x="372" y="505"/>
                </a:cxn>
                <a:cxn ang="0">
                  <a:pos x="373" y="502"/>
                </a:cxn>
                <a:cxn ang="0">
                  <a:pos x="374" y="498"/>
                </a:cxn>
                <a:cxn ang="0">
                  <a:pos x="376" y="497"/>
                </a:cxn>
                <a:cxn ang="0">
                  <a:pos x="380" y="495"/>
                </a:cxn>
                <a:cxn ang="0">
                  <a:pos x="381" y="494"/>
                </a:cxn>
                <a:cxn ang="0">
                  <a:pos x="383" y="491"/>
                </a:cxn>
                <a:cxn ang="0">
                  <a:pos x="388" y="489"/>
                </a:cxn>
                <a:cxn ang="0">
                  <a:pos x="453" y="520"/>
                </a:cxn>
                <a:cxn ang="0">
                  <a:pos x="460" y="514"/>
                </a:cxn>
                <a:cxn ang="0">
                  <a:pos x="388" y="482"/>
                </a:cxn>
                <a:cxn ang="0">
                  <a:pos x="427" y="348"/>
                </a:cxn>
                <a:cxn ang="0">
                  <a:pos x="423" y="334"/>
                </a:cxn>
                <a:cxn ang="0">
                  <a:pos x="422" y="329"/>
                </a:cxn>
                <a:cxn ang="0">
                  <a:pos x="418" y="321"/>
                </a:cxn>
                <a:cxn ang="0">
                  <a:pos x="528" y="0"/>
                </a:cxn>
                <a:cxn ang="0">
                  <a:pos x="1150" y="193"/>
                </a:cxn>
                <a:cxn ang="0">
                  <a:pos x="1175" y="208"/>
                </a:cxn>
              </a:cxnLst>
              <a:rect l="0" t="0" r="r" b="b"/>
              <a:pathLst>
                <a:path w="1175" h="1167">
                  <a:moveTo>
                    <a:pt x="1175" y="208"/>
                  </a:moveTo>
                  <a:lnTo>
                    <a:pt x="1081" y="477"/>
                  </a:lnTo>
                  <a:lnTo>
                    <a:pt x="985" y="751"/>
                  </a:lnTo>
                  <a:lnTo>
                    <a:pt x="911" y="720"/>
                  </a:lnTo>
                  <a:lnTo>
                    <a:pt x="910" y="725"/>
                  </a:lnTo>
                  <a:lnTo>
                    <a:pt x="979" y="761"/>
                  </a:lnTo>
                  <a:lnTo>
                    <a:pt x="981" y="761"/>
                  </a:lnTo>
                  <a:lnTo>
                    <a:pt x="981" y="763"/>
                  </a:lnTo>
                  <a:lnTo>
                    <a:pt x="982" y="763"/>
                  </a:lnTo>
                  <a:lnTo>
                    <a:pt x="982" y="764"/>
                  </a:lnTo>
                  <a:lnTo>
                    <a:pt x="982" y="765"/>
                  </a:lnTo>
                  <a:lnTo>
                    <a:pt x="982" y="768"/>
                  </a:lnTo>
                  <a:lnTo>
                    <a:pt x="982" y="886"/>
                  </a:lnTo>
                  <a:lnTo>
                    <a:pt x="958" y="902"/>
                  </a:lnTo>
                  <a:lnTo>
                    <a:pt x="933" y="920"/>
                  </a:lnTo>
                  <a:lnTo>
                    <a:pt x="909" y="939"/>
                  </a:lnTo>
                  <a:lnTo>
                    <a:pt x="884" y="955"/>
                  </a:lnTo>
                  <a:lnTo>
                    <a:pt x="857" y="974"/>
                  </a:lnTo>
                  <a:lnTo>
                    <a:pt x="833" y="990"/>
                  </a:lnTo>
                  <a:lnTo>
                    <a:pt x="808" y="1009"/>
                  </a:lnTo>
                  <a:lnTo>
                    <a:pt x="781" y="1027"/>
                  </a:lnTo>
                  <a:lnTo>
                    <a:pt x="757" y="1045"/>
                  </a:lnTo>
                  <a:lnTo>
                    <a:pt x="732" y="1061"/>
                  </a:lnTo>
                  <a:lnTo>
                    <a:pt x="707" y="1080"/>
                  </a:lnTo>
                  <a:lnTo>
                    <a:pt x="682" y="1097"/>
                  </a:lnTo>
                  <a:lnTo>
                    <a:pt x="657" y="1115"/>
                  </a:lnTo>
                  <a:lnTo>
                    <a:pt x="632" y="1131"/>
                  </a:lnTo>
                  <a:lnTo>
                    <a:pt x="582" y="1167"/>
                  </a:lnTo>
                  <a:lnTo>
                    <a:pt x="0" y="822"/>
                  </a:lnTo>
                  <a:lnTo>
                    <a:pt x="0" y="754"/>
                  </a:lnTo>
                  <a:lnTo>
                    <a:pt x="271" y="608"/>
                  </a:lnTo>
                  <a:lnTo>
                    <a:pt x="278" y="596"/>
                  </a:lnTo>
                  <a:lnTo>
                    <a:pt x="373" y="537"/>
                  </a:lnTo>
                  <a:lnTo>
                    <a:pt x="372" y="533"/>
                  </a:lnTo>
                  <a:lnTo>
                    <a:pt x="369" y="528"/>
                  </a:lnTo>
                  <a:lnTo>
                    <a:pt x="369" y="523"/>
                  </a:lnTo>
                  <a:lnTo>
                    <a:pt x="369" y="520"/>
                  </a:lnTo>
                  <a:lnTo>
                    <a:pt x="369" y="514"/>
                  </a:lnTo>
                  <a:lnTo>
                    <a:pt x="369" y="512"/>
                  </a:lnTo>
                  <a:lnTo>
                    <a:pt x="372" y="508"/>
                  </a:lnTo>
                  <a:lnTo>
                    <a:pt x="372" y="505"/>
                  </a:lnTo>
                  <a:lnTo>
                    <a:pt x="373" y="502"/>
                  </a:lnTo>
                  <a:lnTo>
                    <a:pt x="374" y="498"/>
                  </a:lnTo>
                  <a:lnTo>
                    <a:pt x="376" y="497"/>
                  </a:lnTo>
                  <a:lnTo>
                    <a:pt x="380" y="495"/>
                  </a:lnTo>
                  <a:lnTo>
                    <a:pt x="381" y="494"/>
                  </a:lnTo>
                  <a:lnTo>
                    <a:pt x="383" y="491"/>
                  </a:lnTo>
                  <a:lnTo>
                    <a:pt x="388" y="489"/>
                  </a:lnTo>
                  <a:lnTo>
                    <a:pt x="453" y="520"/>
                  </a:lnTo>
                  <a:lnTo>
                    <a:pt x="460" y="514"/>
                  </a:lnTo>
                  <a:lnTo>
                    <a:pt x="388" y="482"/>
                  </a:lnTo>
                  <a:lnTo>
                    <a:pt x="427" y="348"/>
                  </a:lnTo>
                  <a:lnTo>
                    <a:pt x="423" y="334"/>
                  </a:lnTo>
                  <a:lnTo>
                    <a:pt x="422" y="329"/>
                  </a:lnTo>
                  <a:lnTo>
                    <a:pt x="418" y="321"/>
                  </a:lnTo>
                  <a:lnTo>
                    <a:pt x="528" y="0"/>
                  </a:lnTo>
                  <a:lnTo>
                    <a:pt x="1150" y="193"/>
                  </a:lnTo>
                  <a:lnTo>
                    <a:pt x="1175" y="208"/>
                  </a:lnTo>
                </a:path>
              </a:pathLst>
            </a:custGeom>
            <a:solidFill>
              <a:srgbClr val="B2B2B2"/>
            </a:solidFill>
            <a:ln w="3175" cap="rnd" cmpd="sng">
              <a:solidFill>
                <a:srgbClr val="000000"/>
              </a:solidFill>
              <a:prstDash val="solid"/>
              <a:round/>
              <a:headEnd type="none" w="med" len="med"/>
              <a:tailEnd type="none" w="med" len="med"/>
            </a:ln>
            <a:effectLst/>
          </p:spPr>
          <p:txBody>
            <a:bodyPr/>
            <a:lstStyle/>
            <a:p>
              <a:endParaRPr lang="fr-FR"/>
            </a:p>
          </p:txBody>
        </p:sp>
        <p:sp>
          <p:nvSpPr>
            <p:cNvPr id="64521" name="Freeform 9"/>
            <p:cNvSpPr>
              <a:spLocks noChangeAspect="1"/>
            </p:cNvSpPr>
            <p:nvPr/>
          </p:nvSpPr>
          <p:spPr bwMode="auto">
            <a:xfrm>
              <a:off x="1307" y="1116"/>
              <a:ext cx="559" cy="522"/>
            </a:xfrm>
            <a:custGeom>
              <a:avLst/>
              <a:gdLst/>
              <a:ahLst/>
              <a:cxnLst>
                <a:cxn ang="0">
                  <a:pos x="436" y="522"/>
                </a:cxn>
                <a:cxn ang="0">
                  <a:pos x="0" y="344"/>
                </a:cxn>
                <a:cxn ang="0">
                  <a:pos x="109" y="0"/>
                </a:cxn>
                <a:cxn ang="0">
                  <a:pos x="559" y="155"/>
                </a:cxn>
                <a:cxn ang="0">
                  <a:pos x="436" y="522"/>
                </a:cxn>
              </a:cxnLst>
              <a:rect l="0" t="0" r="r" b="b"/>
              <a:pathLst>
                <a:path w="559" h="522">
                  <a:moveTo>
                    <a:pt x="436" y="522"/>
                  </a:moveTo>
                  <a:lnTo>
                    <a:pt x="0" y="344"/>
                  </a:lnTo>
                  <a:lnTo>
                    <a:pt x="109" y="0"/>
                  </a:lnTo>
                  <a:lnTo>
                    <a:pt x="559" y="155"/>
                  </a:lnTo>
                  <a:lnTo>
                    <a:pt x="436" y="522"/>
                  </a:lnTo>
                </a:path>
              </a:pathLst>
            </a:custGeom>
            <a:gradFill rotWithShape="0">
              <a:gsLst>
                <a:gs pos="0">
                  <a:srgbClr val="6699FF"/>
                </a:gs>
                <a:gs pos="100000">
                  <a:srgbClr val="6699FF">
                    <a:gamma/>
                    <a:tint val="63922"/>
                    <a:invGamma/>
                  </a:srgbClr>
                </a:gs>
              </a:gsLst>
              <a:path path="rect">
                <a:fillToRect l="100000" t="100000"/>
              </a:path>
            </a:gradFill>
            <a:ln w="3175" cap="rnd" cmpd="sng">
              <a:noFill/>
              <a:prstDash val="solid"/>
              <a:round/>
              <a:headEnd type="none" w="med" len="med"/>
              <a:tailEnd type="none" w="med" len="med"/>
            </a:ln>
            <a:effectLst/>
          </p:spPr>
          <p:txBody>
            <a:bodyPr/>
            <a:lstStyle/>
            <a:p>
              <a:endParaRPr lang="fr-FR"/>
            </a:p>
          </p:txBody>
        </p:sp>
        <p:sp>
          <p:nvSpPr>
            <p:cNvPr id="64522" name="Freeform 10"/>
            <p:cNvSpPr>
              <a:spLocks noChangeAspect="1"/>
            </p:cNvSpPr>
            <p:nvPr/>
          </p:nvSpPr>
          <p:spPr bwMode="auto">
            <a:xfrm>
              <a:off x="1246" y="1032"/>
              <a:ext cx="715" cy="552"/>
            </a:xfrm>
            <a:custGeom>
              <a:avLst/>
              <a:gdLst/>
              <a:ahLst/>
              <a:cxnLst>
                <a:cxn ang="0">
                  <a:pos x="5" y="335"/>
                </a:cxn>
                <a:cxn ang="0">
                  <a:pos x="7" y="324"/>
                </a:cxn>
                <a:cxn ang="0">
                  <a:pos x="0" y="312"/>
                </a:cxn>
                <a:cxn ang="0">
                  <a:pos x="103" y="0"/>
                </a:cxn>
                <a:cxn ang="0">
                  <a:pos x="715" y="197"/>
                </a:cxn>
                <a:cxn ang="0">
                  <a:pos x="601" y="545"/>
                </a:cxn>
                <a:cxn ang="0">
                  <a:pos x="586" y="552"/>
                </a:cxn>
                <a:cxn ang="0">
                  <a:pos x="700" y="210"/>
                </a:cxn>
                <a:cxn ang="0">
                  <a:pos x="110" y="15"/>
                </a:cxn>
                <a:cxn ang="0">
                  <a:pos x="5" y="335"/>
                </a:cxn>
              </a:cxnLst>
              <a:rect l="0" t="0" r="r" b="b"/>
              <a:pathLst>
                <a:path w="715" h="552">
                  <a:moveTo>
                    <a:pt x="5" y="335"/>
                  </a:moveTo>
                  <a:lnTo>
                    <a:pt x="7" y="324"/>
                  </a:lnTo>
                  <a:lnTo>
                    <a:pt x="0" y="312"/>
                  </a:lnTo>
                  <a:lnTo>
                    <a:pt x="103" y="0"/>
                  </a:lnTo>
                  <a:lnTo>
                    <a:pt x="715" y="197"/>
                  </a:lnTo>
                  <a:lnTo>
                    <a:pt x="601" y="545"/>
                  </a:lnTo>
                  <a:lnTo>
                    <a:pt x="586" y="552"/>
                  </a:lnTo>
                  <a:lnTo>
                    <a:pt x="700" y="210"/>
                  </a:lnTo>
                  <a:lnTo>
                    <a:pt x="110" y="15"/>
                  </a:lnTo>
                  <a:lnTo>
                    <a:pt x="5" y="335"/>
                  </a:lnTo>
                </a:path>
              </a:pathLst>
            </a:custGeom>
            <a:solidFill>
              <a:schemeClr val="bg1"/>
            </a:solidFill>
            <a:ln w="3175" cap="rnd" cmpd="sng">
              <a:noFill/>
              <a:prstDash val="solid"/>
              <a:round/>
              <a:headEnd type="none" w="med" len="med"/>
              <a:tailEnd type="none" w="med" len="med"/>
            </a:ln>
            <a:effectLst/>
          </p:spPr>
          <p:txBody>
            <a:bodyPr/>
            <a:lstStyle/>
            <a:p>
              <a:endParaRPr lang="fr-FR"/>
            </a:p>
          </p:txBody>
        </p:sp>
        <p:sp>
          <p:nvSpPr>
            <p:cNvPr id="64523" name="Freeform 11"/>
            <p:cNvSpPr>
              <a:spLocks noChangeAspect="1"/>
            </p:cNvSpPr>
            <p:nvPr/>
          </p:nvSpPr>
          <p:spPr bwMode="auto">
            <a:xfrm>
              <a:off x="839" y="1640"/>
              <a:ext cx="802" cy="452"/>
            </a:xfrm>
            <a:custGeom>
              <a:avLst/>
              <a:gdLst/>
              <a:ahLst/>
              <a:cxnLst>
                <a:cxn ang="0">
                  <a:pos x="1464" y="519"/>
                </a:cxn>
                <a:cxn ang="0">
                  <a:pos x="453" y="0"/>
                </a:cxn>
                <a:cxn ang="0">
                  <a:pos x="0" y="243"/>
                </a:cxn>
                <a:cxn ang="0">
                  <a:pos x="1020" y="825"/>
                </a:cxn>
                <a:cxn ang="0">
                  <a:pos x="1464" y="519"/>
                </a:cxn>
              </a:cxnLst>
              <a:rect l="0" t="0" r="r" b="b"/>
              <a:pathLst>
                <a:path w="1465" h="826">
                  <a:moveTo>
                    <a:pt x="1464" y="519"/>
                  </a:moveTo>
                  <a:lnTo>
                    <a:pt x="453" y="0"/>
                  </a:lnTo>
                  <a:lnTo>
                    <a:pt x="0" y="243"/>
                  </a:lnTo>
                  <a:lnTo>
                    <a:pt x="1020" y="825"/>
                  </a:lnTo>
                  <a:lnTo>
                    <a:pt x="1464" y="519"/>
                  </a:lnTo>
                </a:path>
              </a:pathLst>
            </a:custGeom>
            <a:solidFill>
              <a:srgbClr val="DDDDDD"/>
            </a:solidFill>
            <a:ln w="3175" cap="rnd" cmpd="sng">
              <a:noFill/>
              <a:prstDash val="solid"/>
              <a:round/>
              <a:headEnd type="none" w="med" len="med"/>
              <a:tailEnd type="none" w="med" len="med"/>
            </a:ln>
            <a:effectLst/>
          </p:spPr>
          <p:txBody>
            <a:bodyPr/>
            <a:lstStyle/>
            <a:p>
              <a:endParaRPr lang="fr-FR"/>
            </a:p>
          </p:txBody>
        </p:sp>
        <p:sp>
          <p:nvSpPr>
            <p:cNvPr id="64524" name="Freeform 12"/>
            <p:cNvSpPr>
              <a:spLocks noChangeAspect="1"/>
            </p:cNvSpPr>
            <p:nvPr/>
          </p:nvSpPr>
          <p:spPr bwMode="auto">
            <a:xfrm>
              <a:off x="1764" y="1865"/>
              <a:ext cx="17" cy="15"/>
            </a:xfrm>
            <a:custGeom>
              <a:avLst/>
              <a:gdLst/>
              <a:ahLst/>
              <a:cxnLst>
                <a:cxn ang="0">
                  <a:pos x="9" y="0"/>
                </a:cxn>
                <a:cxn ang="0">
                  <a:pos x="9" y="3"/>
                </a:cxn>
                <a:cxn ang="0">
                  <a:pos x="6" y="3"/>
                </a:cxn>
                <a:cxn ang="0">
                  <a:pos x="6" y="6"/>
                </a:cxn>
                <a:cxn ang="0">
                  <a:pos x="3" y="6"/>
                </a:cxn>
                <a:cxn ang="0">
                  <a:pos x="0" y="6"/>
                </a:cxn>
                <a:cxn ang="0">
                  <a:pos x="0" y="9"/>
                </a:cxn>
                <a:cxn ang="0">
                  <a:pos x="0" y="12"/>
                </a:cxn>
                <a:cxn ang="0">
                  <a:pos x="0" y="15"/>
                </a:cxn>
                <a:cxn ang="0">
                  <a:pos x="0" y="18"/>
                </a:cxn>
                <a:cxn ang="0">
                  <a:pos x="0" y="21"/>
                </a:cxn>
                <a:cxn ang="0">
                  <a:pos x="3" y="21"/>
                </a:cxn>
                <a:cxn ang="0">
                  <a:pos x="6" y="21"/>
                </a:cxn>
                <a:cxn ang="0">
                  <a:pos x="6" y="24"/>
                </a:cxn>
                <a:cxn ang="0">
                  <a:pos x="9" y="24"/>
                </a:cxn>
                <a:cxn ang="0">
                  <a:pos x="12" y="24"/>
                </a:cxn>
                <a:cxn ang="0">
                  <a:pos x="15" y="21"/>
                </a:cxn>
                <a:cxn ang="0">
                  <a:pos x="18" y="21"/>
                </a:cxn>
                <a:cxn ang="0">
                  <a:pos x="21" y="18"/>
                </a:cxn>
                <a:cxn ang="0">
                  <a:pos x="24" y="18"/>
                </a:cxn>
                <a:cxn ang="0">
                  <a:pos x="24" y="15"/>
                </a:cxn>
                <a:cxn ang="0">
                  <a:pos x="27" y="15"/>
                </a:cxn>
                <a:cxn ang="0">
                  <a:pos x="27" y="12"/>
                </a:cxn>
                <a:cxn ang="0">
                  <a:pos x="30" y="12"/>
                </a:cxn>
                <a:cxn ang="0">
                  <a:pos x="30" y="9"/>
                </a:cxn>
                <a:cxn ang="0">
                  <a:pos x="27" y="6"/>
                </a:cxn>
                <a:cxn ang="0">
                  <a:pos x="24" y="3"/>
                </a:cxn>
                <a:cxn ang="0">
                  <a:pos x="21" y="0"/>
                </a:cxn>
                <a:cxn ang="0">
                  <a:pos x="18" y="0"/>
                </a:cxn>
                <a:cxn ang="0">
                  <a:pos x="15" y="0"/>
                </a:cxn>
                <a:cxn ang="0">
                  <a:pos x="12" y="0"/>
                </a:cxn>
                <a:cxn ang="0">
                  <a:pos x="9" y="0"/>
                </a:cxn>
              </a:cxnLst>
              <a:rect l="0" t="0" r="r" b="b"/>
              <a:pathLst>
                <a:path w="31" h="25">
                  <a:moveTo>
                    <a:pt x="9" y="0"/>
                  </a:moveTo>
                  <a:lnTo>
                    <a:pt x="9" y="3"/>
                  </a:lnTo>
                  <a:lnTo>
                    <a:pt x="6" y="3"/>
                  </a:lnTo>
                  <a:lnTo>
                    <a:pt x="6" y="6"/>
                  </a:lnTo>
                  <a:lnTo>
                    <a:pt x="3" y="6"/>
                  </a:lnTo>
                  <a:lnTo>
                    <a:pt x="0" y="6"/>
                  </a:lnTo>
                  <a:lnTo>
                    <a:pt x="0" y="9"/>
                  </a:lnTo>
                  <a:lnTo>
                    <a:pt x="0" y="12"/>
                  </a:lnTo>
                  <a:lnTo>
                    <a:pt x="0" y="15"/>
                  </a:lnTo>
                  <a:lnTo>
                    <a:pt x="0" y="18"/>
                  </a:lnTo>
                  <a:lnTo>
                    <a:pt x="0" y="21"/>
                  </a:lnTo>
                  <a:lnTo>
                    <a:pt x="3" y="21"/>
                  </a:lnTo>
                  <a:lnTo>
                    <a:pt x="6" y="21"/>
                  </a:lnTo>
                  <a:lnTo>
                    <a:pt x="6" y="24"/>
                  </a:lnTo>
                  <a:lnTo>
                    <a:pt x="9" y="24"/>
                  </a:lnTo>
                  <a:lnTo>
                    <a:pt x="12" y="24"/>
                  </a:lnTo>
                  <a:lnTo>
                    <a:pt x="15" y="21"/>
                  </a:lnTo>
                  <a:lnTo>
                    <a:pt x="18" y="21"/>
                  </a:lnTo>
                  <a:lnTo>
                    <a:pt x="21" y="18"/>
                  </a:lnTo>
                  <a:lnTo>
                    <a:pt x="24" y="18"/>
                  </a:lnTo>
                  <a:lnTo>
                    <a:pt x="24" y="15"/>
                  </a:lnTo>
                  <a:lnTo>
                    <a:pt x="27" y="15"/>
                  </a:lnTo>
                  <a:lnTo>
                    <a:pt x="27" y="12"/>
                  </a:lnTo>
                  <a:lnTo>
                    <a:pt x="30" y="12"/>
                  </a:lnTo>
                  <a:lnTo>
                    <a:pt x="30" y="9"/>
                  </a:lnTo>
                  <a:lnTo>
                    <a:pt x="27" y="6"/>
                  </a:lnTo>
                  <a:lnTo>
                    <a:pt x="24" y="3"/>
                  </a:lnTo>
                  <a:lnTo>
                    <a:pt x="21" y="0"/>
                  </a:lnTo>
                  <a:lnTo>
                    <a:pt x="18" y="0"/>
                  </a:lnTo>
                  <a:lnTo>
                    <a:pt x="15" y="0"/>
                  </a:lnTo>
                  <a:lnTo>
                    <a:pt x="12" y="0"/>
                  </a:lnTo>
                  <a:lnTo>
                    <a:pt x="9"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64525" name="Freeform 13"/>
            <p:cNvSpPr>
              <a:spLocks noChangeAspect="1"/>
            </p:cNvSpPr>
            <p:nvPr/>
          </p:nvSpPr>
          <p:spPr bwMode="auto">
            <a:xfrm>
              <a:off x="1787" y="1590"/>
              <a:ext cx="49" cy="173"/>
            </a:xfrm>
            <a:custGeom>
              <a:avLst/>
              <a:gdLst/>
              <a:ahLst/>
              <a:cxnLst>
                <a:cxn ang="0">
                  <a:pos x="90" y="0"/>
                </a:cxn>
                <a:cxn ang="0">
                  <a:pos x="81" y="87"/>
                </a:cxn>
                <a:cxn ang="0">
                  <a:pos x="0" y="318"/>
                </a:cxn>
              </a:cxnLst>
              <a:rect l="0" t="0" r="r" b="b"/>
              <a:pathLst>
                <a:path w="91" h="319">
                  <a:moveTo>
                    <a:pt x="90" y="0"/>
                  </a:moveTo>
                  <a:lnTo>
                    <a:pt x="81" y="87"/>
                  </a:lnTo>
                  <a:lnTo>
                    <a:pt x="0" y="318"/>
                  </a:lnTo>
                </a:path>
              </a:pathLst>
            </a:custGeom>
            <a:noFill/>
            <a:ln w="3175" cap="rnd" cmpd="sng">
              <a:solidFill>
                <a:srgbClr val="000000"/>
              </a:solidFill>
              <a:prstDash val="solid"/>
              <a:round/>
              <a:headEnd type="none" w="med" len="med"/>
              <a:tailEnd type="none" w="med" len="med"/>
            </a:ln>
            <a:effectLst/>
          </p:spPr>
          <p:txBody>
            <a:bodyPr/>
            <a:lstStyle/>
            <a:p>
              <a:endParaRPr lang="fr-FR"/>
            </a:p>
          </p:txBody>
        </p:sp>
        <p:sp>
          <p:nvSpPr>
            <p:cNvPr id="64526" name="Line 14"/>
            <p:cNvSpPr>
              <a:spLocks noChangeAspect="1" noChangeShapeType="1"/>
            </p:cNvSpPr>
            <p:nvPr/>
          </p:nvSpPr>
          <p:spPr bwMode="auto">
            <a:xfrm flipH="1" flipV="1">
              <a:off x="1060" y="1686"/>
              <a:ext cx="495" cy="257"/>
            </a:xfrm>
            <a:prstGeom prst="line">
              <a:avLst/>
            </a:prstGeom>
            <a:noFill/>
            <a:ln w="12700">
              <a:solidFill>
                <a:srgbClr val="808080"/>
              </a:solidFill>
              <a:round/>
              <a:headEnd/>
              <a:tailEnd/>
            </a:ln>
            <a:effectLst/>
          </p:spPr>
          <p:txBody>
            <a:bodyPr wrap="none" anchor="ctr"/>
            <a:lstStyle/>
            <a:p>
              <a:endParaRPr lang="fr-FR"/>
            </a:p>
          </p:txBody>
        </p:sp>
        <p:sp>
          <p:nvSpPr>
            <p:cNvPr id="64527" name="Line 15"/>
            <p:cNvSpPr>
              <a:spLocks noChangeAspect="1" noChangeShapeType="1"/>
            </p:cNvSpPr>
            <p:nvPr/>
          </p:nvSpPr>
          <p:spPr bwMode="auto">
            <a:xfrm flipH="1" flipV="1">
              <a:off x="1009" y="1730"/>
              <a:ext cx="469" cy="253"/>
            </a:xfrm>
            <a:prstGeom prst="line">
              <a:avLst/>
            </a:prstGeom>
            <a:noFill/>
            <a:ln w="12700">
              <a:solidFill>
                <a:srgbClr val="808080"/>
              </a:solidFill>
              <a:round/>
              <a:headEnd/>
              <a:tailEnd/>
            </a:ln>
            <a:effectLst/>
          </p:spPr>
          <p:txBody>
            <a:bodyPr wrap="none" anchor="ctr"/>
            <a:lstStyle/>
            <a:p>
              <a:endParaRPr lang="fr-FR"/>
            </a:p>
          </p:txBody>
        </p:sp>
        <p:sp>
          <p:nvSpPr>
            <p:cNvPr id="64528" name="Line 16"/>
            <p:cNvSpPr>
              <a:spLocks noChangeAspect="1" noChangeShapeType="1"/>
            </p:cNvSpPr>
            <p:nvPr/>
          </p:nvSpPr>
          <p:spPr bwMode="auto">
            <a:xfrm flipH="1" flipV="1">
              <a:off x="924" y="1763"/>
              <a:ext cx="475" cy="264"/>
            </a:xfrm>
            <a:prstGeom prst="line">
              <a:avLst/>
            </a:prstGeom>
            <a:noFill/>
            <a:ln w="12700">
              <a:solidFill>
                <a:srgbClr val="808080"/>
              </a:solidFill>
              <a:round/>
              <a:headEnd/>
              <a:tailEnd/>
            </a:ln>
            <a:effectLst/>
          </p:spPr>
          <p:txBody>
            <a:bodyPr wrap="none" anchor="ctr"/>
            <a:lstStyle/>
            <a:p>
              <a:endParaRPr lang="fr-FR"/>
            </a:p>
          </p:txBody>
        </p:sp>
        <p:sp>
          <p:nvSpPr>
            <p:cNvPr id="64529" name="Freeform 17"/>
            <p:cNvSpPr>
              <a:spLocks noChangeAspect="1"/>
            </p:cNvSpPr>
            <p:nvPr/>
          </p:nvSpPr>
          <p:spPr bwMode="auto">
            <a:xfrm>
              <a:off x="1104" y="1563"/>
              <a:ext cx="660" cy="336"/>
            </a:xfrm>
            <a:custGeom>
              <a:avLst/>
              <a:gdLst/>
              <a:ahLst/>
              <a:cxnLst>
                <a:cxn ang="0">
                  <a:pos x="93" y="0"/>
                </a:cxn>
                <a:cxn ang="0">
                  <a:pos x="0" y="60"/>
                </a:cxn>
                <a:cxn ang="0">
                  <a:pos x="568" y="336"/>
                </a:cxn>
                <a:cxn ang="0">
                  <a:pos x="660" y="266"/>
                </a:cxn>
              </a:cxnLst>
              <a:rect l="0" t="0" r="r" b="b"/>
              <a:pathLst>
                <a:path w="660" h="336">
                  <a:moveTo>
                    <a:pt x="93" y="0"/>
                  </a:moveTo>
                  <a:lnTo>
                    <a:pt x="0" y="60"/>
                  </a:lnTo>
                  <a:lnTo>
                    <a:pt x="568" y="336"/>
                  </a:lnTo>
                  <a:lnTo>
                    <a:pt x="660" y="266"/>
                  </a:lnTo>
                </a:path>
              </a:pathLst>
            </a:custGeom>
            <a:solidFill>
              <a:srgbClr val="DDDDDD"/>
            </a:solidFill>
            <a:ln w="3175" cap="rnd" cmpd="sng">
              <a:noFill/>
              <a:prstDash val="solid"/>
              <a:round/>
              <a:headEnd type="none" w="med" len="med"/>
              <a:tailEnd type="none" w="med" len="med"/>
            </a:ln>
            <a:effectLst/>
          </p:spPr>
          <p:txBody>
            <a:bodyPr/>
            <a:lstStyle/>
            <a:p>
              <a:endParaRPr lang="fr-FR"/>
            </a:p>
          </p:txBody>
        </p:sp>
        <p:sp>
          <p:nvSpPr>
            <p:cNvPr id="64530" name="Freeform 18"/>
            <p:cNvSpPr>
              <a:spLocks noChangeAspect="1"/>
            </p:cNvSpPr>
            <p:nvPr/>
          </p:nvSpPr>
          <p:spPr bwMode="auto">
            <a:xfrm>
              <a:off x="1685" y="1736"/>
              <a:ext cx="105" cy="86"/>
            </a:xfrm>
            <a:custGeom>
              <a:avLst/>
              <a:gdLst/>
              <a:ahLst/>
              <a:cxnLst>
                <a:cxn ang="0">
                  <a:pos x="48" y="0"/>
                </a:cxn>
                <a:cxn ang="0">
                  <a:pos x="186" y="63"/>
                </a:cxn>
                <a:cxn ang="0">
                  <a:pos x="183" y="66"/>
                </a:cxn>
                <a:cxn ang="0">
                  <a:pos x="177" y="66"/>
                </a:cxn>
                <a:cxn ang="0">
                  <a:pos x="171" y="69"/>
                </a:cxn>
                <a:cxn ang="0">
                  <a:pos x="165" y="72"/>
                </a:cxn>
                <a:cxn ang="0">
                  <a:pos x="159" y="75"/>
                </a:cxn>
                <a:cxn ang="0">
                  <a:pos x="153" y="81"/>
                </a:cxn>
                <a:cxn ang="0">
                  <a:pos x="150" y="84"/>
                </a:cxn>
                <a:cxn ang="0">
                  <a:pos x="147" y="93"/>
                </a:cxn>
                <a:cxn ang="0">
                  <a:pos x="144" y="99"/>
                </a:cxn>
                <a:cxn ang="0">
                  <a:pos x="141" y="105"/>
                </a:cxn>
                <a:cxn ang="0">
                  <a:pos x="141" y="111"/>
                </a:cxn>
                <a:cxn ang="0">
                  <a:pos x="141" y="120"/>
                </a:cxn>
                <a:cxn ang="0">
                  <a:pos x="141" y="129"/>
                </a:cxn>
                <a:cxn ang="0">
                  <a:pos x="144" y="135"/>
                </a:cxn>
                <a:cxn ang="0">
                  <a:pos x="150" y="153"/>
                </a:cxn>
                <a:cxn ang="0">
                  <a:pos x="9" y="87"/>
                </a:cxn>
                <a:cxn ang="0">
                  <a:pos x="6" y="84"/>
                </a:cxn>
                <a:cxn ang="0">
                  <a:pos x="6" y="78"/>
                </a:cxn>
                <a:cxn ang="0">
                  <a:pos x="3" y="72"/>
                </a:cxn>
                <a:cxn ang="0">
                  <a:pos x="0" y="66"/>
                </a:cxn>
                <a:cxn ang="0">
                  <a:pos x="0" y="57"/>
                </a:cxn>
                <a:cxn ang="0">
                  <a:pos x="0" y="51"/>
                </a:cxn>
                <a:cxn ang="0">
                  <a:pos x="0" y="42"/>
                </a:cxn>
                <a:cxn ang="0">
                  <a:pos x="3" y="36"/>
                </a:cxn>
                <a:cxn ang="0">
                  <a:pos x="6" y="30"/>
                </a:cxn>
                <a:cxn ang="0">
                  <a:pos x="6" y="21"/>
                </a:cxn>
                <a:cxn ang="0">
                  <a:pos x="12" y="18"/>
                </a:cxn>
                <a:cxn ang="0">
                  <a:pos x="18" y="12"/>
                </a:cxn>
                <a:cxn ang="0">
                  <a:pos x="24" y="6"/>
                </a:cxn>
                <a:cxn ang="0">
                  <a:pos x="30" y="3"/>
                </a:cxn>
                <a:cxn ang="0">
                  <a:pos x="48" y="0"/>
                </a:cxn>
              </a:cxnLst>
              <a:rect l="0" t="0" r="r" b="b"/>
              <a:pathLst>
                <a:path w="187" h="154">
                  <a:moveTo>
                    <a:pt x="48" y="0"/>
                  </a:moveTo>
                  <a:lnTo>
                    <a:pt x="186" y="63"/>
                  </a:lnTo>
                  <a:lnTo>
                    <a:pt x="183" y="66"/>
                  </a:lnTo>
                  <a:lnTo>
                    <a:pt x="177" y="66"/>
                  </a:lnTo>
                  <a:lnTo>
                    <a:pt x="171" y="69"/>
                  </a:lnTo>
                  <a:lnTo>
                    <a:pt x="165" y="72"/>
                  </a:lnTo>
                  <a:lnTo>
                    <a:pt x="159" y="75"/>
                  </a:lnTo>
                  <a:lnTo>
                    <a:pt x="153" y="81"/>
                  </a:lnTo>
                  <a:lnTo>
                    <a:pt x="150" y="84"/>
                  </a:lnTo>
                  <a:lnTo>
                    <a:pt x="147" y="93"/>
                  </a:lnTo>
                  <a:lnTo>
                    <a:pt x="144" y="99"/>
                  </a:lnTo>
                  <a:lnTo>
                    <a:pt x="141" y="105"/>
                  </a:lnTo>
                  <a:lnTo>
                    <a:pt x="141" y="111"/>
                  </a:lnTo>
                  <a:lnTo>
                    <a:pt x="141" y="120"/>
                  </a:lnTo>
                  <a:lnTo>
                    <a:pt x="141" y="129"/>
                  </a:lnTo>
                  <a:lnTo>
                    <a:pt x="144" y="135"/>
                  </a:lnTo>
                  <a:lnTo>
                    <a:pt x="150" y="153"/>
                  </a:lnTo>
                  <a:lnTo>
                    <a:pt x="9" y="87"/>
                  </a:lnTo>
                  <a:lnTo>
                    <a:pt x="6" y="84"/>
                  </a:lnTo>
                  <a:lnTo>
                    <a:pt x="6" y="78"/>
                  </a:lnTo>
                  <a:lnTo>
                    <a:pt x="3" y="72"/>
                  </a:lnTo>
                  <a:lnTo>
                    <a:pt x="0" y="66"/>
                  </a:lnTo>
                  <a:lnTo>
                    <a:pt x="0" y="57"/>
                  </a:lnTo>
                  <a:lnTo>
                    <a:pt x="0" y="51"/>
                  </a:lnTo>
                  <a:lnTo>
                    <a:pt x="0" y="42"/>
                  </a:lnTo>
                  <a:lnTo>
                    <a:pt x="3" y="36"/>
                  </a:lnTo>
                  <a:lnTo>
                    <a:pt x="6" y="30"/>
                  </a:lnTo>
                  <a:lnTo>
                    <a:pt x="6" y="21"/>
                  </a:lnTo>
                  <a:lnTo>
                    <a:pt x="12" y="18"/>
                  </a:lnTo>
                  <a:lnTo>
                    <a:pt x="18" y="12"/>
                  </a:lnTo>
                  <a:lnTo>
                    <a:pt x="24" y="6"/>
                  </a:lnTo>
                  <a:lnTo>
                    <a:pt x="30" y="3"/>
                  </a:lnTo>
                  <a:lnTo>
                    <a:pt x="48" y="0"/>
                  </a:lnTo>
                </a:path>
              </a:pathLst>
            </a:custGeom>
            <a:gradFill rotWithShape="0">
              <a:gsLst>
                <a:gs pos="0">
                  <a:srgbClr val="808080"/>
                </a:gs>
                <a:gs pos="100000">
                  <a:srgbClr val="FFFFFF"/>
                </a:gs>
              </a:gsLst>
              <a:lin ang="189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64531" name="Freeform 19"/>
            <p:cNvSpPr>
              <a:spLocks noChangeAspect="1"/>
            </p:cNvSpPr>
            <p:nvPr/>
          </p:nvSpPr>
          <p:spPr bwMode="auto">
            <a:xfrm>
              <a:off x="1333" y="1576"/>
              <a:ext cx="308" cy="178"/>
            </a:xfrm>
            <a:custGeom>
              <a:avLst/>
              <a:gdLst/>
              <a:ahLst/>
              <a:cxnLst>
                <a:cxn ang="0">
                  <a:pos x="564" y="225"/>
                </a:cxn>
                <a:cxn ang="0">
                  <a:pos x="60" y="3"/>
                </a:cxn>
                <a:cxn ang="0">
                  <a:pos x="51" y="0"/>
                </a:cxn>
                <a:cxn ang="0">
                  <a:pos x="45" y="0"/>
                </a:cxn>
                <a:cxn ang="0">
                  <a:pos x="39" y="3"/>
                </a:cxn>
                <a:cxn ang="0">
                  <a:pos x="30" y="6"/>
                </a:cxn>
                <a:cxn ang="0">
                  <a:pos x="24" y="12"/>
                </a:cxn>
                <a:cxn ang="0">
                  <a:pos x="21" y="15"/>
                </a:cxn>
                <a:cxn ang="0">
                  <a:pos x="15" y="21"/>
                </a:cxn>
                <a:cxn ang="0">
                  <a:pos x="9" y="30"/>
                </a:cxn>
                <a:cxn ang="0">
                  <a:pos x="6" y="36"/>
                </a:cxn>
                <a:cxn ang="0">
                  <a:pos x="3" y="42"/>
                </a:cxn>
                <a:cxn ang="0">
                  <a:pos x="0" y="51"/>
                </a:cxn>
                <a:cxn ang="0">
                  <a:pos x="0" y="57"/>
                </a:cxn>
                <a:cxn ang="0">
                  <a:pos x="0" y="66"/>
                </a:cxn>
                <a:cxn ang="0">
                  <a:pos x="3" y="72"/>
                </a:cxn>
                <a:cxn ang="0">
                  <a:pos x="9" y="84"/>
                </a:cxn>
                <a:cxn ang="0">
                  <a:pos x="528" y="324"/>
                </a:cxn>
                <a:cxn ang="0">
                  <a:pos x="525" y="318"/>
                </a:cxn>
                <a:cxn ang="0">
                  <a:pos x="522" y="309"/>
                </a:cxn>
                <a:cxn ang="0">
                  <a:pos x="522" y="303"/>
                </a:cxn>
                <a:cxn ang="0">
                  <a:pos x="519" y="294"/>
                </a:cxn>
                <a:cxn ang="0">
                  <a:pos x="519" y="288"/>
                </a:cxn>
                <a:cxn ang="0">
                  <a:pos x="519" y="282"/>
                </a:cxn>
                <a:cxn ang="0">
                  <a:pos x="519" y="273"/>
                </a:cxn>
                <a:cxn ang="0">
                  <a:pos x="522" y="267"/>
                </a:cxn>
                <a:cxn ang="0">
                  <a:pos x="525" y="261"/>
                </a:cxn>
                <a:cxn ang="0">
                  <a:pos x="528" y="255"/>
                </a:cxn>
                <a:cxn ang="0">
                  <a:pos x="531" y="249"/>
                </a:cxn>
                <a:cxn ang="0">
                  <a:pos x="537" y="243"/>
                </a:cxn>
                <a:cxn ang="0">
                  <a:pos x="543" y="237"/>
                </a:cxn>
                <a:cxn ang="0">
                  <a:pos x="549" y="234"/>
                </a:cxn>
                <a:cxn ang="0">
                  <a:pos x="564" y="225"/>
                </a:cxn>
              </a:cxnLst>
              <a:rect l="0" t="0" r="r" b="b"/>
              <a:pathLst>
                <a:path w="565" h="325">
                  <a:moveTo>
                    <a:pt x="564" y="225"/>
                  </a:moveTo>
                  <a:lnTo>
                    <a:pt x="60" y="3"/>
                  </a:lnTo>
                  <a:lnTo>
                    <a:pt x="51" y="0"/>
                  </a:lnTo>
                  <a:lnTo>
                    <a:pt x="45" y="0"/>
                  </a:lnTo>
                  <a:lnTo>
                    <a:pt x="39" y="3"/>
                  </a:lnTo>
                  <a:lnTo>
                    <a:pt x="30" y="6"/>
                  </a:lnTo>
                  <a:lnTo>
                    <a:pt x="24" y="12"/>
                  </a:lnTo>
                  <a:lnTo>
                    <a:pt x="21" y="15"/>
                  </a:lnTo>
                  <a:lnTo>
                    <a:pt x="15" y="21"/>
                  </a:lnTo>
                  <a:lnTo>
                    <a:pt x="9" y="30"/>
                  </a:lnTo>
                  <a:lnTo>
                    <a:pt x="6" y="36"/>
                  </a:lnTo>
                  <a:lnTo>
                    <a:pt x="3" y="42"/>
                  </a:lnTo>
                  <a:lnTo>
                    <a:pt x="0" y="51"/>
                  </a:lnTo>
                  <a:lnTo>
                    <a:pt x="0" y="57"/>
                  </a:lnTo>
                  <a:lnTo>
                    <a:pt x="0" y="66"/>
                  </a:lnTo>
                  <a:lnTo>
                    <a:pt x="3" y="72"/>
                  </a:lnTo>
                  <a:lnTo>
                    <a:pt x="9" y="84"/>
                  </a:lnTo>
                  <a:lnTo>
                    <a:pt x="528" y="324"/>
                  </a:lnTo>
                  <a:lnTo>
                    <a:pt x="525" y="318"/>
                  </a:lnTo>
                  <a:lnTo>
                    <a:pt x="522" y="309"/>
                  </a:lnTo>
                  <a:lnTo>
                    <a:pt x="522" y="303"/>
                  </a:lnTo>
                  <a:lnTo>
                    <a:pt x="519" y="294"/>
                  </a:lnTo>
                  <a:lnTo>
                    <a:pt x="519" y="288"/>
                  </a:lnTo>
                  <a:lnTo>
                    <a:pt x="519" y="282"/>
                  </a:lnTo>
                  <a:lnTo>
                    <a:pt x="519" y="273"/>
                  </a:lnTo>
                  <a:lnTo>
                    <a:pt x="522" y="267"/>
                  </a:lnTo>
                  <a:lnTo>
                    <a:pt x="525" y="261"/>
                  </a:lnTo>
                  <a:lnTo>
                    <a:pt x="528" y="255"/>
                  </a:lnTo>
                  <a:lnTo>
                    <a:pt x="531" y="249"/>
                  </a:lnTo>
                  <a:lnTo>
                    <a:pt x="537" y="243"/>
                  </a:lnTo>
                  <a:lnTo>
                    <a:pt x="543" y="237"/>
                  </a:lnTo>
                  <a:lnTo>
                    <a:pt x="549" y="234"/>
                  </a:lnTo>
                  <a:lnTo>
                    <a:pt x="564" y="225"/>
                  </a:lnTo>
                </a:path>
              </a:pathLst>
            </a:custGeom>
            <a:gradFill rotWithShape="0">
              <a:gsLst>
                <a:gs pos="0">
                  <a:srgbClr val="808080"/>
                </a:gs>
                <a:gs pos="100000">
                  <a:srgbClr val="FFFFFF"/>
                </a:gs>
              </a:gsLst>
              <a:lin ang="189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64532" name="Freeform 20"/>
            <p:cNvSpPr>
              <a:spLocks noChangeAspect="1"/>
            </p:cNvSpPr>
            <p:nvPr/>
          </p:nvSpPr>
          <p:spPr bwMode="auto">
            <a:xfrm>
              <a:off x="1179" y="1507"/>
              <a:ext cx="105" cy="86"/>
            </a:xfrm>
            <a:custGeom>
              <a:avLst/>
              <a:gdLst/>
              <a:ahLst/>
              <a:cxnLst>
                <a:cxn ang="0">
                  <a:pos x="48" y="0"/>
                </a:cxn>
                <a:cxn ang="0">
                  <a:pos x="186" y="63"/>
                </a:cxn>
                <a:cxn ang="0">
                  <a:pos x="183" y="66"/>
                </a:cxn>
                <a:cxn ang="0">
                  <a:pos x="177" y="66"/>
                </a:cxn>
                <a:cxn ang="0">
                  <a:pos x="171" y="69"/>
                </a:cxn>
                <a:cxn ang="0">
                  <a:pos x="165" y="72"/>
                </a:cxn>
                <a:cxn ang="0">
                  <a:pos x="159" y="75"/>
                </a:cxn>
                <a:cxn ang="0">
                  <a:pos x="153" y="81"/>
                </a:cxn>
                <a:cxn ang="0">
                  <a:pos x="150" y="84"/>
                </a:cxn>
                <a:cxn ang="0">
                  <a:pos x="147" y="93"/>
                </a:cxn>
                <a:cxn ang="0">
                  <a:pos x="144" y="99"/>
                </a:cxn>
                <a:cxn ang="0">
                  <a:pos x="141" y="105"/>
                </a:cxn>
                <a:cxn ang="0">
                  <a:pos x="141" y="111"/>
                </a:cxn>
                <a:cxn ang="0">
                  <a:pos x="141" y="120"/>
                </a:cxn>
                <a:cxn ang="0">
                  <a:pos x="141" y="129"/>
                </a:cxn>
                <a:cxn ang="0">
                  <a:pos x="144" y="135"/>
                </a:cxn>
                <a:cxn ang="0">
                  <a:pos x="150" y="153"/>
                </a:cxn>
                <a:cxn ang="0">
                  <a:pos x="9" y="87"/>
                </a:cxn>
                <a:cxn ang="0">
                  <a:pos x="6" y="84"/>
                </a:cxn>
                <a:cxn ang="0">
                  <a:pos x="6" y="78"/>
                </a:cxn>
                <a:cxn ang="0">
                  <a:pos x="3" y="72"/>
                </a:cxn>
                <a:cxn ang="0">
                  <a:pos x="0" y="66"/>
                </a:cxn>
                <a:cxn ang="0">
                  <a:pos x="0" y="57"/>
                </a:cxn>
                <a:cxn ang="0">
                  <a:pos x="0" y="51"/>
                </a:cxn>
                <a:cxn ang="0">
                  <a:pos x="0" y="42"/>
                </a:cxn>
                <a:cxn ang="0">
                  <a:pos x="3" y="36"/>
                </a:cxn>
                <a:cxn ang="0">
                  <a:pos x="6" y="30"/>
                </a:cxn>
                <a:cxn ang="0">
                  <a:pos x="6" y="21"/>
                </a:cxn>
                <a:cxn ang="0">
                  <a:pos x="12" y="18"/>
                </a:cxn>
                <a:cxn ang="0">
                  <a:pos x="18" y="12"/>
                </a:cxn>
                <a:cxn ang="0">
                  <a:pos x="24" y="6"/>
                </a:cxn>
                <a:cxn ang="0">
                  <a:pos x="30" y="3"/>
                </a:cxn>
                <a:cxn ang="0">
                  <a:pos x="48" y="0"/>
                </a:cxn>
              </a:cxnLst>
              <a:rect l="0" t="0" r="r" b="b"/>
              <a:pathLst>
                <a:path w="187" h="154">
                  <a:moveTo>
                    <a:pt x="48" y="0"/>
                  </a:moveTo>
                  <a:lnTo>
                    <a:pt x="186" y="63"/>
                  </a:lnTo>
                  <a:lnTo>
                    <a:pt x="183" y="66"/>
                  </a:lnTo>
                  <a:lnTo>
                    <a:pt x="177" y="66"/>
                  </a:lnTo>
                  <a:lnTo>
                    <a:pt x="171" y="69"/>
                  </a:lnTo>
                  <a:lnTo>
                    <a:pt x="165" y="72"/>
                  </a:lnTo>
                  <a:lnTo>
                    <a:pt x="159" y="75"/>
                  </a:lnTo>
                  <a:lnTo>
                    <a:pt x="153" y="81"/>
                  </a:lnTo>
                  <a:lnTo>
                    <a:pt x="150" y="84"/>
                  </a:lnTo>
                  <a:lnTo>
                    <a:pt x="147" y="93"/>
                  </a:lnTo>
                  <a:lnTo>
                    <a:pt x="144" y="99"/>
                  </a:lnTo>
                  <a:lnTo>
                    <a:pt x="141" y="105"/>
                  </a:lnTo>
                  <a:lnTo>
                    <a:pt x="141" y="111"/>
                  </a:lnTo>
                  <a:lnTo>
                    <a:pt x="141" y="120"/>
                  </a:lnTo>
                  <a:lnTo>
                    <a:pt x="141" y="129"/>
                  </a:lnTo>
                  <a:lnTo>
                    <a:pt x="144" y="135"/>
                  </a:lnTo>
                  <a:lnTo>
                    <a:pt x="150" y="153"/>
                  </a:lnTo>
                  <a:lnTo>
                    <a:pt x="9" y="87"/>
                  </a:lnTo>
                  <a:lnTo>
                    <a:pt x="6" y="84"/>
                  </a:lnTo>
                  <a:lnTo>
                    <a:pt x="6" y="78"/>
                  </a:lnTo>
                  <a:lnTo>
                    <a:pt x="3" y="72"/>
                  </a:lnTo>
                  <a:lnTo>
                    <a:pt x="0" y="66"/>
                  </a:lnTo>
                  <a:lnTo>
                    <a:pt x="0" y="57"/>
                  </a:lnTo>
                  <a:lnTo>
                    <a:pt x="0" y="51"/>
                  </a:lnTo>
                  <a:lnTo>
                    <a:pt x="0" y="42"/>
                  </a:lnTo>
                  <a:lnTo>
                    <a:pt x="3" y="36"/>
                  </a:lnTo>
                  <a:lnTo>
                    <a:pt x="6" y="30"/>
                  </a:lnTo>
                  <a:lnTo>
                    <a:pt x="6" y="21"/>
                  </a:lnTo>
                  <a:lnTo>
                    <a:pt x="12" y="18"/>
                  </a:lnTo>
                  <a:lnTo>
                    <a:pt x="18" y="12"/>
                  </a:lnTo>
                  <a:lnTo>
                    <a:pt x="24" y="6"/>
                  </a:lnTo>
                  <a:lnTo>
                    <a:pt x="30" y="3"/>
                  </a:lnTo>
                  <a:lnTo>
                    <a:pt x="48" y="0"/>
                  </a:lnTo>
                </a:path>
              </a:pathLst>
            </a:custGeom>
            <a:gradFill rotWithShape="0">
              <a:gsLst>
                <a:gs pos="0">
                  <a:srgbClr val="808080"/>
                </a:gs>
                <a:gs pos="100000">
                  <a:srgbClr val="FFFFFF"/>
                </a:gs>
              </a:gsLst>
              <a:lin ang="189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64533" name="Freeform 21"/>
            <p:cNvSpPr>
              <a:spLocks/>
            </p:cNvSpPr>
            <p:nvPr/>
          </p:nvSpPr>
          <p:spPr bwMode="auto">
            <a:xfrm>
              <a:off x="1307" y="1116"/>
              <a:ext cx="559" cy="345"/>
            </a:xfrm>
            <a:custGeom>
              <a:avLst/>
              <a:gdLst/>
              <a:ahLst/>
              <a:cxnLst>
                <a:cxn ang="0">
                  <a:pos x="559" y="156"/>
                </a:cxn>
                <a:cxn ang="0">
                  <a:pos x="109" y="0"/>
                </a:cxn>
                <a:cxn ang="0">
                  <a:pos x="0" y="345"/>
                </a:cxn>
              </a:cxnLst>
              <a:rect l="0" t="0" r="r" b="b"/>
              <a:pathLst>
                <a:path w="559" h="345">
                  <a:moveTo>
                    <a:pt x="559" y="156"/>
                  </a:moveTo>
                  <a:lnTo>
                    <a:pt x="109" y="0"/>
                  </a:lnTo>
                  <a:lnTo>
                    <a:pt x="0" y="345"/>
                  </a:lnTo>
                </a:path>
              </a:pathLst>
            </a:custGeom>
            <a:noFill/>
            <a:ln w="6350" cap="flat" cmpd="sng">
              <a:solidFill>
                <a:srgbClr val="808080"/>
              </a:solidFill>
              <a:prstDash val="solid"/>
              <a:round/>
              <a:headEnd/>
              <a:tailEnd/>
            </a:ln>
            <a:effectLst/>
          </p:spPr>
          <p:txBody>
            <a:bodyPr wrap="none" anchor="ctr"/>
            <a:lstStyle/>
            <a:p>
              <a:endParaRPr lang="fr-FR"/>
            </a:p>
          </p:txBody>
        </p:sp>
        <p:sp>
          <p:nvSpPr>
            <p:cNvPr id="64534" name="Freeform 22"/>
            <p:cNvSpPr>
              <a:spLocks/>
            </p:cNvSpPr>
            <p:nvPr/>
          </p:nvSpPr>
          <p:spPr bwMode="auto">
            <a:xfrm>
              <a:off x="1310" y="1275"/>
              <a:ext cx="556" cy="365"/>
            </a:xfrm>
            <a:custGeom>
              <a:avLst/>
              <a:gdLst/>
              <a:ahLst/>
              <a:cxnLst>
                <a:cxn ang="0">
                  <a:pos x="556" y="0"/>
                </a:cxn>
                <a:cxn ang="0">
                  <a:pos x="433" y="365"/>
                </a:cxn>
                <a:cxn ang="0">
                  <a:pos x="0" y="188"/>
                </a:cxn>
              </a:cxnLst>
              <a:rect l="0" t="0" r="r" b="b"/>
              <a:pathLst>
                <a:path w="556" h="365">
                  <a:moveTo>
                    <a:pt x="556" y="0"/>
                  </a:moveTo>
                  <a:lnTo>
                    <a:pt x="433" y="365"/>
                  </a:lnTo>
                  <a:lnTo>
                    <a:pt x="0" y="188"/>
                  </a:lnTo>
                </a:path>
              </a:pathLst>
            </a:custGeom>
            <a:noFill/>
            <a:ln w="3175" cap="flat" cmpd="sng">
              <a:solidFill>
                <a:srgbClr val="FFFFFF"/>
              </a:solidFill>
              <a:prstDash val="solid"/>
              <a:round/>
              <a:headEnd/>
              <a:tailEnd/>
            </a:ln>
            <a:effectLst/>
          </p:spPr>
          <p:txBody>
            <a:bodyPr wrap="none" anchor="ctr"/>
            <a:lstStyle/>
            <a:p>
              <a:endParaRPr lang="fr-FR"/>
            </a:p>
          </p:txBody>
        </p:sp>
      </p:grpSp>
      <p:grpSp>
        <p:nvGrpSpPr>
          <p:cNvPr id="64535" name="Group 23"/>
          <p:cNvGrpSpPr>
            <a:grpSpLocks/>
          </p:cNvGrpSpPr>
          <p:nvPr/>
        </p:nvGrpSpPr>
        <p:grpSpPr bwMode="auto">
          <a:xfrm>
            <a:off x="7162800" y="4068763"/>
            <a:ext cx="1330325" cy="2149475"/>
            <a:chOff x="516" y="612"/>
            <a:chExt cx="626" cy="1012"/>
          </a:xfrm>
        </p:grpSpPr>
        <p:sp>
          <p:nvSpPr>
            <p:cNvPr id="64536" name="Freeform 24"/>
            <p:cNvSpPr>
              <a:spLocks/>
            </p:cNvSpPr>
            <p:nvPr/>
          </p:nvSpPr>
          <p:spPr bwMode="auto">
            <a:xfrm>
              <a:off x="528" y="1365"/>
              <a:ext cx="604" cy="259"/>
            </a:xfrm>
            <a:custGeom>
              <a:avLst/>
              <a:gdLst/>
              <a:ahLst/>
              <a:cxnLst>
                <a:cxn ang="0">
                  <a:pos x="0" y="292"/>
                </a:cxn>
                <a:cxn ang="0">
                  <a:pos x="0" y="370"/>
                </a:cxn>
                <a:cxn ang="0">
                  <a:pos x="567" y="535"/>
                </a:cxn>
                <a:cxn ang="0">
                  <a:pos x="1251" y="92"/>
                </a:cxn>
                <a:cxn ang="0">
                  <a:pos x="1251" y="0"/>
                </a:cxn>
              </a:cxnLst>
              <a:rect l="0" t="0" r="r" b="b"/>
              <a:pathLst>
                <a:path w="1252" h="536">
                  <a:moveTo>
                    <a:pt x="0" y="292"/>
                  </a:moveTo>
                  <a:lnTo>
                    <a:pt x="0" y="370"/>
                  </a:lnTo>
                  <a:lnTo>
                    <a:pt x="567" y="535"/>
                  </a:lnTo>
                  <a:lnTo>
                    <a:pt x="1251" y="92"/>
                  </a:lnTo>
                  <a:lnTo>
                    <a:pt x="1251" y="0"/>
                  </a:lnTo>
                </a:path>
              </a:pathLst>
            </a:custGeom>
            <a:solidFill>
              <a:srgbClr val="969696"/>
            </a:solidFill>
            <a:ln w="3175" cap="rnd" cmpd="sng">
              <a:solidFill>
                <a:schemeClr val="tx1"/>
              </a:solidFill>
              <a:prstDash val="solid"/>
              <a:round/>
              <a:headEnd type="none" w="med" len="med"/>
              <a:tailEnd type="none" w="med" len="med"/>
            </a:ln>
            <a:effectLst/>
          </p:spPr>
          <p:txBody>
            <a:bodyPr/>
            <a:lstStyle/>
            <a:p>
              <a:endParaRPr lang="fr-FR"/>
            </a:p>
          </p:txBody>
        </p:sp>
        <p:sp>
          <p:nvSpPr>
            <p:cNvPr id="64537" name="Freeform 25"/>
            <p:cNvSpPr>
              <a:spLocks/>
            </p:cNvSpPr>
            <p:nvPr/>
          </p:nvSpPr>
          <p:spPr bwMode="auto">
            <a:xfrm>
              <a:off x="518" y="612"/>
              <a:ext cx="623" cy="217"/>
            </a:xfrm>
            <a:custGeom>
              <a:avLst/>
              <a:gdLst/>
              <a:ahLst/>
              <a:cxnLst>
                <a:cxn ang="0">
                  <a:pos x="0" y="307"/>
                </a:cxn>
                <a:cxn ang="0">
                  <a:pos x="577" y="448"/>
                </a:cxn>
                <a:cxn ang="0">
                  <a:pos x="1290" y="127"/>
                </a:cxn>
                <a:cxn ang="0">
                  <a:pos x="727" y="0"/>
                </a:cxn>
                <a:cxn ang="0">
                  <a:pos x="0" y="307"/>
                </a:cxn>
              </a:cxnLst>
              <a:rect l="0" t="0" r="r" b="b"/>
              <a:pathLst>
                <a:path w="1291" h="449">
                  <a:moveTo>
                    <a:pt x="0" y="307"/>
                  </a:moveTo>
                  <a:lnTo>
                    <a:pt x="577" y="448"/>
                  </a:lnTo>
                  <a:lnTo>
                    <a:pt x="1290" y="127"/>
                  </a:lnTo>
                  <a:lnTo>
                    <a:pt x="727" y="0"/>
                  </a:lnTo>
                  <a:lnTo>
                    <a:pt x="0" y="307"/>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sp>
          <p:nvSpPr>
            <p:cNvPr id="64538" name="Freeform 26"/>
            <p:cNvSpPr>
              <a:spLocks/>
            </p:cNvSpPr>
            <p:nvPr/>
          </p:nvSpPr>
          <p:spPr bwMode="auto">
            <a:xfrm>
              <a:off x="790" y="672"/>
              <a:ext cx="352" cy="927"/>
            </a:xfrm>
            <a:custGeom>
              <a:avLst/>
              <a:gdLst/>
              <a:ahLst/>
              <a:cxnLst>
                <a:cxn ang="0">
                  <a:pos x="0" y="328"/>
                </a:cxn>
                <a:cxn ang="0">
                  <a:pos x="4" y="1915"/>
                </a:cxn>
                <a:cxn ang="0">
                  <a:pos x="728" y="1456"/>
                </a:cxn>
                <a:cxn ang="0">
                  <a:pos x="728" y="0"/>
                </a:cxn>
                <a:cxn ang="0">
                  <a:pos x="0" y="328"/>
                </a:cxn>
              </a:cxnLst>
              <a:rect l="0" t="0" r="r" b="b"/>
              <a:pathLst>
                <a:path w="729" h="1916">
                  <a:moveTo>
                    <a:pt x="0" y="328"/>
                  </a:moveTo>
                  <a:lnTo>
                    <a:pt x="4" y="1915"/>
                  </a:lnTo>
                  <a:lnTo>
                    <a:pt x="728" y="1456"/>
                  </a:lnTo>
                  <a:lnTo>
                    <a:pt x="728" y="0"/>
                  </a:lnTo>
                  <a:lnTo>
                    <a:pt x="0" y="32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64539" name="Freeform 27"/>
            <p:cNvSpPr>
              <a:spLocks/>
            </p:cNvSpPr>
            <p:nvPr/>
          </p:nvSpPr>
          <p:spPr bwMode="auto">
            <a:xfrm>
              <a:off x="516" y="760"/>
              <a:ext cx="278" cy="834"/>
            </a:xfrm>
            <a:custGeom>
              <a:avLst/>
              <a:gdLst/>
              <a:ahLst/>
              <a:cxnLst>
                <a:cxn ang="0">
                  <a:pos x="576" y="140"/>
                </a:cxn>
                <a:cxn ang="0">
                  <a:pos x="576" y="1727"/>
                </a:cxn>
                <a:cxn ang="0">
                  <a:pos x="0" y="1568"/>
                </a:cxn>
                <a:cxn ang="0">
                  <a:pos x="0" y="0"/>
                </a:cxn>
                <a:cxn ang="0">
                  <a:pos x="576" y="140"/>
                </a:cxn>
              </a:cxnLst>
              <a:rect l="0" t="0" r="r" b="b"/>
              <a:pathLst>
                <a:path w="577" h="1728">
                  <a:moveTo>
                    <a:pt x="576" y="140"/>
                  </a:moveTo>
                  <a:lnTo>
                    <a:pt x="576" y="1727"/>
                  </a:lnTo>
                  <a:lnTo>
                    <a:pt x="0" y="1568"/>
                  </a:lnTo>
                  <a:lnTo>
                    <a:pt x="0" y="0"/>
                  </a:lnTo>
                  <a:lnTo>
                    <a:pt x="576" y="140"/>
                  </a:lnTo>
                </a:path>
              </a:pathLst>
            </a:custGeom>
            <a:gradFill rotWithShape="0">
              <a:gsLst>
                <a:gs pos="0">
                  <a:srgbClr val="B2B2B2">
                    <a:gamma/>
                    <a:tint val="23529"/>
                    <a:invGamma/>
                  </a:srgbClr>
                </a:gs>
                <a:gs pos="100000">
                  <a:srgbClr val="B2B2B2"/>
                </a:gs>
              </a:gsLst>
              <a:lin ang="5400000" scaled="1"/>
            </a:gradFill>
            <a:ln w="3175" cap="rnd" cmpd="sng">
              <a:solidFill>
                <a:schemeClr val="tx1"/>
              </a:solidFill>
              <a:prstDash val="solid"/>
              <a:round/>
              <a:headEnd type="none" w="med" len="med"/>
              <a:tailEnd type="none" w="med" len="med"/>
            </a:ln>
            <a:effectLst/>
          </p:spPr>
          <p:txBody>
            <a:bodyPr/>
            <a:lstStyle/>
            <a:p>
              <a:endParaRPr lang="fr-FR"/>
            </a:p>
          </p:txBody>
        </p:sp>
        <p:sp>
          <p:nvSpPr>
            <p:cNvPr id="64540" name="Line 28"/>
            <p:cNvSpPr>
              <a:spLocks noChangeShapeType="1"/>
            </p:cNvSpPr>
            <p:nvPr/>
          </p:nvSpPr>
          <p:spPr bwMode="auto">
            <a:xfrm>
              <a:off x="555" y="1462"/>
              <a:ext cx="192" cy="51"/>
            </a:xfrm>
            <a:prstGeom prst="line">
              <a:avLst/>
            </a:prstGeom>
            <a:noFill/>
            <a:ln w="6350">
              <a:solidFill>
                <a:srgbClr val="676767"/>
              </a:solidFill>
              <a:round/>
              <a:headEnd/>
              <a:tailEnd/>
            </a:ln>
            <a:effectLst/>
          </p:spPr>
          <p:txBody>
            <a:bodyPr wrap="none" anchor="ctr"/>
            <a:lstStyle/>
            <a:p>
              <a:endParaRPr lang="fr-FR"/>
            </a:p>
          </p:txBody>
        </p:sp>
        <p:sp>
          <p:nvSpPr>
            <p:cNvPr id="64541" name="Oval 29"/>
            <p:cNvSpPr>
              <a:spLocks noChangeArrowheads="1"/>
            </p:cNvSpPr>
            <p:nvPr/>
          </p:nvSpPr>
          <p:spPr bwMode="auto">
            <a:xfrm>
              <a:off x="548" y="801"/>
              <a:ext cx="31" cy="17"/>
            </a:xfrm>
            <a:prstGeom prst="ellipse">
              <a:avLst/>
            </a:prstGeom>
            <a:solidFill>
              <a:srgbClr val="D60093"/>
            </a:solidFill>
            <a:ln w="12700">
              <a:noFill/>
              <a:round/>
              <a:headEnd/>
              <a:tailEnd/>
            </a:ln>
            <a:effectLst/>
          </p:spPr>
          <p:txBody>
            <a:bodyPr wrap="none" anchor="ctr"/>
            <a:lstStyle/>
            <a:p>
              <a:endParaRPr lang="fr-FR"/>
            </a:p>
          </p:txBody>
        </p:sp>
        <p:sp>
          <p:nvSpPr>
            <p:cNvPr id="64542" name="Line 30"/>
            <p:cNvSpPr>
              <a:spLocks noChangeShapeType="1"/>
            </p:cNvSpPr>
            <p:nvPr/>
          </p:nvSpPr>
          <p:spPr bwMode="auto">
            <a:xfrm>
              <a:off x="555" y="1424"/>
              <a:ext cx="192" cy="51"/>
            </a:xfrm>
            <a:prstGeom prst="line">
              <a:avLst/>
            </a:prstGeom>
            <a:noFill/>
            <a:ln w="6350">
              <a:solidFill>
                <a:srgbClr val="676767"/>
              </a:solidFill>
              <a:round/>
              <a:headEnd/>
              <a:tailEnd/>
            </a:ln>
            <a:effectLst/>
          </p:spPr>
          <p:txBody>
            <a:bodyPr wrap="none" anchor="ctr"/>
            <a:lstStyle/>
            <a:p>
              <a:endParaRPr lang="fr-FR"/>
            </a:p>
          </p:txBody>
        </p:sp>
        <p:sp>
          <p:nvSpPr>
            <p:cNvPr id="64543" name="Line 31"/>
            <p:cNvSpPr>
              <a:spLocks noChangeShapeType="1"/>
            </p:cNvSpPr>
            <p:nvPr/>
          </p:nvSpPr>
          <p:spPr bwMode="auto">
            <a:xfrm>
              <a:off x="555" y="1386"/>
              <a:ext cx="192" cy="52"/>
            </a:xfrm>
            <a:prstGeom prst="line">
              <a:avLst/>
            </a:prstGeom>
            <a:noFill/>
            <a:ln w="6350">
              <a:solidFill>
                <a:srgbClr val="676767"/>
              </a:solidFill>
              <a:round/>
              <a:headEnd/>
              <a:tailEnd/>
            </a:ln>
            <a:effectLst/>
          </p:spPr>
          <p:txBody>
            <a:bodyPr wrap="none" anchor="ctr"/>
            <a:lstStyle/>
            <a:p>
              <a:endParaRPr lang="fr-FR"/>
            </a:p>
          </p:txBody>
        </p:sp>
        <p:sp>
          <p:nvSpPr>
            <p:cNvPr id="64544" name="Line 32"/>
            <p:cNvSpPr>
              <a:spLocks noChangeShapeType="1"/>
            </p:cNvSpPr>
            <p:nvPr/>
          </p:nvSpPr>
          <p:spPr bwMode="auto">
            <a:xfrm>
              <a:off x="555" y="1349"/>
              <a:ext cx="192" cy="51"/>
            </a:xfrm>
            <a:prstGeom prst="line">
              <a:avLst/>
            </a:prstGeom>
            <a:noFill/>
            <a:ln w="6350">
              <a:solidFill>
                <a:srgbClr val="676767"/>
              </a:solidFill>
              <a:round/>
              <a:headEnd/>
              <a:tailEnd/>
            </a:ln>
            <a:effectLst/>
          </p:spPr>
          <p:txBody>
            <a:bodyPr wrap="none" anchor="ctr"/>
            <a:lstStyle/>
            <a:p>
              <a:endParaRPr lang="fr-FR"/>
            </a:p>
          </p:txBody>
        </p:sp>
        <p:sp>
          <p:nvSpPr>
            <p:cNvPr id="64545" name="Line 33"/>
            <p:cNvSpPr>
              <a:spLocks noChangeShapeType="1"/>
            </p:cNvSpPr>
            <p:nvPr/>
          </p:nvSpPr>
          <p:spPr bwMode="auto">
            <a:xfrm>
              <a:off x="555" y="1310"/>
              <a:ext cx="192" cy="51"/>
            </a:xfrm>
            <a:prstGeom prst="line">
              <a:avLst/>
            </a:prstGeom>
            <a:noFill/>
            <a:ln w="6350">
              <a:solidFill>
                <a:srgbClr val="676767"/>
              </a:solidFill>
              <a:round/>
              <a:headEnd/>
              <a:tailEnd/>
            </a:ln>
            <a:effectLst/>
          </p:spPr>
          <p:txBody>
            <a:bodyPr wrap="none" anchor="ctr"/>
            <a:lstStyle/>
            <a:p>
              <a:endParaRPr lang="fr-FR"/>
            </a:p>
          </p:txBody>
        </p:sp>
        <p:sp>
          <p:nvSpPr>
            <p:cNvPr id="64546" name="Freeform 34"/>
            <p:cNvSpPr>
              <a:spLocks/>
            </p:cNvSpPr>
            <p:nvPr/>
          </p:nvSpPr>
          <p:spPr bwMode="auto">
            <a:xfrm>
              <a:off x="558" y="946"/>
              <a:ext cx="190" cy="355"/>
            </a:xfrm>
            <a:custGeom>
              <a:avLst/>
              <a:gdLst/>
              <a:ahLst/>
              <a:cxnLst>
                <a:cxn ang="0">
                  <a:pos x="0" y="628"/>
                </a:cxn>
                <a:cxn ang="0">
                  <a:pos x="396" y="732"/>
                </a:cxn>
                <a:cxn ang="0">
                  <a:pos x="396" y="0"/>
                </a:cxn>
              </a:cxnLst>
              <a:rect l="0" t="0" r="r" b="b"/>
              <a:pathLst>
                <a:path w="397" h="733">
                  <a:moveTo>
                    <a:pt x="0" y="628"/>
                  </a:moveTo>
                  <a:lnTo>
                    <a:pt x="396" y="732"/>
                  </a:lnTo>
                  <a:lnTo>
                    <a:pt x="396" y="0"/>
                  </a:lnTo>
                </a:path>
              </a:pathLst>
            </a:custGeom>
            <a:noFill/>
            <a:ln w="3175" cap="rnd" cmpd="sng">
              <a:solidFill>
                <a:srgbClr val="676767"/>
              </a:solidFill>
              <a:prstDash val="solid"/>
              <a:round/>
              <a:headEnd type="none" w="med" len="med"/>
              <a:tailEnd type="none" w="med" len="med"/>
            </a:ln>
            <a:effectLst/>
          </p:spPr>
          <p:txBody>
            <a:bodyPr/>
            <a:lstStyle/>
            <a:p>
              <a:endParaRPr lang="fr-FR"/>
            </a:p>
          </p:txBody>
        </p:sp>
        <p:sp>
          <p:nvSpPr>
            <p:cNvPr id="64547" name="Freeform 35"/>
            <p:cNvSpPr>
              <a:spLocks/>
            </p:cNvSpPr>
            <p:nvPr/>
          </p:nvSpPr>
          <p:spPr bwMode="auto">
            <a:xfrm>
              <a:off x="538" y="876"/>
              <a:ext cx="218" cy="618"/>
            </a:xfrm>
            <a:custGeom>
              <a:avLst/>
              <a:gdLst/>
              <a:ahLst/>
              <a:cxnLst>
                <a:cxn ang="0">
                  <a:pos x="452" y="105"/>
                </a:cxn>
                <a:cxn ang="0">
                  <a:pos x="0" y="0"/>
                </a:cxn>
                <a:cxn ang="0">
                  <a:pos x="0" y="1277"/>
                </a:cxn>
              </a:cxnLst>
              <a:rect l="0" t="0" r="r" b="b"/>
              <a:pathLst>
                <a:path w="453" h="1278">
                  <a:moveTo>
                    <a:pt x="452" y="105"/>
                  </a:moveTo>
                  <a:lnTo>
                    <a:pt x="0" y="0"/>
                  </a:lnTo>
                  <a:lnTo>
                    <a:pt x="0" y="1277"/>
                  </a:lnTo>
                </a:path>
              </a:pathLst>
            </a:custGeom>
            <a:noFill/>
            <a:ln w="6350" cap="rnd" cmpd="sng">
              <a:solidFill>
                <a:srgbClr val="808080"/>
              </a:solidFill>
              <a:prstDash val="solid"/>
              <a:round/>
              <a:headEnd type="none" w="med" len="med"/>
              <a:tailEnd type="none" w="med" len="med"/>
            </a:ln>
            <a:effectLst/>
          </p:spPr>
          <p:txBody>
            <a:bodyPr/>
            <a:lstStyle/>
            <a:p>
              <a:endParaRPr lang="fr-FR"/>
            </a:p>
          </p:txBody>
        </p:sp>
        <p:sp>
          <p:nvSpPr>
            <p:cNvPr id="64548" name="Freeform 36"/>
            <p:cNvSpPr>
              <a:spLocks/>
            </p:cNvSpPr>
            <p:nvPr/>
          </p:nvSpPr>
          <p:spPr bwMode="auto">
            <a:xfrm>
              <a:off x="552" y="899"/>
              <a:ext cx="194" cy="352"/>
            </a:xfrm>
            <a:custGeom>
              <a:avLst/>
              <a:gdLst/>
              <a:ahLst/>
              <a:cxnLst>
                <a:cxn ang="0">
                  <a:pos x="401" y="96"/>
                </a:cxn>
                <a:cxn ang="0">
                  <a:pos x="0" y="0"/>
                </a:cxn>
                <a:cxn ang="0">
                  <a:pos x="0" y="725"/>
                </a:cxn>
              </a:cxnLst>
              <a:rect l="0" t="0" r="r" b="b"/>
              <a:pathLst>
                <a:path w="402" h="726">
                  <a:moveTo>
                    <a:pt x="401" y="96"/>
                  </a:moveTo>
                  <a:lnTo>
                    <a:pt x="0" y="0"/>
                  </a:lnTo>
                  <a:lnTo>
                    <a:pt x="0" y="725"/>
                  </a:lnTo>
                </a:path>
              </a:pathLst>
            </a:custGeom>
            <a:noFill/>
            <a:ln w="3175" cap="rnd" cmpd="sng">
              <a:solidFill>
                <a:schemeClr val="tx1"/>
              </a:solidFill>
              <a:prstDash val="solid"/>
              <a:round/>
              <a:headEnd type="none" w="med" len="med"/>
              <a:tailEnd type="none" w="med" len="med"/>
            </a:ln>
            <a:effectLst/>
          </p:spPr>
          <p:txBody>
            <a:bodyPr/>
            <a:lstStyle/>
            <a:p>
              <a:endParaRPr lang="fr-FR"/>
            </a:p>
          </p:txBody>
        </p:sp>
        <p:sp>
          <p:nvSpPr>
            <p:cNvPr id="64549" name="Line 37"/>
            <p:cNvSpPr>
              <a:spLocks noChangeShapeType="1"/>
            </p:cNvSpPr>
            <p:nvPr/>
          </p:nvSpPr>
          <p:spPr bwMode="auto">
            <a:xfrm>
              <a:off x="553" y="980"/>
              <a:ext cx="187" cy="43"/>
            </a:xfrm>
            <a:prstGeom prst="line">
              <a:avLst/>
            </a:prstGeom>
            <a:noFill/>
            <a:ln w="3175">
              <a:solidFill>
                <a:srgbClr val="676767"/>
              </a:solidFill>
              <a:round/>
              <a:headEnd/>
              <a:tailEnd/>
            </a:ln>
            <a:effectLst/>
          </p:spPr>
          <p:txBody>
            <a:bodyPr wrap="none" anchor="ctr"/>
            <a:lstStyle/>
            <a:p>
              <a:endParaRPr lang="fr-FR"/>
            </a:p>
          </p:txBody>
        </p:sp>
        <p:sp>
          <p:nvSpPr>
            <p:cNvPr id="64550" name="Line 38"/>
            <p:cNvSpPr>
              <a:spLocks noChangeShapeType="1"/>
            </p:cNvSpPr>
            <p:nvPr/>
          </p:nvSpPr>
          <p:spPr bwMode="auto">
            <a:xfrm>
              <a:off x="553" y="1055"/>
              <a:ext cx="189" cy="43"/>
            </a:xfrm>
            <a:prstGeom prst="line">
              <a:avLst/>
            </a:prstGeom>
            <a:noFill/>
            <a:ln w="3175">
              <a:solidFill>
                <a:srgbClr val="676767"/>
              </a:solidFill>
              <a:round/>
              <a:headEnd/>
              <a:tailEnd/>
            </a:ln>
            <a:effectLst/>
          </p:spPr>
          <p:txBody>
            <a:bodyPr wrap="none" anchor="ctr"/>
            <a:lstStyle/>
            <a:p>
              <a:endParaRPr lang="fr-FR"/>
            </a:p>
          </p:txBody>
        </p:sp>
        <p:sp>
          <p:nvSpPr>
            <p:cNvPr id="64551" name="Line 39"/>
            <p:cNvSpPr>
              <a:spLocks noChangeShapeType="1"/>
            </p:cNvSpPr>
            <p:nvPr/>
          </p:nvSpPr>
          <p:spPr bwMode="auto">
            <a:xfrm>
              <a:off x="553" y="1148"/>
              <a:ext cx="180" cy="43"/>
            </a:xfrm>
            <a:prstGeom prst="line">
              <a:avLst/>
            </a:prstGeom>
            <a:noFill/>
            <a:ln w="3175">
              <a:solidFill>
                <a:srgbClr val="676767"/>
              </a:solidFill>
              <a:round/>
              <a:headEnd/>
              <a:tailEnd/>
            </a:ln>
            <a:effectLst/>
          </p:spPr>
          <p:txBody>
            <a:bodyPr wrap="none" anchor="ctr"/>
            <a:lstStyle/>
            <a:p>
              <a:endParaRPr lang="fr-FR"/>
            </a:p>
          </p:txBody>
        </p:sp>
        <p:sp>
          <p:nvSpPr>
            <p:cNvPr id="64552" name="Freeform 40"/>
            <p:cNvSpPr>
              <a:spLocks/>
            </p:cNvSpPr>
            <p:nvPr/>
          </p:nvSpPr>
          <p:spPr bwMode="auto">
            <a:xfrm>
              <a:off x="609" y="943"/>
              <a:ext cx="74" cy="40"/>
            </a:xfrm>
            <a:custGeom>
              <a:avLst/>
              <a:gdLst/>
              <a:ahLst/>
              <a:cxnLst>
                <a:cxn ang="0">
                  <a:pos x="0" y="0"/>
                </a:cxn>
                <a:cxn ang="0">
                  <a:pos x="0" y="48"/>
                </a:cxn>
                <a:cxn ang="0">
                  <a:pos x="151" y="81"/>
                </a:cxn>
                <a:cxn ang="0">
                  <a:pos x="151" y="33"/>
                </a:cxn>
                <a:cxn ang="0">
                  <a:pos x="0" y="0"/>
                </a:cxn>
              </a:cxnLst>
              <a:rect l="0" t="0" r="r" b="b"/>
              <a:pathLst>
                <a:path w="152" h="82">
                  <a:moveTo>
                    <a:pt x="0" y="0"/>
                  </a:moveTo>
                  <a:lnTo>
                    <a:pt x="0" y="48"/>
                  </a:lnTo>
                  <a:lnTo>
                    <a:pt x="151" y="81"/>
                  </a:lnTo>
                  <a:lnTo>
                    <a:pt x="151" y="33"/>
                  </a:lnTo>
                  <a:lnTo>
                    <a:pt x="0" y="0"/>
                  </a:lnTo>
                </a:path>
              </a:pathLst>
            </a:custGeom>
            <a:solidFill>
              <a:srgbClr val="A9A9A9"/>
            </a:solidFill>
            <a:ln w="12700" cap="rnd" cmpd="sng">
              <a:noFill/>
              <a:prstDash val="solid"/>
              <a:round/>
              <a:headEnd type="none" w="med" len="med"/>
              <a:tailEnd type="none" w="med" len="med"/>
            </a:ln>
            <a:effectLst/>
          </p:spPr>
          <p:txBody>
            <a:bodyPr/>
            <a:lstStyle/>
            <a:p>
              <a:endParaRPr lang="fr-FR"/>
            </a:p>
          </p:txBody>
        </p:sp>
        <p:sp>
          <p:nvSpPr>
            <p:cNvPr id="64553" name="Line 41"/>
            <p:cNvSpPr>
              <a:spLocks noChangeShapeType="1"/>
            </p:cNvSpPr>
            <p:nvPr/>
          </p:nvSpPr>
          <p:spPr bwMode="auto">
            <a:xfrm>
              <a:off x="580" y="949"/>
              <a:ext cx="138" cy="30"/>
            </a:xfrm>
            <a:prstGeom prst="line">
              <a:avLst/>
            </a:prstGeom>
            <a:noFill/>
            <a:ln w="6350">
              <a:solidFill>
                <a:srgbClr val="919191"/>
              </a:solidFill>
              <a:round/>
              <a:headEnd/>
              <a:tailEnd/>
            </a:ln>
            <a:effectLst/>
          </p:spPr>
          <p:txBody>
            <a:bodyPr wrap="none" anchor="ctr"/>
            <a:lstStyle/>
            <a:p>
              <a:endParaRPr lang="fr-FR"/>
            </a:p>
          </p:txBody>
        </p:sp>
        <p:sp>
          <p:nvSpPr>
            <p:cNvPr id="64554" name="Freeform 42"/>
            <p:cNvSpPr>
              <a:spLocks/>
            </p:cNvSpPr>
            <p:nvPr/>
          </p:nvSpPr>
          <p:spPr bwMode="auto">
            <a:xfrm>
              <a:off x="566" y="1086"/>
              <a:ext cx="167" cy="75"/>
            </a:xfrm>
            <a:custGeom>
              <a:avLst/>
              <a:gdLst/>
              <a:ahLst/>
              <a:cxnLst>
                <a:cxn ang="0">
                  <a:pos x="0" y="85"/>
                </a:cxn>
                <a:cxn ang="0">
                  <a:pos x="0" y="0"/>
                </a:cxn>
                <a:cxn ang="0">
                  <a:pos x="350" y="93"/>
                </a:cxn>
                <a:cxn ang="0">
                  <a:pos x="350" y="182"/>
                </a:cxn>
                <a:cxn ang="0">
                  <a:pos x="0" y="85"/>
                </a:cxn>
              </a:cxnLst>
              <a:rect l="0" t="0" r="r" b="b"/>
              <a:pathLst>
                <a:path w="351" h="183">
                  <a:moveTo>
                    <a:pt x="0" y="85"/>
                  </a:moveTo>
                  <a:lnTo>
                    <a:pt x="0" y="0"/>
                  </a:lnTo>
                  <a:lnTo>
                    <a:pt x="350" y="93"/>
                  </a:lnTo>
                  <a:lnTo>
                    <a:pt x="350" y="182"/>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64555" name="Freeform 43"/>
            <p:cNvSpPr>
              <a:spLocks/>
            </p:cNvSpPr>
            <p:nvPr/>
          </p:nvSpPr>
          <p:spPr bwMode="auto">
            <a:xfrm>
              <a:off x="566" y="1179"/>
              <a:ext cx="167" cy="83"/>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64556" name="Freeform 44"/>
            <p:cNvSpPr>
              <a:spLocks/>
            </p:cNvSpPr>
            <p:nvPr/>
          </p:nvSpPr>
          <p:spPr bwMode="auto">
            <a:xfrm>
              <a:off x="563" y="1002"/>
              <a:ext cx="170" cy="77"/>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64557" name="Line 45"/>
            <p:cNvSpPr>
              <a:spLocks noChangeShapeType="1"/>
            </p:cNvSpPr>
            <p:nvPr/>
          </p:nvSpPr>
          <p:spPr bwMode="auto">
            <a:xfrm flipH="1" flipV="1">
              <a:off x="685" y="1049"/>
              <a:ext cx="33" cy="8"/>
            </a:xfrm>
            <a:prstGeom prst="line">
              <a:avLst/>
            </a:prstGeom>
            <a:noFill/>
            <a:ln w="9525">
              <a:solidFill>
                <a:srgbClr val="D60093"/>
              </a:solidFill>
              <a:round/>
              <a:headEnd/>
              <a:tailEnd/>
            </a:ln>
            <a:effectLst/>
          </p:spPr>
          <p:txBody>
            <a:bodyPr wrap="none" tIns="27432" bIns="27432" anchor="ctr">
              <a:spAutoFit/>
            </a:bodyPr>
            <a:lstStyle/>
            <a:p>
              <a:endParaRPr lang="fr-FR"/>
            </a:p>
          </p:txBody>
        </p:sp>
        <p:sp>
          <p:nvSpPr>
            <p:cNvPr id="64558" name="Line 46"/>
            <p:cNvSpPr>
              <a:spLocks noChangeShapeType="1"/>
            </p:cNvSpPr>
            <p:nvPr/>
          </p:nvSpPr>
          <p:spPr bwMode="auto">
            <a:xfrm flipH="1" flipV="1">
              <a:off x="685" y="1131"/>
              <a:ext cx="33" cy="7"/>
            </a:xfrm>
            <a:prstGeom prst="line">
              <a:avLst/>
            </a:prstGeom>
            <a:noFill/>
            <a:ln w="9525">
              <a:solidFill>
                <a:srgbClr val="D60093"/>
              </a:solidFill>
              <a:round/>
              <a:headEnd/>
              <a:tailEnd/>
            </a:ln>
            <a:effectLst/>
          </p:spPr>
          <p:txBody>
            <a:bodyPr wrap="none" tIns="27432" bIns="27432" anchor="ctr">
              <a:spAutoFit/>
            </a:bodyPr>
            <a:lstStyle/>
            <a:p>
              <a:endParaRPr lang="fr-FR"/>
            </a:p>
          </p:txBody>
        </p:sp>
        <p:sp>
          <p:nvSpPr>
            <p:cNvPr id="64559" name="Line 47"/>
            <p:cNvSpPr>
              <a:spLocks noChangeShapeType="1"/>
            </p:cNvSpPr>
            <p:nvPr/>
          </p:nvSpPr>
          <p:spPr bwMode="auto">
            <a:xfrm flipH="1" flipV="1">
              <a:off x="685" y="1230"/>
              <a:ext cx="33" cy="8"/>
            </a:xfrm>
            <a:prstGeom prst="line">
              <a:avLst/>
            </a:prstGeom>
            <a:noFill/>
            <a:ln w="9525">
              <a:solidFill>
                <a:srgbClr val="D60093"/>
              </a:solidFill>
              <a:round/>
              <a:headEnd/>
              <a:tailEnd/>
            </a:ln>
            <a:effectLst/>
          </p:spPr>
          <p:txBody>
            <a:bodyPr wrap="none" tIns="27432" bIns="27432" anchor="ctr">
              <a:spAutoFit/>
            </a:bodyPr>
            <a:lstStyle/>
            <a:p>
              <a:endParaRPr lang="fr-FR"/>
            </a:p>
          </p:txBody>
        </p:sp>
      </p:grpSp>
      <p:sp>
        <p:nvSpPr>
          <p:cNvPr id="64562" name="Rectangle 50"/>
          <p:cNvSpPr>
            <a:spLocks noChangeArrowheads="1"/>
          </p:cNvSpPr>
          <p:nvPr/>
        </p:nvSpPr>
        <p:spPr bwMode="auto">
          <a:xfrm>
            <a:off x="457200" y="1622425"/>
            <a:ext cx="3856038" cy="771525"/>
          </a:xfrm>
          <a:prstGeom prst="rect">
            <a:avLst/>
          </a:prstGeom>
          <a:solidFill>
            <a:srgbClr val="FFFFFF"/>
          </a:solidFill>
          <a:ln w="9525">
            <a:solidFill>
              <a:srgbClr val="003300"/>
            </a:solidFill>
            <a:miter lim="800000"/>
            <a:headEnd/>
            <a:tailEnd/>
          </a:ln>
          <a:effectLst>
            <a:outerShdw dist="53882" dir="2700000" algn="ctr" rotWithShape="0">
              <a:srgbClr val="CECECE"/>
            </a:outerShdw>
          </a:effectLst>
        </p:spPr>
        <p:txBody>
          <a:bodyPr wrap="none" anchor="ctr"/>
          <a:lstStyle/>
          <a:p>
            <a:pPr algn="ctr"/>
            <a:r>
              <a:rPr lang="en-US" sz="2400"/>
              <a:t>Le réseau d'interconnexion </a:t>
            </a:r>
            <a:br>
              <a:rPr lang="en-US" sz="2400"/>
            </a:br>
            <a:r>
              <a:rPr lang="en-US" sz="2400"/>
              <a:t>doit être IP</a:t>
            </a:r>
          </a:p>
        </p:txBody>
      </p:sp>
      <p:sp>
        <p:nvSpPr>
          <p:cNvPr id="64563" name="Rectangle 51"/>
          <p:cNvSpPr>
            <a:spLocks noChangeArrowheads="1"/>
          </p:cNvSpPr>
          <p:nvPr/>
        </p:nvSpPr>
        <p:spPr bwMode="auto">
          <a:xfrm>
            <a:off x="457200" y="2373313"/>
            <a:ext cx="3856038" cy="485775"/>
          </a:xfrm>
          <a:prstGeom prst="rect">
            <a:avLst/>
          </a:prstGeom>
          <a:solidFill>
            <a:srgbClr val="FFFFFF"/>
          </a:solidFill>
          <a:ln w="9525">
            <a:solidFill>
              <a:srgbClr val="003300"/>
            </a:solidFill>
            <a:miter lim="800000"/>
            <a:headEnd/>
            <a:tailEnd/>
          </a:ln>
          <a:effectLst>
            <a:outerShdw dist="53882" dir="2700000" algn="ctr" rotWithShape="0">
              <a:srgbClr val="CECECE"/>
            </a:outerShdw>
          </a:effectLst>
        </p:spPr>
        <p:txBody>
          <a:bodyPr wrap="none" anchor="ctr"/>
          <a:lstStyle/>
          <a:p>
            <a:pPr algn="ctr"/>
            <a:r>
              <a:rPr lang="en-US" sz="2400"/>
              <a:t>Pas de compression d'en-tête</a:t>
            </a:r>
          </a:p>
        </p:txBody>
      </p:sp>
      <p:sp>
        <p:nvSpPr>
          <p:cNvPr id="64564" name="Rectangle 52"/>
          <p:cNvSpPr>
            <a:spLocks noChangeArrowheads="1"/>
          </p:cNvSpPr>
          <p:nvPr/>
        </p:nvSpPr>
        <p:spPr bwMode="auto">
          <a:xfrm>
            <a:off x="457200" y="2859088"/>
            <a:ext cx="3856038" cy="487362"/>
          </a:xfrm>
          <a:prstGeom prst="rect">
            <a:avLst/>
          </a:prstGeom>
          <a:solidFill>
            <a:srgbClr val="FFFFFF"/>
          </a:solidFill>
          <a:ln w="9525">
            <a:solidFill>
              <a:srgbClr val="003300"/>
            </a:solidFill>
            <a:miter lim="800000"/>
            <a:headEnd/>
            <a:tailEnd/>
          </a:ln>
          <a:effectLst>
            <a:outerShdw dist="53882" dir="2700000" algn="ctr" rotWithShape="0">
              <a:srgbClr val="CECECE"/>
            </a:outerShdw>
          </a:effectLst>
        </p:spPr>
        <p:txBody>
          <a:bodyPr wrap="none" anchor="ctr"/>
          <a:lstStyle/>
          <a:p>
            <a:pPr algn="ctr"/>
            <a:r>
              <a:rPr lang="en-US" sz="2400"/>
              <a:t>Pas d'authentification de tunnel</a:t>
            </a:r>
          </a:p>
        </p:txBody>
      </p:sp>
      <p:sp>
        <p:nvSpPr>
          <p:cNvPr id="64565" name="Rectangle 53"/>
          <p:cNvSpPr>
            <a:spLocks noChangeArrowheads="1"/>
          </p:cNvSpPr>
          <p:nvPr/>
        </p:nvSpPr>
        <p:spPr bwMode="auto">
          <a:xfrm>
            <a:off x="457200" y="3346450"/>
            <a:ext cx="3856038" cy="485775"/>
          </a:xfrm>
          <a:prstGeom prst="rect">
            <a:avLst/>
          </a:prstGeom>
          <a:solidFill>
            <a:srgbClr val="FFFFFF"/>
          </a:solidFill>
          <a:ln w="9525">
            <a:solidFill>
              <a:srgbClr val="003300"/>
            </a:solidFill>
            <a:miter lim="800000"/>
            <a:headEnd/>
            <a:tailEnd/>
          </a:ln>
          <a:effectLst>
            <a:outerShdw dist="53882" dir="2700000" algn="ctr" rotWithShape="0">
              <a:srgbClr val="CECECE"/>
            </a:outerShdw>
          </a:effectLst>
        </p:spPr>
        <p:txBody>
          <a:bodyPr wrap="none" anchor="ctr"/>
          <a:lstStyle/>
          <a:p>
            <a:pPr algn="ctr"/>
            <a:r>
              <a:rPr lang="en-US" sz="2400"/>
              <a:t>Cryptage PPP intégré</a:t>
            </a:r>
          </a:p>
        </p:txBody>
      </p:sp>
      <p:sp>
        <p:nvSpPr>
          <p:cNvPr id="64566" name="Rectangle 54"/>
          <p:cNvSpPr>
            <a:spLocks noChangeArrowheads="1"/>
          </p:cNvSpPr>
          <p:nvPr/>
        </p:nvSpPr>
        <p:spPr bwMode="auto">
          <a:xfrm>
            <a:off x="4583112" y="1184275"/>
            <a:ext cx="4347527" cy="457200"/>
          </a:xfrm>
          <a:prstGeom prst="rect">
            <a:avLst/>
          </a:prstGeom>
          <a:gradFill rotWithShape="0">
            <a:gsLst>
              <a:gs pos="0">
                <a:srgbClr val="CC0099"/>
              </a:gs>
              <a:gs pos="50000">
                <a:srgbClr val="CC0099">
                  <a:gamma/>
                  <a:tint val="21176"/>
                  <a:invGamma/>
                </a:srgbClr>
              </a:gs>
              <a:gs pos="100000">
                <a:srgbClr val="CC0099"/>
              </a:gs>
            </a:gsLst>
            <a:lin ang="5400000" scaled="1"/>
          </a:gradFill>
          <a:ln w="9525">
            <a:solidFill>
              <a:srgbClr val="800080"/>
            </a:solidFill>
            <a:miter lim="800000"/>
            <a:headEnd/>
            <a:tailEnd/>
          </a:ln>
          <a:effectLst/>
        </p:spPr>
        <p:txBody>
          <a:bodyPr wrap="none" anchor="ctr"/>
          <a:lstStyle/>
          <a:p>
            <a:pPr algn="ctr"/>
            <a:r>
              <a:rPr lang="en-US" sz="2600" b="1">
                <a:effectLst>
                  <a:outerShdw blurRad="38100" dist="38100" dir="2700000" algn="tl">
                    <a:srgbClr val="FFFFFF"/>
                  </a:outerShdw>
                </a:effectLst>
                <a:latin typeface="Arial" charset="0"/>
              </a:rPr>
              <a:t>L2TP</a:t>
            </a:r>
          </a:p>
        </p:txBody>
      </p:sp>
      <p:sp>
        <p:nvSpPr>
          <p:cNvPr id="64567" name="Rectangle 55"/>
          <p:cNvSpPr>
            <a:spLocks noChangeArrowheads="1"/>
          </p:cNvSpPr>
          <p:nvPr/>
        </p:nvSpPr>
        <p:spPr bwMode="auto">
          <a:xfrm>
            <a:off x="4526280" y="1639888"/>
            <a:ext cx="4404360" cy="935037"/>
          </a:xfrm>
          <a:prstGeom prst="rect">
            <a:avLst/>
          </a:prstGeom>
          <a:solidFill>
            <a:srgbClr val="FFFFFF"/>
          </a:solidFill>
          <a:ln w="9525">
            <a:solidFill>
              <a:srgbClr val="003300"/>
            </a:solidFill>
            <a:miter lim="800000"/>
            <a:headEnd/>
            <a:tailEnd/>
          </a:ln>
          <a:effectLst>
            <a:outerShdw dist="53882" dir="2700000" algn="ctr" rotWithShape="0">
              <a:srgbClr val="CECECE"/>
            </a:outerShdw>
          </a:effectLst>
        </p:spPr>
        <p:txBody>
          <a:bodyPr anchor="ctr"/>
          <a:lstStyle/>
          <a:p>
            <a:pPr algn="ctr"/>
            <a:r>
              <a:rPr lang="en-US" sz="2400"/>
              <a:t>Le réseau d'interconnexion peut être IP, relais de trames, X.25 ou ATM</a:t>
            </a:r>
          </a:p>
        </p:txBody>
      </p:sp>
      <p:sp>
        <p:nvSpPr>
          <p:cNvPr id="64568" name="Rectangle 56"/>
          <p:cNvSpPr>
            <a:spLocks noChangeArrowheads="1"/>
          </p:cNvSpPr>
          <p:nvPr/>
        </p:nvSpPr>
        <p:spPr bwMode="auto">
          <a:xfrm>
            <a:off x="4526280" y="2557463"/>
            <a:ext cx="4404360" cy="427037"/>
          </a:xfrm>
          <a:prstGeom prst="rect">
            <a:avLst/>
          </a:prstGeom>
          <a:solidFill>
            <a:srgbClr val="FFFFFF"/>
          </a:solidFill>
          <a:ln w="9525">
            <a:solidFill>
              <a:srgbClr val="003300"/>
            </a:solidFill>
            <a:miter lim="800000"/>
            <a:headEnd/>
            <a:tailEnd/>
          </a:ln>
          <a:effectLst>
            <a:outerShdw dist="53882" dir="2700000" algn="ctr" rotWithShape="0">
              <a:srgbClr val="CECECE"/>
            </a:outerShdw>
          </a:effectLst>
        </p:spPr>
        <p:txBody>
          <a:bodyPr wrap="none" anchor="ctr"/>
          <a:lstStyle/>
          <a:p>
            <a:pPr algn="ctr"/>
            <a:r>
              <a:rPr lang="en-US" sz="2400"/>
              <a:t>Compression d'en-tête</a:t>
            </a:r>
          </a:p>
        </p:txBody>
      </p:sp>
      <p:sp>
        <p:nvSpPr>
          <p:cNvPr id="64569" name="Rectangle 57"/>
          <p:cNvSpPr>
            <a:spLocks noChangeArrowheads="1"/>
          </p:cNvSpPr>
          <p:nvPr/>
        </p:nvSpPr>
        <p:spPr bwMode="auto">
          <a:xfrm>
            <a:off x="4526280" y="2984500"/>
            <a:ext cx="4404360" cy="427038"/>
          </a:xfrm>
          <a:prstGeom prst="rect">
            <a:avLst/>
          </a:prstGeom>
          <a:solidFill>
            <a:srgbClr val="FFFFFF"/>
          </a:solidFill>
          <a:ln w="9525">
            <a:solidFill>
              <a:srgbClr val="003300"/>
            </a:solidFill>
            <a:miter lim="800000"/>
            <a:headEnd/>
            <a:tailEnd/>
          </a:ln>
          <a:effectLst>
            <a:outerShdw dist="53882" dir="2700000" algn="ctr" rotWithShape="0">
              <a:srgbClr val="CECECE"/>
            </a:outerShdw>
          </a:effectLst>
        </p:spPr>
        <p:txBody>
          <a:bodyPr wrap="none" anchor="ctr"/>
          <a:lstStyle/>
          <a:p>
            <a:pPr algn="ctr"/>
            <a:r>
              <a:rPr lang="en-US" sz="2400"/>
              <a:t>Authentification de tunnel</a:t>
            </a:r>
          </a:p>
        </p:txBody>
      </p:sp>
      <p:sp>
        <p:nvSpPr>
          <p:cNvPr id="64570" name="Rectangle 58"/>
          <p:cNvSpPr>
            <a:spLocks noChangeArrowheads="1"/>
          </p:cNvSpPr>
          <p:nvPr/>
        </p:nvSpPr>
        <p:spPr bwMode="auto">
          <a:xfrm>
            <a:off x="4526280" y="3411538"/>
            <a:ext cx="4404360" cy="427037"/>
          </a:xfrm>
          <a:prstGeom prst="rect">
            <a:avLst/>
          </a:prstGeom>
          <a:solidFill>
            <a:srgbClr val="FFFFFF"/>
          </a:solidFill>
          <a:ln w="9525">
            <a:solidFill>
              <a:srgbClr val="003300"/>
            </a:solidFill>
            <a:miter lim="800000"/>
            <a:headEnd/>
            <a:tailEnd/>
          </a:ln>
          <a:effectLst>
            <a:outerShdw dist="53882" dir="2700000" algn="ctr" rotWithShape="0">
              <a:srgbClr val="CECECE"/>
            </a:outerShdw>
          </a:effectLst>
        </p:spPr>
        <p:txBody>
          <a:bodyPr wrap="none" anchor="ctr"/>
          <a:lstStyle/>
          <a:p>
            <a:pPr algn="ctr"/>
            <a:r>
              <a:rPr lang="en-US" sz="2400"/>
              <a:t>Utilise le cryptage IPSec</a:t>
            </a:r>
          </a:p>
        </p:txBody>
      </p:sp>
      <p:sp>
        <p:nvSpPr>
          <p:cNvPr id="64571" name="AutoShape 59"/>
          <p:cNvSpPr>
            <a:spLocks noChangeArrowheads="1"/>
          </p:cNvSpPr>
          <p:nvPr/>
        </p:nvSpPr>
        <p:spPr bwMode="auto">
          <a:xfrm>
            <a:off x="5494338" y="4230688"/>
            <a:ext cx="415925" cy="431800"/>
          </a:xfrm>
          <a:custGeom>
            <a:avLst/>
            <a:gdLst>
              <a:gd name="G0" fmla="+- 7466 0 0"/>
              <a:gd name="G1" fmla="+- 5981222 0 0"/>
              <a:gd name="G2" fmla="+- 0 0 5981222"/>
              <a:gd name="T0" fmla="*/ 0 256 1"/>
              <a:gd name="T1" fmla="*/ 180 256 1"/>
              <a:gd name="G3" fmla="+- 5981222 T0 T1"/>
              <a:gd name="T2" fmla="*/ 0 256 1"/>
              <a:gd name="T3" fmla="*/ 90 256 1"/>
              <a:gd name="G4" fmla="+- 5981222 T2 T3"/>
              <a:gd name="G5" fmla="*/ G4 2 1"/>
              <a:gd name="T4" fmla="*/ 90 256 1"/>
              <a:gd name="T5" fmla="*/ 0 256 1"/>
              <a:gd name="G6" fmla="+- 5981222 T4 T5"/>
              <a:gd name="G7" fmla="*/ G6 2 1"/>
              <a:gd name="G8" fmla="abs 5981222"/>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7466"/>
              <a:gd name="G18" fmla="*/ 7466 1 2"/>
              <a:gd name="G19" fmla="+- G18 5400 0"/>
              <a:gd name="G20" fmla="cos G19 5981222"/>
              <a:gd name="G21" fmla="sin G19 5981222"/>
              <a:gd name="G22" fmla="+- G20 10800 0"/>
              <a:gd name="G23" fmla="+- G21 10800 0"/>
              <a:gd name="G24" fmla="+- 10800 0 G20"/>
              <a:gd name="G25" fmla="+- 7466 10800 0"/>
              <a:gd name="G26" fmla="?: G9 G17 G25"/>
              <a:gd name="G27" fmla="?: G9 0 21600"/>
              <a:gd name="G28" fmla="cos 10800 5981222"/>
              <a:gd name="G29" fmla="sin 10800 5981222"/>
              <a:gd name="G30" fmla="sin 7466 5981222"/>
              <a:gd name="G31" fmla="+- G28 10800 0"/>
              <a:gd name="G32" fmla="+- G29 10800 0"/>
              <a:gd name="G33" fmla="+- G30 10800 0"/>
              <a:gd name="G34" fmla="?: G4 0 G31"/>
              <a:gd name="G35" fmla="?: 5981222 G34 0"/>
              <a:gd name="G36" fmla="?: G6 G35 G31"/>
              <a:gd name="G37" fmla="+- 21600 0 G36"/>
              <a:gd name="G38" fmla="?: G4 0 G33"/>
              <a:gd name="G39" fmla="?: 5981222 G38 G32"/>
              <a:gd name="G40" fmla="?: G6 G39 0"/>
              <a:gd name="G41" fmla="?: G4 G32 21600"/>
              <a:gd name="G42" fmla="?: G6 G41 G33"/>
              <a:gd name="T12" fmla="*/ 10800 w 21600"/>
              <a:gd name="T13" fmla="*/ 0 h 21600"/>
              <a:gd name="T14" fmla="*/ 10598 w 21600"/>
              <a:gd name="T15" fmla="*/ 19930 h 21600"/>
              <a:gd name="T16" fmla="*/ 10800 w 21600"/>
              <a:gd name="T17" fmla="*/ 3334 h 21600"/>
              <a:gd name="T18" fmla="*/ 11002 w 21600"/>
              <a:gd name="T19" fmla="*/ 1993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635" y="18264"/>
                </a:moveTo>
                <a:cubicBezTo>
                  <a:pt x="6576" y="18174"/>
                  <a:pt x="3334" y="14859"/>
                  <a:pt x="3334" y="10800"/>
                </a:cubicBezTo>
                <a:cubicBezTo>
                  <a:pt x="3334" y="6676"/>
                  <a:pt x="6676" y="3334"/>
                  <a:pt x="10800" y="3334"/>
                </a:cubicBezTo>
                <a:cubicBezTo>
                  <a:pt x="14923" y="3334"/>
                  <a:pt x="18266" y="6676"/>
                  <a:pt x="18266" y="10800"/>
                </a:cubicBezTo>
                <a:cubicBezTo>
                  <a:pt x="18266" y="14859"/>
                  <a:pt x="15023" y="18174"/>
                  <a:pt x="10964" y="18264"/>
                </a:cubicBezTo>
                <a:lnTo>
                  <a:pt x="11038" y="21597"/>
                </a:lnTo>
                <a:cubicBezTo>
                  <a:pt x="16908" y="21467"/>
                  <a:pt x="21600" y="16671"/>
                  <a:pt x="21600" y="10800"/>
                </a:cubicBezTo>
                <a:cubicBezTo>
                  <a:pt x="21600" y="4835"/>
                  <a:pt x="16764" y="0"/>
                  <a:pt x="10800" y="0"/>
                </a:cubicBezTo>
                <a:cubicBezTo>
                  <a:pt x="4835" y="0"/>
                  <a:pt x="0" y="4835"/>
                  <a:pt x="0" y="10800"/>
                </a:cubicBezTo>
                <a:cubicBezTo>
                  <a:pt x="-1" y="16671"/>
                  <a:pt x="4691" y="21467"/>
                  <a:pt x="10561" y="21597"/>
                </a:cubicBezTo>
                <a:close/>
              </a:path>
            </a:pathLst>
          </a:custGeom>
          <a:solidFill>
            <a:srgbClr val="3366CC"/>
          </a:solidFill>
          <a:ln w="9525">
            <a:miter lim="800000"/>
            <a:headEnd/>
            <a:tailEnd/>
          </a:ln>
          <a:effectLst/>
          <a:scene3d>
            <a:camera prst="legacyPerspectiveFront">
              <a:rot lat="300000" lon="3000000" rev="0"/>
            </a:camera>
            <a:lightRig rig="legacyFlat4" dir="b"/>
          </a:scene3d>
          <a:sp3d extrusionH="379400" prstMaterial="legacyMatte">
            <a:bevelT w="13500" h="13500" prst="angle"/>
            <a:bevelB w="13500" h="13500" prst="angle"/>
            <a:extrusionClr>
              <a:srgbClr val="99CCFF"/>
            </a:extrusionClr>
          </a:sp3d>
        </p:spPr>
        <p:txBody>
          <a:bodyPr wrap="none" anchor="ctr">
            <a:flatTx/>
          </a:bodyPr>
          <a:lstStyle/>
          <a:p>
            <a:pPr algn="ctr" eaLnBrk="1" hangingPunct="1"/>
            <a:endParaRPr lang="fr-FR" sz="1800" b="1"/>
          </a:p>
        </p:txBody>
      </p:sp>
      <p:sp>
        <p:nvSpPr>
          <p:cNvPr id="64572" name="AutoShape 60"/>
          <p:cNvSpPr>
            <a:spLocks noChangeArrowheads="1"/>
          </p:cNvSpPr>
          <p:nvPr/>
        </p:nvSpPr>
        <p:spPr bwMode="auto">
          <a:xfrm>
            <a:off x="5016500" y="4181475"/>
            <a:ext cx="582613" cy="592138"/>
          </a:xfrm>
          <a:custGeom>
            <a:avLst/>
            <a:gdLst>
              <a:gd name="G0" fmla="+- 8441 0 0"/>
              <a:gd name="G1" fmla="+- 5954286 0 0"/>
              <a:gd name="G2" fmla="+- 0 0 5954286"/>
              <a:gd name="T0" fmla="*/ 0 256 1"/>
              <a:gd name="T1" fmla="*/ 180 256 1"/>
              <a:gd name="G3" fmla="+- 5954286 T0 T1"/>
              <a:gd name="T2" fmla="*/ 0 256 1"/>
              <a:gd name="T3" fmla="*/ 90 256 1"/>
              <a:gd name="G4" fmla="+- 5954286 T2 T3"/>
              <a:gd name="G5" fmla="*/ G4 2 1"/>
              <a:gd name="T4" fmla="*/ 90 256 1"/>
              <a:gd name="T5" fmla="*/ 0 256 1"/>
              <a:gd name="G6" fmla="+- 5954286 T4 T5"/>
              <a:gd name="G7" fmla="*/ G6 2 1"/>
              <a:gd name="G8" fmla="abs 595428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8441"/>
              <a:gd name="G18" fmla="*/ 8441 1 2"/>
              <a:gd name="G19" fmla="+- G18 5400 0"/>
              <a:gd name="G20" fmla="cos G19 5954286"/>
              <a:gd name="G21" fmla="sin G19 5954286"/>
              <a:gd name="G22" fmla="+- G20 10800 0"/>
              <a:gd name="G23" fmla="+- G21 10800 0"/>
              <a:gd name="G24" fmla="+- 10800 0 G20"/>
              <a:gd name="G25" fmla="+- 8441 10800 0"/>
              <a:gd name="G26" fmla="?: G9 G17 G25"/>
              <a:gd name="G27" fmla="?: G9 0 21600"/>
              <a:gd name="G28" fmla="cos 10800 5954286"/>
              <a:gd name="G29" fmla="sin 10800 5954286"/>
              <a:gd name="G30" fmla="sin 8441 5954286"/>
              <a:gd name="G31" fmla="+- G28 10800 0"/>
              <a:gd name="G32" fmla="+- G29 10800 0"/>
              <a:gd name="G33" fmla="+- G30 10800 0"/>
              <a:gd name="G34" fmla="?: G4 0 G31"/>
              <a:gd name="G35" fmla="?: 5954286 G34 0"/>
              <a:gd name="G36" fmla="?: G6 G35 G31"/>
              <a:gd name="G37" fmla="+- 21600 0 G36"/>
              <a:gd name="G38" fmla="?: G4 0 G33"/>
              <a:gd name="G39" fmla="?: 5954286 G38 G32"/>
              <a:gd name="G40" fmla="?: G6 G39 0"/>
              <a:gd name="G41" fmla="?: G4 G32 21600"/>
              <a:gd name="G42" fmla="?: G6 G41 G33"/>
              <a:gd name="T12" fmla="*/ 10800 w 21600"/>
              <a:gd name="T13" fmla="*/ 0 h 21600"/>
              <a:gd name="T14" fmla="*/ 10656 w 21600"/>
              <a:gd name="T15" fmla="*/ 20419 h 21600"/>
              <a:gd name="T16" fmla="*/ 10800 w 21600"/>
              <a:gd name="T17" fmla="*/ 2359 h 21600"/>
              <a:gd name="T18" fmla="*/ 10944 w 21600"/>
              <a:gd name="T19" fmla="*/ 20419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674" y="19240"/>
                </a:moveTo>
                <a:cubicBezTo>
                  <a:pt x="6061" y="19171"/>
                  <a:pt x="2359" y="15412"/>
                  <a:pt x="2359" y="10800"/>
                </a:cubicBezTo>
                <a:cubicBezTo>
                  <a:pt x="2359" y="6138"/>
                  <a:pt x="6138" y="2359"/>
                  <a:pt x="10800" y="2359"/>
                </a:cubicBezTo>
                <a:cubicBezTo>
                  <a:pt x="15461" y="2359"/>
                  <a:pt x="19241" y="6138"/>
                  <a:pt x="19241" y="10800"/>
                </a:cubicBezTo>
                <a:cubicBezTo>
                  <a:pt x="19241" y="15412"/>
                  <a:pt x="15538" y="19171"/>
                  <a:pt x="10925" y="19240"/>
                </a:cubicBezTo>
                <a:lnTo>
                  <a:pt x="10961" y="21598"/>
                </a:lnTo>
                <a:cubicBezTo>
                  <a:pt x="16862" y="21510"/>
                  <a:pt x="21600" y="16701"/>
                  <a:pt x="21600" y="10800"/>
                </a:cubicBezTo>
                <a:cubicBezTo>
                  <a:pt x="21600" y="4835"/>
                  <a:pt x="16764" y="0"/>
                  <a:pt x="10800" y="0"/>
                </a:cubicBezTo>
                <a:cubicBezTo>
                  <a:pt x="4835" y="0"/>
                  <a:pt x="0" y="4835"/>
                  <a:pt x="0" y="10800"/>
                </a:cubicBezTo>
                <a:cubicBezTo>
                  <a:pt x="-1" y="16701"/>
                  <a:pt x="4737" y="21510"/>
                  <a:pt x="10638" y="21598"/>
                </a:cubicBezTo>
                <a:close/>
              </a:path>
            </a:pathLst>
          </a:custGeom>
          <a:solidFill>
            <a:srgbClr val="CC0066"/>
          </a:solidFill>
          <a:ln w="9525">
            <a:miter lim="800000"/>
            <a:headEnd/>
            <a:tailEnd/>
          </a:ln>
          <a:effectLst/>
          <a:scene3d>
            <a:camera prst="legacyPerspectiveFront">
              <a:rot lat="300000" lon="3000000" rev="0"/>
            </a:camera>
            <a:lightRig rig="legacyFlat4" dir="b"/>
          </a:scene3d>
          <a:sp3d extrusionH="633400" prstMaterial="legacyMatte">
            <a:bevelT w="13500" h="13500" prst="angle"/>
            <a:bevelB w="13500" h="13500" prst="angle"/>
            <a:extrusionClr>
              <a:srgbClr val="FF7C80"/>
            </a:extrusionClr>
          </a:sp3d>
        </p:spPr>
        <p:txBody>
          <a:bodyPr wrap="none" anchor="ctr">
            <a:flatTx/>
          </a:bodyPr>
          <a:lstStyle/>
          <a:p>
            <a:pPr algn="ctr" eaLnBrk="1" hangingPunct="1"/>
            <a:endParaRPr lang="fr-FR" sz="1800" b="1"/>
          </a:p>
        </p:txBody>
      </p:sp>
      <p:sp>
        <p:nvSpPr>
          <p:cNvPr id="64573" name="AutoShape 61"/>
          <p:cNvSpPr>
            <a:spLocks noChangeArrowheads="1"/>
          </p:cNvSpPr>
          <p:nvPr/>
        </p:nvSpPr>
        <p:spPr bwMode="auto">
          <a:xfrm>
            <a:off x="4468813" y="4162425"/>
            <a:ext cx="711200" cy="725488"/>
          </a:xfrm>
          <a:custGeom>
            <a:avLst/>
            <a:gdLst>
              <a:gd name="G0" fmla="+- 8441 0 0"/>
              <a:gd name="G1" fmla="+- 5954286 0 0"/>
              <a:gd name="G2" fmla="+- 0 0 5954286"/>
              <a:gd name="T0" fmla="*/ 0 256 1"/>
              <a:gd name="T1" fmla="*/ 180 256 1"/>
              <a:gd name="G3" fmla="+- 5954286 T0 T1"/>
              <a:gd name="T2" fmla="*/ 0 256 1"/>
              <a:gd name="T3" fmla="*/ 90 256 1"/>
              <a:gd name="G4" fmla="+- 5954286 T2 T3"/>
              <a:gd name="G5" fmla="*/ G4 2 1"/>
              <a:gd name="T4" fmla="*/ 90 256 1"/>
              <a:gd name="T5" fmla="*/ 0 256 1"/>
              <a:gd name="G6" fmla="+- 5954286 T4 T5"/>
              <a:gd name="G7" fmla="*/ G6 2 1"/>
              <a:gd name="G8" fmla="abs 595428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8441"/>
              <a:gd name="G18" fmla="*/ 8441 1 2"/>
              <a:gd name="G19" fmla="+- G18 5400 0"/>
              <a:gd name="G20" fmla="cos G19 5954286"/>
              <a:gd name="G21" fmla="sin G19 5954286"/>
              <a:gd name="G22" fmla="+- G20 10800 0"/>
              <a:gd name="G23" fmla="+- G21 10800 0"/>
              <a:gd name="G24" fmla="+- 10800 0 G20"/>
              <a:gd name="G25" fmla="+- 8441 10800 0"/>
              <a:gd name="G26" fmla="?: G9 G17 G25"/>
              <a:gd name="G27" fmla="?: G9 0 21600"/>
              <a:gd name="G28" fmla="cos 10800 5954286"/>
              <a:gd name="G29" fmla="sin 10800 5954286"/>
              <a:gd name="G30" fmla="sin 8441 5954286"/>
              <a:gd name="G31" fmla="+- G28 10800 0"/>
              <a:gd name="G32" fmla="+- G29 10800 0"/>
              <a:gd name="G33" fmla="+- G30 10800 0"/>
              <a:gd name="G34" fmla="?: G4 0 G31"/>
              <a:gd name="G35" fmla="?: 5954286 G34 0"/>
              <a:gd name="G36" fmla="?: G6 G35 G31"/>
              <a:gd name="G37" fmla="+- 21600 0 G36"/>
              <a:gd name="G38" fmla="?: G4 0 G33"/>
              <a:gd name="G39" fmla="?: 5954286 G38 G32"/>
              <a:gd name="G40" fmla="?: G6 G39 0"/>
              <a:gd name="G41" fmla="?: G4 G32 21600"/>
              <a:gd name="G42" fmla="?: G6 G41 G33"/>
              <a:gd name="T12" fmla="*/ 10800 w 21600"/>
              <a:gd name="T13" fmla="*/ 0 h 21600"/>
              <a:gd name="T14" fmla="*/ 10656 w 21600"/>
              <a:gd name="T15" fmla="*/ 20419 h 21600"/>
              <a:gd name="T16" fmla="*/ 10800 w 21600"/>
              <a:gd name="T17" fmla="*/ 2359 h 21600"/>
              <a:gd name="T18" fmla="*/ 10944 w 21600"/>
              <a:gd name="T19" fmla="*/ 20419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674" y="19240"/>
                </a:moveTo>
                <a:cubicBezTo>
                  <a:pt x="6061" y="19171"/>
                  <a:pt x="2359" y="15412"/>
                  <a:pt x="2359" y="10800"/>
                </a:cubicBezTo>
                <a:cubicBezTo>
                  <a:pt x="2359" y="6138"/>
                  <a:pt x="6138" y="2359"/>
                  <a:pt x="10800" y="2359"/>
                </a:cubicBezTo>
                <a:cubicBezTo>
                  <a:pt x="15461" y="2359"/>
                  <a:pt x="19241" y="6138"/>
                  <a:pt x="19241" y="10800"/>
                </a:cubicBezTo>
                <a:cubicBezTo>
                  <a:pt x="19241" y="15412"/>
                  <a:pt x="15538" y="19171"/>
                  <a:pt x="10925" y="19240"/>
                </a:cubicBezTo>
                <a:lnTo>
                  <a:pt x="10961" y="21598"/>
                </a:lnTo>
                <a:cubicBezTo>
                  <a:pt x="16862" y="21510"/>
                  <a:pt x="21600" y="16701"/>
                  <a:pt x="21600" y="10800"/>
                </a:cubicBezTo>
                <a:cubicBezTo>
                  <a:pt x="21600" y="4835"/>
                  <a:pt x="16764" y="0"/>
                  <a:pt x="10800" y="0"/>
                </a:cubicBezTo>
                <a:cubicBezTo>
                  <a:pt x="4835" y="0"/>
                  <a:pt x="0" y="4835"/>
                  <a:pt x="0" y="10800"/>
                </a:cubicBezTo>
                <a:cubicBezTo>
                  <a:pt x="-1" y="16701"/>
                  <a:pt x="4737" y="21510"/>
                  <a:pt x="10638" y="21598"/>
                </a:cubicBezTo>
                <a:close/>
              </a:path>
            </a:pathLst>
          </a:custGeom>
          <a:gradFill rotWithShape="0">
            <a:gsLst>
              <a:gs pos="0">
                <a:srgbClr val="CC0099">
                  <a:gamma/>
                  <a:tint val="58824"/>
                  <a:invGamma/>
                </a:srgbClr>
              </a:gs>
              <a:gs pos="100000">
                <a:srgbClr val="CC0099"/>
              </a:gs>
            </a:gsLst>
            <a:lin ang="0" scaled="1"/>
          </a:gradFill>
          <a:ln w="9525">
            <a:miter lim="800000"/>
            <a:headEnd/>
            <a:tailEnd/>
          </a:ln>
          <a:effectLst/>
          <a:scene3d>
            <a:camera prst="legacyPerspectiveFront">
              <a:rot lat="300000" lon="3000000" rev="0"/>
            </a:camera>
            <a:lightRig rig="legacyFlat4" dir="b"/>
          </a:scene3d>
          <a:sp3d extrusionH="887400" prstMaterial="legacyMatte">
            <a:bevelT w="13500" h="13500" prst="angle"/>
            <a:bevelB w="13500" h="13500" prst="angle"/>
            <a:extrusionClr>
              <a:srgbClr val="FFCCFF"/>
            </a:extrusionClr>
          </a:sp3d>
        </p:spPr>
        <p:txBody>
          <a:bodyPr wrap="none" anchor="ctr">
            <a:flatTx/>
          </a:bodyPr>
          <a:lstStyle/>
          <a:p>
            <a:pPr algn="ctr"/>
            <a:endParaRPr lang="fr-FR" sz="1800" b="1"/>
          </a:p>
        </p:txBody>
      </p:sp>
      <p:pic>
        <p:nvPicPr>
          <p:cNvPr id="64574" name="Picture 62" descr="Internet"/>
          <p:cNvPicPr>
            <a:picLocks noChangeAspect="1" noChangeArrowheads="1"/>
          </p:cNvPicPr>
          <p:nvPr/>
        </p:nvPicPr>
        <p:blipFill>
          <a:blip r:embed="rId2"/>
          <a:srcRect/>
          <a:stretch>
            <a:fillRect/>
          </a:stretch>
        </p:blipFill>
        <p:spPr bwMode="auto">
          <a:xfrm>
            <a:off x="4198938" y="3976688"/>
            <a:ext cx="1212850" cy="1212850"/>
          </a:xfrm>
          <a:prstGeom prst="rect">
            <a:avLst/>
          </a:prstGeom>
          <a:noFill/>
        </p:spPr>
      </p:pic>
      <p:sp>
        <p:nvSpPr>
          <p:cNvPr id="64575" name="Text Box 63"/>
          <p:cNvSpPr txBox="1">
            <a:spLocks noChangeArrowheads="1"/>
          </p:cNvSpPr>
          <p:nvPr/>
        </p:nvSpPr>
        <p:spPr bwMode="auto">
          <a:xfrm>
            <a:off x="4498975" y="4364038"/>
            <a:ext cx="930275" cy="336550"/>
          </a:xfrm>
          <a:prstGeom prst="rect">
            <a:avLst/>
          </a:prstGeom>
          <a:noFill/>
          <a:ln w="9525">
            <a:noFill/>
            <a:miter lim="800000"/>
            <a:headEnd/>
            <a:tailEnd/>
          </a:ln>
          <a:effectLst>
            <a:outerShdw dist="17961" dir="2700000" algn="ctr" rotWithShape="0">
              <a:srgbClr val="000000"/>
            </a:outerShdw>
          </a:effectLst>
        </p:spPr>
        <p:txBody>
          <a:bodyPr wrap="none">
            <a:spAutoFit/>
          </a:bodyPr>
          <a:lstStyle/>
          <a:p>
            <a:r>
              <a:rPr lang="en-US" sz="1600" b="1">
                <a:solidFill>
                  <a:srgbClr val="FFFFFF"/>
                </a:solidFill>
                <a:latin typeface="Arial" charset="0"/>
              </a:rPr>
              <a:t>Internet</a:t>
            </a:r>
          </a:p>
        </p:txBody>
      </p:sp>
      <p:sp>
        <p:nvSpPr>
          <p:cNvPr id="64576" name="AutoShape 64"/>
          <p:cNvSpPr>
            <a:spLocks noChangeArrowheads="1"/>
          </p:cNvSpPr>
          <p:nvPr/>
        </p:nvSpPr>
        <p:spPr bwMode="auto">
          <a:xfrm>
            <a:off x="3121025" y="4292600"/>
            <a:ext cx="735013" cy="749300"/>
          </a:xfrm>
          <a:custGeom>
            <a:avLst/>
            <a:gdLst>
              <a:gd name="G0" fmla="+- 8441 0 0"/>
              <a:gd name="G1" fmla="+- 5954286 0 0"/>
              <a:gd name="G2" fmla="+- 0 0 5954286"/>
              <a:gd name="T0" fmla="*/ 0 256 1"/>
              <a:gd name="T1" fmla="*/ 180 256 1"/>
              <a:gd name="G3" fmla="+- 5954286 T0 T1"/>
              <a:gd name="T2" fmla="*/ 0 256 1"/>
              <a:gd name="T3" fmla="*/ 90 256 1"/>
              <a:gd name="G4" fmla="+- 5954286 T2 T3"/>
              <a:gd name="G5" fmla="*/ G4 2 1"/>
              <a:gd name="T4" fmla="*/ 90 256 1"/>
              <a:gd name="T5" fmla="*/ 0 256 1"/>
              <a:gd name="G6" fmla="+- 5954286 T4 T5"/>
              <a:gd name="G7" fmla="*/ G6 2 1"/>
              <a:gd name="G8" fmla="abs 595428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8441"/>
              <a:gd name="G18" fmla="*/ 8441 1 2"/>
              <a:gd name="G19" fmla="+- G18 5400 0"/>
              <a:gd name="G20" fmla="cos G19 5954286"/>
              <a:gd name="G21" fmla="sin G19 5954286"/>
              <a:gd name="G22" fmla="+- G20 10800 0"/>
              <a:gd name="G23" fmla="+- G21 10800 0"/>
              <a:gd name="G24" fmla="+- 10800 0 G20"/>
              <a:gd name="G25" fmla="+- 8441 10800 0"/>
              <a:gd name="G26" fmla="?: G9 G17 G25"/>
              <a:gd name="G27" fmla="?: G9 0 21600"/>
              <a:gd name="G28" fmla="cos 10800 5954286"/>
              <a:gd name="G29" fmla="sin 10800 5954286"/>
              <a:gd name="G30" fmla="sin 8441 5954286"/>
              <a:gd name="G31" fmla="+- G28 10800 0"/>
              <a:gd name="G32" fmla="+- G29 10800 0"/>
              <a:gd name="G33" fmla="+- G30 10800 0"/>
              <a:gd name="G34" fmla="?: G4 0 G31"/>
              <a:gd name="G35" fmla="?: 5954286 G34 0"/>
              <a:gd name="G36" fmla="?: G6 G35 G31"/>
              <a:gd name="G37" fmla="+- 21600 0 G36"/>
              <a:gd name="G38" fmla="?: G4 0 G33"/>
              <a:gd name="G39" fmla="?: 5954286 G38 G32"/>
              <a:gd name="G40" fmla="?: G6 G39 0"/>
              <a:gd name="G41" fmla="?: G4 G32 21600"/>
              <a:gd name="G42" fmla="?: G6 G41 G33"/>
              <a:gd name="T12" fmla="*/ 10800 w 21600"/>
              <a:gd name="T13" fmla="*/ 0 h 21600"/>
              <a:gd name="T14" fmla="*/ 10656 w 21600"/>
              <a:gd name="T15" fmla="*/ 20419 h 21600"/>
              <a:gd name="T16" fmla="*/ 10800 w 21600"/>
              <a:gd name="T17" fmla="*/ 2359 h 21600"/>
              <a:gd name="T18" fmla="*/ 10944 w 21600"/>
              <a:gd name="T19" fmla="*/ 20419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674" y="19240"/>
                </a:moveTo>
                <a:cubicBezTo>
                  <a:pt x="6061" y="19171"/>
                  <a:pt x="2359" y="15412"/>
                  <a:pt x="2359" y="10800"/>
                </a:cubicBezTo>
                <a:cubicBezTo>
                  <a:pt x="2359" y="6138"/>
                  <a:pt x="6138" y="2359"/>
                  <a:pt x="10800" y="2359"/>
                </a:cubicBezTo>
                <a:cubicBezTo>
                  <a:pt x="15461" y="2359"/>
                  <a:pt x="19241" y="6138"/>
                  <a:pt x="19241" y="10800"/>
                </a:cubicBezTo>
                <a:cubicBezTo>
                  <a:pt x="19241" y="15412"/>
                  <a:pt x="15538" y="19171"/>
                  <a:pt x="10925" y="19240"/>
                </a:cubicBezTo>
                <a:lnTo>
                  <a:pt x="10961" y="21598"/>
                </a:lnTo>
                <a:cubicBezTo>
                  <a:pt x="16862" y="21510"/>
                  <a:pt x="21600" y="16701"/>
                  <a:pt x="21600" y="10800"/>
                </a:cubicBezTo>
                <a:cubicBezTo>
                  <a:pt x="21600" y="4835"/>
                  <a:pt x="16764" y="0"/>
                  <a:pt x="10800" y="0"/>
                </a:cubicBezTo>
                <a:cubicBezTo>
                  <a:pt x="4835" y="0"/>
                  <a:pt x="0" y="4835"/>
                  <a:pt x="0" y="10800"/>
                </a:cubicBezTo>
                <a:cubicBezTo>
                  <a:pt x="-1" y="16701"/>
                  <a:pt x="4737" y="21510"/>
                  <a:pt x="10638" y="21598"/>
                </a:cubicBezTo>
                <a:close/>
              </a:path>
            </a:pathLst>
          </a:custGeom>
          <a:gradFill rotWithShape="0">
            <a:gsLst>
              <a:gs pos="0">
                <a:srgbClr val="CC0099">
                  <a:gamma/>
                  <a:tint val="58824"/>
                  <a:invGamma/>
                </a:srgbClr>
              </a:gs>
              <a:gs pos="100000">
                <a:srgbClr val="CC0099"/>
              </a:gs>
            </a:gsLst>
            <a:lin ang="0" scaled="1"/>
          </a:gradFill>
          <a:ln w="9525">
            <a:miter lim="800000"/>
            <a:headEnd/>
            <a:tailEnd/>
          </a:ln>
          <a:effectLst/>
          <a:scene3d>
            <a:camera prst="legacyPerspectiveFront">
              <a:rot lat="300000" lon="3000000" rev="0"/>
            </a:camera>
            <a:lightRig rig="legacyFlat4" dir="b"/>
          </a:scene3d>
          <a:sp3d extrusionH="1141400" prstMaterial="legacyMatte">
            <a:bevelT w="13500" h="13500" prst="angle"/>
            <a:bevelB w="13500" h="13500" prst="angle"/>
            <a:extrusionClr>
              <a:srgbClr val="FFCCFF"/>
            </a:extrusionClr>
          </a:sp3d>
        </p:spPr>
        <p:txBody>
          <a:bodyPr wrap="none" anchor="ctr">
            <a:flatTx/>
          </a:bodyPr>
          <a:lstStyle/>
          <a:p>
            <a:pPr algn="ctr"/>
            <a:endParaRPr lang="fr-FR" sz="1800" b="1"/>
          </a:p>
        </p:txBody>
      </p:sp>
      <p:sp>
        <p:nvSpPr>
          <p:cNvPr id="64577" name="AutoShape 65"/>
          <p:cNvSpPr>
            <a:spLocks noChangeArrowheads="1"/>
          </p:cNvSpPr>
          <p:nvPr/>
        </p:nvSpPr>
        <p:spPr bwMode="auto">
          <a:xfrm>
            <a:off x="2852738" y="4386263"/>
            <a:ext cx="627062" cy="638175"/>
          </a:xfrm>
          <a:custGeom>
            <a:avLst/>
            <a:gdLst>
              <a:gd name="G0" fmla="+- 8441 0 0"/>
              <a:gd name="G1" fmla="+- 5954286 0 0"/>
              <a:gd name="G2" fmla="+- 0 0 5954286"/>
              <a:gd name="T0" fmla="*/ 0 256 1"/>
              <a:gd name="T1" fmla="*/ 180 256 1"/>
              <a:gd name="G3" fmla="+- 5954286 T0 T1"/>
              <a:gd name="T2" fmla="*/ 0 256 1"/>
              <a:gd name="T3" fmla="*/ 90 256 1"/>
              <a:gd name="G4" fmla="+- 5954286 T2 T3"/>
              <a:gd name="G5" fmla="*/ G4 2 1"/>
              <a:gd name="T4" fmla="*/ 90 256 1"/>
              <a:gd name="T5" fmla="*/ 0 256 1"/>
              <a:gd name="G6" fmla="+- 5954286 T4 T5"/>
              <a:gd name="G7" fmla="*/ G6 2 1"/>
              <a:gd name="G8" fmla="abs 5954286"/>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8441"/>
              <a:gd name="G18" fmla="*/ 8441 1 2"/>
              <a:gd name="G19" fmla="+- G18 5400 0"/>
              <a:gd name="G20" fmla="cos G19 5954286"/>
              <a:gd name="G21" fmla="sin G19 5954286"/>
              <a:gd name="G22" fmla="+- G20 10800 0"/>
              <a:gd name="G23" fmla="+- G21 10800 0"/>
              <a:gd name="G24" fmla="+- 10800 0 G20"/>
              <a:gd name="G25" fmla="+- 8441 10800 0"/>
              <a:gd name="G26" fmla="?: G9 G17 G25"/>
              <a:gd name="G27" fmla="?: G9 0 21600"/>
              <a:gd name="G28" fmla="cos 10800 5954286"/>
              <a:gd name="G29" fmla="sin 10800 5954286"/>
              <a:gd name="G30" fmla="sin 8441 5954286"/>
              <a:gd name="G31" fmla="+- G28 10800 0"/>
              <a:gd name="G32" fmla="+- G29 10800 0"/>
              <a:gd name="G33" fmla="+- G30 10800 0"/>
              <a:gd name="G34" fmla="?: G4 0 G31"/>
              <a:gd name="G35" fmla="?: 5954286 G34 0"/>
              <a:gd name="G36" fmla="?: G6 G35 G31"/>
              <a:gd name="G37" fmla="+- 21600 0 G36"/>
              <a:gd name="G38" fmla="?: G4 0 G33"/>
              <a:gd name="G39" fmla="?: 5954286 G38 G32"/>
              <a:gd name="G40" fmla="?: G6 G39 0"/>
              <a:gd name="G41" fmla="?: G4 G32 21600"/>
              <a:gd name="G42" fmla="?: G6 G41 G33"/>
              <a:gd name="T12" fmla="*/ 10800 w 21600"/>
              <a:gd name="T13" fmla="*/ 0 h 21600"/>
              <a:gd name="T14" fmla="*/ 10656 w 21600"/>
              <a:gd name="T15" fmla="*/ 20419 h 21600"/>
              <a:gd name="T16" fmla="*/ 10800 w 21600"/>
              <a:gd name="T17" fmla="*/ 2359 h 21600"/>
              <a:gd name="T18" fmla="*/ 10944 w 21600"/>
              <a:gd name="T19" fmla="*/ 20419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674" y="19240"/>
                </a:moveTo>
                <a:cubicBezTo>
                  <a:pt x="6061" y="19171"/>
                  <a:pt x="2359" y="15412"/>
                  <a:pt x="2359" y="10800"/>
                </a:cubicBezTo>
                <a:cubicBezTo>
                  <a:pt x="2359" y="6138"/>
                  <a:pt x="6138" y="2359"/>
                  <a:pt x="10800" y="2359"/>
                </a:cubicBezTo>
                <a:cubicBezTo>
                  <a:pt x="15461" y="2359"/>
                  <a:pt x="19241" y="6138"/>
                  <a:pt x="19241" y="10800"/>
                </a:cubicBezTo>
                <a:cubicBezTo>
                  <a:pt x="19241" y="15412"/>
                  <a:pt x="15538" y="19171"/>
                  <a:pt x="10925" y="19240"/>
                </a:cubicBezTo>
                <a:lnTo>
                  <a:pt x="10961" y="21598"/>
                </a:lnTo>
                <a:cubicBezTo>
                  <a:pt x="16862" y="21510"/>
                  <a:pt x="21600" y="16701"/>
                  <a:pt x="21600" y="10800"/>
                </a:cubicBezTo>
                <a:cubicBezTo>
                  <a:pt x="21600" y="4835"/>
                  <a:pt x="16764" y="0"/>
                  <a:pt x="10800" y="0"/>
                </a:cubicBezTo>
                <a:cubicBezTo>
                  <a:pt x="4835" y="0"/>
                  <a:pt x="0" y="4835"/>
                  <a:pt x="0" y="10800"/>
                </a:cubicBezTo>
                <a:cubicBezTo>
                  <a:pt x="-1" y="16701"/>
                  <a:pt x="4737" y="21510"/>
                  <a:pt x="10638" y="21598"/>
                </a:cubicBezTo>
                <a:close/>
              </a:path>
            </a:pathLst>
          </a:custGeom>
          <a:solidFill>
            <a:srgbClr val="CC0066"/>
          </a:solidFill>
          <a:ln w="9525">
            <a:miter lim="800000"/>
            <a:headEnd/>
            <a:tailEnd/>
          </a:ln>
          <a:effectLst/>
          <a:scene3d>
            <a:camera prst="legacyPerspectiveFront">
              <a:rot lat="300000" lon="3000000" rev="0"/>
            </a:camera>
            <a:lightRig rig="legacyFlat4" dir="b"/>
          </a:scene3d>
          <a:sp3d extrusionH="379400" prstMaterial="legacyMatte">
            <a:bevelT w="13500" h="13500" prst="angle"/>
            <a:bevelB w="13500" h="13500" prst="angle"/>
            <a:extrusionClr>
              <a:srgbClr val="FF7C80"/>
            </a:extrusionClr>
          </a:sp3d>
        </p:spPr>
        <p:txBody>
          <a:bodyPr wrap="none" anchor="ctr">
            <a:flatTx/>
          </a:bodyPr>
          <a:lstStyle/>
          <a:p>
            <a:pPr algn="ctr" eaLnBrk="1" hangingPunct="1"/>
            <a:endParaRPr lang="fr-FR" sz="1800" b="1"/>
          </a:p>
        </p:txBody>
      </p:sp>
      <p:sp>
        <p:nvSpPr>
          <p:cNvPr id="64578" name="AutoShape 66"/>
          <p:cNvSpPr>
            <a:spLocks noChangeArrowheads="1"/>
          </p:cNvSpPr>
          <p:nvPr/>
        </p:nvSpPr>
        <p:spPr bwMode="auto">
          <a:xfrm>
            <a:off x="2682875" y="4491038"/>
            <a:ext cx="415925" cy="479425"/>
          </a:xfrm>
          <a:custGeom>
            <a:avLst/>
            <a:gdLst>
              <a:gd name="G0" fmla="+- 7466 0 0"/>
              <a:gd name="G1" fmla="+- 5981222 0 0"/>
              <a:gd name="G2" fmla="+- 0 0 5981222"/>
              <a:gd name="T0" fmla="*/ 0 256 1"/>
              <a:gd name="T1" fmla="*/ 180 256 1"/>
              <a:gd name="G3" fmla="+- 5981222 T0 T1"/>
              <a:gd name="T2" fmla="*/ 0 256 1"/>
              <a:gd name="T3" fmla="*/ 90 256 1"/>
              <a:gd name="G4" fmla="+- 5981222 T2 T3"/>
              <a:gd name="G5" fmla="*/ G4 2 1"/>
              <a:gd name="T4" fmla="*/ 90 256 1"/>
              <a:gd name="T5" fmla="*/ 0 256 1"/>
              <a:gd name="G6" fmla="+- 5981222 T4 T5"/>
              <a:gd name="G7" fmla="*/ G6 2 1"/>
              <a:gd name="G8" fmla="abs 5981222"/>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7466"/>
              <a:gd name="G18" fmla="*/ 7466 1 2"/>
              <a:gd name="G19" fmla="+- G18 5400 0"/>
              <a:gd name="G20" fmla="cos G19 5981222"/>
              <a:gd name="G21" fmla="sin G19 5981222"/>
              <a:gd name="G22" fmla="+- G20 10800 0"/>
              <a:gd name="G23" fmla="+- G21 10800 0"/>
              <a:gd name="G24" fmla="+- 10800 0 G20"/>
              <a:gd name="G25" fmla="+- 7466 10800 0"/>
              <a:gd name="G26" fmla="?: G9 G17 G25"/>
              <a:gd name="G27" fmla="?: G9 0 21600"/>
              <a:gd name="G28" fmla="cos 10800 5981222"/>
              <a:gd name="G29" fmla="sin 10800 5981222"/>
              <a:gd name="G30" fmla="sin 7466 5981222"/>
              <a:gd name="G31" fmla="+- G28 10800 0"/>
              <a:gd name="G32" fmla="+- G29 10800 0"/>
              <a:gd name="G33" fmla="+- G30 10800 0"/>
              <a:gd name="G34" fmla="?: G4 0 G31"/>
              <a:gd name="G35" fmla="?: 5981222 G34 0"/>
              <a:gd name="G36" fmla="?: G6 G35 G31"/>
              <a:gd name="G37" fmla="+- 21600 0 G36"/>
              <a:gd name="G38" fmla="?: G4 0 G33"/>
              <a:gd name="G39" fmla="?: 5981222 G38 G32"/>
              <a:gd name="G40" fmla="?: G6 G39 0"/>
              <a:gd name="G41" fmla="?: G4 G32 21600"/>
              <a:gd name="G42" fmla="?: G6 G41 G33"/>
              <a:gd name="T12" fmla="*/ 10800 w 21600"/>
              <a:gd name="T13" fmla="*/ 0 h 21600"/>
              <a:gd name="T14" fmla="*/ 10598 w 21600"/>
              <a:gd name="T15" fmla="*/ 19930 h 21600"/>
              <a:gd name="T16" fmla="*/ 10800 w 21600"/>
              <a:gd name="T17" fmla="*/ 3334 h 21600"/>
              <a:gd name="T18" fmla="*/ 11002 w 21600"/>
              <a:gd name="T19" fmla="*/ 1993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10635" y="18264"/>
                </a:moveTo>
                <a:cubicBezTo>
                  <a:pt x="6576" y="18174"/>
                  <a:pt x="3334" y="14859"/>
                  <a:pt x="3334" y="10800"/>
                </a:cubicBezTo>
                <a:cubicBezTo>
                  <a:pt x="3334" y="6676"/>
                  <a:pt x="6676" y="3334"/>
                  <a:pt x="10800" y="3334"/>
                </a:cubicBezTo>
                <a:cubicBezTo>
                  <a:pt x="14923" y="3334"/>
                  <a:pt x="18266" y="6676"/>
                  <a:pt x="18266" y="10800"/>
                </a:cubicBezTo>
                <a:cubicBezTo>
                  <a:pt x="18266" y="14859"/>
                  <a:pt x="15023" y="18174"/>
                  <a:pt x="10964" y="18264"/>
                </a:cubicBezTo>
                <a:lnTo>
                  <a:pt x="11038" y="21597"/>
                </a:lnTo>
                <a:cubicBezTo>
                  <a:pt x="16908" y="21467"/>
                  <a:pt x="21600" y="16671"/>
                  <a:pt x="21600" y="10800"/>
                </a:cubicBezTo>
                <a:cubicBezTo>
                  <a:pt x="21600" y="4835"/>
                  <a:pt x="16764" y="0"/>
                  <a:pt x="10800" y="0"/>
                </a:cubicBezTo>
                <a:cubicBezTo>
                  <a:pt x="4835" y="0"/>
                  <a:pt x="0" y="4835"/>
                  <a:pt x="0" y="10800"/>
                </a:cubicBezTo>
                <a:cubicBezTo>
                  <a:pt x="-1" y="16671"/>
                  <a:pt x="4691" y="21467"/>
                  <a:pt x="10561" y="21597"/>
                </a:cubicBezTo>
                <a:close/>
              </a:path>
            </a:pathLst>
          </a:custGeom>
          <a:solidFill>
            <a:srgbClr val="3366CC"/>
          </a:solidFill>
          <a:ln w="9525">
            <a:miter lim="800000"/>
            <a:headEnd/>
            <a:tailEnd/>
          </a:ln>
          <a:effectLst/>
          <a:scene3d>
            <a:camera prst="legacyPerspectiveFront">
              <a:rot lat="300000" lon="3000000" rev="0"/>
            </a:camera>
            <a:lightRig rig="legacyFlat4" dir="b"/>
          </a:scene3d>
          <a:sp3d extrusionH="379400" prstMaterial="legacyMatte">
            <a:bevelT w="13500" h="13500" prst="angle"/>
            <a:bevelB w="13500" h="13500" prst="angle"/>
            <a:extrusionClr>
              <a:srgbClr val="99CCFF"/>
            </a:extrusionClr>
          </a:sp3d>
        </p:spPr>
        <p:txBody>
          <a:bodyPr wrap="none" anchor="ctr">
            <a:flatTx/>
          </a:bodyPr>
          <a:lstStyle/>
          <a:p>
            <a:pPr algn="ctr" eaLnBrk="1" hangingPunct="1"/>
            <a:endParaRPr lang="fr-FR" sz="1800" b="1"/>
          </a:p>
        </p:txBody>
      </p:sp>
      <p:sp>
        <p:nvSpPr>
          <p:cNvPr id="64579" name="Text Box 67"/>
          <p:cNvSpPr txBox="1">
            <a:spLocks noChangeArrowheads="1"/>
          </p:cNvSpPr>
          <p:nvPr/>
        </p:nvSpPr>
        <p:spPr bwMode="auto">
          <a:xfrm>
            <a:off x="3588385" y="5659438"/>
            <a:ext cx="2459712" cy="412421"/>
          </a:xfrm>
          <a:prstGeom prst="rect">
            <a:avLst/>
          </a:prstGeom>
          <a:noFill/>
          <a:ln w="9525">
            <a:noFill/>
            <a:miter lim="800000"/>
            <a:headEnd/>
            <a:tailEnd/>
          </a:ln>
          <a:effectLst/>
        </p:spPr>
        <p:txBody>
          <a:bodyPr wrap="none">
            <a:spAutoFit/>
          </a:bodyPr>
          <a:lstStyle/>
          <a:p>
            <a:pPr algn="ctr">
              <a:lnSpc>
                <a:spcPct val="80000"/>
              </a:lnSpc>
            </a:pPr>
            <a:r>
              <a:rPr lang="en-US" sz="2600" b="1" dirty="0">
                <a:solidFill>
                  <a:srgbClr val="CC0099"/>
                </a:solidFill>
                <a:latin typeface="Arial" charset="0"/>
              </a:rPr>
              <a:t>PPTP </a:t>
            </a:r>
            <a:r>
              <a:rPr lang="en-US" sz="2600" b="1" dirty="0" err="1">
                <a:solidFill>
                  <a:srgbClr val="CC0099"/>
                </a:solidFill>
                <a:latin typeface="Arial" charset="0"/>
              </a:rPr>
              <a:t>ou</a:t>
            </a:r>
            <a:r>
              <a:rPr lang="en-US" sz="2600" b="1" dirty="0">
                <a:solidFill>
                  <a:srgbClr val="CC0099"/>
                </a:solidFill>
                <a:latin typeface="Arial" charset="0"/>
              </a:rPr>
              <a:t> L2TP</a:t>
            </a:r>
          </a:p>
        </p:txBody>
      </p:sp>
      <p:sp>
        <p:nvSpPr>
          <p:cNvPr id="64580" name="Freeform 68"/>
          <p:cNvSpPr>
            <a:spLocks/>
          </p:cNvSpPr>
          <p:nvPr/>
        </p:nvSpPr>
        <p:spPr bwMode="auto">
          <a:xfrm>
            <a:off x="3906838" y="4841875"/>
            <a:ext cx="1600200" cy="685800"/>
          </a:xfrm>
          <a:custGeom>
            <a:avLst/>
            <a:gdLst/>
            <a:ahLst/>
            <a:cxnLst>
              <a:cxn ang="0">
                <a:pos x="0" y="144"/>
              </a:cxn>
              <a:cxn ang="0">
                <a:pos x="0" y="432"/>
              </a:cxn>
              <a:cxn ang="0">
                <a:pos x="960" y="432"/>
              </a:cxn>
              <a:cxn ang="0">
                <a:pos x="960" y="0"/>
              </a:cxn>
            </a:cxnLst>
            <a:rect l="0" t="0" r="r" b="b"/>
            <a:pathLst>
              <a:path w="960" h="432">
                <a:moveTo>
                  <a:pt x="0" y="144"/>
                </a:moveTo>
                <a:lnTo>
                  <a:pt x="0" y="432"/>
                </a:lnTo>
                <a:lnTo>
                  <a:pt x="960" y="432"/>
                </a:lnTo>
                <a:lnTo>
                  <a:pt x="960" y="0"/>
                </a:lnTo>
              </a:path>
            </a:pathLst>
          </a:custGeom>
          <a:noFill/>
          <a:ln w="38100" cmpd="sng">
            <a:solidFill>
              <a:srgbClr val="CC0099"/>
            </a:solidFill>
            <a:round/>
            <a:headEnd/>
            <a:tailEnd/>
          </a:ln>
          <a:effectLst/>
        </p:spPr>
        <p:txBody>
          <a:bodyPr/>
          <a:lstStyle/>
          <a:p>
            <a:endParaRPr lang="fr-FR"/>
          </a:p>
        </p:txBody>
      </p:sp>
      <p:sp>
        <p:nvSpPr>
          <p:cNvPr id="64560" name="Rectangle 48"/>
          <p:cNvSpPr>
            <a:spLocks noChangeArrowheads="1"/>
          </p:cNvSpPr>
          <p:nvPr/>
        </p:nvSpPr>
        <p:spPr bwMode="auto">
          <a:xfrm>
            <a:off x="381000" y="1184275"/>
            <a:ext cx="4065588" cy="457200"/>
          </a:xfrm>
          <a:prstGeom prst="rect">
            <a:avLst/>
          </a:prstGeom>
          <a:gradFill rotWithShape="0">
            <a:gsLst>
              <a:gs pos="0">
                <a:srgbClr val="CC0099"/>
              </a:gs>
              <a:gs pos="50000">
                <a:srgbClr val="CC0099">
                  <a:gamma/>
                  <a:tint val="21176"/>
                  <a:invGamma/>
                </a:srgbClr>
              </a:gs>
              <a:gs pos="100000">
                <a:srgbClr val="CC0099"/>
              </a:gs>
            </a:gsLst>
            <a:lin ang="5400000" scaled="1"/>
          </a:gradFill>
          <a:ln w="9525">
            <a:solidFill>
              <a:srgbClr val="800080"/>
            </a:solidFill>
            <a:miter lim="800000"/>
            <a:headEnd/>
            <a:tailEnd/>
          </a:ln>
          <a:effectLst/>
        </p:spPr>
        <p:txBody>
          <a:bodyPr wrap="none" anchor="ctr"/>
          <a:lstStyle/>
          <a:p>
            <a:pPr algn="ctr"/>
            <a:r>
              <a:rPr lang="en-US" sz="2600" b="1" dirty="0">
                <a:effectLst>
                  <a:outerShdw blurRad="38100" dist="38100" dir="2700000" algn="tl">
                    <a:srgbClr val="FFFFFF"/>
                  </a:outerShdw>
                </a:effectLst>
                <a:latin typeface="Arial" charset="0"/>
              </a:rPr>
              <a:t>PPTP</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4"/>
          <p:cNvSpPr>
            <a:spLocks noGrp="1" noChangeArrowheads="1"/>
          </p:cNvSpPr>
          <p:nvPr>
            <p:ph type="title"/>
          </p:nvPr>
        </p:nvSpPr>
        <p:spPr>
          <a:xfrm>
            <a:off x="0" y="350520"/>
            <a:ext cx="9144000" cy="758952"/>
          </a:xfrm>
        </p:spPr>
        <p:txBody>
          <a:bodyPr>
            <a:normAutofit fontScale="90000"/>
          </a:bodyPr>
          <a:lstStyle/>
          <a:p>
            <a:pPr marL="439738" indent="-439738"/>
            <a:r>
              <a:rPr lang="fr-FR" dirty="0" smtClean="0">
                <a:solidFill>
                  <a:schemeClr val="tx1"/>
                </a:solidFill>
                <a:cs typeface="Times New Roman" pitchFamily="18" charset="0"/>
              </a:rPr>
              <a:t>3. Configuration </a:t>
            </a:r>
            <a:r>
              <a:rPr lang="fr-FR" dirty="0">
                <a:solidFill>
                  <a:schemeClr val="tx1"/>
                </a:solidFill>
                <a:cs typeface="Times New Roman" pitchFamily="18" charset="0"/>
              </a:rPr>
              <a:t>des protocoles d'authentification et du cryptage</a:t>
            </a:r>
            <a:r>
              <a:rPr lang="fr-FR" dirty="0"/>
              <a:t> </a:t>
            </a:r>
            <a:endParaRPr lang="en-US" dirty="0"/>
          </a:p>
        </p:txBody>
      </p:sp>
      <p:sp>
        <p:nvSpPr>
          <p:cNvPr id="66565" name="Rectangle 5"/>
          <p:cNvSpPr>
            <a:spLocks noGrp="1" noChangeArrowheads="1"/>
          </p:cNvSpPr>
          <p:nvPr>
            <p:ph sz="quarter" idx="1"/>
          </p:nvPr>
        </p:nvSpPr>
        <p:spPr>
          <a:xfrm>
            <a:off x="271272" y="2258568"/>
            <a:ext cx="8503920" cy="2694432"/>
          </a:xfrm>
        </p:spPr>
        <p:txBody>
          <a:bodyPr/>
          <a:lstStyle/>
          <a:p>
            <a:pPr>
              <a:buClrTx/>
              <a:buFont typeface="Wingdings" pitchFamily="2" charset="2"/>
              <a:buChar char="Ø"/>
            </a:pPr>
            <a:r>
              <a:rPr lang="fr-FR" dirty="0"/>
              <a:t>Protocoles d'authentification standard </a:t>
            </a:r>
            <a:endParaRPr lang="en-US" dirty="0"/>
          </a:p>
          <a:p>
            <a:pPr>
              <a:buClrTx/>
              <a:buFont typeface="Wingdings" pitchFamily="2" charset="2"/>
              <a:buChar char="Ø"/>
            </a:pPr>
            <a:r>
              <a:rPr lang="fr-FR" dirty="0"/>
              <a:t>Protocoles EAP </a:t>
            </a:r>
            <a:endParaRPr lang="en-US" dirty="0"/>
          </a:p>
          <a:p>
            <a:pPr>
              <a:buClrTx/>
              <a:buFont typeface="Wingdings" pitchFamily="2" charset="2"/>
              <a:buChar char="Ø"/>
            </a:pPr>
            <a:r>
              <a:rPr lang="fr-FR" dirty="0"/>
              <a:t>Configuration des protocoles d'authentification </a:t>
            </a:r>
            <a:br>
              <a:rPr lang="fr-FR" dirty="0"/>
            </a:br>
            <a:r>
              <a:rPr lang="fr-FR" dirty="0"/>
              <a:t>de client </a:t>
            </a:r>
            <a:endParaRPr lang="en-US" dirty="0"/>
          </a:p>
          <a:p>
            <a:pPr>
              <a:buClrTx/>
              <a:buFont typeface="Wingdings" pitchFamily="2" charset="2"/>
              <a:buChar char="Ø"/>
            </a:pPr>
            <a:r>
              <a:rPr lang="fr-FR" dirty="0"/>
              <a:t>Configuration du cryptage des données client </a:t>
            </a: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vert="horz" anchor="b">
            <a:normAutofit/>
          </a:bodyPr>
          <a:lstStyle/>
          <a:p>
            <a:r>
              <a:rPr lang="fr-FR" dirty="0">
                <a:solidFill>
                  <a:srgbClr val="C00000"/>
                </a:solidFill>
              </a:rPr>
              <a:t>Protocoles d'authentification standard</a:t>
            </a:r>
            <a:endParaRPr lang="en-US" dirty="0">
              <a:solidFill>
                <a:srgbClr val="C00000"/>
              </a:solidFill>
            </a:endParaRPr>
          </a:p>
        </p:txBody>
      </p:sp>
      <p:sp>
        <p:nvSpPr>
          <p:cNvPr id="67588" name="Rectangle 4"/>
          <p:cNvSpPr>
            <a:spLocks noChangeArrowheads="1"/>
          </p:cNvSpPr>
          <p:nvPr/>
        </p:nvSpPr>
        <p:spPr bwMode="auto">
          <a:xfrm>
            <a:off x="76201" y="1250315"/>
            <a:ext cx="1584960" cy="522288"/>
          </a:xfrm>
          <a:prstGeom prst="rect">
            <a:avLst/>
          </a:prstGeom>
          <a:gradFill rotWithShape="0">
            <a:gsLst>
              <a:gs pos="0">
                <a:srgbClr val="6699FF">
                  <a:gamma/>
                  <a:shade val="46275"/>
                  <a:invGamma/>
                </a:srgbClr>
              </a:gs>
              <a:gs pos="50000">
                <a:srgbClr val="6699FF"/>
              </a:gs>
              <a:gs pos="100000">
                <a:srgbClr val="6699FF">
                  <a:gamma/>
                  <a:shade val="46275"/>
                  <a:invGamma/>
                </a:srgbClr>
              </a:gs>
            </a:gsLst>
            <a:lin ang="0" scaled="1"/>
          </a:gradFill>
          <a:ln w="9525">
            <a:solidFill>
              <a:schemeClr val="tx1"/>
            </a:solidFill>
            <a:miter lim="800000"/>
            <a:headEnd/>
            <a:tailEnd/>
          </a:ln>
          <a:effectLst/>
        </p:spPr>
        <p:txBody>
          <a:bodyPr wrap="none" lIns="45720" rIns="45720" anchor="ctr"/>
          <a:lstStyle/>
          <a:p>
            <a:pPr algn="ctr"/>
            <a:r>
              <a:rPr lang="en-US" sz="2600" b="1" dirty="0" err="1">
                <a:solidFill>
                  <a:schemeClr val="bg1"/>
                </a:solidFill>
                <a:effectLst>
                  <a:outerShdw blurRad="38100" dist="38100" dir="2700000" algn="tl">
                    <a:srgbClr val="000000"/>
                  </a:outerShdw>
                </a:effectLst>
                <a:latin typeface="Arial" charset="0"/>
              </a:rPr>
              <a:t>Protocole</a:t>
            </a:r>
            <a:endParaRPr lang="en-US" sz="2600" b="1" dirty="0">
              <a:solidFill>
                <a:schemeClr val="bg1"/>
              </a:solidFill>
              <a:effectLst>
                <a:outerShdw blurRad="38100" dist="38100" dir="2700000" algn="tl">
                  <a:srgbClr val="000000"/>
                </a:outerShdw>
              </a:effectLst>
              <a:latin typeface="Arial" charset="0"/>
            </a:endParaRPr>
          </a:p>
        </p:txBody>
      </p:sp>
      <p:sp>
        <p:nvSpPr>
          <p:cNvPr id="67589" name="Rectangle 5"/>
          <p:cNvSpPr>
            <a:spLocks noChangeArrowheads="1"/>
          </p:cNvSpPr>
          <p:nvPr/>
        </p:nvSpPr>
        <p:spPr bwMode="auto">
          <a:xfrm>
            <a:off x="1664653" y="1250315"/>
            <a:ext cx="1352550" cy="522288"/>
          </a:xfrm>
          <a:prstGeom prst="rect">
            <a:avLst/>
          </a:prstGeom>
          <a:gradFill rotWithShape="0">
            <a:gsLst>
              <a:gs pos="0">
                <a:srgbClr val="6699FF">
                  <a:gamma/>
                  <a:shade val="46275"/>
                  <a:invGamma/>
                </a:srgbClr>
              </a:gs>
              <a:gs pos="50000">
                <a:srgbClr val="6699FF"/>
              </a:gs>
              <a:gs pos="100000">
                <a:srgbClr val="6699FF">
                  <a:gamma/>
                  <a:shade val="46275"/>
                  <a:invGamma/>
                </a:srgbClr>
              </a:gs>
            </a:gsLst>
            <a:lin ang="0" scaled="1"/>
          </a:gradFill>
          <a:ln w="9525">
            <a:solidFill>
              <a:schemeClr val="tx1"/>
            </a:solidFill>
            <a:miter lim="800000"/>
            <a:headEnd/>
            <a:tailEnd/>
          </a:ln>
          <a:effectLst/>
        </p:spPr>
        <p:txBody>
          <a:bodyPr wrap="none" lIns="45720" rIns="45720" anchor="ctr"/>
          <a:lstStyle/>
          <a:p>
            <a:pPr algn="ctr"/>
            <a:r>
              <a:rPr lang="en-US" sz="2600" b="1">
                <a:solidFill>
                  <a:schemeClr val="bg1"/>
                </a:solidFill>
                <a:effectLst>
                  <a:outerShdw blurRad="38100" dist="38100" dir="2700000" algn="tl">
                    <a:srgbClr val="000000"/>
                  </a:outerShdw>
                </a:effectLst>
                <a:latin typeface="Arial" charset="0"/>
              </a:rPr>
              <a:t>Sécurité</a:t>
            </a:r>
          </a:p>
        </p:txBody>
      </p:sp>
      <p:sp>
        <p:nvSpPr>
          <p:cNvPr id="67590" name="Rectangle 6"/>
          <p:cNvSpPr>
            <a:spLocks noChangeArrowheads="1"/>
          </p:cNvSpPr>
          <p:nvPr/>
        </p:nvSpPr>
        <p:spPr bwMode="auto">
          <a:xfrm>
            <a:off x="76201" y="1772603"/>
            <a:ext cx="1584960" cy="747712"/>
          </a:xfrm>
          <a:prstGeom prst="rect">
            <a:avLst/>
          </a:prstGeom>
          <a:gradFill rotWithShape="0">
            <a:gsLst>
              <a:gs pos="0">
                <a:srgbClr val="FFCC66"/>
              </a:gs>
              <a:gs pos="100000">
                <a:srgbClr val="FCFEB9"/>
              </a:gs>
            </a:gsLst>
            <a:lin ang="0" scaled="1"/>
          </a:gradFill>
          <a:ln w="9525">
            <a:solidFill>
              <a:schemeClr val="tx1"/>
            </a:solidFill>
            <a:miter lim="800000"/>
            <a:headEnd/>
            <a:tailEnd/>
          </a:ln>
          <a:effectLst/>
        </p:spPr>
        <p:txBody>
          <a:bodyPr wrap="none" anchor="ctr"/>
          <a:lstStyle/>
          <a:p>
            <a:pPr algn="ctr"/>
            <a:r>
              <a:rPr lang="en-US" sz="2200" b="1">
                <a:latin typeface="Arial" charset="0"/>
              </a:rPr>
              <a:t>PAP</a:t>
            </a:r>
          </a:p>
        </p:txBody>
      </p:sp>
      <p:sp>
        <p:nvSpPr>
          <p:cNvPr id="67591" name="Rectangle 7"/>
          <p:cNvSpPr>
            <a:spLocks noChangeArrowheads="1"/>
          </p:cNvSpPr>
          <p:nvPr/>
        </p:nvSpPr>
        <p:spPr bwMode="auto">
          <a:xfrm>
            <a:off x="1664653" y="1772603"/>
            <a:ext cx="1352550" cy="747712"/>
          </a:xfrm>
          <a:prstGeom prst="rect">
            <a:avLst/>
          </a:prstGeom>
          <a:solidFill>
            <a:srgbClr val="FFFFFF"/>
          </a:solidFill>
          <a:ln w="9525">
            <a:solidFill>
              <a:schemeClr val="tx1"/>
            </a:solidFill>
            <a:miter lim="800000"/>
            <a:headEnd/>
            <a:tailEnd/>
          </a:ln>
          <a:effectLst/>
        </p:spPr>
        <p:txBody>
          <a:bodyPr lIns="45720" rIns="45720" anchor="ctr"/>
          <a:lstStyle/>
          <a:p>
            <a:pPr algn="ctr"/>
            <a:r>
              <a:rPr lang="en-US" sz="2200" b="1" i="1" dirty="0" err="1">
                <a:solidFill>
                  <a:srgbClr val="CC0099"/>
                </a:solidFill>
                <a:latin typeface="Arial" charset="0"/>
              </a:rPr>
              <a:t>Minimale</a:t>
            </a:r>
            <a:endParaRPr lang="en-US" sz="2200" b="1" i="1" dirty="0">
              <a:solidFill>
                <a:srgbClr val="CC0099"/>
              </a:solidFill>
              <a:latin typeface="Arial" charset="0"/>
            </a:endParaRPr>
          </a:p>
        </p:txBody>
      </p:sp>
      <p:sp>
        <p:nvSpPr>
          <p:cNvPr id="67592" name="Rectangle 8"/>
          <p:cNvSpPr>
            <a:spLocks noChangeArrowheads="1"/>
          </p:cNvSpPr>
          <p:nvPr/>
        </p:nvSpPr>
        <p:spPr bwMode="auto">
          <a:xfrm>
            <a:off x="76201" y="2520315"/>
            <a:ext cx="1584960" cy="1119188"/>
          </a:xfrm>
          <a:prstGeom prst="rect">
            <a:avLst/>
          </a:prstGeom>
          <a:gradFill rotWithShape="0">
            <a:gsLst>
              <a:gs pos="0">
                <a:srgbClr val="FFCC66"/>
              </a:gs>
              <a:gs pos="100000">
                <a:srgbClr val="FCFEB9"/>
              </a:gs>
            </a:gsLst>
            <a:lin ang="0" scaled="1"/>
          </a:gradFill>
          <a:ln w="9525">
            <a:solidFill>
              <a:schemeClr val="tx1"/>
            </a:solidFill>
            <a:miter lim="800000"/>
            <a:headEnd/>
            <a:tailEnd/>
          </a:ln>
          <a:effectLst/>
        </p:spPr>
        <p:txBody>
          <a:bodyPr wrap="none" anchor="ctr"/>
          <a:lstStyle/>
          <a:p>
            <a:pPr algn="ctr"/>
            <a:r>
              <a:rPr lang="en-US" sz="2200" b="1">
                <a:latin typeface="Arial" charset="0"/>
              </a:rPr>
              <a:t>SPAP</a:t>
            </a:r>
          </a:p>
        </p:txBody>
      </p:sp>
      <p:sp>
        <p:nvSpPr>
          <p:cNvPr id="67593" name="Rectangle 9"/>
          <p:cNvSpPr>
            <a:spLocks noChangeArrowheads="1"/>
          </p:cNvSpPr>
          <p:nvPr/>
        </p:nvSpPr>
        <p:spPr bwMode="auto">
          <a:xfrm>
            <a:off x="1664653" y="2520315"/>
            <a:ext cx="1352550" cy="1119188"/>
          </a:xfrm>
          <a:prstGeom prst="rect">
            <a:avLst/>
          </a:prstGeom>
          <a:solidFill>
            <a:srgbClr val="FFFFFF"/>
          </a:solidFill>
          <a:ln w="9525">
            <a:solidFill>
              <a:schemeClr val="tx1"/>
            </a:solidFill>
            <a:miter lim="800000"/>
            <a:headEnd/>
            <a:tailEnd/>
          </a:ln>
          <a:effectLst/>
        </p:spPr>
        <p:txBody>
          <a:bodyPr wrap="none" lIns="45720" rIns="45720" anchor="ctr"/>
          <a:lstStyle/>
          <a:p>
            <a:pPr algn="ctr"/>
            <a:r>
              <a:rPr lang="en-US" sz="2200" b="1" i="1">
                <a:solidFill>
                  <a:srgbClr val="CC0099"/>
                </a:solidFill>
                <a:latin typeface="Arial" charset="0"/>
              </a:rPr>
              <a:t>Moyenne</a:t>
            </a:r>
          </a:p>
        </p:txBody>
      </p:sp>
      <p:sp>
        <p:nvSpPr>
          <p:cNvPr id="67594" name="Rectangle 10"/>
          <p:cNvSpPr>
            <a:spLocks noChangeArrowheads="1"/>
          </p:cNvSpPr>
          <p:nvPr/>
        </p:nvSpPr>
        <p:spPr bwMode="auto">
          <a:xfrm>
            <a:off x="76201" y="3639503"/>
            <a:ext cx="1584960" cy="747712"/>
          </a:xfrm>
          <a:prstGeom prst="rect">
            <a:avLst/>
          </a:prstGeom>
          <a:gradFill rotWithShape="0">
            <a:gsLst>
              <a:gs pos="0">
                <a:srgbClr val="FFCC66"/>
              </a:gs>
              <a:gs pos="100000">
                <a:srgbClr val="FCFEB9"/>
              </a:gs>
            </a:gsLst>
            <a:lin ang="0" scaled="1"/>
          </a:gradFill>
          <a:ln w="9525">
            <a:solidFill>
              <a:schemeClr val="tx1"/>
            </a:solidFill>
            <a:miter lim="800000"/>
            <a:headEnd/>
            <a:tailEnd/>
          </a:ln>
          <a:effectLst/>
        </p:spPr>
        <p:txBody>
          <a:bodyPr wrap="none" anchor="ctr"/>
          <a:lstStyle/>
          <a:p>
            <a:pPr algn="ctr"/>
            <a:r>
              <a:rPr lang="en-US" sz="2200" b="1">
                <a:latin typeface="Arial" charset="0"/>
              </a:rPr>
              <a:t>CHAP</a:t>
            </a:r>
          </a:p>
        </p:txBody>
      </p:sp>
      <p:sp>
        <p:nvSpPr>
          <p:cNvPr id="67595" name="Rectangle 11"/>
          <p:cNvSpPr>
            <a:spLocks noChangeArrowheads="1"/>
          </p:cNvSpPr>
          <p:nvPr/>
        </p:nvSpPr>
        <p:spPr bwMode="auto">
          <a:xfrm>
            <a:off x="1664653" y="3639503"/>
            <a:ext cx="1352550" cy="747712"/>
          </a:xfrm>
          <a:prstGeom prst="rect">
            <a:avLst/>
          </a:prstGeom>
          <a:solidFill>
            <a:srgbClr val="FFFFFF"/>
          </a:solidFill>
          <a:ln w="9525">
            <a:solidFill>
              <a:schemeClr val="tx1"/>
            </a:solidFill>
            <a:miter lim="800000"/>
            <a:headEnd/>
            <a:tailEnd/>
          </a:ln>
          <a:effectLst/>
        </p:spPr>
        <p:txBody>
          <a:bodyPr wrap="none" lIns="45720" rIns="45720" anchor="ctr"/>
          <a:lstStyle/>
          <a:p>
            <a:pPr algn="ctr"/>
            <a:r>
              <a:rPr lang="en-US" sz="2200" b="1" i="1">
                <a:solidFill>
                  <a:srgbClr val="CC0099"/>
                </a:solidFill>
                <a:latin typeface="Arial" charset="0"/>
              </a:rPr>
              <a:t>Élevée</a:t>
            </a:r>
          </a:p>
        </p:txBody>
      </p:sp>
      <p:sp>
        <p:nvSpPr>
          <p:cNvPr id="67596" name="Rectangle 12"/>
          <p:cNvSpPr>
            <a:spLocks noChangeArrowheads="1"/>
          </p:cNvSpPr>
          <p:nvPr/>
        </p:nvSpPr>
        <p:spPr bwMode="auto">
          <a:xfrm>
            <a:off x="76201" y="4387215"/>
            <a:ext cx="1584960" cy="1044575"/>
          </a:xfrm>
          <a:prstGeom prst="rect">
            <a:avLst/>
          </a:prstGeom>
          <a:gradFill rotWithShape="0">
            <a:gsLst>
              <a:gs pos="0">
                <a:srgbClr val="FFCC66"/>
              </a:gs>
              <a:gs pos="100000">
                <a:srgbClr val="FCFEB9"/>
              </a:gs>
            </a:gsLst>
            <a:lin ang="0" scaled="1"/>
          </a:gradFill>
          <a:ln w="9525">
            <a:solidFill>
              <a:schemeClr val="tx1"/>
            </a:solidFill>
            <a:miter lim="800000"/>
            <a:headEnd/>
            <a:tailEnd/>
          </a:ln>
          <a:effectLst/>
        </p:spPr>
        <p:txBody>
          <a:bodyPr wrap="none" anchor="ctr"/>
          <a:lstStyle/>
          <a:p>
            <a:pPr algn="ctr"/>
            <a:r>
              <a:rPr lang="en-US" sz="2200" b="1">
                <a:latin typeface="Arial" charset="0"/>
              </a:rPr>
              <a:t>MS-CHAP</a:t>
            </a:r>
          </a:p>
        </p:txBody>
      </p:sp>
      <p:sp>
        <p:nvSpPr>
          <p:cNvPr id="67597" name="Rectangle 13"/>
          <p:cNvSpPr>
            <a:spLocks noChangeArrowheads="1"/>
          </p:cNvSpPr>
          <p:nvPr/>
        </p:nvSpPr>
        <p:spPr bwMode="auto">
          <a:xfrm>
            <a:off x="1664653" y="4387215"/>
            <a:ext cx="1352550" cy="1044575"/>
          </a:xfrm>
          <a:prstGeom prst="rect">
            <a:avLst/>
          </a:prstGeom>
          <a:solidFill>
            <a:srgbClr val="FFFFFF"/>
          </a:solidFill>
          <a:ln w="9525">
            <a:solidFill>
              <a:schemeClr val="tx1"/>
            </a:solidFill>
            <a:miter lim="800000"/>
            <a:headEnd/>
            <a:tailEnd/>
          </a:ln>
          <a:effectLst/>
        </p:spPr>
        <p:txBody>
          <a:bodyPr wrap="none" lIns="45720" rIns="45720" anchor="ctr"/>
          <a:lstStyle/>
          <a:p>
            <a:pPr algn="ctr"/>
            <a:r>
              <a:rPr lang="en-US" sz="2200" b="1" i="1">
                <a:solidFill>
                  <a:srgbClr val="CC0099"/>
                </a:solidFill>
                <a:latin typeface="Arial" charset="0"/>
              </a:rPr>
              <a:t>Élevée</a:t>
            </a:r>
          </a:p>
        </p:txBody>
      </p:sp>
      <p:sp>
        <p:nvSpPr>
          <p:cNvPr id="67598" name="Rectangle 14"/>
          <p:cNvSpPr>
            <a:spLocks noChangeArrowheads="1"/>
          </p:cNvSpPr>
          <p:nvPr/>
        </p:nvSpPr>
        <p:spPr bwMode="auto">
          <a:xfrm>
            <a:off x="3017203" y="1250315"/>
            <a:ext cx="5989637" cy="522288"/>
          </a:xfrm>
          <a:prstGeom prst="rect">
            <a:avLst/>
          </a:prstGeom>
          <a:gradFill rotWithShape="0">
            <a:gsLst>
              <a:gs pos="0">
                <a:srgbClr val="6699FF">
                  <a:gamma/>
                  <a:shade val="46275"/>
                  <a:invGamma/>
                </a:srgbClr>
              </a:gs>
              <a:gs pos="50000">
                <a:srgbClr val="6699FF"/>
              </a:gs>
              <a:gs pos="100000">
                <a:srgbClr val="6699FF">
                  <a:gamma/>
                  <a:shade val="46275"/>
                  <a:invGamma/>
                </a:srgbClr>
              </a:gs>
            </a:gsLst>
            <a:lin ang="0" scaled="1"/>
          </a:gradFill>
          <a:ln w="9525">
            <a:solidFill>
              <a:schemeClr val="tx1"/>
            </a:solidFill>
            <a:miter lim="800000"/>
            <a:headEnd/>
            <a:tailEnd/>
          </a:ln>
          <a:effectLst/>
        </p:spPr>
        <p:txBody>
          <a:bodyPr wrap="none" lIns="45720" rIns="45720" anchor="ctr"/>
          <a:lstStyle/>
          <a:p>
            <a:pPr algn="ctr"/>
            <a:r>
              <a:rPr lang="en-US" sz="2600" b="1" dirty="0">
                <a:solidFill>
                  <a:schemeClr val="bg1"/>
                </a:solidFill>
                <a:effectLst>
                  <a:outerShdw blurRad="38100" dist="38100" dir="2700000" algn="tl">
                    <a:srgbClr val="000000"/>
                  </a:outerShdw>
                </a:effectLst>
                <a:latin typeface="Arial" charset="0"/>
              </a:rPr>
              <a:t>À </a:t>
            </a:r>
            <a:r>
              <a:rPr lang="en-US" sz="2600" b="1" dirty="0" err="1">
                <a:solidFill>
                  <a:schemeClr val="bg1"/>
                </a:solidFill>
                <a:effectLst>
                  <a:outerShdw blurRad="38100" dist="38100" dir="2700000" algn="tl">
                    <a:srgbClr val="000000"/>
                  </a:outerShdw>
                </a:effectLst>
                <a:latin typeface="Arial" charset="0"/>
              </a:rPr>
              <a:t>utiliser</a:t>
            </a:r>
            <a:r>
              <a:rPr lang="en-US" sz="2600" b="1" dirty="0">
                <a:solidFill>
                  <a:schemeClr val="bg1"/>
                </a:solidFill>
                <a:effectLst>
                  <a:outerShdw blurRad="38100" dist="38100" dir="2700000" algn="tl">
                    <a:srgbClr val="000000"/>
                  </a:outerShdw>
                </a:effectLst>
                <a:latin typeface="Arial" charset="0"/>
              </a:rPr>
              <a:t> </a:t>
            </a:r>
            <a:r>
              <a:rPr lang="en-US" sz="2600" b="1" dirty="0" err="1">
                <a:solidFill>
                  <a:schemeClr val="bg1"/>
                </a:solidFill>
                <a:effectLst>
                  <a:outerShdw blurRad="38100" dist="38100" dir="2700000" algn="tl">
                    <a:srgbClr val="000000"/>
                  </a:outerShdw>
                </a:effectLst>
                <a:latin typeface="Arial" charset="0"/>
              </a:rPr>
              <a:t>quand</a:t>
            </a:r>
            <a:endParaRPr lang="en-US" sz="2600" b="1" dirty="0">
              <a:solidFill>
                <a:schemeClr val="bg1"/>
              </a:solidFill>
              <a:effectLst>
                <a:outerShdw blurRad="38100" dist="38100" dir="2700000" algn="tl">
                  <a:srgbClr val="000000"/>
                </a:outerShdw>
              </a:effectLst>
              <a:latin typeface="Arial" charset="0"/>
            </a:endParaRPr>
          </a:p>
        </p:txBody>
      </p:sp>
      <p:sp>
        <p:nvSpPr>
          <p:cNvPr id="67599" name="Rectangle 15"/>
          <p:cNvSpPr>
            <a:spLocks noChangeArrowheads="1"/>
          </p:cNvSpPr>
          <p:nvPr/>
        </p:nvSpPr>
        <p:spPr bwMode="auto">
          <a:xfrm>
            <a:off x="3017203" y="1772603"/>
            <a:ext cx="5989637" cy="747712"/>
          </a:xfrm>
          <a:prstGeom prst="rect">
            <a:avLst/>
          </a:prstGeom>
          <a:solidFill>
            <a:srgbClr val="FFFFFF"/>
          </a:solidFill>
          <a:ln w="9525">
            <a:solidFill>
              <a:schemeClr val="tx1"/>
            </a:solidFill>
            <a:miter lim="800000"/>
            <a:headEnd/>
            <a:tailEnd/>
          </a:ln>
          <a:effectLst/>
        </p:spPr>
        <p:txBody>
          <a:bodyPr lIns="118800" rIns="45720" anchor="ctr"/>
          <a:lstStyle/>
          <a:p>
            <a:r>
              <a:rPr lang="en-US" sz="2100" b="1" dirty="0">
                <a:latin typeface="Arial" charset="0"/>
              </a:rPr>
              <a:t>Le client et le </a:t>
            </a:r>
            <a:r>
              <a:rPr lang="en-US" sz="2100" b="1" dirty="0" err="1">
                <a:latin typeface="Arial" charset="0"/>
              </a:rPr>
              <a:t>serveur</a:t>
            </a:r>
            <a:r>
              <a:rPr lang="en-US" sz="2100" b="1" dirty="0">
                <a:latin typeface="Arial" charset="0"/>
              </a:rPr>
              <a:t> ne </a:t>
            </a:r>
            <a:r>
              <a:rPr lang="en-US" sz="2100" b="1" dirty="0" err="1">
                <a:latin typeface="Arial" charset="0"/>
              </a:rPr>
              <a:t>peuvent</a:t>
            </a:r>
            <a:r>
              <a:rPr lang="en-US" sz="2100" b="1" dirty="0">
                <a:latin typeface="Arial" charset="0"/>
              </a:rPr>
              <a:t> pas </a:t>
            </a:r>
            <a:r>
              <a:rPr lang="en-US" sz="2100" b="1" dirty="0" err="1">
                <a:latin typeface="Arial" charset="0"/>
              </a:rPr>
              <a:t>négocier</a:t>
            </a:r>
            <a:r>
              <a:rPr lang="en-US" sz="2100" b="1" dirty="0">
                <a:latin typeface="Arial" charset="0"/>
              </a:rPr>
              <a:t> en </a:t>
            </a:r>
            <a:r>
              <a:rPr lang="en-US" sz="2100" b="1" dirty="0" err="1">
                <a:latin typeface="Arial" charset="0"/>
              </a:rPr>
              <a:t>utilisant</a:t>
            </a:r>
            <a:r>
              <a:rPr lang="en-US" sz="2100" b="1" dirty="0">
                <a:latin typeface="Arial" charset="0"/>
              </a:rPr>
              <a:t> </a:t>
            </a:r>
            <a:r>
              <a:rPr lang="en-US" sz="2100" b="1" dirty="0" err="1">
                <a:latin typeface="Arial" charset="0"/>
              </a:rPr>
              <a:t>une</a:t>
            </a:r>
            <a:r>
              <a:rPr lang="en-US" sz="2100" b="1" dirty="0">
                <a:latin typeface="Arial" charset="0"/>
              </a:rPr>
              <a:t> validation plus </a:t>
            </a:r>
            <a:r>
              <a:rPr lang="en-US" sz="2100" b="1" dirty="0" err="1">
                <a:latin typeface="Arial" charset="0"/>
              </a:rPr>
              <a:t>sûre</a:t>
            </a:r>
            <a:endParaRPr lang="en-US" sz="2100" b="1" dirty="0">
              <a:latin typeface="Arial" charset="0"/>
            </a:endParaRPr>
          </a:p>
        </p:txBody>
      </p:sp>
      <p:sp>
        <p:nvSpPr>
          <p:cNvPr id="67600" name="Rectangle 16"/>
          <p:cNvSpPr>
            <a:spLocks noChangeArrowheads="1"/>
          </p:cNvSpPr>
          <p:nvPr/>
        </p:nvSpPr>
        <p:spPr bwMode="auto">
          <a:xfrm>
            <a:off x="3017203" y="2520315"/>
            <a:ext cx="5989637" cy="1119188"/>
          </a:xfrm>
          <a:prstGeom prst="rect">
            <a:avLst/>
          </a:prstGeom>
          <a:solidFill>
            <a:srgbClr val="FFFFFF"/>
          </a:solidFill>
          <a:ln w="9525">
            <a:solidFill>
              <a:schemeClr val="tx1"/>
            </a:solidFill>
            <a:miter lim="800000"/>
            <a:headEnd/>
            <a:tailEnd/>
          </a:ln>
          <a:effectLst/>
        </p:spPr>
        <p:txBody>
          <a:bodyPr lIns="118800" rIns="45720" anchor="ctr"/>
          <a:lstStyle/>
          <a:p>
            <a:r>
              <a:rPr lang="en-US" sz="2100" b="1">
                <a:latin typeface="Arial" charset="0"/>
              </a:rPr>
              <a:t>Un client Shiva appelle un serveur Windows Server, ou un client Windows XP appelle un serveur Shiva Server</a:t>
            </a:r>
          </a:p>
        </p:txBody>
      </p:sp>
      <p:sp>
        <p:nvSpPr>
          <p:cNvPr id="67601" name="Rectangle 17"/>
          <p:cNvSpPr>
            <a:spLocks noChangeArrowheads="1"/>
          </p:cNvSpPr>
          <p:nvPr/>
        </p:nvSpPr>
        <p:spPr bwMode="auto">
          <a:xfrm>
            <a:off x="3017203" y="3639503"/>
            <a:ext cx="5989637" cy="747712"/>
          </a:xfrm>
          <a:prstGeom prst="rect">
            <a:avLst/>
          </a:prstGeom>
          <a:solidFill>
            <a:srgbClr val="FFFFFF"/>
          </a:solidFill>
          <a:ln w="9525">
            <a:solidFill>
              <a:schemeClr val="tx1"/>
            </a:solidFill>
            <a:miter lim="800000"/>
            <a:headEnd/>
            <a:tailEnd/>
          </a:ln>
          <a:effectLst/>
        </p:spPr>
        <p:txBody>
          <a:bodyPr lIns="118800" rIns="45720" anchor="ctr"/>
          <a:lstStyle/>
          <a:p>
            <a:r>
              <a:rPr lang="en-US" sz="2100" b="1">
                <a:latin typeface="Arial" charset="0"/>
              </a:rPr>
              <a:t>Des clients n'exécutent pas de systèmes d'exploitation Microsoft</a:t>
            </a:r>
          </a:p>
        </p:txBody>
      </p:sp>
      <p:sp>
        <p:nvSpPr>
          <p:cNvPr id="67602" name="Rectangle 18"/>
          <p:cNvSpPr>
            <a:spLocks noChangeArrowheads="1"/>
          </p:cNvSpPr>
          <p:nvPr/>
        </p:nvSpPr>
        <p:spPr bwMode="auto">
          <a:xfrm>
            <a:off x="3017203" y="4387215"/>
            <a:ext cx="5989637" cy="1044575"/>
          </a:xfrm>
          <a:prstGeom prst="rect">
            <a:avLst/>
          </a:prstGeom>
          <a:solidFill>
            <a:srgbClr val="FFFF00"/>
          </a:solidFill>
          <a:ln w="9525">
            <a:solidFill>
              <a:schemeClr val="tx1"/>
            </a:solidFill>
            <a:miter lim="800000"/>
            <a:headEnd/>
            <a:tailEnd/>
          </a:ln>
          <a:effectLst/>
        </p:spPr>
        <p:txBody>
          <a:bodyPr lIns="118800" rIns="45720" anchor="ctr"/>
          <a:lstStyle/>
          <a:p>
            <a:r>
              <a:rPr lang="en-US" sz="2100" b="1">
                <a:latin typeface="Arial" charset="0"/>
              </a:rPr>
              <a:t>Des clients exécutent Windows NT </a:t>
            </a:r>
            <a:br>
              <a:rPr lang="en-US" sz="2100" b="1">
                <a:latin typeface="Arial" charset="0"/>
              </a:rPr>
            </a:br>
            <a:r>
              <a:rPr lang="en-US" sz="2100" b="1">
                <a:latin typeface="Arial" charset="0"/>
              </a:rPr>
              <a:t>versions 4.0 et ultérieure, ou Microsoft Windows versions 95 et ultérieure</a:t>
            </a:r>
          </a:p>
        </p:txBody>
      </p:sp>
      <p:sp>
        <p:nvSpPr>
          <p:cNvPr id="67603" name="Rectangle 19"/>
          <p:cNvSpPr>
            <a:spLocks noChangeArrowheads="1"/>
          </p:cNvSpPr>
          <p:nvPr/>
        </p:nvSpPr>
        <p:spPr bwMode="auto">
          <a:xfrm>
            <a:off x="76201" y="5431790"/>
            <a:ext cx="1584960" cy="1274763"/>
          </a:xfrm>
          <a:prstGeom prst="rect">
            <a:avLst/>
          </a:prstGeom>
          <a:gradFill rotWithShape="0">
            <a:gsLst>
              <a:gs pos="0">
                <a:srgbClr val="FFCC66"/>
              </a:gs>
              <a:gs pos="100000">
                <a:srgbClr val="FCFEB9"/>
              </a:gs>
            </a:gsLst>
            <a:lin ang="0" scaled="1"/>
          </a:gradFill>
          <a:ln w="9525">
            <a:solidFill>
              <a:schemeClr val="tx1"/>
            </a:solidFill>
            <a:miter lim="800000"/>
            <a:headEnd/>
            <a:tailEnd/>
          </a:ln>
          <a:effectLst/>
        </p:spPr>
        <p:txBody>
          <a:bodyPr wrap="none" anchor="ctr"/>
          <a:lstStyle/>
          <a:p>
            <a:pPr algn="ctr"/>
            <a:r>
              <a:rPr lang="en-US" sz="2200" b="1">
                <a:latin typeface="Arial" charset="0"/>
              </a:rPr>
              <a:t>MS-CHAP</a:t>
            </a:r>
          </a:p>
          <a:p>
            <a:pPr algn="ctr"/>
            <a:r>
              <a:rPr lang="en-US" sz="2200" b="1">
                <a:latin typeface="Arial" charset="0"/>
              </a:rPr>
              <a:t>v2</a:t>
            </a:r>
          </a:p>
        </p:txBody>
      </p:sp>
      <p:sp>
        <p:nvSpPr>
          <p:cNvPr id="67604" name="Rectangle 20"/>
          <p:cNvSpPr>
            <a:spLocks noChangeArrowheads="1"/>
          </p:cNvSpPr>
          <p:nvPr/>
        </p:nvSpPr>
        <p:spPr bwMode="auto">
          <a:xfrm>
            <a:off x="1664653" y="5431790"/>
            <a:ext cx="1352550" cy="1274763"/>
          </a:xfrm>
          <a:prstGeom prst="rect">
            <a:avLst/>
          </a:prstGeom>
          <a:solidFill>
            <a:srgbClr val="FFFFFF"/>
          </a:solidFill>
          <a:ln w="9525">
            <a:solidFill>
              <a:schemeClr val="tx1"/>
            </a:solidFill>
            <a:miter lim="800000"/>
            <a:headEnd/>
            <a:tailEnd/>
          </a:ln>
          <a:effectLst/>
        </p:spPr>
        <p:txBody>
          <a:bodyPr wrap="none" lIns="45720" rIns="45720" anchor="ctr"/>
          <a:lstStyle/>
          <a:p>
            <a:pPr algn="ctr"/>
            <a:r>
              <a:rPr lang="en-US" sz="2200" b="1" i="1">
                <a:solidFill>
                  <a:srgbClr val="CC0099"/>
                </a:solidFill>
                <a:latin typeface="Arial" charset="0"/>
              </a:rPr>
              <a:t>Élevée</a:t>
            </a:r>
          </a:p>
        </p:txBody>
      </p:sp>
      <p:sp>
        <p:nvSpPr>
          <p:cNvPr id="67605" name="Rectangle 21"/>
          <p:cNvSpPr>
            <a:spLocks noChangeArrowheads="1"/>
          </p:cNvSpPr>
          <p:nvPr/>
        </p:nvSpPr>
        <p:spPr bwMode="auto">
          <a:xfrm>
            <a:off x="3017203" y="5431790"/>
            <a:ext cx="5989637" cy="1274763"/>
          </a:xfrm>
          <a:prstGeom prst="rect">
            <a:avLst/>
          </a:prstGeom>
          <a:solidFill>
            <a:srgbClr val="FFFF00"/>
          </a:solidFill>
          <a:ln w="9525">
            <a:solidFill>
              <a:schemeClr val="tx1"/>
            </a:solidFill>
            <a:miter lim="800000"/>
            <a:headEnd/>
            <a:tailEnd/>
          </a:ln>
          <a:effectLst/>
        </p:spPr>
        <p:txBody>
          <a:bodyPr lIns="118800" rIns="45720" anchor="ctr"/>
          <a:lstStyle/>
          <a:p>
            <a:r>
              <a:rPr lang="en-US" sz="2100" b="1">
                <a:latin typeface="Arial" charset="0"/>
              </a:rPr>
              <a:t>Des clients d'accès à distance exécutent Windows versions 2000 ou ultérieure, ou des clients VPN exécutent Windows NT 4.0 ou Windows versions 98 ou ultérieure</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2" name="Rectangle 4"/>
          <p:cNvSpPr>
            <a:spLocks noGrp="1" noChangeArrowheads="1"/>
          </p:cNvSpPr>
          <p:nvPr>
            <p:ph type="title"/>
          </p:nvPr>
        </p:nvSpPr>
        <p:spPr/>
        <p:txBody>
          <a:bodyPr vert="horz" anchor="b">
            <a:normAutofit/>
          </a:bodyPr>
          <a:lstStyle/>
          <a:p>
            <a:r>
              <a:rPr lang="fr-FR" dirty="0">
                <a:solidFill>
                  <a:srgbClr val="C00000"/>
                </a:solidFill>
              </a:rPr>
              <a:t>Protocoles EAP</a:t>
            </a:r>
            <a:endParaRPr lang="en-US" dirty="0">
              <a:solidFill>
                <a:srgbClr val="C00000"/>
              </a:solidFill>
            </a:endParaRPr>
          </a:p>
        </p:txBody>
      </p:sp>
      <p:sp>
        <p:nvSpPr>
          <p:cNvPr id="68613" name="Rectangle 5"/>
          <p:cNvSpPr>
            <a:spLocks noGrp="1" noChangeArrowheads="1"/>
          </p:cNvSpPr>
          <p:nvPr>
            <p:ph sz="quarter" idx="1"/>
          </p:nvPr>
        </p:nvSpPr>
        <p:spPr>
          <a:xfrm>
            <a:off x="164592" y="1527048"/>
            <a:ext cx="8842248" cy="4572000"/>
          </a:xfrm>
        </p:spPr>
        <p:txBody>
          <a:bodyPr/>
          <a:lstStyle/>
          <a:p>
            <a:pPr>
              <a:buClrTx/>
              <a:buFont typeface="Wingdings" pitchFamily="2" charset="2"/>
              <a:buChar char="Ø"/>
            </a:pPr>
            <a:r>
              <a:rPr lang="fr-FR" dirty="0"/>
              <a:t>Permet au client et au serveur de négocier la méthode d'authentification qu'ils utiliseront</a:t>
            </a:r>
          </a:p>
          <a:p>
            <a:pPr>
              <a:buClrTx/>
              <a:buFont typeface="Wingdings" pitchFamily="2" charset="2"/>
              <a:buChar char="Ø"/>
            </a:pPr>
            <a:r>
              <a:rPr lang="fr-FR" dirty="0"/>
              <a:t>Prend en charge l'authentification avec </a:t>
            </a:r>
          </a:p>
          <a:p>
            <a:pPr lvl="1"/>
            <a:r>
              <a:rPr lang="fr-FR" sz="2400" dirty="0">
                <a:solidFill>
                  <a:srgbClr val="002060"/>
                </a:solidFill>
              </a:rPr>
              <a:t>MD5-CHAP</a:t>
            </a:r>
          </a:p>
          <a:p>
            <a:pPr lvl="1"/>
            <a:r>
              <a:rPr lang="fr-FR" sz="2400" dirty="0">
                <a:solidFill>
                  <a:srgbClr val="002060"/>
                </a:solidFill>
              </a:rPr>
              <a:t>Transport Layer Security</a:t>
            </a:r>
          </a:p>
          <a:p>
            <a:pPr lvl="1"/>
            <a:r>
              <a:rPr lang="fr-FR" sz="2400" dirty="0">
                <a:solidFill>
                  <a:srgbClr val="002060"/>
                </a:solidFill>
              </a:rPr>
              <a:t>Méthodes d'authentification supplémentaires d'autres fournisseurs </a:t>
            </a:r>
          </a:p>
          <a:p>
            <a:pPr>
              <a:buClrTx/>
              <a:buFont typeface="Wingdings" pitchFamily="2" charset="2"/>
              <a:buChar char="Ø"/>
            </a:pPr>
            <a:r>
              <a:rPr lang="fr-FR" dirty="0"/>
              <a:t>Garantit la prise en charge des futures méthodes d'authentification par le biais d'une interface API</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42" name="Rectangle 10"/>
          <p:cNvSpPr>
            <a:spLocks noGrp="1" noChangeArrowheads="1"/>
          </p:cNvSpPr>
          <p:nvPr>
            <p:ph type="title"/>
          </p:nvPr>
        </p:nvSpPr>
        <p:spPr>
          <a:xfrm>
            <a:off x="0" y="153988"/>
            <a:ext cx="9144000" cy="841375"/>
          </a:xfrm>
        </p:spPr>
        <p:txBody>
          <a:bodyPr vert="horz" anchor="b">
            <a:normAutofit fontScale="90000"/>
          </a:bodyPr>
          <a:lstStyle/>
          <a:p>
            <a:r>
              <a:rPr lang="fr-FR" dirty="0">
                <a:solidFill>
                  <a:srgbClr val="C00000"/>
                </a:solidFill>
              </a:rPr>
              <a:t>Configuration des protocoles d'authentification de client</a:t>
            </a:r>
            <a:endParaRPr lang="en-US" dirty="0">
              <a:solidFill>
                <a:srgbClr val="C00000"/>
              </a:solidFill>
            </a:endParaRPr>
          </a:p>
        </p:txBody>
      </p:sp>
      <p:pic>
        <p:nvPicPr>
          <p:cNvPr id="69644" name="Picture 12" descr="P2272bW10_18-"/>
          <p:cNvPicPr>
            <a:picLocks noGrp="1" noChangeAspect="1" noChangeArrowheads="1"/>
          </p:cNvPicPr>
          <p:nvPr>
            <p:ph sz="quarter" idx="1"/>
          </p:nvPr>
        </p:nvPicPr>
        <p:blipFill>
          <a:blip r:embed="rId2"/>
          <a:srcRect/>
          <a:stretch>
            <a:fillRect/>
          </a:stretch>
        </p:blipFill>
        <p:spPr>
          <a:xfrm>
            <a:off x="1852613" y="1079500"/>
            <a:ext cx="5416867" cy="5755750"/>
          </a:xfrm>
          <a:noFill/>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5" name="Rectangle 9"/>
          <p:cNvSpPr>
            <a:spLocks noGrp="1" noChangeArrowheads="1"/>
          </p:cNvSpPr>
          <p:nvPr>
            <p:ph type="title"/>
          </p:nvPr>
        </p:nvSpPr>
        <p:spPr/>
        <p:txBody>
          <a:bodyPr vert="horz" anchor="b">
            <a:normAutofit fontScale="90000"/>
          </a:bodyPr>
          <a:lstStyle/>
          <a:p>
            <a:r>
              <a:rPr lang="fr-FR" dirty="0">
                <a:solidFill>
                  <a:srgbClr val="C00000"/>
                </a:solidFill>
              </a:rPr>
              <a:t>Configuration du cryptage des données client</a:t>
            </a:r>
            <a:r>
              <a:rPr lang="en-US" dirty="0">
                <a:solidFill>
                  <a:srgbClr val="C00000"/>
                </a:solidFill>
              </a:rPr>
              <a:t> </a:t>
            </a:r>
          </a:p>
        </p:txBody>
      </p:sp>
      <p:pic>
        <p:nvPicPr>
          <p:cNvPr id="70671" name="Picture 15"/>
          <p:cNvPicPr>
            <a:picLocks noGrp="1" noChangeAspect="1" noChangeArrowheads="1"/>
          </p:cNvPicPr>
          <p:nvPr>
            <p:ph sz="quarter" idx="1"/>
          </p:nvPr>
        </p:nvPicPr>
        <p:blipFill>
          <a:blip r:embed="rId2"/>
          <a:srcRect/>
          <a:stretch>
            <a:fillRect/>
          </a:stretch>
        </p:blipFill>
        <p:spPr>
          <a:xfrm>
            <a:off x="173037" y="2074544"/>
            <a:ext cx="8732387" cy="3046095"/>
          </a:xfrm>
          <a:noFill/>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Rectangle 4"/>
          <p:cNvSpPr>
            <a:spLocks noGrp="1" noChangeArrowheads="1"/>
          </p:cNvSpPr>
          <p:nvPr>
            <p:ph type="title"/>
          </p:nvPr>
        </p:nvSpPr>
        <p:spPr/>
        <p:txBody>
          <a:bodyPr/>
          <a:lstStyle/>
          <a:p>
            <a:r>
              <a:rPr lang="en-US" dirty="0" smtClean="0">
                <a:cs typeface="Times New Roman" pitchFamily="18" charset="0"/>
              </a:rPr>
              <a:t>5. </a:t>
            </a:r>
            <a:r>
              <a:rPr lang="fr-FR" dirty="0" smtClean="0">
                <a:solidFill>
                  <a:schemeClr val="tx1"/>
                </a:solidFill>
                <a:cs typeface="Times New Roman" pitchFamily="18" charset="0"/>
              </a:rPr>
              <a:t>Utilisation </a:t>
            </a:r>
            <a:r>
              <a:rPr lang="fr-FR" dirty="0">
                <a:solidFill>
                  <a:schemeClr val="tx1"/>
                </a:solidFill>
                <a:cs typeface="Times New Roman" pitchFamily="18" charset="0"/>
              </a:rPr>
              <a:t>du Bureau à distance</a:t>
            </a:r>
            <a:r>
              <a:rPr lang="fr-FR" dirty="0">
                <a:solidFill>
                  <a:schemeClr val="tx1"/>
                </a:solidFill>
              </a:rPr>
              <a:t> </a:t>
            </a:r>
            <a:endParaRPr lang="en-US" dirty="0">
              <a:solidFill>
                <a:schemeClr val="tx1"/>
              </a:solidFill>
            </a:endParaRPr>
          </a:p>
        </p:txBody>
      </p:sp>
      <p:sp>
        <p:nvSpPr>
          <p:cNvPr id="81925" name="Rectangle 5"/>
          <p:cNvSpPr>
            <a:spLocks noGrp="1" noChangeArrowheads="1"/>
          </p:cNvSpPr>
          <p:nvPr>
            <p:ph sz="quarter" idx="1"/>
          </p:nvPr>
        </p:nvSpPr>
        <p:spPr>
          <a:xfrm>
            <a:off x="286512" y="2167128"/>
            <a:ext cx="8503920" cy="1886712"/>
          </a:xfrm>
        </p:spPr>
        <p:txBody>
          <a:bodyPr>
            <a:normAutofit/>
          </a:bodyPr>
          <a:lstStyle/>
          <a:p>
            <a:pPr>
              <a:buClr>
                <a:schemeClr val="tx2"/>
              </a:buClr>
              <a:buFont typeface="Wingdings" pitchFamily="2" charset="2"/>
              <a:buChar char="Ø"/>
            </a:pPr>
            <a:r>
              <a:rPr lang="fr-FR" sz="2800" dirty="0"/>
              <a:t>Examen de la fonctionnalité Bureau à distance </a:t>
            </a:r>
            <a:endParaRPr lang="en-US" sz="2800" dirty="0"/>
          </a:p>
          <a:p>
            <a:pPr>
              <a:buClr>
                <a:schemeClr val="tx2"/>
              </a:buClr>
              <a:buFont typeface="Wingdings" pitchFamily="2" charset="2"/>
              <a:buChar char="Ø"/>
            </a:pPr>
            <a:r>
              <a:rPr lang="fr-FR" sz="2800" dirty="0"/>
              <a:t>Configuration des ordinateurs pour utiliser le Bureau à distance </a:t>
            </a:r>
            <a:endParaRPr lang="en-US" sz="28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vert="horz" anchor="b">
            <a:normAutofit fontScale="90000"/>
          </a:bodyPr>
          <a:lstStyle/>
          <a:p>
            <a:r>
              <a:rPr lang="fr-FR" sz="3000" dirty="0">
                <a:solidFill>
                  <a:srgbClr val="C00000"/>
                </a:solidFill>
              </a:rPr>
              <a:t>Examen de la fonctionnalité Bureau à distance</a:t>
            </a:r>
            <a:endParaRPr lang="en-US" sz="3000" dirty="0">
              <a:solidFill>
                <a:srgbClr val="C00000"/>
              </a:solidFill>
            </a:endParaRPr>
          </a:p>
        </p:txBody>
      </p:sp>
      <p:sp>
        <p:nvSpPr>
          <p:cNvPr id="72709" name="Rectangle 5"/>
          <p:cNvSpPr>
            <a:spLocks noChangeArrowheads="1"/>
          </p:cNvSpPr>
          <p:nvPr/>
        </p:nvSpPr>
        <p:spPr bwMode="auto">
          <a:xfrm>
            <a:off x="0" y="3825241"/>
            <a:ext cx="6202680" cy="2392680"/>
          </a:xfrm>
          <a:prstGeom prst="rect">
            <a:avLst/>
          </a:prstGeom>
          <a:gradFill rotWithShape="0">
            <a:gsLst>
              <a:gs pos="0">
                <a:srgbClr val="FFFFCC"/>
              </a:gs>
              <a:gs pos="100000">
                <a:srgbClr val="FFFFFF"/>
              </a:gs>
            </a:gsLst>
            <a:lin ang="0" scaled="1"/>
          </a:gradFill>
          <a:ln w="9525">
            <a:noFill/>
            <a:miter lim="800000"/>
            <a:headEnd/>
            <a:tailEnd/>
          </a:ln>
          <a:effectLst/>
        </p:spPr>
        <p:txBody>
          <a:bodyPr lIns="274320" rIns="640080" anchor="ctr"/>
          <a:lstStyle/>
          <a:p>
            <a:pPr marL="176213" indent="-176213">
              <a:spcBef>
                <a:spcPct val="50000"/>
              </a:spcBef>
              <a:buFontTx/>
              <a:buChar char="•"/>
            </a:pPr>
            <a:r>
              <a:rPr lang="en-US" sz="2600" b="1" dirty="0">
                <a:latin typeface="Arial" charset="0"/>
              </a:rPr>
              <a:t>Le client Terminal Server </a:t>
            </a:r>
            <a:r>
              <a:rPr lang="en-US" sz="2600" b="1" dirty="0" err="1">
                <a:latin typeface="Arial" charset="0"/>
              </a:rPr>
              <a:t>doit</a:t>
            </a:r>
            <a:r>
              <a:rPr lang="en-US" sz="2600" b="1" dirty="0">
                <a:latin typeface="Arial" charset="0"/>
              </a:rPr>
              <a:t> </a:t>
            </a:r>
            <a:r>
              <a:rPr lang="en-US" sz="2600" b="1" dirty="0" err="1">
                <a:latin typeface="Arial" charset="0"/>
              </a:rPr>
              <a:t>être</a:t>
            </a:r>
            <a:r>
              <a:rPr lang="en-US" sz="2600" b="1" dirty="0">
                <a:latin typeface="Arial" charset="0"/>
              </a:rPr>
              <a:t> </a:t>
            </a:r>
            <a:r>
              <a:rPr lang="en-US" sz="2600" b="1" dirty="0" err="1">
                <a:latin typeface="Arial" charset="0"/>
              </a:rPr>
              <a:t>installé</a:t>
            </a:r>
            <a:r>
              <a:rPr lang="en-US" sz="2600" b="1" dirty="0">
                <a:latin typeface="Arial" charset="0"/>
              </a:rPr>
              <a:t> </a:t>
            </a:r>
            <a:r>
              <a:rPr lang="en-US" sz="2600" b="1" dirty="0" err="1">
                <a:latin typeface="Arial" charset="0"/>
              </a:rPr>
              <a:t>sur</a:t>
            </a:r>
            <a:r>
              <a:rPr lang="en-US" sz="2600" b="1" dirty="0">
                <a:latin typeface="Arial" charset="0"/>
              </a:rPr>
              <a:t> </a:t>
            </a:r>
            <a:r>
              <a:rPr lang="en-US" sz="2600" b="1" dirty="0" err="1">
                <a:latin typeface="Arial" charset="0"/>
              </a:rPr>
              <a:t>l'ordinateur</a:t>
            </a:r>
            <a:r>
              <a:rPr lang="en-US" sz="2600" b="1" dirty="0">
                <a:latin typeface="Arial" charset="0"/>
              </a:rPr>
              <a:t>, </a:t>
            </a:r>
            <a:r>
              <a:rPr lang="en-US" sz="2600" b="1" dirty="0" err="1">
                <a:latin typeface="Arial" charset="0"/>
              </a:rPr>
              <a:t>ou</a:t>
            </a:r>
            <a:r>
              <a:rPr lang="en-US" sz="2600" b="1" dirty="0">
                <a:latin typeface="Arial" charset="0"/>
              </a:rPr>
              <a:t> </a:t>
            </a:r>
            <a:r>
              <a:rPr lang="en-US" sz="2600" b="1" dirty="0" err="1">
                <a:latin typeface="Arial" charset="0"/>
              </a:rPr>
              <a:t>l'ordinateur</a:t>
            </a:r>
            <a:r>
              <a:rPr lang="en-US" sz="2600" b="1" dirty="0">
                <a:latin typeface="Arial" charset="0"/>
              </a:rPr>
              <a:t> </a:t>
            </a:r>
            <a:r>
              <a:rPr lang="en-US" sz="2600" b="1" dirty="0" err="1">
                <a:latin typeface="Arial" charset="0"/>
              </a:rPr>
              <a:t>doit</a:t>
            </a:r>
            <a:r>
              <a:rPr lang="en-US" sz="2600" b="1" dirty="0">
                <a:latin typeface="Arial" charset="0"/>
              </a:rPr>
              <a:t> </a:t>
            </a:r>
            <a:r>
              <a:rPr lang="en-US" sz="2600" b="1" dirty="0" err="1">
                <a:latin typeface="Arial" charset="0"/>
              </a:rPr>
              <a:t>être</a:t>
            </a:r>
            <a:r>
              <a:rPr lang="en-US" sz="2600" b="1" dirty="0">
                <a:latin typeface="Arial" charset="0"/>
              </a:rPr>
              <a:t> </a:t>
            </a:r>
            <a:r>
              <a:rPr lang="en-US" sz="2600" b="1" dirty="0" err="1">
                <a:latin typeface="Arial" charset="0"/>
              </a:rPr>
              <a:t>configuré</a:t>
            </a:r>
            <a:r>
              <a:rPr lang="en-US" sz="2600" b="1" dirty="0">
                <a:latin typeface="Arial" charset="0"/>
              </a:rPr>
              <a:t> pour </a:t>
            </a:r>
            <a:r>
              <a:rPr lang="en-US" sz="2600" b="1" dirty="0" err="1">
                <a:latin typeface="Arial" charset="0"/>
              </a:rPr>
              <a:t>utiliser</a:t>
            </a:r>
            <a:r>
              <a:rPr lang="en-US" sz="2600" b="1" dirty="0">
                <a:latin typeface="Arial" charset="0"/>
              </a:rPr>
              <a:t> le Bureau à distance</a:t>
            </a:r>
          </a:p>
        </p:txBody>
      </p:sp>
      <p:sp>
        <p:nvSpPr>
          <p:cNvPr id="72740" name="Rectangle 36"/>
          <p:cNvSpPr>
            <a:spLocks noChangeArrowheads="1"/>
          </p:cNvSpPr>
          <p:nvPr/>
        </p:nvSpPr>
        <p:spPr bwMode="auto">
          <a:xfrm>
            <a:off x="2590482" y="1434783"/>
            <a:ext cx="6492558" cy="2055177"/>
          </a:xfrm>
          <a:prstGeom prst="rect">
            <a:avLst/>
          </a:prstGeom>
          <a:gradFill rotWithShape="0">
            <a:gsLst>
              <a:gs pos="0">
                <a:srgbClr val="FFFFCC"/>
              </a:gs>
              <a:gs pos="100000">
                <a:srgbClr val="FFFFFF"/>
              </a:gs>
            </a:gsLst>
            <a:lin ang="0" scaled="1"/>
          </a:gradFill>
          <a:ln w="9525">
            <a:noFill/>
            <a:miter lim="800000"/>
            <a:headEnd/>
            <a:tailEnd/>
          </a:ln>
          <a:effectLst/>
        </p:spPr>
        <p:txBody>
          <a:bodyPr lIns="274320" rIns="640080" anchor="ctr"/>
          <a:lstStyle/>
          <a:p>
            <a:pPr marL="176213" indent="-176213">
              <a:spcBef>
                <a:spcPct val="50000"/>
              </a:spcBef>
              <a:buFontTx/>
              <a:buChar char="•"/>
            </a:pPr>
            <a:r>
              <a:rPr lang="en-US" sz="2600" b="1" dirty="0" err="1">
                <a:latin typeface="Arial" charset="0"/>
              </a:rPr>
              <a:t>Doit</a:t>
            </a:r>
            <a:r>
              <a:rPr lang="en-US" sz="2600" b="1" dirty="0">
                <a:latin typeface="Arial" charset="0"/>
              </a:rPr>
              <a:t> </a:t>
            </a:r>
            <a:r>
              <a:rPr lang="en-US" sz="2600" b="1" dirty="0" err="1">
                <a:latin typeface="Arial" charset="0"/>
              </a:rPr>
              <a:t>exécuter</a:t>
            </a:r>
            <a:r>
              <a:rPr lang="en-US" sz="2600" b="1" dirty="0">
                <a:latin typeface="Arial" charset="0"/>
              </a:rPr>
              <a:t> Windows XP</a:t>
            </a:r>
          </a:p>
          <a:p>
            <a:pPr marL="176213" indent="-176213">
              <a:spcBef>
                <a:spcPct val="50000"/>
              </a:spcBef>
              <a:buFontTx/>
              <a:buChar char="•"/>
            </a:pPr>
            <a:r>
              <a:rPr lang="en-US" sz="2600" b="1" dirty="0" err="1">
                <a:latin typeface="Arial" charset="0"/>
              </a:rPr>
              <a:t>Doit</a:t>
            </a:r>
            <a:r>
              <a:rPr lang="en-US" sz="2600" b="1" dirty="0">
                <a:latin typeface="Arial" charset="0"/>
              </a:rPr>
              <a:t> </a:t>
            </a:r>
            <a:r>
              <a:rPr lang="en-US" sz="2600" b="1" dirty="0" err="1">
                <a:latin typeface="Arial" charset="0"/>
              </a:rPr>
              <a:t>être</a:t>
            </a:r>
            <a:r>
              <a:rPr lang="en-US" sz="2600" b="1" dirty="0">
                <a:latin typeface="Arial" charset="0"/>
              </a:rPr>
              <a:t> </a:t>
            </a:r>
            <a:r>
              <a:rPr lang="en-US" sz="2600" b="1" dirty="0" err="1">
                <a:latin typeface="Arial" charset="0"/>
              </a:rPr>
              <a:t>configuré</a:t>
            </a:r>
            <a:r>
              <a:rPr lang="en-US" sz="2600" b="1" dirty="0">
                <a:latin typeface="Arial" charset="0"/>
              </a:rPr>
              <a:t> </a:t>
            </a:r>
            <a:r>
              <a:rPr lang="en-US" sz="2600" b="1" dirty="0" smtClean="0">
                <a:latin typeface="Arial" charset="0"/>
              </a:rPr>
              <a:t>pour accepter </a:t>
            </a:r>
            <a:r>
              <a:rPr lang="en-US" sz="2600" b="1" dirty="0">
                <a:latin typeface="Arial" charset="0"/>
              </a:rPr>
              <a:t>les </a:t>
            </a:r>
            <a:r>
              <a:rPr lang="en-US" sz="2600" b="1" dirty="0" err="1">
                <a:latin typeface="Arial" charset="0"/>
              </a:rPr>
              <a:t>connexions</a:t>
            </a:r>
            <a:r>
              <a:rPr lang="en-US" sz="2600" b="1" dirty="0">
                <a:latin typeface="Arial" charset="0"/>
              </a:rPr>
              <a:t> </a:t>
            </a:r>
            <a:r>
              <a:rPr lang="en-US" sz="2600" b="1" dirty="0" err="1">
                <a:latin typeface="Arial" charset="0"/>
              </a:rPr>
              <a:t>entrantes</a:t>
            </a:r>
            <a:endParaRPr lang="en-US" sz="2600" b="1" dirty="0">
              <a:latin typeface="Arial" charset="0"/>
            </a:endParaRPr>
          </a:p>
        </p:txBody>
      </p:sp>
      <p:grpSp>
        <p:nvGrpSpPr>
          <p:cNvPr id="72710" name="Group 6"/>
          <p:cNvGrpSpPr>
            <a:grpSpLocks/>
          </p:cNvGrpSpPr>
          <p:nvPr/>
        </p:nvGrpSpPr>
        <p:grpSpPr bwMode="auto">
          <a:xfrm>
            <a:off x="204788" y="1212850"/>
            <a:ext cx="2284412" cy="2519363"/>
            <a:chOff x="908" y="1002"/>
            <a:chExt cx="1439" cy="1587"/>
          </a:xfrm>
        </p:grpSpPr>
        <p:grpSp>
          <p:nvGrpSpPr>
            <p:cNvPr id="72711" name="Group 7"/>
            <p:cNvGrpSpPr>
              <a:grpSpLocks/>
            </p:cNvGrpSpPr>
            <p:nvPr/>
          </p:nvGrpSpPr>
          <p:grpSpPr bwMode="auto">
            <a:xfrm>
              <a:off x="908" y="1002"/>
              <a:ext cx="1439" cy="1587"/>
              <a:chOff x="2967" y="2733"/>
              <a:chExt cx="789" cy="870"/>
            </a:xfrm>
          </p:grpSpPr>
          <p:grpSp>
            <p:nvGrpSpPr>
              <p:cNvPr id="72712" name="Group 8"/>
              <p:cNvGrpSpPr>
                <a:grpSpLocks/>
              </p:cNvGrpSpPr>
              <p:nvPr/>
            </p:nvGrpSpPr>
            <p:grpSpPr bwMode="auto">
              <a:xfrm>
                <a:off x="2967" y="3191"/>
                <a:ext cx="763" cy="412"/>
                <a:chOff x="1929" y="1343"/>
                <a:chExt cx="763" cy="412"/>
              </a:xfrm>
            </p:grpSpPr>
            <p:sp>
              <p:nvSpPr>
                <p:cNvPr id="72713" name="Freeform 9"/>
                <p:cNvSpPr>
                  <a:spLocks noChangeAspect="1"/>
                </p:cNvSpPr>
                <p:nvPr/>
              </p:nvSpPr>
              <p:spPr bwMode="auto">
                <a:xfrm>
                  <a:off x="2428" y="1450"/>
                  <a:ext cx="263" cy="305"/>
                </a:xfrm>
                <a:custGeom>
                  <a:avLst/>
                  <a:gdLst/>
                  <a:ahLst/>
                  <a:cxnLst>
                    <a:cxn ang="0">
                      <a:pos x="3" y="212"/>
                    </a:cxn>
                    <a:cxn ang="0">
                      <a:pos x="364" y="0"/>
                    </a:cxn>
                    <a:cxn ang="0">
                      <a:pos x="364" y="180"/>
                    </a:cxn>
                    <a:cxn ang="0">
                      <a:pos x="0" y="422"/>
                    </a:cxn>
                  </a:cxnLst>
                  <a:rect l="0" t="0" r="r" b="b"/>
                  <a:pathLst>
                    <a:path w="364" h="422">
                      <a:moveTo>
                        <a:pt x="3" y="212"/>
                      </a:moveTo>
                      <a:lnTo>
                        <a:pt x="364" y="0"/>
                      </a:lnTo>
                      <a:lnTo>
                        <a:pt x="364" y="180"/>
                      </a:lnTo>
                      <a:lnTo>
                        <a:pt x="0" y="422"/>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72714" name="Freeform 10"/>
                <p:cNvSpPr>
                  <a:spLocks noChangeAspect="1"/>
                </p:cNvSpPr>
                <p:nvPr/>
              </p:nvSpPr>
              <p:spPr bwMode="auto">
                <a:xfrm>
                  <a:off x="1929" y="1343"/>
                  <a:ext cx="763" cy="264"/>
                </a:xfrm>
                <a:custGeom>
                  <a:avLst/>
                  <a:gdLst/>
                  <a:ahLst/>
                  <a:cxnLst>
                    <a:cxn ang="0">
                      <a:pos x="715" y="376"/>
                    </a:cxn>
                    <a:cxn ang="0">
                      <a:pos x="0" y="187"/>
                    </a:cxn>
                    <a:cxn ang="0">
                      <a:pos x="397" y="0"/>
                    </a:cxn>
                    <a:cxn ang="0">
                      <a:pos x="1090" y="152"/>
                    </a:cxn>
                    <a:cxn ang="0">
                      <a:pos x="715" y="376"/>
                    </a:cxn>
                  </a:cxnLst>
                  <a:rect l="0" t="0" r="r" b="b"/>
                  <a:pathLst>
                    <a:path w="1091" h="377">
                      <a:moveTo>
                        <a:pt x="715" y="376"/>
                      </a:moveTo>
                      <a:lnTo>
                        <a:pt x="0" y="187"/>
                      </a:lnTo>
                      <a:lnTo>
                        <a:pt x="397" y="0"/>
                      </a:lnTo>
                      <a:lnTo>
                        <a:pt x="1090" y="152"/>
                      </a:lnTo>
                      <a:lnTo>
                        <a:pt x="715" y="376"/>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72715" name="Freeform 11"/>
                <p:cNvSpPr>
                  <a:spLocks noChangeAspect="1"/>
                </p:cNvSpPr>
                <p:nvPr/>
              </p:nvSpPr>
              <p:spPr bwMode="auto">
                <a:xfrm>
                  <a:off x="1929" y="1473"/>
                  <a:ext cx="499" cy="282"/>
                </a:xfrm>
                <a:custGeom>
                  <a:avLst/>
                  <a:gdLst/>
                  <a:ahLst/>
                  <a:cxnLst>
                    <a:cxn ang="0">
                      <a:pos x="0" y="5"/>
                    </a:cxn>
                    <a:cxn ang="0">
                      <a:pos x="0" y="192"/>
                    </a:cxn>
                    <a:cxn ang="0">
                      <a:pos x="690" y="390"/>
                    </a:cxn>
                    <a:cxn ang="0">
                      <a:pos x="690" y="185"/>
                    </a:cxn>
                    <a:cxn ang="0">
                      <a:pos x="4" y="0"/>
                    </a:cxn>
                  </a:cxnLst>
                  <a:rect l="0" t="0" r="r" b="b"/>
                  <a:pathLst>
                    <a:path w="690" h="390">
                      <a:moveTo>
                        <a:pt x="0" y="5"/>
                      </a:moveTo>
                      <a:lnTo>
                        <a:pt x="0" y="192"/>
                      </a:lnTo>
                      <a:lnTo>
                        <a:pt x="690" y="390"/>
                      </a:lnTo>
                      <a:lnTo>
                        <a:pt x="690" y="185"/>
                      </a:lnTo>
                      <a:lnTo>
                        <a:pt x="4" y="0"/>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72716" name="Freeform 12"/>
                <p:cNvSpPr>
                  <a:spLocks noChangeAspect="1"/>
                </p:cNvSpPr>
                <p:nvPr/>
              </p:nvSpPr>
              <p:spPr bwMode="auto">
                <a:xfrm>
                  <a:off x="2190" y="1573"/>
                  <a:ext cx="196" cy="137"/>
                </a:xfrm>
                <a:custGeom>
                  <a:avLst/>
                  <a:gdLst/>
                  <a:ahLst/>
                  <a:cxnLst>
                    <a:cxn ang="0">
                      <a:pos x="0" y="0"/>
                    </a:cxn>
                    <a:cxn ang="0">
                      <a:pos x="271" y="73"/>
                    </a:cxn>
                    <a:cxn ang="0">
                      <a:pos x="271" y="189"/>
                    </a:cxn>
                    <a:cxn ang="0">
                      <a:pos x="0" y="115"/>
                    </a:cxn>
                    <a:cxn ang="0">
                      <a:pos x="0" y="0"/>
                    </a:cxn>
                  </a:cxnLst>
                  <a:rect l="0" t="0" r="r" b="b"/>
                  <a:pathLst>
                    <a:path w="271" h="189">
                      <a:moveTo>
                        <a:pt x="0" y="0"/>
                      </a:moveTo>
                      <a:lnTo>
                        <a:pt x="271" y="73"/>
                      </a:lnTo>
                      <a:lnTo>
                        <a:pt x="271" y="189"/>
                      </a:lnTo>
                      <a:lnTo>
                        <a:pt x="0" y="115"/>
                      </a:lnTo>
                      <a:lnTo>
                        <a:pt x="0" y="0"/>
                      </a:lnTo>
                    </a:path>
                  </a:pathLst>
                </a:custGeom>
                <a:gradFill rotWithShape="0">
                  <a:gsLst>
                    <a:gs pos="0">
                      <a:srgbClr val="B2B2B2"/>
                    </a:gs>
                    <a:gs pos="100000">
                      <a:srgbClr val="B2B2B2">
                        <a:gamma/>
                        <a:tint val="41176"/>
                        <a:invGamma/>
                      </a:srgbClr>
                    </a:gs>
                  </a:gsLst>
                  <a:lin ang="2700000" scaled="1"/>
                </a:gradFill>
                <a:ln w="6350" cap="rnd" cmpd="sng">
                  <a:noFill/>
                  <a:prstDash val="solid"/>
                  <a:round/>
                  <a:headEnd type="none" w="med" len="med"/>
                  <a:tailEnd type="none" w="med" len="med"/>
                </a:ln>
                <a:effectLst/>
              </p:spPr>
              <p:txBody>
                <a:bodyPr/>
                <a:lstStyle/>
                <a:p>
                  <a:endParaRPr lang="fr-FR"/>
                </a:p>
              </p:txBody>
            </p:sp>
            <p:sp>
              <p:nvSpPr>
                <p:cNvPr id="72717" name="Freeform 13"/>
                <p:cNvSpPr>
                  <a:spLocks noChangeAspect="1" noChangeArrowheads="1"/>
                </p:cNvSpPr>
                <p:nvPr/>
              </p:nvSpPr>
              <p:spPr bwMode="auto">
                <a:xfrm>
                  <a:off x="2194" y="1624"/>
                  <a:ext cx="189" cy="49"/>
                </a:xfrm>
                <a:custGeom>
                  <a:avLst/>
                  <a:gdLst/>
                  <a:ahLst/>
                  <a:cxnLst>
                    <a:cxn ang="0">
                      <a:pos x="0" y="0"/>
                    </a:cxn>
                    <a:cxn ang="0">
                      <a:pos x="261" y="69"/>
                    </a:cxn>
                  </a:cxnLst>
                  <a:rect l="0" t="0" r="r" b="b"/>
                  <a:pathLst>
                    <a:path w="261" h="69">
                      <a:moveTo>
                        <a:pt x="0" y="0"/>
                      </a:moveTo>
                      <a:lnTo>
                        <a:pt x="261" y="69"/>
                      </a:lnTo>
                    </a:path>
                  </a:pathLst>
                </a:custGeom>
                <a:noFill/>
                <a:ln w="3175">
                  <a:solidFill>
                    <a:srgbClr val="777777"/>
                  </a:solidFill>
                  <a:round/>
                  <a:headEnd/>
                  <a:tailEnd/>
                </a:ln>
                <a:effectLst/>
              </p:spPr>
              <p:txBody>
                <a:bodyPr wrap="none" anchor="ctr"/>
                <a:lstStyle/>
                <a:p>
                  <a:endParaRPr lang="fr-FR"/>
                </a:p>
              </p:txBody>
            </p:sp>
            <p:sp>
              <p:nvSpPr>
                <p:cNvPr id="72718" name="Freeform 14"/>
                <p:cNvSpPr>
                  <a:spLocks/>
                </p:cNvSpPr>
                <p:nvPr/>
              </p:nvSpPr>
              <p:spPr bwMode="auto">
                <a:xfrm>
                  <a:off x="2190" y="1572"/>
                  <a:ext cx="195" cy="84"/>
                </a:xfrm>
                <a:custGeom>
                  <a:avLst/>
                  <a:gdLst/>
                  <a:ahLst/>
                  <a:cxnLst>
                    <a:cxn ang="0">
                      <a:pos x="0" y="84"/>
                    </a:cxn>
                    <a:cxn ang="0">
                      <a:pos x="0" y="0"/>
                    </a:cxn>
                    <a:cxn ang="0">
                      <a:pos x="195" y="54"/>
                    </a:cxn>
                  </a:cxnLst>
                  <a:rect l="0" t="0" r="r" b="b"/>
                  <a:pathLst>
                    <a:path w="195" h="84">
                      <a:moveTo>
                        <a:pt x="0" y="84"/>
                      </a:moveTo>
                      <a:lnTo>
                        <a:pt x="0" y="0"/>
                      </a:lnTo>
                      <a:lnTo>
                        <a:pt x="195" y="54"/>
                      </a:lnTo>
                    </a:path>
                  </a:pathLst>
                </a:custGeom>
                <a:noFill/>
                <a:ln w="6350" cap="flat" cmpd="sng">
                  <a:solidFill>
                    <a:srgbClr val="777777"/>
                  </a:solidFill>
                  <a:prstDash val="solid"/>
                  <a:round/>
                  <a:headEnd type="none" w="med" len="med"/>
                  <a:tailEnd type="none" w="med" len="med"/>
                </a:ln>
                <a:effectLst/>
              </p:spPr>
              <p:txBody>
                <a:bodyPr wrap="none" tIns="27432" bIns="27432" anchor="ctr">
                  <a:spAutoFit/>
                </a:bodyPr>
                <a:lstStyle/>
                <a:p>
                  <a:endParaRPr lang="fr-FR"/>
                </a:p>
              </p:txBody>
            </p:sp>
            <p:sp>
              <p:nvSpPr>
                <p:cNvPr id="72719" name="Line 15"/>
                <p:cNvSpPr>
                  <a:spLocks noChangeShapeType="1"/>
                </p:cNvSpPr>
                <p:nvPr/>
              </p:nvSpPr>
              <p:spPr bwMode="auto">
                <a:xfrm>
                  <a:off x="2207" y="1600"/>
                  <a:ext cx="153" cy="38"/>
                </a:xfrm>
                <a:prstGeom prst="line">
                  <a:avLst/>
                </a:prstGeom>
                <a:noFill/>
                <a:ln w="3175">
                  <a:solidFill>
                    <a:srgbClr val="777777"/>
                  </a:solidFill>
                  <a:round/>
                  <a:headEnd/>
                  <a:tailEnd/>
                </a:ln>
                <a:effectLst/>
              </p:spPr>
              <p:txBody>
                <a:bodyPr wrap="none" tIns="27432" bIns="27432" anchor="ctr">
                  <a:spAutoFit/>
                </a:bodyPr>
                <a:lstStyle/>
                <a:p>
                  <a:endParaRPr lang="fr-FR"/>
                </a:p>
              </p:txBody>
            </p:sp>
            <p:sp>
              <p:nvSpPr>
                <p:cNvPr id="72720" name="Line 16"/>
                <p:cNvSpPr>
                  <a:spLocks noChangeShapeType="1"/>
                </p:cNvSpPr>
                <p:nvPr/>
              </p:nvSpPr>
              <p:spPr bwMode="auto">
                <a:xfrm>
                  <a:off x="2337" y="1678"/>
                  <a:ext cx="29" cy="6"/>
                </a:xfrm>
                <a:prstGeom prst="line">
                  <a:avLst/>
                </a:prstGeom>
                <a:noFill/>
                <a:ln w="19050">
                  <a:solidFill>
                    <a:srgbClr val="D60093"/>
                  </a:solidFill>
                  <a:round/>
                  <a:headEnd/>
                  <a:tailEnd/>
                </a:ln>
                <a:effectLst/>
              </p:spPr>
              <p:txBody>
                <a:bodyPr wrap="none" tIns="27432" bIns="27432" anchor="ctr">
                  <a:spAutoFit/>
                </a:bodyPr>
                <a:lstStyle/>
                <a:p>
                  <a:endParaRPr lang="fr-FR"/>
                </a:p>
              </p:txBody>
            </p:sp>
            <p:sp>
              <p:nvSpPr>
                <p:cNvPr id="72721" name="Freeform 17"/>
                <p:cNvSpPr>
                  <a:spLocks/>
                </p:cNvSpPr>
                <p:nvPr/>
              </p:nvSpPr>
              <p:spPr bwMode="auto">
                <a:xfrm>
                  <a:off x="2255" y="1610"/>
                  <a:ext cx="47" cy="25"/>
                </a:xfrm>
                <a:custGeom>
                  <a:avLst/>
                  <a:gdLst/>
                  <a:ahLst/>
                  <a:cxnLst>
                    <a:cxn ang="0">
                      <a:pos x="0" y="0"/>
                    </a:cxn>
                    <a:cxn ang="0">
                      <a:pos x="1" y="18"/>
                    </a:cxn>
                    <a:cxn ang="0">
                      <a:pos x="64" y="35"/>
                    </a:cxn>
                    <a:cxn ang="0">
                      <a:pos x="64" y="19"/>
                    </a:cxn>
                    <a:cxn ang="0">
                      <a:pos x="0" y="0"/>
                    </a:cxn>
                  </a:cxnLst>
                  <a:rect l="0" t="0" r="r" b="b"/>
                  <a:pathLst>
                    <a:path w="64" h="35">
                      <a:moveTo>
                        <a:pt x="0" y="0"/>
                      </a:moveTo>
                      <a:lnTo>
                        <a:pt x="1" y="18"/>
                      </a:lnTo>
                      <a:lnTo>
                        <a:pt x="64" y="35"/>
                      </a:lnTo>
                      <a:lnTo>
                        <a:pt x="64" y="19"/>
                      </a:lnTo>
                      <a:lnTo>
                        <a:pt x="0" y="0"/>
                      </a:lnTo>
                      <a:close/>
                    </a:path>
                  </a:pathLst>
                </a:custGeom>
                <a:solidFill>
                  <a:srgbClr val="777777"/>
                </a:solidFill>
                <a:ln w="19050" cap="flat" cmpd="sng">
                  <a:noFill/>
                  <a:prstDash val="solid"/>
                  <a:round/>
                  <a:headEnd type="none" w="med" len="med"/>
                  <a:tailEnd type="none" w="med" len="med"/>
                </a:ln>
                <a:effectLst/>
              </p:spPr>
              <p:txBody>
                <a:bodyPr tIns="27432" bIns="27432" anchor="ctr">
                  <a:spAutoFit/>
                </a:bodyPr>
                <a:lstStyle/>
                <a:p>
                  <a:endParaRPr lang="fr-FR"/>
                </a:p>
              </p:txBody>
            </p:sp>
            <p:sp>
              <p:nvSpPr>
                <p:cNvPr id="72722" name="Line 18"/>
                <p:cNvSpPr>
                  <a:spLocks noChangeShapeType="1"/>
                </p:cNvSpPr>
                <p:nvPr/>
              </p:nvSpPr>
              <p:spPr bwMode="auto">
                <a:xfrm>
                  <a:off x="1942" y="1503"/>
                  <a:ext cx="202" cy="57"/>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72723" name="Line 19"/>
                <p:cNvSpPr>
                  <a:spLocks noChangeShapeType="1"/>
                </p:cNvSpPr>
                <p:nvPr/>
              </p:nvSpPr>
              <p:spPr bwMode="auto">
                <a:xfrm>
                  <a:off x="1942" y="1525"/>
                  <a:ext cx="202" cy="56"/>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72724" name="Line 20"/>
                <p:cNvSpPr>
                  <a:spLocks noChangeShapeType="1"/>
                </p:cNvSpPr>
                <p:nvPr/>
              </p:nvSpPr>
              <p:spPr bwMode="auto">
                <a:xfrm>
                  <a:off x="1942" y="1548"/>
                  <a:ext cx="202" cy="57"/>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72725" name="Line 21"/>
                <p:cNvSpPr>
                  <a:spLocks noChangeShapeType="1"/>
                </p:cNvSpPr>
                <p:nvPr/>
              </p:nvSpPr>
              <p:spPr bwMode="auto">
                <a:xfrm>
                  <a:off x="1942" y="1570"/>
                  <a:ext cx="202" cy="56"/>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72726" name="Freeform 22"/>
                <p:cNvSpPr>
                  <a:spLocks/>
                </p:cNvSpPr>
                <p:nvPr/>
              </p:nvSpPr>
              <p:spPr bwMode="auto">
                <a:xfrm>
                  <a:off x="2192" y="1632"/>
                  <a:ext cx="198" cy="84"/>
                </a:xfrm>
                <a:custGeom>
                  <a:avLst/>
                  <a:gdLst/>
                  <a:ahLst/>
                  <a:cxnLst>
                    <a:cxn ang="0">
                      <a:pos x="0" y="40"/>
                    </a:cxn>
                    <a:cxn ang="0">
                      <a:pos x="275" y="117"/>
                    </a:cxn>
                    <a:cxn ang="0">
                      <a:pos x="275" y="0"/>
                    </a:cxn>
                  </a:cxnLst>
                  <a:rect l="0" t="0" r="r" b="b"/>
                  <a:pathLst>
                    <a:path w="275" h="117">
                      <a:moveTo>
                        <a:pt x="0" y="40"/>
                      </a:moveTo>
                      <a:lnTo>
                        <a:pt x="275" y="117"/>
                      </a:lnTo>
                      <a:lnTo>
                        <a:pt x="275" y="0"/>
                      </a:lnTo>
                    </a:path>
                  </a:pathLst>
                </a:custGeom>
                <a:noFill/>
                <a:ln w="6350" cap="flat" cmpd="sng">
                  <a:solidFill>
                    <a:schemeClr val="bg1"/>
                  </a:solidFill>
                  <a:prstDash val="solid"/>
                  <a:round/>
                  <a:headEnd type="none" w="med" len="med"/>
                  <a:tailEnd type="none" w="med" len="med"/>
                </a:ln>
                <a:effectLst/>
              </p:spPr>
              <p:txBody>
                <a:bodyPr wrap="none" tIns="27432" bIns="27432" anchor="ctr">
                  <a:spAutoFit/>
                </a:bodyPr>
                <a:lstStyle/>
                <a:p>
                  <a:endParaRPr lang="fr-FR"/>
                </a:p>
              </p:txBody>
            </p:sp>
          </p:grpSp>
          <p:grpSp>
            <p:nvGrpSpPr>
              <p:cNvPr id="72727" name="Group 23"/>
              <p:cNvGrpSpPr>
                <a:grpSpLocks/>
              </p:cNvGrpSpPr>
              <p:nvPr/>
            </p:nvGrpSpPr>
            <p:grpSpPr bwMode="auto">
              <a:xfrm>
                <a:off x="3042" y="2733"/>
                <a:ext cx="714" cy="672"/>
                <a:chOff x="2004" y="885"/>
                <a:chExt cx="714" cy="672"/>
              </a:xfrm>
            </p:grpSpPr>
            <p:sp>
              <p:nvSpPr>
                <p:cNvPr id="72728" name="Freeform 24"/>
                <p:cNvSpPr>
                  <a:spLocks/>
                </p:cNvSpPr>
                <p:nvPr/>
              </p:nvSpPr>
              <p:spPr bwMode="auto">
                <a:xfrm>
                  <a:off x="2058" y="1322"/>
                  <a:ext cx="556" cy="235"/>
                </a:xfrm>
                <a:custGeom>
                  <a:avLst/>
                  <a:gdLst/>
                  <a:ahLst/>
                  <a:cxnLst>
                    <a:cxn ang="0">
                      <a:pos x="0" y="128"/>
                    </a:cxn>
                    <a:cxn ang="0">
                      <a:pos x="238" y="0"/>
                    </a:cxn>
                    <a:cxn ang="0">
                      <a:pos x="556" y="91"/>
                    </a:cxn>
                    <a:cxn ang="0">
                      <a:pos x="556" y="108"/>
                    </a:cxn>
                    <a:cxn ang="0">
                      <a:pos x="334" y="235"/>
                    </a:cxn>
                    <a:cxn ang="0">
                      <a:pos x="0" y="148"/>
                    </a:cxn>
                    <a:cxn ang="0">
                      <a:pos x="0" y="128"/>
                    </a:cxn>
                  </a:cxnLst>
                  <a:rect l="0" t="0" r="r" b="b"/>
                  <a:pathLst>
                    <a:path w="556" h="235">
                      <a:moveTo>
                        <a:pt x="0" y="128"/>
                      </a:moveTo>
                      <a:lnTo>
                        <a:pt x="238" y="0"/>
                      </a:lnTo>
                      <a:lnTo>
                        <a:pt x="556" y="91"/>
                      </a:lnTo>
                      <a:lnTo>
                        <a:pt x="556" y="108"/>
                      </a:lnTo>
                      <a:lnTo>
                        <a:pt x="334" y="235"/>
                      </a:lnTo>
                      <a:lnTo>
                        <a:pt x="0" y="148"/>
                      </a:lnTo>
                      <a:lnTo>
                        <a:pt x="0" y="128"/>
                      </a:lnTo>
                      <a:close/>
                    </a:path>
                  </a:pathLst>
                </a:custGeom>
                <a:solidFill>
                  <a:srgbClr val="DDDDDD"/>
                </a:solidFill>
                <a:ln w="3175" cap="rnd" cmpd="sng">
                  <a:solidFill>
                    <a:srgbClr val="000000"/>
                  </a:solidFill>
                  <a:prstDash val="solid"/>
                  <a:round/>
                  <a:headEnd type="none" w="med" len="med"/>
                  <a:tailEnd type="none" w="med" len="med"/>
                </a:ln>
                <a:effectLst/>
              </p:spPr>
              <p:txBody>
                <a:bodyPr/>
                <a:lstStyle/>
                <a:p>
                  <a:endParaRPr lang="fr-FR"/>
                </a:p>
              </p:txBody>
            </p:sp>
            <p:sp>
              <p:nvSpPr>
                <p:cNvPr id="72729" name="Freeform 25"/>
                <p:cNvSpPr>
                  <a:spLocks/>
                </p:cNvSpPr>
                <p:nvPr/>
              </p:nvSpPr>
              <p:spPr bwMode="auto">
                <a:xfrm>
                  <a:off x="2065" y="1327"/>
                  <a:ext cx="538" cy="208"/>
                </a:xfrm>
                <a:custGeom>
                  <a:avLst/>
                  <a:gdLst/>
                  <a:ahLst/>
                  <a:cxnLst>
                    <a:cxn ang="0">
                      <a:pos x="0" y="124"/>
                    </a:cxn>
                    <a:cxn ang="0">
                      <a:pos x="327" y="208"/>
                    </a:cxn>
                    <a:cxn ang="0">
                      <a:pos x="538" y="86"/>
                    </a:cxn>
                    <a:cxn ang="0">
                      <a:pos x="233" y="0"/>
                    </a:cxn>
                    <a:cxn ang="0">
                      <a:pos x="0" y="124"/>
                    </a:cxn>
                  </a:cxnLst>
                  <a:rect l="0" t="0" r="r" b="b"/>
                  <a:pathLst>
                    <a:path w="538" h="208">
                      <a:moveTo>
                        <a:pt x="0" y="124"/>
                      </a:moveTo>
                      <a:lnTo>
                        <a:pt x="327" y="208"/>
                      </a:lnTo>
                      <a:lnTo>
                        <a:pt x="538" y="86"/>
                      </a:lnTo>
                      <a:lnTo>
                        <a:pt x="233" y="0"/>
                      </a:lnTo>
                      <a:lnTo>
                        <a:pt x="0" y="124"/>
                      </a:lnTo>
                      <a:close/>
                    </a:path>
                  </a:pathLst>
                </a:custGeom>
                <a:solidFill>
                  <a:srgbClr val="B2B2B2"/>
                </a:solidFill>
                <a:ln w="6350" cap="rnd" cmpd="sng">
                  <a:noFill/>
                  <a:prstDash val="solid"/>
                  <a:round/>
                  <a:headEnd type="none" w="med" len="med"/>
                  <a:tailEnd type="none" w="med" len="med"/>
                </a:ln>
                <a:effectLst/>
              </p:spPr>
              <p:txBody>
                <a:bodyPr/>
                <a:lstStyle/>
                <a:p>
                  <a:endParaRPr lang="fr-FR"/>
                </a:p>
              </p:txBody>
            </p:sp>
            <p:sp>
              <p:nvSpPr>
                <p:cNvPr id="72730" name="Oval 26"/>
                <p:cNvSpPr>
                  <a:spLocks noChangeArrowheads="1"/>
                </p:cNvSpPr>
                <p:nvPr/>
              </p:nvSpPr>
              <p:spPr bwMode="auto">
                <a:xfrm>
                  <a:off x="2199" y="1378"/>
                  <a:ext cx="280" cy="112"/>
                </a:xfrm>
                <a:prstGeom prst="ellipse">
                  <a:avLst/>
                </a:prstGeom>
                <a:solidFill>
                  <a:srgbClr val="B2B2B2"/>
                </a:solidFill>
                <a:ln w="3175" cap="rnd">
                  <a:solidFill>
                    <a:schemeClr val="tx1"/>
                  </a:solidFill>
                  <a:round/>
                  <a:headEnd/>
                  <a:tailEnd/>
                </a:ln>
                <a:effectLst/>
              </p:spPr>
              <p:txBody>
                <a:bodyPr/>
                <a:lstStyle/>
                <a:p>
                  <a:endParaRPr lang="fr-FR"/>
                </a:p>
              </p:txBody>
            </p:sp>
            <p:sp>
              <p:nvSpPr>
                <p:cNvPr id="72731" name="Freeform 27"/>
                <p:cNvSpPr>
                  <a:spLocks/>
                </p:cNvSpPr>
                <p:nvPr/>
              </p:nvSpPr>
              <p:spPr bwMode="auto">
                <a:xfrm>
                  <a:off x="2046" y="1382"/>
                  <a:ext cx="452" cy="126"/>
                </a:xfrm>
                <a:custGeom>
                  <a:avLst/>
                  <a:gdLst/>
                  <a:ahLst/>
                  <a:cxnLst>
                    <a:cxn ang="0">
                      <a:pos x="0" y="0"/>
                    </a:cxn>
                    <a:cxn ang="0">
                      <a:pos x="20" y="36"/>
                    </a:cxn>
                    <a:cxn ang="0">
                      <a:pos x="574" y="180"/>
                    </a:cxn>
                    <a:cxn ang="0">
                      <a:pos x="646" y="158"/>
                    </a:cxn>
                  </a:cxnLst>
                  <a:rect l="0" t="0" r="r" b="b"/>
                  <a:pathLst>
                    <a:path w="646" h="180">
                      <a:moveTo>
                        <a:pt x="0" y="0"/>
                      </a:moveTo>
                      <a:lnTo>
                        <a:pt x="20" y="36"/>
                      </a:lnTo>
                      <a:lnTo>
                        <a:pt x="574" y="180"/>
                      </a:lnTo>
                      <a:lnTo>
                        <a:pt x="646" y="158"/>
                      </a:lnTo>
                    </a:path>
                  </a:pathLst>
                </a:custGeom>
                <a:solidFill>
                  <a:srgbClr val="B2B2B2"/>
                </a:solidFill>
                <a:ln w="3175" cap="rnd" cmpd="sng">
                  <a:solidFill>
                    <a:schemeClr val="tx1"/>
                  </a:solidFill>
                  <a:prstDash val="solid"/>
                  <a:round/>
                  <a:headEnd type="none" w="med" len="med"/>
                  <a:tailEnd type="none" w="med" len="med"/>
                </a:ln>
                <a:effectLst/>
              </p:spPr>
              <p:txBody>
                <a:bodyPr/>
                <a:lstStyle/>
                <a:p>
                  <a:endParaRPr lang="fr-FR"/>
                </a:p>
              </p:txBody>
            </p:sp>
            <p:sp>
              <p:nvSpPr>
                <p:cNvPr id="72732" name="Freeform 28"/>
                <p:cNvSpPr>
                  <a:spLocks noChangeAspect="1"/>
                </p:cNvSpPr>
                <p:nvPr/>
              </p:nvSpPr>
              <p:spPr bwMode="auto">
                <a:xfrm>
                  <a:off x="2154" y="885"/>
                  <a:ext cx="564" cy="520"/>
                </a:xfrm>
                <a:custGeom>
                  <a:avLst/>
                  <a:gdLst/>
                  <a:ahLst/>
                  <a:cxnLst>
                    <a:cxn ang="0">
                      <a:pos x="620" y="746"/>
                    </a:cxn>
                    <a:cxn ang="0">
                      <a:pos x="808" y="525"/>
                    </a:cxn>
                    <a:cxn ang="0">
                      <a:pos x="808" y="106"/>
                    </a:cxn>
                    <a:cxn ang="0">
                      <a:pos x="336" y="0"/>
                    </a:cxn>
                    <a:cxn ang="0">
                      <a:pos x="0" y="48"/>
                    </a:cxn>
                  </a:cxnLst>
                  <a:rect l="0" t="0" r="r" b="b"/>
                  <a:pathLst>
                    <a:path w="808" h="746">
                      <a:moveTo>
                        <a:pt x="620" y="746"/>
                      </a:moveTo>
                      <a:lnTo>
                        <a:pt x="808" y="525"/>
                      </a:lnTo>
                      <a:lnTo>
                        <a:pt x="808" y="106"/>
                      </a:lnTo>
                      <a:lnTo>
                        <a:pt x="336" y="0"/>
                      </a:lnTo>
                      <a:lnTo>
                        <a:pt x="0" y="4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72733" name="Freeform 29"/>
                <p:cNvSpPr>
                  <a:spLocks noChangeAspect="1"/>
                </p:cNvSpPr>
                <p:nvPr/>
              </p:nvSpPr>
              <p:spPr bwMode="auto">
                <a:xfrm>
                  <a:off x="2506" y="1000"/>
                  <a:ext cx="113" cy="506"/>
                </a:xfrm>
                <a:custGeom>
                  <a:avLst/>
                  <a:gdLst/>
                  <a:ahLst/>
                  <a:cxnLst>
                    <a:cxn ang="0">
                      <a:pos x="0" y="644"/>
                    </a:cxn>
                    <a:cxn ang="0">
                      <a:pos x="0" y="79"/>
                    </a:cxn>
                    <a:cxn ang="0">
                      <a:pos x="144" y="0"/>
                    </a:cxn>
                    <a:cxn ang="0">
                      <a:pos x="144" y="554"/>
                    </a:cxn>
                    <a:cxn ang="0">
                      <a:pos x="0" y="644"/>
                    </a:cxn>
                  </a:cxnLst>
                  <a:rect l="0" t="0" r="r" b="b"/>
                  <a:pathLst>
                    <a:path w="144" h="644">
                      <a:moveTo>
                        <a:pt x="0" y="644"/>
                      </a:moveTo>
                      <a:lnTo>
                        <a:pt x="0" y="79"/>
                      </a:lnTo>
                      <a:lnTo>
                        <a:pt x="144" y="0"/>
                      </a:lnTo>
                      <a:lnTo>
                        <a:pt x="144" y="554"/>
                      </a:lnTo>
                      <a:lnTo>
                        <a:pt x="0" y="644"/>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72734" name="Freeform 30"/>
                <p:cNvSpPr>
                  <a:spLocks noChangeAspect="1"/>
                </p:cNvSpPr>
                <p:nvPr/>
              </p:nvSpPr>
              <p:spPr bwMode="auto">
                <a:xfrm>
                  <a:off x="2004" y="891"/>
                  <a:ext cx="615" cy="172"/>
                </a:xfrm>
                <a:custGeom>
                  <a:avLst/>
                  <a:gdLst/>
                  <a:ahLst/>
                  <a:cxnLst>
                    <a:cxn ang="0">
                      <a:pos x="638" y="219"/>
                    </a:cxn>
                    <a:cxn ang="0">
                      <a:pos x="0" y="67"/>
                    </a:cxn>
                    <a:cxn ang="0">
                      <a:pos x="160" y="0"/>
                    </a:cxn>
                    <a:cxn ang="0">
                      <a:pos x="782" y="139"/>
                    </a:cxn>
                    <a:cxn ang="0">
                      <a:pos x="638" y="219"/>
                    </a:cxn>
                  </a:cxnLst>
                  <a:rect l="0" t="0" r="r" b="b"/>
                  <a:pathLst>
                    <a:path w="782" h="219">
                      <a:moveTo>
                        <a:pt x="638" y="219"/>
                      </a:moveTo>
                      <a:lnTo>
                        <a:pt x="0" y="67"/>
                      </a:lnTo>
                      <a:lnTo>
                        <a:pt x="160" y="0"/>
                      </a:lnTo>
                      <a:lnTo>
                        <a:pt x="782" y="139"/>
                      </a:lnTo>
                      <a:lnTo>
                        <a:pt x="638" y="219"/>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sp>
              <p:nvSpPr>
                <p:cNvPr id="72735" name="Freeform 31"/>
                <p:cNvSpPr>
                  <a:spLocks noChangeAspect="1"/>
                </p:cNvSpPr>
                <p:nvPr/>
              </p:nvSpPr>
              <p:spPr bwMode="auto">
                <a:xfrm>
                  <a:off x="2004" y="942"/>
                  <a:ext cx="502" cy="566"/>
                </a:xfrm>
                <a:custGeom>
                  <a:avLst/>
                  <a:gdLst/>
                  <a:ahLst/>
                  <a:cxnLst>
                    <a:cxn ang="0">
                      <a:pos x="671" y="753"/>
                    </a:cxn>
                    <a:cxn ang="0">
                      <a:pos x="671" y="160"/>
                    </a:cxn>
                    <a:cxn ang="0">
                      <a:pos x="0" y="0"/>
                    </a:cxn>
                    <a:cxn ang="0">
                      <a:pos x="0" y="578"/>
                    </a:cxn>
                    <a:cxn ang="0">
                      <a:pos x="671" y="753"/>
                    </a:cxn>
                  </a:cxnLst>
                  <a:rect l="0" t="0" r="r" b="b"/>
                  <a:pathLst>
                    <a:path w="672" h="754">
                      <a:moveTo>
                        <a:pt x="671" y="753"/>
                      </a:moveTo>
                      <a:lnTo>
                        <a:pt x="671" y="160"/>
                      </a:lnTo>
                      <a:lnTo>
                        <a:pt x="0" y="0"/>
                      </a:lnTo>
                      <a:lnTo>
                        <a:pt x="0" y="578"/>
                      </a:lnTo>
                      <a:lnTo>
                        <a:pt x="671" y="753"/>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72736" name="Freeform 32"/>
                <p:cNvSpPr>
                  <a:spLocks noChangeAspect="1"/>
                </p:cNvSpPr>
                <p:nvPr/>
              </p:nvSpPr>
              <p:spPr bwMode="auto">
                <a:xfrm>
                  <a:off x="2043" y="992"/>
                  <a:ext cx="425" cy="464"/>
                </a:xfrm>
                <a:custGeom>
                  <a:avLst/>
                  <a:gdLst/>
                  <a:ahLst/>
                  <a:cxnLst>
                    <a:cxn ang="0">
                      <a:pos x="490" y="548"/>
                    </a:cxn>
                    <a:cxn ang="0">
                      <a:pos x="490" y="117"/>
                    </a:cxn>
                    <a:cxn ang="0">
                      <a:pos x="0" y="0"/>
                    </a:cxn>
                    <a:cxn ang="0">
                      <a:pos x="0" y="424"/>
                    </a:cxn>
                    <a:cxn ang="0">
                      <a:pos x="490" y="548"/>
                    </a:cxn>
                  </a:cxnLst>
                  <a:rect l="0" t="0" r="r" b="b"/>
                  <a:pathLst>
                    <a:path w="491" h="549">
                      <a:moveTo>
                        <a:pt x="490" y="548"/>
                      </a:moveTo>
                      <a:lnTo>
                        <a:pt x="490" y="117"/>
                      </a:lnTo>
                      <a:lnTo>
                        <a:pt x="0" y="0"/>
                      </a:lnTo>
                      <a:lnTo>
                        <a:pt x="0" y="424"/>
                      </a:lnTo>
                      <a:lnTo>
                        <a:pt x="490" y="548"/>
                      </a:lnTo>
                    </a:path>
                  </a:pathLst>
                </a:custGeom>
                <a:solidFill>
                  <a:srgbClr val="CECECE"/>
                </a:solidFill>
                <a:ln w="6350" cap="rnd" cmpd="sng">
                  <a:solidFill>
                    <a:srgbClr val="808080"/>
                  </a:solidFill>
                  <a:prstDash val="solid"/>
                  <a:round/>
                  <a:headEnd type="none" w="med" len="med"/>
                  <a:tailEnd type="none" w="med" len="med"/>
                </a:ln>
                <a:effectLst/>
              </p:spPr>
              <p:txBody>
                <a:bodyPr/>
                <a:lstStyle/>
                <a:p>
                  <a:endParaRPr lang="fr-FR"/>
                </a:p>
              </p:txBody>
            </p:sp>
            <p:sp>
              <p:nvSpPr>
                <p:cNvPr id="72737" name="Freeform 33"/>
                <p:cNvSpPr>
                  <a:spLocks/>
                </p:cNvSpPr>
                <p:nvPr/>
              </p:nvSpPr>
              <p:spPr bwMode="auto">
                <a:xfrm>
                  <a:off x="2069" y="1023"/>
                  <a:ext cx="372" cy="400"/>
                </a:xfrm>
                <a:custGeom>
                  <a:avLst/>
                  <a:gdLst/>
                  <a:ahLst/>
                  <a:cxnLst>
                    <a:cxn ang="0">
                      <a:pos x="0" y="0"/>
                    </a:cxn>
                    <a:cxn ang="0">
                      <a:pos x="0" y="454"/>
                    </a:cxn>
                    <a:cxn ang="0">
                      <a:pos x="542" y="592"/>
                    </a:cxn>
                    <a:cxn ang="0">
                      <a:pos x="542" y="130"/>
                    </a:cxn>
                    <a:cxn ang="0">
                      <a:pos x="0" y="0"/>
                    </a:cxn>
                  </a:cxnLst>
                  <a:rect l="0" t="0" r="r" b="b"/>
                  <a:pathLst>
                    <a:path w="542" h="592">
                      <a:moveTo>
                        <a:pt x="0" y="0"/>
                      </a:moveTo>
                      <a:lnTo>
                        <a:pt x="0" y="454"/>
                      </a:lnTo>
                      <a:lnTo>
                        <a:pt x="542" y="592"/>
                      </a:lnTo>
                      <a:lnTo>
                        <a:pt x="542" y="130"/>
                      </a:lnTo>
                      <a:lnTo>
                        <a:pt x="0" y="0"/>
                      </a:lnTo>
                      <a:close/>
                    </a:path>
                  </a:pathLst>
                </a:custGeom>
                <a:gradFill rotWithShape="0">
                  <a:gsLst>
                    <a:gs pos="0">
                      <a:srgbClr val="618FFD"/>
                    </a:gs>
                    <a:gs pos="100000">
                      <a:srgbClr val="618FFD">
                        <a:gamma/>
                        <a:shade val="75294"/>
                        <a:invGamma/>
                      </a:srgbClr>
                    </a:gs>
                  </a:gsLst>
                  <a:path path="rect">
                    <a:fillToRect r="100000" b="100000"/>
                  </a:path>
                </a:gradFill>
                <a:ln w="6350" cap="flat" cmpd="sng">
                  <a:solidFill>
                    <a:srgbClr val="777777"/>
                  </a:solidFill>
                  <a:prstDash val="solid"/>
                  <a:round/>
                  <a:headEnd type="none" w="med" len="med"/>
                  <a:tailEnd type="none" w="med" len="med"/>
                </a:ln>
                <a:effectLst>
                  <a:outerShdw dist="17961" dir="2700000" algn="ctr" rotWithShape="0">
                    <a:schemeClr val="bg1"/>
                  </a:outerShdw>
                </a:effectLst>
              </p:spPr>
              <p:txBody>
                <a:bodyPr wrap="none" anchor="ctr"/>
                <a:lstStyle/>
                <a:p>
                  <a:endParaRPr lang="fr-FR"/>
                </a:p>
              </p:txBody>
            </p:sp>
            <p:sp>
              <p:nvSpPr>
                <p:cNvPr id="72738" name="Line 34"/>
                <p:cNvSpPr>
                  <a:spLocks noChangeShapeType="1"/>
                </p:cNvSpPr>
                <p:nvPr/>
              </p:nvSpPr>
              <p:spPr bwMode="auto">
                <a:xfrm>
                  <a:off x="2102" y="1056"/>
                  <a:ext cx="0" cy="61"/>
                </a:xfrm>
                <a:prstGeom prst="line">
                  <a:avLst/>
                </a:prstGeom>
                <a:noFill/>
                <a:ln w="25400">
                  <a:solidFill>
                    <a:schemeClr val="bg1"/>
                  </a:solidFill>
                  <a:round/>
                  <a:headEnd/>
                  <a:tailEnd/>
                </a:ln>
                <a:effectLst/>
              </p:spPr>
              <p:txBody>
                <a:bodyPr wrap="none" anchor="ctr"/>
                <a:lstStyle/>
                <a:p>
                  <a:endParaRPr lang="fr-FR"/>
                </a:p>
              </p:txBody>
            </p:sp>
          </p:grpSp>
        </p:grpSp>
        <p:sp>
          <p:nvSpPr>
            <p:cNvPr id="72739" name="Text Box 35"/>
            <p:cNvSpPr txBox="1">
              <a:spLocks noChangeArrowheads="1"/>
            </p:cNvSpPr>
            <p:nvPr/>
          </p:nvSpPr>
          <p:spPr bwMode="auto">
            <a:xfrm>
              <a:off x="1098" y="1390"/>
              <a:ext cx="820" cy="404"/>
            </a:xfrm>
            <a:prstGeom prst="rect">
              <a:avLst/>
            </a:prstGeom>
            <a:noFill/>
            <a:ln w="9525">
              <a:noFill/>
              <a:miter lim="800000"/>
              <a:headEnd/>
              <a:tailEnd/>
            </a:ln>
            <a:effectLst>
              <a:outerShdw dist="28398" dir="1593903" algn="ctr" rotWithShape="0">
                <a:schemeClr val="tx1"/>
              </a:outerShdw>
            </a:effectLst>
          </p:spPr>
          <p:txBody>
            <a:bodyPr wrap="none" anchor="ctr">
              <a:spAutoFit/>
            </a:bodyPr>
            <a:lstStyle/>
            <a:p>
              <a:pPr algn="ctr"/>
              <a:r>
                <a:rPr lang="en-US" sz="1800" b="1">
                  <a:solidFill>
                    <a:schemeClr val="bg1"/>
                  </a:solidFill>
                  <a:latin typeface="Arial" charset="0"/>
                </a:rPr>
                <a:t>Bureau </a:t>
              </a:r>
              <a:br>
                <a:rPr lang="en-US" sz="1800" b="1">
                  <a:solidFill>
                    <a:schemeClr val="bg1"/>
                  </a:solidFill>
                  <a:latin typeface="Arial" charset="0"/>
                </a:rPr>
              </a:br>
              <a:r>
                <a:rPr lang="en-US" sz="1800" b="1">
                  <a:solidFill>
                    <a:schemeClr val="bg1"/>
                  </a:solidFill>
                  <a:latin typeface="Arial" charset="0"/>
                </a:rPr>
                <a:t>à distance</a:t>
              </a:r>
            </a:p>
          </p:txBody>
        </p:sp>
      </p:grpSp>
      <p:grpSp>
        <p:nvGrpSpPr>
          <p:cNvPr id="72741" name="Group 37"/>
          <p:cNvGrpSpPr>
            <a:grpSpLocks/>
          </p:cNvGrpSpPr>
          <p:nvPr/>
        </p:nvGrpSpPr>
        <p:grpSpPr bwMode="auto">
          <a:xfrm>
            <a:off x="6202680" y="3793490"/>
            <a:ext cx="2789238" cy="2767013"/>
            <a:chOff x="3236" y="1819"/>
            <a:chExt cx="1757" cy="1743"/>
          </a:xfrm>
        </p:grpSpPr>
        <p:grpSp>
          <p:nvGrpSpPr>
            <p:cNvPr id="72742" name="Group 38"/>
            <p:cNvGrpSpPr>
              <a:grpSpLocks/>
            </p:cNvGrpSpPr>
            <p:nvPr/>
          </p:nvGrpSpPr>
          <p:grpSpPr bwMode="auto">
            <a:xfrm>
              <a:off x="3236" y="1819"/>
              <a:ext cx="1757" cy="1743"/>
              <a:chOff x="3332" y="1914"/>
              <a:chExt cx="1661" cy="1648"/>
            </a:xfrm>
          </p:grpSpPr>
          <p:sp>
            <p:nvSpPr>
              <p:cNvPr id="72743" name="Freeform 39"/>
              <p:cNvSpPr>
                <a:spLocks noChangeAspect="1"/>
              </p:cNvSpPr>
              <p:nvPr/>
            </p:nvSpPr>
            <p:spPr bwMode="auto">
              <a:xfrm>
                <a:off x="3332" y="1914"/>
                <a:ext cx="1661" cy="1648"/>
              </a:xfrm>
              <a:custGeom>
                <a:avLst/>
                <a:gdLst/>
                <a:ahLst/>
                <a:cxnLst>
                  <a:cxn ang="0">
                    <a:pos x="1175" y="208"/>
                  </a:cxn>
                  <a:cxn ang="0">
                    <a:pos x="1081" y="477"/>
                  </a:cxn>
                  <a:cxn ang="0">
                    <a:pos x="985" y="751"/>
                  </a:cxn>
                  <a:cxn ang="0">
                    <a:pos x="911" y="720"/>
                  </a:cxn>
                  <a:cxn ang="0">
                    <a:pos x="910" y="725"/>
                  </a:cxn>
                  <a:cxn ang="0">
                    <a:pos x="979" y="761"/>
                  </a:cxn>
                  <a:cxn ang="0">
                    <a:pos x="981" y="761"/>
                  </a:cxn>
                  <a:cxn ang="0">
                    <a:pos x="981" y="763"/>
                  </a:cxn>
                  <a:cxn ang="0">
                    <a:pos x="982" y="763"/>
                  </a:cxn>
                  <a:cxn ang="0">
                    <a:pos x="982" y="764"/>
                  </a:cxn>
                  <a:cxn ang="0">
                    <a:pos x="982" y="765"/>
                  </a:cxn>
                  <a:cxn ang="0">
                    <a:pos x="982" y="768"/>
                  </a:cxn>
                  <a:cxn ang="0">
                    <a:pos x="982" y="886"/>
                  </a:cxn>
                  <a:cxn ang="0">
                    <a:pos x="958" y="902"/>
                  </a:cxn>
                  <a:cxn ang="0">
                    <a:pos x="933" y="920"/>
                  </a:cxn>
                  <a:cxn ang="0">
                    <a:pos x="909" y="939"/>
                  </a:cxn>
                  <a:cxn ang="0">
                    <a:pos x="884" y="955"/>
                  </a:cxn>
                  <a:cxn ang="0">
                    <a:pos x="857" y="974"/>
                  </a:cxn>
                  <a:cxn ang="0">
                    <a:pos x="833" y="990"/>
                  </a:cxn>
                  <a:cxn ang="0">
                    <a:pos x="808" y="1009"/>
                  </a:cxn>
                  <a:cxn ang="0">
                    <a:pos x="781" y="1027"/>
                  </a:cxn>
                  <a:cxn ang="0">
                    <a:pos x="757" y="1045"/>
                  </a:cxn>
                  <a:cxn ang="0">
                    <a:pos x="732" y="1061"/>
                  </a:cxn>
                  <a:cxn ang="0">
                    <a:pos x="707" y="1080"/>
                  </a:cxn>
                  <a:cxn ang="0">
                    <a:pos x="682" y="1097"/>
                  </a:cxn>
                  <a:cxn ang="0">
                    <a:pos x="657" y="1115"/>
                  </a:cxn>
                  <a:cxn ang="0">
                    <a:pos x="632" y="1131"/>
                  </a:cxn>
                  <a:cxn ang="0">
                    <a:pos x="582" y="1167"/>
                  </a:cxn>
                  <a:cxn ang="0">
                    <a:pos x="0" y="822"/>
                  </a:cxn>
                  <a:cxn ang="0">
                    <a:pos x="0" y="754"/>
                  </a:cxn>
                  <a:cxn ang="0">
                    <a:pos x="271" y="608"/>
                  </a:cxn>
                  <a:cxn ang="0">
                    <a:pos x="278" y="596"/>
                  </a:cxn>
                  <a:cxn ang="0">
                    <a:pos x="373" y="537"/>
                  </a:cxn>
                  <a:cxn ang="0">
                    <a:pos x="372" y="533"/>
                  </a:cxn>
                  <a:cxn ang="0">
                    <a:pos x="369" y="528"/>
                  </a:cxn>
                  <a:cxn ang="0">
                    <a:pos x="369" y="523"/>
                  </a:cxn>
                  <a:cxn ang="0">
                    <a:pos x="369" y="520"/>
                  </a:cxn>
                  <a:cxn ang="0">
                    <a:pos x="369" y="514"/>
                  </a:cxn>
                  <a:cxn ang="0">
                    <a:pos x="369" y="512"/>
                  </a:cxn>
                  <a:cxn ang="0">
                    <a:pos x="372" y="508"/>
                  </a:cxn>
                  <a:cxn ang="0">
                    <a:pos x="372" y="505"/>
                  </a:cxn>
                  <a:cxn ang="0">
                    <a:pos x="373" y="502"/>
                  </a:cxn>
                  <a:cxn ang="0">
                    <a:pos x="374" y="498"/>
                  </a:cxn>
                  <a:cxn ang="0">
                    <a:pos x="376" y="497"/>
                  </a:cxn>
                  <a:cxn ang="0">
                    <a:pos x="380" y="495"/>
                  </a:cxn>
                  <a:cxn ang="0">
                    <a:pos x="381" y="494"/>
                  </a:cxn>
                  <a:cxn ang="0">
                    <a:pos x="383" y="491"/>
                  </a:cxn>
                  <a:cxn ang="0">
                    <a:pos x="388" y="489"/>
                  </a:cxn>
                  <a:cxn ang="0">
                    <a:pos x="453" y="520"/>
                  </a:cxn>
                  <a:cxn ang="0">
                    <a:pos x="460" y="514"/>
                  </a:cxn>
                  <a:cxn ang="0">
                    <a:pos x="388" y="482"/>
                  </a:cxn>
                  <a:cxn ang="0">
                    <a:pos x="427" y="348"/>
                  </a:cxn>
                  <a:cxn ang="0">
                    <a:pos x="423" y="334"/>
                  </a:cxn>
                  <a:cxn ang="0">
                    <a:pos x="422" y="329"/>
                  </a:cxn>
                  <a:cxn ang="0">
                    <a:pos x="418" y="321"/>
                  </a:cxn>
                  <a:cxn ang="0">
                    <a:pos x="528" y="0"/>
                  </a:cxn>
                  <a:cxn ang="0">
                    <a:pos x="1150" y="193"/>
                  </a:cxn>
                  <a:cxn ang="0">
                    <a:pos x="1175" y="208"/>
                  </a:cxn>
                </a:cxnLst>
                <a:rect l="0" t="0" r="r" b="b"/>
                <a:pathLst>
                  <a:path w="1175" h="1167">
                    <a:moveTo>
                      <a:pt x="1175" y="208"/>
                    </a:moveTo>
                    <a:lnTo>
                      <a:pt x="1081" y="477"/>
                    </a:lnTo>
                    <a:lnTo>
                      <a:pt x="985" y="751"/>
                    </a:lnTo>
                    <a:lnTo>
                      <a:pt x="911" y="720"/>
                    </a:lnTo>
                    <a:lnTo>
                      <a:pt x="910" y="725"/>
                    </a:lnTo>
                    <a:lnTo>
                      <a:pt x="979" y="761"/>
                    </a:lnTo>
                    <a:lnTo>
                      <a:pt x="981" y="761"/>
                    </a:lnTo>
                    <a:lnTo>
                      <a:pt x="981" y="763"/>
                    </a:lnTo>
                    <a:lnTo>
                      <a:pt x="982" y="763"/>
                    </a:lnTo>
                    <a:lnTo>
                      <a:pt x="982" y="764"/>
                    </a:lnTo>
                    <a:lnTo>
                      <a:pt x="982" y="765"/>
                    </a:lnTo>
                    <a:lnTo>
                      <a:pt x="982" y="768"/>
                    </a:lnTo>
                    <a:lnTo>
                      <a:pt x="982" y="886"/>
                    </a:lnTo>
                    <a:lnTo>
                      <a:pt x="958" y="902"/>
                    </a:lnTo>
                    <a:lnTo>
                      <a:pt x="933" y="920"/>
                    </a:lnTo>
                    <a:lnTo>
                      <a:pt x="909" y="939"/>
                    </a:lnTo>
                    <a:lnTo>
                      <a:pt x="884" y="955"/>
                    </a:lnTo>
                    <a:lnTo>
                      <a:pt x="857" y="974"/>
                    </a:lnTo>
                    <a:lnTo>
                      <a:pt x="833" y="990"/>
                    </a:lnTo>
                    <a:lnTo>
                      <a:pt x="808" y="1009"/>
                    </a:lnTo>
                    <a:lnTo>
                      <a:pt x="781" y="1027"/>
                    </a:lnTo>
                    <a:lnTo>
                      <a:pt x="757" y="1045"/>
                    </a:lnTo>
                    <a:lnTo>
                      <a:pt x="732" y="1061"/>
                    </a:lnTo>
                    <a:lnTo>
                      <a:pt x="707" y="1080"/>
                    </a:lnTo>
                    <a:lnTo>
                      <a:pt x="682" y="1097"/>
                    </a:lnTo>
                    <a:lnTo>
                      <a:pt x="657" y="1115"/>
                    </a:lnTo>
                    <a:lnTo>
                      <a:pt x="632" y="1131"/>
                    </a:lnTo>
                    <a:lnTo>
                      <a:pt x="582" y="1167"/>
                    </a:lnTo>
                    <a:lnTo>
                      <a:pt x="0" y="822"/>
                    </a:lnTo>
                    <a:lnTo>
                      <a:pt x="0" y="754"/>
                    </a:lnTo>
                    <a:lnTo>
                      <a:pt x="271" y="608"/>
                    </a:lnTo>
                    <a:lnTo>
                      <a:pt x="278" y="596"/>
                    </a:lnTo>
                    <a:lnTo>
                      <a:pt x="373" y="537"/>
                    </a:lnTo>
                    <a:lnTo>
                      <a:pt x="372" y="533"/>
                    </a:lnTo>
                    <a:lnTo>
                      <a:pt x="369" y="528"/>
                    </a:lnTo>
                    <a:lnTo>
                      <a:pt x="369" y="523"/>
                    </a:lnTo>
                    <a:lnTo>
                      <a:pt x="369" y="520"/>
                    </a:lnTo>
                    <a:lnTo>
                      <a:pt x="369" y="514"/>
                    </a:lnTo>
                    <a:lnTo>
                      <a:pt x="369" y="512"/>
                    </a:lnTo>
                    <a:lnTo>
                      <a:pt x="372" y="508"/>
                    </a:lnTo>
                    <a:lnTo>
                      <a:pt x="372" y="505"/>
                    </a:lnTo>
                    <a:lnTo>
                      <a:pt x="373" y="502"/>
                    </a:lnTo>
                    <a:lnTo>
                      <a:pt x="374" y="498"/>
                    </a:lnTo>
                    <a:lnTo>
                      <a:pt x="376" y="497"/>
                    </a:lnTo>
                    <a:lnTo>
                      <a:pt x="380" y="495"/>
                    </a:lnTo>
                    <a:lnTo>
                      <a:pt x="381" y="494"/>
                    </a:lnTo>
                    <a:lnTo>
                      <a:pt x="383" y="491"/>
                    </a:lnTo>
                    <a:lnTo>
                      <a:pt x="388" y="489"/>
                    </a:lnTo>
                    <a:lnTo>
                      <a:pt x="453" y="520"/>
                    </a:lnTo>
                    <a:lnTo>
                      <a:pt x="460" y="514"/>
                    </a:lnTo>
                    <a:lnTo>
                      <a:pt x="388" y="482"/>
                    </a:lnTo>
                    <a:lnTo>
                      <a:pt x="427" y="348"/>
                    </a:lnTo>
                    <a:lnTo>
                      <a:pt x="423" y="334"/>
                    </a:lnTo>
                    <a:lnTo>
                      <a:pt x="422" y="329"/>
                    </a:lnTo>
                    <a:lnTo>
                      <a:pt x="418" y="321"/>
                    </a:lnTo>
                    <a:lnTo>
                      <a:pt x="528" y="0"/>
                    </a:lnTo>
                    <a:lnTo>
                      <a:pt x="1150" y="193"/>
                    </a:lnTo>
                    <a:lnTo>
                      <a:pt x="1175" y="208"/>
                    </a:lnTo>
                  </a:path>
                </a:pathLst>
              </a:custGeom>
              <a:solidFill>
                <a:srgbClr val="B2B2B2"/>
              </a:solidFill>
              <a:ln w="3175" cap="rnd" cmpd="sng">
                <a:solidFill>
                  <a:srgbClr val="000000"/>
                </a:solidFill>
                <a:prstDash val="solid"/>
                <a:round/>
                <a:headEnd type="none" w="med" len="med"/>
                <a:tailEnd type="none" w="med" len="med"/>
              </a:ln>
              <a:effectLst/>
            </p:spPr>
            <p:txBody>
              <a:bodyPr/>
              <a:lstStyle/>
              <a:p>
                <a:endParaRPr lang="fr-FR"/>
              </a:p>
            </p:txBody>
          </p:sp>
          <p:sp>
            <p:nvSpPr>
              <p:cNvPr id="72744" name="Freeform 40"/>
              <p:cNvSpPr>
                <a:spLocks noChangeAspect="1"/>
              </p:cNvSpPr>
              <p:nvPr/>
            </p:nvSpPr>
            <p:spPr bwMode="auto">
              <a:xfrm>
                <a:off x="4026" y="2054"/>
                <a:ext cx="790" cy="737"/>
              </a:xfrm>
              <a:custGeom>
                <a:avLst/>
                <a:gdLst/>
                <a:ahLst/>
                <a:cxnLst>
                  <a:cxn ang="0">
                    <a:pos x="436" y="522"/>
                  </a:cxn>
                  <a:cxn ang="0">
                    <a:pos x="0" y="344"/>
                  </a:cxn>
                  <a:cxn ang="0">
                    <a:pos x="109" y="0"/>
                  </a:cxn>
                  <a:cxn ang="0">
                    <a:pos x="559" y="155"/>
                  </a:cxn>
                  <a:cxn ang="0">
                    <a:pos x="436" y="522"/>
                  </a:cxn>
                </a:cxnLst>
                <a:rect l="0" t="0" r="r" b="b"/>
                <a:pathLst>
                  <a:path w="559" h="522">
                    <a:moveTo>
                      <a:pt x="436" y="522"/>
                    </a:moveTo>
                    <a:lnTo>
                      <a:pt x="0" y="344"/>
                    </a:lnTo>
                    <a:lnTo>
                      <a:pt x="109" y="0"/>
                    </a:lnTo>
                    <a:lnTo>
                      <a:pt x="559" y="155"/>
                    </a:lnTo>
                    <a:lnTo>
                      <a:pt x="436" y="522"/>
                    </a:lnTo>
                  </a:path>
                </a:pathLst>
              </a:custGeom>
              <a:gradFill rotWithShape="0">
                <a:gsLst>
                  <a:gs pos="0">
                    <a:srgbClr val="6699FF"/>
                  </a:gs>
                  <a:gs pos="100000">
                    <a:srgbClr val="6699FF">
                      <a:gamma/>
                      <a:shade val="51373"/>
                      <a:invGamma/>
                    </a:srgbClr>
                  </a:gs>
                </a:gsLst>
                <a:path path="rect">
                  <a:fillToRect r="100000" b="100000"/>
                </a:path>
              </a:gradFill>
              <a:ln w="3175" cap="rnd" cmpd="sng">
                <a:noFill/>
                <a:prstDash val="solid"/>
                <a:round/>
                <a:headEnd type="none" w="med" len="med"/>
                <a:tailEnd type="none" w="med" len="med"/>
              </a:ln>
              <a:effectLst/>
            </p:spPr>
            <p:txBody>
              <a:bodyPr/>
              <a:lstStyle/>
              <a:p>
                <a:endParaRPr lang="fr-FR"/>
              </a:p>
            </p:txBody>
          </p:sp>
          <p:sp>
            <p:nvSpPr>
              <p:cNvPr id="72745" name="Freeform 41"/>
              <p:cNvSpPr>
                <a:spLocks noChangeAspect="1"/>
              </p:cNvSpPr>
              <p:nvPr/>
            </p:nvSpPr>
            <p:spPr bwMode="auto">
              <a:xfrm>
                <a:off x="3940" y="1935"/>
                <a:ext cx="1011" cy="780"/>
              </a:xfrm>
              <a:custGeom>
                <a:avLst/>
                <a:gdLst/>
                <a:ahLst/>
                <a:cxnLst>
                  <a:cxn ang="0">
                    <a:pos x="5" y="335"/>
                  </a:cxn>
                  <a:cxn ang="0">
                    <a:pos x="7" y="324"/>
                  </a:cxn>
                  <a:cxn ang="0">
                    <a:pos x="0" y="312"/>
                  </a:cxn>
                  <a:cxn ang="0">
                    <a:pos x="103" y="0"/>
                  </a:cxn>
                  <a:cxn ang="0">
                    <a:pos x="715" y="197"/>
                  </a:cxn>
                  <a:cxn ang="0">
                    <a:pos x="601" y="545"/>
                  </a:cxn>
                  <a:cxn ang="0">
                    <a:pos x="586" y="552"/>
                  </a:cxn>
                  <a:cxn ang="0">
                    <a:pos x="700" y="210"/>
                  </a:cxn>
                  <a:cxn ang="0">
                    <a:pos x="110" y="15"/>
                  </a:cxn>
                  <a:cxn ang="0">
                    <a:pos x="5" y="335"/>
                  </a:cxn>
                </a:cxnLst>
                <a:rect l="0" t="0" r="r" b="b"/>
                <a:pathLst>
                  <a:path w="715" h="552">
                    <a:moveTo>
                      <a:pt x="5" y="335"/>
                    </a:moveTo>
                    <a:lnTo>
                      <a:pt x="7" y="324"/>
                    </a:lnTo>
                    <a:lnTo>
                      <a:pt x="0" y="312"/>
                    </a:lnTo>
                    <a:lnTo>
                      <a:pt x="103" y="0"/>
                    </a:lnTo>
                    <a:lnTo>
                      <a:pt x="715" y="197"/>
                    </a:lnTo>
                    <a:lnTo>
                      <a:pt x="601" y="545"/>
                    </a:lnTo>
                    <a:lnTo>
                      <a:pt x="586" y="552"/>
                    </a:lnTo>
                    <a:lnTo>
                      <a:pt x="700" y="210"/>
                    </a:lnTo>
                    <a:lnTo>
                      <a:pt x="110" y="15"/>
                    </a:lnTo>
                    <a:lnTo>
                      <a:pt x="5" y="335"/>
                    </a:lnTo>
                  </a:path>
                </a:pathLst>
              </a:custGeom>
              <a:solidFill>
                <a:schemeClr val="bg1"/>
              </a:solidFill>
              <a:ln w="3175" cap="rnd" cmpd="sng">
                <a:noFill/>
                <a:prstDash val="solid"/>
                <a:round/>
                <a:headEnd type="none" w="med" len="med"/>
                <a:tailEnd type="none" w="med" len="med"/>
              </a:ln>
              <a:effectLst/>
            </p:spPr>
            <p:txBody>
              <a:bodyPr/>
              <a:lstStyle/>
              <a:p>
                <a:endParaRPr lang="fr-FR"/>
              </a:p>
            </p:txBody>
          </p:sp>
          <p:sp>
            <p:nvSpPr>
              <p:cNvPr id="72746" name="Freeform 42"/>
              <p:cNvSpPr>
                <a:spLocks noChangeAspect="1"/>
              </p:cNvSpPr>
              <p:nvPr/>
            </p:nvSpPr>
            <p:spPr bwMode="auto">
              <a:xfrm>
                <a:off x="3365" y="2794"/>
                <a:ext cx="1133" cy="638"/>
              </a:xfrm>
              <a:custGeom>
                <a:avLst/>
                <a:gdLst/>
                <a:ahLst/>
                <a:cxnLst>
                  <a:cxn ang="0">
                    <a:pos x="1464" y="519"/>
                  </a:cxn>
                  <a:cxn ang="0">
                    <a:pos x="453" y="0"/>
                  </a:cxn>
                  <a:cxn ang="0">
                    <a:pos x="0" y="243"/>
                  </a:cxn>
                  <a:cxn ang="0">
                    <a:pos x="1020" y="825"/>
                  </a:cxn>
                  <a:cxn ang="0">
                    <a:pos x="1464" y="519"/>
                  </a:cxn>
                </a:cxnLst>
                <a:rect l="0" t="0" r="r" b="b"/>
                <a:pathLst>
                  <a:path w="1465" h="826">
                    <a:moveTo>
                      <a:pt x="1464" y="519"/>
                    </a:moveTo>
                    <a:lnTo>
                      <a:pt x="453" y="0"/>
                    </a:lnTo>
                    <a:lnTo>
                      <a:pt x="0" y="243"/>
                    </a:lnTo>
                    <a:lnTo>
                      <a:pt x="1020" y="825"/>
                    </a:lnTo>
                    <a:lnTo>
                      <a:pt x="1464" y="519"/>
                    </a:lnTo>
                  </a:path>
                </a:pathLst>
              </a:custGeom>
              <a:solidFill>
                <a:srgbClr val="DDDDDD"/>
              </a:solidFill>
              <a:ln w="3175" cap="rnd" cmpd="sng">
                <a:noFill/>
                <a:prstDash val="solid"/>
                <a:round/>
                <a:headEnd type="none" w="med" len="med"/>
                <a:tailEnd type="none" w="med" len="med"/>
              </a:ln>
              <a:effectLst/>
            </p:spPr>
            <p:txBody>
              <a:bodyPr/>
              <a:lstStyle/>
              <a:p>
                <a:endParaRPr lang="fr-FR"/>
              </a:p>
            </p:txBody>
          </p:sp>
          <p:sp>
            <p:nvSpPr>
              <p:cNvPr id="72747" name="Freeform 43"/>
              <p:cNvSpPr>
                <a:spLocks noChangeAspect="1"/>
              </p:cNvSpPr>
              <p:nvPr/>
            </p:nvSpPr>
            <p:spPr bwMode="auto">
              <a:xfrm>
                <a:off x="4672" y="3112"/>
                <a:ext cx="24" cy="21"/>
              </a:xfrm>
              <a:custGeom>
                <a:avLst/>
                <a:gdLst/>
                <a:ahLst/>
                <a:cxnLst>
                  <a:cxn ang="0">
                    <a:pos x="9" y="0"/>
                  </a:cxn>
                  <a:cxn ang="0">
                    <a:pos x="9" y="3"/>
                  </a:cxn>
                  <a:cxn ang="0">
                    <a:pos x="6" y="3"/>
                  </a:cxn>
                  <a:cxn ang="0">
                    <a:pos x="6" y="6"/>
                  </a:cxn>
                  <a:cxn ang="0">
                    <a:pos x="3" y="6"/>
                  </a:cxn>
                  <a:cxn ang="0">
                    <a:pos x="0" y="6"/>
                  </a:cxn>
                  <a:cxn ang="0">
                    <a:pos x="0" y="9"/>
                  </a:cxn>
                  <a:cxn ang="0">
                    <a:pos x="0" y="12"/>
                  </a:cxn>
                  <a:cxn ang="0">
                    <a:pos x="0" y="15"/>
                  </a:cxn>
                  <a:cxn ang="0">
                    <a:pos x="0" y="18"/>
                  </a:cxn>
                  <a:cxn ang="0">
                    <a:pos x="0" y="21"/>
                  </a:cxn>
                  <a:cxn ang="0">
                    <a:pos x="3" y="21"/>
                  </a:cxn>
                  <a:cxn ang="0">
                    <a:pos x="6" y="21"/>
                  </a:cxn>
                  <a:cxn ang="0">
                    <a:pos x="6" y="24"/>
                  </a:cxn>
                  <a:cxn ang="0">
                    <a:pos x="9" y="24"/>
                  </a:cxn>
                  <a:cxn ang="0">
                    <a:pos x="12" y="24"/>
                  </a:cxn>
                  <a:cxn ang="0">
                    <a:pos x="15" y="21"/>
                  </a:cxn>
                  <a:cxn ang="0">
                    <a:pos x="18" y="21"/>
                  </a:cxn>
                  <a:cxn ang="0">
                    <a:pos x="21" y="18"/>
                  </a:cxn>
                  <a:cxn ang="0">
                    <a:pos x="24" y="18"/>
                  </a:cxn>
                  <a:cxn ang="0">
                    <a:pos x="24" y="15"/>
                  </a:cxn>
                  <a:cxn ang="0">
                    <a:pos x="27" y="15"/>
                  </a:cxn>
                  <a:cxn ang="0">
                    <a:pos x="27" y="12"/>
                  </a:cxn>
                  <a:cxn ang="0">
                    <a:pos x="30" y="12"/>
                  </a:cxn>
                  <a:cxn ang="0">
                    <a:pos x="30" y="9"/>
                  </a:cxn>
                  <a:cxn ang="0">
                    <a:pos x="27" y="6"/>
                  </a:cxn>
                  <a:cxn ang="0">
                    <a:pos x="24" y="3"/>
                  </a:cxn>
                  <a:cxn ang="0">
                    <a:pos x="21" y="0"/>
                  </a:cxn>
                  <a:cxn ang="0">
                    <a:pos x="18" y="0"/>
                  </a:cxn>
                  <a:cxn ang="0">
                    <a:pos x="15" y="0"/>
                  </a:cxn>
                  <a:cxn ang="0">
                    <a:pos x="12" y="0"/>
                  </a:cxn>
                  <a:cxn ang="0">
                    <a:pos x="9" y="0"/>
                  </a:cxn>
                </a:cxnLst>
                <a:rect l="0" t="0" r="r" b="b"/>
                <a:pathLst>
                  <a:path w="31" h="25">
                    <a:moveTo>
                      <a:pt x="9" y="0"/>
                    </a:moveTo>
                    <a:lnTo>
                      <a:pt x="9" y="3"/>
                    </a:lnTo>
                    <a:lnTo>
                      <a:pt x="6" y="3"/>
                    </a:lnTo>
                    <a:lnTo>
                      <a:pt x="6" y="6"/>
                    </a:lnTo>
                    <a:lnTo>
                      <a:pt x="3" y="6"/>
                    </a:lnTo>
                    <a:lnTo>
                      <a:pt x="0" y="6"/>
                    </a:lnTo>
                    <a:lnTo>
                      <a:pt x="0" y="9"/>
                    </a:lnTo>
                    <a:lnTo>
                      <a:pt x="0" y="12"/>
                    </a:lnTo>
                    <a:lnTo>
                      <a:pt x="0" y="15"/>
                    </a:lnTo>
                    <a:lnTo>
                      <a:pt x="0" y="18"/>
                    </a:lnTo>
                    <a:lnTo>
                      <a:pt x="0" y="21"/>
                    </a:lnTo>
                    <a:lnTo>
                      <a:pt x="3" y="21"/>
                    </a:lnTo>
                    <a:lnTo>
                      <a:pt x="6" y="21"/>
                    </a:lnTo>
                    <a:lnTo>
                      <a:pt x="6" y="24"/>
                    </a:lnTo>
                    <a:lnTo>
                      <a:pt x="9" y="24"/>
                    </a:lnTo>
                    <a:lnTo>
                      <a:pt x="12" y="24"/>
                    </a:lnTo>
                    <a:lnTo>
                      <a:pt x="15" y="21"/>
                    </a:lnTo>
                    <a:lnTo>
                      <a:pt x="18" y="21"/>
                    </a:lnTo>
                    <a:lnTo>
                      <a:pt x="21" y="18"/>
                    </a:lnTo>
                    <a:lnTo>
                      <a:pt x="24" y="18"/>
                    </a:lnTo>
                    <a:lnTo>
                      <a:pt x="24" y="15"/>
                    </a:lnTo>
                    <a:lnTo>
                      <a:pt x="27" y="15"/>
                    </a:lnTo>
                    <a:lnTo>
                      <a:pt x="27" y="12"/>
                    </a:lnTo>
                    <a:lnTo>
                      <a:pt x="30" y="12"/>
                    </a:lnTo>
                    <a:lnTo>
                      <a:pt x="30" y="9"/>
                    </a:lnTo>
                    <a:lnTo>
                      <a:pt x="27" y="6"/>
                    </a:lnTo>
                    <a:lnTo>
                      <a:pt x="24" y="3"/>
                    </a:lnTo>
                    <a:lnTo>
                      <a:pt x="21" y="0"/>
                    </a:lnTo>
                    <a:lnTo>
                      <a:pt x="18" y="0"/>
                    </a:lnTo>
                    <a:lnTo>
                      <a:pt x="15" y="0"/>
                    </a:lnTo>
                    <a:lnTo>
                      <a:pt x="12" y="0"/>
                    </a:lnTo>
                    <a:lnTo>
                      <a:pt x="9"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72748" name="Freeform 44"/>
              <p:cNvSpPr>
                <a:spLocks noChangeAspect="1"/>
              </p:cNvSpPr>
              <p:nvPr/>
            </p:nvSpPr>
            <p:spPr bwMode="auto">
              <a:xfrm>
                <a:off x="4705" y="2723"/>
                <a:ext cx="69" cy="244"/>
              </a:xfrm>
              <a:custGeom>
                <a:avLst/>
                <a:gdLst/>
                <a:ahLst/>
                <a:cxnLst>
                  <a:cxn ang="0">
                    <a:pos x="90" y="0"/>
                  </a:cxn>
                  <a:cxn ang="0">
                    <a:pos x="81" y="87"/>
                  </a:cxn>
                  <a:cxn ang="0">
                    <a:pos x="0" y="318"/>
                  </a:cxn>
                </a:cxnLst>
                <a:rect l="0" t="0" r="r" b="b"/>
                <a:pathLst>
                  <a:path w="91" h="319">
                    <a:moveTo>
                      <a:pt x="90" y="0"/>
                    </a:moveTo>
                    <a:lnTo>
                      <a:pt x="81" y="87"/>
                    </a:lnTo>
                    <a:lnTo>
                      <a:pt x="0" y="318"/>
                    </a:lnTo>
                  </a:path>
                </a:pathLst>
              </a:custGeom>
              <a:noFill/>
              <a:ln w="3175" cap="rnd" cmpd="sng">
                <a:solidFill>
                  <a:srgbClr val="000000"/>
                </a:solidFill>
                <a:prstDash val="solid"/>
                <a:round/>
                <a:headEnd type="none" w="med" len="med"/>
                <a:tailEnd type="none" w="med" len="med"/>
              </a:ln>
              <a:effectLst/>
            </p:spPr>
            <p:txBody>
              <a:bodyPr/>
              <a:lstStyle/>
              <a:p>
                <a:endParaRPr lang="fr-FR"/>
              </a:p>
            </p:txBody>
          </p:sp>
          <p:sp>
            <p:nvSpPr>
              <p:cNvPr id="72749" name="Line 45"/>
              <p:cNvSpPr>
                <a:spLocks noChangeAspect="1" noChangeShapeType="1"/>
              </p:cNvSpPr>
              <p:nvPr/>
            </p:nvSpPr>
            <p:spPr bwMode="auto">
              <a:xfrm flipH="1" flipV="1">
                <a:off x="3677" y="2859"/>
                <a:ext cx="700" cy="363"/>
              </a:xfrm>
              <a:prstGeom prst="line">
                <a:avLst/>
              </a:prstGeom>
              <a:noFill/>
              <a:ln w="12700">
                <a:solidFill>
                  <a:srgbClr val="808080"/>
                </a:solidFill>
                <a:round/>
                <a:headEnd/>
                <a:tailEnd/>
              </a:ln>
              <a:effectLst/>
            </p:spPr>
            <p:txBody>
              <a:bodyPr wrap="none" anchor="ctr"/>
              <a:lstStyle/>
              <a:p>
                <a:endParaRPr lang="fr-FR"/>
              </a:p>
            </p:txBody>
          </p:sp>
          <p:sp>
            <p:nvSpPr>
              <p:cNvPr id="72750" name="Line 46"/>
              <p:cNvSpPr>
                <a:spLocks noChangeAspect="1" noChangeShapeType="1"/>
              </p:cNvSpPr>
              <p:nvPr/>
            </p:nvSpPr>
            <p:spPr bwMode="auto">
              <a:xfrm flipH="1" flipV="1">
                <a:off x="3605" y="2921"/>
                <a:ext cx="663" cy="357"/>
              </a:xfrm>
              <a:prstGeom prst="line">
                <a:avLst/>
              </a:prstGeom>
              <a:noFill/>
              <a:ln w="12700">
                <a:solidFill>
                  <a:srgbClr val="808080"/>
                </a:solidFill>
                <a:round/>
                <a:headEnd/>
                <a:tailEnd/>
              </a:ln>
              <a:effectLst/>
            </p:spPr>
            <p:txBody>
              <a:bodyPr wrap="none" anchor="ctr"/>
              <a:lstStyle/>
              <a:p>
                <a:endParaRPr lang="fr-FR"/>
              </a:p>
            </p:txBody>
          </p:sp>
          <p:sp>
            <p:nvSpPr>
              <p:cNvPr id="72751" name="Line 47"/>
              <p:cNvSpPr>
                <a:spLocks noChangeAspect="1" noChangeShapeType="1"/>
              </p:cNvSpPr>
              <p:nvPr/>
            </p:nvSpPr>
            <p:spPr bwMode="auto">
              <a:xfrm flipH="1" flipV="1">
                <a:off x="3485" y="2967"/>
                <a:ext cx="671" cy="373"/>
              </a:xfrm>
              <a:prstGeom prst="line">
                <a:avLst/>
              </a:prstGeom>
              <a:noFill/>
              <a:ln w="12700">
                <a:solidFill>
                  <a:srgbClr val="808080"/>
                </a:solidFill>
                <a:round/>
                <a:headEnd/>
                <a:tailEnd/>
              </a:ln>
              <a:effectLst/>
            </p:spPr>
            <p:txBody>
              <a:bodyPr wrap="none" anchor="ctr"/>
              <a:lstStyle/>
              <a:p>
                <a:endParaRPr lang="fr-FR"/>
              </a:p>
            </p:txBody>
          </p:sp>
          <p:sp>
            <p:nvSpPr>
              <p:cNvPr id="72752" name="Freeform 48"/>
              <p:cNvSpPr>
                <a:spLocks noChangeAspect="1"/>
              </p:cNvSpPr>
              <p:nvPr/>
            </p:nvSpPr>
            <p:spPr bwMode="auto">
              <a:xfrm>
                <a:off x="3739" y="2685"/>
                <a:ext cx="933" cy="475"/>
              </a:xfrm>
              <a:custGeom>
                <a:avLst/>
                <a:gdLst/>
                <a:ahLst/>
                <a:cxnLst>
                  <a:cxn ang="0">
                    <a:pos x="93" y="0"/>
                  </a:cxn>
                  <a:cxn ang="0">
                    <a:pos x="0" y="60"/>
                  </a:cxn>
                  <a:cxn ang="0">
                    <a:pos x="568" y="336"/>
                  </a:cxn>
                  <a:cxn ang="0">
                    <a:pos x="660" y="266"/>
                  </a:cxn>
                </a:cxnLst>
                <a:rect l="0" t="0" r="r" b="b"/>
                <a:pathLst>
                  <a:path w="660" h="336">
                    <a:moveTo>
                      <a:pt x="93" y="0"/>
                    </a:moveTo>
                    <a:lnTo>
                      <a:pt x="0" y="60"/>
                    </a:lnTo>
                    <a:lnTo>
                      <a:pt x="568" y="336"/>
                    </a:lnTo>
                    <a:lnTo>
                      <a:pt x="660" y="266"/>
                    </a:lnTo>
                  </a:path>
                </a:pathLst>
              </a:custGeom>
              <a:solidFill>
                <a:srgbClr val="DDDDDD"/>
              </a:solidFill>
              <a:ln w="3175" cap="rnd" cmpd="sng">
                <a:noFill/>
                <a:prstDash val="solid"/>
                <a:round/>
                <a:headEnd type="none" w="med" len="med"/>
                <a:tailEnd type="none" w="med" len="med"/>
              </a:ln>
              <a:effectLst/>
            </p:spPr>
            <p:txBody>
              <a:bodyPr/>
              <a:lstStyle/>
              <a:p>
                <a:endParaRPr lang="fr-FR"/>
              </a:p>
            </p:txBody>
          </p:sp>
          <p:sp>
            <p:nvSpPr>
              <p:cNvPr id="72753" name="Freeform 49"/>
              <p:cNvSpPr>
                <a:spLocks noChangeAspect="1"/>
              </p:cNvSpPr>
              <p:nvPr/>
            </p:nvSpPr>
            <p:spPr bwMode="auto">
              <a:xfrm>
                <a:off x="4560" y="2929"/>
                <a:ext cx="149" cy="122"/>
              </a:xfrm>
              <a:custGeom>
                <a:avLst/>
                <a:gdLst/>
                <a:ahLst/>
                <a:cxnLst>
                  <a:cxn ang="0">
                    <a:pos x="48" y="0"/>
                  </a:cxn>
                  <a:cxn ang="0">
                    <a:pos x="186" y="63"/>
                  </a:cxn>
                  <a:cxn ang="0">
                    <a:pos x="183" y="66"/>
                  </a:cxn>
                  <a:cxn ang="0">
                    <a:pos x="177" y="66"/>
                  </a:cxn>
                  <a:cxn ang="0">
                    <a:pos x="171" y="69"/>
                  </a:cxn>
                  <a:cxn ang="0">
                    <a:pos x="165" y="72"/>
                  </a:cxn>
                  <a:cxn ang="0">
                    <a:pos x="159" y="75"/>
                  </a:cxn>
                  <a:cxn ang="0">
                    <a:pos x="153" y="81"/>
                  </a:cxn>
                  <a:cxn ang="0">
                    <a:pos x="150" y="84"/>
                  </a:cxn>
                  <a:cxn ang="0">
                    <a:pos x="147" y="93"/>
                  </a:cxn>
                  <a:cxn ang="0">
                    <a:pos x="144" y="99"/>
                  </a:cxn>
                  <a:cxn ang="0">
                    <a:pos x="141" y="105"/>
                  </a:cxn>
                  <a:cxn ang="0">
                    <a:pos x="141" y="111"/>
                  </a:cxn>
                  <a:cxn ang="0">
                    <a:pos x="141" y="120"/>
                  </a:cxn>
                  <a:cxn ang="0">
                    <a:pos x="141" y="129"/>
                  </a:cxn>
                  <a:cxn ang="0">
                    <a:pos x="144" y="135"/>
                  </a:cxn>
                  <a:cxn ang="0">
                    <a:pos x="150" y="153"/>
                  </a:cxn>
                  <a:cxn ang="0">
                    <a:pos x="9" y="87"/>
                  </a:cxn>
                  <a:cxn ang="0">
                    <a:pos x="6" y="84"/>
                  </a:cxn>
                  <a:cxn ang="0">
                    <a:pos x="6" y="78"/>
                  </a:cxn>
                  <a:cxn ang="0">
                    <a:pos x="3" y="72"/>
                  </a:cxn>
                  <a:cxn ang="0">
                    <a:pos x="0" y="66"/>
                  </a:cxn>
                  <a:cxn ang="0">
                    <a:pos x="0" y="57"/>
                  </a:cxn>
                  <a:cxn ang="0">
                    <a:pos x="0" y="51"/>
                  </a:cxn>
                  <a:cxn ang="0">
                    <a:pos x="0" y="42"/>
                  </a:cxn>
                  <a:cxn ang="0">
                    <a:pos x="3" y="36"/>
                  </a:cxn>
                  <a:cxn ang="0">
                    <a:pos x="6" y="30"/>
                  </a:cxn>
                  <a:cxn ang="0">
                    <a:pos x="6" y="21"/>
                  </a:cxn>
                  <a:cxn ang="0">
                    <a:pos x="12" y="18"/>
                  </a:cxn>
                  <a:cxn ang="0">
                    <a:pos x="18" y="12"/>
                  </a:cxn>
                  <a:cxn ang="0">
                    <a:pos x="24" y="6"/>
                  </a:cxn>
                  <a:cxn ang="0">
                    <a:pos x="30" y="3"/>
                  </a:cxn>
                  <a:cxn ang="0">
                    <a:pos x="48" y="0"/>
                  </a:cxn>
                </a:cxnLst>
                <a:rect l="0" t="0" r="r" b="b"/>
                <a:pathLst>
                  <a:path w="187" h="154">
                    <a:moveTo>
                      <a:pt x="48" y="0"/>
                    </a:moveTo>
                    <a:lnTo>
                      <a:pt x="186" y="63"/>
                    </a:lnTo>
                    <a:lnTo>
                      <a:pt x="183" y="66"/>
                    </a:lnTo>
                    <a:lnTo>
                      <a:pt x="177" y="66"/>
                    </a:lnTo>
                    <a:lnTo>
                      <a:pt x="171" y="69"/>
                    </a:lnTo>
                    <a:lnTo>
                      <a:pt x="165" y="72"/>
                    </a:lnTo>
                    <a:lnTo>
                      <a:pt x="159" y="75"/>
                    </a:lnTo>
                    <a:lnTo>
                      <a:pt x="153" y="81"/>
                    </a:lnTo>
                    <a:lnTo>
                      <a:pt x="150" y="84"/>
                    </a:lnTo>
                    <a:lnTo>
                      <a:pt x="147" y="93"/>
                    </a:lnTo>
                    <a:lnTo>
                      <a:pt x="144" y="99"/>
                    </a:lnTo>
                    <a:lnTo>
                      <a:pt x="141" y="105"/>
                    </a:lnTo>
                    <a:lnTo>
                      <a:pt x="141" y="111"/>
                    </a:lnTo>
                    <a:lnTo>
                      <a:pt x="141" y="120"/>
                    </a:lnTo>
                    <a:lnTo>
                      <a:pt x="141" y="129"/>
                    </a:lnTo>
                    <a:lnTo>
                      <a:pt x="144" y="135"/>
                    </a:lnTo>
                    <a:lnTo>
                      <a:pt x="150" y="153"/>
                    </a:lnTo>
                    <a:lnTo>
                      <a:pt x="9" y="87"/>
                    </a:lnTo>
                    <a:lnTo>
                      <a:pt x="6" y="84"/>
                    </a:lnTo>
                    <a:lnTo>
                      <a:pt x="6" y="78"/>
                    </a:lnTo>
                    <a:lnTo>
                      <a:pt x="3" y="72"/>
                    </a:lnTo>
                    <a:lnTo>
                      <a:pt x="0" y="66"/>
                    </a:lnTo>
                    <a:lnTo>
                      <a:pt x="0" y="57"/>
                    </a:lnTo>
                    <a:lnTo>
                      <a:pt x="0" y="51"/>
                    </a:lnTo>
                    <a:lnTo>
                      <a:pt x="0" y="42"/>
                    </a:lnTo>
                    <a:lnTo>
                      <a:pt x="3" y="36"/>
                    </a:lnTo>
                    <a:lnTo>
                      <a:pt x="6" y="30"/>
                    </a:lnTo>
                    <a:lnTo>
                      <a:pt x="6" y="21"/>
                    </a:lnTo>
                    <a:lnTo>
                      <a:pt x="12" y="18"/>
                    </a:lnTo>
                    <a:lnTo>
                      <a:pt x="18" y="12"/>
                    </a:lnTo>
                    <a:lnTo>
                      <a:pt x="24" y="6"/>
                    </a:lnTo>
                    <a:lnTo>
                      <a:pt x="30" y="3"/>
                    </a:lnTo>
                    <a:lnTo>
                      <a:pt x="48" y="0"/>
                    </a:lnTo>
                  </a:path>
                </a:pathLst>
              </a:custGeom>
              <a:gradFill rotWithShape="0">
                <a:gsLst>
                  <a:gs pos="0">
                    <a:srgbClr val="808080"/>
                  </a:gs>
                  <a:gs pos="100000">
                    <a:srgbClr val="FFFFFF"/>
                  </a:gs>
                </a:gsLst>
                <a:lin ang="189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72754" name="Freeform 50"/>
              <p:cNvSpPr>
                <a:spLocks noChangeAspect="1"/>
              </p:cNvSpPr>
              <p:nvPr/>
            </p:nvSpPr>
            <p:spPr bwMode="auto">
              <a:xfrm>
                <a:off x="4063" y="2703"/>
                <a:ext cx="435" cy="252"/>
              </a:xfrm>
              <a:custGeom>
                <a:avLst/>
                <a:gdLst/>
                <a:ahLst/>
                <a:cxnLst>
                  <a:cxn ang="0">
                    <a:pos x="564" y="225"/>
                  </a:cxn>
                  <a:cxn ang="0">
                    <a:pos x="60" y="3"/>
                  </a:cxn>
                  <a:cxn ang="0">
                    <a:pos x="51" y="0"/>
                  </a:cxn>
                  <a:cxn ang="0">
                    <a:pos x="45" y="0"/>
                  </a:cxn>
                  <a:cxn ang="0">
                    <a:pos x="39" y="3"/>
                  </a:cxn>
                  <a:cxn ang="0">
                    <a:pos x="30" y="6"/>
                  </a:cxn>
                  <a:cxn ang="0">
                    <a:pos x="24" y="12"/>
                  </a:cxn>
                  <a:cxn ang="0">
                    <a:pos x="21" y="15"/>
                  </a:cxn>
                  <a:cxn ang="0">
                    <a:pos x="15" y="21"/>
                  </a:cxn>
                  <a:cxn ang="0">
                    <a:pos x="9" y="30"/>
                  </a:cxn>
                  <a:cxn ang="0">
                    <a:pos x="6" y="36"/>
                  </a:cxn>
                  <a:cxn ang="0">
                    <a:pos x="3" y="42"/>
                  </a:cxn>
                  <a:cxn ang="0">
                    <a:pos x="0" y="51"/>
                  </a:cxn>
                  <a:cxn ang="0">
                    <a:pos x="0" y="57"/>
                  </a:cxn>
                  <a:cxn ang="0">
                    <a:pos x="0" y="66"/>
                  </a:cxn>
                  <a:cxn ang="0">
                    <a:pos x="3" y="72"/>
                  </a:cxn>
                  <a:cxn ang="0">
                    <a:pos x="9" y="84"/>
                  </a:cxn>
                  <a:cxn ang="0">
                    <a:pos x="528" y="324"/>
                  </a:cxn>
                  <a:cxn ang="0">
                    <a:pos x="525" y="318"/>
                  </a:cxn>
                  <a:cxn ang="0">
                    <a:pos x="522" y="309"/>
                  </a:cxn>
                  <a:cxn ang="0">
                    <a:pos x="522" y="303"/>
                  </a:cxn>
                  <a:cxn ang="0">
                    <a:pos x="519" y="294"/>
                  </a:cxn>
                  <a:cxn ang="0">
                    <a:pos x="519" y="288"/>
                  </a:cxn>
                  <a:cxn ang="0">
                    <a:pos x="519" y="282"/>
                  </a:cxn>
                  <a:cxn ang="0">
                    <a:pos x="519" y="273"/>
                  </a:cxn>
                  <a:cxn ang="0">
                    <a:pos x="522" y="267"/>
                  </a:cxn>
                  <a:cxn ang="0">
                    <a:pos x="525" y="261"/>
                  </a:cxn>
                  <a:cxn ang="0">
                    <a:pos x="528" y="255"/>
                  </a:cxn>
                  <a:cxn ang="0">
                    <a:pos x="531" y="249"/>
                  </a:cxn>
                  <a:cxn ang="0">
                    <a:pos x="537" y="243"/>
                  </a:cxn>
                  <a:cxn ang="0">
                    <a:pos x="543" y="237"/>
                  </a:cxn>
                  <a:cxn ang="0">
                    <a:pos x="549" y="234"/>
                  </a:cxn>
                  <a:cxn ang="0">
                    <a:pos x="564" y="225"/>
                  </a:cxn>
                </a:cxnLst>
                <a:rect l="0" t="0" r="r" b="b"/>
                <a:pathLst>
                  <a:path w="565" h="325">
                    <a:moveTo>
                      <a:pt x="564" y="225"/>
                    </a:moveTo>
                    <a:lnTo>
                      <a:pt x="60" y="3"/>
                    </a:lnTo>
                    <a:lnTo>
                      <a:pt x="51" y="0"/>
                    </a:lnTo>
                    <a:lnTo>
                      <a:pt x="45" y="0"/>
                    </a:lnTo>
                    <a:lnTo>
                      <a:pt x="39" y="3"/>
                    </a:lnTo>
                    <a:lnTo>
                      <a:pt x="30" y="6"/>
                    </a:lnTo>
                    <a:lnTo>
                      <a:pt x="24" y="12"/>
                    </a:lnTo>
                    <a:lnTo>
                      <a:pt x="21" y="15"/>
                    </a:lnTo>
                    <a:lnTo>
                      <a:pt x="15" y="21"/>
                    </a:lnTo>
                    <a:lnTo>
                      <a:pt x="9" y="30"/>
                    </a:lnTo>
                    <a:lnTo>
                      <a:pt x="6" y="36"/>
                    </a:lnTo>
                    <a:lnTo>
                      <a:pt x="3" y="42"/>
                    </a:lnTo>
                    <a:lnTo>
                      <a:pt x="0" y="51"/>
                    </a:lnTo>
                    <a:lnTo>
                      <a:pt x="0" y="57"/>
                    </a:lnTo>
                    <a:lnTo>
                      <a:pt x="0" y="66"/>
                    </a:lnTo>
                    <a:lnTo>
                      <a:pt x="3" y="72"/>
                    </a:lnTo>
                    <a:lnTo>
                      <a:pt x="9" y="84"/>
                    </a:lnTo>
                    <a:lnTo>
                      <a:pt x="528" y="324"/>
                    </a:lnTo>
                    <a:lnTo>
                      <a:pt x="525" y="318"/>
                    </a:lnTo>
                    <a:lnTo>
                      <a:pt x="522" y="309"/>
                    </a:lnTo>
                    <a:lnTo>
                      <a:pt x="522" y="303"/>
                    </a:lnTo>
                    <a:lnTo>
                      <a:pt x="519" y="294"/>
                    </a:lnTo>
                    <a:lnTo>
                      <a:pt x="519" y="288"/>
                    </a:lnTo>
                    <a:lnTo>
                      <a:pt x="519" y="282"/>
                    </a:lnTo>
                    <a:lnTo>
                      <a:pt x="519" y="273"/>
                    </a:lnTo>
                    <a:lnTo>
                      <a:pt x="522" y="267"/>
                    </a:lnTo>
                    <a:lnTo>
                      <a:pt x="525" y="261"/>
                    </a:lnTo>
                    <a:lnTo>
                      <a:pt x="528" y="255"/>
                    </a:lnTo>
                    <a:lnTo>
                      <a:pt x="531" y="249"/>
                    </a:lnTo>
                    <a:lnTo>
                      <a:pt x="537" y="243"/>
                    </a:lnTo>
                    <a:lnTo>
                      <a:pt x="543" y="237"/>
                    </a:lnTo>
                    <a:lnTo>
                      <a:pt x="549" y="234"/>
                    </a:lnTo>
                    <a:lnTo>
                      <a:pt x="564" y="225"/>
                    </a:lnTo>
                  </a:path>
                </a:pathLst>
              </a:custGeom>
              <a:gradFill rotWithShape="0">
                <a:gsLst>
                  <a:gs pos="0">
                    <a:srgbClr val="808080"/>
                  </a:gs>
                  <a:gs pos="100000">
                    <a:srgbClr val="FFFFFF"/>
                  </a:gs>
                </a:gsLst>
                <a:lin ang="189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72755" name="Freeform 51"/>
              <p:cNvSpPr>
                <a:spLocks noChangeAspect="1"/>
              </p:cNvSpPr>
              <p:nvPr/>
            </p:nvSpPr>
            <p:spPr bwMode="auto">
              <a:xfrm>
                <a:off x="3845" y="2606"/>
                <a:ext cx="149" cy="121"/>
              </a:xfrm>
              <a:custGeom>
                <a:avLst/>
                <a:gdLst/>
                <a:ahLst/>
                <a:cxnLst>
                  <a:cxn ang="0">
                    <a:pos x="48" y="0"/>
                  </a:cxn>
                  <a:cxn ang="0">
                    <a:pos x="186" y="63"/>
                  </a:cxn>
                  <a:cxn ang="0">
                    <a:pos x="183" y="66"/>
                  </a:cxn>
                  <a:cxn ang="0">
                    <a:pos x="177" y="66"/>
                  </a:cxn>
                  <a:cxn ang="0">
                    <a:pos x="171" y="69"/>
                  </a:cxn>
                  <a:cxn ang="0">
                    <a:pos x="165" y="72"/>
                  </a:cxn>
                  <a:cxn ang="0">
                    <a:pos x="159" y="75"/>
                  </a:cxn>
                  <a:cxn ang="0">
                    <a:pos x="153" y="81"/>
                  </a:cxn>
                  <a:cxn ang="0">
                    <a:pos x="150" y="84"/>
                  </a:cxn>
                  <a:cxn ang="0">
                    <a:pos x="147" y="93"/>
                  </a:cxn>
                  <a:cxn ang="0">
                    <a:pos x="144" y="99"/>
                  </a:cxn>
                  <a:cxn ang="0">
                    <a:pos x="141" y="105"/>
                  </a:cxn>
                  <a:cxn ang="0">
                    <a:pos x="141" y="111"/>
                  </a:cxn>
                  <a:cxn ang="0">
                    <a:pos x="141" y="120"/>
                  </a:cxn>
                  <a:cxn ang="0">
                    <a:pos x="141" y="129"/>
                  </a:cxn>
                  <a:cxn ang="0">
                    <a:pos x="144" y="135"/>
                  </a:cxn>
                  <a:cxn ang="0">
                    <a:pos x="150" y="153"/>
                  </a:cxn>
                  <a:cxn ang="0">
                    <a:pos x="9" y="87"/>
                  </a:cxn>
                  <a:cxn ang="0">
                    <a:pos x="6" y="84"/>
                  </a:cxn>
                  <a:cxn ang="0">
                    <a:pos x="6" y="78"/>
                  </a:cxn>
                  <a:cxn ang="0">
                    <a:pos x="3" y="72"/>
                  </a:cxn>
                  <a:cxn ang="0">
                    <a:pos x="0" y="66"/>
                  </a:cxn>
                  <a:cxn ang="0">
                    <a:pos x="0" y="57"/>
                  </a:cxn>
                  <a:cxn ang="0">
                    <a:pos x="0" y="51"/>
                  </a:cxn>
                  <a:cxn ang="0">
                    <a:pos x="0" y="42"/>
                  </a:cxn>
                  <a:cxn ang="0">
                    <a:pos x="3" y="36"/>
                  </a:cxn>
                  <a:cxn ang="0">
                    <a:pos x="6" y="30"/>
                  </a:cxn>
                  <a:cxn ang="0">
                    <a:pos x="6" y="21"/>
                  </a:cxn>
                  <a:cxn ang="0">
                    <a:pos x="12" y="18"/>
                  </a:cxn>
                  <a:cxn ang="0">
                    <a:pos x="18" y="12"/>
                  </a:cxn>
                  <a:cxn ang="0">
                    <a:pos x="24" y="6"/>
                  </a:cxn>
                  <a:cxn ang="0">
                    <a:pos x="30" y="3"/>
                  </a:cxn>
                  <a:cxn ang="0">
                    <a:pos x="48" y="0"/>
                  </a:cxn>
                </a:cxnLst>
                <a:rect l="0" t="0" r="r" b="b"/>
                <a:pathLst>
                  <a:path w="187" h="154">
                    <a:moveTo>
                      <a:pt x="48" y="0"/>
                    </a:moveTo>
                    <a:lnTo>
                      <a:pt x="186" y="63"/>
                    </a:lnTo>
                    <a:lnTo>
                      <a:pt x="183" y="66"/>
                    </a:lnTo>
                    <a:lnTo>
                      <a:pt x="177" y="66"/>
                    </a:lnTo>
                    <a:lnTo>
                      <a:pt x="171" y="69"/>
                    </a:lnTo>
                    <a:lnTo>
                      <a:pt x="165" y="72"/>
                    </a:lnTo>
                    <a:lnTo>
                      <a:pt x="159" y="75"/>
                    </a:lnTo>
                    <a:lnTo>
                      <a:pt x="153" y="81"/>
                    </a:lnTo>
                    <a:lnTo>
                      <a:pt x="150" y="84"/>
                    </a:lnTo>
                    <a:lnTo>
                      <a:pt x="147" y="93"/>
                    </a:lnTo>
                    <a:lnTo>
                      <a:pt x="144" y="99"/>
                    </a:lnTo>
                    <a:lnTo>
                      <a:pt x="141" y="105"/>
                    </a:lnTo>
                    <a:lnTo>
                      <a:pt x="141" y="111"/>
                    </a:lnTo>
                    <a:lnTo>
                      <a:pt x="141" y="120"/>
                    </a:lnTo>
                    <a:lnTo>
                      <a:pt x="141" y="129"/>
                    </a:lnTo>
                    <a:lnTo>
                      <a:pt x="144" y="135"/>
                    </a:lnTo>
                    <a:lnTo>
                      <a:pt x="150" y="153"/>
                    </a:lnTo>
                    <a:lnTo>
                      <a:pt x="9" y="87"/>
                    </a:lnTo>
                    <a:lnTo>
                      <a:pt x="6" y="84"/>
                    </a:lnTo>
                    <a:lnTo>
                      <a:pt x="6" y="78"/>
                    </a:lnTo>
                    <a:lnTo>
                      <a:pt x="3" y="72"/>
                    </a:lnTo>
                    <a:lnTo>
                      <a:pt x="0" y="66"/>
                    </a:lnTo>
                    <a:lnTo>
                      <a:pt x="0" y="57"/>
                    </a:lnTo>
                    <a:lnTo>
                      <a:pt x="0" y="51"/>
                    </a:lnTo>
                    <a:lnTo>
                      <a:pt x="0" y="42"/>
                    </a:lnTo>
                    <a:lnTo>
                      <a:pt x="3" y="36"/>
                    </a:lnTo>
                    <a:lnTo>
                      <a:pt x="6" y="30"/>
                    </a:lnTo>
                    <a:lnTo>
                      <a:pt x="6" y="21"/>
                    </a:lnTo>
                    <a:lnTo>
                      <a:pt x="12" y="18"/>
                    </a:lnTo>
                    <a:lnTo>
                      <a:pt x="18" y="12"/>
                    </a:lnTo>
                    <a:lnTo>
                      <a:pt x="24" y="6"/>
                    </a:lnTo>
                    <a:lnTo>
                      <a:pt x="30" y="3"/>
                    </a:lnTo>
                    <a:lnTo>
                      <a:pt x="48" y="0"/>
                    </a:lnTo>
                  </a:path>
                </a:pathLst>
              </a:custGeom>
              <a:gradFill rotWithShape="0">
                <a:gsLst>
                  <a:gs pos="0">
                    <a:srgbClr val="808080"/>
                  </a:gs>
                  <a:gs pos="100000">
                    <a:srgbClr val="FFFFFF"/>
                  </a:gs>
                </a:gsLst>
                <a:lin ang="189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72756" name="Freeform 52"/>
              <p:cNvSpPr>
                <a:spLocks/>
              </p:cNvSpPr>
              <p:nvPr/>
            </p:nvSpPr>
            <p:spPr bwMode="auto">
              <a:xfrm>
                <a:off x="4026" y="2054"/>
                <a:ext cx="790" cy="487"/>
              </a:xfrm>
              <a:custGeom>
                <a:avLst/>
                <a:gdLst/>
                <a:ahLst/>
                <a:cxnLst>
                  <a:cxn ang="0">
                    <a:pos x="559" y="156"/>
                  </a:cxn>
                  <a:cxn ang="0">
                    <a:pos x="109" y="0"/>
                  </a:cxn>
                  <a:cxn ang="0">
                    <a:pos x="0" y="345"/>
                  </a:cxn>
                </a:cxnLst>
                <a:rect l="0" t="0" r="r" b="b"/>
                <a:pathLst>
                  <a:path w="559" h="345">
                    <a:moveTo>
                      <a:pt x="559" y="156"/>
                    </a:moveTo>
                    <a:lnTo>
                      <a:pt x="109" y="0"/>
                    </a:lnTo>
                    <a:lnTo>
                      <a:pt x="0" y="345"/>
                    </a:lnTo>
                  </a:path>
                </a:pathLst>
              </a:custGeom>
              <a:noFill/>
              <a:ln w="6350" cap="flat" cmpd="sng">
                <a:solidFill>
                  <a:srgbClr val="808080"/>
                </a:solidFill>
                <a:prstDash val="solid"/>
                <a:round/>
                <a:headEnd/>
                <a:tailEnd/>
              </a:ln>
              <a:effectLst/>
            </p:spPr>
            <p:txBody>
              <a:bodyPr wrap="none" anchor="ctr"/>
              <a:lstStyle/>
              <a:p>
                <a:endParaRPr lang="fr-FR"/>
              </a:p>
            </p:txBody>
          </p:sp>
          <p:sp>
            <p:nvSpPr>
              <p:cNvPr id="72757" name="Freeform 53"/>
              <p:cNvSpPr>
                <a:spLocks/>
              </p:cNvSpPr>
              <p:nvPr/>
            </p:nvSpPr>
            <p:spPr bwMode="auto">
              <a:xfrm>
                <a:off x="4030" y="2278"/>
                <a:ext cx="786" cy="516"/>
              </a:xfrm>
              <a:custGeom>
                <a:avLst/>
                <a:gdLst/>
                <a:ahLst/>
                <a:cxnLst>
                  <a:cxn ang="0">
                    <a:pos x="556" y="0"/>
                  </a:cxn>
                  <a:cxn ang="0">
                    <a:pos x="433" y="365"/>
                  </a:cxn>
                  <a:cxn ang="0">
                    <a:pos x="0" y="188"/>
                  </a:cxn>
                </a:cxnLst>
                <a:rect l="0" t="0" r="r" b="b"/>
                <a:pathLst>
                  <a:path w="556" h="365">
                    <a:moveTo>
                      <a:pt x="556" y="0"/>
                    </a:moveTo>
                    <a:lnTo>
                      <a:pt x="433" y="365"/>
                    </a:lnTo>
                    <a:lnTo>
                      <a:pt x="0" y="188"/>
                    </a:lnTo>
                  </a:path>
                </a:pathLst>
              </a:custGeom>
              <a:noFill/>
              <a:ln w="3175" cap="flat" cmpd="sng">
                <a:solidFill>
                  <a:srgbClr val="FFFFFF"/>
                </a:solidFill>
                <a:prstDash val="solid"/>
                <a:round/>
                <a:headEnd/>
                <a:tailEnd/>
              </a:ln>
              <a:effectLst/>
            </p:spPr>
            <p:txBody>
              <a:bodyPr wrap="none" anchor="ctr"/>
              <a:lstStyle/>
              <a:p>
                <a:endParaRPr lang="fr-FR"/>
              </a:p>
            </p:txBody>
          </p:sp>
        </p:grpSp>
        <p:sp>
          <p:nvSpPr>
            <p:cNvPr id="72758" name="Text Box 54"/>
            <p:cNvSpPr txBox="1">
              <a:spLocks noChangeArrowheads="1"/>
            </p:cNvSpPr>
            <p:nvPr/>
          </p:nvSpPr>
          <p:spPr bwMode="auto">
            <a:xfrm>
              <a:off x="4045" y="2154"/>
              <a:ext cx="652" cy="404"/>
            </a:xfrm>
            <a:prstGeom prst="rect">
              <a:avLst/>
            </a:prstGeom>
            <a:noFill/>
            <a:ln w="9525">
              <a:noFill/>
              <a:miter lim="800000"/>
              <a:headEnd/>
              <a:tailEnd/>
            </a:ln>
            <a:effectLst>
              <a:outerShdw dist="28398" dir="1593903" algn="ctr" rotWithShape="0">
                <a:schemeClr val="tx1"/>
              </a:outerShdw>
            </a:effectLst>
          </p:spPr>
          <p:txBody>
            <a:bodyPr wrap="none" anchor="ctr">
              <a:spAutoFit/>
            </a:bodyPr>
            <a:lstStyle/>
            <a:p>
              <a:pPr algn="ctr"/>
              <a:r>
                <a:rPr lang="en-US" sz="1800" b="1">
                  <a:solidFill>
                    <a:schemeClr val="bg1"/>
                  </a:solidFill>
                  <a:latin typeface="Arial" charset="0"/>
                </a:rPr>
                <a:t>Bureau </a:t>
              </a:r>
              <a:br>
                <a:rPr lang="en-US" sz="1800" b="1">
                  <a:solidFill>
                    <a:schemeClr val="bg1"/>
                  </a:solidFill>
                  <a:latin typeface="Arial" charset="0"/>
                </a:rPr>
              </a:br>
              <a:r>
                <a:rPr lang="en-US" sz="1800" b="1">
                  <a:solidFill>
                    <a:schemeClr val="bg1"/>
                  </a:solidFill>
                  <a:latin typeface="Arial" charset="0"/>
                </a:rPr>
                <a:t>local</a:t>
              </a:r>
            </a:p>
          </p:txBody>
        </p:sp>
      </p:gr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8" name="Rectangle 10"/>
          <p:cNvSpPr>
            <a:spLocks noGrp="1" noChangeArrowheads="1"/>
          </p:cNvSpPr>
          <p:nvPr>
            <p:ph type="title"/>
          </p:nvPr>
        </p:nvSpPr>
        <p:spPr/>
        <p:txBody>
          <a:bodyPr vert="horz" anchor="b">
            <a:normAutofit fontScale="90000"/>
          </a:bodyPr>
          <a:lstStyle/>
          <a:p>
            <a:r>
              <a:rPr lang="fr-FR" sz="3000" dirty="0">
                <a:solidFill>
                  <a:srgbClr val="C00000"/>
                </a:solidFill>
              </a:rPr>
              <a:t>Configuration des ordinateurs pour utiliser </a:t>
            </a:r>
            <a:br>
              <a:rPr lang="fr-FR" sz="3000" dirty="0">
                <a:solidFill>
                  <a:srgbClr val="C00000"/>
                </a:solidFill>
              </a:rPr>
            </a:br>
            <a:r>
              <a:rPr lang="fr-FR" sz="3000" dirty="0">
                <a:solidFill>
                  <a:srgbClr val="C00000"/>
                </a:solidFill>
              </a:rPr>
              <a:t>le Bureau à distance</a:t>
            </a:r>
            <a:endParaRPr lang="en-US" sz="3000" dirty="0">
              <a:solidFill>
                <a:srgbClr val="C00000"/>
              </a:solidFill>
            </a:endParaRPr>
          </a:p>
        </p:txBody>
      </p:sp>
      <p:pic>
        <p:nvPicPr>
          <p:cNvPr id="73740" name="Picture 12" descr="P2272bW10-23-"/>
          <p:cNvPicPr>
            <a:picLocks noChangeAspect="1" noChangeArrowheads="1"/>
          </p:cNvPicPr>
          <p:nvPr/>
        </p:nvPicPr>
        <p:blipFill>
          <a:blip r:embed="rId2"/>
          <a:srcRect/>
          <a:stretch>
            <a:fillRect/>
          </a:stretch>
        </p:blipFill>
        <p:spPr bwMode="auto">
          <a:xfrm>
            <a:off x="2020888" y="1046162"/>
            <a:ext cx="4776152" cy="5810781"/>
          </a:xfrm>
          <a:prstGeom prst="rect">
            <a:avLst/>
          </a:prstGeom>
          <a:noFill/>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Exercices</a:t>
            </a:r>
            <a:endParaRPr lang="fr-FR" dirty="0"/>
          </a:p>
        </p:txBody>
      </p:sp>
      <p:sp>
        <p:nvSpPr>
          <p:cNvPr id="3" name="Espace réservé du contenu 2"/>
          <p:cNvSpPr>
            <a:spLocks noGrp="1"/>
          </p:cNvSpPr>
          <p:nvPr>
            <p:ph sz="quarter" idx="1"/>
          </p:nvPr>
        </p:nvSpPr>
        <p:spPr>
          <a:xfrm>
            <a:off x="301752" y="1527048"/>
            <a:ext cx="8503920" cy="2751038"/>
          </a:xfrm>
        </p:spPr>
        <p:txBody>
          <a:bodyPr/>
          <a:lstStyle/>
          <a:p>
            <a:r>
              <a:rPr lang="fr-FR" dirty="0" smtClean="0"/>
              <a:t>1. Une utilisatrice déclare que lorsqu'elle essaye de se connecter à un serveur d'accès distant, elle reçoit l'erreur suivante : « l'ordinateur distant a refusé d'être authentifié à l'aide du protocole  d'identification configuré. La ligne a été déconnectée ». Quel peut être le problème ?</a:t>
            </a:r>
            <a:endParaRPr lang="fr-FR" dirty="0"/>
          </a:p>
        </p:txBody>
      </p:sp>
      <p:sp>
        <p:nvSpPr>
          <p:cNvPr id="4" name="Rectangle 3"/>
          <p:cNvSpPr/>
          <p:nvPr/>
        </p:nvSpPr>
        <p:spPr>
          <a:xfrm>
            <a:off x="228606" y="4113856"/>
            <a:ext cx="8719456" cy="1938992"/>
          </a:xfrm>
          <a:prstGeom prst="rect">
            <a:avLst/>
          </a:prstGeom>
        </p:spPr>
        <p:txBody>
          <a:bodyPr wrap="square">
            <a:spAutoFit/>
          </a:bodyPr>
          <a:lstStyle/>
          <a:p>
            <a:r>
              <a:rPr lang="fr-FR" b="1" dirty="0" smtClean="0"/>
              <a:t>Les protocoles d'identification sur le client ne correspondent pas au protocole d'identification sur le serveur d'accès distant. Ils doivent être reconfigurés pour correspondre à ceux du serveur.</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Exercices</a:t>
            </a:r>
            <a:endParaRPr lang="fr-FR" dirty="0"/>
          </a:p>
        </p:txBody>
      </p:sp>
      <p:sp>
        <p:nvSpPr>
          <p:cNvPr id="3" name="Espace réservé du contenu 2"/>
          <p:cNvSpPr>
            <a:spLocks noGrp="1"/>
          </p:cNvSpPr>
          <p:nvPr>
            <p:ph sz="quarter" idx="1"/>
          </p:nvPr>
        </p:nvSpPr>
        <p:spPr>
          <a:xfrm>
            <a:off x="301752" y="1527048"/>
            <a:ext cx="8503920" cy="2751038"/>
          </a:xfrm>
        </p:spPr>
        <p:txBody>
          <a:bodyPr>
            <a:normAutofit/>
          </a:bodyPr>
          <a:lstStyle/>
          <a:p>
            <a:pPr>
              <a:buNone/>
            </a:pPr>
            <a:r>
              <a:rPr lang="fr-FR" dirty="0" smtClean="0"/>
              <a:t>2. Où commence et où s'arrête un tunnel VPN lorsque : (a) l'utilisateur se connecte au VPN en se connectant tout d'abord à un fournisseur de </a:t>
            </a:r>
            <a:r>
              <a:rPr lang="fr-FR" dirty="0" smtClean="0"/>
              <a:t>services Internet </a:t>
            </a:r>
            <a:r>
              <a:rPr lang="fr-FR" dirty="0" smtClean="0"/>
              <a:t>puis à la passerelle VPN, et (b) le fournisseur de services Internet crée le tunnel pour le compte du client ?</a:t>
            </a:r>
            <a:endParaRPr lang="fr-FR" dirty="0"/>
          </a:p>
        </p:txBody>
      </p:sp>
      <p:sp>
        <p:nvSpPr>
          <p:cNvPr id="4" name="Rectangle 3"/>
          <p:cNvSpPr/>
          <p:nvPr/>
        </p:nvSpPr>
        <p:spPr>
          <a:xfrm>
            <a:off x="228606" y="4113856"/>
            <a:ext cx="8719456" cy="2092881"/>
          </a:xfrm>
          <a:prstGeom prst="rect">
            <a:avLst/>
          </a:prstGeom>
        </p:spPr>
        <p:txBody>
          <a:bodyPr wrap="square">
            <a:spAutoFit/>
          </a:bodyPr>
          <a:lstStyle/>
          <a:p>
            <a:r>
              <a:rPr lang="fr-FR" sz="2600" b="1" dirty="0" smtClean="0"/>
              <a:t>(a) Le tunnel s'étend de l'ordinateur client au serveur d'accès distant.</a:t>
            </a:r>
          </a:p>
          <a:p>
            <a:r>
              <a:rPr lang="fr-FR" sz="2600" b="1" dirty="0" smtClean="0"/>
              <a:t>(b) Le tunnel s'étend du fournisseur de services Internet au serveur d'accès distant. La connexion du client au fournisseur de services Internet ne fait pas partie du tunnel VPN.</a:t>
            </a:r>
            <a:endParaRPr lang="fr-FR" sz="2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Exercices</a:t>
            </a:r>
            <a:endParaRPr lang="fr-FR" dirty="0"/>
          </a:p>
        </p:txBody>
      </p:sp>
      <p:sp>
        <p:nvSpPr>
          <p:cNvPr id="3" name="Espace réservé du contenu 2"/>
          <p:cNvSpPr>
            <a:spLocks noGrp="1"/>
          </p:cNvSpPr>
          <p:nvPr>
            <p:ph sz="quarter" idx="1"/>
          </p:nvPr>
        </p:nvSpPr>
        <p:spPr>
          <a:xfrm>
            <a:off x="301752" y="1527048"/>
            <a:ext cx="8503920" cy="1036538"/>
          </a:xfrm>
        </p:spPr>
        <p:txBody>
          <a:bodyPr>
            <a:normAutofit/>
          </a:bodyPr>
          <a:lstStyle/>
          <a:p>
            <a:pPr>
              <a:buNone/>
            </a:pPr>
            <a:r>
              <a:rPr lang="fr-FR" dirty="0" smtClean="0"/>
              <a:t>3. Quelles sont les différences principales entre les protocoles PPTP et L2TP ?</a:t>
            </a:r>
            <a:endParaRPr lang="fr-FR" dirty="0"/>
          </a:p>
        </p:txBody>
      </p:sp>
      <p:sp>
        <p:nvSpPr>
          <p:cNvPr id="4" name="Rectangle 3"/>
          <p:cNvSpPr/>
          <p:nvPr/>
        </p:nvSpPr>
        <p:spPr>
          <a:xfrm>
            <a:off x="228606" y="2677886"/>
            <a:ext cx="8719456" cy="3293209"/>
          </a:xfrm>
          <a:prstGeom prst="rect">
            <a:avLst/>
          </a:prstGeom>
        </p:spPr>
        <p:txBody>
          <a:bodyPr wrap="square">
            <a:spAutoFit/>
          </a:bodyPr>
          <a:lstStyle/>
          <a:p>
            <a:r>
              <a:rPr lang="fr-FR" sz="2600" b="1" dirty="0" smtClean="0"/>
              <a:t>Connectivité : PPTP requiert un réseau d'interconnexion utilisant les adresses IP.</a:t>
            </a:r>
          </a:p>
          <a:p>
            <a:r>
              <a:rPr lang="fr-FR" sz="2600" b="1" dirty="0" smtClean="0"/>
              <a:t>Compression d'en-tête : L2TP prend en charge la compression d'en-tête à quatre octets, et PPTP des en-têtes de six octets.</a:t>
            </a:r>
          </a:p>
          <a:p>
            <a:r>
              <a:rPr lang="fr-FR" sz="2600" b="1" dirty="0" smtClean="0"/>
              <a:t>Authentification : L2TP prend en charge l'authentification en mode tunnel, contrairement à PPTP.</a:t>
            </a:r>
          </a:p>
          <a:p>
            <a:r>
              <a:rPr lang="fr-FR" sz="2600" b="1" dirty="0" smtClean="0"/>
              <a:t>Cryptage : PPTP crypte automatiquement en utilisant PPP ; L2TP ne possède aucun cryptage automatique, mais requiert </a:t>
            </a:r>
            <a:r>
              <a:rPr lang="fr-FR" sz="2600" b="1" dirty="0" err="1" smtClean="0"/>
              <a:t>IPSec</a:t>
            </a:r>
            <a:r>
              <a:rPr lang="fr-FR" sz="2600" b="1" dirty="0" smtClean="0"/>
              <a:t>.</a:t>
            </a:r>
            <a:endParaRPr lang="fr-FR" sz="2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Exercices</a:t>
            </a:r>
            <a:endParaRPr lang="fr-FR" dirty="0"/>
          </a:p>
        </p:txBody>
      </p:sp>
      <p:sp>
        <p:nvSpPr>
          <p:cNvPr id="3" name="Espace réservé du contenu 2"/>
          <p:cNvSpPr>
            <a:spLocks noGrp="1"/>
          </p:cNvSpPr>
          <p:nvPr>
            <p:ph sz="quarter" idx="1"/>
          </p:nvPr>
        </p:nvSpPr>
        <p:spPr>
          <a:xfrm>
            <a:off x="334409" y="1445400"/>
            <a:ext cx="8503920" cy="2751038"/>
          </a:xfrm>
        </p:spPr>
        <p:txBody>
          <a:bodyPr>
            <a:normAutofit/>
          </a:bodyPr>
          <a:lstStyle/>
          <a:p>
            <a:pPr>
              <a:buNone/>
            </a:pPr>
            <a:r>
              <a:rPr lang="fr-FR" sz="2500" dirty="0" smtClean="0"/>
              <a:t>4. Un utilisateur du service que vous prenez en charge sera absent du bureau pendant une période assez longue, mais veut être encore capable de travailler. Cependant, son ordinateur personnel ne prend pas en charge les applications qui s'exécutent sur son ordinateur de bureau. Indiquez une solution possible.</a:t>
            </a:r>
            <a:endParaRPr lang="fr-FR" sz="2500" dirty="0"/>
          </a:p>
        </p:txBody>
      </p:sp>
      <p:sp>
        <p:nvSpPr>
          <p:cNvPr id="4" name="Rectangle 3"/>
          <p:cNvSpPr/>
          <p:nvPr/>
        </p:nvSpPr>
        <p:spPr>
          <a:xfrm>
            <a:off x="424544" y="3770946"/>
            <a:ext cx="8719456" cy="2893100"/>
          </a:xfrm>
          <a:prstGeom prst="rect">
            <a:avLst/>
          </a:prstGeom>
        </p:spPr>
        <p:txBody>
          <a:bodyPr wrap="square">
            <a:spAutoFit/>
          </a:bodyPr>
          <a:lstStyle/>
          <a:p>
            <a:r>
              <a:rPr lang="fr-FR" sz="2600" b="1" dirty="0" smtClean="0"/>
              <a:t>Configurez le Bureau à distance sur l'ordinateur de son bureau et donnez-lui les liens pour installer le client Terminal Server approprié sur son ordinateur personnel. Assurez-vous que l'utilisateur possède les autorisations d'accès à distance, pour qu'il puisse effectuer un appel entrant et exécuter l'application sur l'ordinateur de son bureau tout en étant assis devant son ordinateur à la maison.</a:t>
            </a:r>
            <a:endParaRPr lang="fr-FR" sz="2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l">
  <a:themeElements>
    <a:clrScheme name="Nuances de gris">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ivil">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l">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9096</TotalTime>
  <Words>946</Words>
  <Application>Microsoft PowerPoint</Application>
  <PresentationFormat>Affichage à l'écran (4:3)</PresentationFormat>
  <Paragraphs>159</Paragraphs>
  <Slides>27</Slides>
  <Notes>3</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27</vt:i4>
      </vt:variant>
    </vt:vector>
  </HeadingPairs>
  <TitlesOfParts>
    <vt:vector size="34" baseType="lpstr">
      <vt:lpstr>Arial</vt:lpstr>
      <vt:lpstr>Times New Roman</vt:lpstr>
      <vt:lpstr>Arial Narrow</vt:lpstr>
      <vt:lpstr>Georgia</vt:lpstr>
      <vt:lpstr>Wingdings</vt:lpstr>
      <vt:lpstr>Wingdings 2</vt:lpstr>
      <vt:lpstr>Civil</vt:lpstr>
      <vt:lpstr>Chapitre10   Prise en charge des utilisateurs distants </vt:lpstr>
      <vt:lpstr>Plan du cours</vt:lpstr>
      <vt:lpstr>1. Établissement de connexions d'accès distant</vt:lpstr>
      <vt:lpstr>Établissement de connexions sortantes</vt:lpstr>
      <vt:lpstr>Examen des options matérielles</vt:lpstr>
      <vt:lpstr>Examen des options matérielles</vt:lpstr>
      <vt:lpstr>Examen des options matérielles</vt:lpstr>
      <vt:lpstr>Création d'une connexion directe par câble</vt:lpstr>
      <vt:lpstr>Création de connexions d'accès à distance  et large bande</vt:lpstr>
      <vt:lpstr>Établissement d'une session d'accès distant</vt:lpstr>
      <vt:lpstr>Étude des protocoles de transport de données</vt:lpstr>
      <vt:lpstr>Configuration de connexions à liaisons multiples</vt:lpstr>
      <vt:lpstr>2. Connexion aux réseaux privés virtuels </vt:lpstr>
      <vt:lpstr>Configuration d'une connexion VPN</vt:lpstr>
      <vt:lpstr>Configuration des protocoles VPN </vt:lpstr>
      <vt:lpstr>3. Configuration des protocoles d'authentification et du cryptage </vt:lpstr>
      <vt:lpstr>Protocoles d'authentification standard</vt:lpstr>
      <vt:lpstr>Protocoles EAP</vt:lpstr>
      <vt:lpstr>Configuration des protocoles d'authentification de client</vt:lpstr>
      <vt:lpstr>Configuration du cryptage des données client </vt:lpstr>
      <vt:lpstr>5. Utilisation du Bureau à distance </vt:lpstr>
      <vt:lpstr>Examen de la fonctionnalité Bureau à distance</vt:lpstr>
      <vt:lpstr>Configuration des ordinateurs pour utiliser  le Bureau à distance</vt:lpstr>
      <vt:lpstr>Exercices</vt:lpstr>
      <vt:lpstr>Exercices</vt:lpstr>
      <vt:lpstr>Exercices</vt:lpstr>
      <vt:lpstr>Exercices</vt:lpstr>
    </vt:vector>
  </TitlesOfParts>
  <Company>Microsoft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8: Configuring Remote Access</dc:title>
  <dc:creator>bwinter</dc:creator>
  <cp:lastModifiedBy>Halima</cp:lastModifiedBy>
  <cp:revision>117</cp:revision>
  <dcterms:created xsi:type="dcterms:W3CDTF">2001-01-24T18:47:16Z</dcterms:created>
  <dcterms:modified xsi:type="dcterms:W3CDTF">2016-01-12T16:00:24Z</dcterms:modified>
</cp:coreProperties>
</file>