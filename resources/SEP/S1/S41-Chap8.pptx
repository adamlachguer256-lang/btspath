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3" r:id="rId1"/>
  </p:sldMasterIdLst>
  <p:notesMasterIdLst>
    <p:notesMasterId r:id="rId33"/>
  </p:notesMasterIdLst>
  <p:handoutMasterIdLst>
    <p:handoutMasterId r:id="rId34"/>
  </p:handoutMasterIdLst>
  <p:sldIdLst>
    <p:sldId id="466" r:id="rId2"/>
    <p:sldId id="515" r:id="rId3"/>
    <p:sldId id="494" r:id="rId4"/>
    <p:sldId id="531" r:id="rId5"/>
    <p:sldId id="496" r:id="rId6"/>
    <p:sldId id="547" r:id="rId7"/>
    <p:sldId id="495" r:id="rId8"/>
    <p:sldId id="497" r:id="rId9"/>
    <p:sldId id="498" r:id="rId10"/>
    <p:sldId id="499" r:id="rId11"/>
    <p:sldId id="500" r:id="rId12"/>
    <p:sldId id="501" r:id="rId13"/>
    <p:sldId id="502" r:id="rId14"/>
    <p:sldId id="516" r:id="rId15"/>
    <p:sldId id="517" r:id="rId16"/>
    <p:sldId id="518" r:id="rId17"/>
    <p:sldId id="520" r:id="rId18"/>
    <p:sldId id="519" r:id="rId19"/>
    <p:sldId id="472" r:id="rId20"/>
    <p:sldId id="548" r:id="rId21"/>
    <p:sldId id="475" r:id="rId22"/>
    <p:sldId id="476" r:id="rId23"/>
    <p:sldId id="477" r:id="rId24"/>
    <p:sldId id="478" r:id="rId25"/>
    <p:sldId id="480" r:id="rId26"/>
    <p:sldId id="486" r:id="rId27"/>
    <p:sldId id="523" r:id="rId28"/>
    <p:sldId id="524" r:id="rId29"/>
    <p:sldId id="525" r:id="rId30"/>
    <p:sldId id="526" r:id="rId31"/>
    <p:sldId id="527" r:id="rId32"/>
  </p:sldIdLst>
  <p:sldSz cx="9144000" cy="6858000" type="screen4x3"/>
  <p:notesSz cx="6858000" cy="9144000"/>
  <p:embeddedFontLst>
    <p:embeddedFont>
      <p:font typeface="Arial Narrow" panose="020B0606020202030204" pitchFamily="34" charset="0"/>
      <p:regular r:id="rId35"/>
      <p:bold r:id="rId36"/>
      <p:italic r:id="rId37"/>
      <p:boldItalic r:id="rId38"/>
    </p:embeddedFont>
    <p:embeddedFont>
      <p:font typeface="Georgia" panose="02040502050405020303" pitchFamily="18" charset="0"/>
      <p:regular r:id="rId39"/>
      <p:bold r:id="rId40"/>
      <p:italic r:id="rId41"/>
      <p:boldItalic r:id="rId42"/>
    </p:embeddedFont>
    <p:embeddedFont>
      <p:font typeface="Wingdings 2" panose="05020102010507070707" pitchFamily="18" charset="2"/>
      <p:regular r:id="rId43"/>
    </p:embeddedFont>
  </p:embeddedFontLst>
  <p:defaultTextStyle>
    <a:defPPr>
      <a:defRPr lang="en-US"/>
    </a:defPPr>
    <a:lvl1pPr algn="l" rtl="0" eaLnBrk="0" fontAlgn="base" hangingPunct="0">
      <a:spcBef>
        <a:spcPct val="0"/>
      </a:spcBef>
      <a:spcAft>
        <a:spcPct val="0"/>
      </a:spcAft>
      <a:defRPr sz="3000"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0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0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0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000" kern="1200">
        <a:solidFill>
          <a:schemeClr val="tx1"/>
        </a:solidFill>
        <a:latin typeface="Arial Narrow" pitchFamily="34" charset="0"/>
        <a:ea typeface="+mn-ea"/>
        <a:cs typeface="+mn-cs"/>
      </a:defRPr>
    </a:lvl5pPr>
    <a:lvl6pPr marL="2286000" algn="l" defTabSz="914400" rtl="0" eaLnBrk="1" latinLnBrk="0" hangingPunct="1">
      <a:defRPr sz="3000" kern="1200">
        <a:solidFill>
          <a:schemeClr val="tx1"/>
        </a:solidFill>
        <a:latin typeface="Arial Narrow" pitchFamily="34" charset="0"/>
        <a:ea typeface="+mn-ea"/>
        <a:cs typeface="+mn-cs"/>
      </a:defRPr>
    </a:lvl6pPr>
    <a:lvl7pPr marL="2743200" algn="l" defTabSz="914400" rtl="0" eaLnBrk="1" latinLnBrk="0" hangingPunct="1">
      <a:defRPr sz="3000" kern="1200">
        <a:solidFill>
          <a:schemeClr val="tx1"/>
        </a:solidFill>
        <a:latin typeface="Arial Narrow" pitchFamily="34" charset="0"/>
        <a:ea typeface="+mn-ea"/>
        <a:cs typeface="+mn-cs"/>
      </a:defRPr>
    </a:lvl7pPr>
    <a:lvl8pPr marL="3200400" algn="l" defTabSz="914400" rtl="0" eaLnBrk="1" latinLnBrk="0" hangingPunct="1">
      <a:defRPr sz="3000" kern="1200">
        <a:solidFill>
          <a:schemeClr val="tx1"/>
        </a:solidFill>
        <a:latin typeface="Arial Narrow" pitchFamily="34" charset="0"/>
        <a:ea typeface="+mn-ea"/>
        <a:cs typeface="+mn-cs"/>
      </a:defRPr>
    </a:lvl8pPr>
    <a:lvl9pPr marL="3657600" algn="l" defTabSz="914400" rtl="0" eaLnBrk="1" latinLnBrk="0" hangingPunct="1">
      <a:defRPr sz="30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ECFF"/>
    <a:srgbClr val="FFFFFF"/>
    <a:srgbClr val="53F179"/>
    <a:srgbClr val="777777"/>
    <a:srgbClr val="9999FF"/>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snapToGrid="0">
      <p:cViewPr varScale="1">
        <p:scale>
          <a:sx n="47" d="100"/>
          <a:sy n="47" d="100"/>
        </p:scale>
        <p:origin x="1313" y="51"/>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100" d="100"/>
        <a:sy n="100" d="100"/>
      </p:scale>
      <p:origin x="0" y="114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7.fntdata"/></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7" Type="http://schemas.openxmlformats.org/officeDocument/2006/relationships/slide" Target="slides/slide21.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14.xml"/><Relationship Id="rId5" Type="http://schemas.openxmlformats.org/officeDocument/2006/relationships/slide" Target="slides/slide11.xml"/><Relationship Id="rId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361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361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361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13D35EA-5194-4114-B3C3-2274B56AE7B2}"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58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58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8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58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9B7FB25-E3B5-409D-BFD4-EFD29A281D75}"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xfrm>
            <a:off x="139736" y="1960216"/>
            <a:ext cx="6598940" cy="6919698"/>
          </a:xfrm>
          <a:ln/>
        </p:spPr>
        <p:txBody>
          <a:bodyPr/>
          <a:lstStyle/>
          <a:p>
            <a:pPr>
              <a:defRPr/>
            </a:pPr>
            <a:r>
              <a:rPr lang="en-US" b="1" dirty="0">
                <a:latin typeface="Arial" pitchFamily="34" charset="0"/>
              </a:rPr>
              <a:t>Key Message: </a:t>
            </a:r>
            <a:r>
              <a:rPr lang="en-US" dirty="0">
                <a:latin typeface="Arial" pitchFamily="34" charset="0"/>
              </a:rPr>
              <a:t>This is a build slide. First discuss the initial statement with the students before clicking through to the first subnet. Emphasize that each computer has the same first 3 octet in their IP addresses. Talk about the dotted decimal notation for IP4 binary numbers. Now bring in the second subnet and show the difference in IP numbers. </a:t>
            </a:r>
          </a:p>
          <a:p>
            <a:pPr>
              <a:defRPr/>
            </a:pPr>
            <a:r>
              <a:rPr lang="en-US" dirty="0"/>
              <a:t>The IP address identifies a system’s location on the network in the same way a street address identifies a house on a city block. Just as a street address must identify a unique residence, an IP address must be globally unique to the network and have a uniform format.</a:t>
            </a:r>
          </a:p>
          <a:p>
            <a:pPr>
              <a:defRPr/>
            </a:pPr>
            <a:r>
              <a:rPr lang="en-US" dirty="0"/>
              <a:t>Each IP address includes a network ID and a host ID.</a:t>
            </a:r>
          </a:p>
          <a:p>
            <a:pPr>
              <a:defRPr/>
            </a:pPr>
            <a:r>
              <a:rPr lang="en-US" dirty="0"/>
              <a:t>The network ID (also known as a network address) identifies the systems that are located on the same physical network bounded by IP routers. All systems on the same physical network must have the same network ID. The network ID must be unique to the network.</a:t>
            </a:r>
            <a:br>
              <a:rPr lang="en-US" dirty="0"/>
            </a:br>
            <a:br>
              <a:rPr lang="en-US" dirty="0"/>
            </a:br>
            <a:r>
              <a:rPr lang="en-US" dirty="0"/>
              <a:t>The host ID (also known as a host address) identifies a workstation, server, router, or other TCP/IP host within a network. The host address must be unique to the network ID.</a:t>
            </a:r>
            <a:br>
              <a:rPr lang="en-US" dirty="0"/>
            </a:br>
            <a:br>
              <a:rPr lang="en-US" dirty="0"/>
            </a:br>
            <a:r>
              <a:rPr lang="en-US" b="1" dirty="0"/>
              <a:t>IPv4 address syntax</a:t>
            </a:r>
          </a:p>
          <a:p>
            <a:pPr>
              <a:defRPr/>
            </a:pPr>
            <a:r>
              <a:rPr lang="en-US" dirty="0"/>
              <a:t>An IP address consists of 32 bits. Instead of expressing IPv4 addresses 32 bits at a time using binary notation (Base2), it is standard practice to segment the 32 bits of an IPv4 address into four 8-bit fields called </a:t>
            </a:r>
            <a:r>
              <a:rPr lang="en-US" i="1" dirty="0"/>
              <a:t>octets</a:t>
            </a:r>
            <a:r>
              <a:rPr lang="en-US" dirty="0"/>
              <a:t>. Each octet is converted to a decimal number (base 10) from 0–255 and separated by a period (a dot). This format is called </a:t>
            </a:r>
            <a:r>
              <a:rPr lang="en-US" i="1" dirty="0"/>
              <a:t>dotted decimal notation</a:t>
            </a:r>
            <a:r>
              <a:rPr lang="en-US" dirty="0"/>
              <a:t>. The following table provides an example of an IP address in binary and dotted decimal formats.</a:t>
            </a:r>
          </a:p>
          <a:p>
            <a:pPr>
              <a:defRPr/>
            </a:pPr>
            <a:r>
              <a:rPr lang="en-US" b="1" dirty="0"/>
              <a:t>An IP Address in Binary and Dotted Decimal Formats </a:t>
            </a:r>
            <a:endParaRPr lang="en-US" dirty="0"/>
          </a:p>
          <a:p>
            <a:pPr>
              <a:defRPr/>
            </a:pPr>
            <a:r>
              <a:rPr lang="en-US" dirty="0"/>
              <a:t>Binary Format Dotted Decimal Notation 11000000 10101000 00000011 00011000</a:t>
            </a:r>
          </a:p>
          <a:p>
            <a:pPr>
              <a:defRPr/>
            </a:pPr>
            <a:r>
              <a:rPr lang="en-US" dirty="0"/>
              <a:t>192.168.3.24</a:t>
            </a:r>
          </a:p>
          <a:p>
            <a:pPr>
              <a:defRPr/>
            </a:pPr>
            <a:r>
              <a:rPr lang="en-US" dirty="0"/>
              <a:t>For example, the IPv4 address of 11000000101010000000001100011000 is: </a:t>
            </a:r>
          </a:p>
          <a:p>
            <a:pPr>
              <a:defRPr/>
            </a:pPr>
            <a:r>
              <a:rPr lang="en-US" dirty="0"/>
              <a:t>Segmented into 8-bit blocks: 11000000 10101000 00000011 00011000.</a:t>
            </a:r>
            <a:br>
              <a:rPr lang="en-US" dirty="0"/>
            </a:br>
            <a:r>
              <a:rPr lang="en-US" dirty="0"/>
              <a:t>Each block is converted to decimal: 192 168 3 24</a:t>
            </a:r>
            <a:br>
              <a:rPr lang="en-US" dirty="0"/>
            </a:br>
            <a:r>
              <a:rPr lang="en-US" dirty="0"/>
              <a:t>The adjacent octets are separated by a period: 192.168.3.24.</a:t>
            </a:r>
            <a:br>
              <a:rPr lang="en-US" dirty="0"/>
            </a:br>
            <a:r>
              <a:rPr lang="en-US" dirty="0"/>
              <a:t>The notation </a:t>
            </a:r>
            <a:r>
              <a:rPr lang="en-US" i="1" dirty="0"/>
              <a:t>w.x.y.z</a:t>
            </a:r>
            <a:r>
              <a:rPr lang="en-US" dirty="0"/>
              <a:t>is used when referring to a generalized IP address.</a:t>
            </a:r>
          </a:p>
          <a:p>
            <a:pPr>
              <a:defRPr/>
            </a:pPr>
            <a:r>
              <a:rPr lang="en-US" b="1" dirty="0">
                <a:latin typeface="Arial" pitchFamily="34" charset="0"/>
              </a:rPr>
              <a:t>Whiteboard: </a:t>
            </a:r>
            <a:r>
              <a:rPr lang="en-US" dirty="0">
                <a:latin typeface="Arial" pitchFamily="34" charset="0"/>
              </a:rPr>
              <a:t>Build a network diagram similar to the slide, and add in relevant IP addresses for devices and hosts. As you progress through the topics, add elements such as subnet masks, gateway addresses, and so forth.</a:t>
            </a:r>
            <a:br>
              <a:rPr lang="en-US" dirty="0">
                <a:latin typeface="Arial" pitchFamily="34" charset="0"/>
              </a:rPr>
            </a:br>
            <a:endParaRPr lang="en-US" dirty="0">
              <a:latin typeface="Arial" pitchFamily="34" charset="0"/>
            </a:endParaRPr>
          </a:p>
          <a:p>
            <a:pPr>
              <a:defRPr/>
            </a:pPr>
            <a:r>
              <a:rPr lang="en-US" b="1" dirty="0">
                <a:latin typeface="Arial" pitchFamily="34" charset="0"/>
              </a:rPr>
              <a:t>Discussion prompt: </a:t>
            </a:r>
            <a:r>
              <a:rPr lang="en-US" dirty="0">
                <a:latin typeface="Arial" pitchFamily="34" charset="0"/>
              </a:rPr>
              <a:t>Encourage the students to suggest valid IP addresses for your network diagram.</a:t>
            </a:r>
          </a:p>
          <a:p>
            <a:pPr>
              <a:defRPr/>
            </a:pPr>
            <a:r>
              <a:rPr lang="en-US" dirty="0">
                <a:latin typeface="Arial" pitchFamily="34" charset="0"/>
              </a:rPr>
              <a:t>To build this slide:</a:t>
            </a:r>
          </a:p>
          <a:p>
            <a:pPr marL="226223" indent="-226223">
              <a:buFontTx/>
              <a:buAutoNum type="arabicPeriod"/>
              <a:defRPr/>
            </a:pPr>
            <a:r>
              <a:rPr lang="en-US" dirty="0">
                <a:latin typeface="Arial" pitchFamily="34" charset="0"/>
              </a:rPr>
              <a:t>Click to have the definition of an IPv4 address exit and Subnet 1 enter.</a:t>
            </a:r>
          </a:p>
          <a:p>
            <a:pPr marL="226223" indent="-226223">
              <a:buFontTx/>
              <a:buAutoNum type="arabicPeriod"/>
              <a:defRPr/>
            </a:pPr>
            <a:r>
              <a:rPr lang="en-US" dirty="0">
                <a:latin typeface="Arial" pitchFamily="34" charset="0"/>
              </a:rPr>
              <a:t>Click to have the note about dotted decimal notation enter.</a:t>
            </a:r>
          </a:p>
          <a:p>
            <a:pPr marL="226223" indent="-226223">
              <a:buFontTx/>
              <a:buAutoNum type="arabicPeriod"/>
              <a:defRPr/>
            </a:pPr>
            <a:r>
              <a:rPr lang="en-US" dirty="0">
                <a:latin typeface="Arial" pitchFamily="34" charset="0"/>
              </a:rPr>
              <a:t>Click to have the note exit and Subnet 2 enter.</a:t>
            </a:r>
          </a:p>
          <a:p>
            <a:pPr>
              <a:defRPr/>
            </a:pPr>
            <a:endParaRPr lang="en-US" dirty="0"/>
          </a:p>
          <a:p>
            <a:pPr>
              <a:defRPr/>
            </a:pPr>
            <a:endParaRPr lang="en-US" dirty="0">
              <a:latin typeface="Arial" pitchFamily="34" charset="0"/>
            </a:endParaRPr>
          </a:p>
          <a:p>
            <a:pPr>
              <a:defRPr/>
            </a:pPr>
            <a:endParaRPr lang="en-US" dirty="0">
              <a:latin typeface="Arial" pitchFamily="34" charset="0"/>
            </a:endParaRPr>
          </a:p>
          <a:p>
            <a:pPr>
              <a:defRPr/>
            </a:pPr>
            <a:r>
              <a:rPr lang="en-US" dirty="0">
                <a:latin typeface="Arial" pitchFamily="34" charset="0"/>
              </a:rPr>
              <a:t> </a:t>
            </a:r>
          </a:p>
          <a:p>
            <a:pPr>
              <a:defRPr/>
            </a:pPr>
            <a:endParaRPr lang="en-US" dirty="0">
              <a:latin typeface="Arial" pitchFamily="34" charset="0"/>
            </a:endParaRPr>
          </a:p>
          <a:p>
            <a:pPr>
              <a:defRPr/>
            </a:pPr>
            <a:endParaRPr lang="en-US" dirty="0">
              <a:latin typeface="Arial" pitchFamily="34" charset="0"/>
            </a:endParaRPr>
          </a:p>
        </p:txBody>
      </p:sp>
      <p:sp>
        <p:nvSpPr>
          <p:cNvPr id="4" name="Header Placeholder 3"/>
          <p:cNvSpPr>
            <a:spLocks noGrp="1"/>
          </p:cNvSpPr>
          <p:nvPr>
            <p:ph type="hdr" sz="quarter"/>
          </p:nvPr>
        </p:nvSpPr>
        <p:spPr/>
        <p:txBody>
          <a:bodyPr/>
          <a:lstStyle/>
          <a:p>
            <a:pPr>
              <a:defRPr/>
            </a:pPr>
            <a:r>
              <a:rPr lang="en-US">
                <a:solidFill>
                  <a:schemeClr val="tx1"/>
                </a:solidFill>
              </a:rPr>
              <a:t>Module 4: Configuring Network Connectivity</a:t>
            </a:r>
          </a:p>
        </p:txBody>
      </p:sp>
      <p:sp>
        <p:nvSpPr>
          <p:cNvPr id="5" name="Date Placeholder 4"/>
          <p:cNvSpPr>
            <a:spLocks noGrp="1"/>
          </p:cNvSpPr>
          <p:nvPr>
            <p:ph type="dt" sz="quarter" idx="1"/>
          </p:nvPr>
        </p:nvSpPr>
        <p:spPr/>
        <p:txBody>
          <a:bodyPr/>
          <a:lstStyle/>
          <a:p>
            <a:pPr>
              <a:defRPr/>
            </a:pPr>
            <a:r>
              <a:rPr lang="en-US"/>
              <a:t>Course 6292A</a:t>
            </a:r>
          </a:p>
        </p:txBody>
      </p:sp>
      <p:sp>
        <p:nvSpPr>
          <p:cNvPr id="6" name="Slide Number Placeholder 5"/>
          <p:cNvSpPr>
            <a:spLocks noGrp="1"/>
          </p:cNvSpPr>
          <p:nvPr>
            <p:ph type="sldNum" sz="quarter" idx="5"/>
          </p:nvPr>
        </p:nvSpPr>
        <p:spPr/>
        <p:txBody>
          <a:bodyPr/>
          <a:lstStyle/>
          <a:p>
            <a:pPr>
              <a:defRPr/>
            </a:pPr>
            <a:fld id="{222FB4FB-2389-4E40-9C51-65BB048EAC82}" type="slidenum">
              <a:rPr lang="en-US" smtClean="0"/>
              <a:pPr>
                <a:defRPr/>
              </a:pPr>
              <a:t>4</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r>
              <a:rPr lang="en-US" b="1">
                <a:latin typeface="Arial" pitchFamily="34" charset="0"/>
              </a:rPr>
              <a:t>Key message: </a:t>
            </a:r>
            <a:r>
              <a:rPr lang="en-US">
                <a:latin typeface="Arial" pitchFamily="34" charset="0"/>
              </a:rPr>
              <a:t>Students will be able to identify when a service allocates an IP address automatically, and when the system self-configures an IP address, as in Automatic Private IP Addressing (APIPA) and link-local addresses.</a:t>
            </a:r>
          </a:p>
          <a:p>
            <a:r>
              <a:rPr lang="en-US" b="1">
                <a:latin typeface="Arial" pitchFamily="34" charset="0"/>
              </a:rPr>
              <a:t>Discussion prompt: </a:t>
            </a:r>
            <a:r>
              <a:rPr lang="en-US">
                <a:latin typeface="Arial" pitchFamily="34" charset="0"/>
              </a:rPr>
              <a:t>Ask students if they recognize the IP address 169.254.1.2.</a:t>
            </a:r>
          </a:p>
          <a:p>
            <a:r>
              <a:rPr lang="en-US">
                <a:latin typeface="Arial" pitchFamily="34" charset="0"/>
              </a:rPr>
              <a:t> On IPv4 networks, addresses can be assigned to hosts in three ways: </a:t>
            </a:r>
          </a:p>
          <a:p>
            <a:r>
              <a:rPr lang="en-US">
                <a:latin typeface="Arial" pitchFamily="34" charset="0"/>
              </a:rPr>
              <a:t>Manually using static address assignment </a:t>
            </a:r>
          </a:p>
          <a:p>
            <a:r>
              <a:rPr lang="en-US">
                <a:latin typeface="Arial" pitchFamily="34" charset="0"/>
              </a:rPr>
              <a:t>Automatically using DHCP, if a DHCP server is present on the subnet (or a DHCP relay agent configured on the subnet) </a:t>
            </a:r>
          </a:p>
          <a:p>
            <a:r>
              <a:rPr lang="en-US">
                <a:latin typeface="Arial" pitchFamily="34" charset="0"/>
              </a:rPr>
              <a:t>Automatically using Automatic Private IP Addressing (APIPA), which randomly assigns the host an address from the range 169.254.0.0 to 169.254.255.255 with subnet mask 255.255.0.0 </a:t>
            </a:r>
          </a:p>
          <a:p>
            <a:r>
              <a:rPr lang="en-US">
                <a:latin typeface="Arial" pitchFamily="34" charset="0"/>
              </a:rPr>
              <a:t>DHCPv4 provides an automated way to distribute and update IP addresses and other configuration information on a network. A DHCP server provides this information to a DHCP client through the exchange of a series of messages, known as the DHCP conversation or the DHCP transaction. If the DHCP server and DHCP clients are located on different subnets, a DHCP relay agent is used to facilitate the conversation. </a:t>
            </a:r>
          </a:p>
          <a:p>
            <a:r>
              <a:rPr lang="en-US">
                <a:latin typeface="Arial" pitchFamily="34" charset="0"/>
              </a:rPr>
              <a:t>The DHCP architecture consists of DHCP clients, DHCP servers, and DHCP relay agents on a network. The clients interact with servers using DHCP messages in a DHCP conversation to obtain and renew IP address leases. </a:t>
            </a:r>
          </a:p>
          <a:p>
            <a:r>
              <a:rPr lang="en-US" b="1">
                <a:latin typeface="Arial" pitchFamily="34" charset="0"/>
              </a:rPr>
              <a:t>DHCP Client Functionality</a:t>
            </a:r>
          </a:p>
          <a:p>
            <a:r>
              <a:rPr lang="en-US">
                <a:latin typeface="Arial" pitchFamily="34" charset="0"/>
              </a:rPr>
              <a:t>A </a:t>
            </a:r>
            <a:r>
              <a:rPr lang="en-US" i="1">
                <a:latin typeface="Arial" pitchFamily="34" charset="0"/>
              </a:rPr>
              <a:t>DHCP client</a:t>
            </a:r>
            <a:r>
              <a:rPr lang="en-US">
                <a:latin typeface="Arial" pitchFamily="34" charset="0"/>
              </a:rPr>
              <a:t> is any network-enabled device that supports the ability to communicate with a DHCP server in compliance with RFC 2131, for the purpose of obtaining dynamic leased IP configuration and related optional information.</a:t>
            </a:r>
          </a:p>
          <a:p>
            <a:r>
              <a:rPr lang="en-US" b="1">
                <a:latin typeface="Arial" pitchFamily="34" charset="0"/>
              </a:rPr>
              <a:t>Automatic IP Configuration</a:t>
            </a:r>
          </a:p>
          <a:p>
            <a:r>
              <a:rPr lang="en-US">
                <a:latin typeface="Arial" pitchFamily="34" charset="0"/>
              </a:rPr>
              <a:t>DHCP supports Automatic Private IP Addressing (APIPA), which enables computers running Windows 2000, Windows XP, and Windows Server 2003 to configure an IP address and subnet mask if a DHCP server is unavailable at system startup and the </a:t>
            </a:r>
            <a:r>
              <a:rPr lang="en-US" b="1">
                <a:latin typeface="Arial" pitchFamily="34" charset="0"/>
              </a:rPr>
              <a:t>Automatic private IP address</a:t>
            </a:r>
            <a:r>
              <a:rPr lang="en-US">
                <a:latin typeface="Arial" pitchFamily="34" charset="0"/>
              </a:rPr>
              <a:t> Alternate Configuration setting is selected. This feature is useful for clients on small private networks, such as a small-business office or a home office.</a:t>
            </a:r>
          </a:p>
          <a:p>
            <a:r>
              <a:rPr lang="en-US">
                <a:latin typeface="Arial" pitchFamily="34" charset="0"/>
              </a:rPr>
              <a:t>The DHCP Client service on a computer running Windows XP and Windows Server 2003 uses the following process to auto-configure the client:</a:t>
            </a:r>
          </a:p>
          <a:p>
            <a:r>
              <a:rPr lang="en-US">
                <a:latin typeface="Arial" pitchFamily="34" charset="0"/>
              </a:rPr>
              <a:t>The DHCP client attempts to locate a DHCP server and obtain an IP address and configuration.</a:t>
            </a:r>
            <a:br>
              <a:rPr lang="en-US">
                <a:latin typeface="Arial" pitchFamily="34" charset="0"/>
              </a:rPr>
            </a:br>
            <a:endParaRPr lang="en-US">
              <a:latin typeface="Arial" pitchFamily="34" charset="0"/>
            </a:endParaRPr>
          </a:p>
        </p:txBody>
      </p:sp>
      <p:sp>
        <p:nvSpPr>
          <p:cNvPr id="4" name="Header Placeholder 3"/>
          <p:cNvSpPr>
            <a:spLocks noGrp="1"/>
          </p:cNvSpPr>
          <p:nvPr>
            <p:ph type="hdr" sz="quarter"/>
          </p:nvPr>
        </p:nvSpPr>
        <p:spPr/>
        <p:txBody>
          <a:bodyPr/>
          <a:lstStyle/>
          <a:p>
            <a:pPr>
              <a:defRPr/>
            </a:pPr>
            <a:r>
              <a:rPr lang="en-US">
                <a:solidFill>
                  <a:schemeClr val="tx1"/>
                </a:solidFill>
              </a:rPr>
              <a:t>Module 4: Configuring Network Connectivity</a:t>
            </a:r>
          </a:p>
        </p:txBody>
      </p:sp>
      <p:sp>
        <p:nvSpPr>
          <p:cNvPr id="5" name="Date Placeholder 4"/>
          <p:cNvSpPr>
            <a:spLocks noGrp="1"/>
          </p:cNvSpPr>
          <p:nvPr>
            <p:ph type="dt" sz="quarter" idx="1"/>
          </p:nvPr>
        </p:nvSpPr>
        <p:spPr/>
        <p:txBody>
          <a:bodyPr/>
          <a:lstStyle/>
          <a:p>
            <a:pPr>
              <a:defRPr/>
            </a:pPr>
            <a:r>
              <a:rPr lang="en-US"/>
              <a:t>Course 6292A</a:t>
            </a:r>
          </a:p>
        </p:txBody>
      </p:sp>
      <p:sp>
        <p:nvSpPr>
          <p:cNvPr id="6" name="Slide Number Placeholder 5"/>
          <p:cNvSpPr>
            <a:spLocks noGrp="1"/>
          </p:cNvSpPr>
          <p:nvPr>
            <p:ph type="sldNum" sz="quarter" idx="5"/>
          </p:nvPr>
        </p:nvSpPr>
        <p:spPr/>
        <p:txBody>
          <a:bodyPr/>
          <a:lstStyle/>
          <a:p>
            <a:pPr>
              <a:defRPr/>
            </a:pPr>
            <a:fld id="{62F3BBAA-ADBB-424A-BC73-1B94C58E6CB2}" type="slidenum">
              <a:rPr lang="en-US" smtClean="0"/>
              <a:pPr>
                <a:defRPr/>
              </a:pPr>
              <a:t>6</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34399C-C777-4C2E-830D-BD39A073918C}" type="slidenum">
              <a:rPr lang="en-US"/>
              <a:pPr/>
              <a:t>7</a:t>
            </a:fld>
            <a:endParaRPr lang="en-US"/>
          </a:p>
        </p:txBody>
      </p:sp>
      <p:sp>
        <p:nvSpPr>
          <p:cNvPr id="302082" name="Rectangle 2"/>
          <p:cNvSpPr>
            <a:spLocks noGrp="1" noRot="1" noChangeAspect="1" noChangeArrowheads="1" noTextEdit="1"/>
          </p:cNvSpPr>
          <p:nvPr>
            <p:ph type="sldImg"/>
          </p:nvPr>
        </p:nvSpPr>
        <p:spPr>
          <a:ln/>
        </p:spPr>
      </p:sp>
      <p:sp>
        <p:nvSpPr>
          <p:cNvPr id="3020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AA6CD4-4EE8-4753-9919-57DE9747EB98}" type="slidenum">
              <a:rPr lang="en-US"/>
              <a:pPr/>
              <a:t>16</a:t>
            </a:fld>
            <a:endParaRPr lang="en-US"/>
          </a:p>
        </p:txBody>
      </p:sp>
      <p:sp>
        <p:nvSpPr>
          <p:cNvPr id="328706" name="Rectangle 2"/>
          <p:cNvSpPr>
            <a:spLocks noGrp="1" noRot="1" noChangeAspect="1" noChangeArrowheads="1" noTextEdit="1"/>
          </p:cNvSpPr>
          <p:nvPr>
            <p:ph type="sldImg"/>
          </p:nvPr>
        </p:nvSpPr>
        <p:spPr>
          <a:ln/>
        </p:spPr>
      </p:sp>
      <p:sp>
        <p:nvSpPr>
          <p:cNvPr id="32870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ln/>
        </p:spPr>
        <p:txBody>
          <a:bodyPr/>
          <a:lstStyle/>
          <a:p>
            <a:pPr>
              <a:defRPr/>
            </a:pPr>
            <a:r>
              <a:rPr lang="en-US" b="1" dirty="0">
                <a:latin typeface="Arial" pitchFamily="34" charset="0"/>
              </a:rPr>
              <a:t>Key message: </a:t>
            </a:r>
            <a:r>
              <a:rPr lang="en-US" dirty="0">
                <a:latin typeface="Arial" pitchFamily="34" charset="0"/>
              </a:rPr>
              <a:t>Windows supports a number of different methods for resolving computer names.</a:t>
            </a:r>
          </a:p>
          <a:p>
            <a:pPr>
              <a:defRPr/>
            </a:pPr>
            <a:r>
              <a:rPr lang="en-US" b="1" dirty="0">
                <a:latin typeface="Arial" pitchFamily="34" charset="0"/>
              </a:rPr>
              <a:t>Discussion prompt: </a:t>
            </a:r>
            <a:r>
              <a:rPr lang="en-US" dirty="0">
                <a:latin typeface="Arial" pitchFamily="34" charset="0"/>
              </a:rPr>
              <a:t>Ask students if any of them use NetBIOS applications. If they do, discuss the WINS service and the Domain Name System (DNS)/WINS integration. </a:t>
            </a:r>
          </a:p>
          <a:p>
            <a:pPr>
              <a:defRPr/>
            </a:pPr>
            <a:r>
              <a:rPr lang="en-US" b="1" dirty="0">
                <a:latin typeface="Arial" pitchFamily="34" charset="0"/>
              </a:rPr>
              <a:t>Demonstration: </a:t>
            </a:r>
            <a:r>
              <a:rPr lang="en-US" dirty="0">
                <a:latin typeface="Arial" pitchFamily="34" charset="0"/>
              </a:rPr>
              <a:t>Using SEA-CL2, go through a demonstration of resolving names. To demonstrate NetBIOS name resolution, edit the LMHOSTS file with some #PRE tagged values. To demonstrate DNS, create alias records on the DNS server, and the corresponding entries in HOSTS. Remember to clear the NetBIOS name and DNS resolver caches with each test, so that you can demonstrate which method is successful.</a:t>
            </a:r>
          </a:p>
          <a:p>
            <a:pPr>
              <a:defRPr/>
            </a:pPr>
            <a:r>
              <a:rPr lang="en-US" b="1" dirty="0">
                <a:latin typeface="Arial" pitchFamily="34" charset="0"/>
              </a:rPr>
              <a:t>Additional information: </a:t>
            </a:r>
            <a:r>
              <a:rPr lang="en-US" dirty="0">
                <a:latin typeface="Arial" pitchFamily="34" charset="0"/>
              </a:rPr>
              <a:t>If required, mention the Windows Server® 2008 operating system’s GlobalNames DNS zone. However, these students do not need too much detail about these server-side services.</a:t>
            </a:r>
          </a:p>
          <a:p>
            <a:pPr fontAlgn="t">
              <a:defRPr/>
            </a:pPr>
            <a:r>
              <a:rPr lang="en-US" b="1" dirty="0">
                <a:latin typeface="Arial" pitchFamily="34" charset="0"/>
              </a:rPr>
              <a:t>Deciding if you need to deploy a GlobalNames zone</a:t>
            </a:r>
          </a:p>
          <a:p>
            <a:pPr fontAlgn="t">
              <a:defRPr/>
            </a:pPr>
            <a:r>
              <a:rPr lang="en-US" dirty="0">
                <a:latin typeface="Arial" pitchFamily="34" charset="0"/>
              </a:rPr>
              <a:t>Consider deploying a GlobalNames zone if:</a:t>
            </a:r>
          </a:p>
          <a:p>
            <a:pPr marL="111541" indent="-111541" fontAlgn="t">
              <a:buFont typeface="Arial" pitchFamily="34" charset="0"/>
              <a:buChar char="•"/>
              <a:defRPr/>
            </a:pPr>
            <a:r>
              <a:rPr lang="en-US" dirty="0">
                <a:latin typeface="Arial" pitchFamily="34" charset="0"/>
              </a:rPr>
              <a:t>You are retiring WINS or you are planning to deploy only IPv6 in your environment, so that all name resolution will depend on DNS.</a:t>
            </a:r>
          </a:p>
          <a:p>
            <a:pPr marL="111541" indent="-111541" fontAlgn="t">
              <a:buFont typeface="Arial" pitchFamily="34" charset="0"/>
              <a:buChar char="•"/>
              <a:defRPr/>
            </a:pPr>
            <a:r>
              <a:rPr lang="en-US" dirty="0">
                <a:latin typeface="Arial" pitchFamily="34" charset="0"/>
              </a:rPr>
              <a:t>Your need for single-label name resolution is limited to important servers or Web sites that can be statically registered in DNS. (Typically, these names are also configured statically and globally in the WINS database.) Host names cannot be registered in the GlobalNames zone by dynamic updates. </a:t>
            </a:r>
          </a:p>
          <a:p>
            <a:pPr marL="111541" indent="-111541" fontAlgn="t">
              <a:buFont typeface="Arial" pitchFamily="34" charset="0"/>
              <a:buChar char="•"/>
              <a:defRPr/>
            </a:pPr>
            <a:r>
              <a:rPr lang="en-US" dirty="0">
                <a:latin typeface="Arial" pitchFamily="34" charset="0"/>
              </a:rPr>
              <a:t>You cannot rely on the suffix search lists on client computers to provide single-label name resolution; for example, because the number of target domains is too great or the domains cannot be centrally managed to guarantee that host names will be unique. For more information about using suffix search lists, see Understanding DNS Client Settings on Technet, http://go.microsoft.com/fwlink/?LinkId=154441</a:t>
            </a:r>
          </a:p>
          <a:p>
            <a:pPr fontAlgn="t">
              <a:defRPr/>
            </a:pPr>
            <a:r>
              <a:rPr lang="en-US" dirty="0">
                <a:latin typeface="Arial" pitchFamily="34" charset="0"/>
              </a:rPr>
              <a:t>All the DNS servers that are authoritative for your zones are servers running Windows Server 2008. To resolve names that are registered in the GlobalNames zone, all DNS servers that are authoritative for a zone and that serve client query requests must be running Windows Server 2008 and they must either be configured with a local copy of the GlobalNames zone or they must be able to contact remote DNS servers that host the GlobalNames zone.</a:t>
            </a:r>
          </a:p>
          <a:p>
            <a:pPr fontAlgn="t">
              <a:defRPr/>
            </a:pPr>
            <a:r>
              <a:rPr lang="en-US" dirty="0">
                <a:latin typeface="Arial" pitchFamily="34" charset="0"/>
              </a:rPr>
              <a:t>We also recommend that the GlobalNames zone be integrated with Active Directory Domain Services (AD DS). This integration with AD DS ensures easier management and future scalability.</a:t>
            </a:r>
          </a:p>
        </p:txBody>
      </p:sp>
      <p:sp>
        <p:nvSpPr>
          <p:cNvPr id="4" name="Header Placeholder 3"/>
          <p:cNvSpPr>
            <a:spLocks noGrp="1"/>
          </p:cNvSpPr>
          <p:nvPr>
            <p:ph type="hdr" sz="quarter"/>
          </p:nvPr>
        </p:nvSpPr>
        <p:spPr/>
        <p:txBody>
          <a:bodyPr/>
          <a:lstStyle/>
          <a:p>
            <a:pPr>
              <a:defRPr/>
            </a:pPr>
            <a:r>
              <a:rPr lang="en-US">
                <a:solidFill>
                  <a:schemeClr val="tx1"/>
                </a:solidFill>
              </a:rPr>
              <a:t>Module 4: Configuring Network Connectivity</a:t>
            </a:r>
          </a:p>
        </p:txBody>
      </p:sp>
      <p:sp>
        <p:nvSpPr>
          <p:cNvPr id="5" name="Date Placeholder 4"/>
          <p:cNvSpPr>
            <a:spLocks noGrp="1"/>
          </p:cNvSpPr>
          <p:nvPr>
            <p:ph type="dt" sz="quarter" idx="1"/>
          </p:nvPr>
        </p:nvSpPr>
        <p:spPr/>
        <p:txBody>
          <a:bodyPr/>
          <a:lstStyle/>
          <a:p>
            <a:pPr>
              <a:defRPr/>
            </a:pPr>
            <a:r>
              <a:rPr lang="en-US"/>
              <a:t>Course 6292A</a:t>
            </a:r>
          </a:p>
        </p:txBody>
      </p:sp>
      <p:sp>
        <p:nvSpPr>
          <p:cNvPr id="6" name="Slide Number Placeholder 5"/>
          <p:cNvSpPr>
            <a:spLocks noGrp="1"/>
          </p:cNvSpPr>
          <p:nvPr>
            <p:ph type="sldNum" sz="quarter" idx="5"/>
          </p:nvPr>
        </p:nvSpPr>
        <p:spPr/>
        <p:txBody>
          <a:bodyPr/>
          <a:lstStyle/>
          <a:p>
            <a:pPr>
              <a:defRPr/>
            </a:pPr>
            <a:fld id="{742C9AF0-DA4F-4EF9-B3C2-5956F95954F4}" type="slidenum">
              <a:rPr lang="en-US" smtClean="0"/>
              <a:pPr>
                <a:defRPr/>
              </a:pPr>
              <a:t>20</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1D654C-1F7E-450F-A19B-75B6189EF351}" type="slidenum">
              <a:rPr lang="en-US"/>
              <a:pPr/>
              <a:t>22</a:t>
            </a:fld>
            <a:endParaRPr lang="en-US"/>
          </a:p>
        </p:txBody>
      </p:sp>
      <p:sp>
        <p:nvSpPr>
          <p:cNvPr id="278530" name="Rectangle 2"/>
          <p:cNvSpPr>
            <a:spLocks noGrp="1" noRot="1" noChangeAspect="1" noChangeArrowheads="1" noTextEdit="1"/>
          </p:cNvSpPr>
          <p:nvPr>
            <p:ph type="sldImg"/>
          </p:nvPr>
        </p:nvSpPr>
        <p:spPr>
          <a:ln/>
        </p:spPr>
      </p:sp>
      <p:sp>
        <p:nvSpPr>
          <p:cNvPr id="27853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452CA3-0CA9-45F6-BDC1-2B007EC9CD94}" type="slidenum">
              <a:rPr lang="en-US"/>
              <a:pPr/>
              <a:t>23</a:t>
            </a:fld>
            <a:endParaRPr lang="en-US"/>
          </a:p>
        </p:txBody>
      </p:sp>
      <p:sp>
        <p:nvSpPr>
          <p:cNvPr id="280578" name="Rectangle 2"/>
          <p:cNvSpPr>
            <a:spLocks noGrp="1" noRot="1" noChangeAspect="1" noChangeArrowheads="1" noTextEdit="1"/>
          </p:cNvSpPr>
          <p:nvPr>
            <p:ph type="sldImg"/>
          </p:nvPr>
        </p:nvSpPr>
        <p:spPr>
          <a:ln/>
        </p:spPr>
      </p:sp>
      <p:sp>
        <p:nvSpPr>
          <p:cNvPr id="280579"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1974DF9-AD47-4691-BA21-BBFCE3637A9A}" type="slidenum">
              <a:rPr kumimoji="0" lang="en-US" smtClean="0"/>
              <a:pPr/>
              <a:t>‹N°›</a:t>
            </a:fld>
            <a:endParaRPr kumimoji="0" lang="en-US"/>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2"/>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91974DF9-AD47-4691-BA21-BBFCE3637A9A}" type="slidenum">
              <a:rPr kumimoji="0" lang="en-US" smtClean="0"/>
              <a:pPr/>
              <a:t>‹N°›</a:t>
            </a:fld>
            <a:endParaRPr kumimoji="0" lang="en-US"/>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91974DF9-AD47-4691-BA21-BBFCE3637A9A}" type="slidenum">
              <a:rPr kumimoji="0" lang="en-US" smtClean="0"/>
              <a:pPr/>
              <a:t>‹N°›</a:t>
            </a:fld>
            <a:endParaRPr kumimoji="0" lang="en-US"/>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C699CB88-5E1A-4FAC-892A-60949ACB1F6F}" type="datetimeFigureOut">
              <a:rPr lang="en-US" smtClean="0"/>
              <a:pPr/>
              <a:t>12/17/2024</a:t>
            </a:fld>
            <a:endParaRPr lang="en-US"/>
          </a:p>
        </p:txBody>
      </p:sp>
      <p:sp>
        <p:nvSpPr>
          <p:cNvPr id="6" name="Espace réservé du pied de page 5"/>
          <p:cNvSpPr>
            <a:spLocks noGrp="1"/>
          </p:cNvSpPr>
          <p:nvPr>
            <p:ph type="ftr" sz="quarter" idx="11"/>
          </p:nvPr>
        </p:nvSpPr>
        <p:spPr/>
        <p:txBody>
          <a:bodyPr/>
          <a:lstStyle/>
          <a:p>
            <a:endParaRPr kumimoji="0" lang="en-US"/>
          </a:p>
        </p:txBody>
      </p:sp>
      <p:sp>
        <p:nvSpPr>
          <p:cNvPr id="7" name="Espace réservé du numéro de diapositive 6"/>
          <p:cNvSpPr>
            <a:spLocks noGrp="1"/>
          </p:cNvSpPr>
          <p:nvPr>
            <p:ph type="sldNum" sz="quarter" idx="12"/>
          </p:nvPr>
        </p:nvSpPr>
        <p:spPr/>
        <p:txBody>
          <a:bodyPr/>
          <a:lstStyle/>
          <a:p>
            <a:fld id="{91974DF9-AD47-4691-BA21-BBFCE3637A9A}"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fld id="{91974DF9-AD47-4691-BA21-BBFCE3637A9A}" type="slidenum">
              <a:rPr kumimoji="0" lang="en-US" smtClean="0"/>
              <a:pPr/>
              <a:t>‹N°›</a:t>
            </a:fld>
            <a:endParaRPr kumimoji="0" lang="en-US"/>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4" name="Espace réservé du pied de page 3"/>
          <p:cNvSpPr>
            <a:spLocks noGrp="1"/>
          </p:cNvSpPr>
          <p:nvPr>
            <p:ph type="ftr" sz="quarter" idx="11"/>
          </p:nvPr>
        </p:nvSpPr>
        <p:spPr/>
        <p:txBody>
          <a:bodyPr/>
          <a:lstStyle/>
          <a:p>
            <a:endParaRPr kumimoji="0" lang="en-US"/>
          </a:p>
        </p:txBody>
      </p:sp>
      <p:sp>
        <p:nvSpPr>
          <p:cNvPr id="5" name="Espace réservé du numéro de diapositive 4"/>
          <p:cNvSpPr>
            <a:spLocks noGrp="1"/>
          </p:cNvSpPr>
          <p:nvPr>
            <p:ph type="sldNum" sz="quarter" idx="12"/>
          </p:nvPr>
        </p:nvSpPr>
        <p:spPr>
          <a:xfrm>
            <a:off x="4343400" y="1036020"/>
            <a:ext cx="457200" cy="441325"/>
          </a:xfrm>
        </p:spPr>
        <p:txBody>
          <a:bodyPr/>
          <a:lstStyle/>
          <a:p>
            <a:fld id="{91974DF9-AD47-4691-BA21-BBFCE3637A9A}" type="slidenum">
              <a:rPr kumimoji="0" lang="en-US" smtClean="0"/>
              <a:pPr/>
              <a:t>‹N°›</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91974DF9-AD47-4691-BA21-BBFCE3637A9A}" type="slidenum">
              <a:rPr kumimoji="0" lang="en-US" smtClean="0"/>
              <a:pPr/>
              <a:t>‹N°›</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91974DF9-AD47-4691-BA21-BBFCE3637A9A}" type="slidenum">
              <a:rPr kumimoji="0" lang="en-US" smtClean="0"/>
              <a:pPr/>
              <a:t>‹N°›</a:t>
            </a:fld>
            <a:endParaRPr kumimoji="0"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91974DF9-AD47-4691-BA21-BBFCE3637A9A}" type="slidenum">
              <a:rPr kumimoji="0" lang="en-US" smtClean="0"/>
              <a:pPr/>
              <a:t>‹N°›</a:t>
            </a:fld>
            <a:endParaRPr kumimoji="0" lang="en-US"/>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C699CB88-5E1A-4FAC-892A-60949ACB1F6F}" type="datetimeFigureOut">
              <a:rPr lang="en-US" smtClean="0"/>
              <a:pPr/>
              <a:t>12/17/2024</a:t>
            </a:fld>
            <a:endParaRPr lang="en-US"/>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91974DF9-AD47-4691-BA21-BBFCE3637A9A}"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91974DF9-AD47-4691-BA21-BBFCE3637A9A}" type="slidenum">
              <a:rPr kumimoji="0" lang="en-US" smtClean="0"/>
              <a:pPr/>
              <a:t>‹N°›</a:t>
            </a:fld>
            <a:endParaRPr kumimoji="0" lang="en-US"/>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699CB88-5E1A-4FAC-892A-60949ACB1F6F}" type="datetimeFigureOut">
              <a:rPr lang="en-US" smtClean="0"/>
              <a:pPr/>
              <a:t>12/17/2024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C699CB88-5E1A-4FAC-892A-60949ACB1F6F}" type="datetimeFigureOut">
              <a:rPr lang="en-US" smtClean="0"/>
              <a:pPr/>
              <a:t>12/17/2024</a:t>
            </a:fld>
            <a:endParaRPr lang="en-US"/>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kumimoji="0"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91974DF9-AD47-4691-BA21-BBFCE3637A9A}" type="slidenum">
              <a:rPr kumimoji="0" lang="en-US" smtClean="0"/>
              <a:pPr/>
              <a:t>‹N°›</a:t>
            </a:fld>
            <a:endParaRPr kumimoji="0" lang="en-US"/>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68305" y="1820223"/>
            <a:ext cx="7952240" cy="3596903"/>
          </a:xfrm>
          <a:noFill/>
          <a:ln/>
        </p:spPr>
        <p:txBody>
          <a:bodyPr lIns="90488" tIns="44450" rIns="90488" bIns="44450"/>
          <a:lstStyle/>
          <a:p>
            <a:pPr algn="ctr">
              <a:lnSpc>
                <a:spcPct val="95000"/>
              </a:lnSpc>
            </a:pPr>
            <a:r>
              <a:rPr lang="en-US" sz="5000" b="1" dirty="0">
                <a:latin typeface="Arial" pitchFamily="34" charset="0"/>
                <a:cs typeface="Arial" pitchFamily="34" charset="0"/>
              </a:rPr>
              <a:t>Chapitre8 </a:t>
            </a:r>
            <a:br>
              <a:rPr lang="en-US" sz="5000" b="1" dirty="0">
                <a:latin typeface="Arial" pitchFamily="34" charset="0"/>
                <a:cs typeface="Arial" pitchFamily="34" charset="0"/>
              </a:rPr>
            </a:br>
            <a:r>
              <a:rPr lang="fr-FR" sz="5000" b="1" dirty="0">
                <a:solidFill>
                  <a:schemeClr val="tx1"/>
                </a:solidFill>
                <a:latin typeface="Arial" pitchFamily="34" charset="0"/>
                <a:cs typeface="Arial" pitchFamily="34" charset="0"/>
              </a:rPr>
              <a:t>Configuration de l'adressage TCP/IP et de la résolution de noms</a:t>
            </a:r>
            <a:r>
              <a:rPr lang="fr-FR" sz="5000" b="1" dirty="0">
                <a:latin typeface="Arial" pitchFamily="34" charset="0"/>
                <a:cs typeface="Arial" pitchFamily="34" charset="0"/>
              </a:rPr>
              <a:t> </a:t>
            </a:r>
            <a:endParaRPr lang="en-US" sz="5000" b="1" dirty="0">
              <a:latin typeface="Arial" pitchFamily="34" charset="0"/>
              <a:cs typeface="Arial" pitchFamily="34" charset="0"/>
            </a:endParaRPr>
          </a:p>
        </p:txBody>
      </p:sp>
      <p:sp>
        <p:nvSpPr>
          <p:cNvPr id="3" name="Rectangle 2"/>
          <p:cNvSpPr/>
          <p:nvPr/>
        </p:nvSpPr>
        <p:spPr>
          <a:xfrm>
            <a:off x="2868426" y="248272"/>
            <a:ext cx="3416269" cy="830997"/>
          </a:xfrm>
          <a:prstGeom prst="rect">
            <a:avLst/>
          </a:prstGeom>
        </p:spPr>
        <p:txBody>
          <a:bodyPr wrap="square">
            <a:spAutoFit/>
          </a:bodyPr>
          <a:lstStyle/>
          <a:p>
            <a:r>
              <a:rPr lang="en-US" sz="4800" dirty="0">
                <a:latin typeface="Times New Roman" pitchFamily="18" charset="0"/>
              </a:rPr>
              <a:t>Module S41</a:t>
            </a:r>
            <a:endParaRPr lang="fr-FR" sz="4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2" name="Rectangle 4"/>
          <p:cNvSpPr>
            <a:spLocks noGrp="1" noChangeArrowheads="1"/>
          </p:cNvSpPr>
          <p:nvPr>
            <p:ph type="title"/>
          </p:nvPr>
        </p:nvSpPr>
        <p:spPr/>
        <p:txBody>
          <a:bodyPr/>
          <a:lstStyle/>
          <a:p>
            <a:r>
              <a:rPr lang="fr-FR" dirty="0"/>
              <a:t>Plan du cours</a:t>
            </a:r>
            <a:endParaRPr lang="en-US" dirty="0"/>
          </a:p>
        </p:txBody>
      </p:sp>
      <p:sp>
        <p:nvSpPr>
          <p:cNvPr id="324613" name="Rectangle 5"/>
          <p:cNvSpPr>
            <a:spLocks noGrp="1" noChangeArrowheads="1"/>
          </p:cNvSpPr>
          <p:nvPr>
            <p:ph sz="quarter" idx="1"/>
          </p:nvPr>
        </p:nvSpPr>
        <p:spPr>
          <a:xfrm>
            <a:off x="345295" y="1875397"/>
            <a:ext cx="8503920" cy="3988380"/>
          </a:xfrm>
        </p:spPr>
        <p:txBody>
          <a:bodyPr>
            <a:noAutofit/>
          </a:bodyPr>
          <a:lstStyle/>
          <a:p>
            <a:pPr marL="514350" indent="-514350">
              <a:buClrTx/>
              <a:buFont typeface="+mj-lt"/>
              <a:buAutoNum type="arabicPeriod"/>
            </a:pPr>
            <a:r>
              <a:rPr lang="fr-FR" sz="3200" dirty="0"/>
              <a:t>Configuration d'adresses IP</a:t>
            </a:r>
            <a:r>
              <a:rPr lang="en-US" sz="3200" dirty="0"/>
              <a:t> </a:t>
            </a:r>
          </a:p>
          <a:p>
            <a:pPr marL="514350" indent="-514350">
              <a:buClrTx/>
              <a:buFont typeface="+mj-lt"/>
              <a:buAutoNum type="arabicPeriod"/>
            </a:pPr>
            <a:r>
              <a:rPr lang="fr-FR" sz="3200" dirty="0"/>
              <a:t>Résolution des problèmes liés aux adresses IP</a:t>
            </a:r>
            <a:r>
              <a:rPr lang="en-US" sz="3200" dirty="0"/>
              <a:t> </a:t>
            </a:r>
          </a:p>
          <a:p>
            <a:pPr marL="514350" indent="-514350">
              <a:buClrTx/>
              <a:buFont typeface="+mj-lt"/>
              <a:buAutoNum type="arabicPeriod"/>
            </a:pPr>
            <a:r>
              <a:rPr lang="fr-FR" sz="3200" dirty="0"/>
              <a:t>Détermination des méthodes de résolution de noms TCP/IP</a:t>
            </a:r>
            <a:r>
              <a:rPr lang="en-US" sz="3200" dirty="0"/>
              <a:t> </a:t>
            </a:r>
          </a:p>
          <a:p>
            <a:pPr marL="514350" indent="-514350">
              <a:buClrTx/>
              <a:buFont typeface="+mj-lt"/>
              <a:buAutoNum type="arabicPeriod"/>
            </a:pPr>
            <a:r>
              <a:rPr lang="fr-FR" sz="3200" dirty="0"/>
              <a:t>Configuration d'un client DNS et WINS</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title"/>
          </p:nvPr>
        </p:nvSpPr>
        <p:spPr/>
        <p:txBody>
          <a:bodyPr/>
          <a:lstStyle/>
          <a:p>
            <a:r>
              <a:rPr lang="en-US" dirty="0"/>
              <a:t>1. </a:t>
            </a:r>
            <a:r>
              <a:rPr lang="fr-FR" dirty="0"/>
              <a:t>Configuration d'adresses IP</a:t>
            </a:r>
            <a:r>
              <a:rPr lang="en-US" dirty="0"/>
              <a:t> </a:t>
            </a:r>
          </a:p>
        </p:txBody>
      </p:sp>
      <p:sp>
        <p:nvSpPr>
          <p:cNvPr id="300037" name="Rectangle 5"/>
          <p:cNvSpPr>
            <a:spLocks noGrp="1" noChangeArrowheads="1"/>
          </p:cNvSpPr>
          <p:nvPr>
            <p:ph sz="quarter" idx="1"/>
          </p:nvPr>
        </p:nvSpPr>
        <p:spPr>
          <a:xfrm>
            <a:off x="287238" y="1662546"/>
            <a:ext cx="8503920" cy="4114140"/>
          </a:xfrm>
        </p:spPr>
        <p:txBody>
          <a:bodyPr/>
          <a:lstStyle/>
          <a:p>
            <a:pPr>
              <a:buClrTx/>
              <a:buFont typeface="Wingdings" pitchFamily="2" charset="2"/>
              <a:buChar char="Ø"/>
            </a:pPr>
            <a:r>
              <a:rPr lang="fr-FR" dirty="0"/>
              <a:t>Qu'est-ce qu'une adresse IPv4 ?</a:t>
            </a:r>
          </a:p>
          <a:p>
            <a:pPr>
              <a:buClrTx/>
              <a:buFont typeface="Wingdings" pitchFamily="2" charset="2"/>
              <a:buChar char="Ø"/>
            </a:pPr>
            <a:r>
              <a:rPr lang="fr-FR" dirty="0"/>
              <a:t>Attribution d'adresses IP statiques </a:t>
            </a:r>
            <a:endParaRPr lang="en-US" dirty="0"/>
          </a:p>
          <a:p>
            <a:pPr>
              <a:buClrTx/>
              <a:buFont typeface="Wingdings" pitchFamily="2" charset="2"/>
              <a:buChar char="Ø"/>
            </a:pPr>
            <a:r>
              <a:rPr lang="fr-FR" dirty="0"/>
              <a:t>Processus de configuration IPv4 automatique</a:t>
            </a:r>
          </a:p>
          <a:p>
            <a:pPr>
              <a:buClrTx/>
              <a:buFont typeface="Wingdings" pitchFamily="2" charset="2"/>
              <a:buChar char="Ø"/>
            </a:pPr>
            <a:r>
              <a:rPr lang="fr-FR" dirty="0"/>
              <a:t>Vue d'ensemble de l'attribution dynamique d'adresses </a:t>
            </a:r>
            <a:endParaRPr lang="en-US" dirty="0"/>
          </a:p>
          <a:p>
            <a:pPr>
              <a:buClrTx/>
              <a:buFont typeface="Wingdings" pitchFamily="2" charset="2"/>
              <a:buChar char="Ø"/>
            </a:pPr>
            <a:r>
              <a:rPr lang="fr-FR" dirty="0"/>
              <a:t>Utilisation du protocole DHCP pour automatiser les attributions d'adresses IP </a:t>
            </a:r>
            <a:endParaRPr lang="en-US" dirty="0"/>
          </a:p>
          <a:p>
            <a:pPr>
              <a:buClrTx/>
              <a:buFont typeface="Wingdings" pitchFamily="2" charset="2"/>
              <a:buChar char="Ø"/>
            </a:pPr>
            <a:r>
              <a:rPr lang="fr-FR" dirty="0"/>
              <a:t>Activation d'une configuration IP alternative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5"/>
          <p:cNvSpPr>
            <a:spLocks/>
          </p:cNvSpPr>
          <p:nvPr/>
        </p:nvSpPr>
        <p:spPr bwMode="auto">
          <a:xfrm rot="5400000">
            <a:off x="3988064" y="-2148013"/>
            <a:ext cx="1219134" cy="873252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vert="vert270" lIns="0" tIns="45718" rIns="0" bIns="0" anchor="ctr"/>
          <a:lstStyle/>
          <a:p>
            <a:pPr algn="ctr" defTabSz="912813">
              <a:lnSpc>
                <a:spcPct val="85000"/>
              </a:lnSpc>
              <a:buSzPct val="90000"/>
              <a:defRPr/>
            </a:pPr>
            <a:r>
              <a:rPr lang="fr-FR" sz="2400" dirty="0">
                <a:solidFill>
                  <a:schemeClr val="tx1"/>
                </a:solidFill>
              </a:rPr>
              <a:t>Une adresse IPv4 d’ un ordinateur permet aux autres ordinateurs sur un réseau de l’identifier.</a:t>
            </a:r>
            <a:endParaRPr lang="en-US" altLang="zh-CN" sz="2200" dirty="0">
              <a:solidFill>
                <a:schemeClr val="tx1"/>
              </a:solidFill>
              <a:effectLst>
                <a:outerShdw blurRad="38100" dist="38100" dir="2700000" algn="tl">
                  <a:srgbClr val="C0C0C0"/>
                </a:outerShdw>
              </a:effectLst>
              <a:latin typeface="Segoe Semibold" pitchFamily="34" charset="0"/>
              <a:ea typeface="宋体" pitchFamily="2" charset="-122"/>
            </a:endParaRPr>
          </a:p>
        </p:txBody>
      </p:sp>
      <p:sp>
        <p:nvSpPr>
          <p:cNvPr id="6147" name="Title 1"/>
          <p:cNvSpPr>
            <a:spLocks noGrp="1"/>
          </p:cNvSpPr>
          <p:nvPr>
            <p:ph type="title"/>
          </p:nvPr>
        </p:nvSpPr>
        <p:spPr>
          <a:xfrm>
            <a:off x="221673" y="207818"/>
            <a:ext cx="8686800" cy="763011"/>
          </a:xfrm>
        </p:spPr>
        <p:txBody>
          <a:bodyPr vert="horz" anchor="b">
            <a:normAutofit/>
          </a:bodyPr>
          <a:lstStyle/>
          <a:p>
            <a:r>
              <a:rPr lang="fr-FR" dirty="0">
                <a:solidFill>
                  <a:srgbClr val="C00000"/>
                </a:solidFill>
              </a:rPr>
              <a:t>Qu'est-ce qu'une adresse IPv4 ?</a:t>
            </a:r>
          </a:p>
        </p:txBody>
      </p:sp>
      <p:grpSp>
        <p:nvGrpSpPr>
          <p:cNvPr id="2" name="Group 19"/>
          <p:cNvGrpSpPr>
            <a:grpSpLocks/>
          </p:cNvGrpSpPr>
          <p:nvPr/>
        </p:nvGrpSpPr>
        <p:grpSpPr bwMode="auto">
          <a:xfrm>
            <a:off x="1039813" y="3516323"/>
            <a:ext cx="7813241" cy="2933259"/>
            <a:chOff x="1039471" y="3211265"/>
            <a:chExt cx="7813587" cy="2933498"/>
          </a:xfrm>
        </p:grpSpPr>
        <p:sp>
          <p:nvSpPr>
            <p:cNvPr id="6168" name="Line 6"/>
            <p:cNvSpPr>
              <a:spLocks noChangeShapeType="1"/>
            </p:cNvSpPr>
            <p:nvPr/>
          </p:nvSpPr>
          <p:spPr bwMode="auto">
            <a:xfrm>
              <a:off x="3929405" y="3211265"/>
              <a:ext cx="923939" cy="1361711"/>
            </a:xfrm>
            <a:prstGeom prst="line">
              <a:avLst/>
            </a:prstGeom>
            <a:noFill/>
            <a:ln w="38100">
              <a:solidFill>
                <a:srgbClr val="CC0000"/>
              </a:solidFill>
              <a:round/>
              <a:headEnd/>
              <a:tailEnd/>
            </a:ln>
          </p:spPr>
          <p:txBody>
            <a:bodyPr/>
            <a:lstStyle/>
            <a:p>
              <a:endParaRPr lang="fr-FR"/>
            </a:p>
          </p:txBody>
        </p:sp>
        <p:pic>
          <p:nvPicPr>
            <p:cNvPr id="6169" name="Picture 11" descr="Lan01"/>
            <p:cNvPicPr>
              <a:picLocks noChangeAspect="1" noChangeArrowheads="1"/>
            </p:cNvPicPr>
            <p:nvPr/>
          </p:nvPicPr>
          <p:blipFill>
            <a:blip r:embed="rId3"/>
            <a:srcRect/>
            <a:stretch>
              <a:fillRect/>
            </a:stretch>
          </p:blipFill>
          <p:spPr bwMode="auto">
            <a:xfrm>
              <a:off x="3808663" y="3854563"/>
              <a:ext cx="3204913" cy="1995378"/>
            </a:xfrm>
            <a:prstGeom prst="rect">
              <a:avLst/>
            </a:prstGeom>
            <a:noFill/>
            <a:ln w="9525">
              <a:noFill/>
              <a:miter lim="800000"/>
              <a:headEnd/>
              <a:tailEnd/>
            </a:ln>
          </p:spPr>
        </p:pic>
        <p:sp>
          <p:nvSpPr>
            <p:cNvPr id="8" name="AutoShape 12"/>
            <p:cNvSpPr>
              <a:spLocks noChangeArrowheads="1"/>
            </p:cNvSpPr>
            <p:nvPr/>
          </p:nvSpPr>
          <p:spPr bwMode="auto">
            <a:xfrm>
              <a:off x="1718951" y="4765554"/>
              <a:ext cx="2160106" cy="320030"/>
            </a:xfrm>
            <a:prstGeom prst="roundRect">
              <a:avLst>
                <a:gd name="adj" fmla="val 4167"/>
              </a:avLst>
            </a:prstGeom>
            <a:gradFill rotWithShape="0">
              <a:gsLst>
                <a:gs pos="0">
                  <a:srgbClr val="E4CD9A"/>
                </a:gs>
                <a:gs pos="50000">
                  <a:srgbClr val="EEEFD7"/>
                </a:gs>
                <a:gs pos="100000">
                  <a:srgbClr val="FFFFFF"/>
                </a:gs>
              </a:gsLst>
              <a:lin ang="5400000"/>
            </a:gradFill>
            <a:ln w="9525">
              <a:solidFill>
                <a:srgbClr val="4D4D4D"/>
              </a:solidFill>
              <a:round/>
              <a:headEnd/>
              <a:tailEnd/>
            </a:ln>
            <a:effectLst>
              <a:outerShdw dist="35921" dir="2700000" algn="ctr" rotWithShape="0">
                <a:srgbClr val="AFAFAF"/>
              </a:outerShdw>
            </a:effectLst>
          </p:spPr>
          <p:txBody>
            <a:bodyPr wrap="square" anchor="ctr">
              <a:spAutoFit/>
            </a:bodyPr>
            <a:lstStyle/>
            <a:p>
              <a:pPr>
                <a:lnSpc>
                  <a:spcPct val="90000"/>
                </a:lnSpc>
                <a:spcBef>
                  <a:spcPct val="40000"/>
                </a:spcBef>
                <a:defRPr/>
              </a:pPr>
              <a:r>
                <a:rPr lang="en-US" sz="1600" dirty="0" err="1">
                  <a:cs typeface="Arial" charset="0"/>
                </a:rPr>
                <a:t>Adresse</a:t>
              </a:r>
              <a:r>
                <a:rPr lang="en-US" sz="1600" dirty="0">
                  <a:cs typeface="Arial" charset="0"/>
                </a:rPr>
                <a:t> IP: 92.168.1.201</a:t>
              </a:r>
            </a:p>
          </p:txBody>
        </p:sp>
        <p:sp>
          <p:nvSpPr>
            <p:cNvPr id="9" name="AutoShape 13"/>
            <p:cNvSpPr>
              <a:spLocks noChangeArrowheads="1"/>
            </p:cNvSpPr>
            <p:nvPr/>
          </p:nvSpPr>
          <p:spPr bwMode="auto">
            <a:xfrm>
              <a:off x="6681983" y="4454811"/>
              <a:ext cx="2171075" cy="320030"/>
            </a:xfrm>
            <a:prstGeom prst="roundRect">
              <a:avLst>
                <a:gd name="adj" fmla="val 4167"/>
              </a:avLst>
            </a:prstGeom>
            <a:gradFill rotWithShape="0">
              <a:gsLst>
                <a:gs pos="0">
                  <a:srgbClr val="E4CD9A"/>
                </a:gs>
                <a:gs pos="50000">
                  <a:srgbClr val="EEEFD7"/>
                </a:gs>
                <a:gs pos="100000">
                  <a:srgbClr val="FFFFFF"/>
                </a:gs>
              </a:gsLst>
              <a:lin ang="5400000"/>
            </a:gradFill>
            <a:ln w="9525" algn="ctr">
              <a:solidFill>
                <a:srgbClr val="4D4D4D"/>
              </a:solidFill>
              <a:round/>
              <a:headEnd/>
              <a:tailEnd/>
            </a:ln>
            <a:effectLst>
              <a:outerShdw dist="35921" dir="2700000" algn="ctr" rotWithShape="0">
                <a:srgbClr val="AFAFAF"/>
              </a:outerShdw>
            </a:effectLst>
          </p:spPr>
          <p:txBody>
            <a:bodyPr wrap="square" anchor="ctr">
              <a:spAutoFit/>
            </a:bodyPr>
            <a:lstStyle/>
            <a:p>
              <a:pPr>
                <a:lnSpc>
                  <a:spcPct val="90000"/>
                </a:lnSpc>
                <a:spcBef>
                  <a:spcPct val="40000"/>
                </a:spcBef>
                <a:defRPr/>
              </a:pPr>
              <a:r>
                <a:rPr lang="en-US" sz="1600" dirty="0" err="1">
                  <a:cs typeface="Arial" charset="0"/>
                </a:rPr>
                <a:t>Adresse</a:t>
              </a:r>
              <a:r>
                <a:rPr lang="en-US" sz="1600" dirty="0">
                  <a:cs typeface="Arial" charset="0"/>
                </a:rPr>
                <a:t> IP: 192.168.1.202</a:t>
              </a:r>
            </a:p>
          </p:txBody>
        </p:sp>
        <p:sp>
          <p:nvSpPr>
            <p:cNvPr id="10" name="AutoShape 14"/>
            <p:cNvSpPr>
              <a:spLocks noChangeArrowheads="1"/>
            </p:cNvSpPr>
            <p:nvPr/>
          </p:nvSpPr>
          <p:spPr bwMode="auto">
            <a:xfrm>
              <a:off x="4495033" y="3523450"/>
              <a:ext cx="2390592" cy="320030"/>
            </a:xfrm>
            <a:prstGeom prst="roundRect">
              <a:avLst>
                <a:gd name="adj" fmla="val 4167"/>
              </a:avLst>
            </a:prstGeom>
            <a:gradFill rotWithShape="0">
              <a:gsLst>
                <a:gs pos="0">
                  <a:srgbClr val="E4CD9A"/>
                </a:gs>
                <a:gs pos="50000">
                  <a:srgbClr val="EEEFD7"/>
                </a:gs>
                <a:gs pos="100000">
                  <a:srgbClr val="FFFFFF"/>
                </a:gs>
              </a:gsLst>
              <a:lin ang="5400000"/>
            </a:gradFill>
            <a:ln w="9525" algn="ctr">
              <a:solidFill>
                <a:srgbClr val="4D4D4D"/>
              </a:solidFill>
              <a:round/>
              <a:headEnd/>
              <a:tailEnd/>
            </a:ln>
            <a:effectLst>
              <a:outerShdw dist="35921" dir="2700000" algn="ctr" rotWithShape="0">
                <a:srgbClr val="AFAFAF"/>
              </a:outerShdw>
            </a:effectLst>
          </p:spPr>
          <p:txBody>
            <a:bodyPr wrap="square" anchor="ctr">
              <a:spAutoFit/>
            </a:bodyPr>
            <a:lstStyle/>
            <a:p>
              <a:pPr>
                <a:lnSpc>
                  <a:spcPct val="90000"/>
                </a:lnSpc>
                <a:spcBef>
                  <a:spcPct val="40000"/>
                </a:spcBef>
                <a:defRPr/>
              </a:pPr>
              <a:r>
                <a:rPr lang="en-US" sz="1600" dirty="0" err="1">
                  <a:cs typeface="Arial" charset="0"/>
                </a:rPr>
                <a:t>Adresse</a:t>
              </a:r>
              <a:r>
                <a:rPr lang="en-US" sz="1600" dirty="0">
                  <a:cs typeface="Arial" charset="0"/>
                </a:rPr>
                <a:t> IP:192.168.1.200</a:t>
              </a:r>
            </a:p>
          </p:txBody>
        </p:sp>
        <p:sp>
          <p:nvSpPr>
            <p:cNvPr id="16" name="AutoShape 13"/>
            <p:cNvSpPr>
              <a:spLocks noChangeArrowheads="1"/>
            </p:cNvSpPr>
            <p:nvPr/>
          </p:nvSpPr>
          <p:spPr bwMode="auto">
            <a:xfrm>
              <a:off x="1039471" y="5711781"/>
              <a:ext cx="1818207" cy="432982"/>
            </a:xfrm>
            <a:prstGeom prst="roundRect">
              <a:avLst>
                <a:gd name="adj" fmla="val 4167"/>
              </a:avLst>
            </a:prstGeom>
            <a:gradFill rotWithShape="0">
              <a:gsLst>
                <a:gs pos="0">
                  <a:srgbClr val="E4CD9A"/>
                </a:gs>
                <a:gs pos="50000">
                  <a:srgbClr val="EEEFD7"/>
                </a:gs>
                <a:gs pos="100000">
                  <a:srgbClr val="FFFFFF"/>
                </a:gs>
              </a:gsLst>
              <a:lin ang="5400000"/>
            </a:gradFill>
            <a:ln w="9525" algn="ctr">
              <a:solidFill>
                <a:srgbClr val="4D4D4D"/>
              </a:solidFill>
              <a:round/>
              <a:headEnd/>
              <a:tailEnd/>
            </a:ln>
            <a:effectLst>
              <a:outerShdw dist="35921" dir="2700000" algn="ctr" rotWithShape="0">
                <a:srgbClr val="AFAFAF"/>
              </a:outerShdw>
            </a:effectLst>
          </p:spPr>
          <p:txBody>
            <a:bodyPr wrap="none" anchor="ctr">
              <a:spAutoFit/>
            </a:bodyPr>
            <a:lstStyle/>
            <a:p>
              <a:pPr>
                <a:lnSpc>
                  <a:spcPct val="90000"/>
                </a:lnSpc>
                <a:spcBef>
                  <a:spcPct val="40000"/>
                </a:spcBef>
                <a:defRPr/>
              </a:pPr>
              <a:r>
                <a:rPr lang="en-US" sz="2400" dirty="0" err="1">
                  <a:cs typeface="Arial" charset="0"/>
                </a:rPr>
                <a:t>Sous</a:t>
              </a:r>
              <a:r>
                <a:rPr lang="en-US" sz="2400" dirty="0">
                  <a:cs typeface="Arial" charset="0"/>
                </a:rPr>
                <a:t> </a:t>
              </a:r>
              <a:r>
                <a:rPr lang="en-US" sz="2400" dirty="0" err="1">
                  <a:cs typeface="Arial" charset="0"/>
                </a:rPr>
                <a:t>réseau</a:t>
              </a:r>
              <a:r>
                <a:rPr lang="en-US" sz="2400" dirty="0">
                  <a:cs typeface="Arial" charset="0"/>
                </a:rPr>
                <a:t> 2</a:t>
              </a:r>
            </a:p>
          </p:txBody>
        </p:sp>
      </p:grpSp>
      <p:grpSp>
        <p:nvGrpSpPr>
          <p:cNvPr id="3" name="Group 20"/>
          <p:cNvGrpSpPr>
            <a:grpSpLocks/>
          </p:cNvGrpSpPr>
          <p:nvPr/>
        </p:nvGrpSpPr>
        <p:grpSpPr bwMode="auto">
          <a:xfrm>
            <a:off x="179965" y="1385465"/>
            <a:ext cx="7495452" cy="2356154"/>
            <a:chOff x="179965" y="1054100"/>
            <a:chExt cx="7495452" cy="2376488"/>
          </a:xfrm>
        </p:grpSpPr>
        <p:sp>
          <p:nvSpPr>
            <p:cNvPr id="11" name="AutoShape 8"/>
            <p:cNvSpPr>
              <a:spLocks noChangeArrowheads="1"/>
            </p:cNvSpPr>
            <p:nvPr/>
          </p:nvSpPr>
          <p:spPr bwMode="auto">
            <a:xfrm>
              <a:off x="179965" y="2841753"/>
              <a:ext cx="2169184" cy="322766"/>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anchor="ctr">
              <a:spAutoFit/>
            </a:bodyPr>
            <a:lstStyle/>
            <a:p>
              <a:pPr>
                <a:lnSpc>
                  <a:spcPct val="90000"/>
                </a:lnSpc>
                <a:spcBef>
                  <a:spcPct val="40000"/>
                </a:spcBef>
                <a:defRPr/>
              </a:pPr>
              <a:r>
                <a:rPr lang="en-US" sz="1600" dirty="0" err="1">
                  <a:cs typeface="Arial" charset="0"/>
                </a:rPr>
                <a:t>Adresse</a:t>
              </a:r>
              <a:r>
                <a:rPr lang="en-US" sz="1600" dirty="0">
                  <a:cs typeface="Arial" charset="0"/>
                </a:rPr>
                <a:t> IP: 192.168.2.182</a:t>
              </a:r>
            </a:p>
          </p:txBody>
        </p:sp>
        <p:sp>
          <p:nvSpPr>
            <p:cNvPr id="12" name="AutoShape 9"/>
            <p:cNvSpPr>
              <a:spLocks noChangeArrowheads="1"/>
            </p:cNvSpPr>
            <p:nvPr/>
          </p:nvSpPr>
          <p:spPr bwMode="auto">
            <a:xfrm>
              <a:off x="1200149" y="1054100"/>
              <a:ext cx="2263487" cy="322766"/>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anchor="ctr">
              <a:spAutoFit/>
            </a:bodyPr>
            <a:lstStyle/>
            <a:p>
              <a:pPr>
                <a:lnSpc>
                  <a:spcPct val="90000"/>
                </a:lnSpc>
                <a:spcBef>
                  <a:spcPct val="40000"/>
                </a:spcBef>
                <a:defRPr/>
              </a:pPr>
              <a:r>
                <a:rPr lang="en-US" sz="1600" dirty="0" err="1">
                  <a:cs typeface="Arial" charset="0"/>
                </a:rPr>
                <a:t>Adresse</a:t>
              </a:r>
              <a:r>
                <a:rPr lang="en-US" sz="1600" dirty="0">
                  <a:cs typeface="Arial" charset="0"/>
                </a:rPr>
                <a:t> IP:192.168.2.180</a:t>
              </a:r>
            </a:p>
          </p:txBody>
        </p:sp>
        <p:grpSp>
          <p:nvGrpSpPr>
            <p:cNvPr id="4" name="Group 19"/>
            <p:cNvGrpSpPr>
              <a:grpSpLocks/>
            </p:cNvGrpSpPr>
            <p:nvPr/>
          </p:nvGrpSpPr>
          <p:grpSpPr bwMode="auto">
            <a:xfrm>
              <a:off x="2192338" y="1317625"/>
              <a:ext cx="5483079" cy="2112963"/>
              <a:chOff x="2192338" y="1317625"/>
              <a:chExt cx="5483079" cy="2112963"/>
            </a:xfrm>
          </p:grpSpPr>
          <p:grpSp>
            <p:nvGrpSpPr>
              <p:cNvPr id="5" name="Group 18"/>
              <p:cNvGrpSpPr>
                <a:grpSpLocks/>
              </p:cNvGrpSpPr>
              <p:nvPr/>
            </p:nvGrpSpPr>
            <p:grpSpPr bwMode="auto">
              <a:xfrm>
                <a:off x="2192338" y="1435100"/>
                <a:ext cx="5483079" cy="1995488"/>
                <a:chOff x="2192338" y="1435100"/>
                <a:chExt cx="5483079" cy="1995488"/>
              </a:xfrm>
            </p:grpSpPr>
            <p:pic>
              <p:nvPicPr>
                <p:cNvPr id="6166" name="Picture 7" descr="Lan01"/>
                <p:cNvPicPr>
                  <a:picLocks noChangeAspect="1" noChangeArrowheads="1"/>
                </p:cNvPicPr>
                <p:nvPr/>
              </p:nvPicPr>
              <p:blipFill>
                <a:blip r:embed="rId3"/>
                <a:srcRect/>
                <a:stretch>
                  <a:fillRect/>
                </a:stretch>
              </p:blipFill>
              <p:spPr bwMode="auto">
                <a:xfrm>
                  <a:off x="2192338" y="1435100"/>
                  <a:ext cx="3203575" cy="1995488"/>
                </a:xfrm>
                <a:prstGeom prst="rect">
                  <a:avLst/>
                </a:prstGeom>
                <a:noFill/>
                <a:ln w="9525">
                  <a:noFill/>
                  <a:miter lim="800000"/>
                  <a:headEnd/>
                  <a:tailEnd/>
                </a:ln>
              </p:spPr>
            </p:pic>
            <p:sp>
              <p:nvSpPr>
                <p:cNvPr id="13" name="AutoShape 10"/>
                <p:cNvSpPr>
                  <a:spLocks noChangeArrowheads="1"/>
                </p:cNvSpPr>
                <p:nvPr/>
              </p:nvSpPr>
              <p:spPr bwMode="auto">
                <a:xfrm>
                  <a:off x="5417992" y="2409970"/>
                  <a:ext cx="2257425" cy="322766"/>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anchor="ctr">
                  <a:spAutoFit/>
                </a:bodyPr>
                <a:lstStyle/>
                <a:p>
                  <a:pPr>
                    <a:lnSpc>
                      <a:spcPct val="90000"/>
                    </a:lnSpc>
                    <a:spcBef>
                      <a:spcPct val="40000"/>
                    </a:spcBef>
                    <a:defRPr/>
                  </a:pPr>
                  <a:r>
                    <a:rPr lang="en-US" sz="1600" dirty="0" err="1">
                      <a:cs typeface="Arial" charset="0"/>
                    </a:rPr>
                    <a:t>Adresse</a:t>
                  </a:r>
                  <a:r>
                    <a:rPr lang="en-US" sz="1600" dirty="0">
                      <a:cs typeface="Arial" charset="0"/>
                    </a:rPr>
                    <a:t> IP: 192.168.2.181</a:t>
                  </a:r>
                </a:p>
              </p:txBody>
            </p:sp>
          </p:grpSp>
          <p:sp>
            <p:nvSpPr>
              <p:cNvPr id="14" name="AutoShape 9"/>
              <p:cNvSpPr>
                <a:spLocks noChangeArrowheads="1"/>
              </p:cNvSpPr>
              <p:nvPr/>
            </p:nvSpPr>
            <p:spPr bwMode="auto">
              <a:xfrm>
                <a:off x="4570702" y="1317625"/>
                <a:ext cx="1818126" cy="43294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anchor="ctr">
                <a:spAutoFit/>
              </a:bodyPr>
              <a:lstStyle/>
              <a:p>
                <a:pPr>
                  <a:lnSpc>
                    <a:spcPct val="90000"/>
                  </a:lnSpc>
                  <a:spcBef>
                    <a:spcPct val="40000"/>
                  </a:spcBef>
                  <a:defRPr/>
                </a:pPr>
                <a:r>
                  <a:rPr lang="en-US" sz="2400" dirty="0" err="1">
                    <a:cs typeface="Arial" charset="0"/>
                  </a:rPr>
                  <a:t>Sous</a:t>
                </a:r>
                <a:r>
                  <a:rPr lang="en-US" sz="2400" dirty="0">
                    <a:cs typeface="Arial" charset="0"/>
                  </a:rPr>
                  <a:t> </a:t>
                </a:r>
                <a:r>
                  <a:rPr lang="en-US" sz="2400" dirty="0" err="1">
                    <a:cs typeface="Arial" charset="0"/>
                  </a:rPr>
                  <a:t>réseau</a:t>
                </a:r>
                <a:r>
                  <a:rPr lang="en-US" sz="2400" dirty="0">
                    <a:cs typeface="Arial" charset="0"/>
                  </a:rPr>
                  <a:t> 1</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1000"/>
                                        <p:tgtEl>
                                          <p:spTgt spid="15"/>
                                        </p:tgtEl>
                                        <p:attrNameLst>
                                          <p:attrName>ppt_x</p:attrName>
                                        </p:attrNameLst>
                                      </p:cBhvr>
                                      <p:tavLst>
                                        <p:tav tm="0">
                                          <p:val>
                                            <p:strVal val="ppt_x"/>
                                          </p:val>
                                        </p:tav>
                                        <p:tav tm="100000">
                                          <p:val>
                                            <p:strVal val="ppt_x"/>
                                          </p:val>
                                        </p:tav>
                                      </p:tavLst>
                                    </p:anim>
                                    <p:anim calcmode="lin" valueType="num">
                                      <p:cBhvr additive="base">
                                        <p:cTn id="7" dur="1000"/>
                                        <p:tgtEl>
                                          <p:spTgt spid="15"/>
                                        </p:tgtEl>
                                        <p:attrNameLst>
                                          <p:attrName>ppt_y</p:attrName>
                                        </p:attrNameLst>
                                      </p:cBhvr>
                                      <p:tavLst>
                                        <p:tav tm="0">
                                          <p:val>
                                            <p:strVal val="ppt_y"/>
                                          </p:val>
                                        </p:tav>
                                        <p:tav tm="100000">
                                          <p:val>
                                            <p:strVal val="1+ppt_h/2"/>
                                          </p:val>
                                        </p:tav>
                                      </p:tavLst>
                                    </p:anim>
                                    <p:set>
                                      <p:cBhvr>
                                        <p:cTn id="8" dur="1" fill="hold">
                                          <p:stCondLst>
                                            <p:cond delay="999"/>
                                          </p:stCondLst>
                                        </p:cTn>
                                        <p:tgtEl>
                                          <p:spTgt spid="15"/>
                                        </p:tgtEl>
                                        <p:attrNameLst>
                                          <p:attrName>style.visibility</p:attrName>
                                        </p:attrNameLst>
                                      </p:cBhvr>
                                      <p:to>
                                        <p:strVal val="hidden"/>
                                      </p:to>
                                    </p:set>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188686" y="228600"/>
            <a:ext cx="8766628" cy="758952"/>
          </a:xfrm>
        </p:spPr>
        <p:txBody>
          <a:bodyPr>
            <a:normAutofit/>
          </a:bodyPr>
          <a:lstStyle/>
          <a:p>
            <a:r>
              <a:rPr lang="fr-FR" dirty="0">
                <a:solidFill>
                  <a:srgbClr val="C00000"/>
                </a:solidFill>
              </a:rPr>
              <a:t>Attribution d'adresses IP statiques</a:t>
            </a:r>
            <a:endParaRPr lang="en-US" dirty="0">
              <a:solidFill>
                <a:srgbClr val="C00000"/>
              </a:solidFill>
            </a:endParaRPr>
          </a:p>
        </p:txBody>
      </p:sp>
      <p:grpSp>
        <p:nvGrpSpPr>
          <p:cNvPr id="303112" name="Group 8"/>
          <p:cNvGrpSpPr>
            <a:grpSpLocks/>
          </p:cNvGrpSpPr>
          <p:nvPr/>
        </p:nvGrpSpPr>
        <p:grpSpPr bwMode="auto">
          <a:xfrm>
            <a:off x="7140575" y="4608513"/>
            <a:ext cx="885825" cy="1431925"/>
            <a:chOff x="516" y="612"/>
            <a:chExt cx="626" cy="1012"/>
          </a:xfrm>
        </p:grpSpPr>
        <p:sp>
          <p:nvSpPr>
            <p:cNvPr id="303113" name="Freeform 9"/>
            <p:cNvSpPr>
              <a:spLocks/>
            </p:cNvSpPr>
            <p:nvPr/>
          </p:nvSpPr>
          <p:spPr bwMode="auto">
            <a:xfrm>
              <a:off x="528" y="1365"/>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303114" name="Freeform 10"/>
            <p:cNvSpPr>
              <a:spLocks/>
            </p:cNvSpPr>
            <p:nvPr/>
          </p:nvSpPr>
          <p:spPr bwMode="auto">
            <a:xfrm>
              <a:off x="518" y="612"/>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03115" name="Freeform 11"/>
            <p:cNvSpPr>
              <a:spLocks/>
            </p:cNvSpPr>
            <p:nvPr/>
          </p:nvSpPr>
          <p:spPr bwMode="auto">
            <a:xfrm>
              <a:off x="790" y="672"/>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16" name="Freeform 12"/>
            <p:cNvSpPr>
              <a:spLocks/>
            </p:cNvSpPr>
            <p:nvPr/>
          </p:nvSpPr>
          <p:spPr bwMode="auto">
            <a:xfrm>
              <a:off x="516" y="760"/>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03117" name="Line 13"/>
            <p:cNvSpPr>
              <a:spLocks noChangeShapeType="1"/>
            </p:cNvSpPr>
            <p:nvPr/>
          </p:nvSpPr>
          <p:spPr bwMode="auto">
            <a:xfrm>
              <a:off x="555" y="1462"/>
              <a:ext cx="192" cy="51"/>
            </a:xfrm>
            <a:prstGeom prst="line">
              <a:avLst/>
            </a:prstGeom>
            <a:noFill/>
            <a:ln w="6350">
              <a:solidFill>
                <a:srgbClr val="676767"/>
              </a:solidFill>
              <a:round/>
              <a:headEnd/>
              <a:tailEnd/>
            </a:ln>
            <a:effectLst/>
          </p:spPr>
          <p:txBody>
            <a:bodyPr wrap="none" anchor="ctr"/>
            <a:lstStyle/>
            <a:p>
              <a:endParaRPr lang="fr-FR"/>
            </a:p>
          </p:txBody>
        </p:sp>
        <p:sp>
          <p:nvSpPr>
            <p:cNvPr id="303118" name="Oval 14"/>
            <p:cNvSpPr>
              <a:spLocks noChangeArrowheads="1"/>
            </p:cNvSpPr>
            <p:nvPr/>
          </p:nvSpPr>
          <p:spPr bwMode="auto">
            <a:xfrm>
              <a:off x="548" y="801"/>
              <a:ext cx="31" cy="17"/>
            </a:xfrm>
            <a:prstGeom prst="ellipse">
              <a:avLst/>
            </a:prstGeom>
            <a:solidFill>
              <a:srgbClr val="D60093"/>
            </a:solidFill>
            <a:ln w="12700">
              <a:noFill/>
              <a:round/>
              <a:headEnd/>
              <a:tailEnd/>
            </a:ln>
            <a:effectLst/>
          </p:spPr>
          <p:txBody>
            <a:bodyPr wrap="none" anchor="ctr"/>
            <a:lstStyle/>
            <a:p>
              <a:endParaRPr lang="fr-FR"/>
            </a:p>
          </p:txBody>
        </p:sp>
        <p:sp>
          <p:nvSpPr>
            <p:cNvPr id="303119" name="Line 15"/>
            <p:cNvSpPr>
              <a:spLocks noChangeShapeType="1"/>
            </p:cNvSpPr>
            <p:nvPr/>
          </p:nvSpPr>
          <p:spPr bwMode="auto">
            <a:xfrm>
              <a:off x="555" y="1424"/>
              <a:ext cx="192" cy="51"/>
            </a:xfrm>
            <a:prstGeom prst="line">
              <a:avLst/>
            </a:prstGeom>
            <a:noFill/>
            <a:ln w="6350">
              <a:solidFill>
                <a:srgbClr val="676767"/>
              </a:solidFill>
              <a:round/>
              <a:headEnd/>
              <a:tailEnd/>
            </a:ln>
            <a:effectLst/>
          </p:spPr>
          <p:txBody>
            <a:bodyPr wrap="none" anchor="ctr"/>
            <a:lstStyle/>
            <a:p>
              <a:endParaRPr lang="fr-FR"/>
            </a:p>
          </p:txBody>
        </p:sp>
        <p:sp>
          <p:nvSpPr>
            <p:cNvPr id="303120" name="Line 16"/>
            <p:cNvSpPr>
              <a:spLocks noChangeShapeType="1"/>
            </p:cNvSpPr>
            <p:nvPr/>
          </p:nvSpPr>
          <p:spPr bwMode="auto">
            <a:xfrm>
              <a:off x="555" y="1386"/>
              <a:ext cx="192" cy="52"/>
            </a:xfrm>
            <a:prstGeom prst="line">
              <a:avLst/>
            </a:prstGeom>
            <a:noFill/>
            <a:ln w="6350">
              <a:solidFill>
                <a:srgbClr val="676767"/>
              </a:solidFill>
              <a:round/>
              <a:headEnd/>
              <a:tailEnd/>
            </a:ln>
            <a:effectLst/>
          </p:spPr>
          <p:txBody>
            <a:bodyPr wrap="none" anchor="ctr"/>
            <a:lstStyle/>
            <a:p>
              <a:endParaRPr lang="fr-FR"/>
            </a:p>
          </p:txBody>
        </p:sp>
        <p:sp>
          <p:nvSpPr>
            <p:cNvPr id="303121" name="Line 17"/>
            <p:cNvSpPr>
              <a:spLocks noChangeShapeType="1"/>
            </p:cNvSpPr>
            <p:nvPr/>
          </p:nvSpPr>
          <p:spPr bwMode="auto">
            <a:xfrm>
              <a:off x="555" y="1349"/>
              <a:ext cx="192" cy="51"/>
            </a:xfrm>
            <a:prstGeom prst="line">
              <a:avLst/>
            </a:prstGeom>
            <a:noFill/>
            <a:ln w="6350">
              <a:solidFill>
                <a:srgbClr val="676767"/>
              </a:solidFill>
              <a:round/>
              <a:headEnd/>
              <a:tailEnd/>
            </a:ln>
            <a:effectLst/>
          </p:spPr>
          <p:txBody>
            <a:bodyPr wrap="none" anchor="ctr"/>
            <a:lstStyle/>
            <a:p>
              <a:endParaRPr lang="fr-FR"/>
            </a:p>
          </p:txBody>
        </p:sp>
        <p:sp>
          <p:nvSpPr>
            <p:cNvPr id="303122" name="Line 18"/>
            <p:cNvSpPr>
              <a:spLocks noChangeShapeType="1"/>
            </p:cNvSpPr>
            <p:nvPr/>
          </p:nvSpPr>
          <p:spPr bwMode="auto">
            <a:xfrm>
              <a:off x="555" y="1310"/>
              <a:ext cx="192" cy="51"/>
            </a:xfrm>
            <a:prstGeom prst="line">
              <a:avLst/>
            </a:prstGeom>
            <a:noFill/>
            <a:ln w="6350">
              <a:solidFill>
                <a:srgbClr val="676767"/>
              </a:solidFill>
              <a:round/>
              <a:headEnd/>
              <a:tailEnd/>
            </a:ln>
            <a:effectLst/>
          </p:spPr>
          <p:txBody>
            <a:bodyPr wrap="none" anchor="ctr"/>
            <a:lstStyle/>
            <a:p>
              <a:endParaRPr lang="fr-FR"/>
            </a:p>
          </p:txBody>
        </p:sp>
        <p:sp>
          <p:nvSpPr>
            <p:cNvPr id="303123" name="Freeform 19"/>
            <p:cNvSpPr>
              <a:spLocks/>
            </p:cNvSpPr>
            <p:nvPr/>
          </p:nvSpPr>
          <p:spPr bwMode="auto">
            <a:xfrm>
              <a:off x="558" y="946"/>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303124" name="Freeform 20"/>
            <p:cNvSpPr>
              <a:spLocks/>
            </p:cNvSpPr>
            <p:nvPr/>
          </p:nvSpPr>
          <p:spPr bwMode="auto">
            <a:xfrm>
              <a:off x="538" y="876"/>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FR"/>
            </a:p>
          </p:txBody>
        </p:sp>
        <p:sp>
          <p:nvSpPr>
            <p:cNvPr id="303125" name="Freeform 21"/>
            <p:cNvSpPr>
              <a:spLocks/>
            </p:cNvSpPr>
            <p:nvPr/>
          </p:nvSpPr>
          <p:spPr bwMode="auto">
            <a:xfrm>
              <a:off x="552" y="899"/>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303126" name="Line 22"/>
            <p:cNvSpPr>
              <a:spLocks noChangeShapeType="1"/>
            </p:cNvSpPr>
            <p:nvPr/>
          </p:nvSpPr>
          <p:spPr bwMode="auto">
            <a:xfrm>
              <a:off x="553" y="980"/>
              <a:ext cx="187" cy="43"/>
            </a:xfrm>
            <a:prstGeom prst="line">
              <a:avLst/>
            </a:prstGeom>
            <a:noFill/>
            <a:ln w="3175">
              <a:solidFill>
                <a:srgbClr val="676767"/>
              </a:solidFill>
              <a:round/>
              <a:headEnd/>
              <a:tailEnd/>
            </a:ln>
            <a:effectLst/>
          </p:spPr>
          <p:txBody>
            <a:bodyPr wrap="none" anchor="ctr"/>
            <a:lstStyle/>
            <a:p>
              <a:endParaRPr lang="fr-FR"/>
            </a:p>
          </p:txBody>
        </p:sp>
        <p:sp>
          <p:nvSpPr>
            <p:cNvPr id="303127" name="Line 23"/>
            <p:cNvSpPr>
              <a:spLocks noChangeShapeType="1"/>
            </p:cNvSpPr>
            <p:nvPr/>
          </p:nvSpPr>
          <p:spPr bwMode="auto">
            <a:xfrm>
              <a:off x="553" y="1055"/>
              <a:ext cx="189" cy="43"/>
            </a:xfrm>
            <a:prstGeom prst="line">
              <a:avLst/>
            </a:prstGeom>
            <a:noFill/>
            <a:ln w="3175">
              <a:solidFill>
                <a:srgbClr val="676767"/>
              </a:solidFill>
              <a:round/>
              <a:headEnd/>
              <a:tailEnd/>
            </a:ln>
            <a:effectLst/>
          </p:spPr>
          <p:txBody>
            <a:bodyPr wrap="none" anchor="ctr"/>
            <a:lstStyle/>
            <a:p>
              <a:endParaRPr lang="fr-FR"/>
            </a:p>
          </p:txBody>
        </p:sp>
        <p:sp>
          <p:nvSpPr>
            <p:cNvPr id="303128" name="Line 24"/>
            <p:cNvSpPr>
              <a:spLocks noChangeShapeType="1"/>
            </p:cNvSpPr>
            <p:nvPr/>
          </p:nvSpPr>
          <p:spPr bwMode="auto">
            <a:xfrm>
              <a:off x="553" y="1148"/>
              <a:ext cx="180" cy="43"/>
            </a:xfrm>
            <a:prstGeom prst="line">
              <a:avLst/>
            </a:prstGeom>
            <a:noFill/>
            <a:ln w="3175">
              <a:solidFill>
                <a:srgbClr val="676767"/>
              </a:solidFill>
              <a:round/>
              <a:headEnd/>
              <a:tailEnd/>
            </a:ln>
            <a:effectLst/>
          </p:spPr>
          <p:txBody>
            <a:bodyPr wrap="none" anchor="ctr"/>
            <a:lstStyle/>
            <a:p>
              <a:endParaRPr lang="fr-FR"/>
            </a:p>
          </p:txBody>
        </p:sp>
        <p:sp>
          <p:nvSpPr>
            <p:cNvPr id="303129" name="Freeform 25"/>
            <p:cNvSpPr>
              <a:spLocks/>
            </p:cNvSpPr>
            <p:nvPr/>
          </p:nvSpPr>
          <p:spPr bwMode="auto">
            <a:xfrm>
              <a:off x="609" y="943"/>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03130" name="Line 26"/>
            <p:cNvSpPr>
              <a:spLocks noChangeShapeType="1"/>
            </p:cNvSpPr>
            <p:nvPr/>
          </p:nvSpPr>
          <p:spPr bwMode="auto">
            <a:xfrm>
              <a:off x="580" y="949"/>
              <a:ext cx="138" cy="30"/>
            </a:xfrm>
            <a:prstGeom prst="line">
              <a:avLst/>
            </a:prstGeom>
            <a:noFill/>
            <a:ln w="6350">
              <a:solidFill>
                <a:srgbClr val="919191"/>
              </a:solidFill>
              <a:round/>
              <a:headEnd/>
              <a:tailEnd/>
            </a:ln>
            <a:effectLst/>
          </p:spPr>
          <p:txBody>
            <a:bodyPr wrap="none" anchor="ctr"/>
            <a:lstStyle/>
            <a:p>
              <a:endParaRPr lang="fr-FR"/>
            </a:p>
          </p:txBody>
        </p:sp>
        <p:sp>
          <p:nvSpPr>
            <p:cNvPr id="303131" name="Freeform 27"/>
            <p:cNvSpPr>
              <a:spLocks/>
            </p:cNvSpPr>
            <p:nvPr/>
          </p:nvSpPr>
          <p:spPr bwMode="auto">
            <a:xfrm>
              <a:off x="566" y="1086"/>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03132" name="Freeform 28"/>
            <p:cNvSpPr>
              <a:spLocks/>
            </p:cNvSpPr>
            <p:nvPr/>
          </p:nvSpPr>
          <p:spPr bwMode="auto">
            <a:xfrm>
              <a:off x="566" y="1179"/>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03133" name="Freeform 29"/>
            <p:cNvSpPr>
              <a:spLocks/>
            </p:cNvSpPr>
            <p:nvPr/>
          </p:nvSpPr>
          <p:spPr bwMode="auto">
            <a:xfrm>
              <a:off x="563" y="1002"/>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03134" name="Line 30"/>
            <p:cNvSpPr>
              <a:spLocks noChangeShapeType="1"/>
            </p:cNvSpPr>
            <p:nvPr/>
          </p:nvSpPr>
          <p:spPr bwMode="auto">
            <a:xfrm flipH="1" flipV="1">
              <a:off x="685" y="1049"/>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03135" name="Line 31"/>
            <p:cNvSpPr>
              <a:spLocks noChangeShapeType="1"/>
            </p:cNvSpPr>
            <p:nvPr/>
          </p:nvSpPr>
          <p:spPr bwMode="auto">
            <a:xfrm flipH="1" flipV="1">
              <a:off x="685" y="1131"/>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03136" name="Line 32"/>
            <p:cNvSpPr>
              <a:spLocks noChangeShapeType="1"/>
            </p:cNvSpPr>
            <p:nvPr/>
          </p:nvSpPr>
          <p:spPr bwMode="auto">
            <a:xfrm flipH="1" flipV="1">
              <a:off x="685" y="1230"/>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nvGrpSpPr>
          <p:cNvPr id="303137" name="Group 33"/>
          <p:cNvGrpSpPr>
            <a:grpSpLocks/>
          </p:cNvGrpSpPr>
          <p:nvPr/>
        </p:nvGrpSpPr>
        <p:grpSpPr bwMode="auto">
          <a:xfrm>
            <a:off x="2317750" y="4786313"/>
            <a:ext cx="1127125" cy="1243012"/>
            <a:chOff x="2967" y="2733"/>
            <a:chExt cx="789" cy="870"/>
          </a:xfrm>
        </p:grpSpPr>
        <p:grpSp>
          <p:nvGrpSpPr>
            <p:cNvPr id="303138" name="Group 34"/>
            <p:cNvGrpSpPr>
              <a:grpSpLocks/>
            </p:cNvGrpSpPr>
            <p:nvPr/>
          </p:nvGrpSpPr>
          <p:grpSpPr bwMode="auto">
            <a:xfrm>
              <a:off x="2967" y="3191"/>
              <a:ext cx="763" cy="412"/>
              <a:chOff x="1929" y="1343"/>
              <a:chExt cx="763" cy="412"/>
            </a:xfrm>
          </p:grpSpPr>
          <p:sp>
            <p:nvSpPr>
              <p:cNvPr id="303139" name="Freeform 35"/>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40" name="Freeform 36"/>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41" name="Freeform 37"/>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42" name="Freeform 38"/>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303143" name="Freeform 39"/>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303144" name="Freeform 40"/>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303145" name="Line 41"/>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303146" name="Line 42"/>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303147" name="Freeform 43"/>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303148" name="Line 44"/>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3149" name="Line 45"/>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3150" name="Line 46"/>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3151" name="Line 47"/>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3152" name="Freeform 48"/>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303153" name="Group 49"/>
            <p:cNvGrpSpPr>
              <a:grpSpLocks/>
            </p:cNvGrpSpPr>
            <p:nvPr/>
          </p:nvGrpSpPr>
          <p:grpSpPr bwMode="auto">
            <a:xfrm>
              <a:off x="3042" y="2733"/>
              <a:ext cx="714" cy="672"/>
              <a:chOff x="2004" y="885"/>
              <a:chExt cx="714" cy="672"/>
            </a:xfrm>
          </p:grpSpPr>
          <p:sp>
            <p:nvSpPr>
              <p:cNvPr id="303154" name="Freeform 50"/>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303155" name="Freeform 51"/>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303156" name="Oval 52"/>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303157" name="Freeform 53"/>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303158" name="Freeform 54"/>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59" name="Freeform 55"/>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60" name="Freeform 56"/>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03161" name="Freeform 57"/>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3162" name="Freeform 58"/>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303163" name="Freeform 59"/>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303164" name="Line 60"/>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303165" name="Text Box 61"/>
          <p:cNvSpPr txBox="1">
            <a:spLocks noChangeArrowheads="1"/>
          </p:cNvSpPr>
          <p:nvPr/>
        </p:nvSpPr>
        <p:spPr bwMode="auto">
          <a:xfrm>
            <a:off x="522514" y="4984749"/>
            <a:ext cx="1811111" cy="1241879"/>
          </a:xfrm>
          <a:prstGeom prst="rect">
            <a:avLst/>
          </a:prstGeom>
          <a:noFill/>
          <a:ln w="9525">
            <a:noFill/>
            <a:miter lim="800000"/>
            <a:headEnd/>
            <a:tailEnd/>
          </a:ln>
          <a:effectLst/>
        </p:spPr>
        <p:txBody>
          <a:bodyPr/>
          <a:lstStyle/>
          <a:p>
            <a:pPr algn="ctr"/>
            <a:r>
              <a:rPr lang="en-US" sz="2200" b="1" dirty="0">
                <a:latin typeface="Arial" charset="0"/>
              </a:rPr>
              <a:t>Client avec </a:t>
            </a:r>
            <a:r>
              <a:rPr lang="en-US" sz="2200" b="1" dirty="0" err="1">
                <a:latin typeface="Arial" charset="0"/>
              </a:rPr>
              <a:t>adressage</a:t>
            </a:r>
            <a:r>
              <a:rPr lang="en-US" sz="2200" b="1" dirty="0">
                <a:latin typeface="Arial" charset="0"/>
              </a:rPr>
              <a:t> </a:t>
            </a:r>
            <a:r>
              <a:rPr lang="en-US" sz="2200" b="1" dirty="0" err="1">
                <a:latin typeface="Arial" charset="0"/>
              </a:rPr>
              <a:t>statique</a:t>
            </a:r>
            <a:endParaRPr lang="en-US" sz="2200" b="1" dirty="0">
              <a:latin typeface="Arial" charset="0"/>
            </a:endParaRPr>
          </a:p>
        </p:txBody>
      </p:sp>
      <p:grpSp>
        <p:nvGrpSpPr>
          <p:cNvPr id="303166" name="Group 62"/>
          <p:cNvGrpSpPr>
            <a:grpSpLocks/>
          </p:cNvGrpSpPr>
          <p:nvPr/>
        </p:nvGrpSpPr>
        <p:grpSpPr bwMode="auto">
          <a:xfrm>
            <a:off x="3432178" y="4789492"/>
            <a:ext cx="3690942" cy="1133475"/>
            <a:chOff x="2170" y="824"/>
            <a:chExt cx="2325" cy="714"/>
          </a:xfrm>
        </p:grpSpPr>
        <p:sp>
          <p:nvSpPr>
            <p:cNvPr id="303167" name="Line 63"/>
            <p:cNvSpPr>
              <a:spLocks noChangeShapeType="1"/>
            </p:cNvSpPr>
            <p:nvPr/>
          </p:nvSpPr>
          <p:spPr bwMode="auto">
            <a:xfrm>
              <a:off x="2170" y="1168"/>
              <a:ext cx="528" cy="0"/>
            </a:xfrm>
            <a:prstGeom prst="line">
              <a:avLst/>
            </a:prstGeom>
            <a:noFill/>
            <a:ln w="38100">
              <a:solidFill>
                <a:srgbClr val="0000CC"/>
              </a:solidFill>
              <a:round/>
              <a:headEnd/>
              <a:tailEnd type="triangle" w="med" len="med"/>
            </a:ln>
            <a:effectLst/>
          </p:spPr>
          <p:txBody>
            <a:bodyPr wrap="none" anchor="ctr"/>
            <a:lstStyle/>
            <a:p>
              <a:endParaRPr lang="fr-FR"/>
            </a:p>
          </p:txBody>
        </p:sp>
        <p:sp>
          <p:nvSpPr>
            <p:cNvPr id="303168" name="Rectangle 64"/>
            <p:cNvSpPr>
              <a:spLocks noChangeArrowheads="1"/>
            </p:cNvSpPr>
            <p:nvPr/>
          </p:nvSpPr>
          <p:spPr bwMode="auto">
            <a:xfrm>
              <a:off x="2688" y="824"/>
              <a:ext cx="1224" cy="714"/>
            </a:xfrm>
            <a:prstGeom prst="rect">
              <a:avLst/>
            </a:prstGeom>
            <a:solidFill>
              <a:srgbClr val="FFFFFF"/>
            </a:solidFill>
            <a:ln w="28575">
              <a:solidFill>
                <a:srgbClr val="0000CC"/>
              </a:solidFill>
              <a:miter lim="800000"/>
              <a:headEnd/>
              <a:tailEnd/>
            </a:ln>
            <a:effectLst>
              <a:outerShdw dist="35921" dir="2700000" algn="ctr" rotWithShape="0">
                <a:srgbClr val="B2B2B2"/>
              </a:outerShdw>
            </a:effectLst>
          </p:spPr>
          <p:txBody>
            <a:bodyPr wrap="none" anchor="ctr"/>
            <a:lstStyle/>
            <a:p>
              <a:pPr algn="ctr"/>
              <a:r>
                <a:rPr lang="en-US" sz="2200" b="1" dirty="0" err="1">
                  <a:latin typeface="Arial" charset="0"/>
                </a:rPr>
                <a:t>Spécifie</a:t>
              </a:r>
              <a:br>
                <a:rPr lang="en-US" sz="2200" b="1" dirty="0">
                  <a:latin typeface="Arial" charset="0"/>
                </a:rPr>
              </a:br>
              <a:r>
                <a:rPr lang="en-US" sz="2200" b="1" dirty="0">
                  <a:latin typeface="Arial" charset="0"/>
                </a:rPr>
                <a:t>192.168.2.15</a:t>
              </a:r>
            </a:p>
          </p:txBody>
        </p:sp>
        <p:sp>
          <p:nvSpPr>
            <p:cNvPr id="303169" name="Line 65"/>
            <p:cNvSpPr>
              <a:spLocks noChangeShapeType="1"/>
            </p:cNvSpPr>
            <p:nvPr/>
          </p:nvSpPr>
          <p:spPr bwMode="auto">
            <a:xfrm>
              <a:off x="3912" y="1168"/>
              <a:ext cx="583" cy="0"/>
            </a:xfrm>
            <a:prstGeom prst="line">
              <a:avLst/>
            </a:prstGeom>
            <a:noFill/>
            <a:ln w="38100">
              <a:solidFill>
                <a:srgbClr val="0000CC"/>
              </a:solidFill>
              <a:round/>
              <a:headEnd/>
              <a:tailEnd type="triangle" w="med" len="med"/>
            </a:ln>
            <a:effectLst/>
          </p:spPr>
          <p:txBody>
            <a:bodyPr wrap="none" anchor="ctr"/>
            <a:lstStyle/>
            <a:p>
              <a:endParaRPr lang="fr-FR"/>
            </a:p>
          </p:txBody>
        </p:sp>
      </p:grpSp>
      <p:pic>
        <p:nvPicPr>
          <p:cNvPr id="303174" name="Picture 70" descr="assigning_static_ip_address"/>
          <p:cNvPicPr>
            <a:picLocks noChangeAspect="1" noChangeArrowheads="1"/>
          </p:cNvPicPr>
          <p:nvPr/>
        </p:nvPicPr>
        <p:blipFill>
          <a:blip r:embed="rId2"/>
          <a:srcRect/>
          <a:stretch>
            <a:fillRect/>
          </a:stretch>
        </p:blipFill>
        <p:spPr bwMode="auto">
          <a:xfrm>
            <a:off x="1892300" y="1096963"/>
            <a:ext cx="5499100" cy="3573462"/>
          </a:xfrm>
          <a:prstGeom prst="rect">
            <a:avLst/>
          </a:prstGeom>
          <a:noFill/>
        </p:spPr>
      </p:pic>
      <p:pic>
        <p:nvPicPr>
          <p:cNvPr id="303176" name="Picture 72" descr="P2272bW08-04-"/>
          <p:cNvPicPr>
            <a:picLocks noChangeAspect="1" noChangeArrowheads="1"/>
          </p:cNvPicPr>
          <p:nvPr/>
        </p:nvPicPr>
        <p:blipFill>
          <a:blip r:embed="rId3"/>
          <a:srcRect/>
          <a:stretch>
            <a:fillRect/>
          </a:stretch>
        </p:blipFill>
        <p:spPr bwMode="auto">
          <a:xfrm>
            <a:off x="1914525" y="1090613"/>
            <a:ext cx="5481638" cy="3522662"/>
          </a:xfrm>
          <a:prstGeom prst="rect">
            <a:avLst/>
          </a:prstGeom>
          <a:noFill/>
        </p:spPr>
      </p:pic>
      <p:sp>
        <p:nvSpPr>
          <p:cNvPr id="303109" name="AutoShape 5"/>
          <p:cNvSpPr>
            <a:spLocks noChangeArrowheads="1"/>
          </p:cNvSpPr>
          <p:nvPr/>
        </p:nvSpPr>
        <p:spPr bwMode="auto">
          <a:xfrm>
            <a:off x="1157288" y="2908300"/>
            <a:ext cx="1023937" cy="606425"/>
          </a:xfrm>
          <a:prstGeom prst="rightArrow">
            <a:avLst>
              <a:gd name="adj1" fmla="val 53926"/>
              <a:gd name="adj2" fmla="val 87434"/>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45791" dir="3378596"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3165"/>
                                        </p:tgtEl>
                                        <p:attrNameLst>
                                          <p:attrName>style.visibility</p:attrName>
                                        </p:attrNameLst>
                                      </p:cBhvr>
                                      <p:to>
                                        <p:strVal val="visible"/>
                                      </p:to>
                                    </p:set>
                                    <p:animEffect transition="in" filter="checkerboard(across)">
                                      <p:cBhvr>
                                        <p:cTn id="7" dur="500"/>
                                        <p:tgtEl>
                                          <p:spTgt spid="303165"/>
                                        </p:tgtEl>
                                      </p:cBhvr>
                                    </p:animEffect>
                                  </p:childTnLst>
                                </p:cTn>
                              </p:par>
                              <p:par>
                                <p:cTn id="8" presetID="5" presetClass="entr" presetSubtype="10" fill="hold" nodeType="withEffect">
                                  <p:stCondLst>
                                    <p:cond delay="0"/>
                                  </p:stCondLst>
                                  <p:childTnLst>
                                    <p:set>
                                      <p:cBhvr>
                                        <p:cTn id="9" dur="1" fill="hold">
                                          <p:stCondLst>
                                            <p:cond delay="0"/>
                                          </p:stCondLst>
                                        </p:cTn>
                                        <p:tgtEl>
                                          <p:spTgt spid="303137"/>
                                        </p:tgtEl>
                                        <p:attrNameLst>
                                          <p:attrName>style.visibility</p:attrName>
                                        </p:attrNameLst>
                                      </p:cBhvr>
                                      <p:to>
                                        <p:strVal val="visible"/>
                                      </p:to>
                                    </p:set>
                                    <p:animEffect transition="in" filter="checkerboard(across)">
                                      <p:cBhvr>
                                        <p:cTn id="10" dur="500"/>
                                        <p:tgtEl>
                                          <p:spTgt spid="30313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03166"/>
                                        </p:tgtEl>
                                        <p:attrNameLst>
                                          <p:attrName>style.visibility</p:attrName>
                                        </p:attrNameLst>
                                      </p:cBhvr>
                                      <p:to>
                                        <p:strVal val="visible"/>
                                      </p:to>
                                    </p:set>
                                    <p:animEffect transition="in" filter="checkerboard(across)">
                                      <p:cBhvr>
                                        <p:cTn id="15" dur="500"/>
                                        <p:tgtEl>
                                          <p:spTgt spid="303166"/>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303112"/>
                                        </p:tgtEl>
                                        <p:attrNameLst>
                                          <p:attrName>style.visibility</p:attrName>
                                        </p:attrNameLst>
                                      </p:cBhvr>
                                      <p:to>
                                        <p:strVal val="visible"/>
                                      </p:to>
                                    </p:set>
                                    <p:animEffect transition="in" filter="checkerboard(across)">
                                      <p:cBhvr>
                                        <p:cTn id="20" dur="500"/>
                                        <p:tgtEl>
                                          <p:spTgt spid="303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2"/>
          <p:cNvGrpSpPr>
            <a:grpSpLocks/>
          </p:cNvGrpSpPr>
          <p:nvPr/>
        </p:nvGrpSpPr>
        <p:grpSpPr bwMode="auto">
          <a:xfrm>
            <a:off x="541338" y="1258888"/>
            <a:ext cx="8061325" cy="5003800"/>
            <a:chOff x="541535" y="1258896"/>
            <a:chExt cx="8060931" cy="5003800"/>
          </a:xfrm>
        </p:grpSpPr>
        <p:grpSp>
          <p:nvGrpSpPr>
            <p:cNvPr id="3" name="Group 41"/>
            <p:cNvGrpSpPr>
              <a:grpSpLocks/>
            </p:cNvGrpSpPr>
            <p:nvPr/>
          </p:nvGrpSpPr>
          <p:grpSpPr bwMode="auto">
            <a:xfrm>
              <a:off x="541535" y="1258896"/>
              <a:ext cx="8060931" cy="5003800"/>
              <a:chOff x="541535" y="1258896"/>
              <a:chExt cx="8060931" cy="5003800"/>
            </a:xfrm>
          </p:grpSpPr>
          <p:grpSp>
            <p:nvGrpSpPr>
              <p:cNvPr id="4" name="Group 28"/>
              <p:cNvGrpSpPr>
                <a:grpSpLocks/>
              </p:cNvGrpSpPr>
              <p:nvPr/>
            </p:nvGrpSpPr>
            <p:grpSpPr bwMode="auto">
              <a:xfrm>
                <a:off x="541535" y="1258896"/>
                <a:ext cx="8060931" cy="5003800"/>
                <a:chOff x="726147" y="1084882"/>
                <a:chExt cx="7691706" cy="5003182"/>
              </a:xfrm>
              <a:gradFill>
                <a:gsLst>
                  <a:gs pos="0">
                    <a:srgbClr val="8DACD0"/>
                  </a:gs>
                  <a:gs pos="100000">
                    <a:srgbClr val="DEE7F1"/>
                  </a:gs>
                </a:gsLst>
                <a:lin ang="2700000" scaled="1"/>
              </a:gradFill>
            </p:grpSpPr>
            <p:sp>
              <p:nvSpPr>
                <p:cNvPr id="9" name="AutoShape 4"/>
                <p:cNvSpPr>
                  <a:spLocks noChangeArrowheads="1"/>
                </p:cNvSpPr>
                <p:nvPr/>
              </p:nvSpPr>
              <p:spPr bwMode="auto">
                <a:xfrm>
                  <a:off x="726147" y="1084882"/>
                  <a:ext cx="7691706" cy="5003182"/>
                </a:xfrm>
                <a:prstGeom prst="roundRect">
                  <a:avLst>
                    <a:gd name="adj" fmla="val 4167"/>
                  </a:avLst>
                </a:prstGeom>
                <a:grpFill/>
                <a:ln w="9525" algn="ctr">
                  <a:solidFill>
                    <a:srgbClr val="4D4D4D"/>
                  </a:solidFill>
                  <a:round/>
                  <a:headEnd/>
                  <a:tailEnd/>
                </a:ln>
                <a:effectLst>
                  <a:outerShdw dist="35921" dir="2700000" algn="ctr" rotWithShape="0">
                    <a:srgbClr val="AFAFAF"/>
                  </a:outerShdw>
                </a:effectLst>
              </p:spPr>
              <p:txBody>
                <a:bodyPr wrap="none"/>
                <a:lstStyle/>
                <a:p>
                  <a:pPr>
                    <a:defRPr/>
                  </a:pPr>
                  <a:r>
                    <a:rPr lang="en-US" sz="2200" dirty="0" err="1"/>
                    <a:t>Adressage</a:t>
                  </a:r>
                  <a:r>
                    <a:rPr lang="en-US" sz="2200" dirty="0"/>
                    <a:t> IP </a:t>
                  </a:r>
                  <a:r>
                    <a:rPr lang="en-US" sz="2200" dirty="0" err="1"/>
                    <a:t>privé</a:t>
                  </a:r>
                  <a:r>
                    <a:rPr lang="en-US" sz="2200" dirty="0"/>
                    <a:t> </a:t>
                  </a:r>
                  <a:r>
                    <a:rPr lang="en-US" sz="2200" dirty="0" err="1"/>
                    <a:t>automatique</a:t>
                  </a:r>
                  <a:r>
                    <a:rPr lang="en-US" sz="2200" dirty="0"/>
                    <a:t> (APIPA):</a:t>
                  </a:r>
                </a:p>
                <a:p>
                  <a:pPr>
                    <a:defRPr/>
                  </a:pPr>
                  <a:endParaRPr lang="en-GB" dirty="0"/>
                </a:p>
                <a:p>
                  <a:pPr>
                    <a:defRPr/>
                  </a:pPr>
                  <a:endParaRPr lang="en-GB" dirty="0"/>
                </a:p>
                <a:p>
                  <a:pPr>
                    <a:defRPr/>
                  </a:pPr>
                  <a:endParaRPr lang="en-GB" dirty="0"/>
                </a:p>
                <a:p>
                  <a:pPr>
                    <a:defRPr/>
                  </a:pPr>
                  <a:endParaRPr lang="en-GB" dirty="0"/>
                </a:p>
                <a:p>
                  <a:pPr>
                    <a:defRPr/>
                  </a:pPr>
                  <a:endParaRPr lang="en-GB" dirty="0"/>
                </a:p>
                <a:p>
                  <a:pPr>
                    <a:defRPr/>
                  </a:pPr>
                  <a:endParaRPr lang="en-GB" dirty="0"/>
                </a:p>
                <a:p>
                  <a:pPr>
                    <a:defRPr/>
                  </a:pPr>
                  <a:endParaRPr lang="en-GB" dirty="0"/>
                </a:p>
                <a:p>
                  <a:pPr>
                    <a:defRPr/>
                  </a:pPr>
                  <a:endParaRPr lang="en-GB" dirty="0"/>
                </a:p>
                <a:p>
                  <a:pPr>
                    <a:defRPr/>
                  </a:pPr>
                  <a:endParaRPr lang="en-GB" dirty="0"/>
                </a:p>
              </p:txBody>
            </p:sp>
            <p:sp>
              <p:nvSpPr>
                <p:cNvPr id="11" name="AutoShape 39"/>
                <p:cNvSpPr>
                  <a:spLocks noChangeArrowheads="1"/>
                </p:cNvSpPr>
                <p:nvPr/>
              </p:nvSpPr>
              <p:spPr bwMode="auto">
                <a:xfrm>
                  <a:off x="885617" y="1684883"/>
                  <a:ext cx="7372765" cy="640001"/>
                </a:xfrm>
                <a:prstGeom prst="roundRect">
                  <a:avLst>
                    <a:gd name="adj" fmla="val 4167"/>
                  </a:avLst>
                </a:prstGeom>
                <a:gradFill>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454025" indent="3175">
                    <a:lnSpc>
                      <a:spcPct val="90000"/>
                    </a:lnSpc>
                    <a:spcBef>
                      <a:spcPct val="40000"/>
                    </a:spcBef>
                    <a:buSzPct val="90000"/>
                    <a:defRPr/>
                  </a:pPr>
                  <a:r>
                    <a:rPr lang="fr-FR" sz="2200" b="0" dirty="0">
                      <a:cs typeface="Arial" charset="0"/>
                    </a:rPr>
                    <a:t>Est utilisée si un serveur DHCP ne peut pas être contacté</a:t>
                  </a:r>
                  <a:endParaRPr lang="en-US" sz="2200" b="0" dirty="0">
                    <a:cs typeface="Arial" charset="0"/>
                  </a:endParaRPr>
                </a:p>
              </p:txBody>
            </p:sp>
          </p:grpSp>
          <p:sp>
            <p:nvSpPr>
              <p:cNvPr id="39" name="Rounded Rectangle 8"/>
              <p:cNvSpPr>
                <a:spLocks noChangeArrowheads="1"/>
              </p:cNvSpPr>
              <p:nvPr/>
            </p:nvSpPr>
            <p:spPr bwMode="auto">
              <a:xfrm>
                <a:off x="571696" y="1928821"/>
                <a:ext cx="527024" cy="50006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sp>
          <p:nvSpPr>
            <p:cNvPr id="36" name="AutoShape 39"/>
            <p:cNvSpPr>
              <a:spLocks noChangeArrowheads="1"/>
            </p:cNvSpPr>
            <p:nvPr/>
          </p:nvSpPr>
          <p:spPr bwMode="auto">
            <a:xfrm>
              <a:off x="709802" y="2692408"/>
              <a:ext cx="7724397" cy="730250"/>
            </a:xfrm>
            <a:prstGeom prst="roundRect">
              <a:avLst>
                <a:gd name="adj" fmla="val 4167"/>
              </a:avLst>
            </a:prstGeom>
            <a:gradFill rotWithShape="0">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457200">
                <a:lnSpc>
                  <a:spcPct val="90000"/>
                </a:lnSpc>
                <a:spcBef>
                  <a:spcPct val="40000"/>
                </a:spcBef>
                <a:buSzPct val="90000"/>
                <a:defRPr/>
              </a:pPr>
              <a:r>
                <a:rPr lang="fr-FR" sz="2200" b="0" dirty="0">
                  <a:cs typeface="Arial" charset="0"/>
                </a:rPr>
                <a:t>Attribue des adresses IP sur le réseau 169.254.0.0/16</a:t>
              </a:r>
              <a:endParaRPr lang="en-US" sz="2200" b="0" dirty="0">
                <a:cs typeface="Arial" charset="0"/>
              </a:endParaRPr>
            </a:p>
          </p:txBody>
        </p:sp>
        <p:sp>
          <p:nvSpPr>
            <p:cNvPr id="38" name="AutoShape 39"/>
            <p:cNvSpPr>
              <a:spLocks noChangeArrowheads="1"/>
            </p:cNvSpPr>
            <p:nvPr/>
          </p:nvSpPr>
          <p:spPr bwMode="auto">
            <a:xfrm>
              <a:off x="708214" y="3616333"/>
              <a:ext cx="7727572" cy="2312988"/>
            </a:xfrm>
            <a:prstGeom prst="roundRect">
              <a:avLst>
                <a:gd name="adj" fmla="val 4167"/>
              </a:avLst>
            </a:prstGeom>
            <a:gradFill rotWithShape="0">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454025" indent="3175">
                <a:lnSpc>
                  <a:spcPct val="90000"/>
                </a:lnSpc>
                <a:spcBef>
                  <a:spcPct val="40000"/>
                </a:spcBef>
                <a:buSzPct val="90000"/>
                <a:defRPr/>
              </a:pPr>
              <a:r>
                <a:rPr lang="fr-FR" sz="2200" b="0" dirty="0">
                  <a:cs typeface="Arial" charset="0"/>
                </a:rPr>
                <a:t>Ne peut pas être utilisé avec : </a:t>
              </a:r>
            </a:p>
            <a:p>
              <a:pPr marL="454025" indent="3175">
                <a:lnSpc>
                  <a:spcPct val="90000"/>
                </a:lnSpc>
                <a:spcBef>
                  <a:spcPct val="40000"/>
                </a:spcBef>
                <a:buSzPct val="90000"/>
                <a:buFont typeface="Arial" pitchFamily="34" charset="0"/>
                <a:buChar char="•"/>
                <a:defRPr/>
              </a:pPr>
              <a:r>
                <a:rPr lang="fr-FR" sz="2200" b="0" dirty="0">
                  <a:cs typeface="Arial" charset="0"/>
                </a:rPr>
                <a:t>Active Directory </a:t>
              </a:r>
            </a:p>
            <a:p>
              <a:pPr marL="454025" indent="3175">
                <a:lnSpc>
                  <a:spcPct val="90000"/>
                </a:lnSpc>
                <a:spcBef>
                  <a:spcPct val="40000"/>
                </a:spcBef>
                <a:buSzPct val="90000"/>
                <a:buFont typeface="Arial" pitchFamily="34" charset="0"/>
                <a:buChar char="•"/>
                <a:defRPr/>
              </a:pPr>
              <a:r>
                <a:rPr lang="fr-FR" sz="2200" dirty="0">
                  <a:cs typeface="Arial" charset="0"/>
                </a:rPr>
                <a:t>connectivité </a:t>
              </a:r>
              <a:r>
                <a:rPr lang="fr-FR" sz="2200" b="0" dirty="0">
                  <a:cs typeface="Arial" charset="0"/>
                </a:rPr>
                <a:t>Internet </a:t>
              </a:r>
            </a:p>
            <a:p>
              <a:pPr marL="454025" indent="3175">
                <a:lnSpc>
                  <a:spcPct val="90000"/>
                </a:lnSpc>
                <a:spcBef>
                  <a:spcPct val="40000"/>
                </a:spcBef>
                <a:buSzPct val="90000"/>
                <a:buFont typeface="Arial" pitchFamily="34" charset="0"/>
                <a:buChar char="•"/>
                <a:defRPr/>
              </a:pPr>
              <a:r>
                <a:rPr lang="fr-FR" sz="2200" b="0" dirty="0">
                  <a:cs typeface="Arial" charset="0"/>
                </a:rPr>
                <a:t>plusieurs sous-réseaux</a:t>
              </a:r>
            </a:p>
            <a:p>
              <a:pPr marL="454025" indent="3175">
                <a:lnSpc>
                  <a:spcPct val="90000"/>
                </a:lnSpc>
                <a:spcBef>
                  <a:spcPct val="40000"/>
                </a:spcBef>
                <a:buSzPct val="90000"/>
                <a:buFont typeface="Arial" pitchFamily="34" charset="0"/>
                <a:buChar char="•"/>
                <a:defRPr/>
              </a:pPr>
              <a:r>
                <a:rPr lang="fr-FR" sz="2200" b="0" dirty="0">
                  <a:cs typeface="Arial" charset="0"/>
                </a:rPr>
                <a:t> des serveurs DNS ou WINS</a:t>
              </a:r>
              <a:endParaRPr lang="en-US" dirty="0">
                <a:cs typeface="Arial" charset="0"/>
              </a:endParaRPr>
            </a:p>
          </p:txBody>
        </p:sp>
        <p:sp>
          <p:nvSpPr>
            <p:cNvPr id="40" name="Rounded Rectangle 8"/>
            <p:cNvSpPr>
              <a:spLocks noChangeArrowheads="1"/>
            </p:cNvSpPr>
            <p:nvPr/>
          </p:nvSpPr>
          <p:spPr bwMode="auto">
            <a:xfrm>
              <a:off x="557409" y="2808296"/>
              <a:ext cx="527024" cy="50006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sp>
          <p:nvSpPr>
            <p:cNvPr id="41" name="Rounded Rectangle 8"/>
            <p:cNvSpPr>
              <a:spLocks noChangeArrowheads="1"/>
            </p:cNvSpPr>
            <p:nvPr/>
          </p:nvSpPr>
          <p:spPr bwMode="auto">
            <a:xfrm>
              <a:off x="557409" y="3760796"/>
              <a:ext cx="527024" cy="500062"/>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grpSp>
        <p:nvGrpSpPr>
          <p:cNvPr id="5" name="Group 27"/>
          <p:cNvGrpSpPr>
            <a:grpSpLocks/>
          </p:cNvGrpSpPr>
          <p:nvPr/>
        </p:nvGrpSpPr>
        <p:grpSpPr bwMode="auto">
          <a:xfrm>
            <a:off x="782638" y="1165225"/>
            <a:ext cx="7578725" cy="4629150"/>
            <a:chOff x="782638" y="1164689"/>
            <a:chExt cx="7578725" cy="4629686"/>
          </a:xfrm>
        </p:grpSpPr>
        <p:grpSp>
          <p:nvGrpSpPr>
            <p:cNvPr id="7" name="Group 26"/>
            <p:cNvGrpSpPr>
              <a:grpSpLocks/>
            </p:cNvGrpSpPr>
            <p:nvPr/>
          </p:nvGrpSpPr>
          <p:grpSpPr bwMode="auto">
            <a:xfrm>
              <a:off x="782638" y="1164689"/>
              <a:ext cx="7578725" cy="4629686"/>
              <a:chOff x="782638" y="1164689"/>
              <a:chExt cx="7578725" cy="4629686"/>
            </a:xfrm>
          </p:grpSpPr>
          <p:grpSp>
            <p:nvGrpSpPr>
              <p:cNvPr id="8" name="Group 25"/>
              <p:cNvGrpSpPr>
                <a:grpSpLocks/>
              </p:cNvGrpSpPr>
              <p:nvPr/>
            </p:nvGrpSpPr>
            <p:grpSpPr bwMode="auto">
              <a:xfrm>
                <a:off x="782638" y="1164689"/>
                <a:ext cx="7578725" cy="4629686"/>
                <a:chOff x="1030288" y="1164689"/>
                <a:chExt cx="7578725" cy="4629686"/>
              </a:xfrm>
            </p:grpSpPr>
            <p:sp>
              <p:nvSpPr>
                <p:cNvPr id="6" name="Oval 5"/>
                <p:cNvSpPr>
                  <a:spLocks noChangeArrowheads="1"/>
                </p:cNvSpPr>
                <p:nvPr/>
              </p:nvSpPr>
              <p:spPr bwMode="auto">
                <a:xfrm>
                  <a:off x="1030288" y="2174456"/>
                  <a:ext cx="6692900" cy="3324610"/>
                </a:xfrm>
                <a:prstGeom prst="ellipse">
                  <a:avLst/>
                </a:prstGeom>
                <a:gradFill rotWithShape="1">
                  <a:gsLst>
                    <a:gs pos="0">
                      <a:srgbClr val="EEEFD7"/>
                    </a:gs>
                    <a:gs pos="100000">
                      <a:srgbClr val="E4CD9A"/>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pPr>
                    <a:defRPr/>
                  </a:pPr>
                  <a:endParaRPr lang="en-US" dirty="0">
                    <a:cs typeface="Arial" charset="0"/>
                  </a:endParaRPr>
                </a:p>
              </p:txBody>
            </p:sp>
            <p:sp>
              <p:nvSpPr>
                <p:cNvPr id="22549" name="Line 5"/>
                <p:cNvSpPr>
                  <a:spLocks noChangeShapeType="1"/>
                </p:cNvSpPr>
                <p:nvPr/>
              </p:nvSpPr>
              <p:spPr bwMode="auto">
                <a:xfrm>
                  <a:off x="2112270" y="3467100"/>
                  <a:ext cx="5577840" cy="0"/>
                </a:xfrm>
                <a:prstGeom prst="line">
                  <a:avLst/>
                </a:prstGeom>
                <a:noFill/>
                <a:ln w="38100">
                  <a:solidFill>
                    <a:schemeClr val="tx1"/>
                  </a:solidFill>
                  <a:round/>
                  <a:headEnd/>
                  <a:tailEnd/>
                </a:ln>
              </p:spPr>
              <p:txBody>
                <a:bodyPr anchor="ctr"/>
                <a:lstStyle/>
                <a:p>
                  <a:endParaRPr lang="fr-FR"/>
                </a:p>
              </p:txBody>
            </p:sp>
            <p:sp>
              <p:nvSpPr>
                <p:cNvPr id="22550" name="Line 6"/>
                <p:cNvSpPr>
                  <a:spLocks noChangeShapeType="1"/>
                </p:cNvSpPr>
                <p:nvPr/>
              </p:nvSpPr>
              <p:spPr bwMode="auto">
                <a:xfrm flipV="1">
                  <a:off x="2846943" y="2717800"/>
                  <a:ext cx="0" cy="736600"/>
                </a:xfrm>
                <a:prstGeom prst="line">
                  <a:avLst/>
                </a:prstGeom>
                <a:noFill/>
                <a:ln w="38100">
                  <a:solidFill>
                    <a:schemeClr val="tx1"/>
                  </a:solidFill>
                  <a:round/>
                  <a:headEnd/>
                  <a:tailEnd/>
                </a:ln>
              </p:spPr>
              <p:txBody>
                <a:bodyPr anchor="ctr"/>
                <a:lstStyle/>
                <a:p>
                  <a:endParaRPr lang="fr-FR"/>
                </a:p>
              </p:txBody>
            </p:sp>
            <p:sp>
              <p:nvSpPr>
                <p:cNvPr id="22551" name="Line 7"/>
                <p:cNvSpPr>
                  <a:spLocks noChangeShapeType="1"/>
                </p:cNvSpPr>
                <p:nvPr/>
              </p:nvSpPr>
              <p:spPr bwMode="auto">
                <a:xfrm flipV="1">
                  <a:off x="5585816" y="2717800"/>
                  <a:ext cx="0" cy="736600"/>
                </a:xfrm>
                <a:prstGeom prst="line">
                  <a:avLst/>
                </a:prstGeom>
                <a:noFill/>
                <a:ln w="38100">
                  <a:solidFill>
                    <a:schemeClr val="tx1"/>
                  </a:solidFill>
                  <a:round/>
                  <a:headEnd/>
                  <a:tailEnd/>
                </a:ln>
              </p:spPr>
              <p:txBody>
                <a:bodyPr anchor="ctr"/>
                <a:lstStyle/>
                <a:p>
                  <a:endParaRPr lang="fr-FR"/>
                </a:p>
              </p:txBody>
            </p:sp>
            <p:sp>
              <p:nvSpPr>
                <p:cNvPr id="22552" name="Line 12"/>
                <p:cNvSpPr>
                  <a:spLocks noChangeShapeType="1"/>
                </p:cNvSpPr>
                <p:nvPr/>
              </p:nvSpPr>
              <p:spPr bwMode="auto">
                <a:xfrm flipV="1">
                  <a:off x="5395119" y="3454400"/>
                  <a:ext cx="0" cy="1371600"/>
                </a:xfrm>
                <a:prstGeom prst="line">
                  <a:avLst/>
                </a:prstGeom>
                <a:noFill/>
                <a:ln w="38100">
                  <a:solidFill>
                    <a:schemeClr val="tx1"/>
                  </a:solidFill>
                  <a:round/>
                  <a:headEnd/>
                  <a:tailEnd/>
                </a:ln>
              </p:spPr>
              <p:txBody>
                <a:bodyPr anchor="ctr"/>
                <a:lstStyle/>
                <a:p>
                  <a:endParaRPr lang="fr-FR"/>
                </a:p>
              </p:txBody>
            </p:sp>
            <p:grpSp>
              <p:nvGrpSpPr>
                <p:cNvPr id="10" name="Group 50"/>
                <p:cNvGrpSpPr>
                  <a:grpSpLocks/>
                </p:cNvGrpSpPr>
                <p:nvPr/>
              </p:nvGrpSpPr>
              <p:grpSpPr bwMode="auto">
                <a:xfrm>
                  <a:off x="4804378" y="4576763"/>
                  <a:ext cx="1181100" cy="773112"/>
                  <a:chOff x="120" y="2972"/>
                  <a:chExt cx="967" cy="633"/>
                </a:xfrm>
              </p:grpSpPr>
              <p:pic>
                <p:nvPicPr>
                  <p:cNvPr id="22562" name="Picture 51" descr="IP_VolP Gateway"/>
                  <p:cNvPicPr preferRelativeResize="0">
                    <a:picLocks noChangeAspect="1" noChangeArrowheads="1"/>
                  </p:cNvPicPr>
                  <p:nvPr/>
                </p:nvPicPr>
                <p:blipFill>
                  <a:blip r:embed="rId3"/>
                  <a:srcRect/>
                  <a:stretch>
                    <a:fillRect/>
                  </a:stretch>
                </p:blipFill>
                <p:spPr bwMode="auto">
                  <a:xfrm>
                    <a:off x="120" y="2972"/>
                    <a:ext cx="967" cy="633"/>
                  </a:xfrm>
                  <a:prstGeom prst="rect">
                    <a:avLst/>
                  </a:prstGeom>
                  <a:noFill/>
                  <a:ln w="9525">
                    <a:noFill/>
                    <a:miter lim="800000"/>
                    <a:headEnd/>
                    <a:tailEnd/>
                  </a:ln>
                </p:spPr>
              </p:pic>
              <p:sp>
                <p:nvSpPr>
                  <p:cNvPr id="22563" name="Rectangle 52"/>
                  <p:cNvSpPr>
                    <a:spLocks noChangeArrowheads="1"/>
                  </p:cNvSpPr>
                  <p:nvPr/>
                </p:nvSpPr>
                <p:spPr bwMode="auto">
                  <a:xfrm rot="878979">
                    <a:off x="377" y="3065"/>
                    <a:ext cx="503" cy="217"/>
                  </a:xfrm>
                  <a:prstGeom prst="rect">
                    <a:avLst/>
                  </a:prstGeom>
                  <a:solidFill>
                    <a:srgbClr val="CFCFCF"/>
                  </a:solidFill>
                  <a:ln w="9525" algn="ctr">
                    <a:noFill/>
                    <a:miter lim="800000"/>
                    <a:headEnd/>
                    <a:tailEnd/>
                  </a:ln>
                </p:spPr>
                <p:txBody>
                  <a:bodyPr wrap="none" anchor="ctr"/>
                  <a:lstStyle/>
                  <a:p>
                    <a:endParaRPr lang="en-GB"/>
                  </a:p>
                </p:txBody>
              </p:sp>
            </p:grpSp>
            <p:pic>
              <p:nvPicPr>
                <p:cNvPr id="22554" name="Picture 53" descr="Computer_Desktop+Keyboard"/>
                <p:cNvPicPr preferRelativeResize="0">
                  <a:picLocks noChangeAspect="1" noChangeArrowheads="1"/>
                </p:cNvPicPr>
                <p:nvPr/>
              </p:nvPicPr>
              <p:blipFill>
                <a:blip r:embed="rId4"/>
                <a:srcRect/>
                <a:stretch>
                  <a:fillRect/>
                </a:stretch>
              </p:blipFill>
              <p:spPr bwMode="auto">
                <a:xfrm>
                  <a:off x="2270681" y="1708150"/>
                  <a:ext cx="1152525" cy="1287463"/>
                </a:xfrm>
                <a:prstGeom prst="rect">
                  <a:avLst/>
                </a:prstGeom>
                <a:noFill/>
                <a:ln w="9525">
                  <a:noFill/>
                  <a:miter lim="800000"/>
                  <a:headEnd/>
                  <a:tailEnd/>
                </a:ln>
              </p:spPr>
            </p:pic>
            <p:pic>
              <p:nvPicPr>
                <p:cNvPr id="22555" name="Picture 53" descr="Computer_Desktop+Keyboard"/>
                <p:cNvPicPr preferRelativeResize="0">
                  <a:picLocks noChangeAspect="1" noChangeArrowheads="1"/>
                </p:cNvPicPr>
                <p:nvPr/>
              </p:nvPicPr>
              <p:blipFill>
                <a:blip r:embed="rId4"/>
                <a:srcRect/>
                <a:stretch>
                  <a:fillRect/>
                </a:stretch>
              </p:blipFill>
              <p:spPr bwMode="auto">
                <a:xfrm>
                  <a:off x="5009554" y="1708150"/>
                  <a:ext cx="1152525" cy="1287462"/>
                </a:xfrm>
                <a:prstGeom prst="rect">
                  <a:avLst/>
                </a:prstGeom>
                <a:noFill/>
                <a:ln w="9525">
                  <a:noFill/>
                  <a:miter lim="800000"/>
                  <a:headEnd/>
                  <a:tailEnd/>
                </a:ln>
              </p:spPr>
            </p:pic>
            <p:pic>
              <p:nvPicPr>
                <p:cNvPr id="22556" name="Picture 53" descr="Computer_Desktop+Keyboard"/>
                <p:cNvPicPr preferRelativeResize="0">
                  <a:picLocks noChangeAspect="1" noChangeArrowheads="1"/>
                </p:cNvPicPr>
                <p:nvPr/>
              </p:nvPicPr>
              <p:blipFill>
                <a:blip r:embed="rId4"/>
                <a:srcRect/>
                <a:stretch>
                  <a:fillRect/>
                </a:stretch>
              </p:blipFill>
              <p:spPr bwMode="auto">
                <a:xfrm>
                  <a:off x="1541484" y="4062412"/>
                  <a:ext cx="1152525" cy="1287463"/>
                </a:xfrm>
                <a:prstGeom prst="rect">
                  <a:avLst/>
                </a:prstGeom>
                <a:noFill/>
                <a:ln w="9525">
                  <a:noFill/>
                  <a:miter lim="800000"/>
                  <a:headEnd/>
                  <a:tailEnd/>
                </a:ln>
              </p:spPr>
            </p:pic>
            <p:sp>
              <p:nvSpPr>
                <p:cNvPr id="21" name="AutoShape 22"/>
                <p:cNvSpPr>
                  <a:spLocks noChangeArrowheads="1"/>
                </p:cNvSpPr>
                <p:nvPr/>
              </p:nvSpPr>
              <p:spPr bwMode="auto">
                <a:xfrm>
                  <a:off x="1435100" y="5413331"/>
                  <a:ext cx="1365250" cy="38104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a:lnSpc>
                      <a:spcPct val="90000"/>
                    </a:lnSpc>
                    <a:spcBef>
                      <a:spcPct val="40000"/>
                    </a:spcBef>
                    <a:defRPr/>
                  </a:pPr>
                  <a:r>
                    <a:rPr lang="en-US" sz="1600" dirty="0">
                      <a:latin typeface="Arial Narrow" pitchFamily="34" charset="0"/>
                      <a:cs typeface="Arial" charset="0"/>
                    </a:rPr>
                    <a:t>Client </a:t>
                  </a:r>
                  <a:r>
                    <a:rPr lang="en-US" sz="1600" dirty="0">
                      <a:cs typeface="Arial" charset="0"/>
                    </a:rPr>
                    <a:t>IPv4 </a:t>
                  </a:r>
                  <a:endParaRPr lang="en-US" sz="1600" dirty="0">
                    <a:latin typeface="Arial Narrow" pitchFamily="34" charset="0"/>
                    <a:cs typeface="Arial" charset="0"/>
                  </a:endParaRPr>
                </a:p>
              </p:txBody>
            </p:sp>
            <p:sp>
              <p:nvSpPr>
                <p:cNvPr id="22" name="AutoShape 68"/>
                <p:cNvSpPr>
                  <a:spLocks noChangeArrowheads="1"/>
                </p:cNvSpPr>
                <p:nvPr/>
              </p:nvSpPr>
              <p:spPr bwMode="auto">
                <a:xfrm>
                  <a:off x="6853238" y="3947900"/>
                  <a:ext cx="1755775" cy="34683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a:lnSpc>
                      <a:spcPct val="85000"/>
                    </a:lnSpc>
                    <a:defRPr/>
                  </a:pPr>
                  <a:r>
                    <a:rPr lang="en-US" sz="1600" dirty="0" err="1">
                      <a:latin typeface="Arial Narrow" pitchFamily="34" charset="0"/>
                      <a:cs typeface="Arial" charset="0"/>
                    </a:rPr>
                    <a:t>Serveur</a:t>
                  </a:r>
                  <a:r>
                    <a:rPr lang="en-US" sz="1600" dirty="0">
                      <a:latin typeface="Arial Narrow" pitchFamily="34" charset="0"/>
                      <a:cs typeface="Arial" charset="0"/>
                    </a:rPr>
                    <a:t> DHCP</a:t>
                  </a:r>
                </a:p>
              </p:txBody>
            </p:sp>
            <p:sp>
              <p:nvSpPr>
                <p:cNvPr id="23" name="AutoShape 69"/>
                <p:cNvSpPr>
                  <a:spLocks noChangeArrowheads="1"/>
                </p:cNvSpPr>
                <p:nvPr/>
              </p:nvSpPr>
              <p:spPr bwMode="auto">
                <a:xfrm>
                  <a:off x="4773613" y="5386341"/>
                  <a:ext cx="1243012" cy="40803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a:lnSpc>
                      <a:spcPct val="85000"/>
                    </a:lnSpc>
                    <a:defRPr/>
                  </a:pPr>
                  <a:r>
                    <a:rPr lang="en-US" sz="1600" dirty="0" err="1">
                      <a:latin typeface="Arial Narrow" pitchFamily="34" charset="0"/>
                      <a:cs typeface="Arial" charset="0"/>
                    </a:rPr>
                    <a:t>Routeur</a:t>
                  </a:r>
                  <a:endParaRPr lang="en-US" sz="1600" dirty="0">
                    <a:latin typeface="Arial Narrow" pitchFamily="34" charset="0"/>
                    <a:cs typeface="Arial" charset="0"/>
                  </a:endParaRPr>
                </a:p>
              </p:txBody>
            </p:sp>
            <p:sp>
              <p:nvSpPr>
                <p:cNvPr id="24" name="AutoShape 22"/>
                <p:cNvSpPr>
                  <a:spLocks noChangeArrowheads="1"/>
                </p:cNvSpPr>
                <p:nvPr/>
              </p:nvSpPr>
              <p:spPr bwMode="auto">
                <a:xfrm>
                  <a:off x="1901825" y="1164689"/>
                  <a:ext cx="2073275" cy="38898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a:lnSpc>
                      <a:spcPct val="90000"/>
                    </a:lnSpc>
                    <a:spcBef>
                      <a:spcPct val="40000"/>
                    </a:spcBef>
                    <a:defRPr/>
                  </a:pPr>
                  <a:r>
                    <a:rPr lang="en-US" sz="1600" dirty="0">
                      <a:latin typeface="Arial Narrow" pitchFamily="34" charset="0"/>
                      <a:cs typeface="Arial" charset="0"/>
                    </a:rPr>
                    <a:t>Configuration </a:t>
                  </a:r>
                  <a:r>
                    <a:rPr lang="en-US" sz="1600" dirty="0">
                      <a:cs typeface="Arial" charset="0"/>
                    </a:rPr>
                    <a:t>IPv4 </a:t>
                  </a:r>
                  <a:r>
                    <a:rPr lang="en-US" sz="1600" dirty="0" err="1">
                      <a:cs typeface="Arial" charset="0"/>
                    </a:rPr>
                    <a:t>Statique</a:t>
                  </a:r>
                  <a:r>
                    <a:rPr lang="en-US" sz="1600" dirty="0">
                      <a:cs typeface="Arial" charset="0"/>
                    </a:rPr>
                    <a:t> </a:t>
                  </a:r>
                  <a:endParaRPr lang="en-US" sz="1600" dirty="0">
                    <a:latin typeface="Arial Narrow" pitchFamily="34" charset="0"/>
                    <a:cs typeface="Arial" charset="0"/>
                  </a:endParaRPr>
                </a:p>
              </p:txBody>
            </p:sp>
            <p:sp>
              <p:nvSpPr>
                <p:cNvPr id="25" name="AutoShape 22"/>
                <p:cNvSpPr>
                  <a:spLocks noChangeArrowheads="1"/>
                </p:cNvSpPr>
                <p:nvPr/>
              </p:nvSpPr>
              <p:spPr bwMode="auto">
                <a:xfrm>
                  <a:off x="4903788" y="1164689"/>
                  <a:ext cx="1365250" cy="38104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a:lnSpc>
                      <a:spcPct val="90000"/>
                    </a:lnSpc>
                    <a:spcBef>
                      <a:spcPct val="40000"/>
                    </a:spcBef>
                    <a:defRPr/>
                  </a:pPr>
                  <a:r>
                    <a:rPr lang="en-US" sz="1600" dirty="0">
                      <a:latin typeface="Arial Narrow" pitchFamily="34" charset="0"/>
                      <a:cs typeface="Arial" charset="0"/>
                    </a:rPr>
                    <a:t>Client </a:t>
                  </a:r>
                  <a:r>
                    <a:rPr lang="en-US" sz="1600" dirty="0">
                      <a:cs typeface="Arial" charset="0"/>
                    </a:rPr>
                    <a:t>IPv4 </a:t>
                  </a:r>
                  <a:endParaRPr lang="en-US" sz="1600" dirty="0">
                    <a:latin typeface="Arial Narrow" pitchFamily="34" charset="0"/>
                    <a:cs typeface="Arial" charset="0"/>
                  </a:endParaRPr>
                </a:p>
              </p:txBody>
            </p:sp>
          </p:grpSp>
          <p:pic>
            <p:nvPicPr>
              <p:cNvPr id="22547" name="Picture 54" descr="Server"/>
              <p:cNvPicPr preferRelativeResize="0">
                <a:picLocks noChangeAspect="1" noChangeArrowheads="1"/>
              </p:cNvPicPr>
              <p:nvPr/>
            </p:nvPicPr>
            <p:blipFill>
              <a:blip r:embed="rId5"/>
              <a:srcRect/>
              <a:stretch>
                <a:fillRect/>
              </a:stretch>
            </p:blipFill>
            <p:spPr bwMode="auto">
              <a:xfrm>
                <a:off x="7009607" y="2786063"/>
                <a:ext cx="947737" cy="1111250"/>
              </a:xfrm>
              <a:prstGeom prst="rect">
                <a:avLst/>
              </a:prstGeom>
              <a:noFill/>
              <a:ln w="9525">
                <a:noFill/>
                <a:miter lim="800000"/>
                <a:headEnd/>
                <a:tailEnd/>
              </a:ln>
            </p:spPr>
          </p:pic>
        </p:grpSp>
        <p:sp>
          <p:nvSpPr>
            <p:cNvPr id="22545" name="Line 10"/>
            <p:cNvSpPr>
              <a:spLocks noChangeShapeType="1"/>
            </p:cNvSpPr>
            <p:nvPr/>
          </p:nvSpPr>
          <p:spPr bwMode="auto">
            <a:xfrm flipV="1">
              <a:off x="1870096" y="3454400"/>
              <a:ext cx="0" cy="640080"/>
            </a:xfrm>
            <a:prstGeom prst="line">
              <a:avLst/>
            </a:prstGeom>
            <a:noFill/>
            <a:ln w="38100">
              <a:solidFill>
                <a:schemeClr val="tx1"/>
              </a:solidFill>
              <a:round/>
              <a:headEnd/>
              <a:tailEnd/>
            </a:ln>
          </p:spPr>
          <p:txBody>
            <a:bodyPr anchor="ctr"/>
            <a:lstStyle/>
            <a:p>
              <a:endParaRPr lang="fr-FR"/>
            </a:p>
          </p:txBody>
        </p:sp>
      </p:grpSp>
      <p:sp>
        <p:nvSpPr>
          <p:cNvPr id="22532" name="Title 1"/>
          <p:cNvSpPr>
            <a:spLocks noGrp="1"/>
          </p:cNvSpPr>
          <p:nvPr>
            <p:ph type="title"/>
          </p:nvPr>
        </p:nvSpPr>
        <p:spPr>
          <a:xfrm>
            <a:off x="193965" y="471055"/>
            <a:ext cx="8769926" cy="527050"/>
          </a:xfrm>
        </p:spPr>
        <p:txBody>
          <a:bodyPr vert="horz" anchor="b">
            <a:normAutofit fontScale="90000"/>
          </a:bodyPr>
          <a:lstStyle/>
          <a:p>
            <a:r>
              <a:rPr lang="fr-FR" dirty="0">
                <a:solidFill>
                  <a:srgbClr val="C00000"/>
                </a:solidFill>
              </a:rPr>
              <a:t>Processus de configuration IPv4 automatique</a:t>
            </a:r>
          </a:p>
        </p:txBody>
      </p:sp>
      <p:grpSp>
        <p:nvGrpSpPr>
          <p:cNvPr id="12" name="Group 12"/>
          <p:cNvGrpSpPr>
            <a:grpSpLocks/>
          </p:cNvGrpSpPr>
          <p:nvPr/>
        </p:nvGrpSpPr>
        <p:grpSpPr bwMode="auto">
          <a:xfrm>
            <a:off x="8255000" y="5921375"/>
            <a:ext cx="304800" cy="244475"/>
            <a:chOff x="768" y="3096"/>
            <a:chExt cx="240" cy="192"/>
          </a:xfrm>
        </p:grpSpPr>
        <p:sp>
          <p:nvSpPr>
            <p:cNvPr id="22542" name="Oval 13"/>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a:p>
          </p:txBody>
        </p:sp>
        <p:sp>
          <p:nvSpPr>
            <p:cNvPr id="37" name="Rectangle 14"/>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dirty="0">
                <a:cs typeface="+mn-cs"/>
              </a:endParaRPr>
            </a:p>
          </p:txBody>
        </p:sp>
      </p:grpSp>
      <p:grpSp>
        <p:nvGrpSpPr>
          <p:cNvPr id="13" name="Group 7"/>
          <p:cNvGrpSpPr>
            <a:grpSpLocks/>
          </p:cNvGrpSpPr>
          <p:nvPr/>
        </p:nvGrpSpPr>
        <p:grpSpPr bwMode="auto">
          <a:xfrm>
            <a:off x="7747000" y="5830888"/>
            <a:ext cx="914400" cy="425450"/>
            <a:chOff x="384" y="3024"/>
            <a:chExt cx="720" cy="336"/>
          </a:xfrm>
        </p:grpSpPr>
        <p:sp>
          <p:nvSpPr>
            <p:cNvPr id="31" name="Oval 8"/>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dirty="0">
                <a:cs typeface="+mn-cs"/>
              </a:endParaRPr>
            </a:p>
          </p:txBody>
        </p:sp>
        <p:grpSp>
          <p:nvGrpSpPr>
            <p:cNvPr id="14" name="Group 9"/>
            <p:cNvGrpSpPr>
              <a:grpSpLocks/>
            </p:cNvGrpSpPr>
            <p:nvPr/>
          </p:nvGrpSpPr>
          <p:grpSpPr bwMode="auto">
            <a:xfrm>
              <a:off x="480" y="3096"/>
              <a:ext cx="240" cy="192"/>
              <a:chOff x="480" y="3096"/>
              <a:chExt cx="240" cy="192"/>
            </a:xfrm>
          </p:grpSpPr>
          <p:sp>
            <p:nvSpPr>
              <p:cNvPr id="22540" name="Oval 10"/>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a:p>
            </p:txBody>
          </p:sp>
          <p:sp>
            <p:nvSpPr>
              <p:cNvPr id="34" name="Freeform 11"/>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dirty="0"/>
              </a:p>
            </p:txBody>
          </p:sp>
        </p:grpSp>
      </p:grpSp>
      <p:grpSp>
        <p:nvGrpSpPr>
          <p:cNvPr id="15" name="Group 12"/>
          <p:cNvGrpSpPr>
            <a:grpSpLocks/>
          </p:cNvGrpSpPr>
          <p:nvPr/>
        </p:nvGrpSpPr>
        <p:grpSpPr bwMode="auto">
          <a:xfrm>
            <a:off x="8229600" y="5921375"/>
            <a:ext cx="304800" cy="244475"/>
            <a:chOff x="768" y="3096"/>
            <a:chExt cx="240" cy="192"/>
          </a:xfrm>
        </p:grpSpPr>
        <p:sp>
          <p:nvSpPr>
            <p:cNvPr id="22536" name="Oval 13"/>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a:p>
          </p:txBody>
        </p:sp>
        <p:sp>
          <p:nvSpPr>
            <p:cNvPr id="46" name="Rectangle 14"/>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dirty="0">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1000"/>
                                        <p:tgtEl>
                                          <p:spTgt spid="2"/>
                                        </p:tgtEl>
                                        <p:attrNameLst>
                                          <p:attrName>ppt_x</p:attrName>
                                        </p:attrNameLst>
                                      </p:cBhvr>
                                      <p:tavLst>
                                        <p:tav tm="0">
                                          <p:val>
                                            <p:strVal val="ppt_x"/>
                                          </p:val>
                                        </p:tav>
                                        <p:tav tm="100000">
                                          <p:val>
                                            <p:strVal val="ppt_x"/>
                                          </p:val>
                                        </p:tav>
                                      </p:tavLst>
                                    </p:anim>
                                    <p:anim calcmode="lin" valueType="num">
                                      <p:cBhvr additive="base">
                                        <p:cTn id="7" dur="1000"/>
                                        <p:tgtEl>
                                          <p:spTgt spid="2"/>
                                        </p:tgtEl>
                                        <p:attrNameLst>
                                          <p:attrName>ppt_y</p:attrName>
                                        </p:attrNameLst>
                                      </p:cBhvr>
                                      <p:tavLst>
                                        <p:tav tm="0">
                                          <p:val>
                                            <p:strVal val="ppt_y"/>
                                          </p:val>
                                        </p:tav>
                                        <p:tav tm="100000">
                                          <p:val>
                                            <p:strVal val="1+ppt_h/2"/>
                                          </p:val>
                                        </p:tav>
                                      </p:tavLst>
                                    </p:anim>
                                    <p:set>
                                      <p:cBhvr>
                                        <p:cTn id="8" dur="1" fill="hold">
                                          <p:stCondLst>
                                            <p:cond delay="999"/>
                                          </p:stCondLst>
                                        </p:cTn>
                                        <p:tgtEl>
                                          <p:spTgt spid="2"/>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ppt_x"/>
                                          </p:val>
                                        </p:tav>
                                        <p:tav tm="100000">
                                          <p:val>
                                            <p:strVal val="#ppt_x"/>
                                          </p:val>
                                        </p:tav>
                                      </p:tavLst>
                                    </p:anim>
                                    <p:anim calcmode="lin" valueType="num">
                                      <p:cBhvr additive="base">
                                        <p:cTn id="14"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a:xfrm>
            <a:off x="174172" y="276676"/>
            <a:ext cx="8781142" cy="841375"/>
          </a:xfrm>
        </p:spPr>
        <p:txBody>
          <a:bodyPr vert="horz" anchor="b">
            <a:normAutofit fontScale="90000"/>
          </a:bodyPr>
          <a:lstStyle/>
          <a:p>
            <a:r>
              <a:rPr lang="fr-FR" dirty="0">
                <a:solidFill>
                  <a:srgbClr val="C00000"/>
                </a:solidFill>
              </a:rPr>
              <a:t>Vue d'ensemble de l'attribution dynamique d'adresses</a:t>
            </a:r>
            <a:endParaRPr lang="en-US" dirty="0">
              <a:solidFill>
                <a:srgbClr val="C00000"/>
              </a:solidFill>
            </a:endParaRPr>
          </a:p>
        </p:txBody>
      </p:sp>
      <p:sp>
        <p:nvSpPr>
          <p:cNvPr id="301209" name="Rectangle 153"/>
          <p:cNvSpPr>
            <a:spLocks noGrp="1" noChangeArrowheads="1"/>
          </p:cNvSpPr>
          <p:nvPr>
            <p:ph sz="quarter" idx="1"/>
          </p:nvPr>
        </p:nvSpPr>
        <p:spPr>
          <a:xfrm>
            <a:off x="958850" y="1263365"/>
            <a:ext cx="7194550" cy="1479839"/>
          </a:xfrm>
        </p:spPr>
        <p:txBody>
          <a:bodyPr>
            <a:normAutofit/>
          </a:bodyPr>
          <a:lstStyle/>
          <a:p>
            <a:r>
              <a:rPr lang="en-US" sz="2500" dirty="0" err="1"/>
              <a:t>Adresse</a:t>
            </a:r>
            <a:r>
              <a:rPr lang="en-US" sz="2500" dirty="0"/>
              <a:t> </a:t>
            </a:r>
            <a:r>
              <a:rPr lang="en-US" sz="2500" dirty="0" err="1"/>
              <a:t>dynamique</a:t>
            </a:r>
            <a:endParaRPr lang="en-US" sz="2500" dirty="0"/>
          </a:p>
          <a:p>
            <a:r>
              <a:rPr lang="en-US" sz="2500" dirty="0" err="1"/>
              <a:t>Adresse</a:t>
            </a:r>
            <a:r>
              <a:rPr lang="en-US" sz="2500" dirty="0"/>
              <a:t> </a:t>
            </a:r>
            <a:r>
              <a:rPr lang="en-US" sz="2500" dirty="0" err="1"/>
              <a:t>statique</a:t>
            </a:r>
            <a:r>
              <a:rPr lang="en-US" sz="2500" dirty="0"/>
              <a:t> </a:t>
            </a:r>
            <a:r>
              <a:rPr lang="en-US" sz="2500" dirty="0" err="1"/>
              <a:t>auxiliaire</a:t>
            </a:r>
            <a:endParaRPr lang="en-US" sz="2500" dirty="0"/>
          </a:p>
          <a:p>
            <a:r>
              <a:rPr lang="en-US" sz="2500" dirty="0" err="1"/>
              <a:t>Adresse</a:t>
            </a:r>
            <a:r>
              <a:rPr lang="en-US" sz="2500" dirty="0"/>
              <a:t> IP </a:t>
            </a:r>
            <a:r>
              <a:rPr lang="en-US" sz="2500" dirty="0" err="1"/>
              <a:t>privée</a:t>
            </a:r>
            <a:r>
              <a:rPr lang="en-US" sz="2500" dirty="0"/>
              <a:t> </a:t>
            </a:r>
            <a:r>
              <a:rPr lang="en-US" sz="2500" dirty="0" err="1"/>
              <a:t>automatique</a:t>
            </a:r>
            <a:endParaRPr lang="en-US" sz="2500" dirty="0"/>
          </a:p>
        </p:txBody>
      </p:sp>
      <p:sp>
        <p:nvSpPr>
          <p:cNvPr id="301060" name="Rectangle 4"/>
          <p:cNvSpPr>
            <a:spLocks noChangeArrowheads="1"/>
          </p:cNvSpPr>
          <p:nvPr/>
        </p:nvSpPr>
        <p:spPr bwMode="auto">
          <a:xfrm>
            <a:off x="304800" y="2641600"/>
            <a:ext cx="8650514" cy="3788229"/>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tIns="0"/>
          <a:lstStyle/>
          <a:p>
            <a:endParaRPr lang="fr-FR" sz="2400" b="1">
              <a:latin typeface="Arial" charset="0"/>
            </a:endParaRPr>
          </a:p>
        </p:txBody>
      </p:sp>
      <p:grpSp>
        <p:nvGrpSpPr>
          <p:cNvPr id="301061" name="Group 5"/>
          <p:cNvGrpSpPr>
            <a:grpSpLocks/>
          </p:cNvGrpSpPr>
          <p:nvPr/>
        </p:nvGrpSpPr>
        <p:grpSpPr bwMode="auto">
          <a:xfrm>
            <a:off x="7615238" y="2868613"/>
            <a:ext cx="885825" cy="1431925"/>
            <a:chOff x="516" y="612"/>
            <a:chExt cx="626" cy="1012"/>
          </a:xfrm>
        </p:grpSpPr>
        <p:sp>
          <p:nvSpPr>
            <p:cNvPr id="301062" name="Freeform 6"/>
            <p:cNvSpPr>
              <a:spLocks/>
            </p:cNvSpPr>
            <p:nvPr/>
          </p:nvSpPr>
          <p:spPr bwMode="auto">
            <a:xfrm>
              <a:off x="528" y="1365"/>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301063" name="Freeform 7"/>
            <p:cNvSpPr>
              <a:spLocks/>
            </p:cNvSpPr>
            <p:nvPr/>
          </p:nvSpPr>
          <p:spPr bwMode="auto">
            <a:xfrm>
              <a:off x="518" y="612"/>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01064" name="Freeform 8"/>
            <p:cNvSpPr>
              <a:spLocks/>
            </p:cNvSpPr>
            <p:nvPr/>
          </p:nvSpPr>
          <p:spPr bwMode="auto">
            <a:xfrm>
              <a:off x="790" y="672"/>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065" name="Freeform 9"/>
            <p:cNvSpPr>
              <a:spLocks/>
            </p:cNvSpPr>
            <p:nvPr/>
          </p:nvSpPr>
          <p:spPr bwMode="auto">
            <a:xfrm>
              <a:off x="516" y="760"/>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01066" name="Line 10"/>
            <p:cNvSpPr>
              <a:spLocks noChangeShapeType="1"/>
            </p:cNvSpPr>
            <p:nvPr/>
          </p:nvSpPr>
          <p:spPr bwMode="auto">
            <a:xfrm>
              <a:off x="555" y="1462"/>
              <a:ext cx="192" cy="51"/>
            </a:xfrm>
            <a:prstGeom prst="line">
              <a:avLst/>
            </a:prstGeom>
            <a:noFill/>
            <a:ln w="6350">
              <a:solidFill>
                <a:srgbClr val="676767"/>
              </a:solidFill>
              <a:round/>
              <a:headEnd/>
              <a:tailEnd/>
            </a:ln>
            <a:effectLst/>
          </p:spPr>
          <p:txBody>
            <a:bodyPr wrap="none" anchor="ctr"/>
            <a:lstStyle/>
            <a:p>
              <a:endParaRPr lang="fr-FR"/>
            </a:p>
          </p:txBody>
        </p:sp>
        <p:sp>
          <p:nvSpPr>
            <p:cNvPr id="301067" name="Oval 11"/>
            <p:cNvSpPr>
              <a:spLocks noChangeArrowheads="1"/>
            </p:cNvSpPr>
            <p:nvPr/>
          </p:nvSpPr>
          <p:spPr bwMode="auto">
            <a:xfrm>
              <a:off x="548" y="801"/>
              <a:ext cx="31" cy="17"/>
            </a:xfrm>
            <a:prstGeom prst="ellipse">
              <a:avLst/>
            </a:prstGeom>
            <a:solidFill>
              <a:srgbClr val="D60093"/>
            </a:solidFill>
            <a:ln w="12700">
              <a:noFill/>
              <a:round/>
              <a:headEnd/>
              <a:tailEnd/>
            </a:ln>
            <a:effectLst/>
          </p:spPr>
          <p:txBody>
            <a:bodyPr wrap="none" anchor="ctr"/>
            <a:lstStyle/>
            <a:p>
              <a:endParaRPr lang="fr-FR"/>
            </a:p>
          </p:txBody>
        </p:sp>
        <p:sp>
          <p:nvSpPr>
            <p:cNvPr id="301068" name="Line 12"/>
            <p:cNvSpPr>
              <a:spLocks noChangeShapeType="1"/>
            </p:cNvSpPr>
            <p:nvPr/>
          </p:nvSpPr>
          <p:spPr bwMode="auto">
            <a:xfrm>
              <a:off x="555" y="1424"/>
              <a:ext cx="192" cy="51"/>
            </a:xfrm>
            <a:prstGeom prst="line">
              <a:avLst/>
            </a:prstGeom>
            <a:noFill/>
            <a:ln w="6350">
              <a:solidFill>
                <a:srgbClr val="676767"/>
              </a:solidFill>
              <a:round/>
              <a:headEnd/>
              <a:tailEnd/>
            </a:ln>
            <a:effectLst/>
          </p:spPr>
          <p:txBody>
            <a:bodyPr wrap="none" anchor="ctr"/>
            <a:lstStyle/>
            <a:p>
              <a:endParaRPr lang="fr-FR"/>
            </a:p>
          </p:txBody>
        </p:sp>
        <p:sp>
          <p:nvSpPr>
            <p:cNvPr id="301069" name="Line 13"/>
            <p:cNvSpPr>
              <a:spLocks noChangeShapeType="1"/>
            </p:cNvSpPr>
            <p:nvPr/>
          </p:nvSpPr>
          <p:spPr bwMode="auto">
            <a:xfrm>
              <a:off x="555" y="1386"/>
              <a:ext cx="192" cy="52"/>
            </a:xfrm>
            <a:prstGeom prst="line">
              <a:avLst/>
            </a:prstGeom>
            <a:noFill/>
            <a:ln w="6350">
              <a:solidFill>
                <a:srgbClr val="676767"/>
              </a:solidFill>
              <a:round/>
              <a:headEnd/>
              <a:tailEnd/>
            </a:ln>
            <a:effectLst/>
          </p:spPr>
          <p:txBody>
            <a:bodyPr wrap="none" anchor="ctr"/>
            <a:lstStyle/>
            <a:p>
              <a:endParaRPr lang="fr-FR"/>
            </a:p>
          </p:txBody>
        </p:sp>
        <p:sp>
          <p:nvSpPr>
            <p:cNvPr id="301070" name="Line 14"/>
            <p:cNvSpPr>
              <a:spLocks noChangeShapeType="1"/>
            </p:cNvSpPr>
            <p:nvPr/>
          </p:nvSpPr>
          <p:spPr bwMode="auto">
            <a:xfrm>
              <a:off x="555" y="1349"/>
              <a:ext cx="192" cy="51"/>
            </a:xfrm>
            <a:prstGeom prst="line">
              <a:avLst/>
            </a:prstGeom>
            <a:noFill/>
            <a:ln w="6350">
              <a:solidFill>
                <a:srgbClr val="676767"/>
              </a:solidFill>
              <a:round/>
              <a:headEnd/>
              <a:tailEnd/>
            </a:ln>
            <a:effectLst/>
          </p:spPr>
          <p:txBody>
            <a:bodyPr wrap="none" anchor="ctr"/>
            <a:lstStyle/>
            <a:p>
              <a:endParaRPr lang="fr-FR"/>
            </a:p>
          </p:txBody>
        </p:sp>
        <p:sp>
          <p:nvSpPr>
            <p:cNvPr id="301071" name="Line 15"/>
            <p:cNvSpPr>
              <a:spLocks noChangeShapeType="1"/>
            </p:cNvSpPr>
            <p:nvPr/>
          </p:nvSpPr>
          <p:spPr bwMode="auto">
            <a:xfrm>
              <a:off x="555" y="1310"/>
              <a:ext cx="192" cy="51"/>
            </a:xfrm>
            <a:prstGeom prst="line">
              <a:avLst/>
            </a:prstGeom>
            <a:noFill/>
            <a:ln w="6350">
              <a:solidFill>
                <a:srgbClr val="676767"/>
              </a:solidFill>
              <a:round/>
              <a:headEnd/>
              <a:tailEnd/>
            </a:ln>
            <a:effectLst/>
          </p:spPr>
          <p:txBody>
            <a:bodyPr wrap="none" anchor="ctr"/>
            <a:lstStyle/>
            <a:p>
              <a:endParaRPr lang="fr-FR"/>
            </a:p>
          </p:txBody>
        </p:sp>
        <p:sp>
          <p:nvSpPr>
            <p:cNvPr id="301072" name="Freeform 16"/>
            <p:cNvSpPr>
              <a:spLocks/>
            </p:cNvSpPr>
            <p:nvPr/>
          </p:nvSpPr>
          <p:spPr bwMode="auto">
            <a:xfrm>
              <a:off x="558" y="946"/>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301073" name="Freeform 17"/>
            <p:cNvSpPr>
              <a:spLocks/>
            </p:cNvSpPr>
            <p:nvPr/>
          </p:nvSpPr>
          <p:spPr bwMode="auto">
            <a:xfrm>
              <a:off x="538" y="876"/>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FR"/>
            </a:p>
          </p:txBody>
        </p:sp>
        <p:sp>
          <p:nvSpPr>
            <p:cNvPr id="301074" name="Freeform 18"/>
            <p:cNvSpPr>
              <a:spLocks/>
            </p:cNvSpPr>
            <p:nvPr/>
          </p:nvSpPr>
          <p:spPr bwMode="auto">
            <a:xfrm>
              <a:off x="552" y="899"/>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301075" name="Line 19"/>
            <p:cNvSpPr>
              <a:spLocks noChangeShapeType="1"/>
            </p:cNvSpPr>
            <p:nvPr/>
          </p:nvSpPr>
          <p:spPr bwMode="auto">
            <a:xfrm>
              <a:off x="553" y="980"/>
              <a:ext cx="187" cy="43"/>
            </a:xfrm>
            <a:prstGeom prst="line">
              <a:avLst/>
            </a:prstGeom>
            <a:noFill/>
            <a:ln w="3175">
              <a:solidFill>
                <a:srgbClr val="676767"/>
              </a:solidFill>
              <a:round/>
              <a:headEnd/>
              <a:tailEnd/>
            </a:ln>
            <a:effectLst/>
          </p:spPr>
          <p:txBody>
            <a:bodyPr wrap="none" anchor="ctr"/>
            <a:lstStyle/>
            <a:p>
              <a:endParaRPr lang="fr-FR"/>
            </a:p>
          </p:txBody>
        </p:sp>
        <p:sp>
          <p:nvSpPr>
            <p:cNvPr id="301076" name="Line 20"/>
            <p:cNvSpPr>
              <a:spLocks noChangeShapeType="1"/>
            </p:cNvSpPr>
            <p:nvPr/>
          </p:nvSpPr>
          <p:spPr bwMode="auto">
            <a:xfrm>
              <a:off x="553" y="1055"/>
              <a:ext cx="189" cy="43"/>
            </a:xfrm>
            <a:prstGeom prst="line">
              <a:avLst/>
            </a:prstGeom>
            <a:noFill/>
            <a:ln w="3175">
              <a:solidFill>
                <a:srgbClr val="676767"/>
              </a:solidFill>
              <a:round/>
              <a:headEnd/>
              <a:tailEnd/>
            </a:ln>
            <a:effectLst/>
          </p:spPr>
          <p:txBody>
            <a:bodyPr wrap="none" anchor="ctr"/>
            <a:lstStyle/>
            <a:p>
              <a:endParaRPr lang="fr-FR"/>
            </a:p>
          </p:txBody>
        </p:sp>
        <p:sp>
          <p:nvSpPr>
            <p:cNvPr id="301077" name="Line 21"/>
            <p:cNvSpPr>
              <a:spLocks noChangeShapeType="1"/>
            </p:cNvSpPr>
            <p:nvPr/>
          </p:nvSpPr>
          <p:spPr bwMode="auto">
            <a:xfrm>
              <a:off x="553" y="1148"/>
              <a:ext cx="180" cy="43"/>
            </a:xfrm>
            <a:prstGeom prst="line">
              <a:avLst/>
            </a:prstGeom>
            <a:noFill/>
            <a:ln w="3175">
              <a:solidFill>
                <a:srgbClr val="676767"/>
              </a:solidFill>
              <a:round/>
              <a:headEnd/>
              <a:tailEnd/>
            </a:ln>
            <a:effectLst/>
          </p:spPr>
          <p:txBody>
            <a:bodyPr wrap="none" anchor="ctr"/>
            <a:lstStyle/>
            <a:p>
              <a:endParaRPr lang="fr-FR"/>
            </a:p>
          </p:txBody>
        </p:sp>
        <p:sp>
          <p:nvSpPr>
            <p:cNvPr id="301078" name="Freeform 22"/>
            <p:cNvSpPr>
              <a:spLocks/>
            </p:cNvSpPr>
            <p:nvPr/>
          </p:nvSpPr>
          <p:spPr bwMode="auto">
            <a:xfrm>
              <a:off x="609" y="943"/>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01079" name="Line 23"/>
            <p:cNvSpPr>
              <a:spLocks noChangeShapeType="1"/>
            </p:cNvSpPr>
            <p:nvPr/>
          </p:nvSpPr>
          <p:spPr bwMode="auto">
            <a:xfrm>
              <a:off x="580" y="949"/>
              <a:ext cx="138" cy="30"/>
            </a:xfrm>
            <a:prstGeom prst="line">
              <a:avLst/>
            </a:prstGeom>
            <a:noFill/>
            <a:ln w="6350">
              <a:solidFill>
                <a:srgbClr val="919191"/>
              </a:solidFill>
              <a:round/>
              <a:headEnd/>
              <a:tailEnd/>
            </a:ln>
            <a:effectLst/>
          </p:spPr>
          <p:txBody>
            <a:bodyPr wrap="none" anchor="ctr"/>
            <a:lstStyle/>
            <a:p>
              <a:endParaRPr lang="fr-FR"/>
            </a:p>
          </p:txBody>
        </p:sp>
        <p:sp>
          <p:nvSpPr>
            <p:cNvPr id="301080" name="Freeform 24"/>
            <p:cNvSpPr>
              <a:spLocks/>
            </p:cNvSpPr>
            <p:nvPr/>
          </p:nvSpPr>
          <p:spPr bwMode="auto">
            <a:xfrm>
              <a:off x="566" y="1086"/>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01081" name="Freeform 25"/>
            <p:cNvSpPr>
              <a:spLocks/>
            </p:cNvSpPr>
            <p:nvPr/>
          </p:nvSpPr>
          <p:spPr bwMode="auto">
            <a:xfrm>
              <a:off x="566" y="1179"/>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01082" name="Freeform 26"/>
            <p:cNvSpPr>
              <a:spLocks/>
            </p:cNvSpPr>
            <p:nvPr/>
          </p:nvSpPr>
          <p:spPr bwMode="auto">
            <a:xfrm>
              <a:off x="563" y="1002"/>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01083" name="Line 27"/>
            <p:cNvSpPr>
              <a:spLocks noChangeShapeType="1"/>
            </p:cNvSpPr>
            <p:nvPr/>
          </p:nvSpPr>
          <p:spPr bwMode="auto">
            <a:xfrm flipH="1" flipV="1">
              <a:off x="685" y="1049"/>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01084" name="Line 28"/>
            <p:cNvSpPr>
              <a:spLocks noChangeShapeType="1"/>
            </p:cNvSpPr>
            <p:nvPr/>
          </p:nvSpPr>
          <p:spPr bwMode="auto">
            <a:xfrm flipH="1" flipV="1">
              <a:off x="685" y="1131"/>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01085" name="Line 29"/>
            <p:cNvSpPr>
              <a:spLocks noChangeShapeType="1"/>
            </p:cNvSpPr>
            <p:nvPr/>
          </p:nvSpPr>
          <p:spPr bwMode="auto">
            <a:xfrm flipH="1" flipV="1">
              <a:off x="685" y="1230"/>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nvGrpSpPr>
          <p:cNvPr id="301086" name="Group 30"/>
          <p:cNvGrpSpPr>
            <a:grpSpLocks/>
          </p:cNvGrpSpPr>
          <p:nvPr/>
        </p:nvGrpSpPr>
        <p:grpSpPr bwMode="auto">
          <a:xfrm>
            <a:off x="2279650" y="2881313"/>
            <a:ext cx="1127125" cy="1243012"/>
            <a:chOff x="2967" y="2733"/>
            <a:chExt cx="789" cy="870"/>
          </a:xfrm>
        </p:grpSpPr>
        <p:grpSp>
          <p:nvGrpSpPr>
            <p:cNvPr id="301087" name="Group 31"/>
            <p:cNvGrpSpPr>
              <a:grpSpLocks/>
            </p:cNvGrpSpPr>
            <p:nvPr/>
          </p:nvGrpSpPr>
          <p:grpSpPr bwMode="auto">
            <a:xfrm>
              <a:off x="2967" y="3191"/>
              <a:ext cx="763" cy="412"/>
              <a:chOff x="1929" y="1343"/>
              <a:chExt cx="763" cy="412"/>
            </a:xfrm>
          </p:grpSpPr>
          <p:sp>
            <p:nvSpPr>
              <p:cNvPr id="301088" name="Freeform 32"/>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089" name="Freeform 33"/>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090" name="Freeform 34"/>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091" name="Freeform 35"/>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301092" name="Freeform 36"/>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301093" name="Freeform 37"/>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301094" name="Line 38"/>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301095" name="Line 39"/>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301096" name="Freeform 40"/>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301097" name="Line 41"/>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1098" name="Line 42"/>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1099" name="Line 43"/>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1100" name="Line 44"/>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01101" name="Freeform 45"/>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301102" name="Group 46"/>
            <p:cNvGrpSpPr>
              <a:grpSpLocks/>
            </p:cNvGrpSpPr>
            <p:nvPr/>
          </p:nvGrpSpPr>
          <p:grpSpPr bwMode="auto">
            <a:xfrm>
              <a:off x="3042" y="2733"/>
              <a:ext cx="714" cy="672"/>
              <a:chOff x="2004" y="885"/>
              <a:chExt cx="714" cy="672"/>
            </a:xfrm>
          </p:grpSpPr>
          <p:sp>
            <p:nvSpPr>
              <p:cNvPr id="301103" name="Freeform 47"/>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301104" name="Freeform 48"/>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301105" name="Oval 49"/>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301106" name="Freeform 50"/>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301107" name="Freeform 51"/>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108" name="Freeform 52"/>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109" name="Freeform 53"/>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01110" name="Freeform 54"/>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01111" name="Freeform 55"/>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301112" name="Freeform 56"/>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301113" name="Line 57"/>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301174" name="Group 118"/>
          <p:cNvGrpSpPr>
            <a:grpSpLocks/>
          </p:cNvGrpSpPr>
          <p:nvPr/>
        </p:nvGrpSpPr>
        <p:grpSpPr bwMode="auto">
          <a:xfrm>
            <a:off x="6313489" y="5086350"/>
            <a:ext cx="2206626" cy="1330325"/>
            <a:chOff x="3977" y="3204"/>
            <a:chExt cx="1390" cy="838"/>
          </a:xfrm>
        </p:grpSpPr>
        <p:sp>
          <p:nvSpPr>
            <p:cNvPr id="301175" name="Text Box 119"/>
            <p:cNvSpPr txBox="1">
              <a:spLocks noChangeArrowheads="1"/>
            </p:cNvSpPr>
            <p:nvPr/>
          </p:nvSpPr>
          <p:spPr bwMode="auto">
            <a:xfrm>
              <a:off x="4219" y="3239"/>
              <a:ext cx="385" cy="252"/>
            </a:xfrm>
            <a:prstGeom prst="rect">
              <a:avLst/>
            </a:prstGeom>
            <a:noFill/>
            <a:ln w="9525">
              <a:noFill/>
              <a:miter lim="800000"/>
              <a:headEnd/>
              <a:tailEnd/>
            </a:ln>
            <a:effectLst/>
          </p:spPr>
          <p:txBody>
            <a:bodyPr wrap="none">
              <a:spAutoFit/>
            </a:bodyPr>
            <a:lstStyle/>
            <a:p>
              <a:r>
                <a:rPr lang="en-US" sz="2000" b="1">
                  <a:latin typeface="Arial" charset="0"/>
                </a:rPr>
                <a:t>Oui</a:t>
              </a:r>
            </a:p>
          </p:txBody>
        </p:sp>
        <p:sp>
          <p:nvSpPr>
            <p:cNvPr id="301176" name="Rectangle 120"/>
            <p:cNvSpPr>
              <a:spLocks noChangeArrowheads="1"/>
            </p:cNvSpPr>
            <p:nvPr/>
          </p:nvSpPr>
          <p:spPr bwMode="auto">
            <a:xfrm>
              <a:off x="3977" y="3550"/>
              <a:ext cx="1390" cy="492"/>
            </a:xfrm>
            <a:prstGeom prst="rect">
              <a:avLst/>
            </a:prstGeom>
            <a:solidFill>
              <a:srgbClr val="FFFFFF"/>
            </a:solidFill>
            <a:ln w="28575">
              <a:solidFill>
                <a:srgbClr val="0000CC"/>
              </a:solidFill>
              <a:miter lim="800000"/>
              <a:headEnd/>
              <a:tailEnd/>
            </a:ln>
            <a:effectLst>
              <a:outerShdw dist="35921" dir="2700000" algn="ctr" rotWithShape="0">
                <a:srgbClr val="B2B2B2"/>
              </a:outerShdw>
            </a:effectLst>
          </p:spPr>
          <p:txBody>
            <a:bodyPr wrap="none" anchor="ctr"/>
            <a:lstStyle/>
            <a:p>
              <a:pPr algn="ctr"/>
              <a:r>
                <a:rPr lang="en-US" sz="2000" b="1" dirty="0">
                  <a:latin typeface="Arial" charset="0"/>
                </a:rPr>
                <a:t>Attribution </a:t>
              </a:r>
              <a:r>
                <a:rPr lang="en-US" sz="2000" b="1" dirty="0" err="1">
                  <a:latin typeface="Arial" charset="0"/>
                </a:rPr>
                <a:t>d'une</a:t>
              </a:r>
              <a:endParaRPr lang="en-US" sz="2000" b="1" dirty="0">
                <a:latin typeface="Arial" charset="0"/>
              </a:endParaRPr>
            </a:p>
            <a:p>
              <a:pPr algn="ctr"/>
              <a:r>
                <a:rPr lang="en-US" sz="2000" b="1" dirty="0" err="1">
                  <a:latin typeface="Arial" charset="0"/>
                </a:rPr>
                <a:t>Adresse</a:t>
              </a:r>
              <a:r>
                <a:rPr lang="en-US" sz="2000" b="1" dirty="0">
                  <a:latin typeface="Arial" charset="0"/>
                </a:rPr>
                <a:t> IP</a:t>
              </a:r>
            </a:p>
          </p:txBody>
        </p:sp>
        <p:sp>
          <p:nvSpPr>
            <p:cNvPr id="301177" name="Line 121"/>
            <p:cNvSpPr>
              <a:spLocks noChangeShapeType="1"/>
            </p:cNvSpPr>
            <p:nvPr/>
          </p:nvSpPr>
          <p:spPr bwMode="auto">
            <a:xfrm>
              <a:off x="4655" y="3204"/>
              <a:ext cx="0" cy="347"/>
            </a:xfrm>
            <a:prstGeom prst="line">
              <a:avLst/>
            </a:prstGeom>
            <a:noFill/>
            <a:ln w="38100">
              <a:solidFill>
                <a:srgbClr val="0000CC"/>
              </a:solidFill>
              <a:round/>
              <a:headEnd/>
              <a:tailEnd type="triangle" w="med" len="med"/>
            </a:ln>
            <a:effectLst/>
          </p:spPr>
          <p:txBody>
            <a:bodyPr wrap="none" anchor="ctr"/>
            <a:lstStyle/>
            <a:p>
              <a:endParaRPr lang="fr-FR" sz="2000"/>
            </a:p>
          </p:txBody>
        </p:sp>
      </p:grpSp>
      <p:grpSp>
        <p:nvGrpSpPr>
          <p:cNvPr id="301178" name="Group 122"/>
          <p:cNvGrpSpPr>
            <a:grpSpLocks/>
          </p:cNvGrpSpPr>
          <p:nvPr/>
        </p:nvGrpSpPr>
        <p:grpSpPr bwMode="auto">
          <a:xfrm>
            <a:off x="3019504" y="5086350"/>
            <a:ext cx="3047720" cy="1312863"/>
            <a:chOff x="2156" y="3204"/>
            <a:chExt cx="1438" cy="838"/>
          </a:xfrm>
        </p:grpSpPr>
        <p:sp>
          <p:nvSpPr>
            <p:cNvPr id="301179" name="Rectangle 123"/>
            <p:cNvSpPr>
              <a:spLocks noChangeArrowheads="1"/>
            </p:cNvSpPr>
            <p:nvPr/>
          </p:nvSpPr>
          <p:spPr bwMode="auto">
            <a:xfrm>
              <a:off x="2156" y="3550"/>
              <a:ext cx="1438" cy="492"/>
            </a:xfrm>
            <a:prstGeom prst="rect">
              <a:avLst/>
            </a:prstGeom>
            <a:solidFill>
              <a:srgbClr val="FFFFFF"/>
            </a:solidFill>
            <a:ln w="28575">
              <a:solidFill>
                <a:srgbClr val="0000CC"/>
              </a:solidFill>
              <a:miter lim="800000"/>
              <a:headEnd/>
              <a:tailEnd/>
            </a:ln>
            <a:effectLst>
              <a:outerShdw dist="35921" dir="2700000" algn="ctr" rotWithShape="0">
                <a:srgbClr val="B2B2B2"/>
              </a:outerShdw>
            </a:effectLst>
          </p:spPr>
          <p:txBody>
            <a:bodyPr wrap="none" anchor="ctr"/>
            <a:lstStyle/>
            <a:p>
              <a:pPr algn="ctr"/>
              <a:r>
                <a:rPr lang="en-US" sz="2000" b="1">
                  <a:latin typeface="Arial" charset="0"/>
                </a:rPr>
                <a:t>Attribution d'une autre</a:t>
              </a:r>
            </a:p>
            <a:p>
              <a:pPr algn="ctr"/>
              <a:r>
                <a:rPr lang="en-US" sz="2000" b="1">
                  <a:latin typeface="Arial" charset="0"/>
                </a:rPr>
                <a:t>adresse IP</a:t>
              </a:r>
            </a:p>
          </p:txBody>
        </p:sp>
        <p:sp>
          <p:nvSpPr>
            <p:cNvPr id="301180" name="Line 124"/>
            <p:cNvSpPr>
              <a:spLocks noChangeShapeType="1"/>
            </p:cNvSpPr>
            <p:nvPr/>
          </p:nvSpPr>
          <p:spPr bwMode="auto">
            <a:xfrm>
              <a:off x="2879" y="3204"/>
              <a:ext cx="0" cy="347"/>
            </a:xfrm>
            <a:prstGeom prst="line">
              <a:avLst/>
            </a:prstGeom>
            <a:noFill/>
            <a:ln w="38100">
              <a:solidFill>
                <a:srgbClr val="0000CC"/>
              </a:solidFill>
              <a:round/>
              <a:headEnd/>
              <a:tailEnd type="triangle" w="med" len="med"/>
            </a:ln>
            <a:effectLst/>
          </p:spPr>
          <p:txBody>
            <a:bodyPr wrap="none" anchor="ctr"/>
            <a:lstStyle/>
            <a:p>
              <a:endParaRPr lang="fr-FR" sz="2000"/>
            </a:p>
          </p:txBody>
        </p:sp>
        <p:sp>
          <p:nvSpPr>
            <p:cNvPr id="301181" name="Text Box 125"/>
            <p:cNvSpPr txBox="1">
              <a:spLocks noChangeArrowheads="1"/>
            </p:cNvSpPr>
            <p:nvPr/>
          </p:nvSpPr>
          <p:spPr bwMode="auto">
            <a:xfrm>
              <a:off x="2467" y="3239"/>
              <a:ext cx="288" cy="255"/>
            </a:xfrm>
            <a:prstGeom prst="rect">
              <a:avLst/>
            </a:prstGeom>
            <a:noFill/>
            <a:ln w="9525">
              <a:noFill/>
              <a:miter lim="800000"/>
              <a:headEnd/>
              <a:tailEnd/>
            </a:ln>
            <a:effectLst/>
          </p:spPr>
          <p:txBody>
            <a:bodyPr wrap="none">
              <a:spAutoFit/>
            </a:bodyPr>
            <a:lstStyle/>
            <a:p>
              <a:r>
                <a:rPr lang="en-US" sz="2000" b="1">
                  <a:latin typeface="Arial" charset="0"/>
                </a:rPr>
                <a:t>Oui</a:t>
              </a:r>
            </a:p>
          </p:txBody>
        </p:sp>
      </p:grpSp>
      <p:grpSp>
        <p:nvGrpSpPr>
          <p:cNvPr id="301182" name="Group 126"/>
          <p:cNvGrpSpPr>
            <a:grpSpLocks/>
          </p:cNvGrpSpPr>
          <p:nvPr/>
        </p:nvGrpSpPr>
        <p:grpSpPr bwMode="auto">
          <a:xfrm>
            <a:off x="595086" y="4191000"/>
            <a:ext cx="2966058" cy="1824038"/>
            <a:chOff x="656" y="2640"/>
            <a:chExt cx="1587" cy="1149"/>
          </a:xfrm>
        </p:grpSpPr>
        <p:sp>
          <p:nvSpPr>
            <p:cNvPr id="301183" name="Text Box 127"/>
            <p:cNvSpPr txBox="1">
              <a:spLocks noChangeArrowheads="1"/>
            </p:cNvSpPr>
            <p:nvPr/>
          </p:nvSpPr>
          <p:spPr bwMode="auto">
            <a:xfrm>
              <a:off x="1826" y="2640"/>
              <a:ext cx="417" cy="252"/>
            </a:xfrm>
            <a:prstGeom prst="rect">
              <a:avLst/>
            </a:prstGeom>
            <a:noFill/>
            <a:ln w="9525">
              <a:noFill/>
              <a:miter lim="800000"/>
              <a:headEnd/>
              <a:tailEnd/>
            </a:ln>
            <a:effectLst/>
          </p:spPr>
          <p:txBody>
            <a:bodyPr wrap="none">
              <a:spAutoFit/>
            </a:bodyPr>
            <a:lstStyle/>
            <a:p>
              <a:r>
                <a:rPr lang="en-US" sz="2000" b="1">
                  <a:latin typeface="Arial" charset="0"/>
                </a:rPr>
                <a:t>Non</a:t>
              </a:r>
            </a:p>
          </p:txBody>
        </p:sp>
        <p:sp>
          <p:nvSpPr>
            <p:cNvPr id="301184" name="Line 128"/>
            <p:cNvSpPr>
              <a:spLocks noChangeShapeType="1"/>
            </p:cNvSpPr>
            <p:nvPr/>
          </p:nvSpPr>
          <p:spPr bwMode="auto">
            <a:xfrm>
              <a:off x="1659" y="2881"/>
              <a:ext cx="528" cy="0"/>
            </a:xfrm>
            <a:prstGeom prst="line">
              <a:avLst/>
            </a:prstGeom>
            <a:noFill/>
            <a:ln w="38100">
              <a:solidFill>
                <a:srgbClr val="0000CC"/>
              </a:solidFill>
              <a:round/>
              <a:headEnd type="triangle" w="med" len="med"/>
              <a:tailEnd/>
            </a:ln>
            <a:effectLst/>
          </p:spPr>
          <p:txBody>
            <a:bodyPr wrap="none" anchor="ctr"/>
            <a:lstStyle/>
            <a:p>
              <a:endParaRPr lang="fr-FR" sz="2000"/>
            </a:p>
          </p:txBody>
        </p:sp>
        <p:sp>
          <p:nvSpPr>
            <p:cNvPr id="301185" name="Rectangle 129"/>
            <p:cNvSpPr>
              <a:spLocks noChangeArrowheads="1"/>
            </p:cNvSpPr>
            <p:nvPr/>
          </p:nvSpPr>
          <p:spPr bwMode="auto">
            <a:xfrm>
              <a:off x="656" y="2690"/>
              <a:ext cx="1025" cy="1099"/>
            </a:xfrm>
            <a:prstGeom prst="rect">
              <a:avLst/>
            </a:prstGeom>
            <a:solidFill>
              <a:srgbClr val="FFFFFF"/>
            </a:solidFill>
            <a:ln w="28575">
              <a:solidFill>
                <a:srgbClr val="0000CC"/>
              </a:solidFill>
              <a:miter lim="800000"/>
              <a:headEnd/>
              <a:tailEnd/>
            </a:ln>
            <a:effectLst>
              <a:outerShdw dist="35921" dir="2700000" algn="ctr" rotWithShape="0">
                <a:srgbClr val="B2B2B2"/>
              </a:outerShdw>
            </a:effectLst>
          </p:spPr>
          <p:txBody>
            <a:bodyPr wrap="none" anchor="ctr"/>
            <a:lstStyle/>
            <a:p>
              <a:pPr algn="ctr"/>
              <a:r>
                <a:rPr lang="en-US" sz="2000" b="1" dirty="0" err="1">
                  <a:latin typeface="Arial" charset="0"/>
                </a:rPr>
                <a:t>L'adresse</a:t>
              </a:r>
              <a:r>
                <a:rPr lang="en-US" sz="2000" b="1" dirty="0">
                  <a:latin typeface="Arial" charset="0"/>
                </a:rPr>
                <a:t> IP </a:t>
              </a:r>
              <a:br>
                <a:rPr lang="en-US" sz="2000" b="1" dirty="0">
                  <a:latin typeface="Arial" charset="0"/>
                </a:rPr>
              </a:br>
              <a:r>
                <a:rPr lang="en-US" sz="2000" b="1" dirty="0" err="1">
                  <a:latin typeface="Arial" charset="0"/>
                </a:rPr>
                <a:t>privée</a:t>
              </a:r>
              <a:r>
                <a:rPr lang="en-US" sz="2000" b="1" dirty="0">
                  <a:latin typeface="Arial" charset="0"/>
                </a:rPr>
                <a:t> </a:t>
              </a:r>
              <a:br>
                <a:rPr lang="en-US" sz="2000" b="1" dirty="0">
                  <a:latin typeface="Arial" charset="0"/>
                </a:rPr>
              </a:br>
              <a:r>
                <a:rPr lang="en-US" sz="2000" b="1" dirty="0" err="1">
                  <a:latin typeface="Arial" charset="0"/>
                </a:rPr>
                <a:t>automatique</a:t>
              </a:r>
              <a:r>
                <a:rPr lang="en-US" sz="2000" b="1" dirty="0">
                  <a:latin typeface="Arial" charset="0"/>
                </a:rPr>
                <a:t> </a:t>
              </a:r>
              <a:br>
                <a:rPr lang="en-US" sz="2000" b="1" dirty="0">
                  <a:latin typeface="Arial" charset="0"/>
                </a:rPr>
              </a:br>
              <a:r>
                <a:rPr lang="en-US" sz="2000" b="1" dirty="0" err="1">
                  <a:latin typeface="Arial" charset="0"/>
                </a:rPr>
                <a:t>génère</a:t>
              </a:r>
              <a:r>
                <a:rPr lang="en-US" sz="2000" b="1" dirty="0">
                  <a:latin typeface="Arial" charset="0"/>
                </a:rPr>
                <a:t> </a:t>
              </a:r>
              <a:br>
                <a:rPr lang="en-US" sz="2000" b="1" dirty="0">
                  <a:latin typeface="Arial" charset="0"/>
                </a:rPr>
              </a:br>
              <a:r>
                <a:rPr lang="en-US" sz="2000" b="1" dirty="0" err="1">
                  <a:latin typeface="Arial" charset="0"/>
                </a:rPr>
                <a:t>une</a:t>
              </a:r>
              <a:r>
                <a:rPr lang="en-US" sz="2000" b="1" dirty="0">
                  <a:latin typeface="Arial" charset="0"/>
                </a:rPr>
                <a:t> </a:t>
              </a:r>
              <a:r>
                <a:rPr lang="en-US" sz="2000" b="1" dirty="0" err="1">
                  <a:latin typeface="Arial" charset="0"/>
                </a:rPr>
                <a:t>adresse</a:t>
              </a:r>
              <a:r>
                <a:rPr lang="en-US" sz="2000" b="1" dirty="0">
                  <a:latin typeface="Arial" charset="0"/>
                </a:rPr>
                <a:t> IP</a:t>
              </a:r>
            </a:p>
          </p:txBody>
        </p:sp>
      </p:grpSp>
      <p:grpSp>
        <p:nvGrpSpPr>
          <p:cNvPr id="301186" name="Group 130"/>
          <p:cNvGrpSpPr>
            <a:grpSpLocks/>
          </p:cNvGrpSpPr>
          <p:nvPr/>
        </p:nvGrpSpPr>
        <p:grpSpPr bwMode="auto">
          <a:xfrm>
            <a:off x="3352802" y="3968750"/>
            <a:ext cx="3298826" cy="1241425"/>
            <a:chOff x="2112" y="2500"/>
            <a:chExt cx="2078" cy="782"/>
          </a:xfrm>
        </p:grpSpPr>
        <p:sp>
          <p:nvSpPr>
            <p:cNvPr id="301187" name="Text Box 131"/>
            <p:cNvSpPr txBox="1">
              <a:spLocks noChangeArrowheads="1"/>
            </p:cNvSpPr>
            <p:nvPr/>
          </p:nvSpPr>
          <p:spPr bwMode="auto">
            <a:xfrm>
              <a:off x="3759" y="2640"/>
              <a:ext cx="431" cy="252"/>
            </a:xfrm>
            <a:prstGeom prst="rect">
              <a:avLst/>
            </a:prstGeom>
            <a:noFill/>
            <a:ln w="9525">
              <a:noFill/>
              <a:miter lim="800000"/>
              <a:headEnd/>
              <a:tailEnd/>
            </a:ln>
            <a:effectLst/>
          </p:spPr>
          <p:txBody>
            <a:bodyPr wrap="none">
              <a:spAutoFit/>
            </a:bodyPr>
            <a:lstStyle/>
            <a:p>
              <a:r>
                <a:rPr lang="en-US" sz="2000" b="1">
                  <a:latin typeface="Arial" charset="0"/>
                </a:rPr>
                <a:t>Non</a:t>
              </a:r>
            </a:p>
          </p:txBody>
        </p:sp>
        <p:sp>
          <p:nvSpPr>
            <p:cNvPr id="301188" name="Line 132"/>
            <p:cNvSpPr>
              <a:spLocks noChangeShapeType="1"/>
            </p:cNvSpPr>
            <p:nvPr/>
          </p:nvSpPr>
          <p:spPr bwMode="auto">
            <a:xfrm>
              <a:off x="3592" y="2881"/>
              <a:ext cx="528" cy="0"/>
            </a:xfrm>
            <a:prstGeom prst="line">
              <a:avLst/>
            </a:prstGeom>
            <a:noFill/>
            <a:ln w="38100">
              <a:solidFill>
                <a:srgbClr val="0000CC"/>
              </a:solidFill>
              <a:round/>
              <a:headEnd type="triangle" w="med" len="med"/>
              <a:tailEnd/>
            </a:ln>
            <a:effectLst/>
          </p:spPr>
          <p:txBody>
            <a:bodyPr wrap="none" anchor="ctr"/>
            <a:lstStyle/>
            <a:p>
              <a:endParaRPr lang="fr-FR" sz="2000"/>
            </a:p>
          </p:txBody>
        </p:sp>
        <p:sp>
          <p:nvSpPr>
            <p:cNvPr id="301189" name="AutoShape 133"/>
            <p:cNvSpPr>
              <a:spLocks noChangeArrowheads="1"/>
            </p:cNvSpPr>
            <p:nvPr/>
          </p:nvSpPr>
          <p:spPr bwMode="auto">
            <a:xfrm>
              <a:off x="2112" y="2500"/>
              <a:ext cx="1527" cy="782"/>
            </a:xfrm>
            <a:prstGeom prst="flowChartDecision">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45791" dir="3378596" algn="ctr" rotWithShape="0">
                <a:srgbClr val="969696"/>
              </a:outerShdw>
            </a:effectLst>
          </p:spPr>
          <p:txBody>
            <a:bodyPr wrap="none" tIns="216000" bIns="91440" anchor="ctr"/>
            <a:lstStyle/>
            <a:p>
              <a:pPr algn="ctr">
                <a:lnSpc>
                  <a:spcPct val="85000"/>
                </a:lnSpc>
              </a:pPr>
              <a:r>
                <a:rPr lang="en-US" sz="2000" b="1" dirty="0" err="1">
                  <a:latin typeface="Arial" charset="0"/>
                </a:rPr>
                <a:t>Autre</a:t>
              </a:r>
              <a:r>
                <a:rPr lang="en-US" sz="2000" b="1" dirty="0">
                  <a:latin typeface="Arial" charset="0"/>
                </a:rPr>
                <a:t> </a:t>
              </a:r>
              <a:r>
                <a:rPr lang="en-US" sz="2000" b="1" dirty="0" err="1">
                  <a:latin typeface="Arial" charset="0"/>
                </a:rPr>
                <a:t>adresse</a:t>
              </a:r>
              <a:r>
                <a:rPr lang="en-US" sz="2000" b="1" dirty="0">
                  <a:latin typeface="Arial" charset="0"/>
                </a:rPr>
                <a:t> IP </a:t>
              </a:r>
              <a:br>
                <a:rPr lang="en-US" sz="2000" b="1" dirty="0">
                  <a:latin typeface="Arial" charset="0"/>
                </a:rPr>
              </a:br>
              <a:r>
                <a:rPr lang="en-US" sz="2000" b="1" dirty="0" err="1">
                  <a:latin typeface="Arial" charset="0"/>
                </a:rPr>
                <a:t>configurée</a:t>
              </a:r>
              <a:r>
                <a:rPr lang="en-US" sz="2000" b="1" dirty="0">
                  <a:latin typeface="Arial" charset="0"/>
                </a:rPr>
                <a:t> ?</a:t>
              </a:r>
            </a:p>
          </p:txBody>
        </p:sp>
      </p:grpSp>
      <p:grpSp>
        <p:nvGrpSpPr>
          <p:cNvPr id="301190" name="Group 134"/>
          <p:cNvGrpSpPr>
            <a:grpSpLocks/>
          </p:cNvGrpSpPr>
          <p:nvPr/>
        </p:nvGrpSpPr>
        <p:grpSpPr bwMode="auto">
          <a:xfrm>
            <a:off x="3546475" y="2994025"/>
            <a:ext cx="4778375" cy="2147888"/>
            <a:chOff x="2234" y="1886"/>
            <a:chExt cx="3010" cy="1353"/>
          </a:xfrm>
        </p:grpSpPr>
        <p:grpSp>
          <p:nvGrpSpPr>
            <p:cNvPr id="301191" name="Group 135"/>
            <p:cNvGrpSpPr>
              <a:grpSpLocks/>
            </p:cNvGrpSpPr>
            <p:nvPr/>
          </p:nvGrpSpPr>
          <p:grpSpPr bwMode="auto">
            <a:xfrm>
              <a:off x="2234" y="1886"/>
              <a:ext cx="1644" cy="492"/>
              <a:chOff x="2234" y="1886"/>
              <a:chExt cx="1644" cy="492"/>
            </a:xfrm>
          </p:grpSpPr>
          <p:sp>
            <p:nvSpPr>
              <p:cNvPr id="301192" name="Line 136"/>
              <p:cNvSpPr>
                <a:spLocks noChangeShapeType="1"/>
              </p:cNvSpPr>
              <p:nvPr/>
            </p:nvSpPr>
            <p:spPr bwMode="auto">
              <a:xfrm>
                <a:off x="2234" y="2139"/>
                <a:ext cx="528" cy="0"/>
              </a:xfrm>
              <a:prstGeom prst="line">
                <a:avLst/>
              </a:prstGeom>
              <a:noFill/>
              <a:ln w="38100">
                <a:solidFill>
                  <a:srgbClr val="0000CC"/>
                </a:solidFill>
                <a:round/>
                <a:headEnd/>
                <a:tailEnd type="triangle" w="med" len="med"/>
              </a:ln>
              <a:effectLst/>
            </p:spPr>
            <p:txBody>
              <a:bodyPr wrap="none" anchor="ctr"/>
              <a:lstStyle/>
              <a:p>
                <a:endParaRPr lang="fr-FR" sz="2000"/>
              </a:p>
            </p:txBody>
          </p:sp>
          <p:sp>
            <p:nvSpPr>
              <p:cNvPr id="301193" name="Rectangle 137"/>
              <p:cNvSpPr>
                <a:spLocks noChangeArrowheads="1"/>
              </p:cNvSpPr>
              <p:nvPr/>
            </p:nvSpPr>
            <p:spPr bwMode="auto">
              <a:xfrm>
                <a:off x="2770" y="1886"/>
                <a:ext cx="1108" cy="492"/>
              </a:xfrm>
              <a:prstGeom prst="rect">
                <a:avLst/>
              </a:prstGeom>
              <a:solidFill>
                <a:srgbClr val="FFFFFF"/>
              </a:solidFill>
              <a:ln w="28575">
                <a:solidFill>
                  <a:srgbClr val="0000CC"/>
                </a:solidFill>
                <a:miter lim="800000"/>
                <a:headEnd/>
                <a:tailEnd/>
              </a:ln>
              <a:effectLst>
                <a:outerShdw dist="35921" dir="2700000" algn="ctr" rotWithShape="0">
                  <a:srgbClr val="B2B2B2"/>
                </a:outerShdw>
              </a:effectLst>
            </p:spPr>
            <p:txBody>
              <a:bodyPr wrap="none" anchor="ctr"/>
              <a:lstStyle/>
              <a:p>
                <a:pPr algn="ctr"/>
                <a:r>
                  <a:rPr lang="en-US" sz="2000" b="1" dirty="0" err="1">
                    <a:latin typeface="Arial" charset="0"/>
                  </a:rPr>
                  <a:t>Demande</a:t>
                </a:r>
                <a:r>
                  <a:rPr lang="en-US" sz="2000" b="1" dirty="0">
                    <a:latin typeface="Arial" charset="0"/>
                  </a:rPr>
                  <a:t> </a:t>
                </a:r>
                <a:br>
                  <a:rPr lang="en-US" sz="2000" b="1" dirty="0">
                    <a:latin typeface="Arial" charset="0"/>
                  </a:rPr>
                </a:br>
                <a:r>
                  <a:rPr lang="en-US" sz="2000" b="1" dirty="0" err="1">
                    <a:latin typeface="Arial" charset="0"/>
                  </a:rPr>
                  <a:t>d'adresse</a:t>
                </a:r>
                <a:r>
                  <a:rPr lang="en-US" sz="2000" b="1" dirty="0">
                    <a:latin typeface="Arial" charset="0"/>
                  </a:rPr>
                  <a:t> IP</a:t>
                </a:r>
              </a:p>
            </p:txBody>
          </p:sp>
        </p:grpSp>
        <p:grpSp>
          <p:nvGrpSpPr>
            <p:cNvPr id="301194" name="Group 138"/>
            <p:cNvGrpSpPr>
              <a:grpSpLocks/>
            </p:cNvGrpSpPr>
            <p:nvPr/>
          </p:nvGrpSpPr>
          <p:grpSpPr bwMode="auto">
            <a:xfrm>
              <a:off x="3890" y="2131"/>
              <a:ext cx="1354" cy="1108"/>
              <a:chOff x="3890" y="2131"/>
              <a:chExt cx="1354" cy="1108"/>
            </a:xfrm>
          </p:grpSpPr>
          <p:sp>
            <p:nvSpPr>
              <p:cNvPr id="301195" name="Freeform 139"/>
              <p:cNvSpPr>
                <a:spLocks/>
              </p:cNvSpPr>
              <p:nvPr/>
            </p:nvSpPr>
            <p:spPr bwMode="auto">
              <a:xfrm>
                <a:off x="3890" y="2131"/>
                <a:ext cx="757" cy="410"/>
              </a:xfrm>
              <a:custGeom>
                <a:avLst/>
                <a:gdLst/>
                <a:ahLst/>
                <a:cxnLst>
                  <a:cxn ang="0">
                    <a:pos x="0" y="0"/>
                  </a:cxn>
                  <a:cxn ang="0">
                    <a:pos x="765" y="0"/>
                  </a:cxn>
                  <a:cxn ang="0">
                    <a:pos x="765" y="205"/>
                  </a:cxn>
                </a:cxnLst>
                <a:rect l="0" t="0" r="r" b="b"/>
                <a:pathLst>
                  <a:path w="765" h="205">
                    <a:moveTo>
                      <a:pt x="0" y="0"/>
                    </a:moveTo>
                    <a:lnTo>
                      <a:pt x="765" y="0"/>
                    </a:lnTo>
                    <a:lnTo>
                      <a:pt x="765" y="205"/>
                    </a:lnTo>
                  </a:path>
                </a:pathLst>
              </a:custGeom>
              <a:noFill/>
              <a:ln w="38100" cap="flat" cmpd="sng">
                <a:solidFill>
                  <a:srgbClr val="0000CC"/>
                </a:solidFill>
                <a:prstDash val="solid"/>
                <a:round/>
                <a:headEnd type="none" w="med" len="med"/>
                <a:tailEnd type="triangle" w="med" len="med"/>
              </a:ln>
              <a:effectLst/>
            </p:spPr>
            <p:txBody>
              <a:bodyPr wrap="none" anchor="ctr"/>
              <a:lstStyle/>
              <a:p>
                <a:endParaRPr lang="fr-FR" sz="2000"/>
              </a:p>
            </p:txBody>
          </p:sp>
          <p:sp>
            <p:nvSpPr>
              <p:cNvPr id="301196" name="AutoShape 140"/>
              <p:cNvSpPr>
                <a:spLocks noChangeArrowheads="1"/>
              </p:cNvSpPr>
              <p:nvPr/>
            </p:nvSpPr>
            <p:spPr bwMode="auto">
              <a:xfrm>
                <a:off x="4059" y="2522"/>
                <a:ext cx="1185" cy="717"/>
              </a:xfrm>
              <a:prstGeom prst="flowChartDecision">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45791" dir="3378596" algn="ctr" rotWithShape="0">
                  <a:srgbClr val="969696"/>
                </a:outerShdw>
              </a:effectLst>
            </p:spPr>
            <p:txBody>
              <a:bodyPr wrap="none" tIns="27432" bIns="91440" anchor="ctr"/>
              <a:lstStyle/>
              <a:p>
                <a:pPr algn="ctr">
                  <a:lnSpc>
                    <a:spcPct val="85000"/>
                  </a:lnSpc>
                </a:pPr>
                <a:r>
                  <a:rPr lang="en-US" sz="2000" b="1">
                    <a:latin typeface="Arial" charset="0"/>
                  </a:rPr>
                  <a:t>DHCP</a:t>
                </a:r>
              </a:p>
              <a:p>
                <a:pPr algn="ctr">
                  <a:lnSpc>
                    <a:spcPct val="85000"/>
                  </a:lnSpc>
                </a:pPr>
                <a:r>
                  <a:rPr lang="en-US" sz="2000" b="1">
                    <a:latin typeface="Arial" charset="0"/>
                  </a:rPr>
                  <a:t>disponible ?</a:t>
                </a:r>
              </a:p>
            </p:txBody>
          </p:sp>
        </p:grpSp>
      </p:grpSp>
      <p:grpSp>
        <p:nvGrpSpPr>
          <p:cNvPr id="301197" name="Group 141"/>
          <p:cNvGrpSpPr>
            <a:grpSpLocks/>
          </p:cNvGrpSpPr>
          <p:nvPr/>
        </p:nvGrpSpPr>
        <p:grpSpPr bwMode="auto">
          <a:xfrm>
            <a:off x="611188" y="6142038"/>
            <a:ext cx="609600" cy="228600"/>
            <a:chOff x="336" y="3759"/>
            <a:chExt cx="593" cy="225"/>
          </a:xfrm>
        </p:grpSpPr>
        <p:grpSp>
          <p:nvGrpSpPr>
            <p:cNvPr id="301198" name="Group 142"/>
            <p:cNvGrpSpPr>
              <a:grpSpLocks/>
            </p:cNvGrpSpPr>
            <p:nvPr/>
          </p:nvGrpSpPr>
          <p:grpSpPr bwMode="auto">
            <a:xfrm>
              <a:off x="336" y="3759"/>
              <a:ext cx="279" cy="225"/>
              <a:chOff x="336" y="3759"/>
              <a:chExt cx="279" cy="225"/>
            </a:xfrm>
          </p:grpSpPr>
          <p:sp>
            <p:nvSpPr>
              <p:cNvPr id="301199" name="AutoShape 143"/>
              <p:cNvSpPr>
                <a:spLocks noChangeArrowheads="1"/>
              </p:cNvSpPr>
              <p:nvPr/>
            </p:nvSpPr>
            <p:spPr bwMode="auto">
              <a:xfrm>
                <a:off x="336" y="3759"/>
                <a:ext cx="279" cy="225"/>
              </a:xfrm>
              <a:prstGeom prst="roundRect">
                <a:avLst>
                  <a:gd name="adj" fmla="val 16667"/>
                </a:avLst>
              </a:prstGeom>
              <a:solidFill>
                <a:srgbClr val="FFFFFF"/>
              </a:solidFill>
              <a:ln w="9525">
                <a:solidFill>
                  <a:srgbClr val="000000"/>
                </a:solidFill>
                <a:round/>
                <a:headEnd/>
                <a:tailEnd/>
              </a:ln>
              <a:effectLst/>
            </p:spPr>
            <p:txBody>
              <a:bodyPr wrap="none" anchor="ctr"/>
              <a:lstStyle/>
              <a:p>
                <a:endParaRPr lang="fr-FR"/>
              </a:p>
            </p:txBody>
          </p:sp>
          <p:sp>
            <p:nvSpPr>
              <p:cNvPr id="301200" name="Rectangle 144"/>
              <p:cNvSpPr>
                <a:spLocks noChangeArrowheads="1"/>
              </p:cNvSpPr>
              <p:nvPr/>
            </p:nvSpPr>
            <p:spPr bwMode="auto">
              <a:xfrm>
                <a:off x="371" y="3811"/>
                <a:ext cx="209" cy="121"/>
              </a:xfrm>
              <a:prstGeom prst="rect">
                <a:avLst/>
              </a:prstGeom>
              <a:solidFill>
                <a:srgbClr val="CCFFFF"/>
              </a:solidFill>
              <a:ln w="9525">
                <a:solidFill>
                  <a:srgbClr val="000000"/>
                </a:solidFill>
                <a:miter lim="800000"/>
                <a:headEnd/>
                <a:tailEnd/>
              </a:ln>
              <a:effectLst/>
            </p:spPr>
            <p:txBody>
              <a:bodyPr wrap="none" anchor="ctr"/>
              <a:lstStyle/>
              <a:p>
                <a:endParaRPr lang="fr-FR"/>
              </a:p>
            </p:txBody>
          </p:sp>
          <p:sp>
            <p:nvSpPr>
              <p:cNvPr id="301201" name="Arc 145"/>
              <p:cNvSpPr>
                <a:spLocks/>
              </p:cNvSpPr>
              <p:nvPr/>
            </p:nvSpPr>
            <p:spPr bwMode="auto">
              <a:xfrm>
                <a:off x="376" y="3815"/>
                <a:ext cx="68" cy="46"/>
              </a:xfrm>
              <a:custGeom>
                <a:avLst/>
                <a:gdLst>
                  <a:gd name="G0" fmla="+- 21600 0 0"/>
                  <a:gd name="G1" fmla="+- 21600 0 0"/>
                  <a:gd name="G2" fmla="+- 21600 0 0"/>
                  <a:gd name="T0" fmla="*/ 9259 w 22320"/>
                  <a:gd name="T1" fmla="*/ 39327 h 39327"/>
                  <a:gd name="T2" fmla="*/ 22320 w 22320"/>
                  <a:gd name="T3" fmla="*/ 12 h 39327"/>
                  <a:gd name="T4" fmla="*/ 21600 w 22320"/>
                  <a:gd name="T5" fmla="*/ 21600 h 39327"/>
                </a:gdLst>
                <a:ahLst/>
                <a:cxnLst>
                  <a:cxn ang="0">
                    <a:pos x="T0" y="T1"/>
                  </a:cxn>
                  <a:cxn ang="0">
                    <a:pos x="T2" y="T3"/>
                  </a:cxn>
                  <a:cxn ang="0">
                    <a:pos x="T4" y="T5"/>
                  </a:cxn>
                </a:cxnLst>
                <a:rect l="0" t="0" r="r" b="b"/>
                <a:pathLst>
                  <a:path w="22320" h="39327" fill="none" extrusionOk="0">
                    <a:moveTo>
                      <a:pt x="9258" y="39327"/>
                    </a:moveTo>
                    <a:cubicBezTo>
                      <a:pt x="3458" y="35288"/>
                      <a:pt x="0" y="28668"/>
                      <a:pt x="0" y="21600"/>
                    </a:cubicBezTo>
                    <a:cubicBezTo>
                      <a:pt x="0" y="9670"/>
                      <a:pt x="9670" y="0"/>
                      <a:pt x="21600" y="0"/>
                    </a:cubicBezTo>
                    <a:cubicBezTo>
                      <a:pt x="21840" y="-1"/>
                      <a:pt x="22080" y="4"/>
                      <a:pt x="22319" y="12"/>
                    </a:cubicBezTo>
                  </a:path>
                  <a:path w="22320" h="39327" stroke="0" extrusionOk="0">
                    <a:moveTo>
                      <a:pt x="9258" y="39327"/>
                    </a:moveTo>
                    <a:cubicBezTo>
                      <a:pt x="3458" y="35288"/>
                      <a:pt x="0" y="28668"/>
                      <a:pt x="0" y="21600"/>
                    </a:cubicBezTo>
                    <a:cubicBezTo>
                      <a:pt x="0" y="9670"/>
                      <a:pt x="9670" y="0"/>
                      <a:pt x="21600" y="0"/>
                    </a:cubicBezTo>
                    <a:cubicBezTo>
                      <a:pt x="21840" y="-1"/>
                      <a:pt x="22080" y="4"/>
                      <a:pt x="22319" y="12"/>
                    </a:cubicBezTo>
                    <a:lnTo>
                      <a:pt x="21600" y="21600"/>
                    </a:lnTo>
                    <a:close/>
                  </a:path>
                </a:pathLst>
              </a:custGeom>
              <a:solidFill>
                <a:srgbClr val="3366FF"/>
              </a:solidFill>
              <a:ln w="9525">
                <a:solidFill>
                  <a:srgbClr val="3366FF"/>
                </a:solidFill>
                <a:round/>
                <a:headEnd/>
                <a:tailEnd/>
              </a:ln>
              <a:effectLst>
                <a:outerShdw dist="25400" dir="5400000" algn="ctr" rotWithShape="0">
                  <a:srgbClr val="000099"/>
                </a:outerShdw>
              </a:effectLst>
            </p:spPr>
            <p:txBody>
              <a:bodyPr wrap="none" anchor="ctr"/>
              <a:lstStyle/>
              <a:p>
                <a:endParaRPr lang="fr-FR"/>
              </a:p>
            </p:txBody>
          </p:sp>
          <p:sp>
            <p:nvSpPr>
              <p:cNvPr id="301202" name="Arc 146"/>
              <p:cNvSpPr>
                <a:spLocks/>
              </p:cNvSpPr>
              <p:nvPr/>
            </p:nvSpPr>
            <p:spPr bwMode="auto">
              <a:xfrm>
                <a:off x="430" y="3846"/>
                <a:ext cx="108" cy="50"/>
              </a:xfrm>
              <a:custGeom>
                <a:avLst/>
                <a:gdLst>
                  <a:gd name="G0" fmla="+- 13604 0 0"/>
                  <a:gd name="G1" fmla="+- 21600 0 0"/>
                  <a:gd name="G2" fmla="+- 21600 0 0"/>
                  <a:gd name="T0" fmla="*/ 13604 w 35204"/>
                  <a:gd name="T1" fmla="*/ 0 h 43200"/>
                  <a:gd name="T2" fmla="*/ 0 w 35204"/>
                  <a:gd name="T3" fmla="*/ 38378 h 43200"/>
                  <a:gd name="T4" fmla="*/ 13604 w 35204"/>
                  <a:gd name="T5" fmla="*/ 21600 h 43200"/>
                </a:gdLst>
                <a:ahLst/>
                <a:cxnLst>
                  <a:cxn ang="0">
                    <a:pos x="T0" y="T1"/>
                  </a:cxn>
                  <a:cxn ang="0">
                    <a:pos x="T2" y="T3"/>
                  </a:cxn>
                  <a:cxn ang="0">
                    <a:pos x="T4" y="T5"/>
                  </a:cxn>
                </a:cxnLst>
                <a:rect l="0" t="0" r="r" b="b"/>
                <a:pathLst>
                  <a:path w="35204" h="43200" fill="none" extrusionOk="0">
                    <a:moveTo>
                      <a:pt x="13603" y="0"/>
                    </a:moveTo>
                    <a:cubicBezTo>
                      <a:pt x="25533" y="0"/>
                      <a:pt x="35204" y="9670"/>
                      <a:pt x="35204" y="21600"/>
                    </a:cubicBezTo>
                    <a:cubicBezTo>
                      <a:pt x="35204" y="33529"/>
                      <a:pt x="25533" y="43200"/>
                      <a:pt x="13604" y="43200"/>
                    </a:cubicBezTo>
                    <a:cubicBezTo>
                      <a:pt x="8650" y="43200"/>
                      <a:pt x="3847" y="41497"/>
                      <a:pt x="0" y="38377"/>
                    </a:cubicBezTo>
                  </a:path>
                  <a:path w="35204" h="43200" stroke="0" extrusionOk="0">
                    <a:moveTo>
                      <a:pt x="13603" y="0"/>
                    </a:moveTo>
                    <a:cubicBezTo>
                      <a:pt x="25533" y="0"/>
                      <a:pt x="35204" y="9670"/>
                      <a:pt x="35204" y="21600"/>
                    </a:cubicBezTo>
                    <a:cubicBezTo>
                      <a:pt x="35204" y="33529"/>
                      <a:pt x="25533" y="43200"/>
                      <a:pt x="13604" y="43200"/>
                    </a:cubicBezTo>
                    <a:cubicBezTo>
                      <a:pt x="8650" y="43200"/>
                      <a:pt x="3847" y="41497"/>
                      <a:pt x="0" y="38377"/>
                    </a:cubicBezTo>
                    <a:lnTo>
                      <a:pt x="13604" y="21600"/>
                    </a:lnTo>
                    <a:close/>
                  </a:path>
                </a:pathLst>
              </a:custGeom>
              <a:solidFill>
                <a:srgbClr val="CC0000"/>
              </a:solidFill>
              <a:ln w="9525">
                <a:solidFill>
                  <a:srgbClr val="CC0000"/>
                </a:solidFill>
                <a:round/>
                <a:headEnd/>
                <a:tailEnd/>
              </a:ln>
              <a:effectLst>
                <a:outerShdw dist="25400" dir="5400000" algn="ctr" rotWithShape="0">
                  <a:srgbClr val="990000"/>
                </a:outerShdw>
              </a:effectLst>
            </p:spPr>
            <p:txBody>
              <a:bodyPr wrap="none" anchor="ctr"/>
              <a:lstStyle/>
              <a:p>
                <a:endParaRPr lang="fr-FR"/>
              </a:p>
            </p:txBody>
          </p:sp>
        </p:grpSp>
        <p:grpSp>
          <p:nvGrpSpPr>
            <p:cNvPr id="301203" name="Group 147"/>
            <p:cNvGrpSpPr>
              <a:grpSpLocks/>
            </p:cNvGrpSpPr>
            <p:nvPr/>
          </p:nvGrpSpPr>
          <p:grpSpPr bwMode="auto">
            <a:xfrm>
              <a:off x="650" y="3759"/>
              <a:ext cx="279" cy="225"/>
              <a:chOff x="650" y="3759"/>
              <a:chExt cx="279" cy="225"/>
            </a:xfrm>
          </p:grpSpPr>
          <p:sp>
            <p:nvSpPr>
              <p:cNvPr id="301204" name="AutoShape 148"/>
              <p:cNvSpPr>
                <a:spLocks noChangeArrowheads="1"/>
              </p:cNvSpPr>
              <p:nvPr/>
            </p:nvSpPr>
            <p:spPr bwMode="auto">
              <a:xfrm>
                <a:off x="650" y="3759"/>
                <a:ext cx="279" cy="225"/>
              </a:xfrm>
              <a:prstGeom prst="roundRect">
                <a:avLst>
                  <a:gd name="adj" fmla="val 16667"/>
                </a:avLst>
              </a:prstGeom>
              <a:solidFill>
                <a:srgbClr val="FFFFFF"/>
              </a:solidFill>
              <a:ln w="9525">
                <a:solidFill>
                  <a:srgbClr val="000000"/>
                </a:solidFill>
                <a:round/>
                <a:headEnd/>
                <a:tailEnd/>
              </a:ln>
              <a:effectLst/>
            </p:spPr>
            <p:txBody>
              <a:bodyPr wrap="none" anchor="ctr"/>
              <a:lstStyle/>
              <a:p>
                <a:endParaRPr lang="fr-FR"/>
              </a:p>
            </p:txBody>
          </p:sp>
          <p:sp>
            <p:nvSpPr>
              <p:cNvPr id="301205" name="Rectangle 149"/>
              <p:cNvSpPr>
                <a:spLocks noChangeArrowheads="1"/>
              </p:cNvSpPr>
              <p:nvPr/>
            </p:nvSpPr>
            <p:spPr bwMode="auto">
              <a:xfrm>
                <a:off x="685" y="3811"/>
                <a:ext cx="209" cy="121"/>
              </a:xfrm>
              <a:prstGeom prst="rect">
                <a:avLst/>
              </a:prstGeom>
              <a:solidFill>
                <a:srgbClr val="CCFFFF"/>
              </a:solidFill>
              <a:ln w="9525">
                <a:solidFill>
                  <a:srgbClr val="000000"/>
                </a:solidFill>
                <a:miter lim="800000"/>
                <a:headEnd/>
                <a:tailEnd/>
              </a:ln>
              <a:effectLst/>
            </p:spPr>
            <p:txBody>
              <a:bodyPr wrap="none" anchor="ctr"/>
              <a:lstStyle/>
              <a:p>
                <a:endParaRPr lang="fr-FR"/>
              </a:p>
            </p:txBody>
          </p:sp>
          <p:sp>
            <p:nvSpPr>
              <p:cNvPr id="301206" name="Arc 150"/>
              <p:cNvSpPr>
                <a:spLocks/>
              </p:cNvSpPr>
              <p:nvPr/>
            </p:nvSpPr>
            <p:spPr bwMode="auto">
              <a:xfrm>
                <a:off x="720" y="3846"/>
                <a:ext cx="68" cy="46"/>
              </a:xfrm>
              <a:custGeom>
                <a:avLst/>
                <a:gdLst>
                  <a:gd name="G0" fmla="+- 21600 0 0"/>
                  <a:gd name="G1" fmla="+- 21600 0 0"/>
                  <a:gd name="G2" fmla="+- 21600 0 0"/>
                  <a:gd name="T0" fmla="*/ 9897 w 22320"/>
                  <a:gd name="T1" fmla="*/ 39755 h 39755"/>
                  <a:gd name="T2" fmla="*/ 22320 w 22320"/>
                  <a:gd name="T3" fmla="*/ 12 h 39755"/>
                  <a:gd name="T4" fmla="*/ 21600 w 22320"/>
                  <a:gd name="T5" fmla="*/ 21600 h 39755"/>
                </a:gdLst>
                <a:ahLst/>
                <a:cxnLst>
                  <a:cxn ang="0">
                    <a:pos x="T0" y="T1"/>
                  </a:cxn>
                  <a:cxn ang="0">
                    <a:pos x="T2" y="T3"/>
                  </a:cxn>
                  <a:cxn ang="0">
                    <a:pos x="T4" y="T5"/>
                  </a:cxn>
                </a:cxnLst>
                <a:rect l="0" t="0" r="r" b="b"/>
                <a:pathLst>
                  <a:path w="22320" h="39755" fill="none" extrusionOk="0">
                    <a:moveTo>
                      <a:pt x="9897" y="39754"/>
                    </a:moveTo>
                    <a:cubicBezTo>
                      <a:pt x="3727" y="35777"/>
                      <a:pt x="0" y="28940"/>
                      <a:pt x="0" y="21600"/>
                    </a:cubicBezTo>
                    <a:cubicBezTo>
                      <a:pt x="0" y="9670"/>
                      <a:pt x="9670" y="0"/>
                      <a:pt x="21600" y="0"/>
                    </a:cubicBezTo>
                    <a:cubicBezTo>
                      <a:pt x="21840" y="-1"/>
                      <a:pt x="22080" y="4"/>
                      <a:pt x="22319" y="12"/>
                    </a:cubicBezTo>
                  </a:path>
                  <a:path w="22320" h="39755" stroke="0" extrusionOk="0">
                    <a:moveTo>
                      <a:pt x="9897" y="39754"/>
                    </a:moveTo>
                    <a:cubicBezTo>
                      <a:pt x="3727" y="35777"/>
                      <a:pt x="0" y="28940"/>
                      <a:pt x="0" y="21600"/>
                    </a:cubicBezTo>
                    <a:cubicBezTo>
                      <a:pt x="0" y="9670"/>
                      <a:pt x="9670" y="0"/>
                      <a:pt x="21600" y="0"/>
                    </a:cubicBezTo>
                    <a:cubicBezTo>
                      <a:pt x="21840" y="-1"/>
                      <a:pt x="22080" y="4"/>
                      <a:pt x="22319" y="12"/>
                    </a:cubicBezTo>
                    <a:lnTo>
                      <a:pt x="21600" y="21600"/>
                    </a:lnTo>
                    <a:close/>
                  </a:path>
                </a:pathLst>
              </a:custGeom>
              <a:solidFill>
                <a:srgbClr val="3366FF"/>
              </a:solidFill>
              <a:ln w="9525">
                <a:solidFill>
                  <a:srgbClr val="3366FF"/>
                </a:solidFill>
                <a:round/>
                <a:headEnd/>
                <a:tailEnd/>
              </a:ln>
              <a:effectLst>
                <a:outerShdw dist="25400" dir="5400000" algn="ctr" rotWithShape="0">
                  <a:srgbClr val="000099"/>
                </a:outerShdw>
              </a:effectLst>
            </p:spPr>
            <p:txBody>
              <a:bodyPr wrap="none" anchor="ctr"/>
              <a:lstStyle/>
              <a:p>
                <a:endParaRPr lang="fr-FR"/>
              </a:p>
            </p:txBody>
          </p:sp>
          <p:sp>
            <p:nvSpPr>
              <p:cNvPr id="301207" name="Arc 151"/>
              <p:cNvSpPr>
                <a:spLocks/>
              </p:cNvSpPr>
              <p:nvPr/>
            </p:nvSpPr>
            <p:spPr bwMode="auto">
              <a:xfrm>
                <a:off x="739" y="3846"/>
                <a:ext cx="113" cy="50"/>
              </a:xfrm>
              <a:custGeom>
                <a:avLst/>
                <a:gdLst>
                  <a:gd name="G0" fmla="+- 15335 0 0"/>
                  <a:gd name="G1" fmla="+- 21600 0 0"/>
                  <a:gd name="G2" fmla="+- 21600 0 0"/>
                  <a:gd name="T0" fmla="*/ 15335 w 36935"/>
                  <a:gd name="T1" fmla="*/ 0 h 43200"/>
                  <a:gd name="T2" fmla="*/ 0 w 36935"/>
                  <a:gd name="T3" fmla="*/ 36811 h 43200"/>
                  <a:gd name="T4" fmla="*/ 15335 w 36935"/>
                  <a:gd name="T5" fmla="*/ 21600 h 43200"/>
                </a:gdLst>
                <a:ahLst/>
                <a:cxnLst>
                  <a:cxn ang="0">
                    <a:pos x="T0" y="T1"/>
                  </a:cxn>
                  <a:cxn ang="0">
                    <a:pos x="T2" y="T3"/>
                  </a:cxn>
                  <a:cxn ang="0">
                    <a:pos x="T4" y="T5"/>
                  </a:cxn>
                </a:cxnLst>
                <a:rect l="0" t="0" r="r" b="b"/>
                <a:pathLst>
                  <a:path w="36935" h="43200" fill="none" extrusionOk="0">
                    <a:moveTo>
                      <a:pt x="15334" y="0"/>
                    </a:moveTo>
                    <a:cubicBezTo>
                      <a:pt x="27264" y="0"/>
                      <a:pt x="36935" y="9670"/>
                      <a:pt x="36935" y="21600"/>
                    </a:cubicBezTo>
                    <a:cubicBezTo>
                      <a:pt x="36935" y="33529"/>
                      <a:pt x="27264" y="43200"/>
                      <a:pt x="15335" y="43200"/>
                    </a:cubicBezTo>
                    <a:cubicBezTo>
                      <a:pt x="9575" y="43200"/>
                      <a:pt x="4055" y="40900"/>
                      <a:pt x="-1" y="36811"/>
                    </a:cubicBezTo>
                  </a:path>
                  <a:path w="36935" h="43200" stroke="0" extrusionOk="0">
                    <a:moveTo>
                      <a:pt x="15334" y="0"/>
                    </a:moveTo>
                    <a:cubicBezTo>
                      <a:pt x="27264" y="0"/>
                      <a:pt x="36935" y="9670"/>
                      <a:pt x="36935" y="21600"/>
                    </a:cubicBezTo>
                    <a:cubicBezTo>
                      <a:pt x="36935" y="33529"/>
                      <a:pt x="27264" y="43200"/>
                      <a:pt x="15335" y="43200"/>
                    </a:cubicBezTo>
                    <a:cubicBezTo>
                      <a:pt x="9575" y="43200"/>
                      <a:pt x="4055" y="40900"/>
                      <a:pt x="-1" y="36811"/>
                    </a:cubicBezTo>
                    <a:lnTo>
                      <a:pt x="15335" y="21600"/>
                    </a:lnTo>
                    <a:close/>
                  </a:path>
                </a:pathLst>
              </a:custGeom>
              <a:solidFill>
                <a:srgbClr val="CC0000"/>
              </a:solidFill>
              <a:ln w="9525">
                <a:solidFill>
                  <a:srgbClr val="CC0000"/>
                </a:solidFill>
                <a:round/>
                <a:headEnd/>
                <a:tailEnd/>
              </a:ln>
              <a:effectLst>
                <a:outerShdw dist="25400" dir="5400000" algn="ctr" rotWithShape="0">
                  <a:srgbClr val="990000"/>
                </a:outerShdw>
              </a:effectLst>
            </p:spPr>
            <p:txBody>
              <a:bodyPr wrap="none" anchor="ctr"/>
              <a:lstStyle/>
              <a:p>
                <a:endParaRPr lang="fr-FR"/>
              </a:p>
            </p:txBody>
          </p:sp>
        </p:grpSp>
        <p:sp>
          <p:nvSpPr>
            <p:cNvPr id="301208" name="AutoShape 152"/>
            <p:cNvSpPr>
              <a:spLocks noChangeArrowheads="1"/>
            </p:cNvSpPr>
            <p:nvPr/>
          </p:nvSpPr>
          <p:spPr bwMode="auto">
            <a:xfrm>
              <a:off x="551" y="3811"/>
              <a:ext cx="162" cy="132"/>
            </a:xfrm>
            <a:prstGeom prst="rightArrow">
              <a:avLst>
                <a:gd name="adj1" fmla="val 54546"/>
                <a:gd name="adj2" fmla="val 90909"/>
              </a:avLst>
            </a:prstGeom>
            <a:solidFill>
              <a:srgbClr val="D60093"/>
            </a:solidFill>
            <a:ln w="9525">
              <a:solidFill>
                <a:srgbClr val="000000"/>
              </a:solidFill>
              <a:miter lim="800000"/>
              <a:headEnd/>
              <a:tailEnd/>
            </a:ln>
            <a:effectLst/>
          </p:spPr>
          <p:txBody>
            <a:bodyPr wrap="none" anchor="ctr"/>
            <a:lstStyle/>
            <a:p>
              <a:endParaRPr lang="fr-FR"/>
            </a:p>
          </p:txBody>
        </p:sp>
      </p:grpSp>
      <p:sp>
        <p:nvSpPr>
          <p:cNvPr id="301266" name="Text Box 210"/>
          <p:cNvSpPr txBox="1">
            <a:spLocks noChangeArrowheads="1"/>
          </p:cNvSpPr>
          <p:nvPr/>
        </p:nvSpPr>
        <p:spPr bwMode="auto">
          <a:xfrm>
            <a:off x="624113" y="2637972"/>
            <a:ext cx="1700667" cy="915988"/>
          </a:xfrm>
          <a:prstGeom prst="rect">
            <a:avLst/>
          </a:prstGeom>
          <a:noFill/>
          <a:ln w="9525">
            <a:noFill/>
            <a:miter lim="800000"/>
            <a:headEnd/>
            <a:tailEnd/>
          </a:ln>
          <a:effectLst/>
        </p:spPr>
        <p:txBody>
          <a:bodyPr/>
          <a:lstStyle/>
          <a:p>
            <a:pPr algn="ctr"/>
            <a:r>
              <a:rPr lang="en-US" sz="2000" dirty="0">
                <a:latin typeface="Arial" charset="0"/>
              </a:rPr>
              <a:t>Client avec </a:t>
            </a:r>
            <a:r>
              <a:rPr lang="en-US" sz="2000" dirty="0" err="1">
                <a:latin typeface="Arial" charset="0"/>
              </a:rPr>
              <a:t>adressage</a:t>
            </a:r>
            <a:r>
              <a:rPr lang="en-US" sz="2000" dirty="0">
                <a:latin typeface="Arial" charset="0"/>
              </a:rPr>
              <a:t> </a:t>
            </a:r>
            <a:r>
              <a:rPr lang="en-US" sz="2000" dirty="0" err="1">
                <a:latin typeface="Arial" charset="0"/>
              </a:rPr>
              <a:t>dynamique</a:t>
            </a:r>
            <a:endParaRPr lang="en-US" sz="2000" dirty="0">
              <a:latin typeface="Arial" charset="0"/>
            </a:endParaRPr>
          </a:p>
        </p:txBody>
      </p:sp>
      <p:sp>
        <p:nvSpPr>
          <p:cNvPr id="301267" name="Text Box 211"/>
          <p:cNvSpPr txBox="1">
            <a:spLocks noChangeArrowheads="1"/>
          </p:cNvSpPr>
          <p:nvPr/>
        </p:nvSpPr>
        <p:spPr bwMode="auto">
          <a:xfrm>
            <a:off x="7928429" y="2703513"/>
            <a:ext cx="1215571" cy="615950"/>
          </a:xfrm>
          <a:prstGeom prst="rect">
            <a:avLst/>
          </a:prstGeom>
          <a:noFill/>
          <a:ln w="9525">
            <a:noFill/>
            <a:miter lim="800000"/>
            <a:headEnd/>
            <a:tailEnd/>
          </a:ln>
          <a:effectLst/>
        </p:spPr>
        <p:txBody>
          <a:bodyPr/>
          <a:lstStyle/>
          <a:p>
            <a:pPr algn="ctr"/>
            <a:r>
              <a:rPr lang="en-US" sz="2000" dirty="0" err="1">
                <a:latin typeface="Arial" charset="0"/>
              </a:rPr>
              <a:t>Serveur</a:t>
            </a:r>
            <a:r>
              <a:rPr lang="en-US" sz="2000" dirty="0">
                <a:latin typeface="Arial" charset="0"/>
              </a:rPr>
              <a:t> DHCP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1190"/>
                                        </p:tgtEl>
                                        <p:attrNameLst>
                                          <p:attrName>style.visibility</p:attrName>
                                        </p:attrNameLst>
                                      </p:cBhvr>
                                      <p:to>
                                        <p:strVal val="visible"/>
                                      </p:to>
                                    </p:set>
                                    <p:animEffect transition="in" filter="wipe(left)">
                                      <p:cBhvr>
                                        <p:cTn id="7" dur="500"/>
                                        <p:tgtEl>
                                          <p:spTgt spid="3011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1174"/>
                                        </p:tgtEl>
                                        <p:attrNameLst>
                                          <p:attrName>style.visibility</p:attrName>
                                        </p:attrNameLst>
                                      </p:cBhvr>
                                      <p:to>
                                        <p:strVal val="visible"/>
                                      </p:to>
                                    </p:set>
                                    <p:animEffect transition="in" filter="wipe(up)">
                                      <p:cBhvr>
                                        <p:cTn id="12" dur="500"/>
                                        <p:tgtEl>
                                          <p:spTgt spid="3011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01186"/>
                                        </p:tgtEl>
                                        <p:attrNameLst>
                                          <p:attrName>style.visibility</p:attrName>
                                        </p:attrNameLst>
                                      </p:cBhvr>
                                      <p:to>
                                        <p:strVal val="visible"/>
                                      </p:to>
                                    </p:set>
                                    <p:animEffect transition="in" filter="wipe(right)">
                                      <p:cBhvr>
                                        <p:cTn id="17" dur="500"/>
                                        <p:tgtEl>
                                          <p:spTgt spid="3011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01178"/>
                                        </p:tgtEl>
                                        <p:attrNameLst>
                                          <p:attrName>style.visibility</p:attrName>
                                        </p:attrNameLst>
                                      </p:cBhvr>
                                      <p:to>
                                        <p:strVal val="visible"/>
                                      </p:to>
                                    </p:set>
                                    <p:animEffect transition="in" filter="wipe(up)">
                                      <p:cBhvr>
                                        <p:cTn id="22" dur="500"/>
                                        <p:tgtEl>
                                          <p:spTgt spid="3011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301182"/>
                                        </p:tgtEl>
                                        <p:attrNameLst>
                                          <p:attrName>style.visibility</p:attrName>
                                        </p:attrNameLst>
                                      </p:cBhvr>
                                      <p:to>
                                        <p:strVal val="visible"/>
                                      </p:to>
                                    </p:set>
                                    <p:animEffect transition="in" filter="wipe(right)">
                                      <p:cBhvr>
                                        <p:cTn id="27" dur="500"/>
                                        <p:tgtEl>
                                          <p:spTgt spid="301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183242" y="29939"/>
            <a:ext cx="8960758" cy="1073150"/>
          </a:xfrm>
        </p:spPr>
        <p:txBody>
          <a:bodyPr vert="horz" anchor="b">
            <a:normAutofit fontScale="90000"/>
          </a:bodyPr>
          <a:lstStyle/>
          <a:p>
            <a:r>
              <a:rPr lang="fr-FR" dirty="0">
                <a:solidFill>
                  <a:srgbClr val="C00000"/>
                </a:solidFill>
              </a:rPr>
              <a:t>Utilisation du protocole DHCP pour automatiser les attributions d'adresses IP</a:t>
            </a:r>
            <a:endParaRPr lang="en-US" dirty="0">
              <a:solidFill>
                <a:srgbClr val="C00000"/>
              </a:solidFill>
            </a:endParaRPr>
          </a:p>
        </p:txBody>
      </p:sp>
      <p:pic>
        <p:nvPicPr>
          <p:cNvPr id="304136" name="Picture 8" descr="P2272bW08-06-"/>
          <p:cNvPicPr>
            <a:picLocks noChangeAspect="1" noChangeArrowheads="1"/>
          </p:cNvPicPr>
          <p:nvPr/>
        </p:nvPicPr>
        <p:blipFill>
          <a:blip r:embed="rId2"/>
          <a:srcRect/>
          <a:stretch>
            <a:fillRect/>
          </a:stretch>
        </p:blipFill>
        <p:spPr bwMode="auto">
          <a:xfrm>
            <a:off x="2253118" y="1365696"/>
            <a:ext cx="4873396" cy="5488225"/>
          </a:xfrm>
          <a:prstGeom prst="rect">
            <a:avLst/>
          </a:prstGeom>
          <a:noFill/>
        </p:spPr>
      </p:pic>
      <p:sp>
        <p:nvSpPr>
          <p:cNvPr id="304133" name="AutoShape 5"/>
          <p:cNvSpPr>
            <a:spLocks noChangeArrowheads="1"/>
          </p:cNvSpPr>
          <p:nvPr/>
        </p:nvSpPr>
        <p:spPr bwMode="auto">
          <a:xfrm>
            <a:off x="1462543" y="2646810"/>
            <a:ext cx="1080557" cy="619278"/>
          </a:xfrm>
          <a:prstGeom prst="rightArrow">
            <a:avLst>
              <a:gd name="adj1" fmla="val 53926"/>
              <a:gd name="adj2" fmla="val 87434"/>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45791" dir="3378596" algn="ctr" rotWithShape="0">
              <a:srgbClr val="C0C0C0"/>
            </a:outerShdw>
          </a:effectLst>
        </p:spPr>
        <p:txBody>
          <a:bodyPr wrap="none" tIns="27432" bIns="27432" anchor="ctr"/>
          <a:lstStyle/>
          <a:p>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647700" y="146050"/>
            <a:ext cx="8189913" cy="841375"/>
          </a:xfrm>
        </p:spPr>
        <p:txBody>
          <a:bodyPr vert="horz" anchor="b">
            <a:normAutofit fontScale="90000"/>
          </a:bodyPr>
          <a:lstStyle/>
          <a:p>
            <a:r>
              <a:rPr lang="fr-FR" dirty="0">
                <a:solidFill>
                  <a:srgbClr val="C00000"/>
                </a:solidFill>
              </a:rPr>
              <a:t>Activation d'une configuration IP alternative</a:t>
            </a:r>
            <a:endParaRPr lang="en-US" dirty="0">
              <a:solidFill>
                <a:srgbClr val="C00000"/>
              </a:solidFill>
            </a:endParaRPr>
          </a:p>
        </p:txBody>
      </p:sp>
      <p:pic>
        <p:nvPicPr>
          <p:cNvPr id="305164" name="Picture 12" descr="P2272bW08-07-a"/>
          <p:cNvPicPr>
            <a:picLocks noChangeAspect="1" noChangeArrowheads="1"/>
          </p:cNvPicPr>
          <p:nvPr/>
        </p:nvPicPr>
        <p:blipFill>
          <a:blip r:embed="rId2"/>
          <a:srcRect/>
          <a:stretch>
            <a:fillRect/>
          </a:stretch>
        </p:blipFill>
        <p:spPr bwMode="auto">
          <a:xfrm>
            <a:off x="0" y="906462"/>
            <a:ext cx="4956153" cy="5581423"/>
          </a:xfrm>
          <a:prstGeom prst="rect">
            <a:avLst/>
          </a:prstGeom>
          <a:noFill/>
        </p:spPr>
      </p:pic>
      <p:pic>
        <p:nvPicPr>
          <p:cNvPr id="305165" name="Picture 13" descr="P2272bW08-07-b"/>
          <p:cNvPicPr>
            <a:picLocks noChangeAspect="1" noChangeArrowheads="1"/>
          </p:cNvPicPr>
          <p:nvPr/>
        </p:nvPicPr>
        <p:blipFill>
          <a:blip r:embed="rId3"/>
          <a:srcRect/>
          <a:stretch>
            <a:fillRect/>
          </a:stretch>
        </p:blipFill>
        <p:spPr bwMode="auto">
          <a:xfrm>
            <a:off x="4171265" y="1304925"/>
            <a:ext cx="4943701" cy="5567400"/>
          </a:xfrm>
          <a:prstGeom prst="rect">
            <a:avLst/>
          </a:prstGeom>
          <a:noFill/>
        </p:spPr>
      </p:pic>
      <p:sp>
        <p:nvSpPr>
          <p:cNvPr id="5" name="Flèche vers le bas 4"/>
          <p:cNvSpPr/>
          <p:nvPr/>
        </p:nvSpPr>
        <p:spPr>
          <a:xfrm>
            <a:off x="1045029" y="754742"/>
            <a:ext cx="580571" cy="682171"/>
          </a:xfrm>
          <a:prstGeom prst="downArrow">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45791" dir="3378596" algn="ctr" rotWithShape="0">
              <a:srgbClr val="C0C0C0"/>
            </a:outerShdw>
          </a:effectLst>
        </p:spPr>
        <p:txBody>
          <a:bodyPr wrap="none" tIns="27432" bIns="27432" anchor="ctr"/>
          <a:lstStyle/>
          <a:p>
            <a:endParaRPr lang="fr-FR">
              <a:solidFill>
                <a:schemeClr val="tx1"/>
              </a:solidFill>
              <a:latin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05165"/>
                                        </p:tgtEl>
                                        <p:attrNameLst>
                                          <p:attrName>style.visibility</p:attrName>
                                        </p:attrNameLst>
                                      </p:cBhvr>
                                      <p:to>
                                        <p:strVal val="visible"/>
                                      </p:to>
                                    </p:set>
                                    <p:anim calcmode="lin" valueType="num">
                                      <p:cBhvr additive="base">
                                        <p:cTn id="7" dur="2000" fill="hold"/>
                                        <p:tgtEl>
                                          <p:spTgt spid="305165"/>
                                        </p:tgtEl>
                                        <p:attrNameLst>
                                          <p:attrName>ppt_x</p:attrName>
                                        </p:attrNameLst>
                                      </p:cBhvr>
                                      <p:tavLst>
                                        <p:tav tm="0">
                                          <p:val>
                                            <p:strVal val="1+#ppt_w/2"/>
                                          </p:val>
                                        </p:tav>
                                        <p:tav tm="100000">
                                          <p:val>
                                            <p:strVal val="#ppt_x"/>
                                          </p:val>
                                        </p:tav>
                                      </p:tavLst>
                                    </p:anim>
                                    <p:anim calcmode="lin" valueType="num">
                                      <p:cBhvr additive="base">
                                        <p:cTn id="8" dur="2000" fill="hold"/>
                                        <p:tgtEl>
                                          <p:spTgt spid="3051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80" name="Rectangle 4"/>
          <p:cNvSpPr>
            <a:spLocks noGrp="1" noChangeArrowheads="1"/>
          </p:cNvSpPr>
          <p:nvPr>
            <p:ph type="title"/>
          </p:nvPr>
        </p:nvSpPr>
        <p:spPr>
          <a:xfrm>
            <a:off x="113070" y="228600"/>
            <a:ext cx="8842248" cy="874486"/>
          </a:xfrm>
        </p:spPr>
        <p:txBody>
          <a:bodyPr>
            <a:normAutofit fontScale="90000"/>
          </a:bodyPr>
          <a:lstStyle/>
          <a:p>
            <a:pPr marL="439738" indent="-439738"/>
            <a:r>
              <a:rPr lang="fr-FR" dirty="0"/>
              <a:t>2. Résolution des problèmes liés aux </a:t>
            </a:r>
            <a:br>
              <a:rPr lang="fr-FR" dirty="0"/>
            </a:br>
            <a:r>
              <a:rPr lang="fr-FR" dirty="0"/>
              <a:t>adresses IP</a:t>
            </a:r>
            <a:r>
              <a:rPr lang="en-US" dirty="0"/>
              <a:t> </a:t>
            </a:r>
          </a:p>
        </p:txBody>
      </p:sp>
      <p:sp>
        <p:nvSpPr>
          <p:cNvPr id="306181" name="Rectangle 5"/>
          <p:cNvSpPr>
            <a:spLocks noGrp="1" noChangeArrowheads="1"/>
          </p:cNvSpPr>
          <p:nvPr>
            <p:ph sz="quarter" idx="1"/>
          </p:nvPr>
        </p:nvSpPr>
        <p:spPr>
          <a:xfrm>
            <a:off x="301752" y="2093105"/>
            <a:ext cx="8503920" cy="2812723"/>
          </a:xfrm>
        </p:spPr>
        <p:txBody>
          <a:bodyPr>
            <a:normAutofit/>
          </a:bodyPr>
          <a:lstStyle/>
          <a:p>
            <a:pPr>
              <a:buClrTx/>
              <a:buFont typeface="Wingdings" pitchFamily="2" charset="2"/>
              <a:buChar char="Ø"/>
            </a:pPr>
            <a:r>
              <a:rPr lang="fr-FR" sz="2800" dirty="0"/>
              <a:t>Utilisation des utilitaires de dépannage TCP/IP </a:t>
            </a:r>
            <a:endParaRPr lang="en-US" sz="2800" dirty="0"/>
          </a:p>
          <a:p>
            <a:pPr>
              <a:buClrTx/>
              <a:buFont typeface="Wingdings" pitchFamily="2" charset="2"/>
              <a:buChar char="Ø"/>
            </a:pPr>
            <a:r>
              <a:rPr lang="fr-FR" sz="2800" dirty="0"/>
              <a:t>Utilisation de la commande </a:t>
            </a:r>
            <a:r>
              <a:rPr lang="fr-FR" sz="2800" dirty="0" err="1"/>
              <a:t>ipconfig</a:t>
            </a:r>
            <a:r>
              <a:rPr lang="fr-FR" sz="2800" dirty="0"/>
              <a:t> pour résoudre un problème d'adressage IP </a:t>
            </a:r>
            <a:endParaRPr lang="en-US" sz="2800" dirty="0"/>
          </a:p>
          <a:p>
            <a:pPr>
              <a:buClrTx/>
              <a:buFont typeface="Wingdings" pitchFamily="2" charset="2"/>
              <a:buChar char="Ø"/>
            </a:pPr>
            <a:r>
              <a:rPr lang="fr-FR" sz="2800" dirty="0">
                <a:cs typeface="Times New Roman" pitchFamily="18" charset="0"/>
              </a:rPr>
              <a:t>Utilisation de la commande </a:t>
            </a:r>
            <a:r>
              <a:rPr lang="fr-FR" sz="2800" dirty="0" err="1">
                <a:cs typeface="Times New Roman" pitchFamily="18" charset="0"/>
              </a:rPr>
              <a:t>ping</a:t>
            </a:r>
            <a:r>
              <a:rPr lang="fr-FR" sz="2800" dirty="0">
                <a:cs typeface="Times New Roman" pitchFamily="18" charset="0"/>
              </a:rPr>
              <a:t> pour résoudre les problèmes d'adressage IP</a:t>
            </a:r>
            <a:r>
              <a:rPr lang="fr-FR" sz="2800" dirty="0"/>
              <a:t> </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8" name="Rectangle 8"/>
          <p:cNvSpPr>
            <a:spLocks noGrp="1" noChangeArrowheads="1"/>
          </p:cNvSpPr>
          <p:nvPr>
            <p:ph type="title"/>
          </p:nvPr>
        </p:nvSpPr>
        <p:spPr>
          <a:xfrm>
            <a:off x="174171" y="159654"/>
            <a:ext cx="8969829" cy="987552"/>
          </a:xfrm>
        </p:spPr>
        <p:txBody>
          <a:bodyPr vert="horz" anchor="b">
            <a:normAutofit fontScale="90000"/>
          </a:bodyPr>
          <a:lstStyle/>
          <a:p>
            <a:r>
              <a:rPr lang="fr-FR" dirty="0">
                <a:solidFill>
                  <a:srgbClr val="C00000"/>
                </a:solidFill>
              </a:rPr>
              <a:t>Utilisation des utilitaires de dépannage TCP/IP</a:t>
            </a:r>
            <a:endParaRPr lang="en-US" dirty="0">
              <a:solidFill>
                <a:srgbClr val="C00000"/>
              </a:solidFill>
            </a:endParaRPr>
          </a:p>
        </p:txBody>
      </p:sp>
      <p:sp>
        <p:nvSpPr>
          <p:cNvPr id="307209" name="Rectangle 9"/>
          <p:cNvSpPr>
            <a:spLocks noGrp="1" noChangeArrowheads="1"/>
          </p:cNvSpPr>
          <p:nvPr>
            <p:ph sz="quarter" idx="1"/>
          </p:nvPr>
        </p:nvSpPr>
        <p:spPr>
          <a:xfrm>
            <a:off x="185638" y="1309334"/>
            <a:ext cx="2862362" cy="5548666"/>
          </a:xfrm>
          <a:solidFill>
            <a:schemeClr val="bg1">
              <a:lumMod val="85000"/>
            </a:schemeClr>
          </a:solidFill>
        </p:spPr>
        <p:txBody>
          <a:bodyPr>
            <a:normAutofit lnSpcReduction="10000"/>
          </a:bodyPr>
          <a:lstStyle/>
          <a:p>
            <a:pPr>
              <a:buClr>
                <a:schemeClr val="tx1"/>
              </a:buClr>
            </a:pPr>
            <a:r>
              <a:rPr lang="en-US" sz="2800" b="1" dirty="0" err="1"/>
              <a:t>arp</a:t>
            </a:r>
            <a:endParaRPr lang="en-US" sz="2800" b="1" dirty="0"/>
          </a:p>
          <a:p>
            <a:pPr>
              <a:buClr>
                <a:schemeClr val="tx1"/>
              </a:buClr>
            </a:pPr>
            <a:endParaRPr lang="en-US" sz="2800" b="1" dirty="0"/>
          </a:p>
          <a:p>
            <a:pPr>
              <a:buClr>
                <a:schemeClr val="tx1"/>
              </a:buClr>
            </a:pPr>
            <a:r>
              <a:rPr lang="en-US" sz="2800" b="1" dirty="0"/>
              <a:t>hostname</a:t>
            </a:r>
          </a:p>
          <a:p>
            <a:pPr>
              <a:buClr>
                <a:schemeClr val="tx1"/>
              </a:buClr>
            </a:pPr>
            <a:endParaRPr lang="en-US" sz="2800" b="1" dirty="0"/>
          </a:p>
          <a:p>
            <a:pPr>
              <a:buClr>
                <a:schemeClr val="tx1"/>
              </a:buClr>
            </a:pPr>
            <a:r>
              <a:rPr lang="en-US" sz="2800" b="1" dirty="0" err="1"/>
              <a:t>ipconfig</a:t>
            </a:r>
            <a:endParaRPr lang="en-US" sz="2800" b="1" dirty="0"/>
          </a:p>
          <a:p>
            <a:pPr>
              <a:buClr>
                <a:schemeClr val="tx1"/>
              </a:buClr>
            </a:pPr>
            <a:endParaRPr lang="en-US" sz="2800" b="1" dirty="0"/>
          </a:p>
          <a:p>
            <a:pPr>
              <a:buClr>
                <a:schemeClr val="tx1"/>
              </a:buClr>
            </a:pPr>
            <a:r>
              <a:rPr lang="en-US" sz="2800" b="1" dirty="0"/>
              <a:t>ping</a:t>
            </a:r>
          </a:p>
          <a:p>
            <a:pPr>
              <a:buClr>
                <a:schemeClr val="tx1"/>
              </a:buClr>
            </a:pPr>
            <a:endParaRPr lang="en-US" sz="2800" b="1" dirty="0"/>
          </a:p>
          <a:p>
            <a:pPr>
              <a:buClr>
                <a:schemeClr val="tx1"/>
              </a:buClr>
            </a:pPr>
            <a:r>
              <a:rPr lang="en-US" sz="2800" b="1" dirty="0" err="1"/>
              <a:t>pathping</a:t>
            </a:r>
            <a:endParaRPr lang="en-US" sz="2800" b="1" dirty="0"/>
          </a:p>
          <a:p>
            <a:pPr>
              <a:buClr>
                <a:schemeClr val="tx1"/>
              </a:buClr>
            </a:pPr>
            <a:endParaRPr lang="en-US" sz="2800" b="1" dirty="0"/>
          </a:p>
          <a:p>
            <a:pPr>
              <a:buClr>
                <a:schemeClr val="tx1"/>
              </a:buClr>
            </a:pPr>
            <a:r>
              <a:rPr lang="en-US" sz="2800" b="1" dirty="0" err="1"/>
              <a:t>tracert</a:t>
            </a:r>
            <a:endParaRPr lang="en-US" sz="2800" b="1" dirty="0"/>
          </a:p>
        </p:txBody>
      </p:sp>
      <p:sp>
        <p:nvSpPr>
          <p:cNvPr id="5" name="ZoneTexte 4"/>
          <p:cNvSpPr txBox="1"/>
          <p:nvPr/>
        </p:nvSpPr>
        <p:spPr>
          <a:xfrm>
            <a:off x="3135085" y="1465940"/>
            <a:ext cx="5834744" cy="1938992"/>
          </a:xfrm>
          <a:prstGeom prst="rect">
            <a:avLst/>
          </a:prstGeom>
          <a:solidFill>
            <a:srgbClr val="CCECFF"/>
          </a:solidFill>
          <a:ln w="19050">
            <a:solidFill>
              <a:srgbClr val="002060"/>
            </a:solidFill>
          </a:ln>
        </p:spPr>
        <p:txBody>
          <a:bodyPr wrap="square" rtlCol="0">
            <a:spAutoFit/>
          </a:bodyPr>
          <a:lstStyle/>
          <a:p>
            <a:pPr>
              <a:buFont typeface="Wingdings" pitchFamily="2" charset="2"/>
              <a:buChar char="ü"/>
            </a:pPr>
            <a:r>
              <a:rPr lang="fr-FR" sz="2400" b="1" dirty="0">
                <a:latin typeface="Arial" pitchFamily="34" charset="0"/>
                <a:cs typeface="Arial" pitchFamily="34" charset="0"/>
              </a:rPr>
              <a:t>Affiche et modifie le cache ARP. </a:t>
            </a:r>
          </a:p>
          <a:p>
            <a:pPr>
              <a:buFont typeface="Wingdings" pitchFamily="2" charset="2"/>
              <a:buChar char="ü"/>
            </a:pPr>
            <a:r>
              <a:rPr lang="fr-FR" sz="2400" b="1" dirty="0">
                <a:latin typeface="Arial" pitchFamily="34" charset="0"/>
                <a:cs typeface="Arial" pitchFamily="34" charset="0"/>
              </a:rPr>
              <a:t>Ce protocole est chargé d'identifier l'adresse MAC (</a:t>
            </a:r>
            <a:r>
              <a:rPr lang="fr-FR" sz="2400" b="1" i="1" dirty="0">
                <a:latin typeface="Arial" pitchFamily="34" charset="0"/>
                <a:cs typeface="Arial" pitchFamily="34" charset="0"/>
              </a:rPr>
              <a:t>Media Access Control) de la carte réseau de l'ordinateur de </a:t>
            </a:r>
            <a:r>
              <a:rPr lang="fr-FR" sz="2400" b="1" dirty="0">
                <a:latin typeface="Arial" pitchFamily="34" charset="0"/>
                <a:cs typeface="Arial" pitchFamily="34" charset="0"/>
              </a:rPr>
              <a:t>destination</a:t>
            </a:r>
          </a:p>
        </p:txBody>
      </p:sp>
      <p:sp>
        <p:nvSpPr>
          <p:cNvPr id="6" name="ZoneTexte 5"/>
          <p:cNvSpPr txBox="1"/>
          <p:nvPr/>
        </p:nvSpPr>
        <p:spPr>
          <a:xfrm>
            <a:off x="3149602" y="2082791"/>
            <a:ext cx="5834744" cy="830997"/>
          </a:xfrm>
          <a:prstGeom prst="rect">
            <a:avLst/>
          </a:prstGeom>
          <a:solidFill>
            <a:srgbClr val="CCECFF"/>
          </a:solidFill>
          <a:ln w="19050">
            <a:solidFill>
              <a:srgbClr val="002060"/>
            </a:solidFill>
          </a:ln>
        </p:spPr>
        <p:txBody>
          <a:bodyPr wrap="square" rtlCol="0">
            <a:spAutoFit/>
          </a:bodyPr>
          <a:lstStyle/>
          <a:p>
            <a:pPr>
              <a:buFont typeface="Wingdings" pitchFamily="2" charset="2"/>
              <a:buChar char="ü"/>
            </a:pPr>
            <a:r>
              <a:rPr lang="fr-FR" sz="2400" b="1" dirty="0">
                <a:latin typeface="Arial" pitchFamily="34" charset="0"/>
                <a:cs typeface="Arial" pitchFamily="34" charset="0"/>
              </a:rPr>
              <a:t>affiche le nom d'hôte de votre ordinateur</a:t>
            </a:r>
          </a:p>
        </p:txBody>
      </p:sp>
      <p:sp>
        <p:nvSpPr>
          <p:cNvPr id="7" name="ZoneTexte 6"/>
          <p:cNvSpPr txBox="1"/>
          <p:nvPr/>
        </p:nvSpPr>
        <p:spPr>
          <a:xfrm>
            <a:off x="3142345" y="2866544"/>
            <a:ext cx="5834744" cy="1200329"/>
          </a:xfrm>
          <a:prstGeom prst="rect">
            <a:avLst/>
          </a:prstGeom>
          <a:solidFill>
            <a:srgbClr val="CCECFF"/>
          </a:solidFill>
          <a:ln w="19050">
            <a:solidFill>
              <a:srgbClr val="002060"/>
            </a:solidFill>
          </a:ln>
        </p:spPr>
        <p:txBody>
          <a:bodyPr wrap="square" rtlCol="0">
            <a:spAutoFit/>
          </a:bodyPr>
          <a:lstStyle/>
          <a:p>
            <a:pPr>
              <a:buFont typeface="Wingdings" pitchFamily="2" charset="2"/>
              <a:buChar char="ü"/>
            </a:pPr>
            <a:r>
              <a:rPr lang="fr-FR" sz="2400" b="1" dirty="0">
                <a:latin typeface="Arial" pitchFamily="34" charset="0"/>
                <a:cs typeface="Arial" pitchFamily="34" charset="0"/>
              </a:rPr>
              <a:t>affiche et met à jour la configuration TCP/IP  actuelle, notamment l'adresse IP</a:t>
            </a:r>
          </a:p>
        </p:txBody>
      </p:sp>
      <p:sp>
        <p:nvSpPr>
          <p:cNvPr id="8" name="ZoneTexte 7"/>
          <p:cNvSpPr txBox="1"/>
          <p:nvPr/>
        </p:nvSpPr>
        <p:spPr>
          <a:xfrm>
            <a:off x="3142345" y="3403562"/>
            <a:ext cx="5834744" cy="2677656"/>
          </a:xfrm>
          <a:prstGeom prst="rect">
            <a:avLst/>
          </a:prstGeom>
          <a:solidFill>
            <a:srgbClr val="CCECFF"/>
          </a:solidFill>
          <a:ln w="19050">
            <a:solidFill>
              <a:srgbClr val="002060"/>
            </a:solidFill>
          </a:ln>
        </p:spPr>
        <p:txBody>
          <a:bodyPr wrap="square" rtlCol="0">
            <a:spAutoFit/>
          </a:bodyPr>
          <a:lstStyle/>
          <a:p>
            <a:pPr>
              <a:buFont typeface="Wingdings" pitchFamily="2" charset="2"/>
              <a:buChar char="ü"/>
            </a:pPr>
            <a:r>
              <a:rPr lang="fr-FR" sz="2400" b="1" dirty="0">
                <a:latin typeface="Arial" pitchFamily="34" charset="0"/>
                <a:cs typeface="Arial" pitchFamily="34" charset="0"/>
              </a:rPr>
              <a:t>Teste la connectivité IP entre deux ordinateurs. </a:t>
            </a:r>
          </a:p>
          <a:p>
            <a:pPr>
              <a:buFont typeface="Wingdings" pitchFamily="2" charset="2"/>
              <a:buChar char="ü"/>
            </a:pPr>
            <a:r>
              <a:rPr lang="fr-FR" sz="2400" b="1" dirty="0">
                <a:latin typeface="Arial" pitchFamily="34" charset="0"/>
                <a:cs typeface="Arial" pitchFamily="34" charset="0"/>
              </a:rPr>
              <a:t>Envoie une requête ICMP (</a:t>
            </a:r>
            <a:r>
              <a:rPr lang="fr-FR" sz="2400" b="1" i="1" dirty="0">
                <a:latin typeface="Arial" pitchFamily="34" charset="0"/>
                <a:cs typeface="Arial" pitchFamily="34" charset="0"/>
              </a:rPr>
              <a:t>Internet Control Message Protocol) depuis </a:t>
            </a:r>
            <a:r>
              <a:rPr lang="fr-FR" sz="2400" b="1" dirty="0">
                <a:latin typeface="Arial" pitchFamily="34" charset="0"/>
                <a:cs typeface="Arial" pitchFamily="34" charset="0"/>
              </a:rPr>
              <a:t>l'ordinateur source, à laquelle l'ordinateur de destination réagit par une réponse ICMP</a:t>
            </a:r>
          </a:p>
        </p:txBody>
      </p:sp>
      <p:sp>
        <p:nvSpPr>
          <p:cNvPr id="9" name="ZoneTexte 8"/>
          <p:cNvSpPr txBox="1"/>
          <p:nvPr/>
        </p:nvSpPr>
        <p:spPr>
          <a:xfrm>
            <a:off x="3142345" y="4158290"/>
            <a:ext cx="5834744" cy="2308324"/>
          </a:xfrm>
          <a:prstGeom prst="rect">
            <a:avLst/>
          </a:prstGeom>
          <a:solidFill>
            <a:srgbClr val="CCECFF"/>
          </a:solidFill>
          <a:ln w="19050">
            <a:solidFill>
              <a:srgbClr val="002060"/>
            </a:solidFill>
          </a:ln>
        </p:spPr>
        <p:txBody>
          <a:bodyPr wrap="square" rtlCol="0">
            <a:spAutoFit/>
          </a:bodyPr>
          <a:lstStyle/>
          <a:p>
            <a:pPr>
              <a:buFont typeface="Wingdings" pitchFamily="2" charset="2"/>
              <a:buChar char="ü"/>
            </a:pPr>
            <a:r>
              <a:rPr lang="fr-FR" sz="2400" b="1" dirty="0">
                <a:latin typeface="Arial" pitchFamily="34" charset="0"/>
                <a:cs typeface="Arial" pitchFamily="34" charset="0"/>
              </a:rPr>
              <a:t>Envoie des paquets à chaque routeur installés sur le chemin d'une destination finale pendant une durée donnée, puis calcule des résultats en fonction du retour de paquets issu de chaque tronçon</a:t>
            </a:r>
          </a:p>
        </p:txBody>
      </p:sp>
      <p:sp>
        <p:nvSpPr>
          <p:cNvPr id="10" name="ZoneTexte 9"/>
          <p:cNvSpPr txBox="1"/>
          <p:nvPr/>
        </p:nvSpPr>
        <p:spPr>
          <a:xfrm>
            <a:off x="3149605" y="5288340"/>
            <a:ext cx="5834744" cy="1569660"/>
          </a:xfrm>
          <a:prstGeom prst="rect">
            <a:avLst/>
          </a:prstGeom>
          <a:solidFill>
            <a:srgbClr val="CCECFF"/>
          </a:solidFill>
          <a:ln w="19050">
            <a:solidFill>
              <a:srgbClr val="002060"/>
            </a:solidFill>
          </a:ln>
        </p:spPr>
        <p:txBody>
          <a:bodyPr wrap="square" rtlCol="0">
            <a:spAutoFit/>
          </a:bodyPr>
          <a:lstStyle/>
          <a:p>
            <a:pPr>
              <a:buFont typeface="Wingdings" pitchFamily="2" charset="2"/>
              <a:buChar char="ü"/>
            </a:pPr>
            <a:r>
              <a:rPr lang="fr-FR" sz="2400" b="1" dirty="0">
                <a:latin typeface="Arial "/>
              </a:rPr>
              <a:t>Affiche la liste des routeurs IP utilisés pour acheminer des paquets de votre ordinateur à une destination donnée.</a:t>
            </a:r>
            <a:endParaRPr lang="fr-FR" sz="2400" b="1" dirty="0">
              <a:latin typeface="Arial "/>
              <a:cs typeface="Arial" pitchFamily="34" charset="0"/>
            </a:endParaRPr>
          </a:p>
        </p:txBody>
      </p:sp>
      <p:sp>
        <p:nvSpPr>
          <p:cNvPr id="11" name="Rectangle 10"/>
          <p:cNvSpPr/>
          <p:nvPr/>
        </p:nvSpPr>
        <p:spPr>
          <a:xfrm>
            <a:off x="166917" y="1320799"/>
            <a:ext cx="2554514" cy="537029"/>
          </a:xfrm>
          <a:prstGeom prst="rect">
            <a:avLst/>
          </a:prstGeom>
          <a:noFill/>
          <a:ln w="3810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166917" y="2198913"/>
            <a:ext cx="2554514" cy="537029"/>
          </a:xfrm>
          <a:prstGeom prst="rect">
            <a:avLst/>
          </a:prstGeom>
          <a:noFill/>
          <a:ln w="3810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166917" y="3091542"/>
            <a:ext cx="2554514" cy="537029"/>
          </a:xfrm>
          <a:prstGeom prst="rect">
            <a:avLst/>
          </a:prstGeom>
          <a:noFill/>
          <a:ln w="3810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166917" y="4013199"/>
            <a:ext cx="2554514" cy="537029"/>
          </a:xfrm>
          <a:prstGeom prst="rect">
            <a:avLst/>
          </a:prstGeom>
          <a:noFill/>
          <a:ln w="3810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166917" y="4992913"/>
            <a:ext cx="2554514" cy="537029"/>
          </a:xfrm>
          <a:prstGeom prst="rect">
            <a:avLst/>
          </a:prstGeom>
          <a:noFill/>
          <a:ln w="3810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166917" y="5885542"/>
            <a:ext cx="2554514" cy="537029"/>
          </a:xfrm>
          <a:prstGeom prst="rect">
            <a:avLst/>
          </a:prstGeom>
          <a:noFill/>
          <a:ln w="38100">
            <a:solidFill>
              <a:srgbClr val="0000C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par>
                                <p:cTn id="8" presetID="4" presetClass="entr" presetSubtype="16" fill="hold" grpId="1"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ox(i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0-#ppt_h/2"/>
                                          </p:val>
                                        </p:tav>
                                        <p:tav tm="100000">
                                          <p:val>
                                            <p:strVal val="#ppt_y"/>
                                          </p:val>
                                        </p:tav>
                                      </p:tavLst>
                                    </p:anim>
                                  </p:childTnLst>
                                </p:cTn>
                              </p:par>
                              <p:par>
                                <p:cTn id="21" presetID="5" presetClass="exit" presetSubtype="10" fill="hold" grpId="2" nodeType="withEffect">
                                  <p:stCondLst>
                                    <p:cond delay="0"/>
                                  </p:stCondLst>
                                  <p:childTnLst>
                                    <p:animEffect transition="out" filter="checkerboard(across)">
                                      <p:cBhvr>
                                        <p:cTn id="22" dur="500"/>
                                        <p:tgtEl>
                                          <p:spTgt spid="11"/>
                                        </p:tgtEl>
                                      </p:cBhvr>
                                    </p:animEffect>
                                    <p:set>
                                      <p:cBhvr>
                                        <p:cTn id="23" dur="1" fill="hold">
                                          <p:stCondLst>
                                            <p:cond delay="499"/>
                                          </p:stCondLst>
                                        </p:cTn>
                                        <p:tgtEl>
                                          <p:spTgt spid="11"/>
                                        </p:tgtEl>
                                        <p:attrNameLst>
                                          <p:attrName>style.visibility</p:attrName>
                                        </p:attrNameLst>
                                      </p:cBhvr>
                                      <p:to>
                                        <p:strVal val="hidden"/>
                                      </p:to>
                                    </p:set>
                                  </p:childTnLst>
                                </p:cTn>
                              </p:par>
                              <p:par>
                                <p:cTn id="24" presetID="5" presetClass="exit" presetSubtype="10" fill="hold" grpId="2" nodeType="withEffect">
                                  <p:stCondLst>
                                    <p:cond delay="0"/>
                                  </p:stCondLst>
                                  <p:childTnLst>
                                    <p:animEffect transition="out" filter="checkerboard(across)">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0-#ppt_h/2"/>
                                          </p:val>
                                        </p:tav>
                                        <p:tav tm="100000">
                                          <p:val>
                                            <p:strVal val="#ppt_y"/>
                                          </p:val>
                                        </p:tav>
                                      </p:tavLst>
                                    </p:anim>
                                  </p:childTnLst>
                                </p:cTn>
                              </p:par>
                              <p:par>
                                <p:cTn id="37" presetID="5" presetClass="exit" presetSubtype="10" fill="hold" grpId="1" nodeType="withEffect">
                                  <p:stCondLst>
                                    <p:cond delay="0"/>
                                  </p:stCondLst>
                                  <p:childTnLst>
                                    <p:animEffect transition="out" filter="checkerboard(across)">
                                      <p:cBhvr>
                                        <p:cTn id="38" dur="500"/>
                                        <p:tgtEl>
                                          <p:spTgt spid="6"/>
                                        </p:tgtEl>
                                      </p:cBhvr>
                                    </p:animEffect>
                                    <p:set>
                                      <p:cBhvr>
                                        <p:cTn id="39" dur="1" fill="hold">
                                          <p:stCondLst>
                                            <p:cond delay="499"/>
                                          </p:stCondLst>
                                        </p:cTn>
                                        <p:tgtEl>
                                          <p:spTgt spid="6"/>
                                        </p:tgtEl>
                                        <p:attrNameLst>
                                          <p:attrName>style.visibility</p:attrName>
                                        </p:attrNameLst>
                                      </p:cBhvr>
                                      <p:to>
                                        <p:strVal val="hidden"/>
                                      </p:to>
                                    </p:set>
                                  </p:childTnLst>
                                </p:cTn>
                              </p:par>
                              <p:par>
                                <p:cTn id="40" presetID="5" presetClass="exit" presetSubtype="10" fill="hold" grpId="1" nodeType="withEffect">
                                  <p:stCondLst>
                                    <p:cond delay="0"/>
                                  </p:stCondLst>
                                  <p:childTnLst>
                                    <p:animEffect transition="out" filter="checkerboard(across)">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0-#ppt_h/2"/>
                                          </p:val>
                                        </p:tav>
                                        <p:tav tm="100000">
                                          <p:val>
                                            <p:strVal val="#ppt_y"/>
                                          </p:val>
                                        </p:tav>
                                      </p:tavLst>
                                    </p:anim>
                                  </p:childTnLst>
                                </p:cTn>
                              </p:par>
                              <p:par>
                                <p:cTn id="53" presetID="5" presetClass="exit" presetSubtype="10" fill="hold" grpId="1" nodeType="withEffect">
                                  <p:stCondLst>
                                    <p:cond delay="0"/>
                                  </p:stCondLst>
                                  <p:childTnLst>
                                    <p:animEffect transition="out" filter="checkerboard(across)">
                                      <p:cBhvr>
                                        <p:cTn id="54" dur="500"/>
                                        <p:tgtEl>
                                          <p:spTgt spid="7"/>
                                        </p:tgtEl>
                                      </p:cBhvr>
                                    </p:animEffect>
                                    <p:set>
                                      <p:cBhvr>
                                        <p:cTn id="55" dur="1" fill="hold">
                                          <p:stCondLst>
                                            <p:cond delay="499"/>
                                          </p:stCondLst>
                                        </p:cTn>
                                        <p:tgtEl>
                                          <p:spTgt spid="7"/>
                                        </p:tgtEl>
                                        <p:attrNameLst>
                                          <p:attrName>style.visibility</p:attrName>
                                        </p:attrNameLst>
                                      </p:cBhvr>
                                      <p:to>
                                        <p:strVal val="hidden"/>
                                      </p:to>
                                    </p:set>
                                  </p:childTnLst>
                                </p:cTn>
                              </p:par>
                              <p:par>
                                <p:cTn id="56" presetID="5" presetClass="exit" presetSubtype="10" fill="hold" grpId="1" nodeType="withEffect">
                                  <p:stCondLst>
                                    <p:cond delay="0"/>
                                  </p:stCondLst>
                                  <p:childTnLst>
                                    <p:animEffect transition="out" filter="checkerboard(across)">
                                      <p:cBhvr>
                                        <p:cTn id="57" dur="500"/>
                                        <p:tgtEl>
                                          <p:spTgt spid="13"/>
                                        </p:tgtEl>
                                      </p:cBhvr>
                                    </p:animEffect>
                                    <p:set>
                                      <p:cBhvr>
                                        <p:cTn id="58" dur="1" fill="hold">
                                          <p:stCondLst>
                                            <p:cond delay="499"/>
                                          </p:stCondLst>
                                        </p:cTn>
                                        <p:tgtEl>
                                          <p:spTgt spid="1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1"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0-#ppt_h/2"/>
                                          </p:val>
                                        </p:tav>
                                        <p:tav tm="100000">
                                          <p:val>
                                            <p:strVal val="#ppt_y"/>
                                          </p:val>
                                        </p:tav>
                                      </p:tavLst>
                                    </p:anim>
                                  </p:childTnLst>
                                </p:cTn>
                              </p:par>
                              <p:par>
                                <p:cTn id="65" presetID="2" presetClass="entr" presetSubtype="1"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additive="base">
                                        <p:cTn id="67" dur="500" fill="hold"/>
                                        <p:tgtEl>
                                          <p:spTgt spid="9"/>
                                        </p:tgtEl>
                                        <p:attrNameLst>
                                          <p:attrName>ppt_x</p:attrName>
                                        </p:attrNameLst>
                                      </p:cBhvr>
                                      <p:tavLst>
                                        <p:tav tm="0">
                                          <p:val>
                                            <p:strVal val="#ppt_x"/>
                                          </p:val>
                                        </p:tav>
                                        <p:tav tm="100000">
                                          <p:val>
                                            <p:strVal val="#ppt_x"/>
                                          </p:val>
                                        </p:tav>
                                      </p:tavLst>
                                    </p:anim>
                                    <p:anim calcmode="lin" valueType="num">
                                      <p:cBhvr additive="base">
                                        <p:cTn id="68" dur="500" fill="hold"/>
                                        <p:tgtEl>
                                          <p:spTgt spid="9"/>
                                        </p:tgtEl>
                                        <p:attrNameLst>
                                          <p:attrName>ppt_y</p:attrName>
                                        </p:attrNameLst>
                                      </p:cBhvr>
                                      <p:tavLst>
                                        <p:tav tm="0">
                                          <p:val>
                                            <p:strVal val="0-#ppt_h/2"/>
                                          </p:val>
                                        </p:tav>
                                        <p:tav tm="100000">
                                          <p:val>
                                            <p:strVal val="#ppt_y"/>
                                          </p:val>
                                        </p:tav>
                                      </p:tavLst>
                                    </p:anim>
                                  </p:childTnLst>
                                </p:cTn>
                              </p:par>
                              <p:par>
                                <p:cTn id="69" presetID="5" presetClass="exit" presetSubtype="10" fill="hold" grpId="1" nodeType="withEffect">
                                  <p:stCondLst>
                                    <p:cond delay="0"/>
                                  </p:stCondLst>
                                  <p:childTnLst>
                                    <p:animEffect transition="out" filter="checkerboard(across)">
                                      <p:cBhvr>
                                        <p:cTn id="70" dur="500"/>
                                        <p:tgtEl>
                                          <p:spTgt spid="8"/>
                                        </p:tgtEl>
                                      </p:cBhvr>
                                    </p:animEffect>
                                    <p:set>
                                      <p:cBhvr>
                                        <p:cTn id="71" dur="1" fill="hold">
                                          <p:stCondLst>
                                            <p:cond delay="499"/>
                                          </p:stCondLst>
                                        </p:cTn>
                                        <p:tgtEl>
                                          <p:spTgt spid="8"/>
                                        </p:tgtEl>
                                        <p:attrNameLst>
                                          <p:attrName>style.visibility</p:attrName>
                                        </p:attrNameLst>
                                      </p:cBhvr>
                                      <p:to>
                                        <p:strVal val="hidden"/>
                                      </p:to>
                                    </p:set>
                                  </p:childTnLst>
                                </p:cTn>
                              </p:par>
                              <p:par>
                                <p:cTn id="72" presetID="5" presetClass="exit" presetSubtype="10" fill="hold" grpId="1" nodeType="withEffect">
                                  <p:stCondLst>
                                    <p:cond delay="0"/>
                                  </p:stCondLst>
                                  <p:childTnLst>
                                    <p:animEffect transition="out" filter="checkerboard(across)">
                                      <p:cBhvr>
                                        <p:cTn id="73" dur="500"/>
                                        <p:tgtEl>
                                          <p:spTgt spid="14"/>
                                        </p:tgtEl>
                                      </p:cBhvr>
                                    </p:animEffect>
                                    <p:set>
                                      <p:cBhvr>
                                        <p:cTn id="74" dur="1" fill="hold">
                                          <p:stCondLst>
                                            <p:cond delay="499"/>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1"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ppt_x</p:attrName>
                                        </p:attrNameLst>
                                      </p:cBhvr>
                                      <p:tavLst>
                                        <p:tav tm="0">
                                          <p:val>
                                            <p:strVal val="#ppt_x"/>
                                          </p:val>
                                        </p:tav>
                                        <p:tav tm="100000">
                                          <p:val>
                                            <p:strVal val="#ppt_x"/>
                                          </p:val>
                                        </p:tav>
                                      </p:tavLst>
                                    </p:anim>
                                    <p:anim calcmode="lin" valueType="num">
                                      <p:cBhvr additive="base">
                                        <p:cTn id="80" dur="500" fill="hold"/>
                                        <p:tgtEl>
                                          <p:spTgt spid="16"/>
                                        </p:tgtEl>
                                        <p:attrNameLst>
                                          <p:attrName>ppt_y</p:attrName>
                                        </p:attrNameLst>
                                      </p:cBhvr>
                                      <p:tavLst>
                                        <p:tav tm="0">
                                          <p:val>
                                            <p:strVal val="0-#ppt_h/2"/>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anim calcmode="lin" valueType="num">
                                      <p:cBhvr additive="base">
                                        <p:cTn id="83" dur="500" fill="hold"/>
                                        <p:tgtEl>
                                          <p:spTgt spid="10"/>
                                        </p:tgtEl>
                                        <p:attrNameLst>
                                          <p:attrName>ppt_x</p:attrName>
                                        </p:attrNameLst>
                                      </p:cBhvr>
                                      <p:tavLst>
                                        <p:tav tm="0">
                                          <p:val>
                                            <p:strVal val="#ppt_x"/>
                                          </p:val>
                                        </p:tav>
                                        <p:tav tm="100000">
                                          <p:val>
                                            <p:strVal val="#ppt_x"/>
                                          </p:val>
                                        </p:tav>
                                      </p:tavLst>
                                    </p:anim>
                                    <p:anim calcmode="lin" valueType="num">
                                      <p:cBhvr additive="base">
                                        <p:cTn id="84" dur="500" fill="hold"/>
                                        <p:tgtEl>
                                          <p:spTgt spid="10"/>
                                        </p:tgtEl>
                                        <p:attrNameLst>
                                          <p:attrName>ppt_y</p:attrName>
                                        </p:attrNameLst>
                                      </p:cBhvr>
                                      <p:tavLst>
                                        <p:tav tm="0">
                                          <p:val>
                                            <p:strVal val="0-#ppt_h/2"/>
                                          </p:val>
                                        </p:tav>
                                        <p:tav tm="100000">
                                          <p:val>
                                            <p:strVal val="#ppt_y"/>
                                          </p:val>
                                        </p:tav>
                                      </p:tavLst>
                                    </p:anim>
                                  </p:childTnLst>
                                </p:cTn>
                              </p:par>
                              <p:par>
                                <p:cTn id="85" presetID="5" presetClass="exit" presetSubtype="10" fill="hold" grpId="1" nodeType="withEffect">
                                  <p:stCondLst>
                                    <p:cond delay="0"/>
                                  </p:stCondLst>
                                  <p:childTnLst>
                                    <p:animEffect transition="out" filter="checkerboard(across)">
                                      <p:cBhvr>
                                        <p:cTn id="86" dur="500"/>
                                        <p:tgtEl>
                                          <p:spTgt spid="9"/>
                                        </p:tgtEl>
                                      </p:cBhvr>
                                    </p:animEffect>
                                    <p:set>
                                      <p:cBhvr>
                                        <p:cTn id="87" dur="1" fill="hold">
                                          <p:stCondLst>
                                            <p:cond delay="499"/>
                                          </p:stCondLst>
                                        </p:cTn>
                                        <p:tgtEl>
                                          <p:spTgt spid="9"/>
                                        </p:tgtEl>
                                        <p:attrNameLst>
                                          <p:attrName>style.visibility</p:attrName>
                                        </p:attrNameLst>
                                      </p:cBhvr>
                                      <p:to>
                                        <p:strVal val="hidden"/>
                                      </p:to>
                                    </p:set>
                                  </p:childTnLst>
                                </p:cTn>
                              </p:par>
                              <p:par>
                                <p:cTn id="88" presetID="5" presetClass="exit" presetSubtype="10" fill="hold" grpId="1" nodeType="withEffect">
                                  <p:stCondLst>
                                    <p:cond delay="0"/>
                                  </p:stCondLst>
                                  <p:childTnLst>
                                    <p:animEffect transition="out" filter="checkerboard(across)">
                                      <p:cBhvr>
                                        <p:cTn id="89" dur="500"/>
                                        <p:tgtEl>
                                          <p:spTgt spid="15"/>
                                        </p:tgtEl>
                                      </p:cBhvr>
                                    </p:animEffect>
                                    <p:set>
                                      <p:cBhvr>
                                        <p:cTn id="90"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animBg="1"/>
      <p:bldP spid="5" grpId="2" animBg="1"/>
      <p:bldP spid="6" grpId="0" animBg="1"/>
      <p:bldP spid="6" grpId="1" animBg="1"/>
      <p:bldP spid="7" grpId="0" animBg="1"/>
      <p:bldP spid="7" grpId="1" animBg="1"/>
      <p:bldP spid="8" grpId="0" animBg="1"/>
      <p:bldP spid="8" grpId="1" animBg="1"/>
      <p:bldP spid="9" grpId="0" animBg="1"/>
      <p:bldP spid="9" grpId="1" animBg="1"/>
      <p:bldP spid="10" grpId="0" animBg="1"/>
      <p:bldP spid="11" grpId="1" animBg="1"/>
      <p:bldP spid="11" grpId="2" animBg="1"/>
      <p:bldP spid="12" grpId="0" animBg="1"/>
      <p:bldP spid="12" grpId="1" animBg="1"/>
      <p:bldP spid="13" grpId="0" animBg="1"/>
      <p:bldP spid="13" grpId="1" animBg="1"/>
      <p:bldP spid="14" grpId="0" animBg="1"/>
      <p:bldP spid="14" grpId="1" animBg="1"/>
      <p:bldP spid="15" grpId="0" animBg="1"/>
      <p:bldP spid="15" grpId="1"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35" name="Picture 11" descr="P2272bW08-10-"/>
          <p:cNvPicPr>
            <a:picLocks noChangeAspect="1" noChangeArrowheads="1"/>
          </p:cNvPicPr>
          <p:nvPr/>
        </p:nvPicPr>
        <p:blipFill>
          <a:blip r:embed="rId2"/>
          <a:srcRect/>
          <a:stretch>
            <a:fillRect/>
          </a:stretch>
        </p:blipFill>
        <p:spPr bwMode="auto">
          <a:xfrm>
            <a:off x="199576" y="1431705"/>
            <a:ext cx="8818854" cy="3822466"/>
          </a:xfrm>
          <a:prstGeom prst="rect">
            <a:avLst/>
          </a:prstGeom>
          <a:noFill/>
        </p:spPr>
      </p:pic>
      <p:sp>
        <p:nvSpPr>
          <p:cNvPr id="308226" name="Rectangle 2"/>
          <p:cNvSpPr>
            <a:spLocks noGrp="1" noChangeArrowheads="1"/>
          </p:cNvSpPr>
          <p:nvPr>
            <p:ph type="title"/>
          </p:nvPr>
        </p:nvSpPr>
        <p:spPr/>
        <p:txBody>
          <a:bodyPr vert="horz" anchor="b">
            <a:normAutofit fontScale="90000"/>
          </a:bodyPr>
          <a:lstStyle/>
          <a:p>
            <a:r>
              <a:rPr lang="fr-FR" sz="3000" dirty="0">
                <a:solidFill>
                  <a:srgbClr val="C00000"/>
                </a:solidFill>
              </a:rPr>
              <a:t>Utilisation de la commande ipconfig pour résoudre les problèmes d'adressage IP</a:t>
            </a:r>
            <a:endParaRPr lang="en-US" sz="3000" dirty="0">
              <a:solidFill>
                <a:srgbClr val="C00000"/>
              </a:solidFill>
            </a:endParaRPr>
          </a:p>
        </p:txBody>
      </p:sp>
      <p:sp>
        <p:nvSpPr>
          <p:cNvPr id="308228" name="Text Box 4"/>
          <p:cNvSpPr txBox="1">
            <a:spLocks noChangeArrowheads="1"/>
          </p:cNvSpPr>
          <p:nvPr/>
        </p:nvSpPr>
        <p:spPr bwMode="auto">
          <a:xfrm>
            <a:off x="2146302" y="1535116"/>
            <a:ext cx="92640" cy="292388"/>
          </a:xfrm>
          <a:prstGeom prst="rect">
            <a:avLst/>
          </a:prstGeom>
          <a:noFill/>
          <a:ln w="9525">
            <a:noFill/>
            <a:miter lim="800000"/>
            <a:headEnd/>
            <a:tailEnd/>
          </a:ln>
          <a:effectLst/>
        </p:spPr>
        <p:txBody>
          <a:bodyPr wrap="square" lIns="45720" rIns="45720">
            <a:spAutoFit/>
          </a:bodyPr>
          <a:lstStyle/>
          <a:p>
            <a:pPr eaLnBrk="1" hangingPunct="1"/>
            <a:endParaRPr lang="fr-FR" sz="1300">
              <a:solidFill>
                <a:srgbClr val="FFFFFF"/>
              </a:solidFill>
              <a:latin typeface="Arial" charset="0"/>
            </a:endParaRPr>
          </a:p>
        </p:txBody>
      </p:sp>
      <p:grpSp>
        <p:nvGrpSpPr>
          <p:cNvPr id="308230" name="Group 6"/>
          <p:cNvGrpSpPr>
            <a:grpSpLocks/>
          </p:cNvGrpSpPr>
          <p:nvPr/>
        </p:nvGrpSpPr>
        <p:grpSpPr bwMode="auto">
          <a:xfrm>
            <a:off x="917576" y="3619504"/>
            <a:ext cx="6096671" cy="908898"/>
            <a:chOff x="826" y="2384"/>
            <a:chExt cx="4507" cy="718"/>
          </a:xfrm>
        </p:grpSpPr>
        <p:sp>
          <p:nvSpPr>
            <p:cNvPr id="308231" name="Rectangle 7"/>
            <p:cNvSpPr>
              <a:spLocks noChangeArrowheads="1"/>
            </p:cNvSpPr>
            <p:nvPr/>
          </p:nvSpPr>
          <p:spPr bwMode="auto">
            <a:xfrm>
              <a:off x="826" y="2384"/>
              <a:ext cx="3886" cy="718"/>
            </a:xfrm>
            <a:prstGeom prst="rect">
              <a:avLst/>
            </a:prstGeom>
            <a:noFill/>
            <a:ln w="38100">
              <a:solidFill>
                <a:srgbClr val="CE007B"/>
              </a:solidFill>
              <a:miter lim="800000"/>
              <a:headEnd/>
              <a:tailEnd/>
            </a:ln>
            <a:effectLst>
              <a:outerShdw dist="45791" dir="2021404" algn="ctr" rotWithShape="0">
                <a:srgbClr val="FFFFFF"/>
              </a:outerShdw>
            </a:effectLst>
          </p:spPr>
          <p:txBody>
            <a:bodyPr wrap="none" anchor="ctr"/>
            <a:lstStyle/>
            <a:p>
              <a:endParaRPr lang="fr-FR"/>
            </a:p>
          </p:txBody>
        </p:sp>
        <p:sp>
          <p:nvSpPr>
            <p:cNvPr id="308232" name="AutoShape 8"/>
            <p:cNvSpPr>
              <a:spLocks noChangeArrowheads="1"/>
            </p:cNvSpPr>
            <p:nvPr/>
          </p:nvSpPr>
          <p:spPr bwMode="auto">
            <a:xfrm flipH="1">
              <a:off x="4642" y="2487"/>
              <a:ext cx="691" cy="452"/>
            </a:xfrm>
            <a:prstGeom prst="rightArrow">
              <a:avLst>
                <a:gd name="adj1" fmla="val 49741"/>
                <a:gd name="adj2" fmla="val 86545"/>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45791" dir="3378596" algn="ctr" rotWithShape="0">
                <a:srgbClr val="C0C0C0"/>
              </a:outerShdw>
            </a:effectLst>
          </p:spPr>
          <p:txBody>
            <a:bodyPr wrap="none" tIns="27432" bIns="27432" anchor="ct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8230"/>
                                        </p:tgtEl>
                                        <p:attrNameLst>
                                          <p:attrName>style.visibility</p:attrName>
                                        </p:attrNameLst>
                                      </p:cBhvr>
                                      <p:to>
                                        <p:strVal val="visible"/>
                                      </p:to>
                                    </p:set>
                                    <p:animEffect transition="in" filter="checkerboard(across)">
                                      <p:cBhvr>
                                        <p:cTn id="7" dur="500"/>
                                        <p:tgtEl>
                                          <p:spTgt spid="308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174171" y="344712"/>
            <a:ext cx="8781143" cy="758952"/>
          </a:xfrm>
        </p:spPr>
        <p:txBody>
          <a:bodyPr vert="horz" anchor="b">
            <a:normAutofit fontScale="90000"/>
          </a:bodyPr>
          <a:lstStyle/>
          <a:p>
            <a:r>
              <a:rPr lang="fr-FR" sz="3000" dirty="0">
                <a:solidFill>
                  <a:srgbClr val="C00000"/>
                </a:solidFill>
              </a:rPr>
              <a:t>Utilisation de la commande </a:t>
            </a:r>
            <a:r>
              <a:rPr lang="fr-FR" sz="3000" dirty="0" err="1">
                <a:solidFill>
                  <a:srgbClr val="C00000"/>
                </a:solidFill>
              </a:rPr>
              <a:t>ping</a:t>
            </a:r>
            <a:r>
              <a:rPr lang="fr-FR" sz="3000" dirty="0">
                <a:solidFill>
                  <a:srgbClr val="C00000"/>
                </a:solidFill>
              </a:rPr>
              <a:t> pour résoudre les problèmes d'adressage IP</a:t>
            </a:r>
            <a:endParaRPr lang="en-US" sz="3000" dirty="0">
              <a:solidFill>
                <a:srgbClr val="C00000"/>
              </a:solidFill>
            </a:endParaRPr>
          </a:p>
        </p:txBody>
      </p:sp>
      <p:sp>
        <p:nvSpPr>
          <p:cNvPr id="309252" name="Rectangle 4"/>
          <p:cNvSpPr>
            <a:spLocks noChangeArrowheads="1"/>
          </p:cNvSpPr>
          <p:nvPr/>
        </p:nvSpPr>
        <p:spPr bwMode="auto">
          <a:xfrm>
            <a:off x="87088" y="1854192"/>
            <a:ext cx="8955313" cy="639763"/>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C0C0C0"/>
            </a:outerShdw>
          </a:effectLst>
        </p:spPr>
        <p:txBody>
          <a:bodyPr wrap="none" lIns="45720" rIns="45720" anchor="ctr"/>
          <a:lstStyle/>
          <a:p>
            <a:pPr algn="ctr"/>
            <a:r>
              <a:rPr lang="en-US" sz="2400" b="1">
                <a:solidFill>
                  <a:schemeClr val="bg1"/>
                </a:solidFill>
                <a:effectLst>
                  <a:outerShdw blurRad="38100" dist="38100" dir="2700000" algn="tl">
                    <a:srgbClr val="000000"/>
                  </a:outerShdw>
                </a:effectLst>
                <a:latin typeface="Arial" charset="0"/>
              </a:rPr>
              <a:t>Test de la configuration IP</a:t>
            </a:r>
          </a:p>
        </p:txBody>
      </p:sp>
      <p:sp>
        <p:nvSpPr>
          <p:cNvPr id="309253" name="Rectangle 5"/>
          <p:cNvSpPr>
            <a:spLocks noChangeArrowheads="1"/>
          </p:cNvSpPr>
          <p:nvPr/>
        </p:nvSpPr>
        <p:spPr bwMode="auto">
          <a:xfrm>
            <a:off x="87088" y="2489190"/>
            <a:ext cx="8955314" cy="609600"/>
          </a:xfrm>
          <a:prstGeom prst="rect">
            <a:avLst/>
          </a:prstGeom>
          <a:solidFill>
            <a:schemeClr val="bg1">
              <a:lumMod val="85000"/>
            </a:schemeClr>
          </a:solidFill>
          <a:ln w="9525">
            <a:noFill/>
            <a:miter lim="800000"/>
            <a:headEnd/>
            <a:tailEnd/>
          </a:ln>
          <a:effectLst/>
        </p:spPr>
        <p:txBody>
          <a:bodyPr lIns="640080" anchor="ctr"/>
          <a:lstStyle/>
          <a:p>
            <a:r>
              <a:rPr lang="en-US" sz="2400" b="1" dirty="0" err="1">
                <a:latin typeface="Arial" charset="0"/>
              </a:rPr>
              <a:t>Utilisez</a:t>
            </a:r>
            <a:r>
              <a:rPr lang="en-US" sz="2400" b="1" dirty="0">
                <a:latin typeface="Arial" charset="0"/>
              </a:rPr>
              <a:t> ping 127.0.0.1 (</a:t>
            </a:r>
            <a:r>
              <a:rPr lang="en-US" sz="2400" b="1" dirty="0" err="1">
                <a:latin typeface="Arial" charset="0"/>
              </a:rPr>
              <a:t>adresse</a:t>
            </a:r>
            <a:r>
              <a:rPr lang="en-US" sz="2400" b="1" dirty="0">
                <a:latin typeface="Arial" charset="0"/>
              </a:rPr>
              <a:t> de </a:t>
            </a:r>
            <a:r>
              <a:rPr lang="en-US" sz="2400" b="1" dirty="0" err="1">
                <a:latin typeface="Arial" charset="0"/>
              </a:rPr>
              <a:t>bouclage</a:t>
            </a:r>
            <a:r>
              <a:rPr lang="en-US" sz="2400" b="1" dirty="0">
                <a:latin typeface="Arial" charset="0"/>
              </a:rPr>
              <a:t>)</a:t>
            </a:r>
          </a:p>
        </p:txBody>
      </p:sp>
      <p:sp>
        <p:nvSpPr>
          <p:cNvPr id="309254" name="Freeform 6"/>
          <p:cNvSpPr>
            <a:spLocks/>
          </p:cNvSpPr>
          <p:nvPr/>
        </p:nvSpPr>
        <p:spPr bwMode="auto">
          <a:xfrm>
            <a:off x="77144" y="2565390"/>
            <a:ext cx="434231" cy="381000"/>
          </a:xfrm>
          <a:custGeom>
            <a:avLst/>
            <a:gdLst/>
            <a:ahLst/>
            <a:cxnLst>
              <a:cxn ang="0">
                <a:pos x="14" y="859"/>
              </a:cxn>
              <a:cxn ang="0">
                <a:pos x="130" y="855"/>
              </a:cxn>
              <a:cxn ang="0">
                <a:pos x="157" y="850"/>
              </a:cxn>
              <a:cxn ang="0">
                <a:pos x="176" y="843"/>
              </a:cxn>
              <a:cxn ang="0">
                <a:pos x="193" y="833"/>
              </a:cxn>
              <a:cxn ang="0">
                <a:pos x="206" y="820"/>
              </a:cxn>
              <a:cxn ang="0">
                <a:pos x="215" y="800"/>
              </a:cxn>
              <a:cxn ang="0">
                <a:pos x="221" y="772"/>
              </a:cxn>
              <a:cxn ang="0">
                <a:pos x="224" y="738"/>
              </a:cxn>
              <a:cxn ang="0">
                <a:pos x="224" y="294"/>
              </a:cxn>
              <a:cxn ang="0">
                <a:pos x="222" y="265"/>
              </a:cxn>
              <a:cxn ang="0">
                <a:pos x="218" y="242"/>
              </a:cxn>
              <a:cxn ang="0">
                <a:pos x="212" y="223"/>
              </a:cxn>
              <a:cxn ang="0">
                <a:pos x="203" y="211"/>
              </a:cxn>
              <a:cxn ang="0">
                <a:pos x="189" y="203"/>
              </a:cxn>
              <a:cxn ang="0">
                <a:pos x="164" y="197"/>
              </a:cxn>
              <a:cxn ang="0">
                <a:pos x="130" y="194"/>
              </a:cxn>
              <a:cxn ang="0">
                <a:pos x="89" y="193"/>
              </a:cxn>
              <a:cxn ang="0">
                <a:pos x="72" y="193"/>
              </a:cxn>
              <a:cxn ang="0">
                <a:pos x="57" y="193"/>
              </a:cxn>
              <a:cxn ang="0">
                <a:pos x="44" y="193"/>
              </a:cxn>
              <a:cxn ang="0">
                <a:pos x="34" y="193"/>
              </a:cxn>
              <a:cxn ang="0">
                <a:pos x="26" y="193"/>
              </a:cxn>
              <a:cxn ang="0">
                <a:pos x="17" y="194"/>
              </a:cxn>
              <a:cxn ang="0">
                <a:pos x="9" y="194"/>
              </a:cxn>
              <a:cxn ang="0">
                <a:pos x="0" y="194"/>
              </a:cxn>
              <a:cxn ang="0">
                <a:pos x="34" y="145"/>
              </a:cxn>
              <a:cxn ang="0">
                <a:pos x="98" y="136"/>
              </a:cxn>
              <a:cxn ang="0">
                <a:pos x="163" y="124"/>
              </a:cxn>
              <a:cxn ang="0">
                <a:pos x="224" y="108"/>
              </a:cxn>
              <a:cxn ang="0">
                <a:pos x="285" y="88"/>
              </a:cxn>
              <a:cxn ang="0">
                <a:pos x="345" y="67"/>
              </a:cxn>
              <a:cxn ang="0">
                <a:pos x="405" y="42"/>
              </a:cxn>
              <a:cxn ang="0">
                <a:pos x="463" y="15"/>
              </a:cxn>
              <a:cxn ang="0">
                <a:pos x="493" y="746"/>
              </a:cxn>
              <a:cxn ang="0">
                <a:pos x="494" y="774"/>
              </a:cxn>
              <a:cxn ang="0">
                <a:pos x="497" y="797"/>
              </a:cxn>
              <a:cxn ang="0">
                <a:pos x="503" y="815"/>
              </a:cxn>
              <a:cxn ang="0">
                <a:pos x="511" y="827"/>
              </a:cxn>
              <a:cxn ang="0">
                <a:pos x="522" y="835"/>
              </a:cxn>
              <a:cxn ang="0">
                <a:pos x="535" y="843"/>
              </a:cxn>
              <a:cxn ang="0">
                <a:pos x="554" y="847"/>
              </a:cxn>
              <a:cxn ang="0">
                <a:pos x="577" y="850"/>
              </a:cxn>
              <a:cxn ang="0">
                <a:pos x="692" y="910"/>
              </a:cxn>
            </a:cxnLst>
            <a:rect l="0" t="0" r="r" b="b"/>
            <a:pathLst>
              <a:path w="692" h="910">
                <a:moveTo>
                  <a:pt x="14" y="910"/>
                </a:moveTo>
                <a:lnTo>
                  <a:pt x="14" y="859"/>
                </a:lnTo>
                <a:lnTo>
                  <a:pt x="115" y="856"/>
                </a:lnTo>
                <a:lnTo>
                  <a:pt x="130" y="855"/>
                </a:lnTo>
                <a:lnTo>
                  <a:pt x="143" y="853"/>
                </a:lnTo>
                <a:lnTo>
                  <a:pt x="157" y="850"/>
                </a:lnTo>
                <a:lnTo>
                  <a:pt x="167" y="847"/>
                </a:lnTo>
                <a:lnTo>
                  <a:pt x="176" y="843"/>
                </a:lnTo>
                <a:lnTo>
                  <a:pt x="186" y="838"/>
                </a:lnTo>
                <a:lnTo>
                  <a:pt x="193" y="833"/>
                </a:lnTo>
                <a:lnTo>
                  <a:pt x="199" y="827"/>
                </a:lnTo>
                <a:lnTo>
                  <a:pt x="206" y="820"/>
                </a:lnTo>
                <a:lnTo>
                  <a:pt x="210" y="810"/>
                </a:lnTo>
                <a:lnTo>
                  <a:pt x="215" y="800"/>
                </a:lnTo>
                <a:lnTo>
                  <a:pt x="218" y="787"/>
                </a:lnTo>
                <a:lnTo>
                  <a:pt x="221" y="772"/>
                </a:lnTo>
                <a:lnTo>
                  <a:pt x="222" y="757"/>
                </a:lnTo>
                <a:lnTo>
                  <a:pt x="224" y="738"/>
                </a:lnTo>
                <a:lnTo>
                  <a:pt x="224" y="720"/>
                </a:lnTo>
                <a:lnTo>
                  <a:pt x="224" y="294"/>
                </a:lnTo>
                <a:lnTo>
                  <a:pt x="224" y="278"/>
                </a:lnTo>
                <a:lnTo>
                  <a:pt x="222" y="265"/>
                </a:lnTo>
                <a:lnTo>
                  <a:pt x="221" y="252"/>
                </a:lnTo>
                <a:lnTo>
                  <a:pt x="218" y="242"/>
                </a:lnTo>
                <a:lnTo>
                  <a:pt x="216" y="233"/>
                </a:lnTo>
                <a:lnTo>
                  <a:pt x="212" y="223"/>
                </a:lnTo>
                <a:lnTo>
                  <a:pt x="209" y="217"/>
                </a:lnTo>
                <a:lnTo>
                  <a:pt x="203" y="211"/>
                </a:lnTo>
                <a:lnTo>
                  <a:pt x="196" y="206"/>
                </a:lnTo>
                <a:lnTo>
                  <a:pt x="189" y="203"/>
                </a:lnTo>
                <a:lnTo>
                  <a:pt x="178" y="200"/>
                </a:lnTo>
                <a:lnTo>
                  <a:pt x="164" y="197"/>
                </a:lnTo>
                <a:lnTo>
                  <a:pt x="149" y="196"/>
                </a:lnTo>
                <a:lnTo>
                  <a:pt x="130" y="194"/>
                </a:lnTo>
                <a:lnTo>
                  <a:pt x="110" y="193"/>
                </a:lnTo>
                <a:lnTo>
                  <a:pt x="89" y="193"/>
                </a:lnTo>
                <a:lnTo>
                  <a:pt x="80" y="193"/>
                </a:lnTo>
                <a:lnTo>
                  <a:pt x="72" y="193"/>
                </a:lnTo>
                <a:lnTo>
                  <a:pt x="64" y="193"/>
                </a:lnTo>
                <a:lnTo>
                  <a:pt x="57" y="193"/>
                </a:lnTo>
                <a:lnTo>
                  <a:pt x="51" y="193"/>
                </a:lnTo>
                <a:lnTo>
                  <a:pt x="44" y="193"/>
                </a:lnTo>
                <a:lnTo>
                  <a:pt x="38" y="193"/>
                </a:lnTo>
                <a:lnTo>
                  <a:pt x="34" y="193"/>
                </a:lnTo>
                <a:lnTo>
                  <a:pt x="29" y="193"/>
                </a:lnTo>
                <a:lnTo>
                  <a:pt x="26" y="193"/>
                </a:lnTo>
                <a:lnTo>
                  <a:pt x="21" y="194"/>
                </a:lnTo>
                <a:lnTo>
                  <a:pt x="17" y="194"/>
                </a:lnTo>
                <a:lnTo>
                  <a:pt x="12" y="194"/>
                </a:lnTo>
                <a:lnTo>
                  <a:pt x="9" y="194"/>
                </a:lnTo>
                <a:lnTo>
                  <a:pt x="5" y="194"/>
                </a:lnTo>
                <a:lnTo>
                  <a:pt x="0" y="194"/>
                </a:lnTo>
                <a:lnTo>
                  <a:pt x="0" y="150"/>
                </a:lnTo>
                <a:lnTo>
                  <a:pt x="34" y="145"/>
                </a:lnTo>
                <a:lnTo>
                  <a:pt x="66" y="141"/>
                </a:lnTo>
                <a:lnTo>
                  <a:pt x="98" y="136"/>
                </a:lnTo>
                <a:lnTo>
                  <a:pt x="130" y="130"/>
                </a:lnTo>
                <a:lnTo>
                  <a:pt x="163" y="124"/>
                </a:lnTo>
                <a:lnTo>
                  <a:pt x="193" y="116"/>
                </a:lnTo>
                <a:lnTo>
                  <a:pt x="224" y="108"/>
                </a:lnTo>
                <a:lnTo>
                  <a:pt x="255" y="99"/>
                </a:lnTo>
                <a:lnTo>
                  <a:pt x="285" y="88"/>
                </a:lnTo>
                <a:lnTo>
                  <a:pt x="316" y="79"/>
                </a:lnTo>
                <a:lnTo>
                  <a:pt x="345" y="67"/>
                </a:lnTo>
                <a:lnTo>
                  <a:pt x="376" y="55"/>
                </a:lnTo>
                <a:lnTo>
                  <a:pt x="405" y="42"/>
                </a:lnTo>
                <a:lnTo>
                  <a:pt x="434" y="29"/>
                </a:lnTo>
                <a:lnTo>
                  <a:pt x="463" y="15"/>
                </a:lnTo>
                <a:lnTo>
                  <a:pt x="493" y="0"/>
                </a:lnTo>
                <a:lnTo>
                  <a:pt x="493" y="746"/>
                </a:lnTo>
                <a:lnTo>
                  <a:pt x="493" y="761"/>
                </a:lnTo>
                <a:lnTo>
                  <a:pt x="494" y="774"/>
                </a:lnTo>
                <a:lnTo>
                  <a:pt x="496" y="786"/>
                </a:lnTo>
                <a:lnTo>
                  <a:pt x="497" y="797"/>
                </a:lnTo>
                <a:lnTo>
                  <a:pt x="500" y="806"/>
                </a:lnTo>
                <a:lnTo>
                  <a:pt x="503" y="815"/>
                </a:lnTo>
                <a:lnTo>
                  <a:pt x="506" y="821"/>
                </a:lnTo>
                <a:lnTo>
                  <a:pt x="511" y="827"/>
                </a:lnTo>
                <a:lnTo>
                  <a:pt x="516" y="832"/>
                </a:lnTo>
                <a:lnTo>
                  <a:pt x="522" y="835"/>
                </a:lnTo>
                <a:lnTo>
                  <a:pt x="528" y="839"/>
                </a:lnTo>
                <a:lnTo>
                  <a:pt x="535" y="843"/>
                </a:lnTo>
                <a:lnTo>
                  <a:pt x="545" y="846"/>
                </a:lnTo>
                <a:lnTo>
                  <a:pt x="554" y="847"/>
                </a:lnTo>
                <a:lnTo>
                  <a:pt x="565" y="849"/>
                </a:lnTo>
                <a:lnTo>
                  <a:pt x="577" y="850"/>
                </a:lnTo>
                <a:lnTo>
                  <a:pt x="692" y="859"/>
                </a:lnTo>
                <a:lnTo>
                  <a:pt x="692" y="910"/>
                </a:lnTo>
                <a:lnTo>
                  <a:pt x="14" y="910"/>
                </a:lnTo>
              </a:path>
            </a:pathLst>
          </a:custGeom>
          <a:gradFill rotWithShape="0">
            <a:gsLst>
              <a:gs pos="0">
                <a:srgbClr val="6699FF">
                  <a:gamma/>
                  <a:tint val="42745"/>
                  <a:invGamma/>
                </a:srgbClr>
              </a:gs>
              <a:gs pos="100000">
                <a:srgbClr val="6699FF"/>
              </a:gs>
            </a:gsLst>
            <a:lin ang="5400000" scaled="1"/>
          </a:gradFill>
          <a:ln w="0" cap="sq">
            <a:noFill/>
            <a:prstDash val="solid"/>
            <a:miter lim="800000"/>
            <a:headEnd/>
            <a:tailEnd/>
          </a:ln>
          <a:effectLst>
            <a:outerShdw dist="35921" dir="2700000" algn="ctr" rotWithShape="0">
              <a:srgbClr val="919191"/>
            </a:outerShdw>
          </a:effectLst>
        </p:spPr>
        <p:txBody>
          <a:bodyPr/>
          <a:lstStyle/>
          <a:p>
            <a:endParaRPr lang="fr-FR"/>
          </a:p>
        </p:txBody>
      </p:sp>
      <p:sp>
        <p:nvSpPr>
          <p:cNvPr id="309255" name="Rectangle 7"/>
          <p:cNvSpPr>
            <a:spLocks noChangeArrowheads="1"/>
          </p:cNvSpPr>
          <p:nvPr/>
        </p:nvSpPr>
        <p:spPr bwMode="auto">
          <a:xfrm>
            <a:off x="87088" y="3346440"/>
            <a:ext cx="8955314" cy="609600"/>
          </a:xfrm>
          <a:prstGeom prst="rect">
            <a:avLst/>
          </a:prstGeom>
          <a:solidFill>
            <a:schemeClr val="bg1">
              <a:lumMod val="85000"/>
            </a:schemeClr>
          </a:solidFill>
          <a:ln w="9525">
            <a:noFill/>
            <a:miter lim="800000"/>
            <a:headEnd/>
            <a:tailEnd/>
          </a:ln>
          <a:effectLst/>
        </p:spPr>
        <p:txBody>
          <a:bodyPr lIns="640080" anchor="ctr"/>
          <a:lstStyle/>
          <a:p>
            <a:r>
              <a:rPr lang="en-US" sz="2400" b="1">
                <a:latin typeface="Arial" charset="0"/>
              </a:rPr>
              <a:t>Utilisez ping avec l'adresse IP de l'ordinateur</a:t>
            </a:r>
          </a:p>
        </p:txBody>
      </p:sp>
      <p:sp>
        <p:nvSpPr>
          <p:cNvPr id="309256" name="Rectangle 8"/>
          <p:cNvSpPr>
            <a:spLocks noChangeArrowheads="1"/>
          </p:cNvSpPr>
          <p:nvPr/>
        </p:nvSpPr>
        <p:spPr bwMode="auto">
          <a:xfrm>
            <a:off x="79073" y="4203690"/>
            <a:ext cx="8963329" cy="609600"/>
          </a:xfrm>
          <a:prstGeom prst="rect">
            <a:avLst/>
          </a:prstGeom>
          <a:solidFill>
            <a:schemeClr val="bg1">
              <a:lumMod val="85000"/>
            </a:schemeClr>
          </a:solidFill>
          <a:ln w="9525">
            <a:noFill/>
            <a:miter lim="800000"/>
            <a:headEnd/>
            <a:tailEnd/>
          </a:ln>
          <a:effectLst/>
        </p:spPr>
        <p:txBody>
          <a:bodyPr lIns="640080" anchor="ctr"/>
          <a:lstStyle/>
          <a:p>
            <a:r>
              <a:rPr lang="en-US" sz="2400" b="1" dirty="0" err="1">
                <a:latin typeface="Arial" charset="0"/>
              </a:rPr>
              <a:t>Utilisez</a:t>
            </a:r>
            <a:r>
              <a:rPr lang="en-US" sz="2400" b="1" dirty="0">
                <a:latin typeface="Arial" charset="0"/>
              </a:rPr>
              <a:t> ping avec </a:t>
            </a:r>
            <a:r>
              <a:rPr lang="en-US" sz="2400" b="1" dirty="0" err="1">
                <a:latin typeface="Arial" charset="0"/>
              </a:rPr>
              <a:t>l'adresse</a:t>
            </a:r>
            <a:r>
              <a:rPr lang="en-US" sz="2400" b="1" dirty="0">
                <a:latin typeface="Arial" charset="0"/>
              </a:rPr>
              <a:t> IP de la </a:t>
            </a:r>
            <a:r>
              <a:rPr lang="en-US" sz="2400" b="1" dirty="0" err="1">
                <a:latin typeface="Arial" charset="0"/>
              </a:rPr>
              <a:t>passerelle</a:t>
            </a:r>
            <a:r>
              <a:rPr lang="en-US" sz="2400" b="1" dirty="0">
                <a:latin typeface="Arial" charset="0"/>
              </a:rPr>
              <a:t> par </a:t>
            </a:r>
            <a:r>
              <a:rPr lang="en-US" sz="2400" b="1" dirty="0" err="1">
                <a:latin typeface="Arial" charset="0"/>
              </a:rPr>
              <a:t>défaut</a:t>
            </a:r>
            <a:endParaRPr lang="en-US" sz="2400" b="1" dirty="0">
              <a:latin typeface="Arial" charset="0"/>
            </a:endParaRPr>
          </a:p>
        </p:txBody>
      </p:sp>
      <p:sp>
        <p:nvSpPr>
          <p:cNvPr id="309257" name="Rectangle 9"/>
          <p:cNvSpPr>
            <a:spLocks noChangeArrowheads="1"/>
          </p:cNvSpPr>
          <p:nvPr/>
        </p:nvSpPr>
        <p:spPr bwMode="auto">
          <a:xfrm>
            <a:off x="87088" y="5060940"/>
            <a:ext cx="8955314" cy="609600"/>
          </a:xfrm>
          <a:prstGeom prst="rect">
            <a:avLst/>
          </a:prstGeom>
          <a:solidFill>
            <a:schemeClr val="bg1">
              <a:lumMod val="85000"/>
            </a:schemeClr>
          </a:solidFill>
          <a:ln w="9525">
            <a:noFill/>
            <a:miter lim="800000"/>
            <a:headEnd/>
            <a:tailEnd/>
          </a:ln>
          <a:effectLst/>
        </p:spPr>
        <p:txBody>
          <a:bodyPr lIns="640080" anchor="ctr"/>
          <a:lstStyle/>
          <a:p>
            <a:r>
              <a:rPr lang="en-US" sz="2400" b="1" dirty="0" err="1">
                <a:latin typeface="Arial" charset="0"/>
              </a:rPr>
              <a:t>Utilisez</a:t>
            </a:r>
            <a:r>
              <a:rPr lang="en-US" sz="2400" b="1" dirty="0">
                <a:latin typeface="Arial" charset="0"/>
              </a:rPr>
              <a:t> ping avec </a:t>
            </a:r>
            <a:r>
              <a:rPr lang="en-US" sz="2400" b="1" dirty="0" err="1">
                <a:latin typeface="Arial" charset="0"/>
              </a:rPr>
              <a:t>l'adresse</a:t>
            </a:r>
            <a:r>
              <a:rPr lang="en-US" sz="2400" b="1" dirty="0">
                <a:latin typeface="Arial" charset="0"/>
              </a:rPr>
              <a:t> IP de </a:t>
            </a:r>
            <a:r>
              <a:rPr lang="en-US" sz="2400" b="1" dirty="0" err="1">
                <a:latin typeface="Arial" charset="0"/>
              </a:rPr>
              <a:t>l'hôte</a:t>
            </a:r>
            <a:r>
              <a:rPr lang="en-US" sz="2400" b="1" dirty="0">
                <a:latin typeface="Arial" charset="0"/>
              </a:rPr>
              <a:t> distant</a:t>
            </a:r>
          </a:p>
        </p:txBody>
      </p:sp>
      <p:sp>
        <p:nvSpPr>
          <p:cNvPr id="309258" name="Freeform 10"/>
          <p:cNvSpPr>
            <a:spLocks/>
          </p:cNvSpPr>
          <p:nvPr/>
        </p:nvSpPr>
        <p:spPr bwMode="auto">
          <a:xfrm>
            <a:off x="58094" y="3479790"/>
            <a:ext cx="491179" cy="381000"/>
          </a:xfrm>
          <a:custGeom>
            <a:avLst/>
            <a:gdLst/>
            <a:ahLst/>
            <a:cxnLst>
              <a:cxn ang="0">
                <a:pos x="100" y="783"/>
              </a:cxn>
              <a:cxn ang="0">
                <a:pos x="229" y="667"/>
              </a:cxn>
              <a:cxn ang="0">
                <a:pos x="332" y="550"/>
              </a:cxn>
              <a:cxn ang="0">
                <a:pos x="404" y="437"/>
              </a:cxn>
              <a:cxn ang="0">
                <a:pos x="433" y="366"/>
              </a:cxn>
              <a:cxn ang="0">
                <a:pos x="446" y="315"/>
              </a:cxn>
              <a:cxn ang="0">
                <a:pos x="451" y="268"/>
              </a:cxn>
              <a:cxn ang="0">
                <a:pos x="445" y="218"/>
              </a:cxn>
              <a:cxn ang="0">
                <a:pos x="429" y="177"/>
              </a:cxn>
              <a:cxn ang="0">
                <a:pos x="401" y="143"/>
              </a:cxn>
              <a:cxn ang="0">
                <a:pos x="367" y="122"/>
              </a:cxn>
              <a:cxn ang="0">
                <a:pos x="323" y="111"/>
              </a:cxn>
              <a:cxn ang="0">
                <a:pos x="267" y="114"/>
              </a:cxn>
              <a:cxn ang="0">
                <a:pos x="213" y="132"/>
              </a:cxn>
              <a:cxn ang="0">
                <a:pos x="168" y="163"/>
              </a:cxn>
              <a:cxn ang="0">
                <a:pos x="135" y="210"/>
              </a:cxn>
              <a:cxn ang="0">
                <a:pos x="114" y="266"/>
              </a:cxn>
              <a:cxn ang="0">
                <a:pos x="84" y="315"/>
              </a:cxn>
              <a:cxn ang="0">
                <a:pos x="68" y="75"/>
              </a:cxn>
              <a:cxn ang="0">
                <a:pos x="138" y="46"/>
              </a:cxn>
              <a:cxn ang="0">
                <a:pos x="207" y="25"/>
              </a:cxn>
              <a:cxn ang="0">
                <a:pos x="275" y="10"/>
              </a:cxn>
              <a:cxn ang="0">
                <a:pos x="343" y="1"/>
              </a:cxn>
              <a:cxn ang="0">
                <a:pos x="423" y="1"/>
              </a:cxn>
              <a:cxn ang="0">
                <a:pos x="522" y="17"/>
              </a:cxn>
              <a:cxn ang="0">
                <a:pos x="604" y="52"/>
              </a:cxn>
              <a:cxn ang="0">
                <a:pos x="648" y="85"/>
              </a:cxn>
              <a:cxn ang="0">
                <a:pos x="674" y="113"/>
              </a:cxn>
              <a:cxn ang="0">
                <a:pos x="694" y="145"/>
              </a:cxn>
              <a:cxn ang="0">
                <a:pos x="708" y="179"/>
              </a:cxn>
              <a:cxn ang="0">
                <a:pos x="716" y="217"/>
              </a:cxn>
              <a:cxn ang="0">
                <a:pos x="716" y="268"/>
              </a:cxn>
              <a:cxn ang="0">
                <a:pos x="701" y="337"/>
              </a:cxn>
              <a:cxn ang="0">
                <a:pos x="668" y="407"/>
              </a:cxn>
              <a:cxn ang="0">
                <a:pos x="611" y="477"/>
              </a:cxn>
              <a:cxn ang="0">
                <a:pos x="520" y="567"/>
              </a:cxn>
              <a:cxn ang="0">
                <a:pos x="391" y="676"/>
              </a:cxn>
              <a:cxn ang="0">
                <a:pos x="630" y="674"/>
              </a:cxn>
              <a:cxn ang="0">
                <a:pos x="662" y="670"/>
              </a:cxn>
              <a:cxn ang="0">
                <a:pos x="687" y="660"/>
              </a:cxn>
              <a:cxn ang="0">
                <a:pos x="707" y="645"/>
              </a:cxn>
              <a:cxn ang="0">
                <a:pos x="723" y="625"/>
              </a:cxn>
              <a:cxn ang="0">
                <a:pos x="761" y="615"/>
              </a:cxn>
              <a:cxn ang="0">
                <a:pos x="649" y="877"/>
              </a:cxn>
              <a:cxn ang="0">
                <a:pos x="642" y="870"/>
              </a:cxn>
              <a:cxn ang="0">
                <a:pos x="633" y="865"/>
              </a:cxn>
              <a:cxn ang="0">
                <a:pos x="621" y="862"/>
              </a:cxn>
              <a:cxn ang="0">
                <a:pos x="607" y="861"/>
              </a:cxn>
              <a:cxn ang="0">
                <a:pos x="0" y="859"/>
              </a:cxn>
            </a:cxnLst>
            <a:rect l="0" t="0" r="r" b="b"/>
            <a:pathLst>
              <a:path w="761" h="883">
                <a:moveTo>
                  <a:pt x="0" y="859"/>
                </a:moveTo>
                <a:lnTo>
                  <a:pt x="52" y="822"/>
                </a:lnTo>
                <a:lnTo>
                  <a:pt x="100" y="783"/>
                </a:lnTo>
                <a:lnTo>
                  <a:pt x="146" y="745"/>
                </a:lnTo>
                <a:lnTo>
                  <a:pt x="190" y="706"/>
                </a:lnTo>
                <a:lnTo>
                  <a:pt x="229" y="667"/>
                </a:lnTo>
                <a:lnTo>
                  <a:pt x="267" y="629"/>
                </a:lnTo>
                <a:lnTo>
                  <a:pt x="300" y="589"/>
                </a:lnTo>
                <a:lnTo>
                  <a:pt x="332" y="550"/>
                </a:lnTo>
                <a:lnTo>
                  <a:pt x="359" y="512"/>
                </a:lnTo>
                <a:lnTo>
                  <a:pt x="384" y="473"/>
                </a:lnTo>
                <a:lnTo>
                  <a:pt x="404" y="437"/>
                </a:lnTo>
                <a:lnTo>
                  <a:pt x="420" y="401"/>
                </a:lnTo>
                <a:lnTo>
                  <a:pt x="427" y="383"/>
                </a:lnTo>
                <a:lnTo>
                  <a:pt x="433" y="366"/>
                </a:lnTo>
                <a:lnTo>
                  <a:pt x="439" y="349"/>
                </a:lnTo>
                <a:lnTo>
                  <a:pt x="443" y="333"/>
                </a:lnTo>
                <a:lnTo>
                  <a:pt x="446" y="315"/>
                </a:lnTo>
                <a:lnTo>
                  <a:pt x="449" y="299"/>
                </a:lnTo>
                <a:lnTo>
                  <a:pt x="451" y="284"/>
                </a:lnTo>
                <a:lnTo>
                  <a:pt x="451" y="268"/>
                </a:lnTo>
                <a:lnTo>
                  <a:pt x="451" y="250"/>
                </a:lnTo>
                <a:lnTo>
                  <a:pt x="448" y="234"/>
                </a:lnTo>
                <a:lnTo>
                  <a:pt x="445" y="218"/>
                </a:lnTo>
                <a:lnTo>
                  <a:pt x="440" y="204"/>
                </a:lnTo>
                <a:lnTo>
                  <a:pt x="435" y="190"/>
                </a:lnTo>
                <a:lnTo>
                  <a:pt x="429" y="177"/>
                </a:lnTo>
                <a:lnTo>
                  <a:pt x="420" y="165"/>
                </a:lnTo>
                <a:lnTo>
                  <a:pt x="411" y="153"/>
                </a:lnTo>
                <a:lnTo>
                  <a:pt x="401" y="143"/>
                </a:lnTo>
                <a:lnTo>
                  <a:pt x="390" y="135"/>
                </a:lnTo>
                <a:lnTo>
                  <a:pt x="378" y="127"/>
                </a:lnTo>
                <a:lnTo>
                  <a:pt x="367" y="122"/>
                </a:lnTo>
                <a:lnTo>
                  <a:pt x="352" y="116"/>
                </a:lnTo>
                <a:lnTo>
                  <a:pt x="339" y="113"/>
                </a:lnTo>
                <a:lnTo>
                  <a:pt x="323" y="111"/>
                </a:lnTo>
                <a:lnTo>
                  <a:pt x="307" y="110"/>
                </a:lnTo>
                <a:lnTo>
                  <a:pt x="287" y="111"/>
                </a:lnTo>
                <a:lnTo>
                  <a:pt x="267" y="114"/>
                </a:lnTo>
                <a:lnTo>
                  <a:pt x="248" y="117"/>
                </a:lnTo>
                <a:lnTo>
                  <a:pt x="229" y="123"/>
                </a:lnTo>
                <a:lnTo>
                  <a:pt x="213" y="132"/>
                </a:lnTo>
                <a:lnTo>
                  <a:pt x="197" y="140"/>
                </a:lnTo>
                <a:lnTo>
                  <a:pt x="181" y="150"/>
                </a:lnTo>
                <a:lnTo>
                  <a:pt x="168" y="163"/>
                </a:lnTo>
                <a:lnTo>
                  <a:pt x="155" y="178"/>
                </a:lnTo>
                <a:lnTo>
                  <a:pt x="145" y="192"/>
                </a:lnTo>
                <a:lnTo>
                  <a:pt x="135" y="210"/>
                </a:lnTo>
                <a:lnTo>
                  <a:pt x="126" y="227"/>
                </a:lnTo>
                <a:lnTo>
                  <a:pt x="120" y="246"/>
                </a:lnTo>
                <a:lnTo>
                  <a:pt x="114" y="266"/>
                </a:lnTo>
                <a:lnTo>
                  <a:pt x="112" y="288"/>
                </a:lnTo>
                <a:lnTo>
                  <a:pt x="109" y="311"/>
                </a:lnTo>
                <a:lnTo>
                  <a:pt x="84" y="315"/>
                </a:lnTo>
                <a:lnTo>
                  <a:pt x="22" y="98"/>
                </a:lnTo>
                <a:lnTo>
                  <a:pt x="45" y="87"/>
                </a:lnTo>
                <a:lnTo>
                  <a:pt x="68" y="75"/>
                </a:lnTo>
                <a:lnTo>
                  <a:pt x="91" y="65"/>
                </a:lnTo>
                <a:lnTo>
                  <a:pt x="114" y="55"/>
                </a:lnTo>
                <a:lnTo>
                  <a:pt x="138" y="46"/>
                </a:lnTo>
                <a:lnTo>
                  <a:pt x="161" y="39"/>
                </a:lnTo>
                <a:lnTo>
                  <a:pt x="184" y="32"/>
                </a:lnTo>
                <a:lnTo>
                  <a:pt x="207" y="25"/>
                </a:lnTo>
                <a:lnTo>
                  <a:pt x="230" y="19"/>
                </a:lnTo>
                <a:lnTo>
                  <a:pt x="254" y="14"/>
                </a:lnTo>
                <a:lnTo>
                  <a:pt x="275" y="10"/>
                </a:lnTo>
                <a:lnTo>
                  <a:pt x="298" y="7"/>
                </a:lnTo>
                <a:lnTo>
                  <a:pt x="320" y="4"/>
                </a:lnTo>
                <a:lnTo>
                  <a:pt x="343" y="1"/>
                </a:lnTo>
                <a:lnTo>
                  <a:pt x="365" y="1"/>
                </a:lnTo>
                <a:lnTo>
                  <a:pt x="387" y="0"/>
                </a:lnTo>
                <a:lnTo>
                  <a:pt x="423" y="1"/>
                </a:lnTo>
                <a:lnTo>
                  <a:pt x="458" y="4"/>
                </a:lnTo>
                <a:lnTo>
                  <a:pt x="491" y="10"/>
                </a:lnTo>
                <a:lnTo>
                  <a:pt x="522" y="17"/>
                </a:lnTo>
                <a:lnTo>
                  <a:pt x="550" y="26"/>
                </a:lnTo>
                <a:lnTo>
                  <a:pt x="578" y="38"/>
                </a:lnTo>
                <a:lnTo>
                  <a:pt x="604" y="52"/>
                </a:lnTo>
                <a:lnTo>
                  <a:pt x="627" y="68"/>
                </a:lnTo>
                <a:lnTo>
                  <a:pt x="637" y="77"/>
                </a:lnTo>
                <a:lnTo>
                  <a:pt x="648" y="85"/>
                </a:lnTo>
                <a:lnTo>
                  <a:pt x="658" y="94"/>
                </a:lnTo>
                <a:lnTo>
                  <a:pt x="666" y="104"/>
                </a:lnTo>
                <a:lnTo>
                  <a:pt x="674" y="113"/>
                </a:lnTo>
                <a:lnTo>
                  <a:pt x="682" y="124"/>
                </a:lnTo>
                <a:lnTo>
                  <a:pt x="688" y="135"/>
                </a:lnTo>
                <a:lnTo>
                  <a:pt x="694" y="145"/>
                </a:lnTo>
                <a:lnTo>
                  <a:pt x="700" y="156"/>
                </a:lnTo>
                <a:lnTo>
                  <a:pt x="704" y="168"/>
                </a:lnTo>
                <a:lnTo>
                  <a:pt x="708" y="179"/>
                </a:lnTo>
                <a:lnTo>
                  <a:pt x="711" y="192"/>
                </a:lnTo>
                <a:lnTo>
                  <a:pt x="714" y="205"/>
                </a:lnTo>
                <a:lnTo>
                  <a:pt x="716" y="217"/>
                </a:lnTo>
                <a:lnTo>
                  <a:pt x="717" y="231"/>
                </a:lnTo>
                <a:lnTo>
                  <a:pt x="717" y="245"/>
                </a:lnTo>
                <a:lnTo>
                  <a:pt x="716" y="268"/>
                </a:lnTo>
                <a:lnTo>
                  <a:pt x="713" y="291"/>
                </a:lnTo>
                <a:lnTo>
                  <a:pt x="708" y="314"/>
                </a:lnTo>
                <a:lnTo>
                  <a:pt x="701" y="337"/>
                </a:lnTo>
                <a:lnTo>
                  <a:pt x="691" y="360"/>
                </a:lnTo>
                <a:lnTo>
                  <a:pt x="681" y="383"/>
                </a:lnTo>
                <a:lnTo>
                  <a:pt x="668" y="407"/>
                </a:lnTo>
                <a:lnTo>
                  <a:pt x="652" y="428"/>
                </a:lnTo>
                <a:lnTo>
                  <a:pt x="635" y="451"/>
                </a:lnTo>
                <a:lnTo>
                  <a:pt x="611" y="477"/>
                </a:lnTo>
                <a:lnTo>
                  <a:pt x="585" y="505"/>
                </a:lnTo>
                <a:lnTo>
                  <a:pt x="555" y="535"/>
                </a:lnTo>
                <a:lnTo>
                  <a:pt x="520" y="567"/>
                </a:lnTo>
                <a:lnTo>
                  <a:pt x="481" y="600"/>
                </a:lnTo>
                <a:lnTo>
                  <a:pt x="437" y="637"/>
                </a:lnTo>
                <a:lnTo>
                  <a:pt x="391" y="676"/>
                </a:lnTo>
                <a:lnTo>
                  <a:pt x="604" y="676"/>
                </a:lnTo>
                <a:lnTo>
                  <a:pt x="617" y="676"/>
                </a:lnTo>
                <a:lnTo>
                  <a:pt x="630" y="674"/>
                </a:lnTo>
                <a:lnTo>
                  <a:pt x="640" y="673"/>
                </a:lnTo>
                <a:lnTo>
                  <a:pt x="652" y="671"/>
                </a:lnTo>
                <a:lnTo>
                  <a:pt x="662" y="670"/>
                </a:lnTo>
                <a:lnTo>
                  <a:pt x="671" y="667"/>
                </a:lnTo>
                <a:lnTo>
                  <a:pt x="679" y="663"/>
                </a:lnTo>
                <a:lnTo>
                  <a:pt x="687" y="660"/>
                </a:lnTo>
                <a:lnTo>
                  <a:pt x="694" y="655"/>
                </a:lnTo>
                <a:lnTo>
                  <a:pt x="701" y="651"/>
                </a:lnTo>
                <a:lnTo>
                  <a:pt x="707" y="645"/>
                </a:lnTo>
                <a:lnTo>
                  <a:pt x="713" y="639"/>
                </a:lnTo>
                <a:lnTo>
                  <a:pt x="719" y="632"/>
                </a:lnTo>
                <a:lnTo>
                  <a:pt x="723" y="625"/>
                </a:lnTo>
                <a:lnTo>
                  <a:pt x="727" y="616"/>
                </a:lnTo>
                <a:lnTo>
                  <a:pt x="730" y="609"/>
                </a:lnTo>
                <a:lnTo>
                  <a:pt x="761" y="615"/>
                </a:lnTo>
                <a:lnTo>
                  <a:pt x="655" y="883"/>
                </a:lnTo>
                <a:lnTo>
                  <a:pt x="652" y="880"/>
                </a:lnTo>
                <a:lnTo>
                  <a:pt x="649" y="877"/>
                </a:lnTo>
                <a:lnTo>
                  <a:pt x="648" y="874"/>
                </a:lnTo>
                <a:lnTo>
                  <a:pt x="645" y="872"/>
                </a:lnTo>
                <a:lnTo>
                  <a:pt x="642" y="870"/>
                </a:lnTo>
                <a:lnTo>
                  <a:pt x="639" y="868"/>
                </a:lnTo>
                <a:lnTo>
                  <a:pt x="636" y="867"/>
                </a:lnTo>
                <a:lnTo>
                  <a:pt x="633" y="865"/>
                </a:lnTo>
                <a:lnTo>
                  <a:pt x="629" y="864"/>
                </a:lnTo>
                <a:lnTo>
                  <a:pt x="626" y="862"/>
                </a:lnTo>
                <a:lnTo>
                  <a:pt x="621" y="862"/>
                </a:lnTo>
                <a:lnTo>
                  <a:pt x="617" y="861"/>
                </a:lnTo>
                <a:lnTo>
                  <a:pt x="613" y="861"/>
                </a:lnTo>
                <a:lnTo>
                  <a:pt x="607" y="861"/>
                </a:lnTo>
                <a:lnTo>
                  <a:pt x="603" y="859"/>
                </a:lnTo>
                <a:lnTo>
                  <a:pt x="597" y="859"/>
                </a:lnTo>
                <a:lnTo>
                  <a:pt x="0" y="859"/>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FR"/>
          </a:p>
        </p:txBody>
      </p:sp>
      <p:sp>
        <p:nvSpPr>
          <p:cNvPr id="309259" name="Freeform 11"/>
          <p:cNvSpPr>
            <a:spLocks/>
          </p:cNvSpPr>
          <p:nvPr/>
        </p:nvSpPr>
        <p:spPr bwMode="auto">
          <a:xfrm>
            <a:off x="70794" y="4317990"/>
            <a:ext cx="455586" cy="377825"/>
          </a:xfrm>
          <a:custGeom>
            <a:avLst/>
            <a:gdLst/>
            <a:ahLst/>
            <a:cxnLst>
              <a:cxn ang="0">
                <a:pos x="169" y="771"/>
              </a:cxn>
              <a:cxn ang="0">
                <a:pos x="165" y="785"/>
              </a:cxn>
              <a:cxn ang="0">
                <a:pos x="163" y="800"/>
              </a:cxn>
              <a:cxn ang="0">
                <a:pos x="161" y="812"/>
              </a:cxn>
              <a:cxn ang="0">
                <a:pos x="161" y="823"/>
              </a:cxn>
              <a:cxn ang="0">
                <a:pos x="159" y="835"/>
              </a:cxn>
              <a:cxn ang="0">
                <a:pos x="165" y="881"/>
              </a:cxn>
              <a:cxn ang="0">
                <a:pos x="184" y="935"/>
              </a:cxn>
              <a:cxn ang="0">
                <a:pos x="222" y="981"/>
              </a:cxn>
              <a:cxn ang="0">
                <a:pos x="276" y="1013"/>
              </a:cxn>
              <a:cxn ang="0">
                <a:pos x="341" y="1031"/>
              </a:cxn>
              <a:cxn ang="0">
                <a:pos x="420" y="1032"/>
              </a:cxn>
              <a:cxn ang="0">
                <a:pos x="495" y="1017"/>
              </a:cxn>
              <a:cxn ang="0">
                <a:pos x="560" y="985"/>
              </a:cxn>
              <a:cxn ang="0">
                <a:pos x="612" y="937"/>
              </a:cxn>
              <a:cxn ang="0">
                <a:pos x="645" y="879"/>
              </a:cxn>
              <a:cxn ang="0">
                <a:pos x="654" y="814"/>
              </a:cxn>
              <a:cxn ang="0">
                <a:pos x="643" y="743"/>
              </a:cxn>
              <a:cxn ang="0">
                <a:pos x="604" y="681"/>
              </a:cxn>
              <a:cxn ang="0">
                <a:pos x="541" y="631"/>
              </a:cxn>
              <a:cxn ang="0">
                <a:pos x="462" y="599"/>
              </a:cxn>
              <a:cxn ang="0">
                <a:pos x="366" y="583"/>
              </a:cxn>
              <a:cxn ang="0">
                <a:pos x="316" y="581"/>
              </a:cxn>
              <a:cxn ang="0">
                <a:pos x="293" y="583"/>
              </a:cxn>
              <a:cxn ang="0">
                <a:pos x="269" y="585"/>
              </a:cxn>
              <a:cxn ang="0">
                <a:pos x="244" y="589"/>
              </a:cxn>
              <a:cxn ang="0">
                <a:pos x="217" y="593"/>
              </a:cxn>
              <a:cxn ang="0">
                <a:pos x="608" y="249"/>
              </a:cxn>
              <a:cxn ang="0">
                <a:pos x="219" y="249"/>
              </a:cxn>
              <a:cxn ang="0">
                <a:pos x="196" y="255"/>
              </a:cxn>
              <a:cxn ang="0">
                <a:pos x="176" y="265"/>
              </a:cxn>
              <a:cxn ang="0">
                <a:pos x="157" y="282"/>
              </a:cxn>
              <a:cxn ang="0">
                <a:pos x="138" y="307"/>
              </a:cxn>
              <a:cxn ang="0">
                <a:pos x="88" y="319"/>
              </a:cxn>
              <a:cxn ang="0">
                <a:pos x="207" y="6"/>
              </a:cxn>
              <a:cxn ang="0">
                <a:pos x="217" y="13"/>
              </a:cxn>
              <a:cxn ang="0">
                <a:pos x="226" y="17"/>
              </a:cxn>
              <a:cxn ang="0">
                <a:pos x="238" y="21"/>
              </a:cxn>
              <a:cxn ang="0">
                <a:pos x="253" y="23"/>
              </a:cxn>
              <a:cxn ang="0">
                <a:pos x="850" y="23"/>
              </a:cxn>
              <a:cxn ang="0">
                <a:pos x="648" y="393"/>
              </a:cxn>
              <a:cxn ang="0">
                <a:pos x="756" y="424"/>
              </a:cxn>
              <a:cxn ang="0">
                <a:pos x="842" y="478"/>
              </a:cxn>
              <a:cxn ang="0">
                <a:pos x="909" y="551"/>
              </a:cxn>
              <a:cxn ang="0">
                <a:pos x="952" y="639"/>
              </a:cxn>
              <a:cxn ang="0">
                <a:pos x="965" y="741"/>
              </a:cxn>
              <a:cxn ang="0">
                <a:pos x="959" y="808"/>
              </a:cxn>
              <a:cxn ang="0">
                <a:pos x="944" y="869"/>
              </a:cxn>
              <a:cxn ang="0">
                <a:pos x="917" y="927"/>
              </a:cxn>
              <a:cxn ang="0">
                <a:pos x="882" y="979"/>
              </a:cxn>
              <a:cxn ang="0">
                <a:pos x="836" y="1029"/>
              </a:cxn>
              <a:cxn ang="0">
                <a:pos x="781" y="1071"/>
              </a:cxn>
              <a:cxn ang="0">
                <a:pos x="717" y="1105"/>
              </a:cxn>
              <a:cxn ang="0">
                <a:pos x="650" y="1132"/>
              </a:cxn>
              <a:cxn ang="0">
                <a:pos x="576" y="1150"/>
              </a:cxn>
              <a:cxn ang="0">
                <a:pos x="497" y="1161"/>
              </a:cxn>
              <a:cxn ang="0">
                <a:pos x="409" y="1161"/>
              </a:cxn>
              <a:cxn ang="0">
                <a:pos x="318" y="1153"/>
              </a:cxn>
              <a:cxn ang="0">
                <a:pos x="234" y="1138"/>
              </a:cxn>
              <a:cxn ang="0">
                <a:pos x="153" y="1113"/>
              </a:cxn>
              <a:cxn ang="0">
                <a:pos x="75" y="1079"/>
              </a:cxn>
              <a:cxn ang="0">
                <a:pos x="0" y="1034"/>
              </a:cxn>
            </a:cxnLst>
            <a:rect l="0" t="0" r="r" b="b"/>
            <a:pathLst>
              <a:path w="965" h="1163">
                <a:moveTo>
                  <a:pt x="0" y="1034"/>
                </a:moveTo>
                <a:lnTo>
                  <a:pt x="132" y="754"/>
                </a:lnTo>
                <a:lnTo>
                  <a:pt x="169" y="771"/>
                </a:lnTo>
                <a:lnTo>
                  <a:pt x="167" y="775"/>
                </a:lnTo>
                <a:lnTo>
                  <a:pt x="167" y="781"/>
                </a:lnTo>
                <a:lnTo>
                  <a:pt x="165" y="785"/>
                </a:lnTo>
                <a:lnTo>
                  <a:pt x="165" y="791"/>
                </a:lnTo>
                <a:lnTo>
                  <a:pt x="163" y="794"/>
                </a:lnTo>
                <a:lnTo>
                  <a:pt x="163" y="800"/>
                </a:lnTo>
                <a:lnTo>
                  <a:pt x="163" y="804"/>
                </a:lnTo>
                <a:lnTo>
                  <a:pt x="163" y="808"/>
                </a:lnTo>
                <a:lnTo>
                  <a:pt x="161" y="812"/>
                </a:lnTo>
                <a:lnTo>
                  <a:pt x="161" y="816"/>
                </a:lnTo>
                <a:lnTo>
                  <a:pt x="161" y="819"/>
                </a:lnTo>
                <a:lnTo>
                  <a:pt x="161" y="823"/>
                </a:lnTo>
                <a:lnTo>
                  <a:pt x="161" y="827"/>
                </a:lnTo>
                <a:lnTo>
                  <a:pt x="161" y="831"/>
                </a:lnTo>
                <a:lnTo>
                  <a:pt x="159" y="835"/>
                </a:lnTo>
                <a:lnTo>
                  <a:pt x="159" y="839"/>
                </a:lnTo>
                <a:lnTo>
                  <a:pt x="161" y="860"/>
                </a:lnTo>
                <a:lnTo>
                  <a:pt x="165" y="881"/>
                </a:lnTo>
                <a:lnTo>
                  <a:pt x="169" y="900"/>
                </a:lnTo>
                <a:lnTo>
                  <a:pt x="176" y="917"/>
                </a:lnTo>
                <a:lnTo>
                  <a:pt x="184" y="935"/>
                </a:lnTo>
                <a:lnTo>
                  <a:pt x="196" y="952"/>
                </a:lnTo>
                <a:lnTo>
                  <a:pt x="209" y="967"/>
                </a:lnTo>
                <a:lnTo>
                  <a:pt x="222" y="981"/>
                </a:lnTo>
                <a:lnTo>
                  <a:pt x="240" y="992"/>
                </a:lnTo>
                <a:lnTo>
                  <a:pt x="257" y="1004"/>
                </a:lnTo>
                <a:lnTo>
                  <a:pt x="276" y="1013"/>
                </a:lnTo>
                <a:lnTo>
                  <a:pt x="297" y="1019"/>
                </a:lnTo>
                <a:lnTo>
                  <a:pt x="318" y="1025"/>
                </a:lnTo>
                <a:lnTo>
                  <a:pt x="341" y="1031"/>
                </a:lnTo>
                <a:lnTo>
                  <a:pt x="366" y="1032"/>
                </a:lnTo>
                <a:lnTo>
                  <a:pt x="393" y="1032"/>
                </a:lnTo>
                <a:lnTo>
                  <a:pt x="420" y="1032"/>
                </a:lnTo>
                <a:lnTo>
                  <a:pt x="447" y="1029"/>
                </a:lnTo>
                <a:lnTo>
                  <a:pt x="472" y="1025"/>
                </a:lnTo>
                <a:lnTo>
                  <a:pt x="495" y="1017"/>
                </a:lnTo>
                <a:lnTo>
                  <a:pt x="518" y="1008"/>
                </a:lnTo>
                <a:lnTo>
                  <a:pt x="539" y="998"/>
                </a:lnTo>
                <a:lnTo>
                  <a:pt x="560" y="985"/>
                </a:lnTo>
                <a:lnTo>
                  <a:pt x="579" y="969"/>
                </a:lnTo>
                <a:lnTo>
                  <a:pt x="597" y="954"/>
                </a:lnTo>
                <a:lnTo>
                  <a:pt x="612" y="937"/>
                </a:lnTo>
                <a:lnTo>
                  <a:pt x="625" y="917"/>
                </a:lnTo>
                <a:lnTo>
                  <a:pt x="637" y="900"/>
                </a:lnTo>
                <a:lnTo>
                  <a:pt x="645" y="879"/>
                </a:lnTo>
                <a:lnTo>
                  <a:pt x="650" y="858"/>
                </a:lnTo>
                <a:lnTo>
                  <a:pt x="654" y="837"/>
                </a:lnTo>
                <a:lnTo>
                  <a:pt x="654" y="814"/>
                </a:lnTo>
                <a:lnTo>
                  <a:pt x="654" y="789"/>
                </a:lnTo>
                <a:lnTo>
                  <a:pt x="648" y="766"/>
                </a:lnTo>
                <a:lnTo>
                  <a:pt x="643" y="743"/>
                </a:lnTo>
                <a:lnTo>
                  <a:pt x="633" y="722"/>
                </a:lnTo>
                <a:lnTo>
                  <a:pt x="620" y="700"/>
                </a:lnTo>
                <a:lnTo>
                  <a:pt x="604" y="681"/>
                </a:lnTo>
                <a:lnTo>
                  <a:pt x="585" y="664"/>
                </a:lnTo>
                <a:lnTo>
                  <a:pt x="564" y="647"/>
                </a:lnTo>
                <a:lnTo>
                  <a:pt x="541" y="631"/>
                </a:lnTo>
                <a:lnTo>
                  <a:pt x="516" y="618"/>
                </a:lnTo>
                <a:lnTo>
                  <a:pt x="491" y="606"/>
                </a:lnTo>
                <a:lnTo>
                  <a:pt x="462" y="599"/>
                </a:lnTo>
                <a:lnTo>
                  <a:pt x="432" y="591"/>
                </a:lnTo>
                <a:lnTo>
                  <a:pt x="401" y="585"/>
                </a:lnTo>
                <a:lnTo>
                  <a:pt x="366" y="583"/>
                </a:lnTo>
                <a:lnTo>
                  <a:pt x="332" y="581"/>
                </a:lnTo>
                <a:lnTo>
                  <a:pt x="324" y="581"/>
                </a:lnTo>
                <a:lnTo>
                  <a:pt x="316" y="581"/>
                </a:lnTo>
                <a:lnTo>
                  <a:pt x="309" y="581"/>
                </a:lnTo>
                <a:lnTo>
                  <a:pt x="301" y="583"/>
                </a:lnTo>
                <a:lnTo>
                  <a:pt x="293" y="583"/>
                </a:lnTo>
                <a:lnTo>
                  <a:pt x="286" y="583"/>
                </a:lnTo>
                <a:lnTo>
                  <a:pt x="276" y="585"/>
                </a:lnTo>
                <a:lnTo>
                  <a:pt x="269" y="585"/>
                </a:lnTo>
                <a:lnTo>
                  <a:pt x="261" y="587"/>
                </a:lnTo>
                <a:lnTo>
                  <a:pt x="251" y="587"/>
                </a:lnTo>
                <a:lnTo>
                  <a:pt x="244" y="589"/>
                </a:lnTo>
                <a:lnTo>
                  <a:pt x="234" y="589"/>
                </a:lnTo>
                <a:lnTo>
                  <a:pt x="226" y="591"/>
                </a:lnTo>
                <a:lnTo>
                  <a:pt x="217" y="593"/>
                </a:lnTo>
                <a:lnTo>
                  <a:pt x="207" y="595"/>
                </a:lnTo>
                <a:lnTo>
                  <a:pt x="199" y="597"/>
                </a:lnTo>
                <a:lnTo>
                  <a:pt x="608" y="249"/>
                </a:lnTo>
                <a:lnTo>
                  <a:pt x="236" y="249"/>
                </a:lnTo>
                <a:lnTo>
                  <a:pt x="228" y="249"/>
                </a:lnTo>
                <a:lnTo>
                  <a:pt x="219" y="249"/>
                </a:lnTo>
                <a:lnTo>
                  <a:pt x="211" y="251"/>
                </a:lnTo>
                <a:lnTo>
                  <a:pt x="203" y="253"/>
                </a:lnTo>
                <a:lnTo>
                  <a:pt x="196" y="255"/>
                </a:lnTo>
                <a:lnTo>
                  <a:pt x="190" y="257"/>
                </a:lnTo>
                <a:lnTo>
                  <a:pt x="182" y="261"/>
                </a:lnTo>
                <a:lnTo>
                  <a:pt x="176" y="265"/>
                </a:lnTo>
                <a:lnTo>
                  <a:pt x="171" y="271"/>
                </a:lnTo>
                <a:lnTo>
                  <a:pt x="163" y="276"/>
                </a:lnTo>
                <a:lnTo>
                  <a:pt x="157" y="282"/>
                </a:lnTo>
                <a:lnTo>
                  <a:pt x="151" y="290"/>
                </a:lnTo>
                <a:lnTo>
                  <a:pt x="146" y="297"/>
                </a:lnTo>
                <a:lnTo>
                  <a:pt x="138" y="307"/>
                </a:lnTo>
                <a:lnTo>
                  <a:pt x="132" y="317"/>
                </a:lnTo>
                <a:lnTo>
                  <a:pt x="125" y="328"/>
                </a:lnTo>
                <a:lnTo>
                  <a:pt x="88" y="319"/>
                </a:lnTo>
                <a:lnTo>
                  <a:pt x="199" y="0"/>
                </a:lnTo>
                <a:lnTo>
                  <a:pt x="203" y="2"/>
                </a:lnTo>
                <a:lnTo>
                  <a:pt x="207" y="6"/>
                </a:lnTo>
                <a:lnTo>
                  <a:pt x="209" y="8"/>
                </a:lnTo>
                <a:lnTo>
                  <a:pt x="213" y="11"/>
                </a:lnTo>
                <a:lnTo>
                  <a:pt x="217" y="13"/>
                </a:lnTo>
                <a:lnTo>
                  <a:pt x="221" y="15"/>
                </a:lnTo>
                <a:lnTo>
                  <a:pt x="224" y="17"/>
                </a:lnTo>
                <a:lnTo>
                  <a:pt x="226" y="17"/>
                </a:lnTo>
                <a:lnTo>
                  <a:pt x="230" y="19"/>
                </a:lnTo>
                <a:lnTo>
                  <a:pt x="234" y="21"/>
                </a:lnTo>
                <a:lnTo>
                  <a:pt x="238" y="21"/>
                </a:lnTo>
                <a:lnTo>
                  <a:pt x="244" y="21"/>
                </a:lnTo>
                <a:lnTo>
                  <a:pt x="247" y="23"/>
                </a:lnTo>
                <a:lnTo>
                  <a:pt x="253" y="23"/>
                </a:lnTo>
                <a:lnTo>
                  <a:pt x="259" y="23"/>
                </a:lnTo>
                <a:lnTo>
                  <a:pt x="263" y="23"/>
                </a:lnTo>
                <a:lnTo>
                  <a:pt x="850" y="23"/>
                </a:lnTo>
                <a:lnTo>
                  <a:pt x="906" y="155"/>
                </a:lnTo>
                <a:lnTo>
                  <a:pt x="608" y="390"/>
                </a:lnTo>
                <a:lnTo>
                  <a:pt x="648" y="393"/>
                </a:lnTo>
                <a:lnTo>
                  <a:pt x="687" y="403"/>
                </a:lnTo>
                <a:lnTo>
                  <a:pt x="721" y="413"/>
                </a:lnTo>
                <a:lnTo>
                  <a:pt x="756" y="424"/>
                </a:lnTo>
                <a:lnTo>
                  <a:pt x="787" y="439"/>
                </a:lnTo>
                <a:lnTo>
                  <a:pt x="815" y="459"/>
                </a:lnTo>
                <a:lnTo>
                  <a:pt x="842" y="478"/>
                </a:lnTo>
                <a:lnTo>
                  <a:pt x="869" y="501"/>
                </a:lnTo>
                <a:lnTo>
                  <a:pt x="890" y="526"/>
                </a:lnTo>
                <a:lnTo>
                  <a:pt x="909" y="551"/>
                </a:lnTo>
                <a:lnTo>
                  <a:pt x="927" y="580"/>
                </a:lnTo>
                <a:lnTo>
                  <a:pt x="940" y="608"/>
                </a:lnTo>
                <a:lnTo>
                  <a:pt x="952" y="639"/>
                </a:lnTo>
                <a:lnTo>
                  <a:pt x="957" y="672"/>
                </a:lnTo>
                <a:lnTo>
                  <a:pt x="963" y="704"/>
                </a:lnTo>
                <a:lnTo>
                  <a:pt x="965" y="741"/>
                </a:lnTo>
                <a:lnTo>
                  <a:pt x="963" y="764"/>
                </a:lnTo>
                <a:lnTo>
                  <a:pt x="961" y="785"/>
                </a:lnTo>
                <a:lnTo>
                  <a:pt x="959" y="808"/>
                </a:lnTo>
                <a:lnTo>
                  <a:pt x="955" y="829"/>
                </a:lnTo>
                <a:lnTo>
                  <a:pt x="950" y="848"/>
                </a:lnTo>
                <a:lnTo>
                  <a:pt x="944" y="869"/>
                </a:lnTo>
                <a:lnTo>
                  <a:pt x="936" y="889"/>
                </a:lnTo>
                <a:lnTo>
                  <a:pt x="929" y="908"/>
                </a:lnTo>
                <a:lnTo>
                  <a:pt x="917" y="927"/>
                </a:lnTo>
                <a:lnTo>
                  <a:pt x="907" y="944"/>
                </a:lnTo>
                <a:lnTo>
                  <a:pt x="896" y="961"/>
                </a:lnTo>
                <a:lnTo>
                  <a:pt x="882" y="979"/>
                </a:lnTo>
                <a:lnTo>
                  <a:pt x="867" y="996"/>
                </a:lnTo>
                <a:lnTo>
                  <a:pt x="852" y="1011"/>
                </a:lnTo>
                <a:lnTo>
                  <a:pt x="836" y="1029"/>
                </a:lnTo>
                <a:lnTo>
                  <a:pt x="817" y="1042"/>
                </a:lnTo>
                <a:lnTo>
                  <a:pt x="800" y="1057"/>
                </a:lnTo>
                <a:lnTo>
                  <a:pt x="781" y="1071"/>
                </a:lnTo>
                <a:lnTo>
                  <a:pt x="760" y="1084"/>
                </a:lnTo>
                <a:lnTo>
                  <a:pt x="741" y="1096"/>
                </a:lnTo>
                <a:lnTo>
                  <a:pt x="717" y="1105"/>
                </a:lnTo>
                <a:lnTo>
                  <a:pt x="696" y="1115"/>
                </a:lnTo>
                <a:lnTo>
                  <a:pt x="673" y="1125"/>
                </a:lnTo>
                <a:lnTo>
                  <a:pt x="650" y="1132"/>
                </a:lnTo>
                <a:lnTo>
                  <a:pt x="625" y="1140"/>
                </a:lnTo>
                <a:lnTo>
                  <a:pt x="602" y="1146"/>
                </a:lnTo>
                <a:lnTo>
                  <a:pt x="576" y="1150"/>
                </a:lnTo>
                <a:lnTo>
                  <a:pt x="551" y="1155"/>
                </a:lnTo>
                <a:lnTo>
                  <a:pt x="524" y="1157"/>
                </a:lnTo>
                <a:lnTo>
                  <a:pt x="497" y="1161"/>
                </a:lnTo>
                <a:lnTo>
                  <a:pt x="468" y="1161"/>
                </a:lnTo>
                <a:lnTo>
                  <a:pt x="439" y="1163"/>
                </a:lnTo>
                <a:lnTo>
                  <a:pt x="409" y="1161"/>
                </a:lnTo>
                <a:lnTo>
                  <a:pt x="378" y="1161"/>
                </a:lnTo>
                <a:lnTo>
                  <a:pt x="349" y="1157"/>
                </a:lnTo>
                <a:lnTo>
                  <a:pt x="318" y="1153"/>
                </a:lnTo>
                <a:lnTo>
                  <a:pt x="290" y="1150"/>
                </a:lnTo>
                <a:lnTo>
                  <a:pt x="263" y="1144"/>
                </a:lnTo>
                <a:lnTo>
                  <a:pt x="234" y="1138"/>
                </a:lnTo>
                <a:lnTo>
                  <a:pt x="207" y="1130"/>
                </a:lnTo>
                <a:lnTo>
                  <a:pt x="180" y="1123"/>
                </a:lnTo>
                <a:lnTo>
                  <a:pt x="153" y="1113"/>
                </a:lnTo>
                <a:lnTo>
                  <a:pt x="127" y="1102"/>
                </a:lnTo>
                <a:lnTo>
                  <a:pt x="102" y="1090"/>
                </a:lnTo>
                <a:lnTo>
                  <a:pt x="75" y="1079"/>
                </a:lnTo>
                <a:lnTo>
                  <a:pt x="50" y="1065"/>
                </a:lnTo>
                <a:lnTo>
                  <a:pt x="25" y="1050"/>
                </a:lnTo>
                <a:lnTo>
                  <a:pt x="0" y="1034"/>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FR"/>
          </a:p>
        </p:txBody>
      </p:sp>
      <p:sp>
        <p:nvSpPr>
          <p:cNvPr id="309260" name="Freeform 12"/>
          <p:cNvSpPr>
            <a:spLocks/>
          </p:cNvSpPr>
          <p:nvPr/>
        </p:nvSpPr>
        <p:spPr bwMode="auto">
          <a:xfrm>
            <a:off x="32694" y="5132378"/>
            <a:ext cx="569482" cy="415925"/>
          </a:xfrm>
          <a:custGeom>
            <a:avLst/>
            <a:gdLst/>
            <a:ahLst/>
            <a:cxnLst>
              <a:cxn ang="0">
                <a:pos x="436" y="1205"/>
              </a:cxn>
              <a:cxn ang="0">
                <a:pos x="470" y="1189"/>
              </a:cxn>
              <a:cxn ang="0">
                <a:pos x="495" y="1166"/>
              </a:cxn>
              <a:cxn ang="0">
                <a:pos x="507" y="1135"/>
              </a:cxn>
              <a:cxn ang="0">
                <a:pos x="60" y="986"/>
              </a:cxn>
              <a:cxn ang="0">
                <a:pos x="44" y="988"/>
              </a:cxn>
              <a:cxn ang="0">
                <a:pos x="29" y="991"/>
              </a:cxn>
              <a:cxn ang="0">
                <a:pos x="15" y="995"/>
              </a:cxn>
              <a:cxn ang="0">
                <a:pos x="2" y="1003"/>
              </a:cxn>
              <a:cxn ang="0">
                <a:pos x="2" y="995"/>
              </a:cxn>
              <a:cxn ang="0">
                <a:pos x="0" y="988"/>
              </a:cxn>
              <a:cxn ang="0">
                <a:pos x="0" y="978"/>
              </a:cxn>
              <a:cxn ang="0">
                <a:pos x="13" y="909"/>
              </a:cxn>
              <a:cxn ang="0">
                <a:pos x="63" y="797"/>
              </a:cxn>
              <a:cxn ang="0">
                <a:pos x="142" y="674"/>
              </a:cxn>
              <a:cxn ang="0">
                <a:pos x="219" y="540"/>
              </a:cxn>
              <a:cxn ang="0">
                <a:pos x="261" y="446"/>
              </a:cxn>
              <a:cxn ang="0">
                <a:pos x="280" y="367"/>
              </a:cxn>
              <a:cxn ang="0">
                <a:pos x="282" y="317"/>
              </a:cxn>
              <a:cxn ang="0">
                <a:pos x="278" y="294"/>
              </a:cxn>
              <a:cxn ang="0">
                <a:pos x="267" y="279"/>
              </a:cxn>
              <a:cxn ang="0">
                <a:pos x="248" y="263"/>
              </a:cxn>
              <a:cxn ang="0">
                <a:pos x="280" y="221"/>
              </a:cxn>
              <a:cxn ang="0">
                <a:pos x="359" y="154"/>
              </a:cxn>
              <a:cxn ang="0">
                <a:pos x="422" y="90"/>
              </a:cxn>
              <a:cxn ang="0">
                <a:pos x="476" y="31"/>
              </a:cxn>
              <a:cxn ang="0">
                <a:pos x="511" y="17"/>
              </a:cxn>
              <a:cxn ang="0">
                <a:pos x="526" y="56"/>
              </a:cxn>
              <a:cxn ang="0">
                <a:pos x="536" y="96"/>
              </a:cxn>
              <a:cxn ang="0">
                <a:pos x="541" y="142"/>
              </a:cxn>
              <a:cxn ang="0">
                <a:pos x="538" y="219"/>
              </a:cxn>
              <a:cxn ang="0">
                <a:pos x="505" y="336"/>
              </a:cxn>
              <a:cxn ang="0">
                <a:pos x="440" y="471"/>
              </a:cxn>
              <a:cxn ang="0">
                <a:pos x="340" y="624"/>
              </a:cxn>
              <a:cxn ang="0">
                <a:pos x="246" y="749"/>
              </a:cxn>
              <a:cxn ang="0">
                <a:pos x="192" y="818"/>
              </a:cxn>
              <a:cxn ang="0">
                <a:pos x="509" y="463"/>
              </a:cxn>
              <a:cxn ang="0">
                <a:pos x="616" y="417"/>
              </a:cxn>
              <a:cxn ang="0">
                <a:pos x="705" y="352"/>
              </a:cxn>
              <a:cxn ang="0">
                <a:pos x="776" y="265"/>
              </a:cxn>
              <a:cxn ang="0">
                <a:pos x="829" y="156"/>
              </a:cxn>
              <a:cxn ang="0">
                <a:pos x="845" y="200"/>
              </a:cxn>
              <a:cxn ang="0">
                <a:pos x="837" y="255"/>
              </a:cxn>
              <a:cxn ang="0">
                <a:pos x="831" y="309"/>
              </a:cxn>
              <a:cxn ang="0">
                <a:pos x="829" y="361"/>
              </a:cxn>
              <a:cxn ang="0">
                <a:pos x="908" y="845"/>
              </a:cxn>
              <a:cxn ang="0">
                <a:pos x="943" y="843"/>
              </a:cxn>
              <a:cxn ang="0">
                <a:pos x="973" y="834"/>
              </a:cxn>
              <a:cxn ang="0">
                <a:pos x="996" y="817"/>
              </a:cxn>
              <a:cxn ang="0">
                <a:pos x="1017" y="793"/>
              </a:cxn>
              <a:cxn ang="0">
                <a:pos x="958" y="1026"/>
              </a:cxn>
              <a:cxn ang="0">
                <a:pos x="952" y="1007"/>
              </a:cxn>
              <a:cxn ang="0">
                <a:pos x="941" y="995"/>
              </a:cxn>
              <a:cxn ang="0">
                <a:pos x="921" y="988"/>
              </a:cxn>
              <a:cxn ang="0">
                <a:pos x="829" y="986"/>
              </a:cxn>
              <a:cxn ang="0">
                <a:pos x="833" y="1143"/>
              </a:cxn>
              <a:cxn ang="0">
                <a:pos x="849" y="1172"/>
              </a:cxn>
              <a:cxn ang="0">
                <a:pos x="875" y="1193"/>
              </a:cxn>
              <a:cxn ang="0">
                <a:pos x="912" y="1209"/>
              </a:cxn>
            </a:cxnLst>
            <a:rect l="0" t="0" r="r" b="b"/>
            <a:pathLst>
              <a:path w="1050" h="1270">
                <a:moveTo>
                  <a:pt x="415" y="1270"/>
                </a:moveTo>
                <a:lnTo>
                  <a:pt x="415" y="1210"/>
                </a:lnTo>
                <a:lnTo>
                  <a:pt x="426" y="1209"/>
                </a:lnTo>
                <a:lnTo>
                  <a:pt x="436" y="1205"/>
                </a:lnTo>
                <a:lnTo>
                  <a:pt x="445" y="1203"/>
                </a:lnTo>
                <a:lnTo>
                  <a:pt x="455" y="1199"/>
                </a:lnTo>
                <a:lnTo>
                  <a:pt x="463" y="1193"/>
                </a:lnTo>
                <a:lnTo>
                  <a:pt x="470" y="1189"/>
                </a:lnTo>
                <a:lnTo>
                  <a:pt x="478" y="1184"/>
                </a:lnTo>
                <a:lnTo>
                  <a:pt x="484" y="1178"/>
                </a:lnTo>
                <a:lnTo>
                  <a:pt x="490" y="1172"/>
                </a:lnTo>
                <a:lnTo>
                  <a:pt x="495" y="1166"/>
                </a:lnTo>
                <a:lnTo>
                  <a:pt x="499" y="1159"/>
                </a:lnTo>
                <a:lnTo>
                  <a:pt x="503" y="1151"/>
                </a:lnTo>
                <a:lnTo>
                  <a:pt x="505" y="1143"/>
                </a:lnTo>
                <a:lnTo>
                  <a:pt x="507" y="1135"/>
                </a:lnTo>
                <a:lnTo>
                  <a:pt x="509" y="1128"/>
                </a:lnTo>
                <a:lnTo>
                  <a:pt x="509" y="1118"/>
                </a:lnTo>
                <a:lnTo>
                  <a:pt x="509" y="986"/>
                </a:lnTo>
                <a:lnTo>
                  <a:pt x="60" y="986"/>
                </a:lnTo>
                <a:lnTo>
                  <a:pt x="56" y="986"/>
                </a:lnTo>
                <a:lnTo>
                  <a:pt x="52" y="988"/>
                </a:lnTo>
                <a:lnTo>
                  <a:pt x="48" y="988"/>
                </a:lnTo>
                <a:lnTo>
                  <a:pt x="44" y="988"/>
                </a:lnTo>
                <a:lnTo>
                  <a:pt x="40" y="988"/>
                </a:lnTo>
                <a:lnTo>
                  <a:pt x="36" y="989"/>
                </a:lnTo>
                <a:lnTo>
                  <a:pt x="33" y="989"/>
                </a:lnTo>
                <a:lnTo>
                  <a:pt x="29" y="991"/>
                </a:lnTo>
                <a:lnTo>
                  <a:pt x="25" y="991"/>
                </a:lnTo>
                <a:lnTo>
                  <a:pt x="21" y="993"/>
                </a:lnTo>
                <a:lnTo>
                  <a:pt x="17" y="993"/>
                </a:lnTo>
                <a:lnTo>
                  <a:pt x="15" y="995"/>
                </a:lnTo>
                <a:lnTo>
                  <a:pt x="12" y="997"/>
                </a:lnTo>
                <a:lnTo>
                  <a:pt x="8" y="999"/>
                </a:lnTo>
                <a:lnTo>
                  <a:pt x="6" y="1001"/>
                </a:lnTo>
                <a:lnTo>
                  <a:pt x="2" y="1003"/>
                </a:lnTo>
                <a:lnTo>
                  <a:pt x="2" y="1001"/>
                </a:lnTo>
                <a:lnTo>
                  <a:pt x="2" y="999"/>
                </a:lnTo>
                <a:lnTo>
                  <a:pt x="2" y="997"/>
                </a:lnTo>
                <a:lnTo>
                  <a:pt x="2" y="995"/>
                </a:lnTo>
                <a:lnTo>
                  <a:pt x="0" y="993"/>
                </a:lnTo>
                <a:lnTo>
                  <a:pt x="0" y="991"/>
                </a:lnTo>
                <a:lnTo>
                  <a:pt x="0" y="989"/>
                </a:lnTo>
                <a:lnTo>
                  <a:pt x="0" y="988"/>
                </a:lnTo>
                <a:lnTo>
                  <a:pt x="0" y="986"/>
                </a:lnTo>
                <a:lnTo>
                  <a:pt x="0" y="984"/>
                </a:lnTo>
                <a:lnTo>
                  <a:pt x="0" y="982"/>
                </a:lnTo>
                <a:lnTo>
                  <a:pt x="0" y="978"/>
                </a:lnTo>
                <a:lnTo>
                  <a:pt x="0" y="976"/>
                </a:lnTo>
                <a:lnTo>
                  <a:pt x="2" y="955"/>
                </a:lnTo>
                <a:lnTo>
                  <a:pt x="6" y="934"/>
                </a:lnTo>
                <a:lnTo>
                  <a:pt x="13" y="909"/>
                </a:lnTo>
                <a:lnTo>
                  <a:pt x="21" y="884"/>
                </a:lnTo>
                <a:lnTo>
                  <a:pt x="33" y="857"/>
                </a:lnTo>
                <a:lnTo>
                  <a:pt x="48" y="828"/>
                </a:lnTo>
                <a:lnTo>
                  <a:pt x="63" y="797"/>
                </a:lnTo>
                <a:lnTo>
                  <a:pt x="83" y="767"/>
                </a:lnTo>
                <a:lnTo>
                  <a:pt x="88" y="757"/>
                </a:lnTo>
                <a:lnTo>
                  <a:pt x="117" y="715"/>
                </a:lnTo>
                <a:lnTo>
                  <a:pt x="142" y="674"/>
                </a:lnTo>
                <a:lnTo>
                  <a:pt x="163" y="636"/>
                </a:lnTo>
                <a:lnTo>
                  <a:pt x="184" y="601"/>
                </a:lnTo>
                <a:lnTo>
                  <a:pt x="202" y="569"/>
                </a:lnTo>
                <a:lnTo>
                  <a:pt x="219" y="540"/>
                </a:lnTo>
                <a:lnTo>
                  <a:pt x="232" y="513"/>
                </a:lnTo>
                <a:lnTo>
                  <a:pt x="244" y="490"/>
                </a:lnTo>
                <a:lnTo>
                  <a:pt x="253" y="467"/>
                </a:lnTo>
                <a:lnTo>
                  <a:pt x="261" y="446"/>
                </a:lnTo>
                <a:lnTo>
                  <a:pt x="267" y="425"/>
                </a:lnTo>
                <a:lnTo>
                  <a:pt x="273" y="403"/>
                </a:lnTo>
                <a:lnTo>
                  <a:pt x="278" y="384"/>
                </a:lnTo>
                <a:lnTo>
                  <a:pt x="280" y="367"/>
                </a:lnTo>
                <a:lnTo>
                  <a:pt x="282" y="350"/>
                </a:lnTo>
                <a:lnTo>
                  <a:pt x="284" y="332"/>
                </a:lnTo>
                <a:lnTo>
                  <a:pt x="284" y="325"/>
                </a:lnTo>
                <a:lnTo>
                  <a:pt x="282" y="317"/>
                </a:lnTo>
                <a:lnTo>
                  <a:pt x="282" y="311"/>
                </a:lnTo>
                <a:lnTo>
                  <a:pt x="280" y="305"/>
                </a:lnTo>
                <a:lnTo>
                  <a:pt x="278" y="300"/>
                </a:lnTo>
                <a:lnTo>
                  <a:pt x="278" y="294"/>
                </a:lnTo>
                <a:lnTo>
                  <a:pt x="275" y="290"/>
                </a:lnTo>
                <a:lnTo>
                  <a:pt x="273" y="286"/>
                </a:lnTo>
                <a:lnTo>
                  <a:pt x="271" y="282"/>
                </a:lnTo>
                <a:lnTo>
                  <a:pt x="267" y="279"/>
                </a:lnTo>
                <a:lnTo>
                  <a:pt x="263" y="275"/>
                </a:lnTo>
                <a:lnTo>
                  <a:pt x="257" y="271"/>
                </a:lnTo>
                <a:lnTo>
                  <a:pt x="253" y="267"/>
                </a:lnTo>
                <a:lnTo>
                  <a:pt x="248" y="263"/>
                </a:lnTo>
                <a:lnTo>
                  <a:pt x="242" y="259"/>
                </a:lnTo>
                <a:lnTo>
                  <a:pt x="234" y="257"/>
                </a:lnTo>
                <a:lnTo>
                  <a:pt x="257" y="238"/>
                </a:lnTo>
                <a:lnTo>
                  <a:pt x="280" y="221"/>
                </a:lnTo>
                <a:lnTo>
                  <a:pt x="301" y="204"/>
                </a:lnTo>
                <a:lnTo>
                  <a:pt x="321" y="186"/>
                </a:lnTo>
                <a:lnTo>
                  <a:pt x="340" y="169"/>
                </a:lnTo>
                <a:lnTo>
                  <a:pt x="359" y="154"/>
                </a:lnTo>
                <a:lnTo>
                  <a:pt x="376" y="138"/>
                </a:lnTo>
                <a:lnTo>
                  <a:pt x="392" y="121"/>
                </a:lnTo>
                <a:lnTo>
                  <a:pt x="407" y="106"/>
                </a:lnTo>
                <a:lnTo>
                  <a:pt x="422" y="90"/>
                </a:lnTo>
                <a:lnTo>
                  <a:pt x="438" y="75"/>
                </a:lnTo>
                <a:lnTo>
                  <a:pt x="451" y="59"/>
                </a:lnTo>
                <a:lnTo>
                  <a:pt x="465" y="44"/>
                </a:lnTo>
                <a:lnTo>
                  <a:pt x="476" y="31"/>
                </a:lnTo>
                <a:lnTo>
                  <a:pt x="490" y="15"/>
                </a:lnTo>
                <a:lnTo>
                  <a:pt x="501" y="0"/>
                </a:lnTo>
                <a:lnTo>
                  <a:pt x="505" y="8"/>
                </a:lnTo>
                <a:lnTo>
                  <a:pt x="511" y="17"/>
                </a:lnTo>
                <a:lnTo>
                  <a:pt x="514" y="27"/>
                </a:lnTo>
                <a:lnTo>
                  <a:pt x="518" y="36"/>
                </a:lnTo>
                <a:lnTo>
                  <a:pt x="522" y="46"/>
                </a:lnTo>
                <a:lnTo>
                  <a:pt x="526" y="56"/>
                </a:lnTo>
                <a:lnTo>
                  <a:pt x="530" y="65"/>
                </a:lnTo>
                <a:lnTo>
                  <a:pt x="532" y="75"/>
                </a:lnTo>
                <a:lnTo>
                  <a:pt x="534" y="84"/>
                </a:lnTo>
                <a:lnTo>
                  <a:pt x="536" y="96"/>
                </a:lnTo>
                <a:lnTo>
                  <a:pt x="538" y="106"/>
                </a:lnTo>
                <a:lnTo>
                  <a:pt x="539" y="117"/>
                </a:lnTo>
                <a:lnTo>
                  <a:pt x="541" y="129"/>
                </a:lnTo>
                <a:lnTo>
                  <a:pt x="541" y="142"/>
                </a:lnTo>
                <a:lnTo>
                  <a:pt x="541" y="154"/>
                </a:lnTo>
                <a:lnTo>
                  <a:pt x="541" y="167"/>
                </a:lnTo>
                <a:lnTo>
                  <a:pt x="541" y="192"/>
                </a:lnTo>
                <a:lnTo>
                  <a:pt x="538" y="219"/>
                </a:lnTo>
                <a:lnTo>
                  <a:pt x="534" y="246"/>
                </a:lnTo>
                <a:lnTo>
                  <a:pt x="526" y="275"/>
                </a:lnTo>
                <a:lnTo>
                  <a:pt x="516" y="304"/>
                </a:lnTo>
                <a:lnTo>
                  <a:pt x="505" y="336"/>
                </a:lnTo>
                <a:lnTo>
                  <a:pt x="491" y="367"/>
                </a:lnTo>
                <a:lnTo>
                  <a:pt x="476" y="402"/>
                </a:lnTo>
                <a:lnTo>
                  <a:pt x="459" y="434"/>
                </a:lnTo>
                <a:lnTo>
                  <a:pt x="440" y="471"/>
                </a:lnTo>
                <a:lnTo>
                  <a:pt x="417" y="507"/>
                </a:lnTo>
                <a:lnTo>
                  <a:pt x="394" y="546"/>
                </a:lnTo>
                <a:lnTo>
                  <a:pt x="367" y="584"/>
                </a:lnTo>
                <a:lnTo>
                  <a:pt x="340" y="624"/>
                </a:lnTo>
                <a:lnTo>
                  <a:pt x="309" y="665"/>
                </a:lnTo>
                <a:lnTo>
                  <a:pt x="278" y="707"/>
                </a:lnTo>
                <a:lnTo>
                  <a:pt x="261" y="728"/>
                </a:lnTo>
                <a:lnTo>
                  <a:pt x="246" y="749"/>
                </a:lnTo>
                <a:lnTo>
                  <a:pt x="230" y="769"/>
                </a:lnTo>
                <a:lnTo>
                  <a:pt x="217" y="786"/>
                </a:lnTo>
                <a:lnTo>
                  <a:pt x="205" y="803"/>
                </a:lnTo>
                <a:lnTo>
                  <a:pt x="192" y="818"/>
                </a:lnTo>
                <a:lnTo>
                  <a:pt x="182" y="834"/>
                </a:lnTo>
                <a:lnTo>
                  <a:pt x="173" y="845"/>
                </a:lnTo>
                <a:lnTo>
                  <a:pt x="509" y="845"/>
                </a:lnTo>
                <a:lnTo>
                  <a:pt x="509" y="463"/>
                </a:lnTo>
                <a:lnTo>
                  <a:pt x="538" y="453"/>
                </a:lnTo>
                <a:lnTo>
                  <a:pt x="564" y="442"/>
                </a:lnTo>
                <a:lnTo>
                  <a:pt x="591" y="430"/>
                </a:lnTo>
                <a:lnTo>
                  <a:pt x="616" y="417"/>
                </a:lnTo>
                <a:lnTo>
                  <a:pt x="639" y="403"/>
                </a:lnTo>
                <a:lnTo>
                  <a:pt x="662" y="388"/>
                </a:lnTo>
                <a:lnTo>
                  <a:pt x="683" y="371"/>
                </a:lnTo>
                <a:lnTo>
                  <a:pt x="705" y="352"/>
                </a:lnTo>
                <a:lnTo>
                  <a:pt x="724" y="332"/>
                </a:lnTo>
                <a:lnTo>
                  <a:pt x="741" y="311"/>
                </a:lnTo>
                <a:lnTo>
                  <a:pt x="758" y="288"/>
                </a:lnTo>
                <a:lnTo>
                  <a:pt x="776" y="265"/>
                </a:lnTo>
                <a:lnTo>
                  <a:pt x="791" y="240"/>
                </a:lnTo>
                <a:lnTo>
                  <a:pt x="804" y="213"/>
                </a:lnTo>
                <a:lnTo>
                  <a:pt x="818" y="186"/>
                </a:lnTo>
                <a:lnTo>
                  <a:pt x="829" y="156"/>
                </a:lnTo>
                <a:lnTo>
                  <a:pt x="850" y="156"/>
                </a:lnTo>
                <a:lnTo>
                  <a:pt x="849" y="171"/>
                </a:lnTo>
                <a:lnTo>
                  <a:pt x="847" y="186"/>
                </a:lnTo>
                <a:lnTo>
                  <a:pt x="845" y="200"/>
                </a:lnTo>
                <a:lnTo>
                  <a:pt x="843" y="213"/>
                </a:lnTo>
                <a:lnTo>
                  <a:pt x="841" y="229"/>
                </a:lnTo>
                <a:lnTo>
                  <a:pt x="839" y="242"/>
                </a:lnTo>
                <a:lnTo>
                  <a:pt x="837" y="255"/>
                </a:lnTo>
                <a:lnTo>
                  <a:pt x="835" y="269"/>
                </a:lnTo>
                <a:lnTo>
                  <a:pt x="833" y="282"/>
                </a:lnTo>
                <a:lnTo>
                  <a:pt x="833" y="296"/>
                </a:lnTo>
                <a:lnTo>
                  <a:pt x="831" y="309"/>
                </a:lnTo>
                <a:lnTo>
                  <a:pt x="831" y="321"/>
                </a:lnTo>
                <a:lnTo>
                  <a:pt x="831" y="334"/>
                </a:lnTo>
                <a:lnTo>
                  <a:pt x="829" y="348"/>
                </a:lnTo>
                <a:lnTo>
                  <a:pt x="829" y="361"/>
                </a:lnTo>
                <a:lnTo>
                  <a:pt x="829" y="375"/>
                </a:lnTo>
                <a:lnTo>
                  <a:pt x="829" y="402"/>
                </a:lnTo>
                <a:lnTo>
                  <a:pt x="829" y="845"/>
                </a:lnTo>
                <a:lnTo>
                  <a:pt x="908" y="845"/>
                </a:lnTo>
                <a:lnTo>
                  <a:pt x="916" y="845"/>
                </a:lnTo>
                <a:lnTo>
                  <a:pt x="925" y="845"/>
                </a:lnTo>
                <a:lnTo>
                  <a:pt x="935" y="843"/>
                </a:lnTo>
                <a:lnTo>
                  <a:pt x="943" y="843"/>
                </a:lnTo>
                <a:lnTo>
                  <a:pt x="950" y="842"/>
                </a:lnTo>
                <a:lnTo>
                  <a:pt x="958" y="840"/>
                </a:lnTo>
                <a:lnTo>
                  <a:pt x="966" y="836"/>
                </a:lnTo>
                <a:lnTo>
                  <a:pt x="973" y="834"/>
                </a:lnTo>
                <a:lnTo>
                  <a:pt x="979" y="830"/>
                </a:lnTo>
                <a:lnTo>
                  <a:pt x="985" y="826"/>
                </a:lnTo>
                <a:lnTo>
                  <a:pt x="991" y="822"/>
                </a:lnTo>
                <a:lnTo>
                  <a:pt x="996" y="817"/>
                </a:lnTo>
                <a:lnTo>
                  <a:pt x="1002" y="811"/>
                </a:lnTo>
                <a:lnTo>
                  <a:pt x="1008" y="807"/>
                </a:lnTo>
                <a:lnTo>
                  <a:pt x="1014" y="799"/>
                </a:lnTo>
                <a:lnTo>
                  <a:pt x="1017" y="793"/>
                </a:lnTo>
                <a:lnTo>
                  <a:pt x="1050" y="795"/>
                </a:lnTo>
                <a:lnTo>
                  <a:pt x="987" y="1038"/>
                </a:lnTo>
                <a:lnTo>
                  <a:pt x="958" y="1032"/>
                </a:lnTo>
                <a:lnTo>
                  <a:pt x="958" y="1026"/>
                </a:lnTo>
                <a:lnTo>
                  <a:pt x="958" y="1020"/>
                </a:lnTo>
                <a:lnTo>
                  <a:pt x="956" y="1016"/>
                </a:lnTo>
                <a:lnTo>
                  <a:pt x="954" y="1011"/>
                </a:lnTo>
                <a:lnTo>
                  <a:pt x="952" y="1007"/>
                </a:lnTo>
                <a:lnTo>
                  <a:pt x="950" y="1003"/>
                </a:lnTo>
                <a:lnTo>
                  <a:pt x="946" y="1001"/>
                </a:lnTo>
                <a:lnTo>
                  <a:pt x="944" y="997"/>
                </a:lnTo>
                <a:lnTo>
                  <a:pt x="941" y="995"/>
                </a:lnTo>
                <a:lnTo>
                  <a:pt x="937" y="993"/>
                </a:lnTo>
                <a:lnTo>
                  <a:pt x="933" y="991"/>
                </a:lnTo>
                <a:lnTo>
                  <a:pt x="927" y="989"/>
                </a:lnTo>
                <a:lnTo>
                  <a:pt x="921" y="988"/>
                </a:lnTo>
                <a:lnTo>
                  <a:pt x="918" y="988"/>
                </a:lnTo>
                <a:lnTo>
                  <a:pt x="910" y="986"/>
                </a:lnTo>
                <a:lnTo>
                  <a:pt x="904" y="986"/>
                </a:lnTo>
                <a:lnTo>
                  <a:pt x="829" y="986"/>
                </a:lnTo>
                <a:lnTo>
                  <a:pt x="829" y="1118"/>
                </a:lnTo>
                <a:lnTo>
                  <a:pt x="829" y="1128"/>
                </a:lnTo>
                <a:lnTo>
                  <a:pt x="831" y="1135"/>
                </a:lnTo>
                <a:lnTo>
                  <a:pt x="833" y="1143"/>
                </a:lnTo>
                <a:lnTo>
                  <a:pt x="835" y="1151"/>
                </a:lnTo>
                <a:lnTo>
                  <a:pt x="839" y="1159"/>
                </a:lnTo>
                <a:lnTo>
                  <a:pt x="843" y="1166"/>
                </a:lnTo>
                <a:lnTo>
                  <a:pt x="849" y="1172"/>
                </a:lnTo>
                <a:lnTo>
                  <a:pt x="854" y="1178"/>
                </a:lnTo>
                <a:lnTo>
                  <a:pt x="860" y="1184"/>
                </a:lnTo>
                <a:lnTo>
                  <a:pt x="868" y="1189"/>
                </a:lnTo>
                <a:lnTo>
                  <a:pt x="875" y="1193"/>
                </a:lnTo>
                <a:lnTo>
                  <a:pt x="883" y="1199"/>
                </a:lnTo>
                <a:lnTo>
                  <a:pt x="891" y="1203"/>
                </a:lnTo>
                <a:lnTo>
                  <a:pt x="900" y="1205"/>
                </a:lnTo>
                <a:lnTo>
                  <a:pt x="912" y="1209"/>
                </a:lnTo>
                <a:lnTo>
                  <a:pt x="921" y="1210"/>
                </a:lnTo>
                <a:lnTo>
                  <a:pt x="921" y="1270"/>
                </a:lnTo>
                <a:lnTo>
                  <a:pt x="415" y="1270"/>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1" nodeType="clickEffect">
                                  <p:stCondLst>
                                    <p:cond delay="0"/>
                                  </p:stCondLst>
                                  <p:childTnLst>
                                    <p:set>
                                      <p:cBhvr>
                                        <p:cTn id="6" dur="1" fill="hold">
                                          <p:stCondLst>
                                            <p:cond delay="0"/>
                                          </p:stCondLst>
                                        </p:cTn>
                                        <p:tgtEl>
                                          <p:spTgt spid="309253"/>
                                        </p:tgtEl>
                                        <p:attrNameLst>
                                          <p:attrName>style.visibility</p:attrName>
                                        </p:attrNameLst>
                                      </p:cBhvr>
                                      <p:to>
                                        <p:strVal val="visible"/>
                                      </p:to>
                                    </p:set>
                                    <p:animEffect transition="in" filter="checkerboard(across)">
                                      <p:cBhvr>
                                        <p:cTn id="7" dur="500"/>
                                        <p:tgtEl>
                                          <p:spTgt spid="30925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09254"/>
                                        </p:tgtEl>
                                        <p:attrNameLst>
                                          <p:attrName>style.visibility</p:attrName>
                                        </p:attrNameLst>
                                      </p:cBhvr>
                                      <p:to>
                                        <p:strVal val="visible"/>
                                      </p:to>
                                    </p:set>
                                    <p:animEffect transition="in" filter="checkerboard(across)">
                                      <p:cBhvr>
                                        <p:cTn id="10" dur="500"/>
                                        <p:tgtEl>
                                          <p:spTgt spid="309254"/>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09258"/>
                                        </p:tgtEl>
                                        <p:attrNameLst>
                                          <p:attrName>style.visibility</p:attrName>
                                        </p:attrNameLst>
                                      </p:cBhvr>
                                      <p:to>
                                        <p:strVal val="visible"/>
                                      </p:to>
                                    </p:set>
                                    <p:animEffect transition="in" filter="checkerboard(across)">
                                      <p:cBhvr>
                                        <p:cTn id="15" dur="500"/>
                                        <p:tgtEl>
                                          <p:spTgt spid="309258"/>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09255"/>
                                        </p:tgtEl>
                                        <p:attrNameLst>
                                          <p:attrName>style.visibility</p:attrName>
                                        </p:attrNameLst>
                                      </p:cBhvr>
                                      <p:to>
                                        <p:strVal val="visible"/>
                                      </p:to>
                                    </p:set>
                                    <p:animEffect transition="in" filter="checkerboard(across)">
                                      <p:cBhvr>
                                        <p:cTn id="18" dur="500"/>
                                        <p:tgtEl>
                                          <p:spTgt spid="309255"/>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309259"/>
                                        </p:tgtEl>
                                        <p:attrNameLst>
                                          <p:attrName>style.visibility</p:attrName>
                                        </p:attrNameLst>
                                      </p:cBhvr>
                                      <p:to>
                                        <p:strVal val="visible"/>
                                      </p:to>
                                    </p:set>
                                    <p:animEffect transition="in" filter="checkerboard(across)">
                                      <p:cBhvr>
                                        <p:cTn id="23" dur="500"/>
                                        <p:tgtEl>
                                          <p:spTgt spid="309259"/>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309256"/>
                                        </p:tgtEl>
                                        <p:attrNameLst>
                                          <p:attrName>style.visibility</p:attrName>
                                        </p:attrNameLst>
                                      </p:cBhvr>
                                      <p:to>
                                        <p:strVal val="visible"/>
                                      </p:to>
                                    </p:set>
                                    <p:animEffect transition="in" filter="checkerboard(across)">
                                      <p:cBhvr>
                                        <p:cTn id="26" dur="500"/>
                                        <p:tgtEl>
                                          <p:spTgt spid="309256"/>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309260"/>
                                        </p:tgtEl>
                                        <p:attrNameLst>
                                          <p:attrName>style.visibility</p:attrName>
                                        </p:attrNameLst>
                                      </p:cBhvr>
                                      <p:to>
                                        <p:strVal val="visible"/>
                                      </p:to>
                                    </p:set>
                                    <p:animEffect transition="in" filter="checkerboard(across)">
                                      <p:cBhvr>
                                        <p:cTn id="31" dur="500"/>
                                        <p:tgtEl>
                                          <p:spTgt spid="30926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309257"/>
                                        </p:tgtEl>
                                        <p:attrNameLst>
                                          <p:attrName>style.visibility</p:attrName>
                                        </p:attrNameLst>
                                      </p:cBhvr>
                                      <p:to>
                                        <p:strVal val="visible"/>
                                      </p:to>
                                    </p:set>
                                    <p:animEffect transition="in" filter="checkerboard(across)">
                                      <p:cBhvr>
                                        <p:cTn id="34" dur="500"/>
                                        <p:tgtEl>
                                          <p:spTgt spid="309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3" grpId="1" animBg="1"/>
      <p:bldP spid="309254" grpId="0" animBg="1"/>
      <p:bldP spid="309255" grpId="0" animBg="1"/>
      <p:bldP spid="309256" grpId="0" animBg="1"/>
      <p:bldP spid="309257" grpId="0" animBg="1"/>
      <p:bldP spid="309258" grpId="0" animBg="1"/>
      <p:bldP spid="309259" grpId="0" animBg="1"/>
      <p:bldP spid="30926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8" name="Rectangle 6"/>
          <p:cNvSpPr>
            <a:spLocks noGrp="1" noChangeArrowheads="1"/>
          </p:cNvSpPr>
          <p:nvPr>
            <p:ph type="title"/>
          </p:nvPr>
        </p:nvSpPr>
        <p:spPr>
          <a:xfrm>
            <a:off x="174171" y="359226"/>
            <a:ext cx="8781143" cy="758952"/>
          </a:xfrm>
        </p:spPr>
        <p:txBody>
          <a:bodyPr>
            <a:normAutofit fontScale="90000"/>
          </a:bodyPr>
          <a:lstStyle/>
          <a:p>
            <a:pPr marL="544513" indent="-544513"/>
            <a:r>
              <a:rPr lang="fr-FR" dirty="0"/>
              <a:t>3. Détermination des méthodes de résolution de noms TCP/IP</a:t>
            </a:r>
            <a:r>
              <a:rPr lang="en-US" dirty="0"/>
              <a:t> </a:t>
            </a:r>
          </a:p>
        </p:txBody>
      </p:sp>
      <p:sp>
        <p:nvSpPr>
          <p:cNvPr id="325639" name="Rectangle 7"/>
          <p:cNvSpPr>
            <a:spLocks noGrp="1" noChangeArrowheads="1"/>
          </p:cNvSpPr>
          <p:nvPr>
            <p:ph sz="quarter" idx="1"/>
          </p:nvPr>
        </p:nvSpPr>
        <p:spPr/>
        <p:txBody>
          <a:bodyPr>
            <a:normAutofit/>
          </a:bodyPr>
          <a:lstStyle/>
          <a:p>
            <a:pPr>
              <a:buClrTx/>
              <a:buFont typeface="Wingdings" pitchFamily="2" charset="2"/>
              <a:buChar char="Ø"/>
            </a:pPr>
            <a:r>
              <a:rPr lang="en-US" sz="2800" dirty="0"/>
              <a:t>Types de </a:t>
            </a:r>
            <a:r>
              <a:rPr lang="en-US" sz="2800" dirty="0" err="1"/>
              <a:t>noms</a:t>
            </a:r>
            <a:endParaRPr lang="en-US" sz="2800" dirty="0"/>
          </a:p>
          <a:p>
            <a:pPr>
              <a:buClrTx/>
              <a:buFont typeface="Wingdings" pitchFamily="2" charset="2"/>
              <a:buChar char="Ø"/>
            </a:pPr>
            <a:r>
              <a:rPr lang="fr-FR" sz="2800" dirty="0"/>
              <a:t>Mappage de noms : tables dynamiques ou statiques </a:t>
            </a:r>
            <a:endParaRPr lang="en-US" sz="2800" dirty="0"/>
          </a:p>
          <a:p>
            <a:pPr>
              <a:buClrTx/>
              <a:buFont typeface="Wingdings" pitchFamily="2" charset="2"/>
              <a:buChar char="Ø"/>
            </a:pPr>
            <a:r>
              <a:rPr lang="fr-FR" sz="2800" dirty="0"/>
              <a:t>Mappage IP dynamique </a:t>
            </a:r>
            <a:endParaRPr lang="en-US" sz="2800" dirty="0"/>
          </a:p>
          <a:p>
            <a:pPr>
              <a:buClrTx/>
              <a:buFont typeface="Wingdings" pitchFamily="2" charset="2"/>
              <a:buChar char="Ø"/>
            </a:pPr>
            <a:r>
              <a:rPr lang="fr-FR" sz="2800" dirty="0"/>
              <a:t>Mappage IP statique </a:t>
            </a:r>
            <a:endParaRPr lang="en-US" sz="2800" dirty="0"/>
          </a:p>
          <a:p>
            <a:pPr>
              <a:buClrTx/>
              <a:buFont typeface="Wingdings" pitchFamily="2" charset="2"/>
              <a:buChar char="Ø"/>
            </a:pPr>
            <a:r>
              <a:rPr lang="fr-FR" sz="2800" dirty="0"/>
              <a:t>Choix d'une méthode de résolution de noms </a:t>
            </a:r>
            <a:endParaRPr lang="en-US" sz="2800" dirty="0"/>
          </a:p>
          <a:p>
            <a:pPr>
              <a:buClrTx/>
              <a:buFont typeface="Wingdings" pitchFamily="2" charset="2"/>
              <a:buChar char="Ø"/>
            </a:pPr>
            <a:r>
              <a:rPr lang="fr-FR" sz="2800" dirty="0"/>
              <a:t>Processus de résolution des noms des ordinateurs</a:t>
            </a:r>
            <a:endParaRPr lang="en-US" sz="2800" dirty="0">
              <a:solidFill>
                <a:schemeClr val="accen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a:xfrm>
            <a:off x="203200" y="146050"/>
            <a:ext cx="8752114" cy="841375"/>
          </a:xfrm>
        </p:spPr>
        <p:txBody>
          <a:bodyPr vert="horz" anchor="b">
            <a:normAutofit/>
          </a:bodyPr>
          <a:lstStyle/>
          <a:p>
            <a:r>
              <a:rPr lang="en-US" sz="3000" dirty="0">
                <a:solidFill>
                  <a:srgbClr val="C00000"/>
                </a:solidFill>
              </a:rPr>
              <a:t>Types de noms</a:t>
            </a:r>
          </a:p>
        </p:txBody>
      </p:sp>
      <p:sp>
        <p:nvSpPr>
          <p:cNvPr id="326660" name="Rectangle 4"/>
          <p:cNvSpPr>
            <a:spLocks noChangeArrowheads="1"/>
          </p:cNvSpPr>
          <p:nvPr/>
        </p:nvSpPr>
        <p:spPr bwMode="auto">
          <a:xfrm>
            <a:off x="21113" y="2815091"/>
            <a:ext cx="2171700" cy="496887"/>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000" b="1">
                <a:solidFill>
                  <a:srgbClr val="0000CC"/>
                </a:solidFill>
                <a:latin typeface="Arial" charset="0"/>
              </a:rPr>
              <a:t>Nom d'hôte</a:t>
            </a:r>
          </a:p>
        </p:txBody>
      </p:sp>
      <p:sp>
        <p:nvSpPr>
          <p:cNvPr id="326661" name="Rectangle 5"/>
          <p:cNvSpPr>
            <a:spLocks noChangeArrowheads="1"/>
          </p:cNvSpPr>
          <p:nvPr/>
        </p:nvSpPr>
        <p:spPr bwMode="auto">
          <a:xfrm>
            <a:off x="2278748" y="1280656"/>
            <a:ext cx="6676570" cy="2498725"/>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Char char="n"/>
            </a:pPr>
            <a:r>
              <a:rPr lang="en-US" sz="2200" b="1" dirty="0" err="1">
                <a:latin typeface="Arial" charset="0"/>
              </a:rPr>
              <a:t>Attribué</a:t>
            </a:r>
            <a:r>
              <a:rPr lang="en-US" sz="2200" b="1" dirty="0">
                <a:latin typeface="Arial" charset="0"/>
              </a:rPr>
              <a:t> à </a:t>
            </a:r>
            <a:r>
              <a:rPr lang="en-US" sz="2200" b="1" dirty="0" err="1">
                <a:latin typeface="Arial" charset="0"/>
              </a:rPr>
              <a:t>l'adresse</a:t>
            </a:r>
            <a:r>
              <a:rPr lang="en-US" sz="2200" b="1" dirty="0">
                <a:latin typeface="Arial" charset="0"/>
              </a:rPr>
              <a:t> IP d'un </a:t>
            </a:r>
            <a:r>
              <a:rPr lang="en-US" sz="2200" b="1" dirty="0" err="1">
                <a:latin typeface="Arial" charset="0"/>
              </a:rPr>
              <a:t>ordinateur</a:t>
            </a:r>
            <a:endParaRPr lang="en-US" sz="2200" b="1" dirty="0">
              <a:latin typeface="Arial" charset="0"/>
            </a:endParaRPr>
          </a:p>
          <a:p>
            <a:pPr marL="263525" indent="-263525" eaLnBrk="1" hangingPunct="1">
              <a:spcAft>
                <a:spcPct val="50000"/>
              </a:spcAft>
              <a:buClr>
                <a:schemeClr val="accent2"/>
              </a:buClr>
              <a:buSzPct val="65000"/>
              <a:buFont typeface="Wingdings" pitchFamily="2" charset="2"/>
              <a:buChar char="n"/>
            </a:pPr>
            <a:r>
              <a:rPr lang="en-US" sz="2200" b="1" dirty="0" err="1">
                <a:latin typeface="Arial" charset="0"/>
              </a:rPr>
              <a:t>Peut</a:t>
            </a:r>
            <a:r>
              <a:rPr lang="en-US" sz="2200" b="1" dirty="0">
                <a:latin typeface="Arial" charset="0"/>
              </a:rPr>
              <a:t> </a:t>
            </a:r>
            <a:r>
              <a:rPr lang="en-US" sz="2200" b="1" dirty="0" err="1">
                <a:latin typeface="Arial" charset="0"/>
              </a:rPr>
              <a:t>contenir</a:t>
            </a:r>
            <a:r>
              <a:rPr lang="en-US" sz="2200" b="1" dirty="0">
                <a:latin typeface="Arial" charset="0"/>
              </a:rPr>
              <a:t> </a:t>
            </a:r>
            <a:r>
              <a:rPr lang="en-US" sz="2200" b="1" dirty="0" err="1">
                <a:latin typeface="Arial" charset="0"/>
              </a:rPr>
              <a:t>jusqu'à</a:t>
            </a:r>
            <a:r>
              <a:rPr lang="en-US" sz="2200" b="1" dirty="0">
                <a:latin typeface="Arial" charset="0"/>
              </a:rPr>
              <a:t> 255 </a:t>
            </a:r>
            <a:r>
              <a:rPr lang="en-US" sz="2200" b="1" dirty="0" err="1">
                <a:latin typeface="Arial" charset="0"/>
              </a:rPr>
              <a:t>caractères</a:t>
            </a:r>
            <a:endParaRPr lang="en-US" sz="2200" b="1" dirty="0">
              <a:latin typeface="Arial" charset="0"/>
            </a:endParaRPr>
          </a:p>
          <a:p>
            <a:pPr marL="263525" indent="-263525" eaLnBrk="1" hangingPunct="1">
              <a:spcAft>
                <a:spcPct val="50000"/>
              </a:spcAft>
              <a:buClr>
                <a:schemeClr val="accent2"/>
              </a:buClr>
              <a:buSzPct val="65000"/>
              <a:buFont typeface="Wingdings" pitchFamily="2" charset="2"/>
              <a:buChar char="n"/>
            </a:pPr>
            <a:r>
              <a:rPr lang="en-US" sz="2200" b="1" dirty="0" err="1">
                <a:latin typeface="Arial" charset="0"/>
              </a:rPr>
              <a:t>Peut</a:t>
            </a:r>
            <a:r>
              <a:rPr lang="en-US" sz="2200" b="1" dirty="0">
                <a:latin typeface="Arial" charset="0"/>
              </a:rPr>
              <a:t> </a:t>
            </a:r>
            <a:r>
              <a:rPr lang="en-US" sz="2200" b="1" dirty="0" err="1">
                <a:latin typeface="Arial" charset="0"/>
              </a:rPr>
              <a:t>contenir</a:t>
            </a:r>
            <a:r>
              <a:rPr lang="en-US" sz="2200" b="1" dirty="0">
                <a:latin typeface="Arial" charset="0"/>
              </a:rPr>
              <a:t> des </a:t>
            </a:r>
            <a:r>
              <a:rPr lang="en-US" sz="2200" b="1" dirty="0" err="1">
                <a:latin typeface="Arial" charset="0"/>
              </a:rPr>
              <a:t>caractères</a:t>
            </a:r>
            <a:r>
              <a:rPr lang="en-US" sz="2200" b="1" dirty="0">
                <a:latin typeface="Arial" charset="0"/>
              </a:rPr>
              <a:t> </a:t>
            </a:r>
            <a:r>
              <a:rPr lang="en-US" sz="2200" b="1" dirty="0" err="1">
                <a:latin typeface="Arial" charset="0"/>
              </a:rPr>
              <a:t>alphabétiques</a:t>
            </a:r>
            <a:r>
              <a:rPr lang="en-US" sz="2200" b="1" dirty="0">
                <a:latin typeface="Arial" charset="0"/>
              </a:rPr>
              <a:t> et </a:t>
            </a:r>
            <a:r>
              <a:rPr lang="en-US" sz="2200" b="1" dirty="0" err="1">
                <a:latin typeface="Arial" charset="0"/>
              </a:rPr>
              <a:t>numériques</a:t>
            </a:r>
            <a:r>
              <a:rPr lang="en-US" sz="2200" b="1" dirty="0">
                <a:latin typeface="Arial" charset="0"/>
              </a:rPr>
              <a:t>, des traits </a:t>
            </a:r>
            <a:r>
              <a:rPr lang="en-US" sz="2200" b="1" dirty="0" err="1">
                <a:latin typeface="Arial" charset="0"/>
              </a:rPr>
              <a:t>d'union</a:t>
            </a:r>
            <a:r>
              <a:rPr lang="en-US" sz="2200" b="1" dirty="0">
                <a:latin typeface="Arial" charset="0"/>
              </a:rPr>
              <a:t> et des points</a:t>
            </a:r>
          </a:p>
          <a:p>
            <a:pPr marL="263525" indent="-263525" eaLnBrk="1" hangingPunct="1">
              <a:spcAft>
                <a:spcPct val="5000"/>
              </a:spcAft>
              <a:buClr>
                <a:schemeClr val="accent2"/>
              </a:buClr>
              <a:buSzPct val="65000"/>
              <a:buFont typeface="Wingdings" pitchFamily="2" charset="2"/>
              <a:buChar char="n"/>
            </a:pPr>
            <a:r>
              <a:rPr lang="en-US" sz="2200" b="1" dirty="0" err="1">
                <a:latin typeface="Arial" charset="0"/>
              </a:rPr>
              <a:t>Associé</a:t>
            </a:r>
            <a:r>
              <a:rPr lang="en-US" sz="2200" b="1" dirty="0">
                <a:latin typeface="Arial" charset="0"/>
              </a:rPr>
              <a:t> au nom de </a:t>
            </a:r>
            <a:r>
              <a:rPr lang="en-US" sz="2200" b="1" dirty="0" err="1">
                <a:latin typeface="Arial" charset="0"/>
              </a:rPr>
              <a:t>domaine</a:t>
            </a:r>
            <a:r>
              <a:rPr lang="en-US" sz="2200" b="1" dirty="0">
                <a:latin typeface="Arial" charset="0"/>
              </a:rPr>
              <a:t>, </a:t>
            </a:r>
            <a:r>
              <a:rPr lang="en-US" sz="2200" b="1" dirty="0" err="1">
                <a:latin typeface="Arial" charset="0"/>
              </a:rPr>
              <a:t>constitue</a:t>
            </a:r>
            <a:r>
              <a:rPr lang="en-US" sz="2200" b="1" dirty="0">
                <a:latin typeface="Arial" charset="0"/>
              </a:rPr>
              <a:t> un nom de </a:t>
            </a:r>
            <a:r>
              <a:rPr lang="en-US" sz="2200" b="1" dirty="0" err="1">
                <a:latin typeface="Arial" charset="0"/>
              </a:rPr>
              <a:t>domaine</a:t>
            </a:r>
            <a:r>
              <a:rPr lang="en-US" sz="2200" b="1" dirty="0">
                <a:latin typeface="Arial" charset="0"/>
              </a:rPr>
              <a:t> </a:t>
            </a:r>
            <a:r>
              <a:rPr lang="en-US" sz="2200" b="1" dirty="0" err="1">
                <a:latin typeface="Arial" charset="0"/>
              </a:rPr>
              <a:t>complet</a:t>
            </a:r>
            <a:endParaRPr lang="en-US" sz="2200" b="1" dirty="0">
              <a:latin typeface="Arial" charset="0"/>
            </a:endParaRPr>
          </a:p>
        </p:txBody>
      </p:sp>
      <p:sp>
        <p:nvSpPr>
          <p:cNvPr id="326663" name="Rectangle 7"/>
          <p:cNvSpPr>
            <a:spLocks noChangeArrowheads="1"/>
          </p:cNvSpPr>
          <p:nvPr/>
        </p:nvSpPr>
        <p:spPr bwMode="auto">
          <a:xfrm>
            <a:off x="2285096" y="3918399"/>
            <a:ext cx="6684732" cy="2714626"/>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Char char="n"/>
            </a:pPr>
            <a:r>
              <a:rPr lang="en-US" sz="2200" b="1" dirty="0" err="1">
                <a:latin typeface="Arial" charset="0"/>
              </a:rPr>
              <a:t>Adresse</a:t>
            </a:r>
            <a:r>
              <a:rPr lang="en-US" sz="2200" b="1" dirty="0">
                <a:latin typeface="Arial" charset="0"/>
              </a:rPr>
              <a:t> de 16 octets</a:t>
            </a:r>
          </a:p>
          <a:p>
            <a:pPr marL="263525" indent="-263525" eaLnBrk="1" hangingPunct="1">
              <a:spcAft>
                <a:spcPct val="50000"/>
              </a:spcAft>
              <a:buClr>
                <a:schemeClr val="accent2"/>
              </a:buClr>
              <a:buSzPct val="65000"/>
              <a:buFont typeface="Wingdings" pitchFamily="2" charset="2"/>
              <a:buChar char="n"/>
            </a:pPr>
            <a:r>
              <a:rPr lang="en-US" sz="2200" b="1" dirty="0">
                <a:latin typeface="Arial" charset="0"/>
              </a:rPr>
              <a:t>15 des octets </a:t>
            </a:r>
            <a:r>
              <a:rPr lang="en-US" sz="2200" b="1" dirty="0" err="1">
                <a:latin typeface="Arial" charset="0"/>
              </a:rPr>
              <a:t>peuvent</a:t>
            </a:r>
            <a:r>
              <a:rPr lang="en-US" sz="2200" b="1" dirty="0">
                <a:latin typeface="Arial" charset="0"/>
              </a:rPr>
              <a:t> </a:t>
            </a:r>
            <a:r>
              <a:rPr lang="en-US" sz="2200" b="1" dirty="0" err="1">
                <a:latin typeface="Arial" charset="0"/>
              </a:rPr>
              <a:t>être</a:t>
            </a:r>
            <a:r>
              <a:rPr lang="en-US" sz="2200" b="1" dirty="0">
                <a:latin typeface="Arial" charset="0"/>
              </a:rPr>
              <a:t> </a:t>
            </a:r>
            <a:r>
              <a:rPr lang="en-US" sz="2200" b="1" dirty="0" err="1">
                <a:latin typeface="Arial" charset="0"/>
              </a:rPr>
              <a:t>utilisés</a:t>
            </a:r>
            <a:r>
              <a:rPr lang="en-US" sz="2200" b="1" dirty="0">
                <a:latin typeface="Arial" charset="0"/>
              </a:rPr>
              <a:t> pour le nom</a:t>
            </a:r>
          </a:p>
          <a:p>
            <a:pPr marL="263525" indent="-263525" eaLnBrk="1" hangingPunct="1">
              <a:spcAft>
                <a:spcPct val="50000"/>
              </a:spcAft>
              <a:buClr>
                <a:schemeClr val="accent2"/>
              </a:buClr>
              <a:buSzPct val="65000"/>
              <a:buFont typeface="Wingdings" pitchFamily="2" charset="2"/>
              <a:buChar char="n"/>
            </a:pPr>
            <a:r>
              <a:rPr lang="en-US" sz="2200" b="1" dirty="0">
                <a:latin typeface="Arial" charset="0"/>
              </a:rPr>
              <a:t>Le 16e octet </a:t>
            </a:r>
            <a:r>
              <a:rPr lang="en-US" sz="2200" b="1" dirty="0" err="1">
                <a:latin typeface="Arial" charset="0"/>
              </a:rPr>
              <a:t>est</a:t>
            </a:r>
            <a:r>
              <a:rPr lang="en-US" sz="2200" b="1" dirty="0">
                <a:latin typeface="Arial" charset="0"/>
              </a:rPr>
              <a:t> </a:t>
            </a:r>
            <a:r>
              <a:rPr lang="en-US" sz="2200" b="1" dirty="0" err="1">
                <a:latin typeface="Arial" charset="0"/>
              </a:rPr>
              <a:t>utilisé</a:t>
            </a:r>
            <a:r>
              <a:rPr lang="en-US" sz="2200" b="1" dirty="0">
                <a:latin typeface="Arial" charset="0"/>
              </a:rPr>
              <a:t> par les services </a:t>
            </a:r>
            <a:r>
              <a:rPr lang="en-US" sz="2200" b="1" dirty="0" err="1">
                <a:latin typeface="Arial" charset="0"/>
              </a:rPr>
              <a:t>offerts</a:t>
            </a:r>
            <a:r>
              <a:rPr lang="en-US" sz="2200" b="1" dirty="0">
                <a:latin typeface="Arial" charset="0"/>
              </a:rPr>
              <a:t> par un </a:t>
            </a:r>
            <a:r>
              <a:rPr lang="en-US" sz="2200" b="1" dirty="0" err="1">
                <a:latin typeface="Arial" charset="0"/>
              </a:rPr>
              <a:t>ordinateur</a:t>
            </a:r>
            <a:r>
              <a:rPr lang="en-US" sz="2200" b="1" dirty="0">
                <a:latin typeface="Arial" charset="0"/>
              </a:rPr>
              <a:t> au </a:t>
            </a:r>
            <a:r>
              <a:rPr lang="en-US" sz="2200" b="1" dirty="0" err="1">
                <a:latin typeface="Arial" charset="0"/>
              </a:rPr>
              <a:t>réseau</a:t>
            </a:r>
            <a:endParaRPr lang="en-US" sz="2200" b="1" dirty="0">
              <a:latin typeface="Arial" charset="0"/>
            </a:endParaRPr>
          </a:p>
        </p:txBody>
      </p:sp>
      <p:sp>
        <p:nvSpPr>
          <p:cNvPr id="326664" name="Rectangle 8"/>
          <p:cNvSpPr>
            <a:spLocks noChangeArrowheads="1"/>
          </p:cNvSpPr>
          <p:nvPr/>
        </p:nvSpPr>
        <p:spPr bwMode="auto">
          <a:xfrm>
            <a:off x="21113" y="5820222"/>
            <a:ext cx="2171700" cy="496888"/>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000" b="1">
                <a:solidFill>
                  <a:srgbClr val="0000CC"/>
                </a:solidFill>
                <a:latin typeface="Arial" charset="0"/>
              </a:rPr>
              <a:t>Nom NetBIOS</a:t>
            </a:r>
          </a:p>
        </p:txBody>
      </p:sp>
      <p:grpSp>
        <p:nvGrpSpPr>
          <p:cNvPr id="326665" name="Group 9"/>
          <p:cNvGrpSpPr>
            <a:grpSpLocks/>
          </p:cNvGrpSpPr>
          <p:nvPr/>
        </p:nvGrpSpPr>
        <p:grpSpPr bwMode="auto">
          <a:xfrm>
            <a:off x="437038" y="1338263"/>
            <a:ext cx="1252537" cy="1381125"/>
            <a:chOff x="2967" y="2733"/>
            <a:chExt cx="789" cy="870"/>
          </a:xfrm>
        </p:grpSpPr>
        <p:grpSp>
          <p:nvGrpSpPr>
            <p:cNvPr id="326666" name="Group 10"/>
            <p:cNvGrpSpPr>
              <a:grpSpLocks/>
            </p:cNvGrpSpPr>
            <p:nvPr/>
          </p:nvGrpSpPr>
          <p:grpSpPr bwMode="auto">
            <a:xfrm>
              <a:off x="2967" y="3191"/>
              <a:ext cx="763" cy="412"/>
              <a:chOff x="1929" y="1343"/>
              <a:chExt cx="763" cy="412"/>
            </a:xfrm>
          </p:grpSpPr>
          <p:sp>
            <p:nvSpPr>
              <p:cNvPr id="326667" name="Freeform 11"/>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26668" name="Freeform 12"/>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26669" name="Freeform 13"/>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26670" name="Freeform 14"/>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326671" name="Freeform 15"/>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326672" name="Freeform 16"/>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326673" name="Line 17"/>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326674" name="Line 18"/>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326675" name="Freeform 19"/>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326676" name="Line 20"/>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26677" name="Line 21"/>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26678" name="Line 22"/>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26679" name="Line 23"/>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26680" name="Freeform 24"/>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326681" name="Group 25"/>
            <p:cNvGrpSpPr>
              <a:grpSpLocks/>
            </p:cNvGrpSpPr>
            <p:nvPr/>
          </p:nvGrpSpPr>
          <p:grpSpPr bwMode="auto">
            <a:xfrm>
              <a:off x="3042" y="2733"/>
              <a:ext cx="714" cy="672"/>
              <a:chOff x="2004" y="885"/>
              <a:chExt cx="714" cy="672"/>
            </a:xfrm>
          </p:grpSpPr>
          <p:sp>
            <p:nvSpPr>
              <p:cNvPr id="326682" name="Freeform 26"/>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326683" name="Freeform 27"/>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326684" name="Oval 28"/>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326685" name="Freeform 29"/>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326686" name="Freeform 30"/>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26687" name="Freeform 31"/>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26688" name="Freeform 32"/>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26689" name="Freeform 33"/>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26690" name="Freeform 34"/>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326691" name="Freeform 35"/>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326692" name="Line 36"/>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326693" name="Group 37"/>
          <p:cNvGrpSpPr>
            <a:grpSpLocks/>
          </p:cNvGrpSpPr>
          <p:nvPr/>
        </p:nvGrpSpPr>
        <p:grpSpPr bwMode="auto">
          <a:xfrm>
            <a:off x="126792" y="4082820"/>
            <a:ext cx="2182812" cy="1611312"/>
            <a:chOff x="735" y="2468"/>
            <a:chExt cx="1375" cy="1015"/>
          </a:xfrm>
        </p:grpSpPr>
        <p:pic>
          <p:nvPicPr>
            <p:cNvPr id="326694" name="Picture 38" descr="Graphic1"/>
            <p:cNvPicPr>
              <a:picLocks noChangeAspect="1" noChangeArrowheads="1"/>
            </p:cNvPicPr>
            <p:nvPr/>
          </p:nvPicPr>
          <p:blipFill>
            <a:blip r:embed="rId2"/>
            <a:srcRect/>
            <a:stretch>
              <a:fillRect/>
            </a:stretch>
          </p:blipFill>
          <p:spPr bwMode="auto">
            <a:xfrm>
              <a:off x="770" y="2960"/>
              <a:ext cx="1340" cy="523"/>
            </a:xfrm>
            <a:prstGeom prst="rect">
              <a:avLst/>
            </a:prstGeom>
            <a:noFill/>
          </p:spPr>
        </p:pic>
        <p:sp>
          <p:nvSpPr>
            <p:cNvPr id="326695" name="AutoShape 39"/>
            <p:cNvSpPr>
              <a:spLocks noChangeArrowheads="1"/>
            </p:cNvSpPr>
            <p:nvPr/>
          </p:nvSpPr>
          <p:spPr bwMode="auto">
            <a:xfrm rot="5400000">
              <a:off x="814" y="2870"/>
              <a:ext cx="206" cy="48"/>
            </a:xfrm>
            <a:prstGeom prst="homePlate">
              <a:avLst>
                <a:gd name="adj" fmla="val 70852"/>
              </a:avLst>
            </a:prstGeom>
            <a:gradFill rotWithShape="0">
              <a:gsLst>
                <a:gs pos="0">
                  <a:srgbClr val="D60093"/>
                </a:gs>
                <a:gs pos="50000">
                  <a:srgbClr val="D60093">
                    <a:gamma/>
                    <a:tint val="26275"/>
                    <a:invGamma/>
                  </a:srgbClr>
                </a:gs>
                <a:gs pos="100000">
                  <a:srgbClr val="D60093"/>
                </a:gs>
              </a:gsLst>
              <a:lin ang="0" scaled="1"/>
            </a:gradFill>
            <a:ln w="9525">
              <a:noFill/>
              <a:miter lim="800000"/>
              <a:headEnd/>
              <a:tailEnd/>
            </a:ln>
            <a:effectLst/>
          </p:spPr>
          <p:txBody>
            <a:bodyPr wrap="none" anchor="ctr"/>
            <a:lstStyle/>
            <a:p>
              <a:endParaRPr lang="fr-FR"/>
            </a:p>
          </p:txBody>
        </p:sp>
        <p:pic>
          <p:nvPicPr>
            <p:cNvPr id="326696" name="Picture 40" descr="computer5"/>
            <p:cNvPicPr>
              <a:picLocks noChangeAspect="1" noChangeArrowheads="1"/>
            </p:cNvPicPr>
            <p:nvPr/>
          </p:nvPicPr>
          <p:blipFill>
            <a:blip r:embed="rId3"/>
            <a:srcRect/>
            <a:stretch>
              <a:fillRect/>
            </a:stretch>
          </p:blipFill>
          <p:spPr bwMode="auto">
            <a:xfrm>
              <a:off x="735" y="2468"/>
              <a:ext cx="428" cy="467"/>
            </a:xfrm>
            <a:prstGeom prst="rect">
              <a:avLst/>
            </a:prstGeom>
            <a:noFill/>
          </p:spPr>
        </p:pic>
        <p:sp>
          <p:nvSpPr>
            <p:cNvPr id="326697" name="AutoShape 41"/>
            <p:cNvSpPr>
              <a:spLocks noChangeArrowheads="1"/>
            </p:cNvSpPr>
            <p:nvPr/>
          </p:nvSpPr>
          <p:spPr bwMode="auto">
            <a:xfrm rot="5400000">
              <a:off x="1764" y="2870"/>
              <a:ext cx="206" cy="48"/>
            </a:xfrm>
            <a:prstGeom prst="homePlate">
              <a:avLst>
                <a:gd name="adj" fmla="val 70852"/>
              </a:avLst>
            </a:prstGeom>
            <a:gradFill rotWithShape="0">
              <a:gsLst>
                <a:gs pos="0">
                  <a:srgbClr val="D60093"/>
                </a:gs>
                <a:gs pos="50000">
                  <a:srgbClr val="D60093">
                    <a:gamma/>
                    <a:tint val="26275"/>
                    <a:invGamma/>
                  </a:srgbClr>
                </a:gs>
                <a:gs pos="100000">
                  <a:srgbClr val="D60093"/>
                </a:gs>
              </a:gsLst>
              <a:lin ang="0" scaled="1"/>
            </a:gradFill>
            <a:ln w="9525">
              <a:noFill/>
              <a:miter lim="800000"/>
              <a:headEnd/>
              <a:tailEnd/>
            </a:ln>
            <a:effectLst/>
          </p:spPr>
          <p:txBody>
            <a:bodyPr wrap="none" anchor="ctr"/>
            <a:lstStyle/>
            <a:p>
              <a:endParaRPr lang="fr-FR"/>
            </a:p>
          </p:txBody>
        </p:sp>
        <p:pic>
          <p:nvPicPr>
            <p:cNvPr id="326698" name="Picture 42" descr="computer5"/>
            <p:cNvPicPr>
              <a:picLocks noChangeAspect="1" noChangeArrowheads="1"/>
            </p:cNvPicPr>
            <p:nvPr/>
          </p:nvPicPr>
          <p:blipFill>
            <a:blip r:embed="rId3"/>
            <a:srcRect/>
            <a:stretch>
              <a:fillRect/>
            </a:stretch>
          </p:blipFill>
          <p:spPr bwMode="auto">
            <a:xfrm>
              <a:off x="1661" y="2468"/>
              <a:ext cx="428" cy="467"/>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6661">
                                            <p:txEl>
                                              <p:pRg st="0" end="0"/>
                                            </p:txEl>
                                          </p:spTgt>
                                        </p:tgtEl>
                                        <p:attrNameLst>
                                          <p:attrName>style.visibility</p:attrName>
                                        </p:attrNameLst>
                                      </p:cBhvr>
                                      <p:to>
                                        <p:strVal val="visible"/>
                                      </p:to>
                                    </p:set>
                                    <p:animEffect transition="in" filter="checkerboard(across)">
                                      <p:cBhvr>
                                        <p:cTn id="7" dur="1000"/>
                                        <p:tgtEl>
                                          <p:spTgt spid="3266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6661">
                                            <p:txEl>
                                              <p:pRg st="1" end="1"/>
                                            </p:txEl>
                                          </p:spTgt>
                                        </p:tgtEl>
                                        <p:attrNameLst>
                                          <p:attrName>style.visibility</p:attrName>
                                        </p:attrNameLst>
                                      </p:cBhvr>
                                      <p:to>
                                        <p:strVal val="visible"/>
                                      </p:to>
                                    </p:set>
                                    <p:animEffect transition="in" filter="checkerboard(across)">
                                      <p:cBhvr>
                                        <p:cTn id="12" dur="1000"/>
                                        <p:tgtEl>
                                          <p:spTgt spid="3266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6661">
                                            <p:txEl>
                                              <p:pRg st="2" end="2"/>
                                            </p:txEl>
                                          </p:spTgt>
                                        </p:tgtEl>
                                        <p:attrNameLst>
                                          <p:attrName>style.visibility</p:attrName>
                                        </p:attrNameLst>
                                      </p:cBhvr>
                                      <p:to>
                                        <p:strVal val="visible"/>
                                      </p:to>
                                    </p:set>
                                    <p:animEffect transition="in" filter="checkerboard(across)">
                                      <p:cBhvr>
                                        <p:cTn id="17" dur="1000"/>
                                        <p:tgtEl>
                                          <p:spTgt spid="3266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26661">
                                            <p:txEl>
                                              <p:pRg st="3" end="3"/>
                                            </p:txEl>
                                          </p:spTgt>
                                        </p:tgtEl>
                                        <p:attrNameLst>
                                          <p:attrName>style.visibility</p:attrName>
                                        </p:attrNameLst>
                                      </p:cBhvr>
                                      <p:to>
                                        <p:strVal val="visible"/>
                                      </p:to>
                                    </p:set>
                                    <p:animEffect transition="in" filter="checkerboard(across)">
                                      <p:cBhvr>
                                        <p:cTn id="22" dur="1000"/>
                                        <p:tgtEl>
                                          <p:spTgt spid="3266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26663">
                                            <p:txEl>
                                              <p:pRg st="0" end="0"/>
                                            </p:txEl>
                                          </p:spTgt>
                                        </p:tgtEl>
                                        <p:attrNameLst>
                                          <p:attrName>style.visibility</p:attrName>
                                        </p:attrNameLst>
                                      </p:cBhvr>
                                      <p:to>
                                        <p:strVal val="visible"/>
                                      </p:to>
                                    </p:set>
                                    <p:animEffect transition="in" filter="checkerboard(across)">
                                      <p:cBhvr>
                                        <p:cTn id="27" dur="1000"/>
                                        <p:tgtEl>
                                          <p:spTgt spid="32666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26663">
                                            <p:txEl>
                                              <p:pRg st="1" end="1"/>
                                            </p:txEl>
                                          </p:spTgt>
                                        </p:tgtEl>
                                        <p:attrNameLst>
                                          <p:attrName>style.visibility</p:attrName>
                                        </p:attrNameLst>
                                      </p:cBhvr>
                                      <p:to>
                                        <p:strVal val="visible"/>
                                      </p:to>
                                    </p:set>
                                    <p:animEffect transition="in" filter="checkerboard(across)">
                                      <p:cBhvr>
                                        <p:cTn id="32" dur="1000"/>
                                        <p:tgtEl>
                                          <p:spTgt spid="32666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26663">
                                            <p:txEl>
                                              <p:pRg st="2" end="2"/>
                                            </p:txEl>
                                          </p:spTgt>
                                        </p:tgtEl>
                                        <p:attrNameLst>
                                          <p:attrName>style.visibility</p:attrName>
                                        </p:attrNameLst>
                                      </p:cBhvr>
                                      <p:to>
                                        <p:strVal val="visible"/>
                                      </p:to>
                                    </p:set>
                                    <p:animEffect transition="in" filter="checkerboard(across)">
                                      <p:cBhvr>
                                        <p:cTn id="37" dur="1000"/>
                                        <p:tgtEl>
                                          <p:spTgt spid="3266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a:xfrm>
            <a:off x="188685" y="330198"/>
            <a:ext cx="8781143" cy="758952"/>
          </a:xfrm>
        </p:spPr>
        <p:txBody>
          <a:bodyPr vert="horz" anchor="b">
            <a:normAutofit fontScale="90000"/>
          </a:bodyPr>
          <a:lstStyle/>
          <a:p>
            <a:r>
              <a:rPr lang="fr-FR" sz="3000" dirty="0">
                <a:solidFill>
                  <a:srgbClr val="C00000"/>
                </a:solidFill>
              </a:rPr>
              <a:t>Mappage de noms : tables dynamiques ou statique</a:t>
            </a:r>
            <a:endParaRPr lang="en-US" sz="3000" dirty="0">
              <a:solidFill>
                <a:srgbClr val="C00000"/>
              </a:solidFill>
            </a:endParaRPr>
          </a:p>
        </p:txBody>
      </p:sp>
      <p:sp>
        <p:nvSpPr>
          <p:cNvPr id="327684" name="Rectangle 4"/>
          <p:cNvSpPr>
            <a:spLocks noChangeArrowheads="1"/>
          </p:cNvSpPr>
          <p:nvPr/>
        </p:nvSpPr>
        <p:spPr bwMode="auto">
          <a:xfrm>
            <a:off x="5384800" y="1291542"/>
            <a:ext cx="2960913" cy="5040312"/>
          </a:xfrm>
          <a:prstGeom prst="rect">
            <a:avLst/>
          </a:prstGeom>
          <a:solidFill>
            <a:srgbClr val="FFCC66"/>
          </a:solidFill>
          <a:ln w="9525">
            <a:noFill/>
            <a:miter lim="800000"/>
            <a:headEnd/>
            <a:tailEnd/>
          </a:ln>
          <a:effectLst/>
        </p:spPr>
        <p:txBody>
          <a:bodyPr wrap="none"/>
          <a:lstStyle/>
          <a:p>
            <a:pPr algn="ctr">
              <a:lnSpc>
                <a:spcPct val="85000"/>
              </a:lnSpc>
            </a:pPr>
            <a:r>
              <a:rPr lang="en-US" sz="1900" b="1">
                <a:latin typeface="Arial" charset="0"/>
              </a:rPr>
              <a:t>Nom NetBIOS </a:t>
            </a:r>
            <a:br>
              <a:rPr lang="en-US" sz="1900" b="1">
                <a:latin typeface="Arial" charset="0"/>
              </a:rPr>
            </a:br>
            <a:r>
              <a:rPr lang="en-US" sz="1900" b="1">
                <a:latin typeface="Arial" charset="0"/>
              </a:rPr>
              <a:t>en adresse IP</a:t>
            </a:r>
          </a:p>
          <a:p>
            <a:pPr algn="ctr"/>
            <a:endParaRPr lang="en-US" sz="1900" b="1">
              <a:latin typeface="Arial" charset="0"/>
            </a:endParaRPr>
          </a:p>
        </p:txBody>
      </p:sp>
      <p:sp>
        <p:nvSpPr>
          <p:cNvPr id="327685" name="Rectangle 5"/>
          <p:cNvSpPr>
            <a:spLocks noChangeArrowheads="1"/>
          </p:cNvSpPr>
          <p:nvPr/>
        </p:nvSpPr>
        <p:spPr bwMode="auto">
          <a:xfrm>
            <a:off x="997636" y="1291542"/>
            <a:ext cx="2387600" cy="5040312"/>
          </a:xfrm>
          <a:prstGeom prst="rect">
            <a:avLst/>
          </a:prstGeom>
          <a:solidFill>
            <a:srgbClr val="FFCC66"/>
          </a:solidFill>
          <a:ln w="9525">
            <a:noFill/>
            <a:miter lim="800000"/>
            <a:headEnd/>
            <a:tailEnd/>
          </a:ln>
          <a:effectLst/>
        </p:spPr>
        <p:txBody>
          <a:bodyPr wrap="none"/>
          <a:lstStyle/>
          <a:p>
            <a:pPr algn="ctr">
              <a:lnSpc>
                <a:spcPct val="85000"/>
              </a:lnSpc>
            </a:pPr>
            <a:r>
              <a:rPr lang="en-US" sz="1900" b="1" dirty="0">
                <a:latin typeface="Arial" charset="0"/>
              </a:rPr>
              <a:t>Nom d'hôte </a:t>
            </a:r>
            <a:br>
              <a:rPr lang="en-US" sz="1900" b="1" dirty="0">
                <a:latin typeface="Arial" charset="0"/>
              </a:rPr>
            </a:br>
            <a:r>
              <a:rPr lang="en-US" sz="1900" b="1" dirty="0">
                <a:latin typeface="Arial" charset="0"/>
              </a:rPr>
              <a:t>en </a:t>
            </a:r>
            <a:r>
              <a:rPr lang="en-US" sz="1900" b="1" dirty="0" err="1">
                <a:latin typeface="Arial" charset="0"/>
              </a:rPr>
              <a:t>adresse</a:t>
            </a:r>
            <a:r>
              <a:rPr lang="en-US" sz="1900" b="1" dirty="0">
                <a:latin typeface="Arial" charset="0"/>
              </a:rPr>
              <a:t> IP</a:t>
            </a:r>
          </a:p>
          <a:p>
            <a:pPr algn="ctr"/>
            <a:endParaRPr lang="en-US" sz="2000" dirty="0">
              <a:latin typeface="Arial" charset="0"/>
            </a:endParaRPr>
          </a:p>
        </p:txBody>
      </p:sp>
      <p:sp>
        <p:nvSpPr>
          <p:cNvPr id="327687" name="AutoShape 7"/>
          <p:cNvSpPr>
            <a:spLocks noChangeArrowheads="1"/>
          </p:cNvSpPr>
          <p:nvPr/>
        </p:nvSpPr>
        <p:spPr bwMode="auto">
          <a:xfrm>
            <a:off x="420914" y="4027488"/>
            <a:ext cx="8084457" cy="2358798"/>
          </a:xfrm>
          <a:prstGeom prst="roundRect">
            <a:avLst>
              <a:gd name="adj" fmla="val 16667"/>
            </a:avLst>
          </a:prstGeom>
          <a:noFill/>
          <a:ln w="57150">
            <a:solidFill>
              <a:srgbClr val="FF6600"/>
            </a:solidFill>
            <a:prstDash val="sysDot"/>
            <a:round/>
            <a:headEnd/>
            <a:tailEnd/>
          </a:ln>
          <a:effectLst/>
        </p:spPr>
        <p:txBody>
          <a:bodyPr wrap="none" anchor="ctr"/>
          <a:lstStyle/>
          <a:p>
            <a:pPr algn="ctr"/>
            <a:r>
              <a:rPr lang="en-US" sz="2600" b="1" dirty="0">
                <a:solidFill>
                  <a:srgbClr val="FF6600"/>
                </a:solidFill>
                <a:latin typeface="Arial" charset="0"/>
              </a:rPr>
              <a:t>Tables</a:t>
            </a:r>
            <a:br>
              <a:rPr lang="en-US" sz="2600" b="1" dirty="0">
                <a:solidFill>
                  <a:srgbClr val="FF6600"/>
                </a:solidFill>
                <a:latin typeface="Arial" charset="0"/>
              </a:rPr>
            </a:br>
            <a:r>
              <a:rPr lang="en-US" sz="2600" b="1" dirty="0" err="1">
                <a:solidFill>
                  <a:srgbClr val="FF6600"/>
                </a:solidFill>
                <a:latin typeface="Arial" charset="0"/>
              </a:rPr>
              <a:t>statiques</a:t>
            </a:r>
            <a:endParaRPr lang="en-US" sz="2600" b="1" dirty="0">
              <a:solidFill>
                <a:srgbClr val="FF6600"/>
              </a:solidFill>
              <a:latin typeface="Arial" charset="0"/>
            </a:endParaRPr>
          </a:p>
        </p:txBody>
      </p:sp>
      <p:sp>
        <p:nvSpPr>
          <p:cNvPr id="327688" name="AutoShape 8"/>
          <p:cNvSpPr>
            <a:spLocks noChangeArrowheads="1"/>
          </p:cNvSpPr>
          <p:nvPr/>
        </p:nvSpPr>
        <p:spPr bwMode="auto">
          <a:xfrm flipV="1">
            <a:off x="1583199" y="4342945"/>
            <a:ext cx="1035050" cy="1428750"/>
          </a:xfrm>
          <a:prstGeom prst="foldedCorner">
            <a:avLst>
              <a:gd name="adj" fmla="val 21759"/>
            </a:avLst>
          </a:prstGeom>
          <a:solidFill>
            <a:schemeClr val="bg1"/>
          </a:solidFill>
          <a:ln w="6350">
            <a:solidFill>
              <a:schemeClr val="tx1"/>
            </a:solidFill>
            <a:round/>
            <a:headEnd/>
            <a:tailEnd/>
          </a:ln>
          <a:effectLst>
            <a:outerShdw dist="35921" dir="2700000" algn="ctr" rotWithShape="0">
              <a:srgbClr val="C0C0C0"/>
            </a:outerShdw>
          </a:effectLst>
        </p:spPr>
        <p:txBody>
          <a:bodyPr wrap="none" anchor="ctr"/>
          <a:lstStyle/>
          <a:p>
            <a:endParaRPr lang="fr-FR"/>
          </a:p>
        </p:txBody>
      </p:sp>
      <p:sp>
        <p:nvSpPr>
          <p:cNvPr id="327689" name="Rectangle 9"/>
          <p:cNvSpPr>
            <a:spLocks noChangeArrowheads="1"/>
          </p:cNvSpPr>
          <p:nvPr/>
        </p:nvSpPr>
        <p:spPr bwMode="auto">
          <a:xfrm>
            <a:off x="1059543" y="4844594"/>
            <a:ext cx="2220687" cy="482149"/>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200" b="1">
                <a:solidFill>
                  <a:srgbClr val="0000CC"/>
                </a:solidFill>
                <a:latin typeface="Arial" charset="0"/>
              </a:rPr>
              <a:t>Fichier HOSTS</a:t>
            </a:r>
          </a:p>
        </p:txBody>
      </p:sp>
      <p:sp>
        <p:nvSpPr>
          <p:cNvPr id="327690" name="AutoShape 10"/>
          <p:cNvSpPr>
            <a:spLocks noChangeArrowheads="1"/>
          </p:cNvSpPr>
          <p:nvPr/>
        </p:nvSpPr>
        <p:spPr bwMode="auto">
          <a:xfrm flipV="1">
            <a:off x="6383785" y="4296455"/>
            <a:ext cx="1035050" cy="1428750"/>
          </a:xfrm>
          <a:prstGeom prst="foldedCorner">
            <a:avLst>
              <a:gd name="adj" fmla="val 21759"/>
            </a:avLst>
          </a:prstGeom>
          <a:solidFill>
            <a:schemeClr val="bg1"/>
          </a:solidFill>
          <a:ln w="6350">
            <a:solidFill>
              <a:schemeClr val="tx1"/>
            </a:solidFill>
            <a:round/>
            <a:headEnd/>
            <a:tailEnd/>
          </a:ln>
          <a:effectLst>
            <a:outerShdw dist="35921" dir="2700000" algn="ctr" rotWithShape="0">
              <a:srgbClr val="C0C0C0"/>
            </a:outerShdw>
          </a:effectLst>
        </p:spPr>
        <p:txBody>
          <a:bodyPr wrap="none" anchor="ctr"/>
          <a:lstStyle/>
          <a:p>
            <a:endParaRPr lang="fr-FR"/>
          </a:p>
        </p:txBody>
      </p:sp>
      <p:sp>
        <p:nvSpPr>
          <p:cNvPr id="327691" name="Rectangle 11"/>
          <p:cNvSpPr>
            <a:spLocks noChangeArrowheads="1"/>
          </p:cNvSpPr>
          <p:nvPr/>
        </p:nvSpPr>
        <p:spPr bwMode="auto">
          <a:xfrm>
            <a:off x="5515426" y="4799692"/>
            <a:ext cx="2699658" cy="468994"/>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200" b="1" dirty="0" err="1">
                <a:solidFill>
                  <a:srgbClr val="0000CC"/>
                </a:solidFill>
                <a:latin typeface="Arial" charset="0"/>
              </a:rPr>
              <a:t>Fichier</a:t>
            </a:r>
            <a:r>
              <a:rPr lang="en-US" sz="2200" b="1" dirty="0">
                <a:solidFill>
                  <a:srgbClr val="0000CC"/>
                </a:solidFill>
                <a:latin typeface="Arial" charset="0"/>
              </a:rPr>
              <a:t> LMHOSTS</a:t>
            </a:r>
          </a:p>
        </p:txBody>
      </p:sp>
      <p:sp>
        <p:nvSpPr>
          <p:cNvPr id="327749" name="AutoShape 69"/>
          <p:cNvSpPr>
            <a:spLocks noChangeArrowheads="1"/>
          </p:cNvSpPr>
          <p:nvPr/>
        </p:nvSpPr>
        <p:spPr bwMode="auto">
          <a:xfrm>
            <a:off x="478971" y="1262910"/>
            <a:ext cx="8128000" cy="2655947"/>
          </a:xfrm>
          <a:prstGeom prst="roundRect">
            <a:avLst>
              <a:gd name="adj" fmla="val 16667"/>
            </a:avLst>
          </a:prstGeom>
          <a:noFill/>
          <a:ln w="57150">
            <a:solidFill>
              <a:srgbClr val="FF6600"/>
            </a:solidFill>
            <a:prstDash val="sysDot"/>
            <a:round/>
            <a:headEnd/>
            <a:tailEnd/>
          </a:ln>
          <a:effectLst/>
        </p:spPr>
        <p:txBody>
          <a:bodyPr wrap="none" anchor="ctr"/>
          <a:lstStyle/>
          <a:p>
            <a:pPr algn="ctr"/>
            <a:r>
              <a:rPr lang="en-US" sz="2200" b="1" dirty="0">
                <a:solidFill>
                  <a:srgbClr val="FF6600"/>
                </a:solidFill>
                <a:latin typeface="Arial" charset="0"/>
              </a:rPr>
              <a:t>Tables </a:t>
            </a:r>
            <a:br>
              <a:rPr lang="en-US" sz="2200" b="1" dirty="0">
                <a:solidFill>
                  <a:srgbClr val="FF6600"/>
                </a:solidFill>
                <a:latin typeface="Arial" charset="0"/>
              </a:rPr>
            </a:br>
            <a:r>
              <a:rPr lang="en-US" sz="2200" b="1" dirty="0" err="1">
                <a:solidFill>
                  <a:srgbClr val="FF6600"/>
                </a:solidFill>
                <a:latin typeface="Arial" charset="0"/>
              </a:rPr>
              <a:t>dynamiques</a:t>
            </a:r>
            <a:endParaRPr lang="en-US" sz="2200" b="1" dirty="0">
              <a:solidFill>
                <a:srgbClr val="FF6600"/>
              </a:solidFill>
              <a:latin typeface="Arial" charset="0"/>
            </a:endParaRPr>
          </a:p>
        </p:txBody>
      </p:sp>
      <p:grpSp>
        <p:nvGrpSpPr>
          <p:cNvPr id="327750" name="Group 70"/>
          <p:cNvGrpSpPr>
            <a:grpSpLocks/>
          </p:cNvGrpSpPr>
          <p:nvPr/>
        </p:nvGrpSpPr>
        <p:grpSpPr bwMode="auto">
          <a:xfrm>
            <a:off x="1614420" y="1696963"/>
            <a:ext cx="1166333" cy="2019208"/>
            <a:chOff x="934" y="830"/>
            <a:chExt cx="626" cy="1012"/>
          </a:xfrm>
        </p:grpSpPr>
        <p:sp>
          <p:nvSpPr>
            <p:cNvPr id="327751" name="Freeform 71"/>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sz="2200"/>
            </a:p>
          </p:txBody>
        </p:sp>
        <p:grpSp>
          <p:nvGrpSpPr>
            <p:cNvPr id="327752" name="Group 72"/>
            <p:cNvGrpSpPr>
              <a:grpSpLocks/>
            </p:cNvGrpSpPr>
            <p:nvPr/>
          </p:nvGrpSpPr>
          <p:grpSpPr bwMode="auto">
            <a:xfrm>
              <a:off x="934" y="830"/>
              <a:ext cx="626" cy="987"/>
              <a:chOff x="934" y="830"/>
              <a:chExt cx="626" cy="987"/>
            </a:xfrm>
          </p:grpSpPr>
          <p:sp>
            <p:nvSpPr>
              <p:cNvPr id="327753" name="Freeform 73"/>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sz="2200"/>
              </a:p>
            </p:txBody>
          </p:sp>
          <p:sp>
            <p:nvSpPr>
              <p:cNvPr id="327754" name="Freeform 74"/>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200"/>
              </a:p>
            </p:txBody>
          </p:sp>
          <p:sp>
            <p:nvSpPr>
              <p:cNvPr id="327755" name="Freeform 75"/>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sz="2200"/>
              </a:p>
            </p:txBody>
          </p:sp>
          <p:sp>
            <p:nvSpPr>
              <p:cNvPr id="327756" name="Line 76"/>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57" name="Oval 77"/>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sz="2200"/>
              </a:p>
            </p:txBody>
          </p:sp>
          <p:sp>
            <p:nvSpPr>
              <p:cNvPr id="327758" name="Line 78"/>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59" name="Line 79"/>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sz="2200"/>
              </a:p>
            </p:txBody>
          </p:sp>
          <p:sp>
            <p:nvSpPr>
              <p:cNvPr id="327760" name="Line 80"/>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61" name="Line 81"/>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62" name="Freeform 82"/>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sz="2200"/>
              </a:p>
            </p:txBody>
          </p:sp>
          <p:sp>
            <p:nvSpPr>
              <p:cNvPr id="327763" name="Freeform 83"/>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sz="2200"/>
              </a:p>
            </p:txBody>
          </p:sp>
          <p:sp>
            <p:nvSpPr>
              <p:cNvPr id="327764" name="Freeform 84"/>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sz="2200"/>
              </a:p>
            </p:txBody>
          </p:sp>
          <p:sp>
            <p:nvSpPr>
              <p:cNvPr id="327765" name="Line 85"/>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sz="2200"/>
              </a:p>
            </p:txBody>
          </p:sp>
          <p:sp>
            <p:nvSpPr>
              <p:cNvPr id="327766" name="Line 86"/>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sz="2200"/>
              </a:p>
            </p:txBody>
          </p:sp>
          <p:sp>
            <p:nvSpPr>
              <p:cNvPr id="327767" name="Line 87"/>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sz="2200"/>
              </a:p>
            </p:txBody>
          </p:sp>
          <p:sp>
            <p:nvSpPr>
              <p:cNvPr id="327768" name="Freeform 88"/>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sz="2200"/>
              </a:p>
            </p:txBody>
          </p:sp>
          <p:sp>
            <p:nvSpPr>
              <p:cNvPr id="327769" name="Line 89"/>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sz="2200"/>
              </a:p>
            </p:txBody>
          </p:sp>
          <p:sp>
            <p:nvSpPr>
              <p:cNvPr id="327770" name="Freeform 90"/>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200"/>
              </a:p>
            </p:txBody>
          </p:sp>
          <p:sp>
            <p:nvSpPr>
              <p:cNvPr id="327771" name="Freeform 91"/>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200"/>
              </a:p>
            </p:txBody>
          </p:sp>
          <p:sp>
            <p:nvSpPr>
              <p:cNvPr id="327772" name="Freeform 92"/>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200"/>
              </a:p>
            </p:txBody>
          </p:sp>
          <p:sp>
            <p:nvSpPr>
              <p:cNvPr id="327773" name="Line 93"/>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sz="2200"/>
              </a:p>
            </p:txBody>
          </p:sp>
          <p:sp>
            <p:nvSpPr>
              <p:cNvPr id="327774" name="Line 94"/>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sz="2200"/>
              </a:p>
            </p:txBody>
          </p:sp>
          <p:sp>
            <p:nvSpPr>
              <p:cNvPr id="327775" name="Line 95"/>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sz="2200"/>
              </a:p>
            </p:txBody>
          </p:sp>
        </p:grpSp>
      </p:grpSp>
      <p:sp>
        <p:nvSpPr>
          <p:cNvPr id="327776" name="Rectangle 96"/>
          <p:cNvSpPr>
            <a:spLocks noChangeArrowheads="1"/>
          </p:cNvSpPr>
          <p:nvPr/>
        </p:nvSpPr>
        <p:spPr bwMode="auto">
          <a:xfrm>
            <a:off x="1136623" y="2922638"/>
            <a:ext cx="2123744" cy="512451"/>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200" b="1">
                <a:solidFill>
                  <a:srgbClr val="0000CC"/>
                </a:solidFill>
                <a:latin typeface="Arial" charset="0"/>
              </a:rPr>
              <a:t>Serveur DNS</a:t>
            </a:r>
          </a:p>
        </p:txBody>
      </p:sp>
      <p:grpSp>
        <p:nvGrpSpPr>
          <p:cNvPr id="327777" name="Group 97"/>
          <p:cNvGrpSpPr>
            <a:grpSpLocks/>
          </p:cNvGrpSpPr>
          <p:nvPr/>
        </p:nvGrpSpPr>
        <p:grpSpPr bwMode="auto">
          <a:xfrm>
            <a:off x="6294288" y="1696963"/>
            <a:ext cx="1166333" cy="2019208"/>
            <a:chOff x="934" y="830"/>
            <a:chExt cx="626" cy="1012"/>
          </a:xfrm>
        </p:grpSpPr>
        <p:sp>
          <p:nvSpPr>
            <p:cNvPr id="327778" name="Freeform 98"/>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sz="2200"/>
            </a:p>
          </p:txBody>
        </p:sp>
        <p:grpSp>
          <p:nvGrpSpPr>
            <p:cNvPr id="327779" name="Group 99"/>
            <p:cNvGrpSpPr>
              <a:grpSpLocks/>
            </p:cNvGrpSpPr>
            <p:nvPr/>
          </p:nvGrpSpPr>
          <p:grpSpPr bwMode="auto">
            <a:xfrm>
              <a:off x="934" y="830"/>
              <a:ext cx="626" cy="987"/>
              <a:chOff x="934" y="830"/>
              <a:chExt cx="626" cy="987"/>
            </a:xfrm>
          </p:grpSpPr>
          <p:sp>
            <p:nvSpPr>
              <p:cNvPr id="327780" name="Freeform 100"/>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sz="2200"/>
              </a:p>
            </p:txBody>
          </p:sp>
          <p:sp>
            <p:nvSpPr>
              <p:cNvPr id="327781" name="Freeform 101"/>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200"/>
              </a:p>
            </p:txBody>
          </p:sp>
          <p:sp>
            <p:nvSpPr>
              <p:cNvPr id="327782" name="Freeform 102"/>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sz="2200"/>
              </a:p>
            </p:txBody>
          </p:sp>
          <p:sp>
            <p:nvSpPr>
              <p:cNvPr id="327783" name="Line 103"/>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84" name="Oval 104"/>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sz="2200"/>
              </a:p>
            </p:txBody>
          </p:sp>
          <p:sp>
            <p:nvSpPr>
              <p:cNvPr id="327785" name="Line 105"/>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86" name="Line 106"/>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sz="2200"/>
              </a:p>
            </p:txBody>
          </p:sp>
          <p:sp>
            <p:nvSpPr>
              <p:cNvPr id="327787" name="Line 107"/>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88" name="Line 108"/>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sz="2200"/>
              </a:p>
            </p:txBody>
          </p:sp>
          <p:sp>
            <p:nvSpPr>
              <p:cNvPr id="327789" name="Freeform 109"/>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sz="2200"/>
              </a:p>
            </p:txBody>
          </p:sp>
          <p:sp>
            <p:nvSpPr>
              <p:cNvPr id="327790" name="Freeform 110"/>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sz="2200"/>
              </a:p>
            </p:txBody>
          </p:sp>
          <p:sp>
            <p:nvSpPr>
              <p:cNvPr id="327791" name="Freeform 111"/>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sz="2200"/>
              </a:p>
            </p:txBody>
          </p:sp>
          <p:sp>
            <p:nvSpPr>
              <p:cNvPr id="327792" name="Line 112"/>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sz="2200"/>
              </a:p>
            </p:txBody>
          </p:sp>
          <p:sp>
            <p:nvSpPr>
              <p:cNvPr id="327793" name="Line 113"/>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sz="2200"/>
              </a:p>
            </p:txBody>
          </p:sp>
          <p:sp>
            <p:nvSpPr>
              <p:cNvPr id="327794" name="Line 114"/>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sz="2200"/>
              </a:p>
            </p:txBody>
          </p:sp>
          <p:sp>
            <p:nvSpPr>
              <p:cNvPr id="327795" name="Freeform 115"/>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sz="2200"/>
              </a:p>
            </p:txBody>
          </p:sp>
          <p:sp>
            <p:nvSpPr>
              <p:cNvPr id="327796" name="Line 116"/>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sz="2200"/>
              </a:p>
            </p:txBody>
          </p:sp>
          <p:sp>
            <p:nvSpPr>
              <p:cNvPr id="327797" name="Freeform 117"/>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200"/>
              </a:p>
            </p:txBody>
          </p:sp>
          <p:sp>
            <p:nvSpPr>
              <p:cNvPr id="327798" name="Freeform 118"/>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200"/>
              </a:p>
            </p:txBody>
          </p:sp>
          <p:sp>
            <p:nvSpPr>
              <p:cNvPr id="327799" name="Freeform 119"/>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200"/>
              </a:p>
            </p:txBody>
          </p:sp>
          <p:sp>
            <p:nvSpPr>
              <p:cNvPr id="327800" name="Line 120"/>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sz="2200"/>
              </a:p>
            </p:txBody>
          </p:sp>
          <p:sp>
            <p:nvSpPr>
              <p:cNvPr id="327801" name="Line 121"/>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sz="2200"/>
              </a:p>
            </p:txBody>
          </p:sp>
          <p:sp>
            <p:nvSpPr>
              <p:cNvPr id="327802" name="Line 122"/>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sz="2200"/>
              </a:p>
            </p:txBody>
          </p:sp>
        </p:grpSp>
      </p:grpSp>
      <p:sp>
        <p:nvSpPr>
          <p:cNvPr id="327803" name="Rectangle 123"/>
          <p:cNvSpPr>
            <a:spLocks noChangeArrowheads="1"/>
          </p:cNvSpPr>
          <p:nvPr/>
        </p:nvSpPr>
        <p:spPr bwMode="auto">
          <a:xfrm>
            <a:off x="5816491" y="2922638"/>
            <a:ext cx="2123744" cy="512451"/>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200" b="1">
                <a:solidFill>
                  <a:srgbClr val="0000CC"/>
                </a:solidFill>
                <a:latin typeface="Arial" charset="0"/>
              </a:rPr>
              <a:t>Serveur WINS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7749">
                                            <p:txEl>
                                              <p:pRg st="0" end="0"/>
                                            </p:txEl>
                                          </p:spTgt>
                                        </p:tgtEl>
                                        <p:attrNameLst>
                                          <p:attrName>style.visibility</p:attrName>
                                        </p:attrNameLst>
                                      </p:cBhvr>
                                      <p:to>
                                        <p:strVal val="visible"/>
                                      </p:to>
                                    </p:set>
                                    <p:animEffect transition="in" filter="checkerboard(across)">
                                      <p:cBhvr>
                                        <p:cTn id="7" dur="500"/>
                                        <p:tgtEl>
                                          <p:spTgt spid="3277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7687">
                                            <p:txEl>
                                              <p:pRg st="0" end="0"/>
                                            </p:txEl>
                                          </p:spTgt>
                                        </p:tgtEl>
                                        <p:attrNameLst>
                                          <p:attrName>style.visibility</p:attrName>
                                        </p:attrNameLst>
                                      </p:cBhvr>
                                      <p:to>
                                        <p:strVal val="visible"/>
                                      </p:to>
                                    </p:set>
                                    <p:animEffect transition="in" filter="checkerboard(across)">
                                      <p:cBhvr>
                                        <p:cTn id="12" dur="500"/>
                                        <p:tgtEl>
                                          <p:spTgt spid="3276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vert="horz" anchor="b">
            <a:normAutofit/>
          </a:bodyPr>
          <a:lstStyle/>
          <a:p>
            <a:r>
              <a:rPr lang="fr-FR" sz="3000" dirty="0">
                <a:solidFill>
                  <a:srgbClr val="C00000"/>
                </a:solidFill>
              </a:rPr>
              <a:t>Mappage IP dynamique</a:t>
            </a:r>
            <a:endParaRPr lang="en-US" sz="3000" dirty="0">
              <a:solidFill>
                <a:srgbClr val="C00000"/>
              </a:solidFill>
            </a:endParaRPr>
          </a:p>
        </p:txBody>
      </p:sp>
      <p:sp>
        <p:nvSpPr>
          <p:cNvPr id="330757" name="Rectangle 5"/>
          <p:cNvSpPr>
            <a:spLocks noChangeArrowheads="1"/>
          </p:cNvSpPr>
          <p:nvPr/>
        </p:nvSpPr>
        <p:spPr bwMode="auto">
          <a:xfrm>
            <a:off x="2038814" y="1238703"/>
            <a:ext cx="7105186" cy="3101067"/>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Système pour nommer des ordinateurs et des services réseau</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Le système de dénomination est organisé de manière hiérarchique</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Mappe les noms de domaine sur une adresse IP</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Les correspondances sont stockées sur un serveur DNS</a:t>
            </a:r>
          </a:p>
        </p:txBody>
      </p:sp>
      <p:sp>
        <p:nvSpPr>
          <p:cNvPr id="330758" name="Rectangle 6"/>
          <p:cNvSpPr>
            <a:spLocks noChangeArrowheads="1"/>
          </p:cNvSpPr>
          <p:nvPr/>
        </p:nvSpPr>
        <p:spPr bwMode="auto">
          <a:xfrm>
            <a:off x="2038802" y="4537076"/>
            <a:ext cx="7105197" cy="2052410"/>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Fournit une base de données distribuée pour enregistrer les mappages dynamiques des noms NetBIOS</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Mappe les noms NetBIOS sur les adresses IP</a:t>
            </a:r>
          </a:p>
        </p:txBody>
      </p:sp>
      <p:sp>
        <p:nvSpPr>
          <p:cNvPr id="330759" name="Rectangle 7"/>
          <p:cNvSpPr>
            <a:spLocks noChangeArrowheads="1"/>
          </p:cNvSpPr>
          <p:nvPr/>
        </p:nvSpPr>
        <p:spPr bwMode="auto">
          <a:xfrm>
            <a:off x="27463" y="2995384"/>
            <a:ext cx="1975508" cy="496888"/>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200" b="1">
                <a:solidFill>
                  <a:srgbClr val="0000CC"/>
                </a:solidFill>
                <a:latin typeface="Arial" charset="0"/>
              </a:rPr>
              <a:t>Serveur DNS</a:t>
            </a:r>
          </a:p>
        </p:txBody>
      </p:sp>
      <p:sp>
        <p:nvSpPr>
          <p:cNvPr id="330760" name="Rectangle 8"/>
          <p:cNvSpPr>
            <a:spLocks noChangeArrowheads="1"/>
          </p:cNvSpPr>
          <p:nvPr/>
        </p:nvSpPr>
        <p:spPr bwMode="auto">
          <a:xfrm>
            <a:off x="-1564" y="6044964"/>
            <a:ext cx="2048078" cy="496887"/>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200" b="1">
                <a:solidFill>
                  <a:srgbClr val="0000CC"/>
                </a:solidFill>
                <a:latin typeface="Arial" charset="0"/>
              </a:rPr>
              <a:t>Serveur WINS</a:t>
            </a:r>
          </a:p>
        </p:txBody>
      </p:sp>
      <p:grpSp>
        <p:nvGrpSpPr>
          <p:cNvPr id="330761" name="Group 9"/>
          <p:cNvGrpSpPr>
            <a:grpSpLocks/>
          </p:cNvGrpSpPr>
          <p:nvPr/>
        </p:nvGrpSpPr>
        <p:grpSpPr bwMode="auto">
          <a:xfrm>
            <a:off x="545669" y="1300842"/>
            <a:ext cx="1028700" cy="1695450"/>
            <a:chOff x="934" y="830"/>
            <a:chExt cx="626" cy="1012"/>
          </a:xfrm>
        </p:grpSpPr>
        <p:sp>
          <p:nvSpPr>
            <p:cNvPr id="330762" name="Freeform 10"/>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330763" name="Group 11"/>
            <p:cNvGrpSpPr>
              <a:grpSpLocks/>
            </p:cNvGrpSpPr>
            <p:nvPr/>
          </p:nvGrpSpPr>
          <p:grpSpPr bwMode="auto">
            <a:xfrm>
              <a:off x="934" y="830"/>
              <a:ext cx="626" cy="987"/>
              <a:chOff x="934" y="830"/>
              <a:chExt cx="626" cy="987"/>
            </a:xfrm>
          </p:grpSpPr>
          <p:sp>
            <p:nvSpPr>
              <p:cNvPr id="330764" name="Freeform 12"/>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30765" name="Freeform 13"/>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30766" name="Freeform 14"/>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30767" name="Line 15"/>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330768" name="Oval 16"/>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330769" name="Line 17"/>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330770" name="Line 18"/>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330771" name="Line 19"/>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330772" name="Line 20"/>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330773" name="Freeform 21"/>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330774" name="Freeform 22"/>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330775" name="Freeform 23"/>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330776" name="Line 24"/>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330777" name="Line 25"/>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330778" name="Line 26"/>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330779" name="Freeform 27"/>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30780" name="Line 28"/>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330781" name="Freeform 29"/>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30782" name="Freeform 30"/>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30783" name="Freeform 31"/>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30784" name="Line 32"/>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30785" name="Line 33"/>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30786" name="Line 34"/>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330787" name="Group 35"/>
          <p:cNvGrpSpPr>
            <a:grpSpLocks/>
          </p:cNvGrpSpPr>
          <p:nvPr/>
        </p:nvGrpSpPr>
        <p:grpSpPr bwMode="auto">
          <a:xfrm>
            <a:off x="531155" y="4393964"/>
            <a:ext cx="1028700" cy="1695450"/>
            <a:chOff x="934" y="830"/>
            <a:chExt cx="626" cy="1012"/>
          </a:xfrm>
        </p:grpSpPr>
        <p:sp>
          <p:nvSpPr>
            <p:cNvPr id="330788" name="Freeform 36"/>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330789" name="Group 37"/>
            <p:cNvGrpSpPr>
              <a:grpSpLocks/>
            </p:cNvGrpSpPr>
            <p:nvPr/>
          </p:nvGrpSpPr>
          <p:grpSpPr bwMode="auto">
            <a:xfrm>
              <a:off x="934" y="830"/>
              <a:ext cx="626" cy="987"/>
              <a:chOff x="934" y="830"/>
              <a:chExt cx="626" cy="987"/>
            </a:xfrm>
          </p:grpSpPr>
          <p:sp>
            <p:nvSpPr>
              <p:cNvPr id="330790" name="Freeform 38"/>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30791" name="Freeform 39"/>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30792" name="Freeform 40"/>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30793" name="Line 41"/>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330794" name="Oval 42"/>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330795" name="Line 43"/>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330796" name="Line 44"/>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330797" name="Line 45"/>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330798" name="Line 46"/>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330799" name="Freeform 47"/>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330800" name="Freeform 48"/>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330801" name="Freeform 49"/>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330802" name="Line 50"/>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330803" name="Line 51"/>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330804" name="Line 52"/>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330805" name="Freeform 53"/>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30806" name="Line 54"/>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330807" name="Freeform 55"/>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30808" name="Freeform 56"/>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30809" name="Freeform 57"/>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30810" name="Line 58"/>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30811" name="Line 59"/>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30812" name="Line 60"/>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30757">
                                            <p:txEl>
                                              <p:pRg st="0" end="0"/>
                                            </p:txEl>
                                          </p:spTgt>
                                        </p:tgtEl>
                                        <p:attrNameLst>
                                          <p:attrName>style.visibility</p:attrName>
                                        </p:attrNameLst>
                                      </p:cBhvr>
                                      <p:to>
                                        <p:strVal val="visible"/>
                                      </p:to>
                                    </p:set>
                                    <p:animEffect transition="in" filter="checkerboard(across)">
                                      <p:cBhvr>
                                        <p:cTn id="7" dur="1000"/>
                                        <p:tgtEl>
                                          <p:spTgt spid="3307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0757">
                                            <p:txEl>
                                              <p:pRg st="1" end="1"/>
                                            </p:txEl>
                                          </p:spTgt>
                                        </p:tgtEl>
                                        <p:attrNameLst>
                                          <p:attrName>style.visibility</p:attrName>
                                        </p:attrNameLst>
                                      </p:cBhvr>
                                      <p:to>
                                        <p:strVal val="visible"/>
                                      </p:to>
                                    </p:set>
                                    <p:animEffect transition="in" filter="checkerboard(across)">
                                      <p:cBhvr>
                                        <p:cTn id="12" dur="1000"/>
                                        <p:tgtEl>
                                          <p:spTgt spid="3307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0757">
                                            <p:txEl>
                                              <p:pRg st="2" end="2"/>
                                            </p:txEl>
                                          </p:spTgt>
                                        </p:tgtEl>
                                        <p:attrNameLst>
                                          <p:attrName>style.visibility</p:attrName>
                                        </p:attrNameLst>
                                      </p:cBhvr>
                                      <p:to>
                                        <p:strVal val="visible"/>
                                      </p:to>
                                    </p:set>
                                    <p:animEffect transition="in" filter="checkerboard(across)">
                                      <p:cBhvr>
                                        <p:cTn id="17" dur="1000"/>
                                        <p:tgtEl>
                                          <p:spTgt spid="33075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30757">
                                            <p:txEl>
                                              <p:pRg st="3" end="3"/>
                                            </p:txEl>
                                          </p:spTgt>
                                        </p:tgtEl>
                                        <p:attrNameLst>
                                          <p:attrName>style.visibility</p:attrName>
                                        </p:attrNameLst>
                                      </p:cBhvr>
                                      <p:to>
                                        <p:strVal val="visible"/>
                                      </p:to>
                                    </p:set>
                                    <p:animEffect transition="in" filter="checkerboard(across)">
                                      <p:cBhvr>
                                        <p:cTn id="22" dur="1000"/>
                                        <p:tgtEl>
                                          <p:spTgt spid="33075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30758">
                                            <p:txEl>
                                              <p:pRg st="0" end="0"/>
                                            </p:txEl>
                                          </p:spTgt>
                                        </p:tgtEl>
                                        <p:attrNameLst>
                                          <p:attrName>style.visibility</p:attrName>
                                        </p:attrNameLst>
                                      </p:cBhvr>
                                      <p:to>
                                        <p:strVal val="visible"/>
                                      </p:to>
                                    </p:set>
                                    <p:animEffect transition="in" filter="checkerboard(across)">
                                      <p:cBhvr>
                                        <p:cTn id="27" dur="1000"/>
                                        <p:tgtEl>
                                          <p:spTgt spid="33075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30758">
                                            <p:txEl>
                                              <p:pRg st="1" end="1"/>
                                            </p:txEl>
                                          </p:spTgt>
                                        </p:tgtEl>
                                        <p:attrNameLst>
                                          <p:attrName>style.visibility</p:attrName>
                                        </p:attrNameLst>
                                      </p:cBhvr>
                                      <p:to>
                                        <p:strVal val="visible"/>
                                      </p:to>
                                    </p:set>
                                    <p:animEffect transition="in" filter="checkerboard(across)">
                                      <p:cBhvr>
                                        <p:cTn id="32" dur="1000"/>
                                        <p:tgtEl>
                                          <p:spTgt spid="3307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vert="horz" anchor="b">
            <a:normAutofit/>
          </a:bodyPr>
          <a:lstStyle/>
          <a:p>
            <a:r>
              <a:rPr lang="en-US" sz="3000" dirty="0">
                <a:solidFill>
                  <a:srgbClr val="C00000"/>
                </a:solidFill>
              </a:rPr>
              <a:t>Mappage IP statique</a:t>
            </a:r>
          </a:p>
        </p:txBody>
      </p:sp>
      <p:sp>
        <p:nvSpPr>
          <p:cNvPr id="329733" name="Rectangle 5"/>
          <p:cNvSpPr>
            <a:spLocks noChangeArrowheads="1"/>
          </p:cNvSpPr>
          <p:nvPr/>
        </p:nvSpPr>
        <p:spPr bwMode="auto">
          <a:xfrm>
            <a:off x="2357664" y="1291547"/>
            <a:ext cx="6786336" cy="2270125"/>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Fournit la résolution de noms pour le nom d'hôte en adresse IP</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Plusieurs noms d'hôte peuvent être attribués à la même adresse IP</a:t>
            </a:r>
          </a:p>
        </p:txBody>
      </p:sp>
      <p:sp>
        <p:nvSpPr>
          <p:cNvPr id="329734" name="Rectangle 6"/>
          <p:cNvSpPr>
            <a:spLocks noChangeArrowheads="1"/>
          </p:cNvSpPr>
          <p:nvPr/>
        </p:nvSpPr>
        <p:spPr bwMode="auto">
          <a:xfrm>
            <a:off x="2343149" y="3892323"/>
            <a:ext cx="6800851" cy="2769734"/>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Fournit la résolution de noms pour le nom NetBIOS en adresse IP</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Une partie du fichier LMHOSTS est </a:t>
            </a:r>
            <a:r>
              <a:rPr lang="fr-FR" sz="2200" b="1" dirty="0" err="1">
                <a:latin typeface="Arial" charset="0"/>
              </a:rPr>
              <a:t>préchargée</a:t>
            </a:r>
            <a:r>
              <a:rPr lang="fr-FR" sz="2200" b="1" dirty="0">
                <a:latin typeface="Arial" charset="0"/>
              </a:rPr>
              <a:t> dans la mémoire</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Une adresse IP par nom NetBIOS ; les noms peuvent être un seul périphérique ou un groupe</a:t>
            </a:r>
          </a:p>
        </p:txBody>
      </p:sp>
      <p:sp>
        <p:nvSpPr>
          <p:cNvPr id="329735" name="AutoShape 7"/>
          <p:cNvSpPr>
            <a:spLocks noChangeArrowheads="1"/>
          </p:cNvSpPr>
          <p:nvPr/>
        </p:nvSpPr>
        <p:spPr bwMode="auto">
          <a:xfrm flipV="1">
            <a:off x="371497" y="1316038"/>
            <a:ext cx="1517650" cy="2101850"/>
          </a:xfrm>
          <a:prstGeom prst="foldedCorner">
            <a:avLst>
              <a:gd name="adj" fmla="val 21759"/>
            </a:avLst>
          </a:prstGeom>
          <a:solidFill>
            <a:schemeClr val="bg1"/>
          </a:solidFill>
          <a:ln w="6350">
            <a:solidFill>
              <a:schemeClr val="tx1"/>
            </a:solidFill>
            <a:round/>
            <a:headEnd/>
            <a:tailEnd/>
          </a:ln>
          <a:effectLst>
            <a:outerShdw dist="35921" dir="2700000" algn="ctr" rotWithShape="0">
              <a:srgbClr val="C0C0C0"/>
            </a:outerShdw>
          </a:effectLst>
        </p:spPr>
        <p:txBody>
          <a:bodyPr wrap="none" anchor="ctr"/>
          <a:lstStyle/>
          <a:p>
            <a:endParaRPr lang="fr-FR"/>
          </a:p>
        </p:txBody>
      </p:sp>
      <p:sp>
        <p:nvSpPr>
          <p:cNvPr id="329736" name="Rectangle 8"/>
          <p:cNvSpPr>
            <a:spLocks noChangeArrowheads="1"/>
          </p:cNvSpPr>
          <p:nvPr/>
        </p:nvSpPr>
        <p:spPr bwMode="auto">
          <a:xfrm>
            <a:off x="-7915" y="2117725"/>
            <a:ext cx="2171700" cy="496888"/>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000" b="1">
                <a:solidFill>
                  <a:srgbClr val="0000CC"/>
                </a:solidFill>
                <a:latin typeface="Arial" charset="0"/>
              </a:rPr>
              <a:t>Fichier HOSTS</a:t>
            </a:r>
          </a:p>
        </p:txBody>
      </p:sp>
      <p:sp>
        <p:nvSpPr>
          <p:cNvPr id="329737" name="AutoShape 9"/>
          <p:cNvSpPr>
            <a:spLocks noChangeArrowheads="1"/>
          </p:cNvSpPr>
          <p:nvPr/>
        </p:nvSpPr>
        <p:spPr bwMode="auto">
          <a:xfrm flipV="1">
            <a:off x="386011" y="4088943"/>
            <a:ext cx="1517650" cy="2101850"/>
          </a:xfrm>
          <a:prstGeom prst="foldedCorner">
            <a:avLst>
              <a:gd name="adj" fmla="val 21759"/>
            </a:avLst>
          </a:prstGeom>
          <a:solidFill>
            <a:schemeClr val="bg1"/>
          </a:solidFill>
          <a:ln w="6350">
            <a:solidFill>
              <a:schemeClr val="tx1"/>
            </a:solidFill>
            <a:round/>
            <a:headEnd/>
            <a:tailEnd/>
          </a:ln>
          <a:effectLst>
            <a:outerShdw dist="35921" dir="2700000" algn="ctr" rotWithShape="0">
              <a:srgbClr val="C0C0C0"/>
            </a:outerShdw>
          </a:effectLst>
        </p:spPr>
        <p:txBody>
          <a:bodyPr wrap="none" anchor="ctr"/>
          <a:lstStyle/>
          <a:p>
            <a:endParaRPr lang="fr-FR"/>
          </a:p>
        </p:txBody>
      </p:sp>
      <p:sp>
        <p:nvSpPr>
          <p:cNvPr id="329738" name="Rectangle 10"/>
          <p:cNvSpPr>
            <a:spLocks noChangeArrowheads="1"/>
          </p:cNvSpPr>
          <p:nvPr/>
        </p:nvSpPr>
        <p:spPr bwMode="auto">
          <a:xfrm>
            <a:off x="6599" y="4892218"/>
            <a:ext cx="2171700" cy="638175"/>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000" b="1">
                <a:solidFill>
                  <a:srgbClr val="0000CC"/>
                </a:solidFill>
                <a:latin typeface="Arial" charset="0"/>
              </a:rPr>
              <a:t>Fichier LMHOSTS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9733">
                                            <p:txEl>
                                              <p:pRg st="0" end="0"/>
                                            </p:txEl>
                                          </p:spTgt>
                                        </p:tgtEl>
                                        <p:attrNameLst>
                                          <p:attrName>style.visibility</p:attrName>
                                        </p:attrNameLst>
                                      </p:cBhvr>
                                      <p:to>
                                        <p:strVal val="visible"/>
                                      </p:to>
                                    </p:set>
                                    <p:animEffect transition="in" filter="checkerboard(across)">
                                      <p:cBhvr>
                                        <p:cTn id="7" dur="500"/>
                                        <p:tgtEl>
                                          <p:spTgt spid="3297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9733">
                                            <p:txEl>
                                              <p:pRg st="1" end="1"/>
                                            </p:txEl>
                                          </p:spTgt>
                                        </p:tgtEl>
                                        <p:attrNameLst>
                                          <p:attrName>style.visibility</p:attrName>
                                        </p:attrNameLst>
                                      </p:cBhvr>
                                      <p:to>
                                        <p:strVal val="visible"/>
                                      </p:to>
                                    </p:set>
                                    <p:animEffect transition="in" filter="checkerboard(across)">
                                      <p:cBhvr>
                                        <p:cTn id="12" dur="500"/>
                                        <p:tgtEl>
                                          <p:spTgt spid="3297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9734">
                                            <p:txEl>
                                              <p:pRg st="0" end="0"/>
                                            </p:txEl>
                                          </p:spTgt>
                                        </p:tgtEl>
                                        <p:attrNameLst>
                                          <p:attrName>style.visibility</p:attrName>
                                        </p:attrNameLst>
                                      </p:cBhvr>
                                      <p:to>
                                        <p:strVal val="visible"/>
                                      </p:to>
                                    </p:set>
                                    <p:animEffect transition="in" filter="checkerboard(across)">
                                      <p:cBhvr>
                                        <p:cTn id="17" dur="1000"/>
                                        <p:tgtEl>
                                          <p:spTgt spid="32973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29734">
                                            <p:txEl>
                                              <p:pRg st="1" end="1"/>
                                            </p:txEl>
                                          </p:spTgt>
                                        </p:tgtEl>
                                        <p:attrNameLst>
                                          <p:attrName>style.visibility</p:attrName>
                                        </p:attrNameLst>
                                      </p:cBhvr>
                                      <p:to>
                                        <p:strVal val="visible"/>
                                      </p:to>
                                    </p:set>
                                    <p:animEffect transition="in" filter="checkerboard(across)">
                                      <p:cBhvr>
                                        <p:cTn id="22" dur="1000"/>
                                        <p:tgtEl>
                                          <p:spTgt spid="32973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29734">
                                            <p:txEl>
                                              <p:pRg st="2" end="2"/>
                                            </p:txEl>
                                          </p:spTgt>
                                        </p:tgtEl>
                                        <p:attrNameLst>
                                          <p:attrName>style.visibility</p:attrName>
                                        </p:attrNameLst>
                                      </p:cBhvr>
                                      <p:to>
                                        <p:strVal val="visible"/>
                                      </p:to>
                                    </p:set>
                                    <p:animEffect transition="in" filter="checkerboard(across)">
                                      <p:cBhvr>
                                        <p:cTn id="27" dur="1000"/>
                                        <p:tgtEl>
                                          <p:spTgt spid="3297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vert="horz" anchor="b">
            <a:normAutofit fontScale="90000"/>
          </a:bodyPr>
          <a:lstStyle/>
          <a:p>
            <a:r>
              <a:rPr lang="fr-FR" sz="3000" b="1" dirty="0">
                <a:solidFill>
                  <a:srgbClr val="C00000"/>
                </a:solidFill>
              </a:rPr>
              <a:t>Choix d'une méthode de résolution de noms</a:t>
            </a:r>
            <a:endParaRPr lang="en-US" sz="3000" b="1" dirty="0">
              <a:solidFill>
                <a:srgbClr val="C00000"/>
              </a:solidFill>
            </a:endParaRPr>
          </a:p>
        </p:txBody>
      </p:sp>
      <p:sp>
        <p:nvSpPr>
          <p:cNvPr id="273413" name="Rectangle 5"/>
          <p:cNvSpPr>
            <a:spLocks noChangeArrowheads="1"/>
          </p:cNvSpPr>
          <p:nvPr/>
        </p:nvSpPr>
        <p:spPr bwMode="auto">
          <a:xfrm>
            <a:off x="12949" y="3009898"/>
            <a:ext cx="2171700" cy="496888"/>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000" b="1">
                <a:solidFill>
                  <a:srgbClr val="0000CC"/>
                </a:solidFill>
                <a:latin typeface="Arial" charset="0"/>
              </a:rPr>
              <a:t>Serveur DNS</a:t>
            </a:r>
          </a:p>
        </p:txBody>
      </p:sp>
      <p:sp>
        <p:nvSpPr>
          <p:cNvPr id="273414" name="Rectangle 6"/>
          <p:cNvSpPr>
            <a:spLocks noChangeArrowheads="1"/>
          </p:cNvSpPr>
          <p:nvPr/>
        </p:nvSpPr>
        <p:spPr bwMode="auto">
          <a:xfrm>
            <a:off x="-16079" y="5899824"/>
            <a:ext cx="2171700" cy="496887"/>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lgn="ctr" eaLnBrk="1" hangingPunct="1"/>
            <a:r>
              <a:rPr lang="en-US" sz="2000" b="1">
                <a:solidFill>
                  <a:srgbClr val="0000CC"/>
                </a:solidFill>
                <a:latin typeface="Arial" charset="0"/>
              </a:rPr>
              <a:t>Serveur WINS</a:t>
            </a:r>
          </a:p>
        </p:txBody>
      </p:sp>
      <p:grpSp>
        <p:nvGrpSpPr>
          <p:cNvPr id="273415" name="Group 7"/>
          <p:cNvGrpSpPr>
            <a:grpSpLocks/>
          </p:cNvGrpSpPr>
          <p:nvPr/>
        </p:nvGrpSpPr>
        <p:grpSpPr bwMode="auto">
          <a:xfrm>
            <a:off x="589211" y="1358898"/>
            <a:ext cx="1028700" cy="1695450"/>
            <a:chOff x="934" y="830"/>
            <a:chExt cx="626" cy="1012"/>
          </a:xfrm>
        </p:grpSpPr>
        <p:sp>
          <p:nvSpPr>
            <p:cNvPr id="273416" name="Freeform 8"/>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273417" name="Group 9"/>
            <p:cNvGrpSpPr>
              <a:grpSpLocks/>
            </p:cNvGrpSpPr>
            <p:nvPr/>
          </p:nvGrpSpPr>
          <p:grpSpPr bwMode="auto">
            <a:xfrm>
              <a:off x="934" y="830"/>
              <a:ext cx="626" cy="987"/>
              <a:chOff x="934" y="830"/>
              <a:chExt cx="626" cy="987"/>
            </a:xfrm>
          </p:grpSpPr>
          <p:sp>
            <p:nvSpPr>
              <p:cNvPr id="273418" name="Freeform 10"/>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73419" name="Freeform 11"/>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73420" name="Freeform 12"/>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273421" name="Line 13"/>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273422" name="Oval 14"/>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273423" name="Line 15"/>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273424" name="Line 16"/>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273425" name="Line 17"/>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273426" name="Line 18"/>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273427" name="Freeform 19"/>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273428" name="Freeform 20"/>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273429" name="Freeform 21"/>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273430" name="Line 22"/>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273431" name="Line 23"/>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273432" name="Line 24"/>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273433" name="Freeform 25"/>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273434" name="Line 26"/>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273435" name="Freeform 27"/>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73436" name="Freeform 28"/>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73437" name="Freeform 29"/>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73438" name="Line 30"/>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73439" name="Line 31"/>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73440" name="Line 32"/>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273441" name="Group 33"/>
          <p:cNvGrpSpPr>
            <a:grpSpLocks/>
          </p:cNvGrpSpPr>
          <p:nvPr/>
        </p:nvGrpSpPr>
        <p:grpSpPr bwMode="auto">
          <a:xfrm>
            <a:off x="560183" y="4248824"/>
            <a:ext cx="1028700" cy="1695450"/>
            <a:chOff x="934" y="830"/>
            <a:chExt cx="626" cy="1012"/>
          </a:xfrm>
        </p:grpSpPr>
        <p:sp>
          <p:nvSpPr>
            <p:cNvPr id="273442" name="Freeform 34"/>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273443" name="Group 35"/>
            <p:cNvGrpSpPr>
              <a:grpSpLocks/>
            </p:cNvGrpSpPr>
            <p:nvPr/>
          </p:nvGrpSpPr>
          <p:grpSpPr bwMode="auto">
            <a:xfrm>
              <a:off x="934" y="830"/>
              <a:ext cx="626" cy="987"/>
              <a:chOff x="934" y="830"/>
              <a:chExt cx="626" cy="987"/>
            </a:xfrm>
          </p:grpSpPr>
          <p:sp>
            <p:nvSpPr>
              <p:cNvPr id="273444" name="Freeform 36"/>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73445" name="Freeform 37"/>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73446" name="Freeform 38"/>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273447" name="Line 39"/>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273448" name="Oval 40"/>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273449" name="Line 41"/>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273450" name="Line 42"/>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273451" name="Line 43"/>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273452" name="Line 44"/>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273453" name="Freeform 45"/>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273454" name="Freeform 46"/>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273455" name="Freeform 47"/>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273456" name="Line 48"/>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273457" name="Line 49"/>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273458" name="Line 50"/>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273459" name="Freeform 51"/>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273460" name="Line 52"/>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273461" name="Freeform 53"/>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73462" name="Freeform 54"/>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73463" name="Freeform 55"/>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73464" name="Line 56"/>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73465" name="Line 57"/>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73466" name="Line 58"/>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sp>
        <p:nvSpPr>
          <p:cNvPr id="273467" name="Rectangle 59"/>
          <p:cNvSpPr>
            <a:spLocks noChangeArrowheads="1"/>
          </p:cNvSpPr>
          <p:nvPr/>
        </p:nvSpPr>
        <p:spPr bwMode="auto">
          <a:xfrm>
            <a:off x="2300061" y="1302431"/>
            <a:ext cx="6843939" cy="2403475"/>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None/>
            </a:pPr>
            <a:r>
              <a:rPr lang="fr-FR" sz="2200" b="1" dirty="0">
                <a:latin typeface="Arial" charset="0"/>
              </a:rPr>
              <a:t>DNS requis quand :</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Le client est membre du domaine Active Directory</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Le client a besoin de communiquer par le biais d'Internet</a:t>
            </a:r>
          </a:p>
        </p:txBody>
      </p:sp>
      <p:sp>
        <p:nvSpPr>
          <p:cNvPr id="273468" name="Rectangle 60"/>
          <p:cNvSpPr>
            <a:spLocks noChangeArrowheads="1"/>
          </p:cNvSpPr>
          <p:nvPr/>
        </p:nvSpPr>
        <p:spPr bwMode="auto">
          <a:xfrm>
            <a:off x="2285546" y="4003679"/>
            <a:ext cx="6858454" cy="2452688"/>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nchor="ctr"/>
          <a:lstStyle/>
          <a:p>
            <a:pPr marL="263525" indent="-263525" eaLnBrk="1" hangingPunct="1">
              <a:spcAft>
                <a:spcPct val="50000"/>
              </a:spcAft>
              <a:buClr>
                <a:schemeClr val="accent2"/>
              </a:buClr>
              <a:buSzPct val="65000"/>
              <a:buFont typeface="Wingdings" pitchFamily="2" charset="2"/>
              <a:buNone/>
            </a:pPr>
            <a:r>
              <a:rPr lang="fr-FR" sz="2200" b="1" dirty="0">
                <a:latin typeface="Arial" charset="0"/>
              </a:rPr>
              <a:t>WINS requis quand :</a:t>
            </a:r>
          </a:p>
          <a:p>
            <a:pPr marL="263525" indent="-263525" eaLnBrk="1" hangingPunct="1">
              <a:spcAft>
                <a:spcPct val="50000"/>
              </a:spcAft>
              <a:buClr>
                <a:schemeClr val="accent2"/>
              </a:buClr>
              <a:buSzPct val="65000"/>
              <a:buFont typeface="Wingdings" pitchFamily="2" charset="2"/>
              <a:buChar char="n"/>
            </a:pPr>
            <a:r>
              <a:rPr lang="fr-FR" sz="2200" b="1" dirty="0">
                <a:latin typeface="Arial" charset="0"/>
              </a:rPr>
              <a:t>Les applications ou services clients requièrent la résolution de noms NetBIOS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73467">
                                            <p:txEl>
                                              <p:pRg st="0" end="0"/>
                                            </p:txEl>
                                          </p:spTgt>
                                        </p:tgtEl>
                                        <p:attrNameLst>
                                          <p:attrName>style.visibility</p:attrName>
                                        </p:attrNameLst>
                                      </p:cBhvr>
                                      <p:to>
                                        <p:strVal val="visible"/>
                                      </p:to>
                                    </p:set>
                                    <p:animEffect transition="in" filter="checkerboard(across)">
                                      <p:cBhvr>
                                        <p:cTn id="7" dur="1000"/>
                                        <p:tgtEl>
                                          <p:spTgt spid="273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3467">
                                            <p:txEl>
                                              <p:pRg st="1" end="1"/>
                                            </p:txEl>
                                          </p:spTgt>
                                        </p:tgtEl>
                                        <p:attrNameLst>
                                          <p:attrName>style.visibility</p:attrName>
                                        </p:attrNameLst>
                                      </p:cBhvr>
                                      <p:to>
                                        <p:strVal val="visible"/>
                                      </p:to>
                                    </p:set>
                                    <p:animEffect transition="in" filter="checkerboard(across)">
                                      <p:cBhvr>
                                        <p:cTn id="12" dur="1000"/>
                                        <p:tgtEl>
                                          <p:spTgt spid="273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3467">
                                            <p:txEl>
                                              <p:pRg st="2" end="2"/>
                                            </p:txEl>
                                          </p:spTgt>
                                        </p:tgtEl>
                                        <p:attrNameLst>
                                          <p:attrName>style.visibility</p:attrName>
                                        </p:attrNameLst>
                                      </p:cBhvr>
                                      <p:to>
                                        <p:strVal val="visible"/>
                                      </p:to>
                                    </p:set>
                                    <p:animEffect transition="in" filter="checkerboard(across)">
                                      <p:cBhvr>
                                        <p:cTn id="17" dur="1000"/>
                                        <p:tgtEl>
                                          <p:spTgt spid="273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73468">
                                            <p:txEl>
                                              <p:pRg st="0" end="0"/>
                                            </p:txEl>
                                          </p:spTgt>
                                        </p:tgtEl>
                                        <p:attrNameLst>
                                          <p:attrName>style.visibility</p:attrName>
                                        </p:attrNameLst>
                                      </p:cBhvr>
                                      <p:to>
                                        <p:strVal val="visible"/>
                                      </p:to>
                                    </p:set>
                                    <p:animEffect transition="in" filter="checkerboard(across)">
                                      <p:cBhvr>
                                        <p:cTn id="22" dur="1000"/>
                                        <p:tgtEl>
                                          <p:spTgt spid="27346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73468">
                                            <p:txEl>
                                              <p:pRg st="1" end="1"/>
                                            </p:txEl>
                                          </p:spTgt>
                                        </p:tgtEl>
                                        <p:attrNameLst>
                                          <p:attrName>style.visibility</p:attrName>
                                        </p:attrNameLst>
                                      </p:cBhvr>
                                      <p:to>
                                        <p:strVal val="visible"/>
                                      </p:to>
                                    </p:set>
                                    <p:animEffect transition="in" filter="checkerboard(across)">
                                      <p:cBhvr>
                                        <p:cTn id="27" dur="1000"/>
                                        <p:tgtEl>
                                          <p:spTgt spid="2734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4"/>
          <p:cNvSpPr>
            <a:spLocks noChangeArrowheads="1"/>
          </p:cNvSpPr>
          <p:nvPr/>
        </p:nvSpPr>
        <p:spPr bwMode="auto">
          <a:xfrm>
            <a:off x="1147763" y="1379538"/>
            <a:ext cx="6897687" cy="4537075"/>
          </a:xfrm>
          <a:prstGeom prst="ellipse">
            <a:avLst/>
          </a:prstGeom>
          <a:gradFill rotWithShape="1">
            <a:gsLst>
              <a:gs pos="0">
                <a:srgbClr val="DEE7F1"/>
              </a:gs>
              <a:gs pos="100000">
                <a:srgbClr val="8DACD0"/>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pPr>
              <a:defRPr/>
            </a:pPr>
            <a:endParaRPr lang="en-US" dirty="0">
              <a:cs typeface="Arial" charset="0"/>
            </a:endParaRPr>
          </a:p>
        </p:txBody>
      </p:sp>
      <p:grpSp>
        <p:nvGrpSpPr>
          <p:cNvPr id="4" name="Group 27"/>
          <p:cNvGrpSpPr>
            <a:grpSpLocks/>
          </p:cNvGrpSpPr>
          <p:nvPr/>
        </p:nvGrpSpPr>
        <p:grpSpPr bwMode="auto">
          <a:xfrm>
            <a:off x="3086155" y="5480824"/>
            <a:ext cx="2787164" cy="548501"/>
            <a:chOff x="3163729" y="5620901"/>
            <a:chExt cx="2787623" cy="548640"/>
          </a:xfrm>
        </p:grpSpPr>
        <p:sp>
          <p:nvSpPr>
            <p:cNvPr id="12" name="AutoShape 11"/>
            <p:cNvSpPr>
              <a:spLocks noChangeArrowheads="1"/>
            </p:cNvSpPr>
            <p:nvPr/>
          </p:nvSpPr>
          <p:spPr bwMode="auto">
            <a:xfrm>
              <a:off x="3347854" y="5620127"/>
              <a:ext cx="2603929" cy="549414"/>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nSpc>
                  <a:spcPct val="90000"/>
                </a:lnSpc>
                <a:spcBef>
                  <a:spcPct val="40000"/>
                </a:spcBef>
                <a:defRPr/>
              </a:pPr>
              <a:r>
                <a:rPr lang="en-US" sz="2000" dirty="0">
                  <a:cs typeface="Arial" charset="0"/>
                </a:rPr>
                <a:t>Cache de nom </a:t>
              </a:r>
              <a:r>
                <a:rPr lang="en-US" sz="2000" dirty="0" err="1">
                  <a:cs typeface="Arial" charset="0"/>
                </a:rPr>
                <a:t>NetBios</a:t>
              </a:r>
              <a:endParaRPr lang="en-US" sz="2000" dirty="0">
                <a:cs typeface="Arial" charset="0"/>
              </a:endParaRPr>
            </a:p>
          </p:txBody>
        </p:sp>
        <p:sp>
          <p:nvSpPr>
            <p:cNvPr id="13" name="AutoShape 12"/>
            <p:cNvSpPr>
              <a:spLocks noChangeArrowheads="1"/>
            </p:cNvSpPr>
            <p:nvPr/>
          </p:nvSpPr>
          <p:spPr bwMode="auto">
            <a:xfrm>
              <a:off x="3163674" y="5697935"/>
              <a:ext cx="338194" cy="3938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4</a:t>
              </a:r>
            </a:p>
          </p:txBody>
        </p:sp>
      </p:grpSp>
      <p:pic>
        <p:nvPicPr>
          <p:cNvPr id="30756" name="Picture 13" descr="Server01"/>
          <p:cNvPicPr>
            <a:picLocks noChangeAspect="1" noChangeArrowheads="1"/>
          </p:cNvPicPr>
          <p:nvPr/>
        </p:nvPicPr>
        <p:blipFill>
          <a:blip r:embed="rId3"/>
          <a:srcRect/>
          <a:stretch>
            <a:fillRect/>
          </a:stretch>
        </p:blipFill>
        <p:spPr bwMode="auto">
          <a:xfrm>
            <a:off x="5950366" y="4195712"/>
            <a:ext cx="1038054" cy="1222065"/>
          </a:xfrm>
          <a:prstGeom prst="rect">
            <a:avLst/>
          </a:prstGeom>
          <a:noFill/>
          <a:ln w="9525">
            <a:noFill/>
            <a:miter lim="800000"/>
            <a:headEnd/>
            <a:tailEnd/>
          </a:ln>
        </p:spPr>
      </p:pic>
      <p:pic>
        <p:nvPicPr>
          <p:cNvPr id="30757" name="Picture 10" descr="Server01"/>
          <p:cNvPicPr>
            <a:picLocks noChangeAspect="1" noChangeArrowheads="1"/>
          </p:cNvPicPr>
          <p:nvPr/>
        </p:nvPicPr>
        <p:blipFill>
          <a:blip r:embed="rId4"/>
          <a:srcRect/>
          <a:stretch>
            <a:fillRect/>
          </a:stretch>
        </p:blipFill>
        <p:spPr bwMode="auto">
          <a:xfrm>
            <a:off x="1936240" y="4195712"/>
            <a:ext cx="1077735" cy="1268090"/>
          </a:xfrm>
          <a:prstGeom prst="rect">
            <a:avLst/>
          </a:prstGeom>
          <a:noFill/>
          <a:ln w="9525">
            <a:noFill/>
            <a:miter lim="800000"/>
            <a:headEnd/>
            <a:tailEnd/>
          </a:ln>
        </p:spPr>
      </p:pic>
      <p:sp>
        <p:nvSpPr>
          <p:cNvPr id="15" name="AutoShape 14"/>
          <p:cNvSpPr>
            <a:spLocks noChangeArrowheads="1"/>
          </p:cNvSpPr>
          <p:nvPr/>
        </p:nvSpPr>
        <p:spPr bwMode="auto">
          <a:xfrm>
            <a:off x="6985000" y="4560888"/>
            <a:ext cx="1736725" cy="544512"/>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nSpc>
                <a:spcPct val="90000"/>
              </a:lnSpc>
              <a:spcBef>
                <a:spcPct val="40000"/>
              </a:spcBef>
              <a:defRPr/>
            </a:pPr>
            <a:r>
              <a:rPr lang="en-US" sz="2000" dirty="0" err="1">
                <a:cs typeface="Arial" charset="0"/>
              </a:rPr>
              <a:t>Serveur</a:t>
            </a:r>
            <a:r>
              <a:rPr lang="en-US" sz="2000" dirty="0">
                <a:cs typeface="Arial" charset="0"/>
              </a:rPr>
              <a:t> WINS </a:t>
            </a:r>
          </a:p>
        </p:txBody>
      </p:sp>
      <p:pic>
        <p:nvPicPr>
          <p:cNvPr id="30759" name="Picture 16" descr="Document_Writing01"/>
          <p:cNvPicPr>
            <a:picLocks noChangeAspect="1" noChangeArrowheads="1"/>
          </p:cNvPicPr>
          <p:nvPr/>
        </p:nvPicPr>
        <p:blipFill>
          <a:blip r:embed="rId5"/>
          <a:srcRect/>
          <a:stretch>
            <a:fillRect/>
          </a:stretch>
        </p:blipFill>
        <p:spPr bwMode="auto">
          <a:xfrm>
            <a:off x="5877253" y="1571446"/>
            <a:ext cx="639658" cy="1072878"/>
          </a:xfrm>
          <a:prstGeom prst="rect">
            <a:avLst/>
          </a:prstGeom>
          <a:noFill/>
          <a:ln w="9525">
            <a:noFill/>
            <a:miter lim="800000"/>
            <a:headEnd/>
            <a:tailEnd/>
          </a:ln>
        </p:spPr>
      </p:pic>
      <p:grpSp>
        <p:nvGrpSpPr>
          <p:cNvPr id="5" name="Group 31"/>
          <p:cNvGrpSpPr>
            <a:grpSpLocks/>
          </p:cNvGrpSpPr>
          <p:nvPr/>
        </p:nvGrpSpPr>
        <p:grpSpPr bwMode="auto">
          <a:xfrm>
            <a:off x="7064466" y="2879725"/>
            <a:ext cx="1650909" cy="544513"/>
            <a:chOff x="7053577" y="3216428"/>
            <a:chExt cx="1651181" cy="544651"/>
          </a:xfrm>
        </p:grpSpPr>
        <p:sp>
          <p:nvSpPr>
            <p:cNvPr id="19" name="AutoShape 19"/>
            <p:cNvSpPr>
              <a:spLocks noChangeArrowheads="1"/>
            </p:cNvSpPr>
            <p:nvPr/>
          </p:nvSpPr>
          <p:spPr bwMode="auto">
            <a:xfrm>
              <a:off x="7237666" y="3216428"/>
              <a:ext cx="1467092" cy="544651"/>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nSpc>
                  <a:spcPct val="90000"/>
                </a:lnSpc>
                <a:spcBef>
                  <a:spcPct val="40000"/>
                </a:spcBef>
                <a:defRPr/>
              </a:pPr>
              <a:r>
                <a:rPr lang="en-US" sz="2000" dirty="0">
                  <a:cs typeface="Arial" charset="0"/>
                </a:rPr>
                <a:t>Diffusion</a:t>
              </a:r>
            </a:p>
          </p:txBody>
        </p:sp>
        <p:sp>
          <p:nvSpPr>
            <p:cNvPr id="20" name="AutoShape 20"/>
            <p:cNvSpPr>
              <a:spLocks noChangeArrowheads="1"/>
            </p:cNvSpPr>
            <p:nvPr/>
          </p:nvSpPr>
          <p:spPr bwMode="auto">
            <a:xfrm>
              <a:off x="7053486" y="3291060"/>
              <a:ext cx="338194" cy="3938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6</a:t>
              </a:r>
            </a:p>
          </p:txBody>
        </p:sp>
      </p:grpSp>
      <p:grpSp>
        <p:nvGrpSpPr>
          <p:cNvPr id="6" name="Group 30"/>
          <p:cNvGrpSpPr>
            <a:grpSpLocks/>
          </p:cNvGrpSpPr>
          <p:nvPr/>
        </p:nvGrpSpPr>
        <p:grpSpPr bwMode="auto">
          <a:xfrm>
            <a:off x="354013" y="2879725"/>
            <a:ext cx="2630343" cy="544513"/>
            <a:chOff x="295526" y="3019142"/>
            <a:chExt cx="2630776" cy="544651"/>
          </a:xfrm>
        </p:grpSpPr>
        <p:sp>
          <p:nvSpPr>
            <p:cNvPr id="21" name="AutoShape 25"/>
            <p:cNvSpPr>
              <a:spLocks noChangeArrowheads="1"/>
            </p:cNvSpPr>
            <p:nvPr/>
          </p:nvSpPr>
          <p:spPr bwMode="auto">
            <a:xfrm>
              <a:off x="457478" y="3019142"/>
              <a:ext cx="2468968" cy="544651"/>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gn="ctr">
                <a:lnSpc>
                  <a:spcPct val="90000"/>
                </a:lnSpc>
                <a:spcBef>
                  <a:spcPct val="40000"/>
                </a:spcBef>
                <a:defRPr/>
              </a:pPr>
              <a:r>
                <a:rPr lang="en-US" sz="2000" dirty="0">
                  <a:cs typeface="Arial" charset="0"/>
                </a:rPr>
                <a:t>Cache de </a:t>
              </a:r>
              <a:r>
                <a:rPr lang="en-US" sz="2000" dirty="0" err="1">
                  <a:cs typeface="Arial" charset="0"/>
                </a:rPr>
                <a:t>résolution</a:t>
              </a:r>
              <a:r>
                <a:rPr lang="en-US" sz="2000" dirty="0">
                  <a:cs typeface="Arial" charset="0"/>
                </a:rPr>
                <a:t> DNS</a:t>
              </a:r>
            </a:p>
          </p:txBody>
        </p:sp>
        <p:sp>
          <p:nvSpPr>
            <p:cNvPr id="22" name="AutoShape 26"/>
            <p:cNvSpPr>
              <a:spLocks noChangeArrowheads="1"/>
            </p:cNvSpPr>
            <p:nvPr/>
          </p:nvSpPr>
          <p:spPr bwMode="auto">
            <a:xfrm>
              <a:off x="295526" y="3093774"/>
              <a:ext cx="338193" cy="3938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2</a:t>
              </a:r>
            </a:p>
          </p:txBody>
        </p:sp>
      </p:grpSp>
      <p:grpSp>
        <p:nvGrpSpPr>
          <p:cNvPr id="7" name="Group 27"/>
          <p:cNvGrpSpPr>
            <a:grpSpLocks/>
          </p:cNvGrpSpPr>
          <p:nvPr/>
        </p:nvGrpSpPr>
        <p:grpSpPr bwMode="auto">
          <a:xfrm flipH="1">
            <a:off x="3056830" y="2075351"/>
            <a:ext cx="3079243" cy="2966284"/>
            <a:chOff x="1728" y="3264"/>
            <a:chExt cx="576" cy="555"/>
          </a:xfrm>
        </p:grpSpPr>
        <p:sp>
          <p:nvSpPr>
            <p:cNvPr id="30773" name="AutoShape 28"/>
            <p:cNvSpPr>
              <a:spLocks noChangeAspect="1" noChangeArrowheads="1" noTextEdit="1"/>
            </p:cNvSpPr>
            <p:nvPr/>
          </p:nvSpPr>
          <p:spPr bwMode="auto">
            <a:xfrm>
              <a:off x="1728" y="3264"/>
              <a:ext cx="576" cy="555"/>
            </a:xfrm>
            <a:prstGeom prst="rect">
              <a:avLst/>
            </a:prstGeom>
            <a:noFill/>
            <a:ln w="9525">
              <a:noFill/>
              <a:miter lim="800000"/>
              <a:headEnd/>
              <a:tailEnd/>
            </a:ln>
          </p:spPr>
          <p:txBody>
            <a:bodyPr/>
            <a:lstStyle/>
            <a:p>
              <a:endParaRPr lang="fr-FR"/>
            </a:p>
          </p:txBody>
        </p:sp>
        <p:sp>
          <p:nvSpPr>
            <p:cNvPr id="30774" name="Freeform 29"/>
            <p:cNvSpPr>
              <a:spLocks/>
            </p:cNvSpPr>
            <p:nvPr/>
          </p:nvSpPr>
          <p:spPr bwMode="auto">
            <a:xfrm>
              <a:off x="1728" y="3264"/>
              <a:ext cx="576" cy="555"/>
            </a:xfrm>
            <a:custGeom>
              <a:avLst/>
              <a:gdLst>
                <a:gd name="T0" fmla="*/ 0 w 2209"/>
                <a:gd name="T1" fmla="*/ 0 h 2130"/>
                <a:gd name="T2" fmla="*/ 0 w 2209"/>
                <a:gd name="T3" fmla="*/ 0 h 2130"/>
                <a:gd name="T4" fmla="*/ 0 w 2209"/>
                <a:gd name="T5" fmla="*/ 0 h 2130"/>
                <a:gd name="T6" fmla="*/ 0 w 2209"/>
                <a:gd name="T7" fmla="*/ 0 h 2130"/>
                <a:gd name="T8" fmla="*/ 0 w 2209"/>
                <a:gd name="T9" fmla="*/ 0 h 2130"/>
                <a:gd name="T10" fmla="*/ 0 w 2209"/>
                <a:gd name="T11" fmla="*/ 0 h 2130"/>
                <a:gd name="T12" fmla="*/ 0 w 2209"/>
                <a:gd name="T13" fmla="*/ 0 h 2130"/>
                <a:gd name="T14" fmla="*/ 0 w 2209"/>
                <a:gd name="T15" fmla="*/ 0 h 2130"/>
                <a:gd name="T16" fmla="*/ 0 w 2209"/>
                <a:gd name="T17" fmla="*/ 0 h 2130"/>
                <a:gd name="T18" fmla="*/ 0 w 2209"/>
                <a:gd name="T19" fmla="*/ 0 h 2130"/>
                <a:gd name="T20" fmla="*/ 0 w 2209"/>
                <a:gd name="T21" fmla="*/ 0 h 2130"/>
                <a:gd name="T22" fmla="*/ 0 w 2209"/>
                <a:gd name="T23" fmla="*/ 0 h 2130"/>
                <a:gd name="T24" fmla="*/ 0 w 2209"/>
                <a:gd name="T25" fmla="*/ 0 h 2130"/>
                <a:gd name="T26" fmla="*/ 0 w 2209"/>
                <a:gd name="T27" fmla="*/ 0 h 2130"/>
                <a:gd name="T28" fmla="*/ 0 w 2209"/>
                <a:gd name="T29" fmla="*/ 0 h 2130"/>
                <a:gd name="T30" fmla="*/ 0 w 2209"/>
                <a:gd name="T31" fmla="*/ 0 h 2130"/>
                <a:gd name="T32" fmla="*/ 0 w 2209"/>
                <a:gd name="T33" fmla="*/ 0 h 2130"/>
                <a:gd name="T34" fmla="*/ 0 w 2209"/>
                <a:gd name="T35" fmla="*/ 0 h 2130"/>
                <a:gd name="T36" fmla="*/ 0 w 2209"/>
                <a:gd name="T37" fmla="*/ 0 h 2130"/>
                <a:gd name="T38" fmla="*/ 0 w 2209"/>
                <a:gd name="T39" fmla="*/ 0 h 2130"/>
                <a:gd name="T40" fmla="*/ 0 w 2209"/>
                <a:gd name="T41" fmla="*/ 0 h 2130"/>
                <a:gd name="T42" fmla="*/ 0 w 2209"/>
                <a:gd name="T43" fmla="*/ 0 h 2130"/>
                <a:gd name="T44" fmla="*/ 0 w 2209"/>
                <a:gd name="T45" fmla="*/ 0 h 2130"/>
                <a:gd name="T46" fmla="*/ 0 w 2209"/>
                <a:gd name="T47" fmla="*/ 0 h 2130"/>
                <a:gd name="T48" fmla="*/ 0 w 2209"/>
                <a:gd name="T49" fmla="*/ 0 h 2130"/>
                <a:gd name="T50" fmla="*/ 0 w 2209"/>
                <a:gd name="T51" fmla="*/ 0 h 2130"/>
                <a:gd name="T52" fmla="*/ 0 w 2209"/>
                <a:gd name="T53" fmla="*/ 0 h 2130"/>
                <a:gd name="T54" fmla="*/ 0 w 2209"/>
                <a:gd name="T55" fmla="*/ 0 h 2130"/>
                <a:gd name="T56" fmla="*/ 0 w 2209"/>
                <a:gd name="T57" fmla="*/ 0 h 2130"/>
                <a:gd name="T58" fmla="*/ 0 w 2209"/>
                <a:gd name="T59" fmla="*/ 0 h 2130"/>
                <a:gd name="T60" fmla="*/ 0 w 2209"/>
                <a:gd name="T61" fmla="*/ 0 h 2130"/>
                <a:gd name="T62" fmla="*/ 0 w 2209"/>
                <a:gd name="T63" fmla="*/ 0 h 2130"/>
                <a:gd name="T64" fmla="*/ 0 w 2209"/>
                <a:gd name="T65" fmla="*/ 0 h 2130"/>
                <a:gd name="T66" fmla="*/ 0 w 2209"/>
                <a:gd name="T67" fmla="*/ 0 h 2130"/>
                <a:gd name="T68" fmla="*/ 0 w 2209"/>
                <a:gd name="T69" fmla="*/ 0 h 2130"/>
                <a:gd name="T70" fmla="*/ 0 w 2209"/>
                <a:gd name="T71" fmla="*/ 0 h 2130"/>
                <a:gd name="T72" fmla="*/ 0 w 2209"/>
                <a:gd name="T73" fmla="*/ 0 h 2130"/>
                <a:gd name="T74" fmla="*/ 0 w 2209"/>
                <a:gd name="T75" fmla="*/ 0 h 2130"/>
                <a:gd name="T76" fmla="*/ 0 w 2209"/>
                <a:gd name="T77" fmla="*/ 0 h 2130"/>
                <a:gd name="T78" fmla="*/ 0 w 2209"/>
                <a:gd name="T79" fmla="*/ 0 h 2130"/>
                <a:gd name="T80" fmla="*/ 0 w 2209"/>
                <a:gd name="T81" fmla="*/ 0 h 2130"/>
                <a:gd name="T82" fmla="*/ 0 w 2209"/>
                <a:gd name="T83" fmla="*/ 0 h 2130"/>
                <a:gd name="T84" fmla="*/ 0 w 2209"/>
                <a:gd name="T85" fmla="*/ 0 h 2130"/>
                <a:gd name="T86" fmla="*/ 0 w 2209"/>
                <a:gd name="T87" fmla="*/ 0 h 2130"/>
                <a:gd name="T88" fmla="*/ 0 w 2209"/>
                <a:gd name="T89" fmla="*/ 0 h 2130"/>
                <a:gd name="T90" fmla="*/ 0 w 2209"/>
                <a:gd name="T91" fmla="*/ 0 h 2130"/>
                <a:gd name="T92" fmla="*/ 0 w 2209"/>
                <a:gd name="T93" fmla="*/ 0 h 2130"/>
                <a:gd name="T94" fmla="*/ 0 w 2209"/>
                <a:gd name="T95" fmla="*/ 0 h 2130"/>
                <a:gd name="T96" fmla="*/ 0 w 2209"/>
                <a:gd name="T97" fmla="*/ 0 h 2130"/>
                <a:gd name="T98" fmla="*/ 0 w 2209"/>
                <a:gd name="T99" fmla="*/ 0 h 2130"/>
                <a:gd name="T100" fmla="*/ 0 w 2209"/>
                <a:gd name="T101" fmla="*/ 0 h 2130"/>
                <a:gd name="T102" fmla="*/ 0 w 2209"/>
                <a:gd name="T103" fmla="*/ 0 h 2130"/>
                <a:gd name="T104" fmla="*/ 0 w 2209"/>
                <a:gd name="T105" fmla="*/ 0 h 2130"/>
                <a:gd name="T106" fmla="*/ 0 w 2209"/>
                <a:gd name="T107" fmla="*/ 0 h 2130"/>
                <a:gd name="T108" fmla="*/ 0 w 2209"/>
                <a:gd name="T109" fmla="*/ 0 h 2130"/>
                <a:gd name="T110" fmla="*/ 0 w 2209"/>
                <a:gd name="T111" fmla="*/ 0 h 2130"/>
                <a:gd name="T112" fmla="*/ 0 w 2209"/>
                <a:gd name="T113" fmla="*/ 0 h 2130"/>
                <a:gd name="T114" fmla="*/ 0 w 2209"/>
                <a:gd name="T115" fmla="*/ 0 h 213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09"/>
                <a:gd name="T175" fmla="*/ 0 h 2130"/>
                <a:gd name="T176" fmla="*/ 2209 w 2209"/>
                <a:gd name="T177" fmla="*/ 2130 h 213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09" h="2130">
                  <a:moveTo>
                    <a:pt x="0" y="1050"/>
                  </a:moveTo>
                  <a:lnTo>
                    <a:pt x="1" y="1010"/>
                  </a:lnTo>
                  <a:lnTo>
                    <a:pt x="2" y="990"/>
                  </a:lnTo>
                  <a:lnTo>
                    <a:pt x="3" y="970"/>
                  </a:lnTo>
                  <a:lnTo>
                    <a:pt x="5" y="951"/>
                  </a:lnTo>
                  <a:lnTo>
                    <a:pt x="7" y="931"/>
                  </a:lnTo>
                  <a:lnTo>
                    <a:pt x="10" y="911"/>
                  </a:lnTo>
                  <a:lnTo>
                    <a:pt x="13" y="892"/>
                  </a:lnTo>
                  <a:lnTo>
                    <a:pt x="16" y="873"/>
                  </a:lnTo>
                  <a:lnTo>
                    <a:pt x="20" y="854"/>
                  </a:lnTo>
                  <a:lnTo>
                    <a:pt x="24" y="835"/>
                  </a:lnTo>
                  <a:lnTo>
                    <a:pt x="29" y="816"/>
                  </a:lnTo>
                  <a:lnTo>
                    <a:pt x="34" y="797"/>
                  </a:lnTo>
                  <a:lnTo>
                    <a:pt x="39" y="779"/>
                  </a:lnTo>
                  <a:lnTo>
                    <a:pt x="44" y="760"/>
                  </a:lnTo>
                  <a:lnTo>
                    <a:pt x="50" y="742"/>
                  </a:lnTo>
                  <a:lnTo>
                    <a:pt x="56" y="724"/>
                  </a:lnTo>
                  <a:lnTo>
                    <a:pt x="63" y="706"/>
                  </a:lnTo>
                  <a:lnTo>
                    <a:pt x="70" y="688"/>
                  </a:lnTo>
                  <a:lnTo>
                    <a:pt x="77" y="670"/>
                  </a:lnTo>
                  <a:lnTo>
                    <a:pt x="85" y="653"/>
                  </a:lnTo>
                  <a:lnTo>
                    <a:pt x="93" y="636"/>
                  </a:lnTo>
                  <a:lnTo>
                    <a:pt x="109" y="601"/>
                  </a:lnTo>
                  <a:lnTo>
                    <a:pt x="118" y="585"/>
                  </a:lnTo>
                  <a:lnTo>
                    <a:pt x="127" y="568"/>
                  </a:lnTo>
                  <a:lnTo>
                    <a:pt x="137" y="551"/>
                  </a:lnTo>
                  <a:lnTo>
                    <a:pt x="147" y="535"/>
                  </a:lnTo>
                  <a:lnTo>
                    <a:pt x="157" y="519"/>
                  </a:lnTo>
                  <a:lnTo>
                    <a:pt x="167" y="503"/>
                  </a:lnTo>
                  <a:lnTo>
                    <a:pt x="189" y="472"/>
                  </a:lnTo>
                  <a:lnTo>
                    <a:pt x="148" y="450"/>
                  </a:lnTo>
                  <a:lnTo>
                    <a:pt x="119" y="434"/>
                  </a:lnTo>
                  <a:lnTo>
                    <a:pt x="109" y="428"/>
                  </a:lnTo>
                  <a:lnTo>
                    <a:pt x="106" y="426"/>
                  </a:lnTo>
                  <a:lnTo>
                    <a:pt x="122" y="408"/>
                  </a:lnTo>
                  <a:lnTo>
                    <a:pt x="139" y="389"/>
                  </a:lnTo>
                  <a:lnTo>
                    <a:pt x="156" y="371"/>
                  </a:lnTo>
                  <a:lnTo>
                    <a:pt x="174" y="354"/>
                  </a:lnTo>
                  <a:lnTo>
                    <a:pt x="193" y="337"/>
                  </a:lnTo>
                  <a:lnTo>
                    <a:pt x="212" y="320"/>
                  </a:lnTo>
                  <a:lnTo>
                    <a:pt x="232" y="304"/>
                  </a:lnTo>
                  <a:lnTo>
                    <a:pt x="252" y="288"/>
                  </a:lnTo>
                  <a:lnTo>
                    <a:pt x="273" y="273"/>
                  </a:lnTo>
                  <a:lnTo>
                    <a:pt x="294" y="258"/>
                  </a:lnTo>
                  <a:lnTo>
                    <a:pt x="315" y="243"/>
                  </a:lnTo>
                  <a:lnTo>
                    <a:pt x="337" y="229"/>
                  </a:lnTo>
                  <a:lnTo>
                    <a:pt x="359" y="216"/>
                  </a:lnTo>
                  <a:lnTo>
                    <a:pt x="381" y="202"/>
                  </a:lnTo>
                  <a:lnTo>
                    <a:pt x="404" y="190"/>
                  </a:lnTo>
                  <a:lnTo>
                    <a:pt x="427" y="177"/>
                  </a:lnTo>
                  <a:lnTo>
                    <a:pt x="450" y="166"/>
                  </a:lnTo>
                  <a:lnTo>
                    <a:pt x="473" y="154"/>
                  </a:lnTo>
                  <a:lnTo>
                    <a:pt x="497" y="143"/>
                  </a:lnTo>
                  <a:lnTo>
                    <a:pt x="520" y="133"/>
                  </a:lnTo>
                  <a:lnTo>
                    <a:pt x="567" y="113"/>
                  </a:lnTo>
                  <a:lnTo>
                    <a:pt x="591" y="104"/>
                  </a:lnTo>
                  <a:lnTo>
                    <a:pt x="614" y="96"/>
                  </a:lnTo>
                  <a:lnTo>
                    <a:pt x="637" y="88"/>
                  </a:lnTo>
                  <a:lnTo>
                    <a:pt x="661" y="80"/>
                  </a:lnTo>
                  <a:lnTo>
                    <a:pt x="707" y="67"/>
                  </a:lnTo>
                  <a:lnTo>
                    <a:pt x="729" y="61"/>
                  </a:lnTo>
                  <a:lnTo>
                    <a:pt x="752" y="56"/>
                  </a:lnTo>
                  <a:lnTo>
                    <a:pt x="774" y="51"/>
                  </a:lnTo>
                  <a:lnTo>
                    <a:pt x="796" y="46"/>
                  </a:lnTo>
                  <a:lnTo>
                    <a:pt x="787" y="57"/>
                  </a:lnTo>
                  <a:lnTo>
                    <a:pt x="777" y="69"/>
                  </a:lnTo>
                  <a:lnTo>
                    <a:pt x="759" y="92"/>
                  </a:lnTo>
                  <a:lnTo>
                    <a:pt x="741" y="116"/>
                  </a:lnTo>
                  <a:lnTo>
                    <a:pt x="724" y="140"/>
                  </a:lnTo>
                  <a:lnTo>
                    <a:pt x="708" y="165"/>
                  </a:lnTo>
                  <a:lnTo>
                    <a:pt x="692" y="190"/>
                  </a:lnTo>
                  <a:lnTo>
                    <a:pt x="677" y="215"/>
                  </a:lnTo>
                  <a:lnTo>
                    <a:pt x="662" y="241"/>
                  </a:lnTo>
                  <a:lnTo>
                    <a:pt x="648" y="267"/>
                  </a:lnTo>
                  <a:lnTo>
                    <a:pt x="634" y="292"/>
                  </a:lnTo>
                  <a:lnTo>
                    <a:pt x="609" y="343"/>
                  </a:lnTo>
                  <a:lnTo>
                    <a:pt x="586" y="392"/>
                  </a:lnTo>
                  <a:lnTo>
                    <a:pt x="575" y="416"/>
                  </a:lnTo>
                  <a:lnTo>
                    <a:pt x="565" y="439"/>
                  </a:lnTo>
                  <a:lnTo>
                    <a:pt x="547" y="484"/>
                  </a:lnTo>
                  <a:lnTo>
                    <a:pt x="531" y="525"/>
                  </a:lnTo>
                  <a:lnTo>
                    <a:pt x="518" y="562"/>
                  </a:lnTo>
                  <a:lnTo>
                    <a:pt x="507" y="593"/>
                  </a:lnTo>
                  <a:lnTo>
                    <a:pt x="492" y="639"/>
                  </a:lnTo>
                  <a:lnTo>
                    <a:pt x="487" y="655"/>
                  </a:lnTo>
                  <a:lnTo>
                    <a:pt x="484" y="653"/>
                  </a:lnTo>
                  <a:lnTo>
                    <a:pt x="474" y="647"/>
                  </a:lnTo>
                  <a:lnTo>
                    <a:pt x="444" y="630"/>
                  </a:lnTo>
                  <a:lnTo>
                    <a:pt x="414" y="614"/>
                  </a:lnTo>
                  <a:lnTo>
                    <a:pt x="400" y="606"/>
                  </a:lnTo>
                  <a:lnTo>
                    <a:pt x="384" y="630"/>
                  </a:lnTo>
                  <a:lnTo>
                    <a:pt x="369" y="654"/>
                  </a:lnTo>
                  <a:lnTo>
                    <a:pt x="355" y="678"/>
                  </a:lnTo>
                  <a:lnTo>
                    <a:pt x="342" y="703"/>
                  </a:lnTo>
                  <a:lnTo>
                    <a:pt x="330" y="728"/>
                  </a:lnTo>
                  <a:lnTo>
                    <a:pt x="319" y="754"/>
                  </a:lnTo>
                  <a:lnTo>
                    <a:pt x="309" y="780"/>
                  </a:lnTo>
                  <a:lnTo>
                    <a:pt x="299" y="806"/>
                  </a:lnTo>
                  <a:lnTo>
                    <a:pt x="291" y="832"/>
                  </a:lnTo>
                  <a:lnTo>
                    <a:pt x="284" y="858"/>
                  </a:lnTo>
                  <a:lnTo>
                    <a:pt x="277" y="885"/>
                  </a:lnTo>
                  <a:lnTo>
                    <a:pt x="272" y="912"/>
                  </a:lnTo>
                  <a:lnTo>
                    <a:pt x="267" y="939"/>
                  </a:lnTo>
                  <a:lnTo>
                    <a:pt x="264" y="966"/>
                  </a:lnTo>
                  <a:lnTo>
                    <a:pt x="261" y="993"/>
                  </a:lnTo>
                  <a:lnTo>
                    <a:pt x="259" y="1020"/>
                  </a:lnTo>
                  <a:lnTo>
                    <a:pt x="258" y="1047"/>
                  </a:lnTo>
                  <a:lnTo>
                    <a:pt x="258" y="1076"/>
                  </a:lnTo>
                  <a:lnTo>
                    <a:pt x="259" y="1103"/>
                  </a:lnTo>
                  <a:lnTo>
                    <a:pt x="261" y="1130"/>
                  </a:lnTo>
                  <a:lnTo>
                    <a:pt x="263" y="1157"/>
                  </a:lnTo>
                  <a:lnTo>
                    <a:pt x="267" y="1184"/>
                  </a:lnTo>
                  <a:lnTo>
                    <a:pt x="271" y="1211"/>
                  </a:lnTo>
                  <a:lnTo>
                    <a:pt x="277" y="1238"/>
                  </a:lnTo>
                  <a:lnTo>
                    <a:pt x="283" y="1264"/>
                  </a:lnTo>
                  <a:lnTo>
                    <a:pt x="290" y="1291"/>
                  </a:lnTo>
                  <a:lnTo>
                    <a:pt x="297" y="1317"/>
                  </a:lnTo>
                  <a:lnTo>
                    <a:pt x="306" y="1343"/>
                  </a:lnTo>
                  <a:lnTo>
                    <a:pt x="315" y="1369"/>
                  </a:lnTo>
                  <a:lnTo>
                    <a:pt x="326" y="1394"/>
                  </a:lnTo>
                  <a:lnTo>
                    <a:pt x="337" y="1419"/>
                  </a:lnTo>
                  <a:lnTo>
                    <a:pt x="349" y="1444"/>
                  </a:lnTo>
                  <a:lnTo>
                    <a:pt x="362" y="1468"/>
                  </a:lnTo>
                  <a:lnTo>
                    <a:pt x="375" y="1492"/>
                  </a:lnTo>
                  <a:lnTo>
                    <a:pt x="390" y="1516"/>
                  </a:lnTo>
                  <a:lnTo>
                    <a:pt x="405" y="1539"/>
                  </a:lnTo>
                  <a:lnTo>
                    <a:pt x="421" y="1562"/>
                  </a:lnTo>
                  <a:lnTo>
                    <a:pt x="437" y="1584"/>
                  </a:lnTo>
                  <a:lnTo>
                    <a:pt x="455" y="1605"/>
                  </a:lnTo>
                  <a:lnTo>
                    <a:pt x="473" y="1627"/>
                  </a:lnTo>
                  <a:lnTo>
                    <a:pt x="492" y="1647"/>
                  </a:lnTo>
                  <a:lnTo>
                    <a:pt x="512" y="1667"/>
                  </a:lnTo>
                  <a:lnTo>
                    <a:pt x="533" y="1686"/>
                  </a:lnTo>
                  <a:lnTo>
                    <a:pt x="554" y="1705"/>
                  </a:lnTo>
                  <a:lnTo>
                    <a:pt x="576" y="1723"/>
                  </a:lnTo>
                  <a:lnTo>
                    <a:pt x="599" y="1741"/>
                  </a:lnTo>
                  <a:lnTo>
                    <a:pt x="622" y="1757"/>
                  </a:lnTo>
                  <a:lnTo>
                    <a:pt x="647" y="1773"/>
                  </a:lnTo>
                  <a:lnTo>
                    <a:pt x="672" y="1788"/>
                  </a:lnTo>
                  <a:lnTo>
                    <a:pt x="697" y="1802"/>
                  </a:lnTo>
                  <a:lnTo>
                    <a:pt x="724" y="1816"/>
                  </a:lnTo>
                  <a:lnTo>
                    <a:pt x="751" y="1829"/>
                  </a:lnTo>
                  <a:lnTo>
                    <a:pt x="779" y="1840"/>
                  </a:lnTo>
                  <a:lnTo>
                    <a:pt x="807" y="1851"/>
                  </a:lnTo>
                  <a:lnTo>
                    <a:pt x="837" y="1861"/>
                  </a:lnTo>
                  <a:lnTo>
                    <a:pt x="866" y="1870"/>
                  </a:lnTo>
                  <a:lnTo>
                    <a:pt x="897" y="1878"/>
                  </a:lnTo>
                  <a:lnTo>
                    <a:pt x="928" y="1885"/>
                  </a:lnTo>
                  <a:lnTo>
                    <a:pt x="960" y="1891"/>
                  </a:lnTo>
                  <a:lnTo>
                    <a:pt x="993" y="1896"/>
                  </a:lnTo>
                  <a:lnTo>
                    <a:pt x="1026" y="1900"/>
                  </a:lnTo>
                  <a:lnTo>
                    <a:pt x="1060" y="1903"/>
                  </a:lnTo>
                  <a:lnTo>
                    <a:pt x="1095" y="1905"/>
                  </a:lnTo>
                  <a:lnTo>
                    <a:pt x="1131" y="1906"/>
                  </a:lnTo>
                  <a:lnTo>
                    <a:pt x="1186" y="1904"/>
                  </a:lnTo>
                  <a:lnTo>
                    <a:pt x="1239" y="1901"/>
                  </a:lnTo>
                  <a:lnTo>
                    <a:pt x="1291" y="1895"/>
                  </a:lnTo>
                  <a:lnTo>
                    <a:pt x="1341" y="1886"/>
                  </a:lnTo>
                  <a:lnTo>
                    <a:pt x="1389" y="1875"/>
                  </a:lnTo>
                  <a:lnTo>
                    <a:pt x="1435" y="1863"/>
                  </a:lnTo>
                  <a:lnTo>
                    <a:pt x="1480" y="1848"/>
                  </a:lnTo>
                  <a:lnTo>
                    <a:pt x="1522" y="1831"/>
                  </a:lnTo>
                  <a:lnTo>
                    <a:pt x="1564" y="1812"/>
                  </a:lnTo>
                  <a:lnTo>
                    <a:pt x="1603" y="1791"/>
                  </a:lnTo>
                  <a:lnTo>
                    <a:pt x="1640" y="1769"/>
                  </a:lnTo>
                  <a:lnTo>
                    <a:pt x="1676" y="1745"/>
                  </a:lnTo>
                  <a:lnTo>
                    <a:pt x="1710" y="1719"/>
                  </a:lnTo>
                  <a:lnTo>
                    <a:pt x="1742" y="1692"/>
                  </a:lnTo>
                  <a:lnTo>
                    <a:pt x="1773" y="1663"/>
                  </a:lnTo>
                  <a:lnTo>
                    <a:pt x="1802" y="1632"/>
                  </a:lnTo>
                  <a:lnTo>
                    <a:pt x="1829" y="1601"/>
                  </a:lnTo>
                  <a:lnTo>
                    <a:pt x="1854" y="1568"/>
                  </a:lnTo>
                  <a:lnTo>
                    <a:pt x="1877" y="1534"/>
                  </a:lnTo>
                  <a:lnTo>
                    <a:pt x="1899" y="1499"/>
                  </a:lnTo>
                  <a:lnTo>
                    <a:pt x="1919" y="1463"/>
                  </a:lnTo>
                  <a:lnTo>
                    <a:pt x="1937" y="1426"/>
                  </a:lnTo>
                  <a:lnTo>
                    <a:pt x="1954" y="1388"/>
                  </a:lnTo>
                  <a:lnTo>
                    <a:pt x="1968" y="1349"/>
                  </a:lnTo>
                  <a:lnTo>
                    <a:pt x="1981" y="1309"/>
                  </a:lnTo>
                  <a:lnTo>
                    <a:pt x="1992" y="1269"/>
                  </a:lnTo>
                  <a:lnTo>
                    <a:pt x="2002" y="1228"/>
                  </a:lnTo>
                  <a:lnTo>
                    <a:pt x="2009" y="1187"/>
                  </a:lnTo>
                  <a:lnTo>
                    <a:pt x="2015" y="1145"/>
                  </a:lnTo>
                  <a:lnTo>
                    <a:pt x="2019" y="1103"/>
                  </a:lnTo>
                  <a:lnTo>
                    <a:pt x="2022" y="1060"/>
                  </a:lnTo>
                  <a:lnTo>
                    <a:pt x="2022" y="1018"/>
                  </a:lnTo>
                  <a:lnTo>
                    <a:pt x="2021" y="975"/>
                  </a:lnTo>
                  <a:lnTo>
                    <a:pt x="2018" y="932"/>
                  </a:lnTo>
                  <a:lnTo>
                    <a:pt x="2013" y="890"/>
                  </a:lnTo>
                  <a:lnTo>
                    <a:pt x="2007" y="847"/>
                  </a:lnTo>
                  <a:lnTo>
                    <a:pt x="1998" y="805"/>
                  </a:lnTo>
                  <a:lnTo>
                    <a:pt x="1988" y="762"/>
                  </a:lnTo>
                  <a:lnTo>
                    <a:pt x="1977" y="721"/>
                  </a:lnTo>
                  <a:lnTo>
                    <a:pt x="1963" y="679"/>
                  </a:lnTo>
                  <a:lnTo>
                    <a:pt x="1948" y="638"/>
                  </a:lnTo>
                  <a:lnTo>
                    <a:pt x="1931" y="598"/>
                  </a:lnTo>
                  <a:lnTo>
                    <a:pt x="1912" y="558"/>
                  </a:lnTo>
                  <a:lnTo>
                    <a:pt x="1891" y="519"/>
                  </a:lnTo>
                  <a:lnTo>
                    <a:pt x="1869" y="481"/>
                  </a:lnTo>
                  <a:lnTo>
                    <a:pt x="1845" y="443"/>
                  </a:lnTo>
                  <a:lnTo>
                    <a:pt x="1819" y="407"/>
                  </a:lnTo>
                  <a:lnTo>
                    <a:pt x="1791" y="371"/>
                  </a:lnTo>
                  <a:lnTo>
                    <a:pt x="1761" y="337"/>
                  </a:lnTo>
                  <a:lnTo>
                    <a:pt x="1730" y="303"/>
                  </a:lnTo>
                  <a:lnTo>
                    <a:pt x="1697" y="271"/>
                  </a:lnTo>
                  <a:lnTo>
                    <a:pt x="1662" y="240"/>
                  </a:lnTo>
                  <a:lnTo>
                    <a:pt x="1626" y="211"/>
                  </a:lnTo>
                  <a:lnTo>
                    <a:pt x="1588" y="183"/>
                  </a:lnTo>
                  <a:lnTo>
                    <a:pt x="1547" y="157"/>
                  </a:lnTo>
                  <a:lnTo>
                    <a:pt x="1506" y="132"/>
                  </a:lnTo>
                  <a:lnTo>
                    <a:pt x="1462" y="109"/>
                  </a:lnTo>
                  <a:lnTo>
                    <a:pt x="1417" y="87"/>
                  </a:lnTo>
                  <a:lnTo>
                    <a:pt x="1369" y="68"/>
                  </a:lnTo>
                  <a:lnTo>
                    <a:pt x="1320" y="50"/>
                  </a:lnTo>
                  <a:lnTo>
                    <a:pt x="1270" y="34"/>
                  </a:lnTo>
                  <a:lnTo>
                    <a:pt x="1217" y="21"/>
                  </a:lnTo>
                  <a:lnTo>
                    <a:pt x="1163" y="9"/>
                  </a:lnTo>
                  <a:lnTo>
                    <a:pt x="1107" y="0"/>
                  </a:lnTo>
                  <a:lnTo>
                    <a:pt x="1134" y="0"/>
                  </a:lnTo>
                  <a:lnTo>
                    <a:pt x="1162" y="1"/>
                  </a:lnTo>
                  <a:lnTo>
                    <a:pt x="1189" y="3"/>
                  </a:lnTo>
                  <a:lnTo>
                    <a:pt x="1216" y="5"/>
                  </a:lnTo>
                  <a:lnTo>
                    <a:pt x="1243" y="9"/>
                  </a:lnTo>
                  <a:lnTo>
                    <a:pt x="1270" y="12"/>
                  </a:lnTo>
                  <a:lnTo>
                    <a:pt x="1297" y="17"/>
                  </a:lnTo>
                  <a:lnTo>
                    <a:pt x="1323" y="22"/>
                  </a:lnTo>
                  <a:lnTo>
                    <a:pt x="1349" y="27"/>
                  </a:lnTo>
                  <a:lnTo>
                    <a:pt x="1376" y="34"/>
                  </a:lnTo>
                  <a:lnTo>
                    <a:pt x="1427" y="48"/>
                  </a:lnTo>
                  <a:lnTo>
                    <a:pt x="1453" y="56"/>
                  </a:lnTo>
                  <a:lnTo>
                    <a:pt x="1478" y="65"/>
                  </a:lnTo>
                  <a:lnTo>
                    <a:pt x="1503" y="74"/>
                  </a:lnTo>
                  <a:lnTo>
                    <a:pt x="1528" y="84"/>
                  </a:lnTo>
                  <a:lnTo>
                    <a:pt x="1552" y="94"/>
                  </a:lnTo>
                  <a:lnTo>
                    <a:pt x="1577" y="105"/>
                  </a:lnTo>
                  <a:lnTo>
                    <a:pt x="1601" y="117"/>
                  </a:lnTo>
                  <a:lnTo>
                    <a:pt x="1624" y="129"/>
                  </a:lnTo>
                  <a:lnTo>
                    <a:pt x="1647" y="141"/>
                  </a:lnTo>
                  <a:lnTo>
                    <a:pt x="1671" y="154"/>
                  </a:lnTo>
                  <a:lnTo>
                    <a:pt x="1693" y="168"/>
                  </a:lnTo>
                  <a:lnTo>
                    <a:pt x="1716" y="182"/>
                  </a:lnTo>
                  <a:lnTo>
                    <a:pt x="1738" y="196"/>
                  </a:lnTo>
                  <a:lnTo>
                    <a:pt x="1759" y="211"/>
                  </a:lnTo>
                  <a:lnTo>
                    <a:pt x="1780" y="227"/>
                  </a:lnTo>
                  <a:lnTo>
                    <a:pt x="1801" y="243"/>
                  </a:lnTo>
                  <a:lnTo>
                    <a:pt x="1822" y="259"/>
                  </a:lnTo>
                  <a:lnTo>
                    <a:pt x="1842" y="276"/>
                  </a:lnTo>
                  <a:lnTo>
                    <a:pt x="1862" y="294"/>
                  </a:lnTo>
                  <a:lnTo>
                    <a:pt x="1881" y="311"/>
                  </a:lnTo>
                  <a:lnTo>
                    <a:pt x="1900" y="330"/>
                  </a:lnTo>
                  <a:lnTo>
                    <a:pt x="1918" y="348"/>
                  </a:lnTo>
                  <a:lnTo>
                    <a:pt x="1936" y="367"/>
                  </a:lnTo>
                  <a:lnTo>
                    <a:pt x="1953" y="387"/>
                  </a:lnTo>
                  <a:lnTo>
                    <a:pt x="1970" y="407"/>
                  </a:lnTo>
                  <a:lnTo>
                    <a:pt x="1987" y="427"/>
                  </a:lnTo>
                  <a:lnTo>
                    <a:pt x="2003" y="447"/>
                  </a:lnTo>
                  <a:lnTo>
                    <a:pt x="2018" y="468"/>
                  </a:lnTo>
                  <a:lnTo>
                    <a:pt x="2033" y="490"/>
                  </a:lnTo>
                  <a:lnTo>
                    <a:pt x="2048" y="511"/>
                  </a:lnTo>
                  <a:lnTo>
                    <a:pt x="2062" y="534"/>
                  </a:lnTo>
                  <a:lnTo>
                    <a:pt x="2075" y="556"/>
                  </a:lnTo>
                  <a:lnTo>
                    <a:pt x="2088" y="579"/>
                  </a:lnTo>
                  <a:lnTo>
                    <a:pt x="2100" y="602"/>
                  </a:lnTo>
                  <a:lnTo>
                    <a:pt x="2112" y="625"/>
                  </a:lnTo>
                  <a:lnTo>
                    <a:pt x="2123" y="649"/>
                  </a:lnTo>
                  <a:lnTo>
                    <a:pt x="2133" y="673"/>
                  </a:lnTo>
                  <a:lnTo>
                    <a:pt x="2143" y="697"/>
                  </a:lnTo>
                  <a:lnTo>
                    <a:pt x="2152" y="721"/>
                  </a:lnTo>
                  <a:lnTo>
                    <a:pt x="2160" y="746"/>
                  </a:lnTo>
                  <a:lnTo>
                    <a:pt x="2168" y="771"/>
                  </a:lnTo>
                  <a:lnTo>
                    <a:pt x="2176" y="797"/>
                  </a:lnTo>
                  <a:lnTo>
                    <a:pt x="2182" y="822"/>
                  </a:lnTo>
                  <a:lnTo>
                    <a:pt x="2188" y="848"/>
                  </a:lnTo>
                  <a:lnTo>
                    <a:pt x="2193" y="874"/>
                  </a:lnTo>
                  <a:lnTo>
                    <a:pt x="2198" y="900"/>
                  </a:lnTo>
                  <a:lnTo>
                    <a:pt x="2201" y="927"/>
                  </a:lnTo>
                  <a:lnTo>
                    <a:pt x="2204" y="954"/>
                  </a:lnTo>
                  <a:lnTo>
                    <a:pt x="2207" y="980"/>
                  </a:lnTo>
                  <a:lnTo>
                    <a:pt x="2208" y="1008"/>
                  </a:lnTo>
                  <a:lnTo>
                    <a:pt x="2209" y="1035"/>
                  </a:lnTo>
                  <a:lnTo>
                    <a:pt x="2209" y="1062"/>
                  </a:lnTo>
                  <a:lnTo>
                    <a:pt x="2208" y="1093"/>
                  </a:lnTo>
                  <a:lnTo>
                    <a:pt x="2207" y="1122"/>
                  </a:lnTo>
                  <a:lnTo>
                    <a:pt x="2205" y="1151"/>
                  </a:lnTo>
                  <a:lnTo>
                    <a:pt x="2202" y="1179"/>
                  </a:lnTo>
                  <a:lnTo>
                    <a:pt x="2199" y="1208"/>
                  </a:lnTo>
                  <a:lnTo>
                    <a:pt x="2195" y="1236"/>
                  </a:lnTo>
                  <a:lnTo>
                    <a:pt x="2190" y="1264"/>
                  </a:lnTo>
                  <a:lnTo>
                    <a:pt x="2184" y="1291"/>
                  </a:lnTo>
                  <a:lnTo>
                    <a:pt x="2178" y="1318"/>
                  </a:lnTo>
                  <a:lnTo>
                    <a:pt x="2172" y="1345"/>
                  </a:lnTo>
                  <a:lnTo>
                    <a:pt x="2165" y="1371"/>
                  </a:lnTo>
                  <a:lnTo>
                    <a:pt x="2157" y="1397"/>
                  </a:lnTo>
                  <a:lnTo>
                    <a:pt x="2148" y="1423"/>
                  </a:lnTo>
                  <a:lnTo>
                    <a:pt x="2139" y="1448"/>
                  </a:lnTo>
                  <a:lnTo>
                    <a:pt x="2130" y="1473"/>
                  </a:lnTo>
                  <a:lnTo>
                    <a:pt x="2119" y="1498"/>
                  </a:lnTo>
                  <a:lnTo>
                    <a:pt x="2109" y="1522"/>
                  </a:lnTo>
                  <a:lnTo>
                    <a:pt x="2097" y="1546"/>
                  </a:lnTo>
                  <a:lnTo>
                    <a:pt x="2085" y="1569"/>
                  </a:lnTo>
                  <a:lnTo>
                    <a:pt x="2073" y="1593"/>
                  </a:lnTo>
                  <a:lnTo>
                    <a:pt x="2060" y="1615"/>
                  </a:lnTo>
                  <a:lnTo>
                    <a:pt x="2046" y="1638"/>
                  </a:lnTo>
                  <a:lnTo>
                    <a:pt x="2032" y="1659"/>
                  </a:lnTo>
                  <a:lnTo>
                    <a:pt x="2018" y="1681"/>
                  </a:lnTo>
                  <a:lnTo>
                    <a:pt x="2003" y="1702"/>
                  </a:lnTo>
                  <a:lnTo>
                    <a:pt x="1987" y="1723"/>
                  </a:lnTo>
                  <a:lnTo>
                    <a:pt x="1971" y="1743"/>
                  </a:lnTo>
                  <a:lnTo>
                    <a:pt x="1954" y="1763"/>
                  </a:lnTo>
                  <a:lnTo>
                    <a:pt x="1937" y="1782"/>
                  </a:lnTo>
                  <a:lnTo>
                    <a:pt x="1920" y="1801"/>
                  </a:lnTo>
                  <a:lnTo>
                    <a:pt x="1902" y="1819"/>
                  </a:lnTo>
                  <a:lnTo>
                    <a:pt x="1884" y="1837"/>
                  </a:lnTo>
                  <a:lnTo>
                    <a:pt x="1865" y="1855"/>
                  </a:lnTo>
                  <a:lnTo>
                    <a:pt x="1845" y="1872"/>
                  </a:lnTo>
                  <a:lnTo>
                    <a:pt x="1826" y="1888"/>
                  </a:lnTo>
                  <a:lnTo>
                    <a:pt x="1806" y="1904"/>
                  </a:lnTo>
                  <a:lnTo>
                    <a:pt x="1785" y="1920"/>
                  </a:lnTo>
                  <a:lnTo>
                    <a:pt x="1764" y="1935"/>
                  </a:lnTo>
                  <a:lnTo>
                    <a:pt x="1743" y="1949"/>
                  </a:lnTo>
                  <a:lnTo>
                    <a:pt x="1721" y="1963"/>
                  </a:lnTo>
                  <a:lnTo>
                    <a:pt x="1699" y="1977"/>
                  </a:lnTo>
                  <a:lnTo>
                    <a:pt x="1677" y="1990"/>
                  </a:lnTo>
                  <a:lnTo>
                    <a:pt x="1654" y="2002"/>
                  </a:lnTo>
                  <a:lnTo>
                    <a:pt x="1631" y="2014"/>
                  </a:lnTo>
                  <a:lnTo>
                    <a:pt x="1607" y="2025"/>
                  </a:lnTo>
                  <a:lnTo>
                    <a:pt x="1583" y="2036"/>
                  </a:lnTo>
                  <a:lnTo>
                    <a:pt x="1559" y="2046"/>
                  </a:lnTo>
                  <a:lnTo>
                    <a:pt x="1534" y="2056"/>
                  </a:lnTo>
                  <a:lnTo>
                    <a:pt x="1510" y="2065"/>
                  </a:lnTo>
                  <a:lnTo>
                    <a:pt x="1484" y="2074"/>
                  </a:lnTo>
                  <a:lnTo>
                    <a:pt x="1459" y="2082"/>
                  </a:lnTo>
                  <a:lnTo>
                    <a:pt x="1433" y="2089"/>
                  </a:lnTo>
                  <a:lnTo>
                    <a:pt x="1407" y="2096"/>
                  </a:lnTo>
                  <a:lnTo>
                    <a:pt x="1381" y="2102"/>
                  </a:lnTo>
                  <a:lnTo>
                    <a:pt x="1354" y="2108"/>
                  </a:lnTo>
                  <a:lnTo>
                    <a:pt x="1328" y="2113"/>
                  </a:lnTo>
                  <a:lnTo>
                    <a:pt x="1300" y="2117"/>
                  </a:lnTo>
                  <a:lnTo>
                    <a:pt x="1273" y="2121"/>
                  </a:lnTo>
                  <a:lnTo>
                    <a:pt x="1246" y="2124"/>
                  </a:lnTo>
                  <a:lnTo>
                    <a:pt x="1218" y="2126"/>
                  </a:lnTo>
                  <a:lnTo>
                    <a:pt x="1190" y="2128"/>
                  </a:lnTo>
                  <a:lnTo>
                    <a:pt x="1162" y="2130"/>
                  </a:lnTo>
                  <a:lnTo>
                    <a:pt x="1133" y="2130"/>
                  </a:lnTo>
                  <a:lnTo>
                    <a:pt x="1103" y="2130"/>
                  </a:lnTo>
                  <a:lnTo>
                    <a:pt x="1076" y="2129"/>
                  </a:lnTo>
                  <a:lnTo>
                    <a:pt x="1049" y="2128"/>
                  </a:lnTo>
                  <a:lnTo>
                    <a:pt x="1021" y="2126"/>
                  </a:lnTo>
                  <a:lnTo>
                    <a:pt x="994" y="2124"/>
                  </a:lnTo>
                  <a:lnTo>
                    <a:pt x="967" y="2120"/>
                  </a:lnTo>
                  <a:lnTo>
                    <a:pt x="940" y="2117"/>
                  </a:lnTo>
                  <a:lnTo>
                    <a:pt x="887" y="2108"/>
                  </a:lnTo>
                  <a:lnTo>
                    <a:pt x="835" y="2096"/>
                  </a:lnTo>
                  <a:lnTo>
                    <a:pt x="809" y="2090"/>
                  </a:lnTo>
                  <a:lnTo>
                    <a:pt x="783" y="2083"/>
                  </a:lnTo>
                  <a:lnTo>
                    <a:pt x="758" y="2075"/>
                  </a:lnTo>
                  <a:lnTo>
                    <a:pt x="733" y="2067"/>
                  </a:lnTo>
                  <a:lnTo>
                    <a:pt x="708" y="2058"/>
                  </a:lnTo>
                  <a:lnTo>
                    <a:pt x="683" y="2049"/>
                  </a:lnTo>
                  <a:lnTo>
                    <a:pt x="659" y="2039"/>
                  </a:lnTo>
                  <a:lnTo>
                    <a:pt x="634" y="2029"/>
                  </a:lnTo>
                  <a:lnTo>
                    <a:pt x="611" y="2018"/>
                  </a:lnTo>
                  <a:lnTo>
                    <a:pt x="587" y="2006"/>
                  </a:lnTo>
                  <a:lnTo>
                    <a:pt x="564" y="1994"/>
                  </a:lnTo>
                  <a:lnTo>
                    <a:pt x="541" y="1982"/>
                  </a:lnTo>
                  <a:lnTo>
                    <a:pt x="518" y="1969"/>
                  </a:lnTo>
                  <a:lnTo>
                    <a:pt x="496" y="1956"/>
                  </a:lnTo>
                  <a:lnTo>
                    <a:pt x="474" y="1942"/>
                  </a:lnTo>
                  <a:lnTo>
                    <a:pt x="453" y="1927"/>
                  </a:lnTo>
                  <a:lnTo>
                    <a:pt x="431" y="1912"/>
                  </a:lnTo>
                  <a:lnTo>
                    <a:pt x="411" y="1897"/>
                  </a:lnTo>
                  <a:lnTo>
                    <a:pt x="390" y="1881"/>
                  </a:lnTo>
                  <a:lnTo>
                    <a:pt x="370" y="1865"/>
                  </a:lnTo>
                  <a:lnTo>
                    <a:pt x="351" y="1848"/>
                  </a:lnTo>
                  <a:lnTo>
                    <a:pt x="331" y="1830"/>
                  </a:lnTo>
                  <a:lnTo>
                    <a:pt x="313" y="1812"/>
                  </a:lnTo>
                  <a:lnTo>
                    <a:pt x="294" y="1794"/>
                  </a:lnTo>
                  <a:lnTo>
                    <a:pt x="276" y="1775"/>
                  </a:lnTo>
                  <a:lnTo>
                    <a:pt x="259" y="1756"/>
                  </a:lnTo>
                  <a:lnTo>
                    <a:pt x="242" y="1737"/>
                  </a:lnTo>
                  <a:lnTo>
                    <a:pt x="226" y="1716"/>
                  </a:lnTo>
                  <a:lnTo>
                    <a:pt x="210" y="1696"/>
                  </a:lnTo>
                  <a:lnTo>
                    <a:pt x="194" y="1675"/>
                  </a:lnTo>
                  <a:lnTo>
                    <a:pt x="179" y="1654"/>
                  </a:lnTo>
                  <a:lnTo>
                    <a:pt x="165" y="1632"/>
                  </a:lnTo>
                  <a:lnTo>
                    <a:pt x="151" y="1609"/>
                  </a:lnTo>
                  <a:lnTo>
                    <a:pt x="138" y="1587"/>
                  </a:lnTo>
                  <a:lnTo>
                    <a:pt x="125" y="1564"/>
                  </a:lnTo>
                  <a:lnTo>
                    <a:pt x="113" y="1540"/>
                  </a:lnTo>
                  <a:lnTo>
                    <a:pt x="101" y="1516"/>
                  </a:lnTo>
                  <a:lnTo>
                    <a:pt x="90" y="1492"/>
                  </a:lnTo>
                  <a:lnTo>
                    <a:pt x="79" y="1467"/>
                  </a:lnTo>
                  <a:lnTo>
                    <a:pt x="69" y="1442"/>
                  </a:lnTo>
                  <a:lnTo>
                    <a:pt x="60" y="1417"/>
                  </a:lnTo>
                  <a:lnTo>
                    <a:pt x="52" y="1391"/>
                  </a:lnTo>
                  <a:lnTo>
                    <a:pt x="44" y="1364"/>
                  </a:lnTo>
                  <a:lnTo>
                    <a:pt x="36" y="1338"/>
                  </a:lnTo>
                  <a:lnTo>
                    <a:pt x="29" y="1311"/>
                  </a:lnTo>
                  <a:lnTo>
                    <a:pt x="23" y="1283"/>
                  </a:lnTo>
                  <a:lnTo>
                    <a:pt x="18" y="1255"/>
                  </a:lnTo>
                  <a:lnTo>
                    <a:pt x="13" y="1227"/>
                  </a:lnTo>
                  <a:lnTo>
                    <a:pt x="9" y="1199"/>
                  </a:lnTo>
                  <a:lnTo>
                    <a:pt x="6" y="1170"/>
                  </a:lnTo>
                  <a:lnTo>
                    <a:pt x="3" y="1141"/>
                  </a:lnTo>
                  <a:lnTo>
                    <a:pt x="2" y="1111"/>
                  </a:lnTo>
                  <a:lnTo>
                    <a:pt x="1" y="1081"/>
                  </a:lnTo>
                  <a:lnTo>
                    <a:pt x="0" y="1050"/>
                  </a:lnTo>
                  <a:close/>
                </a:path>
              </a:pathLst>
            </a:custGeom>
            <a:solidFill>
              <a:srgbClr val="FF0000">
                <a:alpha val="74901"/>
              </a:srgbClr>
            </a:solidFill>
            <a:ln w="9525">
              <a:noFill/>
              <a:round/>
              <a:headEnd/>
              <a:tailEnd/>
            </a:ln>
          </p:spPr>
          <p:txBody>
            <a:bodyPr/>
            <a:lstStyle/>
            <a:p>
              <a:endParaRPr lang="fr-FR"/>
            </a:p>
          </p:txBody>
        </p:sp>
      </p:grpSp>
      <p:pic>
        <p:nvPicPr>
          <p:cNvPr id="30763" name="Picture 7" descr="DesktopComputer"/>
          <p:cNvPicPr>
            <a:picLocks noChangeAspect="1" noChangeArrowheads="1"/>
          </p:cNvPicPr>
          <p:nvPr/>
        </p:nvPicPr>
        <p:blipFill>
          <a:blip r:embed="rId6"/>
          <a:srcRect/>
          <a:stretch>
            <a:fillRect/>
          </a:stretch>
        </p:blipFill>
        <p:spPr bwMode="auto">
          <a:xfrm>
            <a:off x="2090201" y="1461143"/>
            <a:ext cx="1161859" cy="1293485"/>
          </a:xfrm>
          <a:prstGeom prst="rect">
            <a:avLst/>
          </a:prstGeom>
          <a:noFill/>
          <a:ln w="9525">
            <a:noFill/>
            <a:miter lim="800000"/>
            <a:headEnd/>
            <a:tailEnd/>
          </a:ln>
        </p:spPr>
      </p:pic>
      <p:grpSp>
        <p:nvGrpSpPr>
          <p:cNvPr id="11" name="Group 25"/>
          <p:cNvGrpSpPr>
            <a:grpSpLocks/>
          </p:cNvGrpSpPr>
          <p:nvPr/>
        </p:nvGrpSpPr>
        <p:grpSpPr bwMode="auto">
          <a:xfrm>
            <a:off x="3322931" y="1131888"/>
            <a:ext cx="2314449" cy="549275"/>
            <a:chOff x="2892972" y="1270861"/>
            <a:chExt cx="2314830" cy="549414"/>
          </a:xfrm>
        </p:grpSpPr>
        <p:sp>
          <p:nvSpPr>
            <p:cNvPr id="27" name="AutoShape 5"/>
            <p:cNvSpPr>
              <a:spLocks noChangeArrowheads="1"/>
            </p:cNvSpPr>
            <p:nvPr/>
          </p:nvSpPr>
          <p:spPr bwMode="auto">
            <a:xfrm>
              <a:off x="3056218" y="1270861"/>
              <a:ext cx="2151417" cy="549414"/>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nSpc>
                  <a:spcPct val="90000"/>
                </a:lnSpc>
                <a:spcBef>
                  <a:spcPct val="40000"/>
                </a:spcBef>
                <a:defRPr/>
              </a:pPr>
              <a:r>
                <a:rPr lang="en-US" sz="2000" dirty="0">
                  <a:cs typeface="Arial" charset="0"/>
                </a:rPr>
                <a:t>Nom d’hôte local</a:t>
              </a:r>
            </a:p>
          </p:txBody>
        </p:sp>
        <p:sp>
          <p:nvSpPr>
            <p:cNvPr id="24" name="AutoShape 12"/>
            <p:cNvSpPr>
              <a:spLocks noChangeArrowheads="1"/>
            </p:cNvSpPr>
            <p:nvPr/>
          </p:nvSpPr>
          <p:spPr bwMode="auto">
            <a:xfrm>
              <a:off x="2892679" y="1348668"/>
              <a:ext cx="338193" cy="3938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1</a:t>
              </a:r>
            </a:p>
          </p:txBody>
        </p:sp>
      </p:grpSp>
      <p:grpSp>
        <p:nvGrpSpPr>
          <p:cNvPr id="14" name="Group 28"/>
          <p:cNvGrpSpPr>
            <a:grpSpLocks/>
          </p:cNvGrpSpPr>
          <p:nvPr/>
        </p:nvGrpSpPr>
        <p:grpSpPr bwMode="auto">
          <a:xfrm>
            <a:off x="6496171" y="1835151"/>
            <a:ext cx="2009665" cy="544513"/>
            <a:chOff x="6795149" y="2028277"/>
            <a:chExt cx="2009996" cy="544651"/>
          </a:xfrm>
        </p:grpSpPr>
        <p:sp>
          <p:nvSpPr>
            <p:cNvPr id="18" name="AutoShape 17"/>
            <p:cNvSpPr>
              <a:spLocks noChangeArrowheads="1"/>
            </p:cNvSpPr>
            <p:nvPr/>
          </p:nvSpPr>
          <p:spPr bwMode="auto">
            <a:xfrm>
              <a:off x="6977621" y="2028276"/>
              <a:ext cx="1827513" cy="544651"/>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gn="ctr">
                <a:lnSpc>
                  <a:spcPct val="90000"/>
                </a:lnSpc>
                <a:spcBef>
                  <a:spcPct val="40000"/>
                </a:spcBef>
                <a:defRPr/>
              </a:pPr>
              <a:r>
                <a:rPr lang="en-US" sz="2000" dirty="0" err="1">
                  <a:cs typeface="Arial" charset="0"/>
                </a:rPr>
                <a:t>Fichier</a:t>
              </a:r>
              <a:r>
                <a:rPr lang="en-US" sz="2000" dirty="0">
                  <a:cs typeface="Arial" charset="0"/>
                </a:rPr>
                <a:t> LMHOST</a:t>
              </a:r>
            </a:p>
          </p:txBody>
        </p:sp>
        <p:sp>
          <p:nvSpPr>
            <p:cNvPr id="25" name="AutoShape 12"/>
            <p:cNvSpPr>
              <a:spLocks noChangeArrowheads="1"/>
            </p:cNvSpPr>
            <p:nvPr/>
          </p:nvSpPr>
          <p:spPr bwMode="auto">
            <a:xfrm>
              <a:off x="6795028" y="2102908"/>
              <a:ext cx="338194" cy="3938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7</a:t>
              </a:r>
            </a:p>
          </p:txBody>
        </p:sp>
      </p:grpSp>
      <p:grpSp>
        <p:nvGrpSpPr>
          <p:cNvPr id="16" name="Group 29"/>
          <p:cNvGrpSpPr>
            <a:grpSpLocks/>
          </p:cNvGrpSpPr>
          <p:nvPr/>
        </p:nvGrpSpPr>
        <p:grpSpPr bwMode="auto">
          <a:xfrm>
            <a:off x="422727" y="4560745"/>
            <a:ext cx="1738344" cy="544375"/>
            <a:chOff x="162777" y="4795958"/>
            <a:chExt cx="1738630" cy="544513"/>
          </a:xfrm>
        </p:grpSpPr>
        <p:sp>
          <p:nvSpPr>
            <p:cNvPr id="9" name="AutoShape 8"/>
            <p:cNvSpPr>
              <a:spLocks noChangeArrowheads="1"/>
            </p:cNvSpPr>
            <p:nvPr/>
          </p:nvSpPr>
          <p:spPr bwMode="auto">
            <a:xfrm>
              <a:off x="346505" y="4796101"/>
              <a:ext cx="1554419" cy="544650"/>
            </a:xfrm>
            <a:prstGeom prst="roundRect">
              <a:avLst>
                <a:gd name="adj" fmla="val 4167"/>
              </a:avLst>
            </a:prstGeom>
            <a:gradFill>
              <a:gsLst>
                <a:gs pos="0">
                  <a:srgbClr val="EEEFD7"/>
                </a:gs>
                <a:gs pos="100000">
                  <a:srgbClr val="E4CD9A"/>
                </a:gs>
              </a:gsLst>
              <a:path path="shape">
                <a:fillToRect l="50000" t="50000" r="50000" b="50000"/>
              </a:path>
            </a:gradFill>
            <a:ln w="9525" algn="ctr">
              <a:solidFill>
                <a:srgbClr val="4D4D4D"/>
              </a:solidFill>
              <a:round/>
              <a:headEnd/>
              <a:tailEnd/>
            </a:ln>
            <a:effectLst>
              <a:outerShdw dist="35921" dir="2700000" algn="ctr" rotWithShape="0">
                <a:srgbClr val="AFAFAF"/>
              </a:outerShdw>
            </a:effectLst>
          </p:spPr>
          <p:txBody>
            <a:bodyPr lIns="274320" anchor="ctr"/>
            <a:lstStyle/>
            <a:p>
              <a:pPr algn="ctr">
                <a:lnSpc>
                  <a:spcPct val="90000"/>
                </a:lnSpc>
                <a:spcBef>
                  <a:spcPct val="40000"/>
                </a:spcBef>
                <a:defRPr/>
              </a:pPr>
              <a:r>
                <a:rPr lang="en-US" sz="2000" dirty="0" err="1">
                  <a:cs typeface="Arial" charset="0"/>
                </a:rPr>
                <a:t>Serveur</a:t>
              </a:r>
              <a:r>
                <a:rPr lang="en-US" sz="2000" dirty="0">
                  <a:cs typeface="Arial" charset="0"/>
                </a:rPr>
                <a:t> DNS </a:t>
              </a:r>
            </a:p>
          </p:txBody>
        </p:sp>
        <p:sp>
          <p:nvSpPr>
            <p:cNvPr id="10" name="AutoShape 9"/>
            <p:cNvSpPr>
              <a:spLocks noChangeArrowheads="1"/>
            </p:cNvSpPr>
            <p:nvPr/>
          </p:nvSpPr>
          <p:spPr bwMode="auto">
            <a:xfrm>
              <a:off x="162325" y="4870732"/>
              <a:ext cx="338194" cy="3938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3</a:t>
              </a:r>
            </a:p>
          </p:txBody>
        </p:sp>
      </p:grpSp>
      <p:sp>
        <p:nvSpPr>
          <p:cNvPr id="42" name="AutoShape 20"/>
          <p:cNvSpPr>
            <a:spLocks noChangeArrowheads="1"/>
          </p:cNvSpPr>
          <p:nvPr/>
        </p:nvSpPr>
        <p:spPr bwMode="auto">
          <a:xfrm>
            <a:off x="6813550" y="4625975"/>
            <a:ext cx="338138" cy="393700"/>
          </a:xfrm>
          <a:prstGeom prst="roundRect">
            <a:avLst>
              <a:gd name="adj" fmla="val 0"/>
            </a:avLst>
          </a:prstGeom>
          <a:gradFill rotWithShape="1">
            <a:gsLst>
              <a:gs pos="0">
                <a:schemeClr val="bg2"/>
              </a:gs>
              <a:gs pos="50000">
                <a:srgbClr val="F0F0F0"/>
              </a:gs>
              <a:gs pos="100000">
                <a:schemeClr val="bg2"/>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defRPr/>
            </a:pPr>
            <a:r>
              <a:rPr lang="en-US" sz="1600" dirty="0">
                <a:solidFill>
                  <a:srgbClr val="990033"/>
                </a:solidFill>
                <a:cs typeface="Arial" charset="0"/>
              </a:rPr>
              <a:t>5</a:t>
            </a:r>
          </a:p>
        </p:txBody>
      </p:sp>
      <p:sp>
        <p:nvSpPr>
          <p:cNvPr id="30723" name="Title 1"/>
          <p:cNvSpPr>
            <a:spLocks noGrp="1"/>
          </p:cNvSpPr>
          <p:nvPr>
            <p:ph type="title"/>
          </p:nvPr>
        </p:nvSpPr>
        <p:spPr>
          <a:xfrm>
            <a:off x="183284" y="526476"/>
            <a:ext cx="8960716" cy="571500"/>
          </a:xfrm>
        </p:spPr>
        <p:txBody>
          <a:bodyPr>
            <a:normAutofit fontScale="90000"/>
          </a:bodyPr>
          <a:lstStyle/>
          <a:p>
            <a:r>
              <a:rPr lang="fr-FR" sz="3600" dirty="0">
                <a:solidFill>
                  <a:srgbClr val="C00000"/>
                </a:solidFill>
              </a:rPr>
              <a:t>Processus de résolution des noms des ordinateurs</a:t>
            </a:r>
            <a:endParaRPr lang="en-US" dirty="0"/>
          </a:p>
        </p:txBody>
      </p:sp>
      <p:grpSp>
        <p:nvGrpSpPr>
          <p:cNvPr id="17" name="Group 67" hidden="1"/>
          <p:cNvGrpSpPr>
            <a:grpSpLocks/>
          </p:cNvGrpSpPr>
          <p:nvPr/>
        </p:nvGrpSpPr>
        <p:grpSpPr bwMode="auto">
          <a:xfrm>
            <a:off x="209550" y="846138"/>
            <a:ext cx="8934450" cy="5581650"/>
            <a:chOff x="209550" y="846666"/>
            <a:chExt cx="8934450" cy="5581843"/>
          </a:xfrm>
        </p:grpSpPr>
        <p:sp>
          <p:nvSpPr>
            <p:cNvPr id="30733" name="TextBox 22"/>
            <p:cNvSpPr txBox="1">
              <a:spLocks noChangeArrowheads="1"/>
            </p:cNvSpPr>
            <p:nvPr/>
          </p:nvSpPr>
          <p:spPr bwMode="auto">
            <a:xfrm>
              <a:off x="488950" y="3843338"/>
              <a:ext cx="8655050" cy="2584450"/>
            </a:xfrm>
            <a:prstGeom prst="rect">
              <a:avLst/>
            </a:prstGeom>
            <a:noFill/>
            <a:ln w="9525">
              <a:noFill/>
              <a:miter lim="800000"/>
              <a:headEnd/>
              <a:tailEnd/>
            </a:ln>
          </p:spPr>
          <p:txBody>
            <a:bodyPr>
              <a:spAutoFit/>
            </a:bodyPr>
            <a:lstStyle/>
            <a:p>
              <a:pPr marL="279400" indent="-279400">
                <a:buSzPct val="130000"/>
                <a:buFont typeface="Arial" pitchFamily="34" charset="0"/>
                <a:buChar char="•"/>
              </a:pPr>
              <a:endParaRPr lang="en-US" sz="2400" b="0"/>
            </a:p>
            <a:p>
              <a:pPr marL="279400" indent="-279400">
                <a:buSzPct val="130000"/>
                <a:buFont typeface="Arial" pitchFamily="34" charset="0"/>
                <a:buChar char="•"/>
              </a:pPr>
              <a:endParaRPr lang="en-US" sz="2400" b="0"/>
            </a:p>
            <a:p>
              <a:pPr marL="279400" indent="-279400">
                <a:buSzPct val="130000"/>
                <a:buFont typeface="Arial" pitchFamily="34" charset="0"/>
                <a:buChar char="•"/>
              </a:pPr>
              <a:endParaRPr lang="en-US" sz="2400" b="0"/>
            </a:p>
            <a:p>
              <a:pPr marL="279400" indent="-279400">
                <a:buSzPct val="130000"/>
                <a:buFont typeface="Arial" pitchFamily="34" charset="0"/>
                <a:buChar char="•"/>
              </a:pPr>
              <a:endParaRPr lang="en-US" b="0"/>
            </a:p>
            <a:p>
              <a:pPr marL="279400" indent="-279400">
                <a:buSzPct val="130000"/>
                <a:buFont typeface="Arial" pitchFamily="34" charset="0"/>
                <a:buChar char="•"/>
              </a:pPr>
              <a:endParaRPr lang="en-US" b="0"/>
            </a:p>
            <a:p>
              <a:pPr marL="279400" indent="-279400">
                <a:buSzPct val="130000"/>
                <a:buFont typeface="Arial" pitchFamily="34" charset="0"/>
                <a:buChar char="•"/>
              </a:pPr>
              <a:endParaRPr lang="en-US" b="0"/>
            </a:p>
            <a:p>
              <a:pPr marL="279400" indent="-279400">
                <a:buSzPct val="130000"/>
                <a:buFont typeface="Arial" pitchFamily="34" charset="0"/>
                <a:buChar char="•"/>
              </a:pPr>
              <a:endParaRPr lang="en-US" b="0"/>
            </a:p>
            <a:p>
              <a:pPr marL="279400" indent="-279400">
                <a:buSzPct val="130000"/>
                <a:buFont typeface="Arial" pitchFamily="34" charset="0"/>
                <a:buChar char="•"/>
              </a:pPr>
              <a:endParaRPr lang="en-US" b="0"/>
            </a:p>
          </p:txBody>
        </p:sp>
        <p:sp>
          <p:nvSpPr>
            <p:cNvPr id="62" name="AutoShape 11"/>
            <p:cNvSpPr>
              <a:spLocks noChangeArrowheads="1"/>
            </p:cNvSpPr>
            <p:nvPr/>
          </p:nvSpPr>
          <p:spPr bwMode="auto">
            <a:xfrm>
              <a:off x="209550" y="846666"/>
              <a:ext cx="8724900" cy="5581843"/>
            </a:xfrm>
            <a:prstGeom prst="roundRect">
              <a:avLst>
                <a:gd name="adj" fmla="val 4167"/>
              </a:avLst>
            </a:prstGeom>
            <a:gradFill rotWithShape="1">
              <a:gsLst>
                <a:gs pos="0">
                  <a:srgbClr val="E4CD9A"/>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nSpc>
                  <a:spcPct val="85000"/>
                </a:lnSpc>
                <a:spcBef>
                  <a:spcPct val="40000"/>
                </a:spcBef>
                <a:buSzPct val="90000"/>
                <a:defRPr/>
              </a:pPr>
              <a:endParaRPr lang="en-US" sz="2000" dirty="0">
                <a:cs typeface="Arial" charset="0"/>
              </a:endParaRPr>
            </a:p>
          </p:txBody>
        </p:sp>
        <p:grpSp>
          <p:nvGrpSpPr>
            <p:cNvPr id="23" name="Group 54"/>
            <p:cNvGrpSpPr>
              <a:grpSpLocks/>
            </p:cNvGrpSpPr>
            <p:nvPr/>
          </p:nvGrpSpPr>
          <p:grpSpPr bwMode="auto">
            <a:xfrm>
              <a:off x="328613" y="2291882"/>
              <a:ext cx="8450262" cy="755578"/>
              <a:chOff x="295580" y="2725071"/>
              <a:chExt cx="8450888" cy="518563"/>
            </a:xfrm>
          </p:grpSpPr>
          <p:sp>
            <p:nvSpPr>
              <p:cNvPr id="44" name="AutoShape 34"/>
              <p:cNvSpPr>
                <a:spLocks noChangeArrowheads="1"/>
              </p:cNvSpPr>
              <p:nvPr/>
            </p:nvSpPr>
            <p:spPr bwMode="auto">
              <a:xfrm>
                <a:off x="397188" y="2724700"/>
                <a:ext cx="8349280" cy="518630"/>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tIns="91440" bIns="91440" anchor="ctr"/>
              <a:lstStyle/>
              <a:p>
                <a:pPr marL="511175">
                  <a:buSzPct val="130000"/>
                  <a:defRPr/>
                </a:pPr>
                <a:r>
                  <a:rPr lang="en-US" sz="2000" b="0" dirty="0">
                    <a:cs typeface="Arial" charset="0"/>
                  </a:rPr>
                  <a:t>DNS is the name resolution tool of choice for Windows 7</a:t>
                </a:r>
                <a:endParaRPr lang="en-GB" sz="2000" b="0" dirty="0">
                  <a:cs typeface="Arial" charset="0"/>
                </a:endParaRPr>
              </a:p>
            </p:txBody>
          </p:sp>
          <p:sp>
            <p:nvSpPr>
              <p:cNvPr id="54" name="Rounded Rectangle 8"/>
              <p:cNvSpPr>
                <a:spLocks noChangeArrowheads="1"/>
              </p:cNvSpPr>
              <p:nvPr/>
            </p:nvSpPr>
            <p:spPr bwMode="auto">
              <a:xfrm>
                <a:off x="295580" y="2809685"/>
                <a:ext cx="509625" cy="280016"/>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grpSp>
          <p:nvGrpSpPr>
            <p:cNvPr id="26" name="Group 55"/>
            <p:cNvGrpSpPr>
              <a:grpSpLocks/>
            </p:cNvGrpSpPr>
            <p:nvPr/>
          </p:nvGrpSpPr>
          <p:grpSpPr bwMode="auto">
            <a:xfrm>
              <a:off x="328613" y="3706933"/>
              <a:ext cx="8450262" cy="776215"/>
              <a:chOff x="295580" y="2587413"/>
              <a:chExt cx="8450888" cy="728224"/>
            </a:xfrm>
          </p:grpSpPr>
          <p:sp>
            <p:nvSpPr>
              <p:cNvPr id="57" name="AutoShape 34"/>
              <p:cNvSpPr>
                <a:spLocks noChangeArrowheads="1"/>
              </p:cNvSpPr>
              <p:nvPr/>
            </p:nvSpPr>
            <p:spPr bwMode="auto">
              <a:xfrm>
                <a:off x="397188" y="2587889"/>
                <a:ext cx="8349280" cy="72831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tIns="91440" bIns="91440" anchor="ctr"/>
              <a:lstStyle/>
              <a:p>
                <a:pPr marL="511175">
                  <a:buSzPct val="130000"/>
                  <a:defRPr/>
                </a:pPr>
                <a:r>
                  <a:rPr lang="en-US" sz="2000" b="0" dirty="0">
                    <a:cs typeface="Arial" charset="0"/>
                  </a:rPr>
                  <a:t>WINS is retained for backward compatibility</a:t>
                </a:r>
              </a:p>
            </p:txBody>
          </p:sp>
          <p:sp>
            <p:nvSpPr>
              <p:cNvPr id="58" name="Rounded Rectangle 8"/>
              <p:cNvSpPr>
                <a:spLocks noChangeArrowheads="1"/>
              </p:cNvSpPr>
              <p:nvPr/>
            </p:nvSpPr>
            <p:spPr bwMode="auto">
              <a:xfrm>
                <a:off x="295580" y="2741297"/>
                <a:ext cx="509625" cy="421501"/>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grpSp>
          <p:nvGrpSpPr>
            <p:cNvPr id="28" name="Group 58"/>
            <p:cNvGrpSpPr>
              <a:grpSpLocks/>
            </p:cNvGrpSpPr>
            <p:nvPr/>
          </p:nvGrpSpPr>
          <p:grpSpPr bwMode="auto">
            <a:xfrm>
              <a:off x="328613" y="4587912"/>
              <a:ext cx="8450262" cy="795262"/>
              <a:chOff x="295580" y="2717932"/>
              <a:chExt cx="8450888" cy="545798"/>
            </a:xfrm>
          </p:grpSpPr>
          <p:sp>
            <p:nvSpPr>
              <p:cNvPr id="60" name="AutoShape 34"/>
              <p:cNvSpPr>
                <a:spLocks noChangeArrowheads="1"/>
              </p:cNvSpPr>
              <p:nvPr/>
            </p:nvSpPr>
            <p:spPr bwMode="auto">
              <a:xfrm>
                <a:off x="397188" y="2718358"/>
                <a:ext cx="8349280" cy="545869"/>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tIns="91440" bIns="91440" anchor="ctr"/>
              <a:lstStyle/>
              <a:p>
                <a:pPr marL="511175">
                  <a:buSzPct val="130000"/>
                  <a:defRPr/>
                </a:pPr>
                <a:r>
                  <a:rPr lang="en-US" sz="2000" b="0" dirty="0">
                    <a:cs typeface="Arial" charset="0"/>
                  </a:rPr>
                  <a:t>The Global Domain Names feature can remove the</a:t>
                </a:r>
                <a:br>
                  <a:rPr lang="en-US" sz="2000" b="0" dirty="0">
                    <a:cs typeface="Arial" charset="0"/>
                  </a:rPr>
                </a:br>
                <a:r>
                  <a:rPr lang="en-US" sz="2000" b="0" dirty="0">
                    <a:cs typeface="Arial" charset="0"/>
                  </a:rPr>
                  <a:t>need for WINS</a:t>
                </a:r>
              </a:p>
            </p:txBody>
          </p:sp>
          <p:sp>
            <p:nvSpPr>
              <p:cNvPr id="61" name="Rounded Rectangle 8"/>
              <p:cNvSpPr>
                <a:spLocks noChangeArrowheads="1"/>
              </p:cNvSpPr>
              <p:nvPr/>
            </p:nvSpPr>
            <p:spPr bwMode="auto">
              <a:xfrm>
                <a:off x="295580" y="2788089"/>
                <a:ext cx="509625" cy="322509"/>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grpSp>
          <p:nvGrpSpPr>
            <p:cNvPr id="29" name="Group 69"/>
            <p:cNvGrpSpPr>
              <a:grpSpLocks/>
            </p:cNvGrpSpPr>
            <p:nvPr/>
          </p:nvGrpSpPr>
          <p:grpSpPr bwMode="auto">
            <a:xfrm>
              <a:off x="309563" y="1444238"/>
              <a:ext cx="8469312" cy="761928"/>
              <a:chOff x="309247" y="1637802"/>
              <a:chExt cx="8469939" cy="644229"/>
            </a:xfrm>
          </p:grpSpPr>
          <p:sp>
            <p:nvSpPr>
              <p:cNvPr id="65" name="AutoShape 34"/>
              <p:cNvSpPr>
                <a:spLocks noChangeArrowheads="1"/>
              </p:cNvSpPr>
              <p:nvPr/>
            </p:nvSpPr>
            <p:spPr bwMode="auto">
              <a:xfrm>
                <a:off x="428318" y="1637252"/>
                <a:ext cx="8350868" cy="64431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tIns="91440" bIns="91440" anchor="ctr"/>
              <a:lstStyle/>
              <a:p>
                <a:pPr marL="511175">
                  <a:buSzPct val="130000"/>
                  <a:defRPr/>
                </a:pPr>
                <a:r>
                  <a:rPr lang="en-US" sz="2000" b="0" dirty="0">
                    <a:cs typeface="Arial" charset="0"/>
                  </a:rPr>
                  <a:t>DNS is a service that manages the resolution of host </a:t>
                </a:r>
                <a:br>
                  <a:rPr lang="en-US" sz="2000" b="0" dirty="0">
                    <a:cs typeface="Arial" charset="0"/>
                  </a:rPr>
                </a:br>
                <a:r>
                  <a:rPr lang="en-US" sz="2000" b="0" dirty="0">
                    <a:cs typeface="Arial" charset="0"/>
                  </a:rPr>
                  <a:t>names to IP addresses</a:t>
                </a:r>
                <a:endParaRPr lang="en-GB" sz="2000" b="0" dirty="0">
                  <a:cs typeface="Arial" charset="0"/>
                </a:endParaRPr>
              </a:p>
            </p:txBody>
          </p:sp>
          <p:sp>
            <p:nvSpPr>
              <p:cNvPr id="66" name="Rounded Rectangle 8"/>
              <p:cNvSpPr>
                <a:spLocks noChangeArrowheads="1"/>
              </p:cNvSpPr>
              <p:nvPr/>
            </p:nvSpPr>
            <p:spPr bwMode="auto">
              <a:xfrm>
                <a:off x="309247" y="1723160"/>
                <a:ext cx="527089" cy="373164"/>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sp>
          <p:nvSpPr>
            <p:cNvPr id="30739" name="TextBox 55"/>
            <p:cNvSpPr txBox="1">
              <a:spLocks noChangeArrowheads="1"/>
            </p:cNvSpPr>
            <p:nvPr/>
          </p:nvSpPr>
          <p:spPr bwMode="auto">
            <a:xfrm>
              <a:off x="587023" y="952364"/>
              <a:ext cx="7969955" cy="461621"/>
            </a:xfrm>
            <a:prstGeom prst="rect">
              <a:avLst/>
            </a:prstGeom>
            <a:noFill/>
            <a:ln w="9525">
              <a:noFill/>
              <a:miter lim="800000"/>
              <a:headEnd/>
              <a:tailEnd/>
            </a:ln>
          </p:spPr>
          <p:txBody>
            <a:bodyPr>
              <a:spAutoFit/>
            </a:bodyPr>
            <a:lstStyle/>
            <a:p>
              <a:pPr algn="ctr"/>
              <a:r>
                <a:rPr lang="en-US" sz="2400"/>
                <a:t>Domain Name System (DNS)</a:t>
              </a:r>
            </a:p>
          </p:txBody>
        </p:sp>
        <p:sp>
          <p:nvSpPr>
            <p:cNvPr id="30740" name="TextBox 58"/>
            <p:cNvSpPr txBox="1">
              <a:spLocks noChangeArrowheads="1"/>
            </p:cNvSpPr>
            <p:nvPr/>
          </p:nvSpPr>
          <p:spPr bwMode="auto">
            <a:xfrm>
              <a:off x="587023" y="3237355"/>
              <a:ext cx="7969955" cy="461621"/>
            </a:xfrm>
            <a:prstGeom prst="rect">
              <a:avLst/>
            </a:prstGeom>
            <a:noFill/>
            <a:ln w="9525">
              <a:noFill/>
              <a:miter lim="800000"/>
              <a:headEnd/>
              <a:tailEnd/>
            </a:ln>
          </p:spPr>
          <p:txBody>
            <a:bodyPr>
              <a:spAutoFit/>
            </a:bodyPr>
            <a:lstStyle/>
            <a:p>
              <a:pPr algn="ctr"/>
              <a:r>
                <a:rPr lang="en-US" sz="2400"/>
                <a:t>Windows Internet Naming Service (WINS)</a:t>
              </a:r>
            </a:p>
          </p:txBody>
        </p:sp>
        <p:grpSp>
          <p:nvGrpSpPr>
            <p:cNvPr id="30" name="Group 58"/>
            <p:cNvGrpSpPr>
              <a:grpSpLocks/>
            </p:cNvGrpSpPr>
            <p:nvPr/>
          </p:nvGrpSpPr>
          <p:grpSpPr bwMode="auto">
            <a:xfrm>
              <a:off x="322263" y="5462542"/>
              <a:ext cx="8450262" cy="795264"/>
              <a:chOff x="294876" y="2717748"/>
              <a:chExt cx="8450888" cy="545799"/>
            </a:xfrm>
          </p:grpSpPr>
          <p:sp>
            <p:nvSpPr>
              <p:cNvPr id="64" name="AutoShape 34"/>
              <p:cNvSpPr>
                <a:spLocks noChangeArrowheads="1"/>
              </p:cNvSpPr>
              <p:nvPr/>
            </p:nvSpPr>
            <p:spPr bwMode="auto">
              <a:xfrm>
                <a:off x="396484" y="2718252"/>
                <a:ext cx="8349280" cy="54477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none" tIns="91440" bIns="91440" anchor="ctr"/>
              <a:lstStyle/>
              <a:p>
                <a:pPr marL="511175">
                  <a:buSzPct val="130000"/>
                  <a:defRPr/>
                </a:pPr>
                <a:r>
                  <a:rPr lang="en-US" sz="2000" b="0" dirty="0"/>
                  <a:t>WINS is a NetBIOS name server used to resolve </a:t>
                </a:r>
                <a:br>
                  <a:rPr lang="en-US" sz="2000" b="0" dirty="0"/>
                </a:br>
                <a:r>
                  <a:rPr lang="en-US" sz="2000" b="0" dirty="0"/>
                  <a:t>NetBIOS</a:t>
                </a:r>
                <a:endParaRPr lang="en-US" sz="2000" b="0" dirty="0">
                  <a:cs typeface="Arial" charset="0"/>
                </a:endParaRPr>
              </a:p>
            </p:txBody>
          </p:sp>
          <p:sp>
            <p:nvSpPr>
              <p:cNvPr id="67" name="Rounded Rectangle 8"/>
              <p:cNvSpPr>
                <a:spLocks noChangeArrowheads="1"/>
              </p:cNvSpPr>
              <p:nvPr/>
            </p:nvSpPr>
            <p:spPr bwMode="auto">
              <a:xfrm>
                <a:off x="294876" y="2787983"/>
                <a:ext cx="509625" cy="321419"/>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sz="2400" dirty="0">
                    <a:solidFill>
                      <a:srgbClr val="990033"/>
                    </a:solidFill>
                    <a:latin typeface="Wingdings" pitchFamily="2" charset="2"/>
                    <a:cs typeface="Arial" charset="0"/>
                  </a:rPr>
                  <a:t>ü</a:t>
                </a:r>
              </a:p>
            </p:txBody>
          </p:sp>
        </p:grpSp>
      </p:grpSp>
      <p:grpSp>
        <p:nvGrpSpPr>
          <p:cNvPr id="31" name="Group 7"/>
          <p:cNvGrpSpPr>
            <a:grpSpLocks/>
          </p:cNvGrpSpPr>
          <p:nvPr/>
        </p:nvGrpSpPr>
        <p:grpSpPr bwMode="auto">
          <a:xfrm>
            <a:off x="8026400" y="5908675"/>
            <a:ext cx="914400" cy="425450"/>
            <a:chOff x="384" y="3024"/>
            <a:chExt cx="720" cy="336"/>
          </a:xfrm>
        </p:grpSpPr>
        <p:sp>
          <p:nvSpPr>
            <p:cNvPr id="34" name="Oval 8"/>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dirty="0">
                <a:cs typeface="+mn-cs"/>
              </a:endParaRPr>
            </a:p>
          </p:txBody>
        </p:sp>
        <p:grpSp>
          <p:nvGrpSpPr>
            <p:cNvPr id="30720" name="Group 9"/>
            <p:cNvGrpSpPr>
              <a:grpSpLocks/>
            </p:cNvGrpSpPr>
            <p:nvPr/>
          </p:nvGrpSpPr>
          <p:grpSpPr bwMode="auto">
            <a:xfrm>
              <a:off x="480" y="3096"/>
              <a:ext cx="240" cy="192"/>
              <a:chOff x="480" y="3096"/>
              <a:chExt cx="240" cy="192"/>
            </a:xfrm>
          </p:grpSpPr>
          <p:sp>
            <p:nvSpPr>
              <p:cNvPr id="30731" name="Oval 10"/>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a:p>
            </p:txBody>
          </p:sp>
          <p:sp>
            <p:nvSpPr>
              <p:cNvPr id="37" name="Freeform 11"/>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dirty="0"/>
              </a:p>
            </p:txBody>
          </p:sp>
        </p:grpSp>
      </p:grpSp>
      <p:grpSp>
        <p:nvGrpSpPr>
          <p:cNvPr id="30721" name="Group 12"/>
          <p:cNvGrpSpPr>
            <a:grpSpLocks/>
          </p:cNvGrpSpPr>
          <p:nvPr/>
        </p:nvGrpSpPr>
        <p:grpSpPr bwMode="auto">
          <a:xfrm>
            <a:off x="8534400" y="5991225"/>
            <a:ext cx="304800" cy="244475"/>
            <a:chOff x="768" y="3096"/>
            <a:chExt cx="240" cy="192"/>
          </a:xfrm>
        </p:grpSpPr>
        <p:sp>
          <p:nvSpPr>
            <p:cNvPr id="30727" name="Oval 13"/>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a:p>
          </p:txBody>
        </p:sp>
        <p:sp>
          <p:nvSpPr>
            <p:cNvPr id="40" name="Rectangle 14"/>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dirty="0">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17"/>
                                        </p:tgtEl>
                                        <p:attrNameLst>
                                          <p:attrName>ppt_x</p:attrName>
                                        </p:attrNameLst>
                                      </p:cBhvr>
                                      <p:tavLst>
                                        <p:tav tm="0">
                                          <p:val>
                                            <p:strVal val="ppt_x"/>
                                          </p:val>
                                        </p:tav>
                                        <p:tav tm="100000">
                                          <p:val>
                                            <p:strVal val="ppt_x"/>
                                          </p:val>
                                        </p:tav>
                                      </p:tavLst>
                                    </p:anim>
                                    <p:anim calcmode="lin" valueType="num">
                                      <p:cBhvr additive="base">
                                        <p:cTn id="7" dur="500"/>
                                        <p:tgtEl>
                                          <p:spTgt spid="17"/>
                                        </p:tgtEl>
                                        <p:attrNameLst>
                                          <p:attrName>ppt_y</p:attrName>
                                        </p:attrNameLst>
                                      </p:cBhvr>
                                      <p:tavLst>
                                        <p:tav tm="0">
                                          <p:val>
                                            <p:strVal val="ppt_y"/>
                                          </p:val>
                                        </p:tav>
                                        <p:tav tm="100000">
                                          <p:val>
                                            <p:strVal val="1+ppt_h/2"/>
                                          </p:val>
                                        </p:tav>
                                      </p:tavLst>
                                    </p:anim>
                                    <p:set>
                                      <p:cBhvr>
                                        <p:cTn id="8" dur="1" fill="hold">
                                          <p:stCondLst>
                                            <p:cond delay="499"/>
                                          </p:stCondLst>
                                        </p:cTn>
                                        <p:tgtEl>
                                          <p:spTgt spid="17"/>
                                        </p:tgtEl>
                                        <p:attrNameLst>
                                          <p:attrName>style.visibility</p:attrName>
                                        </p:attrNameLst>
                                      </p:cBhvr>
                                      <p:to>
                                        <p:strVal val="hidden"/>
                                      </p:to>
                                    </p:set>
                                  </p:childTnLst>
                                </p:cTn>
                              </p:par>
                              <p:par>
                                <p:cTn id="9" presetID="5" presetClass="entr" presetSubtype="1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30763"/>
                                        </p:tgtEl>
                                        <p:attrNameLst>
                                          <p:attrName>style.visibility</p:attrName>
                                        </p:attrNameLst>
                                      </p:cBhvr>
                                      <p:to>
                                        <p:strVal val="visible"/>
                                      </p:to>
                                    </p:set>
                                    <p:animEffect transition="in" filter="checkerboard(across)">
                                      <p:cBhvr>
                                        <p:cTn id="16" dur="500"/>
                                        <p:tgtEl>
                                          <p:spTgt spid="30763"/>
                                        </p:tgtEl>
                                      </p:cBhvr>
                                    </p:animEffect>
                                  </p:childTnLst>
                                </p:cTn>
                              </p:par>
                              <p:par>
                                <p:cTn id="17" presetID="5" presetClass="entr" presetSubtype="1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heckerboard(across)">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checkerboard(across)">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checkerboard(across)">
                                      <p:cBhvr>
                                        <p:cTn id="29" dur="500"/>
                                        <p:tgtEl>
                                          <p:spTgt spid="16"/>
                                        </p:tgtEl>
                                      </p:cBhvr>
                                    </p:animEffect>
                                  </p:childTnLst>
                                </p:cTn>
                              </p:par>
                              <p:par>
                                <p:cTn id="30" presetID="5" presetClass="entr" presetSubtype="10" fill="hold" nodeType="withEffect">
                                  <p:stCondLst>
                                    <p:cond delay="0"/>
                                  </p:stCondLst>
                                  <p:childTnLst>
                                    <p:set>
                                      <p:cBhvr>
                                        <p:cTn id="31" dur="1" fill="hold">
                                          <p:stCondLst>
                                            <p:cond delay="0"/>
                                          </p:stCondLst>
                                        </p:cTn>
                                        <p:tgtEl>
                                          <p:spTgt spid="30757"/>
                                        </p:tgtEl>
                                        <p:attrNameLst>
                                          <p:attrName>style.visibility</p:attrName>
                                        </p:attrNameLst>
                                      </p:cBhvr>
                                      <p:to>
                                        <p:strVal val="visible"/>
                                      </p:to>
                                    </p:set>
                                    <p:animEffect transition="in" filter="checkerboard(across)">
                                      <p:cBhvr>
                                        <p:cTn id="32" dur="500"/>
                                        <p:tgtEl>
                                          <p:spTgt spid="30757"/>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checkerboard(across)">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checkerboard(across)">
                                      <p:cBhvr>
                                        <p:cTn id="42" dur="500"/>
                                        <p:tgtEl>
                                          <p:spTgt spid="15"/>
                                        </p:tgtEl>
                                      </p:cBhvr>
                                    </p:animEffect>
                                  </p:childTnLst>
                                </p:cTn>
                              </p:par>
                              <p:par>
                                <p:cTn id="43" presetID="5" presetClass="entr" presetSubtype="10" fill="hold" nodeType="withEffect">
                                  <p:stCondLst>
                                    <p:cond delay="0"/>
                                  </p:stCondLst>
                                  <p:childTnLst>
                                    <p:set>
                                      <p:cBhvr>
                                        <p:cTn id="44" dur="1" fill="hold">
                                          <p:stCondLst>
                                            <p:cond delay="0"/>
                                          </p:stCondLst>
                                        </p:cTn>
                                        <p:tgtEl>
                                          <p:spTgt spid="30756"/>
                                        </p:tgtEl>
                                        <p:attrNameLst>
                                          <p:attrName>style.visibility</p:attrName>
                                        </p:attrNameLst>
                                      </p:cBhvr>
                                      <p:to>
                                        <p:strVal val="visible"/>
                                      </p:to>
                                    </p:set>
                                    <p:animEffect transition="in" filter="checkerboard(across)">
                                      <p:cBhvr>
                                        <p:cTn id="45" dur="500"/>
                                        <p:tgtEl>
                                          <p:spTgt spid="30756"/>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checkerboard(across)">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checkerboard(across)">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nodeType="clickEffect">
                                  <p:stCondLst>
                                    <p:cond delay="0"/>
                                  </p:stCondLst>
                                  <p:childTnLst>
                                    <p:set>
                                      <p:cBhvr>
                                        <p:cTn id="57" dur="1" fill="hold">
                                          <p:stCondLst>
                                            <p:cond delay="0"/>
                                          </p:stCondLst>
                                        </p:cTn>
                                        <p:tgtEl>
                                          <p:spTgt spid="30759"/>
                                        </p:tgtEl>
                                        <p:attrNameLst>
                                          <p:attrName>style.visibility</p:attrName>
                                        </p:attrNameLst>
                                      </p:cBhvr>
                                      <p:to>
                                        <p:strVal val="visible"/>
                                      </p:to>
                                    </p:set>
                                    <p:animEffect transition="in" filter="checkerboard(across)">
                                      <p:cBhvr>
                                        <p:cTn id="58" dur="500"/>
                                        <p:tgtEl>
                                          <p:spTgt spid="30759"/>
                                        </p:tgtEl>
                                      </p:cBhvr>
                                    </p:animEffect>
                                  </p:childTnLst>
                                </p:cTn>
                              </p:par>
                              <p:par>
                                <p:cTn id="59" presetID="5" presetClass="entr" presetSubtype="10"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checkerboard(across)">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Rectangle 4"/>
          <p:cNvSpPr>
            <a:spLocks noGrp="1" noChangeArrowheads="1"/>
          </p:cNvSpPr>
          <p:nvPr>
            <p:ph type="title"/>
          </p:nvPr>
        </p:nvSpPr>
        <p:spPr/>
        <p:txBody>
          <a:bodyPr>
            <a:normAutofit fontScale="90000"/>
          </a:bodyPr>
          <a:lstStyle/>
          <a:p>
            <a:r>
              <a:rPr lang="en-US" dirty="0"/>
              <a:t>4. </a:t>
            </a:r>
            <a:r>
              <a:rPr lang="fr-FR" dirty="0"/>
              <a:t>Configuration d'un client DNS et WINS</a:t>
            </a:r>
            <a:r>
              <a:rPr lang="en-US" dirty="0"/>
              <a:t> </a:t>
            </a:r>
          </a:p>
        </p:txBody>
      </p:sp>
      <p:sp>
        <p:nvSpPr>
          <p:cNvPr id="276485" name="Rectangle 5"/>
          <p:cNvSpPr>
            <a:spLocks noGrp="1" noChangeArrowheads="1"/>
          </p:cNvSpPr>
          <p:nvPr>
            <p:ph sz="quarter" idx="1"/>
          </p:nvPr>
        </p:nvSpPr>
        <p:spPr>
          <a:xfrm>
            <a:off x="223610" y="1433067"/>
            <a:ext cx="8731704" cy="4837112"/>
          </a:xfrm>
        </p:spPr>
        <p:txBody>
          <a:bodyPr>
            <a:noAutofit/>
          </a:bodyPr>
          <a:lstStyle/>
          <a:p>
            <a:pPr>
              <a:buClr>
                <a:schemeClr val="tx2"/>
              </a:buClr>
              <a:buFont typeface="Wingdings" pitchFamily="2" charset="2"/>
              <a:buChar char="Ø"/>
            </a:pPr>
            <a:r>
              <a:rPr lang="fr-FR" dirty="0"/>
              <a:t>Spécification de noms d'hôte, de noms de domaine et de noms spécifiques à des connexions </a:t>
            </a:r>
            <a:endParaRPr lang="en-US" dirty="0"/>
          </a:p>
          <a:p>
            <a:pPr>
              <a:buClr>
                <a:schemeClr val="tx2"/>
              </a:buClr>
              <a:buFont typeface="Wingdings" pitchFamily="2" charset="2"/>
              <a:buChar char="Ø"/>
            </a:pPr>
            <a:r>
              <a:rPr lang="fr-FR" dirty="0"/>
              <a:t>Configuration d'un client DNS </a:t>
            </a:r>
            <a:endParaRPr lang="en-US" dirty="0"/>
          </a:p>
          <a:p>
            <a:pPr>
              <a:buClr>
                <a:schemeClr val="tx2"/>
              </a:buClr>
              <a:buFont typeface="Wingdings" pitchFamily="2" charset="2"/>
              <a:buChar char="Ø"/>
            </a:pPr>
            <a:r>
              <a:rPr lang="fr-FR" dirty="0"/>
              <a:t>Spécification de serveurs DNS auxiliaires </a:t>
            </a:r>
            <a:endParaRPr lang="en-US" dirty="0"/>
          </a:p>
          <a:p>
            <a:pPr>
              <a:buClr>
                <a:schemeClr val="tx2"/>
              </a:buClr>
              <a:buFont typeface="Wingdings" pitchFamily="2" charset="2"/>
              <a:buChar char="Ø"/>
            </a:pPr>
            <a:r>
              <a:rPr lang="fr-FR"/>
              <a:t>Configuration </a:t>
            </a:r>
            <a:r>
              <a:rPr lang="fr-FR" dirty="0"/>
              <a:t>DHCP pour la mise à jour dynamique du système DNS </a:t>
            </a:r>
            <a:endParaRPr lang="en-US" dirty="0"/>
          </a:p>
          <a:p>
            <a:pPr>
              <a:buClr>
                <a:schemeClr val="tx2"/>
              </a:buClr>
              <a:buFont typeface="Wingdings" pitchFamily="2" charset="2"/>
              <a:buChar char="Ø"/>
            </a:pPr>
            <a:r>
              <a:rPr lang="fr-FR" dirty="0"/>
              <a:t>Configuration d'un client WINS </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7519" name="Picture 15" descr="P2272bW08-22-a"/>
          <p:cNvPicPr>
            <a:picLocks noChangeAspect="1" noChangeArrowheads="1"/>
          </p:cNvPicPr>
          <p:nvPr/>
        </p:nvPicPr>
        <p:blipFill>
          <a:blip r:embed="rId3"/>
          <a:srcRect/>
          <a:stretch>
            <a:fillRect/>
          </a:stretch>
        </p:blipFill>
        <p:spPr bwMode="auto">
          <a:xfrm>
            <a:off x="0" y="1277247"/>
            <a:ext cx="5713816" cy="4267209"/>
          </a:xfrm>
          <a:prstGeom prst="rect">
            <a:avLst/>
          </a:prstGeom>
          <a:noFill/>
        </p:spPr>
      </p:pic>
      <p:sp>
        <p:nvSpPr>
          <p:cNvPr id="277506" name="Rectangle 2"/>
          <p:cNvSpPr>
            <a:spLocks noGrp="1" noChangeArrowheads="1"/>
          </p:cNvSpPr>
          <p:nvPr>
            <p:ph type="title"/>
          </p:nvPr>
        </p:nvSpPr>
        <p:spPr>
          <a:xfrm>
            <a:off x="0" y="1"/>
            <a:ext cx="9144000" cy="1103086"/>
          </a:xfrm>
        </p:spPr>
        <p:txBody>
          <a:bodyPr vert="horz" anchor="b">
            <a:normAutofit fontScale="90000"/>
          </a:bodyPr>
          <a:lstStyle/>
          <a:p>
            <a:r>
              <a:rPr lang="fr-FR" sz="3000" dirty="0">
                <a:solidFill>
                  <a:srgbClr val="C00000"/>
                </a:solidFill>
              </a:rPr>
              <a:t>Spécification de noms d'hôte, de noms de domaine et de noms spécifiques à des connexions</a:t>
            </a:r>
            <a:endParaRPr lang="en-US" sz="3000" dirty="0">
              <a:solidFill>
                <a:srgbClr val="C00000"/>
              </a:solidFill>
            </a:endParaRPr>
          </a:p>
        </p:txBody>
      </p:sp>
      <p:pic>
        <p:nvPicPr>
          <p:cNvPr id="277520" name="Picture 16" descr="P2272bW08-22-b"/>
          <p:cNvPicPr>
            <a:picLocks noChangeAspect="1" noChangeArrowheads="1"/>
          </p:cNvPicPr>
          <p:nvPr/>
        </p:nvPicPr>
        <p:blipFill>
          <a:blip r:embed="rId4"/>
          <a:srcRect/>
          <a:stretch>
            <a:fillRect/>
          </a:stretch>
        </p:blipFill>
        <p:spPr bwMode="auto">
          <a:xfrm>
            <a:off x="4970426" y="1886857"/>
            <a:ext cx="4171068" cy="4987916"/>
          </a:xfrm>
          <a:prstGeom prst="rect">
            <a:avLst/>
          </a:prstGeom>
          <a:noFill/>
        </p:spPr>
      </p:pic>
      <p:sp>
        <p:nvSpPr>
          <p:cNvPr id="277510" name="Freeform 6"/>
          <p:cNvSpPr>
            <a:spLocks/>
          </p:cNvSpPr>
          <p:nvPr/>
        </p:nvSpPr>
        <p:spPr bwMode="auto">
          <a:xfrm rot="17529388" flipH="1">
            <a:off x="3836296" y="3153451"/>
            <a:ext cx="2247900" cy="673100"/>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round/>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77510"/>
                                        </p:tgtEl>
                                        <p:attrNameLst>
                                          <p:attrName>style.visibility</p:attrName>
                                        </p:attrNameLst>
                                      </p:cBhvr>
                                      <p:to>
                                        <p:strVal val="visible"/>
                                      </p:to>
                                    </p:set>
                                    <p:animEffect transition="in" filter="checkerboard(across)">
                                      <p:cBhvr>
                                        <p:cTn id="7" dur="1000"/>
                                        <p:tgtEl>
                                          <p:spTgt spid="277510"/>
                                        </p:tgtEl>
                                      </p:cBhvr>
                                    </p:animEffect>
                                  </p:childTnLst>
                                </p:cTn>
                              </p:par>
                              <p:par>
                                <p:cTn id="8" presetID="5" presetClass="entr" presetSubtype="10" fill="hold" nodeType="withEffect">
                                  <p:stCondLst>
                                    <p:cond delay="0"/>
                                  </p:stCondLst>
                                  <p:childTnLst>
                                    <p:set>
                                      <p:cBhvr>
                                        <p:cTn id="9" dur="1" fill="hold">
                                          <p:stCondLst>
                                            <p:cond delay="0"/>
                                          </p:stCondLst>
                                        </p:cTn>
                                        <p:tgtEl>
                                          <p:spTgt spid="277520"/>
                                        </p:tgtEl>
                                        <p:attrNameLst>
                                          <p:attrName>style.visibility</p:attrName>
                                        </p:attrNameLst>
                                      </p:cBhvr>
                                      <p:to>
                                        <p:strVal val="visible"/>
                                      </p:to>
                                    </p:set>
                                    <p:animEffect transition="in" filter="checkerboard(across)">
                                      <p:cBhvr>
                                        <p:cTn id="10" dur="1000"/>
                                        <p:tgtEl>
                                          <p:spTgt spid="277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561" name="Picture 9" descr="P2272bW08-23-"/>
          <p:cNvPicPr>
            <a:picLocks noChangeAspect="1" noChangeArrowheads="1"/>
          </p:cNvPicPr>
          <p:nvPr/>
        </p:nvPicPr>
        <p:blipFill>
          <a:blip r:embed="rId3"/>
          <a:srcRect/>
          <a:stretch>
            <a:fillRect/>
          </a:stretch>
        </p:blipFill>
        <p:spPr bwMode="auto">
          <a:xfrm>
            <a:off x="2262188" y="1031875"/>
            <a:ext cx="5198155" cy="5853956"/>
          </a:xfrm>
          <a:prstGeom prst="rect">
            <a:avLst/>
          </a:prstGeom>
          <a:noFill/>
        </p:spPr>
      </p:pic>
      <p:sp>
        <p:nvSpPr>
          <p:cNvPr id="279554" name="Rectangle 2"/>
          <p:cNvSpPr>
            <a:spLocks noGrp="1" noChangeArrowheads="1"/>
          </p:cNvSpPr>
          <p:nvPr>
            <p:ph type="title"/>
          </p:nvPr>
        </p:nvSpPr>
        <p:spPr>
          <a:xfrm>
            <a:off x="647700" y="146050"/>
            <a:ext cx="8189913" cy="841375"/>
          </a:xfrm>
        </p:spPr>
        <p:txBody>
          <a:bodyPr vert="horz" anchor="b">
            <a:normAutofit/>
          </a:bodyPr>
          <a:lstStyle/>
          <a:p>
            <a:r>
              <a:rPr lang="en-US" sz="3000" dirty="0">
                <a:solidFill>
                  <a:srgbClr val="C00000"/>
                </a:solidFill>
              </a:rPr>
              <a:t>Configuration d'un client DNS</a:t>
            </a:r>
          </a:p>
        </p:txBody>
      </p:sp>
      <p:sp>
        <p:nvSpPr>
          <p:cNvPr id="279557" name="Rectangle 5"/>
          <p:cNvSpPr>
            <a:spLocks noChangeArrowheads="1"/>
          </p:cNvSpPr>
          <p:nvPr/>
        </p:nvSpPr>
        <p:spPr bwMode="auto">
          <a:xfrm>
            <a:off x="2592159" y="4955020"/>
            <a:ext cx="3943737" cy="627623"/>
          </a:xfrm>
          <a:prstGeom prst="rect">
            <a:avLst/>
          </a:prstGeom>
          <a:noFill/>
          <a:ln w="38100">
            <a:solidFill>
              <a:schemeClr val="accent2"/>
            </a:solidFill>
            <a:miter lim="800000"/>
            <a:headEnd/>
            <a:tailEnd/>
          </a:ln>
          <a:effectLst>
            <a:outerShdw dist="35921" dir="2700000" algn="ctr" rotWithShape="0">
              <a:srgbClr val="FFFFFF"/>
            </a:outerShdw>
          </a:effectLst>
        </p:spPr>
        <p:txBody>
          <a:bodyPr wrap="none" anchor="ctr"/>
          <a:lstStyle/>
          <a:p>
            <a:endParaRPr lang="fr-FR"/>
          </a:p>
        </p:txBody>
      </p:sp>
      <p:sp>
        <p:nvSpPr>
          <p:cNvPr id="279558" name="AutoShape 6"/>
          <p:cNvSpPr>
            <a:spLocks noChangeArrowheads="1"/>
          </p:cNvSpPr>
          <p:nvPr/>
        </p:nvSpPr>
        <p:spPr bwMode="auto">
          <a:xfrm>
            <a:off x="1887309" y="4951846"/>
            <a:ext cx="770164" cy="624354"/>
          </a:xfrm>
          <a:prstGeom prst="rightArrow">
            <a:avLst>
              <a:gd name="adj1" fmla="val 49741"/>
              <a:gd name="adj2" fmla="val 63873"/>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47700" y="146050"/>
            <a:ext cx="8189913" cy="841375"/>
          </a:xfrm>
        </p:spPr>
        <p:txBody>
          <a:bodyPr vert="horz" anchor="b">
            <a:normAutofit fontScale="90000"/>
          </a:bodyPr>
          <a:lstStyle/>
          <a:p>
            <a:r>
              <a:rPr lang="fr-FR" sz="3000" dirty="0">
                <a:solidFill>
                  <a:srgbClr val="C00000"/>
                </a:solidFill>
              </a:rPr>
              <a:t>Spécification de serveurs DNS auxiliaires</a:t>
            </a:r>
            <a:endParaRPr lang="en-US" sz="3000" dirty="0">
              <a:solidFill>
                <a:srgbClr val="C00000"/>
              </a:solidFill>
            </a:endParaRPr>
          </a:p>
        </p:txBody>
      </p:sp>
      <p:pic>
        <p:nvPicPr>
          <p:cNvPr id="281608" name="Picture 8" descr="P2272bW08-24-"/>
          <p:cNvPicPr>
            <a:picLocks noChangeAspect="1" noChangeArrowheads="1"/>
          </p:cNvPicPr>
          <p:nvPr/>
        </p:nvPicPr>
        <p:blipFill>
          <a:blip r:embed="rId2"/>
          <a:srcRect/>
          <a:stretch>
            <a:fillRect/>
          </a:stretch>
        </p:blipFill>
        <p:spPr bwMode="auto">
          <a:xfrm>
            <a:off x="2173288" y="1001712"/>
            <a:ext cx="5098369" cy="5879323"/>
          </a:xfrm>
          <a:prstGeom prst="rect">
            <a:avLst/>
          </a:prstGeom>
          <a:noFill/>
        </p:spPr>
      </p:pic>
      <p:sp>
        <p:nvSpPr>
          <p:cNvPr id="281605" name="AutoShape 5"/>
          <p:cNvSpPr>
            <a:spLocks noChangeArrowheads="1"/>
          </p:cNvSpPr>
          <p:nvPr/>
        </p:nvSpPr>
        <p:spPr bwMode="auto">
          <a:xfrm>
            <a:off x="1762125" y="1754188"/>
            <a:ext cx="684213" cy="606425"/>
          </a:xfrm>
          <a:prstGeom prst="rightArrow">
            <a:avLst>
              <a:gd name="adj1" fmla="val 49741"/>
              <a:gd name="adj2" fmla="val 63873"/>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0" y="146050"/>
            <a:ext cx="9144000" cy="841375"/>
          </a:xfrm>
        </p:spPr>
        <p:txBody>
          <a:bodyPr vert="horz" anchor="b">
            <a:normAutofit fontScale="90000"/>
          </a:bodyPr>
          <a:lstStyle/>
          <a:p>
            <a:r>
              <a:rPr lang="fr-FR" sz="3000" dirty="0">
                <a:solidFill>
                  <a:srgbClr val="C00000"/>
                </a:solidFill>
              </a:rPr>
              <a:t>Configuration DHCP pour la mise à jour dynamique du système DNS</a:t>
            </a:r>
            <a:endParaRPr lang="en-US" sz="3000" dirty="0">
              <a:solidFill>
                <a:srgbClr val="C00000"/>
              </a:solidFill>
            </a:endParaRPr>
          </a:p>
        </p:txBody>
      </p:sp>
      <p:sp>
        <p:nvSpPr>
          <p:cNvPr id="283765" name="Rectangle 117"/>
          <p:cNvSpPr>
            <a:spLocks noChangeArrowheads="1"/>
          </p:cNvSpPr>
          <p:nvPr/>
        </p:nvSpPr>
        <p:spPr bwMode="auto">
          <a:xfrm>
            <a:off x="4745038" y="1597024"/>
            <a:ext cx="4398962" cy="5260975"/>
          </a:xfrm>
          <a:prstGeom prst="rect">
            <a:avLst/>
          </a:prstGeom>
          <a:solidFill>
            <a:schemeClr val="bg1">
              <a:lumMod val="85000"/>
            </a:schemeClr>
          </a:solidFill>
          <a:ln w="9525">
            <a:solidFill>
              <a:schemeClr val="bg1">
                <a:lumMod val="85000"/>
              </a:schemeClr>
            </a:solidFill>
            <a:miter lim="800000"/>
            <a:headEnd/>
            <a:tailEnd/>
          </a:ln>
          <a:effectLst/>
        </p:spPr>
        <p:txBody>
          <a:bodyPr wrap="none" anchor="ctr"/>
          <a:lstStyle/>
          <a:p>
            <a:endParaRPr lang="fr-FR"/>
          </a:p>
        </p:txBody>
      </p:sp>
      <p:sp>
        <p:nvSpPr>
          <p:cNvPr id="283766" name="Rectangle 118"/>
          <p:cNvSpPr>
            <a:spLocks noChangeArrowheads="1"/>
          </p:cNvSpPr>
          <p:nvPr/>
        </p:nvSpPr>
        <p:spPr bwMode="auto">
          <a:xfrm>
            <a:off x="4660900" y="1100138"/>
            <a:ext cx="4483100" cy="488950"/>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C0C0C0"/>
            </a:outerShdw>
          </a:effectLst>
        </p:spPr>
        <p:txBody>
          <a:bodyPr wrap="none" lIns="45720" rIns="45720" anchor="ctr"/>
          <a:lstStyle/>
          <a:p>
            <a:pPr algn="ctr"/>
            <a:r>
              <a:rPr lang="en-US" sz="2200" b="1" dirty="0">
                <a:solidFill>
                  <a:schemeClr val="bg1"/>
                </a:solidFill>
                <a:effectLst>
                  <a:outerShdw blurRad="38100" dist="38100" dir="2700000" algn="tl">
                    <a:srgbClr val="000000"/>
                  </a:outerShdw>
                </a:effectLst>
                <a:latin typeface="Arial" charset="0"/>
              </a:rPr>
              <a:t>DHCP </a:t>
            </a:r>
            <a:r>
              <a:rPr lang="en-US" sz="2200" b="1" dirty="0" err="1">
                <a:solidFill>
                  <a:schemeClr val="bg1"/>
                </a:solidFill>
                <a:effectLst>
                  <a:outerShdw blurRad="38100" dist="38100" dir="2700000" algn="tl">
                    <a:srgbClr val="000000"/>
                  </a:outerShdw>
                </a:effectLst>
                <a:latin typeface="Arial" charset="0"/>
              </a:rPr>
              <a:t>enregistré</a:t>
            </a:r>
            <a:r>
              <a:rPr lang="en-US" sz="2200" b="1" dirty="0">
                <a:solidFill>
                  <a:schemeClr val="bg1"/>
                </a:solidFill>
                <a:effectLst>
                  <a:outerShdw blurRad="38100" dist="38100" dir="2700000" algn="tl">
                    <a:srgbClr val="000000"/>
                  </a:outerShdw>
                </a:effectLst>
                <a:latin typeface="Arial" charset="0"/>
              </a:rPr>
              <a:t> </a:t>
            </a:r>
          </a:p>
        </p:txBody>
      </p:sp>
      <p:sp>
        <p:nvSpPr>
          <p:cNvPr id="283761" name="Rectangle 113"/>
          <p:cNvSpPr>
            <a:spLocks noChangeArrowheads="1"/>
          </p:cNvSpPr>
          <p:nvPr/>
        </p:nvSpPr>
        <p:spPr bwMode="auto">
          <a:xfrm>
            <a:off x="1" y="1595438"/>
            <a:ext cx="4413250" cy="5262562"/>
          </a:xfrm>
          <a:prstGeom prst="rect">
            <a:avLst/>
          </a:prstGeom>
          <a:solidFill>
            <a:schemeClr val="bg1">
              <a:lumMod val="85000"/>
            </a:schemeClr>
          </a:solidFill>
          <a:ln w="9525">
            <a:solidFill>
              <a:schemeClr val="bg1">
                <a:lumMod val="85000"/>
              </a:schemeClr>
            </a:solidFill>
            <a:miter lim="800000"/>
            <a:headEnd/>
            <a:tailEnd/>
          </a:ln>
          <a:effectLst/>
        </p:spPr>
        <p:txBody>
          <a:bodyPr wrap="none" anchor="ctr"/>
          <a:lstStyle/>
          <a:p>
            <a:endParaRPr lang="fr-FR"/>
          </a:p>
        </p:txBody>
      </p:sp>
      <p:sp>
        <p:nvSpPr>
          <p:cNvPr id="283762" name="Rectangle 114"/>
          <p:cNvSpPr>
            <a:spLocks noChangeArrowheads="1"/>
          </p:cNvSpPr>
          <p:nvPr/>
        </p:nvSpPr>
        <p:spPr bwMode="auto">
          <a:xfrm>
            <a:off x="0" y="1127579"/>
            <a:ext cx="4397829" cy="488950"/>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C0C0C0"/>
            </a:outerShdw>
          </a:effectLst>
        </p:spPr>
        <p:txBody>
          <a:bodyPr wrap="none" lIns="45720" rIns="45720" anchor="ctr"/>
          <a:lstStyle/>
          <a:p>
            <a:pPr algn="ctr"/>
            <a:r>
              <a:rPr lang="en-US" sz="2200" b="1">
                <a:solidFill>
                  <a:schemeClr val="bg1"/>
                </a:solidFill>
                <a:effectLst>
                  <a:outerShdw blurRad="38100" dist="38100" dir="2700000" algn="tl">
                    <a:srgbClr val="000000"/>
                  </a:outerShdw>
                </a:effectLst>
                <a:latin typeface="Arial" charset="0"/>
              </a:rPr>
              <a:t>Client enregistré</a:t>
            </a:r>
          </a:p>
        </p:txBody>
      </p:sp>
      <p:grpSp>
        <p:nvGrpSpPr>
          <p:cNvPr id="283656" name="Group 8"/>
          <p:cNvGrpSpPr>
            <a:grpSpLocks/>
          </p:cNvGrpSpPr>
          <p:nvPr/>
        </p:nvGrpSpPr>
        <p:grpSpPr bwMode="auto">
          <a:xfrm>
            <a:off x="6742111" y="2017486"/>
            <a:ext cx="1995487" cy="2175782"/>
            <a:chOff x="934" y="830"/>
            <a:chExt cx="626" cy="1012"/>
          </a:xfrm>
        </p:grpSpPr>
        <p:sp>
          <p:nvSpPr>
            <p:cNvPr id="283657" name="Freeform 9"/>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283658" name="Group 10"/>
            <p:cNvGrpSpPr>
              <a:grpSpLocks/>
            </p:cNvGrpSpPr>
            <p:nvPr/>
          </p:nvGrpSpPr>
          <p:grpSpPr bwMode="auto">
            <a:xfrm>
              <a:off x="934" y="830"/>
              <a:ext cx="626" cy="987"/>
              <a:chOff x="934" y="830"/>
              <a:chExt cx="626" cy="987"/>
            </a:xfrm>
          </p:grpSpPr>
          <p:sp>
            <p:nvSpPr>
              <p:cNvPr id="283659" name="Freeform 11"/>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83660" name="Freeform 12"/>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661" name="Freeform 13"/>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283662" name="Line 14"/>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283663" name="Oval 15"/>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283664" name="Line 16"/>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283665" name="Line 17"/>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283666" name="Line 18"/>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283667" name="Line 19"/>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283668" name="Freeform 20"/>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283669" name="Freeform 21"/>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283670" name="Freeform 22"/>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283671" name="Line 23"/>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283672" name="Line 24"/>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283673" name="Line 25"/>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283674" name="Freeform 26"/>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283675" name="Line 27"/>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283676" name="Freeform 28"/>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83677" name="Freeform 29"/>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83678" name="Freeform 30"/>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83679" name="Line 31"/>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83680" name="Line 32"/>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83681" name="Line 33"/>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283682" name="Group 34"/>
          <p:cNvGrpSpPr>
            <a:grpSpLocks/>
          </p:cNvGrpSpPr>
          <p:nvPr/>
        </p:nvGrpSpPr>
        <p:grpSpPr bwMode="auto">
          <a:xfrm>
            <a:off x="373759" y="2378304"/>
            <a:ext cx="1992065" cy="1729241"/>
            <a:chOff x="2967" y="2733"/>
            <a:chExt cx="789" cy="870"/>
          </a:xfrm>
        </p:grpSpPr>
        <p:grpSp>
          <p:nvGrpSpPr>
            <p:cNvPr id="283683" name="Group 35"/>
            <p:cNvGrpSpPr>
              <a:grpSpLocks/>
            </p:cNvGrpSpPr>
            <p:nvPr/>
          </p:nvGrpSpPr>
          <p:grpSpPr bwMode="auto">
            <a:xfrm>
              <a:off x="2967" y="3191"/>
              <a:ext cx="763" cy="412"/>
              <a:chOff x="1929" y="1343"/>
              <a:chExt cx="763" cy="412"/>
            </a:xfrm>
          </p:grpSpPr>
          <p:sp>
            <p:nvSpPr>
              <p:cNvPr id="283684" name="Freeform 36"/>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685" name="Freeform 37"/>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686" name="Freeform 38"/>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687" name="Freeform 39"/>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283688" name="Freeform 40"/>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283689" name="Freeform 41"/>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283690" name="Line 42"/>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283691" name="Line 43"/>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283692" name="Freeform 44"/>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283693" name="Line 45"/>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83694" name="Line 46"/>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83695" name="Line 47"/>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83696" name="Line 48"/>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83697" name="Freeform 49"/>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283698" name="Group 50"/>
            <p:cNvGrpSpPr>
              <a:grpSpLocks/>
            </p:cNvGrpSpPr>
            <p:nvPr/>
          </p:nvGrpSpPr>
          <p:grpSpPr bwMode="auto">
            <a:xfrm>
              <a:off x="3042" y="2733"/>
              <a:ext cx="714" cy="672"/>
              <a:chOff x="2004" y="885"/>
              <a:chExt cx="714" cy="672"/>
            </a:xfrm>
          </p:grpSpPr>
          <p:sp>
            <p:nvSpPr>
              <p:cNvPr id="283699" name="Freeform 51"/>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283700" name="Freeform 52"/>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283701" name="Oval 53"/>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283702" name="Freeform 54"/>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283703" name="Freeform 55"/>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704" name="Freeform 56"/>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705" name="Freeform 57"/>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83706" name="Freeform 58"/>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707" name="Freeform 59"/>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283708" name="Freeform 60"/>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283709" name="Line 61"/>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283714" name="Group 66"/>
          <p:cNvGrpSpPr>
            <a:grpSpLocks/>
          </p:cNvGrpSpPr>
          <p:nvPr/>
        </p:nvGrpSpPr>
        <p:grpSpPr bwMode="auto">
          <a:xfrm>
            <a:off x="3178625" y="4470401"/>
            <a:ext cx="1405845" cy="1975522"/>
            <a:chOff x="934" y="830"/>
            <a:chExt cx="626" cy="1012"/>
          </a:xfrm>
        </p:grpSpPr>
        <p:sp>
          <p:nvSpPr>
            <p:cNvPr id="283715" name="Freeform 67"/>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283716" name="Group 68"/>
            <p:cNvGrpSpPr>
              <a:grpSpLocks/>
            </p:cNvGrpSpPr>
            <p:nvPr/>
          </p:nvGrpSpPr>
          <p:grpSpPr bwMode="auto">
            <a:xfrm>
              <a:off x="934" y="830"/>
              <a:ext cx="626" cy="987"/>
              <a:chOff x="934" y="830"/>
              <a:chExt cx="626" cy="987"/>
            </a:xfrm>
          </p:grpSpPr>
          <p:sp>
            <p:nvSpPr>
              <p:cNvPr id="283717" name="Freeform 69"/>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83718" name="Freeform 70"/>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83719" name="Freeform 71"/>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283720" name="Line 72"/>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283721" name="Oval 73"/>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283722" name="Line 74"/>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283723" name="Line 75"/>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283724" name="Line 76"/>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283725" name="Line 77"/>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283726" name="Freeform 78"/>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283727" name="Freeform 79"/>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283728" name="Freeform 80"/>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283729" name="Line 81"/>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283730" name="Line 82"/>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283731" name="Line 83"/>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283732" name="Freeform 84"/>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283733" name="Line 85"/>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283734" name="Freeform 86"/>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83735" name="Freeform 87"/>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83736" name="Freeform 88"/>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83737" name="Line 89"/>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83738" name="Line 90"/>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83739" name="Line 91"/>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sp>
        <p:nvSpPr>
          <p:cNvPr id="283744" name="AutoShape 96"/>
          <p:cNvSpPr>
            <a:spLocks noChangeArrowheads="1"/>
          </p:cNvSpPr>
          <p:nvPr/>
        </p:nvSpPr>
        <p:spPr bwMode="auto">
          <a:xfrm rot="5400000">
            <a:off x="5638684" y="4043700"/>
            <a:ext cx="2381931" cy="2103210"/>
          </a:xfrm>
          <a:custGeom>
            <a:avLst/>
            <a:gdLst>
              <a:gd name="G0" fmla="+- 7958 0 0"/>
              <a:gd name="G1" fmla="+- -5913903 0 0"/>
              <a:gd name="G2" fmla="+- 7958 0 -5913903"/>
              <a:gd name="G3" fmla="+- 10800 0 0"/>
              <a:gd name="G4" fmla="+- 0 0 7958"/>
              <a:gd name="T0" fmla="*/ 360 256 1"/>
              <a:gd name="T1" fmla="*/ 0 256 1"/>
              <a:gd name="G5" fmla="+- G2 T0 T1"/>
              <a:gd name="G6" fmla="?: G2 G2 G5"/>
              <a:gd name="G7" fmla="+- 0 0 G6"/>
              <a:gd name="G8" fmla="+- 5662 0 0"/>
              <a:gd name="G9" fmla="+- 0 0 -5913903"/>
              <a:gd name="G10" fmla="+- 5662 0 2700"/>
              <a:gd name="G11" fmla="cos G10 7958"/>
              <a:gd name="G12" fmla="sin G10 7958"/>
              <a:gd name="G13" fmla="cos 13500 7958"/>
              <a:gd name="G14" fmla="sin 13500 7958"/>
              <a:gd name="G15" fmla="+- G11 10800 0"/>
              <a:gd name="G16" fmla="+- G12 10800 0"/>
              <a:gd name="G17" fmla="+- G13 10800 0"/>
              <a:gd name="G18" fmla="+- G14 10800 0"/>
              <a:gd name="G19" fmla="*/ 5662 1 2"/>
              <a:gd name="G20" fmla="+- G19 5400 0"/>
              <a:gd name="G21" fmla="cos G20 7958"/>
              <a:gd name="G22" fmla="sin G20 7958"/>
              <a:gd name="G23" fmla="+- G21 10800 0"/>
              <a:gd name="G24" fmla="+- G12 G23 G22"/>
              <a:gd name="G25" fmla="+- G22 G23 G11"/>
              <a:gd name="G26" fmla="cos 10800 7958"/>
              <a:gd name="G27" fmla="sin 10800 7958"/>
              <a:gd name="G28" fmla="cos 5662 7958"/>
              <a:gd name="G29" fmla="sin 5662 7958"/>
              <a:gd name="G30" fmla="+- G26 10800 0"/>
              <a:gd name="G31" fmla="+- G27 10800 0"/>
              <a:gd name="G32" fmla="+- G28 10800 0"/>
              <a:gd name="G33" fmla="+- G29 10800 0"/>
              <a:gd name="G34" fmla="+- G19 5400 0"/>
              <a:gd name="G35" fmla="cos G34 -5913903"/>
              <a:gd name="G36" fmla="sin G34 -5913903"/>
              <a:gd name="G37" fmla="+/ -5913903 7958 2"/>
              <a:gd name="T2" fmla="*/ 180 256 1"/>
              <a:gd name="T3" fmla="*/ 0 256 1"/>
              <a:gd name="G38" fmla="+- G37 T2 T3"/>
              <a:gd name="G39" fmla="?: G2 G37 G38"/>
              <a:gd name="G40" fmla="cos 10800 G39"/>
              <a:gd name="G41" fmla="sin 10800 G39"/>
              <a:gd name="G42" fmla="cos 5662 G39"/>
              <a:gd name="G43" fmla="sin 5662 G39"/>
              <a:gd name="G44" fmla="+- G40 10800 0"/>
              <a:gd name="G45" fmla="+- G41 10800 0"/>
              <a:gd name="G46" fmla="+- G42 10800 0"/>
              <a:gd name="G47" fmla="+- G43 10800 0"/>
              <a:gd name="G48" fmla="+- G35 10800 0"/>
              <a:gd name="G49" fmla="+- G36 10800 0"/>
              <a:gd name="T4" fmla="*/ 18428 w 21600"/>
              <a:gd name="T5" fmla="*/ 3155 h 21600"/>
              <a:gd name="T6" fmla="*/ 10765 w 21600"/>
              <a:gd name="T7" fmla="*/ 2569 h 21600"/>
              <a:gd name="T8" fmla="*/ 14799 w 21600"/>
              <a:gd name="T9" fmla="*/ 6792 h 21600"/>
              <a:gd name="T10" fmla="*/ 24299 w 21600"/>
              <a:gd name="T11" fmla="*/ 10828 h 21600"/>
              <a:gd name="T12" fmla="*/ 19019 w 21600"/>
              <a:gd name="T13" fmla="*/ 16086 h 21600"/>
              <a:gd name="T14" fmla="*/ 13761 w 21600"/>
              <a:gd name="T15" fmla="*/ 10806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461" y="10811"/>
                </a:moveTo>
                <a:cubicBezTo>
                  <a:pt x="16461" y="10807"/>
                  <a:pt x="16462" y="10803"/>
                  <a:pt x="16462" y="10800"/>
                </a:cubicBezTo>
                <a:cubicBezTo>
                  <a:pt x="16462" y="7672"/>
                  <a:pt x="13927" y="5138"/>
                  <a:pt x="10800" y="5138"/>
                </a:cubicBezTo>
                <a:cubicBezTo>
                  <a:pt x="10792" y="5137"/>
                  <a:pt x="10784" y="5138"/>
                  <a:pt x="10776" y="5138"/>
                </a:cubicBezTo>
                <a:lnTo>
                  <a:pt x="10754" y="0"/>
                </a:lnTo>
                <a:cubicBezTo>
                  <a:pt x="10769" y="0"/>
                  <a:pt x="10784" y="-1"/>
                  <a:pt x="10800" y="0"/>
                </a:cubicBezTo>
                <a:cubicBezTo>
                  <a:pt x="16764" y="0"/>
                  <a:pt x="21600" y="4835"/>
                  <a:pt x="21600" y="10800"/>
                </a:cubicBezTo>
                <a:cubicBezTo>
                  <a:pt x="21600" y="10807"/>
                  <a:pt x="21599" y="10815"/>
                  <a:pt x="21599" y="10822"/>
                </a:cubicBezTo>
                <a:lnTo>
                  <a:pt x="24299" y="10828"/>
                </a:lnTo>
                <a:lnTo>
                  <a:pt x="19019" y="16086"/>
                </a:lnTo>
                <a:lnTo>
                  <a:pt x="13761" y="10806"/>
                </a:lnTo>
                <a:lnTo>
                  <a:pt x="16461" y="10811"/>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71842" dir="2700000" algn="ctr" rotWithShape="0">
              <a:srgbClr val="C0C0C0"/>
            </a:outerShdw>
          </a:effectLst>
        </p:spPr>
        <p:txBody>
          <a:bodyPr rot="10800000" vert="eaVert" wrap="none" tIns="27432" bIns="27432" anchor="ctr"/>
          <a:lstStyle/>
          <a:p>
            <a:pPr algn="ctr"/>
            <a:endParaRPr lang="fr-FR" sz="1800" b="1"/>
          </a:p>
        </p:txBody>
      </p:sp>
      <p:sp>
        <p:nvSpPr>
          <p:cNvPr id="283745" name="Rectangle 97"/>
          <p:cNvSpPr>
            <a:spLocks noChangeArrowheads="1"/>
          </p:cNvSpPr>
          <p:nvPr/>
        </p:nvSpPr>
        <p:spPr bwMode="auto">
          <a:xfrm>
            <a:off x="5341247" y="4312326"/>
            <a:ext cx="3289981" cy="666069"/>
          </a:xfrm>
          <a:prstGeom prst="rect">
            <a:avLst/>
          </a:prstGeom>
          <a:solidFill>
            <a:srgbClr val="FFFFFF"/>
          </a:solidFill>
          <a:ln w="9525">
            <a:solidFill>
              <a:srgbClr val="333399"/>
            </a:solidFill>
            <a:miter lim="800000"/>
            <a:headEnd/>
            <a:tailEnd/>
          </a:ln>
          <a:effectLst>
            <a:outerShdw dist="35921" dir="2700000" algn="ctr" rotWithShape="0">
              <a:srgbClr val="969696"/>
            </a:outerShdw>
          </a:effectLst>
        </p:spPr>
        <p:txBody>
          <a:bodyPr wrap="none" lIns="45720" rIns="45720" anchor="ctr"/>
          <a:lstStyle/>
          <a:p>
            <a:pPr algn="ctr"/>
            <a:r>
              <a:rPr lang="en-US" sz="2000" b="1" dirty="0" err="1">
                <a:latin typeface="Arial" charset="0"/>
              </a:rPr>
              <a:t>Mise</a:t>
            </a:r>
            <a:r>
              <a:rPr lang="en-US" sz="2000" b="1" dirty="0">
                <a:latin typeface="Arial" charset="0"/>
              </a:rPr>
              <a:t> à jour </a:t>
            </a:r>
            <a:r>
              <a:rPr lang="en-US" sz="2000" b="1" dirty="0" err="1">
                <a:latin typeface="Arial" charset="0"/>
              </a:rPr>
              <a:t>dynamique</a:t>
            </a:r>
            <a:r>
              <a:rPr lang="en-US" sz="2000" b="1" dirty="0">
                <a:latin typeface="Arial" charset="0"/>
              </a:rPr>
              <a:t> </a:t>
            </a:r>
            <a:br>
              <a:rPr lang="en-US" sz="2000" b="1" dirty="0">
                <a:latin typeface="Arial" charset="0"/>
              </a:rPr>
            </a:br>
            <a:r>
              <a:rPr lang="en-US" sz="2000" b="1" dirty="0">
                <a:latin typeface="Arial" charset="0"/>
              </a:rPr>
              <a:t>du </a:t>
            </a:r>
            <a:r>
              <a:rPr lang="en-US" sz="2000" b="1" dirty="0" err="1">
                <a:latin typeface="Arial" charset="0"/>
              </a:rPr>
              <a:t>serveur</a:t>
            </a:r>
            <a:r>
              <a:rPr lang="en-US" sz="2000" b="1" dirty="0">
                <a:latin typeface="Arial" charset="0"/>
              </a:rPr>
              <a:t> DHCP</a:t>
            </a:r>
          </a:p>
        </p:txBody>
      </p:sp>
      <p:sp>
        <p:nvSpPr>
          <p:cNvPr id="283746" name="AutoShape 98"/>
          <p:cNvSpPr>
            <a:spLocks noChangeArrowheads="1"/>
          </p:cNvSpPr>
          <p:nvPr/>
        </p:nvSpPr>
        <p:spPr bwMode="auto">
          <a:xfrm rot="16200000" flipH="1">
            <a:off x="1034709" y="3900146"/>
            <a:ext cx="2322287" cy="2417763"/>
          </a:xfrm>
          <a:custGeom>
            <a:avLst/>
            <a:gdLst>
              <a:gd name="G0" fmla="+- 7958 0 0"/>
              <a:gd name="G1" fmla="+- -5913903 0 0"/>
              <a:gd name="G2" fmla="+- 7958 0 -5913903"/>
              <a:gd name="G3" fmla="+- 10800 0 0"/>
              <a:gd name="G4" fmla="+- 0 0 7958"/>
              <a:gd name="T0" fmla="*/ 360 256 1"/>
              <a:gd name="T1" fmla="*/ 0 256 1"/>
              <a:gd name="G5" fmla="+- G2 T0 T1"/>
              <a:gd name="G6" fmla="?: G2 G2 G5"/>
              <a:gd name="G7" fmla="+- 0 0 G6"/>
              <a:gd name="G8" fmla="+- 5662 0 0"/>
              <a:gd name="G9" fmla="+- 0 0 -5913903"/>
              <a:gd name="G10" fmla="+- 5662 0 2700"/>
              <a:gd name="G11" fmla="cos G10 7958"/>
              <a:gd name="G12" fmla="sin G10 7958"/>
              <a:gd name="G13" fmla="cos 13500 7958"/>
              <a:gd name="G14" fmla="sin 13500 7958"/>
              <a:gd name="G15" fmla="+- G11 10800 0"/>
              <a:gd name="G16" fmla="+- G12 10800 0"/>
              <a:gd name="G17" fmla="+- G13 10800 0"/>
              <a:gd name="G18" fmla="+- G14 10800 0"/>
              <a:gd name="G19" fmla="*/ 5662 1 2"/>
              <a:gd name="G20" fmla="+- G19 5400 0"/>
              <a:gd name="G21" fmla="cos G20 7958"/>
              <a:gd name="G22" fmla="sin G20 7958"/>
              <a:gd name="G23" fmla="+- G21 10800 0"/>
              <a:gd name="G24" fmla="+- G12 G23 G22"/>
              <a:gd name="G25" fmla="+- G22 G23 G11"/>
              <a:gd name="G26" fmla="cos 10800 7958"/>
              <a:gd name="G27" fmla="sin 10800 7958"/>
              <a:gd name="G28" fmla="cos 5662 7958"/>
              <a:gd name="G29" fmla="sin 5662 7958"/>
              <a:gd name="G30" fmla="+- G26 10800 0"/>
              <a:gd name="G31" fmla="+- G27 10800 0"/>
              <a:gd name="G32" fmla="+- G28 10800 0"/>
              <a:gd name="G33" fmla="+- G29 10800 0"/>
              <a:gd name="G34" fmla="+- G19 5400 0"/>
              <a:gd name="G35" fmla="cos G34 -5913903"/>
              <a:gd name="G36" fmla="sin G34 -5913903"/>
              <a:gd name="G37" fmla="+/ -5913903 7958 2"/>
              <a:gd name="T2" fmla="*/ 180 256 1"/>
              <a:gd name="T3" fmla="*/ 0 256 1"/>
              <a:gd name="G38" fmla="+- G37 T2 T3"/>
              <a:gd name="G39" fmla="?: G2 G37 G38"/>
              <a:gd name="G40" fmla="cos 10800 G39"/>
              <a:gd name="G41" fmla="sin 10800 G39"/>
              <a:gd name="G42" fmla="cos 5662 G39"/>
              <a:gd name="G43" fmla="sin 5662 G39"/>
              <a:gd name="G44" fmla="+- G40 10800 0"/>
              <a:gd name="G45" fmla="+- G41 10800 0"/>
              <a:gd name="G46" fmla="+- G42 10800 0"/>
              <a:gd name="G47" fmla="+- G43 10800 0"/>
              <a:gd name="G48" fmla="+- G35 10800 0"/>
              <a:gd name="G49" fmla="+- G36 10800 0"/>
              <a:gd name="T4" fmla="*/ 18428 w 21600"/>
              <a:gd name="T5" fmla="*/ 3155 h 21600"/>
              <a:gd name="T6" fmla="*/ 10765 w 21600"/>
              <a:gd name="T7" fmla="*/ 2569 h 21600"/>
              <a:gd name="T8" fmla="*/ 14799 w 21600"/>
              <a:gd name="T9" fmla="*/ 6792 h 21600"/>
              <a:gd name="T10" fmla="*/ 24299 w 21600"/>
              <a:gd name="T11" fmla="*/ 10828 h 21600"/>
              <a:gd name="T12" fmla="*/ 19019 w 21600"/>
              <a:gd name="T13" fmla="*/ 16086 h 21600"/>
              <a:gd name="T14" fmla="*/ 13761 w 21600"/>
              <a:gd name="T15" fmla="*/ 10806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461" y="10811"/>
                </a:moveTo>
                <a:cubicBezTo>
                  <a:pt x="16461" y="10807"/>
                  <a:pt x="16462" y="10803"/>
                  <a:pt x="16462" y="10800"/>
                </a:cubicBezTo>
                <a:cubicBezTo>
                  <a:pt x="16462" y="7672"/>
                  <a:pt x="13927" y="5138"/>
                  <a:pt x="10800" y="5138"/>
                </a:cubicBezTo>
                <a:cubicBezTo>
                  <a:pt x="10792" y="5137"/>
                  <a:pt x="10784" y="5138"/>
                  <a:pt x="10776" y="5138"/>
                </a:cubicBezTo>
                <a:lnTo>
                  <a:pt x="10754" y="0"/>
                </a:lnTo>
                <a:cubicBezTo>
                  <a:pt x="10769" y="0"/>
                  <a:pt x="10784" y="-1"/>
                  <a:pt x="10800" y="0"/>
                </a:cubicBezTo>
                <a:cubicBezTo>
                  <a:pt x="16764" y="0"/>
                  <a:pt x="21600" y="4835"/>
                  <a:pt x="21600" y="10800"/>
                </a:cubicBezTo>
                <a:cubicBezTo>
                  <a:pt x="21600" y="10807"/>
                  <a:pt x="21599" y="10815"/>
                  <a:pt x="21599" y="10822"/>
                </a:cubicBezTo>
                <a:lnTo>
                  <a:pt x="24299" y="10828"/>
                </a:lnTo>
                <a:lnTo>
                  <a:pt x="19019" y="16086"/>
                </a:lnTo>
                <a:lnTo>
                  <a:pt x="13761" y="10806"/>
                </a:lnTo>
                <a:lnTo>
                  <a:pt x="16461" y="10811"/>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71842" dir="2700000" algn="ctr" rotWithShape="0">
              <a:srgbClr val="C0C0C0"/>
            </a:outerShdw>
          </a:effectLst>
        </p:spPr>
        <p:txBody>
          <a:bodyPr vert="eaVert" wrap="none" tIns="27432" bIns="27432" anchor="ctr"/>
          <a:lstStyle/>
          <a:p>
            <a:pPr algn="ctr"/>
            <a:endParaRPr lang="fr-FR" sz="1800" b="1"/>
          </a:p>
        </p:txBody>
      </p:sp>
      <p:sp>
        <p:nvSpPr>
          <p:cNvPr id="283747" name="Rectangle 99"/>
          <p:cNvSpPr>
            <a:spLocks noChangeArrowheads="1"/>
          </p:cNvSpPr>
          <p:nvPr/>
        </p:nvSpPr>
        <p:spPr bwMode="auto">
          <a:xfrm>
            <a:off x="232223" y="4297813"/>
            <a:ext cx="3106057" cy="637041"/>
          </a:xfrm>
          <a:prstGeom prst="rect">
            <a:avLst/>
          </a:prstGeom>
          <a:solidFill>
            <a:schemeClr val="bg1"/>
          </a:solidFill>
          <a:ln w="9525">
            <a:solidFill>
              <a:srgbClr val="333399"/>
            </a:solidFill>
            <a:miter lim="800000"/>
            <a:headEnd/>
            <a:tailEnd/>
          </a:ln>
          <a:effectLst>
            <a:outerShdw dist="35921" dir="2700000" algn="ctr" rotWithShape="0">
              <a:srgbClr val="969696"/>
            </a:outerShdw>
          </a:effectLst>
        </p:spPr>
        <p:txBody>
          <a:bodyPr wrap="none" lIns="45720" rIns="45720" anchor="ctr"/>
          <a:lstStyle/>
          <a:p>
            <a:pPr algn="ctr"/>
            <a:r>
              <a:rPr lang="en-US" sz="2000" b="1" dirty="0" err="1">
                <a:latin typeface="Arial" charset="0"/>
              </a:rPr>
              <a:t>Mise</a:t>
            </a:r>
            <a:r>
              <a:rPr lang="en-US" sz="2000" b="1" dirty="0">
                <a:latin typeface="Arial" charset="0"/>
              </a:rPr>
              <a:t> à jour </a:t>
            </a:r>
            <a:br>
              <a:rPr lang="en-US" sz="2000" b="1" dirty="0">
                <a:latin typeface="Arial" charset="0"/>
              </a:rPr>
            </a:br>
            <a:r>
              <a:rPr lang="en-US" sz="2000" b="1" dirty="0" err="1">
                <a:latin typeface="Arial" charset="0"/>
              </a:rPr>
              <a:t>dynamique</a:t>
            </a:r>
            <a:r>
              <a:rPr lang="en-US" sz="2000" b="1" dirty="0">
                <a:latin typeface="Arial" charset="0"/>
              </a:rPr>
              <a:t> du client</a:t>
            </a:r>
          </a:p>
        </p:txBody>
      </p:sp>
      <p:sp>
        <p:nvSpPr>
          <p:cNvPr id="283748" name="Rectangle 100"/>
          <p:cNvSpPr>
            <a:spLocks noChangeArrowheads="1"/>
          </p:cNvSpPr>
          <p:nvPr/>
        </p:nvSpPr>
        <p:spPr bwMode="auto">
          <a:xfrm>
            <a:off x="2191657" y="6353175"/>
            <a:ext cx="1453927" cy="504825"/>
          </a:xfrm>
          <a:prstGeom prst="rect">
            <a:avLst/>
          </a:prstGeom>
          <a:noFill/>
          <a:ln w="9525">
            <a:noFill/>
            <a:miter lim="800000"/>
            <a:headEnd/>
            <a:tailEnd/>
          </a:ln>
          <a:effectLst/>
        </p:spPr>
        <p:txBody>
          <a:bodyPr wrap="none" anchor="ctr"/>
          <a:lstStyle/>
          <a:p>
            <a:pPr algn="ctr"/>
            <a:r>
              <a:rPr lang="en-US" sz="2000" b="1" dirty="0" err="1">
                <a:latin typeface="Arial" charset="0"/>
              </a:rPr>
              <a:t>Serveur</a:t>
            </a:r>
            <a:r>
              <a:rPr lang="en-US" sz="2000" b="1" dirty="0">
                <a:latin typeface="Arial" charset="0"/>
              </a:rPr>
              <a:t> DNS</a:t>
            </a:r>
          </a:p>
        </p:txBody>
      </p:sp>
      <p:sp>
        <p:nvSpPr>
          <p:cNvPr id="283756" name="Rectangle 108"/>
          <p:cNvSpPr>
            <a:spLocks noChangeArrowheads="1"/>
          </p:cNvSpPr>
          <p:nvPr/>
        </p:nvSpPr>
        <p:spPr bwMode="auto">
          <a:xfrm>
            <a:off x="6407165" y="1546001"/>
            <a:ext cx="2070866" cy="683305"/>
          </a:xfrm>
          <a:prstGeom prst="rect">
            <a:avLst/>
          </a:prstGeom>
          <a:noFill/>
          <a:ln w="9525">
            <a:noFill/>
            <a:miter lim="800000"/>
            <a:headEnd/>
            <a:tailEnd/>
          </a:ln>
          <a:effectLst/>
        </p:spPr>
        <p:txBody>
          <a:bodyPr wrap="none" anchor="ctr"/>
          <a:lstStyle/>
          <a:p>
            <a:pPr algn="ctr"/>
            <a:r>
              <a:rPr lang="en-US" sz="2000" b="1" dirty="0" err="1">
                <a:latin typeface="Arial" charset="0"/>
              </a:rPr>
              <a:t>Serveur</a:t>
            </a:r>
            <a:r>
              <a:rPr lang="en-US" sz="2000" b="1" dirty="0">
                <a:latin typeface="Arial" charset="0"/>
              </a:rPr>
              <a:t> DHCP</a:t>
            </a:r>
          </a:p>
        </p:txBody>
      </p:sp>
      <p:sp>
        <p:nvSpPr>
          <p:cNvPr id="283760" name="Rectangle 112"/>
          <p:cNvSpPr>
            <a:spLocks noChangeArrowheads="1"/>
          </p:cNvSpPr>
          <p:nvPr/>
        </p:nvSpPr>
        <p:spPr bwMode="auto">
          <a:xfrm>
            <a:off x="221357" y="1668012"/>
            <a:ext cx="2826657" cy="683305"/>
          </a:xfrm>
          <a:prstGeom prst="rect">
            <a:avLst/>
          </a:prstGeom>
          <a:noFill/>
          <a:ln w="9525">
            <a:noFill/>
            <a:miter lim="800000"/>
            <a:headEnd/>
            <a:tailEnd/>
          </a:ln>
          <a:effectLst/>
        </p:spPr>
        <p:txBody>
          <a:bodyPr wrap="none" anchor="ctr"/>
          <a:lstStyle/>
          <a:p>
            <a:pPr algn="ctr"/>
            <a:r>
              <a:rPr lang="en-US" sz="2000" b="1" dirty="0">
                <a:latin typeface="Arial" charset="0"/>
              </a:rPr>
              <a:t>Ordinateur1</a:t>
            </a:r>
          </a:p>
          <a:p>
            <a:pPr algn="ctr"/>
            <a:r>
              <a:rPr lang="en-US" sz="2000" b="1" dirty="0" err="1">
                <a:latin typeface="Arial" charset="0"/>
              </a:rPr>
              <a:t>Statique</a:t>
            </a:r>
            <a:r>
              <a:rPr lang="en-US" sz="2000" b="1" dirty="0">
                <a:latin typeface="Arial" charset="0"/>
              </a:rPr>
              <a:t> </a:t>
            </a:r>
            <a:r>
              <a:rPr lang="en-US" sz="2000" b="1" dirty="0" err="1">
                <a:latin typeface="Arial" charset="0"/>
              </a:rPr>
              <a:t>ou</a:t>
            </a:r>
            <a:r>
              <a:rPr lang="en-US" sz="2000" b="1" dirty="0">
                <a:latin typeface="Arial" charset="0"/>
              </a:rPr>
              <a:t> </a:t>
            </a:r>
            <a:r>
              <a:rPr lang="en-US" sz="2000" b="1" dirty="0" err="1">
                <a:latin typeface="Arial" charset="0"/>
              </a:rPr>
              <a:t>dynamique</a:t>
            </a:r>
            <a:endParaRPr lang="en-US" sz="2000" b="1" dirty="0">
              <a:latin typeface="Arial" charset="0"/>
            </a:endParaRPr>
          </a:p>
        </p:txBody>
      </p:sp>
      <p:sp>
        <p:nvSpPr>
          <p:cNvPr id="283768" name="AutoShape 120"/>
          <p:cNvSpPr>
            <a:spLocks noChangeArrowheads="1"/>
          </p:cNvSpPr>
          <p:nvPr/>
        </p:nvSpPr>
        <p:spPr bwMode="auto">
          <a:xfrm>
            <a:off x="2622550" y="2206170"/>
            <a:ext cx="3879850" cy="845911"/>
          </a:xfrm>
          <a:prstGeom prst="rightArrow">
            <a:avLst>
              <a:gd name="adj1" fmla="val 57861"/>
              <a:gd name="adj2" fmla="val 109560"/>
            </a:avLst>
          </a:prstGeom>
          <a:gradFill rotWithShape="0">
            <a:gsLst>
              <a:gs pos="0">
                <a:schemeClr val="accent2">
                  <a:gamma/>
                  <a:tint val="47451"/>
                  <a:invGamma/>
                </a:schemeClr>
              </a:gs>
              <a:gs pos="100000">
                <a:schemeClr val="accent2"/>
              </a:gs>
            </a:gsLst>
            <a:lin ang="0" scaled="1"/>
          </a:gradFill>
          <a:ln w="6350">
            <a:solidFill>
              <a:srgbClr val="800080"/>
            </a:solidFill>
            <a:miter lim="800000"/>
            <a:headEnd/>
            <a:tailEnd/>
          </a:ln>
          <a:effectLst>
            <a:outerShdw dist="81320" dir="2319588" algn="ctr" rotWithShape="0">
              <a:srgbClr val="C0C0C0"/>
            </a:outerShdw>
          </a:effectLst>
        </p:spPr>
        <p:txBody>
          <a:bodyPr wrap="none" tIns="27432" bIns="27432" anchor="ctr"/>
          <a:lstStyle/>
          <a:p>
            <a:pPr algn="r"/>
            <a:r>
              <a:rPr lang="en-US" sz="2200" b="1" dirty="0" err="1">
                <a:latin typeface="Arial" charset="0"/>
              </a:rPr>
              <a:t>Demande</a:t>
            </a:r>
            <a:r>
              <a:rPr lang="en-US" sz="2200" b="1" dirty="0">
                <a:latin typeface="Arial" charset="0"/>
              </a:rPr>
              <a:t> </a:t>
            </a:r>
            <a:r>
              <a:rPr lang="en-US" sz="2200" b="1" dirty="0" err="1">
                <a:latin typeface="Arial" charset="0"/>
              </a:rPr>
              <a:t>d'adresse</a:t>
            </a:r>
            <a:r>
              <a:rPr lang="en-US" sz="2200" b="1" dirty="0">
                <a:latin typeface="Arial" charset="0"/>
              </a:rPr>
              <a:t> IP</a:t>
            </a:r>
          </a:p>
        </p:txBody>
      </p:sp>
      <p:sp>
        <p:nvSpPr>
          <p:cNvPr id="283769" name="Oval 121"/>
          <p:cNvSpPr>
            <a:spLocks noChangeArrowheads="1"/>
          </p:cNvSpPr>
          <p:nvPr/>
        </p:nvSpPr>
        <p:spPr bwMode="auto">
          <a:xfrm>
            <a:off x="2332038" y="2413000"/>
            <a:ext cx="423862" cy="373063"/>
          </a:xfrm>
          <a:prstGeom prst="ellipse">
            <a:avLst/>
          </a:prstGeom>
          <a:gradFill rotWithShape="0">
            <a:gsLst>
              <a:gs pos="0">
                <a:srgbClr val="9966FF">
                  <a:gamma/>
                  <a:tint val="63922"/>
                  <a:invGamma/>
                </a:srgbClr>
              </a:gs>
              <a:gs pos="100000">
                <a:srgbClr val="9966FF"/>
              </a:gs>
            </a:gsLst>
            <a:path path="shape">
              <a:fillToRect l="50000" t="50000" r="50000" b="50000"/>
            </a:path>
          </a:gradFill>
          <a:ln w="6350">
            <a:solidFill>
              <a:schemeClr val="tx1"/>
            </a:solidFill>
            <a:round/>
            <a:headEnd/>
            <a:tailEnd/>
          </a:ln>
          <a:effectLst/>
        </p:spPr>
        <p:txBody>
          <a:bodyPr tIns="27432" bIns="27432" anchor="ctr"/>
          <a:lstStyle/>
          <a:p>
            <a:pPr algn="ctr"/>
            <a:r>
              <a:rPr lang="en-US" sz="2000" b="1" dirty="0">
                <a:solidFill>
                  <a:schemeClr val="bg1"/>
                </a:solidFill>
                <a:effectLst>
                  <a:outerShdw blurRad="38100" dist="38100" dir="2700000" algn="tl">
                    <a:srgbClr val="000000"/>
                  </a:outerShdw>
                </a:effectLst>
                <a:latin typeface="Arial" charset="0"/>
              </a:rPr>
              <a:t>1</a:t>
            </a:r>
          </a:p>
        </p:txBody>
      </p:sp>
      <p:sp>
        <p:nvSpPr>
          <p:cNvPr id="283772" name="Oval 124"/>
          <p:cNvSpPr>
            <a:spLocks noChangeArrowheads="1"/>
          </p:cNvSpPr>
          <p:nvPr/>
        </p:nvSpPr>
        <p:spPr bwMode="auto">
          <a:xfrm>
            <a:off x="0" y="4414838"/>
            <a:ext cx="423863" cy="373062"/>
          </a:xfrm>
          <a:prstGeom prst="ellipse">
            <a:avLst/>
          </a:prstGeom>
          <a:gradFill rotWithShape="0">
            <a:gsLst>
              <a:gs pos="0">
                <a:srgbClr val="9966FF">
                  <a:gamma/>
                  <a:tint val="63922"/>
                  <a:invGamma/>
                </a:srgbClr>
              </a:gs>
              <a:gs pos="100000">
                <a:srgbClr val="9966FF"/>
              </a:gs>
            </a:gsLst>
            <a:path path="shape">
              <a:fillToRect l="50000" t="50000" r="50000" b="50000"/>
            </a:path>
          </a:gradFill>
          <a:ln w="6350">
            <a:solidFill>
              <a:schemeClr val="tx1"/>
            </a:solidFill>
            <a:round/>
            <a:headEnd/>
            <a:tailEnd/>
          </a:ln>
          <a:effectLst/>
        </p:spPr>
        <p:txBody>
          <a:bodyPr tIns="27432" bIns="27432" anchor="ctr"/>
          <a:lstStyle/>
          <a:p>
            <a:pPr algn="ctr"/>
            <a:r>
              <a:rPr lang="en-US" sz="2000" b="1" dirty="0">
                <a:solidFill>
                  <a:schemeClr val="bg1"/>
                </a:solidFill>
                <a:effectLst>
                  <a:outerShdw blurRad="38100" dist="38100" dir="2700000" algn="tl">
                    <a:srgbClr val="000000"/>
                  </a:outerShdw>
                </a:effectLst>
                <a:latin typeface="Arial" charset="0"/>
              </a:rPr>
              <a:t>3</a:t>
            </a:r>
          </a:p>
        </p:txBody>
      </p:sp>
      <p:sp>
        <p:nvSpPr>
          <p:cNvPr id="283773" name="Oval 125"/>
          <p:cNvSpPr>
            <a:spLocks noChangeArrowheads="1"/>
          </p:cNvSpPr>
          <p:nvPr/>
        </p:nvSpPr>
        <p:spPr bwMode="auto">
          <a:xfrm>
            <a:off x="8482921" y="4436155"/>
            <a:ext cx="423862" cy="373062"/>
          </a:xfrm>
          <a:prstGeom prst="ellipse">
            <a:avLst/>
          </a:prstGeom>
          <a:gradFill rotWithShape="0">
            <a:gsLst>
              <a:gs pos="0">
                <a:srgbClr val="9966FF">
                  <a:gamma/>
                  <a:tint val="63922"/>
                  <a:invGamma/>
                </a:srgbClr>
              </a:gs>
              <a:gs pos="100000">
                <a:srgbClr val="9966FF"/>
              </a:gs>
            </a:gsLst>
            <a:path path="shape">
              <a:fillToRect l="50000" t="50000" r="50000" b="50000"/>
            </a:path>
          </a:gradFill>
          <a:ln w="6350">
            <a:solidFill>
              <a:schemeClr val="tx1"/>
            </a:solidFill>
            <a:round/>
            <a:headEnd/>
            <a:tailEnd/>
          </a:ln>
          <a:effectLst/>
        </p:spPr>
        <p:txBody>
          <a:bodyPr tIns="27432" bIns="27432" anchor="ctr"/>
          <a:lstStyle/>
          <a:p>
            <a:pPr algn="ctr"/>
            <a:r>
              <a:rPr lang="en-US" sz="2000" b="1" dirty="0">
                <a:solidFill>
                  <a:schemeClr val="bg1"/>
                </a:solidFill>
                <a:effectLst>
                  <a:outerShdw blurRad="38100" dist="38100" dir="2700000" algn="tl">
                    <a:srgbClr val="000000"/>
                  </a:outerShdw>
                </a:effectLst>
                <a:latin typeface="Arial" charset="0"/>
              </a:rPr>
              <a:t>3</a:t>
            </a:r>
          </a:p>
        </p:txBody>
      </p:sp>
      <p:sp>
        <p:nvSpPr>
          <p:cNvPr id="283740" name="AutoShape 92"/>
          <p:cNvSpPr>
            <a:spLocks noChangeArrowheads="1"/>
          </p:cNvSpPr>
          <p:nvPr/>
        </p:nvSpPr>
        <p:spPr bwMode="auto">
          <a:xfrm>
            <a:off x="3775289" y="5927876"/>
            <a:ext cx="1975993" cy="922858"/>
          </a:xfrm>
          <a:prstGeom prst="can">
            <a:avLst>
              <a:gd name="adj" fmla="val 45000"/>
            </a:avLst>
          </a:prstGeom>
          <a:gradFill rotWithShape="0">
            <a:gsLst>
              <a:gs pos="0">
                <a:srgbClr val="33CCCC">
                  <a:gamma/>
                  <a:shade val="56078"/>
                  <a:invGamma/>
                </a:srgbClr>
              </a:gs>
              <a:gs pos="50000">
                <a:srgbClr val="33CCCC"/>
              </a:gs>
              <a:gs pos="100000">
                <a:srgbClr val="33CCCC">
                  <a:gamma/>
                  <a:shade val="56078"/>
                  <a:invGamma/>
                </a:srgbClr>
              </a:gs>
            </a:gsLst>
            <a:lin ang="0" scaled="1"/>
          </a:gradFill>
          <a:ln w="6350">
            <a:solidFill>
              <a:schemeClr val="tx1"/>
            </a:solidFill>
            <a:round/>
            <a:headEnd/>
            <a:tailEnd/>
          </a:ln>
          <a:effectLst/>
        </p:spPr>
        <p:txBody>
          <a:bodyPr wrap="none" tIns="182880" anchor="ctr"/>
          <a:lstStyle/>
          <a:p>
            <a:pPr algn="ctr">
              <a:lnSpc>
                <a:spcPct val="85000"/>
              </a:lnSpc>
            </a:pPr>
            <a:r>
              <a:rPr lang="en-US" sz="1600" b="1" dirty="0">
                <a:solidFill>
                  <a:schemeClr val="bg1"/>
                </a:solidFill>
                <a:effectLst>
                  <a:outerShdw blurRad="38100" dist="38100" dir="2700000" algn="tl">
                    <a:srgbClr val="000000"/>
                  </a:outerShdw>
                </a:effectLst>
                <a:latin typeface="Arial" charset="0"/>
              </a:rPr>
              <a:t>Base de </a:t>
            </a:r>
            <a:br>
              <a:rPr lang="en-US" sz="1600" b="1" dirty="0">
                <a:solidFill>
                  <a:schemeClr val="bg1"/>
                </a:solidFill>
                <a:effectLst>
                  <a:outerShdw blurRad="38100" dist="38100" dir="2700000" algn="tl">
                    <a:srgbClr val="000000"/>
                  </a:outerShdw>
                </a:effectLst>
                <a:latin typeface="Arial" charset="0"/>
              </a:rPr>
            </a:br>
            <a:r>
              <a:rPr lang="en-US" sz="1600" b="1" dirty="0" err="1">
                <a:solidFill>
                  <a:schemeClr val="bg1"/>
                </a:solidFill>
                <a:effectLst>
                  <a:outerShdw blurRad="38100" dist="38100" dir="2700000" algn="tl">
                    <a:srgbClr val="000000"/>
                  </a:outerShdw>
                </a:effectLst>
                <a:latin typeface="Arial" charset="0"/>
              </a:rPr>
              <a:t>données</a:t>
            </a:r>
            <a:r>
              <a:rPr lang="en-US" sz="1600" b="1" dirty="0">
                <a:solidFill>
                  <a:schemeClr val="bg1"/>
                </a:solidFill>
                <a:effectLst>
                  <a:outerShdw blurRad="38100" dist="38100" dir="2700000" algn="tl">
                    <a:srgbClr val="000000"/>
                  </a:outerShdw>
                </a:effectLst>
                <a:latin typeface="Arial" charset="0"/>
              </a:rPr>
              <a:t> DNS</a:t>
            </a:r>
            <a:endParaRPr lang="en-US" sz="1800" b="1" dirty="0">
              <a:solidFill>
                <a:schemeClr val="bg1"/>
              </a:solidFill>
              <a:effectLst>
                <a:outerShdw blurRad="38100" dist="38100" dir="2700000" algn="tl">
                  <a:srgbClr val="000000"/>
                </a:outerShdw>
              </a:effectLst>
              <a:latin typeface="Arial" charset="0"/>
            </a:endParaRPr>
          </a:p>
        </p:txBody>
      </p:sp>
      <p:sp>
        <p:nvSpPr>
          <p:cNvPr id="283741" name="AutoShape 93"/>
          <p:cNvSpPr>
            <a:spLocks noChangeArrowheads="1"/>
          </p:cNvSpPr>
          <p:nvPr/>
        </p:nvSpPr>
        <p:spPr bwMode="auto">
          <a:xfrm flipV="1">
            <a:off x="4307707" y="5000757"/>
            <a:ext cx="1038763" cy="1145127"/>
          </a:xfrm>
          <a:prstGeom prst="foldedCorner">
            <a:avLst>
              <a:gd name="adj" fmla="val 29727"/>
            </a:avLst>
          </a:prstGeom>
          <a:solidFill>
            <a:schemeClr val="bg1"/>
          </a:solidFill>
          <a:ln w="9525">
            <a:solidFill>
              <a:schemeClr val="tx1"/>
            </a:solidFill>
            <a:round/>
            <a:headEnd/>
            <a:tailEnd/>
          </a:ln>
          <a:effectLst>
            <a:outerShdw dist="28398" dir="20006097" algn="ctr" rotWithShape="0">
              <a:srgbClr val="C0C0C0"/>
            </a:outerShdw>
          </a:effectLst>
        </p:spPr>
        <p:txBody>
          <a:bodyPr rot="10800000" wrap="none"/>
          <a:lstStyle/>
          <a:p>
            <a:pPr algn="ctr">
              <a:lnSpc>
                <a:spcPct val="90000"/>
              </a:lnSpc>
            </a:pPr>
            <a:endParaRPr lang="fr-FR" sz="1400"/>
          </a:p>
        </p:txBody>
      </p:sp>
      <p:sp>
        <p:nvSpPr>
          <p:cNvPr id="283742" name="Rectangle 94"/>
          <p:cNvSpPr>
            <a:spLocks noChangeArrowheads="1"/>
          </p:cNvSpPr>
          <p:nvPr/>
        </p:nvSpPr>
        <p:spPr bwMode="auto">
          <a:xfrm>
            <a:off x="3638643" y="5392350"/>
            <a:ext cx="2370271" cy="660107"/>
          </a:xfrm>
          <a:prstGeom prst="rect">
            <a:avLst/>
          </a:prstGeom>
          <a:solidFill>
            <a:srgbClr val="FFFFFF"/>
          </a:solidFill>
          <a:ln w="9525">
            <a:solidFill>
              <a:schemeClr val="tx1"/>
            </a:solidFill>
            <a:miter lim="800000"/>
            <a:headEnd/>
            <a:tailEnd/>
          </a:ln>
          <a:effectLst>
            <a:outerShdw dist="35921" dir="2700000" algn="ctr" rotWithShape="0">
              <a:srgbClr val="C0C0C0"/>
            </a:outerShdw>
          </a:effectLst>
        </p:spPr>
        <p:txBody>
          <a:bodyPr wrap="none" lIns="45720" rIns="45720" anchor="ctr"/>
          <a:lstStyle/>
          <a:p>
            <a:pPr algn="ctr"/>
            <a:r>
              <a:rPr lang="en-US" sz="1800" b="1" dirty="0">
                <a:latin typeface="Arial" charset="0"/>
              </a:rPr>
              <a:t>Ordinateur1 </a:t>
            </a:r>
            <a:br>
              <a:rPr lang="en-US" sz="1800" b="1" dirty="0">
                <a:latin typeface="Arial" charset="0"/>
              </a:rPr>
            </a:br>
            <a:r>
              <a:rPr lang="en-US" sz="1800" b="1" dirty="0">
                <a:latin typeface="Arial" charset="0"/>
              </a:rPr>
              <a:t>192.168.120.133</a:t>
            </a:r>
          </a:p>
        </p:txBody>
      </p:sp>
      <p:sp>
        <p:nvSpPr>
          <p:cNvPr id="104" name="Flèche gauche 103"/>
          <p:cNvSpPr/>
          <p:nvPr/>
        </p:nvSpPr>
        <p:spPr>
          <a:xfrm>
            <a:off x="2394860" y="2873828"/>
            <a:ext cx="3976912" cy="1378857"/>
          </a:xfrm>
          <a:prstGeom prst="leftArrow">
            <a:avLst/>
          </a:prstGeom>
          <a:gradFill rotWithShape="0">
            <a:gsLst>
              <a:gs pos="0">
                <a:schemeClr val="accent2">
                  <a:gamma/>
                  <a:tint val="47451"/>
                  <a:invGamma/>
                </a:schemeClr>
              </a:gs>
              <a:gs pos="100000">
                <a:schemeClr val="accent2"/>
              </a:gs>
            </a:gsLst>
            <a:lin ang="0" scaled="1"/>
          </a:gradFill>
          <a:ln w="6350">
            <a:solidFill>
              <a:srgbClr val="800080"/>
            </a:solidFill>
            <a:miter lim="800000"/>
            <a:headEnd/>
            <a:tailEnd/>
          </a:ln>
          <a:effectLst>
            <a:outerShdw dist="81320" dir="2319588" algn="ctr" rotWithShape="0">
              <a:srgbClr val="C0C0C0"/>
            </a:outerShdw>
          </a:effectLst>
        </p:spPr>
        <p:txBody>
          <a:bodyPr wrap="none" tIns="27432" bIns="27432" anchor="ctr"/>
          <a:lstStyle/>
          <a:p>
            <a:pPr algn="r"/>
            <a:r>
              <a:rPr lang="fr-FR" sz="2200" b="1" dirty="0">
                <a:latin typeface="Arial" charset="0"/>
              </a:rPr>
              <a:t>Attribution de l’adresse IP</a:t>
            </a:r>
          </a:p>
          <a:p>
            <a:pPr algn="ctr"/>
            <a:r>
              <a:rPr lang="fr-FR" sz="2200" b="1" dirty="0">
                <a:latin typeface="Arial" charset="0"/>
              </a:rPr>
              <a:t>192.168.120.133</a:t>
            </a:r>
          </a:p>
        </p:txBody>
      </p:sp>
      <p:sp>
        <p:nvSpPr>
          <p:cNvPr id="283771" name="Oval 123"/>
          <p:cNvSpPr>
            <a:spLocks noChangeArrowheads="1"/>
          </p:cNvSpPr>
          <p:nvPr/>
        </p:nvSpPr>
        <p:spPr bwMode="auto">
          <a:xfrm>
            <a:off x="6240237" y="3384323"/>
            <a:ext cx="422275" cy="371475"/>
          </a:xfrm>
          <a:prstGeom prst="ellipse">
            <a:avLst/>
          </a:prstGeom>
          <a:gradFill rotWithShape="0">
            <a:gsLst>
              <a:gs pos="0">
                <a:srgbClr val="9966FF">
                  <a:gamma/>
                  <a:tint val="63922"/>
                  <a:invGamma/>
                </a:srgbClr>
              </a:gs>
              <a:gs pos="100000">
                <a:srgbClr val="9966FF"/>
              </a:gs>
            </a:gsLst>
            <a:path path="shape">
              <a:fillToRect l="50000" t="50000" r="50000" b="50000"/>
            </a:path>
          </a:gradFill>
          <a:ln w="6350">
            <a:solidFill>
              <a:schemeClr val="tx1"/>
            </a:solidFill>
            <a:round/>
            <a:headEnd/>
            <a:tailEnd/>
          </a:ln>
          <a:effectLst/>
        </p:spPr>
        <p:txBody>
          <a:bodyPr tIns="27432" bIns="27432" anchor="ctr"/>
          <a:lstStyle/>
          <a:p>
            <a:pPr algn="ctr"/>
            <a:r>
              <a:rPr lang="en-US" sz="2000" b="1">
                <a:solidFill>
                  <a:schemeClr val="bg1"/>
                </a:solidFill>
                <a:effectLst>
                  <a:outerShdw blurRad="38100" dist="38100" dir="2700000" algn="tl">
                    <a:srgbClr val="000000"/>
                  </a:outerShdw>
                </a:effectLst>
                <a:latin typeface="Arial"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3769"/>
                                        </p:tgtEl>
                                        <p:attrNameLst>
                                          <p:attrName>style.visibility</p:attrName>
                                        </p:attrNameLst>
                                      </p:cBhvr>
                                      <p:to>
                                        <p:strVal val="visible"/>
                                      </p:to>
                                    </p:set>
                                    <p:anim calcmode="lin" valueType="num">
                                      <p:cBhvr additive="base">
                                        <p:cTn id="7" dur="2000" fill="hold"/>
                                        <p:tgtEl>
                                          <p:spTgt spid="283769"/>
                                        </p:tgtEl>
                                        <p:attrNameLst>
                                          <p:attrName>ppt_x</p:attrName>
                                        </p:attrNameLst>
                                      </p:cBhvr>
                                      <p:tavLst>
                                        <p:tav tm="0">
                                          <p:val>
                                            <p:strVal val="0-#ppt_w/2"/>
                                          </p:val>
                                        </p:tav>
                                        <p:tav tm="100000">
                                          <p:val>
                                            <p:strVal val="#ppt_x"/>
                                          </p:val>
                                        </p:tav>
                                      </p:tavLst>
                                    </p:anim>
                                    <p:anim calcmode="lin" valueType="num">
                                      <p:cBhvr additive="base">
                                        <p:cTn id="8" dur="2000" fill="hold"/>
                                        <p:tgtEl>
                                          <p:spTgt spid="28376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3768"/>
                                        </p:tgtEl>
                                        <p:attrNameLst>
                                          <p:attrName>style.visibility</p:attrName>
                                        </p:attrNameLst>
                                      </p:cBhvr>
                                      <p:to>
                                        <p:strVal val="visible"/>
                                      </p:to>
                                    </p:set>
                                    <p:anim calcmode="lin" valueType="num">
                                      <p:cBhvr additive="base">
                                        <p:cTn id="11" dur="2000" fill="hold"/>
                                        <p:tgtEl>
                                          <p:spTgt spid="283768"/>
                                        </p:tgtEl>
                                        <p:attrNameLst>
                                          <p:attrName>ppt_x</p:attrName>
                                        </p:attrNameLst>
                                      </p:cBhvr>
                                      <p:tavLst>
                                        <p:tav tm="0">
                                          <p:val>
                                            <p:strVal val="0-#ppt_w/2"/>
                                          </p:val>
                                        </p:tav>
                                        <p:tav tm="100000">
                                          <p:val>
                                            <p:strVal val="#ppt_x"/>
                                          </p:val>
                                        </p:tav>
                                      </p:tavLst>
                                    </p:anim>
                                    <p:anim calcmode="lin" valueType="num">
                                      <p:cBhvr additive="base">
                                        <p:cTn id="12" dur="2000" fill="hold"/>
                                        <p:tgtEl>
                                          <p:spTgt spid="28376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83771"/>
                                        </p:tgtEl>
                                        <p:attrNameLst>
                                          <p:attrName>style.visibility</p:attrName>
                                        </p:attrNameLst>
                                      </p:cBhvr>
                                      <p:to>
                                        <p:strVal val="visible"/>
                                      </p:to>
                                    </p:set>
                                    <p:anim calcmode="lin" valueType="num">
                                      <p:cBhvr additive="base">
                                        <p:cTn id="17" dur="2000" fill="hold"/>
                                        <p:tgtEl>
                                          <p:spTgt spid="283771"/>
                                        </p:tgtEl>
                                        <p:attrNameLst>
                                          <p:attrName>ppt_x</p:attrName>
                                        </p:attrNameLst>
                                      </p:cBhvr>
                                      <p:tavLst>
                                        <p:tav tm="0">
                                          <p:val>
                                            <p:strVal val="1+#ppt_w/2"/>
                                          </p:val>
                                        </p:tav>
                                        <p:tav tm="100000">
                                          <p:val>
                                            <p:strVal val="#ppt_x"/>
                                          </p:val>
                                        </p:tav>
                                      </p:tavLst>
                                    </p:anim>
                                    <p:anim calcmode="lin" valueType="num">
                                      <p:cBhvr additive="base">
                                        <p:cTn id="18" dur="2000" fill="hold"/>
                                        <p:tgtEl>
                                          <p:spTgt spid="283771"/>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04"/>
                                        </p:tgtEl>
                                        <p:attrNameLst>
                                          <p:attrName>style.visibility</p:attrName>
                                        </p:attrNameLst>
                                      </p:cBhvr>
                                      <p:to>
                                        <p:strVal val="visible"/>
                                      </p:to>
                                    </p:set>
                                    <p:anim calcmode="lin" valueType="num">
                                      <p:cBhvr additive="base">
                                        <p:cTn id="21" dur="2000" fill="hold"/>
                                        <p:tgtEl>
                                          <p:spTgt spid="104"/>
                                        </p:tgtEl>
                                        <p:attrNameLst>
                                          <p:attrName>ppt_x</p:attrName>
                                        </p:attrNameLst>
                                      </p:cBhvr>
                                      <p:tavLst>
                                        <p:tav tm="0">
                                          <p:val>
                                            <p:strVal val="1+#ppt_w/2"/>
                                          </p:val>
                                        </p:tav>
                                        <p:tav tm="100000">
                                          <p:val>
                                            <p:strVal val="#ppt_x"/>
                                          </p:val>
                                        </p:tav>
                                      </p:tavLst>
                                    </p:anim>
                                    <p:anim calcmode="lin" valueType="num">
                                      <p:cBhvr additive="base">
                                        <p:cTn id="22" dur="20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83772"/>
                                        </p:tgtEl>
                                        <p:attrNameLst>
                                          <p:attrName>style.visibility</p:attrName>
                                        </p:attrNameLst>
                                      </p:cBhvr>
                                      <p:to>
                                        <p:strVal val="visible"/>
                                      </p:to>
                                    </p:set>
                                    <p:anim calcmode="lin" valueType="num">
                                      <p:cBhvr additive="base">
                                        <p:cTn id="27" dur="2000" fill="hold"/>
                                        <p:tgtEl>
                                          <p:spTgt spid="283772"/>
                                        </p:tgtEl>
                                        <p:attrNameLst>
                                          <p:attrName>ppt_x</p:attrName>
                                        </p:attrNameLst>
                                      </p:cBhvr>
                                      <p:tavLst>
                                        <p:tav tm="0">
                                          <p:val>
                                            <p:strVal val="0-#ppt_w/2"/>
                                          </p:val>
                                        </p:tav>
                                        <p:tav tm="100000">
                                          <p:val>
                                            <p:strVal val="#ppt_x"/>
                                          </p:val>
                                        </p:tav>
                                      </p:tavLst>
                                    </p:anim>
                                    <p:anim calcmode="lin" valueType="num">
                                      <p:cBhvr additive="base">
                                        <p:cTn id="28" dur="2000" fill="hold"/>
                                        <p:tgtEl>
                                          <p:spTgt spid="28377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83747"/>
                                        </p:tgtEl>
                                        <p:attrNameLst>
                                          <p:attrName>style.visibility</p:attrName>
                                        </p:attrNameLst>
                                      </p:cBhvr>
                                      <p:to>
                                        <p:strVal val="visible"/>
                                      </p:to>
                                    </p:set>
                                    <p:anim calcmode="lin" valueType="num">
                                      <p:cBhvr additive="base">
                                        <p:cTn id="31" dur="2000" fill="hold"/>
                                        <p:tgtEl>
                                          <p:spTgt spid="283747"/>
                                        </p:tgtEl>
                                        <p:attrNameLst>
                                          <p:attrName>ppt_x</p:attrName>
                                        </p:attrNameLst>
                                      </p:cBhvr>
                                      <p:tavLst>
                                        <p:tav tm="0">
                                          <p:val>
                                            <p:strVal val="0-#ppt_w/2"/>
                                          </p:val>
                                        </p:tav>
                                        <p:tav tm="100000">
                                          <p:val>
                                            <p:strVal val="#ppt_x"/>
                                          </p:val>
                                        </p:tav>
                                      </p:tavLst>
                                    </p:anim>
                                    <p:anim calcmode="lin" valueType="num">
                                      <p:cBhvr additive="base">
                                        <p:cTn id="32" dur="2000" fill="hold"/>
                                        <p:tgtEl>
                                          <p:spTgt spid="28374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83746"/>
                                        </p:tgtEl>
                                        <p:attrNameLst>
                                          <p:attrName>style.visibility</p:attrName>
                                        </p:attrNameLst>
                                      </p:cBhvr>
                                      <p:to>
                                        <p:strVal val="visible"/>
                                      </p:to>
                                    </p:set>
                                    <p:anim calcmode="lin" valueType="num">
                                      <p:cBhvr additive="base">
                                        <p:cTn id="35" dur="2000" fill="hold"/>
                                        <p:tgtEl>
                                          <p:spTgt spid="283746"/>
                                        </p:tgtEl>
                                        <p:attrNameLst>
                                          <p:attrName>ppt_x</p:attrName>
                                        </p:attrNameLst>
                                      </p:cBhvr>
                                      <p:tavLst>
                                        <p:tav tm="0">
                                          <p:val>
                                            <p:strVal val="0-#ppt_w/2"/>
                                          </p:val>
                                        </p:tav>
                                        <p:tav tm="100000">
                                          <p:val>
                                            <p:strVal val="#ppt_x"/>
                                          </p:val>
                                        </p:tav>
                                      </p:tavLst>
                                    </p:anim>
                                    <p:anim calcmode="lin" valueType="num">
                                      <p:cBhvr additive="base">
                                        <p:cTn id="36" dur="2000" fill="hold"/>
                                        <p:tgtEl>
                                          <p:spTgt spid="283746"/>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83745"/>
                                        </p:tgtEl>
                                        <p:attrNameLst>
                                          <p:attrName>style.visibility</p:attrName>
                                        </p:attrNameLst>
                                      </p:cBhvr>
                                      <p:to>
                                        <p:strVal val="visible"/>
                                      </p:to>
                                    </p:set>
                                    <p:anim calcmode="lin" valueType="num">
                                      <p:cBhvr additive="base">
                                        <p:cTn id="39" dur="2000" fill="hold"/>
                                        <p:tgtEl>
                                          <p:spTgt spid="283745"/>
                                        </p:tgtEl>
                                        <p:attrNameLst>
                                          <p:attrName>ppt_x</p:attrName>
                                        </p:attrNameLst>
                                      </p:cBhvr>
                                      <p:tavLst>
                                        <p:tav tm="0">
                                          <p:val>
                                            <p:strVal val="1+#ppt_w/2"/>
                                          </p:val>
                                        </p:tav>
                                        <p:tav tm="100000">
                                          <p:val>
                                            <p:strVal val="#ppt_x"/>
                                          </p:val>
                                        </p:tav>
                                      </p:tavLst>
                                    </p:anim>
                                    <p:anim calcmode="lin" valueType="num">
                                      <p:cBhvr additive="base">
                                        <p:cTn id="40" dur="2000" fill="hold"/>
                                        <p:tgtEl>
                                          <p:spTgt spid="28374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283744"/>
                                        </p:tgtEl>
                                        <p:attrNameLst>
                                          <p:attrName>style.visibility</p:attrName>
                                        </p:attrNameLst>
                                      </p:cBhvr>
                                      <p:to>
                                        <p:strVal val="visible"/>
                                      </p:to>
                                    </p:set>
                                    <p:anim calcmode="lin" valueType="num">
                                      <p:cBhvr additive="base">
                                        <p:cTn id="43" dur="2000" fill="hold"/>
                                        <p:tgtEl>
                                          <p:spTgt spid="283744"/>
                                        </p:tgtEl>
                                        <p:attrNameLst>
                                          <p:attrName>ppt_x</p:attrName>
                                        </p:attrNameLst>
                                      </p:cBhvr>
                                      <p:tavLst>
                                        <p:tav tm="0">
                                          <p:val>
                                            <p:strVal val="1+#ppt_w/2"/>
                                          </p:val>
                                        </p:tav>
                                        <p:tav tm="100000">
                                          <p:val>
                                            <p:strVal val="#ppt_x"/>
                                          </p:val>
                                        </p:tav>
                                      </p:tavLst>
                                    </p:anim>
                                    <p:anim calcmode="lin" valueType="num">
                                      <p:cBhvr additive="base">
                                        <p:cTn id="44" dur="2000" fill="hold"/>
                                        <p:tgtEl>
                                          <p:spTgt spid="283744"/>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283773"/>
                                        </p:tgtEl>
                                        <p:attrNameLst>
                                          <p:attrName>style.visibility</p:attrName>
                                        </p:attrNameLst>
                                      </p:cBhvr>
                                      <p:to>
                                        <p:strVal val="visible"/>
                                      </p:to>
                                    </p:set>
                                    <p:anim calcmode="lin" valueType="num">
                                      <p:cBhvr additive="base">
                                        <p:cTn id="47" dur="2000" fill="hold"/>
                                        <p:tgtEl>
                                          <p:spTgt spid="283773"/>
                                        </p:tgtEl>
                                        <p:attrNameLst>
                                          <p:attrName>ppt_x</p:attrName>
                                        </p:attrNameLst>
                                      </p:cBhvr>
                                      <p:tavLst>
                                        <p:tav tm="0">
                                          <p:val>
                                            <p:strVal val="1+#ppt_w/2"/>
                                          </p:val>
                                        </p:tav>
                                        <p:tav tm="100000">
                                          <p:val>
                                            <p:strVal val="#ppt_x"/>
                                          </p:val>
                                        </p:tav>
                                      </p:tavLst>
                                    </p:anim>
                                    <p:anim calcmode="lin" valueType="num">
                                      <p:cBhvr additive="base">
                                        <p:cTn id="48" dur="2000" fill="hold"/>
                                        <p:tgtEl>
                                          <p:spTgt spid="283773"/>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283742"/>
                                        </p:tgtEl>
                                        <p:attrNameLst>
                                          <p:attrName>style.visibility</p:attrName>
                                        </p:attrNameLst>
                                      </p:cBhvr>
                                      <p:to>
                                        <p:strVal val="visible"/>
                                      </p:to>
                                    </p:set>
                                    <p:animEffect transition="in" filter="checkerboard(across)">
                                      <p:cBhvr>
                                        <p:cTn id="53" dur="2000"/>
                                        <p:tgtEl>
                                          <p:spTgt spid="283742"/>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283741"/>
                                        </p:tgtEl>
                                        <p:attrNameLst>
                                          <p:attrName>style.visibility</p:attrName>
                                        </p:attrNameLst>
                                      </p:cBhvr>
                                      <p:to>
                                        <p:strVal val="visible"/>
                                      </p:to>
                                    </p:set>
                                    <p:animEffect transition="in" filter="checkerboard(across)">
                                      <p:cBhvr>
                                        <p:cTn id="56" dur="2000"/>
                                        <p:tgtEl>
                                          <p:spTgt spid="283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744" grpId="0" animBg="1"/>
      <p:bldP spid="283745" grpId="0" animBg="1"/>
      <p:bldP spid="283746" grpId="0" animBg="1"/>
      <p:bldP spid="283747" grpId="0" animBg="1"/>
      <p:bldP spid="283768" grpId="0" animBg="1"/>
      <p:bldP spid="283769" grpId="0" animBg="1"/>
      <p:bldP spid="283772" grpId="0" animBg="1"/>
      <p:bldP spid="283773" grpId="0" animBg="1"/>
      <p:bldP spid="283741" grpId="0" animBg="1"/>
      <p:bldP spid="283742" grpId="0" animBg="1"/>
      <p:bldP spid="104" grpId="0" animBg="1"/>
      <p:bldP spid="28377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p:txBody>
          <a:bodyPr vert="horz" anchor="b">
            <a:normAutofit/>
          </a:bodyPr>
          <a:lstStyle/>
          <a:p>
            <a:r>
              <a:rPr lang="en-US" sz="3000" dirty="0">
                <a:solidFill>
                  <a:srgbClr val="C00000"/>
                </a:solidFill>
              </a:rPr>
              <a:t>Configuration d'un client WINS</a:t>
            </a:r>
          </a:p>
        </p:txBody>
      </p:sp>
      <p:grpSp>
        <p:nvGrpSpPr>
          <p:cNvPr id="290819" name="Group 3"/>
          <p:cNvGrpSpPr>
            <a:grpSpLocks/>
          </p:cNvGrpSpPr>
          <p:nvPr/>
        </p:nvGrpSpPr>
        <p:grpSpPr bwMode="auto">
          <a:xfrm>
            <a:off x="437252" y="1302654"/>
            <a:ext cx="4221833" cy="5373917"/>
            <a:chOff x="632" y="720"/>
            <a:chExt cx="2184" cy="3145"/>
          </a:xfrm>
        </p:grpSpPr>
        <p:sp>
          <p:nvSpPr>
            <p:cNvPr id="290820" name="Rectangle 4"/>
            <p:cNvSpPr>
              <a:spLocks noChangeArrowheads="1"/>
            </p:cNvSpPr>
            <p:nvPr/>
          </p:nvSpPr>
          <p:spPr bwMode="auto">
            <a:xfrm flipH="1">
              <a:off x="632" y="798"/>
              <a:ext cx="2184" cy="3067"/>
            </a:xfrm>
            <a:prstGeom prst="rect">
              <a:avLst/>
            </a:prstGeom>
            <a:solidFill>
              <a:schemeClr val="bg1">
                <a:lumMod val="85000"/>
              </a:schemeClr>
            </a:solidFill>
            <a:ln w="9525">
              <a:noFill/>
              <a:miter lim="800000"/>
              <a:headEnd/>
              <a:tailEnd/>
            </a:ln>
            <a:effectLst/>
          </p:spPr>
          <p:txBody>
            <a:bodyPr wrap="none" anchor="ctr"/>
            <a:lstStyle/>
            <a:p>
              <a:endParaRPr lang="fr-FR"/>
            </a:p>
          </p:txBody>
        </p:sp>
        <p:sp>
          <p:nvSpPr>
            <p:cNvPr id="290821" name="Rectangle 5"/>
            <p:cNvSpPr>
              <a:spLocks noChangeArrowheads="1"/>
            </p:cNvSpPr>
            <p:nvPr/>
          </p:nvSpPr>
          <p:spPr bwMode="auto">
            <a:xfrm>
              <a:off x="633" y="720"/>
              <a:ext cx="2167" cy="263"/>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B2B2B2"/>
              </a:outerShdw>
            </a:effectLst>
          </p:spPr>
          <p:txBody>
            <a:bodyPr wrap="none" lIns="45720" rIns="45720" anchor="ctr"/>
            <a:lstStyle/>
            <a:p>
              <a:pPr algn="ctr"/>
              <a:r>
                <a:rPr lang="en-US" sz="2000" b="1">
                  <a:solidFill>
                    <a:srgbClr val="FFFFFF"/>
                  </a:solidFill>
                  <a:effectLst>
                    <a:outerShdw blurRad="38100" dist="38100" dir="2700000" algn="tl">
                      <a:srgbClr val="000000"/>
                    </a:outerShdw>
                  </a:effectLst>
                  <a:latin typeface="Arial" charset="0"/>
                </a:rPr>
                <a:t>Configuration manuelle</a:t>
              </a:r>
            </a:p>
          </p:txBody>
        </p:sp>
      </p:grpSp>
      <p:sp>
        <p:nvSpPr>
          <p:cNvPr id="290823" name="Rectangle 7"/>
          <p:cNvSpPr>
            <a:spLocks noChangeArrowheads="1"/>
          </p:cNvSpPr>
          <p:nvPr/>
        </p:nvSpPr>
        <p:spPr bwMode="auto">
          <a:xfrm flipH="1">
            <a:off x="4812392" y="1426479"/>
            <a:ext cx="4128408" cy="5431521"/>
          </a:xfrm>
          <a:prstGeom prst="rect">
            <a:avLst/>
          </a:prstGeom>
          <a:solidFill>
            <a:schemeClr val="bg1">
              <a:lumMod val="85000"/>
            </a:schemeClr>
          </a:solidFill>
          <a:ln w="9525">
            <a:noFill/>
            <a:miter lim="800000"/>
            <a:headEnd/>
            <a:tailEnd/>
          </a:ln>
          <a:effectLst/>
        </p:spPr>
        <p:txBody>
          <a:bodyPr wrap="none" anchor="ctr"/>
          <a:lstStyle/>
          <a:p>
            <a:endParaRPr lang="fr-FR"/>
          </a:p>
        </p:txBody>
      </p:sp>
      <p:sp>
        <p:nvSpPr>
          <p:cNvPr id="290824" name="Rectangle 8"/>
          <p:cNvSpPr>
            <a:spLocks noChangeArrowheads="1"/>
          </p:cNvSpPr>
          <p:nvPr/>
        </p:nvSpPr>
        <p:spPr bwMode="auto">
          <a:xfrm>
            <a:off x="4815567" y="1302654"/>
            <a:ext cx="4101600" cy="465762"/>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B2B2B2"/>
            </a:outerShdw>
          </a:effectLst>
        </p:spPr>
        <p:txBody>
          <a:bodyPr wrap="none" lIns="45720" rIns="45720" anchor="ctr"/>
          <a:lstStyle/>
          <a:p>
            <a:pPr algn="ctr"/>
            <a:r>
              <a:rPr lang="en-US" sz="2000" b="1">
                <a:solidFill>
                  <a:srgbClr val="FFFFFF"/>
                </a:solidFill>
                <a:effectLst>
                  <a:outerShdw blurRad="38100" dist="38100" dir="2700000" algn="tl">
                    <a:srgbClr val="000000"/>
                  </a:outerShdw>
                </a:effectLst>
                <a:latin typeface="Arial" charset="0"/>
              </a:rPr>
              <a:t>Configuration automatique</a:t>
            </a:r>
          </a:p>
        </p:txBody>
      </p:sp>
      <p:sp>
        <p:nvSpPr>
          <p:cNvPr id="290825" name="Rectangle 9"/>
          <p:cNvSpPr>
            <a:spLocks noChangeArrowheads="1"/>
          </p:cNvSpPr>
          <p:nvPr/>
        </p:nvSpPr>
        <p:spPr bwMode="auto">
          <a:xfrm>
            <a:off x="5733143" y="5917970"/>
            <a:ext cx="1756001" cy="540887"/>
          </a:xfrm>
          <a:prstGeom prst="rect">
            <a:avLst/>
          </a:prstGeom>
          <a:noFill/>
          <a:ln w="9525">
            <a:noFill/>
            <a:miter lim="800000"/>
            <a:headEnd/>
            <a:tailEnd/>
          </a:ln>
          <a:effectLst/>
        </p:spPr>
        <p:txBody>
          <a:bodyPr wrap="none" anchor="ctr"/>
          <a:lstStyle/>
          <a:p>
            <a:pPr algn="ctr"/>
            <a:r>
              <a:rPr lang="en-US" sz="2200" b="1" dirty="0">
                <a:latin typeface="Arial" charset="0"/>
              </a:rPr>
              <a:t>Clients DHCP</a:t>
            </a:r>
          </a:p>
        </p:txBody>
      </p:sp>
      <p:sp>
        <p:nvSpPr>
          <p:cNvPr id="290826" name="Rectangle 10"/>
          <p:cNvSpPr>
            <a:spLocks noChangeArrowheads="1"/>
          </p:cNvSpPr>
          <p:nvPr/>
        </p:nvSpPr>
        <p:spPr bwMode="auto">
          <a:xfrm>
            <a:off x="7096805" y="2334528"/>
            <a:ext cx="1495652" cy="931185"/>
          </a:xfrm>
          <a:prstGeom prst="rect">
            <a:avLst/>
          </a:prstGeom>
          <a:noFill/>
          <a:ln w="9525">
            <a:noFill/>
            <a:miter lim="800000"/>
            <a:headEnd/>
            <a:tailEnd/>
          </a:ln>
          <a:effectLst/>
        </p:spPr>
        <p:txBody>
          <a:bodyPr anchor="ctr"/>
          <a:lstStyle/>
          <a:p>
            <a:pPr algn="ctr"/>
            <a:r>
              <a:rPr lang="en-US" sz="2200" b="1" dirty="0" err="1">
                <a:latin typeface="Arial" charset="0"/>
              </a:rPr>
              <a:t>Serveur</a:t>
            </a:r>
            <a:r>
              <a:rPr lang="en-US" sz="2200" b="1" dirty="0">
                <a:latin typeface="Arial" charset="0"/>
              </a:rPr>
              <a:t> DHCP</a:t>
            </a:r>
          </a:p>
        </p:txBody>
      </p:sp>
      <p:grpSp>
        <p:nvGrpSpPr>
          <p:cNvPr id="290827" name="Group 11"/>
          <p:cNvGrpSpPr>
            <a:grpSpLocks/>
          </p:cNvGrpSpPr>
          <p:nvPr/>
        </p:nvGrpSpPr>
        <p:grpSpPr bwMode="auto">
          <a:xfrm>
            <a:off x="5137830" y="1963054"/>
            <a:ext cx="2886075" cy="3768725"/>
            <a:chOff x="3336" y="1264"/>
            <a:chExt cx="1683" cy="2198"/>
          </a:xfrm>
        </p:grpSpPr>
        <p:sp>
          <p:nvSpPr>
            <p:cNvPr id="290828" name="Rectangle 12"/>
            <p:cNvSpPr>
              <a:spLocks noChangeArrowheads="1"/>
            </p:cNvSpPr>
            <p:nvPr/>
          </p:nvSpPr>
          <p:spPr bwMode="auto">
            <a:xfrm>
              <a:off x="3541" y="2336"/>
              <a:ext cx="1344" cy="61"/>
            </a:xfrm>
            <a:prstGeom prst="rect">
              <a:avLst/>
            </a:prstGeom>
            <a:gradFill rotWithShape="0">
              <a:gsLst>
                <a:gs pos="0">
                  <a:srgbClr val="969696"/>
                </a:gs>
                <a:gs pos="50000">
                  <a:srgbClr val="969696">
                    <a:gamma/>
                    <a:tint val="21176"/>
                    <a:invGamma/>
                  </a:srgbClr>
                </a:gs>
                <a:gs pos="100000">
                  <a:srgbClr val="969696"/>
                </a:gs>
              </a:gsLst>
              <a:lin ang="5400000" scaled="1"/>
            </a:gradFill>
            <a:ln w="9525">
              <a:noFill/>
              <a:miter lim="800000"/>
              <a:headEnd/>
              <a:tailEnd/>
            </a:ln>
            <a:effectLst/>
          </p:spPr>
          <p:txBody>
            <a:bodyPr wrap="none" anchor="ctr"/>
            <a:lstStyle/>
            <a:p>
              <a:endParaRPr lang="fr-FR"/>
            </a:p>
          </p:txBody>
        </p:sp>
        <p:sp>
          <p:nvSpPr>
            <p:cNvPr id="290829" name="AutoShape 13"/>
            <p:cNvSpPr>
              <a:spLocks noChangeArrowheads="1"/>
            </p:cNvSpPr>
            <p:nvPr/>
          </p:nvSpPr>
          <p:spPr bwMode="auto">
            <a:xfrm rot="5400000" flipV="1">
              <a:off x="3910" y="2052"/>
              <a:ext cx="610" cy="68"/>
            </a:xfrm>
            <a:prstGeom prst="homePlate">
              <a:avLst>
                <a:gd name="adj" fmla="val 86799"/>
              </a:avLst>
            </a:prstGeom>
            <a:gradFill rotWithShape="0">
              <a:gsLst>
                <a:gs pos="0">
                  <a:srgbClr val="969696"/>
                </a:gs>
                <a:gs pos="50000">
                  <a:srgbClr val="969696">
                    <a:gamma/>
                    <a:tint val="21176"/>
                    <a:invGamma/>
                  </a:srgbClr>
                </a:gs>
                <a:gs pos="100000">
                  <a:srgbClr val="969696"/>
                </a:gs>
              </a:gsLst>
              <a:lin ang="0" scaled="1"/>
            </a:gradFill>
            <a:ln w="9525">
              <a:noFill/>
              <a:miter lim="800000"/>
              <a:headEnd/>
              <a:tailEnd/>
            </a:ln>
            <a:effectLst/>
          </p:spPr>
          <p:txBody>
            <a:bodyPr vert="eaVert" wrap="none" anchor="ctr"/>
            <a:lstStyle/>
            <a:p>
              <a:pPr algn="ctr"/>
              <a:endParaRPr lang="fr-FR" sz="2400">
                <a:latin typeface="Times New Roman" pitchFamily="18" charset="0"/>
              </a:endParaRPr>
            </a:p>
          </p:txBody>
        </p:sp>
        <p:sp>
          <p:nvSpPr>
            <p:cNvPr id="290830" name="AutoShape 14"/>
            <p:cNvSpPr>
              <a:spLocks noChangeArrowheads="1"/>
            </p:cNvSpPr>
            <p:nvPr/>
          </p:nvSpPr>
          <p:spPr bwMode="auto">
            <a:xfrm rot="5400000" flipV="1">
              <a:off x="3910" y="2060"/>
              <a:ext cx="610" cy="68"/>
            </a:xfrm>
            <a:prstGeom prst="homePlate">
              <a:avLst>
                <a:gd name="adj" fmla="val 79448"/>
              </a:avLst>
            </a:prstGeom>
            <a:gradFill rotWithShape="0">
              <a:gsLst>
                <a:gs pos="0">
                  <a:srgbClr val="D6007F"/>
                </a:gs>
                <a:gs pos="50000">
                  <a:srgbClr val="D6007F">
                    <a:gamma/>
                    <a:tint val="32157"/>
                    <a:invGamma/>
                  </a:srgbClr>
                </a:gs>
                <a:gs pos="100000">
                  <a:srgbClr val="D6007F"/>
                </a:gs>
              </a:gsLst>
              <a:lin ang="0" scaled="1"/>
            </a:gradFill>
            <a:ln w="9525">
              <a:noFill/>
              <a:miter lim="800000"/>
              <a:headEnd/>
              <a:tailEnd/>
            </a:ln>
            <a:effectLst/>
          </p:spPr>
          <p:txBody>
            <a:bodyPr wrap="none" anchor="ctr"/>
            <a:lstStyle/>
            <a:p>
              <a:endParaRPr lang="fr-FR"/>
            </a:p>
          </p:txBody>
        </p:sp>
        <p:sp>
          <p:nvSpPr>
            <p:cNvPr id="290831" name="Rectangle 15"/>
            <p:cNvSpPr>
              <a:spLocks noChangeArrowheads="1"/>
            </p:cNvSpPr>
            <p:nvPr/>
          </p:nvSpPr>
          <p:spPr bwMode="auto">
            <a:xfrm>
              <a:off x="4215" y="2336"/>
              <a:ext cx="488" cy="61"/>
            </a:xfrm>
            <a:prstGeom prst="rect">
              <a:avLst/>
            </a:prstGeom>
            <a:gradFill rotWithShape="0">
              <a:gsLst>
                <a:gs pos="0">
                  <a:srgbClr val="D6007F"/>
                </a:gs>
                <a:gs pos="50000">
                  <a:srgbClr val="D6007F">
                    <a:gamma/>
                    <a:tint val="37255"/>
                    <a:invGamma/>
                  </a:srgbClr>
                </a:gs>
                <a:gs pos="100000">
                  <a:srgbClr val="D6007F"/>
                </a:gs>
              </a:gsLst>
              <a:lin ang="5400000" scaled="1"/>
            </a:gradFill>
            <a:ln w="9525">
              <a:noFill/>
              <a:miter lim="800000"/>
              <a:headEnd/>
              <a:tailEnd/>
            </a:ln>
            <a:effectLst/>
          </p:spPr>
          <p:txBody>
            <a:bodyPr wrap="none" anchor="ctr"/>
            <a:lstStyle/>
            <a:p>
              <a:endParaRPr lang="fr-FR"/>
            </a:p>
          </p:txBody>
        </p:sp>
        <p:sp>
          <p:nvSpPr>
            <p:cNvPr id="290832" name="AutoShape 16"/>
            <p:cNvSpPr>
              <a:spLocks noChangeArrowheads="1"/>
            </p:cNvSpPr>
            <p:nvPr/>
          </p:nvSpPr>
          <p:spPr bwMode="auto">
            <a:xfrm rot="-5400000">
              <a:off x="4397" y="2608"/>
              <a:ext cx="610" cy="68"/>
            </a:xfrm>
            <a:prstGeom prst="homePlate">
              <a:avLst>
                <a:gd name="adj" fmla="val 86799"/>
              </a:avLst>
            </a:prstGeom>
            <a:gradFill rotWithShape="0">
              <a:gsLst>
                <a:gs pos="0">
                  <a:srgbClr val="D6007F"/>
                </a:gs>
                <a:gs pos="50000">
                  <a:srgbClr val="D6007F">
                    <a:gamma/>
                    <a:tint val="32157"/>
                    <a:invGamma/>
                  </a:srgbClr>
                </a:gs>
                <a:gs pos="100000">
                  <a:srgbClr val="D6007F"/>
                </a:gs>
              </a:gsLst>
              <a:lin ang="0" scaled="1"/>
            </a:gradFill>
            <a:ln w="9525">
              <a:noFill/>
              <a:miter lim="800000"/>
              <a:headEnd/>
              <a:tailEnd/>
            </a:ln>
            <a:effectLst/>
          </p:spPr>
          <p:txBody>
            <a:bodyPr wrap="none" anchor="ctr"/>
            <a:lstStyle/>
            <a:p>
              <a:endParaRPr lang="fr-FR"/>
            </a:p>
          </p:txBody>
        </p:sp>
        <p:grpSp>
          <p:nvGrpSpPr>
            <p:cNvPr id="290833" name="Group 17"/>
            <p:cNvGrpSpPr>
              <a:grpSpLocks/>
            </p:cNvGrpSpPr>
            <p:nvPr/>
          </p:nvGrpSpPr>
          <p:grpSpPr bwMode="auto">
            <a:xfrm>
              <a:off x="4306" y="2676"/>
              <a:ext cx="713" cy="786"/>
              <a:chOff x="2967" y="2733"/>
              <a:chExt cx="789" cy="870"/>
            </a:xfrm>
          </p:grpSpPr>
          <p:grpSp>
            <p:nvGrpSpPr>
              <p:cNvPr id="290834" name="Group 18"/>
              <p:cNvGrpSpPr>
                <a:grpSpLocks/>
              </p:cNvGrpSpPr>
              <p:nvPr/>
            </p:nvGrpSpPr>
            <p:grpSpPr bwMode="auto">
              <a:xfrm>
                <a:off x="2967" y="3191"/>
                <a:ext cx="763" cy="412"/>
                <a:chOff x="1929" y="1343"/>
                <a:chExt cx="763" cy="412"/>
              </a:xfrm>
            </p:grpSpPr>
            <p:sp>
              <p:nvSpPr>
                <p:cNvPr id="290835" name="Freeform 19"/>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36" name="Freeform 20"/>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37" name="Freeform 21"/>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38" name="Freeform 22"/>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290839" name="Freeform 23"/>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290840" name="Freeform 24"/>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290841" name="Line 25"/>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290842" name="Line 26"/>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290843" name="Freeform 27"/>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290844" name="Line 28"/>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45" name="Line 29"/>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46" name="Line 30"/>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47" name="Line 31"/>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48" name="Freeform 32"/>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290849" name="Group 33"/>
              <p:cNvGrpSpPr>
                <a:grpSpLocks/>
              </p:cNvGrpSpPr>
              <p:nvPr/>
            </p:nvGrpSpPr>
            <p:grpSpPr bwMode="auto">
              <a:xfrm>
                <a:off x="3042" y="2733"/>
                <a:ext cx="714" cy="672"/>
                <a:chOff x="2004" y="885"/>
                <a:chExt cx="714" cy="672"/>
              </a:xfrm>
            </p:grpSpPr>
            <p:sp>
              <p:nvSpPr>
                <p:cNvPr id="290850" name="Freeform 34"/>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290851" name="Freeform 35"/>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290852" name="Oval 36"/>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290853" name="Freeform 37"/>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290854" name="Freeform 38"/>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55" name="Freeform 39"/>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56" name="Freeform 40"/>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90857" name="Freeform 41"/>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58" name="Freeform 42"/>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290859" name="Freeform 43"/>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290860" name="Line 44"/>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290861" name="Rectangle 45"/>
            <p:cNvSpPr>
              <a:spLocks noChangeArrowheads="1"/>
            </p:cNvSpPr>
            <p:nvPr/>
          </p:nvSpPr>
          <p:spPr bwMode="auto">
            <a:xfrm>
              <a:off x="3727" y="2336"/>
              <a:ext cx="488" cy="61"/>
            </a:xfrm>
            <a:prstGeom prst="rect">
              <a:avLst/>
            </a:prstGeom>
            <a:gradFill rotWithShape="0">
              <a:gsLst>
                <a:gs pos="0">
                  <a:srgbClr val="D6007F"/>
                </a:gs>
                <a:gs pos="50000">
                  <a:srgbClr val="D6007F">
                    <a:gamma/>
                    <a:tint val="37255"/>
                    <a:invGamma/>
                  </a:srgbClr>
                </a:gs>
                <a:gs pos="100000">
                  <a:srgbClr val="D6007F"/>
                </a:gs>
              </a:gsLst>
              <a:lin ang="5400000" scaled="1"/>
            </a:gradFill>
            <a:ln w="9525">
              <a:noFill/>
              <a:miter lim="800000"/>
              <a:headEnd/>
              <a:tailEnd/>
            </a:ln>
            <a:effectLst/>
          </p:spPr>
          <p:txBody>
            <a:bodyPr wrap="none" anchor="ctr"/>
            <a:lstStyle/>
            <a:p>
              <a:endParaRPr lang="fr-FR"/>
            </a:p>
          </p:txBody>
        </p:sp>
        <p:sp>
          <p:nvSpPr>
            <p:cNvPr id="290862" name="AutoShape 46"/>
            <p:cNvSpPr>
              <a:spLocks noChangeArrowheads="1"/>
            </p:cNvSpPr>
            <p:nvPr/>
          </p:nvSpPr>
          <p:spPr bwMode="auto">
            <a:xfrm rot="5400000" flipV="1">
              <a:off x="3910" y="2052"/>
              <a:ext cx="610" cy="68"/>
            </a:xfrm>
            <a:prstGeom prst="homePlate">
              <a:avLst>
                <a:gd name="adj" fmla="val 79448"/>
              </a:avLst>
            </a:prstGeom>
            <a:gradFill rotWithShape="0">
              <a:gsLst>
                <a:gs pos="0">
                  <a:srgbClr val="D6007F"/>
                </a:gs>
                <a:gs pos="50000">
                  <a:srgbClr val="D6007F">
                    <a:gamma/>
                    <a:tint val="32157"/>
                    <a:invGamma/>
                  </a:srgbClr>
                </a:gs>
                <a:gs pos="100000">
                  <a:srgbClr val="D6007F"/>
                </a:gs>
              </a:gsLst>
              <a:lin ang="0" scaled="1"/>
            </a:gradFill>
            <a:ln w="9525">
              <a:noFill/>
              <a:miter lim="800000"/>
              <a:headEnd/>
              <a:tailEnd/>
            </a:ln>
            <a:effectLst/>
          </p:spPr>
          <p:txBody>
            <a:bodyPr wrap="none" anchor="ctr"/>
            <a:lstStyle/>
            <a:p>
              <a:endParaRPr lang="fr-FR"/>
            </a:p>
          </p:txBody>
        </p:sp>
        <p:sp>
          <p:nvSpPr>
            <p:cNvPr id="290863" name="AutoShape 47"/>
            <p:cNvSpPr>
              <a:spLocks noChangeArrowheads="1"/>
            </p:cNvSpPr>
            <p:nvPr/>
          </p:nvSpPr>
          <p:spPr bwMode="auto">
            <a:xfrm rot="-5400000">
              <a:off x="3419" y="2606"/>
              <a:ext cx="610" cy="68"/>
            </a:xfrm>
            <a:prstGeom prst="homePlate">
              <a:avLst>
                <a:gd name="adj" fmla="val 86799"/>
              </a:avLst>
            </a:prstGeom>
            <a:gradFill rotWithShape="0">
              <a:gsLst>
                <a:gs pos="0">
                  <a:srgbClr val="D6007F"/>
                </a:gs>
                <a:gs pos="50000">
                  <a:srgbClr val="D6007F">
                    <a:gamma/>
                    <a:tint val="32157"/>
                    <a:invGamma/>
                  </a:srgbClr>
                </a:gs>
                <a:gs pos="100000">
                  <a:srgbClr val="D6007F"/>
                </a:gs>
              </a:gsLst>
              <a:lin ang="0" scaled="1"/>
            </a:gradFill>
            <a:ln w="9525">
              <a:noFill/>
              <a:miter lim="800000"/>
              <a:headEnd/>
              <a:tailEnd/>
            </a:ln>
            <a:effectLst/>
          </p:spPr>
          <p:txBody>
            <a:bodyPr wrap="none" anchor="ctr"/>
            <a:lstStyle/>
            <a:p>
              <a:endParaRPr lang="fr-FR"/>
            </a:p>
          </p:txBody>
        </p:sp>
        <p:grpSp>
          <p:nvGrpSpPr>
            <p:cNvPr id="290864" name="Group 48"/>
            <p:cNvGrpSpPr>
              <a:grpSpLocks/>
            </p:cNvGrpSpPr>
            <p:nvPr/>
          </p:nvGrpSpPr>
          <p:grpSpPr bwMode="auto">
            <a:xfrm>
              <a:off x="3336" y="2676"/>
              <a:ext cx="713" cy="786"/>
              <a:chOff x="2967" y="2733"/>
              <a:chExt cx="789" cy="870"/>
            </a:xfrm>
          </p:grpSpPr>
          <p:grpSp>
            <p:nvGrpSpPr>
              <p:cNvPr id="290865" name="Group 49"/>
              <p:cNvGrpSpPr>
                <a:grpSpLocks/>
              </p:cNvGrpSpPr>
              <p:nvPr/>
            </p:nvGrpSpPr>
            <p:grpSpPr bwMode="auto">
              <a:xfrm>
                <a:off x="2967" y="3191"/>
                <a:ext cx="763" cy="412"/>
                <a:chOff x="1929" y="1343"/>
                <a:chExt cx="763" cy="412"/>
              </a:xfrm>
            </p:grpSpPr>
            <p:sp>
              <p:nvSpPr>
                <p:cNvPr id="290866" name="Freeform 50"/>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67" name="Freeform 51"/>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68" name="Freeform 52"/>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69" name="Freeform 53"/>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290870" name="Freeform 54"/>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290871" name="Freeform 55"/>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290872" name="Line 56"/>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290873" name="Line 57"/>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290874" name="Freeform 58"/>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290875" name="Line 59"/>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76" name="Line 60"/>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77" name="Line 61"/>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78" name="Line 62"/>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290879" name="Freeform 63"/>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290880" name="Group 64"/>
              <p:cNvGrpSpPr>
                <a:grpSpLocks/>
              </p:cNvGrpSpPr>
              <p:nvPr/>
            </p:nvGrpSpPr>
            <p:grpSpPr bwMode="auto">
              <a:xfrm>
                <a:off x="3042" y="2733"/>
                <a:ext cx="714" cy="672"/>
                <a:chOff x="2004" y="885"/>
                <a:chExt cx="714" cy="672"/>
              </a:xfrm>
            </p:grpSpPr>
            <p:sp>
              <p:nvSpPr>
                <p:cNvPr id="290881" name="Freeform 65"/>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290882" name="Freeform 66"/>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290883" name="Oval 67"/>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290884" name="Freeform 68"/>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290885" name="Freeform 69"/>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86" name="Freeform 70"/>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87" name="Freeform 71"/>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90888" name="Freeform 72"/>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89" name="Freeform 73"/>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290890" name="Freeform 74"/>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290891" name="Line 75"/>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290892" name="Group 76"/>
            <p:cNvGrpSpPr>
              <a:grpSpLocks/>
            </p:cNvGrpSpPr>
            <p:nvPr/>
          </p:nvGrpSpPr>
          <p:grpSpPr bwMode="auto">
            <a:xfrm>
              <a:off x="3941" y="1264"/>
              <a:ext cx="545" cy="881"/>
              <a:chOff x="934" y="830"/>
              <a:chExt cx="626" cy="1012"/>
            </a:xfrm>
          </p:grpSpPr>
          <p:sp>
            <p:nvSpPr>
              <p:cNvPr id="290893" name="Freeform 77"/>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290894" name="Group 78"/>
              <p:cNvGrpSpPr>
                <a:grpSpLocks/>
              </p:cNvGrpSpPr>
              <p:nvPr/>
            </p:nvGrpSpPr>
            <p:grpSpPr bwMode="auto">
              <a:xfrm>
                <a:off x="934" y="830"/>
                <a:ext cx="626" cy="987"/>
                <a:chOff x="934" y="830"/>
                <a:chExt cx="626" cy="987"/>
              </a:xfrm>
            </p:grpSpPr>
            <p:sp>
              <p:nvSpPr>
                <p:cNvPr id="290895" name="Freeform 79"/>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290896" name="Freeform 80"/>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290897" name="Freeform 81"/>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290898" name="Line 82"/>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290899" name="Oval 83"/>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290900" name="Line 84"/>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290901" name="Line 85"/>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290902" name="Line 86"/>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290903" name="Line 87"/>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290904" name="Freeform 88"/>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290905" name="Freeform 89"/>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290906" name="Freeform 90"/>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290907" name="Line 91"/>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290908" name="Line 92"/>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290909" name="Line 93"/>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290910" name="Freeform 94"/>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290911" name="Line 95"/>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290912" name="Freeform 96"/>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90913" name="Freeform 97"/>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90914" name="Freeform 98"/>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290915" name="Line 99"/>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90916" name="Line 100"/>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290917" name="Line 101"/>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pic>
        <p:nvPicPr>
          <p:cNvPr id="290922" name="Picture 106" descr="P2272bW08-28-"/>
          <p:cNvPicPr>
            <a:picLocks noChangeAspect="1" noChangeArrowheads="1"/>
          </p:cNvPicPr>
          <p:nvPr/>
        </p:nvPicPr>
        <p:blipFill>
          <a:blip r:embed="rId2"/>
          <a:srcRect/>
          <a:stretch>
            <a:fillRect/>
          </a:stretch>
        </p:blipFill>
        <p:spPr bwMode="auto">
          <a:xfrm>
            <a:off x="319778" y="1845857"/>
            <a:ext cx="4252221" cy="5012143"/>
          </a:xfrm>
          <a:prstGeom prst="rect">
            <a:avLst/>
          </a:prstGeom>
          <a:noFill/>
        </p:spPr>
      </p:pic>
      <p:sp>
        <p:nvSpPr>
          <p:cNvPr id="290919" name="AutoShape 103"/>
          <p:cNvSpPr>
            <a:spLocks noChangeArrowheads="1"/>
          </p:cNvSpPr>
          <p:nvPr/>
        </p:nvSpPr>
        <p:spPr bwMode="auto">
          <a:xfrm>
            <a:off x="-19946" y="2691717"/>
            <a:ext cx="822325" cy="628650"/>
          </a:xfrm>
          <a:prstGeom prst="rightArrow">
            <a:avLst>
              <a:gd name="adj1" fmla="val 61620"/>
              <a:gd name="adj2" fmla="val 76783"/>
            </a:avLst>
          </a:prstGeom>
          <a:gradFill rotWithShape="0">
            <a:gsLst>
              <a:gs pos="0">
                <a:schemeClr val="accent2">
                  <a:gamma/>
                  <a:tint val="47451"/>
                  <a:invGamma/>
                </a:schemeClr>
              </a:gs>
              <a:gs pos="100000">
                <a:schemeClr val="accent2"/>
              </a:gs>
            </a:gsLst>
            <a:lin ang="0" scaled="1"/>
          </a:gradFill>
          <a:ln w="6350">
            <a:solidFill>
              <a:srgbClr val="800080"/>
            </a:solidFill>
            <a:miter lim="800000"/>
            <a:headEnd/>
            <a:tailEnd/>
          </a:ln>
          <a:effectLst>
            <a:outerShdw dist="56796" dir="1593903" algn="ctr" rotWithShape="0">
              <a:srgbClr val="C0C0C0"/>
            </a:outerShdw>
          </a:effectLst>
        </p:spPr>
        <p:txBody>
          <a:bodyPr wrap="none" tIns="27432" bIns="27432" anchor="ctr"/>
          <a:lstStyle/>
          <a:p>
            <a:pPr algn="r"/>
            <a:endParaRPr lang="fr-FR" sz="1800" b="1">
              <a:solidFill>
                <a:schemeClr val="bg1"/>
              </a:solidFill>
              <a:effectLst>
                <a:outerShdw blurRad="38100" dist="38100" dir="2700000" algn="tl">
                  <a:srgbClr val="000000"/>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3211207"/>
          </a:xfrm>
        </p:spPr>
        <p:txBody>
          <a:bodyPr>
            <a:noAutofit/>
          </a:bodyPr>
          <a:lstStyle/>
          <a:p>
            <a:pPr>
              <a:buNone/>
            </a:pPr>
            <a:r>
              <a:rPr lang="fr-FR" sz="2300" dirty="0"/>
              <a:t>1. Vous avez récemment installé une connexion Internet chez vous. Votre fournisseur de services Internet requiert que vous disposiez d'une adresse IP statique. Votre ordinateur portable exécute Windows 7 et joue le rôle de client DHCP lorsqu'il est connecté à l'intranet de l'entreprise. Comment pouvez-vous configurer votre ordinateur portable pour utiliser uniquement l'adresse IP statique attribuée par votre fournisseur de services Internet lorsque vous êtes chez vous ?</a:t>
            </a:r>
          </a:p>
        </p:txBody>
      </p:sp>
      <p:sp>
        <p:nvSpPr>
          <p:cNvPr id="4" name="Rectangle 3"/>
          <p:cNvSpPr/>
          <p:nvPr/>
        </p:nvSpPr>
        <p:spPr>
          <a:xfrm>
            <a:off x="235528" y="4685852"/>
            <a:ext cx="8672944" cy="1692771"/>
          </a:xfrm>
          <a:prstGeom prst="rect">
            <a:avLst/>
          </a:prstGeom>
        </p:spPr>
        <p:txBody>
          <a:bodyPr wrap="square">
            <a:spAutoFit/>
          </a:bodyPr>
          <a:lstStyle/>
          <a:p>
            <a:pPr>
              <a:buNone/>
            </a:pPr>
            <a:r>
              <a:rPr lang="fr-FR" sz="2600" b="1" dirty="0"/>
              <a:t>Utilisez l'onglet Configuration alternative de la page de propriétés TCP/IP de votre carte réseau. Sélectionnez Utilisateur configuré et fournissez l'adresse IP statique du fournisseur de services Internet.</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3211207"/>
          </a:xfrm>
        </p:spPr>
        <p:txBody>
          <a:bodyPr>
            <a:noAutofit/>
          </a:bodyPr>
          <a:lstStyle/>
          <a:p>
            <a:pPr>
              <a:buNone/>
            </a:pPr>
            <a:r>
              <a:rPr lang="fr-FR" sz="2400" dirty="0"/>
              <a:t>2. Un utilisateur ne parvient pas à se connecter à son serveur de fichiers. Vous soupçonnez une configuration incorrecte de l'adresse TCP/IP de l'utilisateur. Comment pouvez-vous rapidement vérifier l'adresse IP de l'ordinateur de l'utilisateur ?</a:t>
            </a:r>
          </a:p>
        </p:txBody>
      </p:sp>
      <p:sp>
        <p:nvSpPr>
          <p:cNvPr id="4" name="Rectangle 3"/>
          <p:cNvSpPr/>
          <p:nvPr/>
        </p:nvSpPr>
        <p:spPr>
          <a:xfrm>
            <a:off x="235528" y="4685852"/>
            <a:ext cx="8672944" cy="523220"/>
          </a:xfrm>
          <a:prstGeom prst="rect">
            <a:avLst/>
          </a:prstGeom>
        </p:spPr>
        <p:txBody>
          <a:bodyPr wrap="square">
            <a:spAutoFit/>
          </a:bodyPr>
          <a:lstStyle/>
          <a:p>
            <a:r>
              <a:rPr lang="fr-FR" sz="2800" b="1" dirty="0"/>
              <a:t>Utilisez la commande </a:t>
            </a:r>
            <a:r>
              <a:rPr lang="fr-FR" sz="2800" b="1" dirty="0" err="1"/>
              <a:t>ipconfig</a:t>
            </a:r>
            <a:r>
              <a:rPr lang="fr-FR" sz="2800" b="1" dirty="0"/>
              <a:t>.</a:t>
            </a:r>
            <a:endParaRPr lang="fr-F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3211207"/>
          </a:xfrm>
        </p:spPr>
        <p:txBody>
          <a:bodyPr>
            <a:noAutofit/>
          </a:bodyPr>
          <a:lstStyle/>
          <a:p>
            <a:pPr>
              <a:buNone/>
            </a:pPr>
            <a:r>
              <a:rPr lang="fr-FR" sz="2400" dirty="0"/>
              <a:t>3. Un utilisateur explique qu'il n'est pas en mesure de se connecter à un serveur de fichiers. Vous soupçonnez une configuration incorrecte de l'adresse TCP/IP. Comment pouvez-vous facilement vérifier la configuration TCP/IP</a:t>
            </a:r>
          </a:p>
          <a:p>
            <a:pPr>
              <a:buNone/>
            </a:pPr>
            <a:r>
              <a:rPr lang="fr-FR" sz="2400" dirty="0"/>
              <a:t>et la connectivité réseau au serveur de fichiers ?</a:t>
            </a:r>
          </a:p>
        </p:txBody>
      </p:sp>
      <p:sp>
        <p:nvSpPr>
          <p:cNvPr id="4" name="Rectangle 3"/>
          <p:cNvSpPr/>
          <p:nvPr/>
        </p:nvSpPr>
        <p:spPr>
          <a:xfrm>
            <a:off x="235528" y="4685852"/>
            <a:ext cx="8672944" cy="954107"/>
          </a:xfrm>
          <a:prstGeom prst="rect">
            <a:avLst/>
          </a:prstGeom>
        </p:spPr>
        <p:txBody>
          <a:bodyPr wrap="square">
            <a:spAutoFit/>
          </a:bodyPr>
          <a:lstStyle/>
          <a:p>
            <a:r>
              <a:rPr lang="fr-FR" sz="2800" b="1" dirty="0"/>
              <a:t>Utilisez la commande </a:t>
            </a:r>
            <a:r>
              <a:rPr lang="fr-FR" sz="2800" b="1" dirty="0" err="1"/>
              <a:t>ping</a:t>
            </a:r>
            <a:r>
              <a:rPr lang="fr-FR" sz="2800" b="1" dirty="0"/>
              <a:t> pour vérifier la communication avec le serveur.</a:t>
            </a:r>
            <a:endParaRPr lang="fr-F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9"/>
            <a:ext cx="8503920" cy="2643170"/>
          </a:xfrm>
        </p:spPr>
        <p:txBody>
          <a:bodyPr>
            <a:noAutofit/>
          </a:bodyPr>
          <a:lstStyle/>
          <a:p>
            <a:pPr>
              <a:buNone/>
            </a:pPr>
            <a:r>
              <a:rPr lang="fr-FR" sz="2400" dirty="0"/>
              <a:t>4. Vous êtes l'administrateur d'un petit réseau composé de 20 ordinateurs Windows 7 et de deux serveurs de fichiers Windows Server 2008. Vous ne vous connectez ni à Internet, ni à aucun réseau externe. Quel est le moyen le plus facile de configurer rapidement les adresses IP des</a:t>
            </a:r>
          </a:p>
          <a:p>
            <a:pPr>
              <a:buNone/>
            </a:pPr>
            <a:r>
              <a:rPr lang="fr-FR" sz="2400" dirty="0"/>
              <a:t>ordinateurs de votre réseau ? </a:t>
            </a:r>
          </a:p>
        </p:txBody>
      </p:sp>
      <p:sp>
        <p:nvSpPr>
          <p:cNvPr id="4" name="Rectangle 3"/>
          <p:cNvSpPr/>
          <p:nvPr/>
        </p:nvSpPr>
        <p:spPr>
          <a:xfrm>
            <a:off x="235528" y="4685852"/>
            <a:ext cx="8672944" cy="1815882"/>
          </a:xfrm>
          <a:prstGeom prst="rect">
            <a:avLst/>
          </a:prstGeom>
        </p:spPr>
        <p:txBody>
          <a:bodyPr wrap="square">
            <a:spAutoFit/>
          </a:bodyPr>
          <a:lstStyle/>
          <a:p>
            <a:pPr>
              <a:buNone/>
            </a:pPr>
            <a:r>
              <a:rPr lang="fr-FR" sz="2800" b="1" dirty="0"/>
              <a:t>Configurez tous les ordinateurs pour l'obtention automatique des adresses IP. Aucun serveur DHCP n'est nécessaire. Par défaut, les fonctionnalités d'adresse IP privée automatique sont utilisées.</a:t>
            </a:r>
            <a:endParaRPr lang="fr-F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3834661"/>
          </a:xfrm>
        </p:spPr>
        <p:txBody>
          <a:bodyPr>
            <a:noAutofit/>
          </a:bodyPr>
          <a:lstStyle/>
          <a:p>
            <a:pPr>
              <a:buNone/>
            </a:pPr>
            <a:r>
              <a:rPr lang="fr-FR" sz="2300" dirty="0"/>
              <a:t>5. Vous êtes l'administrateur d'un réseau d'ordinateurs exécutant Windows 7. Votre réseau utilise le service WINS. Vous voulez proposer un nouveau schéma de dénomination pour tous les nouveaux ordinateurs. Ce schéma utilisera les neuf premiers caractères pour indiquer le groupe et la division, les trois caractères suivants pour indiquer l'emplacement et les quatre derniers pour indiquer l'utilisateur attribué. Ce schéma de dénomination fonctionnera-t-il dans votre environnement ?</a:t>
            </a:r>
          </a:p>
        </p:txBody>
      </p:sp>
      <p:sp>
        <p:nvSpPr>
          <p:cNvPr id="4" name="Rectangle 3"/>
          <p:cNvSpPr/>
          <p:nvPr/>
        </p:nvSpPr>
        <p:spPr>
          <a:xfrm>
            <a:off x="221674" y="4907522"/>
            <a:ext cx="8672944" cy="1384995"/>
          </a:xfrm>
          <a:prstGeom prst="rect">
            <a:avLst/>
          </a:prstGeom>
        </p:spPr>
        <p:txBody>
          <a:bodyPr wrap="square">
            <a:spAutoFit/>
          </a:bodyPr>
          <a:lstStyle/>
          <a:p>
            <a:pPr>
              <a:buNone/>
            </a:pPr>
            <a:r>
              <a:rPr lang="fr-FR" sz="2800" b="1" dirty="0"/>
              <a:t>Non. Il générerait un nom d'ordinateur NetBIOS de 16 caractères. Bien que NetBIOS utilise un nom de 16 octets, le dernier octet est réservé à l'indication du service.</a:t>
            </a:r>
            <a:endParaRPr lang="fr-F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6898</TotalTime>
  <Words>2868</Words>
  <Application>Microsoft Office PowerPoint</Application>
  <PresentationFormat>Affichage à l'écran (4:3)</PresentationFormat>
  <Paragraphs>294</Paragraphs>
  <Slides>31</Slides>
  <Notes>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31</vt:i4>
      </vt:variant>
    </vt:vector>
  </HeadingPairs>
  <TitlesOfParts>
    <vt:vector size="40" baseType="lpstr">
      <vt:lpstr>Segoe Semibold</vt:lpstr>
      <vt:lpstr>Arial Narrow</vt:lpstr>
      <vt:lpstr>Wingdings</vt:lpstr>
      <vt:lpstr>Wingdings 2</vt:lpstr>
      <vt:lpstr>Times New Roman</vt:lpstr>
      <vt:lpstr>Arial </vt:lpstr>
      <vt:lpstr>Georgia</vt:lpstr>
      <vt:lpstr>Arial</vt:lpstr>
      <vt:lpstr>Civil</vt:lpstr>
      <vt:lpstr>Chapitre8  Configuration de l'adressage TCP/IP et de la résolution de noms </vt:lpstr>
      <vt:lpstr>Plan du cours</vt:lpstr>
      <vt:lpstr>1. Configuration d'adresses IP </vt:lpstr>
      <vt:lpstr>Qu'est-ce qu'une adresse IPv4 ?</vt:lpstr>
      <vt:lpstr>Attribution d'adresses IP statiques</vt:lpstr>
      <vt:lpstr>Processus de configuration IPv4 automatique</vt:lpstr>
      <vt:lpstr>Vue d'ensemble de l'attribution dynamique d'adresses</vt:lpstr>
      <vt:lpstr>Utilisation du protocole DHCP pour automatiser les attributions d'adresses IP</vt:lpstr>
      <vt:lpstr>Activation d'une configuration IP alternative</vt:lpstr>
      <vt:lpstr>2. Résolution des problèmes liés aux  adresses IP </vt:lpstr>
      <vt:lpstr>Utilisation des utilitaires de dépannage TCP/IP</vt:lpstr>
      <vt:lpstr>Utilisation de la commande ipconfig pour résoudre les problèmes d'adressage IP</vt:lpstr>
      <vt:lpstr>Utilisation de la commande ping pour résoudre les problèmes d'adressage IP</vt:lpstr>
      <vt:lpstr>3. Détermination des méthodes de résolution de noms TCP/IP </vt:lpstr>
      <vt:lpstr>Types de noms</vt:lpstr>
      <vt:lpstr>Mappage de noms : tables dynamiques ou statique</vt:lpstr>
      <vt:lpstr>Mappage IP dynamique</vt:lpstr>
      <vt:lpstr>Mappage IP statique</vt:lpstr>
      <vt:lpstr>Choix d'une méthode de résolution de noms</vt:lpstr>
      <vt:lpstr>Processus de résolution des noms des ordinateurs</vt:lpstr>
      <vt:lpstr>4. Configuration d'un client DNS et WINS </vt:lpstr>
      <vt:lpstr>Spécification de noms d'hôte, de noms de domaine et de noms spécifiques à des connexions</vt:lpstr>
      <vt:lpstr>Configuration d'un client DNS</vt:lpstr>
      <vt:lpstr>Spécification de serveurs DNS auxiliaires</vt:lpstr>
      <vt:lpstr>Configuration DHCP pour la mise à jour dynamique du système DNS</vt:lpstr>
      <vt:lpstr>Configuration d'un client WINS</vt:lpstr>
      <vt:lpstr>Exercices</vt:lpstr>
      <vt:lpstr>Exercices</vt:lpstr>
      <vt:lpstr>Exercices</vt:lpstr>
      <vt:lpstr>Exercices</vt:lpstr>
      <vt:lpstr>Exercices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jimcla</dc:creator>
  <cp:lastModifiedBy>HALIMA.HOUSNY</cp:lastModifiedBy>
  <cp:revision>217</cp:revision>
  <dcterms:created xsi:type="dcterms:W3CDTF">2001-01-31T21:06:19Z</dcterms:created>
  <dcterms:modified xsi:type="dcterms:W3CDTF">2024-12-17T20:40:24Z</dcterms:modified>
</cp:coreProperties>
</file>