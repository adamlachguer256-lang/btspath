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9"/>
  </p:notesMasterIdLst>
  <p:sldIdLst>
    <p:sldId id="289" r:id="rId2"/>
    <p:sldId id="330" r:id="rId3"/>
    <p:sldId id="331" r:id="rId4"/>
    <p:sldId id="332" r:id="rId5"/>
    <p:sldId id="333" r:id="rId6"/>
    <p:sldId id="334" r:id="rId7"/>
    <p:sldId id="335" r:id="rId8"/>
    <p:sldId id="336" r:id="rId9"/>
    <p:sldId id="337" r:id="rId10"/>
    <p:sldId id="338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346" r:id="rId19"/>
    <p:sldId id="347" r:id="rId20"/>
    <p:sldId id="349" r:id="rId21"/>
    <p:sldId id="350" r:id="rId22"/>
    <p:sldId id="351" r:id="rId23"/>
    <p:sldId id="352" r:id="rId24"/>
    <p:sldId id="353" r:id="rId25"/>
    <p:sldId id="354" r:id="rId26"/>
    <p:sldId id="355" r:id="rId27"/>
    <p:sldId id="356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  <p:clrMru>
    <a:srgbClr val="FFFFCC"/>
    <a:srgbClr val="333399"/>
    <a:srgbClr val="000000"/>
    <a:srgbClr val="B2B2B2"/>
    <a:srgbClr val="FFFFFF"/>
    <a:srgbClr val="FFCC99"/>
    <a:srgbClr val="FFCC66"/>
    <a:srgbClr val="33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 horzBarState="maximized">
    <p:restoredLeft sz="15620" autoAdjust="0"/>
    <p:restoredTop sz="94660" autoAdjust="0"/>
  </p:normalViewPr>
  <p:slideViewPr>
    <p:cSldViewPr snapToGrid="0">
      <p:cViewPr varScale="1">
        <p:scale>
          <a:sx n="69" d="100"/>
          <a:sy n="69" d="100"/>
        </p:scale>
        <p:origin x="-10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72"/>
    </p:cViewPr>
  </p:sorterViewPr>
  <p:notesViewPr>
    <p:cSldViewPr snapToGrid="0">
      <p:cViewPr>
        <p:scale>
          <a:sx n="100" d="100"/>
          <a:sy n="100" d="100"/>
        </p:scale>
        <p:origin x="-864" y="37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6.xml"/><Relationship Id="rId7" Type="http://schemas.openxmlformats.org/officeDocument/2006/relationships/slide" Target="slides/slide21.xml"/><Relationship Id="rId2" Type="http://schemas.openxmlformats.org/officeDocument/2006/relationships/slide" Target="slides/slide3.xml"/><Relationship Id="rId1" Type="http://schemas.openxmlformats.org/officeDocument/2006/relationships/slide" Target="slides/slide2.xml"/><Relationship Id="rId6" Type="http://schemas.openxmlformats.org/officeDocument/2006/relationships/slide" Target="slides/slide20.xml"/><Relationship Id="rId5" Type="http://schemas.openxmlformats.org/officeDocument/2006/relationships/slide" Target="slides/slide15.xml"/><Relationship Id="rId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 Narrow" pitchFamily="34" charset="0"/>
              </a:defRPr>
            </a:lvl1pPr>
          </a:lstStyle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 Narrow" pitchFamily="34" charset="0"/>
              </a:defRPr>
            </a:lvl1pPr>
          </a:lstStyle>
          <a:p>
            <a:endParaRPr lang="en-US"/>
          </a:p>
        </p:txBody>
      </p:sp>
      <p:sp>
        <p:nvSpPr>
          <p:cNvPr id="10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 Narrow" pitchFamily="34" charset="0"/>
              </a:defRPr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 Narrow" pitchFamily="34" charset="0"/>
              </a:defRPr>
            </a:lvl1pPr>
          </a:lstStyle>
          <a:p>
            <a:fld id="{DFB8EA21-380B-4F6E-B6A4-B425039150C5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ED6F67-59EB-47F7-8B3B-B8755F8C0662}" type="slidenum">
              <a:rPr lang="en-US"/>
              <a:pPr/>
              <a:t>1</a:t>
            </a:fld>
            <a:endParaRPr lang="en-US"/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F63122-8B4D-4FED-9533-4FDAE1636AAF}" type="slidenum">
              <a:rPr lang="en-US"/>
              <a:pPr/>
              <a:t>2</a:t>
            </a:fld>
            <a:endParaRPr lang="en-US"/>
          </a:p>
        </p:txBody>
      </p:sp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E68099-ECE6-4B49-B86D-6E6DE3025960}" type="slidenum">
              <a:rPr lang="en-US"/>
              <a:pPr/>
              <a:t>5</a:t>
            </a:fld>
            <a:endParaRPr lang="en-US"/>
          </a:p>
        </p:txBody>
      </p:sp>
      <p:sp>
        <p:nvSpPr>
          <p:cNvPr id="15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4AE327-1BE0-47E0-9FA2-D04E680650C8}" type="slidenum">
              <a:rPr lang="en-US"/>
              <a:pPr/>
              <a:t>6</a:t>
            </a:fld>
            <a:endParaRPr lang="en-US"/>
          </a:p>
        </p:txBody>
      </p:sp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609256-1418-4260-9BD4-8F6641F15508}" type="slidenum">
              <a:rPr lang="en-US"/>
              <a:pPr/>
              <a:t>9</a:t>
            </a:fld>
            <a:endParaRPr lang="en-US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BFD220-E6F8-4787-9731-D2DCB5BBBA0E}" type="slidenum">
              <a:rPr lang="en-US"/>
              <a:pPr/>
              <a:t>15</a:t>
            </a:fld>
            <a:endParaRPr lang="en-US"/>
          </a:p>
        </p:txBody>
      </p:sp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CF4027-AF9B-41E4-B788-02D409CA28F2}" type="slidenum">
              <a:rPr lang="en-US"/>
              <a:pPr/>
              <a:t>20</a:t>
            </a:fld>
            <a:endParaRPr lang="en-US"/>
          </a:p>
        </p:txBody>
      </p:sp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8F67EC-A331-4FFC-87DB-7D9EE5ADBADF}" type="slidenum">
              <a:rPr lang="en-US"/>
              <a:pPr/>
              <a:t>21</a:t>
            </a:fld>
            <a:endParaRPr lang="en-US"/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12/15/2014</a:t>
            </a:fld>
            <a:endParaRPr lang="en-US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1450" y="228600"/>
            <a:ext cx="8801100" cy="758952"/>
          </a:xfr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12/15/2014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12/15/2014</a:t>
            </a:fld>
            <a:endParaRPr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12/15/2014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12/15/2014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12/15/2014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12/15/2014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12/15/2014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12/15/2014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12/15/2014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12/15/2014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D21D778-B565-4D7E-94D7-64010A445B68}" type="datetimeFigureOut">
              <a:rPr lang="en-US" smtClean="0"/>
              <a:pPr algn="r" eaLnBrk="1" latinLnBrk="0" hangingPunct="1"/>
              <a:t>12/15/2014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sz="1600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9907" y="2438400"/>
            <a:ext cx="8302171" cy="3749964"/>
          </a:xfrm>
          <a:noFill/>
          <a:ln/>
        </p:spPr>
        <p:txBody>
          <a:bodyPr lIns="90488" tIns="44450" rIns="90488" bIns="44450">
            <a:normAutofit/>
          </a:bodyPr>
          <a:lstStyle/>
          <a:p>
            <a:pPr algn="ctr">
              <a:lnSpc>
                <a:spcPct val="95000"/>
              </a:lnSpc>
            </a:pPr>
            <a:r>
              <a:rPr lang="fr-FR" sz="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Chapitre 9</a:t>
            </a:r>
            <a:r>
              <a:rPr lang="fr-FR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fr-FR" sz="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fr-FR" sz="5000" dirty="0" smtClean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fr-FR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Configuration de Microsoft Windows XP Professionnel pour fonctionner sur des réseaux Microsoft</a:t>
            </a:r>
            <a:endParaRPr lang="en-US" sz="50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91897" y="980104"/>
            <a:ext cx="38089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Module S41</a:t>
            </a:r>
            <a:endParaRPr lang="fr-FR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cs typeface="Times New Roman" pitchFamily="18" charset="0"/>
              </a:rPr>
              <a:t>Plan du </a:t>
            </a:r>
            <a:r>
              <a:rPr lang="en-US" b="1" dirty="0" err="1" smtClean="0">
                <a:solidFill>
                  <a:schemeClr val="tx1"/>
                </a:solidFill>
                <a:cs typeface="Times New Roman" pitchFamily="18" charset="0"/>
              </a:rPr>
              <a:t>cours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4629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174171" y="1509486"/>
            <a:ext cx="8795658" cy="4876799"/>
          </a:xfrm>
        </p:spPr>
        <p:txBody>
          <a:bodyPr>
            <a:normAutofit/>
          </a:bodyPr>
          <a:lstStyle/>
          <a:p>
            <a:pPr marL="514350" indent="-514350">
              <a:lnSpc>
                <a:spcPct val="80000"/>
              </a:lnSpc>
              <a:buClrTx/>
              <a:buFont typeface="+mj-lt"/>
              <a:buAutoNum type="arabicPeriod"/>
            </a:pPr>
            <a:r>
              <a:rPr lang="en-US" sz="2800" dirty="0" err="1">
                <a:cs typeface="Times New Roman" pitchFamily="18" charset="0"/>
              </a:rPr>
              <a:t>Étude</a:t>
            </a:r>
            <a:r>
              <a:rPr lang="en-US" sz="2800" dirty="0">
                <a:cs typeface="Times New Roman" pitchFamily="18" charset="0"/>
              </a:rPr>
              <a:t> des </a:t>
            </a:r>
            <a:r>
              <a:rPr lang="en-US" sz="2800" dirty="0" err="1">
                <a:cs typeface="Times New Roman" pitchFamily="18" charset="0"/>
              </a:rPr>
              <a:t>groupes</a:t>
            </a:r>
            <a:r>
              <a:rPr lang="en-US" sz="2800" dirty="0">
                <a:cs typeface="Times New Roman" pitchFamily="18" charset="0"/>
              </a:rPr>
              <a:t> de travail et des </a:t>
            </a:r>
            <a:r>
              <a:rPr lang="en-US" sz="2800" dirty="0" err="1">
                <a:cs typeface="Times New Roman" pitchFamily="18" charset="0"/>
              </a:rPr>
              <a:t>comptes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d'utilisateur</a:t>
            </a:r>
            <a:endParaRPr lang="en-US" sz="2800" dirty="0"/>
          </a:p>
          <a:p>
            <a:pPr marL="514350" indent="-514350">
              <a:lnSpc>
                <a:spcPct val="80000"/>
              </a:lnSpc>
              <a:buClrTx/>
              <a:buFont typeface="+mj-lt"/>
              <a:buAutoNum type="arabicPeriod"/>
            </a:pPr>
            <a:r>
              <a:rPr lang="en-US" sz="2800" dirty="0" err="1">
                <a:cs typeface="Times New Roman" pitchFamily="18" charset="0"/>
              </a:rPr>
              <a:t>Création</a:t>
            </a:r>
            <a:r>
              <a:rPr lang="en-US" sz="2800" dirty="0">
                <a:cs typeface="Times New Roman" pitchFamily="18" charset="0"/>
              </a:rPr>
              <a:t> et </a:t>
            </a:r>
            <a:r>
              <a:rPr lang="en-US" sz="2800" dirty="0" err="1">
                <a:cs typeface="Times New Roman" pitchFamily="18" charset="0"/>
              </a:rPr>
              <a:t>authentification</a:t>
            </a:r>
            <a:r>
              <a:rPr lang="en-US" sz="2800" dirty="0">
                <a:cs typeface="Times New Roman" pitchFamily="18" charset="0"/>
              </a:rPr>
              <a:t> de </a:t>
            </a:r>
            <a:r>
              <a:rPr lang="en-US" sz="2800" dirty="0" err="1">
                <a:cs typeface="Times New Roman" pitchFamily="18" charset="0"/>
              </a:rPr>
              <a:t>comptes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d'utilisateur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locaux</a:t>
            </a:r>
            <a:endParaRPr lang="en-US" sz="2800" dirty="0"/>
          </a:p>
          <a:p>
            <a:pPr marL="514350" indent="-514350">
              <a:lnSpc>
                <a:spcPct val="80000"/>
              </a:lnSpc>
              <a:buClrTx/>
              <a:buFont typeface="+mj-lt"/>
              <a:buAutoNum type="arabicPeriod"/>
            </a:pPr>
            <a:r>
              <a:rPr lang="en-US" sz="2800" dirty="0">
                <a:cs typeface="Times New Roman" pitchFamily="18" charset="0"/>
              </a:rPr>
              <a:t>Configuration de la </a:t>
            </a:r>
            <a:r>
              <a:rPr lang="en-US" sz="2800" dirty="0" err="1">
                <a:cs typeface="Times New Roman" pitchFamily="18" charset="0"/>
              </a:rPr>
              <a:t>sécurité</a:t>
            </a:r>
            <a:r>
              <a:rPr lang="en-US" sz="2800" dirty="0">
                <a:cs typeface="Times New Roman" pitchFamily="18" charset="0"/>
              </a:rPr>
              <a:t> locale</a:t>
            </a:r>
            <a:endParaRPr lang="en-US" sz="2800" dirty="0"/>
          </a:p>
          <a:p>
            <a:pPr marL="514350" indent="-514350">
              <a:lnSpc>
                <a:spcPct val="80000"/>
              </a:lnSpc>
              <a:buClrTx/>
              <a:buFont typeface="+mj-lt"/>
              <a:buAutoNum type="arabicPeriod"/>
            </a:pPr>
            <a:r>
              <a:rPr lang="en-US" sz="2800" dirty="0">
                <a:cs typeface="Times New Roman" pitchFamily="18" charset="0"/>
              </a:rPr>
              <a:t>Configuration des options </a:t>
            </a:r>
            <a:r>
              <a:rPr lang="en-US" sz="2800" dirty="0" err="1">
                <a:cs typeface="Times New Roman" pitchFamily="18" charset="0"/>
              </a:rPr>
              <a:t>d'ouverture</a:t>
            </a:r>
            <a:r>
              <a:rPr lang="en-US" sz="2800" dirty="0">
                <a:cs typeface="Times New Roman" pitchFamily="18" charset="0"/>
              </a:rPr>
              <a:t> de session </a:t>
            </a:r>
            <a:r>
              <a:rPr lang="en-US" sz="2800" dirty="0" err="1">
                <a:cs typeface="Times New Roman" pitchFamily="18" charset="0"/>
              </a:rPr>
              <a:t>dans</a:t>
            </a:r>
            <a:r>
              <a:rPr lang="en-US" sz="2800" dirty="0">
                <a:cs typeface="Times New Roman" pitchFamily="18" charset="0"/>
              </a:rPr>
              <a:t> un </a:t>
            </a:r>
            <a:r>
              <a:rPr lang="en-US" sz="2800" dirty="0" err="1">
                <a:cs typeface="Times New Roman" pitchFamily="18" charset="0"/>
              </a:rPr>
              <a:t>groupe</a:t>
            </a:r>
            <a:r>
              <a:rPr lang="en-US" sz="2800" dirty="0">
                <a:cs typeface="Times New Roman" pitchFamily="18" charset="0"/>
              </a:rPr>
              <a:t> de travail</a:t>
            </a:r>
            <a:endParaRPr lang="en-US" sz="2800" dirty="0"/>
          </a:p>
          <a:p>
            <a:pPr marL="514350" indent="-514350">
              <a:lnSpc>
                <a:spcPct val="80000"/>
              </a:lnSpc>
              <a:buClrTx/>
              <a:buFont typeface="+mj-lt"/>
              <a:buAutoNum type="arabicPeriod"/>
            </a:pPr>
            <a:r>
              <a:rPr lang="en-US" sz="2800" dirty="0">
                <a:cs typeface="Times New Roman" pitchFamily="18" charset="0"/>
              </a:rPr>
              <a:t>Configuration des options de </a:t>
            </a:r>
            <a:r>
              <a:rPr lang="en-US" sz="2800" dirty="0" err="1">
                <a:cs typeface="Times New Roman" pitchFamily="18" charset="0"/>
              </a:rPr>
              <a:t>gestion</a:t>
            </a:r>
            <a:r>
              <a:rPr lang="en-US" sz="2800" dirty="0">
                <a:cs typeface="Times New Roman" pitchFamily="18" charset="0"/>
              </a:rPr>
              <a:t> de </a:t>
            </a:r>
            <a:r>
              <a:rPr lang="en-US" sz="2800" dirty="0" err="1">
                <a:cs typeface="Times New Roman" pitchFamily="18" charset="0"/>
              </a:rPr>
              <a:t>réseau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dans</a:t>
            </a:r>
            <a:r>
              <a:rPr lang="en-US" sz="2800" dirty="0">
                <a:cs typeface="Times New Roman" pitchFamily="18" charset="0"/>
              </a:rPr>
              <a:t> un </a:t>
            </a:r>
            <a:r>
              <a:rPr lang="en-US" sz="2800" dirty="0" err="1">
                <a:cs typeface="Times New Roman" pitchFamily="18" charset="0"/>
              </a:rPr>
              <a:t>groupe</a:t>
            </a:r>
            <a:r>
              <a:rPr lang="en-US" sz="2800" dirty="0">
                <a:cs typeface="Times New Roman" pitchFamily="18" charset="0"/>
              </a:rPr>
              <a:t> de travail</a:t>
            </a:r>
            <a:endParaRPr lang="en-US" sz="2800" dirty="0"/>
          </a:p>
          <a:p>
            <a:pPr marL="514350" indent="-514350">
              <a:lnSpc>
                <a:spcPct val="80000"/>
              </a:lnSpc>
              <a:buClrTx/>
              <a:buFont typeface="+mj-lt"/>
              <a:buAutoNum type="arabicPeriod"/>
            </a:pPr>
            <a:r>
              <a:rPr lang="en-US" sz="2800" dirty="0" err="1">
                <a:cs typeface="Times New Roman" pitchFamily="18" charset="0"/>
              </a:rPr>
              <a:t>Intégration</a:t>
            </a:r>
            <a:r>
              <a:rPr lang="en-US" sz="2800" dirty="0">
                <a:cs typeface="Times New Roman" pitchFamily="18" charset="0"/>
              </a:rPr>
              <a:t> d'un </a:t>
            </a:r>
            <a:r>
              <a:rPr lang="en-US" sz="2800" dirty="0" err="1">
                <a:cs typeface="Times New Roman" pitchFamily="18" charset="0"/>
              </a:rPr>
              <a:t>domaine</a:t>
            </a:r>
            <a:endParaRPr lang="en-US" sz="2800" dirty="0"/>
          </a:p>
          <a:p>
            <a:pPr marL="514350" indent="-514350">
              <a:lnSpc>
                <a:spcPct val="80000"/>
              </a:lnSpc>
              <a:buClrTx/>
              <a:buFont typeface="+mj-lt"/>
              <a:buAutoNum type="arabicPeriod"/>
            </a:pPr>
            <a:r>
              <a:rPr lang="en-US" sz="2800" dirty="0" err="1">
                <a:cs typeface="Times New Roman" pitchFamily="18" charset="0"/>
              </a:rPr>
              <a:t>Fonctionnement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dans</a:t>
            </a:r>
            <a:r>
              <a:rPr lang="en-US" sz="2800" dirty="0">
                <a:cs typeface="Times New Roman" pitchFamily="18" charset="0"/>
              </a:rPr>
              <a:t> un </a:t>
            </a:r>
            <a:r>
              <a:rPr lang="en-US" sz="2800" dirty="0" err="1">
                <a:cs typeface="Times New Roman" pitchFamily="18" charset="0"/>
              </a:rPr>
              <a:t>domaine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Rectangle 4"/>
          <p:cNvSpPr>
            <a:spLocks noGrp="1" noChangeArrowheads="1"/>
          </p:cNvSpPr>
          <p:nvPr>
            <p:ph type="title"/>
          </p:nvPr>
        </p:nvSpPr>
        <p:spPr>
          <a:xfrm>
            <a:off x="171450" y="228600"/>
            <a:ext cx="8801100" cy="1005114"/>
          </a:xfrm>
        </p:spPr>
        <p:txBody>
          <a:bodyPr>
            <a:normAutofit fontScale="90000"/>
          </a:bodyPr>
          <a:lstStyle/>
          <a:p>
            <a:pPr marL="439738" indent="-439738"/>
            <a:r>
              <a:rPr lang="en-US" dirty="0" smtClean="0">
                <a:solidFill>
                  <a:schemeClr val="tx1"/>
                </a:solidFill>
                <a:cs typeface="Times New Roman" pitchFamily="18" charset="0"/>
              </a:rPr>
              <a:t>1. </a:t>
            </a:r>
            <a:r>
              <a:rPr lang="en-US" dirty="0" err="1" smtClean="0">
                <a:solidFill>
                  <a:schemeClr val="tx1"/>
                </a:solidFill>
                <a:cs typeface="Times New Roman" pitchFamily="18" charset="0"/>
              </a:rPr>
              <a:t>Étude</a:t>
            </a:r>
            <a:r>
              <a:rPr lang="en-US" dirty="0" smtClean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des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groupes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de travail et des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comptes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d'utilisateur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6677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287237" y="2731733"/>
            <a:ext cx="8503920" cy="1506438"/>
          </a:xfrm>
        </p:spPr>
        <p:txBody>
          <a:bodyPr>
            <a:normAutofit/>
          </a:bodyPr>
          <a:lstStyle/>
          <a:p>
            <a:pPr>
              <a:buClrTx/>
              <a:buFont typeface="Wingdings" pitchFamily="2" charset="2"/>
              <a:buChar char="Ø"/>
            </a:pPr>
            <a:r>
              <a:rPr lang="en-US" sz="2800" dirty="0" err="1"/>
              <a:t>Étude</a:t>
            </a:r>
            <a:r>
              <a:rPr lang="en-US" sz="2800" dirty="0"/>
              <a:t> des </a:t>
            </a:r>
            <a:r>
              <a:rPr lang="en-US" sz="2800" dirty="0" err="1"/>
              <a:t>groupes</a:t>
            </a:r>
            <a:r>
              <a:rPr lang="en-US" sz="2800" dirty="0"/>
              <a:t> de travail</a:t>
            </a:r>
            <a:r>
              <a:rPr lang="fr-FR" sz="2800" dirty="0"/>
              <a:t> </a:t>
            </a:r>
            <a:endParaRPr lang="en-US" sz="2800" dirty="0"/>
          </a:p>
          <a:p>
            <a:pPr>
              <a:buClrTx/>
              <a:buFont typeface="Wingdings" pitchFamily="2" charset="2"/>
              <a:buChar char="Ø"/>
            </a:pPr>
            <a:r>
              <a:rPr lang="fr-FR" sz="2800" dirty="0"/>
              <a:t>Étude des comptes d'utilisateur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Étude</a:t>
            </a:r>
            <a:r>
              <a:rPr lang="en-US" dirty="0">
                <a:solidFill>
                  <a:srgbClr val="C00000"/>
                </a:solidFill>
              </a:rPr>
              <a:t> des </a:t>
            </a:r>
            <a:r>
              <a:rPr lang="en-US" dirty="0" err="1">
                <a:solidFill>
                  <a:srgbClr val="C00000"/>
                </a:solidFill>
              </a:rPr>
              <a:t>groupes</a:t>
            </a:r>
            <a:r>
              <a:rPr lang="en-US" dirty="0">
                <a:solidFill>
                  <a:srgbClr val="C00000"/>
                </a:solidFill>
              </a:rPr>
              <a:t> de travail</a:t>
            </a:r>
          </a:p>
        </p:txBody>
      </p:sp>
      <p:grpSp>
        <p:nvGrpSpPr>
          <p:cNvPr id="157701" name="Group 5"/>
          <p:cNvGrpSpPr>
            <a:grpSpLocks/>
          </p:cNvGrpSpPr>
          <p:nvPr/>
        </p:nvGrpSpPr>
        <p:grpSpPr bwMode="auto">
          <a:xfrm>
            <a:off x="3780501" y="2431132"/>
            <a:ext cx="5243513" cy="4295775"/>
            <a:chOff x="1559" y="1326"/>
            <a:chExt cx="3303" cy="2706"/>
          </a:xfrm>
        </p:grpSpPr>
        <p:sp>
          <p:nvSpPr>
            <p:cNvPr id="157702" name="Oval 6"/>
            <p:cNvSpPr>
              <a:spLocks noChangeArrowheads="1"/>
            </p:cNvSpPr>
            <p:nvPr/>
          </p:nvSpPr>
          <p:spPr bwMode="auto">
            <a:xfrm>
              <a:off x="1811" y="1844"/>
              <a:ext cx="2911" cy="1917"/>
            </a:xfrm>
            <a:prstGeom prst="ellipse">
              <a:avLst/>
            </a:prstGeom>
            <a:solidFill>
              <a:srgbClr val="FFCC66"/>
            </a:solidFill>
            <a:ln w="38100">
              <a:solidFill>
                <a:srgbClr val="3333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>
                <a:solidFill>
                  <a:srgbClr val="333399"/>
                </a:solidFill>
              </a:endParaRPr>
            </a:p>
            <a:p>
              <a:pPr algn="ctr"/>
              <a:endParaRPr lang="en-US">
                <a:solidFill>
                  <a:srgbClr val="333399"/>
                </a:solidFill>
              </a:endParaRPr>
            </a:p>
            <a:p>
              <a:pPr algn="ctr"/>
              <a:endParaRPr lang="en-US">
                <a:solidFill>
                  <a:srgbClr val="333399"/>
                </a:solidFill>
              </a:endParaRPr>
            </a:p>
          </p:txBody>
        </p:sp>
        <p:sp>
          <p:nvSpPr>
            <p:cNvPr id="157703" name="AutoShape 7"/>
            <p:cNvSpPr>
              <a:spLocks noChangeArrowheads="1"/>
            </p:cNvSpPr>
            <p:nvPr/>
          </p:nvSpPr>
          <p:spPr bwMode="auto">
            <a:xfrm>
              <a:off x="2702" y="2206"/>
              <a:ext cx="1129" cy="909"/>
            </a:xfrm>
            <a:custGeom>
              <a:avLst/>
              <a:gdLst>
                <a:gd name="G0" fmla="+- 6480 0 0"/>
                <a:gd name="G1" fmla="+- 8640 0 0"/>
                <a:gd name="G2" fmla="+- 4320 0 0"/>
                <a:gd name="G3" fmla="+- 21600 0 6480"/>
                <a:gd name="G4" fmla="+- 21600 0 8640"/>
                <a:gd name="G5" fmla="+- 21600 0 4320"/>
                <a:gd name="G6" fmla="+- 6480 0 10800"/>
                <a:gd name="G7" fmla="+- 8640 0 10800"/>
                <a:gd name="G8" fmla="*/ G7 4320 G6"/>
                <a:gd name="G9" fmla="+- 21600 0 G8"/>
                <a:gd name="T0" fmla="*/ G8 w 21600"/>
                <a:gd name="T1" fmla="*/ G1 h 21600"/>
                <a:gd name="T2" fmla="*/ G9 w 21600"/>
                <a:gd name="T3" fmla="*/ G4 h 21600"/>
              </a:gdLst>
              <a:ahLst/>
              <a:cxnLst>
                <a:cxn ang="0">
                  <a:pos x="r" y="vc"/>
                </a:cxn>
                <a:cxn ang="5400000">
                  <a:pos x="hc" y="b"/>
                </a:cxn>
                <a:cxn ang="10800000">
                  <a:pos x="l" y="vc"/>
                </a:cxn>
                <a:cxn ang="16200000">
                  <a:pos x="hc" y="t"/>
                </a:cxn>
              </a:cxnLst>
              <a:rect l="T0" t="T1" r="T2" b="T3"/>
              <a:pathLst>
                <a:path w="21600" h="21600">
                  <a:moveTo>
                    <a:pt x="10800" y="0"/>
                  </a:moveTo>
                  <a:lnTo>
                    <a:pt x="6480" y="4320"/>
                  </a:lnTo>
                  <a:lnTo>
                    <a:pt x="8640" y="4320"/>
                  </a:lnTo>
                  <a:lnTo>
                    <a:pt x="8640" y="8640"/>
                  </a:lnTo>
                  <a:lnTo>
                    <a:pt x="4320" y="8640"/>
                  </a:lnTo>
                  <a:lnTo>
                    <a:pt x="4320" y="6480"/>
                  </a:lnTo>
                  <a:lnTo>
                    <a:pt x="0" y="10800"/>
                  </a:lnTo>
                  <a:lnTo>
                    <a:pt x="4320" y="15120"/>
                  </a:lnTo>
                  <a:lnTo>
                    <a:pt x="4320" y="12960"/>
                  </a:lnTo>
                  <a:lnTo>
                    <a:pt x="8640" y="12960"/>
                  </a:lnTo>
                  <a:lnTo>
                    <a:pt x="8640" y="17280"/>
                  </a:lnTo>
                  <a:lnTo>
                    <a:pt x="6480" y="17280"/>
                  </a:lnTo>
                  <a:lnTo>
                    <a:pt x="10800" y="21600"/>
                  </a:lnTo>
                  <a:lnTo>
                    <a:pt x="15120" y="17280"/>
                  </a:lnTo>
                  <a:lnTo>
                    <a:pt x="12960" y="17280"/>
                  </a:lnTo>
                  <a:lnTo>
                    <a:pt x="12960" y="12960"/>
                  </a:lnTo>
                  <a:lnTo>
                    <a:pt x="17280" y="12960"/>
                  </a:lnTo>
                  <a:lnTo>
                    <a:pt x="17280" y="15120"/>
                  </a:lnTo>
                  <a:lnTo>
                    <a:pt x="21600" y="10800"/>
                  </a:lnTo>
                  <a:lnTo>
                    <a:pt x="17280" y="6480"/>
                  </a:lnTo>
                  <a:lnTo>
                    <a:pt x="17280" y="8640"/>
                  </a:lnTo>
                  <a:lnTo>
                    <a:pt x="12960" y="8640"/>
                  </a:lnTo>
                  <a:lnTo>
                    <a:pt x="12960" y="4320"/>
                  </a:lnTo>
                  <a:lnTo>
                    <a:pt x="15120" y="4320"/>
                  </a:lnTo>
                  <a:close/>
                </a:path>
              </a:pathLst>
            </a:custGeom>
            <a:solidFill>
              <a:srgbClr val="FFFFCC"/>
            </a:solidFill>
            <a:ln w="28575">
              <a:solidFill>
                <a:srgbClr val="3333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157704" name="Group 8"/>
            <p:cNvGrpSpPr>
              <a:grpSpLocks/>
            </p:cNvGrpSpPr>
            <p:nvPr/>
          </p:nvGrpSpPr>
          <p:grpSpPr bwMode="auto">
            <a:xfrm>
              <a:off x="2885" y="1326"/>
              <a:ext cx="764" cy="842"/>
              <a:chOff x="2967" y="2733"/>
              <a:chExt cx="789" cy="870"/>
            </a:xfrm>
          </p:grpSpPr>
          <p:grpSp>
            <p:nvGrpSpPr>
              <p:cNvPr id="157705" name="Group 9"/>
              <p:cNvGrpSpPr>
                <a:grpSpLocks/>
              </p:cNvGrpSpPr>
              <p:nvPr/>
            </p:nvGrpSpPr>
            <p:grpSpPr bwMode="auto">
              <a:xfrm>
                <a:off x="2967" y="3191"/>
                <a:ext cx="763" cy="412"/>
                <a:chOff x="1929" y="1343"/>
                <a:chExt cx="763" cy="412"/>
              </a:xfrm>
            </p:grpSpPr>
            <p:sp>
              <p:nvSpPr>
                <p:cNvPr id="157706" name="Freeform 10"/>
                <p:cNvSpPr>
                  <a:spLocks noChangeAspect="1"/>
                </p:cNvSpPr>
                <p:nvPr/>
              </p:nvSpPr>
              <p:spPr bwMode="auto">
                <a:xfrm>
                  <a:off x="2428" y="1450"/>
                  <a:ext cx="263" cy="305"/>
                </a:xfrm>
                <a:custGeom>
                  <a:avLst/>
                  <a:gdLst/>
                  <a:ahLst/>
                  <a:cxnLst>
                    <a:cxn ang="0">
                      <a:pos x="3" y="212"/>
                    </a:cxn>
                    <a:cxn ang="0">
                      <a:pos x="364" y="0"/>
                    </a:cxn>
                    <a:cxn ang="0">
                      <a:pos x="364" y="180"/>
                    </a:cxn>
                    <a:cxn ang="0">
                      <a:pos x="0" y="422"/>
                    </a:cxn>
                  </a:cxnLst>
                  <a:rect l="0" t="0" r="r" b="b"/>
                  <a:pathLst>
                    <a:path w="364" h="422">
                      <a:moveTo>
                        <a:pt x="3" y="212"/>
                      </a:moveTo>
                      <a:lnTo>
                        <a:pt x="364" y="0"/>
                      </a:lnTo>
                      <a:lnTo>
                        <a:pt x="364" y="180"/>
                      </a:lnTo>
                      <a:lnTo>
                        <a:pt x="0" y="422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07" name="Freeform 11"/>
                <p:cNvSpPr>
                  <a:spLocks noChangeAspect="1"/>
                </p:cNvSpPr>
                <p:nvPr/>
              </p:nvSpPr>
              <p:spPr bwMode="auto">
                <a:xfrm>
                  <a:off x="1929" y="1343"/>
                  <a:ext cx="763" cy="264"/>
                </a:xfrm>
                <a:custGeom>
                  <a:avLst/>
                  <a:gdLst/>
                  <a:ahLst/>
                  <a:cxnLst>
                    <a:cxn ang="0">
                      <a:pos x="715" y="376"/>
                    </a:cxn>
                    <a:cxn ang="0">
                      <a:pos x="0" y="187"/>
                    </a:cxn>
                    <a:cxn ang="0">
                      <a:pos x="397" y="0"/>
                    </a:cxn>
                    <a:cxn ang="0">
                      <a:pos x="1090" y="152"/>
                    </a:cxn>
                    <a:cxn ang="0">
                      <a:pos x="715" y="376"/>
                    </a:cxn>
                  </a:cxnLst>
                  <a:rect l="0" t="0" r="r" b="b"/>
                  <a:pathLst>
                    <a:path w="1091" h="377">
                      <a:moveTo>
                        <a:pt x="715" y="376"/>
                      </a:moveTo>
                      <a:lnTo>
                        <a:pt x="0" y="187"/>
                      </a:lnTo>
                      <a:lnTo>
                        <a:pt x="397" y="0"/>
                      </a:lnTo>
                      <a:lnTo>
                        <a:pt x="1090" y="152"/>
                      </a:lnTo>
                      <a:lnTo>
                        <a:pt x="715" y="376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08" name="Freeform 12"/>
                <p:cNvSpPr>
                  <a:spLocks noChangeAspect="1"/>
                </p:cNvSpPr>
                <p:nvPr/>
              </p:nvSpPr>
              <p:spPr bwMode="auto">
                <a:xfrm>
                  <a:off x="1929" y="1473"/>
                  <a:ext cx="499" cy="282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0" y="192"/>
                    </a:cxn>
                    <a:cxn ang="0">
                      <a:pos x="690" y="390"/>
                    </a:cxn>
                    <a:cxn ang="0">
                      <a:pos x="690" y="185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690" h="390">
                      <a:moveTo>
                        <a:pt x="0" y="5"/>
                      </a:moveTo>
                      <a:lnTo>
                        <a:pt x="0" y="192"/>
                      </a:lnTo>
                      <a:lnTo>
                        <a:pt x="690" y="390"/>
                      </a:lnTo>
                      <a:lnTo>
                        <a:pt x="690" y="185"/>
                      </a:lnTo>
                      <a:lnTo>
                        <a:pt x="4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09" name="Freeform 13"/>
                <p:cNvSpPr>
                  <a:spLocks noChangeAspect="1"/>
                </p:cNvSpPr>
                <p:nvPr/>
              </p:nvSpPr>
              <p:spPr bwMode="auto">
                <a:xfrm>
                  <a:off x="2190" y="1573"/>
                  <a:ext cx="196" cy="13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71" y="73"/>
                    </a:cxn>
                    <a:cxn ang="0">
                      <a:pos x="271" y="189"/>
                    </a:cxn>
                    <a:cxn ang="0">
                      <a:pos x="0" y="115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271" h="189">
                      <a:moveTo>
                        <a:pt x="0" y="0"/>
                      </a:moveTo>
                      <a:lnTo>
                        <a:pt x="271" y="73"/>
                      </a:lnTo>
                      <a:lnTo>
                        <a:pt x="271" y="189"/>
                      </a:lnTo>
                      <a:lnTo>
                        <a:pt x="0" y="115"/>
                      </a:lnTo>
                      <a:lnTo>
                        <a:pt x="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41176"/>
                        <a:invGamma/>
                      </a:srgbClr>
                    </a:gs>
                  </a:gsLst>
                  <a:lin ang="2700000" scaled="1"/>
                </a:gradFill>
                <a:ln w="635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10" name="Freeform 14"/>
                <p:cNvSpPr>
                  <a:spLocks noChangeAspect="1" noChangeArrowheads="1"/>
                </p:cNvSpPr>
                <p:nvPr/>
              </p:nvSpPr>
              <p:spPr bwMode="auto">
                <a:xfrm>
                  <a:off x="2194" y="1624"/>
                  <a:ext cx="189" cy="4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61" y="69"/>
                    </a:cxn>
                  </a:cxnLst>
                  <a:rect l="0" t="0" r="r" b="b"/>
                  <a:pathLst>
                    <a:path w="261" h="69">
                      <a:moveTo>
                        <a:pt x="0" y="0"/>
                      </a:moveTo>
                      <a:lnTo>
                        <a:pt x="261" y="69"/>
                      </a:lnTo>
                    </a:path>
                  </a:pathLst>
                </a:custGeom>
                <a:noFill/>
                <a:ln w="3175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57711" name="Freeform 15"/>
                <p:cNvSpPr>
                  <a:spLocks/>
                </p:cNvSpPr>
                <p:nvPr/>
              </p:nvSpPr>
              <p:spPr bwMode="auto">
                <a:xfrm>
                  <a:off x="2190" y="1572"/>
                  <a:ext cx="195" cy="84"/>
                </a:xfrm>
                <a:custGeom>
                  <a:avLst/>
                  <a:gdLst/>
                  <a:ahLst/>
                  <a:cxnLst>
                    <a:cxn ang="0">
                      <a:pos x="0" y="84"/>
                    </a:cxn>
                    <a:cxn ang="0">
                      <a:pos x="0" y="0"/>
                    </a:cxn>
                    <a:cxn ang="0">
                      <a:pos x="195" y="54"/>
                    </a:cxn>
                  </a:cxnLst>
                  <a:rect l="0" t="0" r="r" b="b"/>
                  <a:pathLst>
                    <a:path w="195" h="84">
                      <a:moveTo>
                        <a:pt x="0" y="84"/>
                      </a:moveTo>
                      <a:lnTo>
                        <a:pt x="0" y="0"/>
                      </a:lnTo>
                      <a:lnTo>
                        <a:pt x="195" y="54"/>
                      </a:lnTo>
                    </a:path>
                  </a:pathLst>
                </a:custGeom>
                <a:noFill/>
                <a:ln w="6350" cap="flat" cmpd="sng">
                  <a:solidFill>
                    <a:srgbClr val="777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12" name="Line 16"/>
                <p:cNvSpPr>
                  <a:spLocks noChangeShapeType="1"/>
                </p:cNvSpPr>
                <p:nvPr/>
              </p:nvSpPr>
              <p:spPr bwMode="auto">
                <a:xfrm>
                  <a:off x="2207" y="1600"/>
                  <a:ext cx="153" cy="38"/>
                </a:xfrm>
                <a:prstGeom prst="line">
                  <a:avLst/>
                </a:prstGeom>
                <a:noFill/>
                <a:ln w="3175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13" name="Line 17"/>
                <p:cNvSpPr>
                  <a:spLocks noChangeShapeType="1"/>
                </p:cNvSpPr>
                <p:nvPr/>
              </p:nvSpPr>
              <p:spPr bwMode="auto">
                <a:xfrm>
                  <a:off x="2337" y="1678"/>
                  <a:ext cx="29" cy="6"/>
                </a:xfrm>
                <a:prstGeom prst="line">
                  <a:avLst/>
                </a:prstGeom>
                <a:noFill/>
                <a:ln w="19050">
                  <a:solidFill>
                    <a:srgbClr val="D60093"/>
                  </a:solidFill>
                  <a:round/>
                  <a:headEnd/>
                  <a:tailEnd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14" name="Freeform 18"/>
                <p:cNvSpPr>
                  <a:spLocks/>
                </p:cNvSpPr>
                <p:nvPr/>
              </p:nvSpPr>
              <p:spPr bwMode="auto">
                <a:xfrm>
                  <a:off x="2255" y="1610"/>
                  <a:ext cx="47" cy="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18"/>
                    </a:cxn>
                    <a:cxn ang="0">
                      <a:pos x="64" y="35"/>
                    </a:cxn>
                    <a:cxn ang="0">
                      <a:pos x="64" y="19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1" y="18"/>
                      </a:lnTo>
                      <a:lnTo>
                        <a:pt x="64" y="35"/>
                      </a:lnTo>
                      <a:lnTo>
                        <a:pt x="64" y="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77777"/>
                </a:solidFill>
                <a:ln w="190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15" name="Line 19"/>
                <p:cNvSpPr>
                  <a:spLocks noChangeShapeType="1"/>
                </p:cNvSpPr>
                <p:nvPr/>
              </p:nvSpPr>
              <p:spPr bwMode="auto">
                <a:xfrm>
                  <a:off x="1942" y="1503"/>
                  <a:ext cx="202" cy="57"/>
                </a:xfrm>
                <a:prstGeom prst="line">
                  <a:avLst/>
                </a:prstGeom>
                <a:noFill/>
                <a:ln w="6350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16" name="Line 20"/>
                <p:cNvSpPr>
                  <a:spLocks noChangeShapeType="1"/>
                </p:cNvSpPr>
                <p:nvPr/>
              </p:nvSpPr>
              <p:spPr bwMode="auto">
                <a:xfrm>
                  <a:off x="1942" y="1525"/>
                  <a:ext cx="202" cy="56"/>
                </a:xfrm>
                <a:prstGeom prst="line">
                  <a:avLst/>
                </a:prstGeom>
                <a:noFill/>
                <a:ln w="6350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17" name="Line 21"/>
                <p:cNvSpPr>
                  <a:spLocks noChangeShapeType="1"/>
                </p:cNvSpPr>
                <p:nvPr/>
              </p:nvSpPr>
              <p:spPr bwMode="auto">
                <a:xfrm>
                  <a:off x="1942" y="1548"/>
                  <a:ext cx="202" cy="57"/>
                </a:xfrm>
                <a:prstGeom prst="line">
                  <a:avLst/>
                </a:prstGeom>
                <a:noFill/>
                <a:ln w="6350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18" name="Line 22"/>
                <p:cNvSpPr>
                  <a:spLocks noChangeShapeType="1"/>
                </p:cNvSpPr>
                <p:nvPr/>
              </p:nvSpPr>
              <p:spPr bwMode="auto">
                <a:xfrm>
                  <a:off x="1942" y="1570"/>
                  <a:ext cx="202" cy="56"/>
                </a:xfrm>
                <a:prstGeom prst="line">
                  <a:avLst/>
                </a:prstGeom>
                <a:noFill/>
                <a:ln w="6350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19" name="Freeform 23"/>
                <p:cNvSpPr>
                  <a:spLocks/>
                </p:cNvSpPr>
                <p:nvPr/>
              </p:nvSpPr>
              <p:spPr bwMode="auto">
                <a:xfrm>
                  <a:off x="2192" y="1632"/>
                  <a:ext cx="198" cy="84"/>
                </a:xfrm>
                <a:custGeom>
                  <a:avLst/>
                  <a:gdLst/>
                  <a:ahLst/>
                  <a:cxnLst>
                    <a:cxn ang="0">
                      <a:pos x="0" y="40"/>
                    </a:cxn>
                    <a:cxn ang="0">
                      <a:pos x="275" y="117"/>
                    </a:cxn>
                    <a:cxn ang="0">
                      <a:pos x="275" y="0"/>
                    </a:cxn>
                  </a:cxnLst>
                  <a:rect l="0" t="0" r="r" b="b"/>
                  <a:pathLst>
                    <a:path w="275" h="117">
                      <a:moveTo>
                        <a:pt x="0" y="40"/>
                      </a:moveTo>
                      <a:lnTo>
                        <a:pt x="275" y="117"/>
                      </a:lnTo>
                      <a:lnTo>
                        <a:pt x="275" y="0"/>
                      </a:lnTo>
                    </a:path>
                  </a:pathLst>
                </a:custGeom>
                <a:no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157720" name="Group 24"/>
              <p:cNvGrpSpPr>
                <a:grpSpLocks/>
              </p:cNvGrpSpPr>
              <p:nvPr/>
            </p:nvGrpSpPr>
            <p:grpSpPr bwMode="auto">
              <a:xfrm>
                <a:off x="3042" y="2733"/>
                <a:ext cx="714" cy="672"/>
                <a:chOff x="2004" y="885"/>
                <a:chExt cx="714" cy="672"/>
              </a:xfrm>
            </p:grpSpPr>
            <p:sp>
              <p:nvSpPr>
                <p:cNvPr id="157721" name="Freeform 25"/>
                <p:cNvSpPr>
                  <a:spLocks/>
                </p:cNvSpPr>
                <p:nvPr/>
              </p:nvSpPr>
              <p:spPr bwMode="auto">
                <a:xfrm>
                  <a:off x="2058" y="1322"/>
                  <a:ext cx="556" cy="235"/>
                </a:xfrm>
                <a:custGeom>
                  <a:avLst/>
                  <a:gdLst/>
                  <a:ahLst/>
                  <a:cxnLst>
                    <a:cxn ang="0">
                      <a:pos x="0" y="128"/>
                    </a:cxn>
                    <a:cxn ang="0">
                      <a:pos x="238" y="0"/>
                    </a:cxn>
                    <a:cxn ang="0">
                      <a:pos x="556" y="91"/>
                    </a:cxn>
                    <a:cxn ang="0">
                      <a:pos x="556" y="108"/>
                    </a:cxn>
                    <a:cxn ang="0">
                      <a:pos x="334" y="235"/>
                    </a:cxn>
                    <a:cxn ang="0">
                      <a:pos x="0" y="148"/>
                    </a:cxn>
                    <a:cxn ang="0">
                      <a:pos x="0" y="128"/>
                    </a:cxn>
                  </a:cxnLst>
                  <a:rect l="0" t="0" r="r" b="b"/>
                  <a:pathLst>
                    <a:path w="556" h="235">
                      <a:moveTo>
                        <a:pt x="0" y="128"/>
                      </a:moveTo>
                      <a:lnTo>
                        <a:pt x="238" y="0"/>
                      </a:lnTo>
                      <a:lnTo>
                        <a:pt x="556" y="91"/>
                      </a:lnTo>
                      <a:lnTo>
                        <a:pt x="556" y="108"/>
                      </a:lnTo>
                      <a:lnTo>
                        <a:pt x="334" y="235"/>
                      </a:lnTo>
                      <a:lnTo>
                        <a:pt x="0" y="148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DDDDDD"/>
                </a:solidFill>
                <a:ln w="3175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22" name="Freeform 26"/>
                <p:cNvSpPr>
                  <a:spLocks/>
                </p:cNvSpPr>
                <p:nvPr/>
              </p:nvSpPr>
              <p:spPr bwMode="auto">
                <a:xfrm>
                  <a:off x="2065" y="1327"/>
                  <a:ext cx="538" cy="208"/>
                </a:xfrm>
                <a:custGeom>
                  <a:avLst/>
                  <a:gdLst/>
                  <a:ahLst/>
                  <a:cxnLst>
                    <a:cxn ang="0">
                      <a:pos x="0" y="124"/>
                    </a:cxn>
                    <a:cxn ang="0">
                      <a:pos x="327" y="208"/>
                    </a:cxn>
                    <a:cxn ang="0">
                      <a:pos x="538" y="86"/>
                    </a:cxn>
                    <a:cxn ang="0">
                      <a:pos x="233" y="0"/>
                    </a:cxn>
                    <a:cxn ang="0">
                      <a:pos x="0" y="124"/>
                    </a:cxn>
                  </a:cxnLst>
                  <a:rect l="0" t="0" r="r" b="b"/>
                  <a:pathLst>
                    <a:path w="538" h="208">
                      <a:moveTo>
                        <a:pt x="0" y="124"/>
                      </a:moveTo>
                      <a:lnTo>
                        <a:pt x="327" y="208"/>
                      </a:lnTo>
                      <a:lnTo>
                        <a:pt x="538" y="86"/>
                      </a:lnTo>
                      <a:lnTo>
                        <a:pt x="233" y="0"/>
                      </a:lnTo>
                      <a:lnTo>
                        <a:pt x="0" y="124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635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23" name="Oval 27"/>
                <p:cNvSpPr>
                  <a:spLocks noChangeArrowheads="1"/>
                </p:cNvSpPr>
                <p:nvPr/>
              </p:nvSpPr>
              <p:spPr bwMode="auto">
                <a:xfrm>
                  <a:off x="2199" y="1378"/>
                  <a:ext cx="280" cy="112"/>
                </a:xfrm>
                <a:prstGeom prst="ellipse">
                  <a:avLst/>
                </a:prstGeom>
                <a:solidFill>
                  <a:srgbClr val="B2B2B2"/>
                </a:solidFill>
                <a:ln w="317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24" name="Freeform 28"/>
                <p:cNvSpPr>
                  <a:spLocks/>
                </p:cNvSpPr>
                <p:nvPr/>
              </p:nvSpPr>
              <p:spPr bwMode="auto">
                <a:xfrm>
                  <a:off x="2046" y="1382"/>
                  <a:ext cx="452" cy="12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0" y="36"/>
                    </a:cxn>
                    <a:cxn ang="0">
                      <a:pos x="574" y="180"/>
                    </a:cxn>
                    <a:cxn ang="0">
                      <a:pos x="646" y="158"/>
                    </a:cxn>
                  </a:cxnLst>
                  <a:rect l="0" t="0" r="r" b="b"/>
                  <a:pathLst>
                    <a:path w="646" h="180">
                      <a:moveTo>
                        <a:pt x="0" y="0"/>
                      </a:moveTo>
                      <a:lnTo>
                        <a:pt x="20" y="36"/>
                      </a:lnTo>
                      <a:lnTo>
                        <a:pt x="574" y="180"/>
                      </a:lnTo>
                      <a:lnTo>
                        <a:pt x="646" y="158"/>
                      </a:lnTo>
                    </a:path>
                  </a:pathLst>
                </a:custGeom>
                <a:solidFill>
                  <a:srgbClr val="B2B2B2"/>
                </a:soli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25" name="Freeform 29"/>
                <p:cNvSpPr>
                  <a:spLocks noChangeAspect="1"/>
                </p:cNvSpPr>
                <p:nvPr/>
              </p:nvSpPr>
              <p:spPr bwMode="auto">
                <a:xfrm>
                  <a:off x="2154" y="885"/>
                  <a:ext cx="564" cy="520"/>
                </a:xfrm>
                <a:custGeom>
                  <a:avLst/>
                  <a:gdLst/>
                  <a:ahLst/>
                  <a:cxnLst>
                    <a:cxn ang="0">
                      <a:pos x="620" y="746"/>
                    </a:cxn>
                    <a:cxn ang="0">
                      <a:pos x="808" y="525"/>
                    </a:cxn>
                    <a:cxn ang="0">
                      <a:pos x="808" y="106"/>
                    </a:cxn>
                    <a:cxn ang="0">
                      <a:pos x="336" y="0"/>
                    </a:cxn>
                    <a:cxn ang="0">
                      <a:pos x="0" y="48"/>
                    </a:cxn>
                  </a:cxnLst>
                  <a:rect l="0" t="0" r="r" b="b"/>
                  <a:pathLst>
                    <a:path w="808" h="746">
                      <a:moveTo>
                        <a:pt x="620" y="746"/>
                      </a:moveTo>
                      <a:lnTo>
                        <a:pt x="808" y="525"/>
                      </a:lnTo>
                      <a:lnTo>
                        <a:pt x="808" y="106"/>
                      </a:lnTo>
                      <a:lnTo>
                        <a:pt x="336" y="0"/>
                      </a:lnTo>
                      <a:lnTo>
                        <a:pt x="0" y="48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26" name="Freeform 30"/>
                <p:cNvSpPr>
                  <a:spLocks noChangeAspect="1"/>
                </p:cNvSpPr>
                <p:nvPr/>
              </p:nvSpPr>
              <p:spPr bwMode="auto">
                <a:xfrm>
                  <a:off x="2506" y="1000"/>
                  <a:ext cx="113" cy="506"/>
                </a:xfrm>
                <a:custGeom>
                  <a:avLst/>
                  <a:gdLst/>
                  <a:ahLst/>
                  <a:cxnLst>
                    <a:cxn ang="0">
                      <a:pos x="0" y="644"/>
                    </a:cxn>
                    <a:cxn ang="0">
                      <a:pos x="0" y="79"/>
                    </a:cxn>
                    <a:cxn ang="0">
                      <a:pos x="144" y="0"/>
                    </a:cxn>
                    <a:cxn ang="0">
                      <a:pos x="144" y="554"/>
                    </a:cxn>
                    <a:cxn ang="0">
                      <a:pos x="0" y="644"/>
                    </a:cxn>
                  </a:cxnLst>
                  <a:rect l="0" t="0" r="r" b="b"/>
                  <a:pathLst>
                    <a:path w="144" h="644">
                      <a:moveTo>
                        <a:pt x="0" y="644"/>
                      </a:moveTo>
                      <a:lnTo>
                        <a:pt x="0" y="79"/>
                      </a:lnTo>
                      <a:lnTo>
                        <a:pt x="144" y="0"/>
                      </a:lnTo>
                      <a:lnTo>
                        <a:pt x="144" y="554"/>
                      </a:lnTo>
                      <a:lnTo>
                        <a:pt x="0" y="644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27" name="Freeform 31"/>
                <p:cNvSpPr>
                  <a:spLocks noChangeAspect="1"/>
                </p:cNvSpPr>
                <p:nvPr/>
              </p:nvSpPr>
              <p:spPr bwMode="auto">
                <a:xfrm>
                  <a:off x="2004" y="891"/>
                  <a:ext cx="615" cy="172"/>
                </a:xfrm>
                <a:custGeom>
                  <a:avLst/>
                  <a:gdLst/>
                  <a:ahLst/>
                  <a:cxnLst>
                    <a:cxn ang="0">
                      <a:pos x="638" y="219"/>
                    </a:cxn>
                    <a:cxn ang="0">
                      <a:pos x="0" y="67"/>
                    </a:cxn>
                    <a:cxn ang="0">
                      <a:pos x="160" y="0"/>
                    </a:cxn>
                    <a:cxn ang="0">
                      <a:pos x="782" y="139"/>
                    </a:cxn>
                    <a:cxn ang="0">
                      <a:pos x="638" y="219"/>
                    </a:cxn>
                  </a:cxnLst>
                  <a:rect l="0" t="0" r="r" b="b"/>
                  <a:pathLst>
                    <a:path w="782" h="219">
                      <a:moveTo>
                        <a:pt x="638" y="219"/>
                      </a:moveTo>
                      <a:lnTo>
                        <a:pt x="0" y="67"/>
                      </a:lnTo>
                      <a:lnTo>
                        <a:pt x="160" y="0"/>
                      </a:lnTo>
                      <a:lnTo>
                        <a:pt x="782" y="139"/>
                      </a:lnTo>
                      <a:lnTo>
                        <a:pt x="638" y="219"/>
                      </a:lnTo>
                    </a:path>
                  </a:pathLst>
                </a:custGeom>
                <a:solidFill>
                  <a:schemeClr val="bg1"/>
                </a:soli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28" name="Freeform 32"/>
                <p:cNvSpPr>
                  <a:spLocks noChangeAspect="1"/>
                </p:cNvSpPr>
                <p:nvPr/>
              </p:nvSpPr>
              <p:spPr bwMode="auto">
                <a:xfrm>
                  <a:off x="2004" y="942"/>
                  <a:ext cx="502" cy="566"/>
                </a:xfrm>
                <a:custGeom>
                  <a:avLst/>
                  <a:gdLst/>
                  <a:ahLst/>
                  <a:cxnLst>
                    <a:cxn ang="0">
                      <a:pos x="671" y="753"/>
                    </a:cxn>
                    <a:cxn ang="0">
                      <a:pos x="671" y="160"/>
                    </a:cxn>
                    <a:cxn ang="0">
                      <a:pos x="0" y="0"/>
                    </a:cxn>
                    <a:cxn ang="0">
                      <a:pos x="0" y="578"/>
                    </a:cxn>
                    <a:cxn ang="0">
                      <a:pos x="671" y="753"/>
                    </a:cxn>
                  </a:cxnLst>
                  <a:rect l="0" t="0" r="r" b="b"/>
                  <a:pathLst>
                    <a:path w="672" h="754">
                      <a:moveTo>
                        <a:pt x="671" y="753"/>
                      </a:moveTo>
                      <a:lnTo>
                        <a:pt x="671" y="160"/>
                      </a:lnTo>
                      <a:lnTo>
                        <a:pt x="0" y="0"/>
                      </a:lnTo>
                      <a:lnTo>
                        <a:pt x="0" y="578"/>
                      </a:lnTo>
                      <a:lnTo>
                        <a:pt x="671" y="753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29" name="Freeform 33"/>
                <p:cNvSpPr>
                  <a:spLocks noChangeAspect="1"/>
                </p:cNvSpPr>
                <p:nvPr/>
              </p:nvSpPr>
              <p:spPr bwMode="auto">
                <a:xfrm>
                  <a:off x="2043" y="992"/>
                  <a:ext cx="425" cy="464"/>
                </a:xfrm>
                <a:custGeom>
                  <a:avLst/>
                  <a:gdLst/>
                  <a:ahLst/>
                  <a:cxnLst>
                    <a:cxn ang="0">
                      <a:pos x="490" y="548"/>
                    </a:cxn>
                    <a:cxn ang="0">
                      <a:pos x="490" y="117"/>
                    </a:cxn>
                    <a:cxn ang="0">
                      <a:pos x="0" y="0"/>
                    </a:cxn>
                    <a:cxn ang="0">
                      <a:pos x="0" y="424"/>
                    </a:cxn>
                    <a:cxn ang="0">
                      <a:pos x="490" y="548"/>
                    </a:cxn>
                  </a:cxnLst>
                  <a:rect l="0" t="0" r="r" b="b"/>
                  <a:pathLst>
                    <a:path w="491" h="549">
                      <a:moveTo>
                        <a:pt x="490" y="548"/>
                      </a:moveTo>
                      <a:lnTo>
                        <a:pt x="490" y="117"/>
                      </a:lnTo>
                      <a:lnTo>
                        <a:pt x="0" y="0"/>
                      </a:lnTo>
                      <a:lnTo>
                        <a:pt x="0" y="424"/>
                      </a:lnTo>
                      <a:lnTo>
                        <a:pt x="490" y="548"/>
                      </a:lnTo>
                    </a:path>
                  </a:pathLst>
                </a:custGeom>
                <a:solidFill>
                  <a:srgbClr val="CECECE"/>
                </a:solidFill>
                <a:ln w="6350" cap="rnd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30" name="Freeform 34"/>
                <p:cNvSpPr>
                  <a:spLocks/>
                </p:cNvSpPr>
                <p:nvPr/>
              </p:nvSpPr>
              <p:spPr bwMode="auto">
                <a:xfrm>
                  <a:off x="2069" y="1023"/>
                  <a:ext cx="372" cy="40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454"/>
                    </a:cxn>
                    <a:cxn ang="0">
                      <a:pos x="542" y="592"/>
                    </a:cxn>
                    <a:cxn ang="0">
                      <a:pos x="542" y="13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42" h="592">
                      <a:moveTo>
                        <a:pt x="0" y="0"/>
                      </a:moveTo>
                      <a:lnTo>
                        <a:pt x="0" y="454"/>
                      </a:lnTo>
                      <a:lnTo>
                        <a:pt x="542" y="592"/>
                      </a:lnTo>
                      <a:lnTo>
                        <a:pt x="542" y="1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18FFD"/>
                    </a:gs>
                    <a:gs pos="100000">
                      <a:srgbClr val="618FFD">
                        <a:gamma/>
                        <a:shade val="75294"/>
                        <a:invGamma/>
                      </a:srgbClr>
                    </a:gs>
                  </a:gsLst>
                  <a:path path="rect">
                    <a:fillToRect r="100000" b="100000"/>
                  </a:path>
                </a:gradFill>
                <a:ln w="6350" cap="flat" cmpd="sng">
                  <a:solidFill>
                    <a:srgbClr val="777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7961" dir="2700000" algn="ctr" rotWithShape="0">
                    <a:schemeClr val="bg1"/>
                  </a:outerShdw>
                </a:effec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57731" name="Line 35"/>
                <p:cNvSpPr>
                  <a:spLocks noChangeShapeType="1"/>
                </p:cNvSpPr>
                <p:nvPr/>
              </p:nvSpPr>
              <p:spPr bwMode="auto">
                <a:xfrm>
                  <a:off x="2102" y="1056"/>
                  <a:ext cx="0" cy="61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</p:grpSp>
        <p:grpSp>
          <p:nvGrpSpPr>
            <p:cNvPr id="157732" name="Group 36"/>
            <p:cNvGrpSpPr>
              <a:grpSpLocks/>
            </p:cNvGrpSpPr>
            <p:nvPr/>
          </p:nvGrpSpPr>
          <p:grpSpPr bwMode="auto">
            <a:xfrm>
              <a:off x="1559" y="2257"/>
              <a:ext cx="764" cy="842"/>
              <a:chOff x="2967" y="2733"/>
              <a:chExt cx="789" cy="870"/>
            </a:xfrm>
          </p:grpSpPr>
          <p:grpSp>
            <p:nvGrpSpPr>
              <p:cNvPr id="157733" name="Group 37"/>
              <p:cNvGrpSpPr>
                <a:grpSpLocks/>
              </p:cNvGrpSpPr>
              <p:nvPr/>
            </p:nvGrpSpPr>
            <p:grpSpPr bwMode="auto">
              <a:xfrm>
                <a:off x="2967" y="3191"/>
                <a:ext cx="763" cy="412"/>
                <a:chOff x="1929" y="1343"/>
                <a:chExt cx="763" cy="412"/>
              </a:xfrm>
            </p:grpSpPr>
            <p:sp>
              <p:nvSpPr>
                <p:cNvPr id="157734" name="Freeform 38"/>
                <p:cNvSpPr>
                  <a:spLocks noChangeAspect="1"/>
                </p:cNvSpPr>
                <p:nvPr/>
              </p:nvSpPr>
              <p:spPr bwMode="auto">
                <a:xfrm>
                  <a:off x="2428" y="1450"/>
                  <a:ext cx="263" cy="305"/>
                </a:xfrm>
                <a:custGeom>
                  <a:avLst/>
                  <a:gdLst/>
                  <a:ahLst/>
                  <a:cxnLst>
                    <a:cxn ang="0">
                      <a:pos x="3" y="212"/>
                    </a:cxn>
                    <a:cxn ang="0">
                      <a:pos x="364" y="0"/>
                    </a:cxn>
                    <a:cxn ang="0">
                      <a:pos x="364" y="180"/>
                    </a:cxn>
                    <a:cxn ang="0">
                      <a:pos x="0" y="422"/>
                    </a:cxn>
                  </a:cxnLst>
                  <a:rect l="0" t="0" r="r" b="b"/>
                  <a:pathLst>
                    <a:path w="364" h="422">
                      <a:moveTo>
                        <a:pt x="3" y="212"/>
                      </a:moveTo>
                      <a:lnTo>
                        <a:pt x="364" y="0"/>
                      </a:lnTo>
                      <a:lnTo>
                        <a:pt x="364" y="180"/>
                      </a:lnTo>
                      <a:lnTo>
                        <a:pt x="0" y="422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35" name="Freeform 39"/>
                <p:cNvSpPr>
                  <a:spLocks noChangeAspect="1"/>
                </p:cNvSpPr>
                <p:nvPr/>
              </p:nvSpPr>
              <p:spPr bwMode="auto">
                <a:xfrm>
                  <a:off x="1929" y="1343"/>
                  <a:ext cx="763" cy="264"/>
                </a:xfrm>
                <a:custGeom>
                  <a:avLst/>
                  <a:gdLst/>
                  <a:ahLst/>
                  <a:cxnLst>
                    <a:cxn ang="0">
                      <a:pos x="715" y="376"/>
                    </a:cxn>
                    <a:cxn ang="0">
                      <a:pos x="0" y="187"/>
                    </a:cxn>
                    <a:cxn ang="0">
                      <a:pos x="397" y="0"/>
                    </a:cxn>
                    <a:cxn ang="0">
                      <a:pos x="1090" y="152"/>
                    </a:cxn>
                    <a:cxn ang="0">
                      <a:pos x="715" y="376"/>
                    </a:cxn>
                  </a:cxnLst>
                  <a:rect l="0" t="0" r="r" b="b"/>
                  <a:pathLst>
                    <a:path w="1091" h="377">
                      <a:moveTo>
                        <a:pt x="715" y="376"/>
                      </a:moveTo>
                      <a:lnTo>
                        <a:pt x="0" y="187"/>
                      </a:lnTo>
                      <a:lnTo>
                        <a:pt x="397" y="0"/>
                      </a:lnTo>
                      <a:lnTo>
                        <a:pt x="1090" y="152"/>
                      </a:lnTo>
                      <a:lnTo>
                        <a:pt x="715" y="376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36" name="Freeform 40"/>
                <p:cNvSpPr>
                  <a:spLocks noChangeAspect="1"/>
                </p:cNvSpPr>
                <p:nvPr/>
              </p:nvSpPr>
              <p:spPr bwMode="auto">
                <a:xfrm>
                  <a:off x="1929" y="1473"/>
                  <a:ext cx="499" cy="282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0" y="192"/>
                    </a:cxn>
                    <a:cxn ang="0">
                      <a:pos x="690" y="390"/>
                    </a:cxn>
                    <a:cxn ang="0">
                      <a:pos x="690" y="185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690" h="390">
                      <a:moveTo>
                        <a:pt x="0" y="5"/>
                      </a:moveTo>
                      <a:lnTo>
                        <a:pt x="0" y="192"/>
                      </a:lnTo>
                      <a:lnTo>
                        <a:pt x="690" y="390"/>
                      </a:lnTo>
                      <a:lnTo>
                        <a:pt x="690" y="185"/>
                      </a:lnTo>
                      <a:lnTo>
                        <a:pt x="4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37" name="Freeform 41"/>
                <p:cNvSpPr>
                  <a:spLocks noChangeAspect="1"/>
                </p:cNvSpPr>
                <p:nvPr/>
              </p:nvSpPr>
              <p:spPr bwMode="auto">
                <a:xfrm>
                  <a:off x="2190" y="1573"/>
                  <a:ext cx="196" cy="13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71" y="73"/>
                    </a:cxn>
                    <a:cxn ang="0">
                      <a:pos x="271" y="189"/>
                    </a:cxn>
                    <a:cxn ang="0">
                      <a:pos x="0" y="115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271" h="189">
                      <a:moveTo>
                        <a:pt x="0" y="0"/>
                      </a:moveTo>
                      <a:lnTo>
                        <a:pt x="271" y="73"/>
                      </a:lnTo>
                      <a:lnTo>
                        <a:pt x="271" y="189"/>
                      </a:lnTo>
                      <a:lnTo>
                        <a:pt x="0" y="115"/>
                      </a:lnTo>
                      <a:lnTo>
                        <a:pt x="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41176"/>
                        <a:invGamma/>
                      </a:srgbClr>
                    </a:gs>
                  </a:gsLst>
                  <a:lin ang="2700000" scaled="1"/>
                </a:gradFill>
                <a:ln w="635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38" name="Freeform 42"/>
                <p:cNvSpPr>
                  <a:spLocks noChangeAspect="1" noChangeArrowheads="1"/>
                </p:cNvSpPr>
                <p:nvPr/>
              </p:nvSpPr>
              <p:spPr bwMode="auto">
                <a:xfrm>
                  <a:off x="2194" y="1624"/>
                  <a:ext cx="189" cy="4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61" y="69"/>
                    </a:cxn>
                  </a:cxnLst>
                  <a:rect l="0" t="0" r="r" b="b"/>
                  <a:pathLst>
                    <a:path w="261" h="69">
                      <a:moveTo>
                        <a:pt x="0" y="0"/>
                      </a:moveTo>
                      <a:lnTo>
                        <a:pt x="261" y="69"/>
                      </a:lnTo>
                    </a:path>
                  </a:pathLst>
                </a:custGeom>
                <a:noFill/>
                <a:ln w="3175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57739" name="Freeform 43"/>
                <p:cNvSpPr>
                  <a:spLocks/>
                </p:cNvSpPr>
                <p:nvPr/>
              </p:nvSpPr>
              <p:spPr bwMode="auto">
                <a:xfrm>
                  <a:off x="2190" y="1572"/>
                  <a:ext cx="195" cy="84"/>
                </a:xfrm>
                <a:custGeom>
                  <a:avLst/>
                  <a:gdLst/>
                  <a:ahLst/>
                  <a:cxnLst>
                    <a:cxn ang="0">
                      <a:pos x="0" y="84"/>
                    </a:cxn>
                    <a:cxn ang="0">
                      <a:pos x="0" y="0"/>
                    </a:cxn>
                    <a:cxn ang="0">
                      <a:pos x="195" y="54"/>
                    </a:cxn>
                  </a:cxnLst>
                  <a:rect l="0" t="0" r="r" b="b"/>
                  <a:pathLst>
                    <a:path w="195" h="84">
                      <a:moveTo>
                        <a:pt x="0" y="84"/>
                      </a:moveTo>
                      <a:lnTo>
                        <a:pt x="0" y="0"/>
                      </a:lnTo>
                      <a:lnTo>
                        <a:pt x="195" y="54"/>
                      </a:lnTo>
                    </a:path>
                  </a:pathLst>
                </a:custGeom>
                <a:noFill/>
                <a:ln w="6350" cap="flat" cmpd="sng">
                  <a:solidFill>
                    <a:srgbClr val="777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40" name="Line 44"/>
                <p:cNvSpPr>
                  <a:spLocks noChangeShapeType="1"/>
                </p:cNvSpPr>
                <p:nvPr/>
              </p:nvSpPr>
              <p:spPr bwMode="auto">
                <a:xfrm>
                  <a:off x="2207" y="1600"/>
                  <a:ext cx="153" cy="38"/>
                </a:xfrm>
                <a:prstGeom prst="line">
                  <a:avLst/>
                </a:prstGeom>
                <a:noFill/>
                <a:ln w="3175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41" name="Line 45"/>
                <p:cNvSpPr>
                  <a:spLocks noChangeShapeType="1"/>
                </p:cNvSpPr>
                <p:nvPr/>
              </p:nvSpPr>
              <p:spPr bwMode="auto">
                <a:xfrm>
                  <a:off x="2337" y="1678"/>
                  <a:ext cx="29" cy="6"/>
                </a:xfrm>
                <a:prstGeom prst="line">
                  <a:avLst/>
                </a:prstGeom>
                <a:noFill/>
                <a:ln w="19050">
                  <a:solidFill>
                    <a:srgbClr val="D60093"/>
                  </a:solidFill>
                  <a:round/>
                  <a:headEnd/>
                  <a:tailEnd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42" name="Freeform 46"/>
                <p:cNvSpPr>
                  <a:spLocks/>
                </p:cNvSpPr>
                <p:nvPr/>
              </p:nvSpPr>
              <p:spPr bwMode="auto">
                <a:xfrm>
                  <a:off x="2255" y="1610"/>
                  <a:ext cx="47" cy="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18"/>
                    </a:cxn>
                    <a:cxn ang="0">
                      <a:pos x="64" y="35"/>
                    </a:cxn>
                    <a:cxn ang="0">
                      <a:pos x="64" y="19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1" y="18"/>
                      </a:lnTo>
                      <a:lnTo>
                        <a:pt x="64" y="35"/>
                      </a:lnTo>
                      <a:lnTo>
                        <a:pt x="64" y="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77777"/>
                </a:solidFill>
                <a:ln w="190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43" name="Line 47"/>
                <p:cNvSpPr>
                  <a:spLocks noChangeShapeType="1"/>
                </p:cNvSpPr>
                <p:nvPr/>
              </p:nvSpPr>
              <p:spPr bwMode="auto">
                <a:xfrm>
                  <a:off x="1942" y="1503"/>
                  <a:ext cx="202" cy="57"/>
                </a:xfrm>
                <a:prstGeom prst="line">
                  <a:avLst/>
                </a:prstGeom>
                <a:noFill/>
                <a:ln w="6350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44" name="Line 48"/>
                <p:cNvSpPr>
                  <a:spLocks noChangeShapeType="1"/>
                </p:cNvSpPr>
                <p:nvPr/>
              </p:nvSpPr>
              <p:spPr bwMode="auto">
                <a:xfrm>
                  <a:off x="1942" y="1525"/>
                  <a:ext cx="202" cy="56"/>
                </a:xfrm>
                <a:prstGeom prst="line">
                  <a:avLst/>
                </a:prstGeom>
                <a:noFill/>
                <a:ln w="6350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45" name="Line 49"/>
                <p:cNvSpPr>
                  <a:spLocks noChangeShapeType="1"/>
                </p:cNvSpPr>
                <p:nvPr/>
              </p:nvSpPr>
              <p:spPr bwMode="auto">
                <a:xfrm>
                  <a:off x="1942" y="1548"/>
                  <a:ext cx="202" cy="57"/>
                </a:xfrm>
                <a:prstGeom prst="line">
                  <a:avLst/>
                </a:prstGeom>
                <a:noFill/>
                <a:ln w="6350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46" name="Line 50"/>
                <p:cNvSpPr>
                  <a:spLocks noChangeShapeType="1"/>
                </p:cNvSpPr>
                <p:nvPr/>
              </p:nvSpPr>
              <p:spPr bwMode="auto">
                <a:xfrm>
                  <a:off x="1942" y="1570"/>
                  <a:ext cx="202" cy="56"/>
                </a:xfrm>
                <a:prstGeom prst="line">
                  <a:avLst/>
                </a:prstGeom>
                <a:noFill/>
                <a:ln w="6350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47" name="Freeform 51"/>
                <p:cNvSpPr>
                  <a:spLocks/>
                </p:cNvSpPr>
                <p:nvPr/>
              </p:nvSpPr>
              <p:spPr bwMode="auto">
                <a:xfrm>
                  <a:off x="2192" y="1632"/>
                  <a:ext cx="198" cy="84"/>
                </a:xfrm>
                <a:custGeom>
                  <a:avLst/>
                  <a:gdLst/>
                  <a:ahLst/>
                  <a:cxnLst>
                    <a:cxn ang="0">
                      <a:pos x="0" y="40"/>
                    </a:cxn>
                    <a:cxn ang="0">
                      <a:pos x="275" y="117"/>
                    </a:cxn>
                    <a:cxn ang="0">
                      <a:pos x="275" y="0"/>
                    </a:cxn>
                  </a:cxnLst>
                  <a:rect l="0" t="0" r="r" b="b"/>
                  <a:pathLst>
                    <a:path w="275" h="117">
                      <a:moveTo>
                        <a:pt x="0" y="40"/>
                      </a:moveTo>
                      <a:lnTo>
                        <a:pt x="275" y="117"/>
                      </a:lnTo>
                      <a:lnTo>
                        <a:pt x="275" y="0"/>
                      </a:lnTo>
                    </a:path>
                  </a:pathLst>
                </a:custGeom>
                <a:no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157748" name="Group 52"/>
              <p:cNvGrpSpPr>
                <a:grpSpLocks/>
              </p:cNvGrpSpPr>
              <p:nvPr/>
            </p:nvGrpSpPr>
            <p:grpSpPr bwMode="auto">
              <a:xfrm>
                <a:off x="3042" y="2733"/>
                <a:ext cx="714" cy="672"/>
                <a:chOff x="2004" y="885"/>
                <a:chExt cx="714" cy="672"/>
              </a:xfrm>
            </p:grpSpPr>
            <p:sp>
              <p:nvSpPr>
                <p:cNvPr id="157749" name="Freeform 53"/>
                <p:cNvSpPr>
                  <a:spLocks/>
                </p:cNvSpPr>
                <p:nvPr/>
              </p:nvSpPr>
              <p:spPr bwMode="auto">
                <a:xfrm>
                  <a:off x="2058" y="1322"/>
                  <a:ext cx="556" cy="235"/>
                </a:xfrm>
                <a:custGeom>
                  <a:avLst/>
                  <a:gdLst/>
                  <a:ahLst/>
                  <a:cxnLst>
                    <a:cxn ang="0">
                      <a:pos x="0" y="128"/>
                    </a:cxn>
                    <a:cxn ang="0">
                      <a:pos x="238" y="0"/>
                    </a:cxn>
                    <a:cxn ang="0">
                      <a:pos x="556" y="91"/>
                    </a:cxn>
                    <a:cxn ang="0">
                      <a:pos x="556" y="108"/>
                    </a:cxn>
                    <a:cxn ang="0">
                      <a:pos x="334" y="235"/>
                    </a:cxn>
                    <a:cxn ang="0">
                      <a:pos x="0" y="148"/>
                    </a:cxn>
                    <a:cxn ang="0">
                      <a:pos x="0" y="128"/>
                    </a:cxn>
                  </a:cxnLst>
                  <a:rect l="0" t="0" r="r" b="b"/>
                  <a:pathLst>
                    <a:path w="556" h="235">
                      <a:moveTo>
                        <a:pt x="0" y="128"/>
                      </a:moveTo>
                      <a:lnTo>
                        <a:pt x="238" y="0"/>
                      </a:lnTo>
                      <a:lnTo>
                        <a:pt x="556" y="91"/>
                      </a:lnTo>
                      <a:lnTo>
                        <a:pt x="556" y="108"/>
                      </a:lnTo>
                      <a:lnTo>
                        <a:pt x="334" y="235"/>
                      </a:lnTo>
                      <a:lnTo>
                        <a:pt x="0" y="148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DDDDDD"/>
                </a:solidFill>
                <a:ln w="3175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50" name="Freeform 54"/>
                <p:cNvSpPr>
                  <a:spLocks/>
                </p:cNvSpPr>
                <p:nvPr/>
              </p:nvSpPr>
              <p:spPr bwMode="auto">
                <a:xfrm>
                  <a:off x="2065" y="1327"/>
                  <a:ext cx="538" cy="208"/>
                </a:xfrm>
                <a:custGeom>
                  <a:avLst/>
                  <a:gdLst/>
                  <a:ahLst/>
                  <a:cxnLst>
                    <a:cxn ang="0">
                      <a:pos x="0" y="124"/>
                    </a:cxn>
                    <a:cxn ang="0">
                      <a:pos x="327" y="208"/>
                    </a:cxn>
                    <a:cxn ang="0">
                      <a:pos x="538" y="86"/>
                    </a:cxn>
                    <a:cxn ang="0">
                      <a:pos x="233" y="0"/>
                    </a:cxn>
                    <a:cxn ang="0">
                      <a:pos x="0" y="124"/>
                    </a:cxn>
                  </a:cxnLst>
                  <a:rect l="0" t="0" r="r" b="b"/>
                  <a:pathLst>
                    <a:path w="538" h="208">
                      <a:moveTo>
                        <a:pt x="0" y="124"/>
                      </a:moveTo>
                      <a:lnTo>
                        <a:pt x="327" y="208"/>
                      </a:lnTo>
                      <a:lnTo>
                        <a:pt x="538" y="86"/>
                      </a:lnTo>
                      <a:lnTo>
                        <a:pt x="233" y="0"/>
                      </a:lnTo>
                      <a:lnTo>
                        <a:pt x="0" y="124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635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51" name="Oval 55"/>
                <p:cNvSpPr>
                  <a:spLocks noChangeArrowheads="1"/>
                </p:cNvSpPr>
                <p:nvPr/>
              </p:nvSpPr>
              <p:spPr bwMode="auto">
                <a:xfrm>
                  <a:off x="2199" y="1378"/>
                  <a:ext cx="280" cy="112"/>
                </a:xfrm>
                <a:prstGeom prst="ellipse">
                  <a:avLst/>
                </a:prstGeom>
                <a:solidFill>
                  <a:srgbClr val="B2B2B2"/>
                </a:solidFill>
                <a:ln w="317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52" name="Freeform 56"/>
                <p:cNvSpPr>
                  <a:spLocks/>
                </p:cNvSpPr>
                <p:nvPr/>
              </p:nvSpPr>
              <p:spPr bwMode="auto">
                <a:xfrm>
                  <a:off x="2046" y="1382"/>
                  <a:ext cx="452" cy="12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0" y="36"/>
                    </a:cxn>
                    <a:cxn ang="0">
                      <a:pos x="574" y="180"/>
                    </a:cxn>
                    <a:cxn ang="0">
                      <a:pos x="646" y="158"/>
                    </a:cxn>
                  </a:cxnLst>
                  <a:rect l="0" t="0" r="r" b="b"/>
                  <a:pathLst>
                    <a:path w="646" h="180">
                      <a:moveTo>
                        <a:pt x="0" y="0"/>
                      </a:moveTo>
                      <a:lnTo>
                        <a:pt x="20" y="36"/>
                      </a:lnTo>
                      <a:lnTo>
                        <a:pt x="574" y="180"/>
                      </a:lnTo>
                      <a:lnTo>
                        <a:pt x="646" y="158"/>
                      </a:lnTo>
                    </a:path>
                  </a:pathLst>
                </a:custGeom>
                <a:solidFill>
                  <a:srgbClr val="B2B2B2"/>
                </a:soli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53" name="Freeform 57"/>
                <p:cNvSpPr>
                  <a:spLocks noChangeAspect="1"/>
                </p:cNvSpPr>
                <p:nvPr/>
              </p:nvSpPr>
              <p:spPr bwMode="auto">
                <a:xfrm>
                  <a:off x="2154" y="885"/>
                  <a:ext cx="564" cy="520"/>
                </a:xfrm>
                <a:custGeom>
                  <a:avLst/>
                  <a:gdLst/>
                  <a:ahLst/>
                  <a:cxnLst>
                    <a:cxn ang="0">
                      <a:pos x="620" y="746"/>
                    </a:cxn>
                    <a:cxn ang="0">
                      <a:pos x="808" y="525"/>
                    </a:cxn>
                    <a:cxn ang="0">
                      <a:pos x="808" y="106"/>
                    </a:cxn>
                    <a:cxn ang="0">
                      <a:pos x="336" y="0"/>
                    </a:cxn>
                    <a:cxn ang="0">
                      <a:pos x="0" y="48"/>
                    </a:cxn>
                  </a:cxnLst>
                  <a:rect l="0" t="0" r="r" b="b"/>
                  <a:pathLst>
                    <a:path w="808" h="746">
                      <a:moveTo>
                        <a:pt x="620" y="746"/>
                      </a:moveTo>
                      <a:lnTo>
                        <a:pt x="808" y="525"/>
                      </a:lnTo>
                      <a:lnTo>
                        <a:pt x="808" y="106"/>
                      </a:lnTo>
                      <a:lnTo>
                        <a:pt x="336" y="0"/>
                      </a:lnTo>
                      <a:lnTo>
                        <a:pt x="0" y="48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54" name="Freeform 58"/>
                <p:cNvSpPr>
                  <a:spLocks noChangeAspect="1"/>
                </p:cNvSpPr>
                <p:nvPr/>
              </p:nvSpPr>
              <p:spPr bwMode="auto">
                <a:xfrm>
                  <a:off x="2506" y="1000"/>
                  <a:ext cx="113" cy="506"/>
                </a:xfrm>
                <a:custGeom>
                  <a:avLst/>
                  <a:gdLst/>
                  <a:ahLst/>
                  <a:cxnLst>
                    <a:cxn ang="0">
                      <a:pos x="0" y="644"/>
                    </a:cxn>
                    <a:cxn ang="0">
                      <a:pos x="0" y="79"/>
                    </a:cxn>
                    <a:cxn ang="0">
                      <a:pos x="144" y="0"/>
                    </a:cxn>
                    <a:cxn ang="0">
                      <a:pos x="144" y="554"/>
                    </a:cxn>
                    <a:cxn ang="0">
                      <a:pos x="0" y="644"/>
                    </a:cxn>
                  </a:cxnLst>
                  <a:rect l="0" t="0" r="r" b="b"/>
                  <a:pathLst>
                    <a:path w="144" h="644">
                      <a:moveTo>
                        <a:pt x="0" y="644"/>
                      </a:moveTo>
                      <a:lnTo>
                        <a:pt x="0" y="79"/>
                      </a:lnTo>
                      <a:lnTo>
                        <a:pt x="144" y="0"/>
                      </a:lnTo>
                      <a:lnTo>
                        <a:pt x="144" y="554"/>
                      </a:lnTo>
                      <a:lnTo>
                        <a:pt x="0" y="644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55" name="Freeform 59"/>
                <p:cNvSpPr>
                  <a:spLocks noChangeAspect="1"/>
                </p:cNvSpPr>
                <p:nvPr/>
              </p:nvSpPr>
              <p:spPr bwMode="auto">
                <a:xfrm>
                  <a:off x="2004" y="891"/>
                  <a:ext cx="615" cy="172"/>
                </a:xfrm>
                <a:custGeom>
                  <a:avLst/>
                  <a:gdLst/>
                  <a:ahLst/>
                  <a:cxnLst>
                    <a:cxn ang="0">
                      <a:pos x="638" y="219"/>
                    </a:cxn>
                    <a:cxn ang="0">
                      <a:pos x="0" y="67"/>
                    </a:cxn>
                    <a:cxn ang="0">
                      <a:pos x="160" y="0"/>
                    </a:cxn>
                    <a:cxn ang="0">
                      <a:pos x="782" y="139"/>
                    </a:cxn>
                    <a:cxn ang="0">
                      <a:pos x="638" y="219"/>
                    </a:cxn>
                  </a:cxnLst>
                  <a:rect l="0" t="0" r="r" b="b"/>
                  <a:pathLst>
                    <a:path w="782" h="219">
                      <a:moveTo>
                        <a:pt x="638" y="219"/>
                      </a:moveTo>
                      <a:lnTo>
                        <a:pt x="0" y="67"/>
                      </a:lnTo>
                      <a:lnTo>
                        <a:pt x="160" y="0"/>
                      </a:lnTo>
                      <a:lnTo>
                        <a:pt x="782" y="139"/>
                      </a:lnTo>
                      <a:lnTo>
                        <a:pt x="638" y="219"/>
                      </a:lnTo>
                    </a:path>
                  </a:pathLst>
                </a:custGeom>
                <a:solidFill>
                  <a:schemeClr val="bg1"/>
                </a:soli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56" name="Freeform 60"/>
                <p:cNvSpPr>
                  <a:spLocks noChangeAspect="1"/>
                </p:cNvSpPr>
                <p:nvPr/>
              </p:nvSpPr>
              <p:spPr bwMode="auto">
                <a:xfrm>
                  <a:off x="2004" y="942"/>
                  <a:ext cx="502" cy="566"/>
                </a:xfrm>
                <a:custGeom>
                  <a:avLst/>
                  <a:gdLst/>
                  <a:ahLst/>
                  <a:cxnLst>
                    <a:cxn ang="0">
                      <a:pos x="671" y="753"/>
                    </a:cxn>
                    <a:cxn ang="0">
                      <a:pos x="671" y="160"/>
                    </a:cxn>
                    <a:cxn ang="0">
                      <a:pos x="0" y="0"/>
                    </a:cxn>
                    <a:cxn ang="0">
                      <a:pos x="0" y="578"/>
                    </a:cxn>
                    <a:cxn ang="0">
                      <a:pos x="671" y="753"/>
                    </a:cxn>
                  </a:cxnLst>
                  <a:rect l="0" t="0" r="r" b="b"/>
                  <a:pathLst>
                    <a:path w="672" h="754">
                      <a:moveTo>
                        <a:pt x="671" y="753"/>
                      </a:moveTo>
                      <a:lnTo>
                        <a:pt x="671" y="160"/>
                      </a:lnTo>
                      <a:lnTo>
                        <a:pt x="0" y="0"/>
                      </a:lnTo>
                      <a:lnTo>
                        <a:pt x="0" y="578"/>
                      </a:lnTo>
                      <a:lnTo>
                        <a:pt x="671" y="753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57" name="Freeform 61"/>
                <p:cNvSpPr>
                  <a:spLocks noChangeAspect="1"/>
                </p:cNvSpPr>
                <p:nvPr/>
              </p:nvSpPr>
              <p:spPr bwMode="auto">
                <a:xfrm>
                  <a:off x="2043" y="992"/>
                  <a:ext cx="425" cy="464"/>
                </a:xfrm>
                <a:custGeom>
                  <a:avLst/>
                  <a:gdLst/>
                  <a:ahLst/>
                  <a:cxnLst>
                    <a:cxn ang="0">
                      <a:pos x="490" y="548"/>
                    </a:cxn>
                    <a:cxn ang="0">
                      <a:pos x="490" y="117"/>
                    </a:cxn>
                    <a:cxn ang="0">
                      <a:pos x="0" y="0"/>
                    </a:cxn>
                    <a:cxn ang="0">
                      <a:pos x="0" y="424"/>
                    </a:cxn>
                    <a:cxn ang="0">
                      <a:pos x="490" y="548"/>
                    </a:cxn>
                  </a:cxnLst>
                  <a:rect l="0" t="0" r="r" b="b"/>
                  <a:pathLst>
                    <a:path w="491" h="549">
                      <a:moveTo>
                        <a:pt x="490" y="548"/>
                      </a:moveTo>
                      <a:lnTo>
                        <a:pt x="490" y="117"/>
                      </a:lnTo>
                      <a:lnTo>
                        <a:pt x="0" y="0"/>
                      </a:lnTo>
                      <a:lnTo>
                        <a:pt x="0" y="424"/>
                      </a:lnTo>
                      <a:lnTo>
                        <a:pt x="490" y="548"/>
                      </a:lnTo>
                    </a:path>
                  </a:pathLst>
                </a:custGeom>
                <a:solidFill>
                  <a:srgbClr val="CECECE"/>
                </a:solidFill>
                <a:ln w="6350" cap="rnd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58" name="Freeform 62"/>
                <p:cNvSpPr>
                  <a:spLocks/>
                </p:cNvSpPr>
                <p:nvPr/>
              </p:nvSpPr>
              <p:spPr bwMode="auto">
                <a:xfrm>
                  <a:off x="2069" y="1023"/>
                  <a:ext cx="372" cy="40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454"/>
                    </a:cxn>
                    <a:cxn ang="0">
                      <a:pos x="542" y="592"/>
                    </a:cxn>
                    <a:cxn ang="0">
                      <a:pos x="542" y="13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42" h="592">
                      <a:moveTo>
                        <a:pt x="0" y="0"/>
                      </a:moveTo>
                      <a:lnTo>
                        <a:pt x="0" y="454"/>
                      </a:lnTo>
                      <a:lnTo>
                        <a:pt x="542" y="592"/>
                      </a:lnTo>
                      <a:lnTo>
                        <a:pt x="542" y="1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18FFD"/>
                    </a:gs>
                    <a:gs pos="100000">
                      <a:srgbClr val="618FFD">
                        <a:gamma/>
                        <a:shade val="75294"/>
                        <a:invGamma/>
                      </a:srgbClr>
                    </a:gs>
                  </a:gsLst>
                  <a:path path="rect">
                    <a:fillToRect r="100000" b="100000"/>
                  </a:path>
                </a:gradFill>
                <a:ln w="6350" cap="flat" cmpd="sng">
                  <a:solidFill>
                    <a:srgbClr val="777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7961" dir="2700000" algn="ctr" rotWithShape="0">
                    <a:schemeClr val="bg1"/>
                  </a:outerShdw>
                </a:effec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57759" name="Line 63"/>
                <p:cNvSpPr>
                  <a:spLocks noChangeShapeType="1"/>
                </p:cNvSpPr>
                <p:nvPr/>
              </p:nvSpPr>
              <p:spPr bwMode="auto">
                <a:xfrm>
                  <a:off x="2102" y="1056"/>
                  <a:ext cx="0" cy="61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</p:grpSp>
        <p:grpSp>
          <p:nvGrpSpPr>
            <p:cNvPr id="157760" name="Group 64"/>
            <p:cNvGrpSpPr>
              <a:grpSpLocks/>
            </p:cNvGrpSpPr>
            <p:nvPr/>
          </p:nvGrpSpPr>
          <p:grpSpPr bwMode="auto">
            <a:xfrm>
              <a:off x="4099" y="2257"/>
              <a:ext cx="763" cy="842"/>
              <a:chOff x="2967" y="2733"/>
              <a:chExt cx="789" cy="870"/>
            </a:xfrm>
          </p:grpSpPr>
          <p:grpSp>
            <p:nvGrpSpPr>
              <p:cNvPr id="157761" name="Group 65"/>
              <p:cNvGrpSpPr>
                <a:grpSpLocks/>
              </p:cNvGrpSpPr>
              <p:nvPr/>
            </p:nvGrpSpPr>
            <p:grpSpPr bwMode="auto">
              <a:xfrm>
                <a:off x="2967" y="3191"/>
                <a:ext cx="763" cy="412"/>
                <a:chOff x="1929" y="1343"/>
                <a:chExt cx="763" cy="412"/>
              </a:xfrm>
            </p:grpSpPr>
            <p:sp>
              <p:nvSpPr>
                <p:cNvPr id="157762" name="Freeform 66"/>
                <p:cNvSpPr>
                  <a:spLocks noChangeAspect="1"/>
                </p:cNvSpPr>
                <p:nvPr/>
              </p:nvSpPr>
              <p:spPr bwMode="auto">
                <a:xfrm>
                  <a:off x="2428" y="1450"/>
                  <a:ext cx="263" cy="305"/>
                </a:xfrm>
                <a:custGeom>
                  <a:avLst/>
                  <a:gdLst/>
                  <a:ahLst/>
                  <a:cxnLst>
                    <a:cxn ang="0">
                      <a:pos x="3" y="212"/>
                    </a:cxn>
                    <a:cxn ang="0">
                      <a:pos x="364" y="0"/>
                    </a:cxn>
                    <a:cxn ang="0">
                      <a:pos x="364" y="180"/>
                    </a:cxn>
                    <a:cxn ang="0">
                      <a:pos x="0" y="422"/>
                    </a:cxn>
                  </a:cxnLst>
                  <a:rect l="0" t="0" r="r" b="b"/>
                  <a:pathLst>
                    <a:path w="364" h="422">
                      <a:moveTo>
                        <a:pt x="3" y="212"/>
                      </a:moveTo>
                      <a:lnTo>
                        <a:pt x="364" y="0"/>
                      </a:lnTo>
                      <a:lnTo>
                        <a:pt x="364" y="180"/>
                      </a:lnTo>
                      <a:lnTo>
                        <a:pt x="0" y="422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63" name="Freeform 67"/>
                <p:cNvSpPr>
                  <a:spLocks noChangeAspect="1"/>
                </p:cNvSpPr>
                <p:nvPr/>
              </p:nvSpPr>
              <p:spPr bwMode="auto">
                <a:xfrm>
                  <a:off x="1929" y="1343"/>
                  <a:ext cx="763" cy="264"/>
                </a:xfrm>
                <a:custGeom>
                  <a:avLst/>
                  <a:gdLst/>
                  <a:ahLst/>
                  <a:cxnLst>
                    <a:cxn ang="0">
                      <a:pos x="715" y="376"/>
                    </a:cxn>
                    <a:cxn ang="0">
                      <a:pos x="0" y="187"/>
                    </a:cxn>
                    <a:cxn ang="0">
                      <a:pos x="397" y="0"/>
                    </a:cxn>
                    <a:cxn ang="0">
                      <a:pos x="1090" y="152"/>
                    </a:cxn>
                    <a:cxn ang="0">
                      <a:pos x="715" y="376"/>
                    </a:cxn>
                  </a:cxnLst>
                  <a:rect l="0" t="0" r="r" b="b"/>
                  <a:pathLst>
                    <a:path w="1091" h="377">
                      <a:moveTo>
                        <a:pt x="715" y="376"/>
                      </a:moveTo>
                      <a:lnTo>
                        <a:pt x="0" y="187"/>
                      </a:lnTo>
                      <a:lnTo>
                        <a:pt x="397" y="0"/>
                      </a:lnTo>
                      <a:lnTo>
                        <a:pt x="1090" y="152"/>
                      </a:lnTo>
                      <a:lnTo>
                        <a:pt x="715" y="376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64" name="Freeform 68"/>
                <p:cNvSpPr>
                  <a:spLocks noChangeAspect="1"/>
                </p:cNvSpPr>
                <p:nvPr/>
              </p:nvSpPr>
              <p:spPr bwMode="auto">
                <a:xfrm>
                  <a:off x="1929" y="1473"/>
                  <a:ext cx="499" cy="282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0" y="192"/>
                    </a:cxn>
                    <a:cxn ang="0">
                      <a:pos x="690" y="390"/>
                    </a:cxn>
                    <a:cxn ang="0">
                      <a:pos x="690" y="185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690" h="390">
                      <a:moveTo>
                        <a:pt x="0" y="5"/>
                      </a:moveTo>
                      <a:lnTo>
                        <a:pt x="0" y="192"/>
                      </a:lnTo>
                      <a:lnTo>
                        <a:pt x="690" y="390"/>
                      </a:lnTo>
                      <a:lnTo>
                        <a:pt x="690" y="185"/>
                      </a:lnTo>
                      <a:lnTo>
                        <a:pt x="4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65" name="Freeform 69"/>
                <p:cNvSpPr>
                  <a:spLocks noChangeAspect="1"/>
                </p:cNvSpPr>
                <p:nvPr/>
              </p:nvSpPr>
              <p:spPr bwMode="auto">
                <a:xfrm>
                  <a:off x="2190" y="1573"/>
                  <a:ext cx="196" cy="13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71" y="73"/>
                    </a:cxn>
                    <a:cxn ang="0">
                      <a:pos x="271" y="189"/>
                    </a:cxn>
                    <a:cxn ang="0">
                      <a:pos x="0" y="115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271" h="189">
                      <a:moveTo>
                        <a:pt x="0" y="0"/>
                      </a:moveTo>
                      <a:lnTo>
                        <a:pt x="271" y="73"/>
                      </a:lnTo>
                      <a:lnTo>
                        <a:pt x="271" y="189"/>
                      </a:lnTo>
                      <a:lnTo>
                        <a:pt x="0" y="115"/>
                      </a:lnTo>
                      <a:lnTo>
                        <a:pt x="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41176"/>
                        <a:invGamma/>
                      </a:srgbClr>
                    </a:gs>
                  </a:gsLst>
                  <a:lin ang="2700000" scaled="1"/>
                </a:gradFill>
                <a:ln w="635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66" name="Freeform 70"/>
                <p:cNvSpPr>
                  <a:spLocks noChangeAspect="1" noChangeArrowheads="1"/>
                </p:cNvSpPr>
                <p:nvPr/>
              </p:nvSpPr>
              <p:spPr bwMode="auto">
                <a:xfrm>
                  <a:off x="2194" y="1624"/>
                  <a:ext cx="189" cy="4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61" y="69"/>
                    </a:cxn>
                  </a:cxnLst>
                  <a:rect l="0" t="0" r="r" b="b"/>
                  <a:pathLst>
                    <a:path w="261" h="69">
                      <a:moveTo>
                        <a:pt x="0" y="0"/>
                      </a:moveTo>
                      <a:lnTo>
                        <a:pt x="261" y="69"/>
                      </a:lnTo>
                    </a:path>
                  </a:pathLst>
                </a:custGeom>
                <a:noFill/>
                <a:ln w="3175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57767" name="Freeform 71"/>
                <p:cNvSpPr>
                  <a:spLocks/>
                </p:cNvSpPr>
                <p:nvPr/>
              </p:nvSpPr>
              <p:spPr bwMode="auto">
                <a:xfrm>
                  <a:off x="2190" y="1572"/>
                  <a:ext cx="195" cy="84"/>
                </a:xfrm>
                <a:custGeom>
                  <a:avLst/>
                  <a:gdLst/>
                  <a:ahLst/>
                  <a:cxnLst>
                    <a:cxn ang="0">
                      <a:pos x="0" y="84"/>
                    </a:cxn>
                    <a:cxn ang="0">
                      <a:pos x="0" y="0"/>
                    </a:cxn>
                    <a:cxn ang="0">
                      <a:pos x="195" y="54"/>
                    </a:cxn>
                  </a:cxnLst>
                  <a:rect l="0" t="0" r="r" b="b"/>
                  <a:pathLst>
                    <a:path w="195" h="84">
                      <a:moveTo>
                        <a:pt x="0" y="84"/>
                      </a:moveTo>
                      <a:lnTo>
                        <a:pt x="0" y="0"/>
                      </a:lnTo>
                      <a:lnTo>
                        <a:pt x="195" y="54"/>
                      </a:lnTo>
                    </a:path>
                  </a:pathLst>
                </a:custGeom>
                <a:noFill/>
                <a:ln w="6350" cap="flat" cmpd="sng">
                  <a:solidFill>
                    <a:srgbClr val="777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68" name="Line 72"/>
                <p:cNvSpPr>
                  <a:spLocks noChangeShapeType="1"/>
                </p:cNvSpPr>
                <p:nvPr/>
              </p:nvSpPr>
              <p:spPr bwMode="auto">
                <a:xfrm>
                  <a:off x="2207" y="1600"/>
                  <a:ext cx="153" cy="38"/>
                </a:xfrm>
                <a:prstGeom prst="line">
                  <a:avLst/>
                </a:prstGeom>
                <a:noFill/>
                <a:ln w="3175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69" name="Line 73"/>
                <p:cNvSpPr>
                  <a:spLocks noChangeShapeType="1"/>
                </p:cNvSpPr>
                <p:nvPr/>
              </p:nvSpPr>
              <p:spPr bwMode="auto">
                <a:xfrm>
                  <a:off x="2337" y="1678"/>
                  <a:ext cx="29" cy="6"/>
                </a:xfrm>
                <a:prstGeom prst="line">
                  <a:avLst/>
                </a:prstGeom>
                <a:noFill/>
                <a:ln w="19050">
                  <a:solidFill>
                    <a:srgbClr val="D60093"/>
                  </a:solidFill>
                  <a:round/>
                  <a:headEnd/>
                  <a:tailEnd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70" name="Freeform 74"/>
                <p:cNvSpPr>
                  <a:spLocks/>
                </p:cNvSpPr>
                <p:nvPr/>
              </p:nvSpPr>
              <p:spPr bwMode="auto">
                <a:xfrm>
                  <a:off x="2255" y="1610"/>
                  <a:ext cx="47" cy="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18"/>
                    </a:cxn>
                    <a:cxn ang="0">
                      <a:pos x="64" y="35"/>
                    </a:cxn>
                    <a:cxn ang="0">
                      <a:pos x="64" y="19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1" y="18"/>
                      </a:lnTo>
                      <a:lnTo>
                        <a:pt x="64" y="35"/>
                      </a:lnTo>
                      <a:lnTo>
                        <a:pt x="64" y="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77777"/>
                </a:solidFill>
                <a:ln w="190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71" name="Line 75"/>
                <p:cNvSpPr>
                  <a:spLocks noChangeShapeType="1"/>
                </p:cNvSpPr>
                <p:nvPr/>
              </p:nvSpPr>
              <p:spPr bwMode="auto">
                <a:xfrm>
                  <a:off x="1942" y="1503"/>
                  <a:ext cx="202" cy="57"/>
                </a:xfrm>
                <a:prstGeom prst="line">
                  <a:avLst/>
                </a:prstGeom>
                <a:noFill/>
                <a:ln w="6350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72" name="Line 76"/>
                <p:cNvSpPr>
                  <a:spLocks noChangeShapeType="1"/>
                </p:cNvSpPr>
                <p:nvPr/>
              </p:nvSpPr>
              <p:spPr bwMode="auto">
                <a:xfrm>
                  <a:off x="1942" y="1525"/>
                  <a:ext cx="202" cy="56"/>
                </a:xfrm>
                <a:prstGeom prst="line">
                  <a:avLst/>
                </a:prstGeom>
                <a:noFill/>
                <a:ln w="6350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73" name="Line 77"/>
                <p:cNvSpPr>
                  <a:spLocks noChangeShapeType="1"/>
                </p:cNvSpPr>
                <p:nvPr/>
              </p:nvSpPr>
              <p:spPr bwMode="auto">
                <a:xfrm>
                  <a:off x="1942" y="1548"/>
                  <a:ext cx="202" cy="57"/>
                </a:xfrm>
                <a:prstGeom prst="line">
                  <a:avLst/>
                </a:prstGeom>
                <a:noFill/>
                <a:ln w="6350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74" name="Line 78"/>
                <p:cNvSpPr>
                  <a:spLocks noChangeShapeType="1"/>
                </p:cNvSpPr>
                <p:nvPr/>
              </p:nvSpPr>
              <p:spPr bwMode="auto">
                <a:xfrm>
                  <a:off x="1942" y="1570"/>
                  <a:ext cx="202" cy="56"/>
                </a:xfrm>
                <a:prstGeom prst="line">
                  <a:avLst/>
                </a:prstGeom>
                <a:noFill/>
                <a:ln w="6350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75" name="Freeform 79"/>
                <p:cNvSpPr>
                  <a:spLocks/>
                </p:cNvSpPr>
                <p:nvPr/>
              </p:nvSpPr>
              <p:spPr bwMode="auto">
                <a:xfrm>
                  <a:off x="2192" y="1632"/>
                  <a:ext cx="198" cy="84"/>
                </a:xfrm>
                <a:custGeom>
                  <a:avLst/>
                  <a:gdLst/>
                  <a:ahLst/>
                  <a:cxnLst>
                    <a:cxn ang="0">
                      <a:pos x="0" y="40"/>
                    </a:cxn>
                    <a:cxn ang="0">
                      <a:pos x="275" y="117"/>
                    </a:cxn>
                    <a:cxn ang="0">
                      <a:pos x="275" y="0"/>
                    </a:cxn>
                  </a:cxnLst>
                  <a:rect l="0" t="0" r="r" b="b"/>
                  <a:pathLst>
                    <a:path w="275" h="117">
                      <a:moveTo>
                        <a:pt x="0" y="40"/>
                      </a:moveTo>
                      <a:lnTo>
                        <a:pt x="275" y="117"/>
                      </a:lnTo>
                      <a:lnTo>
                        <a:pt x="275" y="0"/>
                      </a:lnTo>
                    </a:path>
                  </a:pathLst>
                </a:custGeom>
                <a:no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157776" name="Group 80"/>
              <p:cNvGrpSpPr>
                <a:grpSpLocks/>
              </p:cNvGrpSpPr>
              <p:nvPr/>
            </p:nvGrpSpPr>
            <p:grpSpPr bwMode="auto">
              <a:xfrm>
                <a:off x="3042" y="2733"/>
                <a:ext cx="714" cy="672"/>
                <a:chOff x="2004" y="885"/>
                <a:chExt cx="714" cy="672"/>
              </a:xfrm>
            </p:grpSpPr>
            <p:sp>
              <p:nvSpPr>
                <p:cNvPr id="157777" name="Freeform 81"/>
                <p:cNvSpPr>
                  <a:spLocks/>
                </p:cNvSpPr>
                <p:nvPr/>
              </p:nvSpPr>
              <p:spPr bwMode="auto">
                <a:xfrm>
                  <a:off x="2058" y="1322"/>
                  <a:ext cx="556" cy="235"/>
                </a:xfrm>
                <a:custGeom>
                  <a:avLst/>
                  <a:gdLst/>
                  <a:ahLst/>
                  <a:cxnLst>
                    <a:cxn ang="0">
                      <a:pos x="0" y="128"/>
                    </a:cxn>
                    <a:cxn ang="0">
                      <a:pos x="238" y="0"/>
                    </a:cxn>
                    <a:cxn ang="0">
                      <a:pos x="556" y="91"/>
                    </a:cxn>
                    <a:cxn ang="0">
                      <a:pos x="556" y="108"/>
                    </a:cxn>
                    <a:cxn ang="0">
                      <a:pos x="334" y="235"/>
                    </a:cxn>
                    <a:cxn ang="0">
                      <a:pos x="0" y="148"/>
                    </a:cxn>
                    <a:cxn ang="0">
                      <a:pos x="0" y="128"/>
                    </a:cxn>
                  </a:cxnLst>
                  <a:rect l="0" t="0" r="r" b="b"/>
                  <a:pathLst>
                    <a:path w="556" h="235">
                      <a:moveTo>
                        <a:pt x="0" y="128"/>
                      </a:moveTo>
                      <a:lnTo>
                        <a:pt x="238" y="0"/>
                      </a:lnTo>
                      <a:lnTo>
                        <a:pt x="556" y="91"/>
                      </a:lnTo>
                      <a:lnTo>
                        <a:pt x="556" y="108"/>
                      </a:lnTo>
                      <a:lnTo>
                        <a:pt x="334" y="235"/>
                      </a:lnTo>
                      <a:lnTo>
                        <a:pt x="0" y="148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DDDDDD"/>
                </a:solidFill>
                <a:ln w="3175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78" name="Freeform 82"/>
                <p:cNvSpPr>
                  <a:spLocks/>
                </p:cNvSpPr>
                <p:nvPr/>
              </p:nvSpPr>
              <p:spPr bwMode="auto">
                <a:xfrm>
                  <a:off x="2065" y="1327"/>
                  <a:ext cx="538" cy="208"/>
                </a:xfrm>
                <a:custGeom>
                  <a:avLst/>
                  <a:gdLst/>
                  <a:ahLst/>
                  <a:cxnLst>
                    <a:cxn ang="0">
                      <a:pos x="0" y="124"/>
                    </a:cxn>
                    <a:cxn ang="0">
                      <a:pos x="327" y="208"/>
                    </a:cxn>
                    <a:cxn ang="0">
                      <a:pos x="538" y="86"/>
                    </a:cxn>
                    <a:cxn ang="0">
                      <a:pos x="233" y="0"/>
                    </a:cxn>
                    <a:cxn ang="0">
                      <a:pos x="0" y="124"/>
                    </a:cxn>
                  </a:cxnLst>
                  <a:rect l="0" t="0" r="r" b="b"/>
                  <a:pathLst>
                    <a:path w="538" h="208">
                      <a:moveTo>
                        <a:pt x="0" y="124"/>
                      </a:moveTo>
                      <a:lnTo>
                        <a:pt x="327" y="208"/>
                      </a:lnTo>
                      <a:lnTo>
                        <a:pt x="538" y="86"/>
                      </a:lnTo>
                      <a:lnTo>
                        <a:pt x="233" y="0"/>
                      </a:lnTo>
                      <a:lnTo>
                        <a:pt x="0" y="124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635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79" name="Oval 83"/>
                <p:cNvSpPr>
                  <a:spLocks noChangeArrowheads="1"/>
                </p:cNvSpPr>
                <p:nvPr/>
              </p:nvSpPr>
              <p:spPr bwMode="auto">
                <a:xfrm>
                  <a:off x="2199" y="1378"/>
                  <a:ext cx="280" cy="112"/>
                </a:xfrm>
                <a:prstGeom prst="ellipse">
                  <a:avLst/>
                </a:prstGeom>
                <a:solidFill>
                  <a:srgbClr val="B2B2B2"/>
                </a:solidFill>
                <a:ln w="317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80" name="Freeform 84"/>
                <p:cNvSpPr>
                  <a:spLocks/>
                </p:cNvSpPr>
                <p:nvPr/>
              </p:nvSpPr>
              <p:spPr bwMode="auto">
                <a:xfrm>
                  <a:off x="2046" y="1382"/>
                  <a:ext cx="452" cy="12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0" y="36"/>
                    </a:cxn>
                    <a:cxn ang="0">
                      <a:pos x="574" y="180"/>
                    </a:cxn>
                    <a:cxn ang="0">
                      <a:pos x="646" y="158"/>
                    </a:cxn>
                  </a:cxnLst>
                  <a:rect l="0" t="0" r="r" b="b"/>
                  <a:pathLst>
                    <a:path w="646" h="180">
                      <a:moveTo>
                        <a:pt x="0" y="0"/>
                      </a:moveTo>
                      <a:lnTo>
                        <a:pt x="20" y="36"/>
                      </a:lnTo>
                      <a:lnTo>
                        <a:pt x="574" y="180"/>
                      </a:lnTo>
                      <a:lnTo>
                        <a:pt x="646" y="158"/>
                      </a:lnTo>
                    </a:path>
                  </a:pathLst>
                </a:custGeom>
                <a:solidFill>
                  <a:srgbClr val="B2B2B2"/>
                </a:soli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81" name="Freeform 85"/>
                <p:cNvSpPr>
                  <a:spLocks noChangeAspect="1"/>
                </p:cNvSpPr>
                <p:nvPr/>
              </p:nvSpPr>
              <p:spPr bwMode="auto">
                <a:xfrm>
                  <a:off x="2154" y="885"/>
                  <a:ext cx="564" cy="520"/>
                </a:xfrm>
                <a:custGeom>
                  <a:avLst/>
                  <a:gdLst/>
                  <a:ahLst/>
                  <a:cxnLst>
                    <a:cxn ang="0">
                      <a:pos x="620" y="746"/>
                    </a:cxn>
                    <a:cxn ang="0">
                      <a:pos x="808" y="525"/>
                    </a:cxn>
                    <a:cxn ang="0">
                      <a:pos x="808" y="106"/>
                    </a:cxn>
                    <a:cxn ang="0">
                      <a:pos x="336" y="0"/>
                    </a:cxn>
                    <a:cxn ang="0">
                      <a:pos x="0" y="48"/>
                    </a:cxn>
                  </a:cxnLst>
                  <a:rect l="0" t="0" r="r" b="b"/>
                  <a:pathLst>
                    <a:path w="808" h="746">
                      <a:moveTo>
                        <a:pt x="620" y="746"/>
                      </a:moveTo>
                      <a:lnTo>
                        <a:pt x="808" y="525"/>
                      </a:lnTo>
                      <a:lnTo>
                        <a:pt x="808" y="106"/>
                      </a:lnTo>
                      <a:lnTo>
                        <a:pt x="336" y="0"/>
                      </a:lnTo>
                      <a:lnTo>
                        <a:pt x="0" y="48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82" name="Freeform 86"/>
                <p:cNvSpPr>
                  <a:spLocks noChangeAspect="1"/>
                </p:cNvSpPr>
                <p:nvPr/>
              </p:nvSpPr>
              <p:spPr bwMode="auto">
                <a:xfrm>
                  <a:off x="2506" y="1000"/>
                  <a:ext cx="113" cy="506"/>
                </a:xfrm>
                <a:custGeom>
                  <a:avLst/>
                  <a:gdLst/>
                  <a:ahLst/>
                  <a:cxnLst>
                    <a:cxn ang="0">
                      <a:pos x="0" y="644"/>
                    </a:cxn>
                    <a:cxn ang="0">
                      <a:pos x="0" y="79"/>
                    </a:cxn>
                    <a:cxn ang="0">
                      <a:pos x="144" y="0"/>
                    </a:cxn>
                    <a:cxn ang="0">
                      <a:pos x="144" y="554"/>
                    </a:cxn>
                    <a:cxn ang="0">
                      <a:pos x="0" y="644"/>
                    </a:cxn>
                  </a:cxnLst>
                  <a:rect l="0" t="0" r="r" b="b"/>
                  <a:pathLst>
                    <a:path w="144" h="644">
                      <a:moveTo>
                        <a:pt x="0" y="644"/>
                      </a:moveTo>
                      <a:lnTo>
                        <a:pt x="0" y="79"/>
                      </a:lnTo>
                      <a:lnTo>
                        <a:pt x="144" y="0"/>
                      </a:lnTo>
                      <a:lnTo>
                        <a:pt x="144" y="554"/>
                      </a:lnTo>
                      <a:lnTo>
                        <a:pt x="0" y="644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83" name="Freeform 87"/>
                <p:cNvSpPr>
                  <a:spLocks noChangeAspect="1"/>
                </p:cNvSpPr>
                <p:nvPr/>
              </p:nvSpPr>
              <p:spPr bwMode="auto">
                <a:xfrm>
                  <a:off x="2004" y="891"/>
                  <a:ext cx="615" cy="172"/>
                </a:xfrm>
                <a:custGeom>
                  <a:avLst/>
                  <a:gdLst/>
                  <a:ahLst/>
                  <a:cxnLst>
                    <a:cxn ang="0">
                      <a:pos x="638" y="219"/>
                    </a:cxn>
                    <a:cxn ang="0">
                      <a:pos x="0" y="67"/>
                    </a:cxn>
                    <a:cxn ang="0">
                      <a:pos x="160" y="0"/>
                    </a:cxn>
                    <a:cxn ang="0">
                      <a:pos x="782" y="139"/>
                    </a:cxn>
                    <a:cxn ang="0">
                      <a:pos x="638" y="219"/>
                    </a:cxn>
                  </a:cxnLst>
                  <a:rect l="0" t="0" r="r" b="b"/>
                  <a:pathLst>
                    <a:path w="782" h="219">
                      <a:moveTo>
                        <a:pt x="638" y="219"/>
                      </a:moveTo>
                      <a:lnTo>
                        <a:pt x="0" y="67"/>
                      </a:lnTo>
                      <a:lnTo>
                        <a:pt x="160" y="0"/>
                      </a:lnTo>
                      <a:lnTo>
                        <a:pt x="782" y="139"/>
                      </a:lnTo>
                      <a:lnTo>
                        <a:pt x="638" y="219"/>
                      </a:lnTo>
                    </a:path>
                  </a:pathLst>
                </a:custGeom>
                <a:solidFill>
                  <a:schemeClr val="bg1"/>
                </a:soli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84" name="Freeform 88"/>
                <p:cNvSpPr>
                  <a:spLocks noChangeAspect="1"/>
                </p:cNvSpPr>
                <p:nvPr/>
              </p:nvSpPr>
              <p:spPr bwMode="auto">
                <a:xfrm>
                  <a:off x="2004" y="942"/>
                  <a:ext cx="502" cy="566"/>
                </a:xfrm>
                <a:custGeom>
                  <a:avLst/>
                  <a:gdLst/>
                  <a:ahLst/>
                  <a:cxnLst>
                    <a:cxn ang="0">
                      <a:pos x="671" y="753"/>
                    </a:cxn>
                    <a:cxn ang="0">
                      <a:pos x="671" y="160"/>
                    </a:cxn>
                    <a:cxn ang="0">
                      <a:pos x="0" y="0"/>
                    </a:cxn>
                    <a:cxn ang="0">
                      <a:pos x="0" y="578"/>
                    </a:cxn>
                    <a:cxn ang="0">
                      <a:pos x="671" y="753"/>
                    </a:cxn>
                  </a:cxnLst>
                  <a:rect l="0" t="0" r="r" b="b"/>
                  <a:pathLst>
                    <a:path w="672" h="754">
                      <a:moveTo>
                        <a:pt x="671" y="753"/>
                      </a:moveTo>
                      <a:lnTo>
                        <a:pt x="671" y="160"/>
                      </a:lnTo>
                      <a:lnTo>
                        <a:pt x="0" y="0"/>
                      </a:lnTo>
                      <a:lnTo>
                        <a:pt x="0" y="578"/>
                      </a:lnTo>
                      <a:lnTo>
                        <a:pt x="671" y="753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85" name="Freeform 89"/>
                <p:cNvSpPr>
                  <a:spLocks noChangeAspect="1"/>
                </p:cNvSpPr>
                <p:nvPr/>
              </p:nvSpPr>
              <p:spPr bwMode="auto">
                <a:xfrm>
                  <a:off x="2043" y="992"/>
                  <a:ext cx="425" cy="464"/>
                </a:xfrm>
                <a:custGeom>
                  <a:avLst/>
                  <a:gdLst/>
                  <a:ahLst/>
                  <a:cxnLst>
                    <a:cxn ang="0">
                      <a:pos x="490" y="548"/>
                    </a:cxn>
                    <a:cxn ang="0">
                      <a:pos x="490" y="117"/>
                    </a:cxn>
                    <a:cxn ang="0">
                      <a:pos x="0" y="0"/>
                    </a:cxn>
                    <a:cxn ang="0">
                      <a:pos x="0" y="424"/>
                    </a:cxn>
                    <a:cxn ang="0">
                      <a:pos x="490" y="548"/>
                    </a:cxn>
                  </a:cxnLst>
                  <a:rect l="0" t="0" r="r" b="b"/>
                  <a:pathLst>
                    <a:path w="491" h="549">
                      <a:moveTo>
                        <a:pt x="490" y="548"/>
                      </a:moveTo>
                      <a:lnTo>
                        <a:pt x="490" y="117"/>
                      </a:lnTo>
                      <a:lnTo>
                        <a:pt x="0" y="0"/>
                      </a:lnTo>
                      <a:lnTo>
                        <a:pt x="0" y="424"/>
                      </a:lnTo>
                      <a:lnTo>
                        <a:pt x="490" y="548"/>
                      </a:lnTo>
                    </a:path>
                  </a:pathLst>
                </a:custGeom>
                <a:solidFill>
                  <a:srgbClr val="CECECE"/>
                </a:solidFill>
                <a:ln w="6350" cap="rnd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86" name="Freeform 90"/>
                <p:cNvSpPr>
                  <a:spLocks/>
                </p:cNvSpPr>
                <p:nvPr/>
              </p:nvSpPr>
              <p:spPr bwMode="auto">
                <a:xfrm>
                  <a:off x="2069" y="1023"/>
                  <a:ext cx="372" cy="40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454"/>
                    </a:cxn>
                    <a:cxn ang="0">
                      <a:pos x="542" y="592"/>
                    </a:cxn>
                    <a:cxn ang="0">
                      <a:pos x="542" y="13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42" h="592">
                      <a:moveTo>
                        <a:pt x="0" y="0"/>
                      </a:moveTo>
                      <a:lnTo>
                        <a:pt x="0" y="454"/>
                      </a:lnTo>
                      <a:lnTo>
                        <a:pt x="542" y="592"/>
                      </a:lnTo>
                      <a:lnTo>
                        <a:pt x="542" y="1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18FFD"/>
                    </a:gs>
                    <a:gs pos="100000">
                      <a:srgbClr val="618FFD">
                        <a:gamma/>
                        <a:shade val="75294"/>
                        <a:invGamma/>
                      </a:srgbClr>
                    </a:gs>
                  </a:gsLst>
                  <a:path path="rect">
                    <a:fillToRect r="100000" b="100000"/>
                  </a:path>
                </a:gradFill>
                <a:ln w="6350" cap="flat" cmpd="sng">
                  <a:solidFill>
                    <a:srgbClr val="777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7961" dir="2700000" algn="ctr" rotWithShape="0">
                    <a:schemeClr val="bg1"/>
                  </a:outerShdw>
                </a:effec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57787" name="Line 91"/>
                <p:cNvSpPr>
                  <a:spLocks noChangeShapeType="1"/>
                </p:cNvSpPr>
                <p:nvPr/>
              </p:nvSpPr>
              <p:spPr bwMode="auto">
                <a:xfrm>
                  <a:off x="2102" y="1056"/>
                  <a:ext cx="0" cy="61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</p:grpSp>
        <p:grpSp>
          <p:nvGrpSpPr>
            <p:cNvPr id="157788" name="Group 92"/>
            <p:cNvGrpSpPr>
              <a:grpSpLocks/>
            </p:cNvGrpSpPr>
            <p:nvPr/>
          </p:nvGrpSpPr>
          <p:grpSpPr bwMode="auto">
            <a:xfrm>
              <a:off x="2885" y="3190"/>
              <a:ext cx="764" cy="842"/>
              <a:chOff x="2967" y="2733"/>
              <a:chExt cx="789" cy="870"/>
            </a:xfrm>
          </p:grpSpPr>
          <p:grpSp>
            <p:nvGrpSpPr>
              <p:cNvPr id="157789" name="Group 93"/>
              <p:cNvGrpSpPr>
                <a:grpSpLocks/>
              </p:cNvGrpSpPr>
              <p:nvPr/>
            </p:nvGrpSpPr>
            <p:grpSpPr bwMode="auto">
              <a:xfrm>
                <a:off x="2967" y="3191"/>
                <a:ext cx="763" cy="412"/>
                <a:chOff x="1929" y="1343"/>
                <a:chExt cx="763" cy="412"/>
              </a:xfrm>
            </p:grpSpPr>
            <p:sp>
              <p:nvSpPr>
                <p:cNvPr id="157790" name="Freeform 94"/>
                <p:cNvSpPr>
                  <a:spLocks noChangeAspect="1"/>
                </p:cNvSpPr>
                <p:nvPr/>
              </p:nvSpPr>
              <p:spPr bwMode="auto">
                <a:xfrm>
                  <a:off x="2428" y="1450"/>
                  <a:ext cx="263" cy="305"/>
                </a:xfrm>
                <a:custGeom>
                  <a:avLst/>
                  <a:gdLst/>
                  <a:ahLst/>
                  <a:cxnLst>
                    <a:cxn ang="0">
                      <a:pos x="3" y="212"/>
                    </a:cxn>
                    <a:cxn ang="0">
                      <a:pos x="364" y="0"/>
                    </a:cxn>
                    <a:cxn ang="0">
                      <a:pos x="364" y="180"/>
                    </a:cxn>
                    <a:cxn ang="0">
                      <a:pos x="0" y="422"/>
                    </a:cxn>
                  </a:cxnLst>
                  <a:rect l="0" t="0" r="r" b="b"/>
                  <a:pathLst>
                    <a:path w="364" h="422">
                      <a:moveTo>
                        <a:pt x="3" y="212"/>
                      </a:moveTo>
                      <a:lnTo>
                        <a:pt x="364" y="0"/>
                      </a:lnTo>
                      <a:lnTo>
                        <a:pt x="364" y="180"/>
                      </a:lnTo>
                      <a:lnTo>
                        <a:pt x="0" y="422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91" name="Freeform 95"/>
                <p:cNvSpPr>
                  <a:spLocks noChangeAspect="1"/>
                </p:cNvSpPr>
                <p:nvPr/>
              </p:nvSpPr>
              <p:spPr bwMode="auto">
                <a:xfrm>
                  <a:off x="1929" y="1343"/>
                  <a:ext cx="763" cy="264"/>
                </a:xfrm>
                <a:custGeom>
                  <a:avLst/>
                  <a:gdLst/>
                  <a:ahLst/>
                  <a:cxnLst>
                    <a:cxn ang="0">
                      <a:pos x="715" y="376"/>
                    </a:cxn>
                    <a:cxn ang="0">
                      <a:pos x="0" y="187"/>
                    </a:cxn>
                    <a:cxn ang="0">
                      <a:pos x="397" y="0"/>
                    </a:cxn>
                    <a:cxn ang="0">
                      <a:pos x="1090" y="152"/>
                    </a:cxn>
                    <a:cxn ang="0">
                      <a:pos x="715" y="376"/>
                    </a:cxn>
                  </a:cxnLst>
                  <a:rect l="0" t="0" r="r" b="b"/>
                  <a:pathLst>
                    <a:path w="1091" h="377">
                      <a:moveTo>
                        <a:pt x="715" y="376"/>
                      </a:moveTo>
                      <a:lnTo>
                        <a:pt x="0" y="187"/>
                      </a:lnTo>
                      <a:lnTo>
                        <a:pt x="397" y="0"/>
                      </a:lnTo>
                      <a:lnTo>
                        <a:pt x="1090" y="152"/>
                      </a:lnTo>
                      <a:lnTo>
                        <a:pt x="715" y="376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92" name="Freeform 96"/>
                <p:cNvSpPr>
                  <a:spLocks noChangeAspect="1"/>
                </p:cNvSpPr>
                <p:nvPr/>
              </p:nvSpPr>
              <p:spPr bwMode="auto">
                <a:xfrm>
                  <a:off x="1929" y="1473"/>
                  <a:ext cx="499" cy="282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0" y="192"/>
                    </a:cxn>
                    <a:cxn ang="0">
                      <a:pos x="690" y="390"/>
                    </a:cxn>
                    <a:cxn ang="0">
                      <a:pos x="690" y="185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690" h="390">
                      <a:moveTo>
                        <a:pt x="0" y="5"/>
                      </a:moveTo>
                      <a:lnTo>
                        <a:pt x="0" y="192"/>
                      </a:lnTo>
                      <a:lnTo>
                        <a:pt x="690" y="390"/>
                      </a:lnTo>
                      <a:lnTo>
                        <a:pt x="690" y="185"/>
                      </a:lnTo>
                      <a:lnTo>
                        <a:pt x="4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93" name="Freeform 97"/>
                <p:cNvSpPr>
                  <a:spLocks noChangeAspect="1"/>
                </p:cNvSpPr>
                <p:nvPr/>
              </p:nvSpPr>
              <p:spPr bwMode="auto">
                <a:xfrm>
                  <a:off x="2190" y="1573"/>
                  <a:ext cx="196" cy="13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71" y="73"/>
                    </a:cxn>
                    <a:cxn ang="0">
                      <a:pos x="271" y="189"/>
                    </a:cxn>
                    <a:cxn ang="0">
                      <a:pos x="0" y="115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271" h="189">
                      <a:moveTo>
                        <a:pt x="0" y="0"/>
                      </a:moveTo>
                      <a:lnTo>
                        <a:pt x="271" y="73"/>
                      </a:lnTo>
                      <a:lnTo>
                        <a:pt x="271" y="189"/>
                      </a:lnTo>
                      <a:lnTo>
                        <a:pt x="0" y="115"/>
                      </a:lnTo>
                      <a:lnTo>
                        <a:pt x="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41176"/>
                        <a:invGamma/>
                      </a:srgbClr>
                    </a:gs>
                  </a:gsLst>
                  <a:lin ang="2700000" scaled="1"/>
                </a:gradFill>
                <a:ln w="635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794" name="Freeform 98"/>
                <p:cNvSpPr>
                  <a:spLocks noChangeAspect="1" noChangeArrowheads="1"/>
                </p:cNvSpPr>
                <p:nvPr/>
              </p:nvSpPr>
              <p:spPr bwMode="auto">
                <a:xfrm>
                  <a:off x="2194" y="1624"/>
                  <a:ext cx="189" cy="4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61" y="69"/>
                    </a:cxn>
                  </a:cxnLst>
                  <a:rect l="0" t="0" r="r" b="b"/>
                  <a:pathLst>
                    <a:path w="261" h="69">
                      <a:moveTo>
                        <a:pt x="0" y="0"/>
                      </a:moveTo>
                      <a:lnTo>
                        <a:pt x="261" y="69"/>
                      </a:lnTo>
                    </a:path>
                  </a:pathLst>
                </a:custGeom>
                <a:noFill/>
                <a:ln w="3175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57795" name="Freeform 99"/>
                <p:cNvSpPr>
                  <a:spLocks/>
                </p:cNvSpPr>
                <p:nvPr/>
              </p:nvSpPr>
              <p:spPr bwMode="auto">
                <a:xfrm>
                  <a:off x="2190" y="1572"/>
                  <a:ext cx="195" cy="84"/>
                </a:xfrm>
                <a:custGeom>
                  <a:avLst/>
                  <a:gdLst/>
                  <a:ahLst/>
                  <a:cxnLst>
                    <a:cxn ang="0">
                      <a:pos x="0" y="84"/>
                    </a:cxn>
                    <a:cxn ang="0">
                      <a:pos x="0" y="0"/>
                    </a:cxn>
                    <a:cxn ang="0">
                      <a:pos x="195" y="54"/>
                    </a:cxn>
                  </a:cxnLst>
                  <a:rect l="0" t="0" r="r" b="b"/>
                  <a:pathLst>
                    <a:path w="195" h="84">
                      <a:moveTo>
                        <a:pt x="0" y="84"/>
                      </a:moveTo>
                      <a:lnTo>
                        <a:pt x="0" y="0"/>
                      </a:lnTo>
                      <a:lnTo>
                        <a:pt x="195" y="54"/>
                      </a:lnTo>
                    </a:path>
                  </a:pathLst>
                </a:custGeom>
                <a:noFill/>
                <a:ln w="6350" cap="flat" cmpd="sng">
                  <a:solidFill>
                    <a:srgbClr val="777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96" name="Line 100"/>
                <p:cNvSpPr>
                  <a:spLocks noChangeShapeType="1"/>
                </p:cNvSpPr>
                <p:nvPr/>
              </p:nvSpPr>
              <p:spPr bwMode="auto">
                <a:xfrm>
                  <a:off x="2207" y="1600"/>
                  <a:ext cx="153" cy="38"/>
                </a:xfrm>
                <a:prstGeom prst="line">
                  <a:avLst/>
                </a:prstGeom>
                <a:noFill/>
                <a:ln w="3175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97" name="Line 101"/>
                <p:cNvSpPr>
                  <a:spLocks noChangeShapeType="1"/>
                </p:cNvSpPr>
                <p:nvPr/>
              </p:nvSpPr>
              <p:spPr bwMode="auto">
                <a:xfrm>
                  <a:off x="2337" y="1678"/>
                  <a:ext cx="29" cy="6"/>
                </a:xfrm>
                <a:prstGeom prst="line">
                  <a:avLst/>
                </a:prstGeom>
                <a:noFill/>
                <a:ln w="19050">
                  <a:solidFill>
                    <a:srgbClr val="D60093"/>
                  </a:solidFill>
                  <a:round/>
                  <a:headEnd/>
                  <a:tailEnd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98" name="Freeform 102"/>
                <p:cNvSpPr>
                  <a:spLocks/>
                </p:cNvSpPr>
                <p:nvPr/>
              </p:nvSpPr>
              <p:spPr bwMode="auto">
                <a:xfrm>
                  <a:off x="2255" y="1610"/>
                  <a:ext cx="47" cy="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18"/>
                    </a:cxn>
                    <a:cxn ang="0">
                      <a:pos x="64" y="35"/>
                    </a:cxn>
                    <a:cxn ang="0">
                      <a:pos x="64" y="19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1" y="18"/>
                      </a:lnTo>
                      <a:lnTo>
                        <a:pt x="64" y="35"/>
                      </a:lnTo>
                      <a:lnTo>
                        <a:pt x="64" y="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77777"/>
                </a:solidFill>
                <a:ln w="190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799" name="Line 103"/>
                <p:cNvSpPr>
                  <a:spLocks noChangeShapeType="1"/>
                </p:cNvSpPr>
                <p:nvPr/>
              </p:nvSpPr>
              <p:spPr bwMode="auto">
                <a:xfrm>
                  <a:off x="1942" y="1503"/>
                  <a:ext cx="202" cy="57"/>
                </a:xfrm>
                <a:prstGeom prst="line">
                  <a:avLst/>
                </a:prstGeom>
                <a:noFill/>
                <a:ln w="6350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800" name="Line 104"/>
                <p:cNvSpPr>
                  <a:spLocks noChangeShapeType="1"/>
                </p:cNvSpPr>
                <p:nvPr/>
              </p:nvSpPr>
              <p:spPr bwMode="auto">
                <a:xfrm>
                  <a:off x="1942" y="1525"/>
                  <a:ext cx="202" cy="56"/>
                </a:xfrm>
                <a:prstGeom prst="line">
                  <a:avLst/>
                </a:prstGeom>
                <a:noFill/>
                <a:ln w="6350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801" name="Line 105"/>
                <p:cNvSpPr>
                  <a:spLocks noChangeShapeType="1"/>
                </p:cNvSpPr>
                <p:nvPr/>
              </p:nvSpPr>
              <p:spPr bwMode="auto">
                <a:xfrm>
                  <a:off x="1942" y="1548"/>
                  <a:ext cx="202" cy="57"/>
                </a:xfrm>
                <a:prstGeom prst="line">
                  <a:avLst/>
                </a:prstGeom>
                <a:noFill/>
                <a:ln w="6350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802" name="Line 106"/>
                <p:cNvSpPr>
                  <a:spLocks noChangeShapeType="1"/>
                </p:cNvSpPr>
                <p:nvPr/>
              </p:nvSpPr>
              <p:spPr bwMode="auto">
                <a:xfrm>
                  <a:off x="1942" y="1570"/>
                  <a:ext cx="202" cy="56"/>
                </a:xfrm>
                <a:prstGeom prst="line">
                  <a:avLst/>
                </a:prstGeom>
                <a:noFill/>
                <a:ln w="6350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7803" name="Freeform 107"/>
                <p:cNvSpPr>
                  <a:spLocks/>
                </p:cNvSpPr>
                <p:nvPr/>
              </p:nvSpPr>
              <p:spPr bwMode="auto">
                <a:xfrm>
                  <a:off x="2192" y="1632"/>
                  <a:ext cx="198" cy="84"/>
                </a:xfrm>
                <a:custGeom>
                  <a:avLst/>
                  <a:gdLst/>
                  <a:ahLst/>
                  <a:cxnLst>
                    <a:cxn ang="0">
                      <a:pos x="0" y="40"/>
                    </a:cxn>
                    <a:cxn ang="0">
                      <a:pos x="275" y="117"/>
                    </a:cxn>
                    <a:cxn ang="0">
                      <a:pos x="275" y="0"/>
                    </a:cxn>
                  </a:cxnLst>
                  <a:rect l="0" t="0" r="r" b="b"/>
                  <a:pathLst>
                    <a:path w="275" h="117">
                      <a:moveTo>
                        <a:pt x="0" y="40"/>
                      </a:moveTo>
                      <a:lnTo>
                        <a:pt x="275" y="117"/>
                      </a:lnTo>
                      <a:lnTo>
                        <a:pt x="275" y="0"/>
                      </a:lnTo>
                    </a:path>
                  </a:pathLst>
                </a:custGeom>
                <a:no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157804" name="Group 108"/>
              <p:cNvGrpSpPr>
                <a:grpSpLocks/>
              </p:cNvGrpSpPr>
              <p:nvPr/>
            </p:nvGrpSpPr>
            <p:grpSpPr bwMode="auto">
              <a:xfrm>
                <a:off x="3042" y="2733"/>
                <a:ext cx="714" cy="672"/>
                <a:chOff x="2004" y="885"/>
                <a:chExt cx="714" cy="672"/>
              </a:xfrm>
            </p:grpSpPr>
            <p:sp>
              <p:nvSpPr>
                <p:cNvPr id="157805" name="Freeform 109"/>
                <p:cNvSpPr>
                  <a:spLocks/>
                </p:cNvSpPr>
                <p:nvPr/>
              </p:nvSpPr>
              <p:spPr bwMode="auto">
                <a:xfrm>
                  <a:off x="2058" y="1322"/>
                  <a:ext cx="556" cy="235"/>
                </a:xfrm>
                <a:custGeom>
                  <a:avLst/>
                  <a:gdLst/>
                  <a:ahLst/>
                  <a:cxnLst>
                    <a:cxn ang="0">
                      <a:pos x="0" y="128"/>
                    </a:cxn>
                    <a:cxn ang="0">
                      <a:pos x="238" y="0"/>
                    </a:cxn>
                    <a:cxn ang="0">
                      <a:pos x="556" y="91"/>
                    </a:cxn>
                    <a:cxn ang="0">
                      <a:pos x="556" y="108"/>
                    </a:cxn>
                    <a:cxn ang="0">
                      <a:pos x="334" y="235"/>
                    </a:cxn>
                    <a:cxn ang="0">
                      <a:pos x="0" y="148"/>
                    </a:cxn>
                    <a:cxn ang="0">
                      <a:pos x="0" y="128"/>
                    </a:cxn>
                  </a:cxnLst>
                  <a:rect l="0" t="0" r="r" b="b"/>
                  <a:pathLst>
                    <a:path w="556" h="235">
                      <a:moveTo>
                        <a:pt x="0" y="128"/>
                      </a:moveTo>
                      <a:lnTo>
                        <a:pt x="238" y="0"/>
                      </a:lnTo>
                      <a:lnTo>
                        <a:pt x="556" y="91"/>
                      </a:lnTo>
                      <a:lnTo>
                        <a:pt x="556" y="108"/>
                      </a:lnTo>
                      <a:lnTo>
                        <a:pt x="334" y="235"/>
                      </a:lnTo>
                      <a:lnTo>
                        <a:pt x="0" y="148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DDDDDD"/>
                </a:solidFill>
                <a:ln w="3175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806" name="Freeform 110"/>
                <p:cNvSpPr>
                  <a:spLocks/>
                </p:cNvSpPr>
                <p:nvPr/>
              </p:nvSpPr>
              <p:spPr bwMode="auto">
                <a:xfrm>
                  <a:off x="2065" y="1327"/>
                  <a:ext cx="538" cy="208"/>
                </a:xfrm>
                <a:custGeom>
                  <a:avLst/>
                  <a:gdLst/>
                  <a:ahLst/>
                  <a:cxnLst>
                    <a:cxn ang="0">
                      <a:pos x="0" y="124"/>
                    </a:cxn>
                    <a:cxn ang="0">
                      <a:pos x="327" y="208"/>
                    </a:cxn>
                    <a:cxn ang="0">
                      <a:pos x="538" y="86"/>
                    </a:cxn>
                    <a:cxn ang="0">
                      <a:pos x="233" y="0"/>
                    </a:cxn>
                    <a:cxn ang="0">
                      <a:pos x="0" y="124"/>
                    </a:cxn>
                  </a:cxnLst>
                  <a:rect l="0" t="0" r="r" b="b"/>
                  <a:pathLst>
                    <a:path w="538" h="208">
                      <a:moveTo>
                        <a:pt x="0" y="124"/>
                      </a:moveTo>
                      <a:lnTo>
                        <a:pt x="327" y="208"/>
                      </a:lnTo>
                      <a:lnTo>
                        <a:pt x="538" y="86"/>
                      </a:lnTo>
                      <a:lnTo>
                        <a:pt x="233" y="0"/>
                      </a:lnTo>
                      <a:lnTo>
                        <a:pt x="0" y="124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635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807" name="Oval 111"/>
                <p:cNvSpPr>
                  <a:spLocks noChangeArrowheads="1"/>
                </p:cNvSpPr>
                <p:nvPr/>
              </p:nvSpPr>
              <p:spPr bwMode="auto">
                <a:xfrm>
                  <a:off x="2199" y="1378"/>
                  <a:ext cx="280" cy="112"/>
                </a:xfrm>
                <a:prstGeom prst="ellipse">
                  <a:avLst/>
                </a:prstGeom>
                <a:solidFill>
                  <a:srgbClr val="B2B2B2"/>
                </a:solidFill>
                <a:ln w="317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808" name="Freeform 112"/>
                <p:cNvSpPr>
                  <a:spLocks/>
                </p:cNvSpPr>
                <p:nvPr/>
              </p:nvSpPr>
              <p:spPr bwMode="auto">
                <a:xfrm>
                  <a:off x="2046" y="1382"/>
                  <a:ext cx="452" cy="12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0" y="36"/>
                    </a:cxn>
                    <a:cxn ang="0">
                      <a:pos x="574" y="180"/>
                    </a:cxn>
                    <a:cxn ang="0">
                      <a:pos x="646" y="158"/>
                    </a:cxn>
                  </a:cxnLst>
                  <a:rect l="0" t="0" r="r" b="b"/>
                  <a:pathLst>
                    <a:path w="646" h="180">
                      <a:moveTo>
                        <a:pt x="0" y="0"/>
                      </a:moveTo>
                      <a:lnTo>
                        <a:pt x="20" y="36"/>
                      </a:lnTo>
                      <a:lnTo>
                        <a:pt x="574" y="180"/>
                      </a:lnTo>
                      <a:lnTo>
                        <a:pt x="646" y="158"/>
                      </a:lnTo>
                    </a:path>
                  </a:pathLst>
                </a:custGeom>
                <a:solidFill>
                  <a:srgbClr val="B2B2B2"/>
                </a:soli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809" name="Freeform 113"/>
                <p:cNvSpPr>
                  <a:spLocks noChangeAspect="1"/>
                </p:cNvSpPr>
                <p:nvPr/>
              </p:nvSpPr>
              <p:spPr bwMode="auto">
                <a:xfrm>
                  <a:off x="2154" y="885"/>
                  <a:ext cx="564" cy="520"/>
                </a:xfrm>
                <a:custGeom>
                  <a:avLst/>
                  <a:gdLst/>
                  <a:ahLst/>
                  <a:cxnLst>
                    <a:cxn ang="0">
                      <a:pos x="620" y="746"/>
                    </a:cxn>
                    <a:cxn ang="0">
                      <a:pos x="808" y="525"/>
                    </a:cxn>
                    <a:cxn ang="0">
                      <a:pos x="808" y="106"/>
                    </a:cxn>
                    <a:cxn ang="0">
                      <a:pos x="336" y="0"/>
                    </a:cxn>
                    <a:cxn ang="0">
                      <a:pos x="0" y="48"/>
                    </a:cxn>
                  </a:cxnLst>
                  <a:rect l="0" t="0" r="r" b="b"/>
                  <a:pathLst>
                    <a:path w="808" h="746">
                      <a:moveTo>
                        <a:pt x="620" y="746"/>
                      </a:moveTo>
                      <a:lnTo>
                        <a:pt x="808" y="525"/>
                      </a:lnTo>
                      <a:lnTo>
                        <a:pt x="808" y="106"/>
                      </a:lnTo>
                      <a:lnTo>
                        <a:pt x="336" y="0"/>
                      </a:lnTo>
                      <a:lnTo>
                        <a:pt x="0" y="48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810" name="Freeform 114"/>
                <p:cNvSpPr>
                  <a:spLocks noChangeAspect="1"/>
                </p:cNvSpPr>
                <p:nvPr/>
              </p:nvSpPr>
              <p:spPr bwMode="auto">
                <a:xfrm>
                  <a:off x="2506" y="1000"/>
                  <a:ext cx="113" cy="506"/>
                </a:xfrm>
                <a:custGeom>
                  <a:avLst/>
                  <a:gdLst/>
                  <a:ahLst/>
                  <a:cxnLst>
                    <a:cxn ang="0">
                      <a:pos x="0" y="644"/>
                    </a:cxn>
                    <a:cxn ang="0">
                      <a:pos x="0" y="79"/>
                    </a:cxn>
                    <a:cxn ang="0">
                      <a:pos x="144" y="0"/>
                    </a:cxn>
                    <a:cxn ang="0">
                      <a:pos x="144" y="554"/>
                    </a:cxn>
                    <a:cxn ang="0">
                      <a:pos x="0" y="644"/>
                    </a:cxn>
                  </a:cxnLst>
                  <a:rect l="0" t="0" r="r" b="b"/>
                  <a:pathLst>
                    <a:path w="144" h="644">
                      <a:moveTo>
                        <a:pt x="0" y="644"/>
                      </a:moveTo>
                      <a:lnTo>
                        <a:pt x="0" y="79"/>
                      </a:lnTo>
                      <a:lnTo>
                        <a:pt x="144" y="0"/>
                      </a:lnTo>
                      <a:lnTo>
                        <a:pt x="144" y="554"/>
                      </a:lnTo>
                      <a:lnTo>
                        <a:pt x="0" y="644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811" name="Freeform 115"/>
                <p:cNvSpPr>
                  <a:spLocks noChangeAspect="1"/>
                </p:cNvSpPr>
                <p:nvPr/>
              </p:nvSpPr>
              <p:spPr bwMode="auto">
                <a:xfrm>
                  <a:off x="2004" y="891"/>
                  <a:ext cx="615" cy="172"/>
                </a:xfrm>
                <a:custGeom>
                  <a:avLst/>
                  <a:gdLst/>
                  <a:ahLst/>
                  <a:cxnLst>
                    <a:cxn ang="0">
                      <a:pos x="638" y="219"/>
                    </a:cxn>
                    <a:cxn ang="0">
                      <a:pos x="0" y="67"/>
                    </a:cxn>
                    <a:cxn ang="0">
                      <a:pos x="160" y="0"/>
                    </a:cxn>
                    <a:cxn ang="0">
                      <a:pos x="782" y="139"/>
                    </a:cxn>
                    <a:cxn ang="0">
                      <a:pos x="638" y="219"/>
                    </a:cxn>
                  </a:cxnLst>
                  <a:rect l="0" t="0" r="r" b="b"/>
                  <a:pathLst>
                    <a:path w="782" h="219">
                      <a:moveTo>
                        <a:pt x="638" y="219"/>
                      </a:moveTo>
                      <a:lnTo>
                        <a:pt x="0" y="67"/>
                      </a:lnTo>
                      <a:lnTo>
                        <a:pt x="160" y="0"/>
                      </a:lnTo>
                      <a:lnTo>
                        <a:pt x="782" y="139"/>
                      </a:lnTo>
                      <a:lnTo>
                        <a:pt x="638" y="219"/>
                      </a:lnTo>
                    </a:path>
                  </a:pathLst>
                </a:custGeom>
                <a:solidFill>
                  <a:schemeClr val="bg1"/>
                </a:soli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812" name="Freeform 116"/>
                <p:cNvSpPr>
                  <a:spLocks noChangeAspect="1"/>
                </p:cNvSpPr>
                <p:nvPr/>
              </p:nvSpPr>
              <p:spPr bwMode="auto">
                <a:xfrm>
                  <a:off x="2004" y="942"/>
                  <a:ext cx="502" cy="566"/>
                </a:xfrm>
                <a:custGeom>
                  <a:avLst/>
                  <a:gdLst/>
                  <a:ahLst/>
                  <a:cxnLst>
                    <a:cxn ang="0">
                      <a:pos x="671" y="753"/>
                    </a:cxn>
                    <a:cxn ang="0">
                      <a:pos x="671" y="160"/>
                    </a:cxn>
                    <a:cxn ang="0">
                      <a:pos x="0" y="0"/>
                    </a:cxn>
                    <a:cxn ang="0">
                      <a:pos x="0" y="578"/>
                    </a:cxn>
                    <a:cxn ang="0">
                      <a:pos x="671" y="753"/>
                    </a:cxn>
                  </a:cxnLst>
                  <a:rect l="0" t="0" r="r" b="b"/>
                  <a:pathLst>
                    <a:path w="672" h="754">
                      <a:moveTo>
                        <a:pt x="671" y="753"/>
                      </a:moveTo>
                      <a:lnTo>
                        <a:pt x="671" y="160"/>
                      </a:lnTo>
                      <a:lnTo>
                        <a:pt x="0" y="0"/>
                      </a:lnTo>
                      <a:lnTo>
                        <a:pt x="0" y="578"/>
                      </a:lnTo>
                      <a:lnTo>
                        <a:pt x="671" y="753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813" name="Freeform 117"/>
                <p:cNvSpPr>
                  <a:spLocks noChangeAspect="1"/>
                </p:cNvSpPr>
                <p:nvPr/>
              </p:nvSpPr>
              <p:spPr bwMode="auto">
                <a:xfrm>
                  <a:off x="2043" y="992"/>
                  <a:ext cx="425" cy="464"/>
                </a:xfrm>
                <a:custGeom>
                  <a:avLst/>
                  <a:gdLst/>
                  <a:ahLst/>
                  <a:cxnLst>
                    <a:cxn ang="0">
                      <a:pos x="490" y="548"/>
                    </a:cxn>
                    <a:cxn ang="0">
                      <a:pos x="490" y="117"/>
                    </a:cxn>
                    <a:cxn ang="0">
                      <a:pos x="0" y="0"/>
                    </a:cxn>
                    <a:cxn ang="0">
                      <a:pos x="0" y="424"/>
                    </a:cxn>
                    <a:cxn ang="0">
                      <a:pos x="490" y="548"/>
                    </a:cxn>
                  </a:cxnLst>
                  <a:rect l="0" t="0" r="r" b="b"/>
                  <a:pathLst>
                    <a:path w="491" h="549">
                      <a:moveTo>
                        <a:pt x="490" y="548"/>
                      </a:moveTo>
                      <a:lnTo>
                        <a:pt x="490" y="117"/>
                      </a:lnTo>
                      <a:lnTo>
                        <a:pt x="0" y="0"/>
                      </a:lnTo>
                      <a:lnTo>
                        <a:pt x="0" y="424"/>
                      </a:lnTo>
                      <a:lnTo>
                        <a:pt x="490" y="548"/>
                      </a:lnTo>
                    </a:path>
                  </a:pathLst>
                </a:custGeom>
                <a:solidFill>
                  <a:srgbClr val="CECECE"/>
                </a:solidFill>
                <a:ln w="6350" cap="rnd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814" name="Freeform 118"/>
                <p:cNvSpPr>
                  <a:spLocks/>
                </p:cNvSpPr>
                <p:nvPr/>
              </p:nvSpPr>
              <p:spPr bwMode="auto">
                <a:xfrm>
                  <a:off x="2069" y="1023"/>
                  <a:ext cx="372" cy="40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454"/>
                    </a:cxn>
                    <a:cxn ang="0">
                      <a:pos x="542" y="592"/>
                    </a:cxn>
                    <a:cxn ang="0">
                      <a:pos x="542" y="13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42" h="592">
                      <a:moveTo>
                        <a:pt x="0" y="0"/>
                      </a:moveTo>
                      <a:lnTo>
                        <a:pt x="0" y="454"/>
                      </a:lnTo>
                      <a:lnTo>
                        <a:pt x="542" y="592"/>
                      </a:lnTo>
                      <a:lnTo>
                        <a:pt x="542" y="1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18FFD"/>
                    </a:gs>
                    <a:gs pos="100000">
                      <a:srgbClr val="618FFD">
                        <a:gamma/>
                        <a:shade val="75294"/>
                        <a:invGamma/>
                      </a:srgbClr>
                    </a:gs>
                  </a:gsLst>
                  <a:path path="rect">
                    <a:fillToRect r="100000" b="100000"/>
                  </a:path>
                </a:gradFill>
                <a:ln w="6350" cap="flat" cmpd="sng">
                  <a:solidFill>
                    <a:srgbClr val="777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7961" dir="2700000" algn="ctr" rotWithShape="0">
                    <a:schemeClr val="bg1"/>
                  </a:outerShdw>
                </a:effec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57815" name="Line 119"/>
                <p:cNvSpPr>
                  <a:spLocks noChangeShapeType="1"/>
                </p:cNvSpPr>
                <p:nvPr/>
              </p:nvSpPr>
              <p:spPr bwMode="auto">
                <a:xfrm>
                  <a:off x="2102" y="1056"/>
                  <a:ext cx="0" cy="61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</p:grpSp>
      </p:grpSp>
      <p:sp>
        <p:nvSpPr>
          <p:cNvPr id="157816" name="Text Box 120"/>
          <p:cNvSpPr txBox="1">
            <a:spLocks noChangeArrowheads="1"/>
          </p:cNvSpPr>
          <p:nvPr/>
        </p:nvSpPr>
        <p:spPr bwMode="auto">
          <a:xfrm>
            <a:off x="188686" y="1392238"/>
            <a:ext cx="8955314" cy="2017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79400" indent="-279400">
              <a:lnSpc>
                <a:spcPct val="90000"/>
              </a:lnSpc>
              <a:spcBef>
                <a:spcPct val="60000"/>
              </a:spcBef>
              <a:buClr>
                <a:schemeClr val="accent2"/>
              </a:buClr>
              <a:buSzPct val="70000"/>
              <a:buFont typeface="Wingdings" pitchFamily="2" charset="2"/>
              <a:buNone/>
            </a:pPr>
            <a:r>
              <a:rPr lang="en-US" sz="2600" dirty="0" err="1"/>
              <a:t>Caractéristiques</a:t>
            </a:r>
            <a:r>
              <a:rPr lang="en-US" sz="2600" dirty="0"/>
              <a:t> d'un </a:t>
            </a:r>
            <a:r>
              <a:rPr lang="en-US" sz="2600" dirty="0" err="1"/>
              <a:t>groupe</a:t>
            </a:r>
            <a:r>
              <a:rPr lang="en-US" sz="2600" dirty="0"/>
              <a:t> de travail : </a:t>
            </a:r>
          </a:p>
          <a:p>
            <a:pPr marL="690563" lvl="1" indent="-296863">
              <a:lnSpc>
                <a:spcPct val="90000"/>
              </a:lnSpc>
              <a:spcBef>
                <a:spcPct val="60000"/>
              </a:spcBef>
              <a:buClr>
                <a:schemeClr val="accent2"/>
              </a:buClr>
              <a:buSzPct val="65000"/>
              <a:buFont typeface="Wingdings" pitchFamily="2" charset="2"/>
              <a:buChar char="l"/>
            </a:pPr>
            <a:r>
              <a:rPr lang="en-US" sz="2600" b="0" dirty="0" err="1"/>
              <a:t>Réseau</a:t>
            </a:r>
            <a:r>
              <a:rPr lang="en-US" sz="2600" b="0" dirty="0"/>
              <a:t> </a:t>
            </a:r>
            <a:r>
              <a:rPr lang="en-US" sz="2600" b="0" dirty="0" err="1"/>
              <a:t>d'égal</a:t>
            </a:r>
            <a:r>
              <a:rPr lang="en-US" sz="2600" b="0" dirty="0"/>
              <a:t> à </a:t>
            </a:r>
            <a:r>
              <a:rPr lang="en-US" sz="2600" b="0" dirty="0" err="1"/>
              <a:t>égal</a:t>
            </a:r>
            <a:endParaRPr lang="en-US" sz="2600" b="0" dirty="0"/>
          </a:p>
          <a:p>
            <a:pPr marL="690563" lvl="1" indent="-296863">
              <a:lnSpc>
                <a:spcPct val="90000"/>
              </a:lnSpc>
              <a:spcBef>
                <a:spcPct val="60000"/>
              </a:spcBef>
              <a:buClr>
                <a:schemeClr val="accent2"/>
              </a:buClr>
              <a:buSzPct val="65000"/>
              <a:buFont typeface="Wingdings" pitchFamily="2" charset="2"/>
              <a:buChar char="l"/>
            </a:pPr>
            <a:r>
              <a:rPr lang="en-US" sz="2600" b="0" dirty="0"/>
              <a:t>Administration </a:t>
            </a:r>
            <a:r>
              <a:rPr lang="en-US" sz="2600" b="0" dirty="0" smtClean="0"/>
              <a:t>non </a:t>
            </a:r>
            <a:r>
              <a:rPr lang="en-US" sz="2600" b="0" dirty="0" err="1"/>
              <a:t>centralisée</a:t>
            </a:r>
            <a:endParaRPr lang="en-US" sz="26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578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578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9938"/>
            <a:ext cx="9144000" cy="841375"/>
          </a:xfrm>
        </p:spPr>
        <p:txBody>
          <a:bodyPr vert="horz" anchor="b">
            <a:norm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Étude des comptes d'utilisateur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58724" name="Rectangle 4"/>
          <p:cNvSpPr>
            <a:spLocks noChangeArrowheads="1"/>
          </p:cNvSpPr>
          <p:nvPr/>
        </p:nvSpPr>
        <p:spPr bwMode="auto">
          <a:xfrm>
            <a:off x="0" y="1017588"/>
            <a:ext cx="9144000" cy="5840412"/>
          </a:xfrm>
          <a:prstGeom prst="rect">
            <a:avLst/>
          </a:prstGeom>
          <a:gradFill rotWithShape="0">
            <a:gsLst>
              <a:gs pos="0">
                <a:srgbClr val="6699FF">
                  <a:gamma/>
                  <a:shade val="46275"/>
                  <a:invGamma/>
                </a:srgbClr>
              </a:gs>
              <a:gs pos="100000">
                <a:srgbClr val="6699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lIns="137160" rIns="45720" anchor="ctr"/>
          <a:lstStyle/>
          <a:p>
            <a:pPr algn="ctr"/>
            <a:endParaRPr lang="fr-FR" sz="2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58725" name="Rectangle 5"/>
          <p:cNvSpPr>
            <a:spLocks noChangeArrowheads="1"/>
          </p:cNvSpPr>
          <p:nvPr/>
        </p:nvSpPr>
        <p:spPr bwMode="auto">
          <a:xfrm>
            <a:off x="24283" y="1023487"/>
            <a:ext cx="2268973" cy="2028500"/>
          </a:xfrm>
          <a:prstGeom prst="rect">
            <a:avLst/>
          </a:prstGeom>
          <a:gradFill rotWithShape="0">
            <a:gsLst>
              <a:gs pos="0">
                <a:srgbClr val="FCFEBC"/>
              </a:gs>
              <a:gs pos="100000">
                <a:srgbClr val="FFFFEB"/>
              </a:gs>
            </a:gsLst>
            <a:lin ang="5400000" scaled="1"/>
          </a:gradFill>
          <a:ln w="9525">
            <a:solidFill>
              <a:srgbClr val="969696"/>
            </a:solidFill>
            <a:miter lim="800000"/>
            <a:headEnd/>
            <a:tailEnd/>
          </a:ln>
          <a:effectLst/>
        </p:spPr>
        <p:txBody>
          <a:bodyPr tIns="27432"/>
          <a:lstStyle/>
          <a:p>
            <a:pPr algn="ctr">
              <a:lnSpc>
                <a:spcPct val="90000"/>
              </a:lnSpc>
            </a:pPr>
            <a:r>
              <a:rPr lang="en-US" sz="1600" dirty="0" err="1">
                <a:solidFill>
                  <a:srgbClr val="333399"/>
                </a:solidFill>
              </a:rPr>
              <a:t>Comptes</a:t>
            </a:r>
            <a:r>
              <a:rPr lang="en-US" sz="1600" dirty="0">
                <a:solidFill>
                  <a:srgbClr val="333399"/>
                </a:solidFill>
              </a:rPr>
              <a:t> </a:t>
            </a:r>
            <a:r>
              <a:rPr lang="en-US" sz="1600" dirty="0" err="1">
                <a:solidFill>
                  <a:srgbClr val="333399"/>
                </a:solidFill>
              </a:rPr>
              <a:t>d'utilisateur</a:t>
            </a:r>
            <a:r>
              <a:rPr lang="en-US" sz="1600" dirty="0">
                <a:solidFill>
                  <a:srgbClr val="333399"/>
                </a:solidFill>
              </a:rPr>
              <a:t> </a:t>
            </a:r>
            <a:r>
              <a:rPr lang="en-US" sz="1600" dirty="0" err="1">
                <a:solidFill>
                  <a:srgbClr val="333399"/>
                </a:solidFill>
              </a:rPr>
              <a:t>locaux</a:t>
            </a:r>
            <a:endParaRPr lang="en-US" sz="1600" dirty="0">
              <a:solidFill>
                <a:srgbClr val="333399"/>
              </a:solidFill>
            </a:endParaRPr>
          </a:p>
        </p:txBody>
      </p:sp>
      <p:sp>
        <p:nvSpPr>
          <p:cNvPr id="158726" name="Rectangle 6"/>
          <p:cNvSpPr>
            <a:spLocks noChangeArrowheads="1"/>
          </p:cNvSpPr>
          <p:nvPr/>
        </p:nvSpPr>
        <p:spPr bwMode="auto">
          <a:xfrm>
            <a:off x="2351314" y="1067029"/>
            <a:ext cx="6746179" cy="1893885"/>
          </a:xfrm>
          <a:prstGeom prst="rect">
            <a:avLst/>
          </a:prstGeom>
          <a:gradFill rotWithShape="0">
            <a:gsLst>
              <a:gs pos="0">
                <a:srgbClr val="99CCFF">
                  <a:gamma/>
                  <a:tint val="4314"/>
                  <a:invGamma/>
                </a:srgbClr>
              </a:gs>
              <a:gs pos="100000">
                <a:srgbClr val="99CC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tIns="27432" bIns="27432" anchor="ctr"/>
          <a:lstStyle/>
          <a:p>
            <a:pPr marL="168275" indent="-168275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fr-FR" sz="2000" dirty="0"/>
              <a:t>Permettent à un utilisateur d'ouvrir une session sur un ordinateur particulier pour accéder à ses ressources </a:t>
            </a:r>
            <a:endParaRPr lang="en-US" sz="2000" dirty="0"/>
          </a:p>
          <a:p>
            <a:pPr marL="168275" indent="-168275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fr-FR" sz="2000" dirty="0"/>
              <a:t>Résident dans le Gestionnaire de comptes de sécurité</a:t>
            </a:r>
          </a:p>
          <a:p>
            <a:pPr marL="168275" indent="-168275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sz="2000" dirty="0" err="1"/>
              <a:t>Doivent</a:t>
            </a:r>
            <a:r>
              <a:rPr lang="en-US" sz="2000" dirty="0"/>
              <a:t> </a:t>
            </a:r>
            <a:r>
              <a:rPr lang="en-US" sz="2000" dirty="0" err="1"/>
              <a:t>être</a:t>
            </a:r>
            <a:r>
              <a:rPr lang="en-US" sz="2000" dirty="0"/>
              <a:t> </a:t>
            </a:r>
            <a:r>
              <a:rPr lang="en-US" sz="2000" dirty="0" err="1"/>
              <a:t>créés</a:t>
            </a:r>
            <a:r>
              <a:rPr lang="en-US" sz="2000" dirty="0"/>
              <a:t> </a:t>
            </a:r>
            <a:r>
              <a:rPr lang="en-US" sz="2000" dirty="0" err="1"/>
              <a:t>sur</a:t>
            </a:r>
            <a:r>
              <a:rPr lang="en-US" sz="2000" dirty="0"/>
              <a:t> </a:t>
            </a:r>
            <a:r>
              <a:rPr lang="en-US" sz="2000" dirty="0" err="1"/>
              <a:t>chaque</a:t>
            </a:r>
            <a:r>
              <a:rPr lang="en-US" sz="2000" dirty="0"/>
              <a:t> </a:t>
            </a:r>
            <a:r>
              <a:rPr lang="en-US" sz="2000" dirty="0" err="1"/>
              <a:t>ordinateur</a:t>
            </a:r>
            <a:endParaRPr lang="en-US" sz="2000" dirty="0"/>
          </a:p>
        </p:txBody>
      </p:sp>
      <p:grpSp>
        <p:nvGrpSpPr>
          <p:cNvPr id="158727" name="Group 7"/>
          <p:cNvGrpSpPr>
            <a:grpSpLocks/>
          </p:cNvGrpSpPr>
          <p:nvPr/>
        </p:nvGrpSpPr>
        <p:grpSpPr bwMode="auto">
          <a:xfrm>
            <a:off x="371946" y="1821999"/>
            <a:ext cx="786995" cy="878886"/>
            <a:chOff x="2013" y="3316"/>
            <a:chExt cx="629" cy="694"/>
          </a:xfrm>
        </p:grpSpPr>
        <p:sp>
          <p:nvSpPr>
            <p:cNvPr id="158728" name="Freeform 8"/>
            <p:cNvSpPr>
              <a:spLocks noChangeAspect="1"/>
            </p:cNvSpPr>
            <p:nvPr/>
          </p:nvSpPr>
          <p:spPr bwMode="auto">
            <a:xfrm>
              <a:off x="2409" y="3767"/>
              <a:ext cx="211" cy="243"/>
            </a:xfrm>
            <a:custGeom>
              <a:avLst/>
              <a:gdLst/>
              <a:ahLst/>
              <a:cxnLst>
                <a:cxn ang="0">
                  <a:pos x="0" y="158"/>
                </a:cxn>
                <a:cxn ang="0">
                  <a:pos x="265" y="0"/>
                </a:cxn>
                <a:cxn ang="0">
                  <a:pos x="265" y="130"/>
                </a:cxn>
                <a:cxn ang="0">
                  <a:pos x="2" y="305"/>
                </a:cxn>
              </a:cxnLst>
              <a:rect l="0" t="0" r="r" b="b"/>
              <a:pathLst>
                <a:path w="265" h="305">
                  <a:moveTo>
                    <a:pt x="0" y="158"/>
                  </a:moveTo>
                  <a:lnTo>
                    <a:pt x="265" y="0"/>
                  </a:lnTo>
                  <a:lnTo>
                    <a:pt x="265" y="130"/>
                  </a:lnTo>
                  <a:lnTo>
                    <a:pt x="2" y="305"/>
                  </a:lnTo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B2B2B2">
                    <a:gamma/>
                    <a:tint val="34118"/>
                    <a:invGamma/>
                  </a:srgbClr>
                </a:gs>
              </a:gsLst>
              <a:path path="rect">
                <a:fillToRect l="100000" t="100000"/>
              </a:path>
            </a:gradFill>
            <a:ln w="3175" cap="rnd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8729" name="Freeform 9"/>
            <p:cNvSpPr>
              <a:spLocks noChangeAspect="1"/>
            </p:cNvSpPr>
            <p:nvPr/>
          </p:nvSpPr>
          <p:spPr bwMode="auto">
            <a:xfrm>
              <a:off x="2013" y="3681"/>
              <a:ext cx="607" cy="212"/>
            </a:xfrm>
            <a:custGeom>
              <a:avLst/>
              <a:gdLst/>
              <a:ahLst/>
              <a:cxnLst>
                <a:cxn ang="0">
                  <a:pos x="497" y="265"/>
                </a:cxn>
                <a:cxn ang="0">
                  <a:pos x="0" y="131"/>
                </a:cxn>
                <a:cxn ang="0">
                  <a:pos x="278" y="0"/>
                </a:cxn>
                <a:cxn ang="0">
                  <a:pos x="761" y="107"/>
                </a:cxn>
                <a:cxn ang="0">
                  <a:pos x="500" y="263"/>
                </a:cxn>
              </a:cxnLst>
              <a:rect l="0" t="0" r="r" b="b"/>
              <a:pathLst>
                <a:path w="761" h="265">
                  <a:moveTo>
                    <a:pt x="497" y="265"/>
                  </a:moveTo>
                  <a:lnTo>
                    <a:pt x="0" y="131"/>
                  </a:lnTo>
                  <a:lnTo>
                    <a:pt x="278" y="0"/>
                  </a:lnTo>
                  <a:lnTo>
                    <a:pt x="761" y="107"/>
                  </a:lnTo>
                  <a:lnTo>
                    <a:pt x="500" y="263"/>
                  </a:lnTo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B2B2B2">
                    <a:gamma/>
                    <a:tint val="34118"/>
                    <a:invGamma/>
                  </a:srgbClr>
                </a:gs>
              </a:gsLst>
              <a:path path="rect">
                <a:fillToRect l="100000" t="100000"/>
              </a:path>
            </a:gradFill>
            <a:ln w="3175" cap="rnd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8730" name="Freeform 10"/>
            <p:cNvSpPr>
              <a:spLocks noChangeAspect="1"/>
            </p:cNvSpPr>
            <p:nvPr/>
          </p:nvSpPr>
          <p:spPr bwMode="auto">
            <a:xfrm>
              <a:off x="2013" y="3785"/>
              <a:ext cx="398" cy="225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92"/>
                </a:cxn>
                <a:cxn ang="0">
                  <a:pos x="690" y="390"/>
                </a:cxn>
                <a:cxn ang="0">
                  <a:pos x="690" y="185"/>
                </a:cxn>
                <a:cxn ang="0">
                  <a:pos x="4" y="0"/>
                </a:cxn>
              </a:cxnLst>
              <a:rect l="0" t="0" r="r" b="b"/>
              <a:pathLst>
                <a:path w="690" h="390">
                  <a:moveTo>
                    <a:pt x="0" y="5"/>
                  </a:moveTo>
                  <a:lnTo>
                    <a:pt x="0" y="192"/>
                  </a:lnTo>
                  <a:lnTo>
                    <a:pt x="690" y="390"/>
                  </a:lnTo>
                  <a:lnTo>
                    <a:pt x="690" y="185"/>
                  </a:lnTo>
                  <a:lnTo>
                    <a:pt x="4" y="0"/>
                  </a:lnTo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B2B2B2">
                    <a:gamma/>
                    <a:tint val="34118"/>
                    <a:invGamma/>
                  </a:srgbClr>
                </a:gs>
              </a:gsLst>
              <a:path path="rect">
                <a:fillToRect l="100000" t="100000"/>
              </a:path>
            </a:gradFill>
            <a:ln w="3175" cap="rnd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8731" name="Freeform 11"/>
            <p:cNvSpPr>
              <a:spLocks/>
            </p:cNvSpPr>
            <p:nvPr/>
          </p:nvSpPr>
          <p:spPr bwMode="auto">
            <a:xfrm>
              <a:off x="2116" y="3665"/>
              <a:ext cx="443" cy="187"/>
            </a:xfrm>
            <a:custGeom>
              <a:avLst/>
              <a:gdLst/>
              <a:ahLst/>
              <a:cxnLst>
                <a:cxn ang="0">
                  <a:pos x="0" y="128"/>
                </a:cxn>
                <a:cxn ang="0">
                  <a:pos x="238" y="0"/>
                </a:cxn>
                <a:cxn ang="0">
                  <a:pos x="556" y="91"/>
                </a:cxn>
                <a:cxn ang="0">
                  <a:pos x="556" y="108"/>
                </a:cxn>
                <a:cxn ang="0">
                  <a:pos x="334" y="235"/>
                </a:cxn>
                <a:cxn ang="0">
                  <a:pos x="0" y="148"/>
                </a:cxn>
                <a:cxn ang="0">
                  <a:pos x="0" y="128"/>
                </a:cxn>
              </a:cxnLst>
              <a:rect l="0" t="0" r="r" b="b"/>
              <a:pathLst>
                <a:path w="556" h="235">
                  <a:moveTo>
                    <a:pt x="0" y="128"/>
                  </a:moveTo>
                  <a:lnTo>
                    <a:pt x="238" y="0"/>
                  </a:lnTo>
                  <a:lnTo>
                    <a:pt x="556" y="91"/>
                  </a:lnTo>
                  <a:lnTo>
                    <a:pt x="556" y="108"/>
                  </a:lnTo>
                  <a:lnTo>
                    <a:pt x="334" y="235"/>
                  </a:lnTo>
                  <a:lnTo>
                    <a:pt x="0" y="148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DDDDDD"/>
            </a:solidFill>
            <a:ln w="3175" cap="rnd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8732" name="Freeform 12"/>
            <p:cNvSpPr>
              <a:spLocks/>
            </p:cNvSpPr>
            <p:nvPr/>
          </p:nvSpPr>
          <p:spPr bwMode="auto">
            <a:xfrm>
              <a:off x="2121" y="3669"/>
              <a:ext cx="429" cy="166"/>
            </a:xfrm>
            <a:custGeom>
              <a:avLst/>
              <a:gdLst/>
              <a:ahLst/>
              <a:cxnLst>
                <a:cxn ang="0">
                  <a:pos x="0" y="124"/>
                </a:cxn>
                <a:cxn ang="0">
                  <a:pos x="327" y="208"/>
                </a:cxn>
                <a:cxn ang="0">
                  <a:pos x="538" y="86"/>
                </a:cxn>
                <a:cxn ang="0">
                  <a:pos x="233" y="0"/>
                </a:cxn>
                <a:cxn ang="0">
                  <a:pos x="0" y="124"/>
                </a:cxn>
              </a:cxnLst>
              <a:rect l="0" t="0" r="r" b="b"/>
              <a:pathLst>
                <a:path w="538" h="208">
                  <a:moveTo>
                    <a:pt x="0" y="124"/>
                  </a:moveTo>
                  <a:lnTo>
                    <a:pt x="327" y="208"/>
                  </a:lnTo>
                  <a:lnTo>
                    <a:pt x="538" y="86"/>
                  </a:lnTo>
                  <a:lnTo>
                    <a:pt x="233" y="0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B2B2B2"/>
            </a:solidFill>
            <a:ln w="635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8733" name="Oval 13"/>
            <p:cNvSpPr>
              <a:spLocks noChangeArrowheads="1"/>
            </p:cNvSpPr>
            <p:nvPr/>
          </p:nvSpPr>
          <p:spPr bwMode="auto">
            <a:xfrm>
              <a:off x="2228" y="3709"/>
              <a:ext cx="223" cy="90"/>
            </a:xfrm>
            <a:prstGeom prst="ellipse">
              <a:avLst/>
            </a:prstGeom>
            <a:solidFill>
              <a:srgbClr val="B2B2B2"/>
            </a:solidFill>
            <a:ln w="3175" cap="rnd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8734" name="Freeform 14"/>
            <p:cNvSpPr>
              <a:spLocks/>
            </p:cNvSpPr>
            <p:nvPr/>
          </p:nvSpPr>
          <p:spPr bwMode="auto">
            <a:xfrm>
              <a:off x="2106" y="3712"/>
              <a:ext cx="361" cy="10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0" y="36"/>
                </a:cxn>
                <a:cxn ang="0">
                  <a:pos x="574" y="180"/>
                </a:cxn>
                <a:cxn ang="0">
                  <a:pos x="646" y="158"/>
                </a:cxn>
              </a:cxnLst>
              <a:rect l="0" t="0" r="r" b="b"/>
              <a:pathLst>
                <a:path w="646" h="180">
                  <a:moveTo>
                    <a:pt x="0" y="0"/>
                  </a:moveTo>
                  <a:lnTo>
                    <a:pt x="20" y="36"/>
                  </a:lnTo>
                  <a:lnTo>
                    <a:pt x="574" y="180"/>
                  </a:lnTo>
                  <a:lnTo>
                    <a:pt x="646" y="158"/>
                  </a:lnTo>
                </a:path>
              </a:pathLst>
            </a:custGeom>
            <a:solidFill>
              <a:srgbClr val="B2B2B2"/>
            </a:solidFill>
            <a:ln w="3175" cap="rnd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8735" name="Freeform 15"/>
            <p:cNvSpPr>
              <a:spLocks noChangeAspect="1"/>
            </p:cNvSpPr>
            <p:nvPr/>
          </p:nvSpPr>
          <p:spPr bwMode="auto">
            <a:xfrm>
              <a:off x="2192" y="3316"/>
              <a:ext cx="450" cy="415"/>
            </a:xfrm>
            <a:custGeom>
              <a:avLst/>
              <a:gdLst/>
              <a:ahLst/>
              <a:cxnLst>
                <a:cxn ang="0">
                  <a:pos x="620" y="746"/>
                </a:cxn>
                <a:cxn ang="0">
                  <a:pos x="808" y="525"/>
                </a:cxn>
                <a:cxn ang="0">
                  <a:pos x="808" y="106"/>
                </a:cxn>
                <a:cxn ang="0">
                  <a:pos x="336" y="0"/>
                </a:cxn>
                <a:cxn ang="0">
                  <a:pos x="0" y="48"/>
                </a:cxn>
              </a:cxnLst>
              <a:rect l="0" t="0" r="r" b="b"/>
              <a:pathLst>
                <a:path w="808" h="746">
                  <a:moveTo>
                    <a:pt x="620" y="746"/>
                  </a:moveTo>
                  <a:lnTo>
                    <a:pt x="808" y="525"/>
                  </a:lnTo>
                  <a:lnTo>
                    <a:pt x="808" y="106"/>
                  </a:lnTo>
                  <a:lnTo>
                    <a:pt x="336" y="0"/>
                  </a:lnTo>
                  <a:lnTo>
                    <a:pt x="0" y="48"/>
                  </a:lnTo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B2B2B2">
                    <a:gamma/>
                    <a:tint val="34118"/>
                    <a:invGamma/>
                  </a:srgbClr>
                </a:gs>
              </a:gsLst>
              <a:path path="rect">
                <a:fillToRect l="100000" t="100000"/>
              </a:path>
            </a:gradFill>
            <a:ln w="3175" cap="rnd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8736" name="Freeform 16"/>
            <p:cNvSpPr>
              <a:spLocks noChangeAspect="1"/>
            </p:cNvSpPr>
            <p:nvPr/>
          </p:nvSpPr>
          <p:spPr bwMode="auto">
            <a:xfrm>
              <a:off x="2473" y="3408"/>
              <a:ext cx="90" cy="403"/>
            </a:xfrm>
            <a:custGeom>
              <a:avLst/>
              <a:gdLst/>
              <a:ahLst/>
              <a:cxnLst>
                <a:cxn ang="0">
                  <a:pos x="0" y="644"/>
                </a:cxn>
                <a:cxn ang="0">
                  <a:pos x="0" y="79"/>
                </a:cxn>
                <a:cxn ang="0">
                  <a:pos x="144" y="0"/>
                </a:cxn>
                <a:cxn ang="0">
                  <a:pos x="144" y="554"/>
                </a:cxn>
                <a:cxn ang="0">
                  <a:pos x="0" y="644"/>
                </a:cxn>
              </a:cxnLst>
              <a:rect l="0" t="0" r="r" b="b"/>
              <a:pathLst>
                <a:path w="144" h="644">
                  <a:moveTo>
                    <a:pt x="0" y="644"/>
                  </a:moveTo>
                  <a:lnTo>
                    <a:pt x="0" y="79"/>
                  </a:lnTo>
                  <a:lnTo>
                    <a:pt x="144" y="0"/>
                  </a:lnTo>
                  <a:lnTo>
                    <a:pt x="144" y="554"/>
                  </a:lnTo>
                  <a:lnTo>
                    <a:pt x="0" y="644"/>
                  </a:lnTo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B2B2B2">
                    <a:gamma/>
                    <a:tint val="34118"/>
                    <a:invGamma/>
                  </a:srgbClr>
                </a:gs>
              </a:gsLst>
              <a:path path="rect">
                <a:fillToRect l="100000" t="100000"/>
              </a:path>
            </a:gradFill>
            <a:ln w="3175" cap="rnd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8737" name="Freeform 17"/>
            <p:cNvSpPr>
              <a:spLocks noChangeAspect="1"/>
            </p:cNvSpPr>
            <p:nvPr/>
          </p:nvSpPr>
          <p:spPr bwMode="auto">
            <a:xfrm>
              <a:off x="2073" y="3321"/>
              <a:ext cx="490" cy="137"/>
            </a:xfrm>
            <a:custGeom>
              <a:avLst/>
              <a:gdLst/>
              <a:ahLst/>
              <a:cxnLst>
                <a:cxn ang="0">
                  <a:pos x="638" y="219"/>
                </a:cxn>
                <a:cxn ang="0">
                  <a:pos x="0" y="67"/>
                </a:cxn>
                <a:cxn ang="0">
                  <a:pos x="160" y="0"/>
                </a:cxn>
                <a:cxn ang="0">
                  <a:pos x="782" y="139"/>
                </a:cxn>
                <a:cxn ang="0">
                  <a:pos x="638" y="219"/>
                </a:cxn>
              </a:cxnLst>
              <a:rect l="0" t="0" r="r" b="b"/>
              <a:pathLst>
                <a:path w="782" h="219">
                  <a:moveTo>
                    <a:pt x="638" y="219"/>
                  </a:moveTo>
                  <a:lnTo>
                    <a:pt x="0" y="67"/>
                  </a:lnTo>
                  <a:lnTo>
                    <a:pt x="160" y="0"/>
                  </a:lnTo>
                  <a:lnTo>
                    <a:pt x="782" y="139"/>
                  </a:lnTo>
                  <a:lnTo>
                    <a:pt x="638" y="219"/>
                  </a:lnTo>
                </a:path>
              </a:pathLst>
            </a:custGeom>
            <a:solidFill>
              <a:schemeClr val="bg1"/>
            </a:solidFill>
            <a:ln w="3175" cap="rnd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8738" name="Freeform 18"/>
            <p:cNvSpPr>
              <a:spLocks noChangeAspect="1"/>
            </p:cNvSpPr>
            <p:nvPr/>
          </p:nvSpPr>
          <p:spPr bwMode="auto">
            <a:xfrm>
              <a:off x="2073" y="3361"/>
              <a:ext cx="400" cy="452"/>
            </a:xfrm>
            <a:custGeom>
              <a:avLst/>
              <a:gdLst/>
              <a:ahLst/>
              <a:cxnLst>
                <a:cxn ang="0">
                  <a:pos x="671" y="753"/>
                </a:cxn>
                <a:cxn ang="0">
                  <a:pos x="671" y="160"/>
                </a:cxn>
                <a:cxn ang="0">
                  <a:pos x="0" y="0"/>
                </a:cxn>
                <a:cxn ang="0">
                  <a:pos x="0" y="578"/>
                </a:cxn>
                <a:cxn ang="0">
                  <a:pos x="671" y="753"/>
                </a:cxn>
              </a:cxnLst>
              <a:rect l="0" t="0" r="r" b="b"/>
              <a:pathLst>
                <a:path w="672" h="754">
                  <a:moveTo>
                    <a:pt x="671" y="753"/>
                  </a:moveTo>
                  <a:lnTo>
                    <a:pt x="671" y="160"/>
                  </a:lnTo>
                  <a:lnTo>
                    <a:pt x="0" y="0"/>
                  </a:lnTo>
                  <a:lnTo>
                    <a:pt x="0" y="578"/>
                  </a:lnTo>
                  <a:lnTo>
                    <a:pt x="671" y="753"/>
                  </a:lnTo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B2B2B2">
                    <a:gamma/>
                    <a:tint val="34118"/>
                    <a:invGamma/>
                  </a:srgbClr>
                </a:gs>
              </a:gsLst>
              <a:path path="rect">
                <a:fillToRect l="100000" t="100000"/>
              </a:path>
            </a:gradFill>
            <a:ln w="3175" cap="rnd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8739" name="Freeform 19"/>
            <p:cNvSpPr>
              <a:spLocks noChangeAspect="1"/>
            </p:cNvSpPr>
            <p:nvPr/>
          </p:nvSpPr>
          <p:spPr bwMode="auto">
            <a:xfrm>
              <a:off x="2104" y="3401"/>
              <a:ext cx="339" cy="370"/>
            </a:xfrm>
            <a:custGeom>
              <a:avLst/>
              <a:gdLst/>
              <a:ahLst/>
              <a:cxnLst>
                <a:cxn ang="0">
                  <a:pos x="490" y="548"/>
                </a:cxn>
                <a:cxn ang="0">
                  <a:pos x="490" y="117"/>
                </a:cxn>
                <a:cxn ang="0">
                  <a:pos x="0" y="0"/>
                </a:cxn>
                <a:cxn ang="0">
                  <a:pos x="0" y="424"/>
                </a:cxn>
                <a:cxn ang="0">
                  <a:pos x="490" y="548"/>
                </a:cxn>
              </a:cxnLst>
              <a:rect l="0" t="0" r="r" b="b"/>
              <a:pathLst>
                <a:path w="491" h="549">
                  <a:moveTo>
                    <a:pt x="490" y="548"/>
                  </a:moveTo>
                  <a:lnTo>
                    <a:pt x="490" y="117"/>
                  </a:lnTo>
                  <a:lnTo>
                    <a:pt x="0" y="0"/>
                  </a:lnTo>
                  <a:lnTo>
                    <a:pt x="0" y="424"/>
                  </a:lnTo>
                  <a:lnTo>
                    <a:pt x="490" y="548"/>
                  </a:lnTo>
                </a:path>
              </a:pathLst>
            </a:custGeom>
            <a:solidFill>
              <a:srgbClr val="CECECE"/>
            </a:solidFill>
            <a:ln w="3175" cap="rnd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8740" name="Freeform 20"/>
            <p:cNvSpPr>
              <a:spLocks/>
            </p:cNvSpPr>
            <p:nvPr/>
          </p:nvSpPr>
          <p:spPr bwMode="auto">
            <a:xfrm>
              <a:off x="2125" y="3426"/>
              <a:ext cx="296" cy="3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54"/>
                </a:cxn>
                <a:cxn ang="0">
                  <a:pos x="542" y="592"/>
                </a:cxn>
                <a:cxn ang="0">
                  <a:pos x="542" y="130"/>
                </a:cxn>
                <a:cxn ang="0">
                  <a:pos x="0" y="0"/>
                </a:cxn>
              </a:cxnLst>
              <a:rect l="0" t="0" r="r" b="b"/>
              <a:pathLst>
                <a:path w="542" h="592">
                  <a:moveTo>
                    <a:pt x="0" y="0"/>
                  </a:moveTo>
                  <a:lnTo>
                    <a:pt x="0" y="454"/>
                  </a:lnTo>
                  <a:lnTo>
                    <a:pt x="542" y="592"/>
                  </a:lnTo>
                  <a:lnTo>
                    <a:pt x="542" y="13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18FFD"/>
                </a:gs>
                <a:gs pos="100000">
                  <a:srgbClr val="618FFD">
                    <a:gamma/>
                    <a:shade val="75294"/>
                    <a:invGamma/>
                  </a:srgbClr>
                </a:gs>
              </a:gsLst>
              <a:path path="rect">
                <a:fillToRect r="100000" b="100000"/>
              </a:path>
            </a:gradFill>
            <a:ln w="3175" cap="flat" cmpd="sng">
              <a:solidFill>
                <a:srgbClr val="777777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bg1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58741" name="Group 21"/>
          <p:cNvGrpSpPr>
            <a:grpSpLocks/>
          </p:cNvGrpSpPr>
          <p:nvPr/>
        </p:nvGrpSpPr>
        <p:grpSpPr bwMode="auto">
          <a:xfrm>
            <a:off x="913284" y="1720398"/>
            <a:ext cx="604929" cy="1106455"/>
            <a:chOff x="563" y="951"/>
            <a:chExt cx="380" cy="685"/>
          </a:xfrm>
        </p:grpSpPr>
        <p:grpSp>
          <p:nvGrpSpPr>
            <p:cNvPr id="158742" name="Group 22"/>
            <p:cNvGrpSpPr>
              <a:grpSpLocks/>
            </p:cNvGrpSpPr>
            <p:nvPr/>
          </p:nvGrpSpPr>
          <p:grpSpPr bwMode="auto">
            <a:xfrm>
              <a:off x="563" y="951"/>
              <a:ext cx="291" cy="685"/>
              <a:chOff x="3064" y="2792"/>
              <a:chExt cx="281" cy="626"/>
            </a:xfrm>
          </p:grpSpPr>
          <p:sp>
            <p:nvSpPr>
              <p:cNvPr id="158743" name="Oval 23"/>
              <p:cNvSpPr>
                <a:spLocks noChangeArrowheads="1"/>
              </p:cNvSpPr>
              <p:nvPr/>
            </p:nvSpPr>
            <p:spPr bwMode="auto">
              <a:xfrm>
                <a:off x="3156" y="2792"/>
                <a:ext cx="95" cy="102"/>
              </a:xfrm>
              <a:prstGeom prst="ellipse">
                <a:avLst/>
              </a:prstGeom>
              <a:gradFill rotWithShape="0">
                <a:gsLst>
                  <a:gs pos="0">
                    <a:srgbClr val="9234DB">
                      <a:gamma/>
                      <a:tint val="33333"/>
                      <a:invGamma/>
                    </a:srgbClr>
                  </a:gs>
                  <a:gs pos="100000">
                    <a:srgbClr val="9234DB"/>
                  </a:gs>
                </a:gsLst>
                <a:path path="shape">
                  <a:fillToRect l="50000" t="50000" r="50000" b="50000"/>
                </a:path>
              </a:gradFill>
              <a:ln w="12700">
                <a:noFill/>
                <a:round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8744" name="Freeform 24"/>
              <p:cNvSpPr>
                <a:spLocks/>
              </p:cNvSpPr>
              <p:nvPr/>
            </p:nvSpPr>
            <p:spPr bwMode="auto">
              <a:xfrm>
                <a:off x="3064" y="2914"/>
                <a:ext cx="281" cy="504"/>
              </a:xfrm>
              <a:custGeom>
                <a:avLst/>
                <a:gdLst/>
                <a:ahLst/>
                <a:cxnLst>
                  <a:cxn ang="0">
                    <a:pos x="208" y="0"/>
                  </a:cxn>
                  <a:cxn ang="0">
                    <a:pos x="217" y="3"/>
                  </a:cxn>
                  <a:cxn ang="0">
                    <a:pos x="228" y="9"/>
                  </a:cxn>
                  <a:cxn ang="0">
                    <a:pos x="232" y="16"/>
                  </a:cxn>
                  <a:cxn ang="0">
                    <a:pos x="237" y="24"/>
                  </a:cxn>
                  <a:cxn ang="0">
                    <a:pos x="241" y="35"/>
                  </a:cxn>
                  <a:cxn ang="0">
                    <a:pos x="280" y="189"/>
                  </a:cxn>
                  <a:cxn ang="0">
                    <a:pos x="280" y="201"/>
                  </a:cxn>
                  <a:cxn ang="0">
                    <a:pos x="276" y="208"/>
                  </a:cxn>
                  <a:cxn ang="0">
                    <a:pos x="268" y="214"/>
                  </a:cxn>
                  <a:cxn ang="0">
                    <a:pos x="258" y="214"/>
                  </a:cxn>
                  <a:cxn ang="0">
                    <a:pos x="252" y="212"/>
                  </a:cxn>
                  <a:cxn ang="0">
                    <a:pos x="244" y="208"/>
                  </a:cxn>
                  <a:cxn ang="0">
                    <a:pos x="240" y="201"/>
                  </a:cxn>
                  <a:cxn ang="0">
                    <a:pos x="253" y="310"/>
                  </a:cxn>
                  <a:cxn ang="0">
                    <a:pos x="202" y="484"/>
                  </a:cxn>
                  <a:cxn ang="0">
                    <a:pos x="198" y="494"/>
                  </a:cxn>
                  <a:cxn ang="0">
                    <a:pos x="190" y="499"/>
                  </a:cxn>
                  <a:cxn ang="0">
                    <a:pos x="184" y="503"/>
                  </a:cxn>
                  <a:cxn ang="0">
                    <a:pos x="174" y="503"/>
                  </a:cxn>
                  <a:cxn ang="0">
                    <a:pos x="166" y="500"/>
                  </a:cxn>
                  <a:cxn ang="0">
                    <a:pos x="159" y="494"/>
                  </a:cxn>
                  <a:cxn ang="0">
                    <a:pos x="154" y="487"/>
                  </a:cxn>
                  <a:cxn ang="0">
                    <a:pos x="153" y="479"/>
                  </a:cxn>
                  <a:cxn ang="0">
                    <a:pos x="127" y="479"/>
                  </a:cxn>
                  <a:cxn ang="0">
                    <a:pos x="126" y="487"/>
                  </a:cxn>
                  <a:cxn ang="0">
                    <a:pos x="121" y="496"/>
                  </a:cxn>
                  <a:cxn ang="0">
                    <a:pos x="114" y="500"/>
                  </a:cxn>
                  <a:cxn ang="0">
                    <a:pos x="106" y="503"/>
                  </a:cxn>
                  <a:cxn ang="0">
                    <a:pos x="96" y="503"/>
                  </a:cxn>
                  <a:cxn ang="0">
                    <a:pos x="90" y="499"/>
                  </a:cxn>
                  <a:cxn ang="0">
                    <a:pos x="82" y="494"/>
                  </a:cxn>
                  <a:cxn ang="0">
                    <a:pos x="78" y="484"/>
                  </a:cxn>
                  <a:cxn ang="0">
                    <a:pos x="78" y="313"/>
                  </a:cxn>
                  <a:cxn ang="0">
                    <a:pos x="78" y="71"/>
                  </a:cxn>
                  <a:cxn ang="0">
                    <a:pos x="39" y="209"/>
                  </a:cxn>
                  <a:cxn ang="0">
                    <a:pos x="31" y="217"/>
                  </a:cxn>
                  <a:cxn ang="0">
                    <a:pos x="22" y="220"/>
                  </a:cxn>
                  <a:cxn ang="0">
                    <a:pos x="15" y="220"/>
                  </a:cxn>
                  <a:cxn ang="0">
                    <a:pos x="4" y="212"/>
                  </a:cxn>
                  <a:cxn ang="0">
                    <a:pos x="0" y="202"/>
                  </a:cxn>
                  <a:cxn ang="0">
                    <a:pos x="0" y="196"/>
                  </a:cxn>
                  <a:cxn ang="0">
                    <a:pos x="40" y="38"/>
                  </a:cxn>
                  <a:cxn ang="0">
                    <a:pos x="43" y="28"/>
                  </a:cxn>
                  <a:cxn ang="0">
                    <a:pos x="46" y="19"/>
                  </a:cxn>
                  <a:cxn ang="0">
                    <a:pos x="52" y="12"/>
                  </a:cxn>
                  <a:cxn ang="0">
                    <a:pos x="60" y="4"/>
                  </a:cxn>
                  <a:cxn ang="0">
                    <a:pos x="72" y="0"/>
                  </a:cxn>
                </a:cxnLst>
                <a:rect l="0" t="0" r="r" b="b"/>
                <a:pathLst>
                  <a:path w="281" h="504">
                    <a:moveTo>
                      <a:pt x="78" y="0"/>
                    </a:moveTo>
                    <a:lnTo>
                      <a:pt x="205" y="0"/>
                    </a:lnTo>
                    <a:lnTo>
                      <a:pt x="208" y="0"/>
                    </a:lnTo>
                    <a:lnTo>
                      <a:pt x="210" y="0"/>
                    </a:lnTo>
                    <a:lnTo>
                      <a:pt x="214" y="3"/>
                    </a:lnTo>
                    <a:lnTo>
                      <a:pt x="217" y="3"/>
                    </a:lnTo>
                    <a:lnTo>
                      <a:pt x="220" y="4"/>
                    </a:lnTo>
                    <a:lnTo>
                      <a:pt x="222" y="7"/>
                    </a:lnTo>
                    <a:lnTo>
                      <a:pt x="228" y="9"/>
                    </a:lnTo>
                    <a:lnTo>
                      <a:pt x="229" y="12"/>
                    </a:lnTo>
                    <a:lnTo>
                      <a:pt x="229" y="15"/>
                    </a:lnTo>
                    <a:lnTo>
                      <a:pt x="232" y="16"/>
                    </a:lnTo>
                    <a:lnTo>
                      <a:pt x="234" y="19"/>
                    </a:lnTo>
                    <a:lnTo>
                      <a:pt x="237" y="22"/>
                    </a:lnTo>
                    <a:lnTo>
                      <a:pt x="237" y="24"/>
                    </a:lnTo>
                    <a:lnTo>
                      <a:pt x="240" y="27"/>
                    </a:lnTo>
                    <a:lnTo>
                      <a:pt x="240" y="31"/>
                    </a:lnTo>
                    <a:lnTo>
                      <a:pt x="241" y="35"/>
                    </a:lnTo>
                    <a:lnTo>
                      <a:pt x="241" y="38"/>
                    </a:lnTo>
                    <a:lnTo>
                      <a:pt x="241" y="43"/>
                    </a:lnTo>
                    <a:lnTo>
                      <a:pt x="280" y="189"/>
                    </a:lnTo>
                    <a:lnTo>
                      <a:pt x="280" y="193"/>
                    </a:lnTo>
                    <a:lnTo>
                      <a:pt x="280" y="196"/>
                    </a:lnTo>
                    <a:lnTo>
                      <a:pt x="280" y="201"/>
                    </a:lnTo>
                    <a:lnTo>
                      <a:pt x="280" y="202"/>
                    </a:lnTo>
                    <a:lnTo>
                      <a:pt x="277" y="205"/>
                    </a:lnTo>
                    <a:lnTo>
                      <a:pt x="276" y="208"/>
                    </a:lnTo>
                    <a:lnTo>
                      <a:pt x="273" y="209"/>
                    </a:lnTo>
                    <a:lnTo>
                      <a:pt x="271" y="212"/>
                    </a:lnTo>
                    <a:lnTo>
                      <a:pt x="268" y="214"/>
                    </a:lnTo>
                    <a:lnTo>
                      <a:pt x="265" y="214"/>
                    </a:lnTo>
                    <a:lnTo>
                      <a:pt x="261" y="214"/>
                    </a:lnTo>
                    <a:lnTo>
                      <a:pt x="258" y="214"/>
                    </a:lnTo>
                    <a:lnTo>
                      <a:pt x="256" y="214"/>
                    </a:lnTo>
                    <a:lnTo>
                      <a:pt x="253" y="214"/>
                    </a:lnTo>
                    <a:lnTo>
                      <a:pt x="252" y="212"/>
                    </a:lnTo>
                    <a:lnTo>
                      <a:pt x="249" y="212"/>
                    </a:lnTo>
                    <a:lnTo>
                      <a:pt x="246" y="209"/>
                    </a:lnTo>
                    <a:lnTo>
                      <a:pt x="244" y="208"/>
                    </a:lnTo>
                    <a:lnTo>
                      <a:pt x="241" y="205"/>
                    </a:lnTo>
                    <a:lnTo>
                      <a:pt x="241" y="202"/>
                    </a:lnTo>
                    <a:lnTo>
                      <a:pt x="240" y="201"/>
                    </a:lnTo>
                    <a:lnTo>
                      <a:pt x="202" y="71"/>
                    </a:lnTo>
                    <a:lnTo>
                      <a:pt x="190" y="71"/>
                    </a:lnTo>
                    <a:lnTo>
                      <a:pt x="253" y="310"/>
                    </a:lnTo>
                    <a:lnTo>
                      <a:pt x="202" y="310"/>
                    </a:lnTo>
                    <a:lnTo>
                      <a:pt x="202" y="479"/>
                    </a:lnTo>
                    <a:lnTo>
                      <a:pt x="202" y="484"/>
                    </a:lnTo>
                    <a:lnTo>
                      <a:pt x="202" y="487"/>
                    </a:lnTo>
                    <a:lnTo>
                      <a:pt x="201" y="488"/>
                    </a:lnTo>
                    <a:lnTo>
                      <a:pt x="198" y="494"/>
                    </a:lnTo>
                    <a:lnTo>
                      <a:pt x="196" y="496"/>
                    </a:lnTo>
                    <a:lnTo>
                      <a:pt x="196" y="499"/>
                    </a:lnTo>
                    <a:lnTo>
                      <a:pt x="190" y="499"/>
                    </a:lnTo>
                    <a:lnTo>
                      <a:pt x="189" y="500"/>
                    </a:lnTo>
                    <a:lnTo>
                      <a:pt x="186" y="503"/>
                    </a:lnTo>
                    <a:lnTo>
                      <a:pt x="184" y="503"/>
                    </a:lnTo>
                    <a:lnTo>
                      <a:pt x="181" y="503"/>
                    </a:lnTo>
                    <a:lnTo>
                      <a:pt x="178" y="503"/>
                    </a:lnTo>
                    <a:lnTo>
                      <a:pt x="174" y="503"/>
                    </a:lnTo>
                    <a:lnTo>
                      <a:pt x="171" y="503"/>
                    </a:lnTo>
                    <a:lnTo>
                      <a:pt x="169" y="500"/>
                    </a:lnTo>
                    <a:lnTo>
                      <a:pt x="166" y="500"/>
                    </a:lnTo>
                    <a:lnTo>
                      <a:pt x="165" y="499"/>
                    </a:lnTo>
                    <a:lnTo>
                      <a:pt x="162" y="496"/>
                    </a:lnTo>
                    <a:lnTo>
                      <a:pt x="159" y="494"/>
                    </a:lnTo>
                    <a:lnTo>
                      <a:pt x="157" y="494"/>
                    </a:lnTo>
                    <a:lnTo>
                      <a:pt x="157" y="488"/>
                    </a:lnTo>
                    <a:lnTo>
                      <a:pt x="154" y="487"/>
                    </a:lnTo>
                    <a:lnTo>
                      <a:pt x="154" y="484"/>
                    </a:lnTo>
                    <a:lnTo>
                      <a:pt x="153" y="481"/>
                    </a:lnTo>
                    <a:lnTo>
                      <a:pt x="153" y="479"/>
                    </a:lnTo>
                    <a:lnTo>
                      <a:pt x="153" y="313"/>
                    </a:lnTo>
                    <a:lnTo>
                      <a:pt x="127" y="313"/>
                    </a:lnTo>
                    <a:lnTo>
                      <a:pt x="127" y="479"/>
                    </a:lnTo>
                    <a:lnTo>
                      <a:pt x="127" y="481"/>
                    </a:lnTo>
                    <a:lnTo>
                      <a:pt x="127" y="484"/>
                    </a:lnTo>
                    <a:lnTo>
                      <a:pt x="126" y="487"/>
                    </a:lnTo>
                    <a:lnTo>
                      <a:pt x="126" y="488"/>
                    </a:lnTo>
                    <a:lnTo>
                      <a:pt x="123" y="494"/>
                    </a:lnTo>
                    <a:lnTo>
                      <a:pt x="121" y="496"/>
                    </a:lnTo>
                    <a:lnTo>
                      <a:pt x="118" y="499"/>
                    </a:lnTo>
                    <a:lnTo>
                      <a:pt x="115" y="499"/>
                    </a:lnTo>
                    <a:lnTo>
                      <a:pt x="114" y="500"/>
                    </a:lnTo>
                    <a:lnTo>
                      <a:pt x="111" y="503"/>
                    </a:lnTo>
                    <a:lnTo>
                      <a:pt x="109" y="503"/>
                    </a:lnTo>
                    <a:lnTo>
                      <a:pt x="106" y="503"/>
                    </a:lnTo>
                    <a:lnTo>
                      <a:pt x="102" y="503"/>
                    </a:lnTo>
                    <a:lnTo>
                      <a:pt x="99" y="503"/>
                    </a:lnTo>
                    <a:lnTo>
                      <a:pt x="96" y="503"/>
                    </a:lnTo>
                    <a:lnTo>
                      <a:pt x="94" y="500"/>
                    </a:lnTo>
                    <a:lnTo>
                      <a:pt x="91" y="500"/>
                    </a:lnTo>
                    <a:lnTo>
                      <a:pt x="90" y="499"/>
                    </a:lnTo>
                    <a:lnTo>
                      <a:pt x="87" y="499"/>
                    </a:lnTo>
                    <a:lnTo>
                      <a:pt x="84" y="496"/>
                    </a:lnTo>
                    <a:lnTo>
                      <a:pt x="82" y="494"/>
                    </a:lnTo>
                    <a:lnTo>
                      <a:pt x="79" y="491"/>
                    </a:lnTo>
                    <a:lnTo>
                      <a:pt x="79" y="488"/>
                    </a:lnTo>
                    <a:lnTo>
                      <a:pt x="78" y="484"/>
                    </a:lnTo>
                    <a:lnTo>
                      <a:pt x="78" y="481"/>
                    </a:lnTo>
                    <a:lnTo>
                      <a:pt x="78" y="479"/>
                    </a:lnTo>
                    <a:lnTo>
                      <a:pt x="78" y="313"/>
                    </a:lnTo>
                    <a:lnTo>
                      <a:pt x="28" y="313"/>
                    </a:lnTo>
                    <a:lnTo>
                      <a:pt x="90" y="71"/>
                    </a:lnTo>
                    <a:lnTo>
                      <a:pt x="78" y="71"/>
                    </a:lnTo>
                    <a:lnTo>
                      <a:pt x="40" y="202"/>
                    </a:lnTo>
                    <a:lnTo>
                      <a:pt x="39" y="205"/>
                    </a:lnTo>
                    <a:lnTo>
                      <a:pt x="39" y="209"/>
                    </a:lnTo>
                    <a:lnTo>
                      <a:pt x="36" y="212"/>
                    </a:lnTo>
                    <a:lnTo>
                      <a:pt x="34" y="214"/>
                    </a:lnTo>
                    <a:lnTo>
                      <a:pt x="31" y="217"/>
                    </a:lnTo>
                    <a:lnTo>
                      <a:pt x="28" y="217"/>
                    </a:lnTo>
                    <a:lnTo>
                      <a:pt x="27" y="220"/>
                    </a:lnTo>
                    <a:lnTo>
                      <a:pt x="22" y="220"/>
                    </a:lnTo>
                    <a:lnTo>
                      <a:pt x="19" y="220"/>
                    </a:lnTo>
                    <a:lnTo>
                      <a:pt x="16" y="220"/>
                    </a:lnTo>
                    <a:lnTo>
                      <a:pt x="15" y="220"/>
                    </a:lnTo>
                    <a:lnTo>
                      <a:pt x="9" y="217"/>
                    </a:lnTo>
                    <a:lnTo>
                      <a:pt x="7" y="214"/>
                    </a:lnTo>
                    <a:lnTo>
                      <a:pt x="4" y="212"/>
                    </a:lnTo>
                    <a:lnTo>
                      <a:pt x="3" y="208"/>
                    </a:lnTo>
                    <a:lnTo>
                      <a:pt x="0" y="205"/>
                    </a:lnTo>
                    <a:lnTo>
                      <a:pt x="0" y="202"/>
                    </a:lnTo>
                    <a:lnTo>
                      <a:pt x="0" y="201"/>
                    </a:lnTo>
                    <a:lnTo>
                      <a:pt x="0" y="198"/>
                    </a:lnTo>
                    <a:lnTo>
                      <a:pt x="0" y="196"/>
                    </a:lnTo>
                    <a:lnTo>
                      <a:pt x="0" y="193"/>
                    </a:lnTo>
                    <a:lnTo>
                      <a:pt x="39" y="40"/>
                    </a:lnTo>
                    <a:lnTo>
                      <a:pt x="40" y="38"/>
                    </a:lnTo>
                    <a:lnTo>
                      <a:pt x="40" y="34"/>
                    </a:lnTo>
                    <a:lnTo>
                      <a:pt x="40" y="31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4"/>
                    </a:lnTo>
                    <a:lnTo>
                      <a:pt x="46" y="19"/>
                    </a:lnTo>
                    <a:lnTo>
                      <a:pt x="48" y="16"/>
                    </a:lnTo>
                    <a:lnTo>
                      <a:pt x="51" y="15"/>
                    </a:lnTo>
                    <a:lnTo>
                      <a:pt x="52" y="12"/>
                    </a:lnTo>
                    <a:lnTo>
                      <a:pt x="55" y="9"/>
                    </a:lnTo>
                    <a:lnTo>
                      <a:pt x="58" y="7"/>
                    </a:lnTo>
                    <a:lnTo>
                      <a:pt x="60" y="4"/>
                    </a:lnTo>
                    <a:lnTo>
                      <a:pt x="63" y="3"/>
                    </a:lnTo>
                    <a:lnTo>
                      <a:pt x="67" y="3"/>
                    </a:lnTo>
                    <a:lnTo>
                      <a:pt x="72" y="0"/>
                    </a:lnTo>
                    <a:lnTo>
                      <a:pt x="78" y="0"/>
                    </a:lnTo>
                  </a:path>
                </a:pathLst>
              </a:custGeom>
              <a:gradFill rotWithShape="0">
                <a:gsLst>
                  <a:gs pos="0">
                    <a:srgbClr val="9234DB">
                      <a:gamma/>
                      <a:tint val="33333"/>
                      <a:invGamma/>
                    </a:srgbClr>
                  </a:gs>
                  <a:gs pos="100000">
                    <a:srgbClr val="9234DB"/>
                  </a:gs>
                </a:gsLst>
                <a:path path="rect">
                  <a:fillToRect l="50000" t="50000" r="50000" b="50000"/>
                </a:path>
              </a:gra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58745" name="AutoShape 25"/>
            <p:cNvSpPr>
              <a:spLocks noChangeArrowheads="1"/>
            </p:cNvSpPr>
            <p:nvPr/>
          </p:nvSpPr>
          <p:spPr bwMode="auto">
            <a:xfrm rot="1965645" flipV="1">
              <a:off x="761" y="1153"/>
              <a:ext cx="182" cy="267"/>
            </a:xfrm>
            <a:prstGeom prst="foldedCorner">
              <a:avLst>
                <a:gd name="adj" fmla="val 29269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tIns="27432" bIns="27432"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158746" name="Rectangle 26"/>
          <p:cNvSpPr>
            <a:spLocks noChangeArrowheads="1"/>
          </p:cNvSpPr>
          <p:nvPr/>
        </p:nvSpPr>
        <p:spPr bwMode="auto">
          <a:xfrm>
            <a:off x="38797" y="2884940"/>
            <a:ext cx="2268973" cy="1906869"/>
          </a:xfrm>
          <a:prstGeom prst="rect">
            <a:avLst/>
          </a:prstGeom>
          <a:gradFill rotWithShape="0">
            <a:gsLst>
              <a:gs pos="0">
                <a:srgbClr val="FCFEBC"/>
              </a:gs>
              <a:gs pos="100000">
                <a:srgbClr val="FFFFEB"/>
              </a:gs>
            </a:gsLst>
            <a:lin ang="5400000" scaled="1"/>
          </a:gradFill>
          <a:ln w="9525">
            <a:solidFill>
              <a:srgbClr val="969696"/>
            </a:solidFill>
            <a:miter lim="800000"/>
            <a:headEnd/>
            <a:tailEnd/>
          </a:ln>
          <a:effectLst/>
        </p:spPr>
        <p:txBody>
          <a:bodyPr tIns="27432"/>
          <a:lstStyle/>
          <a:p>
            <a:pPr algn="ctr">
              <a:lnSpc>
                <a:spcPct val="90000"/>
              </a:lnSpc>
            </a:pPr>
            <a:r>
              <a:rPr lang="en-US" sz="1600">
                <a:solidFill>
                  <a:srgbClr val="333399"/>
                </a:solidFill>
              </a:rPr>
              <a:t>Comptes d'utilisateur de domaine</a:t>
            </a:r>
          </a:p>
        </p:txBody>
      </p:sp>
      <p:sp>
        <p:nvSpPr>
          <p:cNvPr id="158747" name="Rectangle 27"/>
          <p:cNvSpPr>
            <a:spLocks noChangeArrowheads="1"/>
          </p:cNvSpPr>
          <p:nvPr/>
        </p:nvSpPr>
        <p:spPr bwMode="auto">
          <a:xfrm>
            <a:off x="2394857" y="3044595"/>
            <a:ext cx="6702636" cy="1554162"/>
          </a:xfrm>
          <a:prstGeom prst="rect">
            <a:avLst/>
          </a:prstGeom>
          <a:gradFill rotWithShape="0">
            <a:gsLst>
              <a:gs pos="0">
                <a:srgbClr val="99CCFF">
                  <a:gamma/>
                  <a:tint val="4314"/>
                  <a:invGamma/>
                </a:srgbClr>
              </a:gs>
              <a:gs pos="100000">
                <a:srgbClr val="99CC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tIns="27432" bIns="27432" anchor="ctr"/>
          <a:lstStyle/>
          <a:p>
            <a:pPr marL="168275" indent="-168275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fr-FR" sz="2000" dirty="0"/>
              <a:t>Permettent à un utilisateur d'ouvrir une session sur le domaine pour accéder aux ressources du réseau </a:t>
            </a:r>
            <a:endParaRPr lang="en-US" sz="2000" dirty="0"/>
          </a:p>
          <a:p>
            <a:pPr marL="168275" indent="-168275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sz="2000" dirty="0" err="1"/>
              <a:t>Résident</a:t>
            </a:r>
            <a:r>
              <a:rPr lang="en-US" sz="2000" dirty="0"/>
              <a:t> </a:t>
            </a:r>
            <a:r>
              <a:rPr lang="en-US" sz="2000" dirty="0" err="1"/>
              <a:t>dans</a:t>
            </a:r>
            <a:r>
              <a:rPr lang="en-US" sz="2000" dirty="0"/>
              <a:t> Active Directory</a:t>
            </a:r>
          </a:p>
        </p:txBody>
      </p:sp>
      <p:sp>
        <p:nvSpPr>
          <p:cNvPr id="158748" name="Rectangle 28"/>
          <p:cNvSpPr>
            <a:spLocks noChangeArrowheads="1"/>
          </p:cNvSpPr>
          <p:nvPr/>
        </p:nvSpPr>
        <p:spPr bwMode="auto">
          <a:xfrm>
            <a:off x="38797" y="4683348"/>
            <a:ext cx="2268973" cy="2138361"/>
          </a:xfrm>
          <a:prstGeom prst="rect">
            <a:avLst/>
          </a:prstGeom>
          <a:gradFill rotWithShape="0">
            <a:gsLst>
              <a:gs pos="0">
                <a:srgbClr val="FCFEBC"/>
              </a:gs>
              <a:gs pos="100000">
                <a:srgbClr val="FFFFEB"/>
              </a:gs>
            </a:gsLst>
            <a:lin ang="5400000" scaled="1"/>
          </a:gradFill>
          <a:ln w="9525">
            <a:solidFill>
              <a:srgbClr val="969696"/>
            </a:solidFill>
            <a:miter lim="800000"/>
            <a:headEnd/>
            <a:tailEnd/>
          </a:ln>
          <a:effectLst/>
        </p:spPr>
        <p:txBody>
          <a:bodyPr tIns="27432"/>
          <a:lstStyle/>
          <a:p>
            <a:pPr algn="ctr">
              <a:lnSpc>
                <a:spcPct val="90000"/>
              </a:lnSpc>
            </a:pPr>
            <a:r>
              <a:rPr lang="en-US" sz="1600">
                <a:solidFill>
                  <a:srgbClr val="333399"/>
                </a:solidFill>
              </a:rPr>
              <a:t>Comptes d'utilisateur prédéfinis</a:t>
            </a:r>
          </a:p>
        </p:txBody>
      </p:sp>
      <p:sp>
        <p:nvSpPr>
          <p:cNvPr id="158749" name="Rectangle 29"/>
          <p:cNvSpPr>
            <a:spLocks noChangeArrowheads="1"/>
          </p:cNvSpPr>
          <p:nvPr/>
        </p:nvSpPr>
        <p:spPr bwMode="auto">
          <a:xfrm>
            <a:off x="2423887" y="4644571"/>
            <a:ext cx="6691086" cy="2169887"/>
          </a:xfrm>
          <a:prstGeom prst="rect">
            <a:avLst/>
          </a:prstGeom>
          <a:gradFill rotWithShape="0">
            <a:gsLst>
              <a:gs pos="0">
                <a:srgbClr val="99CCFF">
                  <a:gamma/>
                  <a:tint val="4314"/>
                  <a:invGamma/>
                </a:srgbClr>
              </a:gs>
              <a:gs pos="100000">
                <a:srgbClr val="99CC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tIns="27432" bIns="27432" anchor="ctr"/>
          <a:lstStyle/>
          <a:p>
            <a:pPr marL="168275" indent="-168275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fr-FR" sz="2000" dirty="0"/>
              <a:t>Permettent à un utilisateur d'effectuer des tâches administratives ou d'accéder provisoirement aux ressources du réseau </a:t>
            </a:r>
            <a:r>
              <a:rPr lang="en-US" sz="2000" dirty="0"/>
              <a:t> </a:t>
            </a:r>
          </a:p>
          <a:p>
            <a:pPr marL="168275" indent="-168275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sz="2000" dirty="0" err="1"/>
              <a:t>Résident</a:t>
            </a:r>
            <a:r>
              <a:rPr lang="en-US" sz="2000" dirty="0"/>
              <a:t> </a:t>
            </a:r>
            <a:r>
              <a:rPr lang="en-US" sz="2000" dirty="0" err="1"/>
              <a:t>dans</a:t>
            </a:r>
            <a:r>
              <a:rPr lang="en-US" sz="2000" dirty="0"/>
              <a:t> le </a:t>
            </a:r>
            <a:r>
              <a:rPr lang="en-US" sz="2000" dirty="0" err="1"/>
              <a:t>Gestionnaire</a:t>
            </a:r>
            <a:r>
              <a:rPr lang="en-US" sz="2000" dirty="0"/>
              <a:t> de </a:t>
            </a:r>
            <a:r>
              <a:rPr lang="en-US" sz="2000" dirty="0" err="1"/>
              <a:t>comptes</a:t>
            </a:r>
            <a:r>
              <a:rPr lang="en-US" sz="2000" dirty="0"/>
              <a:t> de </a:t>
            </a:r>
            <a:r>
              <a:rPr lang="en-US" sz="2000" dirty="0" err="1"/>
              <a:t>sécurité</a:t>
            </a:r>
            <a:r>
              <a:rPr lang="en-US" sz="2000" dirty="0"/>
              <a:t> (</a:t>
            </a:r>
            <a:r>
              <a:rPr lang="en-US" sz="2000" dirty="0" err="1"/>
              <a:t>comptes</a:t>
            </a:r>
            <a:r>
              <a:rPr lang="en-US" sz="2000" dirty="0"/>
              <a:t> </a:t>
            </a:r>
            <a:r>
              <a:rPr lang="en-US" sz="2000" dirty="0" err="1"/>
              <a:t>d'utilisateur</a:t>
            </a:r>
            <a:r>
              <a:rPr lang="en-US" sz="2000" dirty="0"/>
              <a:t> </a:t>
            </a:r>
            <a:r>
              <a:rPr lang="en-US" sz="2000" dirty="0" err="1"/>
              <a:t>prédéfinis</a:t>
            </a:r>
            <a:r>
              <a:rPr lang="en-US" sz="2000" dirty="0"/>
              <a:t> </a:t>
            </a:r>
            <a:r>
              <a:rPr lang="en-US" sz="2000" dirty="0" err="1"/>
              <a:t>locaux</a:t>
            </a:r>
            <a:r>
              <a:rPr lang="en-US" sz="2000" dirty="0"/>
              <a:t>)</a:t>
            </a:r>
          </a:p>
          <a:p>
            <a:pPr marL="168275" indent="-168275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sz="2000" dirty="0" err="1"/>
              <a:t>Résident</a:t>
            </a:r>
            <a:r>
              <a:rPr lang="en-US" sz="2000" dirty="0"/>
              <a:t> </a:t>
            </a:r>
            <a:r>
              <a:rPr lang="en-US" sz="2000" dirty="0" err="1"/>
              <a:t>dans</a:t>
            </a:r>
            <a:r>
              <a:rPr lang="en-US" sz="2000" dirty="0"/>
              <a:t> Active Directory (</a:t>
            </a:r>
            <a:r>
              <a:rPr lang="en-US" sz="2000" dirty="0" err="1"/>
              <a:t>comptes</a:t>
            </a:r>
            <a:r>
              <a:rPr lang="en-US" sz="2000" dirty="0"/>
              <a:t> </a:t>
            </a:r>
            <a:r>
              <a:rPr lang="en-US" sz="2000" dirty="0" err="1"/>
              <a:t>d'utilisateur</a:t>
            </a:r>
            <a:r>
              <a:rPr lang="en-US" sz="2000" dirty="0"/>
              <a:t> </a:t>
            </a:r>
            <a:r>
              <a:rPr lang="en-US" sz="2000" dirty="0" err="1"/>
              <a:t>prédéfinis</a:t>
            </a:r>
            <a:r>
              <a:rPr lang="en-US" sz="2000" dirty="0"/>
              <a:t> de </a:t>
            </a:r>
            <a:r>
              <a:rPr lang="en-US" sz="2000" dirty="0" err="1"/>
              <a:t>domaine</a:t>
            </a:r>
            <a:r>
              <a:rPr lang="en-US" sz="2000" dirty="0"/>
              <a:t>)</a:t>
            </a:r>
          </a:p>
        </p:txBody>
      </p:sp>
      <p:sp>
        <p:nvSpPr>
          <p:cNvPr id="158750" name="AutoShape 30"/>
          <p:cNvSpPr>
            <a:spLocks noChangeArrowheads="1"/>
          </p:cNvSpPr>
          <p:nvPr/>
        </p:nvSpPr>
        <p:spPr bwMode="auto">
          <a:xfrm>
            <a:off x="388048" y="3583441"/>
            <a:ext cx="1145254" cy="843574"/>
          </a:xfrm>
          <a:prstGeom prst="triangle">
            <a:avLst>
              <a:gd name="adj" fmla="val 50000"/>
            </a:avLst>
          </a:prstGeom>
          <a:solidFill>
            <a:srgbClr val="99CCFF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b"/>
          <a:lstStyle/>
          <a:p>
            <a:pPr algn="ctr"/>
            <a:endParaRPr lang="fr-FR" b="0">
              <a:latin typeface="Arial Narrow" pitchFamily="34" charset="0"/>
            </a:endParaRPr>
          </a:p>
        </p:txBody>
      </p:sp>
      <p:grpSp>
        <p:nvGrpSpPr>
          <p:cNvPr id="158751" name="Group 31"/>
          <p:cNvGrpSpPr>
            <a:grpSpLocks/>
          </p:cNvGrpSpPr>
          <p:nvPr/>
        </p:nvGrpSpPr>
        <p:grpSpPr bwMode="auto">
          <a:xfrm>
            <a:off x="945260" y="3542165"/>
            <a:ext cx="604930" cy="1106455"/>
            <a:chOff x="563" y="951"/>
            <a:chExt cx="380" cy="685"/>
          </a:xfrm>
        </p:grpSpPr>
        <p:grpSp>
          <p:nvGrpSpPr>
            <p:cNvPr id="158752" name="Group 32"/>
            <p:cNvGrpSpPr>
              <a:grpSpLocks/>
            </p:cNvGrpSpPr>
            <p:nvPr/>
          </p:nvGrpSpPr>
          <p:grpSpPr bwMode="auto">
            <a:xfrm>
              <a:off x="563" y="951"/>
              <a:ext cx="291" cy="685"/>
              <a:chOff x="3064" y="2792"/>
              <a:chExt cx="281" cy="626"/>
            </a:xfrm>
          </p:grpSpPr>
          <p:sp>
            <p:nvSpPr>
              <p:cNvPr id="158753" name="Oval 33"/>
              <p:cNvSpPr>
                <a:spLocks noChangeArrowheads="1"/>
              </p:cNvSpPr>
              <p:nvPr/>
            </p:nvSpPr>
            <p:spPr bwMode="auto">
              <a:xfrm>
                <a:off x="3156" y="2792"/>
                <a:ext cx="95" cy="102"/>
              </a:xfrm>
              <a:prstGeom prst="ellipse">
                <a:avLst/>
              </a:prstGeom>
              <a:gradFill rotWithShape="0">
                <a:gsLst>
                  <a:gs pos="0">
                    <a:srgbClr val="9234DB">
                      <a:gamma/>
                      <a:tint val="33333"/>
                      <a:invGamma/>
                    </a:srgbClr>
                  </a:gs>
                  <a:gs pos="100000">
                    <a:srgbClr val="9234DB"/>
                  </a:gs>
                </a:gsLst>
                <a:path path="shape">
                  <a:fillToRect l="50000" t="50000" r="50000" b="50000"/>
                </a:path>
              </a:gradFill>
              <a:ln w="12700">
                <a:noFill/>
                <a:round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8754" name="Freeform 34"/>
              <p:cNvSpPr>
                <a:spLocks/>
              </p:cNvSpPr>
              <p:nvPr/>
            </p:nvSpPr>
            <p:spPr bwMode="auto">
              <a:xfrm>
                <a:off x="3064" y="2914"/>
                <a:ext cx="281" cy="504"/>
              </a:xfrm>
              <a:custGeom>
                <a:avLst/>
                <a:gdLst/>
                <a:ahLst/>
                <a:cxnLst>
                  <a:cxn ang="0">
                    <a:pos x="208" y="0"/>
                  </a:cxn>
                  <a:cxn ang="0">
                    <a:pos x="217" y="3"/>
                  </a:cxn>
                  <a:cxn ang="0">
                    <a:pos x="228" y="9"/>
                  </a:cxn>
                  <a:cxn ang="0">
                    <a:pos x="232" y="16"/>
                  </a:cxn>
                  <a:cxn ang="0">
                    <a:pos x="237" y="24"/>
                  </a:cxn>
                  <a:cxn ang="0">
                    <a:pos x="241" y="35"/>
                  </a:cxn>
                  <a:cxn ang="0">
                    <a:pos x="280" y="189"/>
                  </a:cxn>
                  <a:cxn ang="0">
                    <a:pos x="280" y="201"/>
                  </a:cxn>
                  <a:cxn ang="0">
                    <a:pos x="276" y="208"/>
                  </a:cxn>
                  <a:cxn ang="0">
                    <a:pos x="268" y="214"/>
                  </a:cxn>
                  <a:cxn ang="0">
                    <a:pos x="258" y="214"/>
                  </a:cxn>
                  <a:cxn ang="0">
                    <a:pos x="252" y="212"/>
                  </a:cxn>
                  <a:cxn ang="0">
                    <a:pos x="244" y="208"/>
                  </a:cxn>
                  <a:cxn ang="0">
                    <a:pos x="240" y="201"/>
                  </a:cxn>
                  <a:cxn ang="0">
                    <a:pos x="253" y="310"/>
                  </a:cxn>
                  <a:cxn ang="0">
                    <a:pos x="202" y="484"/>
                  </a:cxn>
                  <a:cxn ang="0">
                    <a:pos x="198" y="494"/>
                  </a:cxn>
                  <a:cxn ang="0">
                    <a:pos x="190" y="499"/>
                  </a:cxn>
                  <a:cxn ang="0">
                    <a:pos x="184" y="503"/>
                  </a:cxn>
                  <a:cxn ang="0">
                    <a:pos x="174" y="503"/>
                  </a:cxn>
                  <a:cxn ang="0">
                    <a:pos x="166" y="500"/>
                  </a:cxn>
                  <a:cxn ang="0">
                    <a:pos x="159" y="494"/>
                  </a:cxn>
                  <a:cxn ang="0">
                    <a:pos x="154" y="487"/>
                  </a:cxn>
                  <a:cxn ang="0">
                    <a:pos x="153" y="479"/>
                  </a:cxn>
                  <a:cxn ang="0">
                    <a:pos x="127" y="479"/>
                  </a:cxn>
                  <a:cxn ang="0">
                    <a:pos x="126" y="487"/>
                  </a:cxn>
                  <a:cxn ang="0">
                    <a:pos x="121" y="496"/>
                  </a:cxn>
                  <a:cxn ang="0">
                    <a:pos x="114" y="500"/>
                  </a:cxn>
                  <a:cxn ang="0">
                    <a:pos x="106" y="503"/>
                  </a:cxn>
                  <a:cxn ang="0">
                    <a:pos x="96" y="503"/>
                  </a:cxn>
                  <a:cxn ang="0">
                    <a:pos x="90" y="499"/>
                  </a:cxn>
                  <a:cxn ang="0">
                    <a:pos x="82" y="494"/>
                  </a:cxn>
                  <a:cxn ang="0">
                    <a:pos x="78" y="484"/>
                  </a:cxn>
                  <a:cxn ang="0">
                    <a:pos x="78" y="313"/>
                  </a:cxn>
                  <a:cxn ang="0">
                    <a:pos x="78" y="71"/>
                  </a:cxn>
                  <a:cxn ang="0">
                    <a:pos x="39" y="209"/>
                  </a:cxn>
                  <a:cxn ang="0">
                    <a:pos x="31" y="217"/>
                  </a:cxn>
                  <a:cxn ang="0">
                    <a:pos x="22" y="220"/>
                  </a:cxn>
                  <a:cxn ang="0">
                    <a:pos x="15" y="220"/>
                  </a:cxn>
                  <a:cxn ang="0">
                    <a:pos x="4" y="212"/>
                  </a:cxn>
                  <a:cxn ang="0">
                    <a:pos x="0" y="202"/>
                  </a:cxn>
                  <a:cxn ang="0">
                    <a:pos x="0" y="196"/>
                  </a:cxn>
                  <a:cxn ang="0">
                    <a:pos x="40" y="38"/>
                  </a:cxn>
                  <a:cxn ang="0">
                    <a:pos x="43" y="28"/>
                  </a:cxn>
                  <a:cxn ang="0">
                    <a:pos x="46" y="19"/>
                  </a:cxn>
                  <a:cxn ang="0">
                    <a:pos x="52" y="12"/>
                  </a:cxn>
                  <a:cxn ang="0">
                    <a:pos x="60" y="4"/>
                  </a:cxn>
                  <a:cxn ang="0">
                    <a:pos x="72" y="0"/>
                  </a:cxn>
                </a:cxnLst>
                <a:rect l="0" t="0" r="r" b="b"/>
                <a:pathLst>
                  <a:path w="281" h="504">
                    <a:moveTo>
                      <a:pt x="78" y="0"/>
                    </a:moveTo>
                    <a:lnTo>
                      <a:pt x="205" y="0"/>
                    </a:lnTo>
                    <a:lnTo>
                      <a:pt x="208" y="0"/>
                    </a:lnTo>
                    <a:lnTo>
                      <a:pt x="210" y="0"/>
                    </a:lnTo>
                    <a:lnTo>
                      <a:pt x="214" y="3"/>
                    </a:lnTo>
                    <a:lnTo>
                      <a:pt x="217" y="3"/>
                    </a:lnTo>
                    <a:lnTo>
                      <a:pt x="220" y="4"/>
                    </a:lnTo>
                    <a:lnTo>
                      <a:pt x="222" y="7"/>
                    </a:lnTo>
                    <a:lnTo>
                      <a:pt x="228" y="9"/>
                    </a:lnTo>
                    <a:lnTo>
                      <a:pt x="229" y="12"/>
                    </a:lnTo>
                    <a:lnTo>
                      <a:pt x="229" y="15"/>
                    </a:lnTo>
                    <a:lnTo>
                      <a:pt x="232" y="16"/>
                    </a:lnTo>
                    <a:lnTo>
                      <a:pt x="234" y="19"/>
                    </a:lnTo>
                    <a:lnTo>
                      <a:pt x="237" y="22"/>
                    </a:lnTo>
                    <a:lnTo>
                      <a:pt x="237" y="24"/>
                    </a:lnTo>
                    <a:lnTo>
                      <a:pt x="240" y="27"/>
                    </a:lnTo>
                    <a:lnTo>
                      <a:pt x="240" y="31"/>
                    </a:lnTo>
                    <a:lnTo>
                      <a:pt x="241" y="35"/>
                    </a:lnTo>
                    <a:lnTo>
                      <a:pt x="241" y="38"/>
                    </a:lnTo>
                    <a:lnTo>
                      <a:pt x="241" y="43"/>
                    </a:lnTo>
                    <a:lnTo>
                      <a:pt x="280" y="189"/>
                    </a:lnTo>
                    <a:lnTo>
                      <a:pt x="280" y="193"/>
                    </a:lnTo>
                    <a:lnTo>
                      <a:pt x="280" y="196"/>
                    </a:lnTo>
                    <a:lnTo>
                      <a:pt x="280" y="201"/>
                    </a:lnTo>
                    <a:lnTo>
                      <a:pt x="280" y="202"/>
                    </a:lnTo>
                    <a:lnTo>
                      <a:pt x="277" y="205"/>
                    </a:lnTo>
                    <a:lnTo>
                      <a:pt x="276" y="208"/>
                    </a:lnTo>
                    <a:lnTo>
                      <a:pt x="273" y="209"/>
                    </a:lnTo>
                    <a:lnTo>
                      <a:pt x="271" y="212"/>
                    </a:lnTo>
                    <a:lnTo>
                      <a:pt x="268" y="214"/>
                    </a:lnTo>
                    <a:lnTo>
                      <a:pt x="265" y="214"/>
                    </a:lnTo>
                    <a:lnTo>
                      <a:pt x="261" y="214"/>
                    </a:lnTo>
                    <a:lnTo>
                      <a:pt x="258" y="214"/>
                    </a:lnTo>
                    <a:lnTo>
                      <a:pt x="256" y="214"/>
                    </a:lnTo>
                    <a:lnTo>
                      <a:pt x="253" y="214"/>
                    </a:lnTo>
                    <a:lnTo>
                      <a:pt x="252" y="212"/>
                    </a:lnTo>
                    <a:lnTo>
                      <a:pt x="249" y="212"/>
                    </a:lnTo>
                    <a:lnTo>
                      <a:pt x="246" y="209"/>
                    </a:lnTo>
                    <a:lnTo>
                      <a:pt x="244" y="208"/>
                    </a:lnTo>
                    <a:lnTo>
                      <a:pt x="241" y="205"/>
                    </a:lnTo>
                    <a:lnTo>
                      <a:pt x="241" y="202"/>
                    </a:lnTo>
                    <a:lnTo>
                      <a:pt x="240" y="201"/>
                    </a:lnTo>
                    <a:lnTo>
                      <a:pt x="202" y="71"/>
                    </a:lnTo>
                    <a:lnTo>
                      <a:pt x="190" y="71"/>
                    </a:lnTo>
                    <a:lnTo>
                      <a:pt x="253" y="310"/>
                    </a:lnTo>
                    <a:lnTo>
                      <a:pt x="202" y="310"/>
                    </a:lnTo>
                    <a:lnTo>
                      <a:pt x="202" y="479"/>
                    </a:lnTo>
                    <a:lnTo>
                      <a:pt x="202" y="484"/>
                    </a:lnTo>
                    <a:lnTo>
                      <a:pt x="202" y="487"/>
                    </a:lnTo>
                    <a:lnTo>
                      <a:pt x="201" y="488"/>
                    </a:lnTo>
                    <a:lnTo>
                      <a:pt x="198" y="494"/>
                    </a:lnTo>
                    <a:lnTo>
                      <a:pt x="196" y="496"/>
                    </a:lnTo>
                    <a:lnTo>
                      <a:pt x="196" y="499"/>
                    </a:lnTo>
                    <a:lnTo>
                      <a:pt x="190" y="499"/>
                    </a:lnTo>
                    <a:lnTo>
                      <a:pt x="189" y="500"/>
                    </a:lnTo>
                    <a:lnTo>
                      <a:pt x="186" y="503"/>
                    </a:lnTo>
                    <a:lnTo>
                      <a:pt x="184" y="503"/>
                    </a:lnTo>
                    <a:lnTo>
                      <a:pt x="181" y="503"/>
                    </a:lnTo>
                    <a:lnTo>
                      <a:pt x="178" y="503"/>
                    </a:lnTo>
                    <a:lnTo>
                      <a:pt x="174" y="503"/>
                    </a:lnTo>
                    <a:lnTo>
                      <a:pt x="171" y="503"/>
                    </a:lnTo>
                    <a:lnTo>
                      <a:pt x="169" y="500"/>
                    </a:lnTo>
                    <a:lnTo>
                      <a:pt x="166" y="500"/>
                    </a:lnTo>
                    <a:lnTo>
                      <a:pt x="165" y="499"/>
                    </a:lnTo>
                    <a:lnTo>
                      <a:pt x="162" y="496"/>
                    </a:lnTo>
                    <a:lnTo>
                      <a:pt x="159" y="494"/>
                    </a:lnTo>
                    <a:lnTo>
                      <a:pt x="157" y="494"/>
                    </a:lnTo>
                    <a:lnTo>
                      <a:pt x="157" y="488"/>
                    </a:lnTo>
                    <a:lnTo>
                      <a:pt x="154" y="487"/>
                    </a:lnTo>
                    <a:lnTo>
                      <a:pt x="154" y="484"/>
                    </a:lnTo>
                    <a:lnTo>
                      <a:pt x="153" y="481"/>
                    </a:lnTo>
                    <a:lnTo>
                      <a:pt x="153" y="479"/>
                    </a:lnTo>
                    <a:lnTo>
                      <a:pt x="153" y="313"/>
                    </a:lnTo>
                    <a:lnTo>
                      <a:pt x="127" y="313"/>
                    </a:lnTo>
                    <a:lnTo>
                      <a:pt x="127" y="479"/>
                    </a:lnTo>
                    <a:lnTo>
                      <a:pt x="127" y="481"/>
                    </a:lnTo>
                    <a:lnTo>
                      <a:pt x="127" y="484"/>
                    </a:lnTo>
                    <a:lnTo>
                      <a:pt x="126" y="487"/>
                    </a:lnTo>
                    <a:lnTo>
                      <a:pt x="126" y="488"/>
                    </a:lnTo>
                    <a:lnTo>
                      <a:pt x="123" y="494"/>
                    </a:lnTo>
                    <a:lnTo>
                      <a:pt x="121" y="496"/>
                    </a:lnTo>
                    <a:lnTo>
                      <a:pt x="118" y="499"/>
                    </a:lnTo>
                    <a:lnTo>
                      <a:pt x="115" y="499"/>
                    </a:lnTo>
                    <a:lnTo>
                      <a:pt x="114" y="500"/>
                    </a:lnTo>
                    <a:lnTo>
                      <a:pt x="111" y="503"/>
                    </a:lnTo>
                    <a:lnTo>
                      <a:pt x="109" y="503"/>
                    </a:lnTo>
                    <a:lnTo>
                      <a:pt x="106" y="503"/>
                    </a:lnTo>
                    <a:lnTo>
                      <a:pt x="102" y="503"/>
                    </a:lnTo>
                    <a:lnTo>
                      <a:pt x="99" y="503"/>
                    </a:lnTo>
                    <a:lnTo>
                      <a:pt x="96" y="503"/>
                    </a:lnTo>
                    <a:lnTo>
                      <a:pt x="94" y="500"/>
                    </a:lnTo>
                    <a:lnTo>
                      <a:pt x="91" y="500"/>
                    </a:lnTo>
                    <a:lnTo>
                      <a:pt x="90" y="499"/>
                    </a:lnTo>
                    <a:lnTo>
                      <a:pt x="87" y="499"/>
                    </a:lnTo>
                    <a:lnTo>
                      <a:pt x="84" y="496"/>
                    </a:lnTo>
                    <a:lnTo>
                      <a:pt x="82" y="494"/>
                    </a:lnTo>
                    <a:lnTo>
                      <a:pt x="79" y="491"/>
                    </a:lnTo>
                    <a:lnTo>
                      <a:pt x="79" y="488"/>
                    </a:lnTo>
                    <a:lnTo>
                      <a:pt x="78" y="484"/>
                    </a:lnTo>
                    <a:lnTo>
                      <a:pt x="78" y="481"/>
                    </a:lnTo>
                    <a:lnTo>
                      <a:pt x="78" y="479"/>
                    </a:lnTo>
                    <a:lnTo>
                      <a:pt x="78" y="313"/>
                    </a:lnTo>
                    <a:lnTo>
                      <a:pt x="28" y="313"/>
                    </a:lnTo>
                    <a:lnTo>
                      <a:pt x="90" y="71"/>
                    </a:lnTo>
                    <a:lnTo>
                      <a:pt x="78" y="71"/>
                    </a:lnTo>
                    <a:lnTo>
                      <a:pt x="40" y="202"/>
                    </a:lnTo>
                    <a:lnTo>
                      <a:pt x="39" y="205"/>
                    </a:lnTo>
                    <a:lnTo>
                      <a:pt x="39" y="209"/>
                    </a:lnTo>
                    <a:lnTo>
                      <a:pt x="36" y="212"/>
                    </a:lnTo>
                    <a:lnTo>
                      <a:pt x="34" y="214"/>
                    </a:lnTo>
                    <a:lnTo>
                      <a:pt x="31" y="217"/>
                    </a:lnTo>
                    <a:lnTo>
                      <a:pt x="28" y="217"/>
                    </a:lnTo>
                    <a:lnTo>
                      <a:pt x="27" y="220"/>
                    </a:lnTo>
                    <a:lnTo>
                      <a:pt x="22" y="220"/>
                    </a:lnTo>
                    <a:lnTo>
                      <a:pt x="19" y="220"/>
                    </a:lnTo>
                    <a:lnTo>
                      <a:pt x="16" y="220"/>
                    </a:lnTo>
                    <a:lnTo>
                      <a:pt x="15" y="220"/>
                    </a:lnTo>
                    <a:lnTo>
                      <a:pt x="9" y="217"/>
                    </a:lnTo>
                    <a:lnTo>
                      <a:pt x="7" y="214"/>
                    </a:lnTo>
                    <a:lnTo>
                      <a:pt x="4" y="212"/>
                    </a:lnTo>
                    <a:lnTo>
                      <a:pt x="3" y="208"/>
                    </a:lnTo>
                    <a:lnTo>
                      <a:pt x="0" y="205"/>
                    </a:lnTo>
                    <a:lnTo>
                      <a:pt x="0" y="202"/>
                    </a:lnTo>
                    <a:lnTo>
                      <a:pt x="0" y="201"/>
                    </a:lnTo>
                    <a:lnTo>
                      <a:pt x="0" y="198"/>
                    </a:lnTo>
                    <a:lnTo>
                      <a:pt x="0" y="196"/>
                    </a:lnTo>
                    <a:lnTo>
                      <a:pt x="0" y="193"/>
                    </a:lnTo>
                    <a:lnTo>
                      <a:pt x="39" y="40"/>
                    </a:lnTo>
                    <a:lnTo>
                      <a:pt x="40" y="38"/>
                    </a:lnTo>
                    <a:lnTo>
                      <a:pt x="40" y="34"/>
                    </a:lnTo>
                    <a:lnTo>
                      <a:pt x="40" y="31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4"/>
                    </a:lnTo>
                    <a:lnTo>
                      <a:pt x="46" y="19"/>
                    </a:lnTo>
                    <a:lnTo>
                      <a:pt x="48" y="16"/>
                    </a:lnTo>
                    <a:lnTo>
                      <a:pt x="51" y="15"/>
                    </a:lnTo>
                    <a:lnTo>
                      <a:pt x="52" y="12"/>
                    </a:lnTo>
                    <a:lnTo>
                      <a:pt x="55" y="9"/>
                    </a:lnTo>
                    <a:lnTo>
                      <a:pt x="58" y="7"/>
                    </a:lnTo>
                    <a:lnTo>
                      <a:pt x="60" y="4"/>
                    </a:lnTo>
                    <a:lnTo>
                      <a:pt x="63" y="3"/>
                    </a:lnTo>
                    <a:lnTo>
                      <a:pt x="67" y="3"/>
                    </a:lnTo>
                    <a:lnTo>
                      <a:pt x="72" y="0"/>
                    </a:lnTo>
                    <a:lnTo>
                      <a:pt x="78" y="0"/>
                    </a:lnTo>
                  </a:path>
                </a:pathLst>
              </a:custGeom>
              <a:gradFill rotWithShape="0">
                <a:gsLst>
                  <a:gs pos="0">
                    <a:srgbClr val="9234DB">
                      <a:gamma/>
                      <a:tint val="33333"/>
                      <a:invGamma/>
                    </a:srgbClr>
                  </a:gs>
                  <a:gs pos="100000">
                    <a:srgbClr val="9234DB"/>
                  </a:gs>
                </a:gsLst>
                <a:path path="rect">
                  <a:fillToRect l="50000" t="50000" r="50000" b="50000"/>
                </a:path>
              </a:gra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58755" name="AutoShape 35"/>
            <p:cNvSpPr>
              <a:spLocks noChangeArrowheads="1"/>
            </p:cNvSpPr>
            <p:nvPr/>
          </p:nvSpPr>
          <p:spPr bwMode="auto">
            <a:xfrm rot="1965645" flipV="1">
              <a:off x="761" y="1153"/>
              <a:ext cx="182" cy="267"/>
            </a:xfrm>
            <a:prstGeom prst="foldedCorner">
              <a:avLst>
                <a:gd name="adj" fmla="val 29269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tIns="27432" bIns="27432" anchor="ctr">
              <a:spAutoFit/>
            </a:bodyPr>
            <a:lstStyle/>
            <a:p>
              <a:endParaRPr lang="fr-FR"/>
            </a:p>
          </p:txBody>
        </p:sp>
      </p:grpSp>
      <p:grpSp>
        <p:nvGrpSpPr>
          <p:cNvPr id="158756" name="Group 36"/>
          <p:cNvGrpSpPr>
            <a:grpSpLocks/>
          </p:cNvGrpSpPr>
          <p:nvPr/>
        </p:nvGrpSpPr>
        <p:grpSpPr bwMode="auto">
          <a:xfrm>
            <a:off x="1054798" y="5364384"/>
            <a:ext cx="475720" cy="949511"/>
            <a:chOff x="676" y="2582"/>
            <a:chExt cx="314" cy="617"/>
          </a:xfrm>
        </p:grpSpPr>
        <p:grpSp>
          <p:nvGrpSpPr>
            <p:cNvPr id="158757" name="Group 37"/>
            <p:cNvGrpSpPr>
              <a:grpSpLocks/>
            </p:cNvGrpSpPr>
            <p:nvPr/>
          </p:nvGrpSpPr>
          <p:grpSpPr bwMode="auto">
            <a:xfrm>
              <a:off x="676" y="2582"/>
              <a:ext cx="241" cy="617"/>
              <a:chOff x="2105" y="843"/>
              <a:chExt cx="238" cy="611"/>
            </a:xfrm>
          </p:grpSpPr>
          <p:sp>
            <p:nvSpPr>
              <p:cNvPr id="158758" name="Oval 38"/>
              <p:cNvSpPr>
                <a:spLocks noChangeArrowheads="1"/>
              </p:cNvSpPr>
              <p:nvPr/>
            </p:nvSpPr>
            <p:spPr bwMode="auto">
              <a:xfrm>
                <a:off x="2171" y="843"/>
                <a:ext cx="99" cy="101"/>
              </a:xfrm>
              <a:prstGeom prst="ellipse">
                <a:avLst/>
              </a:prstGeom>
              <a:gradFill rotWithShape="0">
                <a:gsLst>
                  <a:gs pos="0">
                    <a:srgbClr val="ADC159">
                      <a:gamma/>
                      <a:tint val="54902"/>
                      <a:invGamma/>
                    </a:srgbClr>
                  </a:gs>
                  <a:gs pos="100000">
                    <a:srgbClr val="ADC159"/>
                  </a:gs>
                </a:gsLst>
                <a:path path="shape">
                  <a:fillToRect l="50000" t="50000" r="50000" b="50000"/>
                </a:path>
              </a:gradFill>
              <a:ln w="12700" cap="rnd">
                <a:noFill/>
                <a:round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8759" name="Freeform 39"/>
              <p:cNvSpPr>
                <a:spLocks/>
              </p:cNvSpPr>
              <p:nvPr/>
            </p:nvSpPr>
            <p:spPr bwMode="auto">
              <a:xfrm>
                <a:off x="2105" y="958"/>
                <a:ext cx="238" cy="496"/>
              </a:xfrm>
              <a:custGeom>
                <a:avLst/>
                <a:gdLst/>
                <a:ahLst/>
                <a:cxnLst>
                  <a:cxn ang="0">
                    <a:pos x="186" y="0"/>
                  </a:cxn>
                  <a:cxn ang="0">
                    <a:pos x="195" y="3"/>
                  </a:cxn>
                  <a:cxn ang="0">
                    <a:pos x="204" y="4"/>
                  </a:cxn>
                  <a:cxn ang="0">
                    <a:pos x="212" y="9"/>
                  </a:cxn>
                  <a:cxn ang="0">
                    <a:pos x="224" y="13"/>
                  </a:cxn>
                  <a:cxn ang="0">
                    <a:pos x="230" y="24"/>
                  </a:cxn>
                  <a:cxn ang="0">
                    <a:pos x="237" y="34"/>
                  </a:cxn>
                  <a:cxn ang="0">
                    <a:pos x="237" y="226"/>
                  </a:cxn>
                  <a:cxn ang="0">
                    <a:pos x="234" y="232"/>
                  </a:cxn>
                  <a:cxn ang="0">
                    <a:pos x="230" y="239"/>
                  </a:cxn>
                  <a:cxn ang="0">
                    <a:pos x="221" y="242"/>
                  </a:cxn>
                  <a:cxn ang="0">
                    <a:pos x="212" y="244"/>
                  </a:cxn>
                  <a:cxn ang="0">
                    <a:pos x="204" y="242"/>
                  </a:cxn>
                  <a:cxn ang="0">
                    <a:pos x="200" y="235"/>
                  </a:cxn>
                  <a:cxn ang="0">
                    <a:pos x="195" y="230"/>
                  </a:cxn>
                  <a:cxn ang="0">
                    <a:pos x="195" y="84"/>
                  </a:cxn>
                  <a:cxn ang="0">
                    <a:pos x="182" y="471"/>
                  </a:cxn>
                  <a:cxn ang="0">
                    <a:pos x="177" y="483"/>
                  </a:cxn>
                  <a:cxn ang="0">
                    <a:pos x="170" y="491"/>
                  </a:cxn>
                  <a:cxn ang="0">
                    <a:pos x="161" y="495"/>
                  </a:cxn>
                  <a:cxn ang="0">
                    <a:pos x="152" y="495"/>
                  </a:cxn>
                  <a:cxn ang="0">
                    <a:pos x="140" y="492"/>
                  </a:cxn>
                  <a:cxn ang="0">
                    <a:pos x="132" y="486"/>
                  </a:cxn>
                  <a:cxn ang="0">
                    <a:pos x="128" y="479"/>
                  </a:cxn>
                  <a:cxn ang="0">
                    <a:pos x="126" y="470"/>
                  </a:cxn>
                  <a:cxn ang="0">
                    <a:pos x="111" y="470"/>
                  </a:cxn>
                  <a:cxn ang="0">
                    <a:pos x="107" y="479"/>
                  </a:cxn>
                  <a:cxn ang="0">
                    <a:pos x="101" y="491"/>
                  </a:cxn>
                  <a:cxn ang="0">
                    <a:pos x="89" y="495"/>
                  </a:cxn>
                  <a:cxn ang="0">
                    <a:pos x="77" y="495"/>
                  </a:cxn>
                  <a:cxn ang="0">
                    <a:pos x="69" y="491"/>
                  </a:cxn>
                  <a:cxn ang="0">
                    <a:pos x="60" y="486"/>
                  </a:cxn>
                  <a:cxn ang="0">
                    <a:pos x="56" y="477"/>
                  </a:cxn>
                  <a:cxn ang="0">
                    <a:pos x="56" y="84"/>
                  </a:cxn>
                  <a:cxn ang="0">
                    <a:pos x="42" y="227"/>
                  </a:cxn>
                  <a:cxn ang="0">
                    <a:pos x="38" y="235"/>
                  </a:cxn>
                  <a:cxn ang="0">
                    <a:pos x="33" y="239"/>
                  </a:cxn>
                  <a:cxn ang="0">
                    <a:pos x="26" y="244"/>
                  </a:cxn>
                  <a:cxn ang="0">
                    <a:pos x="17" y="244"/>
                  </a:cxn>
                  <a:cxn ang="0">
                    <a:pos x="9" y="239"/>
                  </a:cxn>
                  <a:cxn ang="0">
                    <a:pos x="5" y="238"/>
                  </a:cxn>
                  <a:cxn ang="0">
                    <a:pos x="0" y="230"/>
                  </a:cxn>
                  <a:cxn ang="0">
                    <a:pos x="0" y="39"/>
                  </a:cxn>
                  <a:cxn ang="0">
                    <a:pos x="5" y="25"/>
                  </a:cxn>
                  <a:cxn ang="0">
                    <a:pos x="14" y="13"/>
                  </a:cxn>
                  <a:cxn ang="0">
                    <a:pos x="30" y="7"/>
                  </a:cxn>
                  <a:cxn ang="0">
                    <a:pos x="44" y="3"/>
                  </a:cxn>
                </a:cxnLst>
                <a:rect l="0" t="0" r="r" b="b"/>
                <a:pathLst>
                  <a:path w="238" h="496">
                    <a:moveTo>
                      <a:pt x="56" y="0"/>
                    </a:moveTo>
                    <a:lnTo>
                      <a:pt x="182" y="0"/>
                    </a:lnTo>
                    <a:lnTo>
                      <a:pt x="186" y="0"/>
                    </a:lnTo>
                    <a:lnTo>
                      <a:pt x="188" y="0"/>
                    </a:lnTo>
                    <a:lnTo>
                      <a:pt x="191" y="0"/>
                    </a:lnTo>
                    <a:lnTo>
                      <a:pt x="195" y="3"/>
                    </a:lnTo>
                    <a:lnTo>
                      <a:pt x="198" y="3"/>
                    </a:lnTo>
                    <a:lnTo>
                      <a:pt x="200" y="3"/>
                    </a:lnTo>
                    <a:lnTo>
                      <a:pt x="204" y="4"/>
                    </a:lnTo>
                    <a:lnTo>
                      <a:pt x="207" y="4"/>
                    </a:lnTo>
                    <a:lnTo>
                      <a:pt x="209" y="7"/>
                    </a:lnTo>
                    <a:lnTo>
                      <a:pt x="212" y="9"/>
                    </a:lnTo>
                    <a:lnTo>
                      <a:pt x="216" y="9"/>
                    </a:lnTo>
                    <a:lnTo>
                      <a:pt x="219" y="12"/>
                    </a:lnTo>
                    <a:lnTo>
                      <a:pt x="224" y="13"/>
                    </a:lnTo>
                    <a:lnTo>
                      <a:pt x="225" y="18"/>
                    </a:lnTo>
                    <a:lnTo>
                      <a:pt x="228" y="21"/>
                    </a:lnTo>
                    <a:lnTo>
                      <a:pt x="230" y="24"/>
                    </a:lnTo>
                    <a:lnTo>
                      <a:pt x="234" y="28"/>
                    </a:lnTo>
                    <a:lnTo>
                      <a:pt x="234" y="30"/>
                    </a:lnTo>
                    <a:lnTo>
                      <a:pt x="237" y="34"/>
                    </a:lnTo>
                    <a:lnTo>
                      <a:pt x="237" y="39"/>
                    </a:lnTo>
                    <a:lnTo>
                      <a:pt x="237" y="42"/>
                    </a:lnTo>
                    <a:lnTo>
                      <a:pt x="237" y="226"/>
                    </a:lnTo>
                    <a:lnTo>
                      <a:pt x="237" y="227"/>
                    </a:lnTo>
                    <a:lnTo>
                      <a:pt x="234" y="230"/>
                    </a:lnTo>
                    <a:lnTo>
                      <a:pt x="234" y="232"/>
                    </a:lnTo>
                    <a:lnTo>
                      <a:pt x="234" y="235"/>
                    </a:lnTo>
                    <a:lnTo>
                      <a:pt x="233" y="238"/>
                    </a:lnTo>
                    <a:lnTo>
                      <a:pt x="230" y="239"/>
                    </a:lnTo>
                    <a:lnTo>
                      <a:pt x="228" y="239"/>
                    </a:lnTo>
                    <a:lnTo>
                      <a:pt x="224" y="242"/>
                    </a:lnTo>
                    <a:lnTo>
                      <a:pt x="221" y="242"/>
                    </a:lnTo>
                    <a:lnTo>
                      <a:pt x="219" y="244"/>
                    </a:lnTo>
                    <a:lnTo>
                      <a:pt x="216" y="244"/>
                    </a:lnTo>
                    <a:lnTo>
                      <a:pt x="212" y="244"/>
                    </a:lnTo>
                    <a:lnTo>
                      <a:pt x="209" y="242"/>
                    </a:lnTo>
                    <a:lnTo>
                      <a:pt x="207" y="242"/>
                    </a:lnTo>
                    <a:lnTo>
                      <a:pt x="204" y="242"/>
                    </a:lnTo>
                    <a:lnTo>
                      <a:pt x="203" y="239"/>
                    </a:lnTo>
                    <a:lnTo>
                      <a:pt x="200" y="238"/>
                    </a:lnTo>
                    <a:lnTo>
                      <a:pt x="200" y="235"/>
                    </a:lnTo>
                    <a:lnTo>
                      <a:pt x="198" y="235"/>
                    </a:lnTo>
                    <a:lnTo>
                      <a:pt x="195" y="232"/>
                    </a:lnTo>
                    <a:lnTo>
                      <a:pt x="195" y="230"/>
                    </a:lnTo>
                    <a:lnTo>
                      <a:pt x="195" y="227"/>
                    </a:lnTo>
                    <a:lnTo>
                      <a:pt x="195" y="226"/>
                    </a:lnTo>
                    <a:lnTo>
                      <a:pt x="195" y="84"/>
                    </a:lnTo>
                    <a:lnTo>
                      <a:pt x="182" y="84"/>
                    </a:lnTo>
                    <a:lnTo>
                      <a:pt x="182" y="467"/>
                    </a:lnTo>
                    <a:lnTo>
                      <a:pt x="182" y="471"/>
                    </a:lnTo>
                    <a:lnTo>
                      <a:pt x="182" y="474"/>
                    </a:lnTo>
                    <a:lnTo>
                      <a:pt x="179" y="479"/>
                    </a:lnTo>
                    <a:lnTo>
                      <a:pt x="177" y="483"/>
                    </a:lnTo>
                    <a:lnTo>
                      <a:pt x="174" y="486"/>
                    </a:lnTo>
                    <a:lnTo>
                      <a:pt x="173" y="488"/>
                    </a:lnTo>
                    <a:lnTo>
                      <a:pt x="170" y="491"/>
                    </a:lnTo>
                    <a:lnTo>
                      <a:pt x="165" y="492"/>
                    </a:lnTo>
                    <a:lnTo>
                      <a:pt x="162" y="492"/>
                    </a:lnTo>
                    <a:lnTo>
                      <a:pt x="161" y="495"/>
                    </a:lnTo>
                    <a:lnTo>
                      <a:pt x="156" y="495"/>
                    </a:lnTo>
                    <a:lnTo>
                      <a:pt x="153" y="495"/>
                    </a:lnTo>
                    <a:lnTo>
                      <a:pt x="152" y="495"/>
                    </a:lnTo>
                    <a:lnTo>
                      <a:pt x="147" y="495"/>
                    </a:lnTo>
                    <a:lnTo>
                      <a:pt x="144" y="492"/>
                    </a:lnTo>
                    <a:lnTo>
                      <a:pt x="140" y="492"/>
                    </a:lnTo>
                    <a:lnTo>
                      <a:pt x="137" y="491"/>
                    </a:lnTo>
                    <a:lnTo>
                      <a:pt x="135" y="488"/>
                    </a:lnTo>
                    <a:lnTo>
                      <a:pt x="132" y="486"/>
                    </a:lnTo>
                    <a:lnTo>
                      <a:pt x="131" y="483"/>
                    </a:lnTo>
                    <a:lnTo>
                      <a:pt x="128" y="482"/>
                    </a:lnTo>
                    <a:lnTo>
                      <a:pt x="128" y="479"/>
                    </a:lnTo>
                    <a:lnTo>
                      <a:pt x="126" y="477"/>
                    </a:lnTo>
                    <a:lnTo>
                      <a:pt x="126" y="474"/>
                    </a:lnTo>
                    <a:lnTo>
                      <a:pt x="126" y="470"/>
                    </a:lnTo>
                    <a:lnTo>
                      <a:pt x="126" y="238"/>
                    </a:lnTo>
                    <a:lnTo>
                      <a:pt x="111" y="238"/>
                    </a:lnTo>
                    <a:lnTo>
                      <a:pt x="111" y="470"/>
                    </a:lnTo>
                    <a:lnTo>
                      <a:pt x="111" y="471"/>
                    </a:lnTo>
                    <a:lnTo>
                      <a:pt x="110" y="477"/>
                    </a:lnTo>
                    <a:lnTo>
                      <a:pt x="107" y="479"/>
                    </a:lnTo>
                    <a:lnTo>
                      <a:pt x="107" y="483"/>
                    </a:lnTo>
                    <a:lnTo>
                      <a:pt x="105" y="486"/>
                    </a:lnTo>
                    <a:lnTo>
                      <a:pt x="101" y="491"/>
                    </a:lnTo>
                    <a:lnTo>
                      <a:pt x="98" y="491"/>
                    </a:lnTo>
                    <a:lnTo>
                      <a:pt x="93" y="492"/>
                    </a:lnTo>
                    <a:lnTo>
                      <a:pt x="89" y="495"/>
                    </a:lnTo>
                    <a:lnTo>
                      <a:pt x="86" y="495"/>
                    </a:lnTo>
                    <a:lnTo>
                      <a:pt x="81" y="495"/>
                    </a:lnTo>
                    <a:lnTo>
                      <a:pt x="77" y="495"/>
                    </a:lnTo>
                    <a:lnTo>
                      <a:pt x="75" y="495"/>
                    </a:lnTo>
                    <a:lnTo>
                      <a:pt x="72" y="492"/>
                    </a:lnTo>
                    <a:lnTo>
                      <a:pt x="69" y="491"/>
                    </a:lnTo>
                    <a:lnTo>
                      <a:pt x="65" y="491"/>
                    </a:lnTo>
                    <a:lnTo>
                      <a:pt x="63" y="486"/>
                    </a:lnTo>
                    <a:lnTo>
                      <a:pt x="60" y="486"/>
                    </a:lnTo>
                    <a:lnTo>
                      <a:pt x="59" y="482"/>
                    </a:lnTo>
                    <a:lnTo>
                      <a:pt x="59" y="479"/>
                    </a:lnTo>
                    <a:lnTo>
                      <a:pt x="56" y="477"/>
                    </a:lnTo>
                    <a:lnTo>
                      <a:pt x="56" y="474"/>
                    </a:lnTo>
                    <a:lnTo>
                      <a:pt x="56" y="470"/>
                    </a:lnTo>
                    <a:lnTo>
                      <a:pt x="56" y="84"/>
                    </a:lnTo>
                    <a:lnTo>
                      <a:pt x="42" y="84"/>
                    </a:lnTo>
                    <a:lnTo>
                      <a:pt x="42" y="226"/>
                    </a:lnTo>
                    <a:lnTo>
                      <a:pt x="42" y="227"/>
                    </a:lnTo>
                    <a:lnTo>
                      <a:pt x="39" y="230"/>
                    </a:lnTo>
                    <a:lnTo>
                      <a:pt x="39" y="232"/>
                    </a:lnTo>
                    <a:lnTo>
                      <a:pt x="38" y="235"/>
                    </a:lnTo>
                    <a:lnTo>
                      <a:pt x="35" y="238"/>
                    </a:lnTo>
                    <a:lnTo>
                      <a:pt x="35" y="239"/>
                    </a:lnTo>
                    <a:lnTo>
                      <a:pt x="33" y="239"/>
                    </a:lnTo>
                    <a:lnTo>
                      <a:pt x="30" y="242"/>
                    </a:lnTo>
                    <a:lnTo>
                      <a:pt x="29" y="242"/>
                    </a:lnTo>
                    <a:lnTo>
                      <a:pt x="26" y="244"/>
                    </a:lnTo>
                    <a:lnTo>
                      <a:pt x="23" y="244"/>
                    </a:lnTo>
                    <a:lnTo>
                      <a:pt x="18" y="244"/>
                    </a:lnTo>
                    <a:lnTo>
                      <a:pt x="17" y="244"/>
                    </a:lnTo>
                    <a:lnTo>
                      <a:pt x="14" y="242"/>
                    </a:lnTo>
                    <a:lnTo>
                      <a:pt x="12" y="242"/>
                    </a:lnTo>
                    <a:lnTo>
                      <a:pt x="9" y="239"/>
                    </a:lnTo>
                    <a:lnTo>
                      <a:pt x="8" y="239"/>
                    </a:lnTo>
                    <a:lnTo>
                      <a:pt x="8" y="238"/>
                    </a:lnTo>
                    <a:lnTo>
                      <a:pt x="5" y="238"/>
                    </a:lnTo>
                    <a:lnTo>
                      <a:pt x="3" y="235"/>
                    </a:lnTo>
                    <a:lnTo>
                      <a:pt x="3" y="232"/>
                    </a:lnTo>
                    <a:lnTo>
                      <a:pt x="0" y="230"/>
                    </a:lnTo>
                    <a:lnTo>
                      <a:pt x="0" y="227"/>
                    </a:lnTo>
                    <a:lnTo>
                      <a:pt x="0" y="226"/>
                    </a:lnTo>
                    <a:lnTo>
                      <a:pt x="0" y="39"/>
                    </a:lnTo>
                    <a:lnTo>
                      <a:pt x="0" y="34"/>
                    </a:lnTo>
                    <a:lnTo>
                      <a:pt x="3" y="30"/>
                    </a:lnTo>
                    <a:lnTo>
                      <a:pt x="5" y="25"/>
                    </a:lnTo>
                    <a:lnTo>
                      <a:pt x="8" y="21"/>
                    </a:lnTo>
                    <a:lnTo>
                      <a:pt x="12" y="18"/>
                    </a:lnTo>
                    <a:lnTo>
                      <a:pt x="14" y="13"/>
                    </a:lnTo>
                    <a:lnTo>
                      <a:pt x="18" y="12"/>
                    </a:lnTo>
                    <a:lnTo>
                      <a:pt x="26" y="9"/>
                    </a:lnTo>
                    <a:lnTo>
                      <a:pt x="30" y="7"/>
                    </a:lnTo>
                    <a:lnTo>
                      <a:pt x="33" y="4"/>
                    </a:lnTo>
                    <a:lnTo>
                      <a:pt x="39" y="3"/>
                    </a:lnTo>
                    <a:lnTo>
                      <a:pt x="44" y="3"/>
                    </a:lnTo>
                    <a:lnTo>
                      <a:pt x="51" y="0"/>
                    </a:lnTo>
                    <a:lnTo>
                      <a:pt x="56" y="0"/>
                    </a:lnTo>
                  </a:path>
                </a:pathLst>
              </a:custGeom>
              <a:gradFill rotWithShape="0">
                <a:gsLst>
                  <a:gs pos="0">
                    <a:srgbClr val="ADC159">
                      <a:gamma/>
                      <a:tint val="54902"/>
                      <a:invGamma/>
                    </a:srgbClr>
                  </a:gs>
                  <a:gs pos="100000">
                    <a:srgbClr val="ADC159"/>
                  </a:gs>
                </a:gsLst>
                <a:path path="rect">
                  <a:fillToRect l="50000" t="50000" r="50000" b="50000"/>
                </a:path>
              </a:gra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58760" name="AutoShape 40"/>
            <p:cNvSpPr>
              <a:spLocks noChangeArrowheads="1"/>
            </p:cNvSpPr>
            <p:nvPr/>
          </p:nvSpPr>
          <p:spPr bwMode="auto">
            <a:xfrm rot="1965645" flipV="1">
              <a:off x="808" y="2713"/>
              <a:ext cx="182" cy="267"/>
            </a:xfrm>
            <a:prstGeom prst="foldedCorner">
              <a:avLst>
                <a:gd name="adj" fmla="val 29269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tIns="27432" bIns="27432" anchor="ctr">
              <a:spAutoFit/>
            </a:bodyPr>
            <a:lstStyle/>
            <a:p>
              <a:endParaRPr lang="fr-FR"/>
            </a:p>
          </p:txBody>
        </p:sp>
      </p:grpSp>
      <p:grpSp>
        <p:nvGrpSpPr>
          <p:cNvPr id="158761" name="Group 41"/>
          <p:cNvGrpSpPr>
            <a:grpSpLocks/>
          </p:cNvGrpSpPr>
          <p:nvPr/>
        </p:nvGrpSpPr>
        <p:grpSpPr bwMode="auto">
          <a:xfrm>
            <a:off x="545209" y="5364384"/>
            <a:ext cx="477679" cy="949511"/>
            <a:chOff x="580" y="2534"/>
            <a:chExt cx="314" cy="617"/>
          </a:xfrm>
        </p:grpSpPr>
        <p:grpSp>
          <p:nvGrpSpPr>
            <p:cNvPr id="158762" name="Group 42"/>
            <p:cNvGrpSpPr>
              <a:grpSpLocks/>
            </p:cNvGrpSpPr>
            <p:nvPr/>
          </p:nvGrpSpPr>
          <p:grpSpPr bwMode="auto">
            <a:xfrm>
              <a:off x="580" y="2534"/>
              <a:ext cx="241" cy="617"/>
              <a:chOff x="2105" y="843"/>
              <a:chExt cx="238" cy="611"/>
            </a:xfrm>
          </p:grpSpPr>
          <p:sp>
            <p:nvSpPr>
              <p:cNvPr id="158763" name="Oval 43"/>
              <p:cNvSpPr>
                <a:spLocks noChangeArrowheads="1"/>
              </p:cNvSpPr>
              <p:nvPr/>
            </p:nvSpPr>
            <p:spPr bwMode="auto">
              <a:xfrm>
                <a:off x="2171" y="843"/>
                <a:ext cx="99" cy="101"/>
              </a:xfrm>
              <a:prstGeom prst="ellipse">
                <a:avLst/>
              </a:prstGeom>
              <a:gradFill rotWithShape="0">
                <a:gsLst>
                  <a:gs pos="0">
                    <a:srgbClr val="ADC159">
                      <a:gamma/>
                      <a:tint val="54902"/>
                      <a:invGamma/>
                    </a:srgbClr>
                  </a:gs>
                  <a:gs pos="100000">
                    <a:srgbClr val="ADC159"/>
                  </a:gs>
                </a:gsLst>
                <a:path path="shape">
                  <a:fillToRect l="50000" t="50000" r="50000" b="50000"/>
                </a:path>
              </a:gradFill>
              <a:ln w="12700" cap="rnd">
                <a:noFill/>
                <a:round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8764" name="Freeform 44"/>
              <p:cNvSpPr>
                <a:spLocks/>
              </p:cNvSpPr>
              <p:nvPr/>
            </p:nvSpPr>
            <p:spPr bwMode="auto">
              <a:xfrm>
                <a:off x="2105" y="958"/>
                <a:ext cx="238" cy="496"/>
              </a:xfrm>
              <a:custGeom>
                <a:avLst/>
                <a:gdLst/>
                <a:ahLst/>
                <a:cxnLst>
                  <a:cxn ang="0">
                    <a:pos x="186" y="0"/>
                  </a:cxn>
                  <a:cxn ang="0">
                    <a:pos x="195" y="3"/>
                  </a:cxn>
                  <a:cxn ang="0">
                    <a:pos x="204" y="4"/>
                  </a:cxn>
                  <a:cxn ang="0">
                    <a:pos x="212" y="9"/>
                  </a:cxn>
                  <a:cxn ang="0">
                    <a:pos x="224" y="13"/>
                  </a:cxn>
                  <a:cxn ang="0">
                    <a:pos x="230" y="24"/>
                  </a:cxn>
                  <a:cxn ang="0">
                    <a:pos x="237" y="34"/>
                  </a:cxn>
                  <a:cxn ang="0">
                    <a:pos x="237" y="226"/>
                  </a:cxn>
                  <a:cxn ang="0">
                    <a:pos x="234" y="232"/>
                  </a:cxn>
                  <a:cxn ang="0">
                    <a:pos x="230" y="239"/>
                  </a:cxn>
                  <a:cxn ang="0">
                    <a:pos x="221" y="242"/>
                  </a:cxn>
                  <a:cxn ang="0">
                    <a:pos x="212" y="244"/>
                  </a:cxn>
                  <a:cxn ang="0">
                    <a:pos x="204" y="242"/>
                  </a:cxn>
                  <a:cxn ang="0">
                    <a:pos x="200" y="235"/>
                  </a:cxn>
                  <a:cxn ang="0">
                    <a:pos x="195" y="230"/>
                  </a:cxn>
                  <a:cxn ang="0">
                    <a:pos x="195" y="84"/>
                  </a:cxn>
                  <a:cxn ang="0">
                    <a:pos x="182" y="471"/>
                  </a:cxn>
                  <a:cxn ang="0">
                    <a:pos x="177" y="483"/>
                  </a:cxn>
                  <a:cxn ang="0">
                    <a:pos x="170" y="491"/>
                  </a:cxn>
                  <a:cxn ang="0">
                    <a:pos x="161" y="495"/>
                  </a:cxn>
                  <a:cxn ang="0">
                    <a:pos x="152" y="495"/>
                  </a:cxn>
                  <a:cxn ang="0">
                    <a:pos x="140" y="492"/>
                  </a:cxn>
                  <a:cxn ang="0">
                    <a:pos x="132" y="486"/>
                  </a:cxn>
                  <a:cxn ang="0">
                    <a:pos x="128" y="479"/>
                  </a:cxn>
                  <a:cxn ang="0">
                    <a:pos x="126" y="470"/>
                  </a:cxn>
                  <a:cxn ang="0">
                    <a:pos x="111" y="470"/>
                  </a:cxn>
                  <a:cxn ang="0">
                    <a:pos x="107" y="479"/>
                  </a:cxn>
                  <a:cxn ang="0">
                    <a:pos x="101" y="491"/>
                  </a:cxn>
                  <a:cxn ang="0">
                    <a:pos x="89" y="495"/>
                  </a:cxn>
                  <a:cxn ang="0">
                    <a:pos x="77" y="495"/>
                  </a:cxn>
                  <a:cxn ang="0">
                    <a:pos x="69" y="491"/>
                  </a:cxn>
                  <a:cxn ang="0">
                    <a:pos x="60" y="486"/>
                  </a:cxn>
                  <a:cxn ang="0">
                    <a:pos x="56" y="477"/>
                  </a:cxn>
                  <a:cxn ang="0">
                    <a:pos x="56" y="84"/>
                  </a:cxn>
                  <a:cxn ang="0">
                    <a:pos x="42" y="227"/>
                  </a:cxn>
                  <a:cxn ang="0">
                    <a:pos x="38" y="235"/>
                  </a:cxn>
                  <a:cxn ang="0">
                    <a:pos x="33" y="239"/>
                  </a:cxn>
                  <a:cxn ang="0">
                    <a:pos x="26" y="244"/>
                  </a:cxn>
                  <a:cxn ang="0">
                    <a:pos x="17" y="244"/>
                  </a:cxn>
                  <a:cxn ang="0">
                    <a:pos x="9" y="239"/>
                  </a:cxn>
                  <a:cxn ang="0">
                    <a:pos x="5" y="238"/>
                  </a:cxn>
                  <a:cxn ang="0">
                    <a:pos x="0" y="230"/>
                  </a:cxn>
                  <a:cxn ang="0">
                    <a:pos x="0" y="39"/>
                  </a:cxn>
                  <a:cxn ang="0">
                    <a:pos x="5" y="25"/>
                  </a:cxn>
                  <a:cxn ang="0">
                    <a:pos x="14" y="13"/>
                  </a:cxn>
                  <a:cxn ang="0">
                    <a:pos x="30" y="7"/>
                  </a:cxn>
                  <a:cxn ang="0">
                    <a:pos x="44" y="3"/>
                  </a:cxn>
                </a:cxnLst>
                <a:rect l="0" t="0" r="r" b="b"/>
                <a:pathLst>
                  <a:path w="238" h="496">
                    <a:moveTo>
                      <a:pt x="56" y="0"/>
                    </a:moveTo>
                    <a:lnTo>
                      <a:pt x="182" y="0"/>
                    </a:lnTo>
                    <a:lnTo>
                      <a:pt x="186" y="0"/>
                    </a:lnTo>
                    <a:lnTo>
                      <a:pt x="188" y="0"/>
                    </a:lnTo>
                    <a:lnTo>
                      <a:pt x="191" y="0"/>
                    </a:lnTo>
                    <a:lnTo>
                      <a:pt x="195" y="3"/>
                    </a:lnTo>
                    <a:lnTo>
                      <a:pt x="198" y="3"/>
                    </a:lnTo>
                    <a:lnTo>
                      <a:pt x="200" y="3"/>
                    </a:lnTo>
                    <a:lnTo>
                      <a:pt x="204" y="4"/>
                    </a:lnTo>
                    <a:lnTo>
                      <a:pt x="207" y="4"/>
                    </a:lnTo>
                    <a:lnTo>
                      <a:pt x="209" y="7"/>
                    </a:lnTo>
                    <a:lnTo>
                      <a:pt x="212" y="9"/>
                    </a:lnTo>
                    <a:lnTo>
                      <a:pt x="216" y="9"/>
                    </a:lnTo>
                    <a:lnTo>
                      <a:pt x="219" y="12"/>
                    </a:lnTo>
                    <a:lnTo>
                      <a:pt x="224" y="13"/>
                    </a:lnTo>
                    <a:lnTo>
                      <a:pt x="225" y="18"/>
                    </a:lnTo>
                    <a:lnTo>
                      <a:pt x="228" y="21"/>
                    </a:lnTo>
                    <a:lnTo>
                      <a:pt x="230" y="24"/>
                    </a:lnTo>
                    <a:lnTo>
                      <a:pt x="234" y="28"/>
                    </a:lnTo>
                    <a:lnTo>
                      <a:pt x="234" y="30"/>
                    </a:lnTo>
                    <a:lnTo>
                      <a:pt x="237" y="34"/>
                    </a:lnTo>
                    <a:lnTo>
                      <a:pt x="237" y="39"/>
                    </a:lnTo>
                    <a:lnTo>
                      <a:pt x="237" y="42"/>
                    </a:lnTo>
                    <a:lnTo>
                      <a:pt x="237" y="226"/>
                    </a:lnTo>
                    <a:lnTo>
                      <a:pt x="237" y="227"/>
                    </a:lnTo>
                    <a:lnTo>
                      <a:pt x="234" y="230"/>
                    </a:lnTo>
                    <a:lnTo>
                      <a:pt x="234" y="232"/>
                    </a:lnTo>
                    <a:lnTo>
                      <a:pt x="234" y="235"/>
                    </a:lnTo>
                    <a:lnTo>
                      <a:pt x="233" y="238"/>
                    </a:lnTo>
                    <a:lnTo>
                      <a:pt x="230" y="239"/>
                    </a:lnTo>
                    <a:lnTo>
                      <a:pt x="228" y="239"/>
                    </a:lnTo>
                    <a:lnTo>
                      <a:pt x="224" y="242"/>
                    </a:lnTo>
                    <a:lnTo>
                      <a:pt x="221" y="242"/>
                    </a:lnTo>
                    <a:lnTo>
                      <a:pt x="219" y="244"/>
                    </a:lnTo>
                    <a:lnTo>
                      <a:pt x="216" y="244"/>
                    </a:lnTo>
                    <a:lnTo>
                      <a:pt x="212" y="244"/>
                    </a:lnTo>
                    <a:lnTo>
                      <a:pt x="209" y="242"/>
                    </a:lnTo>
                    <a:lnTo>
                      <a:pt x="207" y="242"/>
                    </a:lnTo>
                    <a:lnTo>
                      <a:pt x="204" y="242"/>
                    </a:lnTo>
                    <a:lnTo>
                      <a:pt x="203" y="239"/>
                    </a:lnTo>
                    <a:lnTo>
                      <a:pt x="200" y="238"/>
                    </a:lnTo>
                    <a:lnTo>
                      <a:pt x="200" y="235"/>
                    </a:lnTo>
                    <a:lnTo>
                      <a:pt x="198" y="235"/>
                    </a:lnTo>
                    <a:lnTo>
                      <a:pt x="195" y="232"/>
                    </a:lnTo>
                    <a:lnTo>
                      <a:pt x="195" y="230"/>
                    </a:lnTo>
                    <a:lnTo>
                      <a:pt x="195" y="227"/>
                    </a:lnTo>
                    <a:lnTo>
                      <a:pt x="195" y="226"/>
                    </a:lnTo>
                    <a:lnTo>
                      <a:pt x="195" y="84"/>
                    </a:lnTo>
                    <a:lnTo>
                      <a:pt x="182" y="84"/>
                    </a:lnTo>
                    <a:lnTo>
                      <a:pt x="182" y="467"/>
                    </a:lnTo>
                    <a:lnTo>
                      <a:pt x="182" y="471"/>
                    </a:lnTo>
                    <a:lnTo>
                      <a:pt x="182" y="474"/>
                    </a:lnTo>
                    <a:lnTo>
                      <a:pt x="179" y="479"/>
                    </a:lnTo>
                    <a:lnTo>
                      <a:pt x="177" y="483"/>
                    </a:lnTo>
                    <a:lnTo>
                      <a:pt x="174" y="486"/>
                    </a:lnTo>
                    <a:lnTo>
                      <a:pt x="173" y="488"/>
                    </a:lnTo>
                    <a:lnTo>
                      <a:pt x="170" y="491"/>
                    </a:lnTo>
                    <a:lnTo>
                      <a:pt x="165" y="492"/>
                    </a:lnTo>
                    <a:lnTo>
                      <a:pt x="162" y="492"/>
                    </a:lnTo>
                    <a:lnTo>
                      <a:pt x="161" y="495"/>
                    </a:lnTo>
                    <a:lnTo>
                      <a:pt x="156" y="495"/>
                    </a:lnTo>
                    <a:lnTo>
                      <a:pt x="153" y="495"/>
                    </a:lnTo>
                    <a:lnTo>
                      <a:pt x="152" y="495"/>
                    </a:lnTo>
                    <a:lnTo>
                      <a:pt x="147" y="495"/>
                    </a:lnTo>
                    <a:lnTo>
                      <a:pt x="144" y="492"/>
                    </a:lnTo>
                    <a:lnTo>
                      <a:pt x="140" y="492"/>
                    </a:lnTo>
                    <a:lnTo>
                      <a:pt x="137" y="491"/>
                    </a:lnTo>
                    <a:lnTo>
                      <a:pt x="135" y="488"/>
                    </a:lnTo>
                    <a:lnTo>
                      <a:pt x="132" y="486"/>
                    </a:lnTo>
                    <a:lnTo>
                      <a:pt x="131" y="483"/>
                    </a:lnTo>
                    <a:lnTo>
                      <a:pt x="128" y="482"/>
                    </a:lnTo>
                    <a:lnTo>
                      <a:pt x="128" y="479"/>
                    </a:lnTo>
                    <a:lnTo>
                      <a:pt x="126" y="477"/>
                    </a:lnTo>
                    <a:lnTo>
                      <a:pt x="126" y="474"/>
                    </a:lnTo>
                    <a:lnTo>
                      <a:pt x="126" y="470"/>
                    </a:lnTo>
                    <a:lnTo>
                      <a:pt x="126" y="238"/>
                    </a:lnTo>
                    <a:lnTo>
                      <a:pt x="111" y="238"/>
                    </a:lnTo>
                    <a:lnTo>
                      <a:pt x="111" y="470"/>
                    </a:lnTo>
                    <a:lnTo>
                      <a:pt x="111" y="471"/>
                    </a:lnTo>
                    <a:lnTo>
                      <a:pt x="110" y="477"/>
                    </a:lnTo>
                    <a:lnTo>
                      <a:pt x="107" y="479"/>
                    </a:lnTo>
                    <a:lnTo>
                      <a:pt x="107" y="483"/>
                    </a:lnTo>
                    <a:lnTo>
                      <a:pt x="105" y="486"/>
                    </a:lnTo>
                    <a:lnTo>
                      <a:pt x="101" y="491"/>
                    </a:lnTo>
                    <a:lnTo>
                      <a:pt x="98" y="491"/>
                    </a:lnTo>
                    <a:lnTo>
                      <a:pt x="93" y="492"/>
                    </a:lnTo>
                    <a:lnTo>
                      <a:pt x="89" y="495"/>
                    </a:lnTo>
                    <a:lnTo>
                      <a:pt x="86" y="495"/>
                    </a:lnTo>
                    <a:lnTo>
                      <a:pt x="81" y="495"/>
                    </a:lnTo>
                    <a:lnTo>
                      <a:pt x="77" y="495"/>
                    </a:lnTo>
                    <a:lnTo>
                      <a:pt x="75" y="495"/>
                    </a:lnTo>
                    <a:lnTo>
                      <a:pt x="72" y="492"/>
                    </a:lnTo>
                    <a:lnTo>
                      <a:pt x="69" y="491"/>
                    </a:lnTo>
                    <a:lnTo>
                      <a:pt x="65" y="491"/>
                    </a:lnTo>
                    <a:lnTo>
                      <a:pt x="63" y="486"/>
                    </a:lnTo>
                    <a:lnTo>
                      <a:pt x="60" y="486"/>
                    </a:lnTo>
                    <a:lnTo>
                      <a:pt x="59" y="482"/>
                    </a:lnTo>
                    <a:lnTo>
                      <a:pt x="59" y="479"/>
                    </a:lnTo>
                    <a:lnTo>
                      <a:pt x="56" y="477"/>
                    </a:lnTo>
                    <a:lnTo>
                      <a:pt x="56" y="474"/>
                    </a:lnTo>
                    <a:lnTo>
                      <a:pt x="56" y="470"/>
                    </a:lnTo>
                    <a:lnTo>
                      <a:pt x="56" y="84"/>
                    </a:lnTo>
                    <a:lnTo>
                      <a:pt x="42" y="84"/>
                    </a:lnTo>
                    <a:lnTo>
                      <a:pt x="42" y="226"/>
                    </a:lnTo>
                    <a:lnTo>
                      <a:pt x="42" y="227"/>
                    </a:lnTo>
                    <a:lnTo>
                      <a:pt x="39" y="230"/>
                    </a:lnTo>
                    <a:lnTo>
                      <a:pt x="39" y="232"/>
                    </a:lnTo>
                    <a:lnTo>
                      <a:pt x="38" y="235"/>
                    </a:lnTo>
                    <a:lnTo>
                      <a:pt x="35" y="238"/>
                    </a:lnTo>
                    <a:lnTo>
                      <a:pt x="35" y="239"/>
                    </a:lnTo>
                    <a:lnTo>
                      <a:pt x="33" y="239"/>
                    </a:lnTo>
                    <a:lnTo>
                      <a:pt x="30" y="242"/>
                    </a:lnTo>
                    <a:lnTo>
                      <a:pt x="29" y="242"/>
                    </a:lnTo>
                    <a:lnTo>
                      <a:pt x="26" y="244"/>
                    </a:lnTo>
                    <a:lnTo>
                      <a:pt x="23" y="244"/>
                    </a:lnTo>
                    <a:lnTo>
                      <a:pt x="18" y="244"/>
                    </a:lnTo>
                    <a:lnTo>
                      <a:pt x="17" y="244"/>
                    </a:lnTo>
                    <a:lnTo>
                      <a:pt x="14" y="242"/>
                    </a:lnTo>
                    <a:lnTo>
                      <a:pt x="12" y="242"/>
                    </a:lnTo>
                    <a:lnTo>
                      <a:pt x="9" y="239"/>
                    </a:lnTo>
                    <a:lnTo>
                      <a:pt x="8" y="239"/>
                    </a:lnTo>
                    <a:lnTo>
                      <a:pt x="8" y="238"/>
                    </a:lnTo>
                    <a:lnTo>
                      <a:pt x="5" y="238"/>
                    </a:lnTo>
                    <a:lnTo>
                      <a:pt x="3" y="235"/>
                    </a:lnTo>
                    <a:lnTo>
                      <a:pt x="3" y="232"/>
                    </a:lnTo>
                    <a:lnTo>
                      <a:pt x="0" y="230"/>
                    </a:lnTo>
                    <a:lnTo>
                      <a:pt x="0" y="227"/>
                    </a:lnTo>
                    <a:lnTo>
                      <a:pt x="0" y="226"/>
                    </a:lnTo>
                    <a:lnTo>
                      <a:pt x="0" y="39"/>
                    </a:lnTo>
                    <a:lnTo>
                      <a:pt x="0" y="34"/>
                    </a:lnTo>
                    <a:lnTo>
                      <a:pt x="3" y="30"/>
                    </a:lnTo>
                    <a:lnTo>
                      <a:pt x="5" y="25"/>
                    </a:lnTo>
                    <a:lnTo>
                      <a:pt x="8" y="21"/>
                    </a:lnTo>
                    <a:lnTo>
                      <a:pt x="12" y="18"/>
                    </a:lnTo>
                    <a:lnTo>
                      <a:pt x="14" y="13"/>
                    </a:lnTo>
                    <a:lnTo>
                      <a:pt x="18" y="12"/>
                    </a:lnTo>
                    <a:lnTo>
                      <a:pt x="26" y="9"/>
                    </a:lnTo>
                    <a:lnTo>
                      <a:pt x="30" y="7"/>
                    </a:lnTo>
                    <a:lnTo>
                      <a:pt x="33" y="4"/>
                    </a:lnTo>
                    <a:lnTo>
                      <a:pt x="39" y="3"/>
                    </a:lnTo>
                    <a:lnTo>
                      <a:pt x="44" y="3"/>
                    </a:lnTo>
                    <a:lnTo>
                      <a:pt x="51" y="0"/>
                    </a:lnTo>
                    <a:lnTo>
                      <a:pt x="56" y="0"/>
                    </a:lnTo>
                  </a:path>
                </a:pathLst>
              </a:custGeom>
              <a:gradFill rotWithShape="0">
                <a:gsLst>
                  <a:gs pos="0">
                    <a:srgbClr val="ADC159">
                      <a:gamma/>
                      <a:tint val="54902"/>
                      <a:invGamma/>
                    </a:srgbClr>
                  </a:gs>
                  <a:gs pos="100000">
                    <a:srgbClr val="ADC159"/>
                  </a:gs>
                </a:gsLst>
                <a:path path="rect">
                  <a:fillToRect l="50000" t="50000" r="50000" b="50000"/>
                </a:path>
              </a:gra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58765" name="AutoShape 45"/>
            <p:cNvSpPr>
              <a:spLocks noChangeArrowheads="1"/>
            </p:cNvSpPr>
            <p:nvPr/>
          </p:nvSpPr>
          <p:spPr bwMode="auto">
            <a:xfrm rot="1965645" flipV="1">
              <a:off x="712" y="2665"/>
              <a:ext cx="182" cy="267"/>
            </a:xfrm>
            <a:prstGeom prst="foldedCorner">
              <a:avLst>
                <a:gd name="adj" fmla="val 29269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tIns="27432" bIns="27432"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158766" name="Text Box 46"/>
          <p:cNvSpPr txBox="1">
            <a:spLocks noChangeArrowheads="1"/>
          </p:cNvSpPr>
          <p:nvPr/>
        </p:nvSpPr>
        <p:spPr bwMode="auto">
          <a:xfrm>
            <a:off x="130873" y="5920010"/>
            <a:ext cx="2043838" cy="451214"/>
          </a:xfrm>
          <a:prstGeom prst="rect">
            <a:avLst/>
          </a:prstGeom>
          <a:gradFill rotWithShape="0">
            <a:gsLst>
              <a:gs pos="0">
                <a:srgbClr val="FCFEBC"/>
              </a:gs>
              <a:gs pos="100000">
                <a:srgbClr val="FFFFEB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tIns="27432"/>
          <a:lstStyle/>
          <a:p>
            <a:pPr algn="ctr">
              <a:lnSpc>
                <a:spcPct val="90000"/>
              </a:lnSpc>
            </a:pPr>
            <a:r>
              <a:rPr lang="en-US" sz="1400" b="0">
                <a:solidFill>
                  <a:srgbClr val="333399"/>
                </a:solidFill>
              </a:rPr>
              <a:t>Administrateur </a:t>
            </a:r>
            <a:br>
              <a:rPr lang="en-US" sz="1400" b="0">
                <a:solidFill>
                  <a:srgbClr val="333399"/>
                </a:solidFill>
              </a:rPr>
            </a:br>
            <a:r>
              <a:rPr lang="en-US" sz="1400" b="0">
                <a:solidFill>
                  <a:srgbClr val="333399"/>
                </a:solidFill>
              </a:rPr>
              <a:t>et Invité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5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15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15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158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158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158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158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1000"/>
                                        <p:tgtEl>
                                          <p:spTgt spid="158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1000"/>
                                        <p:tgtEl>
                                          <p:spTgt spid="158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1000"/>
                                        <p:tgtEl>
                                          <p:spTgt spid="158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1000"/>
                                        <p:tgtEl>
                                          <p:spTgt spid="158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1000"/>
                                        <p:tgtEl>
                                          <p:spTgt spid="158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1000"/>
                                        <p:tgtEl>
                                          <p:spTgt spid="158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5" grpId="0" animBg="1"/>
      <p:bldP spid="158726" grpId="0" animBg="1"/>
      <p:bldP spid="158746" grpId="0" animBg="1"/>
      <p:bldP spid="158747" grpId="0" animBg="1"/>
      <p:bldP spid="158748" grpId="0" animBg="1"/>
      <p:bldP spid="158749" grpId="0" animBg="1"/>
      <p:bldP spid="158750" grpId="0" animBg="1"/>
      <p:bldP spid="15876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2" name="Oval 4"/>
          <p:cNvSpPr>
            <a:spLocks noChangeArrowheads="1"/>
          </p:cNvSpPr>
          <p:nvPr/>
        </p:nvSpPr>
        <p:spPr bwMode="auto">
          <a:xfrm>
            <a:off x="3165014" y="3555084"/>
            <a:ext cx="5243513" cy="2747963"/>
          </a:xfrm>
          <a:prstGeom prst="ellipse">
            <a:avLst/>
          </a:prstGeom>
          <a:solidFill>
            <a:srgbClr val="FFCC66"/>
          </a:solidFill>
          <a:ln w="38100">
            <a:solidFill>
              <a:srgbClr val="33339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solidFill>
                <a:srgbClr val="333399"/>
              </a:solidFill>
            </a:endParaRPr>
          </a:p>
          <a:p>
            <a:pPr algn="ctr"/>
            <a:endParaRPr lang="en-US">
              <a:solidFill>
                <a:srgbClr val="333399"/>
              </a:solidFill>
            </a:endParaRPr>
          </a:p>
          <a:p>
            <a:pPr algn="ctr"/>
            <a:endParaRPr lang="en-US">
              <a:solidFill>
                <a:srgbClr val="333399"/>
              </a:solidFill>
            </a:endParaRPr>
          </a:p>
        </p:txBody>
      </p:sp>
      <p:sp>
        <p:nvSpPr>
          <p:cNvPr id="160773" name="AutoShape 5"/>
          <p:cNvSpPr>
            <a:spLocks noChangeArrowheads="1"/>
          </p:cNvSpPr>
          <p:nvPr/>
        </p:nvSpPr>
        <p:spPr bwMode="auto">
          <a:xfrm>
            <a:off x="4909677" y="4112297"/>
            <a:ext cx="1757362" cy="1303337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solidFill>
            <a:srgbClr val="FFFFCC"/>
          </a:solidFill>
          <a:ln w="2857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160774" name="Group 6"/>
          <p:cNvGrpSpPr>
            <a:grpSpLocks/>
          </p:cNvGrpSpPr>
          <p:nvPr/>
        </p:nvGrpSpPr>
        <p:grpSpPr bwMode="auto">
          <a:xfrm>
            <a:off x="4925552" y="2812134"/>
            <a:ext cx="1189037" cy="1208088"/>
            <a:chOff x="2967" y="2733"/>
            <a:chExt cx="789" cy="870"/>
          </a:xfrm>
        </p:grpSpPr>
        <p:grpSp>
          <p:nvGrpSpPr>
            <p:cNvPr id="160775" name="Group 7"/>
            <p:cNvGrpSpPr>
              <a:grpSpLocks/>
            </p:cNvGrpSpPr>
            <p:nvPr/>
          </p:nvGrpSpPr>
          <p:grpSpPr bwMode="auto">
            <a:xfrm>
              <a:off x="2967" y="3191"/>
              <a:ext cx="763" cy="412"/>
              <a:chOff x="1929" y="1343"/>
              <a:chExt cx="763" cy="412"/>
            </a:xfrm>
          </p:grpSpPr>
          <p:sp>
            <p:nvSpPr>
              <p:cNvPr id="160776" name="Freeform 8"/>
              <p:cNvSpPr>
                <a:spLocks noChangeAspect="1"/>
              </p:cNvSpPr>
              <p:nvPr/>
            </p:nvSpPr>
            <p:spPr bwMode="auto">
              <a:xfrm>
                <a:off x="2428" y="1450"/>
                <a:ext cx="263" cy="305"/>
              </a:xfrm>
              <a:custGeom>
                <a:avLst/>
                <a:gdLst/>
                <a:ahLst/>
                <a:cxnLst>
                  <a:cxn ang="0">
                    <a:pos x="3" y="212"/>
                  </a:cxn>
                  <a:cxn ang="0">
                    <a:pos x="364" y="0"/>
                  </a:cxn>
                  <a:cxn ang="0">
                    <a:pos x="364" y="180"/>
                  </a:cxn>
                  <a:cxn ang="0">
                    <a:pos x="0" y="422"/>
                  </a:cxn>
                </a:cxnLst>
                <a:rect l="0" t="0" r="r" b="b"/>
                <a:pathLst>
                  <a:path w="364" h="422">
                    <a:moveTo>
                      <a:pt x="3" y="212"/>
                    </a:moveTo>
                    <a:lnTo>
                      <a:pt x="364" y="0"/>
                    </a:lnTo>
                    <a:lnTo>
                      <a:pt x="364" y="180"/>
                    </a:lnTo>
                    <a:lnTo>
                      <a:pt x="0" y="422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777" name="Freeform 9"/>
              <p:cNvSpPr>
                <a:spLocks noChangeAspect="1"/>
              </p:cNvSpPr>
              <p:nvPr/>
            </p:nvSpPr>
            <p:spPr bwMode="auto">
              <a:xfrm>
                <a:off x="1929" y="1343"/>
                <a:ext cx="763" cy="264"/>
              </a:xfrm>
              <a:custGeom>
                <a:avLst/>
                <a:gdLst/>
                <a:ahLst/>
                <a:cxnLst>
                  <a:cxn ang="0">
                    <a:pos x="715" y="376"/>
                  </a:cxn>
                  <a:cxn ang="0">
                    <a:pos x="0" y="187"/>
                  </a:cxn>
                  <a:cxn ang="0">
                    <a:pos x="397" y="0"/>
                  </a:cxn>
                  <a:cxn ang="0">
                    <a:pos x="1090" y="152"/>
                  </a:cxn>
                  <a:cxn ang="0">
                    <a:pos x="715" y="376"/>
                  </a:cxn>
                </a:cxnLst>
                <a:rect l="0" t="0" r="r" b="b"/>
                <a:pathLst>
                  <a:path w="1091" h="377">
                    <a:moveTo>
                      <a:pt x="715" y="376"/>
                    </a:moveTo>
                    <a:lnTo>
                      <a:pt x="0" y="187"/>
                    </a:lnTo>
                    <a:lnTo>
                      <a:pt x="397" y="0"/>
                    </a:lnTo>
                    <a:lnTo>
                      <a:pt x="1090" y="152"/>
                    </a:lnTo>
                    <a:lnTo>
                      <a:pt x="715" y="376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778" name="Freeform 10"/>
              <p:cNvSpPr>
                <a:spLocks noChangeAspect="1"/>
              </p:cNvSpPr>
              <p:nvPr/>
            </p:nvSpPr>
            <p:spPr bwMode="auto">
              <a:xfrm>
                <a:off x="1929" y="1473"/>
                <a:ext cx="499" cy="282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0" y="192"/>
                  </a:cxn>
                  <a:cxn ang="0">
                    <a:pos x="690" y="390"/>
                  </a:cxn>
                  <a:cxn ang="0">
                    <a:pos x="690" y="185"/>
                  </a:cxn>
                  <a:cxn ang="0">
                    <a:pos x="4" y="0"/>
                  </a:cxn>
                </a:cxnLst>
                <a:rect l="0" t="0" r="r" b="b"/>
                <a:pathLst>
                  <a:path w="690" h="390">
                    <a:moveTo>
                      <a:pt x="0" y="5"/>
                    </a:moveTo>
                    <a:lnTo>
                      <a:pt x="0" y="192"/>
                    </a:lnTo>
                    <a:lnTo>
                      <a:pt x="690" y="390"/>
                    </a:lnTo>
                    <a:lnTo>
                      <a:pt x="690" y="185"/>
                    </a:lnTo>
                    <a:lnTo>
                      <a:pt x="4" y="0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779" name="Freeform 11"/>
              <p:cNvSpPr>
                <a:spLocks noChangeAspect="1"/>
              </p:cNvSpPr>
              <p:nvPr/>
            </p:nvSpPr>
            <p:spPr bwMode="auto">
              <a:xfrm>
                <a:off x="2190" y="1573"/>
                <a:ext cx="196" cy="13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71" y="73"/>
                  </a:cxn>
                  <a:cxn ang="0">
                    <a:pos x="271" y="189"/>
                  </a:cxn>
                  <a:cxn ang="0">
                    <a:pos x="0" y="115"/>
                  </a:cxn>
                  <a:cxn ang="0">
                    <a:pos x="0" y="0"/>
                  </a:cxn>
                </a:cxnLst>
                <a:rect l="0" t="0" r="r" b="b"/>
                <a:pathLst>
                  <a:path w="271" h="189">
                    <a:moveTo>
                      <a:pt x="0" y="0"/>
                    </a:moveTo>
                    <a:lnTo>
                      <a:pt x="271" y="73"/>
                    </a:lnTo>
                    <a:lnTo>
                      <a:pt x="271" y="189"/>
                    </a:lnTo>
                    <a:lnTo>
                      <a:pt x="0" y="115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41176"/>
                      <a:invGamma/>
                    </a:srgbClr>
                  </a:gs>
                </a:gsLst>
                <a:lin ang="2700000" scaled="1"/>
              </a:gradFill>
              <a:ln w="63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780" name="Freeform 12"/>
              <p:cNvSpPr>
                <a:spLocks noChangeAspect="1" noChangeArrowheads="1"/>
              </p:cNvSpPr>
              <p:nvPr/>
            </p:nvSpPr>
            <p:spPr bwMode="auto">
              <a:xfrm>
                <a:off x="2194" y="1624"/>
                <a:ext cx="189" cy="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61" y="69"/>
                  </a:cxn>
                </a:cxnLst>
                <a:rect l="0" t="0" r="r" b="b"/>
                <a:pathLst>
                  <a:path w="261" h="69">
                    <a:moveTo>
                      <a:pt x="0" y="0"/>
                    </a:moveTo>
                    <a:lnTo>
                      <a:pt x="261" y="69"/>
                    </a:lnTo>
                  </a:path>
                </a:pathLst>
              </a:custGeom>
              <a:noFill/>
              <a:ln w="3175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60781" name="Freeform 13"/>
              <p:cNvSpPr>
                <a:spLocks/>
              </p:cNvSpPr>
              <p:nvPr/>
            </p:nvSpPr>
            <p:spPr bwMode="auto">
              <a:xfrm>
                <a:off x="2190" y="1572"/>
                <a:ext cx="195" cy="84"/>
              </a:xfrm>
              <a:custGeom>
                <a:avLst/>
                <a:gdLst/>
                <a:ahLst/>
                <a:cxnLst>
                  <a:cxn ang="0">
                    <a:pos x="0" y="84"/>
                  </a:cxn>
                  <a:cxn ang="0">
                    <a:pos x="0" y="0"/>
                  </a:cxn>
                  <a:cxn ang="0">
                    <a:pos x="195" y="54"/>
                  </a:cxn>
                </a:cxnLst>
                <a:rect l="0" t="0" r="r" b="b"/>
                <a:pathLst>
                  <a:path w="195" h="84">
                    <a:moveTo>
                      <a:pt x="0" y="84"/>
                    </a:moveTo>
                    <a:lnTo>
                      <a:pt x="0" y="0"/>
                    </a:lnTo>
                    <a:lnTo>
                      <a:pt x="195" y="54"/>
                    </a:lnTo>
                  </a:path>
                </a:pathLst>
              </a:custGeom>
              <a:noFill/>
              <a:ln w="6350" cap="flat" cmpd="sng">
                <a:solidFill>
                  <a:srgbClr val="777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782" name="Line 14"/>
              <p:cNvSpPr>
                <a:spLocks noChangeShapeType="1"/>
              </p:cNvSpPr>
              <p:nvPr/>
            </p:nvSpPr>
            <p:spPr bwMode="auto">
              <a:xfrm>
                <a:off x="2207" y="1600"/>
                <a:ext cx="153" cy="38"/>
              </a:xfrm>
              <a:prstGeom prst="line">
                <a:avLst/>
              </a:prstGeom>
              <a:noFill/>
              <a:ln w="3175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783" name="Line 15"/>
              <p:cNvSpPr>
                <a:spLocks noChangeShapeType="1"/>
              </p:cNvSpPr>
              <p:nvPr/>
            </p:nvSpPr>
            <p:spPr bwMode="auto">
              <a:xfrm>
                <a:off x="2337" y="1678"/>
                <a:ext cx="29" cy="6"/>
              </a:xfrm>
              <a:prstGeom prst="line">
                <a:avLst/>
              </a:prstGeom>
              <a:noFill/>
              <a:ln w="19050">
                <a:solidFill>
                  <a:srgbClr val="D60093"/>
                </a:solidFill>
                <a:round/>
                <a:headEnd/>
                <a:tailEnd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784" name="Freeform 16"/>
              <p:cNvSpPr>
                <a:spLocks/>
              </p:cNvSpPr>
              <p:nvPr/>
            </p:nvSpPr>
            <p:spPr bwMode="auto">
              <a:xfrm>
                <a:off x="2255" y="1610"/>
                <a:ext cx="47" cy="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18"/>
                  </a:cxn>
                  <a:cxn ang="0">
                    <a:pos x="64" y="35"/>
                  </a:cxn>
                  <a:cxn ang="0">
                    <a:pos x="64" y="19"/>
                  </a:cxn>
                  <a:cxn ang="0">
                    <a:pos x="0" y="0"/>
                  </a:cxn>
                </a:cxnLst>
                <a:rect l="0" t="0" r="r" b="b"/>
                <a:pathLst>
                  <a:path w="64" h="35">
                    <a:moveTo>
                      <a:pt x="0" y="0"/>
                    </a:moveTo>
                    <a:lnTo>
                      <a:pt x="1" y="18"/>
                    </a:lnTo>
                    <a:lnTo>
                      <a:pt x="64" y="35"/>
                    </a:lnTo>
                    <a:lnTo>
                      <a:pt x="64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77777"/>
              </a:solidFill>
              <a:ln w="190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785" name="Line 17"/>
              <p:cNvSpPr>
                <a:spLocks noChangeShapeType="1"/>
              </p:cNvSpPr>
              <p:nvPr/>
            </p:nvSpPr>
            <p:spPr bwMode="auto">
              <a:xfrm>
                <a:off x="1942" y="1503"/>
                <a:ext cx="202" cy="57"/>
              </a:xfrm>
              <a:prstGeom prst="line">
                <a:avLst/>
              </a:prstGeom>
              <a:noFill/>
              <a:ln w="6350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786" name="Line 18"/>
              <p:cNvSpPr>
                <a:spLocks noChangeShapeType="1"/>
              </p:cNvSpPr>
              <p:nvPr/>
            </p:nvSpPr>
            <p:spPr bwMode="auto">
              <a:xfrm>
                <a:off x="1942" y="1525"/>
                <a:ext cx="202" cy="56"/>
              </a:xfrm>
              <a:prstGeom prst="line">
                <a:avLst/>
              </a:prstGeom>
              <a:noFill/>
              <a:ln w="6350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787" name="Line 19"/>
              <p:cNvSpPr>
                <a:spLocks noChangeShapeType="1"/>
              </p:cNvSpPr>
              <p:nvPr/>
            </p:nvSpPr>
            <p:spPr bwMode="auto">
              <a:xfrm>
                <a:off x="1942" y="1548"/>
                <a:ext cx="202" cy="57"/>
              </a:xfrm>
              <a:prstGeom prst="line">
                <a:avLst/>
              </a:prstGeom>
              <a:noFill/>
              <a:ln w="6350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788" name="Line 20"/>
              <p:cNvSpPr>
                <a:spLocks noChangeShapeType="1"/>
              </p:cNvSpPr>
              <p:nvPr/>
            </p:nvSpPr>
            <p:spPr bwMode="auto">
              <a:xfrm>
                <a:off x="1942" y="1570"/>
                <a:ext cx="202" cy="56"/>
              </a:xfrm>
              <a:prstGeom prst="line">
                <a:avLst/>
              </a:prstGeom>
              <a:noFill/>
              <a:ln w="6350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789" name="Freeform 21"/>
              <p:cNvSpPr>
                <a:spLocks/>
              </p:cNvSpPr>
              <p:nvPr/>
            </p:nvSpPr>
            <p:spPr bwMode="auto">
              <a:xfrm>
                <a:off x="2192" y="1632"/>
                <a:ext cx="198" cy="84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275" y="117"/>
                  </a:cxn>
                  <a:cxn ang="0">
                    <a:pos x="275" y="0"/>
                  </a:cxn>
                </a:cxnLst>
                <a:rect l="0" t="0" r="r" b="b"/>
                <a:pathLst>
                  <a:path w="275" h="117">
                    <a:moveTo>
                      <a:pt x="0" y="40"/>
                    </a:moveTo>
                    <a:lnTo>
                      <a:pt x="275" y="117"/>
                    </a:lnTo>
                    <a:lnTo>
                      <a:pt x="275" y="0"/>
                    </a:lnTo>
                  </a:path>
                </a:pathLst>
              </a:custGeom>
              <a:no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</p:grpSp>
        <p:grpSp>
          <p:nvGrpSpPr>
            <p:cNvPr id="160790" name="Group 22"/>
            <p:cNvGrpSpPr>
              <a:grpSpLocks/>
            </p:cNvGrpSpPr>
            <p:nvPr/>
          </p:nvGrpSpPr>
          <p:grpSpPr bwMode="auto">
            <a:xfrm>
              <a:off x="3042" y="2733"/>
              <a:ext cx="714" cy="672"/>
              <a:chOff x="2004" y="885"/>
              <a:chExt cx="714" cy="672"/>
            </a:xfrm>
          </p:grpSpPr>
          <p:sp>
            <p:nvSpPr>
              <p:cNvPr id="160791" name="Freeform 23"/>
              <p:cNvSpPr>
                <a:spLocks/>
              </p:cNvSpPr>
              <p:nvPr/>
            </p:nvSpPr>
            <p:spPr bwMode="auto">
              <a:xfrm>
                <a:off x="2058" y="1322"/>
                <a:ext cx="556" cy="235"/>
              </a:xfrm>
              <a:custGeom>
                <a:avLst/>
                <a:gdLst/>
                <a:ahLst/>
                <a:cxnLst>
                  <a:cxn ang="0">
                    <a:pos x="0" y="128"/>
                  </a:cxn>
                  <a:cxn ang="0">
                    <a:pos x="238" y="0"/>
                  </a:cxn>
                  <a:cxn ang="0">
                    <a:pos x="556" y="91"/>
                  </a:cxn>
                  <a:cxn ang="0">
                    <a:pos x="556" y="108"/>
                  </a:cxn>
                  <a:cxn ang="0">
                    <a:pos x="334" y="235"/>
                  </a:cxn>
                  <a:cxn ang="0">
                    <a:pos x="0" y="148"/>
                  </a:cxn>
                  <a:cxn ang="0">
                    <a:pos x="0" y="128"/>
                  </a:cxn>
                </a:cxnLst>
                <a:rect l="0" t="0" r="r" b="b"/>
                <a:pathLst>
                  <a:path w="556" h="235">
                    <a:moveTo>
                      <a:pt x="0" y="128"/>
                    </a:moveTo>
                    <a:lnTo>
                      <a:pt x="238" y="0"/>
                    </a:lnTo>
                    <a:lnTo>
                      <a:pt x="556" y="91"/>
                    </a:lnTo>
                    <a:lnTo>
                      <a:pt x="556" y="108"/>
                    </a:lnTo>
                    <a:lnTo>
                      <a:pt x="334" y="235"/>
                    </a:lnTo>
                    <a:lnTo>
                      <a:pt x="0" y="148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DDDDDD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792" name="Freeform 24"/>
              <p:cNvSpPr>
                <a:spLocks/>
              </p:cNvSpPr>
              <p:nvPr/>
            </p:nvSpPr>
            <p:spPr bwMode="auto">
              <a:xfrm>
                <a:off x="2065" y="1327"/>
                <a:ext cx="538" cy="208"/>
              </a:xfrm>
              <a:custGeom>
                <a:avLst/>
                <a:gdLst/>
                <a:ahLst/>
                <a:cxnLst>
                  <a:cxn ang="0">
                    <a:pos x="0" y="124"/>
                  </a:cxn>
                  <a:cxn ang="0">
                    <a:pos x="327" y="208"/>
                  </a:cxn>
                  <a:cxn ang="0">
                    <a:pos x="538" y="86"/>
                  </a:cxn>
                  <a:cxn ang="0">
                    <a:pos x="233" y="0"/>
                  </a:cxn>
                  <a:cxn ang="0">
                    <a:pos x="0" y="124"/>
                  </a:cxn>
                </a:cxnLst>
                <a:rect l="0" t="0" r="r" b="b"/>
                <a:pathLst>
                  <a:path w="538" h="208">
                    <a:moveTo>
                      <a:pt x="0" y="124"/>
                    </a:moveTo>
                    <a:lnTo>
                      <a:pt x="327" y="208"/>
                    </a:lnTo>
                    <a:lnTo>
                      <a:pt x="538" y="86"/>
                    </a:lnTo>
                    <a:lnTo>
                      <a:pt x="233" y="0"/>
                    </a:lnTo>
                    <a:lnTo>
                      <a:pt x="0" y="124"/>
                    </a:lnTo>
                    <a:close/>
                  </a:path>
                </a:pathLst>
              </a:custGeom>
              <a:solidFill>
                <a:srgbClr val="B2B2B2"/>
              </a:solidFill>
              <a:ln w="63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793" name="Oval 25"/>
              <p:cNvSpPr>
                <a:spLocks noChangeArrowheads="1"/>
              </p:cNvSpPr>
              <p:nvPr/>
            </p:nvSpPr>
            <p:spPr bwMode="auto">
              <a:xfrm>
                <a:off x="2199" y="1378"/>
                <a:ext cx="280" cy="112"/>
              </a:xfrm>
              <a:prstGeom prst="ellipse">
                <a:avLst/>
              </a:prstGeom>
              <a:solidFill>
                <a:srgbClr val="B2B2B2"/>
              </a:solidFill>
              <a:ln w="3175" cap="rnd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794" name="Freeform 26"/>
              <p:cNvSpPr>
                <a:spLocks/>
              </p:cNvSpPr>
              <p:nvPr/>
            </p:nvSpPr>
            <p:spPr bwMode="auto">
              <a:xfrm>
                <a:off x="2046" y="1382"/>
                <a:ext cx="452" cy="1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0" y="36"/>
                  </a:cxn>
                  <a:cxn ang="0">
                    <a:pos x="574" y="180"/>
                  </a:cxn>
                  <a:cxn ang="0">
                    <a:pos x="646" y="158"/>
                  </a:cxn>
                </a:cxnLst>
                <a:rect l="0" t="0" r="r" b="b"/>
                <a:pathLst>
                  <a:path w="646" h="180">
                    <a:moveTo>
                      <a:pt x="0" y="0"/>
                    </a:moveTo>
                    <a:lnTo>
                      <a:pt x="20" y="36"/>
                    </a:lnTo>
                    <a:lnTo>
                      <a:pt x="574" y="180"/>
                    </a:lnTo>
                    <a:lnTo>
                      <a:pt x="646" y="158"/>
                    </a:lnTo>
                  </a:path>
                </a:pathLst>
              </a:custGeom>
              <a:solidFill>
                <a:srgbClr val="B2B2B2"/>
              </a:soli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795" name="Freeform 27"/>
              <p:cNvSpPr>
                <a:spLocks noChangeAspect="1"/>
              </p:cNvSpPr>
              <p:nvPr/>
            </p:nvSpPr>
            <p:spPr bwMode="auto">
              <a:xfrm>
                <a:off x="2154" y="885"/>
                <a:ext cx="564" cy="520"/>
              </a:xfrm>
              <a:custGeom>
                <a:avLst/>
                <a:gdLst/>
                <a:ahLst/>
                <a:cxnLst>
                  <a:cxn ang="0">
                    <a:pos x="620" y="746"/>
                  </a:cxn>
                  <a:cxn ang="0">
                    <a:pos x="808" y="525"/>
                  </a:cxn>
                  <a:cxn ang="0">
                    <a:pos x="808" y="106"/>
                  </a:cxn>
                  <a:cxn ang="0">
                    <a:pos x="336" y="0"/>
                  </a:cxn>
                  <a:cxn ang="0">
                    <a:pos x="0" y="48"/>
                  </a:cxn>
                </a:cxnLst>
                <a:rect l="0" t="0" r="r" b="b"/>
                <a:pathLst>
                  <a:path w="808" h="746">
                    <a:moveTo>
                      <a:pt x="620" y="746"/>
                    </a:moveTo>
                    <a:lnTo>
                      <a:pt x="808" y="525"/>
                    </a:lnTo>
                    <a:lnTo>
                      <a:pt x="808" y="106"/>
                    </a:lnTo>
                    <a:lnTo>
                      <a:pt x="336" y="0"/>
                    </a:lnTo>
                    <a:lnTo>
                      <a:pt x="0" y="48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796" name="Freeform 28"/>
              <p:cNvSpPr>
                <a:spLocks noChangeAspect="1"/>
              </p:cNvSpPr>
              <p:nvPr/>
            </p:nvSpPr>
            <p:spPr bwMode="auto">
              <a:xfrm>
                <a:off x="2506" y="1000"/>
                <a:ext cx="113" cy="506"/>
              </a:xfrm>
              <a:custGeom>
                <a:avLst/>
                <a:gdLst/>
                <a:ahLst/>
                <a:cxnLst>
                  <a:cxn ang="0">
                    <a:pos x="0" y="644"/>
                  </a:cxn>
                  <a:cxn ang="0">
                    <a:pos x="0" y="79"/>
                  </a:cxn>
                  <a:cxn ang="0">
                    <a:pos x="144" y="0"/>
                  </a:cxn>
                  <a:cxn ang="0">
                    <a:pos x="144" y="554"/>
                  </a:cxn>
                  <a:cxn ang="0">
                    <a:pos x="0" y="644"/>
                  </a:cxn>
                </a:cxnLst>
                <a:rect l="0" t="0" r="r" b="b"/>
                <a:pathLst>
                  <a:path w="144" h="644">
                    <a:moveTo>
                      <a:pt x="0" y="644"/>
                    </a:moveTo>
                    <a:lnTo>
                      <a:pt x="0" y="79"/>
                    </a:lnTo>
                    <a:lnTo>
                      <a:pt x="144" y="0"/>
                    </a:lnTo>
                    <a:lnTo>
                      <a:pt x="144" y="554"/>
                    </a:lnTo>
                    <a:lnTo>
                      <a:pt x="0" y="644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797" name="Freeform 29"/>
              <p:cNvSpPr>
                <a:spLocks noChangeAspect="1"/>
              </p:cNvSpPr>
              <p:nvPr/>
            </p:nvSpPr>
            <p:spPr bwMode="auto">
              <a:xfrm>
                <a:off x="2004" y="891"/>
                <a:ext cx="615" cy="172"/>
              </a:xfrm>
              <a:custGeom>
                <a:avLst/>
                <a:gdLst/>
                <a:ahLst/>
                <a:cxnLst>
                  <a:cxn ang="0">
                    <a:pos x="638" y="219"/>
                  </a:cxn>
                  <a:cxn ang="0">
                    <a:pos x="0" y="67"/>
                  </a:cxn>
                  <a:cxn ang="0">
                    <a:pos x="160" y="0"/>
                  </a:cxn>
                  <a:cxn ang="0">
                    <a:pos x="782" y="139"/>
                  </a:cxn>
                  <a:cxn ang="0">
                    <a:pos x="638" y="219"/>
                  </a:cxn>
                </a:cxnLst>
                <a:rect l="0" t="0" r="r" b="b"/>
                <a:pathLst>
                  <a:path w="782" h="219">
                    <a:moveTo>
                      <a:pt x="638" y="219"/>
                    </a:moveTo>
                    <a:lnTo>
                      <a:pt x="0" y="67"/>
                    </a:lnTo>
                    <a:lnTo>
                      <a:pt x="160" y="0"/>
                    </a:lnTo>
                    <a:lnTo>
                      <a:pt x="782" y="139"/>
                    </a:lnTo>
                    <a:lnTo>
                      <a:pt x="638" y="219"/>
                    </a:lnTo>
                  </a:path>
                </a:pathLst>
              </a:custGeom>
              <a:solidFill>
                <a:schemeClr val="bg1"/>
              </a:soli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798" name="Freeform 30"/>
              <p:cNvSpPr>
                <a:spLocks noChangeAspect="1"/>
              </p:cNvSpPr>
              <p:nvPr/>
            </p:nvSpPr>
            <p:spPr bwMode="auto">
              <a:xfrm>
                <a:off x="2004" y="942"/>
                <a:ext cx="502" cy="566"/>
              </a:xfrm>
              <a:custGeom>
                <a:avLst/>
                <a:gdLst/>
                <a:ahLst/>
                <a:cxnLst>
                  <a:cxn ang="0">
                    <a:pos x="671" y="753"/>
                  </a:cxn>
                  <a:cxn ang="0">
                    <a:pos x="671" y="160"/>
                  </a:cxn>
                  <a:cxn ang="0">
                    <a:pos x="0" y="0"/>
                  </a:cxn>
                  <a:cxn ang="0">
                    <a:pos x="0" y="578"/>
                  </a:cxn>
                  <a:cxn ang="0">
                    <a:pos x="671" y="753"/>
                  </a:cxn>
                </a:cxnLst>
                <a:rect l="0" t="0" r="r" b="b"/>
                <a:pathLst>
                  <a:path w="672" h="754">
                    <a:moveTo>
                      <a:pt x="671" y="753"/>
                    </a:moveTo>
                    <a:lnTo>
                      <a:pt x="671" y="160"/>
                    </a:lnTo>
                    <a:lnTo>
                      <a:pt x="0" y="0"/>
                    </a:lnTo>
                    <a:lnTo>
                      <a:pt x="0" y="578"/>
                    </a:lnTo>
                    <a:lnTo>
                      <a:pt x="671" y="753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799" name="Freeform 31"/>
              <p:cNvSpPr>
                <a:spLocks noChangeAspect="1"/>
              </p:cNvSpPr>
              <p:nvPr/>
            </p:nvSpPr>
            <p:spPr bwMode="auto">
              <a:xfrm>
                <a:off x="2043" y="992"/>
                <a:ext cx="425" cy="464"/>
              </a:xfrm>
              <a:custGeom>
                <a:avLst/>
                <a:gdLst/>
                <a:ahLst/>
                <a:cxnLst>
                  <a:cxn ang="0">
                    <a:pos x="490" y="548"/>
                  </a:cxn>
                  <a:cxn ang="0">
                    <a:pos x="490" y="117"/>
                  </a:cxn>
                  <a:cxn ang="0">
                    <a:pos x="0" y="0"/>
                  </a:cxn>
                  <a:cxn ang="0">
                    <a:pos x="0" y="424"/>
                  </a:cxn>
                  <a:cxn ang="0">
                    <a:pos x="490" y="548"/>
                  </a:cxn>
                </a:cxnLst>
                <a:rect l="0" t="0" r="r" b="b"/>
                <a:pathLst>
                  <a:path w="491" h="549">
                    <a:moveTo>
                      <a:pt x="490" y="548"/>
                    </a:moveTo>
                    <a:lnTo>
                      <a:pt x="490" y="117"/>
                    </a:lnTo>
                    <a:lnTo>
                      <a:pt x="0" y="0"/>
                    </a:lnTo>
                    <a:lnTo>
                      <a:pt x="0" y="424"/>
                    </a:lnTo>
                    <a:lnTo>
                      <a:pt x="490" y="548"/>
                    </a:lnTo>
                  </a:path>
                </a:pathLst>
              </a:custGeom>
              <a:solidFill>
                <a:srgbClr val="CECECE"/>
              </a:solidFill>
              <a:ln w="6350" cap="rnd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00" name="Freeform 32"/>
              <p:cNvSpPr>
                <a:spLocks/>
              </p:cNvSpPr>
              <p:nvPr/>
            </p:nvSpPr>
            <p:spPr bwMode="auto">
              <a:xfrm>
                <a:off x="2069" y="1023"/>
                <a:ext cx="372" cy="4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54"/>
                  </a:cxn>
                  <a:cxn ang="0">
                    <a:pos x="542" y="592"/>
                  </a:cxn>
                  <a:cxn ang="0">
                    <a:pos x="542" y="130"/>
                  </a:cxn>
                  <a:cxn ang="0">
                    <a:pos x="0" y="0"/>
                  </a:cxn>
                </a:cxnLst>
                <a:rect l="0" t="0" r="r" b="b"/>
                <a:pathLst>
                  <a:path w="542" h="592">
                    <a:moveTo>
                      <a:pt x="0" y="0"/>
                    </a:moveTo>
                    <a:lnTo>
                      <a:pt x="0" y="454"/>
                    </a:lnTo>
                    <a:lnTo>
                      <a:pt x="542" y="592"/>
                    </a:lnTo>
                    <a:lnTo>
                      <a:pt x="542" y="13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18FFD"/>
                  </a:gs>
                  <a:gs pos="100000">
                    <a:srgbClr val="618FFD">
                      <a:gamma/>
                      <a:shade val="75294"/>
                      <a:invGamma/>
                    </a:srgbClr>
                  </a:gs>
                </a:gsLst>
                <a:path path="rect">
                  <a:fillToRect r="100000" b="100000"/>
                </a:path>
              </a:gradFill>
              <a:ln w="6350" cap="flat" cmpd="sng">
                <a:solidFill>
                  <a:srgbClr val="777777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60801" name="Line 33"/>
              <p:cNvSpPr>
                <a:spLocks noChangeShapeType="1"/>
              </p:cNvSpPr>
              <p:nvPr/>
            </p:nvSpPr>
            <p:spPr bwMode="auto">
              <a:xfrm>
                <a:off x="2102" y="1056"/>
                <a:ext cx="0" cy="6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160802" name="Group 34"/>
          <p:cNvGrpSpPr>
            <a:grpSpLocks/>
          </p:cNvGrpSpPr>
          <p:nvPr/>
        </p:nvGrpSpPr>
        <p:grpSpPr bwMode="auto">
          <a:xfrm>
            <a:off x="2617327" y="4147222"/>
            <a:ext cx="1189037" cy="1206500"/>
            <a:chOff x="2967" y="2733"/>
            <a:chExt cx="789" cy="870"/>
          </a:xfrm>
        </p:grpSpPr>
        <p:grpSp>
          <p:nvGrpSpPr>
            <p:cNvPr id="160803" name="Group 35"/>
            <p:cNvGrpSpPr>
              <a:grpSpLocks/>
            </p:cNvGrpSpPr>
            <p:nvPr/>
          </p:nvGrpSpPr>
          <p:grpSpPr bwMode="auto">
            <a:xfrm>
              <a:off x="2967" y="3191"/>
              <a:ext cx="763" cy="412"/>
              <a:chOff x="1929" y="1343"/>
              <a:chExt cx="763" cy="412"/>
            </a:xfrm>
          </p:grpSpPr>
          <p:sp>
            <p:nvSpPr>
              <p:cNvPr id="160804" name="Freeform 36"/>
              <p:cNvSpPr>
                <a:spLocks noChangeAspect="1"/>
              </p:cNvSpPr>
              <p:nvPr/>
            </p:nvSpPr>
            <p:spPr bwMode="auto">
              <a:xfrm>
                <a:off x="2428" y="1450"/>
                <a:ext cx="263" cy="305"/>
              </a:xfrm>
              <a:custGeom>
                <a:avLst/>
                <a:gdLst/>
                <a:ahLst/>
                <a:cxnLst>
                  <a:cxn ang="0">
                    <a:pos x="3" y="212"/>
                  </a:cxn>
                  <a:cxn ang="0">
                    <a:pos x="364" y="0"/>
                  </a:cxn>
                  <a:cxn ang="0">
                    <a:pos x="364" y="180"/>
                  </a:cxn>
                  <a:cxn ang="0">
                    <a:pos x="0" y="422"/>
                  </a:cxn>
                </a:cxnLst>
                <a:rect l="0" t="0" r="r" b="b"/>
                <a:pathLst>
                  <a:path w="364" h="422">
                    <a:moveTo>
                      <a:pt x="3" y="212"/>
                    </a:moveTo>
                    <a:lnTo>
                      <a:pt x="364" y="0"/>
                    </a:lnTo>
                    <a:lnTo>
                      <a:pt x="364" y="180"/>
                    </a:lnTo>
                    <a:lnTo>
                      <a:pt x="0" y="422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05" name="Freeform 37"/>
              <p:cNvSpPr>
                <a:spLocks noChangeAspect="1"/>
              </p:cNvSpPr>
              <p:nvPr/>
            </p:nvSpPr>
            <p:spPr bwMode="auto">
              <a:xfrm>
                <a:off x="1929" y="1343"/>
                <a:ext cx="763" cy="264"/>
              </a:xfrm>
              <a:custGeom>
                <a:avLst/>
                <a:gdLst/>
                <a:ahLst/>
                <a:cxnLst>
                  <a:cxn ang="0">
                    <a:pos x="715" y="376"/>
                  </a:cxn>
                  <a:cxn ang="0">
                    <a:pos x="0" y="187"/>
                  </a:cxn>
                  <a:cxn ang="0">
                    <a:pos x="397" y="0"/>
                  </a:cxn>
                  <a:cxn ang="0">
                    <a:pos x="1090" y="152"/>
                  </a:cxn>
                  <a:cxn ang="0">
                    <a:pos x="715" y="376"/>
                  </a:cxn>
                </a:cxnLst>
                <a:rect l="0" t="0" r="r" b="b"/>
                <a:pathLst>
                  <a:path w="1091" h="377">
                    <a:moveTo>
                      <a:pt x="715" y="376"/>
                    </a:moveTo>
                    <a:lnTo>
                      <a:pt x="0" y="187"/>
                    </a:lnTo>
                    <a:lnTo>
                      <a:pt x="397" y="0"/>
                    </a:lnTo>
                    <a:lnTo>
                      <a:pt x="1090" y="152"/>
                    </a:lnTo>
                    <a:lnTo>
                      <a:pt x="715" y="376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06" name="Freeform 38"/>
              <p:cNvSpPr>
                <a:spLocks noChangeAspect="1"/>
              </p:cNvSpPr>
              <p:nvPr/>
            </p:nvSpPr>
            <p:spPr bwMode="auto">
              <a:xfrm>
                <a:off x="1929" y="1473"/>
                <a:ext cx="499" cy="282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0" y="192"/>
                  </a:cxn>
                  <a:cxn ang="0">
                    <a:pos x="690" y="390"/>
                  </a:cxn>
                  <a:cxn ang="0">
                    <a:pos x="690" y="185"/>
                  </a:cxn>
                  <a:cxn ang="0">
                    <a:pos x="4" y="0"/>
                  </a:cxn>
                </a:cxnLst>
                <a:rect l="0" t="0" r="r" b="b"/>
                <a:pathLst>
                  <a:path w="690" h="390">
                    <a:moveTo>
                      <a:pt x="0" y="5"/>
                    </a:moveTo>
                    <a:lnTo>
                      <a:pt x="0" y="192"/>
                    </a:lnTo>
                    <a:lnTo>
                      <a:pt x="690" y="390"/>
                    </a:lnTo>
                    <a:lnTo>
                      <a:pt x="690" y="185"/>
                    </a:lnTo>
                    <a:lnTo>
                      <a:pt x="4" y="0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07" name="Freeform 39"/>
              <p:cNvSpPr>
                <a:spLocks noChangeAspect="1"/>
              </p:cNvSpPr>
              <p:nvPr/>
            </p:nvSpPr>
            <p:spPr bwMode="auto">
              <a:xfrm>
                <a:off x="2190" y="1573"/>
                <a:ext cx="196" cy="13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71" y="73"/>
                  </a:cxn>
                  <a:cxn ang="0">
                    <a:pos x="271" y="189"/>
                  </a:cxn>
                  <a:cxn ang="0">
                    <a:pos x="0" y="115"/>
                  </a:cxn>
                  <a:cxn ang="0">
                    <a:pos x="0" y="0"/>
                  </a:cxn>
                </a:cxnLst>
                <a:rect l="0" t="0" r="r" b="b"/>
                <a:pathLst>
                  <a:path w="271" h="189">
                    <a:moveTo>
                      <a:pt x="0" y="0"/>
                    </a:moveTo>
                    <a:lnTo>
                      <a:pt x="271" y="73"/>
                    </a:lnTo>
                    <a:lnTo>
                      <a:pt x="271" y="189"/>
                    </a:lnTo>
                    <a:lnTo>
                      <a:pt x="0" y="115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41176"/>
                      <a:invGamma/>
                    </a:srgbClr>
                  </a:gs>
                </a:gsLst>
                <a:lin ang="2700000" scaled="1"/>
              </a:gradFill>
              <a:ln w="63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08" name="Freeform 40"/>
              <p:cNvSpPr>
                <a:spLocks noChangeAspect="1" noChangeArrowheads="1"/>
              </p:cNvSpPr>
              <p:nvPr/>
            </p:nvSpPr>
            <p:spPr bwMode="auto">
              <a:xfrm>
                <a:off x="2194" y="1624"/>
                <a:ext cx="189" cy="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61" y="69"/>
                  </a:cxn>
                </a:cxnLst>
                <a:rect l="0" t="0" r="r" b="b"/>
                <a:pathLst>
                  <a:path w="261" h="69">
                    <a:moveTo>
                      <a:pt x="0" y="0"/>
                    </a:moveTo>
                    <a:lnTo>
                      <a:pt x="261" y="69"/>
                    </a:lnTo>
                  </a:path>
                </a:pathLst>
              </a:custGeom>
              <a:noFill/>
              <a:ln w="3175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60809" name="Freeform 41"/>
              <p:cNvSpPr>
                <a:spLocks/>
              </p:cNvSpPr>
              <p:nvPr/>
            </p:nvSpPr>
            <p:spPr bwMode="auto">
              <a:xfrm>
                <a:off x="2190" y="1572"/>
                <a:ext cx="195" cy="84"/>
              </a:xfrm>
              <a:custGeom>
                <a:avLst/>
                <a:gdLst/>
                <a:ahLst/>
                <a:cxnLst>
                  <a:cxn ang="0">
                    <a:pos x="0" y="84"/>
                  </a:cxn>
                  <a:cxn ang="0">
                    <a:pos x="0" y="0"/>
                  </a:cxn>
                  <a:cxn ang="0">
                    <a:pos x="195" y="54"/>
                  </a:cxn>
                </a:cxnLst>
                <a:rect l="0" t="0" r="r" b="b"/>
                <a:pathLst>
                  <a:path w="195" h="84">
                    <a:moveTo>
                      <a:pt x="0" y="84"/>
                    </a:moveTo>
                    <a:lnTo>
                      <a:pt x="0" y="0"/>
                    </a:lnTo>
                    <a:lnTo>
                      <a:pt x="195" y="54"/>
                    </a:lnTo>
                  </a:path>
                </a:pathLst>
              </a:custGeom>
              <a:noFill/>
              <a:ln w="6350" cap="flat" cmpd="sng">
                <a:solidFill>
                  <a:srgbClr val="777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10" name="Line 42"/>
              <p:cNvSpPr>
                <a:spLocks noChangeShapeType="1"/>
              </p:cNvSpPr>
              <p:nvPr/>
            </p:nvSpPr>
            <p:spPr bwMode="auto">
              <a:xfrm>
                <a:off x="2207" y="1600"/>
                <a:ext cx="153" cy="38"/>
              </a:xfrm>
              <a:prstGeom prst="line">
                <a:avLst/>
              </a:prstGeom>
              <a:noFill/>
              <a:ln w="3175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11" name="Line 43"/>
              <p:cNvSpPr>
                <a:spLocks noChangeShapeType="1"/>
              </p:cNvSpPr>
              <p:nvPr/>
            </p:nvSpPr>
            <p:spPr bwMode="auto">
              <a:xfrm>
                <a:off x="2337" y="1678"/>
                <a:ext cx="29" cy="6"/>
              </a:xfrm>
              <a:prstGeom prst="line">
                <a:avLst/>
              </a:prstGeom>
              <a:noFill/>
              <a:ln w="19050">
                <a:solidFill>
                  <a:srgbClr val="D60093"/>
                </a:solidFill>
                <a:round/>
                <a:headEnd/>
                <a:tailEnd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12" name="Freeform 44"/>
              <p:cNvSpPr>
                <a:spLocks/>
              </p:cNvSpPr>
              <p:nvPr/>
            </p:nvSpPr>
            <p:spPr bwMode="auto">
              <a:xfrm>
                <a:off x="2255" y="1610"/>
                <a:ext cx="47" cy="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18"/>
                  </a:cxn>
                  <a:cxn ang="0">
                    <a:pos x="64" y="35"/>
                  </a:cxn>
                  <a:cxn ang="0">
                    <a:pos x="64" y="19"/>
                  </a:cxn>
                  <a:cxn ang="0">
                    <a:pos x="0" y="0"/>
                  </a:cxn>
                </a:cxnLst>
                <a:rect l="0" t="0" r="r" b="b"/>
                <a:pathLst>
                  <a:path w="64" h="35">
                    <a:moveTo>
                      <a:pt x="0" y="0"/>
                    </a:moveTo>
                    <a:lnTo>
                      <a:pt x="1" y="18"/>
                    </a:lnTo>
                    <a:lnTo>
                      <a:pt x="64" y="35"/>
                    </a:lnTo>
                    <a:lnTo>
                      <a:pt x="64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77777"/>
              </a:solidFill>
              <a:ln w="190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13" name="Line 45"/>
              <p:cNvSpPr>
                <a:spLocks noChangeShapeType="1"/>
              </p:cNvSpPr>
              <p:nvPr/>
            </p:nvSpPr>
            <p:spPr bwMode="auto">
              <a:xfrm>
                <a:off x="1942" y="1503"/>
                <a:ext cx="202" cy="57"/>
              </a:xfrm>
              <a:prstGeom prst="line">
                <a:avLst/>
              </a:prstGeom>
              <a:noFill/>
              <a:ln w="6350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14" name="Line 46"/>
              <p:cNvSpPr>
                <a:spLocks noChangeShapeType="1"/>
              </p:cNvSpPr>
              <p:nvPr/>
            </p:nvSpPr>
            <p:spPr bwMode="auto">
              <a:xfrm>
                <a:off x="1942" y="1525"/>
                <a:ext cx="202" cy="56"/>
              </a:xfrm>
              <a:prstGeom prst="line">
                <a:avLst/>
              </a:prstGeom>
              <a:noFill/>
              <a:ln w="6350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15" name="Line 47"/>
              <p:cNvSpPr>
                <a:spLocks noChangeShapeType="1"/>
              </p:cNvSpPr>
              <p:nvPr/>
            </p:nvSpPr>
            <p:spPr bwMode="auto">
              <a:xfrm>
                <a:off x="1942" y="1548"/>
                <a:ext cx="202" cy="57"/>
              </a:xfrm>
              <a:prstGeom prst="line">
                <a:avLst/>
              </a:prstGeom>
              <a:noFill/>
              <a:ln w="6350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16" name="Line 48"/>
              <p:cNvSpPr>
                <a:spLocks noChangeShapeType="1"/>
              </p:cNvSpPr>
              <p:nvPr/>
            </p:nvSpPr>
            <p:spPr bwMode="auto">
              <a:xfrm>
                <a:off x="1942" y="1570"/>
                <a:ext cx="202" cy="56"/>
              </a:xfrm>
              <a:prstGeom prst="line">
                <a:avLst/>
              </a:prstGeom>
              <a:noFill/>
              <a:ln w="6350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17" name="Freeform 49"/>
              <p:cNvSpPr>
                <a:spLocks/>
              </p:cNvSpPr>
              <p:nvPr/>
            </p:nvSpPr>
            <p:spPr bwMode="auto">
              <a:xfrm>
                <a:off x="2192" y="1632"/>
                <a:ext cx="198" cy="84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275" y="117"/>
                  </a:cxn>
                  <a:cxn ang="0">
                    <a:pos x="275" y="0"/>
                  </a:cxn>
                </a:cxnLst>
                <a:rect l="0" t="0" r="r" b="b"/>
                <a:pathLst>
                  <a:path w="275" h="117">
                    <a:moveTo>
                      <a:pt x="0" y="40"/>
                    </a:moveTo>
                    <a:lnTo>
                      <a:pt x="275" y="117"/>
                    </a:lnTo>
                    <a:lnTo>
                      <a:pt x="275" y="0"/>
                    </a:lnTo>
                  </a:path>
                </a:pathLst>
              </a:custGeom>
              <a:no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</p:grpSp>
        <p:grpSp>
          <p:nvGrpSpPr>
            <p:cNvPr id="160818" name="Group 50"/>
            <p:cNvGrpSpPr>
              <a:grpSpLocks/>
            </p:cNvGrpSpPr>
            <p:nvPr/>
          </p:nvGrpSpPr>
          <p:grpSpPr bwMode="auto">
            <a:xfrm>
              <a:off x="3042" y="2733"/>
              <a:ext cx="714" cy="672"/>
              <a:chOff x="2004" y="885"/>
              <a:chExt cx="714" cy="672"/>
            </a:xfrm>
          </p:grpSpPr>
          <p:sp>
            <p:nvSpPr>
              <p:cNvPr id="160819" name="Freeform 51"/>
              <p:cNvSpPr>
                <a:spLocks/>
              </p:cNvSpPr>
              <p:nvPr/>
            </p:nvSpPr>
            <p:spPr bwMode="auto">
              <a:xfrm>
                <a:off x="2058" y="1322"/>
                <a:ext cx="556" cy="235"/>
              </a:xfrm>
              <a:custGeom>
                <a:avLst/>
                <a:gdLst/>
                <a:ahLst/>
                <a:cxnLst>
                  <a:cxn ang="0">
                    <a:pos x="0" y="128"/>
                  </a:cxn>
                  <a:cxn ang="0">
                    <a:pos x="238" y="0"/>
                  </a:cxn>
                  <a:cxn ang="0">
                    <a:pos x="556" y="91"/>
                  </a:cxn>
                  <a:cxn ang="0">
                    <a:pos x="556" y="108"/>
                  </a:cxn>
                  <a:cxn ang="0">
                    <a:pos x="334" y="235"/>
                  </a:cxn>
                  <a:cxn ang="0">
                    <a:pos x="0" y="148"/>
                  </a:cxn>
                  <a:cxn ang="0">
                    <a:pos x="0" y="128"/>
                  </a:cxn>
                </a:cxnLst>
                <a:rect l="0" t="0" r="r" b="b"/>
                <a:pathLst>
                  <a:path w="556" h="235">
                    <a:moveTo>
                      <a:pt x="0" y="128"/>
                    </a:moveTo>
                    <a:lnTo>
                      <a:pt x="238" y="0"/>
                    </a:lnTo>
                    <a:lnTo>
                      <a:pt x="556" y="91"/>
                    </a:lnTo>
                    <a:lnTo>
                      <a:pt x="556" y="108"/>
                    </a:lnTo>
                    <a:lnTo>
                      <a:pt x="334" y="235"/>
                    </a:lnTo>
                    <a:lnTo>
                      <a:pt x="0" y="148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DDDDDD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20" name="Freeform 52"/>
              <p:cNvSpPr>
                <a:spLocks/>
              </p:cNvSpPr>
              <p:nvPr/>
            </p:nvSpPr>
            <p:spPr bwMode="auto">
              <a:xfrm>
                <a:off x="2065" y="1327"/>
                <a:ext cx="538" cy="208"/>
              </a:xfrm>
              <a:custGeom>
                <a:avLst/>
                <a:gdLst/>
                <a:ahLst/>
                <a:cxnLst>
                  <a:cxn ang="0">
                    <a:pos x="0" y="124"/>
                  </a:cxn>
                  <a:cxn ang="0">
                    <a:pos x="327" y="208"/>
                  </a:cxn>
                  <a:cxn ang="0">
                    <a:pos x="538" y="86"/>
                  </a:cxn>
                  <a:cxn ang="0">
                    <a:pos x="233" y="0"/>
                  </a:cxn>
                  <a:cxn ang="0">
                    <a:pos x="0" y="124"/>
                  </a:cxn>
                </a:cxnLst>
                <a:rect l="0" t="0" r="r" b="b"/>
                <a:pathLst>
                  <a:path w="538" h="208">
                    <a:moveTo>
                      <a:pt x="0" y="124"/>
                    </a:moveTo>
                    <a:lnTo>
                      <a:pt x="327" y="208"/>
                    </a:lnTo>
                    <a:lnTo>
                      <a:pt x="538" y="86"/>
                    </a:lnTo>
                    <a:lnTo>
                      <a:pt x="233" y="0"/>
                    </a:lnTo>
                    <a:lnTo>
                      <a:pt x="0" y="124"/>
                    </a:lnTo>
                    <a:close/>
                  </a:path>
                </a:pathLst>
              </a:custGeom>
              <a:solidFill>
                <a:srgbClr val="B2B2B2"/>
              </a:solidFill>
              <a:ln w="63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21" name="Oval 53"/>
              <p:cNvSpPr>
                <a:spLocks noChangeArrowheads="1"/>
              </p:cNvSpPr>
              <p:nvPr/>
            </p:nvSpPr>
            <p:spPr bwMode="auto">
              <a:xfrm>
                <a:off x="2199" y="1378"/>
                <a:ext cx="280" cy="112"/>
              </a:xfrm>
              <a:prstGeom prst="ellipse">
                <a:avLst/>
              </a:prstGeom>
              <a:solidFill>
                <a:srgbClr val="B2B2B2"/>
              </a:solidFill>
              <a:ln w="3175" cap="rnd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22" name="Freeform 54"/>
              <p:cNvSpPr>
                <a:spLocks/>
              </p:cNvSpPr>
              <p:nvPr/>
            </p:nvSpPr>
            <p:spPr bwMode="auto">
              <a:xfrm>
                <a:off x="2046" y="1382"/>
                <a:ext cx="452" cy="1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0" y="36"/>
                  </a:cxn>
                  <a:cxn ang="0">
                    <a:pos x="574" y="180"/>
                  </a:cxn>
                  <a:cxn ang="0">
                    <a:pos x="646" y="158"/>
                  </a:cxn>
                </a:cxnLst>
                <a:rect l="0" t="0" r="r" b="b"/>
                <a:pathLst>
                  <a:path w="646" h="180">
                    <a:moveTo>
                      <a:pt x="0" y="0"/>
                    </a:moveTo>
                    <a:lnTo>
                      <a:pt x="20" y="36"/>
                    </a:lnTo>
                    <a:lnTo>
                      <a:pt x="574" y="180"/>
                    </a:lnTo>
                    <a:lnTo>
                      <a:pt x="646" y="158"/>
                    </a:lnTo>
                  </a:path>
                </a:pathLst>
              </a:custGeom>
              <a:solidFill>
                <a:srgbClr val="B2B2B2"/>
              </a:soli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23" name="Freeform 55"/>
              <p:cNvSpPr>
                <a:spLocks noChangeAspect="1"/>
              </p:cNvSpPr>
              <p:nvPr/>
            </p:nvSpPr>
            <p:spPr bwMode="auto">
              <a:xfrm>
                <a:off x="2154" y="885"/>
                <a:ext cx="564" cy="520"/>
              </a:xfrm>
              <a:custGeom>
                <a:avLst/>
                <a:gdLst/>
                <a:ahLst/>
                <a:cxnLst>
                  <a:cxn ang="0">
                    <a:pos x="620" y="746"/>
                  </a:cxn>
                  <a:cxn ang="0">
                    <a:pos x="808" y="525"/>
                  </a:cxn>
                  <a:cxn ang="0">
                    <a:pos x="808" y="106"/>
                  </a:cxn>
                  <a:cxn ang="0">
                    <a:pos x="336" y="0"/>
                  </a:cxn>
                  <a:cxn ang="0">
                    <a:pos x="0" y="48"/>
                  </a:cxn>
                </a:cxnLst>
                <a:rect l="0" t="0" r="r" b="b"/>
                <a:pathLst>
                  <a:path w="808" h="746">
                    <a:moveTo>
                      <a:pt x="620" y="746"/>
                    </a:moveTo>
                    <a:lnTo>
                      <a:pt x="808" y="525"/>
                    </a:lnTo>
                    <a:lnTo>
                      <a:pt x="808" y="106"/>
                    </a:lnTo>
                    <a:lnTo>
                      <a:pt x="336" y="0"/>
                    </a:lnTo>
                    <a:lnTo>
                      <a:pt x="0" y="48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24" name="Freeform 56"/>
              <p:cNvSpPr>
                <a:spLocks noChangeAspect="1"/>
              </p:cNvSpPr>
              <p:nvPr/>
            </p:nvSpPr>
            <p:spPr bwMode="auto">
              <a:xfrm>
                <a:off x="2506" y="1000"/>
                <a:ext cx="113" cy="506"/>
              </a:xfrm>
              <a:custGeom>
                <a:avLst/>
                <a:gdLst/>
                <a:ahLst/>
                <a:cxnLst>
                  <a:cxn ang="0">
                    <a:pos x="0" y="644"/>
                  </a:cxn>
                  <a:cxn ang="0">
                    <a:pos x="0" y="79"/>
                  </a:cxn>
                  <a:cxn ang="0">
                    <a:pos x="144" y="0"/>
                  </a:cxn>
                  <a:cxn ang="0">
                    <a:pos x="144" y="554"/>
                  </a:cxn>
                  <a:cxn ang="0">
                    <a:pos x="0" y="644"/>
                  </a:cxn>
                </a:cxnLst>
                <a:rect l="0" t="0" r="r" b="b"/>
                <a:pathLst>
                  <a:path w="144" h="644">
                    <a:moveTo>
                      <a:pt x="0" y="644"/>
                    </a:moveTo>
                    <a:lnTo>
                      <a:pt x="0" y="79"/>
                    </a:lnTo>
                    <a:lnTo>
                      <a:pt x="144" y="0"/>
                    </a:lnTo>
                    <a:lnTo>
                      <a:pt x="144" y="554"/>
                    </a:lnTo>
                    <a:lnTo>
                      <a:pt x="0" y="644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25" name="Freeform 57"/>
              <p:cNvSpPr>
                <a:spLocks noChangeAspect="1"/>
              </p:cNvSpPr>
              <p:nvPr/>
            </p:nvSpPr>
            <p:spPr bwMode="auto">
              <a:xfrm>
                <a:off x="2004" y="891"/>
                <a:ext cx="615" cy="172"/>
              </a:xfrm>
              <a:custGeom>
                <a:avLst/>
                <a:gdLst/>
                <a:ahLst/>
                <a:cxnLst>
                  <a:cxn ang="0">
                    <a:pos x="638" y="219"/>
                  </a:cxn>
                  <a:cxn ang="0">
                    <a:pos x="0" y="67"/>
                  </a:cxn>
                  <a:cxn ang="0">
                    <a:pos x="160" y="0"/>
                  </a:cxn>
                  <a:cxn ang="0">
                    <a:pos x="782" y="139"/>
                  </a:cxn>
                  <a:cxn ang="0">
                    <a:pos x="638" y="219"/>
                  </a:cxn>
                </a:cxnLst>
                <a:rect l="0" t="0" r="r" b="b"/>
                <a:pathLst>
                  <a:path w="782" h="219">
                    <a:moveTo>
                      <a:pt x="638" y="219"/>
                    </a:moveTo>
                    <a:lnTo>
                      <a:pt x="0" y="67"/>
                    </a:lnTo>
                    <a:lnTo>
                      <a:pt x="160" y="0"/>
                    </a:lnTo>
                    <a:lnTo>
                      <a:pt x="782" y="139"/>
                    </a:lnTo>
                    <a:lnTo>
                      <a:pt x="638" y="219"/>
                    </a:lnTo>
                  </a:path>
                </a:pathLst>
              </a:custGeom>
              <a:solidFill>
                <a:schemeClr val="bg1"/>
              </a:soli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26" name="Freeform 58"/>
              <p:cNvSpPr>
                <a:spLocks noChangeAspect="1"/>
              </p:cNvSpPr>
              <p:nvPr/>
            </p:nvSpPr>
            <p:spPr bwMode="auto">
              <a:xfrm>
                <a:off x="2004" y="942"/>
                <a:ext cx="502" cy="566"/>
              </a:xfrm>
              <a:custGeom>
                <a:avLst/>
                <a:gdLst/>
                <a:ahLst/>
                <a:cxnLst>
                  <a:cxn ang="0">
                    <a:pos x="671" y="753"/>
                  </a:cxn>
                  <a:cxn ang="0">
                    <a:pos x="671" y="160"/>
                  </a:cxn>
                  <a:cxn ang="0">
                    <a:pos x="0" y="0"/>
                  </a:cxn>
                  <a:cxn ang="0">
                    <a:pos x="0" y="578"/>
                  </a:cxn>
                  <a:cxn ang="0">
                    <a:pos x="671" y="753"/>
                  </a:cxn>
                </a:cxnLst>
                <a:rect l="0" t="0" r="r" b="b"/>
                <a:pathLst>
                  <a:path w="672" h="754">
                    <a:moveTo>
                      <a:pt x="671" y="753"/>
                    </a:moveTo>
                    <a:lnTo>
                      <a:pt x="671" y="160"/>
                    </a:lnTo>
                    <a:lnTo>
                      <a:pt x="0" y="0"/>
                    </a:lnTo>
                    <a:lnTo>
                      <a:pt x="0" y="578"/>
                    </a:lnTo>
                    <a:lnTo>
                      <a:pt x="671" y="753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27" name="Freeform 59"/>
              <p:cNvSpPr>
                <a:spLocks noChangeAspect="1"/>
              </p:cNvSpPr>
              <p:nvPr/>
            </p:nvSpPr>
            <p:spPr bwMode="auto">
              <a:xfrm>
                <a:off x="2043" y="992"/>
                <a:ext cx="425" cy="464"/>
              </a:xfrm>
              <a:custGeom>
                <a:avLst/>
                <a:gdLst/>
                <a:ahLst/>
                <a:cxnLst>
                  <a:cxn ang="0">
                    <a:pos x="490" y="548"/>
                  </a:cxn>
                  <a:cxn ang="0">
                    <a:pos x="490" y="117"/>
                  </a:cxn>
                  <a:cxn ang="0">
                    <a:pos x="0" y="0"/>
                  </a:cxn>
                  <a:cxn ang="0">
                    <a:pos x="0" y="424"/>
                  </a:cxn>
                  <a:cxn ang="0">
                    <a:pos x="490" y="548"/>
                  </a:cxn>
                </a:cxnLst>
                <a:rect l="0" t="0" r="r" b="b"/>
                <a:pathLst>
                  <a:path w="491" h="549">
                    <a:moveTo>
                      <a:pt x="490" y="548"/>
                    </a:moveTo>
                    <a:lnTo>
                      <a:pt x="490" y="117"/>
                    </a:lnTo>
                    <a:lnTo>
                      <a:pt x="0" y="0"/>
                    </a:lnTo>
                    <a:lnTo>
                      <a:pt x="0" y="424"/>
                    </a:lnTo>
                    <a:lnTo>
                      <a:pt x="490" y="548"/>
                    </a:lnTo>
                  </a:path>
                </a:pathLst>
              </a:custGeom>
              <a:solidFill>
                <a:srgbClr val="CECECE"/>
              </a:solidFill>
              <a:ln w="6350" cap="rnd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28" name="Freeform 60"/>
              <p:cNvSpPr>
                <a:spLocks/>
              </p:cNvSpPr>
              <p:nvPr/>
            </p:nvSpPr>
            <p:spPr bwMode="auto">
              <a:xfrm>
                <a:off x="2069" y="1023"/>
                <a:ext cx="372" cy="4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54"/>
                  </a:cxn>
                  <a:cxn ang="0">
                    <a:pos x="542" y="592"/>
                  </a:cxn>
                  <a:cxn ang="0">
                    <a:pos x="542" y="130"/>
                  </a:cxn>
                  <a:cxn ang="0">
                    <a:pos x="0" y="0"/>
                  </a:cxn>
                </a:cxnLst>
                <a:rect l="0" t="0" r="r" b="b"/>
                <a:pathLst>
                  <a:path w="542" h="592">
                    <a:moveTo>
                      <a:pt x="0" y="0"/>
                    </a:moveTo>
                    <a:lnTo>
                      <a:pt x="0" y="454"/>
                    </a:lnTo>
                    <a:lnTo>
                      <a:pt x="542" y="592"/>
                    </a:lnTo>
                    <a:lnTo>
                      <a:pt x="542" y="13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18FFD"/>
                  </a:gs>
                  <a:gs pos="100000">
                    <a:srgbClr val="618FFD">
                      <a:gamma/>
                      <a:shade val="75294"/>
                      <a:invGamma/>
                    </a:srgbClr>
                  </a:gs>
                </a:gsLst>
                <a:path path="rect">
                  <a:fillToRect r="100000" b="100000"/>
                </a:path>
              </a:gradFill>
              <a:ln w="6350" cap="flat" cmpd="sng">
                <a:solidFill>
                  <a:srgbClr val="777777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60829" name="Line 61"/>
              <p:cNvSpPr>
                <a:spLocks noChangeShapeType="1"/>
              </p:cNvSpPr>
              <p:nvPr/>
            </p:nvSpPr>
            <p:spPr bwMode="auto">
              <a:xfrm>
                <a:off x="2102" y="1056"/>
                <a:ext cx="0" cy="6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160830" name="Group 62"/>
          <p:cNvGrpSpPr>
            <a:grpSpLocks/>
          </p:cNvGrpSpPr>
          <p:nvPr/>
        </p:nvGrpSpPr>
        <p:grpSpPr bwMode="auto">
          <a:xfrm>
            <a:off x="6919452" y="4147222"/>
            <a:ext cx="1187450" cy="1206500"/>
            <a:chOff x="2967" y="2733"/>
            <a:chExt cx="789" cy="870"/>
          </a:xfrm>
        </p:grpSpPr>
        <p:grpSp>
          <p:nvGrpSpPr>
            <p:cNvPr id="160831" name="Group 63"/>
            <p:cNvGrpSpPr>
              <a:grpSpLocks/>
            </p:cNvGrpSpPr>
            <p:nvPr/>
          </p:nvGrpSpPr>
          <p:grpSpPr bwMode="auto">
            <a:xfrm>
              <a:off x="2967" y="3191"/>
              <a:ext cx="763" cy="412"/>
              <a:chOff x="1929" y="1343"/>
              <a:chExt cx="763" cy="412"/>
            </a:xfrm>
          </p:grpSpPr>
          <p:sp>
            <p:nvSpPr>
              <p:cNvPr id="160832" name="Freeform 64"/>
              <p:cNvSpPr>
                <a:spLocks noChangeAspect="1"/>
              </p:cNvSpPr>
              <p:nvPr/>
            </p:nvSpPr>
            <p:spPr bwMode="auto">
              <a:xfrm>
                <a:off x="2428" y="1450"/>
                <a:ext cx="263" cy="305"/>
              </a:xfrm>
              <a:custGeom>
                <a:avLst/>
                <a:gdLst/>
                <a:ahLst/>
                <a:cxnLst>
                  <a:cxn ang="0">
                    <a:pos x="3" y="212"/>
                  </a:cxn>
                  <a:cxn ang="0">
                    <a:pos x="364" y="0"/>
                  </a:cxn>
                  <a:cxn ang="0">
                    <a:pos x="364" y="180"/>
                  </a:cxn>
                  <a:cxn ang="0">
                    <a:pos x="0" y="422"/>
                  </a:cxn>
                </a:cxnLst>
                <a:rect l="0" t="0" r="r" b="b"/>
                <a:pathLst>
                  <a:path w="364" h="422">
                    <a:moveTo>
                      <a:pt x="3" y="212"/>
                    </a:moveTo>
                    <a:lnTo>
                      <a:pt x="364" y="0"/>
                    </a:lnTo>
                    <a:lnTo>
                      <a:pt x="364" y="180"/>
                    </a:lnTo>
                    <a:lnTo>
                      <a:pt x="0" y="422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33" name="Freeform 65"/>
              <p:cNvSpPr>
                <a:spLocks noChangeAspect="1"/>
              </p:cNvSpPr>
              <p:nvPr/>
            </p:nvSpPr>
            <p:spPr bwMode="auto">
              <a:xfrm>
                <a:off x="1929" y="1343"/>
                <a:ext cx="763" cy="264"/>
              </a:xfrm>
              <a:custGeom>
                <a:avLst/>
                <a:gdLst/>
                <a:ahLst/>
                <a:cxnLst>
                  <a:cxn ang="0">
                    <a:pos x="715" y="376"/>
                  </a:cxn>
                  <a:cxn ang="0">
                    <a:pos x="0" y="187"/>
                  </a:cxn>
                  <a:cxn ang="0">
                    <a:pos x="397" y="0"/>
                  </a:cxn>
                  <a:cxn ang="0">
                    <a:pos x="1090" y="152"/>
                  </a:cxn>
                  <a:cxn ang="0">
                    <a:pos x="715" y="376"/>
                  </a:cxn>
                </a:cxnLst>
                <a:rect l="0" t="0" r="r" b="b"/>
                <a:pathLst>
                  <a:path w="1091" h="377">
                    <a:moveTo>
                      <a:pt x="715" y="376"/>
                    </a:moveTo>
                    <a:lnTo>
                      <a:pt x="0" y="187"/>
                    </a:lnTo>
                    <a:lnTo>
                      <a:pt x="397" y="0"/>
                    </a:lnTo>
                    <a:lnTo>
                      <a:pt x="1090" y="152"/>
                    </a:lnTo>
                    <a:lnTo>
                      <a:pt x="715" y="376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34" name="Freeform 66"/>
              <p:cNvSpPr>
                <a:spLocks noChangeAspect="1"/>
              </p:cNvSpPr>
              <p:nvPr/>
            </p:nvSpPr>
            <p:spPr bwMode="auto">
              <a:xfrm>
                <a:off x="1929" y="1473"/>
                <a:ext cx="499" cy="282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0" y="192"/>
                  </a:cxn>
                  <a:cxn ang="0">
                    <a:pos x="690" y="390"/>
                  </a:cxn>
                  <a:cxn ang="0">
                    <a:pos x="690" y="185"/>
                  </a:cxn>
                  <a:cxn ang="0">
                    <a:pos x="4" y="0"/>
                  </a:cxn>
                </a:cxnLst>
                <a:rect l="0" t="0" r="r" b="b"/>
                <a:pathLst>
                  <a:path w="690" h="390">
                    <a:moveTo>
                      <a:pt x="0" y="5"/>
                    </a:moveTo>
                    <a:lnTo>
                      <a:pt x="0" y="192"/>
                    </a:lnTo>
                    <a:lnTo>
                      <a:pt x="690" y="390"/>
                    </a:lnTo>
                    <a:lnTo>
                      <a:pt x="690" y="185"/>
                    </a:lnTo>
                    <a:lnTo>
                      <a:pt x="4" y="0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35" name="Freeform 67"/>
              <p:cNvSpPr>
                <a:spLocks noChangeAspect="1"/>
              </p:cNvSpPr>
              <p:nvPr/>
            </p:nvSpPr>
            <p:spPr bwMode="auto">
              <a:xfrm>
                <a:off x="2190" y="1573"/>
                <a:ext cx="196" cy="13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71" y="73"/>
                  </a:cxn>
                  <a:cxn ang="0">
                    <a:pos x="271" y="189"/>
                  </a:cxn>
                  <a:cxn ang="0">
                    <a:pos x="0" y="115"/>
                  </a:cxn>
                  <a:cxn ang="0">
                    <a:pos x="0" y="0"/>
                  </a:cxn>
                </a:cxnLst>
                <a:rect l="0" t="0" r="r" b="b"/>
                <a:pathLst>
                  <a:path w="271" h="189">
                    <a:moveTo>
                      <a:pt x="0" y="0"/>
                    </a:moveTo>
                    <a:lnTo>
                      <a:pt x="271" y="73"/>
                    </a:lnTo>
                    <a:lnTo>
                      <a:pt x="271" y="189"/>
                    </a:lnTo>
                    <a:lnTo>
                      <a:pt x="0" y="115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41176"/>
                      <a:invGamma/>
                    </a:srgbClr>
                  </a:gs>
                </a:gsLst>
                <a:lin ang="2700000" scaled="1"/>
              </a:gradFill>
              <a:ln w="63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36" name="Freeform 68"/>
              <p:cNvSpPr>
                <a:spLocks noChangeAspect="1" noChangeArrowheads="1"/>
              </p:cNvSpPr>
              <p:nvPr/>
            </p:nvSpPr>
            <p:spPr bwMode="auto">
              <a:xfrm>
                <a:off x="2194" y="1624"/>
                <a:ext cx="189" cy="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61" y="69"/>
                  </a:cxn>
                </a:cxnLst>
                <a:rect l="0" t="0" r="r" b="b"/>
                <a:pathLst>
                  <a:path w="261" h="69">
                    <a:moveTo>
                      <a:pt x="0" y="0"/>
                    </a:moveTo>
                    <a:lnTo>
                      <a:pt x="261" y="69"/>
                    </a:lnTo>
                  </a:path>
                </a:pathLst>
              </a:custGeom>
              <a:noFill/>
              <a:ln w="3175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60837" name="Freeform 69"/>
              <p:cNvSpPr>
                <a:spLocks/>
              </p:cNvSpPr>
              <p:nvPr/>
            </p:nvSpPr>
            <p:spPr bwMode="auto">
              <a:xfrm>
                <a:off x="2190" y="1572"/>
                <a:ext cx="195" cy="84"/>
              </a:xfrm>
              <a:custGeom>
                <a:avLst/>
                <a:gdLst/>
                <a:ahLst/>
                <a:cxnLst>
                  <a:cxn ang="0">
                    <a:pos x="0" y="84"/>
                  </a:cxn>
                  <a:cxn ang="0">
                    <a:pos x="0" y="0"/>
                  </a:cxn>
                  <a:cxn ang="0">
                    <a:pos x="195" y="54"/>
                  </a:cxn>
                </a:cxnLst>
                <a:rect l="0" t="0" r="r" b="b"/>
                <a:pathLst>
                  <a:path w="195" h="84">
                    <a:moveTo>
                      <a:pt x="0" y="84"/>
                    </a:moveTo>
                    <a:lnTo>
                      <a:pt x="0" y="0"/>
                    </a:lnTo>
                    <a:lnTo>
                      <a:pt x="195" y="54"/>
                    </a:lnTo>
                  </a:path>
                </a:pathLst>
              </a:custGeom>
              <a:noFill/>
              <a:ln w="6350" cap="flat" cmpd="sng">
                <a:solidFill>
                  <a:srgbClr val="777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38" name="Line 70"/>
              <p:cNvSpPr>
                <a:spLocks noChangeShapeType="1"/>
              </p:cNvSpPr>
              <p:nvPr/>
            </p:nvSpPr>
            <p:spPr bwMode="auto">
              <a:xfrm>
                <a:off x="2207" y="1600"/>
                <a:ext cx="153" cy="38"/>
              </a:xfrm>
              <a:prstGeom prst="line">
                <a:avLst/>
              </a:prstGeom>
              <a:noFill/>
              <a:ln w="3175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39" name="Line 71"/>
              <p:cNvSpPr>
                <a:spLocks noChangeShapeType="1"/>
              </p:cNvSpPr>
              <p:nvPr/>
            </p:nvSpPr>
            <p:spPr bwMode="auto">
              <a:xfrm>
                <a:off x="2337" y="1678"/>
                <a:ext cx="29" cy="6"/>
              </a:xfrm>
              <a:prstGeom prst="line">
                <a:avLst/>
              </a:prstGeom>
              <a:noFill/>
              <a:ln w="19050">
                <a:solidFill>
                  <a:srgbClr val="D60093"/>
                </a:solidFill>
                <a:round/>
                <a:headEnd/>
                <a:tailEnd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40" name="Freeform 72"/>
              <p:cNvSpPr>
                <a:spLocks/>
              </p:cNvSpPr>
              <p:nvPr/>
            </p:nvSpPr>
            <p:spPr bwMode="auto">
              <a:xfrm>
                <a:off x="2255" y="1610"/>
                <a:ext cx="47" cy="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18"/>
                  </a:cxn>
                  <a:cxn ang="0">
                    <a:pos x="64" y="35"/>
                  </a:cxn>
                  <a:cxn ang="0">
                    <a:pos x="64" y="19"/>
                  </a:cxn>
                  <a:cxn ang="0">
                    <a:pos x="0" y="0"/>
                  </a:cxn>
                </a:cxnLst>
                <a:rect l="0" t="0" r="r" b="b"/>
                <a:pathLst>
                  <a:path w="64" h="35">
                    <a:moveTo>
                      <a:pt x="0" y="0"/>
                    </a:moveTo>
                    <a:lnTo>
                      <a:pt x="1" y="18"/>
                    </a:lnTo>
                    <a:lnTo>
                      <a:pt x="64" y="35"/>
                    </a:lnTo>
                    <a:lnTo>
                      <a:pt x="64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77777"/>
              </a:solidFill>
              <a:ln w="190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41" name="Line 73"/>
              <p:cNvSpPr>
                <a:spLocks noChangeShapeType="1"/>
              </p:cNvSpPr>
              <p:nvPr/>
            </p:nvSpPr>
            <p:spPr bwMode="auto">
              <a:xfrm>
                <a:off x="1942" y="1503"/>
                <a:ext cx="202" cy="57"/>
              </a:xfrm>
              <a:prstGeom prst="line">
                <a:avLst/>
              </a:prstGeom>
              <a:noFill/>
              <a:ln w="6350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42" name="Line 74"/>
              <p:cNvSpPr>
                <a:spLocks noChangeShapeType="1"/>
              </p:cNvSpPr>
              <p:nvPr/>
            </p:nvSpPr>
            <p:spPr bwMode="auto">
              <a:xfrm>
                <a:off x="1942" y="1525"/>
                <a:ext cx="202" cy="56"/>
              </a:xfrm>
              <a:prstGeom prst="line">
                <a:avLst/>
              </a:prstGeom>
              <a:noFill/>
              <a:ln w="6350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43" name="Line 75"/>
              <p:cNvSpPr>
                <a:spLocks noChangeShapeType="1"/>
              </p:cNvSpPr>
              <p:nvPr/>
            </p:nvSpPr>
            <p:spPr bwMode="auto">
              <a:xfrm>
                <a:off x="1942" y="1548"/>
                <a:ext cx="202" cy="57"/>
              </a:xfrm>
              <a:prstGeom prst="line">
                <a:avLst/>
              </a:prstGeom>
              <a:noFill/>
              <a:ln w="6350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44" name="Line 76"/>
              <p:cNvSpPr>
                <a:spLocks noChangeShapeType="1"/>
              </p:cNvSpPr>
              <p:nvPr/>
            </p:nvSpPr>
            <p:spPr bwMode="auto">
              <a:xfrm>
                <a:off x="1942" y="1570"/>
                <a:ext cx="202" cy="56"/>
              </a:xfrm>
              <a:prstGeom prst="line">
                <a:avLst/>
              </a:prstGeom>
              <a:noFill/>
              <a:ln w="6350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45" name="Freeform 77"/>
              <p:cNvSpPr>
                <a:spLocks/>
              </p:cNvSpPr>
              <p:nvPr/>
            </p:nvSpPr>
            <p:spPr bwMode="auto">
              <a:xfrm>
                <a:off x="2192" y="1632"/>
                <a:ext cx="198" cy="84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275" y="117"/>
                  </a:cxn>
                  <a:cxn ang="0">
                    <a:pos x="275" y="0"/>
                  </a:cxn>
                </a:cxnLst>
                <a:rect l="0" t="0" r="r" b="b"/>
                <a:pathLst>
                  <a:path w="275" h="117">
                    <a:moveTo>
                      <a:pt x="0" y="40"/>
                    </a:moveTo>
                    <a:lnTo>
                      <a:pt x="275" y="117"/>
                    </a:lnTo>
                    <a:lnTo>
                      <a:pt x="275" y="0"/>
                    </a:lnTo>
                  </a:path>
                </a:pathLst>
              </a:custGeom>
              <a:no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</p:grpSp>
        <p:grpSp>
          <p:nvGrpSpPr>
            <p:cNvPr id="160846" name="Group 78"/>
            <p:cNvGrpSpPr>
              <a:grpSpLocks/>
            </p:cNvGrpSpPr>
            <p:nvPr/>
          </p:nvGrpSpPr>
          <p:grpSpPr bwMode="auto">
            <a:xfrm>
              <a:off x="3042" y="2733"/>
              <a:ext cx="714" cy="672"/>
              <a:chOff x="2004" y="885"/>
              <a:chExt cx="714" cy="672"/>
            </a:xfrm>
          </p:grpSpPr>
          <p:sp>
            <p:nvSpPr>
              <p:cNvPr id="160847" name="Freeform 79"/>
              <p:cNvSpPr>
                <a:spLocks/>
              </p:cNvSpPr>
              <p:nvPr/>
            </p:nvSpPr>
            <p:spPr bwMode="auto">
              <a:xfrm>
                <a:off x="2058" y="1322"/>
                <a:ext cx="556" cy="235"/>
              </a:xfrm>
              <a:custGeom>
                <a:avLst/>
                <a:gdLst/>
                <a:ahLst/>
                <a:cxnLst>
                  <a:cxn ang="0">
                    <a:pos x="0" y="128"/>
                  </a:cxn>
                  <a:cxn ang="0">
                    <a:pos x="238" y="0"/>
                  </a:cxn>
                  <a:cxn ang="0">
                    <a:pos x="556" y="91"/>
                  </a:cxn>
                  <a:cxn ang="0">
                    <a:pos x="556" y="108"/>
                  </a:cxn>
                  <a:cxn ang="0">
                    <a:pos x="334" y="235"/>
                  </a:cxn>
                  <a:cxn ang="0">
                    <a:pos x="0" y="148"/>
                  </a:cxn>
                  <a:cxn ang="0">
                    <a:pos x="0" y="128"/>
                  </a:cxn>
                </a:cxnLst>
                <a:rect l="0" t="0" r="r" b="b"/>
                <a:pathLst>
                  <a:path w="556" h="235">
                    <a:moveTo>
                      <a:pt x="0" y="128"/>
                    </a:moveTo>
                    <a:lnTo>
                      <a:pt x="238" y="0"/>
                    </a:lnTo>
                    <a:lnTo>
                      <a:pt x="556" y="91"/>
                    </a:lnTo>
                    <a:lnTo>
                      <a:pt x="556" y="108"/>
                    </a:lnTo>
                    <a:lnTo>
                      <a:pt x="334" y="235"/>
                    </a:lnTo>
                    <a:lnTo>
                      <a:pt x="0" y="148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DDDDDD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48" name="Freeform 80"/>
              <p:cNvSpPr>
                <a:spLocks/>
              </p:cNvSpPr>
              <p:nvPr/>
            </p:nvSpPr>
            <p:spPr bwMode="auto">
              <a:xfrm>
                <a:off x="2065" y="1327"/>
                <a:ext cx="538" cy="208"/>
              </a:xfrm>
              <a:custGeom>
                <a:avLst/>
                <a:gdLst/>
                <a:ahLst/>
                <a:cxnLst>
                  <a:cxn ang="0">
                    <a:pos x="0" y="124"/>
                  </a:cxn>
                  <a:cxn ang="0">
                    <a:pos x="327" y="208"/>
                  </a:cxn>
                  <a:cxn ang="0">
                    <a:pos x="538" y="86"/>
                  </a:cxn>
                  <a:cxn ang="0">
                    <a:pos x="233" y="0"/>
                  </a:cxn>
                  <a:cxn ang="0">
                    <a:pos x="0" y="124"/>
                  </a:cxn>
                </a:cxnLst>
                <a:rect l="0" t="0" r="r" b="b"/>
                <a:pathLst>
                  <a:path w="538" h="208">
                    <a:moveTo>
                      <a:pt x="0" y="124"/>
                    </a:moveTo>
                    <a:lnTo>
                      <a:pt x="327" y="208"/>
                    </a:lnTo>
                    <a:lnTo>
                      <a:pt x="538" y="86"/>
                    </a:lnTo>
                    <a:lnTo>
                      <a:pt x="233" y="0"/>
                    </a:lnTo>
                    <a:lnTo>
                      <a:pt x="0" y="124"/>
                    </a:lnTo>
                    <a:close/>
                  </a:path>
                </a:pathLst>
              </a:custGeom>
              <a:solidFill>
                <a:srgbClr val="B2B2B2"/>
              </a:solidFill>
              <a:ln w="63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49" name="Oval 81"/>
              <p:cNvSpPr>
                <a:spLocks noChangeArrowheads="1"/>
              </p:cNvSpPr>
              <p:nvPr/>
            </p:nvSpPr>
            <p:spPr bwMode="auto">
              <a:xfrm>
                <a:off x="2199" y="1378"/>
                <a:ext cx="280" cy="112"/>
              </a:xfrm>
              <a:prstGeom prst="ellipse">
                <a:avLst/>
              </a:prstGeom>
              <a:solidFill>
                <a:srgbClr val="B2B2B2"/>
              </a:solidFill>
              <a:ln w="3175" cap="rnd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50" name="Freeform 82"/>
              <p:cNvSpPr>
                <a:spLocks/>
              </p:cNvSpPr>
              <p:nvPr/>
            </p:nvSpPr>
            <p:spPr bwMode="auto">
              <a:xfrm>
                <a:off x="2046" y="1382"/>
                <a:ext cx="452" cy="1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0" y="36"/>
                  </a:cxn>
                  <a:cxn ang="0">
                    <a:pos x="574" y="180"/>
                  </a:cxn>
                  <a:cxn ang="0">
                    <a:pos x="646" y="158"/>
                  </a:cxn>
                </a:cxnLst>
                <a:rect l="0" t="0" r="r" b="b"/>
                <a:pathLst>
                  <a:path w="646" h="180">
                    <a:moveTo>
                      <a:pt x="0" y="0"/>
                    </a:moveTo>
                    <a:lnTo>
                      <a:pt x="20" y="36"/>
                    </a:lnTo>
                    <a:lnTo>
                      <a:pt x="574" y="180"/>
                    </a:lnTo>
                    <a:lnTo>
                      <a:pt x="646" y="158"/>
                    </a:lnTo>
                  </a:path>
                </a:pathLst>
              </a:custGeom>
              <a:solidFill>
                <a:srgbClr val="B2B2B2"/>
              </a:soli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51" name="Freeform 83"/>
              <p:cNvSpPr>
                <a:spLocks noChangeAspect="1"/>
              </p:cNvSpPr>
              <p:nvPr/>
            </p:nvSpPr>
            <p:spPr bwMode="auto">
              <a:xfrm>
                <a:off x="2154" y="885"/>
                <a:ext cx="564" cy="520"/>
              </a:xfrm>
              <a:custGeom>
                <a:avLst/>
                <a:gdLst/>
                <a:ahLst/>
                <a:cxnLst>
                  <a:cxn ang="0">
                    <a:pos x="620" y="746"/>
                  </a:cxn>
                  <a:cxn ang="0">
                    <a:pos x="808" y="525"/>
                  </a:cxn>
                  <a:cxn ang="0">
                    <a:pos x="808" y="106"/>
                  </a:cxn>
                  <a:cxn ang="0">
                    <a:pos x="336" y="0"/>
                  </a:cxn>
                  <a:cxn ang="0">
                    <a:pos x="0" y="48"/>
                  </a:cxn>
                </a:cxnLst>
                <a:rect l="0" t="0" r="r" b="b"/>
                <a:pathLst>
                  <a:path w="808" h="746">
                    <a:moveTo>
                      <a:pt x="620" y="746"/>
                    </a:moveTo>
                    <a:lnTo>
                      <a:pt x="808" y="525"/>
                    </a:lnTo>
                    <a:lnTo>
                      <a:pt x="808" y="106"/>
                    </a:lnTo>
                    <a:lnTo>
                      <a:pt x="336" y="0"/>
                    </a:lnTo>
                    <a:lnTo>
                      <a:pt x="0" y="48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52" name="Freeform 84"/>
              <p:cNvSpPr>
                <a:spLocks noChangeAspect="1"/>
              </p:cNvSpPr>
              <p:nvPr/>
            </p:nvSpPr>
            <p:spPr bwMode="auto">
              <a:xfrm>
                <a:off x="2506" y="1000"/>
                <a:ext cx="113" cy="506"/>
              </a:xfrm>
              <a:custGeom>
                <a:avLst/>
                <a:gdLst/>
                <a:ahLst/>
                <a:cxnLst>
                  <a:cxn ang="0">
                    <a:pos x="0" y="644"/>
                  </a:cxn>
                  <a:cxn ang="0">
                    <a:pos x="0" y="79"/>
                  </a:cxn>
                  <a:cxn ang="0">
                    <a:pos x="144" y="0"/>
                  </a:cxn>
                  <a:cxn ang="0">
                    <a:pos x="144" y="554"/>
                  </a:cxn>
                  <a:cxn ang="0">
                    <a:pos x="0" y="644"/>
                  </a:cxn>
                </a:cxnLst>
                <a:rect l="0" t="0" r="r" b="b"/>
                <a:pathLst>
                  <a:path w="144" h="644">
                    <a:moveTo>
                      <a:pt x="0" y="644"/>
                    </a:moveTo>
                    <a:lnTo>
                      <a:pt x="0" y="79"/>
                    </a:lnTo>
                    <a:lnTo>
                      <a:pt x="144" y="0"/>
                    </a:lnTo>
                    <a:lnTo>
                      <a:pt x="144" y="554"/>
                    </a:lnTo>
                    <a:lnTo>
                      <a:pt x="0" y="644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53" name="Freeform 85"/>
              <p:cNvSpPr>
                <a:spLocks noChangeAspect="1"/>
              </p:cNvSpPr>
              <p:nvPr/>
            </p:nvSpPr>
            <p:spPr bwMode="auto">
              <a:xfrm>
                <a:off x="2004" y="891"/>
                <a:ext cx="615" cy="172"/>
              </a:xfrm>
              <a:custGeom>
                <a:avLst/>
                <a:gdLst/>
                <a:ahLst/>
                <a:cxnLst>
                  <a:cxn ang="0">
                    <a:pos x="638" y="219"/>
                  </a:cxn>
                  <a:cxn ang="0">
                    <a:pos x="0" y="67"/>
                  </a:cxn>
                  <a:cxn ang="0">
                    <a:pos x="160" y="0"/>
                  </a:cxn>
                  <a:cxn ang="0">
                    <a:pos x="782" y="139"/>
                  </a:cxn>
                  <a:cxn ang="0">
                    <a:pos x="638" y="219"/>
                  </a:cxn>
                </a:cxnLst>
                <a:rect l="0" t="0" r="r" b="b"/>
                <a:pathLst>
                  <a:path w="782" h="219">
                    <a:moveTo>
                      <a:pt x="638" y="219"/>
                    </a:moveTo>
                    <a:lnTo>
                      <a:pt x="0" y="67"/>
                    </a:lnTo>
                    <a:lnTo>
                      <a:pt x="160" y="0"/>
                    </a:lnTo>
                    <a:lnTo>
                      <a:pt x="782" y="139"/>
                    </a:lnTo>
                    <a:lnTo>
                      <a:pt x="638" y="219"/>
                    </a:lnTo>
                  </a:path>
                </a:pathLst>
              </a:custGeom>
              <a:solidFill>
                <a:schemeClr val="bg1"/>
              </a:soli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54" name="Freeform 86"/>
              <p:cNvSpPr>
                <a:spLocks noChangeAspect="1"/>
              </p:cNvSpPr>
              <p:nvPr/>
            </p:nvSpPr>
            <p:spPr bwMode="auto">
              <a:xfrm>
                <a:off x="2004" y="942"/>
                <a:ext cx="502" cy="566"/>
              </a:xfrm>
              <a:custGeom>
                <a:avLst/>
                <a:gdLst/>
                <a:ahLst/>
                <a:cxnLst>
                  <a:cxn ang="0">
                    <a:pos x="671" y="753"/>
                  </a:cxn>
                  <a:cxn ang="0">
                    <a:pos x="671" y="160"/>
                  </a:cxn>
                  <a:cxn ang="0">
                    <a:pos x="0" y="0"/>
                  </a:cxn>
                  <a:cxn ang="0">
                    <a:pos x="0" y="578"/>
                  </a:cxn>
                  <a:cxn ang="0">
                    <a:pos x="671" y="753"/>
                  </a:cxn>
                </a:cxnLst>
                <a:rect l="0" t="0" r="r" b="b"/>
                <a:pathLst>
                  <a:path w="672" h="754">
                    <a:moveTo>
                      <a:pt x="671" y="753"/>
                    </a:moveTo>
                    <a:lnTo>
                      <a:pt x="671" y="160"/>
                    </a:lnTo>
                    <a:lnTo>
                      <a:pt x="0" y="0"/>
                    </a:lnTo>
                    <a:lnTo>
                      <a:pt x="0" y="578"/>
                    </a:lnTo>
                    <a:lnTo>
                      <a:pt x="671" y="753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55" name="Freeform 87"/>
              <p:cNvSpPr>
                <a:spLocks noChangeAspect="1"/>
              </p:cNvSpPr>
              <p:nvPr/>
            </p:nvSpPr>
            <p:spPr bwMode="auto">
              <a:xfrm>
                <a:off x="2043" y="992"/>
                <a:ext cx="425" cy="464"/>
              </a:xfrm>
              <a:custGeom>
                <a:avLst/>
                <a:gdLst/>
                <a:ahLst/>
                <a:cxnLst>
                  <a:cxn ang="0">
                    <a:pos x="490" y="548"/>
                  </a:cxn>
                  <a:cxn ang="0">
                    <a:pos x="490" y="117"/>
                  </a:cxn>
                  <a:cxn ang="0">
                    <a:pos x="0" y="0"/>
                  </a:cxn>
                  <a:cxn ang="0">
                    <a:pos x="0" y="424"/>
                  </a:cxn>
                  <a:cxn ang="0">
                    <a:pos x="490" y="548"/>
                  </a:cxn>
                </a:cxnLst>
                <a:rect l="0" t="0" r="r" b="b"/>
                <a:pathLst>
                  <a:path w="491" h="549">
                    <a:moveTo>
                      <a:pt x="490" y="548"/>
                    </a:moveTo>
                    <a:lnTo>
                      <a:pt x="490" y="117"/>
                    </a:lnTo>
                    <a:lnTo>
                      <a:pt x="0" y="0"/>
                    </a:lnTo>
                    <a:lnTo>
                      <a:pt x="0" y="424"/>
                    </a:lnTo>
                    <a:lnTo>
                      <a:pt x="490" y="548"/>
                    </a:lnTo>
                  </a:path>
                </a:pathLst>
              </a:custGeom>
              <a:solidFill>
                <a:srgbClr val="CECECE"/>
              </a:solidFill>
              <a:ln w="6350" cap="rnd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56" name="Freeform 88"/>
              <p:cNvSpPr>
                <a:spLocks/>
              </p:cNvSpPr>
              <p:nvPr/>
            </p:nvSpPr>
            <p:spPr bwMode="auto">
              <a:xfrm>
                <a:off x="2069" y="1023"/>
                <a:ext cx="372" cy="4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54"/>
                  </a:cxn>
                  <a:cxn ang="0">
                    <a:pos x="542" y="592"/>
                  </a:cxn>
                  <a:cxn ang="0">
                    <a:pos x="542" y="130"/>
                  </a:cxn>
                  <a:cxn ang="0">
                    <a:pos x="0" y="0"/>
                  </a:cxn>
                </a:cxnLst>
                <a:rect l="0" t="0" r="r" b="b"/>
                <a:pathLst>
                  <a:path w="542" h="592">
                    <a:moveTo>
                      <a:pt x="0" y="0"/>
                    </a:moveTo>
                    <a:lnTo>
                      <a:pt x="0" y="454"/>
                    </a:lnTo>
                    <a:lnTo>
                      <a:pt x="542" y="592"/>
                    </a:lnTo>
                    <a:lnTo>
                      <a:pt x="542" y="13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18FFD"/>
                  </a:gs>
                  <a:gs pos="100000">
                    <a:srgbClr val="618FFD">
                      <a:gamma/>
                      <a:shade val="75294"/>
                      <a:invGamma/>
                    </a:srgbClr>
                  </a:gs>
                </a:gsLst>
                <a:path path="rect">
                  <a:fillToRect r="100000" b="100000"/>
                </a:path>
              </a:gradFill>
              <a:ln w="6350" cap="flat" cmpd="sng">
                <a:solidFill>
                  <a:srgbClr val="777777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60857" name="Line 89"/>
              <p:cNvSpPr>
                <a:spLocks noChangeShapeType="1"/>
              </p:cNvSpPr>
              <p:nvPr/>
            </p:nvSpPr>
            <p:spPr bwMode="auto">
              <a:xfrm>
                <a:off x="2102" y="1056"/>
                <a:ext cx="0" cy="6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160858" name="Group 90"/>
          <p:cNvGrpSpPr>
            <a:grpSpLocks/>
          </p:cNvGrpSpPr>
          <p:nvPr/>
        </p:nvGrpSpPr>
        <p:grpSpPr bwMode="auto">
          <a:xfrm>
            <a:off x="4925552" y="5437859"/>
            <a:ext cx="1189037" cy="1206500"/>
            <a:chOff x="2967" y="2733"/>
            <a:chExt cx="789" cy="870"/>
          </a:xfrm>
        </p:grpSpPr>
        <p:grpSp>
          <p:nvGrpSpPr>
            <p:cNvPr id="160859" name="Group 91"/>
            <p:cNvGrpSpPr>
              <a:grpSpLocks/>
            </p:cNvGrpSpPr>
            <p:nvPr/>
          </p:nvGrpSpPr>
          <p:grpSpPr bwMode="auto">
            <a:xfrm>
              <a:off x="2967" y="3191"/>
              <a:ext cx="763" cy="412"/>
              <a:chOff x="1929" y="1343"/>
              <a:chExt cx="763" cy="412"/>
            </a:xfrm>
          </p:grpSpPr>
          <p:sp>
            <p:nvSpPr>
              <p:cNvPr id="160860" name="Freeform 92"/>
              <p:cNvSpPr>
                <a:spLocks noChangeAspect="1"/>
              </p:cNvSpPr>
              <p:nvPr/>
            </p:nvSpPr>
            <p:spPr bwMode="auto">
              <a:xfrm>
                <a:off x="2428" y="1450"/>
                <a:ext cx="263" cy="305"/>
              </a:xfrm>
              <a:custGeom>
                <a:avLst/>
                <a:gdLst/>
                <a:ahLst/>
                <a:cxnLst>
                  <a:cxn ang="0">
                    <a:pos x="3" y="212"/>
                  </a:cxn>
                  <a:cxn ang="0">
                    <a:pos x="364" y="0"/>
                  </a:cxn>
                  <a:cxn ang="0">
                    <a:pos x="364" y="180"/>
                  </a:cxn>
                  <a:cxn ang="0">
                    <a:pos x="0" y="422"/>
                  </a:cxn>
                </a:cxnLst>
                <a:rect l="0" t="0" r="r" b="b"/>
                <a:pathLst>
                  <a:path w="364" h="422">
                    <a:moveTo>
                      <a:pt x="3" y="212"/>
                    </a:moveTo>
                    <a:lnTo>
                      <a:pt x="364" y="0"/>
                    </a:lnTo>
                    <a:lnTo>
                      <a:pt x="364" y="180"/>
                    </a:lnTo>
                    <a:lnTo>
                      <a:pt x="0" y="422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61" name="Freeform 93"/>
              <p:cNvSpPr>
                <a:spLocks noChangeAspect="1"/>
              </p:cNvSpPr>
              <p:nvPr/>
            </p:nvSpPr>
            <p:spPr bwMode="auto">
              <a:xfrm>
                <a:off x="1929" y="1343"/>
                <a:ext cx="763" cy="264"/>
              </a:xfrm>
              <a:custGeom>
                <a:avLst/>
                <a:gdLst/>
                <a:ahLst/>
                <a:cxnLst>
                  <a:cxn ang="0">
                    <a:pos x="715" y="376"/>
                  </a:cxn>
                  <a:cxn ang="0">
                    <a:pos x="0" y="187"/>
                  </a:cxn>
                  <a:cxn ang="0">
                    <a:pos x="397" y="0"/>
                  </a:cxn>
                  <a:cxn ang="0">
                    <a:pos x="1090" y="152"/>
                  </a:cxn>
                  <a:cxn ang="0">
                    <a:pos x="715" y="376"/>
                  </a:cxn>
                </a:cxnLst>
                <a:rect l="0" t="0" r="r" b="b"/>
                <a:pathLst>
                  <a:path w="1091" h="377">
                    <a:moveTo>
                      <a:pt x="715" y="376"/>
                    </a:moveTo>
                    <a:lnTo>
                      <a:pt x="0" y="187"/>
                    </a:lnTo>
                    <a:lnTo>
                      <a:pt x="397" y="0"/>
                    </a:lnTo>
                    <a:lnTo>
                      <a:pt x="1090" y="152"/>
                    </a:lnTo>
                    <a:lnTo>
                      <a:pt x="715" y="376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62" name="Freeform 94"/>
              <p:cNvSpPr>
                <a:spLocks noChangeAspect="1"/>
              </p:cNvSpPr>
              <p:nvPr/>
            </p:nvSpPr>
            <p:spPr bwMode="auto">
              <a:xfrm>
                <a:off x="1929" y="1473"/>
                <a:ext cx="499" cy="282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0" y="192"/>
                  </a:cxn>
                  <a:cxn ang="0">
                    <a:pos x="690" y="390"/>
                  </a:cxn>
                  <a:cxn ang="0">
                    <a:pos x="690" y="185"/>
                  </a:cxn>
                  <a:cxn ang="0">
                    <a:pos x="4" y="0"/>
                  </a:cxn>
                </a:cxnLst>
                <a:rect l="0" t="0" r="r" b="b"/>
                <a:pathLst>
                  <a:path w="690" h="390">
                    <a:moveTo>
                      <a:pt x="0" y="5"/>
                    </a:moveTo>
                    <a:lnTo>
                      <a:pt x="0" y="192"/>
                    </a:lnTo>
                    <a:lnTo>
                      <a:pt x="690" y="390"/>
                    </a:lnTo>
                    <a:lnTo>
                      <a:pt x="690" y="185"/>
                    </a:lnTo>
                    <a:lnTo>
                      <a:pt x="4" y="0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63" name="Freeform 95"/>
              <p:cNvSpPr>
                <a:spLocks noChangeAspect="1"/>
              </p:cNvSpPr>
              <p:nvPr/>
            </p:nvSpPr>
            <p:spPr bwMode="auto">
              <a:xfrm>
                <a:off x="2190" y="1573"/>
                <a:ext cx="196" cy="13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71" y="73"/>
                  </a:cxn>
                  <a:cxn ang="0">
                    <a:pos x="271" y="189"/>
                  </a:cxn>
                  <a:cxn ang="0">
                    <a:pos x="0" y="115"/>
                  </a:cxn>
                  <a:cxn ang="0">
                    <a:pos x="0" y="0"/>
                  </a:cxn>
                </a:cxnLst>
                <a:rect l="0" t="0" r="r" b="b"/>
                <a:pathLst>
                  <a:path w="271" h="189">
                    <a:moveTo>
                      <a:pt x="0" y="0"/>
                    </a:moveTo>
                    <a:lnTo>
                      <a:pt x="271" y="73"/>
                    </a:lnTo>
                    <a:lnTo>
                      <a:pt x="271" y="189"/>
                    </a:lnTo>
                    <a:lnTo>
                      <a:pt x="0" y="115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41176"/>
                      <a:invGamma/>
                    </a:srgbClr>
                  </a:gs>
                </a:gsLst>
                <a:lin ang="2700000" scaled="1"/>
              </a:gradFill>
              <a:ln w="63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64" name="Freeform 96"/>
              <p:cNvSpPr>
                <a:spLocks noChangeAspect="1" noChangeArrowheads="1"/>
              </p:cNvSpPr>
              <p:nvPr/>
            </p:nvSpPr>
            <p:spPr bwMode="auto">
              <a:xfrm>
                <a:off x="2194" y="1624"/>
                <a:ext cx="189" cy="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61" y="69"/>
                  </a:cxn>
                </a:cxnLst>
                <a:rect l="0" t="0" r="r" b="b"/>
                <a:pathLst>
                  <a:path w="261" h="69">
                    <a:moveTo>
                      <a:pt x="0" y="0"/>
                    </a:moveTo>
                    <a:lnTo>
                      <a:pt x="261" y="69"/>
                    </a:lnTo>
                  </a:path>
                </a:pathLst>
              </a:custGeom>
              <a:noFill/>
              <a:ln w="3175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60865" name="Freeform 97"/>
              <p:cNvSpPr>
                <a:spLocks/>
              </p:cNvSpPr>
              <p:nvPr/>
            </p:nvSpPr>
            <p:spPr bwMode="auto">
              <a:xfrm>
                <a:off x="2190" y="1572"/>
                <a:ext cx="195" cy="84"/>
              </a:xfrm>
              <a:custGeom>
                <a:avLst/>
                <a:gdLst/>
                <a:ahLst/>
                <a:cxnLst>
                  <a:cxn ang="0">
                    <a:pos x="0" y="84"/>
                  </a:cxn>
                  <a:cxn ang="0">
                    <a:pos x="0" y="0"/>
                  </a:cxn>
                  <a:cxn ang="0">
                    <a:pos x="195" y="54"/>
                  </a:cxn>
                </a:cxnLst>
                <a:rect l="0" t="0" r="r" b="b"/>
                <a:pathLst>
                  <a:path w="195" h="84">
                    <a:moveTo>
                      <a:pt x="0" y="84"/>
                    </a:moveTo>
                    <a:lnTo>
                      <a:pt x="0" y="0"/>
                    </a:lnTo>
                    <a:lnTo>
                      <a:pt x="195" y="54"/>
                    </a:lnTo>
                  </a:path>
                </a:pathLst>
              </a:custGeom>
              <a:noFill/>
              <a:ln w="6350" cap="flat" cmpd="sng">
                <a:solidFill>
                  <a:srgbClr val="777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66" name="Line 98"/>
              <p:cNvSpPr>
                <a:spLocks noChangeShapeType="1"/>
              </p:cNvSpPr>
              <p:nvPr/>
            </p:nvSpPr>
            <p:spPr bwMode="auto">
              <a:xfrm>
                <a:off x="2207" y="1600"/>
                <a:ext cx="153" cy="38"/>
              </a:xfrm>
              <a:prstGeom prst="line">
                <a:avLst/>
              </a:prstGeom>
              <a:noFill/>
              <a:ln w="3175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67" name="Line 99"/>
              <p:cNvSpPr>
                <a:spLocks noChangeShapeType="1"/>
              </p:cNvSpPr>
              <p:nvPr/>
            </p:nvSpPr>
            <p:spPr bwMode="auto">
              <a:xfrm>
                <a:off x="2337" y="1678"/>
                <a:ext cx="29" cy="6"/>
              </a:xfrm>
              <a:prstGeom prst="line">
                <a:avLst/>
              </a:prstGeom>
              <a:noFill/>
              <a:ln w="19050">
                <a:solidFill>
                  <a:srgbClr val="D60093"/>
                </a:solidFill>
                <a:round/>
                <a:headEnd/>
                <a:tailEnd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68" name="Freeform 100"/>
              <p:cNvSpPr>
                <a:spLocks/>
              </p:cNvSpPr>
              <p:nvPr/>
            </p:nvSpPr>
            <p:spPr bwMode="auto">
              <a:xfrm>
                <a:off x="2255" y="1610"/>
                <a:ext cx="47" cy="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18"/>
                  </a:cxn>
                  <a:cxn ang="0">
                    <a:pos x="64" y="35"/>
                  </a:cxn>
                  <a:cxn ang="0">
                    <a:pos x="64" y="19"/>
                  </a:cxn>
                  <a:cxn ang="0">
                    <a:pos x="0" y="0"/>
                  </a:cxn>
                </a:cxnLst>
                <a:rect l="0" t="0" r="r" b="b"/>
                <a:pathLst>
                  <a:path w="64" h="35">
                    <a:moveTo>
                      <a:pt x="0" y="0"/>
                    </a:moveTo>
                    <a:lnTo>
                      <a:pt x="1" y="18"/>
                    </a:lnTo>
                    <a:lnTo>
                      <a:pt x="64" y="35"/>
                    </a:lnTo>
                    <a:lnTo>
                      <a:pt x="64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77777"/>
              </a:solidFill>
              <a:ln w="190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69" name="Line 101"/>
              <p:cNvSpPr>
                <a:spLocks noChangeShapeType="1"/>
              </p:cNvSpPr>
              <p:nvPr/>
            </p:nvSpPr>
            <p:spPr bwMode="auto">
              <a:xfrm>
                <a:off x="1942" y="1503"/>
                <a:ext cx="202" cy="57"/>
              </a:xfrm>
              <a:prstGeom prst="line">
                <a:avLst/>
              </a:prstGeom>
              <a:noFill/>
              <a:ln w="6350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70" name="Line 102"/>
              <p:cNvSpPr>
                <a:spLocks noChangeShapeType="1"/>
              </p:cNvSpPr>
              <p:nvPr/>
            </p:nvSpPr>
            <p:spPr bwMode="auto">
              <a:xfrm>
                <a:off x="1942" y="1525"/>
                <a:ext cx="202" cy="56"/>
              </a:xfrm>
              <a:prstGeom prst="line">
                <a:avLst/>
              </a:prstGeom>
              <a:noFill/>
              <a:ln w="6350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71" name="Line 103"/>
              <p:cNvSpPr>
                <a:spLocks noChangeShapeType="1"/>
              </p:cNvSpPr>
              <p:nvPr/>
            </p:nvSpPr>
            <p:spPr bwMode="auto">
              <a:xfrm>
                <a:off x="1942" y="1548"/>
                <a:ext cx="202" cy="57"/>
              </a:xfrm>
              <a:prstGeom prst="line">
                <a:avLst/>
              </a:prstGeom>
              <a:noFill/>
              <a:ln w="6350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72" name="Line 104"/>
              <p:cNvSpPr>
                <a:spLocks noChangeShapeType="1"/>
              </p:cNvSpPr>
              <p:nvPr/>
            </p:nvSpPr>
            <p:spPr bwMode="auto">
              <a:xfrm>
                <a:off x="1942" y="1570"/>
                <a:ext cx="202" cy="56"/>
              </a:xfrm>
              <a:prstGeom prst="line">
                <a:avLst/>
              </a:prstGeom>
              <a:noFill/>
              <a:ln w="6350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60873" name="Freeform 105"/>
              <p:cNvSpPr>
                <a:spLocks/>
              </p:cNvSpPr>
              <p:nvPr/>
            </p:nvSpPr>
            <p:spPr bwMode="auto">
              <a:xfrm>
                <a:off x="2192" y="1632"/>
                <a:ext cx="198" cy="84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275" y="117"/>
                  </a:cxn>
                  <a:cxn ang="0">
                    <a:pos x="275" y="0"/>
                  </a:cxn>
                </a:cxnLst>
                <a:rect l="0" t="0" r="r" b="b"/>
                <a:pathLst>
                  <a:path w="275" h="117">
                    <a:moveTo>
                      <a:pt x="0" y="40"/>
                    </a:moveTo>
                    <a:lnTo>
                      <a:pt x="275" y="117"/>
                    </a:lnTo>
                    <a:lnTo>
                      <a:pt x="275" y="0"/>
                    </a:lnTo>
                  </a:path>
                </a:pathLst>
              </a:custGeom>
              <a:no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</p:grpSp>
        <p:grpSp>
          <p:nvGrpSpPr>
            <p:cNvPr id="160874" name="Group 106"/>
            <p:cNvGrpSpPr>
              <a:grpSpLocks/>
            </p:cNvGrpSpPr>
            <p:nvPr/>
          </p:nvGrpSpPr>
          <p:grpSpPr bwMode="auto">
            <a:xfrm>
              <a:off x="3042" y="2733"/>
              <a:ext cx="714" cy="672"/>
              <a:chOff x="2004" y="885"/>
              <a:chExt cx="714" cy="672"/>
            </a:xfrm>
          </p:grpSpPr>
          <p:sp>
            <p:nvSpPr>
              <p:cNvPr id="160875" name="Freeform 107"/>
              <p:cNvSpPr>
                <a:spLocks/>
              </p:cNvSpPr>
              <p:nvPr/>
            </p:nvSpPr>
            <p:spPr bwMode="auto">
              <a:xfrm>
                <a:off x="2058" y="1322"/>
                <a:ext cx="556" cy="235"/>
              </a:xfrm>
              <a:custGeom>
                <a:avLst/>
                <a:gdLst/>
                <a:ahLst/>
                <a:cxnLst>
                  <a:cxn ang="0">
                    <a:pos x="0" y="128"/>
                  </a:cxn>
                  <a:cxn ang="0">
                    <a:pos x="238" y="0"/>
                  </a:cxn>
                  <a:cxn ang="0">
                    <a:pos x="556" y="91"/>
                  </a:cxn>
                  <a:cxn ang="0">
                    <a:pos x="556" y="108"/>
                  </a:cxn>
                  <a:cxn ang="0">
                    <a:pos x="334" y="235"/>
                  </a:cxn>
                  <a:cxn ang="0">
                    <a:pos x="0" y="148"/>
                  </a:cxn>
                  <a:cxn ang="0">
                    <a:pos x="0" y="128"/>
                  </a:cxn>
                </a:cxnLst>
                <a:rect l="0" t="0" r="r" b="b"/>
                <a:pathLst>
                  <a:path w="556" h="235">
                    <a:moveTo>
                      <a:pt x="0" y="128"/>
                    </a:moveTo>
                    <a:lnTo>
                      <a:pt x="238" y="0"/>
                    </a:lnTo>
                    <a:lnTo>
                      <a:pt x="556" y="91"/>
                    </a:lnTo>
                    <a:lnTo>
                      <a:pt x="556" y="108"/>
                    </a:lnTo>
                    <a:lnTo>
                      <a:pt x="334" y="235"/>
                    </a:lnTo>
                    <a:lnTo>
                      <a:pt x="0" y="148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DDDDDD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76" name="Freeform 108"/>
              <p:cNvSpPr>
                <a:spLocks/>
              </p:cNvSpPr>
              <p:nvPr/>
            </p:nvSpPr>
            <p:spPr bwMode="auto">
              <a:xfrm>
                <a:off x="2065" y="1327"/>
                <a:ext cx="538" cy="208"/>
              </a:xfrm>
              <a:custGeom>
                <a:avLst/>
                <a:gdLst/>
                <a:ahLst/>
                <a:cxnLst>
                  <a:cxn ang="0">
                    <a:pos x="0" y="124"/>
                  </a:cxn>
                  <a:cxn ang="0">
                    <a:pos x="327" y="208"/>
                  </a:cxn>
                  <a:cxn ang="0">
                    <a:pos x="538" y="86"/>
                  </a:cxn>
                  <a:cxn ang="0">
                    <a:pos x="233" y="0"/>
                  </a:cxn>
                  <a:cxn ang="0">
                    <a:pos x="0" y="124"/>
                  </a:cxn>
                </a:cxnLst>
                <a:rect l="0" t="0" r="r" b="b"/>
                <a:pathLst>
                  <a:path w="538" h="208">
                    <a:moveTo>
                      <a:pt x="0" y="124"/>
                    </a:moveTo>
                    <a:lnTo>
                      <a:pt x="327" y="208"/>
                    </a:lnTo>
                    <a:lnTo>
                      <a:pt x="538" y="86"/>
                    </a:lnTo>
                    <a:lnTo>
                      <a:pt x="233" y="0"/>
                    </a:lnTo>
                    <a:lnTo>
                      <a:pt x="0" y="124"/>
                    </a:lnTo>
                    <a:close/>
                  </a:path>
                </a:pathLst>
              </a:custGeom>
              <a:solidFill>
                <a:srgbClr val="B2B2B2"/>
              </a:solidFill>
              <a:ln w="63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77" name="Oval 109"/>
              <p:cNvSpPr>
                <a:spLocks noChangeArrowheads="1"/>
              </p:cNvSpPr>
              <p:nvPr/>
            </p:nvSpPr>
            <p:spPr bwMode="auto">
              <a:xfrm>
                <a:off x="2199" y="1378"/>
                <a:ext cx="280" cy="112"/>
              </a:xfrm>
              <a:prstGeom prst="ellipse">
                <a:avLst/>
              </a:prstGeom>
              <a:solidFill>
                <a:srgbClr val="B2B2B2"/>
              </a:solidFill>
              <a:ln w="3175" cap="rnd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78" name="Freeform 110"/>
              <p:cNvSpPr>
                <a:spLocks/>
              </p:cNvSpPr>
              <p:nvPr/>
            </p:nvSpPr>
            <p:spPr bwMode="auto">
              <a:xfrm>
                <a:off x="2046" y="1382"/>
                <a:ext cx="452" cy="1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0" y="36"/>
                  </a:cxn>
                  <a:cxn ang="0">
                    <a:pos x="574" y="180"/>
                  </a:cxn>
                  <a:cxn ang="0">
                    <a:pos x="646" y="158"/>
                  </a:cxn>
                </a:cxnLst>
                <a:rect l="0" t="0" r="r" b="b"/>
                <a:pathLst>
                  <a:path w="646" h="180">
                    <a:moveTo>
                      <a:pt x="0" y="0"/>
                    </a:moveTo>
                    <a:lnTo>
                      <a:pt x="20" y="36"/>
                    </a:lnTo>
                    <a:lnTo>
                      <a:pt x="574" y="180"/>
                    </a:lnTo>
                    <a:lnTo>
                      <a:pt x="646" y="158"/>
                    </a:lnTo>
                  </a:path>
                </a:pathLst>
              </a:custGeom>
              <a:solidFill>
                <a:srgbClr val="B2B2B2"/>
              </a:soli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79" name="Freeform 111"/>
              <p:cNvSpPr>
                <a:spLocks noChangeAspect="1"/>
              </p:cNvSpPr>
              <p:nvPr/>
            </p:nvSpPr>
            <p:spPr bwMode="auto">
              <a:xfrm>
                <a:off x="2154" y="885"/>
                <a:ext cx="564" cy="520"/>
              </a:xfrm>
              <a:custGeom>
                <a:avLst/>
                <a:gdLst/>
                <a:ahLst/>
                <a:cxnLst>
                  <a:cxn ang="0">
                    <a:pos x="620" y="746"/>
                  </a:cxn>
                  <a:cxn ang="0">
                    <a:pos x="808" y="525"/>
                  </a:cxn>
                  <a:cxn ang="0">
                    <a:pos x="808" y="106"/>
                  </a:cxn>
                  <a:cxn ang="0">
                    <a:pos x="336" y="0"/>
                  </a:cxn>
                  <a:cxn ang="0">
                    <a:pos x="0" y="48"/>
                  </a:cxn>
                </a:cxnLst>
                <a:rect l="0" t="0" r="r" b="b"/>
                <a:pathLst>
                  <a:path w="808" h="746">
                    <a:moveTo>
                      <a:pt x="620" y="746"/>
                    </a:moveTo>
                    <a:lnTo>
                      <a:pt x="808" y="525"/>
                    </a:lnTo>
                    <a:lnTo>
                      <a:pt x="808" y="106"/>
                    </a:lnTo>
                    <a:lnTo>
                      <a:pt x="336" y="0"/>
                    </a:lnTo>
                    <a:lnTo>
                      <a:pt x="0" y="48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80" name="Freeform 112"/>
              <p:cNvSpPr>
                <a:spLocks noChangeAspect="1"/>
              </p:cNvSpPr>
              <p:nvPr/>
            </p:nvSpPr>
            <p:spPr bwMode="auto">
              <a:xfrm>
                <a:off x="2506" y="1000"/>
                <a:ext cx="113" cy="506"/>
              </a:xfrm>
              <a:custGeom>
                <a:avLst/>
                <a:gdLst/>
                <a:ahLst/>
                <a:cxnLst>
                  <a:cxn ang="0">
                    <a:pos x="0" y="644"/>
                  </a:cxn>
                  <a:cxn ang="0">
                    <a:pos x="0" y="79"/>
                  </a:cxn>
                  <a:cxn ang="0">
                    <a:pos x="144" y="0"/>
                  </a:cxn>
                  <a:cxn ang="0">
                    <a:pos x="144" y="554"/>
                  </a:cxn>
                  <a:cxn ang="0">
                    <a:pos x="0" y="644"/>
                  </a:cxn>
                </a:cxnLst>
                <a:rect l="0" t="0" r="r" b="b"/>
                <a:pathLst>
                  <a:path w="144" h="644">
                    <a:moveTo>
                      <a:pt x="0" y="644"/>
                    </a:moveTo>
                    <a:lnTo>
                      <a:pt x="0" y="79"/>
                    </a:lnTo>
                    <a:lnTo>
                      <a:pt x="144" y="0"/>
                    </a:lnTo>
                    <a:lnTo>
                      <a:pt x="144" y="554"/>
                    </a:lnTo>
                    <a:lnTo>
                      <a:pt x="0" y="644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81" name="Freeform 113"/>
              <p:cNvSpPr>
                <a:spLocks noChangeAspect="1"/>
              </p:cNvSpPr>
              <p:nvPr/>
            </p:nvSpPr>
            <p:spPr bwMode="auto">
              <a:xfrm>
                <a:off x="2004" y="891"/>
                <a:ext cx="615" cy="172"/>
              </a:xfrm>
              <a:custGeom>
                <a:avLst/>
                <a:gdLst/>
                <a:ahLst/>
                <a:cxnLst>
                  <a:cxn ang="0">
                    <a:pos x="638" y="219"/>
                  </a:cxn>
                  <a:cxn ang="0">
                    <a:pos x="0" y="67"/>
                  </a:cxn>
                  <a:cxn ang="0">
                    <a:pos x="160" y="0"/>
                  </a:cxn>
                  <a:cxn ang="0">
                    <a:pos x="782" y="139"/>
                  </a:cxn>
                  <a:cxn ang="0">
                    <a:pos x="638" y="219"/>
                  </a:cxn>
                </a:cxnLst>
                <a:rect l="0" t="0" r="r" b="b"/>
                <a:pathLst>
                  <a:path w="782" h="219">
                    <a:moveTo>
                      <a:pt x="638" y="219"/>
                    </a:moveTo>
                    <a:lnTo>
                      <a:pt x="0" y="67"/>
                    </a:lnTo>
                    <a:lnTo>
                      <a:pt x="160" y="0"/>
                    </a:lnTo>
                    <a:lnTo>
                      <a:pt x="782" y="139"/>
                    </a:lnTo>
                    <a:lnTo>
                      <a:pt x="638" y="219"/>
                    </a:lnTo>
                  </a:path>
                </a:pathLst>
              </a:custGeom>
              <a:solidFill>
                <a:schemeClr val="bg1"/>
              </a:soli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82" name="Freeform 114"/>
              <p:cNvSpPr>
                <a:spLocks noChangeAspect="1"/>
              </p:cNvSpPr>
              <p:nvPr/>
            </p:nvSpPr>
            <p:spPr bwMode="auto">
              <a:xfrm>
                <a:off x="2004" y="942"/>
                <a:ext cx="502" cy="566"/>
              </a:xfrm>
              <a:custGeom>
                <a:avLst/>
                <a:gdLst/>
                <a:ahLst/>
                <a:cxnLst>
                  <a:cxn ang="0">
                    <a:pos x="671" y="753"/>
                  </a:cxn>
                  <a:cxn ang="0">
                    <a:pos x="671" y="160"/>
                  </a:cxn>
                  <a:cxn ang="0">
                    <a:pos x="0" y="0"/>
                  </a:cxn>
                  <a:cxn ang="0">
                    <a:pos x="0" y="578"/>
                  </a:cxn>
                  <a:cxn ang="0">
                    <a:pos x="671" y="753"/>
                  </a:cxn>
                </a:cxnLst>
                <a:rect l="0" t="0" r="r" b="b"/>
                <a:pathLst>
                  <a:path w="672" h="754">
                    <a:moveTo>
                      <a:pt x="671" y="753"/>
                    </a:moveTo>
                    <a:lnTo>
                      <a:pt x="671" y="160"/>
                    </a:lnTo>
                    <a:lnTo>
                      <a:pt x="0" y="0"/>
                    </a:lnTo>
                    <a:lnTo>
                      <a:pt x="0" y="578"/>
                    </a:lnTo>
                    <a:lnTo>
                      <a:pt x="671" y="753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B2B2B2">
                      <a:gamma/>
                      <a:tint val="34118"/>
                      <a:invGamma/>
                    </a:srgbClr>
                  </a:gs>
                </a:gsLst>
                <a:path path="rect">
                  <a:fillToRect l="100000" t="100000"/>
                </a:path>
              </a:gradFill>
              <a:ln w="317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83" name="Freeform 115"/>
              <p:cNvSpPr>
                <a:spLocks noChangeAspect="1"/>
              </p:cNvSpPr>
              <p:nvPr/>
            </p:nvSpPr>
            <p:spPr bwMode="auto">
              <a:xfrm>
                <a:off x="2043" y="992"/>
                <a:ext cx="425" cy="464"/>
              </a:xfrm>
              <a:custGeom>
                <a:avLst/>
                <a:gdLst/>
                <a:ahLst/>
                <a:cxnLst>
                  <a:cxn ang="0">
                    <a:pos x="490" y="548"/>
                  </a:cxn>
                  <a:cxn ang="0">
                    <a:pos x="490" y="117"/>
                  </a:cxn>
                  <a:cxn ang="0">
                    <a:pos x="0" y="0"/>
                  </a:cxn>
                  <a:cxn ang="0">
                    <a:pos x="0" y="424"/>
                  </a:cxn>
                  <a:cxn ang="0">
                    <a:pos x="490" y="548"/>
                  </a:cxn>
                </a:cxnLst>
                <a:rect l="0" t="0" r="r" b="b"/>
                <a:pathLst>
                  <a:path w="491" h="549">
                    <a:moveTo>
                      <a:pt x="490" y="548"/>
                    </a:moveTo>
                    <a:lnTo>
                      <a:pt x="490" y="117"/>
                    </a:lnTo>
                    <a:lnTo>
                      <a:pt x="0" y="0"/>
                    </a:lnTo>
                    <a:lnTo>
                      <a:pt x="0" y="424"/>
                    </a:lnTo>
                    <a:lnTo>
                      <a:pt x="490" y="548"/>
                    </a:lnTo>
                  </a:path>
                </a:pathLst>
              </a:custGeom>
              <a:solidFill>
                <a:srgbClr val="CECECE"/>
              </a:solidFill>
              <a:ln w="6350" cap="rnd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884" name="Freeform 116"/>
              <p:cNvSpPr>
                <a:spLocks/>
              </p:cNvSpPr>
              <p:nvPr/>
            </p:nvSpPr>
            <p:spPr bwMode="auto">
              <a:xfrm>
                <a:off x="2069" y="1023"/>
                <a:ext cx="372" cy="4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54"/>
                  </a:cxn>
                  <a:cxn ang="0">
                    <a:pos x="542" y="592"/>
                  </a:cxn>
                  <a:cxn ang="0">
                    <a:pos x="542" y="130"/>
                  </a:cxn>
                  <a:cxn ang="0">
                    <a:pos x="0" y="0"/>
                  </a:cxn>
                </a:cxnLst>
                <a:rect l="0" t="0" r="r" b="b"/>
                <a:pathLst>
                  <a:path w="542" h="592">
                    <a:moveTo>
                      <a:pt x="0" y="0"/>
                    </a:moveTo>
                    <a:lnTo>
                      <a:pt x="0" y="454"/>
                    </a:lnTo>
                    <a:lnTo>
                      <a:pt x="542" y="592"/>
                    </a:lnTo>
                    <a:lnTo>
                      <a:pt x="542" y="13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18FFD"/>
                  </a:gs>
                  <a:gs pos="100000">
                    <a:srgbClr val="618FFD">
                      <a:gamma/>
                      <a:shade val="75294"/>
                      <a:invGamma/>
                    </a:srgbClr>
                  </a:gs>
                </a:gsLst>
                <a:path path="rect">
                  <a:fillToRect r="100000" b="100000"/>
                </a:path>
              </a:gradFill>
              <a:ln w="6350" cap="flat" cmpd="sng">
                <a:solidFill>
                  <a:srgbClr val="777777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60885" name="Line 117"/>
              <p:cNvSpPr>
                <a:spLocks noChangeShapeType="1"/>
              </p:cNvSpPr>
              <p:nvPr/>
            </p:nvSpPr>
            <p:spPr bwMode="auto">
              <a:xfrm>
                <a:off x="2102" y="1056"/>
                <a:ext cx="0" cy="6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sp>
        <p:nvSpPr>
          <p:cNvPr id="160887" name="AutoShape 119"/>
          <p:cNvSpPr>
            <a:spLocks noChangeArrowheads="1"/>
          </p:cNvSpPr>
          <p:nvPr/>
        </p:nvSpPr>
        <p:spPr bwMode="auto">
          <a:xfrm>
            <a:off x="3484102" y="4974309"/>
            <a:ext cx="1087437" cy="504825"/>
          </a:xfrm>
          <a:prstGeom prst="flowChartMagneticDisk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SAM</a:t>
            </a:r>
          </a:p>
        </p:txBody>
      </p:sp>
      <p:sp>
        <p:nvSpPr>
          <p:cNvPr id="160888" name="Rectangle 120"/>
          <p:cNvSpPr>
            <a:spLocks noChangeArrowheads="1"/>
          </p:cNvSpPr>
          <p:nvPr/>
        </p:nvSpPr>
        <p:spPr bwMode="auto">
          <a:xfrm>
            <a:off x="3319002" y="4088484"/>
            <a:ext cx="1385887" cy="9636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/>
              <a:t>Utilisateur1</a:t>
            </a:r>
          </a:p>
          <a:p>
            <a:pPr algn="ctr"/>
            <a:r>
              <a:rPr lang="en-US" sz="1600"/>
              <a:t>Utilisateur2</a:t>
            </a:r>
          </a:p>
          <a:p>
            <a:pPr algn="ctr"/>
            <a:r>
              <a:rPr lang="en-US" sz="1600"/>
              <a:t>Utilisateur3</a:t>
            </a:r>
          </a:p>
        </p:txBody>
      </p:sp>
      <p:sp>
        <p:nvSpPr>
          <p:cNvPr id="160890" name="AutoShape 122"/>
          <p:cNvSpPr>
            <a:spLocks noChangeArrowheads="1"/>
          </p:cNvSpPr>
          <p:nvPr/>
        </p:nvSpPr>
        <p:spPr bwMode="auto">
          <a:xfrm>
            <a:off x="5801852" y="3551909"/>
            <a:ext cx="1087437" cy="504825"/>
          </a:xfrm>
          <a:prstGeom prst="flowChartMagneticDisk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SAM</a:t>
            </a:r>
          </a:p>
        </p:txBody>
      </p:sp>
      <p:sp>
        <p:nvSpPr>
          <p:cNvPr id="160891" name="Rectangle 123"/>
          <p:cNvSpPr>
            <a:spLocks noChangeArrowheads="1"/>
          </p:cNvSpPr>
          <p:nvPr/>
        </p:nvSpPr>
        <p:spPr bwMode="auto">
          <a:xfrm>
            <a:off x="5724064" y="2666084"/>
            <a:ext cx="1384300" cy="9636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/>
              <a:t>Utilisateur1</a:t>
            </a:r>
          </a:p>
          <a:p>
            <a:pPr algn="ctr"/>
            <a:r>
              <a:rPr lang="en-US" sz="1600"/>
              <a:t>Utilisateur2</a:t>
            </a:r>
          </a:p>
          <a:p>
            <a:pPr algn="ctr"/>
            <a:r>
              <a:rPr lang="en-US" sz="1600"/>
              <a:t>Utilisateur3</a:t>
            </a:r>
          </a:p>
        </p:txBody>
      </p:sp>
      <p:sp>
        <p:nvSpPr>
          <p:cNvPr id="160893" name="AutoShape 125"/>
          <p:cNvSpPr>
            <a:spLocks noChangeArrowheads="1"/>
          </p:cNvSpPr>
          <p:nvPr/>
        </p:nvSpPr>
        <p:spPr bwMode="auto">
          <a:xfrm>
            <a:off x="5801852" y="6307809"/>
            <a:ext cx="1087437" cy="504825"/>
          </a:xfrm>
          <a:prstGeom prst="flowChartMagneticDisk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SAM</a:t>
            </a:r>
          </a:p>
        </p:txBody>
      </p:sp>
      <p:sp>
        <p:nvSpPr>
          <p:cNvPr id="160894" name="Rectangle 126"/>
          <p:cNvSpPr>
            <a:spLocks noChangeArrowheads="1"/>
          </p:cNvSpPr>
          <p:nvPr/>
        </p:nvSpPr>
        <p:spPr bwMode="auto">
          <a:xfrm>
            <a:off x="5935202" y="5421984"/>
            <a:ext cx="1385887" cy="9636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/>
              <a:t>Utilisateur1</a:t>
            </a:r>
          </a:p>
          <a:p>
            <a:pPr algn="ctr"/>
            <a:r>
              <a:rPr lang="en-US" sz="1600"/>
              <a:t>Utilisateur2</a:t>
            </a:r>
          </a:p>
          <a:p>
            <a:pPr algn="ctr"/>
            <a:r>
              <a:rPr lang="en-US" sz="1600"/>
              <a:t>Utilisateur3</a:t>
            </a:r>
          </a:p>
        </p:txBody>
      </p:sp>
      <p:sp>
        <p:nvSpPr>
          <p:cNvPr id="160896" name="AutoShape 128"/>
          <p:cNvSpPr>
            <a:spLocks noChangeArrowheads="1"/>
          </p:cNvSpPr>
          <p:nvPr/>
        </p:nvSpPr>
        <p:spPr bwMode="auto">
          <a:xfrm>
            <a:off x="7821152" y="4974309"/>
            <a:ext cx="1087437" cy="504825"/>
          </a:xfrm>
          <a:prstGeom prst="flowChartMagneticDisk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SAM</a:t>
            </a:r>
          </a:p>
        </p:txBody>
      </p:sp>
      <p:sp>
        <p:nvSpPr>
          <p:cNvPr id="160897" name="Rectangle 129"/>
          <p:cNvSpPr>
            <a:spLocks noChangeArrowheads="1"/>
          </p:cNvSpPr>
          <p:nvPr/>
        </p:nvSpPr>
        <p:spPr bwMode="auto">
          <a:xfrm>
            <a:off x="7725902" y="4088484"/>
            <a:ext cx="1385887" cy="9636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/>
              <a:t>Utilisateur1</a:t>
            </a:r>
          </a:p>
          <a:p>
            <a:pPr algn="ctr"/>
            <a:r>
              <a:rPr lang="en-US" sz="1600"/>
              <a:t>Utilisateur2</a:t>
            </a:r>
          </a:p>
          <a:p>
            <a:pPr algn="ctr"/>
            <a:r>
              <a:rPr lang="en-US" sz="1600"/>
              <a:t>Utilisateur3</a:t>
            </a:r>
          </a:p>
        </p:txBody>
      </p:sp>
      <p:sp>
        <p:nvSpPr>
          <p:cNvPr id="160898" name="Rectangle 13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460375" indent="-460375">
              <a:buClr>
                <a:schemeClr val="accent2"/>
              </a:buClr>
            </a:pPr>
            <a:r>
              <a:rPr lang="en-US" dirty="0" smtClean="0">
                <a:solidFill>
                  <a:schemeClr val="tx1"/>
                </a:solidFill>
                <a:cs typeface="Times New Roman" pitchFamily="18" charset="0"/>
              </a:rPr>
              <a:t>2. </a:t>
            </a:r>
            <a:r>
              <a:rPr lang="en-US" dirty="0" err="1" smtClean="0">
                <a:solidFill>
                  <a:schemeClr val="tx1"/>
                </a:solidFill>
                <a:cs typeface="Times New Roman" pitchFamily="18" charset="0"/>
              </a:rPr>
              <a:t>Création</a:t>
            </a:r>
            <a:r>
              <a:rPr lang="en-US" dirty="0" smtClean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et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authentification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comptes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d'utilisateur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locaux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0899" name="Rectangle 131"/>
          <p:cNvSpPr>
            <a:spLocks noGrp="1" noChangeArrowheads="1"/>
          </p:cNvSpPr>
          <p:nvPr>
            <p:ph sz="quarter" idx="1"/>
          </p:nvPr>
        </p:nvSpPr>
        <p:spPr>
          <a:xfrm>
            <a:off x="0" y="1538737"/>
            <a:ext cx="9144000" cy="1131887"/>
          </a:xfrm>
        </p:spPr>
        <p:txBody>
          <a:bodyPr/>
          <a:lstStyle/>
          <a:p>
            <a:pPr>
              <a:buClr>
                <a:schemeClr val="accent2"/>
              </a:buClr>
            </a:pPr>
            <a:r>
              <a:rPr lang="fr-FR" dirty="0"/>
              <a:t>Création de comptes d'utilisateur locaux </a:t>
            </a:r>
            <a:endParaRPr lang="en-US" dirty="0"/>
          </a:p>
          <a:p>
            <a:pPr>
              <a:buClr>
                <a:schemeClr val="accent2"/>
              </a:buClr>
            </a:pPr>
            <a:r>
              <a:rPr lang="fr-FR" dirty="0"/>
              <a:t>Authentification des comptes d'utilisateur locaux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9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rmAutofit fontScale="90000"/>
          </a:bodyPr>
          <a:lstStyle/>
          <a:p>
            <a:r>
              <a:rPr lang="fr-FR" dirty="0" err="1">
                <a:solidFill>
                  <a:srgbClr val="C00000"/>
                </a:solidFill>
              </a:rPr>
              <a:t>Création de comptes d'utilisateur locaux</a:t>
            </a:r>
            <a:r>
              <a:rPr lang="en-US" dirty="0" err="1">
                <a:solidFill>
                  <a:srgbClr val="C00000"/>
                </a:solidFill>
              </a:rPr>
              <a:t> </a:t>
            </a:r>
          </a:p>
        </p:txBody>
      </p:sp>
      <p:pic>
        <p:nvPicPr>
          <p:cNvPr id="162824" name="Picture 8" descr="P2272bW09-07-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96584" y="1145619"/>
            <a:ext cx="6126615" cy="571238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rmAutofit fontScale="90000"/>
          </a:bodyPr>
          <a:lstStyle/>
          <a:p>
            <a:r>
              <a:rPr lang="fr-FR" b="1" dirty="0" err="1">
                <a:solidFill>
                  <a:srgbClr val="C00000"/>
                </a:solidFill>
              </a:rPr>
              <a:t>Authentification des comptes d'utilisateur locaux</a:t>
            </a:r>
            <a:r>
              <a:rPr lang="en-US" b="1" dirty="0" err="1">
                <a:solidFill>
                  <a:srgbClr val="C00000"/>
                </a:solidFill>
              </a:rPr>
              <a:t> </a:t>
            </a:r>
          </a:p>
        </p:txBody>
      </p:sp>
      <p:grpSp>
        <p:nvGrpSpPr>
          <p:cNvPr id="163843" name="Group 3"/>
          <p:cNvGrpSpPr>
            <a:grpSpLocks/>
          </p:cNvGrpSpPr>
          <p:nvPr/>
        </p:nvGrpSpPr>
        <p:grpSpPr bwMode="auto">
          <a:xfrm>
            <a:off x="101718" y="1338263"/>
            <a:ext cx="8969711" cy="5519737"/>
            <a:chOff x="134" y="843"/>
            <a:chExt cx="4953" cy="3477"/>
          </a:xfrm>
        </p:grpSpPr>
        <p:sp>
          <p:nvSpPr>
            <p:cNvPr id="163844" name="Rectangle 4"/>
            <p:cNvSpPr>
              <a:spLocks noChangeArrowheads="1"/>
            </p:cNvSpPr>
            <p:nvPr/>
          </p:nvSpPr>
          <p:spPr bwMode="auto">
            <a:xfrm>
              <a:off x="134" y="843"/>
              <a:ext cx="4953" cy="3477"/>
            </a:xfrm>
            <a:prstGeom prst="rect">
              <a:avLst/>
            </a:prstGeom>
            <a:gradFill rotWithShape="0">
              <a:gsLst>
                <a:gs pos="0">
                  <a:srgbClr val="FCFEBC"/>
                </a:gs>
                <a:gs pos="100000">
                  <a:srgbClr val="FFCC66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163845" name="Group 5"/>
            <p:cNvGrpSpPr>
              <a:grpSpLocks/>
            </p:cNvGrpSpPr>
            <p:nvPr/>
          </p:nvGrpSpPr>
          <p:grpSpPr bwMode="auto">
            <a:xfrm>
              <a:off x="231" y="942"/>
              <a:ext cx="1835" cy="1627"/>
              <a:chOff x="2222" y="2170"/>
              <a:chExt cx="1576" cy="1399"/>
            </a:xfrm>
          </p:grpSpPr>
          <p:sp>
            <p:nvSpPr>
              <p:cNvPr id="163846" name="Rectangle 6"/>
              <p:cNvSpPr>
                <a:spLocks noChangeArrowheads="1"/>
              </p:cNvSpPr>
              <p:nvPr/>
            </p:nvSpPr>
            <p:spPr bwMode="auto">
              <a:xfrm flipH="1">
                <a:off x="2222" y="2170"/>
                <a:ext cx="1576" cy="1399"/>
              </a:xfrm>
              <a:prstGeom prst="rect">
                <a:avLst/>
              </a:prstGeom>
              <a:gradFill rotWithShape="0">
                <a:gsLst>
                  <a:gs pos="0">
                    <a:srgbClr val="99CCFF">
                      <a:gamma/>
                      <a:tint val="4314"/>
                      <a:invGamma/>
                    </a:srgbClr>
                  </a:gs>
                  <a:gs pos="100000">
                    <a:srgbClr val="99CCFF"/>
                  </a:gs>
                </a:gsLst>
                <a:lin ang="5400000" scaled="1"/>
              </a:gradFill>
              <a:ln w="9525">
                <a:solidFill>
                  <a:srgbClr val="0033CC"/>
                </a:solidFill>
                <a:miter lim="800000"/>
                <a:headEnd/>
                <a:tailEnd/>
              </a:ln>
              <a:effectLst>
                <a:outerShdw dist="53882" dir="2700000" algn="ctr" rotWithShape="0">
                  <a:srgbClr val="C0C0C0"/>
                </a:outerShdw>
              </a:effectLst>
            </p:spPr>
            <p:txBody>
              <a:bodyPr tIns="27432" bIns="27432" anchor="ctr"/>
              <a:lstStyle/>
              <a:p>
                <a:endParaRPr lang="fr-FR"/>
              </a:p>
            </p:txBody>
          </p:sp>
          <p:grpSp>
            <p:nvGrpSpPr>
              <p:cNvPr id="163847" name="Group 7"/>
              <p:cNvGrpSpPr>
                <a:grpSpLocks/>
              </p:cNvGrpSpPr>
              <p:nvPr/>
            </p:nvGrpSpPr>
            <p:grpSpPr bwMode="auto">
              <a:xfrm>
                <a:off x="2675" y="2921"/>
                <a:ext cx="706" cy="296"/>
                <a:chOff x="1585" y="1673"/>
                <a:chExt cx="709" cy="297"/>
              </a:xfrm>
            </p:grpSpPr>
            <p:sp>
              <p:nvSpPr>
                <p:cNvPr id="163848" name="Freeform 8"/>
                <p:cNvSpPr>
                  <a:spLocks/>
                </p:cNvSpPr>
                <p:nvPr/>
              </p:nvSpPr>
              <p:spPr bwMode="auto">
                <a:xfrm>
                  <a:off x="1585" y="1673"/>
                  <a:ext cx="709" cy="297"/>
                </a:xfrm>
                <a:custGeom>
                  <a:avLst/>
                  <a:gdLst/>
                  <a:ahLst/>
                  <a:cxnLst>
                    <a:cxn ang="0">
                      <a:pos x="872" y="178"/>
                    </a:cxn>
                    <a:cxn ang="0">
                      <a:pos x="872" y="246"/>
                    </a:cxn>
                    <a:cxn ang="0">
                      <a:pos x="682" y="366"/>
                    </a:cxn>
                    <a:cxn ang="0">
                      <a:pos x="0" y="170"/>
                    </a:cxn>
                    <a:cxn ang="0">
                      <a:pos x="0" y="142"/>
                    </a:cxn>
                    <a:cxn ang="0">
                      <a:pos x="230" y="0"/>
                    </a:cxn>
                    <a:cxn ang="0">
                      <a:pos x="872" y="178"/>
                    </a:cxn>
                  </a:cxnLst>
                  <a:rect l="0" t="0" r="r" b="b"/>
                  <a:pathLst>
                    <a:path w="872" h="366">
                      <a:moveTo>
                        <a:pt x="872" y="178"/>
                      </a:moveTo>
                      <a:lnTo>
                        <a:pt x="872" y="246"/>
                      </a:lnTo>
                      <a:lnTo>
                        <a:pt x="682" y="366"/>
                      </a:lnTo>
                      <a:lnTo>
                        <a:pt x="0" y="170"/>
                      </a:lnTo>
                      <a:lnTo>
                        <a:pt x="0" y="142"/>
                      </a:lnTo>
                      <a:lnTo>
                        <a:pt x="230" y="0"/>
                      </a:lnTo>
                      <a:lnTo>
                        <a:pt x="872" y="17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63849" name="Freeform 9"/>
                <p:cNvSpPr>
                  <a:spLocks/>
                </p:cNvSpPr>
                <p:nvPr/>
              </p:nvSpPr>
              <p:spPr bwMode="auto">
                <a:xfrm>
                  <a:off x="1596" y="1679"/>
                  <a:ext cx="690" cy="264"/>
                </a:xfrm>
                <a:custGeom>
                  <a:avLst/>
                  <a:gdLst/>
                  <a:ahLst/>
                  <a:cxnLst>
                    <a:cxn ang="0">
                      <a:pos x="848" y="174"/>
                    </a:cxn>
                    <a:cxn ang="0">
                      <a:pos x="216" y="0"/>
                    </a:cxn>
                    <a:cxn ang="0">
                      <a:pos x="0" y="134"/>
                    </a:cxn>
                    <a:cxn ang="0">
                      <a:pos x="666" y="324"/>
                    </a:cxn>
                    <a:cxn ang="0">
                      <a:pos x="848" y="174"/>
                    </a:cxn>
                  </a:cxnLst>
                  <a:rect l="0" t="0" r="r" b="b"/>
                  <a:pathLst>
                    <a:path w="848" h="324">
                      <a:moveTo>
                        <a:pt x="848" y="174"/>
                      </a:moveTo>
                      <a:lnTo>
                        <a:pt x="216" y="0"/>
                      </a:lnTo>
                      <a:lnTo>
                        <a:pt x="0" y="134"/>
                      </a:lnTo>
                      <a:lnTo>
                        <a:pt x="666" y="324"/>
                      </a:lnTo>
                      <a:lnTo>
                        <a:pt x="848" y="17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3175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63850" name="Freeform 10"/>
                <p:cNvSpPr>
                  <a:spLocks/>
                </p:cNvSpPr>
                <p:nvPr/>
              </p:nvSpPr>
              <p:spPr bwMode="auto">
                <a:xfrm>
                  <a:off x="1766" y="1694"/>
                  <a:ext cx="388" cy="112"/>
                </a:xfrm>
                <a:custGeom>
                  <a:avLst/>
                  <a:gdLst/>
                  <a:ahLst/>
                  <a:cxnLst>
                    <a:cxn ang="0">
                      <a:pos x="0" y="12"/>
                    </a:cxn>
                    <a:cxn ang="0">
                      <a:pos x="456" y="138"/>
                    </a:cxn>
                    <a:cxn ang="0">
                      <a:pos x="477" y="125"/>
                    </a:cxn>
                    <a:cxn ang="0">
                      <a:pos x="20" y="0"/>
                    </a:cxn>
                  </a:cxnLst>
                  <a:rect l="0" t="0" r="r" b="b"/>
                  <a:pathLst>
                    <a:path w="477" h="138">
                      <a:moveTo>
                        <a:pt x="0" y="12"/>
                      </a:moveTo>
                      <a:lnTo>
                        <a:pt x="456" y="138"/>
                      </a:lnTo>
                      <a:lnTo>
                        <a:pt x="477" y="125"/>
                      </a:lnTo>
                      <a:lnTo>
                        <a:pt x="20" y="0"/>
                      </a:lnTo>
                    </a:path>
                  </a:pathLst>
                </a:custGeom>
                <a:solidFill>
                  <a:srgbClr val="B2B2B2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51" name="Freeform 11"/>
                <p:cNvSpPr>
                  <a:spLocks/>
                </p:cNvSpPr>
                <p:nvPr/>
              </p:nvSpPr>
              <p:spPr bwMode="auto">
                <a:xfrm>
                  <a:off x="1654" y="1717"/>
                  <a:ext cx="404" cy="143"/>
                </a:xfrm>
                <a:custGeom>
                  <a:avLst/>
                  <a:gdLst/>
                  <a:ahLst/>
                  <a:cxnLst>
                    <a:cxn ang="0">
                      <a:pos x="0" y="66"/>
                    </a:cxn>
                    <a:cxn ang="0">
                      <a:pos x="21" y="73"/>
                    </a:cxn>
                    <a:cxn ang="0">
                      <a:pos x="45" y="61"/>
                    </a:cxn>
                    <a:cxn ang="0">
                      <a:pos x="60" y="66"/>
                    </a:cxn>
                    <a:cxn ang="0">
                      <a:pos x="45" y="80"/>
                    </a:cxn>
                    <a:cxn ang="0">
                      <a:pos x="344" y="163"/>
                    </a:cxn>
                    <a:cxn ang="0">
                      <a:pos x="360" y="151"/>
                    </a:cxn>
                    <a:cxn ang="0">
                      <a:pos x="386" y="158"/>
                    </a:cxn>
                    <a:cxn ang="0">
                      <a:pos x="370" y="170"/>
                    </a:cxn>
                    <a:cxn ang="0">
                      <a:pos x="396" y="177"/>
                    </a:cxn>
                    <a:cxn ang="0">
                      <a:pos x="496" y="106"/>
                    </a:cxn>
                    <a:cxn ang="0">
                      <a:pos x="111" y="0"/>
                    </a:cxn>
                  </a:cxnLst>
                  <a:rect l="0" t="0" r="r" b="b"/>
                  <a:pathLst>
                    <a:path w="496" h="177">
                      <a:moveTo>
                        <a:pt x="0" y="66"/>
                      </a:moveTo>
                      <a:lnTo>
                        <a:pt x="21" y="73"/>
                      </a:lnTo>
                      <a:lnTo>
                        <a:pt x="45" y="61"/>
                      </a:lnTo>
                      <a:lnTo>
                        <a:pt x="60" y="66"/>
                      </a:lnTo>
                      <a:lnTo>
                        <a:pt x="45" y="80"/>
                      </a:lnTo>
                      <a:lnTo>
                        <a:pt x="344" y="163"/>
                      </a:lnTo>
                      <a:lnTo>
                        <a:pt x="360" y="151"/>
                      </a:lnTo>
                      <a:lnTo>
                        <a:pt x="386" y="158"/>
                      </a:lnTo>
                      <a:lnTo>
                        <a:pt x="370" y="170"/>
                      </a:lnTo>
                      <a:lnTo>
                        <a:pt x="396" y="177"/>
                      </a:lnTo>
                      <a:lnTo>
                        <a:pt x="496" y="106"/>
                      </a:lnTo>
                      <a:lnTo>
                        <a:pt x="111" y="0"/>
                      </a:lnTo>
                    </a:path>
                  </a:pathLst>
                </a:custGeom>
                <a:solidFill>
                  <a:srgbClr val="B2B2B2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52" name="Freeform 12"/>
                <p:cNvSpPr>
                  <a:spLocks/>
                </p:cNvSpPr>
                <p:nvPr/>
              </p:nvSpPr>
              <p:spPr bwMode="auto">
                <a:xfrm>
                  <a:off x="2044" y="1810"/>
                  <a:ext cx="88" cy="35"/>
                </a:xfrm>
                <a:custGeom>
                  <a:avLst/>
                  <a:gdLst/>
                  <a:ahLst/>
                  <a:cxnLst>
                    <a:cxn ang="0">
                      <a:pos x="40" y="0"/>
                    </a:cxn>
                    <a:cxn ang="0">
                      <a:pos x="107" y="17"/>
                    </a:cxn>
                    <a:cxn ang="0">
                      <a:pos x="69" y="43"/>
                    </a:cxn>
                    <a:cxn ang="0">
                      <a:pos x="0" y="25"/>
                    </a:cxn>
                    <a:cxn ang="0">
                      <a:pos x="40" y="0"/>
                    </a:cxn>
                  </a:cxnLst>
                  <a:rect l="0" t="0" r="r" b="b"/>
                  <a:pathLst>
                    <a:path w="108" h="44">
                      <a:moveTo>
                        <a:pt x="40" y="0"/>
                      </a:moveTo>
                      <a:lnTo>
                        <a:pt x="107" y="17"/>
                      </a:lnTo>
                      <a:lnTo>
                        <a:pt x="69" y="43"/>
                      </a:lnTo>
                      <a:lnTo>
                        <a:pt x="0" y="25"/>
                      </a:lnTo>
                      <a:lnTo>
                        <a:pt x="40" y="0"/>
                      </a:lnTo>
                    </a:path>
                  </a:pathLst>
                </a:custGeom>
                <a:solidFill>
                  <a:srgbClr val="B2B2B2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53" name="Freeform 13"/>
                <p:cNvSpPr>
                  <a:spLocks/>
                </p:cNvSpPr>
                <p:nvPr/>
              </p:nvSpPr>
              <p:spPr bwMode="auto">
                <a:xfrm>
                  <a:off x="1994" y="1848"/>
                  <a:ext cx="79" cy="34"/>
                </a:xfrm>
                <a:custGeom>
                  <a:avLst/>
                  <a:gdLst/>
                  <a:ahLst/>
                  <a:cxnLst>
                    <a:cxn ang="0">
                      <a:pos x="21" y="7"/>
                    </a:cxn>
                    <a:cxn ang="0">
                      <a:pos x="46" y="11"/>
                    </a:cxn>
                    <a:cxn ang="0">
                      <a:pos x="60" y="0"/>
                    </a:cxn>
                    <a:cxn ang="0">
                      <a:pos x="84" y="8"/>
                    </a:cxn>
                    <a:cxn ang="0">
                      <a:pos x="72" y="19"/>
                    </a:cxn>
                    <a:cxn ang="0">
                      <a:pos x="96" y="25"/>
                    </a:cxn>
                    <a:cxn ang="0">
                      <a:pos x="77" y="41"/>
                    </a:cxn>
                    <a:cxn ang="0">
                      <a:pos x="0" y="21"/>
                    </a:cxn>
                    <a:cxn ang="0">
                      <a:pos x="21" y="7"/>
                    </a:cxn>
                  </a:cxnLst>
                  <a:rect l="0" t="0" r="r" b="b"/>
                  <a:pathLst>
                    <a:path w="97" h="42">
                      <a:moveTo>
                        <a:pt x="21" y="7"/>
                      </a:moveTo>
                      <a:lnTo>
                        <a:pt x="46" y="11"/>
                      </a:lnTo>
                      <a:lnTo>
                        <a:pt x="60" y="0"/>
                      </a:lnTo>
                      <a:lnTo>
                        <a:pt x="84" y="8"/>
                      </a:lnTo>
                      <a:lnTo>
                        <a:pt x="72" y="19"/>
                      </a:lnTo>
                      <a:lnTo>
                        <a:pt x="96" y="25"/>
                      </a:lnTo>
                      <a:lnTo>
                        <a:pt x="77" y="41"/>
                      </a:lnTo>
                      <a:lnTo>
                        <a:pt x="0" y="21"/>
                      </a:lnTo>
                      <a:lnTo>
                        <a:pt x="21" y="7"/>
                      </a:lnTo>
                    </a:path>
                  </a:pathLst>
                </a:custGeom>
                <a:solidFill>
                  <a:srgbClr val="B2B2B2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54" name="Freeform 14"/>
                <p:cNvSpPr>
                  <a:spLocks/>
                </p:cNvSpPr>
                <p:nvPr/>
              </p:nvSpPr>
              <p:spPr bwMode="auto">
                <a:xfrm>
                  <a:off x="2073" y="1825"/>
                  <a:ext cx="150" cy="80"/>
                </a:xfrm>
                <a:custGeom>
                  <a:avLst/>
                  <a:gdLst/>
                  <a:ahLst/>
                  <a:cxnLst>
                    <a:cxn ang="0">
                      <a:pos x="101" y="0"/>
                    </a:cxn>
                    <a:cxn ang="0">
                      <a:pos x="185" y="22"/>
                    </a:cxn>
                    <a:cxn ang="0">
                      <a:pos x="83" y="97"/>
                    </a:cxn>
                    <a:cxn ang="0">
                      <a:pos x="0" y="74"/>
                    </a:cxn>
                    <a:cxn ang="0">
                      <a:pos x="101" y="0"/>
                    </a:cxn>
                  </a:cxnLst>
                  <a:rect l="0" t="0" r="r" b="b"/>
                  <a:pathLst>
                    <a:path w="185" h="97">
                      <a:moveTo>
                        <a:pt x="101" y="0"/>
                      </a:moveTo>
                      <a:lnTo>
                        <a:pt x="185" y="22"/>
                      </a:lnTo>
                      <a:lnTo>
                        <a:pt x="83" y="97"/>
                      </a:lnTo>
                      <a:lnTo>
                        <a:pt x="0" y="74"/>
                      </a:lnTo>
                      <a:lnTo>
                        <a:pt x="101" y="0"/>
                      </a:lnTo>
                    </a:path>
                  </a:pathLst>
                </a:custGeom>
                <a:solidFill>
                  <a:srgbClr val="B2B2B2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63855" name="Group 15"/>
              <p:cNvGrpSpPr>
                <a:grpSpLocks/>
              </p:cNvGrpSpPr>
              <p:nvPr/>
            </p:nvGrpSpPr>
            <p:grpSpPr bwMode="auto">
              <a:xfrm>
                <a:off x="2885" y="2645"/>
                <a:ext cx="760" cy="410"/>
                <a:chOff x="2614" y="1299"/>
                <a:chExt cx="763" cy="412"/>
              </a:xfrm>
            </p:grpSpPr>
            <p:sp>
              <p:nvSpPr>
                <p:cNvPr id="163856" name="Freeform 16"/>
                <p:cNvSpPr>
                  <a:spLocks noChangeAspect="1"/>
                </p:cNvSpPr>
                <p:nvPr/>
              </p:nvSpPr>
              <p:spPr bwMode="auto">
                <a:xfrm>
                  <a:off x="3113" y="1406"/>
                  <a:ext cx="263" cy="305"/>
                </a:xfrm>
                <a:custGeom>
                  <a:avLst/>
                  <a:gdLst/>
                  <a:ahLst/>
                  <a:cxnLst>
                    <a:cxn ang="0">
                      <a:pos x="3" y="212"/>
                    </a:cxn>
                    <a:cxn ang="0">
                      <a:pos x="364" y="0"/>
                    </a:cxn>
                    <a:cxn ang="0">
                      <a:pos x="364" y="180"/>
                    </a:cxn>
                    <a:cxn ang="0">
                      <a:pos x="0" y="422"/>
                    </a:cxn>
                  </a:cxnLst>
                  <a:rect l="0" t="0" r="r" b="b"/>
                  <a:pathLst>
                    <a:path w="364" h="422">
                      <a:moveTo>
                        <a:pt x="3" y="212"/>
                      </a:moveTo>
                      <a:lnTo>
                        <a:pt x="364" y="0"/>
                      </a:lnTo>
                      <a:lnTo>
                        <a:pt x="364" y="180"/>
                      </a:lnTo>
                      <a:lnTo>
                        <a:pt x="0" y="422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57" name="Freeform 17"/>
                <p:cNvSpPr>
                  <a:spLocks noChangeAspect="1"/>
                </p:cNvSpPr>
                <p:nvPr/>
              </p:nvSpPr>
              <p:spPr bwMode="auto">
                <a:xfrm>
                  <a:off x="2614" y="1299"/>
                  <a:ext cx="763" cy="264"/>
                </a:xfrm>
                <a:custGeom>
                  <a:avLst/>
                  <a:gdLst/>
                  <a:ahLst/>
                  <a:cxnLst>
                    <a:cxn ang="0">
                      <a:pos x="715" y="376"/>
                    </a:cxn>
                    <a:cxn ang="0">
                      <a:pos x="0" y="187"/>
                    </a:cxn>
                    <a:cxn ang="0">
                      <a:pos x="397" y="0"/>
                    </a:cxn>
                    <a:cxn ang="0">
                      <a:pos x="1090" y="152"/>
                    </a:cxn>
                    <a:cxn ang="0">
                      <a:pos x="715" y="376"/>
                    </a:cxn>
                  </a:cxnLst>
                  <a:rect l="0" t="0" r="r" b="b"/>
                  <a:pathLst>
                    <a:path w="1091" h="377">
                      <a:moveTo>
                        <a:pt x="715" y="376"/>
                      </a:moveTo>
                      <a:lnTo>
                        <a:pt x="0" y="187"/>
                      </a:lnTo>
                      <a:lnTo>
                        <a:pt x="397" y="0"/>
                      </a:lnTo>
                      <a:lnTo>
                        <a:pt x="1090" y="152"/>
                      </a:lnTo>
                      <a:lnTo>
                        <a:pt x="715" y="376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58" name="Freeform 18"/>
                <p:cNvSpPr>
                  <a:spLocks noChangeAspect="1"/>
                </p:cNvSpPr>
                <p:nvPr/>
              </p:nvSpPr>
              <p:spPr bwMode="auto">
                <a:xfrm>
                  <a:off x="2614" y="1429"/>
                  <a:ext cx="499" cy="282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0" y="192"/>
                    </a:cxn>
                    <a:cxn ang="0">
                      <a:pos x="690" y="390"/>
                    </a:cxn>
                    <a:cxn ang="0">
                      <a:pos x="690" y="185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690" h="390">
                      <a:moveTo>
                        <a:pt x="0" y="5"/>
                      </a:moveTo>
                      <a:lnTo>
                        <a:pt x="0" y="192"/>
                      </a:lnTo>
                      <a:lnTo>
                        <a:pt x="690" y="390"/>
                      </a:lnTo>
                      <a:lnTo>
                        <a:pt x="690" y="185"/>
                      </a:lnTo>
                      <a:lnTo>
                        <a:pt x="4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59" name="Freeform 19"/>
                <p:cNvSpPr>
                  <a:spLocks noChangeAspect="1"/>
                </p:cNvSpPr>
                <p:nvPr/>
              </p:nvSpPr>
              <p:spPr bwMode="auto">
                <a:xfrm>
                  <a:off x="2875" y="1529"/>
                  <a:ext cx="196" cy="13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71" y="73"/>
                    </a:cxn>
                    <a:cxn ang="0">
                      <a:pos x="271" y="189"/>
                    </a:cxn>
                    <a:cxn ang="0">
                      <a:pos x="0" y="115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271" h="189">
                      <a:moveTo>
                        <a:pt x="0" y="0"/>
                      </a:moveTo>
                      <a:lnTo>
                        <a:pt x="271" y="73"/>
                      </a:lnTo>
                      <a:lnTo>
                        <a:pt x="271" y="189"/>
                      </a:lnTo>
                      <a:lnTo>
                        <a:pt x="0" y="115"/>
                      </a:lnTo>
                      <a:lnTo>
                        <a:pt x="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41176"/>
                        <a:invGamma/>
                      </a:srgbClr>
                    </a:gs>
                  </a:gsLst>
                  <a:lin ang="2700000" scaled="1"/>
                </a:gradFill>
                <a:ln w="635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60" name="Freeform 20"/>
                <p:cNvSpPr>
                  <a:spLocks noChangeAspect="1" noChangeArrowheads="1"/>
                </p:cNvSpPr>
                <p:nvPr/>
              </p:nvSpPr>
              <p:spPr bwMode="auto">
                <a:xfrm>
                  <a:off x="2879" y="1580"/>
                  <a:ext cx="189" cy="4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61" y="69"/>
                    </a:cxn>
                  </a:cxnLst>
                  <a:rect l="0" t="0" r="r" b="b"/>
                  <a:pathLst>
                    <a:path w="261" h="69">
                      <a:moveTo>
                        <a:pt x="0" y="0"/>
                      </a:moveTo>
                      <a:lnTo>
                        <a:pt x="261" y="69"/>
                      </a:lnTo>
                    </a:path>
                  </a:pathLst>
                </a:custGeom>
                <a:noFill/>
                <a:ln w="3175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63861" name="Freeform 21"/>
                <p:cNvSpPr>
                  <a:spLocks/>
                </p:cNvSpPr>
                <p:nvPr/>
              </p:nvSpPr>
              <p:spPr bwMode="auto">
                <a:xfrm>
                  <a:off x="2874" y="1528"/>
                  <a:ext cx="196" cy="83"/>
                </a:xfrm>
                <a:custGeom>
                  <a:avLst/>
                  <a:gdLst/>
                  <a:ahLst/>
                  <a:cxnLst>
                    <a:cxn ang="0">
                      <a:pos x="0" y="116"/>
                    </a:cxn>
                    <a:cxn ang="0">
                      <a:pos x="1" y="0"/>
                    </a:cxn>
                    <a:cxn ang="0">
                      <a:pos x="270" y="75"/>
                    </a:cxn>
                  </a:cxnLst>
                  <a:rect l="0" t="0" r="r" b="b"/>
                  <a:pathLst>
                    <a:path w="270" h="116">
                      <a:moveTo>
                        <a:pt x="0" y="116"/>
                      </a:moveTo>
                      <a:lnTo>
                        <a:pt x="1" y="0"/>
                      </a:lnTo>
                      <a:lnTo>
                        <a:pt x="270" y="75"/>
                      </a:lnTo>
                    </a:path>
                  </a:pathLst>
                </a:custGeom>
                <a:noFill/>
                <a:ln w="6350" cap="flat" cmpd="sng">
                  <a:solidFill>
                    <a:srgbClr val="777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63862" name="Line 22"/>
                <p:cNvSpPr>
                  <a:spLocks noChangeShapeType="1"/>
                </p:cNvSpPr>
                <p:nvPr/>
              </p:nvSpPr>
              <p:spPr bwMode="auto">
                <a:xfrm>
                  <a:off x="2892" y="1556"/>
                  <a:ext cx="153" cy="38"/>
                </a:xfrm>
                <a:prstGeom prst="line">
                  <a:avLst/>
                </a:prstGeom>
                <a:noFill/>
                <a:ln w="3175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63863" name="Line 23"/>
                <p:cNvSpPr>
                  <a:spLocks noChangeShapeType="1"/>
                </p:cNvSpPr>
                <p:nvPr/>
              </p:nvSpPr>
              <p:spPr bwMode="auto">
                <a:xfrm>
                  <a:off x="3022" y="1634"/>
                  <a:ext cx="29" cy="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63864" name="Freeform 24"/>
                <p:cNvSpPr>
                  <a:spLocks/>
                </p:cNvSpPr>
                <p:nvPr/>
              </p:nvSpPr>
              <p:spPr bwMode="auto">
                <a:xfrm>
                  <a:off x="2940" y="1566"/>
                  <a:ext cx="47" cy="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18"/>
                    </a:cxn>
                    <a:cxn ang="0">
                      <a:pos x="64" y="35"/>
                    </a:cxn>
                    <a:cxn ang="0">
                      <a:pos x="64" y="19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1" y="18"/>
                      </a:lnTo>
                      <a:lnTo>
                        <a:pt x="64" y="35"/>
                      </a:lnTo>
                      <a:lnTo>
                        <a:pt x="64" y="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77777"/>
                </a:solidFill>
                <a:ln w="190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63865" name="Line 25"/>
                <p:cNvSpPr>
                  <a:spLocks noChangeShapeType="1"/>
                </p:cNvSpPr>
                <p:nvPr/>
              </p:nvSpPr>
              <p:spPr bwMode="auto">
                <a:xfrm>
                  <a:off x="2627" y="1459"/>
                  <a:ext cx="202" cy="57"/>
                </a:xfrm>
                <a:prstGeom prst="line">
                  <a:avLst/>
                </a:prstGeom>
                <a:noFill/>
                <a:ln w="6350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63866" name="Line 26"/>
                <p:cNvSpPr>
                  <a:spLocks noChangeShapeType="1"/>
                </p:cNvSpPr>
                <p:nvPr/>
              </p:nvSpPr>
              <p:spPr bwMode="auto">
                <a:xfrm>
                  <a:off x="2627" y="1481"/>
                  <a:ext cx="202" cy="56"/>
                </a:xfrm>
                <a:prstGeom prst="line">
                  <a:avLst/>
                </a:prstGeom>
                <a:noFill/>
                <a:ln w="6350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63867" name="Line 27"/>
                <p:cNvSpPr>
                  <a:spLocks noChangeShapeType="1"/>
                </p:cNvSpPr>
                <p:nvPr/>
              </p:nvSpPr>
              <p:spPr bwMode="auto">
                <a:xfrm>
                  <a:off x="2627" y="1504"/>
                  <a:ext cx="202" cy="57"/>
                </a:xfrm>
                <a:prstGeom prst="line">
                  <a:avLst/>
                </a:prstGeom>
                <a:noFill/>
                <a:ln w="6350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63868" name="Line 28"/>
                <p:cNvSpPr>
                  <a:spLocks noChangeShapeType="1"/>
                </p:cNvSpPr>
                <p:nvPr/>
              </p:nvSpPr>
              <p:spPr bwMode="auto">
                <a:xfrm>
                  <a:off x="2627" y="1526"/>
                  <a:ext cx="202" cy="56"/>
                </a:xfrm>
                <a:prstGeom prst="line">
                  <a:avLst/>
                </a:prstGeom>
                <a:noFill/>
                <a:ln w="6350">
                  <a:solidFill>
                    <a:srgbClr val="777777"/>
                  </a:solidFill>
                  <a:round/>
                  <a:headEnd/>
                  <a:tailEnd/>
                </a:ln>
                <a:effectLst/>
              </p:spPr>
              <p:txBody>
                <a:bodyPr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63869" name="Freeform 29"/>
                <p:cNvSpPr>
                  <a:spLocks/>
                </p:cNvSpPr>
                <p:nvPr/>
              </p:nvSpPr>
              <p:spPr bwMode="auto">
                <a:xfrm>
                  <a:off x="2877" y="1588"/>
                  <a:ext cx="198" cy="84"/>
                </a:xfrm>
                <a:custGeom>
                  <a:avLst/>
                  <a:gdLst/>
                  <a:ahLst/>
                  <a:cxnLst>
                    <a:cxn ang="0">
                      <a:pos x="0" y="40"/>
                    </a:cxn>
                    <a:cxn ang="0">
                      <a:pos x="275" y="117"/>
                    </a:cxn>
                    <a:cxn ang="0">
                      <a:pos x="275" y="0"/>
                    </a:cxn>
                  </a:cxnLst>
                  <a:rect l="0" t="0" r="r" b="b"/>
                  <a:pathLst>
                    <a:path w="275" h="117">
                      <a:moveTo>
                        <a:pt x="0" y="40"/>
                      </a:moveTo>
                      <a:lnTo>
                        <a:pt x="275" y="117"/>
                      </a:lnTo>
                      <a:lnTo>
                        <a:pt x="275" y="0"/>
                      </a:lnTo>
                    </a:path>
                  </a:pathLst>
                </a:custGeom>
                <a:no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163870" name="Group 30"/>
              <p:cNvGrpSpPr>
                <a:grpSpLocks/>
              </p:cNvGrpSpPr>
              <p:nvPr/>
            </p:nvGrpSpPr>
            <p:grpSpPr bwMode="auto">
              <a:xfrm>
                <a:off x="2979" y="2188"/>
                <a:ext cx="711" cy="669"/>
                <a:chOff x="2676" y="840"/>
                <a:chExt cx="714" cy="672"/>
              </a:xfrm>
            </p:grpSpPr>
            <p:sp>
              <p:nvSpPr>
                <p:cNvPr id="163871" name="Freeform 31"/>
                <p:cNvSpPr>
                  <a:spLocks/>
                </p:cNvSpPr>
                <p:nvPr/>
              </p:nvSpPr>
              <p:spPr bwMode="auto">
                <a:xfrm>
                  <a:off x="2730" y="1277"/>
                  <a:ext cx="556" cy="235"/>
                </a:xfrm>
                <a:custGeom>
                  <a:avLst/>
                  <a:gdLst/>
                  <a:ahLst/>
                  <a:cxnLst>
                    <a:cxn ang="0">
                      <a:pos x="0" y="128"/>
                    </a:cxn>
                    <a:cxn ang="0">
                      <a:pos x="238" y="0"/>
                    </a:cxn>
                    <a:cxn ang="0">
                      <a:pos x="556" y="91"/>
                    </a:cxn>
                    <a:cxn ang="0">
                      <a:pos x="556" y="108"/>
                    </a:cxn>
                    <a:cxn ang="0">
                      <a:pos x="334" y="235"/>
                    </a:cxn>
                    <a:cxn ang="0">
                      <a:pos x="0" y="148"/>
                    </a:cxn>
                    <a:cxn ang="0">
                      <a:pos x="0" y="128"/>
                    </a:cxn>
                  </a:cxnLst>
                  <a:rect l="0" t="0" r="r" b="b"/>
                  <a:pathLst>
                    <a:path w="556" h="235">
                      <a:moveTo>
                        <a:pt x="0" y="128"/>
                      </a:moveTo>
                      <a:lnTo>
                        <a:pt x="238" y="0"/>
                      </a:lnTo>
                      <a:lnTo>
                        <a:pt x="556" y="91"/>
                      </a:lnTo>
                      <a:lnTo>
                        <a:pt x="556" y="108"/>
                      </a:lnTo>
                      <a:lnTo>
                        <a:pt x="334" y="235"/>
                      </a:lnTo>
                      <a:lnTo>
                        <a:pt x="0" y="148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DDDDDD"/>
                </a:solidFill>
                <a:ln w="3175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72" name="Freeform 32"/>
                <p:cNvSpPr>
                  <a:spLocks/>
                </p:cNvSpPr>
                <p:nvPr/>
              </p:nvSpPr>
              <p:spPr bwMode="auto">
                <a:xfrm>
                  <a:off x="2737" y="1282"/>
                  <a:ext cx="538" cy="208"/>
                </a:xfrm>
                <a:custGeom>
                  <a:avLst/>
                  <a:gdLst/>
                  <a:ahLst/>
                  <a:cxnLst>
                    <a:cxn ang="0">
                      <a:pos x="0" y="124"/>
                    </a:cxn>
                    <a:cxn ang="0">
                      <a:pos x="327" y="208"/>
                    </a:cxn>
                    <a:cxn ang="0">
                      <a:pos x="538" y="86"/>
                    </a:cxn>
                    <a:cxn ang="0">
                      <a:pos x="233" y="0"/>
                    </a:cxn>
                    <a:cxn ang="0">
                      <a:pos x="0" y="124"/>
                    </a:cxn>
                  </a:cxnLst>
                  <a:rect l="0" t="0" r="r" b="b"/>
                  <a:pathLst>
                    <a:path w="538" h="208">
                      <a:moveTo>
                        <a:pt x="0" y="124"/>
                      </a:moveTo>
                      <a:lnTo>
                        <a:pt x="327" y="208"/>
                      </a:lnTo>
                      <a:lnTo>
                        <a:pt x="538" y="86"/>
                      </a:lnTo>
                      <a:lnTo>
                        <a:pt x="233" y="0"/>
                      </a:lnTo>
                      <a:lnTo>
                        <a:pt x="0" y="124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635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73" name="Oval 33"/>
                <p:cNvSpPr>
                  <a:spLocks noChangeArrowheads="1"/>
                </p:cNvSpPr>
                <p:nvPr/>
              </p:nvSpPr>
              <p:spPr bwMode="auto">
                <a:xfrm>
                  <a:off x="2871" y="1333"/>
                  <a:ext cx="280" cy="112"/>
                </a:xfrm>
                <a:prstGeom prst="ellipse">
                  <a:avLst/>
                </a:prstGeom>
                <a:solidFill>
                  <a:srgbClr val="B2B2B2"/>
                </a:solidFill>
                <a:ln w="317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74" name="Freeform 34"/>
                <p:cNvSpPr>
                  <a:spLocks/>
                </p:cNvSpPr>
                <p:nvPr/>
              </p:nvSpPr>
              <p:spPr bwMode="auto">
                <a:xfrm>
                  <a:off x="2718" y="1337"/>
                  <a:ext cx="452" cy="12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0" y="36"/>
                    </a:cxn>
                    <a:cxn ang="0">
                      <a:pos x="574" y="180"/>
                    </a:cxn>
                    <a:cxn ang="0">
                      <a:pos x="646" y="158"/>
                    </a:cxn>
                  </a:cxnLst>
                  <a:rect l="0" t="0" r="r" b="b"/>
                  <a:pathLst>
                    <a:path w="646" h="180">
                      <a:moveTo>
                        <a:pt x="0" y="0"/>
                      </a:moveTo>
                      <a:lnTo>
                        <a:pt x="20" y="36"/>
                      </a:lnTo>
                      <a:lnTo>
                        <a:pt x="574" y="180"/>
                      </a:lnTo>
                      <a:lnTo>
                        <a:pt x="646" y="158"/>
                      </a:lnTo>
                    </a:path>
                  </a:pathLst>
                </a:custGeom>
                <a:solidFill>
                  <a:srgbClr val="B2B2B2"/>
                </a:soli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75" name="Freeform 35"/>
                <p:cNvSpPr>
                  <a:spLocks noChangeAspect="1"/>
                </p:cNvSpPr>
                <p:nvPr/>
              </p:nvSpPr>
              <p:spPr bwMode="auto">
                <a:xfrm>
                  <a:off x="2826" y="840"/>
                  <a:ext cx="564" cy="520"/>
                </a:xfrm>
                <a:custGeom>
                  <a:avLst/>
                  <a:gdLst/>
                  <a:ahLst/>
                  <a:cxnLst>
                    <a:cxn ang="0">
                      <a:pos x="620" y="746"/>
                    </a:cxn>
                    <a:cxn ang="0">
                      <a:pos x="808" y="525"/>
                    </a:cxn>
                    <a:cxn ang="0">
                      <a:pos x="808" y="106"/>
                    </a:cxn>
                    <a:cxn ang="0">
                      <a:pos x="336" y="0"/>
                    </a:cxn>
                    <a:cxn ang="0">
                      <a:pos x="0" y="48"/>
                    </a:cxn>
                  </a:cxnLst>
                  <a:rect l="0" t="0" r="r" b="b"/>
                  <a:pathLst>
                    <a:path w="808" h="746">
                      <a:moveTo>
                        <a:pt x="620" y="746"/>
                      </a:moveTo>
                      <a:lnTo>
                        <a:pt x="808" y="525"/>
                      </a:lnTo>
                      <a:lnTo>
                        <a:pt x="808" y="106"/>
                      </a:lnTo>
                      <a:lnTo>
                        <a:pt x="336" y="0"/>
                      </a:lnTo>
                      <a:lnTo>
                        <a:pt x="0" y="48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76" name="Freeform 36"/>
                <p:cNvSpPr>
                  <a:spLocks noChangeAspect="1"/>
                </p:cNvSpPr>
                <p:nvPr/>
              </p:nvSpPr>
              <p:spPr bwMode="auto">
                <a:xfrm>
                  <a:off x="3178" y="955"/>
                  <a:ext cx="113" cy="506"/>
                </a:xfrm>
                <a:custGeom>
                  <a:avLst/>
                  <a:gdLst/>
                  <a:ahLst/>
                  <a:cxnLst>
                    <a:cxn ang="0">
                      <a:pos x="0" y="644"/>
                    </a:cxn>
                    <a:cxn ang="0">
                      <a:pos x="0" y="79"/>
                    </a:cxn>
                    <a:cxn ang="0">
                      <a:pos x="144" y="0"/>
                    </a:cxn>
                    <a:cxn ang="0">
                      <a:pos x="144" y="554"/>
                    </a:cxn>
                    <a:cxn ang="0">
                      <a:pos x="0" y="644"/>
                    </a:cxn>
                  </a:cxnLst>
                  <a:rect l="0" t="0" r="r" b="b"/>
                  <a:pathLst>
                    <a:path w="144" h="644">
                      <a:moveTo>
                        <a:pt x="0" y="644"/>
                      </a:moveTo>
                      <a:lnTo>
                        <a:pt x="0" y="79"/>
                      </a:lnTo>
                      <a:lnTo>
                        <a:pt x="144" y="0"/>
                      </a:lnTo>
                      <a:lnTo>
                        <a:pt x="144" y="554"/>
                      </a:lnTo>
                      <a:lnTo>
                        <a:pt x="0" y="644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77" name="Freeform 37"/>
                <p:cNvSpPr>
                  <a:spLocks noChangeAspect="1"/>
                </p:cNvSpPr>
                <p:nvPr/>
              </p:nvSpPr>
              <p:spPr bwMode="auto">
                <a:xfrm>
                  <a:off x="2676" y="846"/>
                  <a:ext cx="615" cy="172"/>
                </a:xfrm>
                <a:custGeom>
                  <a:avLst/>
                  <a:gdLst/>
                  <a:ahLst/>
                  <a:cxnLst>
                    <a:cxn ang="0">
                      <a:pos x="638" y="219"/>
                    </a:cxn>
                    <a:cxn ang="0">
                      <a:pos x="0" y="67"/>
                    </a:cxn>
                    <a:cxn ang="0">
                      <a:pos x="160" y="0"/>
                    </a:cxn>
                    <a:cxn ang="0">
                      <a:pos x="782" y="139"/>
                    </a:cxn>
                    <a:cxn ang="0">
                      <a:pos x="638" y="219"/>
                    </a:cxn>
                  </a:cxnLst>
                  <a:rect l="0" t="0" r="r" b="b"/>
                  <a:pathLst>
                    <a:path w="782" h="219">
                      <a:moveTo>
                        <a:pt x="638" y="219"/>
                      </a:moveTo>
                      <a:lnTo>
                        <a:pt x="0" y="67"/>
                      </a:lnTo>
                      <a:lnTo>
                        <a:pt x="160" y="0"/>
                      </a:lnTo>
                      <a:lnTo>
                        <a:pt x="782" y="139"/>
                      </a:lnTo>
                      <a:lnTo>
                        <a:pt x="638" y="219"/>
                      </a:lnTo>
                    </a:path>
                  </a:pathLst>
                </a:custGeom>
                <a:solidFill>
                  <a:schemeClr val="bg1"/>
                </a:soli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78" name="Freeform 38"/>
                <p:cNvSpPr>
                  <a:spLocks noChangeAspect="1"/>
                </p:cNvSpPr>
                <p:nvPr/>
              </p:nvSpPr>
              <p:spPr bwMode="auto">
                <a:xfrm>
                  <a:off x="2676" y="897"/>
                  <a:ext cx="502" cy="566"/>
                </a:xfrm>
                <a:custGeom>
                  <a:avLst/>
                  <a:gdLst/>
                  <a:ahLst/>
                  <a:cxnLst>
                    <a:cxn ang="0">
                      <a:pos x="671" y="753"/>
                    </a:cxn>
                    <a:cxn ang="0">
                      <a:pos x="671" y="160"/>
                    </a:cxn>
                    <a:cxn ang="0">
                      <a:pos x="0" y="0"/>
                    </a:cxn>
                    <a:cxn ang="0">
                      <a:pos x="0" y="578"/>
                    </a:cxn>
                    <a:cxn ang="0">
                      <a:pos x="671" y="753"/>
                    </a:cxn>
                  </a:cxnLst>
                  <a:rect l="0" t="0" r="r" b="b"/>
                  <a:pathLst>
                    <a:path w="672" h="754">
                      <a:moveTo>
                        <a:pt x="671" y="753"/>
                      </a:moveTo>
                      <a:lnTo>
                        <a:pt x="671" y="160"/>
                      </a:lnTo>
                      <a:lnTo>
                        <a:pt x="0" y="0"/>
                      </a:lnTo>
                      <a:lnTo>
                        <a:pt x="0" y="578"/>
                      </a:lnTo>
                      <a:lnTo>
                        <a:pt x="671" y="753"/>
                      </a:lnTo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B2B2B2">
                        <a:gamma/>
                        <a:tint val="34118"/>
                        <a:invGamma/>
                      </a:srgbClr>
                    </a:gs>
                  </a:gsLst>
                  <a:path path="rect">
                    <a:fillToRect l="100000" t="100000"/>
                  </a:path>
                </a:gradFill>
                <a:ln w="3175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79" name="Freeform 39"/>
                <p:cNvSpPr>
                  <a:spLocks noChangeAspect="1"/>
                </p:cNvSpPr>
                <p:nvPr/>
              </p:nvSpPr>
              <p:spPr bwMode="auto">
                <a:xfrm>
                  <a:off x="2715" y="947"/>
                  <a:ext cx="425" cy="464"/>
                </a:xfrm>
                <a:custGeom>
                  <a:avLst/>
                  <a:gdLst/>
                  <a:ahLst/>
                  <a:cxnLst>
                    <a:cxn ang="0">
                      <a:pos x="490" y="548"/>
                    </a:cxn>
                    <a:cxn ang="0">
                      <a:pos x="490" y="117"/>
                    </a:cxn>
                    <a:cxn ang="0">
                      <a:pos x="0" y="0"/>
                    </a:cxn>
                    <a:cxn ang="0">
                      <a:pos x="0" y="424"/>
                    </a:cxn>
                    <a:cxn ang="0">
                      <a:pos x="490" y="548"/>
                    </a:cxn>
                  </a:cxnLst>
                  <a:rect l="0" t="0" r="r" b="b"/>
                  <a:pathLst>
                    <a:path w="491" h="549">
                      <a:moveTo>
                        <a:pt x="490" y="548"/>
                      </a:moveTo>
                      <a:lnTo>
                        <a:pt x="490" y="117"/>
                      </a:lnTo>
                      <a:lnTo>
                        <a:pt x="0" y="0"/>
                      </a:lnTo>
                      <a:lnTo>
                        <a:pt x="0" y="424"/>
                      </a:lnTo>
                      <a:lnTo>
                        <a:pt x="490" y="548"/>
                      </a:lnTo>
                    </a:path>
                  </a:pathLst>
                </a:custGeom>
                <a:solidFill>
                  <a:srgbClr val="CECECE"/>
                </a:solidFill>
                <a:ln w="6350" cap="rnd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80" name="Freeform 40"/>
                <p:cNvSpPr>
                  <a:spLocks/>
                </p:cNvSpPr>
                <p:nvPr/>
              </p:nvSpPr>
              <p:spPr bwMode="auto">
                <a:xfrm>
                  <a:off x="2741" y="978"/>
                  <a:ext cx="372" cy="40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454"/>
                    </a:cxn>
                    <a:cxn ang="0">
                      <a:pos x="542" y="592"/>
                    </a:cxn>
                    <a:cxn ang="0">
                      <a:pos x="542" y="13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42" h="592">
                      <a:moveTo>
                        <a:pt x="0" y="0"/>
                      </a:moveTo>
                      <a:lnTo>
                        <a:pt x="0" y="454"/>
                      </a:lnTo>
                      <a:lnTo>
                        <a:pt x="542" y="592"/>
                      </a:lnTo>
                      <a:lnTo>
                        <a:pt x="542" y="1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18FFD"/>
                    </a:gs>
                    <a:gs pos="100000">
                      <a:srgbClr val="618FFD">
                        <a:gamma/>
                        <a:shade val="75294"/>
                        <a:invGamma/>
                      </a:srgbClr>
                    </a:gs>
                  </a:gsLst>
                  <a:path path="rect">
                    <a:fillToRect r="100000" b="100000"/>
                  </a:path>
                </a:gradFill>
                <a:ln w="6350" cap="flat" cmpd="sng">
                  <a:solidFill>
                    <a:srgbClr val="777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7961" dir="2700000" algn="ctr" rotWithShape="0">
                    <a:schemeClr val="bg1"/>
                  </a:outerShdw>
                </a:effec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63881" name="Line 41"/>
                <p:cNvSpPr>
                  <a:spLocks noChangeShapeType="1"/>
                </p:cNvSpPr>
                <p:nvPr/>
              </p:nvSpPr>
              <p:spPr bwMode="auto">
                <a:xfrm>
                  <a:off x="2774" y="1011"/>
                  <a:ext cx="0" cy="61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grpSp>
            <p:nvGrpSpPr>
              <p:cNvPr id="163882" name="Group 42"/>
              <p:cNvGrpSpPr>
                <a:grpSpLocks/>
              </p:cNvGrpSpPr>
              <p:nvPr/>
            </p:nvGrpSpPr>
            <p:grpSpPr bwMode="auto">
              <a:xfrm flipH="1">
                <a:off x="2303" y="2202"/>
                <a:ext cx="799" cy="1095"/>
                <a:chOff x="4146" y="1294"/>
                <a:chExt cx="836" cy="1145"/>
              </a:xfrm>
            </p:grpSpPr>
            <p:sp>
              <p:nvSpPr>
                <p:cNvPr id="163883" name="Freeform 43"/>
                <p:cNvSpPr>
                  <a:spLocks/>
                </p:cNvSpPr>
                <p:nvPr/>
              </p:nvSpPr>
              <p:spPr bwMode="auto">
                <a:xfrm>
                  <a:off x="4556" y="1515"/>
                  <a:ext cx="359" cy="341"/>
                </a:xfrm>
                <a:custGeom>
                  <a:avLst/>
                  <a:gdLst/>
                  <a:ahLst/>
                  <a:cxnLst>
                    <a:cxn ang="0">
                      <a:pos x="21" y="20"/>
                    </a:cxn>
                    <a:cxn ang="0">
                      <a:pos x="18" y="39"/>
                    </a:cxn>
                    <a:cxn ang="0">
                      <a:pos x="18" y="56"/>
                    </a:cxn>
                    <a:cxn ang="0">
                      <a:pos x="19" y="78"/>
                    </a:cxn>
                    <a:cxn ang="0">
                      <a:pos x="13" y="95"/>
                    </a:cxn>
                    <a:cxn ang="0">
                      <a:pos x="6" y="107"/>
                    </a:cxn>
                    <a:cxn ang="0">
                      <a:pos x="0" y="116"/>
                    </a:cxn>
                    <a:cxn ang="0">
                      <a:pos x="0" y="125"/>
                    </a:cxn>
                    <a:cxn ang="0">
                      <a:pos x="6" y="132"/>
                    </a:cxn>
                    <a:cxn ang="0">
                      <a:pos x="19" y="136"/>
                    </a:cxn>
                    <a:cxn ang="0">
                      <a:pos x="29" y="143"/>
                    </a:cxn>
                    <a:cxn ang="0">
                      <a:pos x="30" y="147"/>
                    </a:cxn>
                    <a:cxn ang="0">
                      <a:pos x="33" y="162"/>
                    </a:cxn>
                    <a:cxn ang="0">
                      <a:pos x="33" y="176"/>
                    </a:cxn>
                    <a:cxn ang="0">
                      <a:pos x="38" y="180"/>
                    </a:cxn>
                    <a:cxn ang="0">
                      <a:pos x="45" y="183"/>
                    </a:cxn>
                    <a:cxn ang="0">
                      <a:pos x="49" y="187"/>
                    </a:cxn>
                    <a:cxn ang="0">
                      <a:pos x="46" y="194"/>
                    </a:cxn>
                    <a:cxn ang="0">
                      <a:pos x="49" y="201"/>
                    </a:cxn>
                    <a:cxn ang="0">
                      <a:pos x="55" y="208"/>
                    </a:cxn>
                    <a:cxn ang="0">
                      <a:pos x="65" y="214"/>
                    </a:cxn>
                    <a:cxn ang="0">
                      <a:pos x="67" y="224"/>
                    </a:cxn>
                    <a:cxn ang="0">
                      <a:pos x="67" y="236"/>
                    </a:cxn>
                    <a:cxn ang="0">
                      <a:pos x="70" y="248"/>
                    </a:cxn>
                    <a:cxn ang="0">
                      <a:pos x="77" y="256"/>
                    </a:cxn>
                    <a:cxn ang="0">
                      <a:pos x="90" y="262"/>
                    </a:cxn>
                    <a:cxn ang="0">
                      <a:pos x="106" y="256"/>
                    </a:cxn>
                    <a:cxn ang="0">
                      <a:pos x="129" y="252"/>
                    </a:cxn>
                    <a:cxn ang="0">
                      <a:pos x="146" y="245"/>
                    </a:cxn>
                    <a:cxn ang="0">
                      <a:pos x="161" y="241"/>
                    </a:cxn>
                    <a:cxn ang="0">
                      <a:pos x="172" y="248"/>
                    </a:cxn>
                    <a:cxn ang="0">
                      <a:pos x="187" y="265"/>
                    </a:cxn>
                    <a:cxn ang="0">
                      <a:pos x="194" y="282"/>
                    </a:cxn>
                    <a:cxn ang="0">
                      <a:pos x="206" y="300"/>
                    </a:cxn>
                    <a:cxn ang="0">
                      <a:pos x="213" y="316"/>
                    </a:cxn>
                    <a:cxn ang="0">
                      <a:pos x="219" y="329"/>
                    </a:cxn>
                    <a:cxn ang="0">
                      <a:pos x="227" y="341"/>
                    </a:cxn>
                    <a:cxn ang="0">
                      <a:pos x="238" y="321"/>
                    </a:cxn>
                    <a:cxn ang="0">
                      <a:pos x="247" y="309"/>
                    </a:cxn>
                    <a:cxn ang="0">
                      <a:pos x="259" y="296"/>
                    </a:cxn>
                    <a:cxn ang="0">
                      <a:pos x="276" y="280"/>
                    </a:cxn>
                    <a:cxn ang="0">
                      <a:pos x="359" y="231"/>
                    </a:cxn>
                    <a:cxn ang="0">
                      <a:pos x="317" y="148"/>
                    </a:cxn>
                    <a:cxn ang="0">
                      <a:pos x="97" y="0"/>
                    </a:cxn>
                    <a:cxn ang="0">
                      <a:pos x="21" y="20"/>
                    </a:cxn>
                  </a:cxnLst>
                  <a:rect l="0" t="0" r="r" b="b"/>
                  <a:pathLst>
                    <a:path w="359" h="341">
                      <a:moveTo>
                        <a:pt x="21" y="20"/>
                      </a:moveTo>
                      <a:lnTo>
                        <a:pt x="18" y="39"/>
                      </a:lnTo>
                      <a:lnTo>
                        <a:pt x="18" y="56"/>
                      </a:lnTo>
                      <a:lnTo>
                        <a:pt x="19" y="78"/>
                      </a:lnTo>
                      <a:lnTo>
                        <a:pt x="13" y="95"/>
                      </a:lnTo>
                      <a:lnTo>
                        <a:pt x="6" y="107"/>
                      </a:lnTo>
                      <a:lnTo>
                        <a:pt x="0" y="116"/>
                      </a:lnTo>
                      <a:lnTo>
                        <a:pt x="0" y="125"/>
                      </a:lnTo>
                      <a:lnTo>
                        <a:pt x="6" y="132"/>
                      </a:lnTo>
                      <a:lnTo>
                        <a:pt x="19" y="136"/>
                      </a:lnTo>
                      <a:lnTo>
                        <a:pt x="29" y="143"/>
                      </a:lnTo>
                      <a:lnTo>
                        <a:pt x="30" y="147"/>
                      </a:lnTo>
                      <a:lnTo>
                        <a:pt x="33" y="162"/>
                      </a:lnTo>
                      <a:lnTo>
                        <a:pt x="33" y="176"/>
                      </a:lnTo>
                      <a:lnTo>
                        <a:pt x="38" y="180"/>
                      </a:lnTo>
                      <a:lnTo>
                        <a:pt x="45" y="183"/>
                      </a:lnTo>
                      <a:lnTo>
                        <a:pt x="49" y="187"/>
                      </a:lnTo>
                      <a:lnTo>
                        <a:pt x="46" y="194"/>
                      </a:lnTo>
                      <a:lnTo>
                        <a:pt x="49" y="201"/>
                      </a:lnTo>
                      <a:lnTo>
                        <a:pt x="55" y="208"/>
                      </a:lnTo>
                      <a:lnTo>
                        <a:pt x="65" y="214"/>
                      </a:lnTo>
                      <a:lnTo>
                        <a:pt x="67" y="224"/>
                      </a:lnTo>
                      <a:lnTo>
                        <a:pt x="67" y="236"/>
                      </a:lnTo>
                      <a:lnTo>
                        <a:pt x="70" y="248"/>
                      </a:lnTo>
                      <a:lnTo>
                        <a:pt x="77" y="256"/>
                      </a:lnTo>
                      <a:lnTo>
                        <a:pt x="90" y="262"/>
                      </a:lnTo>
                      <a:lnTo>
                        <a:pt x="106" y="256"/>
                      </a:lnTo>
                      <a:lnTo>
                        <a:pt x="129" y="252"/>
                      </a:lnTo>
                      <a:lnTo>
                        <a:pt x="146" y="245"/>
                      </a:lnTo>
                      <a:lnTo>
                        <a:pt x="161" y="241"/>
                      </a:lnTo>
                      <a:lnTo>
                        <a:pt x="172" y="248"/>
                      </a:lnTo>
                      <a:lnTo>
                        <a:pt x="187" y="265"/>
                      </a:lnTo>
                      <a:lnTo>
                        <a:pt x="194" y="282"/>
                      </a:lnTo>
                      <a:lnTo>
                        <a:pt x="206" y="300"/>
                      </a:lnTo>
                      <a:lnTo>
                        <a:pt x="213" y="316"/>
                      </a:lnTo>
                      <a:lnTo>
                        <a:pt x="219" y="329"/>
                      </a:lnTo>
                      <a:lnTo>
                        <a:pt x="227" y="341"/>
                      </a:lnTo>
                      <a:lnTo>
                        <a:pt x="238" y="321"/>
                      </a:lnTo>
                      <a:lnTo>
                        <a:pt x="247" y="309"/>
                      </a:lnTo>
                      <a:lnTo>
                        <a:pt x="259" y="296"/>
                      </a:lnTo>
                      <a:lnTo>
                        <a:pt x="276" y="280"/>
                      </a:lnTo>
                      <a:lnTo>
                        <a:pt x="359" y="231"/>
                      </a:lnTo>
                      <a:lnTo>
                        <a:pt x="317" y="148"/>
                      </a:lnTo>
                      <a:lnTo>
                        <a:pt x="97" y="0"/>
                      </a:lnTo>
                      <a:lnTo>
                        <a:pt x="21" y="20"/>
                      </a:lnTo>
                    </a:path>
                  </a:pathLst>
                </a:custGeom>
                <a:solidFill>
                  <a:srgbClr val="FDF3CF"/>
                </a:solidFill>
                <a:ln w="3175" cap="rnd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84" name="Freeform 44"/>
                <p:cNvSpPr>
                  <a:spLocks/>
                </p:cNvSpPr>
                <p:nvPr/>
              </p:nvSpPr>
              <p:spPr bwMode="auto">
                <a:xfrm flipH="1">
                  <a:off x="4532" y="1294"/>
                  <a:ext cx="449" cy="414"/>
                </a:xfrm>
                <a:custGeom>
                  <a:avLst/>
                  <a:gdLst/>
                  <a:ahLst/>
                  <a:cxnLst>
                    <a:cxn ang="0">
                      <a:pos x="481" y="305"/>
                    </a:cxn>
                    <a:cxn ang="0">
                      <a:pos x="503" y="281"/>
                    </a:cxn>
                    <a:cxn ang="0">
                      <a:pos x="517" y="261"/>
                    </a:cxn>
                    <a:cxn ang="0">
                      <a:pos x="526" y="237"/>
                    </a:cxn>
                    <a:cxn ang="0">
                      <a:pos x="528" y="203"/>
                    </a:cxn>
                    <a:cxn ang="0">
                      <a:pos x="526" y="185"/>
                    </a:cxn>
                    <a:cxn ang="0">
                      <a:pos x="519" y="157"/>
                    </a:cxn>
                    <a:cxn ang="0">
                      <a:pos x="508" y="126"/>
                    </a:cxn>
                    <a:cxn ang="0">
                      <a:pos x="483" y="91"/>
                    </a:cxn>
                    <a:cxn ang="0">
                      <a:pos x="457" y="59"/>
                    </a:cxn>
                    <a:cxn ang="0">
                      <a:pos x="419" y="33"/>
                    </a:cxn>
                    <a:cxn ang="0">
                      <a:pos x="399" y="20"/>
                    </a:cxn>
                    <a:cxn ang="0">
                      <a:pos x="365" y="7"/>
                    </a:cxn>
                    <a:cxn ang="0">
                      <a:pos x="330" y="0"/>
                    </a:cxn>
                    <a:cxn ang="0">
                      <a:pos x="287" y="2"/>
                    </a:cxn>
                    <a:cxn ang="0">
                      <a:pos x="234" y="7"/>
                    </a:cxn>
                    <a:cxn ang="0">
                      <a:pos x="183" y="22"/>
                    </a:cxn>
                    <a:cxn ang="0">
                      <a:pos x="125" y="61"/>
                    </a:cxn>
                    <a:cxn ang="0">
                      <a:pos x="87" y="111"/>
                    </a:cxn>
                    <a:cxn ang="0">
                      <a:pos x="62" y="148"/>
                    </a:cxn>
                    <a:cxn ang="0">
                      <a:pos x="45" y="179"/>
                    </a:cxn>
                    <a:cxn ang="0">
                      <a:pos x="31" y="242"/>
                    </a:cxn>
                    <a:cxn ang="0">
                      <a:pos x="22" y="303"/>
                    </a:cxn>
                    <a:cxn ang="0">
                      <a:pos x="9" y="333"/>
                    </a:cxn>
                    <a:cxn ang="0">
                      <a:pos x="0" y="366"/>
                    </a:cxn>
                    <a:cxn ang="0">
                      <a:pos x="9" y="401"/>
                    </a:cxn>
                    <a:cxn ang="0">
                      <a:pos x="40" y="433"/>
                    </a:cxn>
                    <a:cxn ang="0">
                      <a:pos x="96" y="457"/>
                    </a:cxn>
                    <a:cxn ang="0">
                      <a:pos x="216" y="481"/>
                    </a:cxn>
                    <a:cxn ang="0">
                      <a:pos x="307" y="486"/>
                    </a:cxn>
                    <a:cxn ang="0">
                      <a:pos x="332" y="468"/>
                    </a:cxn>
                    <a:cxn ang="0">
                      <a:pos x="345" y="468"/>
                    </a:cxn>
                    <a:cxn ang="0">
                      <a:pos x="340" y="490"/>
                    </a:cxn>
                    <a:cxn ang="0">
                      <a:pos x="380" y="488"/>
                    </a:cxn>
                    <a:cxn ang="0">
                      <a:pos x="414" y="478"/>
                    </a:cxn>
                    <a:cxn ang="0">
                      <a:pos x="374" y="440"/>
                    </a:cxn>
                    <a:cxn ang="0">
                      <a:pos x="356" y="406"/>
                    </a:cxn>
                    <a:cxn ang="0">
                      <a:pos x="356" y="358"/>
                    </a:cxn>
                    <a:cxn ang="0">
                      <a:pos x="372" y="314"/>
                    </a:cxn>
                    <a:cxn ang="0">
                      <a:pos x="388" y="297"/>
                    </a:cxn>
                    <a:cxn ang="0">
                      <a:pos x="438" y="299"/>
                    </a:cxn>
                    <a:cxn ang="0">
                      <a:pos x="481" y="305"/>
                    </a:cxn>
                  </a:cxnLst>
                  <a:rect l="0" t="0" r="r" b="b"/>
                  <a:pathLst>
                    <a:path w="529" h="491">
                      <a:moveTo>
                        <a:pt x="481" y="305"/>
                      </a:moveTo>
                      <a:lnTo>
                        <a:pt x="503" y="281"/>
                      </a:lnTo>
                      <a:lnTo>
                        <a:pt x="517" y="261"/>
                      </a:lnTo>
                      <a:lnTo>
                        <a:pt x="526" y="237"/>
                      </a:lnTo>
                      <a:lnTo>
                        <a:pt x="528" y="203"/>
                      </a:lnTo>
                      <a:lnTo>
                        <a:pt x="526" y="185"/>
                      </a:lnTo>
                      <a:lnTo>
                        <a:pt x="519" y="157"/>
                      </a:lnTo>
                      <a:lnTo>
                        <a:pt x="508" y="126"/>
                      </a:lnTo>
                      <a:lnTo>
                        <a:pt x="483" y="91"/>
                      </a:lnTo>
                      <a:lnTo>
                        <a:pt x="457" y="59"/>
                      </a:lnTo>
                      <a:lnTo>
                        <a:pt x="419" y="33"/>
                      </a:lnTo>
                      <a:lnTo>
                        <a:pt x="399" y="20"/>
                      </a:lnTo>
                      <a:lnTo>
                        <a:pt x="365" y="7"/>
                      </a:lnTo>
                      <a:lnTo>
                        <a:pt x="330" y="0"/>
                      </a:lnTo>
                      <a:lnTo>
                        <a:pt x="287" y="2"/>
                      </a:lnTo>
                      <a:lnTo>
                        <a:pt x="234" y="7"/>
                      </a:lnTo>
                      <a:lnTo>
                        <a:pt x="183" y="22"/>
                      </a:lnTo>
                      <a:lnTo>
                        <a:pt x="125" y="61"/>
                      </a:lnTo>
                      <a:lnTo>
                        <a:pt x="87" y="111"/>
                      </a:lnTo>
                      <a:lnTo>
                        <a:pt x="62" y="148"/>
                      </a:lnTo>
                      <a:lnTo>
                        <a:pt x="45" y="179"/>
                      </a:lnTo>
                      <a:lnTo>
                        <a:pt x="31" y="242"/>
                      </a:lnTo>
                      <a:lnTo>
                        <a:pt x="22" y="303"/>
                      </a:lnTo>
                      <a:lnTo>
                        <a:pt x="9" y="333"/>
                      </a:lnTo>
                      <a:lnTo>
                        <a:pt x="0" y="366"/>
                      </a:lnTo>
                      <a:lnTo>
                        <a:pt x="9" y="401"/>
                      </a:lnTo>
                      <a:lnTo>
                        <a:pt x="40" y="433"/>
                      </a:lnTo>
                      <a:lnTo>
                        <a:pt x="96" y="457"/>
                      </a:lnTo>
                      <a:lnTo>
                        <a:pt x="216" y="481"/>
                      </a:lnTo>
                      <a:lnTo>
                        <a:pt x="307" y="486"/>
                      </a:lnTo>
                      <a:lnTo>
                        <a:pt x="332" y="468"/>
                      </a:lnTo>
                      <a:lnTo>
                        <a:pt x="345" y="468"/>
                      </a:lnTo>
                      <a:lnTo>
                        <a:pt x="340" y="490"/>
                      </a:lnTo>
                      <a:lnTo>
                        <a:pt x="380" y="488"/>
                      </a:lnTo>
                      <a:lnTo>
                        <a:pt x="414" y="478"/>
                      </a:lnTo>
                      <a:lnTo>
                        <a:pt x="374" y="440"/>
                      </a:lnTo>
                      <a:lnTo>
                        <a:pt x="356" y="406"/>
                      </a:lnTo>
                      <a:lnTo>
                        <a:pt x="356" y="358"/>
                      </a:lnTo>
                      <a:lnTo>
                        <a:pt x="372" y="314"/>
                      </a:lnTo>
                      <a:lnTo>
                        <a:pt x="388" y="297"/>
                      </a:lnTo>
                      <a:lnTo>
                        <a:pt x="438" y="299"/>
                      </a:lnTo>
                      <a:lnTo>
                        <a:pt x="481" y="305"/>
                      </a:lnTo>
                    </a:path>
                  </a:pathLst>
                </a:custGeom>
                <a:gradFill rotWithShape="0">
                  <a:gsLst>
                    <a:gs pos="0">
                      <a:srgbClr val="969696"/>
                    </a:gs>
                    <a:gs pos="100000">
                      <a:srgbClr val="969696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 w="635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85" name="Freeform 45"/>
                <p:cNvSpPr>
                  <a:spLocks/>
                </p:cNvSpPr>
                <p:nvPr/>
              </p:nvSpPr>
              <p:spPr bwMode="auto">
                <a:xfrm flipH="1">
                  <a:off x="4600" y="1582"/>
                  <a:ext cx="35" cy="1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0" y="6"/>
                    </a:cxn>
                    <a:cxn ang="0">
                      <a:pos x="34" y="1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1" h="15">
                      <a:moveTo>
                        <a:pt x="0" y="0"/>
                      </a:moveTo>
                      <a:lnTo>
                        <a:pt x="40" y="6"/>
                      </a:lnTo>
                      <a:lnTo>
                        <a:pt x="34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969696"/>
                </a:solidFill>
                <a:ln w="6350" cap="rnd" cmpd="sng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86" name="Freeform 46"/>
                <p:cNvSpPr>
                  <a:spLocks/>
                </p:cNvSpPr>
                <p:nvPr/>
              </p:nvSpPr>
              <p:spPr bwMode="auto">
                <a:xfrm flipH="1">
                  <a:off x="4497" y="2079"/>
                  <a:ext cx="146" cy="115"/>
                </a:xfrm>
                <a:custGeom>
                  <a:avLst/>
                  <a:gdLst/>
                  <a:ahLst/>
                  <a:cxnLst>
                    <a:cxn ang="0">
                      <a:pos x="399" y="32"/>
                    </a:cxn>
                    <a:cxn ang="0">
                      <a:pos x="449" y="67"/>
                    </a:cxn>
                    <a:cxn ang="0">
                      <a:pos x="499" y="105"/>
                    </a:cxn>
                    <a:cxn ang="0">
                      <a:pos x="524" y="136"/>
                    </a:cxn>
                    <a:cxn ang="0">
                      <a:pos x="526" y="169"/>
                    </a:cxn>
                    <a:cxn ang="0">
                      <a:pos x="543" y="176"/>
                    </a:cxn>
                    <a:cxn ang="0">
                      <a:pos x="563" y="201"/>
                    </a:cxn>
                    <a:cxn ang="0">
                      <a:pos x="572" y="220"/>
                    </a:cxn>
                    <a:cxn ang="0">
                      <a:pos x="561" y="238"/>
                    </a:cxn>
                    <a:cxn ang="0">
                      <a:pos x="551" y="259"/>
                    </a:cxn>
                    <a:cxn ang="0">
                      <a:pos x="536" y="261"/>
                    </a:cxn>
                    <a:cxn ang="0">
                      <a:pos x="499" y="240"/>
                    </a:cxn>
                    <a:cxn ang="0">
                      <a:pos x="438" y="192"/>
                    </a:cxn>
                    <a:cxn ang="0">
                      <a:pos x="422" y="153"/>
                    </a:cxn>
                    <a:cxn ang="0">
                      <a:pos x="380" y="174"/>
                    </a:cxn>
                    <a:cxn ang="0">
                      <a:pos x="334" y="176"/>
                    </a:cxn>
                    <a:cxn ang="0">
                      <a:pos x="317" y="167"/>
                    </a:cxn>
                    <a:cxn ang="0">
                      <a:pos x="311" y="167"/>
                    </a:cxn>
                    <a:cxn ang="0">
                      <a:pos x="307" y="176"/>
                    </a:cxn>
                    <a:cxn ang="0">
                      <a:pos x="305" y="186"/>
                    </a:cxn>
                    <a:cxn ang="0">
                      <a:pos x="300" y="182"/>
                    </a:cxn>
                    <a:cxn ang="0">
                      <a:pos x="292" y="178"/>
                    </a:cxn>
                    <a:cxn ang="0">
                      <a:pos x="280" y="178"/>
                    </a:cxn>
                    <a:cxn ang="0">
                      <a:pos x="259" y="186"/>
                    </a:cxn>
                    <a:cxn ang="0">
                      <a:pos x="240" y="192"/>
                    </a:cxn>
                    <a:cxn ang="0">
                      <a:pos x="215" y="211"/>
                    </a:cxn>
                    <a:cxn ang="0">
                      <a:pos x="188" y="236"/>
                    </a:cxn>
                    <a:cxn ang="0">
                      <a:pos x="171" y="272"/>
                    </a:cxn>
                    <a:cxn ang="0">
                      <a:pos x="184" y="307"/>
                    </a:cxn>
                    <a:cxn ang="0">
                      <a:pos x="217" y="328"/>
                    </a:cxn>
                    <a:cxn ang="0">
                      <a:pos x="244" y="338"/>
                    </a:cxn>
                    <a:cxn ang="0">
                      <a:pos x="267" y="322"/>
                    </a:cxn>
                    <a:cxn ang="0">
                      <a:pos x="315" y="324"/>
                    </a:cxn>
                    <a:cxn ang="0">
                      <a:pos x="371" y="345"/>
                    </a:cxn>
                    <a:cxn ang="0">
                      <a:pos x="378" y="376"/>
                    </a:cxn>
                    <a:cxn ang="0">
                      <a:pos x="355" y="407"/>
                    </a:cxn>
                    <a:cxn ang="0">
                      <a:pos x="330" y="424"/>
                    </a:cxn>
                    <a:cxn ang="0">
                      <a:pos x="286" y="439"/>
                    </a:cxn>
                    <a:cxn ang="0">
                      <a:pos x="190" y="447"/>
                    </a:cxn>
                    <a:cxn ang="0">
                      <a:pos x="92" y="434"/>
                    </a:cxn>
                    <a:cxn ang="0">
                      <a:pos x="50" y="416"/>
                    </a:cxn>
                    <a:cxn ang="0">
                      <a:pos x="52" y="359"/>
                    </a:cxn>
                    <a:cxn ang="0">
                      <a:pos x="37" y="251"/>
                    </a:cxn>
                    <a:cxn ang="0">
                      <a:pos x="16" y="123"/>
                    </a:cxn>
                    <a:cxn ang="0">
                      <a:pos x="2" y="71"/>
                    </a:cxn>
                    <a:cxn ang="0">
                      <a:pos x="14" y="78"/>
                    </a:cxn>
                    <a:cxn ang="0">
                      <a:pos x="56" y="80"/>
                    </a:cxn>
                    <a:cxn ang="0">
                      <a:pos x="117" y="67"/>
                    </a:cxn>
                    <a:cxn ang="0">
                      <a:pos x="231" y="32"/>
                    </a:cxn>
                    <a:cxn ang="0">
                      <a:pos x="282" y="15"/>
                    </a:cxn>
                    <a:cxn ang="0">
                      <a:pos x="336" y="0"/>
                    </a:cxn>
                    <a:cxn ang="0">
                      <a:pos x="371" y="5"/>
                    </a:cxn>
                  </a:cxnLst>
                  <a:rect l="0" t="0" r="r" b="b"/>
                  <a:pathLst>
                    <a:path w="574" h="447">
                      <a:moveTo>
                        <a:pt x="384" y="15"/>
                      </a:moveTo>
                      <a:lnTo>
                        <a:pt x="392" y="25"/>
                      </a:lnTo>
                      <a:lnTo>
                        <a:pt x="399" y="32"/>
                      </a:lnTo>
                      <a:lnTo>
                        <a:pt x="411" y="40"/>
                      </a:lnTo>
                      <a:lnTo>
                        <a:pt x="422" y="50"/>
                      </a:lnTo>
                      <a:lnTo>
                        <a:pt x="449" y="67"/>
                      </a:lnTo>
                      <a:lnTo>
                        <a:pt x="476" y="86"/>
                      </a:lnTo>
                      <a:lnTo>
                        <a:pt x="488" y="96"/>
                      </a:lnTo>
                      <a:lnTo>
                        <a:pt x="499" y="105"/>
                      </a:lnTo>
                      <a:lnTo>
                        <a:pt x="509" y="115"/>
                      </a:lnTo>
                      <a:lnTo>
                        <a:pt x="518" y="124"/>
                      </a:lnTo>
                      <a:lnTo>
                        <a:pt x="524" y="136"/>
                      </a:lnTo>
                      <a:lnTo>
                        <a:pt x="528" y="146"/>
                      </a:lnTo>
                      <a:lnTo>
                        <a:pt x="528" y="157"/>
                      </a:lnTo>
                      <a:lnTo>
                        <a:pt x="526" y="169"/>
                      </a:lnTo>
                      <a:lnTo>
                        <a:pt x="530" y="169"/>
                      </a:lnTo>
                      <a:lnTo>
                        <a:pt x="536" y="171"/>
                      </a:lnTo>
                      <a:lnTo>
                        <a:pt x="543" y="176"/>
                      </a:lnTo>
                      <a:lnTo>
                        <a:pt x="549" y="184"/>
                      </a:lnTo>
                      <a:lnTo>
                        <a:pt x="557" y="194"/>
                      </a:lnTo>
                      <a:lnTo>
                        <a:pt x="563" y="201"/>
                      </a:lnTo>
                      <a:lnTo>
                        <a:pt x="568" y="211"/>
                      </a:lnTo>
                      <a:lnTo>
                        <a:pt x="574" y="217"/>
                      </a:lnTo>
                      <a:lnTo>
                        <a:pt x="572" y="220"/>
                      </a:lnTo>
                      <a:lnTo>
                        <a:pt x="568" y="226"/>
                      </a:lnTo>
                      <a:lnTo>
                        <a:pt x="565" y="232"/>
                      </a:lnTo>
                      <a:lnTo>
                        <a:pt x="561" y="238"/>
                      </a:lnTo>
                      <a:lnTo>
                        <a:pt x="557" y="245"/>
                      </a:lnTo>
                      <a:lnTo>
                        <a:pt x="553" y="251"/>
                      </a:lnTo>
                      <a:lnTo>
                        <a:pt x="551" y="259"/>
                      </a:lnTo>
                      <a:lnTo>
                        <a:pt x="549" y="265"/>
                      </a:lnTo>
                      <a:lnTo>
                        <a:pt x="543" y="265"/>
                      </a:lnTo>
                      <a:lnTo>
                        <a:pt x="536" y="261"/>
                      </a:lnTo>
                      <a:lnTo>
                        <a:pt x="528" y="257"/>
                      </a:lnTo>
                      <a:lnTo>
                        <a:pt x="518" y="251"/>
                      </a:lnTo>
                      <a:lnTo>
                        <a:pt x="499" y="240"/>
                      </a:lnTo>
                      <a:lnTo>
                        <a:pt x="478" y="222"/>
                      </a:lnTo>
                      <a:lnTo>
                        <a:pt x="457" y="207"/>
                      </a:lnTo>
                      <a:lnTo>
                        <a:pt x="438" y="192"/>
                      </a:lnTo>
                      <a:lnTo>
                        <a:pt x="421" y="178"/>
                      </a:lnTo>
                      <a:lnTo>
                        <a:pt x="409" y="169"/>
                      </a:lnTo>
                      <a:lnTo>
                        <a:pt x="422" y="153"/>
                      </a:lnTo>
                      <a:lnTo>
                        <a:pt x="409" y="163"/>
                      </a:lnTo>
                      <a:lnTo>
                        <a:pt x="396" y="169"/>
                      </a:lnTo>
                      <a:lnTo>
                        <a:pt x="380" y="174"/>
                      </a:lnTo>
                      <a:lnTo>
                        <a:pt x="365" y="178"/>
                      </a:lnTo>
                      <a:lnTo>
                        <a:pt x="350" y="180"/>
                      </a:lnTo>
                      <a:lnTo>
                        <a:pt x="334" y="176"/>
                      </a:lnTo>
                      <a:lnTo>
                        <a:pt x="328" y="174"/>
                      </a:lnTo>
                      <a:lnTo>
                        <a:pt x="323" y="171"/>
                      </a:lnTo>
                      <a:lnTo>
                        <a:pt x="317" y="167"/>
                      </a:lnTo>
                      <a:lnTo>
                        <a:pt x="311" y="161"/>
                      </a:lnTo>
                      <a:lnTo>
                        <a:pt x="311" y="165"/>
                      </a:lnTo>
                      <a:lnTo>
                        <a:pt x="311" y="167"/>
                      </a:lnTo>
                      <a:lnTo>
                        <a:pt x="309" y="171"/>
                      </a:lnTo>
                      <a:lnTo>
                        <a:pt x="309" y="172"/>
                      </a:lnTo>
                      <a:lnTo>
                        <a:pt x="307" y="176"/>
                      </a:lnTo>
                      <a:lnTo>
                        <a:pt x="307" y="178"/>
                      </a:lnTo>
                      <a:lnTo>
                        <a:pt x="305" y="182"/>
                      </a:lnTo>
                      <a:lnTo>
                        <a:pt x="305" y="186"/>
                      </a:lnTo>
                      <a:lnTo>
                        <a:pt x="303" y="184"/>
                      </a:lnTo>
                      <a:lnTo>
                        <a:pt x="302" y="184"/>
                      </a:lnTo>
                      <a:lnTo>
                        <a:pt x="300" y="182"/>
                      </a:lnTo>
                      <a:lnTo>
                        <a:pt x="296" y="182"/>
                      </a:lnTo>
                      <a:lnTo>
                        <a:pt x="294" y="180"/>
                      </a:lnTo>
                      <a:lnTo>
                        <a:pt x="292" y="178"/>
                      </a:lnTo>
                      <a:lnTo>
                        <a:pt x="290" y="178"/>
                      </a:lnTo>
                      <a:lnTo>
                        <a:pt x="288" y="176"/>
                      </a:lnTo>
                      <a:lnTo>
                        <a:pt x="280" y="178"/>
                      </a:lnTo>
                      <a:lnTo>
                        <a:pt x="273" y="180"/>
                      </a:lnTo>
                      <a:lnTo>
                        <a:pt x="267" y="182"/>
                      </a:lnTo>
                      <a:lnTo>
                        <a:pt x="259" y="186"/>
                      </a:lnTo>
                      <a:lnTo>
                        <a:pt x="254" y="188"/>
                      </a:lnTo>
                      <a:lnTo>
                        <a:pt x="246" y="192"/>
                      </a:lnTo>
                      <a:lnTo>
                        <a:pt x="240" y="192"/>
                      </a:lnTo>
                      <a:lnTo>
                        <a:pt x="232" y="194"/>
                      </a:lnTo>
                      <a:lnTo>
                        <a:pt x="225" y="201"/>
                      </a:lnTo>
                      <a:lnTo>
                        <a:pt x="215" y="211"/>
                      </a:lnTo>
                      <a:lnTo>
                        <a:pt x="208" y="219"/>
                      </a:lnTo>
                      <a:lnTo>
                        <a:pt x="198" y="226"/>
                      </a:lnTo>
                      <a:lnTo>
                        <a:pt x="188" y="236"/>
                      </a:lnTo>
                      <a:lnTo>
                        <a:pt x="181" y="247"/>
                      </a:lnTo>
                      <a:lnTo>
                        <a:pt x="175" y="259"/>
                      </a:lnTo>
                      <a:lnTo>
                        <a:pt x="171" y="272"/>
                      </a:lnTo>
                      <a:lnTo>
                        <a:pt x="171" y="288"/>
                      </a:lnTo>
                      <a:lnTo>
                        <a:pt x="175" y="297"/>
                      </a:lnTo>
                      <a:lnTo>
                        <a:pt x="184" y="307"/>
                      </a:lnTo>
                      <a:lnTo>
                        <a:pt x="194" y="315"/>
                      </a:lnTo>
                      <a:lnTo>
                        <a:pt x="206" y="322"/>
                      </a:lnTo>
                      <a:lnTo>
                        <a:pt x="217" y="328"/>
                      </a:lnTo>
                      <a:lnTo>
                        <a:pt x="229" y="332"/>
                      </a:lnTo>
                      <a:lnTo>
                        <a:pt x="238" y="336"/>
                      </a:lnTo>
                      <a:lnTo>
                        <a:pt x="244" y="338"/>
                      </a:lnTo>
                      <a:lnTo>
                        <a:pt x="252" y="330"/>
                      </a:lnTo>
                      <a:lnTo>
                        <a:pt x="257" y="326"/>
                      </a:lnTo>
                      <a:lnTo>
                        <a:pt x="267" y="322"/>
                      </a:lnTo>
                      <a:lnTo>
                        <a:pt x="275" y="320"/>
                      </a:lnTo>
                      <a:lnTo>
                        <a:pt x="294" y="320"/>
                      </a:lnTo>
                      <a:lnTo>
                        <a:pt x="315" y="324"/>
                      </a:lnTo>
                      <a:lnTo>
                        <a:pt x="334" y="330"/>
                      </a:lnTo>
                      <a:lnTo>
                        <a:pt x="353" y="338"/>
                      </a:lnTo>
                      <a:lnTo>
                        <a:pt x="371" y="345"/>
                      </a:lnTo>
                      <a:lnTo>
                        <a:pt x="384" y="353"/>
                      </a:lnTo>
                      <a:lnTo>
                        <a:pt x="382" y="364"/>
                      </a:lnTo>
                      <a:lnTo>
                        <a:pt x="378" y="376"/>
                      </a:lnTo>
                      <a:lnTo>
                        <a:pt x="373" y="387"/>
                      </a:lnTo>
                      <a:lnTo>
                        <a:pt x="365" y="397"/>
                      </a:lnTo>
                      <a:lnTo>
                        <a:pt x="355" y="407"/>
                      </a:lnTo>
                      <a:lnTo>
                        <a:pt x="346" y="414"/>
                      </a:lnTo>
                      <a:lnTo>
                        <a:pt x="338" y="420"/>
                      </a:lnTo>
                      <a:lnTo>
                        <a:pt x="330" y="424"/>
                      </a:lnTo>
                      <a:lnTo>
                        <a:pt x="317" y="430"/>
                      </a:lnTo>
                      <a:lnTo>
                        <a:pt x="303" y="435"/>
                      </a:lnTo>
                      <a:lnTo>
                        <a:pt x="286" y="439"/>
                      </a:lnTo>
                      <a:lnTo>
                        <a:pt x="269" y="441"/>
                      </a:lnTo>
                      <a:lnTo>
                        <a:pt x="231" y="447"/>
                      </a:lnTo>
                      <a:lnTo>
                        <a:pt x="190" y="447"/>
                      </a:lnTo>
                      <a:lnTo>
                        <a:pt x="148" y="445"/>
                      </a:lnTo>
                      <a:lnTo>
                        <a:pt x="110" y="439"/>
                      </a:lnTo>
                      <a:lnTo>
                        <a:pt x="92" y="434"/>
                      </a:lnTo>
                      <a:lnTo>
                        <a:pt x="77" y="430"/>
                      </a:lnTo>
                      <a:lnTo>
                        <a:pt x="62" y="424"/>
                      </a:lnTo>
                      <a:lnTo>
                        <a:pt x="50" y="416"/>
                      </a:lnTo>
                      <a:lnTo>
                        <a:pt x="52" y="397"/>
                      </a:lnTo>
                      <a:lnTo>
                        <a:pt x="52" y="378"/>
                      </a:lnTo>
                      <a:lnTo>
                        <a:pt x="52" y="359"/>
                      </a:lnTo>
                      <a:lnTo>
                        <a:pt x="52" y="338"/>
                      </a:lnTo>
                      <a:lnTo>
                        <a:pt x="46" y="295"/>
                      </a:lnTo>
                      <a:lnTo>
                        <a:pt x="37" y="251"/>
                      </a:lnTo>
                      <a:lnTo>
                        <a:pt x="29" y="207"/>
                      </a:lnTo>
                      <a:lnTo>
                        <a:pt x="21" y="165"/>
                      </a:lnTo>
                      <a:lnTo>
                        <a:pt x="16" y="123"/>
                      </a:lnTo>
                      <a:lnTo>
                        <a:pt x="12" y="82"/>
                      </a:lnTo>
                      <a:lnTo>
                        <a:pt x="0" y="67"/>
                      </a:lnTo>
                      <a:lnTo>
                        <a:pt x="2" y="71"/>
                      </a:lnTo>
                      <a:lnTo>
                        <a:pt x="4" y="73"/>
                      </a:lnTo>
                      <a:lnTo>
                        <a:pt x="8" y="76"/>
                      </a:lnTo>
                      <a:lnTo>
                        <a:pt x="14" y="78"/>
                      </a:lnTo>
                      <a:lnTo>
                        <a:pt x="25" y="80"/>
                      </a:lnTo>
                      <a:lnTo>
                        <a:pt x="39" y="80"/>
                      </a:lnTo>
                      <a:lnTo>
                        <a:pt x="56" y="80"/>
                      </a:lnTo>
                      <a:lnTo>
                        <a:pt x="75" y="76"/>
                      </a:lnTo>
                      <a:lnTo>
                        <a:pt x="96" y="73"/>
                      </a:lnTo>
                      <a:lnTo>
                        <a:pt x="117" y="67"/>
                      </a:lnTo>
                      <a:lnTo>
                        <a:pt x="158" y="55"/>
                      </a:lnTo>
                      <a:lnTo>
                        <a:pt x="198" y="42"/>
                      </a:lnTo>
                      <a:lnTo>
                        <a:pt x="231" y="32"/>
                      </a:lnTo>
                      <a:lnTo>
                        <a:pt x="250" y="27"/>
                      </a:lnTo>
                      <a:lnTo>
                        <a:pt x="265" y="21"/>
                      </a:lnTo>
                      <a:lnTo>
                        <a:pt x="282" y="15"/>
                      </a:lnTo>
                      <a:lnTo>
                        <a:pt x="300" y="9"/>
                      </a:lnTo>
                      <a:lnTo>
                        <a:pt x="317" y="4"/>
                      </a:lnTo>
                      <a:lnTo>
                        <a:pt x="336" y="0"/>
                      </a:lnTo>
                      <a:lnTo>
                        <a:pt x="353" y="0"/>
                      </a:lnTo>
                      <a:lnTo>
                        <a:pt x="361" y="2"/>
                      </a:lnTo>
                      <a:lnTo>
                        <a:pt x="371" y="5"/>
                      </a:lnTo>
                      <a:lnTo>
                        <a:pt x="378" y="9"/>
                      </a:lnTo>
                      <a:lnTo>
                        <a:pt x="384" y="15"/>
                      </a:lnTo>
                      <a:close/>
                    </a:path>
                  </a:pathLst>
                </a:custGeom>
                <a:solidFill>
                  <a:srgbClr val="FDF3CF"/>
                </a:solidFill>
                <a:ln w="3175" cap="rnd" cmpd="sng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87" name="Freeform 47"/>
                <p:cNvSpPr>
                  <a:spLocks/>
                </p:cNvSpPr>
                <p:nvPr/>
              </p:nvSpPr>
              <p:spPr bwMode="auto">
                <a:xfrm rot="1622053" flipH="1">
                  <a:off x="4146" y="2220"/>
                  <a:ext cx="449" cy="153"/>
                </a:xfrm>
                <a:custGeom>
                  <a:avLst/>
                  <a:gdLst/>
                  <a:ahLst/>
                  <a:cxnLst>
                    <a:cxn ang="0">
                      <a:pos x="455" y="32"/>
                    </a:cxn>
                    <a:cxn ang="0">
                      <a:pos x="468" y="46"/>
                    </a:cxn>
                    <a:cxn ang="0">
                      <a:pos x="487" y="65"/>
                    </a:cxn>
                    <a:cxn ang="0">
                      <a:pos x="498" y="74"/>
                    </a:cxn>
                    <a:cxn ang="0">
                      <a:pos x="504" y="90"/>
                    </a:cxn>
                    <a:cxn ang="0">
                      <a:pos x="517" y="104"/>
                    </a:cxn>
                    <a:cxn ang="0">
                      <a:pos x="527" y="112"/>
                    </a:cxn>
                    <a:cxn ang="0">
                      <a:pos x="539" y="116"/>
                    </a:cxn>
                    <a:cxn ang="0">
                      <a:pos x="555" y="124"/>
                    </a:cxn>
                    <a:cxn ang="0">
                      <a:pos x="553" y="138"/>
                    </a:cxn>
                    <a:cxn ang="0">
                      <a:pos x="543" y="144"/>
                    </a:cxn>
                    <a:cxn ang="0">
                      <a:pos x="527" y="146"/>
                    </a:cxn>
                    <a:cxn ang="0">
                      <a:pos x="513" y="138"/>
                    </a:cxn>
                    <a:cxn ang="0">
                      <a:pos x="489" y="130"/>
                    </a:cxn>
                    <a:cxn ang="0">
                      <a:pos x="463" y="130"/>
                    </a:cxn>
                    <a:cxn ang="0">
                      <a:pos x="452" y="129"/>
                    </a:cxn>
                    <a:cxn ang="0">
                      <a:pos x="428" y="135"/>
                    </a:cxn>
                    <a:cxn ang="0">
                      <a:pos x="392" y="158"/>
                    </a:cxn>
                    <a:cxn ang="0">
                      <a:pos x="359" y="178"/>
                    </a:cxn>
                    <a:cxn ang="0">
                      <a:pos x="325" y="185"/>
                    </a:cxn>
                    <a:cxn ang="0">
                      <a:pos x="284" y="189"/>
                    </a:cxn>
                    <a:cxn ang="0">
                      <a:pos x="249" y="185"/>
                    </a:cxn>
                    <a:cxn ang="0">
                      <a:pos x="210" y="182"/>
                    </a:cxn>
                    <a:cxn ang="0">
                      <a:pos x="178" y="176"/>
                    </a:cxn>
                    <a:cxn ang="0">
                      <a:pos x="134" y="169"/>
                    </a:cxn>
                    <a:cxn ang="0">
                      <a:pos x="82" y="156"/>
                    </a:cxn>
                    <a:cxn ang="0">
                      <a:pos x="30" y="139"/>
                    </a:cxn>
                    <a:cxn ang="0">
                      <a:pos x="8" y="124"/>
                    </a:cxn>
                    <a:cxn ang="0">
                      <a:pos x="0" y="122"/>
                    </a:cxn>
                    <a:cxn ang="0">
                      <a:pos x="35" y="90"/>
                    </a:cxn>
                    <a:cxn ang="0">
                      <a:pos x="68" y="49"/>
                    </a:cxn>
                    <a:cxn ang="0">
                      <a:pos x="72" y="29"/>
                    </a:cxn>
                    <a:cxn ang="0">
                      <a:pos x="129" y="53"/>
                    </a:cxn>
                    <a:cxn ang="0">
                      <a:pos x="180" y="74"/>
                    </a:cxn>
                    <a:cxn ang="0">
                      <a:pos x="236" y="93"/>
                    </a:cxn>
                    <a:cxn ang="0">
                      <a:pos x="273" y="99"/>
                    </a:cxn>
                    <a:cxn ang="0">
                      <a:pos x="296" y="72"/>
                    </a:cxn>
                    <a:cxn ang="0">
                      <a:pos x="323" y="48"/>
                    </a:cxn>
                    <a:cxn ang="0">
                      <a:pos x="347" y="27"/>
                    </a:cxn>
                    <a:cxn ang="0">
                      <a:pos x="368" y="7"/>
                    </a:cxn>
                    <a:cxn ang="0">
                      <a:pos x="398" y="0"/>
                    </a:cxn>
                    <a:cxn ang="0">
                      <a:pos x="409" y="6"/>
                    </a:cxn>
                    <a:cxn ang="0">
                      <a:pos x="421" y="18"/>
                    </a:cxn>
                    <a:cxn ang="0">
                      <a:pos x="438" y="24"/>
                    </a:cxn>
                    <a:cxn ang="0">
                      <a:pos x="455" y="32"/>
                    </a:cxn>
                  </a:cxnLst>
                  <a:rect l="0" t="0" r="r" b="b"/>
                  <a:pathLst>
                    <a:path w="556" h="190">
                      <a:moveTo>
                        <a:pt x="455" y="32"/>
                      </a:moveTo>
                      <a:lnTo>
                        <a:pt x="468" y="46"/>
                      </a:lnTo>
                      <a:lnTo>
                        <a:pt x="487" y="65"/>
                      </a:lnTo>
                      <a:lnTo>
                        <a:pt x="498" y="74"/>
                      </a:lnTo>
                      <a:lnTo>
                        <a:pt x="504" y="90"/>
                      </a:lnTo>
                      <a:lnTo>
                        <a:pt x="517" y="104"/>
                      </a:lnTo>
                      <a:lnTo>
                        <a:pt x="527" y="112"/>
                      </a:lnTo>
                      <a:lnTo>
                        <a:pt x="539" y="116"/>
                      </a:lnTo>
                      <a:lnTo>
                        <a:pt x="555" y="124"/>
                      </a:lnTo>
                      <a:lnTo>
                        <a:pt x="553" y="138"/>
                      </a:lnTo>
                      <a:lnTo>
                        <a:pt x="543" y="144"/>
                      </a:lnTo>
                      <a:lnTo>
                        <a:pt x="527" y="146"/>
                      </a:lnTo>
                      <a:lnTo>
                        <a:pt x="513" y="138"/>
                      </a:lnTo>
                      <a:lnTo>
                        <a:pt x="489" y="130"/>
                      </a:lnTo>
                      <a:lnTo>
                        <a:pt x="463" y="130"/>
                      </a:lnTo>
                      <a:lnTo>
                        <a:pt x="452" y="129"/>
                      </a:lnTo>
                      <a:lnTo>
                        <a:pt x="428" y="135"/>
                      </a:lnTo>
                      <a:lnTo>
                        <a:pt x="392" y="158"/>
                      </a:lnTo>
                      <a:lnTo>
                        <a:pt x="359" y="178"/>
                      </a:lnTo>
                      <a:lnTo>
                        <a:pt x="325" y="185"/>
                      </a:lnTo>
                      <a:lnTo>
                        <a:pt x="284" y="189"/>
                      </a:lnTo>
                      <a:lnTo>
                        <a:pt x="249" y="185"/>
                      </a:lnTo>
                      <a:lnTo>
                        <a:pt x="210" y="182"/>
                      </a:lnTo>
                      <a:lnTo>
                        <a:pt x="178" y="176"/>
                      </a:lnTo>
                      <a:lnTo>
                        <a:pt x="134" y="169"/>
                      </a:lnTo>
                      <a:lnTo>
                        <a:pt x="82" y="156"/>
                      </a:lnTo>
                      <a:lnTo>
                        <a:pt x="30" y="139"/>
                      </a:lnTo>
                      <a:lnTo>
                        <a:pt x="8" y="124"/>
                      </a:lnTo>
                      <a:lnTo>
                        <a:pt x="0" y="122"/>
                      </a:lnTo>
                      <a:lnTo>
                        <a:pt x="35" y="90"/>
                      </a:lnTo>
                      <a:lnTo>
                        <a:pt x="68" y="49"/>
                      </a:lnTo>
                      <a:lnTo>
                        <a:pt x="72" y="29"/>
                      </a:lnTo>
                      <a:lnTo>
                        <a:pt x="129" y="53"/>
                      </a:lnTo>
                      <a:lnTo>
                        <a:pt x="180" y="74"/>
                      </a:lnTo>
                      <a:lnTo>
                        <a:pt x="236" y="93"/>
                      </a:lnTo>
                      <a:lnTo>
                        <a:pt x="273" y="99"/>
                      </a:lnTo>
                      <a:lnTo>
                        <a:pt x="296" y="72"/>
                      </a:lnTo>
                      <a:lnTo>
                        <a:pt x="323" y="48"/>
                      </a:lnTo>
                      <a:lnTo>
                        <a:pt x="347" y="27"/>
                      </a:lnTo>
                      <a:lnTo>
                        <a:pt x="368" y="7"/>
                      </a:lnTo>
                      <a:lnTo>
                        <a:pt x="398" y="0"/>
                      </a:lnTo>
                      <a:lnTo>
                        <a:pt x="409" y="6"/>
                      </a:lnTo>
                      <a:lnTo>
                        <a:pt x="421" y="18"/>
                      </a:lnTo>
                      <a:lnTo>
                        <a:pt x="438" y="24"/>
                      </a:lnTo>
                      <a:lnTo>
                        <a:pt x="455" y="32"/>
                      </a:lnTo>
                    </a:path>
                  </a:pathLst>
                </a:custGeom>
                <a:solidFill>
                  <a:srgbClr val="FDF3CF"/>
                </a:solidFill>
                <a:ln w="3175" cap="rnd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88" name="Freeform 48"/>
                <p:cNvSpPr>
                  <a:spLocks/>
                </p:cNvSpPr>
                <p:nvPr/>
              </p:nvSpPr>
              <p:spPr bwMode="auto">
                <a:xfrm flipH="1">
                  <a:off x="4315" y="1726"/>
                  <a:ext cx="667" cy="713"/>
                </a:xfrm>
                <a:custGeom>
                  <a:avLst/>
                  <a:gdLst/>
                  <a:ahLst/>
                  <a:cxnLst>
                    <a:cxn ang="0">
                      <a:pos x="68" y="0"/>
                    </a:cxn>
                    <a:cxn ang="0">
                      <a:pos x="208" y="76"/>
                    </a:cxn>
                    <a:cxn ang="0">
                      <a:pos x="256" y="104"/>
                    </a:cxn>
                    <a:cxn ang="0">
                      <a:pos x="280" y="164"/>
                    </a:cxn>
                    <a:cxn ang="0">
                      <a:pos x="304" y="216"/>
                    </a:cxn>
                    <a:cxn ang="0">
                      <a:pos x="328" y="236"/>
                    </a:cxn>
                    <a:cxn ang="0">
                      <a:pos x="368" y="284"/>
                    </a:cxn>
                    <a:cxn ang="0">
                      <a:pos x="432" y="416"/>
                    </a:cxn>
                    <a:cxn ang="0">
                      <a:pos x="444" y="500"/>
                    </a:cxn>
                    <a:cxn ang="0">
                      <a:pos x="456" y="606"/>
                    </a:cxn>
                    <a:cxn ang="0">
                      <a:pos x="477" y="654"/>
                    </a:cxn>
                    <a:cxn ang="0">
                      <a:pos x="534" y="681"/>
                    </a:cxn>
                    <a:cxn ang="0">
                      <a:pos x="618" y="708"/>
                    </a:cxn>
                    <a:cxn ang="0">
                      <a:pos x="708" y="708"/>
                    </a:cxn>
                    <a:cxn ang="0">
                      <a:pos x="774" y="768"/>
                    </a:cxn>
                    <a:cxn ang="0">
                      <a:pos x="825" y="816"/>
                    </a:cxn>
                    <a:cxn ang="0">
                      <a:pos x="792" y="870"/>
                    </a:cxn>
                    <a:cxn ang="0">
                      <a:pos x="572" y="878"/>
                    </a:cxn>
                    <a:cxn ang="0">
                      <a:pos x="4" y="878"/>
                    </a:cxn>
                    <a:cxn ang="0">
                      <a:pos x="4" y="48"/>
                    </a:cxn>
                    <a:cxn ang="0">
                      <a:pos x="64" y="0"/>
                    </a:cxn>
                  </a:cxnLst>
                  <a:rect l="0" t="0" r="r" b="b"/>
                  <a:pathLst>
                    <a:path w="825" h="882">
                      <a:moveTo>
                        <a:pt x="68" y="0"/>
                      </a:moveTo>
                      <a:cubicBezTo>
                        <a:pt x="118" y="17"/>
                        <a:pt x="156" y="63"/>
                        <a:pt x="208" y="76"/>
                      </a:cubicBezTo>
                      <a:cubicBezTo>
                        <a:pt x="225" y="87"/>
                        <a:pt x="240" y="93"/>
                        <a:pt x="256" y="104"/>
                      </a:cubicBezTo>
                      <a:cubicBezTo>
                        <a:pt x="272" y="128"/>
                        <a:pt x="271" y="137"/>
                        <a:pt x="280" y="164"/>
                      </a:cubicBezTo>
                      <a:cubicBezTo>
                        <a:pt x="283" y="191"/>
                        <a:pt x="278" y="207"/>
                        <a:pt x="304" y="216"/>
                      </a:cubicBezTo>
                      <a:cubicBezTo>
                        <a:pt x="311" y="223"/>
                        <a:pt x="321" y="228"/>
                        <a:pt x="328" y="236"/>
                      </a:cubicBezTo>
                      <a:cubicBezTo>
                        <a:pt x="344" y="254"/>
                        <a:pt x="348" y="270"/>
                        <a:pt x="368" y="284"/>
                      </a:cubicBezTo>
                      <a:cubicBezTo>
                        <a:pt x="384" y="331"/>
                        <a:pt x="422" y="365"/>
                        <a:pt x="432" y="416"/>
                      </a:cubicBezTo>
                      <a:cubicBezTo>
                        <a:pt x="438" y="444"/>
                        <a:pt x="444" y="500"/>
                        <a:pt x="444" y="500"/>
                      </a:cubicBezTo>
                      <a:cubicBezTo>
                        <a:pt x="451" y="530"/>
                        <a:pt x="448" y="584"/>
                        <a:pt x="456" y="606"/>
                      </a:cubicBezTo>
                      <a:cubicBezTo>
                        <a:pt x="461" y="632"/>
                        <a:pt x="464" y="642"/>
                        <a:pt x="477" y="654"/>
                      </a:cubicBezTo>
                      <a:cubicBezTo>
                        <a:pt x="490" y="666"/>
                        <a:pt x="511" y="672"/>
                        <a:pt x="534" y="681"/>
                      </a:cubicBezTo>
                      <a:cubicBezTo>
                        <a:pt x="557" y="690"/>
                        <a:pt x="589" y="704"/>
                        <a:pt x="618" y="708"/>
                      </a:cubicBezTo>
                      <a:cubicBezTo>
                        <a:pt x="674" y="706"/>
                        <a:pt x="648" y="669"/>
                        <a:pt x="708" y="708"/>
                      </a:cubicBezTo>
                      <a:cubicBezTo>
                        <a:pt x="721" y="728"/>
                        <a:pt x="762" y="741"/>
                        <a:pt x="774" y="768"/>
                      </a:cubicBezTo>
                      <a:cubicBezTo>
                        <a:pt x="795" y="775"/>
                        <a:pt x="817" y="792"/>
                        <a:pt x="825" y="816"/>
                      </a:cubicBezTo>
                      <a:cubicBezTo>
                        <a:pt x="825" y="828"/>
                        <a:pt x="803" y="858"/>
                        <a:pt x="792" y="870"/>
                      </a:cubicBezTo>
                      <a:cubicBezTo>
                        <a:pt x="747" y="882"/>
                        <a:pt x="748" y="880"/>
                        <a:pt x="572" y="878"/>
                      </a:cubicBezTo>
                      <a:cubicBezTo>
                        <a:pt x="616" y="878"/>
                        <a:pt x="236" y="878"/>
                        <a:pt x="4" y="878"/>
                      </a:cubicBezTo>
                      <a:cubicBezTo>
                        <a:pt x="8" y="622"/>
                        <a:pt x="0" y="248"/>
                        <a:pt x="4" y="48"/>
                      </a:cubicBezTo>
                      <a:cubicBezTo>
                        <a:pt x="12" y="23"/>
                        <a:pt x="51" y="9"/>
                        <a:pt x="64" y="0"/>
                      </a:cubicBezTo>
                    </a:path>
                  </a:pathLst>
                </a:custGeom>
                <a:gradFill rotWithShape="0">
                  <a:gsLst>
                    <a:gs pos="0">
                      <a:srgbClr val="FFCC99"/>
                    </a:gs>
                    <a:gs pos="100000">
                      <a:srgbClr val="FFCC00"/>
                    </a:gs>
                  </a:gsLst>
                  <a:lin ang="5400000" scaled="1"/>
                </a:gradFill>
                <a:ln w="3175" cap="flat" cmpd="sng">
                  <a:solidFill>
                    <a:srgbClr val="777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89" name="Freeform 49"/>
                <p:cNvSpPr>
                  <a:spLocks/>
                </p:cNvSpPr>
                <p:nvPr/>
              </p:nvSpPr>
              <p:spPr bwMode="auto">
                <a:xfrm flipH="1">
                  <a:off x="4685" y="1840"/>
                  <a:ext cx="291" cy="593"/>
                </a:xfrm>
                <a:custGeom>
                  <a:avLst/>
                  <a:gdLst/>
                  <a:ahLst/>
                  <a:cxnLst>
                    <a:cxn ang="0">
                      <a:pos x="3" y="732"/>
                    </a:cxn>
                    <a:cxn ang="0">
                      <a:pos x="336" y="729"/>
                    </a:cxn>
                    <a:cxn ang="0">
                      <a:pos x="292" y="713"/>
                    </a:cxn>
                    <a:cxn ang="0">
                      <a:pos x="348" y="709"/>
                    </a:cxn>
                    <a:cxn ang="0">
                      <a:pos x="312" y="695"/>
                    </a:cxn>
                    <a:cxn ang="0">
                      <a:pos x="320" y="630"/>
                    </a:cxn>
                    <a:cxn ang="0">
                      <a:pos x="308" y="634"/>
                    </a:cxn>
                    <a:cxn ang="0">
                      <a:pos x="280" y="673"/>
                    </a:cxn>
                    <a:cxn ang="0">
                      <a:pos x="236" y="569"/>
                    </a:cxn>
                    <a:cxn ang="0">
                      <a:pos x="208" y="522"/>
                    </a:cxn>
                    <a:cxn ang="0">
                      <a:pos x="192" y="313"/>
                    </a:cxn>
                    <a:cxn ang="0">
                      <a:pos x="156" y="187"/>
                    </a:cxn>
                    <a:cxn ang="0">
                      <a:pos x="140" y="288"/>
                    </a:cxn>
                    <a:cxn ang="0">
                      <a:pos x="124" y="284"/>
                    </a:cxn>
                    <a:cxn ang="0">
                      <a:pos x="116" y="277"/>
                    </a:cxn>
                    <a:cxn ang="0">
                      <a:pos x="156" y="446"/>
                    </a:cxn>
                    <a:cxn ang="0">
                      <a:pos x="176" y="497"/>
                    </a:cxn>
                    <a:cxn ang="0">
                      <a:pos x="184" y="526"/>
                    </a:cxn>
                    <a:cxn ang="0">
                      <a:pos x="220" y="619"/>
                    </a:cxn>
                    <a:cxn ang="0">
                      <a:pos x="248" y="662"/>
                    </a:cxn>
                    <a:cxn ang="0">
                      <a:pos x="208" y="648"/>
                    </a:cxn>
                    <a:cxn ang="0">
                      <a:pos x="180" y="634"/>
                    </a:cxn>
                    <a:cxn ang="0">
                      <a:pos x="156" y="619"/>
                    </a:cxn>
                    <a:cxn ang="0">
                      <a:pos x="116" y="623"/>
                    </a:cxn>
                    <a:cxn ang="0">
                      <a:pos x="48" y="425"/>
                    </a:cxn>
                    <a:cxn ang="0">
                      <a:pos x="40" y="363"/>
                    </a:cxn>
                    <a:cxn ang="0">
                      <a:pos x="36" y="338"/>
                    </a:cxn>
                    <a:cxn ang="0">
                      <a:pos x="28" y="317"/>
                    </a:cxn>
                    <a:cxn ang="0">
                      <a:pos x="32" y="111"/>
                    </a:cxn>
                    <a:cxn ang="0">
                      <a:pos x="40" y="89"/>
                    </a:cxn>
                    <a:cxn ang="0">
                      <a:pos x="96" y="32"/>
                    </a:cxn>
                    <a:cxn ang="0">
                      <a:pos x="156" y="79"/>
                    </a:cxn>
                    <a:cxn ang="0">
                      <a:pos x="236" y="126"/>
                    </a:cxn>
                    <a:cxn ang="0">
                      <a:pos x="216" y="97"/>
                    </a:cxn>
                    <a:cxn ang="0">
                      <a:pos x="136" y="53"/>
                    </a:cxn>
                    <a:cxn ang="0">
                      <a:pos x="72" y="17"/>
                    </a:cxn>
                    <a:cxn ang="0">
                      <a:pos x="40" y="10"/>
                    </a:cxn>
                    <a:cxn ang="0">
                      <a:pos x="0" y="0"/>
                    </a:cxn>
                    <a:cxn ang="0">
                      <a:pos x="3" y="732"/>
                    </a:cxn>
                  </a:cxnLst>
                  <a:rect l="0" t="0" r="r" b="b"/>
                  <a:pathLst>
                    <a:path w="360" h="734">
                      <a:moveTo>
                        <a:pt x="3" y="732"/>
                      </a:moveTo>
                      <a:cubicBezTo>
                        <a:pt x="71" y="733"/>
                        <a:pt x="334" y="734"/>
                        <a:pt x="336" y="729"/>
                      </a:cubicBezTo>
                      <a:cubicBezTo>
                        <a:pt x="301" y="728"/>
                        <a:pt x="228" y="713"/>
                        <a:pt x="292" y="713"/>
                      </a:cubicBezTo>
                      <a:cubicBezTo>
                        <a:pt x="311" y="713"/>
                        <a:pt x="330" y="716"/>
                        <a:pt x="348" y="709"/>
                      </a:cubicBezTo>
                      <a:cubicBezTo>
                        <a:pt x="360" y="705"/>
                        <a:pt x="323" y="701"/>
                        <a:pt x="312" y="695"/>
                      </a:cubicBezTo>
                      <a:cubicBezTo>
                        <a:pt x="291" y="666"/>
                        <a:pt x="309" y="660"/>
                        <a:pt x="320" y="630"/>
                      </a:cubicBezTo>
                      <a:cubicBezTo>
                        <a:pt x="321" y="626"/>
                        <a:pt x="312" y="633"/>
                        <a:pt x="308" y="634"/>
                      </a:cubicBezTo>
                      <a:cubicBezTo>
                        <a:pt x="301" y="653"/>
                        <a:pt x="299" y="662"/>
                        <a:pt x="280" y="673"/>
                      </a:cubicBezTo>
                      <a:cubicBezTo>
                        <a:pt x="252" y="648"/>
                        <a:pt x="246" y="603"/>
                        <a:pt x="236" y="569"/>
                      </a:cubicBezTo>
                      <a:cubicBezTo>
                        <a:pt x="234" y="548"/>
                        <a:pt x="242" y="501"/>
                        <a:pt x="208" y="522"/>
                      </a:cubicBezTo>
                      <a:cubicBezTo>
                        <a:pt x="184" y="436"/>
                        <a:pt x="200" y="492"/>
                        <a:pt x="192" y="313"/>
                      </a:cubicBezTo>
                      <a:cubicBezTo>
                        <a:pt x="190" y="269"/>
                        <a:pt x="171" y="227"/>
                        <a:pt x="156" y="187"/>
                      </a:cubicBezTo>
                      <a:cubicBezTo>
                        <a:pt x="132" y="219"/>
                        <a:pt x="142" y="240"/>
                        <a:pt x="140" y="288"/>
                      </a:cubicBezTo>
                      <a:cubicBezTo>
                        <a:pt x="135" y="287"/>
                        <a:pt x="128" y="288"/>
                        <a:pt x="124" y="284"/>
                      </a:cubicBezTo>
                      <a:cubicBezTo>
                        <a:pt x="115" y="274"/>
                        <a:pt x="125" y="253"/>
                        <a:pt x="116" y="277"/>
                      </a:cubicBezTo>
                      <a:cubicBezTo>
                        <a:pt x="119" y="346"/>
                        <a:pt x="123" y="387"/>
                        <a:pt x="156" y="446"/>
                      </a:cubicBezTo>
                      <a:cubicBezTo>
                        <a:pt x="160" y="466"/>
                        <a:pt x="171" y="477"/>
                        <a:pt x="176" y="497"/>
                      </a:cubicBezTo>
                      <a:cubicBezTo>
                        <a:pt x="179" y="507"/>
                        <a:pt x="184" y="526"/>
                        <a:pt x="184" y="526"/>
                      </a:cubicBezTo>
                      <a:cubicBezTo>
                        <a:pt x="188" y="554"/>
                        <a:pt x="182" y="611"/>
                        <a:pt x="220" y="619"/>
                      </a:cubicBezTo>
                      <a:cubicBezTo>
                        <a:pt x="233" y="631"/>
                        <a:pt x="242" y="646"/>
                        <a:pt x="248" y="662"/>
                      </a:cubicBezTo>
                      <a:cubicBezTo>
                        <a:pt x="218" y="670"/>
                        <a:pt x="234" y="656"/>
                        <a:pt x="208" y="648"/>
                      </a:cubicBezTo>
                      <a:cubicBezTo>
                        <a:pt x="181" y="624"/>
                        <a:pt x="212" y="648"/>
                        <a:pt x="180" y="634"/>
                      </a:cubicBezTo>
                      <a:cubicBezTo>
                        <a:pt x="171" y="630"/>
                        <a:pt x="156" y="619"/>
                        <a:pt x="156" y="619"/>
                      </a:cubicBezTo>
                      <a:cubicBezTo>
                        <a:pt x="140" y="623"/>
                        <a:pt x="132" y="627"/>
                        <a:pt x="116" y="623"/>
                      </a:cubicBezTo>
                      <a:cubicBezTo>
                        <a:pt x="72" y="583"/>
                        <a:pt x="62" y="480"/>
                        <a:pt x="48" y="425"/>
                      </a:cubicBezTo>
                      <a:cubicBezTo>
                        <a:pt x="43" y="403"/>
                        <a:pt x="43" y="388"/>
                        <a:pt x="40" y="363"/>
                      </a:cubicBezTo>
                      <a:cubicBezTo>
                        <a:pt x="39" y="355"/>
                        <a:pt x="38" y="346"/>
                        <a:pt x="36" y="338"/>
                      </a:cubicBezTo>
                      <a:cubicBezTo>
                        <a:pt x="34" y="331"/>
                        <a:pt x="28" y="317"/>
                        <a:pt x="28" y="317"/>
                      </a:cubicBezTo>
                      <a:cubicBezTo>
                        <a:pt x="29" y="248"/>
                        <a:pt x="28" y="180"/>
                        <a:pt x="32" y="111"/>
                      </a:cubicBezTo>
                      <a:cubicBezTo>
                        <a:pt x="32" y="104"/>
                        <a:pt x="40" y="89"/>
                        <a:pt x="40" y="89"/>
                      </a:cubicBezTo>
                      <a:cubicBezTo>
                        <a:pt x="44" y="26"/>
                        <a:pt x="28" y="19"/>
                        <a:pt x="96" y="32"/>
                      </a:cubicBezTo>
                      <a:cubicBezTo>
                        <a:pt x="118" y="45"/>
                        <a:pt x="131" y="67"/>
                        <a:pt x="156" y="79"/>
                      </a:cubicBezTo>
                      <a:cubicBezTo>
                        <a:pt x="188" y="93"/>
                        <a:pt x="215" y="97"/>
                        <a:pt x="236" y="126"/>
                      </a:cubicBezTo>
                      <a:cubicBezTo>
                        <a:pt x="263" y="117"/>
                        <a:pt x="230" y="101"/>
                        <a:pt x="216" y="97"/>
                      </a:cubicBezTo>
                      <a:cubicBezTo>
                        <a:pt x="194" y="77"/>
                        <a:pt x="163" y="67"/>
                        <a:pt x="136" y="53"/>
                      </a:cubicBezTo>
                      <a:cubicBezTo>
                        <a:pt x="117" y="44"/>
                        <a:pt x="93" y="24"/>
                        <a:pt x="72" y="17"/>
                      </a:cubicBezTo>
                      <a:cubicBezTo>
                        <a:pt x="36" y="7"/>
                        <a:pt x="93" y="23"/>
                        <a:pt x="40" y="10"/>
                      </a:cubicBezTo>
                      <a:cubicBezTo>
                        <a:pt x="32" y="8"/>
                        <a:pt x="0" y="0"/>
                        <a:pt x="0" y="0"/>
                      </a:cubicBezTo>
                      <a:cubicBezTo>
                        <a:pt x="3" y="124"/>
                        <a:pt x="4" y="593"/>
                        <a:pt x="3" y="732"/>
                      </a:cubicBezTo>
                      <a:close/>
                    </a:path>
                  </a:pathLst>
                </a:custGeom>
                <a:solidFill>
                  <a:srgbClr val="969696"/>
                </a:solidFill>
                <a:ln w="635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90" name="Rectangle 50"/>
                <p:cNvSpPr>
                  <a:spLocks noChangeArrowheads="1"/>
                </p:cNvSpPr>
                <p:nvPr/>
              </p:nvSpPr>
              <p:spPr bwMode="auto">
                <a:xfrm flipH="1">
                  <a:off x="4956" y="1844"/>
                  <a:ext cx="24" cy="592"/>
                </a:xfrm>
                <a:prstGeom prst="rect">
                  <a:avLst/>
                </a:prstGeom>
                <a:solidFill>
                  <a:srgbClr val="969696"/>
                </a:solidFill>
                <a:ln w="6350" cap="rnd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91" name="Rectangle 51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4864" y="2322"/>
                  <a:ext cx="24" cy="206"/>
                </a:xfrm>
                <a:prstGeom prst="rect">
                  <a:avLst/>
                </a:prstGeom>
                <a:solidFill>
                  <a:srgbClr val="969696"/>
                </a:solidFill>
                <a:ln w="6350" cap="rnd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892" name="Freeform 52"/>
                <p:cNvSpPr>
                  <a:spLocks/>
                </p:cNvSpPr>
                <p:nvPr/>
              </p:nvSpPr>
              <p:spPr bwMode="auto">
                <a:xfrm flipH="1">
                  <a:off x="4456" y="2283"/>
                  <a:ext cx="163" cy="66"/>
                </a:xfrm>
                <a:custGeom>
                  <a:avLst/>
                  <a:gdLst/>
                  <a:ahLst/>
                  <a:cxnLst>
                    <a:cxn ang="0">
                      <a:pos x="67" y="11"/>
                    </a:cxn>
                    <a:cxn ang="0">
                      <a:pos x="141" y="19"/>
                    </a:cxn>
                    <a:cxn ang="0">
                      <a:pos x="173" y="27"/>
                    </a:cxn>
                    <a:cxn ang="0">
                      <a:pos x="185" y="31"/>
                    </a:cxn>
                    <a:cxn ang="0">
                      <a:pos x="165" y="27"/>
                    </a:cxn>
                    <a:cxn ang="0">
                      <a:pos x="139" y="29"/>
                    </a:cxn>
                    <a:cxn ang="0">
                      <a:pos x="141" y="39"/>
                    </a:cxn>
                    <a:cxn ang="0">
                      <a:pos x="135" y="43"/>
                    </a:cxn>
                    <a:cxn ang="0">
                      <a:pos x="105" y="45"/>
                    </a:cxn>
                    <a:cxn ang="0">
                      <a:pos x="4" y="82"/>
                    </a:cxn>
                    <a:cxn ang="0">
                      <a:pos x="45" y="21"/>
                    </a:cxn>
                    <a:cxn ang="0">
                      <a:pos x="33" y="17"/>
                    </a:cxn>
                    <a:cxn ang="0">
                      <a:pos x="61" y="9"/>
                    </a:cxn>
                    <a:cxn ang="0">
                      <a:pos x="67" y="11"/>
                    </a:cxn>
                  </a:cxnLst>
                  <a:rect l="0" t="0" r="r" b="b"/>
                  <a:pathLst>
                    <a:path w="202" h="82">
                      <a:moveTo>
                        <a:pt x="67" y="11"/>
                      </a:moveTo>
                      <a:cubicBezTo>
                        <a:pt x="92" y="16"/>
                        <a:pt x="115" y="18"/>
                        <a:pt x="141" y="19"/>
                      </a:cubicBezTo>
                      <a:cubicBezTo>
                        <a:pt x="152" y="22"/>
                        <a:pt x="162" y="24"/>
                        <a:pt x="173" y="27"/>
                      </a:cubicBezTo>
                      <a:cubicBezTo>
                        <a:pt x="177" y="28"/>
                        <a:pt x="185" y="31"/>
                        <a:pt x="185" y="31"/>
                      </a:cubicBezTo>
                      <a:cubicBezTo>
                        <a:pt x="202" y="48"/>
                        <a:pt x="170" y="29"/>
                        <a:pt x="165" y="27"/>
                      </a:cubicBezTo>
                      <a:cubicBezTo>
                        <a:pt x="156" y="28"/>
                        <a:pt x="147" y="25"/>
                        <a:pt x="139" y="29"/>
                      </a:cubicBezTo>
                      <a:cubicBezTo>
                        <a:pt x="136" y="31"/>
                        <a:pt x="142" y="36"/>
                        <a:pt x="141" y="39"/>
                      </a:cubicBezTo>
                      <a:cubicBezTo>
                        <a:pt x="140" y="41"/>
                        <a:pt x="137" y="42"/>
                        <a:pt x="135" y="43"/>
                      </a:cubicBezTo>
                      <a:cubicBezTo>
                        <a:pt x="125" y="42"/>
                        <a:pt x="113" y="42"/>
                        <a:pt x="105" y="45"/>
                      </a:cubicBezTo>
                      <a:cubicBezTo>
                        <a:pt x="125" y="77"/>
                        <a:pt x="79" y="49"/>
                        <a:pt x="4" y="82"/>
                      </a:cubicBezTo>
                      <a:cubicBezTo>
                        <a:pt x="0" y="69"/>
                        <a:pt x="57" y="26"/>
                        <a:pt x="45" y="21"/>
                      </a:cubicBezTo>
                      <a:cubicBezTo>
                        <a:pt x="41" y="19"/>
                        <a:pt x="33" y="17"/>
                        <a:pt x="33" y="17"/>
                      </a:cubicBezTo>
                      <a:cubicBezTo>
                        <a:pt x="27" y="0"/>
                        <a:pt x="52" y="8"/>
                        <a:pt x="61" y="9"/>
                      </a:cubicBezTo>
                      <a:cubicBezTo>
                        <a:pt x="65" y="10"/>
                        <a:pt x="82" y="21"/>
                        <a:pt x="67" y="11"/>
                      </a:cubicBezTo>
                      <a:close/>
                    </a:path>
                  </a:pathLst>
                </a:custGeom>
                <a:solidFill>
                  <a:srgbClr val="969696"/>
                </a:solidFill>
                <a:ln w="635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</p:grpSp>
      <p:grpSp>
        <p:nvGrpSpPr>
          <p:cNvPr id="163904" name="Group 64"/>
          <p:cNvGrpSpPr>
            <a:grpSpLocks/>
          </p:cNvGrpSpPr>
          <p:nvPr/>
        </p:nvGrpSpPr>
        <p:grpSpPr bwMode="auto">
          <a:xfrm>
            <a:off x="2063750" y="2080995"/>
            <a:ext cx="2901003" cy="830256"/>
            <a:chOff x="1604" y="1259"/>
            <a:chExt cx="1368" cy="448"/>
          </a:xfrm>
        </p:grpSpPr>
        <p:sp>
          <p:nvSpPr>
            <p:cNvPr id="163905" name="AutoShape 65"/>
            <p:cNvSpPr>
              <a:spLocks noChangeArrowheads="1"/>
            </p:cNvSpPr>
            <p:nvPr/>
          </p:nvSpPr>
          <p:spPr bwMode="auto">
            <a:xfrm flipH="1">
              <a:off x="1604" y="1259"/>
              <a:ext cx="1368" cy="448"/>
            </a:xfrm>
            <a:prstGeom prst="homePlate">
              <a:avLst>
                <a:gd name="adj" fmla="val 45153"/>
              </a:avLst>
            </a:prstGeom>
            <a:gradFill rotWithShape="0">
              <a:gsLst>
                <a:gs pos="0">
                  <a:srgbClr val="D60093"/>
                </a:gs>
                <a:gs pos="100000">
                  <a:srgbClr val="D60093">
                    <a:gamma/>
                    <a:tint val="9020"/>
                    <a:invGamma/>
                  </a:srgbClr>
                </a:gs>
              </a:gsLst>
              <a:lin ang="0" scaled="1"/>
            </a:gradFill>
            <a:ln w="9525">
              <a:solidFill>
                <a:srgbClr val="80008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B2B2B2"/>
              </a:outerShdw>
            </a:effectLst>
          </p:spPr>
          <p:txBody>
            <a:bodyPr anchor="ctr"/>
            <a:lstStyle/>
            <a:p>
              <a:pPr algn="r">
                <a:lnSpc>
                  <a:spcPct val="90000"/>
                </a:lnSpc>
              </a:pPr>
              <a:r>
                <a:rPr lang="en-US" sz="2000" dirty="0" err="1"/>
                <a:t>L'utilisateur</a:t>
              </a:r>
              <a:r>
                <a:rPr lang="en-US" sz="2000" dirty="0"/>
                <a:t> </a:t>
              </a:r>
              <a:r>
                <a:rPr lang="en-US" sz="2000" dirty="0" err="1"/>
                <a:t>ouvre</a:t>
              </a:r>
              <a:r>
                <a:rPr lang="en-US" sz="2000" dirty="0"/>
                <a:t> </a:t>
              </a:r>
              <a:r>
                <a:rPr lang="en-US" sz="2000" dirty="0" err="1"/>
                <a:t>une</a:t>
              </a:r>
              <a:r>
                <a:rPr lang="en-US" sz="2000" dirty="0"/>
                <a:t> session </a:t>
              </a:r>
              <a:r>
                <a:rPr lang="en-US" sz="2000" dirty="0" err="1"/>
                <a:t>localement</a:t>
              </a:r>
              <a:endParaRPr lang="en-US" sz="2000" dirty="0"/>
            </a:p>
          </p:txBody>
        </p:sp>
        <p:sp>
          <p:nvSpPr>
            <p:cNvPr id="163906" name="Text Box 66"/>
            <p:cNvSpPr txBox="1">
              <a:spLocks noChangeArrowheads="1"/>
            </p:cNvSpPr>
            <p:nvPr/>
          </p:nvSpPr>
          <p:spPr bwMode="auto">
            <a:xfrm>
              <a:off x="1659" y="1308"/>
              <a:ext cx="227" cy="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en-US" sz="4200" dirty="0">
                  <a:solidFill>
                    <a:srgbClr val="FFFFFF"/>
                  </a:solidFill>
                </a:rPr>
                <a:t>1</a:t>
              </a:r>
            </a:p>
          </p:txBody>
        </p:sp>
      </p:grpSp>
      <p:grpSp>
        <p:nvGrpSpPr>
          <p:cNvPr id="163907" name="Group 67"/>
          <p:cNvGrpSpPr>
            <a:grpSpLocks/>
          </p:cNvGrpSpPr>
          <p:nvPr/>
        </p:nvGrpSpPr>
        <p:grpSpPr bwMode="auto">
          <a:xfrm>
            <a:off x="493486" y="3324453"/>
            <a:ext cx="8040914" cy="3132138"/>
            <a:chOff x="1300" y="1765"/>
            <a:chExt cx="3098" cy="1973"/>
          </a:xfrm>
        </p:grpSpPr>
        <p:grpSp>
          <p:nvGrpSpPr>
            <p:cNvPr id="163908" name="Group 68"/>
            <p:cNvGrpSpPr>
              <a:grpSpLocks/>
            </p:cNvGrpSpPr>
            <p:nvPr/>
          </p:nvGrpSpPr>
          <p:grpSpPr bwMode="auto">
            <a:xfrm>
              <a:off x="1783" y="1765"/>
              <a:ext cx="2615" cy="1973"/>
              <a:chOff x="1885" y="1915"/>
              <a:chExt cx="2615" cy="1973"/>
            </a:xfrm>
          </p:grpSpPr>
          <p:sp>
            <p:nvSpPr>
              <p:cNvPr id="163909" name="AutoShape 69"/>
              <p:cNvSpPr>
                <a:spLocks noChangeArrowheads="1"/>
              </p:cNvSpPr>
              <p:nvPr/>
            </p:nvSpPr>
            <p:spPr bwMode="auto">
              <a:xfrm>
                <a:off x="1885" y="1915"/>
                <a:ext cx="2615" cy="1973"/>
              </a:xfrm>
              <a:custGeom>
                <a:avLst/>
                <a:gdLst>
                  <a:gd name="G0" fmla="+- 9552242 0 0"/>
                  <a:gd name="G1" fmla="+- -58742 0 0"/>
                  <a:gd name="G2" fmla="+- 9552242 0 -58742"/>
                  <a:gd name="G3" fmla="+- 10800 0 0"/>
                  <a:gd name="G4" fmla="+- 0 0 9552242"/>
                  <a:gd name="T0" fmla="*/ 360 256 1"/>
                  <a:gd name="T1" fmla="*/ 0 256 1"/>
                  <a:gd name="G5" fmla="+- G2 T0 T1"/>
                  <a:gd name="G6" fmla="?: G2 G2 G5"/>
                  <a:gd name="G7" fmla="+- 0 0 G6"/>
                  <a:gd name="G8" fmla="+- 6020 0 0"/>
                  <a:gd name="G9" fmla="+- 0 0 -58742"/>
                  <a:gd name="G10" fmla="+- 6020 0 2700"/>
                  <a:gd name="G11" fmla="cos G10 9552242"/>
                  <a:gd name="G12" fmla="sin G10 9552242"/>
                  <a:gd name="G13" fmla="cos 13500 9552242"/>
                  <a:gd name="G14" fmla="sin 13500 9552242"/>
                  <a:gd name="G15" fmla="+- G11 10800 0"/>
                  <a:gd name="G16" fmla="+- G12 10800 0"/>
                  <a:gd name="G17" fmla="+- G13 10800 0"/>
                  <a:gd name="G18" fmla="+- G14 10800 0"/>
                  <a:gd name="G19" fmla="*/ 6020 1 2"/>
                  <a:gd name="G20" fmla="+- G19 5400 0"/>
                  <a:gd name="G21" fmla="cos G20 9552242"/>
                  <a:gd name="G22" fmla="sin G20 9552242"/>
                  <a:gd name="G23" fmla="+- G21 10800 0"/>
                  <a:gd name="G24" fmla="+- G12 G23 G22"/>
                  <a:gd name="G25" fmla="+- G22 G23 G11"/>
                  <a:gd name="G26" fmla="cos 10800 9552242"/>
                  <a:gd name="G27" fmla="sin 10800 9552242"/>
                  <a:gd name="G28" fmla="cos 6020 9552242"/>
                  <a:gd name="G29" fmla="sin 6020 9552242"/>
                  <a:gd name="G30" fmla="+- G26 10800 0"/>
                  <a:gd name="G31" fmla="+- G27 10800 0"/>
                  <a:gd name="G32" fmla="+- G28 10800 0"/>
                  <a:gd name="G33" fmla="+- G29 10800 0"/>
                  <a:gd name="G34" fmla="+- G19 5400 0"/>
                  <a:gd name="G35" fmla="cos G34 -58742"/>
                  <a:gd name="G36" fmla="sin G34 -58742"/>
                  <a:gd name="G37" fmla="+/ -58742 9552242 2"/>
                  <a:gd name="T2" fmla="*/ 180 256 1"/>
                  <a:gd name="T3" fmla="*/ 0 256 1"/>
                  <a:gd name="G38" fmla="+- G37 T2 T3"/>
                  <a:gd name="G39" fmla="?: G2 G37 G38"/>
                  <a:gd name="G40" fmla="cos 10800 G39"/>
                  <a:gd name="G41" fmla="sin 10800 G39"/>
                  <a:gd name="G42" fmla="cos 6020 G39"/>
                  <a:gd name="G43" fmla="sin 6020 G39"/>
                  <a:gd name="G44" fmla="+- G40 10800 0"/>
                  <a:gd name="G45" fmla="+- G41 10800 0"/>
                  <a:gd name="G46" fmla="+- G42 10800 0"/>
                  <a:gd name="G47" fmla="+- G43 10800 0"/>
                  <a:gd name="G48" fmla="+- G35 10800 0"/>
                  <a:gd name="G49" fmla="+- G36 10800 0"/>
                  <a:gd name="T4" fmla="*/ 14060 w 21600"/>
                  <a:gd name="T5" fmla="*/ 21096 h 21600"/>
                  <a:gd name="T6" fmla="*/ 19208 w 21600"/>
                  <a:gd name="T7" fmla="*/ 10668 h 21600"/>
                  <a:gd name="T8" fmla="*/ 12617 w 21600"/>
                  <a:gd name="T9" fmla="*/ 16539 h 21600"/>
                  <a:gd name="T10" fmla="*/ -360 w 21600"/>
                  <a:gd name="T11" fmla="*/ 18396 h 21600"/>
                  <a:gd name="T12" fmla="*/ 983 w 21600"/>
                  <a:gd name="T13" fmla="*/ 11324 h 21600"/>
                  <a:gd name="T14" fmla="*/ 8055 w 21600"/>
                  <a:gd name="T15" fmla="*/ 12668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5823" y="14187"/>
                    </a:moveTo>
                    <a:cubicBezTo>
                      <a:pt x="6944" y="15834"/>
                      <a:pt x="8807" y="16820"/>
                      <a:pt x="10800" y="16820"/>
                    </a:cubicBezTo>
                    <a:cubicBezTo>
                      <a:pt x="14124" y="16820"/>
                      <a:pt x="16820" y="14124"/>
                      <a:pt x="16820" y="10800"/>
                    </a:cubicBezTo>
                    <a:cubicBezTo>
                      <a:pt x="16820" y="10768"/>
                      <a:pt x="16819" y="10737"/>
                      <a:pt x="16819" y="10705"/>
                    </a:cubicBezTo>
                    <a:lnTo>
                      <a:pt x="21598" y="10631"/>
                    </a:lnTo>
                    <a:cubicBezTo>
                      <a:pt x="21599" y="10687"/>
                      <a:pt x="21600" y="10743"/>
                      <a:pt x="21600" y="10800"/>
                    </a:cubicBezTo>
                    <a:cubicBezTo>
                      <a:pt x="21600" y="16764"/>
                      <a:pt x="16764" y="21600"/>
                      <a:pt x="10800" y="21600"/>
                    </a:cubicBezTo>
                    <a:cubicBezTo>
                      <a:pt x="7225" y="21600"/>
                      <a:pt x="3883" y="19831"/>
                      <a:pt x="1872" y="16877"/>
                    </a:cubicBezTo>
                    <a:lnTo>
                      <a:pt x="-360" y="18396"/>
                    </a:lnTo>
                    <a:lnTo>
                      <a:pt x="983" y="11324"/>
                    </a:lnTo>
                    <a:lnTo>
                      <a:pt x="8055" y="12668"/>
                    </a:lnTo>
                    <a:lnTo>
                      <a:pt x="5823" y="1418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20091">
                      <a:gamma/>
                      <a:tint val="47451"/>
                      <a:invGamma/>
                    </a:srgbClr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  <a:effectLst>
                <a:outerShdw dist="52363" dir="4557825" algn="ctr" rotWithShape="0">
                  <a:srgbClr val="C0C0C0"/>
                </a:outerShdw>
              </a:effectLst>
            </p:spPr>
            <p:txBody>
              <a:bodyPr wrap="none" tIns="27432" bIns="27432" anchor="ctr"/>
              <a:lstStyle/>
              <a:p>
                <a:pPr algn="ctr"/>
                <a:endParaRPr lang="fr-FR" sz="1600"/>
              </a:p>
            </p:txBody>
          </p:sp>
          <p:sp>
            <p:nvSpPr>
              <p:cNvPr id="163910" name="Text Box 70"/>
              <p:cNvSpPr txBox="1">
                <a:spLocks noChangeArrowheads="1"/>
              </p:cNvSpPr>
              <p:nvPr/>
            </p:nvSpPr>
            <p:spPr bwMode="auto">
              <a:xfrm>
                <a:off x="4005" y="2823"/>
                <a:ext cx="303" cy="4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35921" dir="2700000" algn="ctr" rotWithShape="0">
                  <a:srgbClr val="000000"/>
                </a:outer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sz="4200">
                    <a:solidFill>
                      <a:srgbClr val="FFFFFF"/>
                    </a:solidFill>
                  </a:rPr>
                  <a:t>3</a:t>
                </a:r>
              </a:p>
            </p:txBody>
          </p:sp>
          <p:sp>
            <p:nvSpPr>
              <p:cNvPr id="163911" name="Text Box 71"/>
              <p:cNvSpPr txBox="1">
                <a:spLocks noChangeArrowheads="1"/>
              </p:cNvSpPr>
              <p:nvPr/>
            </p:nvSpPr>
            <p:spPr bwMode="auto">
              <a:xfrm>
                <a:off x="2492" y="3478"/>
                <a:ext cx="1544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200" dirty="0" err="1"/>
                  <a:t>Création</a:t>
                </a:r>
                <a:r>
                  <a:rPr lang="en-US" sz="2200" dirty="0"/>
                  <a:t> du </a:t>
                </a:r>
                <a:r>
                  <a:rPr lang="en-US" sz="2200" dirty="0" err="1"/>
                  <a:t>jeton</a:t>
                </a:r>
                <a:r>
                  <a:rPr lang="en-US" sz="2200" dirty="0"/>
                  <a:t> </a:t>
                </a:r>
                <a:r>
                  <a:rPr lang="en-US" sz="2200" dirty="0" err="1" smtClean="0"/>
                  <a:t>d'accès</a:t>
                </a:r>
                <a:endParaRPr lang="en-US" sz="2200" dirty="0"/>
              </a:p>
            </p:txBody>
          </p:sp>
        </p:grpSp>
        <p:sp>
          <p:nvSpPr>
            <p:cNvPr id="163912" name="AutoShape 72"/>
            <p:cNvSpPr>
              <a:spLocks noChangeArrowheads="1"/>
            </p:cNvSpPr>
            <p:nvPr/>
          </p:nvSpPr>
          <p:spPr bwMode="auto">
            <a:xfrm>
              <a:off x="1300" y="2185"/>
              <a:ext cx="884" cy="466"/>
            </a:xfrm>
            <a:prstGeom prst="plaque">
              <a:avLst>
                <a:gd name="adj" fmla="val 24148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anchor="ctr"/>
            <a:lstStyle/>
            <a:p>
              <a:pPr algn="ctr"/>
              <a:r>
                <a:rPr lang="en-US" sz="2000"/>
                <a:t>Jeton d'accès</a:t>
              </a:r>
            </a:p>
          </p:txBody>
        </p:sp>
      </p:grpSp>
      <p:grpSp>
        <p:nvGrpSpPr>
          <p:cNvPr id="163942" name="Group 102"/>
          <p:cNvGrpSpPr>
            <a:grpSpLocks/>
          </p:cNvGrpSpPr>
          <p:nvPr/>
        </p:nvGrpSpPr>
        <p:grpSpPr bwMode="auto">
          <a:xfrm>
            <a:off x="6284585" y="1307645"/>
            <a:ext cx="2654572" cy="3496561"/>
            <a:chOff x="3788" y="906"/>
            <a:chExt cx="1441" cy="1525"/>
          </a:xfrm>
        </p:grpSpPr>
        <p:grpSp>
          <p:nvGrpSpPr>
            <p:cNvPr id="163941" name="Group 101"/>
            <p:cNvGrpSpPr>
              <a:grpSpLocks/>
            </p:cNvGrpSpPr>
            <p:nvPr/>
          </p:nvGrpSpPr>
          <p:grpSpPr bwMode="auto">
            <a:xfrm>
              <a:off x="3788" y="1885"/>
              <a:ext cx="1441" cy="546"/>
              <a:chOff x="3788" y="1885"/>
              <a:chExt cx="1441" cy="546"/>
            </a:xfrm>
          </p:grpSpPr>
          <p:sp>
            <p:nvSpPr>
              <p:cNvPr id="163915" name="Text Box 75"/>
              <p:cNvSpPr txBox="1">
                <a:spLocks noChangeArrowheads="1"/>
              </p:cNvSpPr>
              <p:nvPr/>
            </p:nvSpPr>
            <p:spPr bwMode="auto">
              <a:xfrm>
                <a:off x="3989" y="1885"/>
                <a:ext cx="1240" cy="546"/>
              </a:xfrm>
              <a:prstGeom prst="rect">
                <a:avLst/>
              </a:prstGeom>
              <a:gradFill rotWithShape="0">
                <a:gsLst>
                  <a:gs pos="0">
                    <a:srgbClr val="D60093"/>
                  </a:gs>
                  <a:gs pos="100000">
                    <a:srgbClr val="D60093">
                      <a:gamma/>
                      <a:tint val="9020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rgbClr val="80008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B2B2B2"/>
                </a:outerShdw>
              </a:effectLst>
            </p:spPr>
            <p:txBody>
              <a:bodyPr anchor="ctr"/>
              <a:lstStyle/>
              <a:p>
                <a:pPr algn="ctr">
                  <a:lnSpc>
                    <a:spcPct val="80000"/>
                  </a:lnSpc>
                </a:pPr>
                <a:r>
                  <a:rPr lang="en-US" sz="2000" dirty="0" err="1"/>
                  <a:t>Comparaison</a:t>
                </a:r>
                <a:r>
                  <a:rPr lang="en-US" sz="2000" dirty="0"/>
                  <a:t> des </a:t>
                </a:r>
                <a:r>
                  <a:rPr lang="en-US" sz="2000" dirty="0" err="1"/>
                  <a:t>informations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d'ouverture</a:t>
                </a:r>
                <a:r>
                  <a:rPr lang="en-US" sz="2000" dirty="0"/>
                  <a:t> de session</a:t>
                </a:r>
              </a:p>
            </p:txBody>
          </p:sp>
          <p:sp>
            <p:nvSpPr>
              <p:cNvPr id="163916" name="Text Box 76"/>
              <p:cNvSpPr txBox="1">
                <a:spLocks noChangeArrowheads="1"/>
              </p:cNvSpPr>
              <p:nvPr/>
            </p:nvSpPr>
            <p:spPr bwMode="auto">
              <a:xfrm>
                <a:off x="3788" y="1941"/>
                <a:ext cx="303" cy="4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35921" dir="2700000" algn="ctr" rotWithShape="0">
                  <a:srgbClr val="000000"/>
                </a:outer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sz="4200" dirty="0">
                    <a:solidFill>
                      <a:srgbClr val="FFFFFF"/>
                    </a:solidFill>
                  </a:rPr>
                  <a:t>2</a:t>
                </a:r>
              </a:p>
            </p:txBody>
          </p:sp>
        </p:grpSp>
        <p:grpSp>
          <p:nvGrpSpPr>
            <p:cNvPr id="163917" name="Group 77"/>
            <p:cNvGrpSpPr>
              <a:grpSpLocks/>
            </p:cNvGrpSpPr>
            <p:nvPr/>
          </p:nvGrpSpPr>
          <p:grpSpPr bwMode="auto">
            <a:xfrm>
              <a:off x="4157" y="906"/>
              <a:ext cx="662" cy="476"/>
              <a:chOff x="4157" y="906"/>
              <a:chExt cx="662" cy="476"/>
            </a:xfrm>
          </p:grpSpPr>
          <p:grpSp>
            <p:nvGrpSpPr>
              <p:cNvPr id="163918" name="Group 78"/>
              <p:cNvGrpSpPr>
                <a:grpSpLocks/>
              </p:cNvGrpSpPr>
              <p:nvPr/>
            </p:nvGrpSpPr>
            <p:grpSpPr bwMode="auto">
              <a:xfrm>
                <a:off x="4157" y="906"/>
                <a:ext cx="662" cy="476"/>
                <a:chOff x="3985" y="1262"/>
                <a:chExt cx="725" cy="521"/>
              </a:xfrm>
            </p:grpSpPr>
            <p:sp>
              <p:nvSpPr>
                <p:cNvPr id="163919" name="Rectangle 79"/>
                <p:cNvSpPr>
                  <a:spLocks noChangeArrowheads="1"/>
                </p:cNvSpPr>
                <p:nvPr/>
              </p:nvSpPr>
              <p:spPr bwMode="auto">
                <a:xfrm>
                  <a:off x="3985" y="1262"/>
                  <a:ext cx="725" cy="521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grpSp>
              <p:nvGrpSpPr>
                <p:cNvPr id="163920" name="Group 80"/>
                <p:cNvGrpSpPr>
                  <a:grpSpLocks/>
                </p:cNvGrpSpPr>
                <p:nvPr/>
              </p:nvGrpSpPr>
              <p:grpSpPr bwMode="auto">
                <a:xfrm>
                  <a:off x="4079" y="1427"/>
                  <a:ext cx="552" cy="166"/>
                  <a:chOff x="4166" y="1136"/>
                  <a:chExt cx="481" cy="166"/>
                </a:xfrm>
              </p:grpSpPr>
              <p:sp>
                <p:nvSpPr>
                  <p:cNvPr id="163921" name="Line 81"/>
                  <p:cNvSpPr>
                    <a:spLocks noChangeShapeType="1"/>
                  </p:cNvSpPr>
                  <p:nvPr/>
                </p:nvSpPr>
                <p:spPr bwMode="auto">
                  <a:xfrm>
                    <a:off x="4166" y="1136"/>
                    <a:ext cx="481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63922" name="Line 82"/>
                  <p:cNvSpPr>
                    <a:spLocks noChangeShapeType="1"/>
                  </p:cNvSpPr>
                  <p:nvPr/>
                </p:nvSpPr>
                <p:spPr bwMode="auto">
                  <a:xfrm>
                    <a:off x="4166" y="1302"/>
                    <a:ext cx="481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163923" name="Rectangle 83"/>
              <p:cNvSpPr>
                <a:spLocks noChangeArrowheads="1"/>
              </p:cNvSpPr>
              <p:nvPr/>
            </p:nvSpPr>
            <p:spPr bwMode="auto">
              <a:xfrm>
                <a:off x="4210" y="1031"/>
                <a:ext cx="280" cy="28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2"/>
                </a:solidFill>
                <a:miter lim="800000"/>
                <a:headEnd/>
                <a:tailEnd/>
              </a:ln>
              <a:effectLst>
                <a:outerShdw dist="53882" dir="2700000" algn="ctr" rotWithShape="0">
                  <a:srgbClr val="C0C0C0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63924" name="Freeform 84"/>
              <p:cNvSpPr>
                <a:spLocks/>
              </p:cNvSpPr>
              <p:nvPr/>
            </p:nvSpPr>
            <p:spPr bwMode="auto">
              <a:xfrm>
                <a:off x="4261" y="959"/>
                <a:ext cx="312" cy="294"/>
              </a:xfrm>
              <a:custGeom>
                <a:avLst/>
                <a:gdLst/>
                <a:ahLst/>
                <a:cxnLst>
                  <a:cxn ang="0">
                    <a:pos x="5" y="188"/>
                  </a:cxn>
                  <a:cxn ang="0">
                    <a:pos x="0" y="174"/>
                  </a:cxn>
                  <a:cxn ang="0">
                    <a:pos x="5" y="165"/>
                  </a:cxn>
                  <a:cxn ang="0">
                    <a:pos x="5" y="156"/>
                  </a:cxn>
                  <a:cxn ang="0">
                    <a:pos x="9" y="147"/>
                  </a:cxn>
                  <a:cxn ang="0">
                    <a:pos x="14" y="142"/>
                  </a:cxn>
                  <a:cxn ang="0">
                    <a:pos x="23" y="133"/>
                  </a:cxn>
                  <a:cxn ang="0">
                    <a:pos x="32" y="128"/>
                  </a:cxn>
                  <a:cxn ang="0">
                    <a:pos x="41" y="115"/>
                  </a:cxn>
                  <a:cxn ang="0">
                    <a:pos x="50" y="115"/>
                  </a:cxn>
                  <a:cxn ang="0">
                    <a:pos x="59" y="110"/>
                  </a:cxn>
                  <a:cxn ang="0">
                    <a:pos x="68" y="110"/>
                  </a:cxn>
                  <a:cxn ang="0">
                    <a:pos x="77" y="115"/>
                  </a:cxn>
                  <a:cxn ang="0">
                    <a:pos x="86" y="124"/>
                  </a:cxn>
                  <a:cxn ang="0">
                    <a:pos x="90" y="128"/>
                  </a:cxn>
                  <a:cxn ang="0">
                    <a:pos x="95" y="142"/>
                  </a:cxn>
                  <a:cxn ang="0">
                    <a:pos x="95" y="156"/>
                  </a:cxn>
                  <a:cxn ang="0">
                    <a:pos x="95" y="170"/>
                  </a:cxn>
                  <a:cxn ang="0">
                    <a:pos x="99" y="188"/>
                  </a:cxn>
                  <a:cxn ang="0">
                    <a:pos x="104" y="202"/>
                  </a:cxn>
                  <a:cxn ang="0">
                    <a:pos x="108" y="215"/>
                  </a:cxn>
                  <a:cxn ang="0">
                    <a:pos x="113" y="225"/>
                  </a:cxn>
                  <a:cxn ang="0">
                    <a:pos x="126" y="225"/>
                  </a:cxn>
                  <a:cxn ang="0">
                    <a:pos x="352" y="5"/>
                  </a:cxn>
                  <a:cxn ang="0">
                    <a:pos x="361" y="5"/>
                  </a:cxn>
                  <a:cxn ang="0">
                    <a:pos x="366" y="0"/>
                  </a:cxn>
                  <a:cxn ang="0">
                    <a:pos x="375" y="5"/>
                  </a:cxn>
                  <a:cxn ang="0">
                    <a:pos x="384" y="9"/>
                  </a:cxn>
                  <a:cxn ang="0">
                    <a:pos x="384" y="55"/>
                  </a:cxn>
                  <a:cxn ang="0">
                    <a:pos x="384" y="64"/>
                  </a:cxn>
                  <a:cxn ang="0">
                    <a:pos x="379" y="73"/>
                  </a:cxn>
                  <a:cxn ang="0">
                    <a:pos x="375" y="78"/>
                  </a:cxn>
                  <a:cxn ang="0">
                    <a:pos x="370" y="82"/>
                  </a:cxn>
                  <a:cxn ang="0">
                    <a:pos x="126" y="335"/>
                  </a:cxn>
                  <a:cxn ang="0">
                    <a:pos x="104" y="353"/>
                  </a:cxn>
                  <a:cxn ang="0">
                    <a:pos x="86" y="357"/>
                  </a:cxn>
                  <a:cxn ang="0">
                    <a:pos x="63" y="357"/>
                  </a:cxn>
                  <a:cxn ang="0">
                    <a:pos x="50" y="353"/>
                  </a:cxn>
                  <a:cxn ang="0">
                    <a:pos x="32" y="344"/>
                  </a:cxn>
                  <a:cxn ang="0">
                    <a:pos x="23" y="330"/>
                  </a:cxn>
                  <a:cxn ang="0">
                    <a:pos x="14" y="316"/>
                  </a:cxn>
                </a:cxnLst>
                <a:rect l="0" t="0" r="r" b="b"/>
                <a:pathLst>
                  <a:path w="385" h="363">
                    <a:moveTo>
                      <a:pt x="9" y="302"/>
                    </a:moveTo>
                    <a:lnTo>
                      <a:pt x="5" y="188"/>
                    </a:lnTo>
                    <a:lnTo>
                      <a:pt x="0" y="183"/>
                    </a:lnTo>
                    <a:lnTo>
                      <a:pt x="0" y="174"/>
                    </a:lnTo>
                    <a:lnTo>
                      <a:pt x="0" y="170"/>
                    </a:lnTo>
                    <a:lnTo>
                      <a:pt x="5" y="165"/>
                    </a:lnTo>
                    <a:lnTo>
                      <a:pt x="5" y="160"/>
                    </a:lnTo>
                    <a:lnTo>
                      <a:pt x="5" y="156"/>
                    </a:lnTo>
                    <a:lnTo>
                      <a:pt x="5" y="151"/>
                    </a:lnTo>
                    <a:lnTo>
                      <a:pt x="9" y="147"/>
                    </a:lnTo>
                    <a:lnTo>
                      <a:pt x="14" y="147"/>
                    </a:lnTo>
                    <a:lnTo>
                      <a:pt x="14" y="142"/>
                    </a:lnTo>
                    <a:lnTo>
                      <a:pt x="18" y="137"/>
                    </a:lnTo>
                    <a:lnTo>
                      <a:pt x="23" y="133"/>
                    </a:lnTo>
                    <a:lnTo>
                      <a:pt x="27" y="133"/>
                    </a:lnTo>
                    <a:lnTo>
                      <a:pt x="32" y="128"/>
                    </a:lnTo>
                    <a:lnTo>
                      <a:pt x="36" y="119"/>
                    </a:lnTo>
                    <a:lnTo>
                      <a:pt x="41" y="115"/>
                    </a:lnTo>
                    <a:lnTo>
                      <a:pt x="45" y="115"/>
                    </a:lnTo>
                    <a:lnTo>
                      <a:pt x="50" y="115"/>
                    </a:lnTo>
                    <a:lnTo>
                      <a:pt x="54" y="110"/>
                    </a:lnTo>
                    <a:lnTo>
                      <a:pt x="59" y="110"/>
                    </a:lnTo>
                    <a:lnTo>
                      <a:pt x="63" y="110"/>
                    </a:lnTo>
                    <a:lnTo>
                      <a:pt x="68" y="110"/>
                    </a:lnTo>
                    <a:lnTo>
                      <a:pt x="72" y="115"/>
                    </a:lnTo>
                    <a:lnTo>
                      <a:pt x="77" y="115"/>
                    </a:lnTo>
                    <a:lnTo>
                      <a:pt x="86" y="119"/>
                    </a:lnTo>
                    <a:lnTo>
                      <a:pt x="86" y="124"/>
                    </a:lnTo>
                    <a:lnTo>
                      <a:pt x="90" y="124"/>
                    </a:lnTo>
                    <a:lnTo>
                      <a:pt x="90" y="128"/>
                    </a:lnTo>
                    <a:lnTo>
                      <a:pt x="95" y="137"/>
                    </a:lnTo>
                    <a:lnTo>
                      <a:pt x="95" y="142"/>
                    </a:lnTo>
                    <a:lnTo>
                      <a:pt x="95" y="147"/>
                    </a:lnTo>
                    <a:lnTo>
                      <a:pt x="95" y="156"/>
                    </a:lnTo>
                    <a:lnTo>
                      <a:pt x="95" y="165"/>
                    </a:lnTo>
                    <a:lnTo>
                      <a:pt x="95" y="170"/>
                    </a:lnTo>
                    <a:lnTo>
                      <a:pt x="95" y="179"/>
                    </a:lnTo>
                    <a:lnTo>
                      <a:pt x="99" y="188"/>
                    </a:lnTo>
                    <a:lnTo>
                      <a:pt x="99" y="192"/>
                    </a:lnTo>
                    <a:lnTo>
                      <a:pt x="104" y="202"/>
                    </a:lnTo>
                    <a:lnTo>
                      <a:pt x="104" y="206"/>
                    </a:lnTo>
                    <a:lnTo>
                      <a:pt x="108" y="215"/>
                    </a:lnTo>
                    <a:lnTo>
                      <a:pt x="113" y="220"/>
                    </a:lnTo>
                    <a:lnTo>
                      <a:pt x="113" y="225"/>
                    </a:lnTo>
                    <a:lnTo>
                      <a:pt x="117" y="225"/>
                    </a:lnTo>
                    <a:lnTo>
                      <a:pt x="126" y="225"/>
                    </a:lnTo>
                    <a:lnTo>
                      <a:pt x="348" y="9"/>
                    </a:lnTo>
                    <a:lnTo>
                      <a:pt x="352" y="5"/>
                    </a:lnTo>
                    <a:lnTo>
                      <a:pt x="357" y="5"/>
                    </a:lnTo>
                    <a:lnTo>
                      <a:pt x="361" y="5"/>
                    </a:lnTo>
                    <a:lnTo>
                      <a:pt x="361" y="0"/>
                    </a:lnTo>
                    <a:lnTo>
                      <a:pt x="366" y="0"/>
                    </a:lnTo>
                    <a:lnTo>
                      <a:pt x="370" y="0"/>
                    </a:lnTo>
                    <a:lnTo>
                      <a:pt x="375" y="5"/>
                    </a:lnTo>
                    <a:lnTo>
                      <a:pt x="379" y="5"/>
                    </a:lnTo>
                    <a:lnTo>
                      <a:pt x="384" y="9"/>
                    </a:lnTo>
                    <a:lnTo>
                      <a:pt x="384" y="14"/>
                    </a:lnTo>
                    <a:lnTo>
                      <a:pt x="384" y="55"/>
                    </a:lnTo>
                    <a:lnTo>
                      <a:pt x="384" y="60"/>
                    </a:lnTo>
                    <a:lnTo>
                      <a:pt x="384" y="64"/>
                    </a:lnTo>
                    <a:lnTo>
                      <a:pt x="379" y="69"/>
                    </a:lnTo>
                    <a:lnTo>
                      <a:pt x="379" y="73"/>
                    </a:lnTo>
                    <a:lnTo>
                      <a:pt x="379" y="78"/>
                    </a:lnTo>
                    <a:lnTo>
                      <a:pt x="375" y="78"/>
                    </a:lnTo>
                    <a:lnTo>
                      <a:pt x="375" y="82"/>
                    </a:lnTo>
                    <a:lnTo>
                      <a:pt x="370" y="82"/>
                    </a:lnTo>
                    <a:lnTo>
                      <a:pt x="370" y="87"/>
                    </a:lnTo>
                    <a:lnTo>
                      <a:pt x="126" y="335"/>
                    </a:lnTo>
                    <a:lnTo>
                      <a:pt x="113" y="344"/>
                    </a:lnTo>
                    <a:lnTo>
                      <a:pt x="104" y="353"/>
                    </a:lnTo>
                    <a:lnTo>
                      <a:pt x="95" y="357"/>
                    </a:lnTo>
                    <a:lnTo>
                      <a:pt x="86" y="357"/>
                    </a:lnTo>
                    <a:lnTo>
                      <a:pt x="72" y="362"/>
                    </a:lnTo>
                    <a:lnTo>
                      <a:pt x="63" y="357"/>
                    </a:lnTo>
                    <a:lnTo>
                      <a:pt x="59" y="357"/>
                    </a:lnTo>
                    <a:lnTo>
                      <a:pt x="50" y="353"/>
                    </a:lnTo>
                    <a:lnTo>
                      <a:pt x="41" y="348"/>
                    </a:lnTo>
                    <a:lnTo>
                      <a:pt x="32" y="344"/>
                    </a:lnTo>
                    <a:lnTo>
                      <a:pt x="27" y="335"/>
                    </a:lnTo>
                    <a:lnTo>
                      <a:pt x="23" y="330"/>
                    </a:lnTo>
                    <a:lnTo>
                      <a:pt x="14" y="321"/>
                    </a:lnTo>
                    <a:lnTo>
                      <a:pt x="14" y="316"/>
                    </a:lnTo>
                    <a:lnTo>
                      <a:pt x="9" y="302"/>
                    </a:ln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53725"/>
                      <a:invGamma/>
                    </a:schemeClr>
                  </a:gs>
                </a:gsLst>
                <a:lin ang="18900000" scaled="1"/>
              </a:gra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40161" dir="4293903" algn="ctr" rotWithShape="0">
                  <a:srgbClr val="C0C0C0"/>
                </a:outerShdw>
              </a:effectLst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163925" name="Group 85"/>
          <p:cNvGrpSpPr>
            <a:grpSpLocks/>
          </p:cNvGrpSpPr>
          <p:nvPr/>
        </p:nvGrpSpPr>
        <p:grpSpPr bwMode="auto">
          <a:xfrm>
            <a:off x="611188" y="6142038"/>
            <a:ext cx="609600" cy="228600"/>
            <a:chOff x="336" y="3759"/>
            <a:chExt cx="593" cy="225"/>
          </a:xfrm>
        </p:grpSpPr>
        <p:grpSp>
          <p:nvGrpSpPr>
            <p:cNvPr id="163926" name="Group 86"/>
            <p:cNvGrpSpPr>
              <a:grpSpLocks/>
            </p:cNvGrpSpPr>
            <p:nvPr/>
          </p:nvGrpSpPr>
          <p:grpSpPr bwMode="auto">
            <a:xfrm>
              <a:off x="336" y="3759"/>
              <a:ext cx="279" cy="225"/>
              <a:chOff x="336" y="3759"/>
              <a:chExt cx="279" cy="225"/>
            </a:xfrm>
          </p:grpSpPr>
          <p:sp>
            <p:nvSpPr>
              <p:cNvPr id="163927" name="AutoShape 87"/>
              <p:cNvSpPr>
                <a:spLocks noChangeArrowheads="1"/>
              </p:cNvSpPr>
              <p:nvPr/>
            </p:nvSpPr>
            <p:spPr bwMode="auto">
              <a:xfrm>
                <a:off x="336" y="3759"/>
                <a:ext cx="279" cy="225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63928" name="Rectangle 88"/>
              <p:cNvSpPr>
                <a:spLocks noChangeArrowheads="1"/>
              </p:cNvSpPr>
              <p:nvPr/>
            </p:nvSpPr>
            <p:spPr bwMode="auto">
              <a:xfrm>
                <a:off x="371" y="3811"/>
                <a:ext cx="209" cy="121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63929" name="Arc 89"/>
              <p:cNvSpPr>
                <a:spLocks/>
              </p:cNvSpPr>
              <p:nvPr/>
            </p:nvSpPr>
            <p:spPr bwMode="auto">
              <a:xfrm>
                <a:off x="376" y="3815"/>
                <a:ext cx="68" cy="46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9259 w 22320"/>
                  <a:gd name="T1" fmla="*/ 39327 h 39327"/>
                  <a:gd name="T2" fmla="*/ 22320 w 22320"/>
                  <a:gd name="T3" fmla="*/ 12 h 39327"/>
                  <a:gd name="T4" fmla="*/ 21600 w 22320"/>
                  <a:gd name="T5" fmla="*/ 21600 h 39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320" h="39327" fill="none" extrusionOk="0">
                    <a:moveTo>
                      <a:pt x="9258" y="39327"/>
                    </a:moveTo>
                    <a:cubicBezTo>
                      <a:pt x="3458" y="35288"/>
                      <a:pt x="0" y="286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840" y="-1"/>
                      <a:pt x="22080" y="4"/>
                      <a:pt x="22319" y="12"/>
                    </a:cubicBezTo>
                  </a:path>
                  <a:path w="22320" h="39327" stroke="0" extrusionOk="0">
                    <a:moveTo>
                      <a:pt x="9258" y="39327"/>
                    </a:moveTo>
                    <a:cubicBezTo>
                      <a:pt x="3458" y="35288"/>
                      <a:pt x="0" y="286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840" y="-1"/>
                      <a:pt x="22080" y="4"/>
                      <a:pt x="22319" y="1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3366FF"/>
              </a:solidFill>
              <a:ln w="9525">
                <a:solidFill>
                  <a:srgbClr val="3366FF"/>
                </a:solidFill>
                <a:round/>
                <a:headEnd/>
                <a:tailEnd/>
              </a:ln>
              <a:effectLst>
                <a:outerShdw dist="25400" dir="5400000" algn="ctr" rotWithShape="0">
                  <a:srgbClr val="000099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63930" name="Arc 90"/>
              <p:cNvSpPr>
                <a:spLocks/>
              </p:cNvSpPr>
              <p:nvPr/>
            </p:nvSpPr>
            <p:spPr bwMode="auto">
              <a:xfrm>
                <a:off x="430" y="3846"/>
                <a:ext cx="108" cy="50"/>
              </a:xfrm>
              <a:custGeom>
                <a:avLst/>
                <a:gdLst>
                  <a:gd name="G0" fmla="+- 13604 0 0"/>
                  <a:gd name="G1" fmla="+- 21600 0 0"/>
                  <a:gd name="G2" fmla="+- 21600 0 0"/>
                  <a:gd name="T0" fmla="*/ 13604 w 35204"/>
                  <a:gd name="T1" fmla="*/ 0 h 43200"/>
                  <a:gd name="T2" fmla="*/ 0 w 35204"/>
                  <a:gd name="T3" fmla="*/ 38378 h 43200"/>
                  <a:gd name="T4" fmla="*/ 13604 w 35204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5204" h="43200" fill="none" extrusionOk="0">
                    <a:moveTo>
                      <a:pt x="13603" y="0"/>
                    </a:moveTo>
                    <a:cubicBezTo>
                      <a:pt x="25533" y="0"/>
                      <a:pt x="35204" y="9670"/>
                      <a:pt x="35204" y="21600"/>
                    </a:cubicBezTo>
                    <a:cubicBezTo>
                      <a:pt x="35204" y="33529"/>
                      <a:pt x="25533" y="43200"/>
                      <a:pt x="13604" y="43200"/>
                    </a:cubicBezTo>
                    <a:cubicBezTo>
                      <a:pt x="8650" y="43200"/>
                      <a:pt x="3847" y="41497"/>
                      <a:pt x="0" y="38377"/>
                    </a:cubicBezTo>
                  </a:path>
                  <a:path w="35204" h="43200" stroke="0" extrusionOk="0">
                    <a:moveTo>
                      <a:pt x="13603" y="0"/>
                    </a:moveTo>
                    <a:cubicBezTo>
                      <a:pt x="25533" y="0"/>
                      <a:pt x="35204" y="9670"/>
                      <a:pt x="35204" y="21600"/>
                    </a:cubicBezTo>
                    <a:cubicBezTo>
                      <a:pt x="35204" y="33529"/>
                      <a:pt x="25533" y="43200"/>
                      <a:pt x="13604" y="43200"/>
                    </a:cubicBezTo>
                    <a:cubicBezTo>
                      <a:pt x="8650" y="43200"/>
                      <a:pt x="3847" y="41497"/>
                      <a:pt x="0" y="38377"/>
                    </a:cubicBezTo>
                    <a:lnTo>
                      <a:pt x="13604" y="21600"/>
                    </a:lnTo>
                    <a:close/>
                  </a:path>
                </a:pathLst>
              </a:custGeom>
              <a:solidFill>
                <a:srgbClr val="CC0000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  <a:effectLst>
                <a:outerShdw dist="25400" dir="5400000" algn="ctr" rotWithShape="0">
                  <a:srgbClr val="990000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63931" name="Group 91"/>
            <p:cNvGrpSpPr>
              <a:grpSpLocks/>
            </p:cNvGrpSpPr>
            <p:nvPr/>
          </p:nvGrpSpPr>
          <p:grpSpPr bwMode="auto">
            <a:xfrm>
              <a:off x="650" y="3759"/>
              <a:ext cx="279" cy="225"/>
              <a:chOff x="650" y="3759"/>
              <a:chExt cx="279" cy="225"/>
            </a:xfrm>
          </p:grpSpPr>
          <p:sp>
            <p:nvSpPr>
              <p:cNvPr id="163932" name="AutoShape 92"/>
              <p:cNvSpPr>
                <a:spLocks noChangeArrowheads="1"/>
              </p:cNvSpPr>
              <p:nvPr/>
            </p:nvSpPr>
            <p:spPr bwMode="auto">
              <a:xfrm>
                <a:off x="650" y="3759"/>
                <a:ext cx="279" cy="225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63933" name="Rectangle 93"/>
              <p:cNvSpPr>
                <a:spLocks noChangeArrowheads="1"/>
              </p:cNvSpPr>
              <p:nvPr/>
            </p:nvSpPr>
            <p:spPr bwMode="auto">
              <a:xfrm>
                <a:off x="685" y="3811"/>
                <a:ext cx="209" cy="121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63934" name="Arc 94"/>
              <p:cNvSpPr>
                <a:spLocks/>
              </p:cNvSpPr>
              <p:nvPr/>
            </p:nvSpPr>
            <p:spPr bwMode="auto">
              <a:xfrm>
                <a:off x="720" y="3846"/>
                <a:ext cx="68" cy="46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9897 w 22320"/>
                  <a:gd name="T1" fmla="*/ 39755 h 39755"/>
                  <a:gd name="T2" fmla="*/ 22320 w 22320"/>
                  <a:gd name="T3" fmla="*/ 12 h 39755"/>
                  <a:gd name="T4" fmla="*/ 21600 w 22320"/>
                  <a:gd name="T5" fmla="*/ 21600 h 39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320" h="39755" fill="none" extrusionOk="0">
                    <a:moveTo>
                      <a:pt x="9897" y="39754"/>
                    </a:moveTo>
                    <a:cubicBezTo>
                      <a:pt x="3727" y="35777"/>
                      <a:pt x="0" y="28940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840" y="-1"/>
                      <a:pt x="22080" y="4"/>
                      <a:pt x="22319" y="12"/>
                    </a:cubicBezTo>
                  </a:path>
                  <a:path w="22320" h="39755" stroke="0" extrusionOk="0">
                    <a:moveTo>
                      <a:pt x="9897" y="39754"/>
                    </a:moveTo>
                    <a:cubicBezTo>
                      <a:pt x="3727" y="35777"/>
                      <a:pt x="0" y="28940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840" y="-1"/>
                      <a:pt x="22080" y="4"/>
                      <a:pt x="22319" y="1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3366FF"/>
              </a:solidFill>
              <a:ln w="9525">
                <a:solidFill>
                  <a:srgbClr val="3366FF"/>
                </a:solidFill>
                <a:round/>
                <a:headEnd/>
                <a:tailEnd/>
              </a:ln>
              <a:effectLst>
                <a:outerShdw dist="25400" dir="5400000" algn="ctr" rotWithShape="0">
                  <a:srgbClr val="000099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63935" name="Arc 95"/>
              <p:cNvSpPr>
                <a:spLocks/>
              </p:cNvSpPr>
              <p:nvPr/>
            </p:nvSpPr>
            <p:spPr bwMode="auto">
              <a:xfrm>
                <a:off x="739" y="3846"/>
                <a:ext cx="113" cy="50"/>
              </a:xfrm>
              <a:custGeom>
                <a:avLst/>
                <a:gdLst>
                  <a:gd name="G0" fmla="+- 15335 0 0"/>
                  <a:gd name="G1" fmla="+- 21600 0 0"/>
                  <a:gd name="G2" fmla="+- 21600 0 0"/>
                  <a:gd name="T0" fmla="*/ 15335 w 36935"/>
                  <a:gd name="T1" fmla="*/ 0 h 43200"/>
                  <a:gd name="T2" fmla="*/ 0 w 36935"/>
                  <a:gd name="T3" fmla="*/ 36811 h 43200"/>
                  <a:gd name="T4" fmla="*/ 15335 w 3693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935" h="43200" fill="none" extrusionOk="0">
                    <a:moveTo>
                      <a:pt x="15334" y="0"/>
                    </a:moveTo>
                    <a:cubicBezTo>
                      <a:pt x="27264" y="0"/>
                      <a:pt x="36935" y="9670"/>
                      <a:pt x="36935" y="21600"/>
                    </a:cubicBezTo>
                    <a:cubicBezTo>
                      <a:pt x="36935" y="33529"/>
                      <a:pt x="27264" y="43200"/>
                      <a:pt x="15335" y="43200"/>
                    </a:cubicBezTo>
                    <a:cubicBezTo>
                      <a:pt x="9575" y="43200"/>
                      <a:pt x="4055" y="40900"/>
                      <a:pt x="-1" y="36811"/>
                    </a:cubicBezTo>
                  </a:path>
                  <a:path w="36935" h="43200" stroke="0" extrusionOk="0">
                    <a:moveTo>
                      <a:pt x="15334" y="0"/>
                    </a:moveTo>
                    <a:cubicBezTo>
                      <a:pt x="27264" y="0"/>
                      <a:pt x="36935" y="9670"/>
                      <a:pt x="36935" y="21600"/>
                    </a:cubicBezTo>
                    <a:cubicBezTo>
                      <a:pt x="36935" y="33529"/>
                      <a:pt x="27264" y="43200"/>
                      <a:pt x="15335" y="43200"/>
                    </a:cubicBezTo>
                    <a:cubicBezTo>
                      <a:pt x="9575" y="43200"/>
                      <a:pt x="4055" y="40900"/>
                      <a:pt x="-1" y="36811"/>
                    </a:cubicBezTo>
                    <a:lnTo>
                      <a:pt x="15335" y="21600"/>
                    </a:lnTo>
                    <a:close/>
                  </a:path>
                </a:pathLst>
              </a:custGeom>
              <a:solidFill>
                <a:srgbClr val="CC0000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  <a:effectLst>
                <a:outerShdw dist="25400" dir="5400000" algn="ctr" rotWithShape="0">
                  <a:srgbClr val="990000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63936" name="AutoShape 96"/>
            <p:cNvSpPr>
              <a:spLocks noChangeArrowheads="1"/>
            </p:cNvSpPr>
            <p:nvPr/>
          </p:nvSpPr>
          <p:spPr bwMode="auto">
            <a:xfrm>
              <a:off x="551" y="3811"/>
              <a:ext cx="162" cy="132"/>
            </a:xfrm>
            <a:prstGeom prst="rightArrow">
              <a:avLst>
                <a:gd name="adj1" fmla="val 54546"/>
                <a:gd name="adj2" fmla="val 90909"/>
              </a:avLst>
            </a:prstGeom>
            <a:solidFill>
              <a:srgbClr val="D6009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63940" name="Group 100"/>
          <p:cNvGrpSpPr>
            <a:grpSpLocks/>
          </p:cNvGrpSpPr>
          <p:nvPr/>
        </p:nvGrpSpPr>
        <p:grpSpPr bwMode="auto">
          <a:xfrm>
            <a:off x="5258241" y="1715637"/>
            <a:ext cx="3670300" cy="1956480"/>
            <a:chOff x="2910" y="1163"/>
            <a:chExt cx="2312" cy="837"/>
          </a:xfrm>
        </p:grpSpPr>
        <p:grpSp>
          <p:nvGrpSpPr>
            <p:cNvPr id="163895" name="Group 55"/>
            <p:cNvGrpSpPr>
              <a:grpSpLocks/>
            </p:cNvGrpSpPr>
            <p:nvPr/>
          </p:nvGrpSpPr>
          <p:grpSpPr bwMode="auto">
            <a:xfrm>
              <a:off x="4050" y="1240"/>
              <a:ext cx="1172" cy="590"/>
              <a:chOff x="4050" y="1390"/>
              <a:chExt cx="1172" cy="590"/>
            </a:xfrm>
          </p:grpSpPr>
          <p:sp>
            <p:nvSpPr>
              <p:cNvPr id="163896" name="AutoShape 56"/>
              <p:cNvSpPr>
                <a:spLocks noChangeArrowheads="1"/>
              </p:cNvSpPr>
              <p:nvPr/>
            </p:nvSpPr>
            <p:spPr bwMode="auto">
              <a:xfrm>
                <a:off x="4050" y="1454"/>
                <a:ext cx="877" cy="526"/>
              </a:xfrm>
              <a:prstGeom prst="flowChartMagneticDisk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/>
                  <a:t>SAM</a:t>
                </a:r>
              </a:p>
            </p:txBody>
          </p:sp>
          <p:grpSp>
            <p:nvGrpSpPr>
              <p:cNvPr id="163897" name="Group 57"/>
              <p:cNvGrpSpPr>
                <a:grpSpLocks/>
              </p:cNvGrpSpPr>
              <p:nvPr/>
            </p:nvGrpSpPr>
            <p:grpSpPr bwMode="auto">
              <a:xfrm>
                <a:off x="4798" y="1390"/>
                <a:ext cx="424" cy="516"/>
                <a:chOff x="4094" y="1335"/>
                <a:chExt cx="424" cy="516"/>
              </a:xfrm>
            </p:grpSpPr>
            <p:grpSp>
              <p:nvGrpSpPr>
                <p:cNvPr id="163898" name="Group 58"/>
                <p:cNvGrpSpPr>
                  <a:grpSpLocks/>
                </p:cNvGrpSpPr>
                <p:nvPr/>
              </p:nvGrpSpPr>
              <p:grpSpPr bwMode="auto">
                <a:xfrm>
                  <a:off x="4094" y="1335"/>
                  <a:ext cx="424" cy="516"/>
                  <a:chOff x="4094" y="1335"/>
                  <a:chExt cx="424" cy="516"/>
                </a:xfrm>
              </p:grpSpPr>
              <p:sp>
                <p:nvSpPr>
                  <p:cNvPr id="163899" name="AutoShape 59"/>
                  <p:cNvSpPr>
                    <a:spLocks noChangeArrowheads="1"/>
                  </p:cNvSpPr>
                  <p:nvPr/>
                </p:nvSpPr>
                <p:spPr bwMode="auto">
                  <a:xfrm>
                    <a:off x="4119" y="1496"/>
                    <a:ext cx="399" cy="341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808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63900" name="AutoShape 60"/>
                  <p:cNvSpPr>
                    <a:spLocks noChangeArrowheads="1"/>
                  </p:cNvSpPr>
                  <p:nvPr/>
                </p:nvSpPr>
                <p:spPr bwMode="auto">
                  <a:xfrm>
                    <a:off x="4164" y="1335"/>
                    <a:ext cx="306" cy="326"/>
                  </a:xfrm>
                  <a:custGeom>
                    <a:avLst/>
                    <a:gdLst>
                      <a:gd name="G0" fmla="+- 5400 0 0"/>
                      <a:gd name="G1" fmla="+- 11796480 0 0"/>
                      <a:gd name="G2" fmla="+- 0 0 11796480"/>
                      <a:gd name="T0" fmla="*/ 0 256 1"/>
                      <a:gd name="T1" fmla="*/ 180 256 1"/>
                      <a:gd name="G3" fmla="+- 11796480 T0 T1"/>
                      <a:gd name="T2" fmla="*/ 0 256 1"/>
                      <a:gd name="T3" fmla="*/ 90 256 1"/>
                      <a:gd name="G4" fmla="+- 11796480 T2 T3"/>
                      <a:gd name="G5" fmla="*/ G4 2 1"/>
                      <a:gd name="T4" fmla="*/ 90 256 1"/>
                      <a:gd name="T5" fmla="*/ 0 256 1"/>
                      <a:gd name="G6" fmla="+- 11796480 T4 T5"/>
                      <a:gd name="G7" fmla="*/ G6 2 1"/>
                      <a:gd name="G8" fmla="abs 11796480"/>
                      <a:gd name="T6" fmla="*/ 0 256 1"/>
                      <a:gd name="T7" fmla="*/ 90 256 1"/>
                      <a:gd name="G9" fmla="+- G8 T6 T7"/>
                      <a:gd name="G10" fmla="?: G9 G7 G5"/>
                      <a:gd name="T8" fmla="*/ 0 256 1"/>
                      <a:gd name="T9" fmla="*/ 360 256 1"/>
                      <a:gd name="G11" fmla="+- G10 T8 T9"/>
                      <a:gd name="G12" fmla="?: G10 G11 G10"/>
                      <a:gd name="T10" fmla="*/ 0 256 1"/>
                      <a:gd name="T11" fmla="*/ 360 256 1"/>
                      <a:gd name="G13" fmla="+- G12 T10 T11"/>
                      <a:gd name="G14" fmla="?: G12 G13 G12"/>
                      <a:gd name="G15" fmla="+- 0 0 G14"/>
                      <a:gd name="G16" fmla="+- 10800 0 0"/>
                      <a:gd name="G17" fmla="+- 10800 0 5400"/>
                      <a:gd name="G18" fmla="*/ 5400 1 2"/>
                      <a:gd name="G19" fmla="+- G18 5400 0"/>
                      <a:gd name="G20" fmla="cos G19 11796480"/>
                      <a:gd name="G21" fmla="sin G19 11796480"/>
                      <a:gd name="G22" fmla="+- G20 10800 0"/>
                      <a:gd name="G23" fmla="+- G21 10800 0"/>
                      <a:gd name="G24" fmla="+- 10800 0 G20"/>
                      <a:gd name="G25" fmla="+- 5400 10800 0"/>
                      <a:gd name="G26" fmla="?: G9 G17 G25"/>
                      <a:gd name="G27" fmla="?: G9 0 21600"/>
                      <a:gd name="G28" fmla="cos 10800 11796480"/>
                      <a:gd name="G29" fmla="sin 10800 11796480"/>
                      <a:gd name="G30" fmla="sin 5400 11796480"/>
                      <a:gd name="G31" fmla="+- G28 10800 0"/>
                      <a:gd name="G32" fmla="+- G29 10800 0"/>
                      <a:gd name="G33" fmla="+- G30 10800 0"/>
                      <a:gd name="G34" fmla="?: G4 0 G31"/>
                      <a:gd name="G35" fmla="?: 11796480 G34 0"/>
                      <a:gd name="G36" fmla="?: G6 G35 G31"/>
                      <a:gd name="G37" fmla="+- 21600 0 G36"/>
                      <a:gd name="G38" fmla="?: G4 0 G33"/>
                      <a:gd name="G39" fmla="?: 11796480 G38 G32"/>
                      <a:gd name="G40" fmla="?: G6 G39 0"/>
                      <a:gd name="G41" fmla="?: G4 G32 21600"/>
                      <a:gd name="G42" fmla="?: G6 G41 G33"/>
                      <a:gd name="T12" fmla="*/ 10800 w 21600"/>
                      <a:gd name="T13" fmla="*/ 0 h 21600"/>
                      <a:gd name="T14" fmla="*/ 2700 w 21600"/>
                      <a:gd name="T15" fmla="*/ 10800 h 21600"/>
                      <a:gd name="T16" fmla="*/ 10800 w 21600"/>
                      <a:gd name="T17" fmla="*/ 5400 h 21600"/>
                      <a:gd name="T18" fmla="*/ 18900 w 21600"/>
                      <a:gd name="T19" fmla="*/ 10800 h 21600"/>
                      <a:gd name="T20" fmla="*/ G36 w 21600"/>
                      <a:gd name="T21" fmla="*/ G40 h 21600"/>
                      <a:gd name="T22" fmla="*/ G37 w 21600"/>
                      <a:gd name="T23" fmla="*/ G42 h 21600"/>
                    </a:gdLst>
                    <a:ahLst/>
                    <a:cxnLst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T20" t="T21" r="T22" b="T23"/>
                    <a:pathLst>
                      <a:path w="21600" h="21600">
                        <a:moveTo>
                          <a:pt x="5400" y="10800"/>
                        </a:moveTo>
                        <a:cubicBezTo>
                          <a:pt x="5400" y="7817"/>
                          <a:pt x="7817" y="5400"/>
                          <a:pt x="10800" y="5400"/>
                        </a:cubicBezTo>
                        <a:cubicBezTo>
                          <a:pt x="13782" y="5399"/>
                          <a:pt x="16199" y="7817"/>
                          <a:pt x="16200" y="10799"/>
                        </a:cubicBezTo>
                        <a:lnTo>
                          <a:pt x="21600" y="10800"/>
                        </a:lnTo>
                        <a:cubicBezTo>
                          <a:pt x="21600" y="4835"/>
                          <a:pt x="16764" y="0"/>
                          <a:pt x="10800" y="0"/>
                        </a:cubicBezTo>
                        <a:cubicBezTo>
                          <a:pt x="4835" y="0"/>
                          <a:pt x="0" y="4835"/>
                          <a:pt x="0" y="10800"/>
                        </a:cubicBezTo>
                        <a:close/>
                      </a:path>
                    </a:pathLst>
                  </a:custGeom>
                  <a:solidFill>
                    <a:srgbClr val="808000"/>
                  </a:solidFill>
                  <a:ln w="9525" cap="rnd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63901" name="AutoShape 61"/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1347"/>
                    <a:ext cx="305" cy="326"/>
                  </a:xfrm>
                  <a:custGeom>
                    <a:avLst/>
                    <a:gdLst>
                      <a:gd name="G0" fmla="+- 5400 0 0"/>
                      <a:gd name="G1" fmla="+- 11796480 0 0"/>
                      <a:gd name="G2" fmla="+- 0 0 11796480"/>
                      <a:gd name="T0" fmla="*/ 0 256 1"/>
                      <a:gd name="T1" fmla="*/ 180 256 1"/>
                      <a:gd name="G3" fmla="+- 11796480 T0 T1"/>
                      <a:gd name="T2" fmla="*/ 0 256 1"/>
                      <a:gd name="T3" fmla="*/ 90 256 1"/>
                      <a:gd name="G4" fmla="+- 11796480 T2 T3"/>
                      <a:gd name="G5" fmla="*/ G4 2 1"/>
                      <a:gd name="T4" fmla="*/ 90 256 1"/>
                      <a:gd name="T5" fmla="*/ 0 256 1"/>
                      <a:gd name="G6" fmla="+- 11796480 T4 T5"/>
                      <a:gd name="G7" fmla="*/ G6 2 1"/>
                      <a:gd name="G8" fmla="abs 11796480"/>
                      <a:gd name="T6" fmla="*/ 0 256 1"/>
                      <a:gd name="T7" fmla="*/ 90 256 1"/>
                      <a:gd name="G9" fmla="+- G8 T6 T7"/>
                      <a:gd name="G10" fmla="?: G9 G7 G5"/>
                      <a:gd name="T8" fmla="*/ 0 256 1"/>
                      <a:gd name="T9" fmla="*/ 360 256 1"/>
                      <a:gd name="G11" fmla="+- G10 T8 T9"/>
                      <a:gd name="G12" fmla="?: G10 G11 G10"/>
                      <a:gd name="T10" fmla="*/ 0 256 1"/>
                      <a:gd name="T11" fmla="*/ 360 256 1"/>
                      <a:gd name="G13" fmla="+- G12 T10 T11"/>
                      <a:gd name="G14" fmla="?: G12 G13 G12"/>
                      <a:gd name="G15" fmla="+- 0 0 G14"/>
                      <a:gd name="G16" fmla="+- 10800 0 0"/>
                      <a:gd name="G17" fmla="+- 10800 0 5400"/>
                      <a:gd name="G18" fmla="*/ 5400 1 2"/>
                      <a:gd name="G19" fmla="+- G18 5400 0"/>
                      <a:gd name="G20" fmla="cos G19 11796480"/>
                      <a:gd name="G21" fmla="sin G19 11796480"/>
                      <a:gd name="G22" fmla="+- G20 10800 0"/>
                      <a:gd name="G23" fmla="+- G21 10800 0"/>
                      <a:gd name="G24" fmla="+- 10800 0 G20"/>
                      <a:gd name="G25" fmla="+- 5400 10800 0"/>
                      <a:gd name="G26" fmla="?: G9 G17 G25"/>
                      <a:gd name="G27" fmla="?: G9 0 21600"/>
                      <a:gd name="G28" fmla="cos 10800 11796480"/>
                      <a:gd name="G29" fmla="sin 10800 11796480"/>
                      <a:gd name="G30" fmla="sin 5400 11796480"/>
                      <a:gd name="G31" fmla="+- G28 10800 0"/>
                      <a:gd name="G32" fmla="+- G29 10800 0"/>
                      <a:gd name="G33" fmla="+- G30 10800 0"/>
                      <a:gd name="G34" fmla="?: G4 0 G31"/>
                      <a:gd name="G35" fmla="?: 11796480 G34 0"/>
                      <a:gd name="G36" fmla="?: G6 G35 G31"/>
                      <a:gd name="G37" fmla="+- 21600 0 G36"/>
                      <a:gd name="G38" fmla="?: G4 0 G33"/>
                      <a:gd name="G39" fmla="?: 11796480 G38 G32"/>
                      <a:gd name="G40" fmla="?: G6 G39 0"/>
                      <a:gd name="G41" fmla="?: G4 G32 21600"/>
                      <a:gd name="G42" fmla="?: G6 G41 G33"/>
                      <a:gd name="T12" fmla="*/ 10800 w 21600"/>
                      <a:gd name="T13" fmla="*/ 0 h 21600"/>
                      <a:gd name="T14" fmla="*/ 2700 w 21600"/>
                      <a:gd name="T15" fmla="*/ 10800 h 21600"/>
                      <a:gd name="T16" fmla="*/ 10800 w 21600"/>
                      <a:gd name="T17" fmla="*/ 5400 h 21600"/>
                      <a:gd name="T18" fmla="*/ 18900 w 21600"/>
                      <a:gd name="T19" fmla="*/ 10800 h 21600"/>
                      <a:gd name="T20" fmla="*/ G36 w 21600"/>
                      <a:gd name="T21" fmla="*/ G40 h 21600"/>
                      <a:gd name="T22" fmla="*/ G37 w 21600"/>
                      <a:gd name="T23" fmla="*/ G42 h 21600"/>
                    </a:gdLst>
                    <a:ahLst/>
                    <a:cxnLst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T20" t="T21" r="T22" b="T23"/>
                    <a:pathLst>
                      <a:path w="21600" h="21600">
                        <a:moveTo>
                          <a:pt x="5400" y="10800"/>
                        </a:moveTo>
                        <a:cubicBezTo>
                          <a:pt x="5400" y="7817"/>
                          <a:pt x="7817" y="5400"/>
                          <a:pt x="10800" y="5400"/>
                        </a:cubicBezTo>
                        <a:cubicBezTo>
                          <a:pt x="13782" y="5399"/>
                          <a:pt x="16199" y="7817"/>
                          <a:pt x="16200" y="10799"/>
                        </a:cubicBezTo>
                        <a:lnTo>
                          <a:pt x="21600" y="10800"/>
                        </a:lnTo>
                        <a:cubicBezTo>
                          <a:pt x="21600" y="4835"/>
                          <a:pt x="16764" y="0"/>
                          <a:pt x="10800" y="0"/>
                        </a:cubicBezTo>
                        <a:cubicBezTo>
                          <a:pt x="4835" y="0"/>
                          <a:pt x="0" y="4835"/>
                          <a:pt x="0" y="10800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FCC00"/>
                      </a:gs>
                      <a:gs pos="100000">
                        <a:srgbClr val="FFCC00">
                          <a:gamma/>
                          <a:shade val="46275"/>
                          <a:invGamma/>
                        </a:srgbClr>
                      </a:gs>
                    </a:gsLst>
                    <a:lin ang="5400000" scaled="1"/>
                  </a:gradFill>
                  <a:ln w="9525" cap="rnd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63902" name="AutoShape 62"/>
                  <p:cNvSpPr>
                    <a:spLocks noChangeArrowheads="1"/>
                  </p:cNvSpPr>
                  <p:nvPr/>
                </p:nvSpPr>
                <p:spPr bwMode="auto">
                  <a:xfrm>
                    <a:off x="4094" y="1509"/>
                    <a:ext cx="399" cy="342"/>
                  </a:xfrm>
                  <a:prstGeom prst="roundRect">
                    <a:avLst>
                      <a:gd name="adj" fmla="val 16667"/>
                    </a:avLst>
                  </a:prstGeom>
                  <a:gradFill rotWithShape="0">
                    <a:gsLst>
                      <a:gs pos="0">
                        <a:srgbClr val="FFCC00"/>
                      </a:gs>
                      <a:gs pos="100000">
                        <a:srgbClr val="FFCC00">
                          <a:gamma/>
                          <a:shade val="66667"/>
                          <a:invGamma/>
                        </a:srgbClr>
                      </a:gs>
                    </a:gsLst>
                    <a:lin ang="5400000" scaled="1"/>
                  </a:gra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163903" name="Freeform 63"/>
                <p:cNvSpPr>
                  <a:spLocks/>
                </p:cNvSpPr>
                <p:nvPr/>
              </p:nvSpPr>
              <p:spPr bwMode="auto">
                <a:xfrm>
                  <a:off x="4251" y="1556"/>
                  <a:ext cx="104" cy="261"/>
                </a:xfrm>
                <a:custGeom>
                  <a:avLst/>
                  <a:gdLst/>
                  <a:ahLst/>
                  <a:cxnLst>
                    <a:cxn ang="0">
                      <a:pos x="134" y="160"/>
                    </a:cxn>
                    <a:cxn ang="0">
                      <a:pos x="144" y="154"/>
                    </a:cxn>
                    <a:cxn ang="0">
                      <a:pos x="152" y="148"/>
                    </a:cxn>
                    <a:cxn ang="0">
                      <a:pos x="160" y="138"/>
                    </a:cxn>
                    <a:cxn ang="0">
                      <a:pos x="166" y="130"/>
                    </a:cxn>
                    <a:cxn ang="0">
                      <a:pos x="172" y="120"/>
                    </a:cxn>
                    <a:cxn ang="0">
                      <a:pos x="176" y="108"/>
                    </a:cxn>
                    <a:cxn ang="0">
                      <a:pos x="178" y="98"/>
                    </a:cxn>
                    <a:cxn ang="0">
                      <a:pos x="180" y="86"/>
                    </a:cxn>
                    <a:cxn ang="0">
                      <a:pos x="178" y="68"/>
                    </a:cxn>
                    <a:cxn ang="0">
                      <a:pos x="172" y="52"/>
                    </a:cxn>
                    <a:cxn ang="0">
                      <a:pos x="164" y="38"/>
                    </a:cxn>
                    <a:cxn ang="0">
                      <a:pos x="154" y="26"/>
                    </a:cxn>
                    <a:cxn ang="0">
                      <a:pos x="142" y="14"/>
                    </a:cxn>
                    <a:cxn ang="0">
                      <a:pos x="128" y="6"/>
                    </a:cxn>
                    <a:cxn ang="0">
                      <a:pos x="112" y="2"/>
                    </a:cxn>
                    <a:cxn ang="0">
                      <a:pos x="94" y="0"/>
                    </a:cxn>
                    <a:cxn ang="0">
                      <a:pos x="76" y="2"/>
                    </a:cxn>
                    <a:cxn ang="0">
                      <a:pos x="60" y="6"/>
                    </a:cxn>
                    <a:cxn ang="0">
                      <a:pos x="46" y="14"/>
                    </a:cxn>
                    <a:cxn ang="0">
                      <a:pos x="32" y="26"/>
                    </a:cxn>
                    <a:cxn ang="0">
                      <a:pos x="22" y="38"/>
                    </a:cxn>
                    <a:cxn ang="0">
                      <a:pos x="14" y="52"/>
                    </a:cxn>
                    <a:cxn ang="0">
                      <a:pos x="8" y="68"/>
                    </a:cxn>
                    <a:cxn ang="0">
                      <a:pos x="8" y="86"/>
                    </a:cxn>
                    <a:cxn ang="0">
                      <a:pos x="8" y="98"/>
                    </a:cxn>
                    <a:cxn ang="0">
                      <a:pos x="10" y="108"/>
                    </a:cxn>
                    <a:cxn ang="0">
                      <a:pos x="14" y="120"/>
                    </a:cxn>
                    <a:cxn ang="0">
                      <a:pos x="20" y="130"/>
                    </a:cxn>
                    <a:cxn ang="0">
                      <a:pos x="26" y="138"/>
                    </a:cxn>
                    <a:cxn ang="0">
                      <a:pos x="34" y="148"/>
                    </a:cxn>
                    <a:cxn ang="0">
                      <a:pos x="42" y="154"/>
                    </a:cxn>
                    <a:cxn ang="0">
                      <a:pos x="52" y="160"/>
                    </a:cxn>
                    <a:cxn ang="0">
                      <a:pos x="0" y="468"/>
                    </a:cxn>
                    <a:cxn ang="0">
                      <a:pos x="188" y="468"/>
                    </a:cxn>
                    <a:cxn ang="0">
                      <a:pos x="134" y="160"/>
                    </a:cxn>
                  </a:cxnLst>
                  <a:rect l="0" t="0" r="r" b="b"/>
                  <a:pathLst>
                    <a:path w="188" h="468">
                      <a:moveTo>
                        <a:pt x="134" y="160"/>
                      </a:moveTo>
                      <a:lnTo>
                        <a:pt x="144" y="154"/>
                      </a:lnTo>
                      <a:lnTo>
                        <a:pt x="152" y="148"/>
                      </a:lnTo>
                      <a:lnTo>
                        <a:pt x="160" y="138"/>
                      </a:lnTo>
                      <a:lnTo>
                        <a:pt x="166" y="130"/>
                      </a:lnTo>
                      <a:lnTo>
                        <a:pt x="172" y="120"/>
                      </a:lnTo>
                      <a:lnTo>
                        <a:pt x="176" y="108"/>
                      </a:lnTo>
                      <a:lnTo>
                        <a:pt x="178" y="98"/>
                      </a:lnTo>
                      <a:lnTo>
                        <a:pt x="180" y="86"/>
                      </a:lnTo>
                      <a:lnTo>
                        <a:pt x="178" y="68"/>
                      </a:lnTo>
                      <a:lnTo>
                        <a:pt x="172" y="52"/>
                      </a:lnTo>
                      <a:lnTo>
                        <a:pt x="164" y="38"/>
                      </a:lnTo>
                      <a:lnTo>
                        <a:pt x="154" y="26"/>
                      </a:lnTo>
                      <a:lnTo>
                        <a:pt x="142" y="14"/>
                      </a:lnTo>
                      <a:lnTo>
                        <a:pt x="128" y="6"/>
                      </a:lnTo>
                      <a:lnTo>
                        <a:pt x="112" y="2"/>
                      </a:lnTo>
                      <a:lnTo>
                        <a:pt x="94" y="0"/>
                      </a:lnTo>
                      <a:lnTo>
                        <a:pt x="76" y="2"/>
                      </a:lnTo>
                      <a:lnTo>
                        <a:pt x="60" y="6"/>
                      </a:lnTo>
                      <a:lnTo>
                        <a:pt x="46" y="14"/>
                      </a:lnTo>
                      <a:lnTo>
                        <a:pt x="32" y="26"/>
                      </a:lnTo>
                      <a:lnTo>
                        <a:pt x="22" y="38"/>
                      </a:lnTo>
                      <a:lnTo>
                        <a:pt x="14" y="52"/>
                      </a:lnTo>
                      <a:lnTo>
                        <a:pt x="8" y="68"/>
                      </a:lnTo>
                      <a:lnTo>
                        <a:pt x="8" y="86"/>
                      </a:lnTo>
                      <a:lnTo>
                        <a:pt x="8" y="98"/>
                      </a:lnTo>
                      <a:lnTo>
                        <a:pt x="10" y="108"/>
                      </a:lnTo>
                      <a:lnTo>
                        <a:pt x="14" y="120"/>
                      </a:lnTo>
                      <a:lnTo>
                        <a:pt x="20" y="130"/>
                      </a:lnTo>
                      <a:lnTo>
                        <a:pt x="26" y="138"/>
                      </a:lnTo>
                      <a:lnTo>
                        <a:pt x="34" y="148"/>
                      </a:lnTo>
                      <a:lnTo>
                        <a:pt x="42" y="154"/>
                      </a:lnTo>
                      <a:lnTo>
                        <a:pt x="52" y="160"/>
                      </a:lnTo>
                      <a:lnTo>
                        <a:pt x="0" y="468"/>
                      </a:lnTo>
                      <a:lnTo>
                        <a:pt x="188" y="468"/>
                      </a:lnTo>
                      <a:lnTo>
                        <a:pt x="134" y="16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2700">
                  <a:noFill/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sp>
          <p:nvSpPr>
            <p:cNvPr id="163894" name="AutoShape 54"/>
            <p:cNvSpPr>
              <a:spLocks noChangeArrowheads="1"/>
            </p:cNvSpPr>
            <p:nvPr/>
          </p:nvSpPr>
          <p:spPr bwMode="auto">
            <a:xfrm>
              <a:off x="2910" y="1163"/>
              <a:ext cx="1182" cy="837"/>
            </a:xfrm>
            <a:prstGeom prst="rightArrow">
              <a:avLst>
                <a:gd name="adj1" fmla="val 62037"/>
                <a:gd name="adj2" fmla="val 36142"/>
              </a:avLst>
            </a:prstGeom>
            <a:gradFill rotWithShape="0">
              <a:gsLst>
                <a:gs pos="0">
                  <a:srgbClr val="D60093"/>
                </a:gs>
                <a:gs pos="100000">
                  <a:srgbClr val="D60093">
                    <a:gamma/>
                    <a:tint val="0"/>
                    <a:invGamma/>
                  </a:srgbClr>
                </a:gs>
              </a:gsLst>
              <a:lin ang="0" scaled="1"/>
            </a:gradFill>
            <a:ln w="9525">
              <a:solidFill>
                <a:srgbClr val="80008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B2B2B2"/>
              </a:outerShdw>
            </a:effectLst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sz="2000" dirty="0"/>
                <a:t>Envoi des </a:t>
              </a:r>
              <a:br>
                <a:rPr lang="en-US" sz="2000" dirty="0"/>
              </a:br>
              <a:r>
                <a:rPr lang="en-US" sz="2000" dirty="0" err="1"/>
                <a:t>informations</a:t>
              </a:r>
              <a:r>
                <a:rPr lang="en-US" sz="2000" dirty="0"/>
                <a:t/>
              </a:r>
              <a:br>
                <a:rPr lang="en-US" sz="2000" dirty="0"/>
              </a:br>
              <a:r>
                <a:rPr lang="en-US" sz="2000" dirty="0"/>
                <a:t>de </a:t>
              </a:r>
              <a:r>
                <a:rPr lang="en-US" sz="2000" dirty="0" err="1"/>
                <a:t>référence</a:t>
              </a:r>
              <a:endParaRPr 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3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3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63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6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3.  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Configuration de la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sécurité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locale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4869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301752" y="1527048"/>
            <a:ext cx="8503920" cy="3146552"/>
          </a:xfrm>
        </p:spPr>
        <p:txBody>
          <a:bodyPr>
            <a:normAutofit/>
          </a:bodyPr>
          <a:lstStyle/>
          <a:p>
            <a:pPr>
              <a:buClrTx/>
              <a:buFont typeface="Wingdings" pitchFamily="2" charset="2"/>
              <a:buChar char="Ø"/>
            </a:pPr>
            <a:r>
              <a:rPr lang="fr-FR" sz="2800" dirty="0"/>
              <a:t>Présentation de la console MMC </a:t>
            </a:r>
            <a:endParaRPr lang="en-US" sz="2800" dirty="0"/>
          </a:p>
          <a:p>
            <a:pPr>
              <a:buClrTx/>
              <a:buFont typeface="Wingdings" pitchFamily="2" charset="2"/>
              <a:buChar char="Ø"/>
            </a:pPr>
            <a:r>
              <a:rPr lang="fr-FR" sz="2800" dirty="0"/>
              <a:t>Création d'une console de sécurité personnalisée </a:t>
            </a:r>
            <a:endParaRPr lang="en-US" sz="2800" dirty="0"/>
          </a:p>
          <a:p>
            <a:pPr>
              <a:buClrTx/>
              <a:buFont typeface="Wingdings" pitchFamily="2" charset="2"/>
              <a:buChar char="Ø"/>
            </a:pPr>
            <a:r>
              <a:rPr lang="fr-FR" sz="2800" dirty="0"/>
              <a:t>Configuration du composant Stratégies de compte </a:t>
            </a:r>
            <a:endParaRPr lang="en-US" sz="2800" dirty="0"/>
          </a:p>
          <a:p>
            <a:pPr>
              <a:buClrTx/>
              <a:buFont typeface="Wingdings" pitchFamily="2" charset="2"/>
              <a:buChar char="Ø"/>
            </a:pPr>
            <a:r>
              <a:rPr lang="fr-FR" sz="2800" dirty="0"/>
              <a:t>Configuration du composant Stratégies locales </a:t>
            </a:r>
            <a:r>
              <a:rPr lang="en-US" sz="2800" dirty="0"/>
              <a:t>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fr-FR" sz="2800" dirty="0"/>
              <a:t>Configuration des options CTRL+ALT+SUPPR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928" name="Picture 16" descr="P2272bW09-10-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3775" y="2003425"/>
            <a:ext cx="7845425" cy="4024313"/>
          </a:xfrm>
          <a:prstGeom prst="rect">
            <a:avLst/>
          </a:prstGeom>
          <a:noFill/>
        </p:spPr>
      </p:pic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r>
              <a:rPr lang="fr-FR" dirty="0" err="1">
                <a:solidFill>
                  <a:srgbClr val="C00000"/>
                </a:solidFill>
              </a:rPr>
              <a:t>Présentation de la console MMC</a:t>
            </a:r>
            <a:endParaRPr lang="en-US" dirty="0" err="1">
              <a:solidFill>
                <a:srgbClr val="C00000"/>
              </a:solidFill>
            </a:endParaRPr>
          </a:p>
        </p:txBody>
      </p:sp>
      <p:sp>
        <p:nvSpPr>
          <p:cNvPr id="166918" name="Line 6"/>
          <p:cNvSpPr>
            <a:spLocks noChangeShapeType="1"/>
          </p:cNvSpPr>
          <p:nvPr/>
        </p:nvSpPr>
        <p:spPr bwMode="auto">
          <a:xfrm>
            <a:off x="5929313" y="1630363"/>
            <a:ext cx="0" cy="1603375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>
            <a:outerShdw dist="25400" algn="ctr" rotWithShape="0">
              <a:srgbClr val="FFFFFF"/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6919" name="Rectangle 7"/>
          <p:cNvSpPr>
            <a:spLocks noChangeArrowheads="1"/>
          </p:cNvSpPr>
          <p:nvPr/>
        </p:nvSpPr>
        <p:spPr bwMode="auto">
          <a:xfrm>
            <a:off x="5181600" y="1223963"/>
            <a:ext cx="1565275" cy="741362"/>
          </a:xfrm>
          <a:prstGeom prst="rect">
            <a:avLst/>
          </a:prstGeom>
          <a:gradFill rotWithShape="0">
            <a:gsLst>
              <a:gs pos="0">
                <a:srgbClr val="99CCFF">
                  <a:gamma/>
                  <a:tint val="4314"/>
                  <a:invGamma/>
                </a:srgbClr>
              </a:gs>
              <a:gs pos="100000">
                <a:srgbClr val="99CCFF"/>
              </a:gs>
            </a:gsLst>
            <a:lin ang="5400000" scaled="1"/>
          </a:gradFill>
          <a:ln w="28575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/>
          <a:p>
            <a:pPr algn="ctr"/>
            <a:r>
              <a:rPr lang="en-US"/>
              <a:t>Volet </a:t>
            </a:r>
            <a:br>
              <a:rPr lang="en-US"/>
            </a:br>
            <a:r>
              <a:rPr lang="en-US"/>
              <a:t>de détails</a:t>
            </a:r>
          </a:p>
        </p:txBody>
      </p:sp>
      <p:sp>
        <p:nvSpPr>
          <p:cNvPr id="166920" name="Freeform 8"/>
          <p:cNvSpPr>
            <a:spLocks/>
          </p:cNvSpPr>
          <p:nvPr/>
        </p:nvSpPr>
        <p:spPr bwMode="auto">
          <a:xfrm>
            <a:off x="584200" y="1755775"/>
            <a:ext cx="395288" cy="12747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797"/>
              </a:cxn>
              <a:cxn ang="0">
                <a:pos x="260" y="797"/>
              </a:cxn>
            </a:cxnLst>
            <a:rect l="0" t="0" r="r" b="b"/>
            <a:pathLst>
              <a:path w="260" h="797">
                <a:moveTo>
                  <a:pt x="0" y="0"/>
                </a:moveTo>
                <a:lnTo>
                  <a:pt x="0" y="797"/>
                </a:lnTo>
                <a:lnTo>
                  <a:pt x="260" y="797"/>
                </a:lnTo>
              </a:path>
            </a:pathLst>
          </a:custGeom>
          <a:noFill/>
          <a:ln w="38100" cap="flat" cmpd="sng">
            <a:solidFill>
              <a:srgbClr val="333399"/>
            </a:solidFill>
            <a:prstDash val="solid"/>
            <a:round/>
            <a:headEnd type="none" w="med" len="med"/>
            <a:tailEnd type="none" w="med" len="med"/>
          </a:ln>
          <a:effectLst>
            <a:outerShdw dist="25400" algn="ctr" rotWithShape="0">
              <a:srgbClr val="FFFFFF"/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6922" name="Rectangle 10"/>
          <p:cNvSpPr>
            <a:spLocks noChangeArrowheads="1"/>
          </p:cNvSpPr>
          <p:nvPr/>
        </p:nvSpPr>
        <p:spPr bwMode="auto">
          <a:xfrm>
            <a:off x="374650" y="1228725"/>
            <a:ext cx="1758950" cy="688975"/>
          </a:xfrm>
          <a:prstGeom prst="rect">
            <a:avLst/>
          </a:prstGeom>
          <a:gradFill rotWithShape="0">
            <a:gsLst>
              <a:gs pos="0">
                <a:srgbClr val="99CCFF">
                  <a:gamma/>
                  <a:tint val="4314"/>
                  <a:invGamma/>
                </a:srgbClr>
              </a:gs>
              <a:gs pos="100000">
                <a:srgbClr val="99CCFF"/>
              </a:gs>
            </a:gsLst>
            <a:lin ang="5400000" scaled="1"/>
          </a:gradFill>
          <a:ln w="28575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/>
          <a:p>
            <a:pPr algn="ctr"/>
            <a:r>
              <a:rPr lang="en-US"/>
              <a:t>Arborescence </a:t>
            </a:r>
            <a:br>
              <a:rPr lang="en-US"/>
            </a:br>
            <a:r>
              <a:rPr lang="en-US"/>
              <a:t>de la console</a:t>
            </a:r>
          </a:p>
        </p:txBody>
      </p:sp>
      <p:sp>
        <p:nvSpPr>
          <p:cNvPr id="166923" name="Freeform 11"/>
          <p:cNvSpPr>
            <a:spLocks/>
          </p:cNvSpPr>
          <p:nvPr/>
        </p:nvSpPr>
        <p:spPr bwMode="auto">
          <a:xfrm flipV="1">
            <a:off x="592138" y="3214688"/>
            <a:ext cx="385762" cy="12287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797"/>
              </a:cxn>
              <a:cxn ang="0">
                <a:pos x="260" y="797"/>
              </a:cxn>
            </a:cxnLst>
            <a:rect l="0" t="0" r="r" b="b"/>
            <a:pathLst>
              <a:path w="260" h="797">
                <a:moveTo>
                  <a:pt x="0" y="0"/>
                </a:moveTo>
                <a:lnTo>
                  <a:pt x="0" y="797"/>
                </a:lnTo>
                <a:lnTo>
                  <a:pt x="260" y="797"/>
                </a:lnTo>
              </a:path>
            </a:pathLst>
          </a:custGeom>
          <a:noFill/>
          <a:ln w="38100" cap="flat" cmpd="sng">
            <a:solidFill>
              <a:srgbClr val="333399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rgbClr val="FFFFFF"/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6924" name="Rectangle 12"/>
          <p:cNvSpPr>
            <a:spLocks noChangeArrowheads="1"/>
          </p:cNvSpPr>
          <p:nvPr/>
        </p:nvSpPr>
        <p:spPr bwMode="auto">
          <a:xfrm>
            <a:off x="374650" y="4362450"/>
            <a:ext cx="1565275" cy="987425"/>
          </a:xfrm>
          <a:prstGeom prst="rect">
            <a:avLst/>
          </a:prstGeom>
          <a:gradFill rotWithShape="0">
            <a:gsLst>
              <a:gs pos="0">
                <a:srgbClr val="99CCFF">
                  <a:gamma/>
                  <a:tint val="4314"/>
                  <a:invGamma/>
                </a:srgbClr>
              </a:gs>
              <a:gs pos="100000">
                <a:srgbClr val="99CCFF"/>
              </a:gs>
            </a:gsLst>
            <a:lin ang="5400000" scaled="1"/>
          </a:gradFill>
          <a:ln w="28575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/>
          <a:p>
            <a:pPr algn="ctr"/>
            <a:r>
              <a:rPr lang="en-US"/>
              <a:t>Composants </a:t>
            </a:r>
            <a:br>
              <a:rPr lang="en-US"/>
            </a:br>
            <a:r>
              <a:rPr lang="en-US"/>
              <a:t>logiciels </a:t>
            </a:r>
            <a:br>
              <a:rPr lang="en-US"/>
            </a:br>
            <a:r>
              <a:rPr lang="en-US"/>
              <a:t>enfichables</a:t>
            </a:r>
          </a:p>
        </p:txBody>
      </p:sp>
      <p:sp>
        <p:nvSpPr>
          <p:cNvPr id="166921" name="Line 9"/>
          <p:cNvSpPr>
            <a:spLocks noChangeShapeType="1"/>
          </p:cNvSpPr>
          <p:nvPr/>
        </p:nvSpPr>
        <p:spPr bwMode="auto">
          <a:xfrm>
            <a:off x="561296" y="3740150"/>
            <a:ext cx="396000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>
            <a:outerShdw dist="35921" dir="2700000" algn="ctr" rotWithShape="0">
              <a:srgbClr val="FFFFFF"/>
            </a:outerShdw>
          </a:effectLst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15684"/>
            <a:ext cx="9144000" cy="758952"/>
          </a:xfrm>
        </p:spPr>
        <p:txBody>
          <a:bodyPr vert="horz" anchor="b">
            <a:normAutofit fontScale="90000"/>
          </a:bodyPr>
          <a:lstStyle/>
          <a:p>
            <a:r>
              <a:rPr lang="fr-FR" b="1" dirty="0" err="1">
                <a:solidFill>
                  <a:srgbClr val="C00000"/>
                </a:solidFill>
              </a:rPr>
              <a:t>Création d'une console de sécurité personnalisée</a:t>
            </a:r>
            <a:endParaRPr lang="en-US" b="1" dirty="0" err="1">
              <a:solidFill>
                <a:srgbClr val="C00000"/>
              </a:solidFill>
            </a:endParaRPr>
          </a:p>
        </p:txBody>
      </p:sp>
      <p:pic>
        <p:nvPicPr>
          <p:cNvPr id="167943" name="Picture 7" descr="P2272b_W09-11-a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-1" y="1729809"/>
            <a:ext cx="4949371" cy="5129817"/>
          </a:xfrm>
          <a:noFill/>
          <a:ln/>
        </p:spPr>
      </p:pic>
      <p:pic>
        <p:nvPicPr>
          <p:cNvPr id="167945" name="Picture 9" descr="P2272b_W09-11-b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3167063" y="1077007"/>
            <a:ext cx="5976937" cy="5180919"/>
          </a:xfrm>
          <a:noFill/>
          <a:ln/>
        </p:spPr>
      </p:pic>
      <p:sp>
        <p:nvSpPr>
          <p:cNvPr id="167942" name="Freeform 6"/>
          <p:cNvSpPr>
            <a:spLocks/>
          </p:cNvSpPr>
          <p:nvPr/>
        </p:nvSpPr>
        <p:spPr bwMode="auto">
          <a:xfrm rot="20306378">
            <a:off x="3173639" y="6038386"/>
            <a:ext cx="1808163" cy="695325"/>
          </a:xfrm>
          <a:custGeom>
            <a:avLst/>
            <a:gdLst/>
            <a:ahLst/>
            <a:cxnLst>
              <a:cxn ang="0">
                <a:pos x="0" y="58"/>
              </a:cxn>
              <a:cxn ang="0">
                <a:pos x="69" y="87"/>
              </a:cxn>
              <a:cxn ang="0">
                <a:pos x="123" y="110"/>
              </a:cxn>
              <a:cxn ang="0">
                <a:pos x="148" y="120"/>
              </a:cxn>
              <a:cxn ang="0">
                <a:pos x="171" y="125"/>
              </a:cxn>
              <a:cxn ang="0">
                <a:pos x="192" y="131"/>
              </a:cxn>
              <a:cxn ang="0">
                <a:pos x="215" y="133"/>
              </a:cxn>
              <a:cxn ang="0">
                <a:pos x="236" y="133"/>
              </a:cxn>
              <a:cxn ang="0">
                <a:pos x="259" y="131"/>
              </a:cxn>
              <a:cxn ang="0">
                <a:pos x="284" y="125"/>
              </a:cxn>
              <a:cxn ang="0">
                <a:pos x="311" y="118"/>
              </a:cxn>
              <a:cxn ang="0">
                <a:pos x="342" y="108"/>
              </a:cxn>
              <a:cxn ang="0">
                <a:pos x="375" y="95"/>
              </a:cxn>
              <a:cxn ang="0">
                <a:pos x="411" y="77"/>
              </a:cxn>
              <a:cxn ang="0">
                <a:pos x="454" y="58"/>
              </a:cxn>
              <a:cxn ang="0">
                <a:pos x="411" y="0"/>
              </a:cxn>
              <a:cxn ang="0">
                <a:pos x="640" y="12"/>
              </a:cxn>
              <a:cxn ang="0">
                <a:pos x="532" y="214"/>
              </a:cxn>
              <a:cxn ang="0">
                <a:pos x="509" y="154"/>
              </a:cxn>
              <a:cxn ang="0">
                <a:pos x="465" y="172"/>
              </a:cxn>
              <a:cxn ang="0">
                <a:pos x="421" y="187"/>
              </a:cxn>
              <a:cxn ang="0">
                <a:pos x="383" y="197"/>
              </a:cxn>
              <a:cxn ang="0">
                <a:pos x="346" y="204"/>
              </a:cxn>
              <a:cxn ang="0">
                <a:pos x="309" y="208"/>
              </a:cxn>
              <a:cxn ang="0">
                <a:pos x="277" y="208"/>
              </a:cxn>
              <a:cxn ang="0">
                <a:pos x="246" y="206"/>
              </a:cxn>
              <a:cxn ang="0">
                <a:pos x="217" y="201"/>
              </a:cxn>
              <a:cxn ang="0">
                <a:pos x="188" y="191"/>
              </a:cxn>
              <a:cxn ang="0">
                <a:pos x="160" y="179"/>
              </a:cxn>
              <a:cxn ang="0">
                <a:pos x="133" y="166"/>
              </a:cxn>
              <a:cxn ang="0">
                <a:pos x="108" y="149"/>
              </a:cxn>
              <a:cxn ang="0">
                <a:pos x="81" y="129"/>
              </a:cxn>
              <a:cxn ang="0">
                <a:pos x="54" y="108"/>
              </a:cxn>
              <a:cxn ang="0">
                <a:pos x="27" y="83"/>
              </a:cxn>
              <a:cxn ang="0">
                <a:pos x="0" y="58"/>
              </a:cxn>
            </a:cxnLst>
            <a:rect l="0" t="0" r="r" b="b"/>
            <a:pathLst>
              <a:path w="640" h="214">
                <a:moveTo>
                  <a:pt x="0" y="58"/>
                </a:moveTo>
                <a:lnTo>
                  <a:pt x="69" y="87"/>
                </a:lnTo>
                <a:lnTo>
                  <a:pt x="123" y="110"/>
                </a:lnTo>
                <a:lnTo>
                  <a:pt x="148" y="120"/>
                </a:lnTo>
                <a:lnTo>
                  <a:pt x="171" y="125"/>
                </a:lnTo>
                <a:lnTo>
                  <a:pt x="192" y="131"/>
                </a:lnTo>
                <a:lnTo>
                  <a:pt x="215" y="133"/>
                </a:lnTo>
                <a:lnTo>
                  <a:pt x="236" y="133"/>
                </a:lnTo>
                <a:lnTo>
                  <a:pt x="259" y="131"/>
                </a:lnTo>
                <a:lnTo>
                  <a:pt x="284" y="125"/>
                </a:lnTo>
                <a:lnTo>
                  <a:pt x="311" y="118"/>
                </a:lnTo>
                <a:lnTo>
                  <a:pt x="342" y="108"/>
                </a:lnTo>
                <a:lnTo>
                  <a:pt x="375" y="95"/>
                </a:lnTo>
                <a:lnTo>
                  <a:pt x="411" y="77"/>
                </a:lnTo>
                <a:lnTo>
                  <a:pt x="454" y="58"/>
                </a:lnTo>
                <a:lnTo>
                  <a:pt x="411" y="0"/>
                </a:lnTo>
                <a:lnTo>
                  <a:pt x="640" y="12"/>
                </a:lnTo>
                <a:lnTo>
                  <a:pt x="532" y="214"/>
                </a:lnTo>
                <a:lnTo>
                  <a:pt x="509" y="154"/>
                </a:lnTo>
                <a:lnTo>
                  <a:pt x="465" y="172"/>
                </a:lnTo>
                <a:lnTo>
                  <a:pt x="421" y="187"/>
                </a:lnTo>
                <a:lnTo>
                  <a:pt x="383" y="197"/>
                </a:lnTo>
                <a:lnTo>
                  <a:pt x="346" y="204"/>
                </a:lnTo>
                <a:lnTo>
                  <a:pt x="309" y="208"/>
                </a:lnTo>
                <a:lnTo>
                  <a:pt x="277" y="208"/>
                </a:lnTo>
                <a:lnTo>
                  <a:pt x="246" y="206"/>
                </a:lnTo>
                <a:lnTo>
                  <a:pt x="217" y="201"/>
                </a:lnTo>
                <a:lnTo>
                  <a:pt x="188" y="191"/>
                </a:lnTo>
                <a:lnTo>
                  <a:pt x="160" y="179"/>
                </a:lnTo>
                <a:lnTo>
                  <a:pt x="133" y="166"/>
                </a:lnTo>
                <a:lnTo>
                  <a:pt x="108" y="149"/>
                </a:lnTo>
                <a:lnTo>
                  <a:pt x="81" y="129"/>
                </a:lnTo>
                <a:lnTo>
                  <a:pt x="54" y="108"/>
                </a:lnTo>
                <a:lnTo>
                  <a:pt x="27" y="83"/>
                </a:lnTo>
                <a:lnTo>
                  <a:pt x="0" y="58"/>
                </a:lnTo>
              </a:path>
            </a:pathLst>
          </a:custGeom>
          <a:gradFill rotWithShape="0">
            <a:gsLst>
              <a:gs pos="0">
                <a:srgbClr val="D60093">
                  <a:gamma/>
                  <a:tint val="47451"/>
                  <a:invGamma/>
                </a:srgbClr>
              </a:gs>
              <a:gs pos="100000">
                <a:srgbClr val="D60093"/>
              </a:gs>
            </a:gsLst>
            <a:lin ang="0" scaled="1"/>
          </a:gradFill>
          <a:ln w="6350" cap="flat" cmpd="sng">
            <a:solidFill>
              <a:srgbClr val="80008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2363" dir="4557825" algn="ctr" rotWithShape="0">
              <a:srgbClr val="C0C0C0"/>
            </a:outerShdw>
          </a:effectLst>
        </p:spPr>
        <p:txBody>
          <a:bodyPr wrap="none" tIns="27432" bIns="27432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6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1000"/>
                                        <p:tgtEl>
                                          <p:spTgt spid="16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984" name="Picture 24" descr="P2272bW09-12-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88" y="1377950"/>
            <a:ext cx="9129493" cy="5051879"/>
          </a:xfrm>
          <a:prstGeom prst="rect">
            <a:avLst/>
          </a:prstGeom>
          <a:noFill/>
        </p:spPr>
      </p:pic>
      <p:sp>
        <p:nvSpPr>
          <p:cNvPr id="168963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344712"/>
            <a:ext cx="9144000" cy="758952"/>
          </a:xfrm>
        </p:spPr>
        <p:txBody>
          <a:bodyPr vert="horz" anchor="b">
            <a:normAutofit fontScale="90000"/>
          </a:bodyPr>
          <a:lstStyle/>
          <a:p>
            <a:r>
              <a:rPr lang="fr-FR" b="1" dirty="0" err="1">
                <a:solidFill>
                  <a:srgbClr val="C00000"/>
                </a:solidFill>
              </a:rPr>
              <a:t>Configuration du composant Stratégies de compte</a:t>
            </a:r>
            <a:endParaRPr lang="en-US" b="1" dirty="0" err="1">
              <a:solidFill>
                <a:srgbClr val="C00000"/>
              </a:solidFill>
            </a:endParaRPr>
          </a:p>
        </p:txBody>
      </p:sp>
      <p:sp>
        <p:nvSpPr>
          <p:cNvPr id="168967" name="Rectangle 7"/>
          <p:cNvSpPr>
            <a:spLocks noChangeArrowheads="1"/>
          </p:cNvSpPr>
          <p:nvPr/>
        </p:nvSpPr>
        <p:spPr bwMode="auto">
          <a:xfrm>
            <a:off x="4246340" y="2572427"/>
            <a:ext cx="4012289" cy="1303191"/>
          </a:xfrm>
          <a:prstGeom prst="rect">
            <a:avLst/>
          </a:prstGeom>
          <a:noFill/>
          <a:ln w="38100">
            <a:solidFill>
              <a:srgbClr val="CC0099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68969" name="Freeform 9"/>
          <p:cNvSpPr>
            <a:spLocks/>
          </p:cNvSpPr>
          <p:nvPr/>
        </p:nvSpPr>
        <p:spPr bwMode="auto">
          <a:xfrm>
            <a:off x="3186345" y="3077029"/>
            <a:ext cx="1022798" cy="1043989"/>
          </a:xfrm>
          <a:custGeom>
            <a:avLst/>
            <a:gdLst/>
            <a:ahLst/>
            <a:cxnLst>
              <a:cxn ang="0">
                <a:pos x="0" y="457"/>
              </a:cxn>
              <a:cxn ang="0">
                <a:pos x="189" y="457"/>
              </a:cxn>
              <a:cxn ang="0">
                <a:pos x="189" y="0"/>
              </a:cxn>
              <a:cxn ang="0">
                <a:pos x="347" y="0"/>
              </a:cxn>
            </a:cxnLst>
            <a:rect l="0" t="0" r="r" b="b"/>
            <a:pathLst>
              <a:path w="347" h="457">
                <a:moveTo>
                  <a:pt x="0" y="457"/>
                </a:moveTo>
                <a:lnTo>
                  <a:pt x="189" y="457"/>
                </a:lnTo>
                <a:lnTo>
                  <a:pt x="189" y="0"/>
                </a:lnTo>
                <a:lnTo>
                  <a:pt x="347" y="0"/>
                </a:lnTo>
              </a:path>
            </a:pathLst>
          </a:custGeom>
          <a:noFill/>
          <a:ln w="38100" cap="flat" cmpd="sng">
            <a:solidFill>
              <a:srgbClr val="CC0099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68971" name="Rectangle 11"/>
          <p:cNvSpPr>
            <a:spLocks noChangeArrowheads="1"/>
          </p:cNvSpPr>
          <p:nvPr/>
        </p:nvSpPr>
        <p:spPr bwMode="auto">
          <a:xfrm>
            <a:off x="1668695" y="4011834"/>
            <a:ext cx="2170186" cy="293173"/>
          </a:xfrm>
          <a:prstGeom prst="rect">
            <a:avLst/>
          </a:prstGeom>
          <a:solidFill>
            <a:srgbClr val="0000FF"/>
          </a:solidFill>
          <a:ln w="9525">
            <a:solidFill>
              <a:srgbClr val="FF9900"/>
            </a:solidFill>
            <a:prstDash val="sysDot"/>
            <a:miter lim="800000"/>
            <a:headEnd/>
            <a:tailEnd/>
          </a:ln>
          <a:effectLst/>
        </p:spPr>
        <p:txBody>
          <a:bodyPr wrap="none" tIns="10800" anchor="ctr"/>
          <a:lstStyle/>
          <a:p>
            <a:r>
              <a:rPr lang="en-US" sz="1000">
                <a:solidFill>
                  <a:srgbClr val="FFFFFF"/>
                </a:solidFill>
                <a:latin typeface="Tahoma" pitchFamily="34" charset="0"/>
              </a:rPr>
              <a:t>Stratégie de mot de passe</a:t>
            </a:r>
          </a:p>
        </p:txBody>
      </p:sp>
      <p:sp>
        <p:nvSpPr>
          <p:cNvPr id="168972" name="Rectangle 12"/>
          <p:cNvSpPr>
            <a:spLocks noChangeArrowheads="1"/>
          </p:cNvSpPr>
          <p:nvPr/>
        </p:nvSpPr>
        <p:spPr bwMode="auto">
          <a:xfrm>
            <a:off x="1660531" y="4984516"/>
            <a:ext cx="2192919" cy="382556"/>
          </a:xfrm>
          <a:prstGeom prst="rect">
            <a:avLst/>
          </a:prstGeom>
          <a:solidFill>
            <a:srgbClr val="0000FF"/>
          </a:solidFill>
          <a:ln w="9525">
            <a:solidFill>
              <a:srgbClr val="FF9900"/>
            </a:solidFill>
            <a:prstDash val="sysDot"/>
            <a:miter lim="800000"/>
            <a:headEnd/>
            <a:tailEnd/>
          </a:ln>
          <a:effectLst/>
        </p:spPr>
        <p:txBody>
          <a:bodyPr tIns="10800" anchor="ctr"/>
          <a:lstStyle/>
          <a:p>
            <a:r>
              <a:rPr lang="en-US" sz="1000">
                <a:solidFill>
                  <a:srgbClr val="FFFFFF"/>
                </a:solidFill>
                <a:latin typeface="Tahoma" pitchFamily="34" charset="0"/>
              </a:rPr>
              <a:t>Stratégie de verrouillage de compte</a:t>
            </a:r>
          </a:p>
        </p:txBody>
      </p:sp>
      <p:sp>
        <p:nvSpPr>
          <p:cNvPr id="168970" name="Line 10"/>
          <p:cNvSpPr>
            <a:spLocks noChangeShapeType="1"/>
          </p:cNvSpPr>
          <p:nvPr/>
        </p:nvSpPr>
        <p:spPr bwMode="auto">
          <a:xfrm>
            <a:off x="3834041" y="5189074"/>
            <a:ext cx="404130" cy="195726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68968" name="Rectangle 8"/>
          <p:cNvSpPr>
            <a:spLocks noChangeArrowheads="1"/>
          </p:cNvSpPr>
          <p:nvPr/>
        </p:nvSpPr>
        <p:spPr bwMode="auto">
          <a:xfrm>
            <a:off x="4244064" y="4954352"/>
            <a:ext cx="4072622" cy="909419"/>
          </a:xfrm>
          <a:prstGeom prst="rect">
            <a:avLst/>
          </a:prstGeom>
          <a:noFill/>
          <a:ln w="38100">
            <a:solidFill>
              <a:srgbClr val="CC0099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7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rmAutofit fontScale="90000"/>
          </a:bodyPr>
          <a:lstStyle/>
          <a:p>
            <a:r>
              <a:rPr lang="fr-FR" b="1" dirty="0" err="1">
                <a:solidFill>
                  <a:srgbClr val="C00000"/>
                </a:solidFill>
              </a:rPr>
              <a:t>Configuration du composant Stratégies locales</a:t>
            </a:r>
            <a:endParaRPr lang="en-US" b="1" dirty="0" err="1">
              <a:solidFill>
                <a:srgbClr val="C00000"/>
              </a:solidFill>
            </a:endParaRPr>
          </a:p>
        </p:txBody>
      </p:sp>
      <p:pic>
        <p:nvPicPr>
          <p:cNvPr id="170004" name="Picture 20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2895" y="930728"/>
            <a:ext cx="6604000" cy="2649538"/>
          </a:xfrm>
          <a:noFill/>
          <a:ln/>
        </p:spPr>
      </p:pic>
      <p:pic>
        <p:nvPicPr>
          <p:cNvPr id="170006" name="Picture 2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1579770" y="3713018"/>
            <a:ext cx="7564230" cy="3117996"/>
          </a:xfrm>
          <a:noFill/>
          <a:ln/>
        </p:spPr>
      </p:pic>
      <p:sp>
        <p:nvSpPr>
          <p:cNvPr id="170012" name="Text Box 28"/>
          <p:cNvSpPr txBox="1">
            <a:spLocks noChangeArrowheads="1"/>
          </p:cNvSpPr>
          <p:nvPr/>
        </p:nvSpPr>
        <p:spPr bwMode="auto">
          <a:xfrm>
            <a:off x="1239621" y="3421515"/>
            <a:ext cx="2592150" cy="206477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8000" tIns="10800" rIns="18000" bIns="1080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Tahoma" pitchFamily="34" charset="0"/>
              </a:rPr>
              <a:t>Attribution des droits utilisateur</a:t>
            </a:r>
            <a:endParaRPr lang="en-US" sz="1200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70013" name="Text Box 29"/>
          <p:cNvSpPr txBox="1">
            <a:spLocks noChangeArrowheads="1"/>
          </p:cNvSpPr>
          <p:nvPr/>
        </p:nvSpPr>
        <p:spPr bwMode="auto">
          <a:xfrm>
            <a:off x="2969817" y="6683176"/>
            <a:ext cx="1747326" cy="206477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8000" tIns="10800" rIns="18000" bIns="1080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Tahoma" pitchFamily="34" charset="0"/>
              </a:rPr>
              <a:t>Options de sécurité</a:t>
            </a:r>
            <a:endParaRPr lang="en-US" sz="1200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70019" name="Line 35"/>
          <p:cNvSpPr>
            <a:spLocks noChangeShapeType="1"/>
          </p:cNvSpPr>
          <p:nvPr/>
        </p:nvSpPr>
        <p:spPr bwMode="auto">
          <a:xfrm flipH="1">
            <a:off x="39245" y="3594553"/>
            <a:ext cx="659447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1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228599"/>
            <a:ext cx="9144000" cy="932543"/>
          </a:xfrm>
        </p:spPr>
        <p:txBody>
          <a:bodyPr vert="horz" anchor="b">
            <a:normAutofit fontScale="90000"/>
          </a:bodyPr>
          <a:lstStyle/>
          <a:p>
            <a:r>
              <a:rPr lang="fr-FR" dirty="0" err="1">
                <a:solidFill>
                  <a:srgbClr val="C00000"/>
                </a:solidFill>
              </a:rPr>
              <a:t>Configuration des options CTRL+ALT+SUPPR</a:t>
            </a:r>
            <a:endParaRPr lang="en-US" dirty="0" err="1">
              <a:solidFill>
                <a:srgbClr val="C00000"/>
              </a:solidFill>
            </a:endParaRPr>
          </a:p>
        </p:txBody>
      </p:sp>
      <p:pic>
        <p:nvPicPr>
          <p:cNvPr id="171016" name="Picture 8" descr="2272b non con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5209" y="1618563"/>
            <a:ext cx="9149281" cy="47967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6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170543"/>
            <a:ext cx="9144000" cy="961571"/>
          </a:xfrm>
        </p:spPr>
        <p:txBody>
          <a:bodyPr vert="horz" anchor="b">
            <a:normAutofit fontScale="90000"/>
          </a:bodyPr>
          <a:lstStyle/>
          <a:p>
            <a:r>
              <a:rPr lang="en-US" dirty="0" smtClean="0"/>
              <a:t>4. Configuration </a:t>
            </a:r>
            <a:r>
              <a:rPr lang="en-US" dirty="0"/>
              <a:t>des options </a:t>
            </a:r>
            <a:r>
              <a:rPr lang="en-US" dirty="0" err="1"/>
              <a:t>d'ouverture</a:t>
            </a:r>
            <a:r>
              <a:rPr lang="en-US" dirty="0"/>
              <a:t> de session </a:t>
            </a:r>
            <a:r>
              <a:rPr lang="en-US" dirty="0" err="1"/>
              <a:t>dans</a:t>
            </a:r>
            <a:r>
              <a:rPr lang="en-US" dirty="0"/>
              <a:t> un </a:t>
            </a:r>
            <a:r>
              <a:rPr lang="en-US" dirty="0" err="1"/>
              <a:t>groupe</a:t>
            </a:r>
            <a:r>
              <a:rPr lang="en-US" dirty="0"/>
              <a:t> de travail</a:t>
            </a:r>
            <a:r>
              <a:rPr lang="fr-FR" dirty="0" err="1"/>
              <a:t> </a:t>
            </a:r>
            <a:endParaRPr lang="en-US" dirty="0" err="1"/>
          </a:p>
        </p:txBody>
      </p:sp>
      <p:sp>
        <p:nvSpPr>
          <p:cNvPr id="172037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258209" y="2441448"/>
            <a:ext cx="8503920" cy="1462895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fr-FR" dirty="0"/>
              <a:t>Changement d'écran de bienvenue </a:t>
            </a:r>
            <a:endParaRPr lang="en-US" dirty="0"/>
          </a:p>
          <a:p>
            <a:pPr>
              <a:buClrTx/>
              <a:buFont typeface="Wingdings" pitchFamily="2" charset="2"/>
              <a:buChar char="Ø"/>
            </a:pPr>
            <a:r>
              <a:rPr lang="fr-FR" dirty="0"/>
              <a:t>Activation de l'option Bascule rapide utilisateur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" y="185057"/>
            <a:ext cx="8801100" cy="961571"/>
          </a:xfrm>
        </p:spPr>
        <p:txBody>
          <a:bodyPr>
            <a:normAutofit fontScale="90000"/>
          </a:bodyPr>
          <a:lstStyle/>
          <a:p>
            <a:pPr marL="460375" indent="-460375">
              <a:buClr>
                <a:schemeClr val="accent2"/>
              </a:buClr>
            </a:pPr>
            <a:r>
              <a:rPr lang="en-US" dirty="0" smtClean="0">
                <a:solidFill>
                  <a:schemeClr val="tx1"/>
                </a:solidFill>
                <a:cs typeface="Times New Roman" pitchFamily="18" charset="0"/>
              </a:rPr>
              <a:t>5. Configuration 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des options de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gestion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réseau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dans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un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groupe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de travail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4083" name="Rectangle 3"/>
          <p:cNvSpPr>
            <a:spLocks noChangeArrowheads="1"/>
          </p:cNvSpPr>
          <p:nvPr/>
        </p:nvSpPr>
        <p:spPr bwMode="auto">
          <a:xfrm>
            <a:off x="478972" y="1901371"/>
            <a:ext cx="8461828" cy="2409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60000"/>
              </a:spcBef>
              <a:buSzPct val="70000"/>
              <a:buFont typeface="Wingdings" pitchFamily="2" charset="2"/>
              <a:buChar char="Ø"/>
            </a:pPr>
            <a:r>
              <a:rPr lang="fr-FR" sz="2200" dirty="0"/>
              <a:t>Configuration du partage de connexion </a:t>
            </a:r>
            <a:endParaRPr lang="en-US" sz="2200" dirty="0"/>
          </a:p>
          <a:p>
            <a:pPr marL="342900" indent="-342900">
              <a:lnSpc>
                <a:spcPct val="90000"/>
              </a:lnSpc>
              <a:spcBef>
                <a:spcPct val="60000"/>
              </a:spcBef>
              <a:buSzPct val="70000"/>
              <a:buFont typeface="Wingdings" pitchFamily="2" charset="2"/>
              <a:buChar char="Ø"/>
            </a:pPr>
            <a:r>
              <a:rPr lang="fr-FR" sz="2200" dirty="0"/>
              <a:t>Configuration des paramètres réseau </a:t>
            </a:r>
            <a:endParaRPr lang="en-US" sz="2200" dirty="0"/>
          </a:p>
          <a:p>
            <a:pPr marL="342900" indent="-342900">
              <a:lnSpc>
                <a:spcPct val="90000"/>
              </a:lnSpc>
              <a:spcBef>
                <a:spcPct val="60000"/>
              </a:spcBef>
              <a:buSzPct val="70000"/>
              <a:buFont typeface="Wingdings" pitchFamily="2" charset="2"/>
              <a:buChar char="Ø"/>
            </a:pPr>
            <a:r>
              <a:rPr lang="fr-FR" sz="2200" dirty="0"/>
              <a:t>Activation du partage de connexion Internet </a:t>
            </a:r>
            <a:r>
              <a:rPr lang="fr-FR" sz="2200" dirty="0" smtClean="0"/>
              <a:t>et du </a:t>
            </a:r>
            <a:r>
              <a:rPr lang="fr-FR" sz="2200" dirty="0"/>
              <a:t>pare-feu de connexion Internet</a:t>
            </a:r>
            <a:endParaRPr lang="en-US" sz="2200" dirty="0"/>
          </a:p>
          <a:p>
            <a:pPr marL="342900" indent="-342900">
              <a:lnSpc>
                <a:spcPct val="90000"/>
              </a:lnSpc>
              <a:spcBef>
                <a:spcPct val="60000"/>
              </a:spcBef>
              <a:buSzPct val="70000"/>
              <a:buFont typeface="Wingdings" pitchFamily="2" charset="2"/>
              <a:buChar char="Ø"/>
            </a:pPr>
            <a:endParaRPr lang="en-US" sz="2200" dirty="0"/>
          </a:p>
          <a:p>
            <a:pPr marL="342900" indent="-342900">
              <a:lnSpc>
                <a:spcPct val="90000"/>
              </a:lnSpc>
              <a:spcBef>
                <a:spcPct val="60000"/>
              </a:spcBef>
              <a:buSzPct val="70000"/>
              <a:buFont typeface="Wingdings" pitchFamily="2" charset="2"/>
              <a:buChar char="Ø"/>
            </a:pPr>
            <a:endParaRPr lang="en-US" sz="2200" dirty="0"/>
          </a:p>
          <a:p>
            <a:pPr marL="342900" indent="-342900">
              <a:lnSpc>
                <a:spcPct val="90000"/>
              </a:lnSpc>
              <a:spcBef>
                <a:spcPct val="60000"/>
              </a:spcBef>
              <a:buSzPct val="70000"/>
              <a:buFont typeface="Wingdings" pitchFamily="2" charset="2"/>
              <a:buChar char="Ø"/>
            </a:pP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88686" y="228600"/>
            <a:ext cx="8752114" cy="758952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Configuration du partage de connexion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75112" name="Picture 8" descr="P2272bW09_17a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1069975"/>
            <a:ext cx="6323013" cy="4845050"/>
          </a:xfrm>
          <a:noFill/>
          <a:ln/>
        </p:spPr>
      </p:pic>
      <p:pic>
        <p:nvPicPr>
          <p:cNvPr id="175114" name="Picture 10" descr="P2272bW09_17b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2927350" y="1695450"/>
            <a:ext cx="6216650" cy="5213854"/>
          </a:xfrm>
          <a:noFill/>
          <a:ln/>
        </p:spPr>
      </p:pic>
      <p:sp>
        <p:nvSpPr>
          <p:cNvPr id="175111" name="Freeform 7"/>
          <p:cNvSpPr>
            <a:spLocks/>
          </p:cNvSpPr>
          <p:nvPr/>
        </p:nvSpPr>
        <p:spPr bwMode="auto">
          <a:xfrm rot="20913538" flipH="1" flipV="1">
            <a:off x="1050669" y="3691910"/>
            <a:ext cx="2177004" cy="547687"/>
          </a:xfrm>
          <a:custGeom>
            <a:avLst/>
            <a:gdLst/>
            <a:ahLst/>
            <a:cxnLst>
              <a:cxn ang="0">
                <a:pos x="115" y="20"/>
              </a:cxn>
              <a:cxn ang="0">
                <a:pos x="0" y="428"/>
              </a:cxn>
              <a:cxn ang="0">
                <a:pos x="384" y="449"/>
              </a:cxn>
              <a:cxn ang="0">
                <a:pos x="299" y="314"/>
              </a:cxn>
              <a:cxn ang="0">
                <a:pos x="700" y="177"/>
              </a:cxn>
              <a:cxn ang="0">
                <a:pos x="1498" y="374"/>
              </a:cxn>
              <a:cxn ang="0">
                <a:pos x="750" y="28"/>
              </a:cxn>
              <a:cxn ang="0">
                <a:pos x="181" y="140"/>
              </a:cxn>
              <a:cxn ang="0">
                <a:pos x="115" y="20"/>
              </a:cxn>
            </a:cxnLst>
            <a:rect l="0" t="0" r="r" b="b"/>
            <a:pathLst>
              <a:path w="1498" h="449">
                <a:moveTo>
                  <a:pt x="115" y="20"/>
                </a:moveTo>
                <a:cubicBezTo>
                  <a:pt x="60" y="168"/>
                  <a:pt x="24" y="254"/>
                  <a:pt x="0" y="428"/>
                </a:cubicBezTo>
                <a:cubicBezTo>
                  <a:pt x="144" y="432"/>
                  <a:pt x="292" y="434"/>
                  <a:pt x="384" y="449"/>
                </a:cubicBezTo>
                <a:cubicBezTo>
                  <a:pt x="319" y="351"/>
                  <a:pt x="324" y="365"/>
                  <a:pt x="299" y="314"/>
                </a:cubicBezTo>
                <a:cubicBezTo>
                  <a:pt x="353" y="290"/>
                  <a:pt x="517" y="191"/>
                  <a:pt x="700" y="177"/>
                </a:cubicBezTo>
                <a:cubicBezTo>
                  <a:pt x="1004" y="191"/>
                  <a:pt x="1210" y="272"/>
                  <a:pt x="1498" y="374"/>
                </a:cubicBezTo>
                <a:cubicBezTo>
                  <a:pt x="1188" y="156"/>
                  <a:pt x="990" y="64"/>
                  <a:pt x="750" y="28"/>
                </a:cubicBezTo>
                <a:cubicBezTo>
                  <a:pt x="460" y="0"/>
                  <a:pt x="296" y="92"/>
                  <a:pt x="181" y="140"/>
                </a:cubicBezTo>
                <a:cubicBezTo>
                  <a:pt x="146" y="72"/>
                  <a:pt x="168" y="114"/>
                  <a:pt x="115" y="20"/>
                </a:cubicBezTo>
                <a:close/>
              </a:path>
            </a:pathLst>
          </a:custGeom>
          <a:gradFill rotWithShape="0">
            <a:gsLst>
              <a:gs pos="0">
                <a:srgbClr val="D60093">
                  <a:gamma/>
                  <a:tint val="47451"/>
                  <a:invGamma/>
                </a:srgbClr>
              </a:gs>
              <a:gs pos="100000">
                <a:srgbClr val="D60093"/>
              </a:gs>
            </a:gsLst>
            <a:lin ang="0" scaled="1"/>
          </a:gradFill>
          <a:ln w="6350" cap="flat" cmpd="sng">
            <a:solidFill>
              <a:srgbClr val="800080"/>
            </a:solidFill>
            <a:prstDash val="solid"/>
            <a:round/>
            <a:headEnd type="none" w="med" len="med"/>
            <a:tailEnd type="none" w="med" len="med"/>
          </a:ln>
          <a:effectLst>
            <a:outerShdw dist="52363" dir="4557825" algn="ctr" rotWithShape="0">
              <a:srgbClr val="C0C0C0"/>
            </a:outerShdw>
          </a:effectLst>
        </p:spPr>
        <p:txBody>
          <a:bodyPr wrap="none" tIns="27432" bIns="27432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1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Configuration des paramètres réseau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76137" name="Picture 9" descr="P2272bW09_18-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90408" y="1236436"/>
            <a:ext cx="6700889" cy="562156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1170"/>
            <a:ext cx="9144000" cy="758952"/>
          </a:xfrm>
        </p:spPr>
        <p:txBody>
          <a:bodyPr vert="horz" anchor="b">
            <a:normAutofit fontScale="90000"/>
          </a:bodyPr>
          <a:lstStyle/>
          <a:p>
            <a:r>
              <a:rPr lang="fr-FR" dirty="0">
                <a:solidFill>
                  <a:srgbClr val="C00000"/>
                </a:solidFill>
              </a:rPr>
              <a:t>Activation du partage de connexion Internet et du pare-feu de connexion Internet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77157" name="Picture 5" descr="P2272bW09_19a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1017588"/>
            <a:ext cx="4657725" cy="4796296"/>
          </a:xfrm>
          <a:noFill/>
          <a:ln/>
        </p:spPr>
      </p:pic>
      <p:pic>
        <p:nvPicPr>
          <p:cNvPr id="177159" name="Picture 7" descr="P2272bW09_19b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4313237" y="1239838"/>
            <a:ext cx="4584019" cy="5622855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6. Intégration </a:t>
            </a:r>
            <a:r>
              <a:rPr lang="fr-FR" dirty="0"/>
              <a:t>à un domaine </a:t>
            </a:r>
            <a:endParaRPr lang="en-US" dirty="0"/>
          </a:p>
        </p:txBody>
      </p:sp>
      <p:sp>
        <p:nvSpPr>
          <p:cNvPr id="180229" name="Rectangle 5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dirty="0" err="1"/>
              <a:t>Éléments</a:t>
            </a:r>
            <a:r>
              <a:rPr lang="en-US" dirty="0"/>
              <a:t> </a:t>
            </a:r>
            <a:r>
              <a:rPr lang="en-US" dirty="0" err="1"/>
              <a:t>requis</a:t>
            </a:r>
            <a:r>
              <a:rPr lang="en-US" dirty="0"/>
              <a:t> pour </a:t>
            </a:r>
            <a:r>
              <a:rPr lang="en-US" dirty="0" err="1"/>
              <a:t>rejoindre</a:t>
            </a:r>
            <a:r>
              <a:rPr lang="en-US" dirty="0"/>
              <a:t> un </a:t>
            </a:r>
            <a:r>
              <a:rPr lang="en-US" dirty="0" err="1"/>
              <a:t>domaine</a:t>
            </a:r>
            <a:r>
              <a:rPr lang="en-US" dirty="0"/>
              <a:t> :</a:t>
            </a:r>
          </a:p>
          <a:p>
            <a:r>
              <a:rPr lang="en-US" dirty="0"/>
              <a:t>Un nom de </a:t>
            </a:r>
            <a:r>
              <a:rPr lang="en-US" dirty="0" err="1"/>
              <a:t>domaine</a:t>
            </a:r>
            <a:endParaRPr lang="en-US" dirty="0"/>
          </a:p>
          <a:p>
            <a:r>
              <a:rPr lang="en-US" dirty="0"/>
              <a:t>Un </a:t>
            </a:r>
            <a:r>
              <a:rPr lang="en-US" dirty="0" err="1"/>
              <a:t>compte</a:t>
            </a:r>
            <a:r>
              <a:rPr lang="en-US" dirty="0"/>
              <a:t> </a:t>
            </a:r>
            <a:r>
              <a:rPr lang="en-US" dirty="0" err="1"/>
              <a:t>d'ordinateur</a:t>
            </a:r>
            <a:r>
              <a:rPr lang="en-US" dirty="0"/>
              <a:t> </a:t>
            </a:r>
            <a:r>
              <a:rPr lang="en-US" dirty="0" err="1"/>
              <a:t>existant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l'autorisation</a:t>
            </a:r>
            <a:r>
              <a:rPr lang="en-US" dirty="0"/>
              <a:t> de </a:t>
            </a:r>
            <a:r>
              <a:rPr lang="en-US" dirty="0" err="1"/>
              <a:t>créer</a:t>
            </a:r>
            <a:r>
              <a:rPr lang="en-US" dirty="0"/>
              <a:t> un </a:t>
            </a:r>
            <a:r>
              <a:rPr lang="en-US" dirty="0" err="1"/>
              <a:t>compte</a:t>
            </a:r>
            <a:r>
              <a:rPr lang="en-US" dirty="0"/>
              <a:t> </a:t>
            </a:r>
            <a:r>
              <a:rPr lang="en-US" dirty="0" err="1"/>
              <a:t>d'ordinateur</a:t>
            </a:r>
            <a:r>
              <a:rPr lang="en-US" dirty="0"/>
              <a:t> de </a:t>
            </a:r>
            <a:r>
              <a:rPr lang="en-US" dirty="0" err="1"/>
              <a:t>domaine</a:t>
            </a:r>
            <a:endParaRPr lang="en-US" dirty="0"/>
          </a:p>
          <a:p>
            <a:r>
              <a:rPr lang="en-US" dirty="0"/>
              <a:t>Un </a:t>
            </a:r>
            <a:r>
              <a:rPr lang="en-US" dirty="0" err="1"/>
              <a:t>contrôleur</a:t>
            </a:r>
            <a:r>
              <a:rPr lang="en-US" dirty="0"/>
              <a:t> de </a:t>
            </a:r>
            <a:r>
              <a:rPr lang="en-US" dirty="0" err="1"/>
              <a:t>domaine</a:t>
            </a:r>
            <a:r>
              <a:rPr lang="en-US" dirty="0"/>
              <a:t> </a:t>
            </a:r>
            <a:r>
              <a:rPr lang="en-US" dirty="0" err="1"/>
              <a:t>disponible</a:t>
            </a:r>
            <a:r>
              <a:rPr lang="en-US" dirty="0"/>
              <a:t> et un </a:t>
            </a:r>
            <a:r>
              <a:rPr lang="en-US" dirty="0" err="1"/>
              <a:t>serveur</a:t>
            </a:r>
            <a:r>
              <a:rPr lang="en-US" dirty="0"/>
              <a:t> </a:t>
            </a:r>
            <a:r>
              <a:rPr lang="en-US" dirty="0" err="1"/>
              <a:t>exécutant</a:t>
            </a:r>
            <a:r>
              <a:rPr lang="en-US" dirty="0"/>
              <a:t> le service DNS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80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80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180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7. Fonctionnement </a:t>
            </a:r>
            <a:r>
              <a:rPr lang="fr-FR" dirty="0"/>
              <a:t>dans un domaine </a:t>
            </a:r>
            <a:endParaRPr lang="en-US" dirty="0"/>
          </a:p>
        </p:txBody>
      </p:sp>
      <p:sp>
        <p:nvSpPr>
          <p:cNvPr id="18227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287897" y="2067375"/>
            <a:ext cx="8503920" cy="2767861"/>
          </a:xfrm>
        </p:spPr>
        <p:txBody>
          <a:bodyPr/>
          <a:lstStyle/>
          <a:p>
            <a:r>
              <a:rPr lang="fr-FR" dirty="0"/>
              <a:t>Comptes d'ordinateur de domaine </a:t>
            </a:r>
            <a:endParaRPr lang="en-US" dirty="0"/>
          </a:p>
          <a:p>
            <a:r>
              <a:rPr lang="fr-FR" dirty="0"/>
              <a:t>Authentification des utilisateurs dans un domaine </a:t>
            </a:r>
            <a:endParaRPr lang="en-US" dirty="0"/>
          </a:p>
          <a:p>
            <a:r>
              <a:rPr lang="fr-FR" dirty="0"/>
              <a:t>Informations d'identification mises en cache </a:t>
            </a:r>
            <a:endParaRPr lang="en-US" dirty="0"/>
          </a:p>
          <a:p>
            <a:r>
              <a:rPr lang="fr-FR" dirty="0"/>
              <a:t>Identificateurs de sécurité et entrées de contrôle d'accès </a:t>
            </a:r>
            <a:r>
              <a:rPr lang="fr-FR" dirty="0" smtClean="0"/>
              <a:t> ACE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82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82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182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1822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9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Exercices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304495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 smtClean="0"/>
              <a:t>1. Une équipe de votre bâtiment vous a demandé de créer un </a:t>
            </a:r>
            <a:r>
              <a:rPr lang="fr-FR" sz="2400" dirty="0" smtClean="0"/>
              <a:t>compte d'utilisateur </a:t>
            </a:r>
            <a:r>
              <a:rPr lang="fr-FR" sz="2400" dirty="0" smtClean="0"/>
              <a:t>pour une employée intérimaire. L'équipe utilise un groupe </a:t>
            </a:r>
            <a:r>
              <a:rPr lang="fr-FR" sz="2400" dirty="0" smtClean="0"/>
              <a:t>de travail</a:t>
            </a:r>
            <a:r>
              <a:rPr lang="fr-FR" sz="2400" dirty="0" smtClean="0"/>
              <a:t>, et l'employée devra accéder aux fichiers partagés situés sur </a:t>
            </a:r>
            <a:r>
              <a:rPr lang="fr-FR" sz="2400" dirty="0" smtClean="0"/>
              <a:t>d'autres ordinateurs. Quand l'employée ouvre une session à son poste de travail, elle peut </a:t>
            </a:r>
            <a:r>
              <a:rPr lang="fr-FR" sz="2400" dirty="0" smtClean="0"/>
              <a:t>accéder aux fichiers locaux, mais ne peut accéder à aucune </a:t>
            </a:r>
            <a:r>
              <a:rPr lang="fr-FR" sz="2400" dirty="0" smtClean="0"/>
              <a:t>des ressources </a:t>
            </a:r>
            <a:r>
              <a:rPr lang="fr-FR" sz="2400" dirty="0" smtClean="0"/>
              <a:t>partagées. Quelle est la cause du problème et quelle est </a:t>
            </a:r>
            <a:r>
              <a:rPr lang="fr-FR" sz="2400" dirty="0" smtClean="0"/>
              <a:t>la solution ?</a:t>
            </a:r>
            <a:endParaRPr lang="fr-FR" sz="24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249382" y="4627418"/>
            <a:ext cx="8631382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Vous n'avez pas créé de Comptes d'utilisateurs pour cette employée </a:t>
            </a:r>
            <a:r>
              <a:rPr lang="fr-FR" sz="2200" dirty="0" smtClean="0"/>
              <a:t>sur les </a:t>
            </a:r>
            <a:r>
              <a:rPr lang="fr-FR" sz="2200" dirty="0" smtClean="0"/>
              <a:t>ordinateurs où les ressources résident. La solution consiste à </a:t>
            </a:r>
            <a:r>
              <a:rPr lang="fr-FR" sz="2200" dirty="0" smtClean="0"/>
              <a:t>vérifier que </a:t>
            </a:r>
            <a:r>
              <a:rPr lang="fr-FR" sz="2200" dirty="0" smtClean="0"/>
              <a:t>chaque ordinateur auquel elle aura besoin d'accéder dispose </a:t>
            </a:r>
            <a:r>
              <a:rPr lang="fr-FR" sz="2200" dirty="0" smtClean="0"/>
              <a:t>d'un compte </a:t>
            </a:r>
            <a:r>
              <a:rPr lang="fr-FR" sz="2200" dirty="0" smtClean="0"/>
              <a:t>d'utilisateur local valide avec les mêmes nom d'utilisateur </a:t>
            </a:r>
            <a:r>
              <a:rPr lang="fr-FR" sz="2200" dirty="0" smtClean="0"/>
              <a:t>et mot </a:t>
            </a:r>
            <a:r>
              <a:rPr lang="fr-FR" sz="2200" dirty="0" smtClean="0"/>
              <a:t>de passe.</a:t>
            </a:r>
            <a:endParaRPr lang="fr-FR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Exercices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167335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2600" dirty="0" smtClean="0"/>
              <a:t>2. Dans </a:t>
            </a:r>
            <a:r>
              <a:rPr lang="fr-FR" sz="2600" dirty="0" smtClean="0"/>
              <a:t>quelles circonstances devez-vous créer un mot de passe pour </a:t>
            </a:r>
            <a:r>
              <a:rPr lang="fr-FR" sz="2600" dirty="0" smtClean="0"/>
              <a:t>un nouveau </a:t>
            </a:r>
            <a:r>
              <a:rPr lang="fr-FR" sz="2600" dirty="0" smtClean="0"/>
              <a:t>compte ? Pour quelle raison devez-vous désactiver un </a:t>
            </a:r>
            <a:r>
              <a:rPr lang="fr-FR" sz="2600" dirty="0" smtClean="0"/>
              <a:t>compte d'utilisateur </a:t>
            </a:r>
            <a:r>
              <a:rPr lang="fr-FR" sz="2600" dirty="0" smtClean="0"/>
              <a:t>quand vous le créez ?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382" y="3948545"/>
            <a:ext cx="863138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/>
              <a:t>Pour renforcer la sécurité, vous devez </a:t>
            </a:r>
            <a:r>
              <a:rPr lang="fr-FR" sz="2400" dirty="0" smtClean="0"/>
              <a:t>toujours créer </a:t>
            </a:r>
            <a:r>
              <a:rPr lang="fr-FR" sz="2400" dirty="0" smtClean="0"/>
              <a:t>un mot de </a:t>
            </a:r>
            <a:r>
              <a:rPr lang="fr-FR" sz="2400" dirty="0" smtClean="0"/>
              <a:t>passe pour </a:t>
            </a:r>
            <a:r>
              <a:rPr lang="fr-FR" sz="2400" dirty="0" smtClean="0"/>
              <a:t>les comptes d'utilisateur. Désactivez le compte d'utilisateur </a:t>
            </a:r>
            <a:r>
              <a:rPr lang="fr-FR" sz="2400" dirty="0" smtClean="0"/>
              <a:t>s'il n'est </a:t>
            </a:r>
            <a:r>
              <a:rPr lang="fr-FR" sz="2400" dirty="0" smtClean="0"/>
              <a:t>pas prévu de l'utiliser immédiatement. Le fait de désactiver </a:t>
            </a:r>
            <a:r>
              <a:rPr lang="fr-FR" sz="2400" dirty="0" smtClean="0"/>
              <a:t>les comptes </a:t>
            </a:r>
            <a:r>
              <a:rPr lang="fr-FR" sz="2400" dirty="0" smtClean="0"/>
              <a:t>inutilisés empêche de les utiliser de manière inappropriée.</a:t>
            </a:r>
            <a:endParaRPr lang="fr-FR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Exercices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167335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2400" dirty="0" smtClean="0"/>
              <a:t>3. Quel </a:t>
            </a:r>
            <a:r>
              <a:rPr lang="fr-FR" sz="2400" dirty="0" smtClean="0"/>
              <a:t>est le processus d'identification pour les comptes d'utilisateur locaux ?</a:t>
            </a:r>
            <a:endParaRPr lang="fr-FR" sz="26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290946" y="2604654"/>
            <a:ext cx="863138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/>
              <a:t>L'utilisateur ouvre une session en spécifiant un nom d'utilisateur et </a:t>
            </a:r>
            <a:r>
              <a:rPr lang="fr-FR" sz="2400" dirty="0" smtClean="0"/>
              <a:t>un mot </a:t>
            </a:r>
            <a:r>
              <a:rPr lang="fr-FR" sz="2400" dirty="0" smtClean="0"/>
              <a:t>de passe, et Windows XP </a:t>
            </a:r>
            <a:r>
              <a:rPr lang="fr-FR" sz="2400" dirty="0" smtClean="0"/>
              <a:t>Pro </a:t>
            </a:r>
            <a:r>
              <a:rPr lang="fr-FR" sz="2400" dirty="0" smtClean="0"/>
              <a:t>transfère ces </a:t>
            </a:r>
            <a:r>
              <a:rPr lang="fr-FR" sz="2400" dirty="0" smtClean="0"/>
              <a:t>informations au </a:t>
            </a:r>
            <a:r>
              <a:rPr lang="fr-FR" sz="2400" dirty="0" smtClean="0"/>
              <a:t>Gestionnaire de comptes de sécurité de cet ordinateur local.</a:t>
            </a:r>
          </a:p>
          <a:p>
            <a:r>
              <a:rPr lang="fr-FR" sz="2400" dirty="0" smtClean="0"/>
              <a:t>Windows XP </a:t>
            </a:r>
            <a:r>
              <a:rPr lang="fr-FR" sz="2400" dirty="0" smtClean="0"/>
              <a:t>Pro </a:t>
            </a:r>
            <a:r>
              <a:rPr lang="fr-FR" sz="2400" dirty="0" smtClean="0"/>
              <a:t>compare les informations d'ouverture de</a:t>
            </a:r>
          </a:p>
          <a:p>
            <a:r>
              <a:rPr lang="fr-FR" sz="2400" dirty="0" smtClean="0"/>
              <a:t>session avec les informations utilisateur contenues dans le </a:t>
            </a:r>
            <a:r>
              <a:rPr lang="fr-FR" sz="2400" dirty="0" smtClean="0"/>
              <a:t>Gestionnaire de </a:t>
            </a:r>
            <a:r>
              <a:rPr lang="fr-FR" sz="2400" dirty="0" smtClean="0"/>
              <a:t>comptes de sécurité.</a:t>
            </a:r>
          </a:p>
          <a:p>
            <a:r>
              <a:rPr lang="fr-FR" sz="2400" dirty="0" smtClean="0"/>
              <a:t>Si les informations correspondent et que le compte d'utilisateur </a:t>
            </a:r>
            <a:r>
              <a:rPr lang="fr-FR" sz="2400" dirty="0" smtClean="0"/>
              <a:t>est valide</a:t>
            </a:r>
            <a:r>
              <a:rPr lang="fr-FR" sz="2400" dirty="0" smtClean="0"/>
              <a:t>, Windows XP </a:t>
            </a:r>
            <a:r>
              <a:rPr lang="fr-FR" sz="2400" dirty="0" smtClean="0"/>
              <a:t>Pro </a:t>
            </a:r>
            <a:r>
              <a:rPr lang="fr-FR" sz="2400" dirty="0" smtClean="0"/>
              <a:t>crée un jeton d'accès </a:t>
            </a:r>
            <a:r>
              <a:rPr lang="fr-FR" sz="2400" dirty="0" smtClean="0"/>
              <a:t>pour l'utilisateur</a:t>
            </a:r>
            <a:r>
              <a:rPr lang="fr-FR" sz="2400" dirty="0" smtClean="0"/>
              <a:t>.</a:t>
            </a:r>
            <a:endParaRPr lang="fr-FR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Exercices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98062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2400" dirty="0" smtClean="0"/>
              <a:t>4. </a:t>
            </a:r>
            <a:r>
              <a:rPr lang="fr-FR" sz="2400" dirty="0" smtClean="0"/>
              <a:t>Quelle est le rôle de la console MMC et quelle est sa fonction dans </a:t>
            </a:r>
            <a:r>
              <a:rPr lang="fr-FR" sz="2400" dirty="0" smtClean="0"/>
              <a:t>la configuration </a:t>
            </a:r>
            <a:r>
              <a:rPr lang="fr-FR" sz="2400" dirty="0" smtClean="0"/>
              <a:t>de la sécurité locale ?</a:t>
            </a:r>
            <a:endParaRPr lang="fr-FR" sz="26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290946" y="2410690"/>
            <a:ext cx="863138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/>
              <a:t>La console MMC fournit une méthode standardisée pour créer</a:t>
            </a:r>
            <a:r>
              <a:rPr lang="fr-FR" sz="2400" dirty="0" smtClean="0"/>
              <a:t>, enregistrer </a:t>
            </a:r>
            <a:r>
              <a:rPr lang="fr-FR" sz="2400" dirty="0" smtClean="0"/>
              <a:t>et ouvrir des outils d'administration, qui sont </a:t>
            </a:r>
            <a:r>
              <a:rPr lang="fr-FR" sz="2400" dirty="0" smtClean="0"/>
              <a:t>appelés consoles</a:t>
            </a:r>
            <a:r>
              <a:rPr lang="fr-FR" sz="2400" dirty="0" smtClean="0"/>
              <a:t>. La console MMC ne fournit aucune fonction de gestion, </a:t>
            </a:r>
            <a:r>
              <a:rPr lang="fr-FR" sz="2400" dirty="0" smtClean="0"/>
              <a:t>mais héberge </a:t>
            </a:r>
            <a:r>
              <a:rPr lang="fr-FR" sz="2400" dirty="0" smtClean="0"/>
              <a:t>au lieu de cela des applications de gestion, appelées composants</a:t>
            </a:r>
          </a:p>
          <a:p>
            <a:r>
              <a:rPr lang="fr-FR" sz="2400" dirty="0" smtClean="0"/>
              <a:t>logiciels enfichables. Les consoles contiennent un ou </a:t>
            </a:r>
            <a:r>
              <a:rPr lang="fr-FR" sz="2400" dirty="0" smtClean="0"/>
              <a:t>plusieurs composants </a:t>
            </a:r>
            <a:r>
              <a:rPr lang="fr-FR" sz="2400" dirty="0" smtClean="0"/>
              <a:t>logiciels enfichables et sont enregistrées en tant que </a:t>
            </a:r>
            <a:r>
              <a:rPr lang="fr-FR" sz="2400" dirty="0" smtClean="0"/>
              <a:t>fichiers dotés </a:t>
            </a:r>
            <a:r>
              <a:rPr lang="fr-FR" sz="2400" dirty="0" smtClean="0"/>
              <a:t>de l'extension.msc. Pour configurer la sécurité locale, vous </a:t>
            </a:r>
            <a:r>
              <a:rPr lang="fr-FR" sz="2400" dirty="0" smtClean="0"/>
              <a:t>devez utiliser </a:t>
            </a:r>
            <a:r>
              <a:rPr lang="fr-FR" sz="2400" dirty="0" smtClean="0"/>
              <a:t>la console MMC pour ajouter le composant logiciel </a:t>
            </a:r>
            <a:r>
              <a:rPr lang="fr-FR" sz="2400" dirty="0" smtClean="0"/>
              <a:t>enfichable Stratégie </a:t>
            </a:r>
            <a:r>
              <a:rPr lang="fr-FR" sz="2400" dirty="0" smtClean="0"/>
              <a:t>de groupe à une console.</a:t>
            </a:r>
            <a:endParaRPr lang="fr-FR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Exercices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240764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2400" dirty="0" smtClean="0"/>
              <a:t>5. Un utilisateur, qui dispose d'un compte d'utilisateur de domaine, n'est </a:t>
            </a:r>
            <a:r>
              <a:rPr lang="fr-FR" sz="2400" dirty="0" smtClean="0"/>
              <a:t>pas satisfait </a:t>
            </a:r>
            <a:r>
              <a:rPr lang="fr-FR" sz="2400" dirty="0" smtClean="0"/>
              <a:t>car bien qu'il ait ouvert une session, chaque fois qu'il tente </a:t>
            </a:r>
            <a:r>
              <a:rPr lang="fr-FR" sz="2400" dirty="0" smtClean="0"/>
              <a:t>d'accéder à </a:t>
            </a:r>
            <a:r>
              <a:rPr lang="fr-FR" sz="2400" dirty="0" smtClean="0"/>
              <a:t>une ressource sur un serveur, il est invité à spécifier son nom </a:t>
            </a:r>
            <a:r>
              <a:rPr lang="fr-FR" sz="2400" dirty="0" smtClean="0"/>
              <a:t>d'utilisateur et </a:t>
            </a:r>
            <a:r>
              <a:rPr lang="fr-FR" sz="2400" dirty="0" smtClean="0"/>
              <a:t>son mot de passe. Quelle est la cause probable de son problème </a:t>
            </a:r>
            <a:r>
              <a:rPr lang="fr-FR" sz="2400" dirty="0" smtClean="0"/>
              <a:t>et pourquoi </a:t>
            </a:r>
            <a:r>
              <a:rPr lang="fr-FR" sz="2400" dirty="0" smtClean="0"/>
              <a:t>le problème se produit-il ?</a:t>
            </a:r>
            <a:endParaRPr lang="fr-FR" sz="26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304800" y="3962399"/>
            <a:ext cx="863138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/>
              <a:t>Il est possible qu'il ait ouvert une session sur l'ordinateur local, </a:t>
            </a:r>
            <a:r>
              <a:rPr lang="fr-FR" sz="2400" dirty="0" smtClean="0"/>
              <a:t>plutôt que </a:t>
            </a:r>
            <a:r>
              <a:rPr lang="fr-FR" sz="2400" dirty="0" smtClean="0"/>
              <a:t>sur le domaine. Ceci est probable si ses comptes d'utilisateur </a:t>
            </a:r>
            <a:r>
              <a:rPr lang="fr-FR" sz="2400" dirty="0" smtClean="0"/>
              <a:t>local et </a:t>
            </a:r>
            <a:r>
              <a:rPr lang="fr-FR" sz="2400" dirty="0" smtClean="0"/>
              <a:t>de domaine ont les mêmes noms d'utilisateur et mots de passe. </a:t>
            </a:r>
            <a:r>
              <a:rPr lang="fr-FR" sz="2400" dirty="0" smtClean="0"/>
              <a:t>Bien que </a:t>
            </a:r>
            <a:r>
              <a:rPr lang="fr-FR" sz="2400" dirty="0" smtClean="0"/>
              <a:t>les noms d'utilisateur et les mots de passe soient les mêmes, les</a:t>
            </a:r>
          </a:p>
          <a:p>
            <a:r>
              <a:rPr lang="fr-FR" sz="2400" dirty="0" smtClean="0"/>
              <a:t>comptes ont des identificateurs de sécurité différents.</a:t>
            </a:r>
            <a:endParaRPr lang="fr-FR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Exercices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1" y="1430063"/>
            <a:ext cx="8662139" cy="240764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2200" dirty="0" smtClean="0"/>
              <a:t>6. Votre responsable vous a demandé de résoudre un problème dans </a:t>
            </a:r>
            <a:r>
              <a:rPr lang="fr-FR" sz="2200" dirty="0" smtClean="0"/>
              <a:t>un service</a:t>
            </a:r>
            <a:r>
              <a:rPr lang="fr-FR" sz="2200" dirty="0" smtClean="0"/>
              <a:t>, qui est configuré comme un groupe de travail. Le </a:t>
            </a:r>
            <a:r>
              <a:rPr lang="fr-FR" sz="2200" dirty="0" smtClean="0"/>
              <a:t>responsable considère </a:t>
            </a:r>
            <a:r>
              <a:rPr lang="fr-FR" sz="2200" dirty="0" smtClean="0"/>
              <a:t>que le fait d'afficher le nom d'utilisateur de chaque </a:t>
            </a:r>
            <a:r>
              <a:rPr lang="fr-FR" sz="2200" dirty="0" smtClean="0"/>
              <a:t>compte d'utilisateur </a:t>
            </a:r>
            <a:r>
              <a:rPr lang="fr-FR" sz="2200" dirty="0" smtClean="0"/>
              <a:t>sur l'écran de bienvenue représente un risque en termes </a:t>
            </a:r>
            <a:r>
              <a:rPr lang="fr-FR" sz="2200" dirty="0" smtClean="0"/>
              <a:t>de sécurité</a:t>
            </a:r>
            <a:r>
              <a:rPr lang="fr-FR" sz="2200" dirty="0" smtClean="0"/>
              <a:t>. Quelle est votre solution, et votre solution comprend-elle </a:t>
            </a:r>
            <a:r>
              <a:rPr lang="fr-FR" sz="2200" dirty="0" smtClean="0"/>
              <a:t>des ramifications </a:t>
            </a:r>
            <a:r>
              <a:rPr lang="fr-FR" sz="2200" dirty="0" smtClean="0"/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3491340"/>
            <a:ext cx="863138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Vous pouvez changer l'écran de bienvenue pour demander </a:t>
            </a:r>
            <a:r>
              <a:rPr lang="fr-FR" sz="2200" dirty="0" smtClean="0"/>
              <a:t>aux utilisateurs </a:t>
            </a:r>
            <a:r>
              <a:rPr lang="fr-FR" sz="2200" dirty="0" smtClean="0"/>
              <a:t>d'appuyer sur CTRL+ALT+SUPPR pour afficher la </a:t>
            </a:r>
            <a:r>
              <a:rPr lang="fr-FR" sz="2200" dirty="0" smtClean="0"/>
              <a:t>boîte de </a:t>
            </a:r>
            <a:r>
              <a:rPr lang="fr-FR" sz="2200" dirty="0" smtClean="0"/>
              <a:t>dialogue Ouverture </a:t>
            </a:r>
            <a:r>
              <a:rPr lang="fr-FR" sz="2200" dirty="0" smtClean="0"/>
              <a:t>de </a:t>
            </a:r>
            <a:r>
              <a:rPr lang="fr-FR" sz="2200" dirty="0" smtClean="0"/>
              <a:t>session Windows, ce qui empêche </a:t>
            </a:r>
            <a:r>
              <a:rPr lang="fr-FR" sz="2200" dirty="0" smtClean="0"/>
              <a:t>l'affichage des </a:t>
            </a:r>
            <a:r>
              <a:rPr lang="fr-FR" sz="2200" dirty="0" smtClean="0"/>
              <a:t>comptes d'utilisateur dans l'écran de bienvenue. Cependant, </a:t>
            </a:r>
            <a:r>
              <a:rPr lang="fr-FR" sz="2200" dirty="0" smtClean="0"/>
              <a:t>cette modification </a:t>
            </a:r>
            <a:r>
              <a:rPr lang="fr-FR" sz="2200" dirty="0" smtClean="0"/>
              <a:t>a pour effet de désactiver également l'option </a:t>
            </a:r>
            <a:r>
              <a:rPr lang="fr-FR" sz="2200" dirty="0" smtClean="0"/>
              <a:t>Bascule rapide </a:t>
            </a:r>
            <a:r>
              <a:rPr lang="fr-FR" sz="2200" dirty="0" smtClean="0"/>
              <a:t>utilisateur. Vous pouvez aussi configurer l'écran d'ouverture de</a:t>
            </a:r>
          </a:p>
          <a:p>
            <a:r>
              <a:rPr lang="fr-FR" sz="2200" dirty="0" smtClean="0"/>
              <a:t>session pour que le nom du dernier utilisateur qui a ouvert une </a:t>
            </a:r>
            <a:r>
              <a:rPr lang="fr-FR" sz="2200" dirty="0" smtClean="0"/>
              <a:t>session ne </a:t>
            </a:r>
            <a:r>
              <a:rPr lang="fr-FR" sz="2200" dirty="0" smtClean="0"/>
              <a:t>soit pas affiché.</a:t>
            </a:r>
            <a:endParaRPr lang="fr-FR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10069</TotalTime>
  <Words>1184</Words>
  <Application>Microsoft PowerPoint</Application>
  <PresentationFormat>Affichage à l'écran (4:3)</PresentationFormat>
  <Paragraphs>133</Paragraphs>
  <Slides>27</Slides>
  <Notes>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28" baseType="lpstr">
      <vt:lpstr>Civil</vt:lpstr>
      <vt:lpstr>Chapitre 9   Configuration de Microsoft Windows XP Professionnel pour fonctionner sur des réseaux Microsoft</vt:lpstr>
      <vt:lpstr>Plan du cours</vt:lpstr>
      <vt:lpstr>1. Étude des groupes de travail et des comptes d'utilisateur</vt:lpstr>
      <vt:lpstr>Étude des groupes de travail</vt:lpstr>
      <vt:lpstr>Étude des comptes d'utilisateur</vt:lpstr>
      <vt:lpstr>2. Création et authentification de comptes d'utilisateur locaux</vt:lpstr>
      <vt:lpstr>Création de comptes d'utilisateur locaux </vt:lpstr>
      <vt:lpstr>Authentification des comptes d'utilisateur locaux </vt:lpstr>
      <vt:lpstr>3.  Configuration de la sécurité locale</vt:lpstr>
      <vt:lpstr>Présentation de la console MMC</vt:lpstr>
      <vt:lpstr>Création d'une console de sécurité personnalisée</vt:lpstr>
      <vt:lpstr>Configuration du composant Stratégies de compte</vt:lpstr>
      <vt:lpstr>Configuration du composant Stratégies locales</vt:lpstr>
      <vt:lpstr>Configuration des options CTRL+ALT+SUPPR</vt:lpstr>
      <vt:lpstr>4. Configuration des options d'ouverture de session dans un groupe de travail </vt:lpstr>
      <vt:lpstr>5. Configuration des options de gestion de réseau dans un groupe de travail</vt:lpstr>
      <vt:lpstr>Configuration du partage de connexion</vt:lpstr>
      <vt:lpstr>Configuration des paramètres réseau</vt:lpstr>
      <vt:lpstr>Activation du partage de connexion Internet et du pare-feu de connexion Internet</vt:lpstr>
      <vt:lpstr>6. Intégration à un domaine </vt:lpstr>
      <vt:lpstr>7. Fonctionnement dans un domaine </vt:lpstr>
      <vt:lpstr>Exercices</vt:lpstr>
      <vt:lpstr>Exercices</vt:lpstr>
      <vt:lpstr>Exercices</vt:lpstr>
      <vt:lpstr>Exercices</vt:lpstr>
      <vt:lpstr>Exercices</vt:lpstr>
      <vt:lpstr>Exercices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Configuring Microsoft Whistler Professional to Operate in Windows Workgroups and Domains</dc:title>
  <dc:creator>bwinter</dc:creator>
  <cp:lastModifiedBy>Halima</cp:lastModifiedBy>
  <cp:revision>146</cp:revision>
  <dcterms:created xsi:type="dcterms:W3CDTF">2000-12-04T17:33:49Z</dcterms:created>
  <dcterms:modified xsi:type="dcterms:W3CDTF">2014-12-15T22:51:17Z</dcterms:modified>
</cp:coreProperties>
</file>