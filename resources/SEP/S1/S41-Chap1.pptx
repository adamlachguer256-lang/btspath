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1" r:id="rId1"/>
  </p:sldMasterIdLst>
  <p:notesMasterIdLst>
    <p:notesMasterId r:id="rId35"/>
  </p:notesMasterIdLst>
  <p:sldIdLst>
    <p:sldId id="316" r:id="rId2"/>
    <p:sldId id="327" r:id="rId3"/>
    <p:sldId id="292" r:id="rId4"/>
    <p:sldId id="339" r:id="rId5"/>
    <p:sldId id="336" r:id="rId6"/>
    <p:sldId id="353" r:id="rId7"/>
    <p:sldId id="354" r:id="rId8"/>
    <p:sldId id="298" r:id="rId9"/>
    <p:sldId id="293" r:id="rId10"/>
    <p:sldId id="337" r:id="rId11"/>
    <p:sldId id="295" r:id="rId12"/>
    <p:sldId id="296" r:id="rId13"/>
    <p:sldId id="297" r:id="rId14"/>
    <p:sldId id="338" r:id="rId15"/>
    <p:sldId id="356" r:id="rId16"/>
    <p:sldId id="357" r:id="rId17"/>
    <p:sldId id="358" r:id="rId18"/>
    <p:sldId id="340" r:id="rId19"/>
    <p:sldId id="341" r:id="rId20"/>
    <p:sldId id="342" r:id="rId21"/>
    <p:sldId id="343" r:id="rId22"/>
    <p:sldId id="344" r:id="rId23"/>
    <p:sldId id="345" r:id="rId24"/>
    <p:sldId id="346" r:id="rId25"/>
    <p:sldId id="360" r:id="rId26"/>
    <p:sldId id="311" r:id="rId27"/>
    <p:sldId id="352" r:id="rId28"/>
    <p:sldId id="322" r:id="rId29"/>
    <p:sldId id="312" r:id="rId30"/>
    <p:sldId id="321" r:id="rId31"/>
    <p:sldId id="332" r:id="rId32"/>
    <p:sldId id="359" r:id="rId33"/>
    <p:sldId id="335" r:id="rId34"/>
  </p:sldIdLst>
  <p:sldSz cx="9144000" cy="6858000" type="screen4x3"/>
  <p:notesSz cx="6858000" cy="9144000"/>
  <p:embeddedFontLst>
    <p:embeddedFont>
      <p:font typeface="ＭＳ Ｐゴシック" panose="020B0600070205080204" pitchFamily="34" charset="-128"/>
      <p:regular r:id="rId36"/>
    </p:embeddedFont>
    <p:embeddedFont>
      <p:font typeface="Arial Narrow" panose="020B0606020202030204" pitchFamily="34" charset="0"/>
      <p:regular r:id="rId37"/>
      <p:bold r:id="rId38"/>
      <p:italic r:id="rId39"/>
      <p:boldItalic r:id="rId40"/>
    </p:embeddedFont>
    <p:embeddedFont>
      <p:font typeface="Georgia" panose="02040502050405020303" pitchFamily="18" charset="0"/>
      <p:regular r:id="rId41"/>
      <p:bold r:id="rId42"/>
      <p:italic r:id="rId43"/>
      <p:boldItalic r:id="rId44"/>
    </p:embeddedFont>
    <p:embeddedFont>
      <p:font typeface="Wingdings 2" panose="05020102010507070707" pitchFamily="18" charset="2"/>
      <p:regular r:id="rId45"/>
    </p:embeddedFont>
  </p:embeddedFontLst>
  <p:defaultTextStyle>
    <a:defPPr>
      <a:defRPr lang="en-US"/>
    </a:defPPr>
    <a:lvl1pPr algn="l" rtl="0" eaLnBrk="0" fontAlgn="base" hangingPunct="0">
      <a:spcBef>
        <a:spcPct val="0"/>
      </a:spcBef>
      <a:spcAft>
        <a:spcPct val="0"/>
      </a:spcAft>
      <a:defRPr sz="2000" b="1" u="sng" kern="1200">
        <a:solidFill>
          <a:srgbClr val="000000"/>
        </a:solidFill>
        <a:latin typeface="Arial Narrow" pitchFamily="34" charset="0"/>
        <a:ea typeface="+mn-ea"/>
        <a:cs typeface="+mn-cs"/>
      </a:defRPr>
    </a:lvl1pPr>
    <a:lvl2pPr marL="457200" algn="l" rtl="0" eaLnBrk="0" fontAlgn="base" hangingPunct="0">
      <a:spcBef>
        <a:spcPct val="0"/>
      </a:spcBef>
      <a:spcAft>
        <a:spcPct val="0"/>
      </a:spcAft>
      <a:defRPr sz="2000" b="1" u="sng" kern="1200">
        <a:solidFill>
          <a:srgbClr val="000000"/>
        </a:solidFill>
        <a:latin typeface="Arial Narrow" pitchFamily="34" charset="0"/>
        <a:ea typeface="+mn-ea"/>
        <a:cs typeface="+mn-cs"/>
      </a:defRPr>
    </a:lvl2pPr>
    <a:lvl3pPr marL="914400" algn="l" rtl="0" eaLnBrk="0" fontAlgn="base" hangingPunct="0">
      <a:spcBef>
        <a:spcPct val="0"/>
      </a:spcBef>
      <a:spcAft>
        <a:spcPct val="0"/>
      </a:spcAft>
      <a:defRPr sz="2000" b="1" u="sng" kern="1200">
        <a:solidFill>
          <a:srgbClr val="000000"/>
        </a:solidFill>
        <a:latin typeface="Arial Narrow" pitchFamily="34" charset="0"/>
        <a:ea typeface="+mn-ea"/>
        <a:cs typeface="+mn-cs"/>
      </a:defRPr>
    </a:lvl3pPr>
    <a:lvl4pPr marL="1371600" algn="l" rtl="0" eaLnBrk="0" fontAlgn="base" hangingPunct="0">
      <a:spcBef>
        <a:spcPct val="0"/>
      </a:spcBef>
      <a:spcAft>
        <a:spcPct val="0"/>
      </a:spcAft>
      <a:defRPr sz="2000" b="1" u="sng" kern="1200">
        <a:solidFill>
          <a:srgbClr val="000000"/>
        </a:solidFill>
        <a:latin typeface="Arial Narrow" pitchFamily="34" charset="0"/>
        <a:ea typeface="+mn-ea"/>
        <a:cs typeface="+mn-cs"/>
      </a:defRPr>
    </a:lvl4pPr>
    <a:lvl5pPr marL="1828800" algn="l" rtl="0" eaLnBrk="0" fontAlgn="base" hangingPunct="0">
      <a:spcBef>
        <a:spcPct val="0"/>
      </a:spcBef>
      <a:spcAft>
        <a:spcPct val="0"/>
      </a:spcAft>
      <a:defRPr sz="2000" b="1" u="sng" kern="1200">
        <a:solidFill>
          <a:srgbClr val="000000"/>
        </a:solidFill>
        <a:latin typeface="Arial Narrow" pitchFamily="34" charset="0"/>
        <a:ea typeface="+mn-ea"/>
        <a:cs typeface="+mn-cs"/>
      </a:defRPr>
    </a:lvl5pPr>
    <a:lvl6pPr marL="2286000" algn="l" defTabSz="914400" rtl="0" eaLnBrk="1" latinLnBrk="0" hangingPunct="1">
      <a:defRPr sz="2000" b="1" u="sng" kern="1200">
        <a:solidFill>
          <a:srgbClr val="000000"/>
        </a:solidFill>
        <a:latin typeface="Arial Narrow" pitchFamily="34" charset="0"/>
        <a:ea typeface="+mn-ea"/>
        <a:cs typeface="+mn-cs"/>
      </a:defRPr>
    </a:lvl6pPr>
    <a:lvl7pPr marL="2743200" algn="l" defTabSz="914400" rtl="0" eaLnBrk="1" latinLnBrk="0" hangingPunct="1">
      <a:defRPr sz="2000" b="1" u="sng" kern="1200">
        <a:solidFill>
          <a:srgbClr val="000000"/>
        </a:solidFill>
        <a:latin typeface="Arial Narrow" pitchFamily="34" charset="0"/>
        <a:ea typeface="+mn-ea"/>
        <a:cs typeface="+mn-cs"/>
      </a:defRPr>
    </a:lvl7pPr>
    <a:lvl8pPr marL="3200400" algn="l" defTabSz="914400" rtl="0" eaLnBrk="1" latinLnBrk="0" hangingPunct="1">
      <a:defRPr sz="2000" b="1" u="sng" kern="1200">
        <a:solidFill>
          <a:srgbClr val="000000"/>
        </a:solidFill>
        <a:latin typeface="Arial Narrow" pitchFamily="34" charset="0"/>
        <a:ea typeface="+mn-ea"/>
        <a:cs typeface="+mn-cs"/>
      </a:defRPr>
    </a:lvl8pPr>
    <a:lvl9pPr marL="3657600" algn="l" defTabSz="914400" rtl="0" eaLnBrk="1" latinLnBrk="0" hangingPunct="1">
      <a:defRPr sz="2000" b="1" u="sng" kern="1200">
        <a:solidFill>
          <a:srgbClr val="000000"/>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a:srgbClr val="808080"/>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1743" autoAdjust="0"/>
  </p:normalViewPr>
  <p:slideViewPr>
    <p:cSldViewPr snapToGrid="0">
      <p:cViewPr varScale="1">
        <p:scale>
          <a:sx n="43" d="100"/>
          <a:sy n="43" d="100"/>
        </p:scale>
        <p:origin x="861" y="3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100" d="100"/>
        <a:sy n="100" d="100"/>
      </p:scale>
      <p:origin x="0" y="247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slide" Target="slides/slide3.xml"/><Relationship Id="rId1" Type="http://schemas.openxmlformats.org/officeDocument/2006/relationships/slide" Target="slides/slide2.xml"/><Relationship Id="rId5" Type="http://schemas.openxmlformats.org/officeDocument/2006/relationships/slide" Target="slides/slide29.xml"/><Relationship Id="rId4"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u="none"/>
            </a:lvl1pPr>
          </a:lstStyle>
          <a:p>
            <a:endParaRPr lang="en-US"/>
          </a:p>
        </p:txBody>
      </p:sp>
      <p:sp>
        <p:nvSpPr>
          <p:cNvPr id="409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u="none"/>
            </a:lvl1pPr>
          </a:lstStyle>
          <a:p>
            <a:endParaRPr lang="en-US"/>
          </a:p>
        </p:txBody>
      </p:sp>
      <p:sp>
        <p:nvSpPr>
          <p:cNvPr id="409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09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9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u="none"/>
            </a:lvl1pPr>
          </a:lstStyle>
          <a:p>
            <a:endParaRPr lang="en-US"/>
          </a:p>
        </p:txBody>
      </p:sp>
      <p:sp>
        <p:nvSpPr>
          <p:cNvPr id="409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u="none"/>
            </a:lvl1pPr>
          </a:lstStyle>
          <a:p>
            <a:fld id="{DF3534AF-6343-4B2C-9C91-8183CFE00C22}"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go.microsoft.com/fwlink/?LinkID=154223"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go.microsoft.com/fwlink/?LinkID=154223"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go.microsoft.com/fwlink/?LinkID=154223"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2B26166E-EF12-4204-9880-2B79BDE40DF3}" type="slidenum">
              <a:rPr lang="en-US" smtClean="0"/>
              <a:pPr>
                <a:defRPr/>
              </a:pPr>
              <a:t>4</a:t>
            </a:fld>
            <a:endParaRPr lang="en-US" dirty="0"/>
          </a:p>
        </p:txBody>
      </p:sp>
      <p:sp>
        <p:nvSpPr>
          <p:cNvPr id="5427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xfrm>
            <a:off x="307492" y="2079885"/>
            <a:ext cx="6149837" cy="7064115"/>
          </a:xfrm>
          <a:ln/>
        </p:spPr>
        <p:txBody>
          <a:bodyPr/>
          <a:lstStyle/>
          <a:p>
            <a:pPr>
              <a:defRPr/>
            </a:pPr>
            <a:r>
              <a:rPr lang="en-US" b="1" dirty="0"/>
              <a:t>Key message: </a:t>
            </a:r>
            <a:r>
              <a:rPr lang="en-US" dirty="0"/>
              <a:t>Windows 7 introduces many new features that enable users to be more productive, and this topic describes them.</a:t>
            </a:r>
            <a:br>
              <a:rPr lang="en-US" dirty="0"/>
            </a:br>
            <a:endParaRPr lang="en-US" dirty="0"/>
          </a:p>
          <a:p>
            <a:pPr>
              <a:defRPr/>
            </a:pPr>
            <a:r>
              <a:rPr lang="en-US" dirty="0"/>
              <a:t>This is a build slide. Step through the each frame of the build slide as you cover the key features of Windows 7 in the categories. </a:t>
            </a:r>
          </a:p>
          <a:p>
            <a:pPr marL="224325" indent="-224325">
              <a:buFont typeface="+mj-lt"/>
              <a:buAutoNum type="arabicPeriod"/>
              <a:defRPr/>
            </a:pPr>
            <a:r>
              <a:rPr lang="en-US" dirty="0"/>
              <a:t>The first frame shows all areas of which the key features are categorized to. The subsequent frames display each category with more details. </a:t>
            </a:r>
            <a:endParaRPr lang="en-US" b="1" dirty="0"/>
          </a:p>
          <a:p>
            <a:pPr marL="224325" indent="-224325">
              <a:buFont typeface="+mj-lt"/>
              <a:buAutoNum type="arabicPeriod"/>
              <a:defRPr/>
            </a:pPr>
            <a:r>
              <a:rPr lang="en-US" b="1" dirty="0"/>
              <a:t>Usability:</a:t>
            </a:r>
            <a:r>
              <a:rPr lang="en-US" dirty="0"/>
              <a:t> Windows 7 includes tools to simplify a user’s ability to organize, search for, and view information. In addition, Windows 7 communication, mobility, and networking features help users connect to people, information, and devices by using simple tools.</a:t>
            </a:r>
          </a:p>
          <a:p>
            <a:pPr marL="224325" indent="-224325">
              <a:buFont typeface="+mj-lt"/>
              <a:buAutoNum type="arabicPeriod"/>
              <a:defRPr/>
            </a:pPr>
            <a:r>
              <a:rPr lang="en-US" b="1" dirty="0"/>
              <a:t>Security:</a:t>
            </a:r>
            <a:r>
              <a:rPr lang="en-US" dirty="0"/>
              <a:t> Windows 7 is built on a fundamentally secure platform based on the Windows Vista foundation. User Account Control (UAC) in Windows 7 adds security by limiting administrator-level access to the computer, restricting most users to run as Standard Users. Streamlined UAC in Windows 7 reduces the number of operating system applications and tasks that require elevation of privileges and provides flexible prompt behavior for administrators, allowing standard users to do more and administrators to see fewer UAC elevation prompts.</a:t>
            </a:r>
          </a:p>
          <a:p>
            <a:pPr marL="224325" indent="-224325">
              <a:buFont typeface="+mj-lt"/>
              <a:buAutoNum type="arabicPeriod"/>
              <a:defRPr/>
            </a:pPr>
            <a:r>
              <a:rPr lang="en-US" b="1" dirty="0"/>
              <a:t>Multi-tiered data protection: </a:t>
            </a:r>
            <a:r>
              <a:rPr lang="en-US" dirty="0"/>
              <a:t>Windows 7 supports data-protection at multiple levels, such as document, file, directory, computer, and network levels. </a:t>
            </a:r>
          </a:p>
          <a:p>
            <a:pPr marL="340974" lvl="1" indent="-116649">
              <a:buFont typeface="Arial" pitchFamily="34" charset="0"/>
              <a:buChar char="•"/>
              <a:defRPr/>
            </a:pPr>
            <a:r>
              <a:rPr lang="en-US" dirty="0"/>
              <a:t>RMS enables organizations to enforce policies regarding document usage. It enables policy definition and enforcement, protects information wherever it travels and provides policy-based protection of document libraries on a SharePoint site.</a:t>
            </a:r>
          </a:p>
          <a:p>
            <a:pPr marL="340974" lvl="1" indent="-116649">
              <a:buFont typeface="Arial" pitchFamily="34" charset="0"/>
              <a:buChar char="•"/>
              <a:defRPr/>
            </a:pPr>
            <a:r>
              <a:rPr lang="en-US" dirty="0"/>
              <a:t>EFS provides user-based file and directory encryption. It enables storage of encryption keys on smart cards, providing better protection of encryption keys.</a:t>
            </a:r>
          </a:p>
          <a:p>
            <a:pPr marL="340974" lvl="1" indent="-116649">
              <a:buFont typeface="Arial" pitchFamily="34" charset="0"/>
              <a:buChar char="•"/>
              <a:defRPr/>
            </a:pPr>
            <a:r>
              <a:rPr lang="en-US" dirty="0"/>
              <a:t>BitLocker adds computer-level data protection. It provides full-volume encryption of the system volume, including Windows system files. Windows 7 introduces BitLocker To GoTM, which extends the BitLocker drive encryption to removable devices.</a:t>
            </a:r>
          </a:p>
          <a:p>
            <a:pPr marL="340974" lvl="1" indent="-116649">
              <a:buFont typeface="Arial" pitchFamily="34" charset="0"/>
              <a:buChar char="•"/>
              <a:defRPr/>
            </a:pPr>
            <a:r>
              <a:rPr lang="en-US" dirty="0"/>
              <a:t>IPsec isolates network resources from unauthenticated computers and encrypts network communication. </a:t>
            </a:r>
          </a:p>
          <a:p>
            <a:pPr marL="224325" indent="-224325">
              <a:buFont typeface="+mj-lt"/>
              <a:buAutoNum type="arabicPeriod"/>
              <a:defRPr/>
            </a:pPr>
            <a:r>
              <a:rPr lang="en-US" b="1" dirty="0"/>
              <a:t>Reliability and performance:</a:t>
            </a:r>
            <a:r>
              <a:rPr lang="en-US" dirty="0"/>
              <a:t> Windows 7 takes advantage of modern computing hardware, running more reliably and providing more consistent performance than previous versions of Windows.</a:t>
            </a:r>
          </a:p>
          <a:p>
            <a:pPr marL="224325" indent="-224325">
              <a:defRPr/>
            </a:pPr>
            <a:r>
              <a:rPr lang="en-US" dirty="0"/>
              <a:t>Continue to overflow slide.</a:t>
            </a:r>
          </a:p>
          <a:p>
            <a:pPr marL="224325" indent="-224325">
              <a:buFont typeface="+mj-lt"/>
              <a:buAutoNum type="arabicPeriod"/>
              <a:defRPr/>
            </a:pPr>
            <a:endParaRPr lang="en-US" dirty="0"/>
          </a:p>
          <a:p>
            <a:pPr>
              <a:defRPr/>
            </a:pPr>
            <a:endParaRPr lang="en-US" dirty="0"/>
          </a:p>
          <a:p>
            <a:pPr>
              <a:defRPr/>
            </a:pPr>
            <a:r>
              <a:rPr lang="en-US" b="1" dirty="0"/>
              <a:t> </a:t>
            </a:r>
          </a:p>
          <a:p>
            <a:pPr eaLnBrk="1" hangingPunct="1">
              <a:defRPr/>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A05974ED-2A8B-433C-884A-C2F448B79A26}" type="slidenum">
              <a:rPr lang="en-US" smtClean="0"/>
              <a:pPr>
                <a:defRPr/>
              </a:pPr>
              <a:t>5</a:t>
            </a:fld>
            <a:endParaRPr lang="en-US" dirty="0"/>
          </a:p>
        </p:txBody>
      </p:sp>
      <p:sp>
        <p:nvSpPr>
          <p:cNvPr id="57349"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148590"/>
            <a:ext cx="6149837" cy="6995410"/>
          </a:xfrm>
          <a:ln/>
        </p:spPr>
        <p:txBody>
          <a:bodyPr/>
          <a:lstStyle/>
          <a:p>
            <a:pPr>
              <a:defRPr/>
            </a:pPr>
            <a:r>
              <a:rPr lang="en-US" sz="900" b="1" dirty="0"/>
              <a:t>Key message: </a:t>
            </a:r>
            <a:r>
              <a:rPr lang="en-US" sz="900" dirty="0"/>
              <a:t>There are six Windows 7 editions. Two for mainstream consumers and business users and four specialized editions for enterprise customers, technical enthusiasts, emerging markets and entry level PCs. </a:t>
            </a:r>
            <a:br>
              <a:rPr lang="en-US" sz="900" dirty="0"/>
            </a:br>
            <a:endParaRPr lang="en-US" sz="900" dirty="0"/>
          </a:p>
          <a:p>
            <a:pPr>
              <a:defRPr/>
            </a:pPr>
            <a:r>
              <a:rPr lang="en-US" sz="900" dirty="0"/>
              <a:t>This is a build slide. Step through the each frame of the build slide as you cover the editions of Windows 7, their purpose and key features. </a:t>
            </a:r>
          </a:p>
          <a:p>
            <a:pPr marL="224325" indent="-224325">
              <a:buFont typeface="+mj-lt"/>
              <a:buAutoNum type="arabicPeriod"/>
              <a:defRPr/>
            </a:pPr>
            <a:r>
              <a:rPr lang="en-US" sz="900" dirty="0"/>
              <a:t>The first frame shows all the six editions, and how they are positioned. Talk about each briefly, do not spend too much time on this subject since the subsequent frames unfold all the editions in more detail. </a:t>
            </a:r>
          </a:p>
          <a:p>
            <a:pPr marL="224325" indent="-224325">
              <a:buFont typeface="+mj-lt"/>
              <a:buAutoNum type="arabicPeriod"/>
              <a:defRPr/>
            </a:pPr>
            <a:r>
              <a:rPr lang="en-US" sz="900" dirty="0"/>
              <a:t>The second frame shows how all the editions stack up based on their included features. As you step through the subsequent frame, each edition being discussed is highlighted in this stack.</a:t>
            </a:r>
          </a:p>
          <a:p>
            <a:pPr marL="224325" indent="-224325">
              <a:buFont typeface="+mj-lt"/>
              <a:buAutoNum type="arabicPeriod"/>
              <a:defRPr/>
            </a:pPr>
            <a:r>
              <a:rPr lang="en-US" sz="900" b="1" dirty="0"/>
              <a:t>Windows 7 Starter:</a:t>
            </a:r>
            <a:r>
              <a:rPr lang="en-US" sz="900" dirty="0"/>
              <a:t> Run through this edition purpose and key features.</a:t>
            </a:r>
          </a:p>
          <a:p>
            <a:pPr marL="224325" indent="-224325">
              <a:buFont typeface="+mj-lt"/>
              <a:buAutoNum type="arabicPeriod"/>
              <a:defRPr/>
            </a:pPr>
            <a:r>
              <a:rPr lang="en-US" sz="900" b="1" dirty="0"/>
              <a:t>Windows 7 Home Basic:</a:t>
            </a:r>
            <a:r>
              <a:rPr lang="en-US" sz="900" dirty="0"/>
              <a:t> Run through this edition purpose and key features.</a:t>
            </a:r>
          </a:p>
          <a:p>
            <a:pPr marL="224325" indent="-224325">
              <a:buFont typeface="+mj-lt"/>
              <a:buAutoNum type="arabicPeriod"/>
              <a:defRPr/>
            </a:pPr>
            <a:r>
              <a:rPr lang="en-US" sz="900" b="1" dirty="0"/>
              <a:t>Windows 7 Home Premium:</a:t>
            </a:r>
            <a:r>
              <a:rPr lang="en-US" sz="900" dirty="0"/>
              <a:t> Run through this edition purpose and key features.</a:t>
            </a:r>
          </a:p>
          <a:p>
            <a:pPr marL="224325" indent="-224325">
              <a:buFont typeface="+mj-lt"/>
              <a:buAutoNum type="arabicPeriod"/>
              <a:defRPr/>
            </a:pPr>
            <a:r>
              <a:rPr lang="en-US" sz="900" b="1" dirty="0"/>
              <a:t>Windows 7 Professional:</a:t>
            </a:r>
            <a:r>
              <a:rPr lang="en-US" sz="900" dirty="0"/>
              <a:t> Run through this edition purpose and key features.</a:t>
            </a:r>
          </a:p>
          <a:p>
            <a:pPr marL="224325" indent="-224325">
              <a:buFont typeface="+mj-lt"/>
              <a:buAutoNum type="arabicPeriod"/>
              <a:defRPr/>
            </a:pPr>
            <a:r>
              <a:rPr lang="en-US" sz="900" b="1" dirty="0"/>
              <a:t>Windows 7 Enterprise:</a:t>
            </a:r>
            <a:r>
              <a:rPr lang="en-US" sz="900" dirty="0"/>
              <a:t> Run through this edition purpose and key features.</a:t>
            </a:r>
          </a:p>
          <a:p>
            <a:pPr marL="224325" indent="-224325">
              <a:buFont typeface="+mj-lt"/>
              <a:buAutoNum type="arabicPeriod"/>
              <a:defRPr/>
            </a:pPr>
            <a:r>
              <a:rPr lang="en-US" sz="900" b="1" dirty="0"/>
              <a:t>Windows 7 Ultimate:</a:t>
            </a:r>
            <a:r>
              <a:rPr lang="en-US" sz="900" dirty="0"/>
              <a:t> Run through this edition purpose and key features.</a:t>
            </a:r>
          </a:p>
          <a:p>
            <a:pPr marL="224325" indent="-224325">
              <a:buFont typeface="+mj-lt"/>
              <a:buAutoNum type="arabicPeriod"/>
              <a:defRPr/>
            </a:pPr>
            <a:r>
              <a:rPr lang="en-US" sz="900" dirty="0"/>
              <a:t>The last frame shows all the six editions again. Here summarize the editions of Windows 7.</a:t>
            </a:r>
            <a:br>
              <a:rPr lang="en-US" sz="900" dirty="0"/>
            </a:br>
            <a:endParaRPr lang="en-US" sz="900" dirty="0"/>
          </a:p>
          <a:p>
            <a:pPr>
              <a:defRPr/>
            </a:pPr>
            <a:r>
              <a:rPr lang="en-US" sz="900" b="1" dirty="0"/>
              <a:t>Additional information: </a:t>
            </a:r>
            <a:r>
              <a:rPr lang="en-US" sz="900" dirty="0"/>
              <a:t>Ensure that your students are aware what the N editions provide.</a:t>
            </a:r>
          </a:p>
          <a:p>
            <a:pPr>
              <a:defRPr/>
            </a:pPr>
            <a:r>
              <a:rPr lang="en-US" sz="900" dirty="0"/>
              <a:t>Also, refer to: </a:t>
            </a:r>
            <a:r>
              <a:rPr lang="en-US" sz="900" dirty="0">
                <a:hlinkClick r:id="rId3"/>
              </a:rPr>
              <a:t>http://go.microsoft.com/fwlink/?LinkID=154223</a:t>
            </a:r>
            <a:br>
              <a:rPr lang="en-US" sz="900" dirty="0"/>
            </a:br>
            <a:endParaRPr lang="en-US" sz="900" dirty="0"/>
          </a:p>
          <a:p>
            <a:pPr>
              <a:defRPr/>
            </a:pPr>
            <a:r>
              <a:rPr lang="en-US" sz="900" b="1" dirty="0"/>
              <a:t>Question:</a:t>
            </a:r>
            <a:r>
              <a:rPr lang="en-US" sz="900" dirty="0"/>
              <a:t> Which edition of Windows 7 might you choose in the following scenarios? </a:t>
            </a:r>
          </a:p>
          <a:p>
            <a:pPr>
              <a:defRPr/>
            </a:pPr>
            <a:r>
              <a:rPr lang="en-US" sz="900" dirty="0"/>
              <a:t>Scenario 1: There are a few users in your organization. Currently, you do not have a centralized file server and all of the computers are not joined to a domain.</a:t>
            </a:r>
          </a:p>
          <a:p>
            <a:pPr>
              <a:defRPr/>
            </a:pPr>
            <a:r>
              <a:rPr lang="en-US" sz="900" dirty="0"/>
              <a:t>Scenario 2: Your organization has more than one hundred users who are located in several offices across the country. In addition, you have several users that travel frequently. </a:t>
            </a:r>
          </a:p>
          <a:p>
            <a:pPr>
              <a:defRPr/>
            </a:pPr>
            <a:r>
              <a:rPr lang="en-US" sz="900" b="1" dirty="0"/>
              <a:t>Answer:</a:t>
            </a:r>
            <a:r>
              <a:rPr lang="en-US" sz="900" dirty="0"/>
              <a:t> Choose Windows 7 Professional for Scenario 1 and Windows 7 Enterprise for Scenario 2.</a:t>
            </a:r>
          </a:p>
          <a:p>
            <a:pPr>
              <a:defRPr/>
            </a:pPr>
            <a:r>
              <a:rPr lang="en-US" sz="900" dirty="0"/>
              <a:t>Scenario 1: For a business environment, choose either Windows 7 Professional or Windows 7 Enterprise. Windows 7 Home Premium, Windows 7 Home Basic, and Windows 7 Starter are targeted for home users. Because you only have few users, Windows 7 Professional will be the best fit. </a:t>
            </a:r>
          </a:p>
          <a:p>
            <a:pPr>
              <a:defRPr/>
            </a:pPr>
            <a:r>
              <a:rPr lang="en-US" sz="900" dirty="0"/>
              <a:t>Scenario 2: Choose Windows 7 Enterprise and take the advantage of features such as </a:t>
            </a:r>
            <a:r>
              <a:rPr lang="en-US" sz="900" dirty="0" err="1"/>
              <a:t>BranchCache</a:t>
            </a:r>
            <a:r>
              <a:rPr lang="en-US" sz="900" dirty="0"/>
              <a:t> and </a:t>
            </a:r>
            <a:r>
              <a:rPr lang="en-US" sz="900" dirty="0" err="1"/>
              <a:t>DirectAccess</a:t>
            </a:r>
            <a:r>
              <a:rPr lang="en-US" sz="900" dirty="0"/>
              <a:t> to increase the productivity of your mobile users.</a:t>
            </a:r>
          </a:p>
          <a:p>
            <a:pPr>
              <a:defRPr/>
            </a:pPr>
            <a:endParaRPr lang="en-US" sz="900" b="1" dirty="0"/>
          </a:p>
          <a:p>
            <a:pPr>
              <a:defRPr/>
            </a:pPr>
            <a:r>
              <a:rPr lang="en-US" sz="900" b="1" dirty="0"/>
              <a:t>Question:</a:t>
            </a:r>
            <a:r>
              <a:rPr lang="en-US" sz="900" dirty="0"/>
              <a:t> What is the difference between the Enterprise and the Ultimate edition of Windows 7?</a:t>
            </a:r>
          </a:p>
          <a:p>
            <a:pPr>
              <a:defRPr/>
            </a:pPr>
            <a:r>
              <a:rPr lang="en-US" sz="900" b="1" dirty="0"/>
              <a:t>Answer:</a:t>
            </a:r>
            <a:r>
              <a:rPr lang="en-US" sz="900" dirty="0"/>
              <a:t> There is no difference in terms of features between the Enterprise and Ultimate editions. Windows 7 Enterprise is available through Microsoft Software Assurance with Volume Licensing and Windows 7 Ultimate is available through the retail channel. There is no upgrade path between the two.</a:t>
            </a:r>
          </a:p>
          <a:p>
            <a:pPr>
              <a:defRPr/>
            </a:pPr>
            <a:endParaRPr lang="en-US" sz="9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A05974ED-2A8B-433C-884A-C2F448B79A26}" type="slidenum">
              <a:rPr lang="en-US" smtClean="0"/>
              <a:pPr>
                <a:defRPr/>
              </a:pPr>
              <a:t>6</a:t>
            </a:fld>
            <a:endParaRPr lang="en-US" dirty="0"/>
          </a:p>
        </p:txBody>
      </p:sp>
      <p:sp>
        <p:nvSpPr>
          <p:cNvPr id="57349"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148590"/>
            <a:ext cx="6149837" cy="6995410"/>
          </a:xfrm>
          <a:ln/>
        </p:spPr>
        <p:txBody>
          <a:bodyPr/>
          <a:lstStyle/>
          <a:p>
            <a:pPr>
              <a:defRPr/>
            </a:pPr>
            <a:r>
              <a:rPr lang="en-US" sz="900" b="1" dirty="0"/>
              <a:t>Key message: </a:t>
            </a:r>
            <a:r>
              <a:rPr lang="en-US" sz="900" dirty="0"/>
              <a:t>There are six Windows 7 editions. Two for mainstream consumers and business users and four specialized editions for enterprise customers, technical enthusiasts, emerging markets and entry level PCs. </a:t>
            </a:r>
            <a:br>
              <a:rPr lang="en-US" sz="900" dirty="0"/>
            </a:br>
            <a:endParaRPr lang="en-US" sz="900" dirty="0"/>
          </a:p>
          <a:p>
            <a:pPr>
              <a:defRPr/>
            </a:pPr>
            <a:r>
              <a:rPr lang="en-US" sz="900" dirty="0"/>
              <a:t>This is a build slide. Step through the each frame of the build slide as you cover the editions of Windows 7, their purpose and key features. </a:t>
            </a:r>
          </a:p>
          <a:p>
            <a:pPr marL="224325" indent="-224325">
              <a:buFont typeface="+mj-lt"/>
              <a:buAutoNum type="arabicPeriod"/>
              <a:defRPr/>
            </a:pPr>
            <a:r>
              <a:rPr lang="en-US" sz="900" dirty="0"/>
              <a:t>The first frame shows all the six editions, and how they are positioned. Talk about each briefly, do not spend too much time on this subject since the subsequent frames unfold all the editions in more detail. </a:t>
            </a:r>
          </a:p>
          <a:p>
            <a:pPr marL="224325" indent="-224325">
              <a:buFont typeface="+mj-lt"/>
              <a:buAutoNum type="arabicPeriod"/>
              <a:defRPr/>
            </a:pPr>
            <a:r>
              <a:rPr lang="en-US" sz="900" dirty="0"/>
              <a:t>The second frame shows how all the editions stack up based on their included features. As you step through the subsequent frame, each edition being discussed is highlighted in this stack.</a:t>
            </a:r>
          </a:p>
          <a:p>
            <a:pPr marL="224325" indent="-224325">
              <a:buFont typeface="+mj-lt"/>
              <a:buAutoNum type="arabicPeriod"/>
              <a:defRPr/>
            </a:pPr>
            <a:r>
              <a:rPr lang="en-US" sz="900" b="1" dirty="0"/>
              <a:t>Windows 7 Starter:</a:t>
            </a:r>
            <a:r>
              <a:rPr lang="en-US" sz="900" dirty="0"/>
              <a:t> Run through this edition purpose and key features.</a:t>
            </a:r>
          </a:p>
          <a:p>
            <a:pPr marL="224325" indent="-224325">
              <a:buFont typeface="+mj-lt"/>
              <a:buAutoNum type="arabicPeriod"/>
              <a:defRPr/>
            </a:pPr>
            <a:r>
              <a:rPr lang="en-US" sz="900" b="1" dirty="0"/>
              <a:t>Windows 7 Home Basic:</a:t>
            </a:r>
            <a:r>
              <a:rPr lang="en-US" sz="900" dirty="0"/>
              <a:t> Run through this edition purpose and key features.</a:t>
            </a:r>
          </a:p>
          <a:p>
            <a:pPr marL="224325" indent="-224325">
              <a:buFont typeface="+mj-lt"/>
              <a:buAutoNum type="arabicPeriod"/>
              <a:defRPr/>
            </a:pPr>
            <a:r>
              <a:rPr lang="en-US" sz="900" b="1" dirty="0"/>
              <a:t>Windows 7 Home Premium:</a:t>
            </a:r>
            <a:r>
              <a:rPr lang="en-US" sz="900" dirty="0"/>
              <a:t> Run through this edition purpose and key features.</a:t>
            </a:r>
          </a:p>
          <a:p>
            <a:pPr marL="224325" indent="-224325">
              <a:buFont typeface="+mj-lt"/>
              <a:buAutoNum type="arabicPeriod"/>
              <a:defRPr/>
            </a:pPr>
            <a:r>
              <a:rPr lang="en-US" sz="900" b="1" dirty="0"/>
              <a:t>Windows 7 Professional:</a:t>
            </a:r>
            <a:r>
              <a:rPr lang="en-US" sz="900" dirty="0"/>
              <a:t> Run through this edition purpose and key features.</a:t>
            </a:r>
          </a:p>
          <a:p>
            <a:pPr marL="224325" indent="-224325">
              <a:buFont typeface="+mj-lt"/>
              <a:buAutoNum type="arabicPeriod"/>
              <a:defRPr/>
            </a:pPr>
            <a:r>
              <a:rPr lang="en-US" sz="900" b="1" dirty="0"/>
              <a:t>Windows 7 Enterprise:</a:t>
            </a:r>
            <a:r>
              <a:rPr lang="en-US" sz="900" dirty="0"/>
              <a:t> Run through this edition purpose and key features.</a:t>
            </a:r>
          </a:p>
          <a:p>
            <a:pPr marL="224325" indent="-224325">
              <a:buFont typeface="+mj-lt"/>
              <a:buAutoNum type="arabicPeriod"/>
              <a:defRPr/>
            </a:pPr>
            <a:r>
              <a:rPr lang="en-US" sz="900" b="1" dirty="0"/>
              <a:t>Windows 7 Ultimate:</a:t>
            </a:r>
            <a:r>
              <a:rPr lang="en-US" sz="900" dirty="0"/>
              <a:t> Run through this edition purpose and key features.</a:t>
            </a:r>
          </a:p>
          <a:p>
            <a:pPr marL="224325" indent="-224325">
              <a:buFont typeface="+mj-lt"/>
              <a:buAutoNum type="arabicPeriod"/>
              <a:defRPr/>
            </a:pPr>
            <a:r>
              <a:rPr lang="en-US" sz="900" dirty="0"/>
              <a:t>The last frame shows all the six editions again. Here summarize the editions of Windows 7.</a:t>
            </a:r>
            <a:br>
              <a:rPr lang="en-US" sz="900" dirty="0"/>
            </a:br>
            <a:endParaRPr lang="en-US" sz="900" dirty="0"/>
          </a:p>
          <a:p>
            <a:pPr>
              <a:defRPr/>
            </a:pPr>
            <a:r>
              <a:rPr lang="en-US" sz="900" b="1" dirty="0"/>
              <a:t>Additional information: </a:t>
            </a:r>
            <a:r>
              <a:rPr lang="en-US" sz="900" dirty="0"/>
              <a:t>Ensure that your students are aware what the N editions provide.</a:t>
            </a:r>
          </a:p>
          <a:p>
            <a:pPr>
              <a:defRPr/>
            </a:pPr>
            <a:r>
              <a:rPr lang="en-US" sz="900" dirty="0"/>
              <a:t>Also, refer to: </a:t>
            </a:r>
            <a:r>
              <a:rPr lang="en-US" sz="900" dirty="0">
                <a:hlinkClick r:id="rId3"/>
              </a:rPr>
              <a:t>http://go.microsoft.com/fwlink/?LinkID=154223</a:t>
            </a:r>
            <a:br>
              <a:rPr lang="en-US" sz="900" dirty="0"/>
            </a:br>
            <a:endParaRPr lang="en-US" sz="900" dirty="0"/>
          </a:p>
          <a:p>
            <a:pPr>
              <a:defRPr/>
            </a:pPr>
            <a:r>
              <a:rPr lang="en-US" sz="900" b="1" dirty="0"/>
              <a:t>Question:</a:t>
            </a:r>
            <a:r>
              <a:rPr lang="en-US" sz="900" dirty="0"/>
              <a:t> Which edition of Windows 7 might you choose in the following scenarios? </a:t>
            </a:r>
          </a:p>
          <a:p>
            <a:pPr>
              <a:defRPr/>
            </a:pPr>
            <a:r>
              <a:rPr lang="en-US" sz="900" dirty="0"/>
              <a:t>Scenario 1: There are a few users in your organization. Currently, you do not have a centralized file server and all of the computers are not joined to a domain.</a:t>
            </a:r>
          </a:p>
          <a:p>
            <a:pPr>
              <a:defRPr/>
            </a:pPr>
            <a:r>
              <a:rPr lang="en-US" sz="900" dirty="0"/>
              <a:t>Scenario 2: Your organization has more than one hundred users who are located in several offices across the country. In addition, you have several users that travel frequently. </a:t>
            </a:r>
          </a:p>
          <a:p>
            <a:pPr>
              <a:defRPr/>
            </a:pPr>
            <a:r>
              <a:rPr lang="en-US" sz="900" b="1" dirty="0"/>
              <a:t>Answer:</a:t>
            </a:r>
            <a:r>
              <a:rPr lang="en-US" sz="900" dirty="0"/>
              <a:t> Choose Windows 7 Professional for Scenario 1 and Windows 7 Enterprise for Scenario 2.</a:t>
            </a:r>
          </a:p>
          <a:p>
            <a:pPr>
              <a:defRPr/>
            </a:pPr>
            <a:r>
              <a:rPr lang="en-US" sz="900" dirty="0"/>
              <a:t>Scenario 1: For a business environment, choose either Windows 7 Professional or Windows 7 Enterprise. Windows 7 Home Premium, Windows 7 Home Basic, and Windows 7 Starter are targeted for home users. Because you only have few users, Windows 7 Professional will be the best fit. </a:t>
            </a:r>
          </a:p>
          <a:p>
            <a:pPr>
              <a:defRPr/>
            </a:pPr>
            <a:r>
              <a:rPr lang="en-US" sz="900" dirty="0"/>
              <a:t>Scenario 2: Choose Windows 7 Enterprise and take the advantage of features such as </a:t>
            </a:r>
            <a:r>
              <a:rPr lang="en-US" sz="900" dirty="0" err="1"/>
              <a:t>BranchCache</a:t>
            </a:r>
            <a:r>
              <a:rPr lang="en-US" sz="900" dirty="0"/>
              <a:t> and </a:t>
            </a:r>
            <a:r>
              <a:rPr lang="en-US" sz="900" dirty="0" err="1"/>
              <a:t>DirectAccess</a:t>
            </a:r>
            <a:r>
              <a:rPr lang="en-US" sz="900" dirty="0"/>
              <a:t> to increase the productivity of your mobile users.</a:t>
            </a:r>
          </a:p>
          <a:p>
            <a:pPr>
              <a:defRPr/>
            </a:pPr>
            <a:endParaRPr lang="en-US" sz="900" b="1" dirty="0"/>
          </a:p>
          <a:p>
            <a:pPr>
              <a:defRPr/>
            </a:pPr>
            <a:r>
              <a:rPr lang="en-US" sz="900" b="1" dirty="0"/>
              <a:t>Question:</a:t>
            </a:r>
            <a:r>
              <a:rPr lang="en-US" sz="900" dirty="0"/>
              <a:t> What is the difference between the Enterprise and the Ultimate edition of Windows 7?</a:t>
            </a:r>
          </a:p>
          <a:p>
            <a:pPr>
              <a:defRPr/>
            </a:pPr>
            <a:r>
              <a:rPr lang="en-US" sz="900" b="1" dirty="0"/>
              <a:t>Answer:</a:t>
            </a:r>
            <a:r>
              <a:rPr lang="en-US" sz="900" dirty="0"/>
              <a:t> There is no difference in terms of features between the Enterprise and Ultimate editions. Windows 7 Enterprise is available through Microsoft Software Assurance with Volume Licensing and Windows 7 Ultimate is available through the retail channel. There is no upgrade path between the two.</a:t>
            </a:r>
          </a:p>
          <a:p>
            <a:pPr>
              <a:defRPr/>
            </a:pPr>
            <a:endParaRPr lang="en-US" sz="9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A05974ED-2A8B-433C-884A-C2F448B79A26}" type="slidenum">
              <a:rPr lang="en-US" smtClean="0"/>
              <a:pPr>
                <a:defRPr/>
              </a:pPr>
              <a:t>7</a:t>
            </a:fld>
            <a:endParaRPr lang="en-US" dirty="0"/>
          </a:p>
        </p:txBody>
      </p:sp>
      <p:sp>
        <p:nvSpPr>
          <p:cNvPr id="57349"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148590"/>
            <a:ext cx="6149837" cy="6995410"/>
          </a:xfrm>
          <a:ln/>
        </p:spPr>
        <p:txBody>
          <a:bodyPr/>
          <a:lstStyle/>
          <a:p>
            <a:pPr>
              <a:defRPr/>
            </a:pPr>
            <a:r>
              <a:rPr lang="en-US" sz="900" b="1" dirty="0"/>
              <a:t>Key message: </a:t>
            </a:r>
            <a:r>
              <a:rPr lang="en-US" sz="900" dirty="0"/>
              <a:t>There are six Windows 7 editions. Two for mainstream consumers and business users and four specialized editions for enterprise customers, technical enthusiasts, emerging markets and entry level PCs. </a:t>
            </a:r>
            <a:br>
              <a:rPr lang="en-US" sz="900" dirty="0"/>
            </a:br>
            <a:endParaRPr lang="en-US" sz="900" dirty="0"/>
          </a:p>
          <a:p>
            <a:pPr>
              <a:defRPr/>
            </a:pPr>
            <a:r>
              <a:rPr lang="en-US" sz="900" dirty="0"/>
              <a:t>This is a build slide. Step through the each frame of the build slide as you cover the editions of Windows 7, their purpose and key features. </a:t>
            </a:r>
          </a:p>
          <a:p>
            <a:pPr marL="224325" indent="-224325">
              <a:buFont typeface="+mj-lt"/>
              <a:buAutoNum type="arabicPeriod"/>
              <a:defRPr/>
            </a:pPr>
            <a:r>
              <a:rPr lang="en-US" sz="900" dirty="0"/>
              <a:t>The first frame shows all the six editions, and how they are positioned. Talk about each briefly, do not spend too much time on this subject since the subsequent frames unfold all the editions in more detail. </a:t>
            </a:r>
          </a:p>
          <a:p>
            <a:pPr marL="224325" indent="-224325">
              <a:buFont typeface="+mj-lt"/>
              <a:buAutoNum type="arabicPeriod"/>
              <a:defRPr/>
            </a:pPr>
            <a:r>
              <a:rPr lang="en-US" sz="900" dirty="0"/>
              <a:t>The second frame shows how all the editions stack up based on their included features. As you step through the subsequent frame, each edition being discussed is highlighted in this stack.</a:t>
            </a:r>
          </a:p>
          <a:p>
            <a:pPr marL="224325" indent="-224325">
              <a:buFont typeface="+mj-lt"/>
              <a:buAutoNum type="arabicPeriod"/>
              <a:defRPr/>
            </a:pPr>
            <a:r>
              <a:rPr lang="en-US" sz="900" b="1" dirty="0"/>
              <a:t>Windows 7 Starter:</a:t>
            </a:r>
            <a:r>
              <a:rPr lang="en-US" sz="900" dirty="0"/>
              <a:t> Run through this edition purpose and key features.</a:t>
            </a:r>
          </a:p>
          <a:p>
            <a:pPr marL="224325" indent="-224325">
              <a:buFont typeface="+mj-lt"/>
              <a:buAutoNum type="arabicPeriod"/>
              <a:defRPr/>
            </a:pPr>
            <a:r>
              <a:rPr lang="en-US" sz="900" b="1" dirty="0"/>
              <a:t>Windows 7 Home Basic:</a:t>
            </a:r>
            <a:r>
              <a:rPr lang="en-US" sz="900" dirty="0"/>
              <a:t> Run through this edition purpose and key features.</a:t>
            </a:r>
          </a:p>
          <a:p>
            <a:pPr marL="224325" indent="-224325">
              <a:buFont typeface="+mj-lt"/>
              <a:buAutoNum type="arabicPeriod"/>
              <a:defRPr/>
            </a:pPr>
            <a:r>
              <a:rPr lang="en-US" sz="900" b="1" dirty="0"/>
              <a:t>Windows 7 Home Premium:</a:t>
            </a:r>
            <a:r>
              <a:rPr lang="en-US" sz="900" dirty="0"/>
              <a:t> Run through this edition purpose and key features.</a:t>
            </a:r>
          </a:p>
          <a:p>
            <a:pPr marL="224325" indent="-224325">
              <a:buFont typeface="+mj-lt"/>
              <a:buAutoNum type="arabicPeriod"/>
              <a:defRPr/>
            </a:pPr>
            <a:r>
              <a:rPr lang="en-US" sz="900" b="1" dirty="0"/>
              <a:t>Windows 7 Professional:</a:t>
            </a:r>
            <a:r>
              <a:rPr lang="en-US" sz="900" dirty="0"/>
              <a:t> Run through this edition purpose and key features.</a:t>
            </a:r>
          </a:p>
          <a:p>
            <a:pPr marL="224325" indent="-224325">
              <a:buFont typeface="+mj-lt"/>
              <a:buAutoNum type="arabicPeriod"/>
              <a:defRPr/>
            </a:pPr>
            <a:r>
              <a:rPr lang="en-US" sz="900" b="1" dirty="0"/>
              <a:t>Windows 7 Enterprise:</a:t>
            </a:r>
            <a:r>
              <a:rPr lang="en-US" sz="900" dirty="0"/>
              <a:t> Run through this edition purpose and key features.</a:t>
            </a:r>
          </a:p>
          <a:p>
            <a:pPr marL="224325" indent="-224325">
              <a:buFont typeface="+mj-lt"/>
              <a:buAutoNum type="arabicPeriod"/>
              <a:defRPr/>
            </a:pPr>
            <a:r>
              <a:rPr lang="en-US" sz="900" b="1" dirty="0"/>
              <a:t>Windows 7 Ultimate:</a:t>
            </a:r>
            <a:r>
              <a:rPr lang="en-US" sz="900" dirty="0"/>
              <a:t> Run through this edition purpose and key features.</a:t>
            </a:r>
          </a:p>
          <a:p>
            <a:pPr marL="224325" indent="-224325">
              <a:buFont typeface="+mj-lt"/>
              <a:buAutoNum type="arabicPeriod"/>
              <a:defRPr/>
            </a:pPr>
            <a:r>
              <a:rPr lang="en-US" sz="900" dirty="0"/>
              <a:t>The last frame shows all the six editions again. Here summarize the editions of Windows 7.</a:t>
            </a:r>
            <a:br>
              <a:rPr lang="en-US" sz="900" dirty="0"/>
            </a:br>
            <a:endParaRPr lang="en-US" sz="900" dirty="0"/>
          </a:p>
          <a:p>
            <a:pPr>
              <a:defRPr/>
            </a:pPr>
            <a:r>
              <a:rPr lang="en-US" sz="900" b="1" dirty="0"/>
              <a:t>Additional information: </a:t>
            </a:r>
            <a:r>
              <a:rPr lang="en-US" sz="900" dirty="0"/>
              <a:t>Ensure that your students are aware what the N editions provide.</a:t>
            </a:r>
          </a:p>
          <a:p>
            <a:pPr>
              <a:defRPr/>
            </a:pPr>
            <a:r>
              <a:rPr lang="en-US" sz="900" dirty="0"/>
              <a:t>Also, refer to: </a:t>
            </a:r>
            <a:r>
              <a:rPr lang="en-US" sz="900" dirty="0">
                <a:hlinkClick r:id="rId3"/>
              </a:rPr>
              <a:t>http://go.microsoft.com/fwlink/?LinkID=154223</a:t>
            </a:r>
            <a:br>
              <a:rPr lang="en-US" sz="900" dirty="0"/>
            </a:br>
            <a:endParaRPr lang="en-US" sz="900" dirty="0"/>
          </a:p>
          <a:p>
            <a:pPr>
              <a:defRPr/>
            </a:pPr>
            <a:r>
              <a:rPr lang="en-US" sz="900" b="1" dirty="0"/>
              <a:t>Question:</a:t>
            </a:r>
            <a:r>
              <a:rPr lang="en-US" sz="900" dirty="0"/>
              <a:t> Which edition of Windows 7 might you choose in the following scenarios? </a:t>
            </a:r>
          </a:p>
          <a:p>
            <a:pPr>
              <a:defRPr/>
            </a:pPr>
            <a:r>
              <a:rPr lang="en-US" sz="900" dirty="0"/>
              <a:t>Scenario 1: There are a few users in your organization. Currently, you do not have a centralized file server and all of the computers are not joined to a domain.</a:t>
            </a:r>
          </a:p>
          <a:p>
            <a:pPr>
              <a:defRPr/>
            </a:pPr>
            <a:r>
              <a:rPr lang="en-US" sz="900" dirty="0"/>
              <a:t>Scenario 2: Your organization has more than one hundred users who are located in several offices across the country. In addition, you have several users that travel frequently. </a:t>
            </a:r>
          </a:p>
          <a:p>
            <a:pPr>
              <a:defRPr/>
            </a:pPr>
            <a:r>
              <a:rPr lang="en-US" sz="900" b="1" dirty="0"/>
              <a:t>Answer:</a:t>
            </a:r>
            <a:r>
              <a:rPr lang="en-US" sz="900" dirty="0"/>
              <a:t> Choose Windows 7 Professional for Scenario 1 and Windows 7 Enterprise for Scenario 2.</a:t>
            </a:r>
          </a:p>
          <a:p>
            <a:pPr>
              <a:defRPr/>
            </a:pPr>
            <a:r>
              <a:rPr lang="en-US" sz="900" dirty="0"/>
              <a:t>Scenario 1: For a business environment, choose either Windows 7 Professional or Windows 7 Enterprise. Windows 7 Home Premium, Windows 7 Home Basic, and Windows 7 Starter are targeted for home users. Because you only have few users, Windows 7 Professional will be the best fit. </a:t>
            </a:r>
          </a:p>
          <a:p>
            <a:pPr>
              <a:defRPr/>
            </a:pPr>
            <a:r>
              <a:rPr lang="en-US" sz="900" dirty="0"/>
              <a:t>Scenario 2: Choose Windows 7 Enterprise and take the advantage of features such as </a:t>
            </a:r>
            <a:r>
              <a:rPr lang="en-US" sz="900" dirty="0" err="1"/>
              <a:t>BranchCache</a:t>
            </a:r>
            <a:r>
              <a:rPr lang="en-US" sz="900" dirty="0"/>
              <a:t> and </a:t>
            </a:r>
            <a:r>
              <a:rPr lang="en-US" sz="900" dirty="0" err="1"/>
              <a:t>DirectAccess</a:t>
            </a:r>
            <a:r>
              <a:rPr lang="en-US" sz="900" dirty="0"/>
              <a:t> to increase the productivity of your mobile users.</a:t>
            </a:r>
          </a:p>
          <a:p>
            <a:pPr>
              <a:defRPr/>
            </a:pPr>
            <a:endParaRPr lang="en-US" sz="900" b="1" dirty="0"/>
          </a:p>
          <a:p>
            <a:pPr>
              <a:defRPr/>
            </a:pPr>
            <a:r>
              <a:rPr lang="en-US" sz="900" b="1" dirty="0"/>
              <a:t>Question:</a:t>
            </a:r>
            <a:r>
              <a:rPr lang="en-US" sz="900" dirty="0"/>
              <a:t> What is the difference between the Enterprise and the Ultimate edition of Windows 7?</a:t>
            </a:r>
          </a:p>
          <a:p>
            <a:pPr>
              <a:defRPr/>
            </a:pPr>
            <a:r>
              <a:rPr lang="en-US" sz="900" b="1" dirty="0"/>
              <a:t>Answer:</a:t>
            </a:r>
            <a:r>
              <a:rPr lang="en-US" sz="900" dirty="0"/>
              <a:t> There is no difference in terms of features between the Enterprise and Ultimate editions. Windows 7 Enterprise is available through Microsoft Software Assurance with Volume Licensing and Windows 7 Ultimate is available through the retail channel. There is no upgrade path between the two.</a:t>
            </a:r>
          </a:p>
          <a:p>
            <a:pPr>
              <a:defRPr/>
            </a:pPr>
            <a:endParaRPr lang="en-US" sz="9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A3AB9C7C-4FD5-42EF-85D2-13066BFAE6B3}" type="slidenum">
              <a:rPr lang="en-US" smtClean="0"/>
              <a:pPr>
                <a:defRPr/>
              </a:pPr>
              <a:t>10</a:t>
            </a:fld>
            <a:endParaRPr lang="en-US" dirty="0"/>
          </a:p>
        </p:txBody>
      </p:sp>
      <p:sp>
        <p:nvSpPr>
          <p:cNvPr id="59397" name="Rectangle 2"/>
          <p:cNvSpPr>
            <a:spLocks noGrp="1" noRot="1" noChangeAspect="1" noChangeArrowheads="1" noTextEdit="1"/>
          </p:cNvSpPr>
          <p:nvPr>
            <p:ph type="sldImg"/>
          </p:nvPr>
        </p:nvSpPr>
        <p:spPr>
          <a:ln/>
        </p:spPr>
      </p:sp>
      <p:sp>
        <p:nvSpPr>
          <p:cNvPr id="52230" name="Rectangle 3"/>
          <p:cNvSpPr>
            <a:spLocks noGrp="1" noChangeArrowheads="1"/>
          </p:cNvSpPr>
          <p:nvPr>
            <p:ph type="body" idx="1"/>
          </p:nvPr>
        </p:nvSpPr>
        <p:spPr>
          <a:xfrm>
            <a:off x="307492" y="2043972"/>
            <a:ext cx="6149837" cy="6754943"/>
          </a:xfrm>
          <a:ln/>
        </p:spPr>
        <p:txBody>
          <a:bodyPr/>
          <a:lstStyle/>
          <a:p>
            <a:r>
              <a:rPr lang="en-US" b="1"/>
              <a:t>Key message: </a:t>
            </a:r>
            <a:r>
              <a:rPr lang="en-US"/>
              <a:t>64-bit processors have several advantages compare to their 32-bit counterparts.</a:t>
            </a:r>
            <a:r>
              <a:rPr lang="en-US" b="1"/>
              <a:t> </a:t>
            </a:r>
            <a:r>
              <a:rPr lang="en-US"/>
              <a:t>For Windows to take advantage of 64-bit processors, you have to run the 64-bit editions of Windows.</a:t>
            </a:r>
            <a:br>
              <a:rPr lang="en-US"/>
            </a:br>
            <a:endParaRPr lang="en-US" b="1"/>
          </a:p>
          <a:p>
            <a:r>
              <a:rPr lang="en-US"/>
              <a:t>Explain the advantages of 64-bit editions of Windows:</a:t>
            </a:r>
          </a:p>
          <a:p>
            <a:pPr>
              <a:buFont typeface="Calibri" pitchFamily="34" charset="0"/>
              <a:buAutoNum type="arabicPeriod"/>
            </a:pPr>
            <a:r>
              <a:rPr lang="en-US" b="1"/>
              <a:t>Improved Performance:</a:t>
            </a:r>
            <a:r>
              <a:rPr lang="en-US"/>
              <a:t> the 64-bit processors can process more data per clock cycle, enabling you to scale your applications to run faster or support more users. To benefit from this improved processor capacity, you must install a 64-bit edition of the operating system. </a:t>
            </a:r>
          </a:p>
          <a:p>
            <a:pPr>
              <a:buFont typeface="Calibri" pitchFamily="34" charset="0"/>
              <a:buAutoNum type="arabicPeriod"/>
            </a:pPr>
            <a:r>
              <a:rPr lang="en-US" b="1"/>
              <a:t>Enhanced Memory:</a:t>
            </a:r>
            <a:r>
              <a:rPr lang="en-US"/>
              <a:t> a 64-bit operating system can address memory above 4GB. This is unlike all 32-bit operating systems, including all 32-bit editions of Windows 7, which are limited to 4 GB of addressable memory. The following table lists the memory configurations supported by 64-bit editions of Windows 7:</a:t>
            </a:r>
          </a:p>
          <a:p>
            <a:pPr>
              <a:buFont typeface="Calibri" pitchFamily="34" charset="0"/>
              <a:buAutoNum type="arabicPeriod"/>
            </a:pPr>
            <a:endParaRPr lang="en-US"/>
          </a:p>
          <a:p>
            <a:pPr>
              <a:buFont typeface="Calibri" pitchFamily="34" charset="0"/>
              <a:buAutoNum type="arabicPeriod"/>
            </a:pPr>
            <a:endParaRPr lang="en-US"/>
          </a:p>
          <a:p>
            <a:pPr>
              <a:buFont typeface="Calibri" pitchFamily="34" charset="0"/>
              <a:buAutoNum type="arabicPeriod"/>
            </a:pPr>
            <a:endParaRPr lang="en-US"/>
          </a:p>
          <a:p>
            <a:pPr>
              <a:buFont typeface="Calibri" pitchFamily="34" charset="0"/>
              <a:buAutoNum type="arabicPeriod"/>
            </a:pPr>
            <a:endParaRPr lang="en-US"/>
          </a:p>
          <a:p>
            <a:pPr>
              <a:buFont typeface="Calibri" pitchFamily="34" charset="0"/>
              <a:buAutoNum type="arabicPeriod"/>
            </a:pPr>
            <a:endParaRPr lang="en-US"/>
          </a:p>
          <a:p>
            <a:pPr>
              <a:buFont typeface="Calibri" pitchFamily="34" charset="0"/>
              <a:buAutoNum type="arabicPeriod"/>
            </a:pPr>
            <a:r>
              <a:rPr lang="en-US" b="1"/>
              <a:t>Improved Device Support:</a:t>
            </a:r>
            <a:r>
              <a:rPr lang="en-US"/>
              <a:t> although 64-bit processors have been available for some time, in the past it was difficult to obtain third-party drivers for commonly used devices, such as printers, scanners, and other common office equipment. Since Windows Vista was first released, the availability of drivers for these devices has improved greatly. Because Windows 7 is built on the same kernel as Windows Vista, most of the drivers that worked with Windows Vista, also work with Windows 7.</a:t>
            </a:r>
          </a:p>
          <a:p>
            <a:pPr>
              <a:buFont typeface="Calibri" pitchFamily="34" charset="0"/>
              <a:buAutoNum type="arabicPeriod"/>
            </a:pPr>
            <a:r>
              <a:rPr lang="en-US" b="1"/>
              <a:t>Improved Security:</a:t>
            </a:r>
            <a:r>
              <a:rPr lang="en-US"/>
              <a:t> the processor architecture of x64-based processors from Intel and AMD improve security with Kernel Patch Protection, mandatory kernel-mode driver signing and Data Execution Prevention.</a:t>
            </a:r>
            <a:br>
              <a:rPr lang="en-US"/>
            </a:br>
            <a:endParaRPr lang="en-US"/>
          </a:p>
          <a:p>
            <a:r>
              <a:rPr lang="en-US"/>
              <a:t>Although there are many reasons to consider implementing 64-bit editions of Windows 7, there is also a limitation. The 64-bit editions of Windows 7 do not support the 16-bit Windows on Windows (WOW) environment.</a:t>
            </a:r>
          </a:p>
          <a:p>
            <a:r>
              <a:rPr lang="en-US"/>
              <a:t>Re-emphasize that all editions of Windows 7, except for Windows 7 starter, are available in both 32 and 64-bit editions.</a:t>
            </a:r>
            <a:br>
              <a:rPr lang="en-US"/>
            </a:br>
            <a:endParaRPr lang="en-US"/>
          </a:p>
          <a:p>
            <a:r>
              <a:rPr lang="en-US" b="1"/>
              <a:t>Additional information: </a:t>
            </a:r>
            <a:r>
              <a:rPr lang="en-US"/>
              <a:t>Different 64-bit editions of Windows 7 support different maximum memory ranging from 8 GB to more than 128 GB. Mention that some of the Microsoft Back Office components are available in 64-bit variants only, such as Microsoft Exchange Server® 2007 and Office® Communications Server® 2007. 64-bit edition of Windows 7do not support the NT DOS Virtual Machine (NTDVM) or Windows-On-Windows (WOW) environments, but suggest virtualization as a solution. </a:t>
            </a:r>
          </a:p>
          <a:p>
            <a:endParaRPr lang="en-US" b="1"/>
          </a:p>
          <a:p>
            <a:pPr eaLnBrk="1" hangingPunct="1"/>
            <a:endParaRPr lang="en-US"/>
          </a:p>
        </p:txBody>
      </p:sp>
      <p:graphicFrame>
        <p:nvGraphicFramePr>
          <p:cNvPr id="7" name="Table 6"/>
          <p:cNvGraphicFramePr>
            <a:graphicFrameLocks noGrp="1"/>
          </p:cNvGraphicFramePr>
          <p:nvPr/>
        </p:nvGraphicFramePr>
        <p:xfrm>
          <a:off x="610325" y="3970832"/>
          <a:ext cx="3429000" cy="968115"/>
        </p:xfrm>
        <a:graphic>
          <a:graphicData uri="http://schemas.openxmlformats.org/drawingml/2006/table">
            <a:tbl>
              <a:tblPr/>
              <a:tblGrid>
                <a:gridCol w="2199033">
                  <a:extLst>
                    <a:ext uri="{9D8B030D-6E8A-4147-A177-3AD203B41FA5}">
                      <a16:colId xmlns:a16="http://schemas.microsoft.com/office/drawing/2014/main" val="20000"/>
                    </a:ext>
                  </a:extLst>
                </a:gridCol>
                <a:gridCol w="1229967">
                  <a:extLst>
                    <a:ext uri="{9D8B030D-6E8A-4147-A177-3AD203B41FA5}">
                      <a16:colId xmlns:a16="http://schemas.microsoft.com/office/drawing/2014/main" val="20001"/>
                    </a:ext>
                  </a:extLst>
                </a:gridCol>
              </a:tblGrid>
              <a:tr h="193623">
                <a:tc>
                  <a:txBody>
                    <a:bodyPr/>
                    <a:lstStyle/>
                    <a:p>
                      <a:pPr marL="0" marR="0">
                        <a:lnSpc>
                          <a:spcPts val="1100"/>
                        </a:lnSpc>
                        <a:spcBef>
                          <a:spcPts val="0"/>
                        </a:spcBef>
                        <a:spcAft>
                          <a:spcPts val="0"/>
                        </a:spcAft>
                      </a:pPr>
                      <a:r>
                        <a:rPr lang="en-US" sz="1000" dirty="0">
                          <a:latin typeface="Segoe Semibold"/>
                          <a:ea typeface="Times New Roman"/>
                          <a:cs typeface="Times New Roman"/>
                        </a:rPr>
                        <a:t>Windows 7 Edition</a:t>
                      </a:r>
                    </a:p>
                  </a:txBody>
                  <a:tcPr marL="37272" marR="37272" marT="37475" marB="18738" anchor="b">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tc>
                  <a:txBody>
                    <a:bodyPr/>
                    <a:lstStyle/>
                    <a:p>
                      <a:pPr marL="0" marR="0">
                        <a:lnSpc>
                          <a:spcPts val="1100"/>
                        </a:lnSpc>
                        <a:spcBef>
                          <a:spcPts val="0"/>
                        </a:spcBef>
                        <a:spcAft>
                          <a:spcPts val="0"/>
                        </a:spcAft>
                      </a:pPr>
                      <a:r>
                        <a:rPr lang="en-US" sz="1000" dirty="0">
                          <a:latin typeface="Segoe Semibold"/>
                          <a:ea typeface="Times New Roman"/>
                          <a:cs typeface="Times New Roman"/>
                        </a:rPr>
                        <a:t>Memory</a:t>
                      </a:r>
                    </a:p>
                  </a:txBody>
                  <a:tcPr marL="37272" marR="37272" marT="37475" marB="18738" anchor="b">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93623">
                <a:tc>
                  <a:txBody>
                    <a:bodyPr/>
                    <a:lstStyle/>
                    <a:p>
                      <a:pPr marL="36830" marR="0">
                        <a:lnSpc>
                          <a:spcPts val="1100"/>
                        </a:lnSpc>
                        <a:spcBef>
                          <a:spcPts val="200"/>
                        </a:spcBef>
                        <a:spcAft>
                          <a:spcPts val="300"/>
                        </a:spcAft>
                      </a:pPr>
                      <a:r>
                        <a:rPr lang="en-US" sz="1000" b="0" dirty="0">
                          <a:latin typeface="Segoe"/>
                          <a:ea typeface="MS Mincho"/>
                          <a:cs typeface="Times New Roman"/>
                        </a:rPr>
                        <a:t>Home Basic / Home Basic N</a:t>
                      </a:r>
                    </a:p>
                  </a:txBody>
                  <a:tcPr marL="37272" marR="37272" marT="37475" marB="18738">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8 GB</a:t>
                      </a:r>
                    </a:p>
                  </a:txBody>
                  <a:tcPr marL="37272" marR="37272" marT="37475" marB="18738">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1"/>
                  </a:ext>
                </a:extLst>
              </a:tr>
              <a:tr h="193623">
                <a:tc>
                  <a:txBody>
                    <a:bodyPr/>
                    <a:lstStyle/>
                    <a:p>
                      <a:pPr marL="36830" marR="0">
                        <a:lnSpc>
                          <a:spcPts val="1100"/>
                        </a:lnSpc>
                        <a:spcBef>
                          <a:spcPts val="200"/>
                        </a:spcBef>
                        <a:spcAft>
                          <a:spcPts val="300"/>
                        </a:spcAft>
                      </a:pPr>
                      <a:r>
                        <a:rPr lang="en-US" sz="1000" b="0" dirty="0">
                          <a:latin typeface="Segoe"/>
                          <a:ea typeface="MS Mincho"/>
                          <a:cs typeface="Times New Roman"/>
                        </a:rPr>
                        <a:t>Home Premium </a:t>
                      </a:r>
                    </a:p>
                  </a:txBody>
                  <a:tcPr marL="37272" marR="37272" marT="37475" marB="18738">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16 GB</a:t>
                      </a:r>
                    </a:p>
                  </a:txBody>
                  <a:tcPr marL="37272" marR="37272" marT="37475" marB="18738">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2"/>
                  </a:ext>
                </a:extLst>
              </a:tr>
              <a:tr h="193623">
                <a:tc>
                  <a:txBody>
                    <a:bodyPr/>
                    <a:lstStyle/>
                    <a:p>
                      <a:pPr marL="36830" marR="0">
                        <a:lnSpc>
                          <a:spcPts val="1100"/>
                        </a:lnSpc>
                        <a:spcBef>
                          <a:spcPts val="200"/>
                        </a:spcBef>
                        <a:spcAft>
                          <a:spcPts val="300"/>
                        </a:spcAft>
                      </a:pPr>
                      <a:r>
                        <a:rPr lang="en-US" sz="1000" b="0" dirty="0">
                          <a:latin typeface="Segoe"/>
                          <a:ea typeface="MS Mincho"/>
                          <a:cs typeface="Times New Roman"/>
                        </a:rPr>
                        <a:t>Professional / Professional N</a:t>
                      </a:r>
                    </a:p>
                  </a:txBody>
                  <a:tcPr marL="37272" marR="37272" marT="37475" marB="18738">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128 GB or more</a:t>
                      </a:r>
                    </a:p>
                  </a:txBody>
                  <a:tcPr marL="37272" marR="37272" marT="37475" marB="18738">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3"/>
                  </a:ext>
                </a:extLst>
              </a:tr>
              <a:tr h="193623">
                <a:tc>
                  <a:txBody>
                    <a:bodyPr/>
                    <a:lstStyle/>
                    <a:p>
                      <a:pPr marL="36830" marR="0">
                        <a:lnSpc>
                          <a:spcPts val="1100"/>
                        </a:lnSpc>
                        <a:spcBef>
                          <a:spcPts val="200"/>
                        </a:spcBef>
                        <a:spcAft>
                          <a:spcPts val="300"/>
                        </a:spcAft>
                      </a:pPr>
                      <a:r>
                        <a:rPr lang="en-US" sz="1000" b="0" dirty="0">
                          <a:latin typeface="Segoe"/>
                          <a:ea typeface="MS Mincho"/>
                          <a:cs typeface="Times New Roman"/>
                        </a:rPr>
                        <a:t>Enterprise / Ultimate</a:t>
                      </a:r>
                    </a:p>
                  </a:txBody>
                  <a:tcPr marL="37272" marR="37272" marT="37475" marB="18738">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128 GB or more</a:t>
                      </a:r>
                    </a:p>
                  </a:txBody>
                  <a:tcPr marL="37272" marR="37272" marT="37475" marB="18738">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BCF99F3E-298D-4E7F-BCC7-95488C20D1E4}" type="slidenum">
              <a:rPr lang="en-US" smtClean="0"/>
              <a:pPr>
                <a:defRPr/>
              </a:pPr>
              <a:t>14</a:t>
            </a:fld>
            <a:endParaRPr lang="en-US" dirty="0"/>
          </a:p>
        </p:txBody>
      </p:sp>
      <p:sp>
        <p:nvSpPr>
          <p:cNvPr id="60421"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7492" y="2148591"/>
            <a:ext cx="6149837" cy="6731521"/>
          </a:xfrm>
          <a:ln/>
        </p:spPr>
        <p:txBody>
          <a:bodyPr/>
          <a:lstStyle/>
          <a:p>
            <a:pPr>
              <a:defRPr/>
            </a:pPr>
            <a:r>
              <a:rPr lang="en-US" b="1" dirty="0"/>
              <a:t>Key message: </a:t>
            </a:r>
            <a:r>
              <a:rPr lang="en-US" dirty="0"/>
              <a:t>Windows 7 supports the following types of installation:</a:t>
            </a:r>
          </a:p>
          <a:p>
            <a:pPr marL="224325" indent="-224325">
              <a:buFont typeface="+mj-lt"/>
              <a:buAutoNum type="arabicPeriod"/>
              <a:defRPr/>
            </a:pPr>
            <a:r>
              <a:rPr lang="en-US" b="1" dirty="0"/>
              <a:t>Clean installation:</a:t>
            </a:r>
            <a:r>
              <a:rPr lang="en-US" dirty="0"/>
              <a:t> you perform a clean installation when installing Windows 7 on a new partition or when replacing an existing operating system on a partition. You can run setup.exe from the product DVD or from a network share. You can also use an image to perform a clean installation.</a:t>
            </a:r>
          </a:p>
          <a:p>
            <a:pPr marL="224325" indent="-224325">
              <a:buFont typeface="+mj-lt"/>
              <a:buAutoNum type="arabicPeriod"/>
              <a:defRPr/>
            </a:pPr>
            <a:r>
              <a:rPr lang="en-US" b="1" dirty="0"/>
              <a:t>Upgrade installation:</a:t>
            </a:r>
            <a:r>
              <a:rPr lang="en-US" dirty="0"/>
              <a:t> you perform an upgrade, which also is known as an in-place upgrade, when replacing an existing version of Windows with Windows 7 and you need to retain all user applications, files, and settings. </a:t>
            </a:r>
          </a:p>
          <a:p>
            <a:pPr marL="224325" indent="-224325">
              <a:buFont typeface="+mj-lt"/>
              <a:buAutoNum type="arabicPeriod"/>
              <a:defRPr/>
            </a:pPr>
            <a:r>
              <a:rPr lang="en-US" b="1" dirty="0"/>
              <a:t>Migration:</a:t>
            </a:r>
            <a:r>
              <a:rPr lang="en-US" dirty="0"/>
              <a:t> you perform a migration when you have a computer already running Windows 7, and need to move files and settings from your old operating system (source computer) to the Windows 7 (destination computer). There are two migration scenarios: side-by-side and wipe and load. In side-by-side migration, the source computer and the destination computer are two different computers. In wipe and load migration, the target computer and the source computer are the same.</a:t>
            </a:r>
          </a:p>
          <a:p>
            <a:pPr>
              <a:defRPr/>
            </a:pPr>
            <a:endParaRPr lang="en-US" dirty="0"/>
          </a:p>
          <a:p>
            <a:pPr>
              <a:defRPr/>
            </a:pPr>
            <a:r>
              <a:rPr lang="en-US" b="1" dirty="0"/>
              <a:t>Question:</a:t>
            </a:r>
            <a:r>
              <a:rPr lang="en-US" dirty="0"/>
              <a:t> Which type of installation do you use in the following scenarios? </a:t>
            </a:r>
          </a:p>
          <a:p>
            <a:pPr>
              <a:defRPr/>
            </a:pPr>
            <a:r>
              <a:rPr lang="en-US" dirty="0"/>
              <a:t>Scenario 1: Your users have computers that are at least three years old and your organization plans to deploy Windows 7 to many new computers. </a:t>
            </a:r>
          </a:p>
          <a:p>
            <a:pPr>
              <a:defRPr/>
            </a:pPr>
            <a:r>
              <a:rPr lang="en-US" dirty="0"/>
              <a:t>Scenario 2: There are only a few users in your organization, their computers are mostly new, but they have many applications installed and a lot of data stored in their computers. </a:t>
            </a:r>
          </a:p>
          <a:p>
            <a:pPr>
              <a:defRPr/>
            </a:pPr>
            <a:r>
              <a:rPr lang="en-US" b="1" dirty="0"/>
              <a:t>Answer:</a:t>
            </a:r>
            <a:r>
              <a:rPr lang="en-US" dirty="0"/>
              <a:t> The answers may vary. Your selection of the type of installation may not be decided by just these factors. In general, it is recommended that you perform a clean installation followed by migration of user settings and data. Avoid selecting upgrade, unless it only involves a few users or computers. In Scenario 1, you may want to purchase new hardware for your organization, perform a clean installation of Windows 7, and migrate the necessary user settings and data. In Scenario 2, you may want to perform an in-place upgrade to Windows 7. </a:t>
            </a:r>
          </a:p>
          <a:p>
            <a:pPr eaLnBrk="1" hangingPunct="1">
              <a:defRPr/>
            </a:pP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BCF99F3E-298D-4E7F-BCC7-95488C20D1E4}" type="slidenum">
              <a:rPr lang="en-US" smtClean="0"/>
              <a:pPr>
                <a:defRPr/>
              </a:pPr>
              <a:t>15</a:t>
            </a:fld>
            <a:endParaRPr lang="en-US" dirty="0"/>
          </a:p>
        </p:txBody>
      </p:sp>
      <p:sp>
        <p:nvSpPr>
          <p:cNvPr id="60421"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7492" y="2148591"/>
            <a:ext cx="6149837" cy="6731521"/>
          </a:xfrm>
          <a:ln/>
        </p:spPr>
        <p:txBody>
          <a:bodyPr/>
          <a:lstStyle/>
          <a:p>
            <a:pPr>
              <a:defRPr/>
            </a:pPr>
            <a:r>
              <a:rPr lang="en-US" b="1" dirty="0"/>
              <a:t>Key message: </a:t>
            </a:r>
            <a:r>
              <a:rPr lang="en-US" dirty="0"/>
              <a:t>Windows 7 supports the following types of installation:</a:t>
            </a:r>
          </a:p>
          <a:p>
            <a:pPr marL="224325" indent="-224325">
              <a:buFont typeface="+mj-lt"/>
              <a:buAutoNum type="arabicPeriod"/>
              <a:defRPr/>
            </a:pPr>
            <a:r>
              <a:rPr lang="en-US" b="1" dirty="0"/>
              <a:t>Clean installation:</a:t>
            </a:r>
            <a:r>
              <a:rPr lang="en-US" dirty="0"/>
              <a:t> you perform a clean installation when installing Windows 7 on a new partition or when replacing an existing operating system on a partition. You can run setup.exe from the product DVD or from a network share. You can also use an image to perform a clean installation.</a:t>
            </a:r>
          </a:p>
          <a:p>
            <a:pPr marL="224325" indent="-224325">
              <a:buFont typeface="+mj-lt"/>
              <a:buAutoNum type="arabicPeriod"/>
              <a:defRPr/>
            </a:pPr>
            <a:r>
              <a:rPr lang="en-US" b="1" dirty="0"/>
              <a:t>Upgrade installation:</a:t>
            </a:r>
            <a:r>
              <a:rPr lang="en-US" dirty="0"/>
              <a:t> you perform an upgrade, which also is known as an in-place upgrade, when replacing an existing version of Windows with Windows 7 and you need to retain all user applications, files, and settings. </a:t>
            </a:r>
          </a:p>
          <a:p>
            <a:pPr marL="224325" indent="-224325">
              <a:buFont typeface="+mj-lt"/>
              <a:buAutoNum type="arabicPeriod"/>
              <a:defRPr/>
            </a:pPr>
            <a:r>
              <a:rPr lang="en-US" b="1" dirty="0"/>
              <a:t>Migration:</a:t>
            </a:r>
            <a:r>
              <a:rPr lang="en-US" dirty="0"/>
              <a:t> you perform a migration when you have a computer already running Windows 7, and need to move files and settings from your old operating system (source computer) to the Windows 7 (destination computer). There are two migration scenarios: side-by-side and wipe and load. In side-by-side migration, the source computer and the destination computer are two different computers. In wipe and load migration, the target computer and the source computer are the same.</a:t>
            </a:r>
          </a:p>
          <a:p>
            <a:pPr>
              <a:defRPr/>
            </a:pPr>
            <a:endParaRPr lang="en-US" dirty="0"/>
          </a:p>
          <a:p>
            <a:pPr>
              <a:defRPr/>
            </a:pPr>
            <a:r>
              <a:rPr lang="en-US" b="1" dirty="0"/>
              <a:t>Question:</a:t>
            </a:r>
            <a:r>
              <a:rPr lang="en-US" dirty="0"/>
              <a:t> Which type of installation do you use in the following scenarios? </a:t>
            </a:r>
          </a:p>
          <a:p>
            <a:pPr>
              <a:defRPr/>
            </a:pPr>
            <a:r>
              <a:rPr lang="en-US" dirty="0"/>
              <a:t>Scenario 1: Your users have computers that are at least three years old and your organization plans to deploy Windows 7 to many new computers. </a:t>
            </a:r>
          </a:p>
          <a:p>
            <a:pPr>
              <a:defRPr/>
            </a:pPr>
            <a:r>
              <a:rPr lang="en-US" dirty="0"/>
              <a:t>Scenario 2: There are only a few users in your organization, their computers are mostly new, but they have many applications installed and a lot of data stored in their computers. </a:t>
            </a:r>
          </a:p>
          <a:p>
            <a:pPr>
              <a:defRPr/>
            </a:pPr>
            <a:r>
              <a:rPr lang="en-US" b="1" dirty="0"/>
              <a:t>Answer:</a:t>
            </a:r>
            <a:r>
              <a:rPr lang="en-US" dirty="0"/>
              <a:t> The answers may vary. Your selection of the type of installation may not be decided by just these factors. In general, it is recommended that you perform a clean installation followed by migration of user settings and data. Avoid selecting upgrade, unless it only involves a few users or computers. In Scenario 1, you may want to purchase new hardware for your organization, perform a clean installation of Windows 7, and migrate the necessary user settings and data. In Scenario 2, you may want to perform an in-place upgrade to Windows 7. </a:t>
            </a:r>
          </a:p>
          <a:p>
            <a:pPr eaLnBrk="1" hangingPunct="1">
              <a:defRPr/>
            </a:pP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BCF99F3E-298D-4E7F-BCC7-95488C20D1E4}" type="slidenum">
              <a:rPr lang="en-US" smtClean="0"/>
              <a:pPr>
                <a:defRPr/>
              </a:pPr>
              <a:t>16</a:t>
            </a:fld>
            <a:endParaRPr lang="en-US" dirty="0"/>
          </a:p>
        </p:txBody>
      </p:sp>
      <p:sp>
        <p:nvSpPr>
          <p:cNvPr id="60421"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7492" y="2148591"/>
            <a:ext cx="6149837" cy="6731521"/>
          </a:xfrm>
          <a:ln/>
        </p:spPr>
        <p:txBody>
          <a:bodyPr/>
          <a:lstStyle/>
          <a:p>
            <a:pPr>
              <a:defRPr/>
            </a:pPr>
            <a:r>
              <a:rPr lang="en-US" b="1" dirty="0"/>
              <a:t>Key message: </a:t>
            </a:r>
            <a:r>
              <a:rPr lang="en-US" dirty="0"/>
              <a:t>Windows 7 supports the following types of installation:</a:t>
            </a:r>
          </a:p>
          <a:p>
            <a:pPr marL="224325" indent="-224325">
              <a:buFont typeface="+mj-lt"/>
              <a:buAutoNum type="arabicPeriod"/>
              <a:defRPr/>
            </a:pPr>
            <a:r>
              <a:rPr lang="en-US" b="1" dirty="0"/>
              <a:t>Clean installation:</a:t>
            </a:r>
            <a:r>
              <a:rPr lang="en-US" dirty="0"/>
              <a:t> you perform a clean installation when installing Windows 7 on a new partition or when replacing an existing operating system on a partition. You can run setup.exe from the product DVD or from a network share. You can also use an image to perform a clean installation.</a:t>
            </a:r>
          </a:p>
          <a:p>
            <a:pPr marL="224325" indent="-224325">
              <a:buFont typeface="+mj-lt"/>
              <a:buAutoNum type="arabicPeriod"/>
              <a:defRPr/>
            </a:pPr>
            <a:r>
              <a:rPr lang="en-US" b="1" dirty="0"/>
              <a:t>Upgrade installation:</a:t>
            </a:r>
            <a:r>
              <a:rPr lang="en-US" dirty="0"/>
              <a:t> you perform an upgrade, which also is known as an in-place upgrade, when replacing an existing version of Windows with Windows 7 and you need to retain all user applications, files, and settings. </a:t>
            </a:r>
          </a:p>
          <a:p>
            <a:pPr marL="224325" indent="-224325">
              <a:buFont typeface="+mj-lt"/>
              <a:buAutoNum type="arabicPeriod"/>
              <a:defRPr/>
            </a:pPr>
            <a:r>
              <a:rPr lang="en-US" b="1" dirty="0"/>
              <a:t>Migration:</a:t>
            </a:r>
            <a:r>
              <a:rPr lang="en-US" dirty="0"/>
              <a:t> you perform a migration when you have a computer already running Windows 7, and need to move files and settings from your old operating system (source computer) to the Windows 7 (destination computer). There are two migration scenarios: side-by-side and wipe and load. In side-by-side migration, the source computer and the destination computer are two different computers. In wipe and load migration, the target computer and the source computer are the same.</a:t>
            </a:r>
          </a:p>
          <a:p>
            <a:pPr>
              <a:defRPr/>
            </a:pPr>
            <a:endParaRPr lang="en-US" dirty="0"/>
          </a:p>
          <a:p>
            <a:pPr>
              <a:defRPr/>
            </a:pPr>
            <a:r>
              <a:rPr lang="en-US" b="1" dirty="0"/>
              <a:t>Question:</a:t>
            </a:r>
            <a:r>
              <a:rPr lang="en-US" dirty="0"/>
              <a:t> Which type of installation do you use in the following scenarios? </a:t>
            </a:r>
          </a:p>
          <a:p>
            <a:pPr>
              <a:defRPr/>
            </a:pPr>
            <a:r>
              <a:rPr lang="en-US" dirty="0"/>
              <a:t>Scenario 1: Your users have computers that are at least three years old and your organization plans to deploy Windows 7 to many new computers. </a:t>
            </a:r>
          </a:p>
          <a:p>
            <a:pPr>
              <a:defRPr/>
            </a:pPr>
            <a:r>
              <a:rPr lang="en-US" dirty="0"/>
              <a:t>Scenario 2: There are only a few users in your organization, their computers are mostly new, but they have many applications installed and a lot of data stored in their computers. </a:t>
            </a:r>
          </a:p>
          <a:p>
            <a:pPr>
              <a:defRPr/>
            </a:pPr>
            <a:r>
              <a:rPr lang="en-US" b="1" dirty="0"/>
              <a:t>Answer:</a:t>
            </a:r>
            <a:r>
              <a:rPr lang="en-US" dirty="0"/>
              <a:t> The answers may vary. Your selection of the type of installation may not be decided by just these factors. In general, it is recommended that you perform a clean installation followed by migration of user settings and data. Avoid selecting upgrade, unless it only involves a few users or computers. In Scenario 1, you may want to purchase new hardware for your organization, perform a clean installation of Windows 7, and migrate the necessary user settings and data. In Scenario 2, you may want to perform an in-place upgrade to Windows 7. </a:t>
            </a:r>
          </a:p>
          <a:p>
            <a:pPr eaLnBrk="1" hangingPunct="1">
              <a:defRPr/>
            </a:pP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BCF99F3E-298D-4E7F-BCC7-95488C20D1E4}" type="slidenum">
              <a:rPr lang="en-US" smtClean="0"/>
              <a:pPr>
                <a:defRPr/>
              </a:pPr>
              <a:t>17</a:t>
            </a:fld>
            <a:endParaRPr lang="en-US" dirty="0"/>
          </a:p>
        </p:txBody>
      </p:sp>
      <p:sp>
        <p:nvSpPr>
          <p:cNvPr id="60421"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7492" y="2148591"/>
            <a:ext cx="6149837" cy="6731521"/>
          </a:xfrm>
          <a:ln/>
        </p:spPr>
        <p:txBody>
          <a:bodyPr/>
          <a:lstStyle/>
          <a:p>
            <a:pPr>
              <a:defRPr/>
            </a:pPr>
            <a:r>
              <a:rPr lang="en-US" b="1" dirty="0"/>
              <a:t>Key message: </a:t>
            </a:r>
            <a:r>
              <a:rPr lang="en-US" dirty="0"/>
              <a:t>Windows 7 supports the following types of installation:</a:t>
            </a:r>
          </a:p>
          <a:p>
            <a:pPr marL="224325" indent="-224325">
              <a:buFont typeface="+mj-lt"/>
              <a:buAutoNum type="arabicPeriod"/>
              <a:defRPr/>
            </a:pPr>
            <a:r>
              <a:rPr lang="en-US" b="1" dirty="0"/>
              <a:t>Clean installation:</a:t>
            </a:r>
            <a:r>
              <a:rPr lang="en-US" dirty="0"/>
              <a:t> you perform a clean installation when installing Windows 7 on a new partition or when replacing an existing operating system on a partition. You can run setup.exe from the product DVD or from a network share. You can also use an image to perform a clean installation.</a:t>
            </a:r>
          </a:p>
          <a:p>
            <a:pPr marL="224325" indent="-224325">
              <a:buFont typeface="+mj-lt"/>
              <a:buAutoNum type="arabicPeriod"/>
              <a:defRPr/>
            </a:pPr>
            <a:r>
              <a:rPr lang="en-US" b="1" dirty="0"/>
              <a:t>Upgrade installation:</a:t>
            </a:r>
            <a:r>
              <a:rPr lang="en-US" dirty="0"/>
              <a:t> you perform an upgrade, which also is known as an in-place upgrade, when replacing an existing version of Windows with Windows 7 and you need to retain all user applications, files, and settings. </a:t>
            </a:r>
          </a:p>
          <a:p>
            <a:pPr marL="224325" indent="-224325">
              <a:buFont typeface="+mj-lt"/>
              <a:buAutoNum type="arabicPeriod"/>
              <a:defRPr/>
            </a:pPr>
            <a:r>
              <a:rPr lang="en-US" b="1" dirty="0"/>
              <a:t>Migration:</a:t>
            </a:r>
            <a:r>
              <a:rPr lang="en-US" dirty="0"/>
              <a:t> you perform a migration when you have a computer already running Windows 7, and need to move files and settings from your old operating system (source computer) to the Windows 7 (destination computer). There are two migration scenarios: side-by-side and wipe and load. In side-by-side migration, the source computer and the destination computer are two different computers. In wipe and load migration, the target computer and the source computer are the same.</a:t>
            </a:r>
          </a:p>
          <a:p>
            <a:pPr>
              <a:defRPr/>
            </a:pPr>
            <a:endParaRPr lang="en-US" dirty="0"/>
          </a:p>
          <a:p>
            <a:pPr>
              <a:defRPr/>
            </a:pPr>
            <a:r>
              <a:rPr lang="en-US" b="1" dirty="0"/>
              <a:t>Question:</a:t>
            </a:r>
            <a:r>
              <a:rPr lang="en-US" dirty="0"/>
              <a:t> Which type of installation do you use in the following scenarios? </a:t>
            </a:r>
          </a:p>
          <a:p>
            <a:pPr>
              <a:defRPr/>
            </a:pPr>
            <a:r>
              <a:rPr lang="en-US" dirty="0"/>
              <a:t>Scenario 1: Your users have computers that are at least three years old and your organization plans to deploy Windows 7 to many new computers. </a:t>
            </a:r>
          </a:p>
          <a:p>
            <a:pPr>
              <a:defRPr/>
            </a:pPr>
            <a:r>
              <a:rPr lang="en-US" dirty="0"/>
              <a:t>Scenario 2: There are only a few users in your organization, their computers are mostly new, but they have many applications installed and a lot of data stored in their computers. </a:t>
            </a:r>
          </a:p>
          <a:p>
            <a:pPr>
              <a:defRPr/>
            </a:pPr>
            <a:r>
              <a:rPr lang="en-US" b="1" dirty="0"/>
              <a:t>Answer:</a:t>
            </a:r>
            <a:r>
              <a:rPr lang="en-US" dirty="0"/>
              <a:t> The answers may vary. Your selection of the type of installation may not be decided by just these factors. In general, it is recommended that you perform a clean installation followed by migration of user settings and data. Avoid selecting upgrade, unless it only involves a few users or computers. In Scenario 1, you may want to purchase new hardware for your organization, perform a clean installation of Windows 7, and migrate the necessary user settings and data. In Scenario 2, you may want to perform an in-place upgrade to Windows 7. </a:t>
            </a:r>
          </a:p>
          <a:p>
            <a:pPr eaLnBrk="1" hangingPunct="1">
              <a:defRPr/>
            </a:pP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3F81B5F3-5812-401A-8ACD-16C54294392A}" type="slidenum">
              <a:rPr lang="en-US" smtClean="0"/>
              <a:pPr>
                <a:defRPr/>
              </a:pPr>
              <a:t>19</a:t>
            </a:fld>
            <a:endParaRPr lang="en-US" dirty="0"/>
          </a:p>
        </p:txBody>
      </p:sp>
      <p:sp>
        <p:nvSpPr>
          <p:cNvPr id="62469" name="Rectangle 2"/>
          <p:cNvSpPr>
            <a:spLocks noGrp="1" noRot="1" noChangeAspect="1" noChangeArrowheads="1" noTextEdit="1"/>
          </p:cNvSpPr>
          <p:nvPr>
            <p:ph type="sldImg"/>
          </p:nvPr>
        </p:nvSpPr>
        <p:spPr>
          <a:ln/>
        </p:spPr>
      </p:sp>
      <p:sp>
        <p:nvSpPr>
          <p:cNvPr id="51206" name="Rectangle 3"/>
          <p:cNvSpPr>
            <a:spLocks noGrp="1" noChangeArrowheads="1"/>
          </p:cNvSpPr>
          <p:nvPr>
            <p:ph type="body" idx="1"/>
          </p:nvPr>
        </p:nvSpPr>
        <p:spPr>
          <a:xfrm>
            <a:off x="307492" y="2148591"/>
            <a:ext cx="6149837" cy="6731521"/>
          </a:xfrm>
          <a:ln/>
        </p:spPr>
        <p:txBody>
          <a:bodyPr/>
          <a:lstStyle/>
          <a:p>
            <a:pPr>
              <a:defRPr/>
            </a:pPr>
            <a:r>
              <a:rPr lang="en-US" b="1" dirty="0"/>
              <a:t>Key message: </a:t>
            </a:r>
            <a:r>
              <a:rPr lang="en-US" dirty="0"/>
              <a:t>Describe when to perform a clean installation of Windows. Use this topic to create a discussion in the class.</a:t>
            </a:r>
            <a:br>
              <a:rPr lang="en-US" dirty="0"/>
            </a:br>
            <a:endParaRPr lang="en-US" dirty="0"/>
          </a:p>
          <a:p>
            <a:pPr>
              <a:defRPr/>
            </a:pPr>
            <a:r>
              <a:rPr lang="en-US" b="1" dirty="0"/>
              <a:t>Question:</a:t>
            </a:r>
            <a:r>
              <a:rPr lang="en-US" dirty="0"/>
              <a:t> When do you typically perform a clean installation of Windows?</a:t>
            </a:r>
          </a:p>
          <a:p>
            <a:pPr>
              <a:defRPr/>
            </a:pPr>
            <a:r>
              <a:rPr lang="en-US" b="1" dirty="0"/>
              <a:t>Answer:</a:t>
            </a:r>
            <a:r>
              <a:rPr lang="en-US" dirty="0"/>
              <a:t> The answer may vary, but in general consider the following circumstances.</a:t>
            </a:r>
            <a:br>
              <a:rPr lang="en-US" dirty="0"/>
            </a:br>
            <a:endParaRPr lang="en-US" dirty="0"/>
          </a:p>
          <a:p>
            <a:pPr>
              <a:defRPr/>
            </a:pPr>
            <a:r>
              <a:rPr lang="en-US" dirty="0"/>
              <a:t>You must perform a clean installation in the following circumstances:</a:t>
            </a:r>
          </a:p>
          <a:p>
            <a:pPr marL="224325" indent="-224325">
              <a:buFont typeface="Arial" pitchFamily="34" charset="0"/>
              <a:buChar char="•"/>
              <a:defRPr/>
            </a:pPr>
            <a:r>
              <a:rPr lang="en-US" dirty="0"/>
              <a:t>No operating system is installed on the computer.</a:t>
            </a:r>
          </a:p>
          <a:p>
            <a:pPr marL="224325" indent="-224325">
              <a:buFont typeface="Arial" pitchFamily="34" charset="0"/>
              <a:buChar char="•"/>
              <a:defRPr/>
            </a:pPr>
            <a:r>
              <a:rPr lang="en-US" dirty="0"/>
              <a:t>The installed operating system does not support an upgrade to Windows 7.</a:t>
            </a:r>
          </a:p>
          <a:p>
            <a:pPr marL="224325" indent="-224325">
              <a:buFont typeface="Arial" pitchFamily="34" charset="0"/>
              <a:buChar char="•"/>
              <a:defRPr/>
            </a:pPr>
            <a:r>
              <a:rPr lang="en-US" dirty="0"/>
              <a:t>The computer has more than one partition and needs to support a multiple-boot configuration that uses Windows 7 and the current operating system.</a:t>
            </a:r>
            <a:br>
              <a:rPr lang="en-US" dirty="0"/>
            </a:br>
            <a:endParaRPr lang="en-US" dirty="0"/>
          </a:p>
          <a:p>
            <a:pPr>
              <a:defRPr/>
            </a:pPr>
            <a:r>
              <a:rPr lang="en-US" dirty="0"/>
              <a:t>A clean installation is the preferred installation method. Performing a clean installation ensures that all of your systems begin with the same configuration and all applications, files, and settings are reset.</a:t>
            </a:r>
          </a:p>
          <a:p>
            <a:pPr>
              <a:defRPr/>
            </a:pPr>
            <a:r>
              <a:rPr lang="en-US" b="1" dirty="0"/>
              <a:t>Additional information: </a:t>
            </a:r>
            <a:r>
              <a:rPr lang="en-US" dirty="0"/>
              <a:t>http://go.microsoft.com/fwlink/?LinkID=154215</a:t>
            </a:r>
          </a:p>
          <a:p>
            <a:pPr>
              <a:defRPr/>
            </a:pPr>
            <a:endParaRPr lang="en-US" dirty="0"/>
          </a:p>
          <a:p>
            <a:pPr>
              <a:defRPr/>
            </a:pPr>
            <a:endParaRPr lang="en-US" i="1" dirty="0"/>
          </a:p>
          <a:p>
            <a:pPr>
              <a:defRPr/>
            </a:pPr>
            <a:endParaRPr lang="en-US" i="1" dirty="0"/>
          </a:p>
          <a:p>
            <a:pPr marL="227441" indent="-227441">
              <a:lnSpc>
                <a:spcPct val="90000"/>
              </a:lnSpc>
              <a:spcBef>
                <a:spcPct val="40000"/>
              </a:spcBef>
              <a:buClr>
                <a:srgbClr val="8DACD0"/>
              </a:buClr>
              <a:buSzPct val="80000"/>
              <a:defRPr/>
            </a:pPr>
            <a:endParaRPr lang="en-US" altLang="ja-JP" b="1" dirty="0"/>
          </a:p>
          <a:p>
            <a:pPr marL="227441" indent="-227441">
              <a:lnSpc>
                <a:spcPct val="90000"/>
              </a:lnSpc>
              <a:spcBef>
                <a:spcPct val="40000"/>
              </a:spcBef>
              <a:buClr>
                <a:srgbClr val="8DACD0"/>
              </a:buClr>
              <a:buSzPct val="80000"/>
              <a:defRPr/>
            </a:pPr>
            <a:endParaRPr lang="en-US" altLang="ja-JP" dirty="0"/>
          </a:p>
          <a:p>
            <a:pPr>
              <a:defRPr/>
            </a:pP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BB1E2A8A-8652-4357-A93A-BFD689DAE6E6}" type="slidenum">
              <a:rPr lang="en-US" smtClean="0"/>
              <a:pPr>
                <a:defRPr/>
              </a:pPr>
              <a:t>20</a:t>
            </a:fld>
            <a:endParaRPr lang="en-US" dirty="0"/>
          </a:p>
        </p:txBody>
      </p:sp>
      <p:sp>
        <p:nvSpPr>
          <p:cNvPr id="63493" name="Rectangle 2"/>
          <p:cNvSpPr>
            <a:spLocks noGrp="1" noRot="1" noChangeAspect="1" noChangeArrowheads="1" noTextEdit="1"/>
          </p:cNvSpPr>
          <p:nvPr>
            <p:ph type="sldImg"/>
          </p:nvPr>
        </p:nvSpPr>
        <p:spPr>
          <a:ln/>
        </p:spPr>
      </p:sp>
      <p:sp>
        <p:nvSpPr>
          <p:cNvPr id="56326" name="Rectangle 3"/>
          <p:cNvSpPr>
            <a:spLocks noGrp="1" noChangeArrowheads="1"/>
          </p:cNvSpPr>
          <p:nvPr>
            <p:ph type="body" idx="1"/>
          </p:nvPr>
        </p:nvSpPr>
        <p:spPr>
          <a:xfrm>
            <a:off x="307492" y="1950283"/>
            <a:ext cx="6149837" cy="7193717"/>
          </a:xfrm>
          <a:ln/>
        </p:spPr>
        <p:txBody>
          <a:bodyPr/>
          <a:lstStyle/>
          <a:p>
            <a:pPr>
              <a:defRPr/>
            </a:pPr>
            <a:r>
              <a:rPr lang="en-US" b="1" dirty="0"/>
              <a:t>Key message: </a:t>
            </a:r>
            <a:r>
              <a:rPr lang="en-US" dirty="0"/>
              <a:t>Describe the methods of performing a clean Windows 7installation.</a:t>
            </a:r>
          </a:p>
          <a:p>
            <a:pPr>
              <a:defRPr/>
            </a:pPr>
            <a:r>
              <a:rPr lang="en-US" dirty="0"/>
              <a:t>This is a build slide. Step through the each frame of the build slide as you cover the method of performing a clean installation.</a:t>
            </a:r>
          </a:p>
          <a:p>
            <a:pPr marL="224325" indent="-224325">
              <a:buFont typeface="+mj-lt"/>
              <a:buAutoNum type="arabicPeriod"/>
              <a:defRPr/>
            </a:pPr>
            <a:r>
              <a:rPr lang="en-US" dirty="0"/>
              <a:t>The first frame shows all the three methods. The first two methods are basically running the Windows 7 installation program (setup.exe) from two different sources. The subsequent frames display each method with more details.</a:t>
            </a:r>
          </a:p>
          <a:p>
            <a:pPr marL="224325" indent="-224325">
              <a:buFont typeface="+mj-lt"/>
              <a:buAutoNum type="arabicPeriod"/>
              <a:defRPr/>
            </a:pPr>
            <a:r>
              <a:rPr lang="en-US" b="1" dirty="0"/>
              <a:t>Running Windows 7 installation from DVD:</a:t>
            </a:r>
            <a:r>
              <a:rPr lang="en-US" dirty="0"/>
              <a:t> installing from the product DVD is the simplest way to install Windows 7. If your computer does not have operating system, start the computer by using the product DVD. If your computer already has an operating system, you can also start the computer to the old operating system and run the Windows 7 installation from the product DVD on that operating system. </a:t>
            </a:r>
          </a:p>
          <a:p>
            <a:pPr marL="224325" indent="-224325">
              <a:buFont typeface="+mj-lt"/>
              <a:buAutoNum type="arabicPeriod"/>
              <a:defRPr/>
            </a:pPr>
            <a:r>
              <a:rPr lang="en-US" b="1" dirty="0"/>
              <a:t>Running Windows 7 installation from a Network Share:</a:t>
            </a:r>
            <a:r>
              <a:rPr lang="en-US" dirty="0"/>
              <a:t> instead of a DVD, the Windows 7 installation files can be stored in a network share. Generally, the network source is a shared folder on a file server. If your computer does not have operating system, start the computer by using Windows PE. You can start Windows PE from bootable media, such as a CD/DVD or a USB pen drive, or from a network PXE boot, by using Windows Deployment Services (WDS). If your computer already has an operating system, you can also start the computer to the old operating system.</a:t>
            </a:r>
            <a:br>
              <a:rPr lang="en-US" dirty="0"/>
            </a:br>
            <a:br>
              <a:rPr lang="en-US" dirty="0"/>
            </a:br>
            <a:r>
              <a:rPr lang="en-US" dirty="0"/>
              <a:t>Explain that Windows PE is a minimal 32-bit or 64-bit operating system with limited services, built on the Windows 7 kernel. Windows PE is used to install and repair Windows operating system. </a:t>
            </a:r>
            <a:br>
              <a:rPr lang="en-US" dirty="0"/>
            </a:br>
            <a:r>
              <a:rPr lang="en-US" dirty="0"/>
              <a:t>Mention that you can also use bootable removable media, such as USB drive to store the installation files, and install Windows 7 from it.</a:t>
            </a:r>
          </a:p>
          <a:p>
            <a:pPr marL="224325" indent="-224325">
              <a:buFont typeface="+mj-lt"/>
              <a:buAutoNum type="arabicPeriod"/>
              <a:defRPr/>
            </a:pPr>
            <a:r>
              <a:rPr lang="en-US" b="1" dirty="0"/>
              <a:t>Installing Windows 7 by Using an Image:</a:t>
            </a:r>
            <a:r>
              <a:rPr lang="en-US" dirty="0"/>
              <a:t> first install Windows 7 to a reference computer and prepare the reference computer for duplication. Capture the volume image to a WIM file by using the ImageX tool. Then use the deployment tools, such as ImageX, WDS or MDT to deploy the captured image. This method is the preferred method in business organizations. Creating standardized images is the key to have a standardize Windows environment in the organization.</a:t>
            </a:r>
          </a:p>
          <a:p>
            <a:pPr marL="224325" indent="-224325">
              <a:buFont typeface="+mj-lt"/>
              <a:buAutoNum type="arabicPeriod"/>
              <a:defRPr/>
            </a:pPr>
            <a:r>
              <a:rPr lang="en-US" dirty="0"/>
              <a:t>The last frame shows all the three methods again. Here summarize methods of performing a clean Windows 7 installation.</a:t>
            </a:r>
          </a:p>
          <a:p>
            <a:pPr>
              <a:defRPr/>
            </a:pPr>
            <a:r>
              <a:rPr lang="en-US" dirty="0"/>
              <a:t>Do not cover installing Windows by using an image in great details, as it will be covered in later lesson.</a:t>
            </a:r>
          </a:p>
          <a:p>
            <a:pPr>
              <a:defRPr/>
            </a:pPr>
            <a:r>
              <a:rPr lang="en-US" b="1" dirty="0"/>
              <a:t>Additional information: </a:t>
            </a:r>
            <a:r>
              <a:rPr lang="en-US" dirty="0"/>
              <a:t>Basic Windows Deployment for IT Professionals Step by Step Guide, at:</a:t>
            </a:r>
          </a:p>
          <a:p>
            <a:pPr>
              <a:defRPr/>
            </a:pPr>
            <a:r>
              <a:rPr lang="en-US" dirty="0"/>
              <a:t>http://go.microsoft.com/fwlink/?LinkID=154221</a:t>
            </a:r>
          </a:p>
          <a:p>
            <a:pPr>
              <a:defRPr/>
            </a:pPr>
            <a:endParaRPr lang="en-US" b="1" dirty="0"/>
          </a:p>
          <a:p>
            <a:pPr>
              <a:defRPr/>
            </a:pPr>
            <a:r>
              <a:rPr lang="en-US" b="1" dirty="0"/>
              <a:t>Question</a:t>
            </a:r>
            <a:r>
              <a:rPr lang="en-US" dirty="0"/>
              <a:t>: In what situation will you use each method of performing a clean installation of Windows operating system?</a:t>
            </a:r>
          </a:p>
          <a:p>
            <a:pPr>
              <a:defRPr/>
            </a:pPr>
            <a:r>
              <a:rPr lang="en-US" b="1" dirty="0"/>
              <a:t>Answer</a:t>
            </a:r>
            <a:r>
              <a:rPr lang="en-US" dirty="0"/>
              <a:t>: Running Windows installation from the product DVD is the most straightforward. Generally, this method is used in a home or small business environment or to install a reference computer. You can place the installation files in a network share so that you can run the Windows installation from the network to computers that do not have a DVD drive. Having the Windows installation in a network share also saves you the trouble of keeping the installation media. If you are installing Windows in a large organization and want to standardize the environment, install Windows by using an image.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solidFill>
                <a:schemeClr val="tx1"/>
              </a:solidFill>
            </a:endParaRP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0357B367-FA26-4219-B8FA-635A3DE1FA56}" type="slidenum">
              <a:rPr lang="en-US" smtClean="0"/>
              <a:pPr>
                <a:defRPr/>
              </a:pPr>
              <a:t>21</a:t>
            </a:fld>
            <a:endParaRPr lang="en-US" dirty="0"/>
          </a:p>
        </p:txBody>
      </p:sp>
      <p:sp>
        <p:nvSpPr>
          <p:cNvPr id="64517" name="Rectangle 2"/>
          <p:cNvSpPr>
            <a:spLocks noGrp="1" noRot="1" noChangeAspect="1" noChangeArrowheads="1" noTextEdit="1"/>
          </p:cNvSpPr>
          <p:nvPr>
            <p:ph type="sldImg"/>
          </p:nvPr>
        </p:nvSpPr>
        <p:spPr>
          <a:ln/>
        </p:spPr>
      </p:sp>
      <p:sp>
        <p:nvSpPr>
          <p:cNvPr id="58374" name="Rectangle 3"/>
          <p:cNvSpPr>
            <a:spLocks noGrp="1" noChangeArrowheads="1"/>
          </p:cNvSpPr>
          <p:nvPr>
            <p:ph type="body" idx="1"/>
          </p:nvPr>
        </p:nvSpPr>
        <p:spPr>
          <a:xfrm>
            <a:off x="307492" y="2148591"/>
            <a:ext cx="6149837" cy="6731521"/>
          </a:xfrm>
          <a:ln/>
        </p:spPr>
        <p:txBody>
          <a:bodyPr/>
          <a:lstStyle/>
          <a:p>
            <a:pPr>
              <a:defRPr/>
            </a:pPr>
            <a:r>
              <a:rPr lang="en-US" b="1" dirty="0"/>
              <a:t>Key message: </a:t>
            </a:r>
            <a:r>
              <a:rPr lang="en-US" dirty="0"/>
              <a:t>The installation of Windows 7 is robust and trouble free if your hardware meets the minimum requirements. However, a variety of problems can occur during an installation, and a methodical approach helps solve them.</a:t>
            </a:r>
            <a:br>
              <a:rPr lang="en-US" dirty="0"/>
            </a:br>
            <a:endParaRPr lang="en-US" dirty="0"/>
          </a:p>
          <a:p>
            <a:pPr>
              <a:defRPr/>
            </a:pPr>
            <a:r>
              <a:rPr lang="en-US" dirty="0"/>
              <a:t>You can use the following four-step approach in any troubleshooting environment: </a:t>
            </a:r>
          </a:p>
          <a:p>
            <a:pPr marL="224325" indent="-224325">
              <a:buFont typeface="+mj-lt"/>
              <a:buAutoNum type="arabicPeriod"/>
              <a:defRPr/>
            </a:pPr>
            <a:r>
              <a:rPr lang="en-US" dirty="0"/>
              <a:t>Determine what has changed</a:t>
            </a:r>
          </a:p>
          <a:p>
            <a:pPr marL="224325" indent="-224325">
              <a:buFont typeface="+mj-lt"/>
              <a:buAutoNum type="arabicPeriod"/>
              <a:defRPr/>
            </a:pPr>
            <a:r>
              <a:rPr lang="en-US" dirty="0"/>
              <a:t>Eliminate the possible causes to determine the probable cause</a:t>
            </a:r>
          </a:p>
          <a:p>
            <a:pPr marL="224325" indent="-224325">
              <a:buFont typeface="+mj-lt"/>
              <a:buAutoNum type="arabicPeriod"/>
              <a:defRPr/>
            </a:pPr>
            <a:r>
              <a:rPr lang="en-US" dirty="0"/>
              <a:t>Identify a solution</a:t>
            </a:r>
          </a:p>
          <a:p>
            <a:pPr marL="224325" indent="-224325">
              <a:buFont typeface="+mj-lt"/>
              <a:buAutoNum type="arabicPeriod"/>
              <a:defRPr/>
            </a:pPr>
            <a:r>
              <a:rPr lang="en-US" dirty="0"/>
              <a:t>Test the solution</a:t>
            </a:r>
          </a:p>
          <a:p>
            <a:pPr>
              <a:defRPr/>
            </a:pPr>
            <a:r>
              <a:rPr lang="en-US" dirty="0"/>
              <a:t>If the problem persists, go back to step three and repeat the process</a:t>
            </a:r>
          </a:p>
          <a:p>
            <a:pPr>
              <a:defRPr/>
            </a:pPr>
            <a:r>
              <a:rPr lang="en-US" b="1" dirty="0"/>
              <a:t>Question:</a:t>
            </a:r>
            <a:r>
              <a:rPr lang="en-US" dirty="0"/>
              <a:t> What potential issues might you encounter when installing Windows?</a:t>
            </a:r>
          </a:p>
          <a:p>
            <a:pPr>
              <a:defRPr/>
            </a:pPr>
            <a:r>
              <a:rPr lang="en-US" b="1" dirty="0"/>
              <a:t>Answer:</a:t>
            </a:r>
            <a:r>
              <a:rPr lang="en-US" dirty="0"/>
              <a:t> The answer may vary. The following table describes several installation problems and solutions that can be used to identify and solve specific problems.</a:t>
            </a:r>
          </a:p>
          <a:p>
            <a:pPr eaLnBrk="1" hangingPunct="1">
              <a:defRPr/>
            </a:pPr>
            <a:endParaRPr lang="en-US" dirty="0"/>
          </a:p>
        </p:txBody>
      </p:sp>
      <p:graphicFrame>
        <p:nvGraphicFramePr>
          <p:cNvPr id="7" name="Table 6"/>
          <p:cNvGraphicFramePr>
            <a:graphicFrameLocks noGrp="1"/>
          </p:cNvGraphicFramePr>
          <p:nvPr/>
        </p:nvGraphicFramePr>
        <p:xfrm>
          <a:off x="416201" y="4920210"/>
          <a:ext cx="6058210" cy="2635693"/>
        </p:xfrm>
        <a:graphic>
          <a:graphicData uri="http://schemas.openxmlformats.org/drawingml/2006/table">
            <a:tbl>
              <a:tblPr/>
              <a:tblGrid>
                <a:gridCol w="2479940">
                  <a:extLst>
                    <a:ext uri="{9D8B030D-6E8A-4147-A177-3AD203B41FA5}">
                      <a16:colId xmlns:a16="http://schemas.microsoft.com/office/drawing/2014/main" val="20000"/>
                    </a:ext>
                  </a:extLst>
                </a:gridCol>
                <a:gridCol w="3578270">
                  <a:extLst>
                    <a:ext uri="{9D8B030D-6E8A-4147-A177-3AD203B41FA5}">
                      <a16:colId xmlns:a16="http://schemas.microsoft.com/office/drawing/2014/main" val="20001"/>
                    </a:ext>
                  </a:extLst>
                </a:gridCol>
              </a:tblGrid>
              <a:tr h="189642">
                <a:tc>
                  <a:txBody>
                    <a:bodyPr/>
                    <a:lstStyle/>
                    <a:p>
                      <a:pPr marL="0" marR="0">
                        <a:lnSpc>
                          <a:spcPts val="1100"/>
                        </a:lnSpc>
                        <a:spcBef>
                          <a:spcPts val="0"/>
                        </a:spcBef>
                        <a:spcAft>
                          <a:spcPts val="0"/>
                        </a:spcAft>
                      </a:pPr>
                      <a:r>
                        <a:rPr lang="en-US" sz="1000" dirty="0">
                          <a:latin typeface="Segoe Semibold"/>
                          <a:ea typeface="Times New Roman"/>
                          <a:cs typeface="Times New Roman"/>
                        </a:rPr>
                        <a:t>Problem</a:t>
                      </a:r>
                    </a:p>
                  </a:txBody>
                  <a:tcPr marL="34638" marR="34638" marT="34822" marB="17411" anchor="b">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tc>
                  <a:txBody>
                    <a:bodyPr/>
                    <a:lstStyle/>
                    <a:p>
                      <a:pPr marL="0" marR="0">
                        <a:lnSpc>
                          <a:spcPts val="1100"/>
                        </a:lnSpc>
                        <a:spcBef>
                          <a:spcPts val="0"/>
                        </a:spcBef>
                        <a:spcAft>
                          <a:spcPts val="0"/>
                        </a:spcAft>
                      </a:pPr>
                      <a:r>
                        <a:rPr lang="en-US" sz="1000" dirty="0">
                          <a:latin typeface="Segoe Semibold"/>
                          <a:ea typeface="Times New Roman"/>
                          <a:cs typeface="Times New Roman"/>
                        </a:rPr>
                        <a:t>Solution</a:t>
                      </a:r>
                    </a:p>
                  </a:txBody>
                  <a:tcPr marL="34638" marR="34638" marT="34822" marB="17411" anchor="b">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89642">
                <a:tc>
                  <a:txBody>
                    <a:bodyPr/>
                    <a:lstStyle/>
                    <a:p>
                      <a:pPr marL="36830" marR="0">
                        <a:lnSpc>
                          <a:spcPts val="1100"/>
                        </a:lnSpc>
                        <a:spcBef>
                          <a:spcPts val="200"/>
                        </a:spcBef>
                        <a:spcAft>
                          <a:spcPts val="300"/>
                        </a:spcAft>
                      </a:pPr>
                      <a:r>
                        <a:rPr lang="en-US" sz="1000" b="0" dirty="0">
                          <a:latin typeface="Segoe"/>
                          <a:ea typeface="MS Mincho"/>
                          <a:cs typeface="Times New Roman"/>
                        </a:rPr>
                        <a:t>Installation media is damaged.</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Test the CD or DVD on another system.</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1"/>
                  </a:ext>
                </a:extLst>
              </a:tr>
              <a:tr h="562957">
                <a:tc>
                  <a:txBody>
                    <a:bodyPr/>
                    <a:lstStyle/>
                    <a:p>
                      <a:pPr marL="36830" marR="0">
                        <a:lnSpc>
                          <a:spcPts val="1100"/>
                        </a:lnSpc>
                        <a:spcBef>
                          <a:spcPts val="200"/>
                        </a:spcBef>
                        <a:spcAft>
                          <a:spcPts val="300"/>
                        </a:spcAft>
                      </a:pPr>
                      <a:r>
                        <a:rPr lang="en-US" sz="1000" b="0" dirty="0">
                          <a:latin typeface="Segoe"/>
                          <a:ea typeface="MS Mincho"/>
                          <a:cs typeface="Times New Roman"/>
                        </a:rPr>
                        <a:t>BIOS upgrade is needed.</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Check your computer supplier’s Internet site to see whether a basic input/output system (BIOS) upgrade is available for Windows 7.</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2"/>
                  </a:ext>
                </a:extLst>
              </a:tr>
              <a:tr h="562957">
                <a:tc>
                  <a:txBody>
                    <a:bodyPr/>
                    <a:lstStyle/>
                    <a:p>
                      <a:pPr marL="36830" marR="0">
                        <a:lnSpc>
                          <a:spcPts val="1100"/>
                        </a:lnSpc>
                        <a:spcBef>
                          <a:spcPts val="200"/>
                        </a:spcBef>
                        <a:spcAft>
                          <a:spcPts val="300"/>
                        </a:spcAft>
                      </a:pPr>
                      <a:r>
                        <a:rPr lang="en-US" sz="1000" b="0" dirty="0">
                          <a:latin typeface="Segoe"/>
                          <a:ea typeface="MS Mincho"/>
                          <a:cs typeface="Times New Roman"/>
                        </a:rPr>
                        <a:t>Hardware is installed improperly.</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Check any messages that appear during the boot phase. Install add-on hardware properly, such as video cards and memory modules.</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3"/>
                  </a:ext>
                </a:extLst>
              </a:tr>
              <a:tr h="690637">
                <a:tc>
                  <a:txBody>
                    <a:bodyPr/>
                    <a:lstStyle/>
                    <a:p>
                      <a:pPr marL="36830" marR="0">
                        <a:lnSpc>
                          <a:spcPts val="1100"/>
                        </a:lnSpc>
                        <a:spcBef>
                          <a:spcPts val="200"/>
                        </a:spcBef>
                        <a:spcAft>
                          <a:spcPts val="300"/>
                        </a:spcAft>
                      </a:pPr>
                      <a:r>
                        <a:rPr lang="en-US" sz="1000" b="0" dirty="0">
                          <a:latin typeface="Segoe"/>
                          <a:ea typeface="MS Mincho"/>
                          <a:cs typeface="Times New Roman"/>
                        </a:rPr>
                        <a:t>Hardware fails to meet minimum requirements.</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Use Windows Catalog to locate products designed for Microsoft Windows and ensure that your hardware meets the minimum requirements for the edition of Windows 7 that you want to install.</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4"/>
                  </a:ext>
                </a:extLst>
              </a:tr>
              <a:tr h="435276">
                <a:tc>
                  <a:txBody>
                    <a:bodyPr/>
                    <a:lstStyle/>
                    <a:p>
                      <a:pPr marL="36830" marR="0">
                        <a:lnSpc>
                          <a:spcPts val="1100"/>
                        </a:lnSpc>
                        <a:spcBef>
                          <a:spcPts val="200"/>
                        </a:spcBef>
                        <a:spcAft>
                          <a:spcPts val="300"/>
                        </a:spcAft>
                      </a:pPr>
                      <a:r>
                        <a:rPr lang="en-US" sz="1000" b="0" dirty="0">
                          <a:latin typeface="Segoe"/>
                          <a:ea typeface="MS Mincho"/>
                          <a:cs typeface="Times New Roman"/>
                        </a:rPr>
                        <a:t>Error messages appear during setup.</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36830" marR="0">
                        <a:lnSpc>
                          <a:spcPts val="1100"/>
                        </a:lnSpc>
                        <a:spcBef>
                          <a:spcPts val="200"/>
                        </a:spcBef>
                        <a:spcAft>
                          <a:spcPts val="300"/>
                        </a:spcAft>
                      </a:pPr>
                      <a:r>
                        <a:rPr lang="en-US" sz="1000" b="0" dirty="0">
                          <a:latin typeface="Segoe"/>
                          <a:ea typeface="MS Mincho"/>
                          <a:cs typeface="Times New Roman"/>
                        </a:rPr>
                        <a:t>Carefully note any messages, and search the Microsoft Knowledge Base for an explanation.</a:t>
                      </a:r>
                    </a:p>
                  </a:txBody>
                  <a:tcPr marL="34638" marR="34638" marT="34822" marB="17411">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3555" name="Rectangle 3"/>
          <p:cNvSpPr>
            <a:spLocks noGrp="1" noChangeArrowheads="1"/>
          </p:cNvSpPr>
          <p:nvPr>
            <p:ph type="dt" sz="quarter" idx="1"/>
          </p:nvPr>
        </p:nvSpPr>
        <p:spPr/>
        <p:txBody>
          <a:bodyPr/>
          <a:lstStyle/>
          <a:p>
            <a:pPr>
              <a:defRPr/>
            </a:pPr>
            <a:r>
              <a:rPr lang="en-US"/>
              <a:t>Course 6292A</a:t>
            </a:r>
          </a:p>
        </p:txBody>
      </p:sp>
      <p:sp>
        <p:nvSpPr>
          <p:cNvPr id="23556" name="Rectangle 7"/>
          <p:cNvSpPr>
            <a:spLocks noGrp="1" noChangeArrowheads="1"/>
          </p:cNvSpPr>
          <p:nvPr>
            <p:ph type="sldNum" sz="quarter" idx="5"/>
          </p:nvPr>
        </p:nvSpPr>
        <p:spPr/>
        <p:txBody>
          <a:bodyPr/>
          <a:lstStyle/>
          <a:p>
            <a:pPr>
              <a:defRPr/>
            </a:pPr>
            <a:fld id="{165FCCD7-B682-4B9C-AE5E-124D9E6E60A3}" type="slidenum">
              <a:rPr lang="en-US" smtClean="0"/>
              <a:pPr>
                <a:defRPr/>
              </a:pPr>
              <a:t>22</a:t>
            </a:fld>
            <a:endParaRPr lang="en-US" dirty="0"/>
          </a:p>
        </p:txBody>
      </p:sp>
      <p:sp>
        <p:nvSpPr>
          <p:cNvPr id="66565" name="Rectangle 2"/>
          <p:cNvSpPr>
            <a:spLocks noGrp="1" noRot="1" noChangeAspect="1" noChangeArrowheads="1" noTextEdit="1"/>
          </p:cNvSpPr>
          <p:nvPr>
            <p:ph type="sldImg"/>
          </p:nvPr>
        </p:nvSpPr>
        <p:spPr>
          <a:ln/>
        </p:spPr>
      </p:sp>
      <p:sp>
        <p:nvSpPr>
          <p:cNvPr id="66566" name="Rectangle 3"/>
          <p:cNvSpPr>
            <a:spLocks noGrp="1" noChangeArrowheads="1"/>
          </p:cNvSpPr>
          <p:nvPr>
            <p:ph type="body" idx="1"/>
          </p:nvPr>
        </p:nvSpPr>
        <p:spPr>
          <a:xfrm>
            <a:off x="307492" y="2218858"/>
            <a:ext cx="6149837" cy="6661254"/>
          </a:xfrm>
          <a:ln/>
        </p:spPr>
        <p:txBody>
          <a:bodyPr/>
          <a:lstStyle/>
          <a:p>
            <a:pPr eaLnBrk="1" hangingPunct="1">
              <a:defRPr/>
            </a:pPr>
            <a:r>
              <a:rPr lang="en-US" dirty="0"/>
              <a:t>This lesson’s key focus is to ensure that students can determine the appropriate installation or deployment method for their organizations and perform upgrade and migration to Windows 7.</a:t>
            </a:r>
            <a:br>
              <a:rPr lang="en-US" dirty="0"/>
            </a:br>
            <a:endParaRPr lang="en-US" dirty="0"/>
          </a:p>
          <a:p>
            <a:pPr>
              <a:defRPr/>
            </a:pPr>
            <a:r>
              <a:rPr lang="en-US" dirty="0"/>
              <a:t>After completing this lesson, you will be able to:</a:t>
            </a:r>
          </a:p>
          <a:p>
            <a:pPr marL="224325" indent="-224325">
              <a:buFont typeface="Arial" pitchFamily="34" charset="0"/>
              <a:buChar char="•"/>
              <a:defRPr/>
            </a:pPr>
            <a:r>
              <a:rPr lang="en-US" dirty="0"/>
              <a:t>Explain the considerations for upgrading and migrating to Windows 7. </a:t>
            </a:r>
          </a:p>
          <a:p>
            <a:pPr marL="224325" indent="-224325">
              <a:buFont typeface="Arial" pitchFamily="34" charset="0"/>
              <a:buChar char="•"/>
              <a:defRPr/>
            </a:pPr>
            <a:r>
              <a:rPr lang="en-US" dirty="0"/>
              <a:t>Identify the valid upgrade paths for Windows 7. </a:t>
            </a:r>
          </a:p>
          <a:p>
            <a:pPr marL="224325" indent="-224325">
              <a:buFont typeface="Arial" pitchFamily="34" charset="0"/>
              <a:buChar char="•"/>
              <a:defRPr/>
            </a:pPr>
            <a:r>
              <a:rPr lang="en-US" dirty="0"/>
              <a:t>Describe how to use Windows Upgrade Advisor to determine the feasibility of an upgrade.</a:t>
            </a:r>
          </a:p>
          <a:p>
            <a:pPr marL="224325" indent="-224325">
              <a:buFont typeface="Arial" pitchFamily="34" charset="0"/>
              <a:buChar char="•"/>
              <a:defRPr/>
            </a:pPr>
            <a:r>
              <a:rPr lang="en-US" dirty="0"/>
              <a:t>Describe the tools used to migrate user settings and data.</a:t>
            </a:r>
          </a:p>
          <a:p>
            <a:pPr marL="224325" indent="-224325">
              <a:buFont typeface="Arial" pitchFamily="34" charset="0"/>
              <a:buChar char="•"/>
              <a:defRPr/>
            </a:pPr>
            <a:r>
              <a:rPr lang="en-US" dirty="0"/>
              <a:t>Explain the process for upgrading to Windows 7.</a:t>
            </a:r>
          </a:p>
          <a:p>
            <a:pPr marL="224325" indent="-224325">
              <a:buFont typeface="Arial" pitchFamily="34" charset="0"/>
              <a:buChar char="•"/>
              <a:defRPr/>
            </a:pPr>
            <a:r>
              <a:rPr lang="en-US" dirty="0"/>
              <a:t>Explain the process for migrating to Windows 7.</a:t>
            </a:r>
          </a:p>
          <a:p>
            <a:pPr marL="224325" indent="-224325">
              <a:buFont typeface="Arial" pitchFamily="34" charset="0"/>
              <a:buChar char="•"/>
              <a:defRPr/>
            </a:pPr>
            <a:r>
              <a:rPr lang="en-US" dirty="0"/>
              <a:t>Explain how to use the WET tool to migrate user settings and data.</a:t>
            </a:r>
          </a:p>
          <a:p>
            <a:pPr eaLnBrk="1" hangingPunct="1">
              <a:defRPr/>
            </a:pP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F40D3F73-2B70-4C70-BDAE-E4E97259698B}" type="slidenum">
              <a:rPr lang="en-US" smtClean="0"/>
              <a:pPr>
                <a:defRPr/>
              </a:pPr>
              <a:t>23</a:t>
            </a:fld>
            <a:endParaRPr lang="en-US" dirty="0"/>
          </a:p>
        </p:txBody>
      </p:sp>
      <p:sp>
        <p:nvSpPr>
          <p:cNvPr id="67589" name="Rectangle 2"/>
          <p:cNvSpPr>
            <a:spLocks noGrp="1" noRot="1" noChangeAspect="1" noChangeArrowheads="1" noTextEdit="1"/>
          </p:cNvSpPr>
          <p:nvPr>
            <p:ph type="sldImg"/>
          </p:nvPr>
        </p:nvSpPr>
        <p:spPr>
          <a:ln/>
        </p:spPr>
      </p:sp>
      <p:sp>
        <p:nvSpPr>
          <p:cNvPr id="57350" name="Rectangle 3"/>
          <p:cNvSpPr>
            <a:spLocks noGrp="1" noChangeArrowheads="1"/>
          </p:cNvSpPr>
          <p:nvPr>
            <p:ph type="body" idx="1"/>
          </p:nvPr>
        </p:nvSpPr>
        <p:spPr>
          <a:xfrm>
            <a:off x="307492" y="2148591"/>
            <a:ext cx="6149837" cy="6731521"/>
          </a:xfrm>
          <a:ln/>
        </p:spPr>
        <p:txBody>
          <a:bodyPr/>
          <a:lstStyle/>
          <a:p>
            <a:pPr eaLnBrk="1" hangingPunct="1">
              <a:defRPr/>
            </a:pPr>
            <a:r>
              <a:rPr lang="en-US" b="1" dirty="0"/>
              <a:t>Key message: </a:t>
            </a:r>
            <a:r>
              <a:rPr lang="en-US" dirty="0"/>
              <a:t>Not all operating systems can be upgraded or migrated to Windows 7. While several operating systems support in-place upgrades, others only support migration of user settings and data after you perform clean installations of Windows 7. Therefore, you need to know when to perform upgrade or migration.</a:t>
            </a:r>
            <a:br>
              <a:rPr lang="en-US" dirty="0"/>
            </a:br>
            <a:endParaRPr lang="en-US" dirty="0"/>
          </a:p>
          <a:p>
            <a:pPr>
              <a:defRPr/>
            </a:pPr>
            <a:r>
              <a:rPr lang="en-US" dirty="0"/>
              <a:t>Explain that although both upgrade and migration achieve retaining user settings and data, you must perform an in-place upgrade when you do not want to reinstall all your applications. In addition, you can consider performing an upgrade when you:</a:t>
            </a:r>
          </a:p>
          <a:p>
            <a:pPr marL="224325" indent="-224325">
              <a:buFont typeface="Arial" pitchFamily="34" charset="0"/>
              <a:buChar char="•"/>
              <a:defRPr/>
            </a:pPr>
            <a:r>
              <a:rPr lang="en-US" dirty="0"/>
              <a:t>Do not have storage space to store your user state.</a:t>
            </a:r>
          </a:p>
          <a:p>
            <a:pPr marL="224325" indent="-224325">
              <a:buFont typeface="Arial" pitchFamily="34" charset="0"/>
              <a:buChar char="•"/>
              <a:defRPr/>
            </a:pPr>
            <a:r>
              <a:rPr lang="en-US" dirty="0"/>
              <a:t>Are not replacing existing computer hardware.</a:t>
            </a:r>
          </a:p>
          <a:p>
            <a:pPr marL="224325" indent="-224325">
              <a:buFont typeface="Arial" pitchFamily="34" charset="0"/>
              <a:buChar char="•"/>
              <a:defRPr/>
            </a:pPr>
            <a:r>
              <a:rPr lang="en-US" dirty="0"/>
              <a:t>Plan to deploy Windows only on a few computers. </a:t>
            </a:r>
          </a:p>
          <a:p>
            <a:pPr>
              <a:defRPr/>
            </a:pPr>
            <a:r>
              <a:rPr lang="en-US" dirty="0"/>
              <a:t>Perform a migration when you:</a:t>
            </a:r>
          </a:p>
          <a:p>
            <a:pPr marL="224325" indent="-224325">
              <a:buFont typeface="Arial" pitchFamily="34" charset="0"/>
              <a:buChar char="•"/>
              <a:defRPr/>
            </a:pPr>
            <a:r>
              <a:rPr lang="en-US" dirty="0"/>
              <a:t>Want a standardized environment for all users running Windows. A migration takes advantage of a clean installation. A clean installation ensures that all of your systems begin with the same configuration, and that all applications, files, and settings are reset. Migration ensures that you can retain user settings and data.</a:t>
            </a:r>
          </a:p>
          <a:p>
            <a:pPr marL="224325" indent="-224325">
              <a:buFont typeface="Arial" pitchFamily="34" charset="0"/>
              <a:buChar char="•"/>
              <a:defRPr/>
            </a:pPr>
            <a:r>
              <a:rPr lang="en-US" dirty="0"/>
              <a:t>Have storage space to store the user state. Typically, you will need storage space to store the user state when performing migration. User State Migration Tool 4.0 introduces hard-link migration, in which you do not need extra storage space. This is only applicable to wipe and load migration.</a:t>
            </a:r>
          </a:p>
          <a:p>
            <a:pPr marL="224325" indent="-224325">
              <a:buFont typeface="Arial" pitchFamily="34" charset="0"/>
              <a:buChar char="•"/>
              <a:defRPr/>
            </a:pPr>
            <a:r>
              <a:rPr lang="en-US" dirty="0"/>
              <a:t>Plan to replace existing computer hardware. If you do not plan to replace the existing computers, you can still perform a migration by doing a wipe and load migration.</a:t>
            </a:r>
          </a:p>
          <a:p>
            <a:pPr marL="224325" indent="-224325">
              <a:buFont typeface="Arial" pitchFamily="34" charset="0"/>
              <a:buChar char="•"/>
              <a:defRPr/>
            </a:pPr>
            <a:r>
              <a:rPr lang="en-US" dirty="0"/>
              <a:t>Plan to deploy Windows to many computers. </a:t>
            </a:r>
          </a:p>
          <a:p>
            <a:pPr>
              <a:defRPr/>
            </a:pPr>
            <a:r>
              <a:rPr lang="en-US" dirty="0"/>
              <a:t>Explain that an upgrade scenario is suitable in small organizations or in the home environment, while in large enterprises when significant numbers of computers are involved, clean installation followed by migration is the recommended solution. </a:t>
            </a:r>
          </a:p>
          <a:p>
            <a:pPr>
              <a:defRPr/>
            </a:pPr>
            <a:r>
              <a:rPr lang="en-US" dirty="0"/>
              <a:t>Conclude by explaining that the most common method of deploying Windows 7 in large enterprises is by performing a clean installation by using images, followed by migrating user settings and data. </a:t>
            </a:r>
          </a:p>
          <a:p>
            <a:pPr eaLnBrk="1" hangingPunct="1">
              <a:defRPr/>
            </a:pPr>
            <a:r>
              <a:rPr lang="en-US" dirty="0"/>
              <a:t>Continue to overflow slide.</a:t>
            </a:r>
          </a:p>
          <a:p>
            <a:pPr eaLnBrk="1" hangingPunct="1">
              <a:defRPr/>
            </a:pP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a:p>
            <a:pPr>
              <a:defRPr/>
            </a:pPr>
            <a:endParaRPr lang="en-US"/>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E5E9616F-2B75-4034-9D5C-3D37F691F7B5}" type="slidenum">
              <a:rPr lang="en-US" smtClean="0"/>
              <a:pPr>
                <a:defRPr/>
              </a:pPr>
              <a:t>24</a:t>
            </a:fld>
            <a:endParaRPr lang="en-US" dirty="0"/>
          </a:p>
        </p:txBody>
      </p:sp>
      <p:sp>
        <p:nvSpPr>
          <p:cNvPr id="69637" name="Rectangle 2"/>
          <p:cNvSpPr>
            <a:spLocks noGrp="1" noRot="1" noChangeAspect="1" noChangeArrowheads="1" noTextEdit="1"/>
          </p:cNvSpPr>
          <p:nvPr>
            <p:ph type="sldImg"/>
          </p:nvPr>
        </p:nvSpPr>
        <p:spPr>
          <a:ln/>
        </p:spPr>
      </p:sp>
      <p:sp>
        <p:nvSpPr>
          <p:cNvPr id="58374" name="Rectangle 3"/>
          <p:cNvSpPr>
            <a:spLocks noGrp="1" noChangeArrowheads="1"/>
          </p:cNvSpPr>
          <p:nvPr>
            <p:ph type="body" idx="1"/>
          </p:nvPr>
        </p:nvSpPr>
        <p:spPr>
          <a:xfrm>
            <a:off x="307492" y="2148591"/>
            <a:ext cx="6149837" cy="6731521"/>
          </a:xfrm>
          <a:ln/>
        </p:spPr>
        <p:txBody>
          <a:bodyPr/>
          <a:lstStyle/>
          <a:p>
            <a:pPr eaLnBrk="1" hangingPunct="1">
              <a:defRPr/>
            </a:pPr>
            <a:r>
              <a:rPr lang="en-US" b="1" dirty="0"/>
              <a:t>Key message: </a:t>
            </a:r>
            <a:r>
              <a:rPr lang="en-US" dirty="0"/>
              <a:t>Some earlier versions of Windows operating systems support an in-place upgrade and/or migration to Windows 7, and others do not. </a:t>
            </a:r>
            <a:br>
              <a:rPr lang="en-US" dirty="0"/>
            </a:br>
            <a:endParaRPr lang="en-US" dirty="0"/>
          </a:p>
          <a:p>
            <a:pPr eaLnBrk="1" hangingPunct="1">
              <a:defRPr/>
            </a:pPr>
            <a:r>
              <a:rPr lang="en-US" dirty="0"/>
              <a:t>This is a build slide. Step through each frame as you explain the upgrade/migration path of Windows 7.</a:t>
            </a:r>
          </a:p>
          <a:p>
            <a:pPr marL="224325" indent="-224325">
              <a:buFont typeface="+mj-lt"/>
              <a:buAutoNum type="arabicPeriod"/>
              <a:defRPr/>
            </a:pPr>
            <a:r>
              <a:rPr lang="en-US" dirty="0"/>
              <a:t>The first frame shows that if you have earlier versions of Windows than Windows XP, you only have the option to perform a clean installation. You cannot perform in-place upgrade or migration to Windows 7.</a:t>
            </a:r>
          </a:p>
          <a:p>
            <a:pPr marL="224325" indent="-224325">
              <a:buFont typeface="+mj-lt"/>
              <a:buAutoNum type="arabicPeriod"/>
              <a:defRPr/>
            </a:pPr>
            <a:r>
              <a:rPr lang="en-US" dirty="0"/>
              <a:t>The next frame shows that if you have Windows XP or Windows Vista without any Service Pack (SP), you can perform a clean installation of Windows 7 and followed by migrating user settings and data. You can use WET or USMT to perform the migration. Do not cover this in detail since both will be covered in later topics.</a:t>
            </a:r>
          </a:p>
          <a:p>
            <a:pPr marL="224325" indent="-224325">
              <a:buFont typeface="+mj-lt"/>
              <a:buAutoNum type="arabicPeriod"/>
              <a:defRPr/>
            </a:pPr>
            <a:r>
              <a:rPr lang="en-US" dirty="0"/>
              <a:t>The next frame shows that if you have Windows Vista with SP1 or SP2, you can perform in-place upgrade and/or clean install followed by migration.</a:t>
            </a:r>
          </a:p>
          <a:p>
            <a:pPr marL="224325" indent="-224325">
              <a:buFont typeface="+mj-lt"/>
              <a:buAutoNum type="arabicPeriod"/>
              <a:defRPr/>
            </a:pPr>
            <a:r>
              <a:rPr lang="en-US" dirty="0"/>
              <a:t>The next frame shows that if you have Windows 7 and you want to upgrade to a higher edition of Windows 7, you can purchase Windows Anytime Upgrade.</a:t>
            </a:r>
            <a:br>
              <a:rPr lang="en-US" dirty="0"/>
            </a:br>
            <a:endParaRPr lang="en-US" dirty="0"/>
          </a:p>
          <a:p>
            <a:pPr marL="224325" indent="-224325">
              <a:defRPr/>
            </a:pPr>
            <a:r>
              <a:rPr lang="en-US" dirty="0"/>
              <a:t>After showing all the frames, summarize upgrade/migration path to Windows 7.</a:t>
            </a:r>
            <a:br>
              <a:rPr lang="en-US" dirty="0"/>
            </a:br>
            <a:endParaRPr lang="en-US" dirty="0"/>
          </a:p>
          <a:p>
            <a:pPr eaLnBrk="1" hangingPunct="1">
              <a:defRPr/>
            </a:pPr>
            <a:r>
              <a:rPr lang="en-US" b="1" dirty="0"/>
              <a:t>Additional information: </a:t>
            </a:r>
            <a:r>
              <a:rPr lang="en-US" dirty="0"/>
              <a:t>Explain that in-place upgrade does not support cross architecture and cross language. </a:t>
            </a:r>
          </a:p>
          <a:p>
            <a:pPr eaLnBrk="1" hangingPunct="1">
              <a:defRPr/>
            </a:pP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1: Installing, Upgrading, and Migrating to Windows 7</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883119B5-25D9-48D4-8056-276EA29E4ACE}" type="slidenum">
              <a:rPr lang="en-US" smtClean="0"/>
              <a:pPr>
                <a:defRPr/>
              </a:pPr>
              <a:t>27</a:t>
            </a:fld>
            <a:endParaRPr lang="en-US" dirty="0"/>
          </a:p>
        </p:txBody>
      </p:sp>
      <p:sp>
        <p:nvSpPr>
          <p:cNvPr id="86021" name="Rectangle 2"/>
          <p:cNvSpPr>
            <a:spLocks noGrp="1" noRot="1" noChangeAspect="1" noChangeArrowheads="1" noTextEdit="1"/>
          </p:cNvSpPr>
          <p:nvPr>
            <p:ph type="sldImg"/>
          </p:nvPr>
        </p:nvSpPr>
        <p:spPr>
          <a:ln/>
        </p:spPr>
      </p:sp>
      <p:sp>
        <p:nvSpPr>
          <p:cNvPr id="73734" name="Rectangle 3"/>
          <p:cNvSpPr>
            <a:spLocks noGrp="1" noChangeArrowheads="1"/>
          </p:cNvSpPr>
          <p:nvPr>
            <p:ph type="body" idx="1"/>
          </p:nvPr>
        </p:nvSpPr>
        <p:spPr>
          <a:xfrm>
            <a:off x="307492" y="2148590"/>
            <a:ext cx="6149837" cy="6995410"/>
          </a:xfrm>
          <a:ln/>
        </p:spPr>
        <p:txBody>
          <a:bodyPr/>
          <a:lstStyle/>
          <a:p>
            <a:pPr eaLnBrk="1" hangingPunct="1">
              <a:defRPr/>
            </a:pPr>
            <a:r>
              <a:rPr lang="en-US" b="1" dirty="0"/>
              <a:t>Key message: </a:t>
            </a:r>
            <a:r>
              <a:rPr lang="en-US" dirty="0"/>
              <a:t>Describe  how to migrate user settings and data by using USMT.</a:t>
            </a:r>
            <a:br>
              <a:rPr lang="en-US" dirty="0"/>
            </a:br>
            <a:endParaRPr lang="en-US" dirty="0"/>
          </a:p>
          <a:p>
            <a:pPr>
              <a:defRPr/>
            </a:pPr>
            <a:r>
              <a:rPr lang="en-US" dirty="0"/>
              <a:t>USMT is a scriptable command-line tool that provides a highly-customizable user-profile migration experience for IT professionals. The following shows the components of USMT:</a:t>
            </a:r>
          </a:p>
          <a:p>
            <a:pPr marL="224325" indent="-224325">
              <a:buFont typeface="Arial" pitchFamily="34" charset="0"/>
              <a:buChar char="•"/>
              <a:defRPr/>
            </a:pPr>
            <a:r>
              <a:rPr lang="en-US" b="1" dirty="0"/>
              <a:t>ScanState.exe: </a:t>
            </a:r>
            <a:r>
              <a:rPr lang="en-US" dirty="0"/>
              <a:t>the ScanState tool scans the source computer, collects the files and settings, and then creates a store.</a:t>
            </a:r>
          </a:p>
          <a:p>
            <a:pPr marL="224325" indent="-224325">
              <a:buFont typeface="Arial" pitchFamily="34" charset="0"/>
              <a:buChar char="•"/>
              <a:defRPr/>
            </a:pPr>
            <a:r>
              <a:rPr lang="en-US" b="1" dirty="0"/>
              <a:t>LoadState.exe: </a:t>
            </a:r>
            <a:r>
              <a:rPr lang="en-US" dirty="0"/>
              <a:t>the LoadState tool migrates the files and settings, one at a time, from the store to a temporary location on the destination computer.</a:t>
            </a:r>
          </a:p>
          <a:p>
            <a:pPr marL="224325" indent="-224325">
              <a:buFont typeface="Arial" pitchFamily="34" charset="0"/>
              <a:buChar char="•"/>
              <a:defRPr/>
            </a:pPr>
            <a:r>
              <a:rPr lang="en-US" b="1" dirty="0"/>
              <a:t>Migration .xml files: </a:t>
            </a:r>
            <a:r>
              <a:rPr lang="en-US" dirty="0"/>
              <a:t>the .xml files used by USMT for migrations are the MigApp.xml, MigUser.xml, or MigDocs.xml and any custom .xml files that you create.</a:t>
            </a:r>
          </a:p>
          <a:p>
            <a:pPr marL="560813" lvl="1" indent="-224325">
              <a:defRPr/>
            </a:pPr>
            <a:r>
              <a:rPr lang="en-US" b="1" dirty="0"/>
              <a:t>The MigApp.xml file:</a:t>
            </a:r>
            <a:r>
              <a:rPr lang="en-US" dirty="0"/>
              <a:t> specify this file with both the ScanState and LoadState commands to migrate application settings to computers running Windows 7.</a:t>
            </a:r>
          </a:p>
          <a:p>
            <a:pPr marL="560813" lvl="1" indent="-224325">
              <a:defRPr/>
            </a:pPr>
            <a:r>
              <a:rPr lang="en-US" b="1" dirty="0"/>
              <a:t>The MigUser.xml file:</a:t>
            </a:r>
            <a:r>
              <a:rPr lang="en-US" dirty="0"/>
              <a:t> specify this file with both the ScanState and LoadState commands to migrate user folders, files, and file types to computers running Windows 7. </a:t>
            </a:r>
          </a:p>
          <a:p>
            <a:pPr marL="560813" lvl="1" indent="-224325">
              <a:defRPr/>
            </a:pPr>
            <a:r>
              <a:rPr lang="en-US" b="1" dirty="0"/>
              <a:t>The MigDocs.xml file:</a:t>
            </a:r>
            <a:r>
              <a:rPr lang="en-US" dirty="0"/>
              <a:t> specify this file with both the ScanState and LoadState tools to migrate all user folders and files that are found by the MigXmlHelper.GenerateDocPatterns helper function. </a:t>
            </a:r>
          </a:p>
          <a:p>
            <a:pPr marL="560813" lvl="1" indent="-224325">
              <a:defRPr/>
            </a:pPr>
            <a:r>
              <a:rPr lang="en-US" b="1" dirty="0"/>
              <a:t>Custom .xml files:</a:t>
            </a:r>
            <a:r>
              <a:rPr lang="en-US" dirty="0"/>
              <a:t> you can create custom .xml files to customize the migration for your unique needs. For example, you may want to create a custom file to migrate a line-of-business application or to modify the default migration behavior. </a:t>
            </a:r>
          </a:p>
          <a:p>
            <a:pPr marL="224325" indent="-224325">
              <a:buFont typeface="Arial" pitchFamily="34" charset="0"/>
              <a:buChar char="•"/>
              <a:defRPr/>
            </a:pPr>
            <a:r>
              <a:rPr lang="en-US" b="1" dirty="0"/>
              <a:t>Config.xml: </a:t>
            </a:r>
            <a:r>
              <a:rPr lang="en-US" dirty="0"/>
              <a:t>if you want to exclude components from the migration, you can create and modify the Config.xml file using the </a:t>
            </a:r>
            <a:r>
              <a:rPr lang="en-US" b="1" dirty="0"/>
              <a:t>/genconfig</a:t>
            </a:r>
            <a:r>
              <a:rPr lang="en-US" dirty="0"/>
              <a:t> option with the ScanState tool.</a:t>
            </a:r>
          </a:p>
          <a:p>
            <a:pPr marL="224325" indent="-224325">
              <a:buFont typeface="Arial" pitchFamily="34" charset="0"/>
              <a:buChar char="•"/>
              <a:defRPr/>
            </a:pPr>
            <a:r>
              <a:rPr lang="en-US" b="1" dirty="0"/>
              <a:t>Component Manifests for Windows Vista and Windows 7: </a:t>
            </a:r>
            <a:r>
              <a:rPr lang="en-US" dirty="0"/>
              <a:t>when the source or destination computer is running Windows Vista or Windows 7, the component-manifest files control which operating system settings are migrated and how they are migrated.</a:t>
            </a:r>
          </a:p>
          <a:p>
            <a:pPr marL="224325" indent="-224325">
              <a:buFont typeface="Arial" pitchFamily="34" charset="0"/>
              <a:buChar char="•"/>
              <a:defRPr/>
            </a:pPr>
            <a:r>
              <a:rPr lang="en-US" b="1" dirty="0"/>
              <a:t>Down-level Manifest files: </a:t>
            </a:r>
            <a:r>
              <a:rPr lang="en-US" dirty="0"/>
              <a:t>when the source computer is running a supported version of Windows XP, these manifest files control which operating-system and Internet Explorer settings are migrated and how they are migrated.</a:t>
            </a:r>
          </a:p>
          <a:p>
            <a:pPr marL="224325" indent="-224325">
              <a:buFont typeface="Arial" pitchFamily="34" charset="0"/>
              <a:buChar char="•"/>
              <a:defRPr/>
            </a:pPr>
            <a:r>
              <a:rPr lang="en-US" b="1" dirty="0"/>
              <a:t>USMT internal files: </a:t>
            </a:r>
            <a:r>
              <a:rPr lang="en-US" dirty="0"/>
              <a:t>all other .dll, .xml, .dat, .mui, and .inf files that are included with USMT are for internal use.</a:t>
            </a:r>
          </a:p>
          <a:p>
            <a:pPr>
              <a:defRPr/>
            </a:pPr>
            <a:r>
              <a:rPr lang="en-US" dirty="0"/>
              <a:t>Explain the hard-link migration store. The new hard-link migration store is for use only in wipe and load migration. Hard-link migration stores are stored locally on the computer that is being refreshed and can migrate user accounts, files and settings in less time using megabytes of disk space instead of gigabytes.</a:t>
            </a:r>
          </a:p>
          <a:p>
            <a:pPr marL="224325" indent="-224325">
              <a:defRPr/>
            </a:pPr>
            <a:r>
              <a:rPr lang="en-US" dirty="0"/>
              <a:t>Explain the syntax and command line available for USMT</a:t>
            </a:r>
          </a:p>
          <a:p>
            <a:pPr marL="224325" indent="-224325">
              <a:buFont typeface="+mj-lt"/>
              <a:buAutoNum type="arabicPeriod"/>
              <a:defRPr/>
            </a:pPr>
            <a:endParaRPr lang="en-US" dirty="0"/>
          </a:p>
          <a:p>
            <a:pPr marL="224325" indent="-224325">
              <a:defRPr/>
            </a:pPr>
            <a:r>
              <a:rPr lang="en-US" b="1" dirty="0"/>
              <a:t>Additional Reading: </a:t>
            </a:r>
            <a:r>
              <a:rPr lang="en-US" dirty="0"/>
              <a:t>User State Migration Tool 4.0 </a:t>
            </a:r>
          </a:p>
          <a:p>
            <a:pPr marL="224325" indent="-224325">
              <a:defRPr/>
            </a:pPr>
            <a:r>
              <a:rPr lang="en-US" dirty="0"/>
              <a:t>http://go.microsoft.com/fwlink/?LinkID=154224</a:t>
            </a:r>
          </a:p>
          <a:p>
            <a:pPr marL="224325" indent="-224325">
              <a:buFontTx/>
              <a:buAutoNum type="arabicPeriod"/>
              <a:defRPr/>
            </a:pPr>
            <a:endParaRPr lang="en-US" dirty="0"/>
          </a:p>
          <a:p>
            <a:pPr eaLnBrk="1" hangingPunct="1">
              <a:defRPr/>
            </a:pP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10/1/2024</a:t>
            </a:fld>
            <a:endParaRPr lang="en-US"/>
          </a:p>
        </p:txBody>
      </p:sp>
      <p:sp>
        <p:nvSpPr>
          <p:cNvPr id="17" name="Espace réservé du pied de page 16"/>
          <p:cNvSpPr>
            <a:spLocks noGrp="1"/>
          </p:cNvSpPr>
          <p:nvPr>
            <p:ph type="ftr" sz="quarter" idx="11"/>
          </p:nvPr>
        </p:nvSpPr>
        <p:spPr/>
        <p:txBody>
          <a:bodyPr/>
          <a:lstStyle/>
          <a:p>
            <a:endParaRPr kumimoji="0" lang="en-US" dirty="0"/>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
        <p:nvSpPr>
          <p:cNvPr id="21" name="ZoneTexte 20"/>
          <p:cNvSpPr txBox="1"/>
          <p:nvPr userDrawn="1"/>
        </p:nvSpPr>
        <p:spPr>
          <a:xfrm>
            <a:off x="185738" y="6400802"/>
            <a:ext cx="1957387" cy="285750"/>
          </a:xfrm>
          <a:prstGeom prst="rect">
            <a:avLst/>
          </a:prstGeom>
          <a:noFill/>
        </p:spPr>
        <p:txBody>
          <a:bodyPr wrap="square" rtlCol="0">
            <a:spAutoFit/>
          </a:bodyPr>
          <a:lstStyle/>
          <a:p>
            <a:r>
              <a:rPr lang="fr-FR" sz="1200" dirty="0"/>
              <a:t>Professeur: Halima HOUSNY</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1">
                <a:solidFill>
                  <a:schemeClr val="tx2"/>
                </a:solidFill>
              </a:defRPr>
            </a:lvl1pPr>
          </a:lstStyle>
          <a:p>
            <a:r>
              <a:rPr kumimoji="0" lang="fr-FR" dirty="0"/>
              <a:t>Cliquez pour modifier le style du titre</a:t>
            </a:r>
            <a:endParaRPr kumimoji="0" lang="en-US" dirty="0"/>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10/1/2024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82136" y="1718117"/>
            <a:ext cx="8461613" cy="4572000"/>
          </a:xfrm>
        </p:spPr>
        <p:txBody>
          <a:bodyPr/>
          <a:lstStyle>
            <a:lvl1pPr>
              <a:buFont typeface="Wingdings" pitchFamily="2" charset="2"/>
              <a:buChar char="Ø"/>
              <a:defRPr sz="2800"/>
            </a:lvl1pPr>
          </a:lstStyle>
          <a:p>
            <a:pPr lvl="0" eaLnBrk="1" latinLnBrk="0" hangingPunct="1"/>
            <a:r>
              <a:rPr lang="fr-FR" dirty="0"/>
              <a:t>Cliquez pour modifier les styles du texte du masque</a:t>
            </a:r>
          </a:p>
          <a:p>
            <a:pPr lvl="1" eaLnBrk="1" latinLnBrk="0" hangingPunct="1"/>
            <a:r>
              <a:rPr lang="fr-FR" dirty="0"/>
              <a:t>Deuxième niveau</a:t>
            </a:r>
          </a:p>
          <a:p>
            <a:pPr lvl="2" eaLnBrk="1" latinLnBrk="0" hangingPunct="1"/>
            <a:r>
              <a:rPr lang="fr-FR" dirty="0"/>
              <a:t>Troisième niveau</a:t>
            </a:r>
          </a:p>
          <a:p>
            <a:pPr lvl="3" eaLnBrk="1" latinLnBrk="0" hangingPunct="1"/>
            <a:r>
              <a:rPr lang="fr-FR" dirty="0"/>
              <a:t>Quatrième niveau</a:t>
            </a:r>
          </a:p>
          <a:p>
            <a:pPr lvl="4" eaLnBrk="1" latinLnBrk="0" hangingPunct="1"/>
            <a:r>
              <a:rPr lang="fr-FR" dirty="0"/>
              <a:t>Cinquième niveau</a:t>
            </a:r>
            <a:endParaRPr kumimoji="0" lang="en-US" dirty="0"/>
          </a:p>
        </p:txBody>
      </p:sp>
      <p:sp>
        <p:nvSpPr>
          <p:cNvPr id="10" name="ZoneTexte 9"/>
          <p:cNvSpPr txBox="1"/>
          <p:nvPr userDrawn="1"/>
        </p:nvSpPr>
        <p:spPr>
          <a:xfrm>
            <a:off x="185738" y="6415090"/>
            <a:ext cx="1957387" cy="285750"/>
          </a:xfrm>
          <a:prstGeom prst="rect">
            <a:avLst/>
          </a:prstGeom>
          <a:noFill/>
        </p:spPr>
        <p:txBody>
          <a:bodyPr wrap="square" rtlCol="0">
            <a:spAutoFit/>
          </a:bodyPr>
          <a:lstStyle/>
          <a:p>
            <a:r>
              <a:rPr lang="fr-FR" sz="1200" dirty="0"/>
              <a:t>Professeur: Halima HOUSNY</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10/1/2024</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10/1/2024</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10/1/2024</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lvl1pPr>
              <a:defRPr sz="3200" b="1">
                <a:solidFill>
                  <a:schemeClr val="tx2"/>
                </a:solidFill>
              </a:defRPr>
            </a:lvl1pPr>
          </a:lstStyle>
          <a:p>
            <a:r>
              <a:rPr kumimoji="0" lang="fr-FR" dirty="0"/>
              <a:t>Cliquez pour modifier le style du titre</a:t>
            </a:r>
            <a:endParaRPr kumimoji="0" lang="en-US" dirty="0"/>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10/1/2024</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10/1/2024</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10/1/2024</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10/1/2024</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10/1/2024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10/1/2024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10/1/2024</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749300" y="3126658"/>
            <a:ext cx="7645400" cy="2757948"/>
          </a:xfrm>
          <a:noFill/>
          <a:ln/>
        </p:spPr>
        <p:txBody>
          <a:bodyPr lIns="90488" tIns="44450" rIns="90488" bIns="44450">
            <a:normAutofit/>
          </a:bodyPr>
          <a:lstStyle/>
          <a:p>
            <a:pPr algn="ctr">
              <a:lnSpc>
                <a:spcPct val="95000"/>
              </a:lnSpc>
            </a:pPr>
            <a:r>
              <a:rPr lang="fr-FR" sz="5000" b="1" dirty="0">
                <a:solidFill>
                  <a:schemeClr val="tx1"/>
                </a:solidFill>
                <a:latin typeface="Arial" pitchFamily="34" charset="0"/>
                <a:cs typeface="Arial" pitchFamily="34" charset="0"/>
              </a:rPr>
              <a:t>Chapitre1</a:t>
            </a:r>
            <a:br>
              <a:rPr lang="fr-FR" sz="5000" b="1" dirty="0">
                <a:solidFill>
                  <a:schemeClr val="tx1"/>
                </a:solidFill>
                <a:latin typeface="Arial" pitchFamily="34" charset="0"/>
                <a:cs typeface="Arial" pitchFamily="34" charset="0"/>
              </a:rPr>
            </a:br>
            <a:r>
              <a:rPr lang="fr-FR" sz="5000" b="1" dirty="0">
                <a:solidFill>
                  <a:schemeClr val="tx1"/>
                </a:solidFill>
                <a:latin typeface="Arial" pitchFamily="34" charset="0"/>
                <a:cs typeface="Arial" pitchFamily="34" charset="0"/>
              </a:rPr>
              <a:t>Installation de Microsoft Windows 7</a:t>
            </a:r>
            <a:endParaRPr lang="en-US" sz="5000" b="1" dirty="0">
              <a:solidFill>
                <a:schemeClr val="tx1"/>
              </a:solidFill>
              <a:latin typeface="Arial" pitchFamily="34" charset="0"/>
              <a:cs typeface="Arial" pitchFamily="34" charset="0"/>
            </a:endParaRPr>
          </a:p>
        </p:txBody>
      </p:sp>
      <p:sp>
        <p:nvSpPr>
          <p:cNvPr id="3" name="Rectangle 2"/>
          <p:cNvSpPr/>
          <p:nvPr/>
        </p:nvSpPr>
        <p:spPr>
          <a:xfrm>
            <a:off x="2492469" y="1047136"/>
            <a:ext cx="4205744" cy="769441"/>
          </a:xfrm>
          <a:prstGeom prst="rect">
            <a:avLst/>
          </a:prstGeom>
        </p:spPr>
        <p:txBody>
          <a:bodyPr wrap="square">
            <a:spAutoFit/>
          </a:bodyPr>
          <a:lstStyle/>
          <a:p>
            <a:pPr algn="ctr"/>
            <a:r>
              <a:rPr lang="en-US" sz="4400" dirty="0">
                <a:latin typeface="Arial" pitchFamily="34" charset="0"/>
                <a:cs typeface="Arial" pitchFamily="34" charset="0"/>
              </a:rPr>
              <a:t>Module S41</a:t>
            </a:r>
            <a:endParaRPr lang="fr-BE" sz="4400" dirty="0">
              <a:latin typeface="Arial"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4"/>
          <p:cNvSpPr>
            <a:spLocks noGrp="1" noChangeArrowheads="1"/>
          </p:cNvSpPr>
          <p:nvPr>
            <p:ph type="title"/>
          </p:nvPr>
        </p:nvSpPr>
        <p:spPr/>
        <p:txBody>
          <a:bodyPr/>
          <a:lstStyle/>
          <a:p>
            <a:r>
              <a:rPr lang="en-US" dirty="0"/>
              <a:t>Plan du </a:t>
            </a:r>
            <a:r>
              <a:rPr lang="en-US" dirty="0" err="1"/>
              <a:t>cours</a:t>
            </a:r>
            <a:endParaRPr lang="en-US" dirty="0"/>
          </a:p>
        </p:txBody>
      </p:sp>
      <p:sp>
        <p:nvSpPr>
          <p:cNvPr id="94213" name="Rectangle 5"/>
          <p:cNvSpPr>
            <a:spLocks noGrp="1" noChangeArrowheads="1"/>
          </p:cNvSpPr>
          <p:nvPr>
            <p:ph sz="quarter" idx="1"/>
          </p:nvPr>
        </p:nvSpPr>
        <p:spPr>
          <a:xfrm>
            <a:off x="176981" y="1843548"/>
            <a:ext cx="8967019" cy="4468762"/>
          </a:xfrm>
        </p:spPr>
        <p:txBody>
          <a:bodyPr>
            <a:normAutofit fontScale="92500"/>
          </a:bodyPr>
          <a:lstStyle/>
          <a:p>
            <a:pPr marL="514350" indent="-514350">
              <a:buClrTx/>
              <a:buFont typeface="+mj-lt"/>
              <a:buAutoNum type="arabicPeriod"/>
            </a:pPr>
            <a:r>
              <a:rPr lang="en-US" sz="3000" dirty="0" err="1">
                <a:cs typeface="Times New Roman" pitchFamily="18" charset="0"/>
              </a:rPr>
              <a:t>Planification</a:t>
            </a:r>
            <a:r>
              <a:rPr lang="en-US" sz="3000" dirty="0">
                <a:cs typeface="Times New Roman" pitchFamily="18" charset="0"/>
              </a:rPr>
              <a:t> de </a:t>
            </a:r>
            <a:r>
              <a:rPr lang="en-US" sz="3000" dirty="0" err="1">
                <a:cs typeface="Times New Roman" pitchFamily="18" charset="0"/>
              </a:rPr>
              <a:t>l'installation</a:t>
            </a:r>
            <a:r>
              <a:rPr lang="en-US" sz="3000" dirty="0">
                <a:cs typeface="Times New Roman" pitchFamily="18" charset="0"/>
              </a:rPr>
              <a:t> de Microsoft Windows 7</a:t>
            </a:r>
            <a:endParaRPr lang="en-US" sz="3000" dirty="0"/>
          </a:p>
          <a:p>
            <a:pPr marL="514350" indent="-514350">
              <a:buClrTx/>
              <a:buFont typeface="+mj-lt"/>
              <a:buAutoNum type="arabicPeriod"/>
            </a:pPr>
            <a:r>
              <a:rPr lang="fr-FR" sz="3200" dirty="0"/>
              <a:t>Réalisation d'une nouvelle installation</a:t>
            </a:r>
            <a:br>
              <a:rPr lang="fr-FR" sz="3200" dirty="0"/>
            </a:br>
            <a:r>
              <a:rPr lang="fr-FR" sz="3200" dirty="0"/>
              <a:t>de Windows 7</a:t>
            </a:r>
            <a:endParaRPr lang="en-US" sz="3000" dirty="0">
              <a:cs typeface="Times New Roman" pitchFamily="18" charset="0"/>
            </a:endParaRPr>
          </a:p>
          <a:p>
            <a:pPr marL="514350" indent="-514350">
              <a:buClrTx/>
              <a:buFont typeface="+mj-lt"/>
              <a:buAutoNum type="arabicPeriod"/>
            </a:pPr>
            <a:r>
              <a:rPr lang="en-US" sz="3000" dirty="0">
                <a:cs typeface="Times New Roman" pitchFamily="18" charset="0"/>
              </a:rPr>
              <a:t>Installation de Windows 7 à </a:t>
            </a:r>
            <a:r>
              <a:rPr lang="en-US" sz="3000" dirty="0" err="1">
                <a:cs typeface="Times New Roman" pitchFamily="18" charset="0"/>
              </a:rPr>
              <a:t>partir</a:t>
            </a:r>
            <a:r>
              <a:rPr lang="en-US" sz="3000" dirty="0">
                <a:cs typeface="Times New Roman" pitchFamily="18" charset="0"/>
              </a:rPr>
              <a:t> d'un DVD-ROM</a:t>
            </a:r>
            <a:r>
              <a:rPr lang="fr-FR" sz="3000" dirty="0"/>
              <a:t> </a:t>
            </a:r>
            <a:endParaRPr lang="en-US" sz="3000" dirty="0"/>
          </a:p>
          <a:p>
            <a:pPr marL="514350" indent="-514350">
              <a:buClrTx/>
              <a:buFont typeface="+mj-lt"/>
              <a:buAutoNum type="arabicPeriod"/>
            </a:pPr>
            <a:r>
              <a:rPr lang="en-US" sz="3000" dirty="0">
                <a:cs typeface="Times New Roman" pitchFamily="18" charset="0"/>
              </a:rPr>
              <a:t>Installation de Windows 7 par le </a:t>
            </a:r>
            <a:r>
              <a:rPr lang="en-US" sz="3000" dirty="0" err="1">
                <a:cs typeface="Times New Roman" pitchFamily="18" charset="0"/>
              </a:rPr>
              <a:t>biais</a:t>
            </a:r>
            <a:r>
              <a:rPr lang="en-US" sz="3000" dirty="0">
                <a:cs typeface="Times New Roman" pitchFamily="18" charset="0"/>
              </a:rPr>
              <a:t> d'un </a:t>
            </a:r>
            <a:r>
              <a:rPr lang="en-US" sz="3000" dirty="0" err="1">
                <a:cs typeface="Times New Roman" pitchFamily="18" charset="0"/>
              </a:rPr>
              <a:t>réseau</a:t>
            </a:r>
            <a:r>
              <a:rPr lang="fr-FR" sz="3000" dirty="0"/>
              <a:t> </a:t>
            </a:r>
            <a:endParaRPr lang="en-US" sz="3000" dirty="0"/>
          </a:p>
          <a:p>
            <a:pPr marL="514350" indent="-514350">
              <a:buClrTx/>
              <a:buFont typeface="+mj-lt"/>
              <a:buAutoNum type="arabicPeriod"/>
            </a:pPr>
            <a:r>
              <a:rPr lang="en-US" sz="3000" dirty="0" err="1">
                <a:cs typeface="Times New Roman" pitchFamily="18" charset="0"/>
              </a:rPr>
              <a:t>Transfert</a:t>
            </a:r>
            <a:r>
              <a:rPr lang="en-US" sz="3000" dirty="0">
                <a:cs typeface="Times New Roman" pitchFamily="18" charset="0"/>
              </a:rPr>
              <a:t> des </a:t>
            </a:r>
            <a:r>
              <a:rPr lang="en-US" sz="3000" dirty="0" err="1">
                <a:cs typeface="Times New Roman" pitchFamily="18" charset="0"/>
              </a:rPr>
              <a:t>paramètres</a:t>
            </a:r>
            <a:r>
              <a:rPr lang="en-US" sz="3000" dirty="0">
                <a:cs typeface="Times New Roman" pitchFamily="18" charset="0"/>
              </a:rPr>
              <a:t> et des </a:t>
            </a:r>
            <a:r>
              <a:rPr lang="en-US" sz="3000" dirty="0" err="1">
                <a:cs typeface="Times New Roman" pitchFamily="18" charset="0"/>
              </a:rPr>
              <a:t>fichiers</a:t>
            </a:r>
            <a:r>
              <a:rPr lang="en-US" sz="3000" dirty="0">
                <a:cs typeface="Times New Roman" pitchFamily="18" charset="0"/>
              </a:rPr>
              <a:t> </a:t>
            </a:r>
            <a:r>
              <a:rPr lang="en-US" sz="3000" dirty="0" err="1">
                <a:cs typeface="Times New Roman" pitchFamily="18" charset="0"/>
              </a:rPr>
              <a:t>d'utilisateurs</a:t>
            </a:r>
            <a:r>
              <a:rPr lang="en-US" sz="3000" dirty="0">
                <a:cs typeface="Times New Roman" pitchFamily="18" charset="0"/>
              </a:rPr>
              <a:t> à </a:t>
            </a:r>
            <a:r>
              <a:rPr lang="en-US" sz="3000" dirty="0" err="1">
                <a:cs typeface="Times New Roman" pitchFamily="18" charset="0"/>
              </a:rPr>
              <a:t>l'aide</a:t>
            </a:r>
            <a:r>
              <a:rPr lang="en-US" sz="3000" dirty="0">
                <a:cs typeface="Times New Roman" pitchFamily="18" charset="0"/>
              </a:rPr>
              <a:t> de </a:t>
            </a:r>
            <a:r>
              <a:rPr lang="en-US" sz="3000" dirty="0" err="1">
                <a:cs typeface="Times New Roman" pitchFamily="18" charset="0"/>
              </a:rPr>
              <a:t>l'outil</a:t>
            </a:r>
            <a:r>
              <a:rPr lang="en-US" sz="3000" dirty="0">
                <a:cs typeface="Times New Roman" pitchFamily="18" charset="0"/>
              </a:rPr>
              <a:t> USMT</a:t>
            </a:r>
            <a:r>
              <a:rPr lang="fr-FR" sz="3000" dirty="0"/>
              <a:t> </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301752" y="44244"/>
            <a:ext cx="8534400" cy="1061294"/>
          </a:xfrm>
        </p:spPr>
        <p:txBody>
          <a:bodyPr>
            <a:normAutofit fontScale="90000"/>
          </a:bodyPr>
          <a:lstStyle/>
          <a:p>
            <a:pPr marL="460375" indent="-460375">
              <a:buClr>
                <a:schemeClr val="accent2"/>
              </a:buClr>
            </a:pPr>
            <a:r>
              <a:rPr lang="fr-FR" dirty="0">
                <a:solidFill>
                  <a:schemeClr val="tx1"/>
                </a:solidFill>
                <a:cs typeface="Times New Roman" pitchFamily="18" charset="0"/>
              </a:rPr>
              <a:t>1. Planification de l'installation de Microsoft Windows 7</a:t>
            </a:r>
            <a:endParaRPr lang="en-US" dirty="0">
              <a:solidFill>
                <a:schemeClr val="tx1"/>
              </a:solidFill>
            </a:endParaRPr>
          </a:p>
        </p:txBody>
      </p:sp>
      <p:sp>
        <p:nvSpPr>
          <p:cNvPr id="45059" name="Rectangle 3"/>
          <p:cNvSpPr>
            <a:spLocks noGrp="1" noChangeArrowheads="1"/>
          </p:cNvSpPr>
          <p:nvPr>
            <p:ph sz="quarter" idx="1"/>
          </p:nvPr>
        </p:nvSpPr>
        <p:spPr>
          <a:xfrm>
            <a:off x="206477" y="1643063"/>
            <a:ext cx="8686800" cy="4698743"/>
          </a:xfrm>
        </p:spPr>
        <p:txBody>
          <a:bodyPr>
            <a:normAutofit fontScale="92500" lnSpcReduction="20000"/>
          </a:bodyPr>
          <a:lstStyle/>
          <a:p>
            <a:pPr>
              <a:buClr>
                <a:schemeClr val="accent2"/>
              </a:buClr>
            </a:pPr>
            <a:r>
              <a:rPr lang="en-US" dirty="0"/>
              <a:t>Les </a:t>
            </a:r>
            <a:r>
              <a:rPr lang="en-US" dirty="0" err="1"/>
              <a:t>fonctionnalités</a:t>
            </a:r>
            <a:r>
              <a:rPr lang="en-US" dirty="0"/>
              <a:t> de Windows 7</a:t>
            </a:r>
          </a:p>
          <a:p>
            <a:pPr>
              <a:buClr>
                <a:schemeClr val="accent2"/>
              </a:buClr>
            </a:pPr>
            <a:r>
              <a:rPr lang="en-US" dirty="0"/>
              <a:t>Les </a:t>
            </a:r>
            <a:r>
              <a:rPr lang="en-US" dirty="0" err="1"/>
              <a:t>éditions</a:t>
            </a:r>
            <a:r>
              <a:rPr lang="en-US" dirty="0"/>
              <a:t> de Windows 7</a:t>
            </a:r>
            <a:endParaRPr lang="fr-FR" dirty="0"/>
          </a:p>
          <a:p>
            <a:pPr>
              <a:buClr>
                <a:schemeClr val="accent2"/>
              </a:buClr>
            </a:pPr>
            <a:r>
              <a:rPr lang="fr-FR" dirty="0"/>
              <a:t>Liste de vérifications avant l'installation</a:t>
            </a:r>
            <a:endParaRPr lang="en-US" dirty="0"/>
          </a:p>
          <a:p>
            <a:pPr>
              <a:buClr>
                <a:schemeClr val="accent2"/>
              </a:buClr>
            </a:pPr>
            <a:r>
              <a:rPr lang="fr-FR" dirty="0"/>
              <a:t>Vérification de la configuration système requise </a:t>
            </a:r>
          </a:p>
          <a:p>
            <a:pPr>
              <a:buClr>
                <a:schemeClr val="accent2"/>
              </a:buClr>
            </a:pPr>
            <a:r>
              <a:rPr lang="en-US" dirty="0" err="1"/>
              <a:t>Avantages</a:t>
            </a:r>
            <a:r>
              <a:rPr lang="en-US" dirty="0"/>
              <a:t> de </a:t>
            </a:r>
            <a:r>
              <a:rPr lang="en-US" dirty="0" err="1"/>
              <a:t>l’utilisation</a:t>
            </a:r>
            <a:r>
              <a:rPr lang="en-US" dirty="0"/>
              <a:t> des </a:t>
            </a:r>
            <a:r>
              <a:rPr lang="en-US" dirty="0" err="1"/>
              <a:t>éditions</a:t>
            </a:r>
            <a:r>
              <a:rPr lang="en-US" dirty="0"/>
              <a:t> 64-Bit de Windows 7</a:t>
            </a:r>
          </a:p>
          <a:p>
            <a:pPr>
              <a:buClr>
                <a:schemeClr val="accent2"/>
              </a:buClr>
            </a:pPr>
            <a:r>
              <a:rPr lang="fr-FR" dirty="0"/>
              <a:t>Les  options de partitionnement de disque </a:t>
            </a:r>
            <a:endParaRPr lang="en-US" dirty="0"/>
          </a:p>
          <a:p>
            <a:pPr>
              <a:buClr>
                <a:schemeClr val="accent2"/>
              </a:buClr>
            </a:pPr>
            <a:r>
              <a:rPr lang="fr-FR" dirty="0"/>
              <a:t>Choix du système de fichiers approprié : FAT, FAT32, NTFS </a:t>
            </a:r>
            <a:endParaRPr lang="en-US" dirty="0"/>
          </a:p>
          <a:p>
            <a:pPr>
              <a:buClr>
                <a:schemeClr val="accent2"/>
              </a:buClr>
            </a:pPr>
            <a:r>
              <a:rPr lang="fr-FR" dirty="0"/>
              <a:t>Choix entre une installation dans un groupe de travail et dans un domaine </a:t>
            </a:r>
          </a:p>
          <a:p>
            <a:pPr>
              <a:buClr>
                <a:schemeClr val="accent2"/>
              </a:buClr>
            </a:pPr>
            <a:r>
              <a:rPr lang="en-US" dirty="0"/>
              <a:t>Les options de </a:t>
            </a:r>
            <a:r>
              <a:rPr lang="en-US" dirty="0" err="1"/>
              <a:t>l’installation</a:t>
            </a:r>
            <a:r>
              <a:rPr lang="en-US" dirty="0"/>
              <a:t> de Windows 7</a:t>
            </a:r>
            <a:endParaRPr lang="fr-FR" dirty="0"/>
          </a:p>
          <a:p>
            <a:pPr>
              <a:buClr>
                <a:schemeClr val="accent2"/>
              </a:buClr>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 name="Groupe 173"/>
          <p:cNvGrpSpPr/>
          <p:nvPr/>
        </p:nvGrpSpPr>
        <p:grpSpPr>
          <a:xfrm>
            <a:off x="287870" y="2221836"/>
            <a:ext cx="8502650" cy="3827462"/>
            <a:chOff x="320675" y="1817018"/>
            <a:chExt cx="8502650" cy="3827462"/>
          </a:xfrm>
        </p:grpSpPr>
        <p:grpSp>
          <p:nvGrpSpPr>
            <p:cNvPr id="7" name="Multi-tiered"/>
            <p:cNvGrpSpPr>
              <a:grpSpLocks/>
            </p:cNvGrpSpPr>
            <p:nvPr/>
          </p:nvGrpSpPr>
          <p:grpSpPr bwMode="auto">
            <a:xfrm>
              <a:off x="320675" y="1817018"/>
              <a:ext cx="8502650" cy="3827462"/>
              <a:chOff x="369888" y="1474788"/>
              <a:chExt cx="8502650" cy="3827462"/>
            </a:xfrm>
          </p:grpSpPr>
          <p:sp>
            <p:nvSpPr>
              <p:cNvPr id="165" name="AutoShape 3"/>
              <p:cNvSpPr>
                <a:spLocks noChangeArrowheads="1"/>
              </p:cNvSpPr>
              <p:nvPr/>
            </p:nvSpPr>
            <p:spPr bwMode="auto">
              <a:xfrm>
                <a:off x="370946" y="1987550"/>
                <a:ext cx="8488363" cy="3314700"/>
              </a:xfrm>
              <a:prstGeom prst="roundRect">
                <a:avLst>
                  <a:gd name="adj" fmla="val 4167"/>
                </a:avLst>
              </a:prstGeom>
              <a:gradFill rotWithShape="0">
                <a:gsLst>
                  <a:gs pos="0">
                    <a:srgbClr val="8DACD0"/>
                  </a:gs>
                  <a:gs pos="50000">
                    <a:srgbClr val="DEE7F1"/>
                  </a:gs>
                  <a:gs pos="100000">
                    <a:srgbClr val="DEE7F1"/>
                  </a:gs>
                </a:gsLst>
                <a:lin ang="5400000"/>
              </a:gradFill>
              <a:ln w="9525">
                <a:solidFill>
                  <a:srgbClr val="4D4D4D"/>
                </a:solidFill>
                <a:round/>
                <a:headEnd/>
                <a:tailEnd/>
              </a:ln>
              <a:effectLst>
                <a:outerShdw dist="35921" dir="2700000" algn="ctr" rotWithShape="0">
                  <a:srgbClr val="AFAFAF"/>
                </a:outerShdw>
              </a:effectLst>
            </p:spPr>
            <p:txBody>
              <a:bodyPr/>
              <a:lstStyle/>
              <a:p>
                <a:pPr>
                  <a:lnSpc>
                    <a:spcPct val="90000"/>
                  </a:lnSpc>
                  <a:spcBef>
                    <a:spcPct val="40000"/>
                  </a:spcBef>
                  <a:buClr>
                    <a:srgbClr val="8DACD0"/>
                  </a:buClr>
                  <a:buSzPct val="70000"/>
                  <a:buFont typeface="Wingdings" pitchFamily="2" charset="2"/>
                  <a:buChar char="§"/>
                  <a:defRPr/>
                </a:pPr>
                <a:endParaRPr lang="en-US" sz="2000" dirty="0"/>
              </a:p>
            </p:txBody>
          </p:sp>
          <p:sp>
            <p:nvSpPr>
              <p:cNvPr id="6256" name="AutoShape 10"/>
              <p:cNvSpPr>
                <a:spLocks noChangeArrowheads="1"/>
              </p:cNvSpPr>
              <p:nvPr/>
            </p:nvSpPr>
            <p:spPr bwMode="auto">
              <a:xfrm>
                <a:off x="369888" y="1474788"/>
                <a:ext cx="8502650" cy="52706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fr-FR" sz="2400" dirty="0"/>
                  <a:t>Protection de données </a:t>
                </a:r>
                <a:r>
                  <a:rPr lang="fr-FR" sz="2400" dirty="0" err="1"/>
                  <a:t>multiniveau</a:t>
                </a:r>
                <a:endParaRPr lang="en-US" sz="2400" dirty="0"/>
              </a:p>
            </p:txBody>
          </p:sp>
        </p:grpSp>
        <p:sp>
          <p:nvSpPr>
            <p:cNvPr id="164" name="AutoShape 5"/>
            <p:cNvSpPr>
              <a:spLocks noChangeArrowheads="1"/>
            </p:cNvSpPr>
            <p:nvPr/>
          </p:nvSpPr>
          <p:spPr bwMode="auto">
            <a:xfrm>
              <a:off x="813860" y="2785532"/>
              <a:ext cx="7096125" cy="2240030"/>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wrap="square" lIns="320040" anchor="ctr">
              <a:spAutoFit/>
            </a:bodyPr>
            <a:lstStyle/>
            <a:p>
              <a:pPr>
                <a:lnSpc>
                  <a:spcPct val="90000"/>
                </a:lnSpc>
                <a:spcBef>
                  <a:spcPct val="40000"/>
                </a:spcBef>
                <a:buClr>
                  <a:srgbClr val="8DACD0"/>
                </a:buClr>
                <a:buSzPct val="70000"/>
                <a:defRPr/>
              </a:pPr>
              <a:r>
                <a:rPr lang="fr-FR" sz="2400" dirty="0"/>
                <a:t>Protection des données aux niveaux document, fichier, répertoire et réseau:</a:t>
              </a:r>
            </a:p>
            <a:p>
              <a:pPr>
                <a:lnSpc>
                  <a:spcPct val="90000"/>
                </a:lnSpc>
                <a:spcBef>
                  <a:spcPct val="40000"/>
                </a:spcBef>
                <a:buClr>
                  <a:srgbClr val="8DACD0"/>
                </a:buClr>
                <a:buSzPct val="70000"/>
                <a:buFont typeface="Arial" pitchFamily="34" charset="0"/>
                <a:buChar char="•"/>
                <a:defRPr/>
              </a:pPr>
              <a:r>
                <a:rPr lang="fr-FR" sz="2400" dirty="0"/>
                <a:t>EFS</a:t>
              </a:r>
            </a:p>
            <a:p>
              <a:pPr>
                <a:lnSpc>
                  <a:spcPct val="90000"/>
                </a:lnSpc>
                <a:spcBef>
                  <a:spcPct val="40000"/>
                </a:spcBef>
                <a:buClr>
                  <a:srgbClr val="8DACD0"/>
                </a:buClr>
                <a:buSzPct val="70000"/>
                <a:buFont typeface="Arial" pitchFamily="34" charset="0"/>
                <a:buChar char="•"/>
                <a:defRPr/>
              </a:pPr>
              <a:r>
                <a:rPr lang="fr-FR" sz="2400" dirty="0" err="1"/>
                <a:t>IPSec</a:t>
              </a:r>
              <a:endParaRPr lang="fr-FR" sz="2400" dirty="0"/>
            </a:p>
            <a:p>
              <a:pPr>
                <a:lnSpc>
                  <a:spcPct val="90000"/>
                </a:lnSpc>
                <a:spcBef>
                  <a:spcPct val="40000"/>
                </a:spcBef>
                <a:buClr>
                  <a:srgbClr val="8DACD0"/>
                </a:buClr>
                <a:buSzPct val="70000"/>
                <a:buFont typeface="Arial" pitchFamily="34" charset="0"/>
                <a:buChar char="•"/>
                <a:defRPr/>
              </a:pPr>
              <a:r>
                <a:rPr lang="fr-FR" sz="2400" dirty="0" err="1"/>
                <a:t>BitLocker</a:t>
              </a:r>
              <a:endParaRPr lang="en-US" sz="2400" dirty="0"/>
            </a:p>
          </p:txBody>
        </p:sp>
      </p:grpSp>
      <p:grpSp>
        <p:nvGrpSpPr>
          <p:cNvPr id="5" name="Deployment"/>
          <p:cNvGrpSpPr>
            <a:grpSpLocks/>
          </p:cNvGrpSpPr>
          <p:nvPr/>
        </p:nvGrpSpPr>
        <p:grpSpPr bwMode="auto">
          <a:xfrm>
            <a:off x="267763" y="1425166"/>
            <a:ext cx="8502650" cy="5202922"/>
            <a:chOff x="368300" y="1472017"/>
            <a:chExt cx="8502650" cy="5201738"/>
          </a:xfrm>
        </p:grpSpPr>
        <p:sp>
          <p:nvSpPr>
            <p:cNvPr id="187" name="AutoShape 3"/>
            <p:cNvSpPr>
              <a:spLocks noChangeArrowheads="1"/>
            </p:cNvSpPr>
            <p:nvPr/>
          </p:nvSpPr>
          <p:spPr bwMode="auto">
            <a:xfrm>
              <a:off x="368300" y="2088510"/>
              <a:ext cx="8488363" cy="4585245"/>
            </a:xfrm>
            <a:prstGeom prst="roundRect">
              <a:avLst>
                <a:gd name="adj" fmla="val 4167"/>
              </a:avLst>
            </a:prstGeom>
            <a:gradFill rotWithShape="0">
              <a:gsLst>
                <a:gs pos="0">
                  <a:srgbClr val="8DACD0"/>
                </a:gs>
                <a:gs pos="50000">
                  <a:srgbClr val="DEE7F1"/>
                </a:gs>
                <a:gs pos="100000">
                  <a:srgbClr val="DEE7F1"/>
                </a:gs>
              </a:gsLst>
              <a:lin ang="5400000"/>
            </a:gra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endParaRPr lang="en-US" sz="2000" dirty="0"/>
            </a:p>
          </p:txBody>
        </p:sp>
        <p:sp>
          <p:nvSpPr>
            <p:cNvPr id="188" name="AutoShape 5"/>
            <p:cNvSpPr>
              <a:spLocks noChangeArrowheads="1"/>
            </p:cNvSpPr>
            <p:nvPr/>
          </p:nvSpPr>
          <p:spPr bwMode="auto">
            <a:xfrm>
              <a:off x="942975" y="2426571"/>
              <a:ext cx="7313613" cy="846877"/>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r>
                <a:rPr lang="fr-FR" sz="2400" dirty="0"/>
                <a:t>Utilisation d’un format d'images disques basé sur fichier WIM (Windows Imaging).</a:t>
              </a:r>
              <a:endParaRPr lang="en-US" sz="2400" b="0" dirty="0"/>
            </a:p>
          </p:txBody>
        </p:sp>
        <p:sp>
          <p:nvSpPr>
            <p:cNvPr id="190" name="Rounded Rectangle 189"/>
            <p:cNvSpPr>
              <a:spLocks noChangeArrowheads="1"/>
            </p:cNvSpPr>
            <p:nvPr/>
          </p:nvSpPr>
          <p:spPr bwMode="auto">
            <a:xfrm>
              <a:off x="777875" y="2455139"/>
              <a:ext cx="322263" cy="319014"/>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92" name="AutoShape 5"/>
            <p:cNvSpPr>
              <a:spLocks noChangeArrowheads="1"/>
            </p:cNvSpPr>
            <p:nvPr/>
          </p:nvSpPr>
          <p:spPr bwMode="auto">
            <a:xfrm>
              <a:off x="946150" y="3766116"/>
              <a:ext cx="7313613" cy="846877"/>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r>
                <a:rPr lang="fr-FR" sz="2400" dirty="0"/>
                <a:t>Le déploiement de Windows 7 à l'aide des Services de déploiement Windows de Windows Server® 2008 R2</a:t>
              </a:r>
              <a:endParaRPr lang="en-US" sz="2400" b="0" dirty="0"/>
            </a:p>
          </p:txBody>
        </p:sp>
        <p:sp>
          <p:nvSpPr>
            <p:cNvPr id="193" name="AutoShape 5"/>
            <p:cNvSpPr>
              <a:spLocks noChangeArrowheads="1"/>
            </p:cNvSpPr>
            <p:nvPr/>
          </p:nvSpPr>
          <p:spPr bwMode="auto">
            <a:xfrm>
              <a:off x="946150" y="5035832"/>
              <a:ext cx="7313613" cy="1223268"/>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r>
                <a:rPr lang="fr-FR" sz="2400" dirty="0"/>
                <a:t>La nouvelle version de l’outil Gestion et maintenance des images de déploiement (DISM) et améliorations dans l’outil (USMT) 4.0</a:t>
              </a:r>
              <a:endParaRPr lang="en-US" sz="2400" dirty="0"/>
            </a:p>
          </p:txBody>
        </p:sp>
        <p:sp>
          <p:nvSpPr>
            <p:cNvPr id="194" name="Rounded Rectangle 193"/>
            <p:cNvSpPr>
              <a:spLocks noChangeArrowheads="1"/>
            </p:cNvSpPr>
            <p:nvPr/>
          </p:nvSpPr>
          <p:spPr bwMode="auto">
            <a:xfrm>
              <a:off x="781050" y="3794685"/>
              <a:ext cx="322263" cy="319014"/>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95" name="Rounded Rectangle 194"/>
            <p:cNvSpPr>
              <a:spLocks noChangeArrowheads="1"/>
            </p:cNvSpPr>
            <p:nvPr/>
          </p:nvSpPr>
          <p:spPr bwMode="auto">
            <a:xfrm>
              <a:off x="781050" y="5064401"/>
              <a:ext cx="322263" cy="319014"/>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276" name="AutoShape 10"/>
            <p:cNvSpPr>
              <a:spLocks noChangeArrowheads="1"/>
            </p:cNvSpPr>
            <p:nvPr/>
          </p:nvSpPr>
          <p:spPr bwMode="auto">
            <a:xfrm>
              <a:off x="368300" y="1472017"/>
              <a:ext cx="8502650" cy="52694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fr-FR" sz="2400" dirty="0"/>
                <a:t>Déploiement</a:t>
              </a:r>
              <a:endParaRPr lang="en-US" sz="2400" dirty="0"/>
            </a:p>
          </p:txBody>
        </p:sp>
      </p:grpSp>
      <p:grpSp>
        <p:nvGrpSpPr>
          <p:cNvPr id="6" name="Reliability"/>
          <p:cNvGrpSpPr>
            <a:grpSpLocks/>
          </p:cNvGrpSpPr>
          <p:nvPr/>
        </p:nvGrpSpPr>
        <p:grpSpPr bwMode="auto">
          <a:xfrm>
            <a:off x="252418" y="1623878"/>
            <a:ext cx="8502650" cy="4710112"/>
            <a:chOff x="368300" y="1322388"/>
            <a:chExt cx="8502650" cy="4710112"/>
          </a:xfrm>
        </p:grpSpPr>
        <p:sp>
          <p:nvSpPr>
            <p:cNvPr id="176" name="AutoShape 3"/>
            <p:cNvSpPr>
              <a:spLocks noChangeArrowheads="1"/>
            </p:cNvSpPr>
            <p:nvPr/>
          </p:nvSpPr>
          <p:spPr bwMode="auto">
            <a:xfrm>
              <a:off x="368300" y="2089150"/>
              <a:ext cx="8488362" cy="3943350"/>
            </a:xfrm>
            <a:prstGeom prst="roundRect">
              <a:avLst>
                <a:gd name="adj" fmla="val 4167"/>
              </a:avLst>
            </a:prstGeom>
            <a:gradFill rotWithShape="0">
              <a:gsLst>
                <a:gs pos="0">
                  <a:srgbClr val="8DACD0"/>
                </a:gs>
                <a:gs pos="50000">
                  <a:srgbClr val="DEE7F1"/>
                </a:gs>
                <a:gs pos="100000">
                  <a:srgbClr val="DEE7F1"/>
                </a:gs>
              </a:gsLst>
              <a:lin ang="5400000"/>
            </a:gra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endParaRPr lang="en-US" sz="2000" dirty="0"/>
            </a:p>
          </p:txBody>
        </p:sp>
        <p:sp>
          <p:nvSpPr>
            <p:cNvPr id="177" name="AutoShape 5"/>
            <p:cNvSpPr>
              <a:spLocks noChangeArrowheads="1"/>
            </p:cNvSpPr>
            <p:nvPr/>
          </p:nvSpPr>
          <p:spPr bwMode="auto">
            <a:xfrm>
              <a:off x="942975" y="2584450"/>
              <a:ext cx="7313612" cy="433388"/>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b="0" dirty="0"/>
                <a:t>Récupération d’application et l’envoi du rapport d’erreurs</a:t>
              </a:r>
              <a:endParaRPr lang="en-US" sz="2400" b="0" dirty="0"/>
            </a:p>
          </p:txBody>
        </p:sp>
        <p:sp>
          <p:nvSpPr>
            <p:cNvPr id="178" name="Rounded Rectangle 177"/>
            <p:cNvSpPr>
              <a:spLocks noChangeArrowheads="1"/>
            </p:cNvSpPr>
            <p:nvPr/>
          </p:nvSpPr>
          <p:spPr bwMode="auto">
            <a:xfrm>
              <a:off x="777875" y="2613025"/>
              <a:ext cx="322262" cy="319088"/>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79" name="AutoShape 5"/>
            <p:cNvSpPr>
              <a:spLocks noChangeArrowheads="1"/>
            </p:cNvSpPr>
            <p:nvPr/>
          </p:nvSpPr>
          <p:spPr bwMode="auto">
            <a:xfrm>
              <a:off x="946150" y="3179763"/>
              <a:ext cx="7313612" cy="771525"/>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b="0" dirty="0"/>
                <a:t>Détection et récupération de disque dur et les défaillances de la mémoire</a:t>
              </a:r>
              <a:endParaRPr lang="en-US" sz="2400" b="0" dirty="0"/>
            </a:p>
          </p:txBody>
        </p:sp>
        <p:sp>
          <p:nvSpPr>
            <p:cNvPr id="180" name="AutoShape 5"/>
            <p:cNvSpPr>
              <a:spLocks noChangeArrowheads="1"/>
            </p:cNvSpPr>
            <p:nvPr/>
          </p:nvSpPr>
          <p:spPr bwMode="auto">
            <a:xfrm>
              <a:off x="946150" y="4130675"/>
              <a:ext cx="7313612" cy="771525"/>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b="0" dirty="0"/>
                <a:t>Réglage automatique du réseau pour une utilisation plus efficace de la bande passante</a:t>
              </a:r>
              <a:endParaRPr lang="en-US" sz="2400" b="0" dirty="0"/>
            </a:p>
          </p:txBody>
        </p:sp>
        <p:sp>
          <p:nvSpPr>
            <p:cNvPr id="181" name="Rounded Rectangle 180"/>
            <p:cNvSpPr>
              <a:spLocks noChangeArrowheads="1"/>
            </p:cNvSpPr>
            <p:nvPr/>
          </p:nvSpPr>
          <p:spPr bwMode="auto">
            <a:xfrm>
              <a:off x="781050" y="3208338"/>
              <a:ext cx="322262" cy="319087"/>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82" name="Rounded Rectangle 181"/>
            <p:cNvSpPr>
              <a:spLocks noChangeArrowheads="1"/>
            </p:cNvSpPr>
            <p:nvPr/>
          </p:nvSpPr>
          <p:spPr bwMode="auto">
            <a:xfrm>
              <a:off x="781050" y="4159250"/>
              <a:ext cx="322262" cy="319088"/>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264" name="AutoShape 10"/>
            <p:cNvSpPr>
              <a:spLocks noChangeArrowheads="1"/>
            </p:cNvSpPr>
            <p:nvPr/>
          </p:nvSpPr>
          <p:spPr bwMode="auto">
            <a:xfrm>
              <a:off x="368300" y="1322388"/>
              <a:ext cx="8502650" cy="52706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fr-FR" sz="2400" dirty="0"/>
                <a:t>Fiabilité et performances</a:t>
              </a:r>
              <a:endParaRPr lang="en-US" sz="2400" dirty="0"/>
            </a:p>
          </p:txBody>
        </p:sp>
        <p:sp>
          <p:nvSpPr>
            <p:cNvPr id="184" name="AutoShape 5"/>
            <p:cNvSpPr>
              <a:spLocks noChangeArrowheads="1"/>
            </p:cNvSpPr>
            <p:nvPr/>
          </p:nvSpPr>
          <p:spPr bwMode="auto">
            <a:xfrm>
              <a:off x="944562" y="5070475"/>
              <a:ext cx="7313613" cy="433388"/>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b="0" dirty="0"/>
                <a:t>La défragmentation s’exécute en arrière-plan</a:t>
              </a:r>
              <a:endParaRPr lang="en-US" sz="2400" b="0" dirty="0"/>
            </a:p>
          </p:txBody>
        </p:sp>
        <p:sp>
          <p:nvSpPr>
            <p:cNvPr id="185" name="Rounded Rectangle 184"/>
            <p:cNvSpPr>
              <a:spLocks noChangeArrowheads="1"/>
            </p:cNvSpPr>
            <p:nvPr/>
          </p:nvSpPr>
          <p:spPr bwMode="auto">
            <a:xfrm>
              <a:off x="779462" y="5099050"/>
              <a:ext cx="322263" cy="319088"/>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grpSp>
      <p:grpSp>
        <p:nvGrpSpPr>
          <p:cNvPr id="8" name="Security"/>
          <p:cNvGrpSpPr>
            <a:grpSpLocks/>
          </p:cNvGrpSpPr>
          <p:nvPr/>
        </p:nvGrpSpPr>
        <p:grpSpPr bwMode="auto">
          <a:xfrm>
            <a:off x="286286" y="2323439"/>
            <a:ext cx="8502650" cy="4081462"/>
            <a:chOff x="368300" y="1322388"/>
            <a:chExt cx="8502650" cy="4081462"/>
          </a:xfrm>
        </p:grpSpPr>
        <p:sp>
          <p:nvSpPr>
            <p:cNvPr id="154" name="AutoShape 3"/>
            <p:cNvSpPr>
              <a:spLocks noChangeArrowheads="1"/>
            </p:cNvSpPr>
            <p:nvPr/>
          </p:nvSpPr>
          <p:spPr bwMode="auto">
            <a:xfrm>
              <a:off x="368300" y="2089150"/>
              <a:ext cx="8488362" cy="3314700"/>
            </a:xfrm>
            <a:prstGeom prst="roundRect">
              <a:avLst>
                <a:gd name="adj" fmla="val 4167"/>
              </a:avLst>
            </a:prstGeom>
            <a:gradFill rotWithShape="0">
              <a:gsLst>
                <a:gs pos="0">
                  <a:srgbClr val="8DACD0"/>
                </a:gs>
                <a:gs pos="50000">
                  <a:srgbClr val="DEE7F1"/>
                </a:gs>
                <a:gs pos="100000">
                  <a:srgbClr val="DEE7F1"/>
                </a:gs>
              </a:gsLst>
              <a:lin ang="5400000"/>
            </a:gradFill>
            <a:ln w="9525">
              <a:solidFill>
                <a:srgbClr val="4D4D4D"/>
              </a:solidFill>
              <a:round/>
              <a:headEnd/>
              <a:tailEnd/>
            </a:ln>
            <a:effectLst>
              <a:outerShdw dist="35921" dir="2700000" algn="ctr" rotWithShape="0">
                <a:srgbClr val="AFAFAF"/>
              </a:outerShdw>
            </a:effectLst>
          </p:spPr>
          <p:txBody>
            <a:bodyPr/>
            <a:lstStyle/>
            <a:p>
              <a:pPr>
                <a:lnSpc>
                  <a:spcPct val="90000"/>
                </a:lnSpc>
                <a:spcBef>
                  <a:spcPct val="40000"/>
                </a:spcBef>
                <a:buClr>
                  <a:srgbClr val="8DACD0"/>
                </a:buClr>
                <a:buSzPct val="70000"/>
                <a:buFont typeface="Wingdings" pitchFamily="2" charset="2"/>
                <a:buNone/>
                <a:defRPr/>
              </a:pPr>
              <a:endParaRPr lang="en-US" sz="2000" b="0" dirty="0"/>
            </a:p>
          </p:txBody>
        </p:sp>
        <p:sp>
          <p:nvSpPr>
            <p:cNvPr id="156" name="AutoShape 5"/>
            <p:cNvSpPr>
              <a:spLocks noChangeArrowheads="1"/>
            </p:cNvSpPr>
            <p:nvPr/>
          </p:nvSpPr>
          <p:spPr bwMode="auto">
            <a:xfrm>
              <a:off x="942975" y="2580755"/>
              <a:ext cx="7313612" cy="771525"/>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dirty="0"/>
                <a:t>Nouvelles fonctionnalités pour se protéger contre les vers, les virus et les logiciels malveillants</a:t>
              </a:r>
              <a:endParaRPr lang="en-US" sz="2400" dirty="0"/>
            </a:p>
          </p:txBody>
        </p:sp>
        <p:sp>
          <p:nvSpPr>
            <p:cNvPr id="158" name="Rounded Rectangle 157"/>
            <p:cNvSpPr>
              <a:spLocks noChangeArrowheads="1"/>
            </p:cNvSpPr>
            <p:nvPr/>
          </p:nvSpPr>
          <p:spPr bwMode="auto">
            <a:xfrm>
              <a:off x="777875" y="2609330"/>
              <a:ext cx="322262" cy="319087"/>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59" name="AutoShape 5"/>
            <p:cNvSpPr>
              <a:spLocks noChangeArrowheads="1"/>
            </p:cNvSpPr>
            <p:nvPr/>
          </p:nvSpPr>
          <p:spPr bwMode="auto">
            <a:xfrm>
              <a:off x="946150" y="3557067"/>
              <a:ext cx="7313612" cy="470595"/>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r>
                <a:rPr lang="fr-FR" sz="2400" dirty="0"/>
                <a:t>Limitation de l'accès de niveau administrateur</a:t>
              </a:r>
              <a:endParaRPr lang="en-US" sz="2400" b="0" dirty="0"/>
            </a:p>
          </p:txBody>
        </p:sp>
        <p:sp>
          <p:nvSpPr>
            <p:cNvPr id="160" name="AutoShape 5"/>
            <p:cNvSpPr>
              <a:spLocks noChangeArrowheads="1"/>
            </p:cNvSpPr>
            <p:nvPr/>
          </p:nvSpPr>
          <p:spPr bwMode="auto">
            <a:xfrm>
              <a:off x="946150" y="4207942"/>
              <a:ext cx="7313612" cy="771775"/>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dirty="0"/>
                <a:t>Simplification de </a:t>
              </a:r>
              <a:r>
                <a:rPr lang="fr-FR" sz="2400" dirty="0"/>
                <a:t>la fonctionnalité de contrôle de compte d'utilisateur </a:t>
              </a:r>
              <a:r>
                <a:rPr lang="en-US" sz="2400" dirty="0"/>
                <a:t>(UAC)</a:t>
              </a:r>
            </a:p>
          </p:txBody>
        </p:sp>
        <p:sp>
          <p:nvSpPr>
            <p:cNvPr id="161" name="Rounded Rectangle 160"/>
            <p:cNvSpPr>
              <a:spLocks noChangeArrowheads="1"/>
            </p:cNvSpPr>
            <p:nvPr/>
          </p:nvSpPr>
          <p:spPr bwMode="auto">
            <a:xfrm>
              <a:off x="781050" y="3585642"/>
              <a:ext cx="322262" cy="319088"/>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62" name="Rounded Rectangle 161"/>
            <p:cNvSpPr>
              <a:spLocks noChangeArrowheads="1"/>
            </p:cNvSpPr>
            <p:nvPr/>
          </p:nvSpPr>
          <p:spPr bwMode="auto">
            <a:xfrm>
              <a:off x="781050" y="4236517"/>
              <a:ext cx="322262" cy="319088"/>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246" name="AutoShape 10"/>
            <p:cNvSpPr>
              <a:spLocks noChangeArrowheads="1"/>
            </p:cNvSpPr>
            <p:nvPr/>
          </p:nvSpPr>
          <p:spPr bwMode="auto">
            <a:xfrm>
              <a:off x="368300" y="1322388"/>
              <a:ext cx="8502650" cy="526920"/>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en-US" sz="2400" dirty="0" err="1"/>
                <a:t>Sécurité</a:t>
              </a:r>
              <a:endParaRPr lang="en-US" sz="2400" dirty="0"/>
            </a:p>
          </p:txBody>
        </p:sp>
      </p:grpSp>
      <p:grpSp>
        <p:nvGrpSpPr>
          <p:cNvPr id="9" name="Usability"/>
          <p:cNvGrpSpPr>
            <a:grpSpLocks/>
          </p:cNvGrpSpPr>
          <p:nvPr/>
        </p:nvGrpSpPr>
        <p:grpSpPr bwMode="auto">
          <a:xfrm>
            <a:off x="269890" y="2628235"/>
            <a:ext cx="8502650" cy="3332162"/>
            <a:chOff x="368300" y="1321922"/>
            <a:chExt cx="8502650" cy="3331972"/>
          </a:xfrm>
        </p:grpSpPr>
        <p:sp>
          <p:nvSpPr>
            <p:cNvPr id="146" name="AutoShape 3"/>
            <p:cNvSpPr>
              <a:spLocks noChangeArrowheads="1"/>
            </p:cNvSpPr>
            <p:nvPr/>
          </p:nvSpPr>
          <p:spPr bwMode="auto">
            <a:xfrm>
              <a:off x="368300" y="2088640"/>
              <a:ext cx="8488362" cy="2565254"/>
            </a:xfrm>
            <a:prstGeom prst="roundRect">
              <a:avLst>
                <a:gd name="adj" fmla="val 4167"/>
              </a:avLst>
            </a:prstGeom>
            <a:gradFill rotWithShape="0">
              <a:gsLst>
                <a:gs pos="0">
                  <a:srgbClr val="8DACD0"/>
                </a:gs>
                <a:gs pos="50000">
                  <a:srgbClr val="DEE7F1"/>
                </a:gs>
                <a:gs pos="100000">
                  <a:srgbClr val="DEE7F1"/>
                </a:gs>
              </a:gsLst>
              <a:lin ang="5400000"/>
            </a:gra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endParaRPr lang="en-US" sz="2000" dirty="0"/>
            </a:p>
          </p:txBody>
        </p:sp>
        <p:sp>
          <p:nvSpPr>
            <p:cNvPr id="6232" name="AutoShape 10"/>
            <p:cNvSpPr>
              <a:spLocks noChangeArrowheads="1"/>
            </p:cNvSpPr>
            <p:nvPr/>
          </p:nvSpPr>
          <p:spPr bwMode="auto">
            <a:xfrm>
              <a:off x="368300" y="1321922"/>
              <a:ext cx="8502650" cy="52703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fr-FR" sz="2400" dirty="0"/>
                <a:t>Convivialité</a:t>
              </a:r>
              <a:endParaRPr lang="en-US" sz="2400" dirty="0"/>
            </a:p>
          </p:txBody>
        </p:sp>
        <p:sp>
          <p:nvSpPr>
            <p:cNvPr id="149" name="AutoShape 5"/>
            <p:cNvSpPr>
              <a:spLocks noChangeArrowheads="1"/>
            </p:cNvSpPr>
            <p:nvPr/>
          </p:nvSpPr>
          <p:spPr bwMode="auto">
            <a:xfrm>
              <a:off x="942975" y="2522004"/>
              <a:ext cx="7313612" cy="77148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dirty="0"/>
                <a:t>Des outils plus simples pour organiser, rechercher et afficher des informations</a:t>
              </a:r>
              <a:endParaRPr lang="en-US" sz="2400" dirty="0"/>
            </a:p>
          </p:txBody>
        </p:sp>
        <p:sp>
          <p:nvSpPr>
            <p:cNvPr id="150" name="AutoShape 5"/>
            <p:cNvSpPr>
              <a:spLocks noChangeArrowheads="1"/>
            </p:cNvSpPr>
            <p:nvPr/>
          </p:nvSpPr>
          <p:spPr bwMode="auto">
            <a:xfrm>
              <a:off x="942975" y="3376030"/>
              <a:ext cx="7313612" cy="847022"/>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r>
                <a:rPr lang="fr-FR" sz="2400" dirty="0"/>
                <a:t>Des nouvelles fonctionnalités de communication, de mobilité et de mise en réseau</a:t>
              </a:r>
              <a:endParaRPr lang="en-US" sz="2400" b="0" dirty="0"/>
            </a:p>
          </p:txBody>
        </p:sp>
        <p:sp>
          <p:nvSpPr>
            <p:cNvPr id="151" name="Rounded Rectangle 150"/>
            <p:cNvSpPr>
              <a:spLocks noChangeArrowheads="1"/>
            </p:cNvSpPr>
            <p:nvPr/>
          </p:nvSpPr>
          <p:spPr bwMode="auto">
            <a:xfrm>
              <a:off x="777875" y="2550577"/>
              <a:ext cx="322262" cy="319069"/>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52" name="Rounded Rectangle 151"/>
            <p:cNvSpPr>
              <a:spLocks noChangeArrowheads="1"/>
            </p:cNvSpPr>
            <p:nvPr/>
          </p:nvSpPr>
          <p:spPr bwMode="auto">
            <a:xfrm>
              <a:off x="777875" y="3404603"/>
              <a:ext cx="322262" cy="319069"/>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grpSp>
      <p:sp>
        <p:nvSpPr>
          <p:cNvPr id="6153" name="Rectangle 2"/>
          <p:cNvSpPr>
            <a:spLocks noGrp="1" noChangeArrowheads="1"/>
          </p:cNvSpPr>
          <p:nvPr>
            <p:ph type="title"/>
          </p:nvPr>
        </p:nvSpPr>
        <p:spPr/>
        <p:txBody>
          <a:bodyPr>
            <a:normAutofit/>
          </a:bodyPr>
          <a:lstStyle/>
          <a:p>
            <a:r>
              <a:rPr lang="en-US" sz="2800" dirty="0">
                <a:solidFill>
                  <a:srgbClr val="C00000"/>
                </a:solidFill>
              </a:rPr>
              <a:t>Les </a:t>
            </a:r>
            <a:r>
              <a:rPr lang="en-US" sz="2800" dirty="0" err="1">
                <a:solidFill>
                  <a:srgbClr val="C00000"/>
                </a:solidFill>
              </a:rPr>
              <a:t>fonctionnalités</a:t>
            </a:r>
            <a:r>
              <a:rPr lang="en-US" sz="2800" dirty="0">
                <a:solidFill>
                  <a:srgbClr val="C00000"/>
                </a:solidFill>
              </a:rPr>
              <a:t> de Windows 7</a:t>
            </a:r>
          </a:p>
        </p:txBody>
      </p:sp>
      <p:grpSp>
        <p:nvGrpSpPr>
          <p:cNvPr id="16" name="Group 234"/>
          <p:cNvGrpSpPr>
            <a:grpSpLocks/>
          </p:cNvGrpSpPr>
          <p:nvPr/>
        </p:nvGrpSpPr>
        <p:grpSpPr bwMode="auto">
          <a:xfrm>
            <a:off x="998538" y="5995988"/>
            <a:ext cx="304800" cy="244475"/>
            <a:chOff x="768" y="3096"/>
            <a:chExt cx="240" cy="192"/>
          </a:xfrm>
        </p:grpSpPr>
        <p:sp>
          <p:nvSpPr>
            <p:cNvPr id="6164" name="Oval 23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220" name="Rectangle 236"/>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GB" dirty="0"/>
            </a:p>
          </p:txBody>
        </p:sp>
      </p:grpSp>
      <p:grpSp>
        <p:nvGrpSpPr>
          <p:cNvPr id="17" name="Group 229"/>
          <p:cNvGrpSpPr>
            <a:grpSpLocks/>
          </p:cNvGrpSpPr>
          <p:nvPr/>
        </p:nvGrpSpPr>
        <p:grpSpPr bwMode="auto">
          <a:xfrm>
            <a:off x="414338" y="5905500"/>
            <a:ext cx="914400" cy="425450"/>
            <a:chOff x="384" y="3024"/>
            <a:chExt cx="720" cy="336"/>
          </a:xfrm>
        </p:grpSpPr>
        <p:sp>
          <p:nvSpPr>
            <p:cNvPr id="222" name="Oval 23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GB" dirty="0"/>
            </a:p>
          </p:txBody>
        </p:sp>
        <p:grpSp>
          <p:nvGrpSpPr>
            <p:cNvPr id="18" name="Group 231"/>
            <p:cNvGrpSpPr>
              <a:grpSpLocks/>
            </p:cNvGrpSpPr>
            <p:nvPr/>
          </p:nvGrpSpPr>
          <p:grpSpPr bwMode="auto">
            <a:xfrm>
              <a:off x="480" y="3096"/>
              <a:ext cx="240" cy="192"/>
              <a:chOff x="480" y="3096"/>
              <a:chExt cx="240" cy="192"/>
            </a:xfrm>
          </p:grpSpPr>
          <p:sp>
            <p:nvSpPr>
              <p:cNvPr id="6162" name="Oval 23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225" name="Freeform 233"/>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 name="T12" fmla="*/ 0 w 432"/>
                  <a:gd name="T13" fmla="*/ 0 h 576"/>
                  <a:gd name="T14" fmla="*/ 432 w 432"/>
                  <a:gd name="T15" fmla="*/ 576 h 576"/>
                </a:gdLst>
                <a:ahLst/>
                <a:cxnLst>
                  <a:cxn ang="T8">
                    <a:pos x="T0" y="T1"/>
                  </a:cxn>
                  <a:cxn ang="T9">
                    <a:pos x="T2" y="T3"/>
                  </a:cxn>
                  <a:cxn ang="T10">
                    <a:pos x="T4" y="T5"/>
                  </a:cxn>
                  <a:cxn ang="T11">
                    <a:pos x="T6" y="T7"/>
                  </a:cxn>
                </a:cxnLst>
                <a:rect l="T12" t="T13" r="T14" b="T15"/>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dirty="0"/>
              </a:p>
            </p:txBody>
          </p:sp>
        </p:grpSp>
      </p:grpSp>
      <p:grpSp>
        <p:nvGrpSpPr>
          <p:cNvPr id="19" name="Group 238"/>
          <p:cNvGrpSpPr>
            <a:grpSpLocks/>
          </p:cNvGrpSpPr>
          <p:nvPr/>
        </p:nvGrpSpPr>
        <p:grpSpPr bwMode="auto">
          <a:xfrm>
            <a:off x="925513" y="5995988"/>
            <a:ext cx="304800" cy="244475"/>
            <a:chOff x="768" y="3096"/>
            <a:chExt cx="240" cy="192"/>
          </a:xfrm>
        </p:grpSpPr>
        <p:sp>
          <p:nvSpPr>
            <p:cNvPr id="6158" name="Oval 239"/>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228" name="Rectangle 240"/>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GB" dirty="0"/>
            </a:p>
          </p:txBody>
        </p:sp>
      </p:grpSp>
      <p:grpSp>
        <p:nvGrpSpPr>
          <p:cNvPr id="10" name="Group 112"/>
          <p:cNvGrpSpPr>
            <a:grpSpLocks/>
          </p:cNvGrpSpPr>
          <p:nvPr/>
        </p:nvGrpSpPr>
        <p:grpSpPr bwMode="auto">
          <a:xfrm>
            <a:off x="122832" y="1169085"/>
            <a:ext cx="8870950" cy="5538787"/>
            <a:chOff x="0" y="795338"/>
            <a:chExt cx="9144000" cy="5688012"/>
          </a:xfrm>
        </p:grpSpPr>
        <p:grpSp>
          <p:nvGrpSpPr>
            <p:cNvPr id="11" name="Group 125"/>
            <p:cNvGrpSpPr>
              <a:grpSpLocks/>
            </p:cNvGrpSpPr>
            <p:nvPr/>
          </p:nvGrpSpPr>
          <p:grpSpPr bwMode="auto">
            <a:xfrm>
              <a:off x="368182" y="1322388"/>
              <a:ext cx="8502768" cy="3276370"/>
              <a:chOff x="368182" y="1321922"/>
              <a:chExt cx="8502768" cy="3277144"/>
            </a:xfrm>
          </p:grpSpPr>
          <p:sp>
            <p:nvSpPr>
              <p:cNvPr id="127" name="AutoShape 3"/>
              <p:cNvSpPr>
                <a:spLocks noChangeArrowheads="1"/>
              </p:cNvSpPr>
              <p:nvPr/>
            </p:nvSpPr>
            <p:spPr bwMode="auto">
              <a:xfrm>
                <a:off x="368182" y="2087857"/>
                <a:ext cx="8487818" cy="2511209"/>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endParaRPr lang="en-US" sz="2000" dirty="0"/>
              </a:p>
            </p:txBody>
          </p:sp>
          <p:sp>
            <p:nvSpPr>
              <p:cNvPr id="128" name="AutoShape 5"/>
              <p:cNvSpPr>
                <a:spLocks noChangeArrowheads="1"/>
              </p:cNvSpPr>
              <p:nvPr/>
            </p:nvSpPr>
            <p:spPr bwMode="auto">
              <a:xfrm>
                <a:off x="942545" y="2425403"/>
                <a:ext cx="7314545" cy="433754"/>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Improvements to the user interface</a:t>
                </a:r>
              </a:p>
            </p:txBody>
          </p:sp>
          <p:sp>
            <p:nvSpPr>
              <p:cNvPr id="129" name="AutoShape 5"/>
              <p:cNvSpPr>
                <a:spLocks noChangeArrowheads="1"/>
              </p:cNvSpPr>
              <p:nvPr/>
            </p:nvSpPr>
            <p:spPr bwMode="auto">
              <a:xfrm>
                <a:off x="942545" y="2939059"/>
                <a:ext cx="7314545" cy="433754"/>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Accessibility features</a:t>
                </a:r>
              </a:p>
            </p:txBody>
          </p:sp>
          <p:sp>
            <p:nvSpPr>
              <p:cNvPr id="130" name="Rounded Rectangle 129"/>
              <p:cNvSpPr>
                <a:spLocks noChangeArrowheads="1"/>
              </p:cNvSpPr>
              <p:nvPr/>
            </p:nvSpPr>
            <p:spPr bwMode="auto">
              <a:xfrm>
                <a:off x="777273" y="2453123"/>
                <a:ext cx="322363" cy="319608"/>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31" name="Rounded Rectangle 130"/>
              <p:cNvSpPr>
                <a:spLocks noChangeArrowheads="1"/>
              </p:cNvSpPr>
              <p:nvPr/>
            </p:nvSpPr>
            <p:spPr bwMode="auto">
              <a:xfrm>
                <a:off x="777273" y="2968411"/>
                <a:ext cx="322363" cy="319608"/>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32" name="AutoShape 5"/>
              <p:cNvSpPr>
                <a:spLocks noChangeArrowheads="1"/>
              </p:cNvSpPr>
              <p:nvPr/>
            </p:nvSpPr>
            <p:spPr bwMode="auto">
              <a:xfrm>
                <a:off x="945818" y="3454346"/>
                <a:ext cx="7314545" cy="795760"/>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BranchCache</a:t>
                </a:r>
                <a:r>
                  <a:rPr lang="en-US" sz="2400" b="0" baseline="30000" dirty="0"/>
                  <a:t>TM</a:t>
                </a:r>
                <a:r>
                  <a:rPr lang="en-US" sz="2400" b="0" dirty="0"/>
                  <a:t>, DirectAccess, and VPN Reconnect</a:t>
                </a:r>
              </a:p>
            </p:txBody>
          </p:sp>
          <p:sp>
            <p:nvSpPr>
              <p:cNvPr id="133" name="Rounded Rectangle 132"/>
              <p:cNvSpPr>
                <a:spLocks noChangeArrowheads="1"/>
              </p:cNvSpPr>
              <p:nvPr/>
            </p:nvSpPr>
            <p:spPr bwMode="auto">
              <a:xfrm>
                <a:off x="780546" y="3493482"/>
                <a:ext cx="322363" cy="319608"/>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230" name="AutoShape 10"/>
              <p:cNvSpPr>
                <a:spLocks noChangeArrowheads="1"/>
              </p:cNvSpPr>
              <p:nvPr/>
            </p:nvSpPr>
            <p:spPr bwMode="auto">
              <a:xfrm>
                <a:off x="368300" y="1321922"/>
                <a:ext cx="8502650" cy="52706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en-US" sz="2400"/>
                  <a:t>Enhanced user productivity</a:t>
                </a:r>
              </a:p>
            </p:txBody>
          </p:sp>
        </p:grpSp>
        <p:grpSp>
          <p:nvGrpSpPr>
            <p:cNvPr id="12" name="Group 91"/>
            <p:cNvGrpSpPr>
              <a:grpSpLocks/>
            </p:cNvGrpSpPr>
            <p:nvPr/>
          </p:nvGrpSpPr>
          <p:grpSpPr bwMode="auto">
            <a:xfrm>
              <a:off x="368300" y="1322388"/>
              <a:ext cx="8502650" cy="4710112"/>
              <a:chOff x="368300" y="1321922"/>
              <a:chExt cx="8502650" cy="4710387"/>
            </a:xfrm>
          </p:grpSpPr>
          <p:sp>
            <p:nvSpPr>
              <p:cNvPr id="93" name="AutoShape 3"/>
              <p:cNvSpPr>
                <a:spLocks noChangeArrowheads="1"/>
              </p:cNvSpPr>
              <p:nvPr/>
            </p:nvSpPr>
            <p:spPr bwMode="auto">
              <a:xfrm>
                <a:off x="368182" y="2087720"/>
                <a:ext cx="8487818" cy="3943854"/>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endParaRPr lang="en-US" sz="2000" dirty="0"/>
              </a:p>
            </p:txBody>
          </p:sp>
          <p:sp>
            <p:nvSpPr>
              <p:cNvPr id="94" name="AutoShape 5"/>
              <p:cNvSpPr>
                <a:spLocks noChangeArrowheads="1"/>
              </p:cNvSpPr>
              <p:nvPr/>
            </p:nvSpPr>
            <p:spPr bwMode="auto">
              <a:xfrm>
                <a:off x="942546" y="2425206"/>
                <a:ext cx="7314546" cy="771162"/>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Reliable and consistent performance using new hardware features</a:t>
                </a:r>
              </a:p>
            </p:txBody>
          </p:sp>
          <p:sp>
            <p:nvSpPr>
              <p:cNvPr id="95" name="AutoShape 5"/>
              <p:cNvSpPr>
                <a:spLocks noChangeArrowheads="1"/>
              </p:cNvSpPr>
              <p:nvPr/>
            </p:nvSpPr>
            <p:spPr bwMode="auto">
              <a:xfrm>
                <a:off x="942546" y="3266475"/>
                <a:ext cx="7314546" cy="772793"/>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Improved application recovery and error reporting</a:t>
                </a:r>
              </a:p>
            </p:txBody>
          </p:sp>
          <p:sp>
            <p:nvSpPr>
              <p:cNvPr id="96" name="Rounded Rectangle 95"/>
              <p:cNvSpPr>
                <a:spLocks noChangeArrowheads="1"/>
              </p:cNvSpPr>
              <p:nvPr/>
            </p:nvSpPr>
            <p:spPr bwMode="auto">
              <a:xfrm>
                <a:off x="777273" y="2452922"/>
                <a:ext cx="322363" cy="319552"/>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97" name="Rounded Rectangle 96"/>
              <p:cNvSpPr>
                <a:spLocks noChangeArrowheads="1"/>
              </p:cNvSpPr>
              <p:nvPr/>
            </p:nvSpPr>
            <p:spPr bwMode="auto">
              <a:xfrm>
                <a:off x="777273" y="3294191"/>
                <a:ext cx="322363" cy="319552"/>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98" name="AutoShape 5"/>
              <p:cNvSpPr>
                <a:spLocks noChangeArrowheads="1"/>
              </p:cNvSpPr>
              <p:nvPr/>
            </p:nvSpPr>
            <p:spPr bwMode="auto">
              <a:xfrm>
                <a:off x="945818" y="4120786"/>
                <a:ext cx="7314546" cy="771162"/>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Detection and recovery from some hard disk and memory failures</a:t>
                </a:r>
              </a:p>
            </p:txBody>
          </p:sp>
          <p:sp>
            <p:nvSpPr>
              <p:cNvPr id="99" name="AutoShape 5"/>
              <p:cNvSpPr>
                <a:spLocks noChangeArrowheads="1"/>
              </p:cNvSpPr>
              <p:nvPr/>
            </p:nvSpPr>
            <p:spPr bwMode="auto">
              <a:xfrm>
                <a:off x="945818" y="4962055"/>
                <a:ext cx="7314546" cy="771162"/>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Auto-tuning network stack for more efficient bandwidth utilization</a:t>
                </a:r>
              </a:p>
            </p:txBody>
          </p:sp>
          <p:sp>
            <p:nvSpPr>
              <p:cNvPr id="100" name="Rounded Rectangle 99"/>
              <p:cNvSpPr>
                <a:spLocks noChangeArrowheads="1"/>
              </p:cNvSpPr>
              <p:nvPr/>
            </p:nvSpPr>
            <p:spPr bwMode="auto">
              <a:xfrm>
                <a:off x="780546" y="4148502"/>
                <a:ext cx="322363" cy="319552"/>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01" name="Rounded Rectangle 100"/>
              <p:cNvSpPr>
                <a:spLocks noChangeArrowheads="1"/>
              </p:cNvSpPr>
              <p:nvPr/>
            </p:nvSpPr>
            <p:spPr bwMode="auto">
              <a:xfrm>
                <a:off x="780546" y="4989771"/>
                <a:ext cx="322363" cy="319552"/>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222" name="AutoShape 10"/>
              <p:cNvSpPr>
                <a:spLocks noChangeArrowheads="1"/>
              </p:cNvSpPr>
              <p:nvPr/>
            </p:nvSpPr>
            <p:spPr bwMode="auto">
              <a:xfrm>
                <a:off x="368300" y="1321922"/>
                <a:ext cx="8502650" cy="52706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en-US" sz="2400"/>
                  <a:t>Greater reliability and performance</a:t>
                </a:r>
              </a:p>
            </p:txBody>
          </p:sp>
        </p:grpSp>
        <p:grpSp>
          <p:nvGrpSpPr>
            <p:cNvPr id="13" name="Group 80"/>
            <p:cNvGrpSpPr>
              <a:grpSpLocks/>
            </p:cNvGrpSpPr>
            <p:nvPr/>
          </p:nvGrpSpPr>
          <p:grpSpPr bwMode="auto">
            <a:xfrm>
              <a:off x="369818" y="1474788"/>
              <a:ext cx="8502720" cy="4080938"/>
              <a:chOff x="368230" y="1321922"/>
              <a:chExt cx="8502720" cy="4082067"/>
            </a:xfrm>
          </p:grpSpPr>
          <p:sp>
            <p:nvSpPr>
              <p:cNvPr id="82" name="AutoShape 3"/>
              <p:cNvSpPr>
                <a:spLocks noChangeArrowheads="1"/>
              </p:cNvSpPr>
              <p:nvPr/>
            </p:nvSpPr>
            <p:spPr bwMode="auto">
              <a:xfrm>
                <a:off x="368230" y="2088733"/>
                <a:ext cx="8487819" cy="3315256"/>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endParaRPr lang="en-US" sz="2000" dirty="0"/>
              </a:p>
            </p:txBody>
          </p:sp>
          <p:sp>
            <p:nvSpPr>
              <p:cNvPr id="83" name="AutoShape 5"/>
              <p:cNvSpPr>
                <a:spLocks noChangeArrowheads="1"/>
              </p:cNvSpPr>
              <p:nvPr/>
            </p:nvSpPr>
            <p:spPr bwMode="auto">
              <a:xfrm>
                <a:off x="942594" y="2426292"/>
                <a:ext cx="7314546" cy="77133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Improved data protection at document, file, directory and computer levels</a:t>
                </a:r>
              </a:p>
            </p:txBody>
          </p:sp>
          <p:sp>
            <p:nvSpPr>
              <p:cNvPr id="84" name="AutoShape 5"/>
              <p:cNvSpPr>
                <a:spLocks noChangeArrowheads="1"/>
              </p:cNvSpPr>
              <p:nvPr/>
            </p:nvSpPr>
            <p:spPr bwMode="auto">
              <a:xfrm>
                <a:off x="942594" y="3267745"/>
                <a:ext cx="7314546" cy="43214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Rights Management Services (RMS)</a:t>
                </a:r>
              </a:p>
            </p:txBody>
          </p:sp>
          <p:sp>
            <p:nvSpPr>
              <p:cNvPr id="85" name="Rounded Rectangle 84"/>
              <p:cNvSpPr>
                <a:spLocks noChangeArrowheads="1"/>
              </p:cNvSpPr>
              <p:nvPr/>
            </p:nvSpPr>
            <p:spPr bwMode="auto">
              <a:xfrm>
                <a:off x="777321" y="2454014"/>
                <a:ext cx="322364" cy="319621"/>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86" name="Rounded Rectangle 85"/>
              <p:cNvSpPr>
                <a:spLocks noChangeArrowheads="1"/>
              </p:cNvSpPr>
              <p:nvPr/>
            </p:nvSpPr>
            <p:spPr bwMode="auto">
              <a:xfrm>
                <a:off x="777321" y="3295466"/>
                <a:ext cx="322364" cy="319621"/>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87" name="AutoShape 5"/>
              <p:cNvSpPr>
                <a:spLocks noChangeArrowheads="1"/>
              </p:cNvSpPr>
              <p:nvPr/>
            </p:nvSpPr>
            <p:spPr bwMode="auto">
              <a:xfrm>
                <a:off x="945867" y="3781421"/>
                <a:ext cx="7314546" cy="795792"/>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Windows® BitLocker</a:t>
                </a:r>
                <a:r>
                  <a:rPr lang="en-US" sz="2400" baseline="30000" dirty="0"/>
                  <a:t>TM</a:t>
                </a:r>
                <a:r>
                  <a:rPr lang="en-US" sz="2400" b="0" dirty="0"/>
                  <a:t> Drive Encryption and Windows BitLocker To Go</a:t>
                </a:r>
                <a:r>
                  <a:rPr lang="en-US" sz="2400" baseline="30000" dirty="0"/>
                  <a:t>TM</a:t>
                </a:r>
                <a:endParaRPr lang="en-US" sz="2400" b="0" dirty="0"/>
              </a:p>
            </p:txBody>
          </p:sp>
          <p:sp>
            <p:nvSpPr>
              <p:cNvPr id="88" name="AutoShape 5"/>
              <p:cNvSpPr>
                <a:spLocks noChangeArrowheads="1"/>
              </p:cNvSpPr>
              <p:nvPr/>
            </p:nvSpPr>
            <p:spPr bwMode="auto">
              <a:xfrm>
                <a:off x="945867" y="4639180"/>
                <a:ext cx="7314546" cy="450079"/>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Internet Protocol Security (IPsec)</a:t>
                </a:r>
              </a:p>
            </p:txBody>
          </p:sp>
          <p:sp>
            <p:nvSpPr>
              <p:cNvPr id="89" name="Rounded Rectangle 88"/>
              <p:cNvSpPr>
                <a:spLocks noChangeArrowheads="1"/>
              </p:cNvSpPr>
              <p:nvPr/>
            </p:nvSpPr>
            <p:spPr bwMode="auto">
              <a:xfrm>
                <a:off x="780594" y="3820558"/>
                <a:ext cx="322364" cy="319621"/>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90" name="Rounded Rectangle 89"/>
              <p:cNvSpPr>
                <a:spLocks noChangeArrowheads="1"/>
              </p:cNvSpPr>
              <p:nvPr/>
            </p:nvSpPr>
            <p:spPr bwMode="auto">
              <a:xfrm>
                <a:off x="780594" y="4676687"/>
                <a:ext cx="322364" cy="319621"/>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212" name="AutoShape 10"/>
              <p:cNvSpPr>
                <a:spLocks noChangeArrowheads="1"/>
              </p:cNvSpPr>
              <p:nvPr/>
            </p:nvSpPr>
            <p:spPr bwMode="auto">
              <a:xfrm>
                <a:off x="368300" y="1321922"/>
                <a:ext cx="8502650" cy="52706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en-US" sz="2400"/>
                  <a:t>Multi-tiered data protection</a:t>
                </a:r>
              </a:p>
            </p:txBody>
          </p:sp>
        </p:grpSp>
        <p:grpSp>
          <p:nvGrpSpPr>
            <p:cNvPr id="14" name="Group 58"/>
            <p:cNvGrpSpPr>
              <a:grpSpLocks/>
            </p:cNvGrpSpPr>
            <p:nvPr/>
          </p:nvGrpSpPr>
          <p:grpSpPr bwMode="auto">
            <a:xfrm>
              <a:off x="368300" y="1322388"/>
              <a:ext cx="8502650" cy="4081462"/>
              <a:chOff x="368300" y="1321922"/>
              <a:chExt cx="8502650" cy="4082591"/>
            </a:xfrm>
          </p:grpSpPr>
          <p:sp>
            <p:nvSpPr>
              <p:cNvPr id="60" name="AutoShape 3"/>
              <p:cNvSpPr>
                <a:spLocks noChangeArrowheads="1"/>
              </p:cNvSpPr>
              <p:nvPr/>
            </p:nvSpPr>
            <p:spPr bwMode="auto">
              <a:xfrm>
                <a:off x="368182" y="2087887"/>
                <a:ext cx="8487818" cy="331688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endParaRPr lang="en-US" sz="2000" dirty="0"/>
              </a:p>
            </p:txBody>
          </p:sp>
          <p:sp>
            <p:nvSpPr>
              <p:cNvPr id="61" name="AutoShape 5"/>
              <p:cNvSpPr>
                <a:spLocks noChangeArrowheads="1"/>
              </p:cNvSpPr>
              <p:nvPr/>
            </p:nvSpPr>
            <p:spPr bwMode="auto">
              <a:xfrm>
                <a:off x="942546" y="2425447"/>
                <a:ext cx="7314546" cy="77133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Built on a fundamentally secure platform based on Windows Vista foundation</a:t>
                </a:r>
              </a:p>
            </p:txBody>
          </p:sp>
          <p:sp>
            <p:nvSpPr>
              <p:cNvPr id="62" name="AutoShape 5"/>
              <p:cNvSpPr>
                <a:spLocks noChangeArrowheads="1"/>
              </p:cNvSpPr>
              <p:nvPr/>
            </p:nvSpPr>
            <p:spPr bwMode="auto">
              <a:xfrm>
                <a:off x="942546" y="3266899"/>
                <a:ext cx="7314546" cy="77133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New features and improvements to protect against worms, viruses, and malware</a:t>
                </a:r>
              </a:p>
            </p:txBody>
          </p:sp>
          <p:sp>
            <p:nvSpPr>
              <p:cNvPr id="63" name="Rounded Rectangle 62"/>
              <p:cNvSpPr>
                <a:spLocks noChangeArrowheads="1"/>
              </p:cNvSpPr>
              <p:nvPr/>
            </p:nvSpPr>
            <p:spPr bwMode="auto">
              <a:xfrm>
                <a:off x="777273" y="2453169"/>
                <a:ext cx="322363" cy="319621"/>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4" name="Rounded Rectangle 63"/>
              <p:cNvSpPr>
                <a:spLocks noChangeArrowheads="1"/>
              </p:cNvSpPr>
              <p:nvPr/>
            </p:nvSpPr>
            <p:spPr bwMode="auto">
              <a:xfrm>
                <a:off x="777273" y="3296252"/>
                <a:ext cx="322363" cy="31799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5" name="AutoShape 5"/>
              <p:cNvSpPr>
                <a:spLocks noChangeArrowheads="1"/>
              </p:cNvSpPr>
              <p:nvPr/>
            </p:nvSpPr>
            <p:spPr bwMode="auto">
              <a:xfrm>
                <a:off x="945818" y="4119766"/>
                <a:ext cx="7314546" cy="433772"/>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Administrators work at user privilege level</a:t>
                </a:r>
              </a:p>
            </p:txBody>
          </p:sp>
          <p:sp>
            <p:nvSpPr>
              <p:cNvPr id="66" name="AutoShape 5"/>
              <p:cNvSpPr>
                <a:spLocks noChangeArrowheads="1"/>
              </p:cNvSpPr>
              <p:nvPr/>
            </p:nvSpPr>
            <p:spPr bwMode="auto">
              <a:xfrm>
                <a:off x="945818" y="4648119"/>
                <a:ext cx="7314546" cy="432142"/>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Streamlined User Account Control (UAC)</a:t>
                </a:r>
              </a:p>
            </p:txBody>
          </p:sp>
          <p:sp>
            <p:nvSpPr>
              <p:cNvPr id="67" name="Rounded Rectangle 66"/>
              <p:cNvSpPr>
                <a:spLocks noChangeArrowheads="1"/>
              </p:cNvSpPr>
              <p:nvPr/>
            </p:nvSpPr>
            <p:spPr bwMode="auto">
              <a:xfrm>
                <a:off x="780546" y="4149119"/>
                <a:ext cx="322363" cy="317991"/>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8" name="Rounded Rectangle 67"/>
              <p:cNvSpPr>
                <a:spLocks noChangeArrowheads="1"/>
              </p:cNvSpPr>
              <p:nvPr/>
            </p:nvSpPr>
            <p:spPr bwMode="auto">
              <a:xfrm>
                <a:off x="780546" y="4677472"/>
                <a:ext cx="322363" cy="319621"/>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6202" name="AutoShape 10"/>
              <p:cNvSpPr>
                <a:spLocks noChangeArrowheads="1"/>
              </p:cNvSpPr>
              <p:nvPr/>
            </p:nvSpPr>
            <p:spPr bwMode="auto">
              <a:xfrm>
                <a:off x="368300" y="1321922"/>
                <a:ext cx="8502650" cy="52706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en-US" sz="2400"/>
                  <a:t>Enhanced security</a:t>
                </a:r>
              </a:p>
            </p:txBody>
          </p:sp>
        </p:grpSp>
        <p:grpSp>
          <p:nvGrpSpPr>
            <p:cNvPr id="15" name="Group 51"/>
            <p:cNvGrpSpPr>
              <a:grpSpLocks/>
            </p:cNvGrpSpPr>
            <p:nvPr/>
          </p:nvGrpSpPr>
          <p:grpSpPr bwMode="auto">
            <a:xfrm>
              <a:off x="368300" y="1322388"/>
              <a:ext cx="8502650" cy="3332162"/>
              <a:chOff x="368300" y="1321922"/>
              <a:chExt cx="8502650" cy="3331972"/>
            </a:xfrm>
          </p:grpSpPr>
          <p:sp>
            <p:nvSpPr>
              <p:cNvPr id="53" name="AutoShape 3"/>
              <p:cNvSpPr>
                <a:spLocks noChangeArrowheads="1"/>
              </p:cNvSpPr>
              <p:nvPr/>
            </p:nvSpPr>
            <p:spPr bwMode="auto">
              <a:xfrm>
                <a:off x="368182" y="2087632"/>
                <a:ext cx="8487818" cy="2565899"/>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endParaRPr lang="en-US" sz="2000" dirty="0"/>
              </a:p>
            </p:txBody>
          </p:sp>
          <p:sp>
            <p:nvSpPr>
              <p:cNvPr id="6188" name="AutoShape 10"/>
              <p:cNvSpPr>
                <a:spLocks noChangeArrowheads="1"/>
              </p:cNvSpPr>
              <p:nvPr/>
            </p:nvSpPr>
            <p:spPr bwMode="auto">
              <a:xfrm>
                <a:off x="368300" y="1321922"/>
                <a:ext cx="8502650" cy="52706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tIns="91440" bIns="91440" anchor="ctr">
                <a:spAutoFit/>
              </a:bodyPr>
              <a:lstStyle/>
              <a:p>
                <a:pPr algn="ctr">
                  <a:lnSpc>
                    <a:spcPct val="90000"/>
                  </a:lnSpc>
                </a:pPr>
                <a:r>
                  <a:rPr lang="en-US" sz="2400"/>
                  <a:t>Improved Usability</a:t>
                </a:r>
              </a:p>
            </p:txBody>
          </p:sp>
          <p:sp>
            <p:nvSpPr>
              <p:cNvPr id="55" name="AutoShape 5"/>
              <p:cNvSpPr>
                <a:spLocks noChangeArrowheads="1"/>
              </p:cNvSpPr>
              <p:nvPr/>
            </p:nvSpPr>
            <p:spPr bwMode="auto">
              <a:xfrm>
                <a:off x="942546" y="2521259"/>
                <a:ext cx="7314546" cy="771074"/>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Clearer ways to organize, search for, and view information</a:t>
                </a:r>
              </a:p>
            </p:txBody>
          </p:sp>
          <p:sp>
            <p:nvSpPr>
              <p:cNvPr id="56" name="AutoShape 5"/>
              <p:cNvSpPr>
                <a:spLocks noChangeArrowheads="1"/>
              </p:cNvSpPr>
              <p:nvPr/>
            </p:nvSpPr>
            <p:spPr bwMode="auto">
              <a:xfrm>
                <a:off x="942546" y="3375472"/>
                <a:ext cx="7314546" cy="772704"/>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b="0" dirty="0"/>
                  <a:t>New communication, mobility, and networking features</a:t>
                </a:r>
              </a:p>
            </p:txBody>
          </p:sp>
          <p:sp>
            <p:nvSpPr>
              <p:cNvPr id="57" name="Rounded Rectangle 56"/>
              <p:cNvSpPr>
                <a:spLocks noChangeArrowheads="1"/>
              </p:cNvSpPr>
              <p:nvPr/>
            </p:nvSpPr>
            <p:spPr bwMode="auto">
              <a:xfrm>
                <a:off x="777273" y="2550602"/>
                <a:ext cx="322363" cy="317885"/>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58" name="Rounded Rectangle 57"/>
              <p:cNvSpPr>
                <a:spLocks noChangeArrowheads="1"/>
              </p:cNvSpPr>
              <p:nvPr/>
            </p:nvSpPr>
            <p:spPr bwMode="auto">
              <a:xfrm>
                <a:off x="777273" y="3404815"/>
                <a:ext cx="322363" cy="317885"/>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grpSp>
        <p:pic>
          <p:nvPicPr>
            <p:cNvPr id="6171" name="Picture 2"/>
            <p:cNvPicPr>
              <a:picLocks noChangeAspect="1" noChangeArrowheads="1"/>
            </p:cNvPicPr>
            <p:nvPr/>
          </p:nvPicPr>
          <p:blipFill>
            <a:blip r:embed="rId3"/>
            <a:srcRect/>
            <a:stretch>
              <a:fillRect/>
            </a:stretch>
          </p:blipFill>
          <p:spPr bwMode="auto">
            <a:xfrm>
              <a:off x="0" y="795338"/>
              <a:ext cx="9144000" cy="5688012"/>
            </a:xfrm>
            <a:prstGeom prst="rect">
              <a:avLst/>
            </a:prstGeom>
            <a:noFill/>
            <a:ln w="9525">
              <a:noFill/>
              <a:miter lim="800000"/>
              <a:headEnd/>
              <a:tailEnd/>
            </a:ln>
          </p:spPr>
        </p:pic>
        <p:sp>
          <p:nvSpPr>
            <p:cNvPr id="30" name="AutoShape 3"/>
            <p:cNvSpPr>
              <a:spLocks noChangeArrowheads="1"/>
            </p:cNvSpPr>
            <p:nvPr/>
          </p:nvSpPr>
          <p:spPr bwMode="auto">
            <a:xfrm>
              <a:off x="328910" y="997492"/>
              <a:ext cx="8487818" cy="4938088"/>
            </a:xfrm>
            <a:prstGeom prst="roundRect">
              <a:avLst>
                <a:gd name="adj" fmla="val 4167"/>
              </a:avLst>
            </a:prstGeom>
            <a:gradFill rotWithShape="0">
              <a:gsLst>
                <a:gs pos="0">
                  <a:srgbClr val="8DACD0"/>
                </a:gs>
                <a:gs pos="50000">
                  <a:srgbClr val="DEE7F1"/>
                </a:gs>
                <a:gs pos="100000">
                  <a:srgbClr val="DEE7F1"/>
                </a:gs>
              </a:gsLst>
              <a:lin ang="5400000"/>
            </a:gradFill>
            <a:ln w="9525">
              <a:solidFill>
                <a:srgbClr val="4D4D4D"/>
              </a:solidFill>
              <a:round/>
              <a:headEnd/>
              <a:tailEnd/>
            </a:ln>
            <a:effectLst>
              <a:outerShdw dist="35921" dir="2700000" algn="ctr" rotWithShape="0">
                <a:srgbClr val="AFAFAF"/>
              </a:outerShdw>
            </a:effectLst>
          </p:spPr>
          <p:txBody>
            <a:bodyPr/>
            <a:lstStyle/>
            <a:p>
              <a:pPr marL="58738" algn="ctr">
                <a:lnSpc>
                  <a:spcPct val="90000"/>
                </a:lnSpc>
                <a:spcBef>
                  <a:spcPct val="40000"/>
                </a:spcBef>
                <a:buClr>
                  <a:srgbClr val="8DACD0"/>
                </a:buClr>
                <a:buSzPct val="70000"/>
                <a:defRPr/>
              </a:pPr>
              <a:endParaRPr lang="en-US" sz="2400" dirty="0"/>
            </a:p>
          </p:txBody>
        </p:sp>
        <p:sp>
          <p:nvSpPr>
            <p:cNvPr id="22" name="AutoShape 5"/>
            <p:cNvSpPr>
              <a:spLocks noChangeArrowheads="1"/>
            </p:cNvSpPr>
            <p:nvPr/>
          </p:nvSpPr>
          <p:spPr bwMode="auto">
            <a:xfrm>
              <a:off x="942545" y="3188491"/>
              <a:ext cx="7314545" cy="44461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dirty="0"/>
                <a:t>Fiabilité et performances</a:t>
              </a:r>
              <a:endParaRPr lang="en-US" sz="2400" b="0" dirty="0"/>
            </a:p>
          </p:txBody>
        </p:sp>
        <p:sp>
          <p:nvSpPr>
            <p:cNvPr id="24" name="AutoShape 5"/>
            <p:cNvSpPr>
              <a:spLocks noChangeArrowheads="1"/>
            </p:cNvSpPr>
            <p:nvPr/>
          </p:nvSpPr>
          <p:spPr bwMode="auto">
            <a:xfrm>
              <a:off x="942545" y="3702027"/>
              <a:ext cx="7314545" cy="44461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dirty="0" err="1"/>
                <a:t>Déploiement</a:t>
              </a:r>
              <a:endParaRPr lang="en-US" sz="2400" dirty="0"/>
            </a:p>
          </p:txBody>
        </p:sp>
        <p:sp>
          <p:nvSpPr>
            <p:cNvPr id="26" name="AutoShape 5"/>
            <p:cNvSpPr>
              <a:spLocks noChangeArrowheads="1"/>
            </p:cNvSpPr>
            <p:nvPr/>
          </p:nvSpPr>
          <p:spPr bwMode="auto">
            <a:xfrm>
              <a:off x="942545" y="1647887"/>
              <a:ext cx="7314545" cy="44461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dirty="0"/>
                <a:t>Convivialité</a:t>
              </a:r>
              <a:endParaRPr lang="en-US" sz="2400" b="0" dirty="0"/>
            </a:p>
          </p:txBody>
        </p:sp>
        <p:sp>
          <p:nvSpPr>
            <p:cNvPr id="28" name="AutoShape 5"/>
            <p:cNvSpPr>
              <a:spLocks noChangeArrowheads="1"/>
            </p:cNvSpPr>
            <p:nvPr/>
          </p:nvSpPr>
          <p:spPr bwMode="auto">
            <a:xfrm>
              <a:off x="942545" y="2163052"/>
              <a:ext cx="7314545" cy="44461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en-US" sz="2400" dirty="0" err="1"/>
                <a:t>Sécurité</a:t>
              </a:r>
              <a:endParaRPr lang="en-US" sz="2400" dirty="0"/>
            </a:p>
          </p:txBody>
        </p:sp>
        <p:sp>
          <p:nvSpPr>
            <p:cNvPr id="23" name="Rounded Rectangle 22"/>
            <p:cNvSpPr>
              <a:spLocks noChangeArrowheads="1"/>
            </p:cNvSpPr>
            <p:nvPr/>
          </p:nvSpPr>
          <p:spPr bwMode="auto">
            <a:xfrm>
              <a:off x="777273" y="3245551"/>
              <a:ext cx="322363" cy="317902"/>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25" name="Rounded Rectangle 24"/>
            <p:cNvSpPr>
              <a:spLocks noChangeArrowheads="1"/>
            </p:cNvSpPr>
            <p:nvPr/>
          </p:nvSpPr>
          <p:spPr bwMode="auto">
            <a:xfrm>
              <a:off x="777273" y="3759086"/>
              <a:ext cx="322363" cy="319533"/>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27" name="Rounded Rectangle 26"/>
            <p:cNvSpPr>
              <a:spLocks noChangeArrowheads="1"/>
            </p:cNvSpPr>
            <p:nvPr/>
          </p:nvSpPr>
          <p:spPr bwMode="auto">
            <a:xfrm>
              <a:off x="777273" y="1704946"/>
              <a:ext cx="322363" cy="319533"/>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29" name="Rounded Rectangle 28"/>
            <p:cNvSpPr>
              <a:spLocks noChangeArrowheads="1"/>
            </p:cNvSpPr>
            <p:nvPr/>
          </p:nvSpPr>
          <p:spPr bwMode="auto">
            <a:xfrm>
              <a:off x="777273" y="2220111"/>
              <a:ext cx="322363" cy="317903"/>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sp>
          <p:nvSpPr>
            <p:cNvPr id="102" name="AutoShape 5"/>
            <p:cNvSpPr>
              <a:spLocks noChangeArrowheads="1"/>
            </p:cNvSpPr>
            <p:nvPr/>
          </p:nvSpPr>
          <p:spPr bwMode="auto">
            <a:xfrm>
              <a:off x="944182" y="2668436"/>
              <a:ext cx="7314545" cy="444611"/>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a:effectLst>
              <a:outerShdw dist="35921" dir="2700000" algn="ctr" rotWithShape="0">
                <a:srgbClr val="AFAFAF"/>
              </a:outerShdw>
            </a:effectLst>
          </p:spPr>
          <p:txBody>
            <a:bodyPr lIns="320040" anchor="ctr">
              <a:spAutoFit/>
            </a:bodyPr>
            <a:lstStyle/>
            <a:p>
              <a:pPr>
                <a:lnSpc>
                  <a:spcPct val="90000"/>
                </a:lnSpc>
                <a:spcBef>
                  <a:spcPct val="40000"/>
                </a:spcBef>
                <a:buClr>
                  <a:srgbClr val="8DACD0"/>
                </a:buClr>
                <a:buSzPct val="70000"/>
                <a:buFont typeface="Wingdings" pitchFamily="2" charset="2"/>
                <a:buNone/>
                <a:defRPr/>
              </a:pPr>
              <a:r>
                <a:rPr lang="fr-FR" sz="2400" dirty="0"/>
                <a:t>Protection de données multi niveau</a:t>
              </a:r>
              <a:endParaRPr lang="en-US" sz="2400" b="0" dirty="0"/>
            </a:p>
          </p:txBody>
        </p:sp>
        <p:sp>
          <p:nvSpPr>
            <p:cNvPr id="103" name="Rounded Rectangle 102"/>
            <p:cNvSpPr>
              <a:spLocks noChangeArrowheads="1"/>
            </p:cNvSpPr>
            <p:nvPr/>
          </p:nvSpPr>
          <p:spPr bwMode="auto">
            <a:xfrm>
              <a:off x="778909" y="2725495"/>
              <a:ext cx="322364" cy="319533"/>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2000" dirty="0">
                  <a:solidFill>
                    <a:srgbClr val="990033"/>
                  </a:solidFill>
                  <a:latin typeface="Wingdings" pitchFamily="2" charset="2"/>
                </a:rPr>
                <a:t>ü</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par>
                                <p:cTn id="8" presetID="5" presetClass="exit" presetSubtype="10" fill="hold" nodeType="withEffect">
                                  <p:stCondLst>
                                    <p:cond delay="0"/>
                                  </p:stCondLst>
                                  <p:childTnLst>
                                    <p:animEffect transition="out" filter="checkerboard(across)">
                                      <p:cBhvr>
                                        <p:cTn id="9" dur="500"/>
                                        <p:tgtEl>
                                          <p:spTgt spid="174"/>
                                        </p:tgtEl>
                                      </p:cBhvr>
                                    </p:animEffect>
                                    <p:set>
                                      <p:cBhvr>
                                        <p:cTn id="10" dur="1" fill="hold">
                                          <p:stCondLst>
                                            <p:cond delay="499"/>
                                          </p:stCondLst>
                                        </p:cTn>
                                        <p:tgtEl>
                                          <p:spTgt spid="174"/>
                                        </p:tgtEl>
                                        <p:attrNameLst>
                                          <p:attrName>style.visibility</p:attrName>
                                        </p:attrNameLst>
                                      </p:cBhvr>
                                      <p:to>
                                        <p:strVal val="hidden"/>
                                      </p:to>
                                    </p:set>
                                  </p:childTnLst>
                                </p:cTn>
                              </p:par>
                              <p:par>
                                <p:cTn id="11" presetID="5" presetClass="exit" presetSubtype="10" fill="hold" nodeType="withEffect">
                                  <p:stCondLst>
                                    <p:cond delay="0"/>
                                  </p:stCondLst>
                                  <p:childTnLst>
                                    <p:animEffect transition="out" filter="checkerboard(across)">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par>
                                <p:cTn id="14" presetID="5" presetClass="exit" presetSubtype="10" fill="hold" nodeType="withEffect">
                                  <p:stCondLst>
                                    <p:cond delay="0"/>
                                  </p:stCondLst>
                                  <p:childTnLst>
                                    <p:animEffect transition="out" filter="checkerboard(across)">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par>
                                <p:cTn id="17" presetID="5" presetClass="exit" presetSubtype="10" fill="hold" nodeType="withEffect">
                                  <p:stCondLst>
                                    <p:cond delay="0"/>
                                  </p:stCondLst>
                                  <p:childTnLst>
                                    <p:animEffect transition="out" filter="checkerboard(across)">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par>
                                <p:cTn id="20" presetID="5" presetClass="exit" presetSubtype="10" fill="hold" nodeType="withEffect">
                                  <p:stCondLst>
                                    <p:cond delay="0"/>
                                  </p:stCondLst>
                                  <p:childTnLst>
                                    <p:animEffect transition="out" filter="checkerboard(across)">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par>
                                <p:cTn id="23" presetID="5" presetClass="exit" presetSubtype="10" fill="hold" nodeType="withEffect">
                                  <p:stCondLst>
                                    <p:cond delay="0"/>
                                  </p:stCondLst>
                                  <p:childTnLst>
                                    <p:animEffect transition="out" filter="checkerboard(across)">
                                      <p:cBhvr>
                                        <p:cTn id="24" dur="500"/>
                                        <p:tgtEl>
                                          <p:spTgt spid="16"/>
                                        </p:tgtEl>
                                      </p:cBhvr>
                                    </p:animEffect>
                                    <p:set>
                                      <p:cBhvr>
                                        <p:cTn id="25" dur="1" fill="hold">
                                          <p:stCondLst>
                                            <p:cond delay="499"/>
                                          </p:stCondLst>
                                        </p:cTn>
                                        <p:tgtEl>
                                          <p:spTgt spid="16"/>
                                        </p:tgtEl>
                                        <p:attrNameLst>
                                          <p:attrName>style.visibility</p:attrName>
                                        </p:attrNameLst>
                                      </p:cBhvr>
                                      <p:to>
                                        <p:strVal val="hidden"/>
                                      </p:to>
                                    </p:set>
                                  </p:childTnLst>
                                </p:cTn>
                              </p:par>
                              <p:par>
                                <p:cTn id="26" presetID="5" presetClass="exit" presetSubtype="10" fill="hold" nodeType="withEffect">
                                  <p:stCondLst>
                                    <p:cond delay="0"/>
                                  </p:stCondLst>
                                  <p:childTnLst>
                                    <p:animEffect transition="out" filter="checkerboard(across)">
                                      <p:cBhvr>
                                        <p:cTn id="27" dur="500"/>
                                        <p:tgtEl>
                                          <p:spTgt spid="17"/>
                                        </p:tgtEl>
                                      </p:cBhvr>
                                    </p:animEffect>
                                    <p:set>
                                      <p:cBhvr>
                                        <p:cTn id="28" dur="1" fill="hold">
                                          <p:stCondLst>
                                            <p:cond delay="499"/>
                                          </p:stCondLst>
                                        </p:cTn>
                                        <p:tgtEl>
                                          <p:spTgt spid="17"/>
                                        </p:tgtEl>
                                        <p:attrNameLst>
                                          <p:attrName>style.visibility</p:attrName>
                                        </p:attrNameLst>
                                      </p:cBhvr>
                                      <p:to>
                                        <p:strVal val="hidden"/>
                                      </p:to>
                                    </p:set>
                                  </p:childTnLst>
                                </p:cTn>
                              </p:par>
                              <p:par>
                                <p:cTn id="29" presetID="5" presetClass="exit" presetSubtype="10" fill="hold" nodeType="withEffect">
                                  <p:stCondLst>
                                    <p:cond delay="0"/>
                                  </p:stCondLst>
                                  <p:childTnLst>
                                    <p:animEffect transition="out" filter="checkerboard(across)">
                                      <p:cBhvr>
                                        <p:cTn id="30" dur="500"/>
                                        <p:tgtEl>
                                          <p:spTgt spid="19"/>
                                        </p:tgtEl>
                                      </p:cBhvr>
                                    </p:animEffect>
                                    <p:set>
                                      <p:cBhvr>
                                        <p:cTn id="31" dur="1" fill="hold">
                                          <p:stCondLst>
                                            <p:cond delay="499"/>
                                          </p:stCondLst>
                                        </p:cTn>
                                        <p:tgtEl>
                                          <p:spTgt spid="1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5" presetClass="exit" presetSubtype="10" fill="hold" nodeType="clickEffect">
                                  <p:stCondLst>
                                    <p:cond delay="0"/>
                                  </p:stCondLst>
                                  <p:childTnLst>
                                    <p:animEffect transition="out" filter="checkerboard(across)">
                                      <p:cBhvr>
                                        <p:cTn id="35" dur="500"/>
                                        <p:tgtEl>
                                          <p:spTgt spid="10"/>
                                        </p:tgtEl>
                                      </p:cBhvr>
                                    </p:animEffect>
                                    <p:set>
                                      <p:cBhvr>
                                        <p:cTn id="36" dur="1" fill="hold">
                                          <p:stCondLst>
                                            <p:cond delay="499"/>
                                          </p:stCondLst>
                                        </p:cTn>
                                        <p:tgtEl>
                                          <p:spTgt spid="10"/>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9"/>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nodeType="clickEffect">
                                  <p:stCondLst>
                                    <p:cond delay="0"/>
                                  </p:stCondLst>
                                  <p:childTnLst>
                                    <p:set>
                                      <p:cBhvr>
                                        <p:cTn id="48" dur="1" fill="hold">
                                          <p:stCondLst>
                                            <p:cond delay="0"/>
                                          </p:stCondLst>
                                        </p:cTn>
                                        <p:tgtEl>
                                          <p:spTgt spid="8"/>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xit" presetSubtype="0" fill="hold" nodeType="click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5"/>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nodeType="clickEffect">
                                  <p:stCondLst>
                                    <p:cond delay="0"/>
                                  </p:stCondLst>
                                  <p:childTnLst>
                                    <p:set>
                                      <p:cBhvr>
                                        <p:cTn id="60" dur="1" fill="hold">
                                          <p:stCondLst>
                                            <p:cond delay="0"/>
                                          </p:stCondLst>
                                        </p:cTn>
                                        <p:tgtEl>
                                          <p:spTgt spid="5"/>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childTnLst>
                          </p:cTn>
                        </p:par>
                        <p:par>
                          <p:cTn id="63" fill="hold" nodeType="afterGroup">
                            <p:stCondLst>
                              <p:cond delay="0"/>
                            </p:stCondLst>
                            <p:childTnLst>
                              <p:par>
                                <p:cTn id="64" presetID="1" presetClass="entr" presetSubtype="0" fill="hold" nodeType="afterEffect">
                                  <p:stCondLst>
                                    <p:cond delay="0"/>
                                  </p:stCondLst>
                                  <p:childTnLst>
                                    <p:set>
                                      <p:cBhvr>
                                        <p:cTn id="65" dur="1" fill="hold">
                                          <p:stCondLst>
                                            <p:cond delay="0"/>
                                          </p:stCondLst>
                                        </p:cTn>
                                        <p:tgtEl>
                                          <p:spTgt spid="16"/>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9" name="Rectangle 2"/>
          <p:cNvSpPr>
            <a:spLocks noGrp="1" noChangeArrowheads="1"/>
          </p:cNvSpPr>
          <p:nvPr>
            <p:ph type="title"/>
          </p:nvPr>
        </p:nvSpPr>
        <p:spPr/>
        <p:txBody>
          <a:bodyPr>
            <a:normAutofit/>
          </a:bodyPr>
          <a:lstStyle/>
          <a:p>
            <a:r>
              <a:rPr lang="en-US" sz="2800" dirty="0">
                <a:solidFill>
                  <a:srgbClr val="C00000"/>
                </a:solidFill>
              </a:rPr>
              <a:t>Les </a:t>
            </a:r>
            <a:r>
              <a:rPr lang="en-US" sz="2800" dirty="0" err="1">
                <a:solidFill>
                  <a:srgbClr val="C00000"/>
                </a:solidFill>
              </a:rPr>
              <a:t>éditions</a:t>
            </a:r>
            <a:r>
              <a:rPr lang="en-US" sz="2800" dirty="0">
                <a:solidFill>
                  <a:srgbClr val="C00000"/>
                </a:solidFill>
              </a:rPr>
              <a:t> de Windows 7</a:t>
            </a:r>
          </a:p>
        </p:txBody>
      </p:sp>
      <p:pic>
        <p:nvPicPr>
          <p:cNvPr id="9255" name="Picture 2"/>
          <p:cNvPicPr>
            <a:picLocks noChangeAspect="1" noChangeArrowheads="1"/>
          </p:cNvPicPr>
          <p:nvPr/>
        </p:nvPicPr>
        <p:blipFill>
          <a:blip r:embed="rId3"/>
          <a:srcRect/>
          <a:stretch>
            <a:fillRect/>
          </a:stretch>
        </p:blipFill>
        <p:spPr bwMode="auto">
          <a:xfrm>
            <a:off x="0" y="1142416"/>
            <a:ext cx="8605001" cy="5715584"/>
          </a:xfrm>
          <a:prstGeom prst="rect">
            <a:avLst/>
          </a:prstGeom>
          <a:gradFill>
            <a:gsLst>
              <a:gs pos="0">
                <a:schemeClr val="bg2">
                  <a:lumMod val="75000"/>
                </a:schemeClr>
              </a:gs>
              <a:gs pos="100000">
                <a:schemeClr val="accent3">
                  <a:lumMod val="85000"/>
                </a:schemeClr>
              </a:gs>
            </a:gsLst>
            <a:lin ang="2700000" scaled="1"/>
          </a:gradFill>
        </p:spPr>
      </p:pic>
      <p:sp>
        <p:nvSpPr>
          <p:cNvPr id="140" name="Rounded Rectangle 139"/>
          <p:cNvSpPr/>
          <p:nvPr/>
        </p:nvSpPr>
        <p:spPr bwMode="auto">
          <a:xfrm>
            <a:off x="4791558" y="4889991"/>
            <a:ext cx="1792851" cy="1786728"/>
          </a:xfrm>
          <a:prstGeom prst="roundRect">
            <a:avLst>
              <a:gd name="adj" fmla="val 4518"/>
            </a:avLst>
          </a:prstGeom>
          <a:gradFill>
            <a:gsLst>
              <a:gs pos="0">
                <a:schemeClr val="bg2">
                  <a:lumMod val="75000"/>
                </a:schemeClr>
              </a:gs>
              <a:gs pos="100000">
                <a:schemeClr val="accent3">
                  <a:lumMod val="85000"/>
                </a:schemeClr>
              </a:gs>
            </a:gsLst>
            <a:lin ang="2700000" scaled="1"/>
          </a:gradFill>
        </p:spPr>
        <p:style>
          <a:lnRef idx="0">
            <a:schemeClr val="lt1">
              <a:hueOff val="0"/>
              <a:satOff val="0"/>
              <a:lumOff val="0"/>
              <a:alphaOff val="0"/>
            </a:schemeClr>
          </a:lnRef>
          <a:fillRef idx="3">
            <a:schemeClr val="accent1">
              <a:shade val="60000"/>
              <a:hueOff val="0"/>
              <a:satOff val="0"/>
              <a:lumOff val="0"/>
              <a:alphaOff val="0"/>
            </a:schemeClr>
          </a:fillRef>
          <a:effectRef idx="3">
            <a:schemeClr val="accent1">
              <a:shade val="60000"/>
              <a:hueOff val="0"/>
              <a:satOff val="0"/>
              <a:lumOff val="0"/>
              <a:alphaOff val="0"/>
            </a:schemeClr>
          </a:effectRef>
          <a:fontRef idx="minor">
            <a:schemeClr val="lt1"/>
          </a:fontRef>
        </p:style>
        <p:txBody>
          <a:bodyPr/>
          <a:lstStyle/>
          <a:p>
            <a:pPr algn="ctr">
              <a:defRPr/>
            </a:pPr>
            <a:r>
              <a:rPr lang="en-US" sz="1600" dirty="0">
                <a:solidFill>
                  <a:schemeClr val="tx2"/>
                </a:solidFill>
              </a:rPr>
              <a:t>Windows 7 </a:t>
            </a:r>
            <a:r>
              <a:rPr lang="en-US" sz="1600" dirty="0" err="1">
                <a:solidFill>
                  <a:schemeClr val="tx2"/>
                </a:solidFill>
              </a:rPr>
              <a:t>Familiale</a:t>
            </a:r>
            <a:r>
              <a:rPr lang="en-US" sz="1600" dirty="0">
                <a:solidFill>
                  <a:schemeClr val="tx2"/>
                </a:solidFill>
              </a:rPr>
              <a:t> Basic</a:t>
            </a:r>
          </a:p>
          <a:p>
            <a:pPr algn="ctr">
              <a:defRPr/>
            </a:pPr>
            <a:endParaRPr lang="en-US" sz="1400" b="0" dirty="0">
              <a:solidFill>
                <a:schemeClr val="tx1"/>
              </a:solidFill>
              <a:latin typeface="+mj-lt"/>
              <a:cs typeface="Arial" charset="0"/>
            </a:endParaRPr>
          </a:p>
          <a:p>
            <a:pPr algn="ctr">
              <a:defRPr/>
            </a:pPr>
            <a:r>
              <a:rPr lang="fr-FR" sz="1400" b="0" dirty="0">
                <a:solidFill>
                  <a:schemeClr val="tx1"/>
                </a:solidFill>
                <a:latin typeface="+mj-lt"/>
                <a:cs typeface="Arial" charset="0"/>
              </a:rPr>
              <a:t>Édition pour les marchés émergents</a:t>
            </a:r>
            <a:endParaRPr lang="en-US" sz="1600" dirty="0">
              <a:solidFill>
                <a:schemeClr val="tx2"/>
              </a:solidFill>
            </a:endParaRPr>
          </a:p>
          <a:p>
            <a:pPr algn="ctr">
              <a:defRPr/>
            </a:pPr>
            <a:endParaRPr lang="en-US" sz="1600" dirty="0">
              <a:solidFill>
                <a:schemeClr val="tx2"/>
              </a:solidFill>
            </a:endParaRPr>
          </a:p>
        </p:txBody>
      </p:sp>
      <p:sp>
        <p:nvSpPr>
          <p:cNvPr id="141" name="AutoShape 34"/>
          <p:cNvSpPr>
            <a:spLocks noChangeArrowheads="1"/>
          </p:cNvSpPr>
          <p:nvPr/>
        </p:nvSpPr>
        <p:spPr bwMode="auto">
          <a:xfrm>
            <a:off x="2575169" y="1867433"/>
            <a:ext cx="1919792" cy="4817857"/>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a:scene3d>
            <a:camera prst="orthographicFront"/>
            <a:lightRig rig="threePt" dir="t"/>
          </a:scene3d>
          <a:sp3d>
            <a:bevelT/>
          </a:sp3d>
        </p:spPr>
        <p:txBody>
          <a:bodyPr tIns="137160" bIns="137160"/>
          <a:lstStyle/>
          <a:p>
            <a:pPr indent="-231775" algn="ctr">
              <a:lnSpc>
                <a:spcPct val="90000"/>
              </a:lnSpc>
              <a:spcBef>
                <a:spcPct val="40000"/>
              </a:spcBef>
              <a:buClr>
                <a:srgbClr val="8DACD0"/>
              </a:buClr>
              <a:buSzPct val="70000"/>
              <a:defRPr/>
            </a:pPr>
            <a:r>
              <a:rPr lang="en-US" sz="1600" dirty="0"/>
              <a:t>Windows 7 </a:t>
            </a:r>
            <a:r>
              <a:rPr lang="en-US" sz="1600" dirty="0" err="1"/>
              <a:t>Professionnel</a:t>
            </a:r>
            <a:endParaRPr lang="en-US" sz="1600" dirty="0"/>
          </a:p>
        </p:txBody>
      </p:sp>
      <p:sp>
        <p:nvSpPr>
          <p:cNvPr id="142" name="AutoShape 12"/>
          <p:cNvSpPr>
            <a:spLocks noChangeArrowheads="1"/>
          </p:cNvSpPr>
          <p:nvPr/>
        </p:nvSpPr>
        <p:spPr bwMode="auto">
          <a:xfrm>
            <a:off x="377492" y="1867433"/>
            <a:ext cx="1919793" cy="4817857"/>
          </a:xfrm>
          <a:prstGeom prst="roundRect">
            <a:avLst>
              <a:gd name="adj" fmla="val 2856"/>
            </a:avLst>
          </a:prstGeom>
          <a:gradFill>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a:scene3d>
            <a:camera prst="orthographicFront"/>
            <a:lightRig rig="threePt" dir="t"/>
          </a:scene3d>
          <a:sp3d>
            <a:bevelT/>
          </a:sp3d>
        </p:spPr>
        <p:txBody>
          <a:bodyPr lIns="182880"/>
          <a:lstStyle/>
          <a:p>
            <a:pPr algn="ctr">
              <a:defRPr/>
            </a:pPr>
            <a:r>
              <a:rPr lang="en-GB" sz="1600" dirty="0"/>
              <a:t>Windows 7 </a:t>
            </a:r>
            <a:r>
              <a:rPr lang="en-GB" sz="1600" dirty="0" err="1"/>
              <a:t>Familiale</a:t>
            </a:r>
            <a:r>
              <a:rPr lang="en-GB" sz="1600" dirty="0"/>
              <a:t> Premium</a:t>
            </a:r>
          </a:p>
        </p:txBody>
      </p:sp>
      <p:sp>
        <p:nvSpPr>
          <p:cNvPr id="7192" name="TextBox 142"/>
          <p:cNvSpPr txBox="1">
            <a:spLocks noChangeArrowheads="1"/>
          </p:cNvSpPr>
          <p:nvPr/>
        </p:nvSpPr>
        <p:spPr bwMode="auto">
          <a:xfrm>
            <a:off x="431889" y="3197938"/>
            <a:ext cx="1783376" cy="1805755"/>
          </a:xfrm>
          <a:prstGeom prst="rect">
            <a:avLst/>
          </a:prstGeom>
          <a:noFill/>
          <a:ln w="9525">
            <a:noFill/>
            <a:miter lim="800000"/>
            <a:headEnd/>
            <a:tailEnd/>
          </a:ln>
        </p:spPr>
        <p:txBody>
          <a:bodyPr wrap="square">
            <a:spAutoFit/>
          </a:bodyPr>
          <a:lstStyle/>
          <a:p>
            <a:pPr marL="225425" indent="-225425">
              <a:buFont typeface="Arial" pitchFamily="34" charset="0"/>
              <a:buChar char="•"/>
              <a:defRPr/>
            </a:pPr>
            <a:r>
              <a:rPr lang="en-US" sz="1400" dirty="0">
                <a:latin typeface="+mj-lt"/>
              </a:rPr>
              <a:t>Edition pour </a:t>
            </a:r>
            <a:r>
              <a:rPr lang="en-US" sz="1400" dirty="0" err="1">
                <a:latin typeface="+mj-lt"/>
              </a:rPr>
              <a:t>utilisateur</a:t>
            </a:r>
            <a:r>
              <a:rPr lang="en-US" sz="1400" dirty="0">
                <a:latin typeface="+mj-lt"/>
              </a:rPr>
              <a:t>  standard</a:t>
            </a:r>
          </a:p>
          <a:p>
            <a:pPr marL="225425" indent="-225425">
              <a:buFont typeface="Arial" pitchFamily="34" charset="0"/>
              <a:buChar char="•"/>
              <a:defRPr/>
            </a:pPr>
            <a:endParaRPr lang="en-US" sz="1400" dirty="0">
              <a:latin typeface="+mj-lt"/>
            </a:endParaRPr>
          </a:p>
          <a:p>
            <a:pPr marL="225425" indent="-225425">
              <a:buFont typeface="Arial" pitchFamily="34" charset="0"/>
              <a:buChar char="•"/>
              <a:defRPr/>
            </a:pPr>
            <a:r>
              <a:rPr lang="fr-FR" sz="1400" dirty="0">
                <a:latin typeface="+mj-lt"/>
              </a:rPr>
              <a:t>N’inclut pas les fonctionnalités d’entreprise</a:t>
            </a:r>
            <a:endParaRPr lang="en-US" sz="1400" dirty="0">
              <a:latin typeface="Calibri" pitchFamily="34" charset="0"/>
            </a:endParaRPr>
          </a:p>
        </p:txBody>
      </p:sp>
      <p:sp>
        <p:nvSpPr>
          <p:cNvPr id="9270" name="TextBox 143"/>
          <p:cNvSpPr txBox="1">
            <a:spLocks noChangeArrowheads="1"/>
          </p:cNvSpPr>
          <p:nvPr/>
        </p:nvSpPr>
        <p:spPr bwMode="auto">
          <a:xfrm>
            <a:off x="201514" y="1323657"/>
            <a:ext cx="2157084" cy="453429"/>
          </a:xfrm>
          <a:prstGeom prst="rect">
            <a:avLst/>
          </a:prstGeom>
          <a:noFill/>
          <a:ln w="9525">
            <a:noFill/>
            <a:miter lim="800000"/>
            <a:headEnd/>
            <a:tailEnd/>
          </a:ln>
        </p:spPr>
        <p:txBody>
          <a:bodyPr>
            <a:spAutoFit/>
          </a:bodyPr>
          <a:lstStyle/>
          <a:p>
            <a:pPr algn="ctr"/>
            <a:r>
              <a:rPr lang="en-US" sz="2000" dirty="0" err="1">
                <a:latin typeface="Calibri" pitchFamily="34" charset="0"/>
              </a:rPr>
              <a:t>Particuliers</a:t>
            </a:r>
            <a:endParaRPr lang="en-US" sz="2000" dirty="0">
              <a:latin typeface="Calibri" pitchFamily="34" charset="0"/>
            </a:endParaRPr>
          </a:p>
        </p:txBody>
      </p:sp>
      <p:sp>
        <p:nvSpPr>
          <p:cNvPr id="9271" name="TextBox 144"/>
          <p:cNvSpPr txBox="1">
            <a:spLocks noChangeArrowheads="1"/>
          </p:cNvSpPr>
          <p:nvPr/>
        </p:nvSpPr>
        <p:spPr bwMode="auto">
          <a:xfrm>
            <a:off x="2409787" y="1373783"/>
            <a:ext cx="2157084" cy="453429"/>
          </a:xfrm>
          <a:prstGeom prst="rect">
            <a:avLst/>
          </a:prstGeom>
          <a:noFill/>
          <a:ln w="9525">
            <a:noFill/>
            <a:miter lim="800000"/>
            <a:headEnd/>
            <a:tailEnd/>
          </a:ln>
        </p:spPr>
        <p:txBody>
          <a:bodyPr>
            <a:spAutoFit/>
          </a:bodyPr>
          <a:lstStyle/>
          <a:p>
            <a:pPr algn="ctr"/>
            <a:r>
              <a:rPr lang="en-US" sz="2000" dirty="0" err="1">
                <a:latin typeface="Calibri" pitchFamily="34" charset="0"/>
              </a:rPr>
              <a:t>Entreprises</a:t>
            </a:r>
            <a:endParaRPr lang="en-US" sz="2000" dirty="0">
              <a:latin typeface="Calibri" pitchFamily="34" charset="0"/>
            </a:endParaRPr>
          </a:p>
        </p:txBody>
      </p:sp>
      <p:sp>
        <p:nvSpPr>
          <p:cNvPr id="146" name="Rounded Rectangle 145"/>
          <p:cNvSpPr/>
          <p:nvPr/>
        </p:nvSpPr>
        <p:spPr bwMode="auto">
          <a:xfrm>
            <a:off x="4796875" y="2199192"/>
            <a:ext cx="1792851" cy="1803313"/>
          </a:xfrm>
          <a:prstGeom prst="roundRect">
            <a:avLst>
              <a:gd name="adj" fmla="val 4518"/>
            </a:avLst>
          </a:prstGeom>
          <a:gradFill>
            <a:gsLst>
              <a:gs pos="0">
                <a:schemeClr val="bg2">
                  <a:lumMod val="75000"/>
                </a:schemeClr>
              </a:gs>
              <a:gs pos="100000">
                <a:schemeClr val="accent3">
                  <a:lumMod val="85000"/>
                </a:schemeClr>
              </a:gs>
            </a:gsLst>
            <a:lin ang="2700000" scaled="1"/>
          </a:gradFill>
        </p:spPr>
        <p:style>
          <a:lnRef idx="0">
            <a:schemeClr val="lt1">
              <a:hueOff val="0"/>
              <a:satOff val="0"/>
              <a:lumOff val="0"/>
              <a:alphaOff val="0"/>
            </a:schemeClr>
          </a:lnRef>
          <a:fillRef idx="3">
            <a:schemeClr val="accent1">
              <a:shade val="60000"/>
              <a:hueOff val="0"/>
              <a:satOff val="0"/>
              <a:lumOff val="0"/>
              <a:alphaOff val="0"/>
            </a:schemeClr>
          </a:fillRef>
          <a:effectRef idx="3">
            <a:schemeClr val="accent1">
              <a:shade val="60000"/>
              <a:hueOff val="0"/>
              <a:satOff val="0"/>
              <a:lumOff val="0"/>
              <a:alphaOff val="0"/>
            </a:schemeClr>
          </a:effectRef>
          <a:fontRef idx="minor">
            <a:schemeClr val="lt1"/>
          </a:fontRef>
        </p:style>
        <p:txBody>
          <a:bodyPr/>
          <a:lstStyle/>
          <a:p>
            <a:pPr algn="ctr">
              <a:defRPr/>
            </a:pPr>
            <a:r>
              <a:rPr lang="en-US" sz="1600" dirty="0">
                <a:solidFill>
                  <a:schemeClr val="tx2"/>
                </a:solidFill>
              </a:rPr>
              <a:t>Windows 7 </a:t>
            </a:r>
            <a:r>
              <a:rPr lang="en-US" sz="1600" dirty="0" err="1">
                <a:solidFill>
                  <a:schemeClr val="tx2"/>
                </a:solidFill>
              </a:rPr>
              <a:t>Intégrale</a:t>
            </a:r>
            <a:endParaRPr lang="en-US" sz="1600" dirty="0">
              <a:solidFill>
                <a:schemeClr val="tx2"/>
              </a:solidFill>
            </a:endParaRPr>
          </a:p>
          <a:p>
            <a:pPr algn="ctr">
              <a:defRPr/>
            </a:pPr>
            <a:endParaRPr lang="en-US" dirty="0">
              <a:solidFill>
                <a:prstClr val="white"/>
              </a:solidFill>
              <a:effectLst>
                <a:outerShdw blurRad="38100" dist="38100" dir="2700000" algn="tl">
                  <a:srgbClr val="000000">
                    <a:alpha val="43137"/>
                  </a:srgbClr>
                </a:outerShdw>
              </a:effectLst>
              <a:latin typeface="Segoe"/>
            </a:endParaRPr>
          </a:p>
        </p:txBody>
      </p:sp>
      <p:sp>
        <p:nvSpPr>
          <p:cNvPr id="9275" name="TextBox 146"/>
          <p:cNvSpPr txBox="1">
            <a:spLocks noChangeArrowheads="1"/>
          </p:cNvSpPr>
          <p:nvPr/>
        </p:nvSpPr>
        <p:spPr bwMode="auto">
          <a:xfrm>
            <a:off x="4510018" y="1770709"/>
            <a:ext cx="2482795" cy="451440"/>
          </a:xfrm>
          <a:prstGeom prst="rect">
            <a:avLst/>
          </a:prstGeom>
          <a:noFill/>
          <a:ln w="9525">
            <a:noFill/>
            <a:miter lim="800000"/>
            <a:headEnd/>
            <a:tailEnd/>
          </a:ln>
        </p:spPr>
        <p:txBody>
          <a:bodyPr wrap="square">
            <a:spAutoFit/>
          </a:bodyPr>
          <a:lstStyle/>
          <a:p>
            <a:pPr algn="ctr"/>
            <a:r>
              <a:rPr lang="en-US" dirty="0" err="1">
                <a:latin typeface="Calibri" pitchFamily="34" charset="0"/>
              </a:rPr>
              <a:t>Férus</a:t>
            </a:r>
            <a:r>
              <a:rPr lang="en-US" dirty="0">
                <a:latin typeface="Calibri" pitchFamily="34" charset="0"/>
              </a:rPr>
              <a:t> de technologies  </a:t>
            </a:r>
          </a:p>
        </p:txBody>
      </p:sp>
      <p:sp>
        <p:nvSpPr>
          <p:cNvPr id="148" name="TextBox 147"/>
          <p:cNvSpPr txBox="1"/>
          <p:nvPr/>
        </p:nvSpPr>
        <p:spPr bwMode="auto">
          <a:xfrm>
            <a:off x="4756708" y="2916758"/>
            <a:ext cx="1863899" cy="833426"/>
          </a:xfrm>
          <a:prstGeom prst="rect">
            <a:avLst/>
          </a:prstGeom>
          <a:noFill/>
        </p:spPr>
        <p:txBody>
          <a:bodyPr>
            <a:spAutoFit/>
          </a:bodyPr>
          <a:lstStyle/>
          <a:p>
            <a:pPr algn="ctr">
              <a:defRPr/>
            </a:pPr>
            <a:r>
              <a:rPr lang="en-US" sz="1400" b="0" dirty="0" err="1">
                <a:latin typeface="+mj-lt"/>
              </a:rPr>
              <a:t>Toutes</a:t>
            </a:r>
            <a:r>
              <a:rPr lang="en-US" sz="1400" b="0" dirty="0">
                <a:latin typeface="+mj-lt"/>
              </a:rPr>
              <a:t> les </a:t>
            </a:r>
            <a:r>
              <a:rPr lang="en-US" sz="1400" b="0" dirty="0" err="1">
                <a:latin typeface="+mj-lt"/>
              </a:rPr>
              <a:t>fonctionnalités</a:t>
            </a:r>
            <a:r>
              <a:rPr lang="en-US" sz="1400" b="0" dirty="0">
                <a:latin typeface="+mj-lt"/>
              </a:rPr>
              <a:t> Windows</a:t>
            </a:r>
          </a:p>
        </p:txBody>
      </p:sp>
      <p:sp>
        <p:nvSpPr>
          <p:cNvPr id="9277" name="TextBox 148"/>
          <p:cNvSpPr txBox="1">
            <a:spLocks noChangeArrowheads="1"/>
          </p:cNvSpPr>
          <p:nvPr/>
        </p:nvSpPr>
        <p:spPr bwMode="auto">
          <a:xfrm>
            <a:off x="5514016" y="1373783"/>
            <a:ext cx="2157084" cy="453429"/>
          </a:xfrm>
          <a:prstGeom prst="rect">
            <a:avLst/>
          </a:prstGeom>
          <a:noFill/>
          <a:ln w="9525">
            <a:noFill/>
            <a:miter lim="800000"/>
            <a:headEnd/>
            <a:tailEnd/>
          </a:ln>
        </p:spPr>
        <p:txBody>
          <a:bodyPr>
            <a:spAutoFit/>
          </a:bodyPr>
          <a:lstStyle/>
          <a:p>
            <a:pPr algn="ctr"/>
            <a:r>
              <a:rPr lang="en-US" sz="2000" dirty="0" err="1">
                <a:latin typeface="Calibri" pitchFamily="34" charset="0"/>
              </a:rPr>
              <a:t>Specialisées</a:t>
            </a:r>
            <a:endParaRPr lang="en-US" sz="2000" dirty="0">
              <a:latin typeface="Calibri" pitchFamily="34" charset="0"/>
            </a:endParaRPr>
          </a:p>
        </p:txBody>
      </p:sp>
      <p:sp>
        <p:nvSpPr>
          <p:cNvPr id="150" name="Rounded Rectangle 149"/>
          <p:cNvSpPr/>
          <p:nvPr/>
        </p:nvSpPr>
        <p:spPr bwMode="auto">
          <a:xfrm>
            <a:off x="6777170" y="4944291"/>
            <a:ext cx="1792851" cy="1813442"/>
          </a:xfrm>
          <a:prstGeom prst="roundRect">
            <a:avLst>
              <a:gd name="adj" fmla="val 4518"/>
            </a:avLst>
          </a:prstGeom>
          <a:gradFill>
            <a:gsLst>
              <a:gs pos="0">
                <a:schemeClr val="bg2">
                  <a:lumMod val="75000"/>
                </a:schemeClr>
              </a:gs>
              <a:gs pos="100000">
                <a:schemeClr val="accent3">
                  <a:lumMod val="85000"/>
                </a:schemeClr>
              </a:gs>
            </a:gsLst>
            <a:lin ang="2700000" scaled="1"/>
          </a:gradFill>
        </p:spPr>
        <p:style>
          <a:lnRef idx="0">
            <a:schemeClr val="lt1">
              <a:hueOff val="0"/>
              <a:satOff val="0"/>
              <a:lumOff val="0"/>
              <a:alphaOff val="0"/>
            </a:schemeClr>
          </a:lnRef>
          <a:fillRef idx="3">
            <a:schemeClr val="accent1">
              <a:shade val="60000"/>
              <a:hueOff val="0"/>
              <a:satOff val="0"/>
              <a:lumOff val="0"/>
              <a:alphaOff val="0"/>
            </a:schemeClr>
          </a:fillRef>
          <a:effectRef idx="3">
            <a:schemeClr val="accent1">
              <a:shade val="60000"/>
              <a:hueOff val="0"/>
              <a:satOff val="0"/>
              <a:lumOff val="0"/>
              <a:alphaOff val="0"/>
            </a:schemeClr>
          </a:effectRef>
          <a:fontRef idx="minor">
            <a:schemeClr val="lt1"/>
          </a:fontRef>
        </p:style>
        <p:txBody>
          <a:bodyPr/>
          <a:lstStyle/>
          <a:p>
            <a:pPr algn="ctr">
              <a:defRPr/>
            </a:pPr>
            <a:r>
              <a:rPr lang="en-US" sz="1600" dirty="0">
                <a:solidFill>
                  <a:schemeClr val="tx2"/>
                </a:solidFill>
              </a:rPr>
              <a:t>Windows 7 Starter</a:t>
            </a:r>
          </a:p>
          <a:p>
            <a:pPr algn="ctr">
              <a:defRPr/>
            </a:pPr>
            <a:endParaRPr lang="en-US" sz="1600" dirty="0">
              <a:solidFill>
                <a:schemeClr val="tx2"/>
              </a:solidFill>
            </a:endParaRPr>
          </a:p>
        </p:txBody>
      </p:sp>
      <p:sp>
        <p:nvSpPr>
          <p:cNvPr id="151" name="Rectangle 150"/>
          <p:cNvSpPr/>
          <p:nvPr/>
        </p:nvSpPr>
        <p:spPr bwMode="auto">
          <a:xfrm>
            <a:off x="6805116" y="5690164"/>
            <a:ext cx="1792450" cy="738664"/>
          </a:xfrm>
          <a:prstGeom prst="rect">
            <a:avLst/>
          </a:prstGeom>
        </p:spPr>
        <p:txBody>
          <a:bodyPr>
            <a:spAutoFit/>
          </a:bodyPr>
          <a:lstStyle/>
          <a:p>
            <a:pPr algn="ctr">
              <a:defRPr/>
            </a:pPr>
            <a:r>
              <a:rPr lang="fr-FR" sz="1400" b="0" dirty="0">
                <a:latin typeface="+mj-lt"/>
              </a:rPr>
              <a:t>Edition de base disponible sur tous les marchés</a:t>
            </a:r>
            <a:endParaRPr lang="en-US" sz="1400" b="0" dirty="0">
              <a:latin typeface="+mj-lt"/>
            </a:endParaRPr>
          </a:p>
        </p:txBody>
      </p:sp>
      <p:sp>
        <p:nvSpPr>
          <p:cNvPr id="9282" name="TextBox 151"/>
          <p:cNvSpPr txBox="1">
            <a:spLocks noChangeArrowheads="1"/>
          </p:cNvSpPr>
          <p:nvPr/>
        </p:nvSpPr>
        <p:spPr bwMode="auto">
          <a:xfrm>
            <a:off x="4624981" y="4037374"/>
            <a:ext cx="2101002" cy="707886"/>
          </a:xfrm>
          <a:prstGeom prst="rect">
            <a:avLst/>
          </a:prstGeom>
          <a:noFill/>
          <a:ln w="9525">
            <a:noFill/>
            <a:miter lim="800000"/>
            <a:headEnd/>
            <a:tailEnd/>
          </a:ln>
        </p:spPr>
        <p:txBody>
          <a:bodyPr wrap="square">
            <a:spAutoFit/>
          </a:bodyPr>
          <a:lstStyle/>
          <a:p>
            <a:pPr algn="ctr"/>
            <a:r>
              <a:rPr lang="en-US" dirty="0" err="1">
                <a:latin typeface="Calibri" pitchFamily="34" charset="0"/>
              </a:rPr>
              <a:t>Marchés</a:t>
            </a:r>
            <a:r>
              <a:rPr lang="en-US" dirty="0">
                <a:latin typeface="Calibri" pitchFamily="34" charset="0"/>
              </a:rPr>
              <a:t> </a:t>
            </a:r>
            <a:r>
              <a:rPr lang="en-US" dirty="0" err="1">
                <a:latin typeface="Calibri" pitchFamily="34" charset="0"/>
              </a:rPr>
              <a:t>émergents</a:t>
            </a:r>
            <a:endParaRPr lang="en-US" dirty="0">
              <a:latin typeface="Calibri" pitchFamily="34" charset="0"/>
            </a:endParaRPr>
          </a:p>
        </p:txBody>
      </p:sp>
      <p:sp>
        <p:nvSpPr>
          <p:cNvPr id="9276" name="Rectangle 152"/>
          <p:cNvSpPr>
            <a:spLocks noChangeArrowheads="1"/>
          </p:cNvSpPr>
          <p:nvPr/>
        </p:nvSpPr>
        <p:spPr bwMode="auto">
          <a:xfrm>
            <a:off x="2629328" y="3245235"/>
            <a:ext cx="1836431" cy="1805755"/>
          </a:xfrm>
          <a:prstGeom prst="rect">
            <a:avLst/>
          </a:prstGeom>
          <a:noFill/>
          <a:ln w="9525">
            <a:noFill/>
            <a:miter lim="800000"/>
            <a:headEnd/>
            <a:tailEnd/>
          </a:ln>
        </p:spPr>
        <p:txBody>
          <a:bodyPr wrap="square">
            <a:spAutoFit/>
          </a:bodyPr>
          <a:lstStyle/>
          <a:p>
            <a:pPr marL="225425" indent="-225425">
              <a:buFont typeface="Arial" pitchFamily="34" charset="0"/>
              <a:buChar char="•"/>
              <a:defRPr/>
            </a:pPr>
            <a:r>
              <a:rPr lang="en-US" sz="1400" dirty="0">
                <a:latin typeface="+mj-lt"/>
              </a:rPr>
              <a:t>Edition </a:t>
            </a:r>
            <a:r>
              <a:rPr lang="en-US" sz="1400" dirty="0" err="1">
                <a:latin typeface="+mj-lt"/>
              </a:rPr>
              <a:t>destinée</a:t>
            </a:r>
            <a:r>
              <a:rPr lang="en-US" sz="1400" dirty="0">
                <a:latin typeface="+mj-lt"/>
              </a:rPr>
              <a:t> aux PME</a:t>
            </a:r>
          </a:p>
          <a:p>
            <a:pPr marL="225425" indent="-225425">
              <a:buFont typeface="Arial" pitchFamily="34" charset="0"/>
              <a:buChar char="•"/>
              <a:defRPr/>
            </a:pPr>
            <a:endParaRPr lang="en-US" sz="1400" dirty="0">
              <a:latin typeface="+mj-lt"/>
            </a:endParaRPr>
          </a:p>
          <a:p>
            <a:pPr marL="225425" indent="-225425">
              <a:buFont typeface="Arial" pitchFamily="34" charset="0"/>
              <a:buChar char="•"/>
              <a:defRPr/>
            </a:pPr>
            <a:r>
              <a:rPr lang="fr-FR" sz="1400" dirty="0">
                <a:latin typeface="+mj-lt"/>
              </a:rPr>
              <a:t>Inclut  les fonctionnalités d’entreprise</a:t>
            </a:r>
            <a:endParaRPr lang="en-US" sz="1400" dirty="0">
              <a:latin typeface="+mj-lt"/>
            </a:endParaRPr>
          </a:p>
        </p:txBody>
      </p:sp>
      <p:sp>
        <p:nvSpPr>
          <p:cNvPr id="154" name="Rounded Rectangle 153"/>
          <p:cNvSpPr/>
          <p:nvPr/>
        </p:nvSpPr>
        <p:spPr bwMode="auto">
          <a:xfrm>
            <a:off x="6786704" y="2199192"/>
            <a:ext cx="1792851" cy="1787270"/>
          </a:xfrm>
          <a:prstGeom prst="roundRect">
            <a:avLst>
              <a:gd name="adj" fmla="val 4518"/>
            </a:avLst>
          </a:prstGeom>
          <a:gradFill>
            <a:gsLst>
              <a:gs pos="0">
                <a:schemeClr val="bg2">
                  <a:lumMod val="75000"/>
                </a:schemeClr>
              </a:gs>
              <a:gs pos="100000">
                <a:schemeClr val="accent3">
                  <a:lumMod val="85000"/>
                </a:schemeClr>
              </a:gs>
            </a:gsLst>
            <a:lin ang="2700000" scaled="1"/>
          </a:gradFill>
        </p:spPr>
        <p:style>
          <a:lnRef idx="0">
            <a:schemeClr val="lt1">
              <a:hueOff val="0"/>
              <a:satOff val="0"/>
              <a:lumOff val="0"/>
              <a:alphaOff val="0"/>
            </a:schemeClr>
          </a:lnRef>
          <a:fillRef idx="3">
            <a:schemeClr val="accent1">
              <a:shade val="60000"/>
              <a:hueOff val="0"/>
              <a:satOff val="0"/>
              <a:lumOff val="0"/>
              <a:alphaOff val="0"/>
            </a:schemeClr>
          </a:fillRef>
          <a:effectRef idx="3">
            <a:schemeClr val="accent1">
              <a:shade val="60000"/>
              <a:hueOff val="0"/>
              <a:satOff val="0"/>
              <a:lumOff val="0"/>
              <a:alphaOff val="0"/>
            </a:schemeClr>
          </a:effectRef>
          <a:fontRef idx="minor">
            <a:schemeClr val="lt1"/>
          </a:fontRef>
        </p:style>
        <p:txBody>
          <a:bodyPr/>
          <a:lstStyle/>
          <a:p>
            <a:pPr algn="ctr">
              <a:defRPr/>
            </a:pPr>
            <a:r>
              <a:rPr lang="en-US" sz="1600" dirty="0">
                <a:solidFill>
                  <a:schemeClr val="tx2"/>
                </a:solidFill>
              </a:rPr>
              <a:t>Windows 7 Enterprise</a:t>
            </a:r>
          </a:p>
          <a:p>
            <a:pPr algn="ctr">
              <a:defRPr/>
            </a:pPr>
            <a:endParaRPr lang="en-US" sz="1600" dirty="0">
              <a:solidFill>
                <a:schemeClr val="tx2"/>
              </a:solidFill>
            </a:endParaRPr>
          </a:p>
        </p:txBody>
      </p:sp>
      <p:sp>
        <p:nvSpPr>
          <p:cNvPr id="9287" name="TextBox 154"/>
          <p:cNvSpPr txBox="1">
            <a:spLocks noChangeArrowheads="1"/>
          </p:cNvSpPr>
          <p:nvPr/>
        </p:nvSpPr>
        <p:spPr bwMode="auto">
          <a:xfrm>
            <a:off x="6804868" y="3144861"/>
            <a:ext cx="1792851" cy="590342"/>
          </a:xfrm>
          <a:prstGeom prst="rect">
            <a:avLst/>
          </a:prstGeom>
          <a:noFill/>
          <a:ln w="9525">
            <a:noFill/>
            <a:miter lim="800000"/>
            <a:headEnd/>
            <a:tailEnd/>
          </a:ln>
        </p:spPr>
        <p:txBody>
          <a:bodyPr>
            <a:spAutoFit/>
          </a:bodyPr>
          <a:lstStyle/>
          <a:p>
            <a:pPr algn="ctr"/>
            <a:r>
              <a:rPr lang="en-US" sz="1400" b="0" dirty="0" err="1"/>
              <a:t>Destinée</a:t>
            </a:r>
            <a:r>
              <a:rPr lang="en-US" sz="1400" b="0" dirty="0"/>
              <a:t> aux </a:t>
            </a:r>
            <a:r>
              <a:rPr lang="en-US" sz="1400" b="0" dirty="0" err="1"/>
              <a:t>grandes</a:t>
            </a:r>
            <a:r>
              <a:rPr lang="en-US" sz="1400" b="0" dirty="0"/>
              <a:t> </a:t>
            </a:r>
            <a:r>
              <a:rPr lang="en-US" sz="1400" b="0" dirty="0" err="1"/>
              <a:t>entreprisess</a:t>
            </a:r>
            <a:endParaRPr lang="en-US" sz="1400" b="0" dirty="0">
              <a:latin typeface="Calibri" pitchFamily="34" charset="0"/>
            </a:endParaRPr>
          </a:p>
        </p:txBody>
      </p:sp>
      <p:sp>
        <p:nvSpPr>
          <p:cNvPr id="9288" name="TextBox 155"/>
          <p:cNvSpPr txBox="1">
            <a:spLocks noChangeArrowheads="1"/>
          </p:cNvSpPr>
          <p:nvPr/>
        </p:nvSpPr>
        <p:spPr bwMode="auto">
          <a:xfrm>
            <a:off x="6535705" y="1770709"/>
            <a:ext cx="2294849" cy="418549"/>
          </a:xfrm>
          <a:prstGeom prst="rect">
            <a:avLst/>
          </a:prstGeom>
          <a:noFill/>
          <a:ln w="9525">
            <a:noFill/>
            <a:miter lim="800000"/>
            <a:headEnd/>
            <a:tailEnd/>
          </a:ln>
        </p:spPr>
        <p:txBody>
          <a:bodyPr>
            <a:spAutoFit/>
          </a:bodyPr>
          <a:lstStyle/>
          <a:p>
            <a:pPr algn="ctr"/>
            <a:r>
              <a:rPr lang="en-US" dirty="0">
                <a:latin typeface="Calibri" pitchFamily="34" charset="0"/>
              </a:rPr>
              <a:t>Enterprises  </a:t>
            </a:r>
          </a:p>
        </p:txBody>
      </p:sp>
      <p:sp>
        <p:nvSpPr>
          <p:cNvPr id="9289" name="TextBox 156"/>
          <p:cNvSpPr txBox="1">
            <a:spLocks noChangeArrowheads="1"/>
          </p:cNvSpPr>
          <p:nvPr/>
        </p:nvSpPr>
        <p:spPr bwMode="auto">
          <a:xfrm>
            <a:off x="6583691" y="4037372"/>
            <a:ext cx="2371123" cy="798699"/>
          </a:xfrm>
          <a:prstGeom prst="rect">
            <a:avLst/>
          </a:prstGeom>
          <a:noFill/>
          <a:ln w="9525">
            <a:noFill/>
            <a:miter lim="800000"/>
            <a:headEnd/>
            <a:tailEnd/>
          </a:ln>
        </p:spPr>
        <p:txBody>
          <a:bodyPr wrap="square">
            <a:spAutoFit/>
          </a:bodyPr>
          <a:lstStyle/>
          <a:p>
            <a:pPr algn="ctr"/>
            <a:r>
              <a:rPr lang="en-US" dirty="0">
                <a:latin typeface="Calibri" pitchFamily="34" charset="0"/>
              </a:rPr>
              <a:t>PC </a:t>
            </a:r>
            <a:r>
              <a:rPr lang="en-US" dirty="0" err="1">
                <a:latin typeface="Calibri" pitchFamily="34" charset="0"/>
              </a:rPr>
              <a:t>d’entrée</a:t>
            </a:r>
            <a:r>
              <a:rPr lang="en-US" dirty="0">
                <a:latin typeface="Calibri" pitchFamily="34" charset="0"/>
              </a:rPr>
              <a:t> de </a:t>
            </a:r>
            <a:r>
              <a:rPr lang="en-US" dirty="0" err="1">
                <a:latin typeface="Calibri" pitchFamily="34" charset="0"/>
              </a:rPr>
              <a:t>gamme</a:t>
            </a:r>
            <a:endParaRPr lang="en-US" dirty="0">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270"/>
                                        </p:tgtEl>
                                        <p:attrNameLst>
                                          <p:attrName>style.visibility</p:attrName>
                                        </p:attrNameLst>
                                      </p:cBhvr>
                                      <p:to>
                                        <p:strVal val="visible"/>
                                      </p:to>
                                    </p:set>
                                    <p:animEffect transition="in" filter="checkerboard(across)">
                                      <p:cBhvr>
                                        <p:cTn id="7" dur="500"/>
                                        <p:tgtEl>
                                          <p:spTgt spid="927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checkerboard(across)">
                                      <p:cBhvr>
                                        <p:cTn id="10" dur="500"/>
                                        <p:tgtEl>
                                          <p:spTgt spid="14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7192"/>
                                        </p:tgtEl>
                                        <p:attrNameLst>
                                          <p:attrName>style.visibility</p:attrName>
                                        </p:attrNameLst>
                                      </p:cBhvr>
                                      <p:to>
                                        <p:strVal val="visible"/>
                                      </p:to>
                                    </p:set>
                                    <p:animEffect transition="in" filter="checkerboard(across)">
                                      <p:cBhvr>
                                        <p:cTn id="13" dur="500"/>
                                        <p:tgtEl>
                                          <p:spTgt spid="719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9271"/>
                                        </p:tgtEl>
                                        <p:attrNameLst>
                                          <p:attrName>style.visibility</p:attrName>
                                        </p:attrNameLst>
                                      </p:cBhvr>
                                      <p:to>
                                        <p:strVal val="visible"/>
                                      </p:to>
                                    </p:set>
                                    <p:animEffect transition="in" filter="checkerboard(across)">
                                      <p:cBhvr>
                                        <p:cTn id="18" dur="500"/>
                                        <p:tgtEl>
                                          <p:spTgt spid="9271"/>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141"/>
                                        </p:tgtEl>
                                        <p:attrNameLst>
                                          <p:attrName>style.visibility</p:attrName>
                                        </p:attrNameLst>
                                      </p:cBhvr>
                                      <p:to>
                                        <p:strVal val="visible"/>
                                      </p:to>
                                    </p:set>
                                    <p:animEffect transition="in" filter="checkerboard(across)">
                                      <p:cBhvr>
                                        <p:cTn id="21" dur="500"/>
                                        <p:tgtEl>
                                          <p:spTgt spid="141"/>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9276"/>
                                        </p:tgtEl>
                                        <p:attrNameLst>
                                          <p:attrName>style.visibility</p:attrName>
                                        </p:attrNameLst>
                                      </p:cBhvr>
                                      <p:to>
                                        <p:strVal val="visible"/>
                                      </p:to>
                                    </p:set>
                                    <p:animEffect transition="in" filter="checkerboard(across)">
                                      <p:cBhvr>
                                        <p:cTn id="24" dur="500"/>
                                        <p:tgtEl>
                                          <p:spTgt spid="9276"/>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9277"/>
                                        </p:tgtEl>
                                        <p:attrNameLst>
                                          <p:attrName>style.visibility</p:attrName>
                                        </p:attrNameLst>
                                      </p:cBhvr>
                                      <p:to>
                                        <p:strVal val="visible"/>
                                      </p:to>
                                    </p:set>
                                    <p:animEffect transition="in" filter="checkerboard(across)">
                                      <p:cBhvr>
                                        <p:cTn id="29" dur="500"/>
                                        <p:tgtEl>
                                          <p:spTgt spid="9277"/>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9275"/>
                                        </p:tgtEl>
                                        <p:attrNameLst>
                                          <p:attrName>style.visibility</p:attrName>
                                        </p:attrNameLst>
                                      </p:cBhvr>
                                      <p:to>
                                        <p:strVal val="visible"/>
                                      </p:to>
                                    </p:set>
                                    <p:animEffect transition="in" filter="checkerboard(across)">
                                      <p:cBhvr>
                                        <p:cTn id="32" dur="500"/>
                                        <p:tgtEl>
                                          <p:spTgt spid="9275"/>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146"/>
                                        </p:tgtEl>
                                        <p:attrNameLst>
                                          <p:attrName>style.visibility</p:attrName>
                                        </p:attrNameLst>
                                      </p:cBhvr>
                                      <p:to>
                                        <p:strVal val="visible"/>
                                      </p:to>
                                    </p:set>
                                    <p:animEffect transition="in" filter="checkerboard(across)">
                                      <p:cBhvr>
                                        <p:cTn id="35" dur="500"/>
                                        <p:tgtEl>
                                          <p:spTgt spid="146"/>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148"/>
                                        </p:tgtEl>
                                        <p:attrNameLst>
                                          <p:attrName>style.visibility</p:attrName>
                                        </p:attrNameLst>
                                      </p:cBhvr>
                                      <p:to>
                                        <p:strVal val="visible"/>
                                      </p:to>
                                    </p:set>
                                    <p:animEffect transition="in" filter="checkerboard(across)">
                                      <p:cBhvr>
                                        <p:cTn id="38" dur="500"/>
                                        <p:tgtEl>
                                          <p:spTgt spid="148"/>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9288"/>
                                        </p:tgtEl>
                                        <p:attrNameLst>
                                          <p:attrName>style.visibility</p:attrName>
                                        </p:attrNameLst>
                                      </p:cBhvr>
                                      <p:to>
                                        <p:strVal val="visible"/>
                                      </p:to>
                                    </p:set>
                                    <p:animEffect transition="in" filter="checkerboard(across)">
                                      <p:cBhvr>
                                        <p:cTn id="43" dur="500"/>
                                        <p:tgtEl>
                                          <p:spTgt spid="9288"/>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54"/>
                                        </p:tgtEl>
                                        <p:attrNameLst>
                                          <p:attrName>style.visibility</p:attrName>
                                        </p:attrNameLst>
                                      </p:cBhvr>
                                      <p:to>
                                        <p:strVal val="visible"/>
                                      </p:to>
                                    </p:set>
                                    <p:animEffect transition="in" filter="checkerboard(across)">
                                      <p:cBhvr>
                                        <p:cTn id="46" dur="500"/>
                                        <p:tgtEl>
                                          <p:spTgt spid="154"/>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9287"/>
                                        </p:tgtEl>
                                        <p:attrNameLst>
                                          <p:attrName>style.visibility</p:attrName>
                                        </p:attrNameLst>
                                      </p:cBhvr>
                                      <p:to>
                                        <p:strVal val="visible"/>
                                      </p:to>
                                    </p:set>
                                    <p:animEffect transition="in" filter="checkerboard(across)">
                                      <p:cBhvr>
                                        <p:cTn id="49" dur="500"/>
                                        <p:tgtEl>
                                          <p:spTgt spid="9287"/>
                                        </p:tgtEl>
                                      </p:cBhvr>
                                    </p:animEffect>
                                  </p:childTnLst>
                                </p:cTn>
                              </p:par>
                            </p:childTnLst>
                          </p:cTn>
                        </p:par>
                      </p:childTnLst>
                    </p:cTn>
                  </p:par>
                  <p:par>
                    <p:cTn id="50" fill="hold">
                      <p:stCondLst>
                        <p:cond delay="indefinite"/>
                      </p:stCondLst>
                      <p:childTnLst>
                        <p:par>
                          <p:cTn id="51" fill="hold">
                            <p:stCondLst>
                              <p:cond delay="0"/>
                            </p:stCondLst>
                            <p:childTnLst>
                              <p:par>
                                <p:cTn id="52" presetID="5" presetClass="entr" presetSubtype="10" fill="hold" grpId="0" nodeType="clickEffect">
                                  <p:stCondLst>
                                    <p:cond delay="0"/>
                                  </p:stCondLst>
                                  <p:childTnLst>
                                    <p:set>
                                      <p:cBhvr>
                                        <p:cTn id="53" dur="1" fill="hold">
                                          <p:stCondLst>
                                            <p:cond delay="0"/>
                                          </p:stCondLst>
                                        </p:cTn>
                                        <p:tgtEl>
                                          <p:spTgt spid="9282"/>
                                        </p:tgtEl>
                                        <p:attrNameLst>
                                          <p:attrName>style.visibility</p:attrName>
                                        </p:attrNameLst>
                                      </p:cBhvr>
                                      <p:to>
                                        <p:strVal val="visible"/>
                                      </p:to>
                                    </p:set>
                                    <p:animEffect transition="in" filter="checkerboard(across)">
                                      <p:cBhvr>
                                        <p:cTn id="54" dur="500"/>
                                        <p:tgtEl>
                                          <p:spTgt spid="9282"/>
                                        </p:tgtEl>
                                      </p:cBhvr>
                                    </p:animEffect>
                                  </p:childTnLst>
                                </p:cTn>
                              </p:par>
                              <p:par>
                                <p:cTn id="55" presetID="5" presetClass="entr" presetSubtype="10" fill="hold" grpId="0" nodeType="withEffect">
                                  <p:stCondLst>
                                    <p:cond delay="0"/>
                                  </p:stCondLst>
                                  <p:childTnLst>
                                    <p:set>
                                      <p:cBhvr>
                                        <p:cTn id="56" dur="1" fill="hold">
                                          <p:stCondLst>
                                            <p:cond delay="0"/>
                                          </p:stCondLst>
                                        </p:cTn>
                                        <p:tgtEl>
                                          <p:spTgt spid="140"/>
                                        </p:tgtEl>
                                        <p:attrNameLst>
                                          <p:attrName>style.visibility</p:attrName>
                                        </p:attrNameLst>
                                      </p:cBhvr>
                                      <p:to>
                                        <p:strVal val="visible"/>
                                      </p:to>
                                    </p:set>
                                    <p:animEffect transition="in" filter="checkerboard(across)">
                                      <p:cBhvr>
                                        <p:cTn id="57" dur="500"/>
                                        <p:tgtEl>
                                          <p:spTgt spid="140"/>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150"/>
                                        </p:tgtEl>
                                        <p:attrNameLst>
                                          <p:attrName>style.visibility</p:attrName>
                                        </p:attrNameLst>
                                      </p:cBhvr>
                                      <p:to>
                                        <p:strVal val="visible"/>
                                      </p:to>
                                    </p:set>
                                    <p:animEffect transition="in" filter="checkerboard(across)">
                                      <p:cBhvr>
                                        <p:cTn id="62" dur="500"/>
                                        <p:tgtEl>
                                          <p:spTgt spid="150"/>
                                        </p:tgtEl>
                                      </p:cBhvr>
                                    </p:animEffect>
                                  </p:childTnLst>
                                </p:cTn>
                              </p:par>
                              <p:par>
                                <p:cTn id="63" presetID="5" presetClass="entr" presetSubtype="10" fill="hold" grpId="0" nodeType="withEffect">
                                  <p:stCondLst>
                                    <p:cond delay="0"/>
                                  </p:stCondLst>
                                  <p:childTnLst>
                                    <p:set>
                                      <p:cBhvr>
                                        <p:cTn id="64" dur="1" fill="hold">
                                          <p:stCondLst>
                                            <p:cond delay="0"/>
                                          </p:stCondLst>
                                        </p:cTn>
                                        <p:tgtEl>
                                          <p:spTgt spid="9289"/>
                                        </p:tgtEl>
                                        <p:attrNameLst>
                                          <p:attrName>style.visibility</p:attrName>
                                        </p:attrNameLst>
                                      </p:cBhvr>
                                      <p:to>
                                        <p:strVal val="visible"/>
                                      </p:to>
                                    </p:set>
                                    <p:animEffect transition="in" filter="checkerboard(across)">
                                      <p:cBhvr>
                                        <p:cTn id="65" dur="500"/>
                                        <p:tgtEl>
                                          <p:spTgt spid="9289"/>
                                        </p:tgtEl>
                                      </p:cBhvr>
                                    </p:animEffect>
                                  </p:childTnLst>
                                </p:cTn>
                              </p:par>
                              <p:par>
                                <p:cTn id="66" presetID="5" presetClass="entr" presetSubtype="10" fill="hold" grpId="0" nodeType="withEffect">
                                  <p:stCondLst>
                                    <p:cond delay="0"/>
                                  </p:stCondLst>
                                  <p:childTnLst>
                                    <p:set>
                                      <p:cBhvr>
                                        <p:cTn id="67" dur="1" fill="hold">
                                          <p:stCondLst>
                                            <p:cond delay="0"/>
                                          </p:stCondLst>
                                        </p:cTn>
                                        <p:tgtEl>
                                          <p:spTgt spid="151"/>
                                        </p:tgtEl>
                                        <p:attrNameLst>
                                          <p:attrName>style.visibility</p:attrName>
                                        </p:attrNameLst>
                                      </p:cBhvr>
                                      <p:to>
                                        <p:strVal val="visible"/>
                                      </p:to>
                                    </p:set>
                                    <p:animEffect transition="in" filter="checkerboard(across)">
                                      <p:cBhvr>
                                        <p:cTn id="68"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41" grpId="0" animBg="1"/>
      <p:bldP spid="142" grpId="0" animBg="1"/>
      <p:bldP spid="7192" grpId="0"/>
      <p:bldP spid="9270" grpId="0"/>
      <p:bldP spid="9271" grpId="0"/>
      <p:bldP spid="146" grpId="0" animBg="1"/>
      <p:bldP spid="9275" grpId="0"/>
      <p:bldP spid="148" grpId="0"/>
      <p:bldP spid="9277" grpId="0"/>
      <p:bldP spid="150" grpId="0" animBg="1"/>
      <p:bldP spid="151" grpId="0"/>
      <p:bldP spid="9282" grpId="0"/>
      <p:bldP spid="9276" grpId="0"/>
      <p:bldP spid="154" grpId="0" animBg="1"/>
      <p:bldP spid="9287" grpId="0"/>
      <p:bldP spid="9288" grpId="0"/>
      <p:bldP spid="928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9" name="Rectangle 2"/>
          <p:cNvSpPr>
            <a:spLocks noGrp="1" noChangeArrowheads="1"/>
          </p:cNvSpPr>
          <p:nvPr>
            <p:ph type="title"/>
          </p:nvPr>
        </p:nvSpPr>
        <p:spPr/>
        <p:txBody>
          <a:bodyPr>
            <a:normAutofit/>
          </a:bodyPr>
          <a:lstStyle/>
          <a:p>
            <a:r>
              <a:rPr lang="en-US" sz="2800" dirty="0">
                <a:solidFill>
                  <a:srgbClr val="C00000"/>
                </a:solidFill>
              </a:rPr>
              <a:t>Les </a:t>
            </a:r>
            <a:r>
              <a:rPr lang="en-US" sz="2800" dirty="0" err="1">
                <a:solidFill>
                  <a:srgbClr val="C00000"/>
                </a:solidFill>
              </a:rPr>
              <a:t>éditions</a:t>
            </a:r>
            <a:r>
              <a:rPr lang="en-US" sz="2800" dirty="0">
                <a:solidFill>
                  <a:srgbClr val="C00000"/>
                </a:solidFill>
              </a:rPr>
              <a:t> de Windows 7</a:t>
            </a:r>
          </a:p>
        </p:txBody>
      </p:sp>
      <p:sp>
        <p:nvSpPr>
          <p:cNvPr id="22" name="Rectangle 21"/>
          <p:cNvSpPr/>
          <p:nvPr/>
        </p:nvSpPr>
        <p:spPr>
          <a:xfrm>
            <a:off x="270131" y="1996436"/>
            <a:ext cx="8639504" cy="2862322"/>
          </a:xfrm>
          <a:prstGeom prst="rect">
            <a:avLst/>
          </a:prstGeom>
        </p:spPr>
        <p:txBody>
          <a:bodyPr wrap="square">
            <a:spAutoFit/>
          </a:bodyPr>
          <a:lstStyle/>
          <a:p>
            <a:pPr>
              <a:lnSpc>
                <a:spcPct val="150000"/>
              </a:lnSpc>
            </a:pPr>
            <a:r>
              <a:rPr lang="fr-FR" sz="2400" i="1" dirty="0"/>
              <a:t>Question</a:t>
            </a:r>
            <a:r>
              <a:rPr lang="fr-FR" sz="2400" u="none" dirty="0"/>
              <a:t> : Quelle édition de Windows 7 devez-vous choisir dans le scénario suivant ?</a:t>
            </a:r>
          </a:p>
          <a:p>
            <a:pPr>
              <a:lnSpc>
                <a:spcPct val="150000"/>
              </a:lnSpc>
            </a:pPr>
            <a:r>
              <a:rPr lang="fr-FR" sz="2400" i="1" dirty="0"/>
              <a:t>Scénario</a:t>
            </a:r>
            <a:r>
              <a:rPr lang="fr-FR" sz="2400" u="none" dirty="0"/>
              <a:t> : Votre entreprise compte quelques utilisateurs seulement. Vous ne possédez actuellement aucun serveur de fichiers centralisé et tous les ordinateurs ne font pas partie d'un domaine.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9" name="Rectangle 2"/>
          <p:cNvSpPr>
            <a:spLocks noGrp="1" noChangeArrowheads="1"/>
          </p:cNvSpPr>
          <p:nvPr>
            <p:ph type="title"/>
          </p:nvPr>
        </p:nvSpPr>
        <p:spPr/>
        <p:txBody>
          <a:bodyPr>
            <a:normAutofit/>
          </a:bodyPr>
          <a:lstStyle/>
          <a:p>
            <a:r>
              <a:rPr lang="en-US" sz="2800" dirty="0">
                <a:solidFill>
                  <a:srgbClr val="C00000"/>
                </a:solidFill>
              </a:rPr>
              <a:t>Les </a:t>
            </a:r>
            <a:r>
              <a:rPr lang="en-US" sz="2800" dirty="0" err="1">
                <a:solidFill>
                  <a:srgbClr val="C00000"/>
                </a:solidFill>
              </a:rPr>
              <a:t>éditions</a:t>
            </a:r>
            <a:r>
              <a:rPr lang="en-US" sz="2800" dirty="0">
                <a:solidFill>
                  <a:srgbClr val="C00000"/>
                </a:solidFill>
              </a:rPr>
              <a:t> de Windows 7</a:t>
            </a:r>
          </a:p>
        </p:txBody>
      </p:sp>
      <p:sp>
        <p:nvSpPr>
          <p:cNvPr id="22" name="Rectangle 21"/>
          <p:cNvSpPr/>
          <p:nvPr/>
        </p:nvSpPr>
        <p:spPr>
          <a:xfrm>
            <a:off x="283779" y="1382286"/>
            <a:ext cx="8639504" cy="5078313"/>
          </a:xfrm>
          <a:prstGeom prst="rect">
            <a:avLst/>
          </a:prstGeom>
        </p:spPr>
        <p:txBody>
          <a:bodyPr wrap="square">
            <a:spAutoFit/>
          </a:bodyPr>
          <a:lstStyle/>
          <a:p>
            <a:pPr>
              <a:lnSpc>
                <a:spcPct val="150000"/>
              </a:lnSpc>
            </a:pPr>
            <a:r>
              <a:rPr lang="fr-FR" sz="2400" i="1" dirty="0"/>
              <a:t>Scénario</a:t>
            </a:r>
            <a:r>
              <a:rPr lang="fr-FR" sz="2400" u="none" dirty="0"/>
              <a:t>: Votre entreprise compte quelques utilisateurs seulement. Vous ne possédez actuellement aucun serveur de fichiers centralisé et tous les ordinateurs ne font pas partie d'un domaine.</a:t>
            </a:r>
          </a:p>
          <a:p>
            <a:pPr>
              <a:lnSpc>
                <a:spcPct val="150000"/>
              </a:lnSpc>
            </a:pPr>
            <a:r>
              <a:rPr lang="fr-FR" sz="2400" i="1" dirty="0"/>
              <a:t>Réponse</a:t>
            </a:r>
            <a:r>
              <a:rPr lang="fr-FR" sz="2400" u="none" dirty="0"/>
              <a:t> : Choisissez Windows 7 Pro ou Windows 7 Entreprise. Windows 7 Édition Familiale Premium, Windows 7 Édition Familiale Basique et Windows 7 Édition Starter s'adressent aux utilisateurs grand public. Windows 7 Professionnel s'avère être le meilleur choix, puisque vous avez peu d'utilisateurs. </a:t>
            </a:r>
          </a:p>
          <a:p>
            <a:pPr>
              <a:lnSpc>
                <a:spcPct val="150000"/>
              </a:lnSpc>
            </a:pPr>
            <a:endParaRPr lang="fr-FR" sz="2400" u="non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vert="horz" anchor="b">
            <a:noAutofit/>
          </a:bodyPr>
          <a:lstStyle/>
          <a:p>
            <a:r>
              <a:rPr lang="fr-FR" sz="2800">
                <a:solidFill>
                  <a:srgbClr val="C00000"/>
                </a:solidFill>
              </a:rPr>
              <a:t>Liste de vérifications avant l'installation</a:t>
            </a:r>
            <a:endParaRPr lang="en-US" sz="2800">
              <a:solidFill>
                <a:srgbClr val="C00000"/>
              </a:solidFill>
            </a:endParaRPr>
          </a:p>
        </p:txBody>
      </p:sp>
      <p:sp>
        <p:nvSpPr>
          <p:cNvPr id="51203" name="Rectangle 3"/>
          <p:cNvSpPr>
            <a:spLocks noChangeArrowheads="1"/>
          </p:cNvSpPr>
          <p:nvPr/>
        </p:nvSpPr>
        <p:spPr bwMode="auto">
          <a:xfrm>
            <a:off x="614403" y="3015918"/>
            <a:ext cx="8305784" cy="74156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lIns="274320" tIns="44450" rIns="90488" bIns="44450" anchor="ctr"/>
          <a:lstStyle/>
          <a:p>
            <a:r>
              <a:rPr lang="fr-FR" sz="2400" u="none" dirty="0">
                <a:latin typeface="Arial" charset="0"/>
              </a:rPr>
              <a:t>Vérifiez que le matériel est pris en charge</a:t>
            </a:r>
          </a:p>
        </p:txBody>
      </p:sp>
      <p:grpSp>
        <p:nvGrpSpPr>
          <p:cNvPr id="51204" name="Group 4"/>
          <p:cNvGrpSpPr>
            <a:grpSpLocks/>
          </p:cNvGrpSpPr>
          <p:nvPr/>
        </p:nvGrpSpPr>
        <p:grpSpPr bwMode="auto">
          <a:xfrm>
            <a:off x="233404" y="3039567"/>
            <a:ext cx="539750" cy="528637"/>
            <a:chOff x="355" y="660"/>
            <a:chExt cx="325" cy="318"/>
          </a:xfrm>
        </p:grpSpPr>
        <p:sp>
          <p:nvSpPr>
            <p:cNvPr id="51205" name="Rectangle 5"/>
            <p:cNvSpPr>
              <a:spLocks noChangeArrowheads="1"/>
            </p:cNvSpPr>
            <p:nvPr/>
          </p:nvSpPr>
          <p:spPr bwMode="auto">
            <a:xfrm>
              <a:off x="355" y="722"/>
              <a:ext cx="252" cy="256"/>
            </a:xfrm>
            <a:prstGeom prst="rect">
              <a:avLst/>
            </a:prstGeom>
            <a:solidFill>
              <a:schemeClr val="bg1"/>
            </a:solidFill>
            <a:ln w="12700">
              <a:solidFill>
                <a:schemeClr val="tx2"/>
              </a:solidFill>
              <a:miter lim="800000"/>
              <a:headEnd/>
              <a:tailEnd/>
            </a:ln>
            <a:effectLst>
              <a:outerShdw dist="53882" dir="2700000" algn="ctr" rotWithShape="0">
                <a:srgbClr val="C0C0C0"/>
              </a:outerShdw>
            </a:effectLst>
          </p:spPr>
          <p:txBody>
            <a:bodyPr anchor="ctr"/>
            <a:lstStyle/>
            <a:p>
              <a:endParaRPr lang="fr-BE"/>
            </a:p>
          </p:txBody>
        </p:sp>
        <p:sp>
          <p:nvSpPr>
            <p:cNvPr id="51206" name="Freeform 6"/>
            <p:cNvSpPr>
              <a:spLocks/>
            </p:cNvSpPr>
            <p:nvPr/>
          </p:nvSpPr>
          <p:spPr bwMode="auto">
            <a:xfrm>
              <a:off x="401" y="660"/>
              <a:ext cx="279" cy="264"/>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53882" dir="2700000" algn="ctr" rotWithShape="0">
                <a:srgbClr val="C0C0C0"/>
              </a:outerShdw>
            </a:effectLst>
          </p:spPr>
          <p:txBody>
            <a:bodyPr/>
            <a:lstStyle/>
            <a:p>
              <a:endParaRPr lang="fr-BE"/>
            </a:p>
          </p:txBody>
        </p:sp>
      </p:grpSp>
      <p:sp>
        <p:nvSpPr>
          <p:cNvPr id="51209" name="Rectangle 9"/>
          <p:cNvSpPr>
            <a:spLocks noChangeArrowheads="1"/>
          </p:cNvSpPr>
          <p:nvPr/>
        </p:nvSpPr>
        <p:spPr bwMode="auto">
          <a:xfrm>
            <a:off x="614404" y="3962401"/>
            <a:ext cx="8321782" cy="984004"/>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lIns="274320" tIns="44450" rIns="90488" bIns="44450" anchor="ctr"/>
          <a:lstStyle/>
          <a:p>
            <a:r>
              <a:rPr lang="fr-FR" sz="2400" u="none" dirty="0">
                <a:latin typeface="Arial" charset="0"/>
              </a:rPr>
              <a:t>Déterminez comment vous allez partitionner le disque dur</a:t>
            </a:r>
            <a:endParaRPr lang="en-US" sz="2400" u="none" dirty="0">
              <a:latin typeface="Arial" charset="0"/>
            </a:endParaRPr>
          </a:p>
        </p:txBody>
      </p:sp>
      <p:sp>
        <p:nvSpPr>
          <p:cNvPr id="51213" name="Rectangle 13"/>
          <p:cNvSpPr>
            <a:spLocks noChangeArrowheads="1"/>
          </p:cNvSpPr>
          <p:nvPr/>
        </p:nvSpPr>
        <p:spPr bwMode="auto">
          <a:xfrm>
            <a:off x="646487" y="4993021"/>
            <a:ext cx="8321782" cy="1070897"/>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lIns="274320" tIns="44450" rIns="90488" bIns="44450" anchor="ctr"/>
          <a:lstStyle/>
          <a:p>
            <a:pPr>
              <a:lnSpc>
                <a:spcPct val="90000"/>
              </a:lnSpc>
            </a:pPr>
            <a:r>
              <a:rPr lang="fr-FR" sz="2400" u="none" dirty="0">
                <a:latin typeface="Arial" charset="0"/>
              </a:rPr>
              <a:t>Décidez si vous allez effectuer l'installation dans un groupe de travail ou un domaine</a:t>
            </a:r>
          </a:p>
        </p:txBody>
      </p:sp>
      <p:grpSp>
        <p:nvGrpSpPr>
          <p:cNvPr id="51214" name="Group 14"/>
          <p:cNvGrpSpPr>
            <a:grpSpLocks/>
          </p:cNvGrpSpPr>
          <p:nvPr/>
        </p:nvGrpSpPr>
        <p:grpSpPr bwMode="auto">
          <a:xfrm>
            <a:off x="265488" y="5184574"/>
            <a:ext cx="539750" cy="527050"/>
            <a:chOff x="355" y="660"/>
            <a:chExt cx="325" cy="318"/>
          </a:xfrm>
        </p:grpSpPr>
        <p:sp>
          <p:nvSpPr>
            <p:cNvPr id="51215" name="Rectangle 15"/>
            <p:cNvSpPr>
              <a:spLocks noChangeArrowheads="1"/>
            </p:cNvSpPr>
            <p:nvPr/>
          </p:nvSpPr>
          <p:spPr bwMode="auto">
            <a:xfrm>
              <a:off x="355" y="722"/>
              <a:ext cx="252" cy="256"/>
            </a:xfrm>
            <a:prstGeom prst="rect">
              <a:avLst/>
            </a:prstGeom>
            <a:solidFill>
              <a:schemeClr val="bg1"/>
            </a:solidFill>
            <a:ln w="12700">
              <a:solidFill>
                <a:schemeClr val="tx2"/>
              </a:solidFill>
              <a:miter lim="800000"/>
              <a:headEnd/>
              <a:tailEnd/>
            </a:ln>
            <a:effectLst>
              <a:outerShdw dist="53882" dir="2700000" algn="ctr" rotWithShape="0">
                <a:srgbClr val="C0C0C0"/>
              </a:outerShdw>
            </a:effectLst>
          </p:spPr>
          <p:txBody>
            <a:bodyPr anchor="ctr"/>
            <a:lstStyle/>
            <a:p>
              <a:endParaRPr lang="fr-BE"/>
            </a:p>
          </p:txBody>
        </p:sp>
        <p:sp>
          <p:nvSpPr>
            <p:cNvPr id="51216" name="Freeform 16"/>
            <p:cNvSpPr>
              <a:spLocks/>
            </p:cNvSpPr>
            <p:nvPr/>
          </p:nvSpPr>
          <p:spPr bwMode="auto">
            <a:xfrm>
              <a:off x="401" y="660"/>
              <a:ext cx="279" cy="264"/>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53882" dir="2700000" algn="ctr" rotWithShape="0">
                <a:srgbClr val="C0C0C0"/>
              </a:outerShdw>
            </a:effectLst>
          </p:spPr>
          <p:txBody>
            <a:bodyPr/>
            <a:lstStyle/>
            <a:p>
              <a:endParaRPr lang="fr-BE"/>
            </a:p>
          </p:txBody>
        </p:sp>
      </p:grpSp>
      <p:sp>
        <p:nvSpPr>
          <p:cNvPr id="51217" name="Rectangle 17"/>
          <p:cNvSpPr>
            <a:spLocks noChangeArrowheads="1"/>
          </p:cNvSpPr>
          <p:nvPr/>
        </p:nvSpPr>
        <p:spPr bwMode="auto">
          <a:xfrm>
            <a:off x="614404" y="1732548"/>
            <a:ext cx="8305784" cy="1090605"/>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lIns="274320" tIns="44450" rIns="90488" bIns="44450" anchor="ctr"/>
          <a:lstStyle/>
          <a:p>
            <a:pPr>
              <a:lnSpc>
                <a:spcPct val="90000"/>
              </a:lnSpc>
            </a:pPr>
            <a:r>
              <a:rPr lang="fr-FR" sz="2400" u="none" dirty="0">
                <a:latin typeface="Arial" charset="0"/>
              </a:rPr>
              <a:t>Vérifiez que votre matériel informatique répond à la configuration système minimale requise </a:t>
            </a:r>
            <a:endParaRPr lang="en-US" sz="2400" u="none" dirty="0">
              <a:latin typeface="Arial" charset="0"/>
            </a:endParaRPr>
          </a:p>
        </p:txBody>
      </p:sp>
      <p:grpSp>
        <p:nvGrpSpPr>
          <p:cNvPr id="51221" name="Group 21"/>
          <p:cNvGrpSpPr>
            <a:grpSpLocks/>
          </p:cNvGrpSpPr>
          <p:nvPr/>
        </p:nvGrpSpPr>
        <p:grpSpPr bwMode="auto">
          <a:xfrm>
            <a:off x="233404" y="4229362"/>
            <a:ext cx="539750" cy="528638"/>
            <a:chOff x="355" y="660"/>
            <a:chExt cx="325" cy="318"/>
          </a:xfrm>
        </p:grpSpPr>
        <p:sp>
          <p:nvSpPr>
            <p:cNvPr id="51222" name="Rectangle 22"/>
            <p:cNvSpPr>
              <a:spLocks noChangeArrowheads="1"/>
            </p:cNvSpPr>
            <p:nvPr/>
          </p:nvSpPr>
          <p:spPr bwMode="auto">
            <a:xfrm>
              <a:off x="355" y="722"/>
              <a:ext cx="252" cy="256"/>
            </a:xfrm>
            <a:prstGeom prst="rect">
              <a:avLst/>
            </a:prstGeom>
            <a:solidFill>
              <a:schemeClr val="bg1"/>
            </a:solidFill>
            <a:ln w="12700">
              <a:solidFill>
                <a:schemeClr val="tx2"/>
              </a:solidFill>
              <a:miter lim="800000"/>
              <a:headEnd/>
              <a:tailEnd/>
            </a:ln>
            <a:effectLst>
              <a:outerShdw dist="53882" dir="2700000" algn="ctr" rotWithShape="0">
                <a:srgbClr val="C0C0C0"/>
              </a:outerShdw>
            </a:effectLst>
          </p:spPr>
          <p:txBody>
            <a:bodyPr anchor="ctr"/>
            <a:lstStyle/>
            <a:p>
              <a:endParaRPr lang="fr-BE"/>
            </a:p>
          </p:txBody>
        </p:sp>
        <p:sp>
          <p:nvSpPr>
            <p:cNvPr id="51223" name="Freeform 23"/>
            <p:cNvSpPr>
              <a:spLocks/>
            </p:cNvSpPr>
            <p:nvPr/>
          </p:nvSpPr>
          <p:spPr bwMode="auto">
            <a:xfrm>
              <a:off x="401" y="660"/>
              <a:ext cx="279" cy="264"/>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53882" dir="2700000" algn="ctr" rotWithShape="0">
                <a:srgbClr val="C0C0C0"/>
              </a:outerShdw>
            </a:effectLst>
          </p:spPr>
          <p:txBody>
            <a:bodyPr/>
            <a:lstStyle/>
            <a:p>
              <a:endParaRPr lang="fr-BE"/>
            </a:p>
          </p:txBody>
        </p:sp>
      </p:grpSp>
      <p:grpSp>
        <p:nvGrpSpPr>
          <p:cNvPr id="51224" name="Group 24"/>
          <p:cNvGrpSpPr>
            <a:grpSpLocks/>
          </p:cNvGrpSpPr>
          <p:nvPr/>
        </p:nvGrpSpPr>
        <p:grpSpPr bwMode="auto">
          <a:xfrm>
            <a:off x="233404" y="1986891"/>
            <a:ext cx="539750" cy="527050"/>
            <a:chOff x="355" y="660"/>
            <a:chExt cx="325" cy="318"/>
          </a:xfrm>
        </p:grpSpPr>
        <p:sp>
          <p:nvSpPr>
            <p:cNvPr id="51225" name="Rectangle 25"/>
            <p:cNvSpPr>
              <a:spLocks noChangeArrowheads="1"/>
            </p:cNvSpPr>
            <p:nvPr/>
          </p:nvSpPr>
          <p:spPr bwMode="auto">
            <a:xfrm>
              <a:off x="355" y="722"/>
              <a:ext cx="252" cy="256"/>
            </a:xfrm>
            <a:prstGeom prst="rect">
              <a:avLst/>
            </a:prstGeom>
            <a:solidFill>
              <a:schemeClr val="bg1"/>
            </a:solidFill>
            <a:ln w="12700">
              <a:solidFill>
                <a:schemeClr val="tx2"/>
              </a:solidFill>
              <a:miter lim="800000"/>
              <a:headEnd/>
              <a:tailEnd/>
            </a:ln>
            <a:effectLst>
              <a:outerShdw dist="53882" dir="2700000" algn="ctr" rotWithShape="0">
                <a:srgbClr val="C0C0C0"/>
              </a:outerShdw>
            </a:effectLst>
          </p:spPr>
          <p:txBody>
            <a:bodyPr anchor="ctr"/>
            <a:lstStyle/>
            <a:p>
              <a:endParaRPr lang="fr-BE"/>
            </a:p>
          </p:txBody>
        </p:sp>
        <p:sp>
          <p:nvSpPr>
            <p:cNvPr id="51226" name="Freeform 26"/>
            <p:cNvSpPr>
              <a:spLocks/>
            </p:cNvSpPr>
            <p:nvPr/>
          </p:nvSpPr>
          <p:spPr bwMode="auto">
            <a:xfrm>
              <a:off x="401" y="660"/>
              <a:ext cx="279" cy="264"/>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53882" dir="2700000" algn="ctr" rotWithShape="0">
                <a:srgbClr val="C0C0C0"/>
              </a:outerShdw>
            </a:effectLst>
          </p:spPr>
          <p:txBody>
            <a:bodyPr/>
            <a:lstStyle/>
            <a:p>
              <a:endParaRPr lang="fr-BE"/>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1217"/>
                                        </p:tgtEl>
                                        <p:attrNameLst>
                                          <p:attrName>style.visibility</p:attrName>
                                        </p:attrNameLst>
                                      </p:cBhvr>
                                      <p:to>
                                        <p:strVal val="visible"/>
                                      </p:to>
                                    </p:set>
                                    <p:animEffect transition="in" filter="checkerboard(across)">
                                      <p:cBhvr>
                                        <p:cTn id="7" dur="1000"/>
                                        <p:tgtEl>
                                          <p:spTgt spid="51217"/>
                                        </p:tgtEl>
                                      </p:cBhvr>
                                    </p:animEffect>
                                  </p:childTnLst>
                                </p:cTn>
                              </p:par>
                              <p:par>
                                <p:cTn id="8" presetID="5" presetClass="entr" presetSubtype="10" fill="hold" nodeType="withEffect">
                                  <p:stCondLst>
                                    <p:cond delay="0"/>
                                  </p:stCondLst>
                                  <p:childTnLst>
                                    <p:set>
                                      <p:cBhvr>
                                        <p:cTn id="9" dur="1" fill="hold">
                                          <p:stCondLst>
                                            <p:cond delay="0"/>
                                          </p:stCondLst>
                                        </p:cTn>
                                        <p:tgtEl>
                                          <p:spTgt spid="51224"/>
                                        </p:tgtEl>
                                        <p:attrNameLst>
                                          <p:attrName>style.visibility</p:attrName>
                                        </p:attrNameLst>
                                      </p:cBhvr>
                                      <p:to>
                                        <p:strVal val="visible"/>
                                      </p:to>
                                    </p:set>
                                    <p:animEffect transition="in" filter="checkerboard(across)">
                                      <p:cBhvr>
                                        <p:cTn id="10" dur="1000"/>
                                        <p:tgtEl>
                                          <p:spTgt spid="51224"/>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51203"/>
                                        </p:tgtEl>
                                        <p:attrNameLst>
                                          <p:attrName>style.visibility</p:attrName>
                                        </p:attrNameLst>
                                      </p:cBhvr>
                                      <p:to>
                                        <p:strVal val="visible"/>
                                      </p:to>
                                    </p:set>
                                    <p:animEffect transition="in" filter="checkerboard(across)">
                                      <p:cBhvr>
                                        <p:cTn id="15" dur="500"/>
                                        <p:tgtEl>
                                          <p:spTgt spid="51203"/>
                                        </p:tgtEl>
                                      </p:cBhvr>
                                    </p:animEffect>
                                  </p:childTnLst>
                                </p:cTn>
                              </p:par>
                              <p:par>
                                <p:cTn id="16" presetID="5" presetClass="entr" presetSubtype="10" fill="hold" nodeType="withEffect">
                                  <p:stCondLst>
                                    <p:cond delay="0"/>
                                  </p:stCondLst>
                                  <p:childTnLst>
                                    <p:set>
                                      <p:cBhvr>
                                        <p:cTn id="17" dur="1" fill="hold">
                                          <p:stCondLst>
                                            <p:cond delay="0"/>
                                          </p:stCondLst>
                                        </p:cTn>
                                        <p:tgtEl>
                                          <p:spTgt spid="51204"/>
                                        </p:tgtEl>
                                        <p:attrNameLst>
                                          <p:attrName>style.visibility</p:attrName>
                                        </p:attrNameLst>
                                      </p:cBhvr>
                                      <p:to>
                                        <p:strVal val="visible"/>
                                      </p:to>
                                    </p:set>
                                    <p:animEffect transition="in" filter="checkerboard(across)">
                                      <p:cBhvr>
                                        <p:cTn id="18" dur="500"/>
                                        <p:tgtEl>
                                          <p:spTgt spid="51204"/>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51209"/>
                                        </p:tgtEl>
                                        <p:attrNameLst>
                                          <p:attrName>style.visibility</p:attrName>
                                        </p:attrNameLst>
                                      </p:cBhvr>
                                      <p:to>
                                        <p:strVal val="visible"/>
                                      </p:to>
                                    </p:set>
                                    <p:animEffect transition="in" filter="checkerboard(across)">
                                      <p:cBhvr>
                                        <p:cTn id="23" dur="500"/>
                                        <p:tgtEl>
                                          <p:spTgt spid="51209"/>
                                        </p:tgtEl>
                                      </p:cBhvr>
                                    </p:animEffect>
                                  </p:childTnLst>
                                </p:cTn>
                              </p:par>
                              <p:par>
                                <p:cTn id="24" presetID="5" presetClass="entr" presetSubtype="10" fill="hold" nodeType="withEffect">
                                  <p:stCondLst>
                                    <p:cond delay="0"/>
                                  </p:stCondLst>
                                  <p:childTnLst>
                                    <p:set>
                                      <p:cBhvr>
                                        <p:cTn id="25" dur="1" fill="hold">
                                          <p:stCondLst>
                                            <p:cond delay="0"/>
                                          </p:stCondLst>
                                        </p:cTn>
                                        <p:tgtEl>
                                          <p:spTgt spid="51221"/>
                                        </p:tgtEl>
                                        <p:attrNameLst>
                                          <p:attrName>style.visibility</p:attrName>
                                        </p:attrNameLst>
                                      </p:cBhvr>
                                      <p:to>
                                        <p:strVal val="visible"/>
                                      </p:to>
                                    </p:set>
                                    <p:animEffect transition="in" filter="checkerboard(across)">
                                      <p:cBhvr>
                                        <p:cTn id="26" dur="500"/>
                                        <p:tgtEl>
                                          <p:spTgt spid="51221"/>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51213"/>
                                        </p:tgtEl>
                                        <p:attrNameLst>
                                          <p:attrName>style.visibility</p:attrName>
                                        </p:attrNameLst>
                                      </p:cBhvr>
                                      <p:to>
                                        <p:strVal val="visible"/>
                                      </p:to>
                                    </p:set>
                                    <p:animEffect transition="in" filter="checkerboard(across)">
                                      <p:cBhvr>
                                        <p:cTn id="31" dur="500"/>
                                        <p:tgtEl>
                                          <p:spTgt spid="51213"/>
                                        </p:tgtEl>
                                      </p:cBhvr>
                                    </p:animEffect>
                                  </p:childTnLst>
                                </p:cTn>
                              </p:par>
                              <p:par>
                                <p:cTn id="32" presetID="5" presetClass="entr" presetSubtype="10" fill="hold" nodeType="withEffect">
                                  <p:stCondLst>
                                    <p:cond delay="0"/>
                                  </p:stCondLst>
                                  <p:childTnLst>
                                    <p:set>
                                      <p:cBhvr>
                                        <p:cTn id="33" dur="1" fill="hold">
                                          <p:stCondLst>
                                            <p:cond delay="0"/>
                                          </p:stCondLst>
                                        </p:cTn>
                                        <p:tgtEl>
                                          <p:spTgt spid="51214"/>
                                        </p:tgtEl>
                                        <p:attrNameLst>
                                          <p:attrName>style.visibility</p:attrName>
                                        </p:attrNameLst>
                                      </p:cBhvr>
                                      <p:to>
                                        <p:strVal val="visible"/>
                                      </p:to>
                                    </p:set>
                                    <p:animEffect transition="in" filter="checkerboard(across)">
                                      <p:cBhvr>
                                        <p:cTn id="34" dur="500"/>
                                        <p:tgtEl>
                                          <p:spTgt spid="51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animBg="1"/>
      <p:bldP spid="51209" grpId="0" animBg="1"/>
      <p:bldP spid="51213" grpId="0" animBg="1"/>
      <p:bldP spid="512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title"/>
          </p:nvPr>
        </p:nvSpPr>
        <p:spPr>
          <a:xfrm>
            <a:off x="176981" y="0"/>
            <a:ext cx="8775290" cy="1046544"/>
          </a:xfrm>
        </p:spPr>
        <p:txBody>
          <a:bodyPr vert="horz" anchor="b">
            <a:noAutofit/>
          </a:bodyPr>
          <a:lstStyle/>
          <a:p>
            <a:r>
              <a:rPr lang="fr-FR" sz="2800" dirty="0">
                <a:solidFill>
                  <a:srgbClr val="C00000"/>
                </a:solidFill>
              </a:rPr>
              <a:t>Vérification de la configuration système requise</a:t>
            </a:r>
            <a:endParaRPr lang="en-US" sz="2800" dirty="0">
              <a:solidFill>
                <a:srgbClr val="C00000"/>
              </a:solidFill>
            </a:endParaRPr>
          </a:p>
        </p:txBody>
      </p:sp>
      <p:grpSp>
        <p:nvGrpSpPr>
          <p:cNvPr id="301" name="Groupe 300"/>
          <p:cNvGrpSpPr/>
          <p:nvPr/>
        </p:nvGrpSpPr>
        <p:grpSpPr>
          <a:xfrm>
            <a:off x="326530" y="1459832"/>
            <a:ext cx="2962100" cy="2374233"/>
            <a:chOff x="902470" y="1116013"/>
            <a:chExt cx="2628036" cy="1628596"/>
          </a:xfrm>
        </p:grpSpPr>
        <p:grpSp>
          <p:nvGrpSpPr>
            <p:cNvPr id="297" name="Groupe 296"/>
            <p:cNvGrpSpPr/>
            <p:nvPr/>
          </p:nvGrpSpPr>
          <p:grpSpPr>
            <a:xfrm>
              <a:off x="928688" y="1116013"/>
              <a:ext cx="2403475" cy="1587500"/>
              <a:chOff x="928688" y="1116013"/>
              <a:chExt cx="2403475" cy="1587500"/>
            </a:xfrm>
          </p:grpSpPr>
          <p:sp>
            <p:nvSpPr>
              <p:cNvPr id="46992" name="Rectangle 912"/>
              <p:cNvSpPr>
                <a:spLocks noChangeArrowheads="1"/>
              </p:cNvSpPr>
              <p:nvPr/>
            </p:nvSpPr>
            <p:spPr bwMode="auto">
              <a:xfrm>
                <a:off x="928688" y="1116013"/>
                <a:ext cx="2403475" cy="1587500"/>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lstStyle/>
              <a:p>
                <a:pPr marL="177800" indent="-177800" algn="ctr">
                  <a:spcBef>
                    <a:spcPct val="20000"/>
                  </a:spcBef>
                  <a:spcAft>
                    <a:spcPct val="20000"/>
                  </a:spcAft>
                  <a:buClr>
                    <a:srgbClr val="D60093"/>
                  </a:buClr>
                  <a:buSzPct val="70000"/>
                  <a:buFont typeface="Wingdings" pitchFamily="2" charset="2"/>
                  <a:buNone/>
                </a:pPr>
                <a:r>
                  <a:rPr lang="en-US" u="none">
                    <a:solidFill>
                      <a:schemeClr val="tx1"/>
                    </a:solidFill>
                    <a:latin typeface="Arial" charset="0"/>
                  </a:rPr>
                  <a:t>Processeur</a:t>
                </a:r>
              </a:p>
            </p:txBody>
          </p:sp>
          <p:grpSp>
            <p:nvGrpSpPr>
              <p:cNvPr id="46993" name="Group 913"/>
              <p:cNvGrpSpPr>
                <a:grpSpLocks/>
              </p:cNvGrpSpPr>
              <p:nvPr/>
            </p:nvGrpSpPr>
            <p:grpSpPr bwMode="auto">
              <a:xfrm>
                <a:off x="1171575" y="1574800"/>
                <a:ext cx="1828800" cy="739775"/>
                <a:chOff x="2052" y="1242"/>
                <a:chExt cx="1381" cy="558"/>
              </a:xfrm>
            </p:grpSpPr>
            <p:sp>
              <p:nvSpPr>
                <p:cNvPr id="46994" name="Freeform 914"/>
                <p:cNvSpPr>
                  <a:spLocks/>
                </p:cNvSpPr>
                <p:nvPr/>
              </p:nvSpPr>
              <p:spPr bwMode="auto">
                <a:xfrm>
                  <a:off x="2052" y="1361"/>
                  <a:ext cx="691" cy="331"/>
                </a:xfrm>
                <a:custGeom>
                  <a:avLst/>
                  <a:gdLst/>
                  <a:ahLst/>
                  <a:cxnLst>
                    <a:cxn ang="0">
                      <a:pos x="0" y="0"/>
                    </a:cxn>
                    <a:cxn ang="0">
                      <a:pos x="691" y="170"/>
                    </a:cxn>
                    <a:cxn ang="0">
                      <a:pos x="691" y="331"/>
                    </a:cxn>
                    <a:cxn ang="0">
                      <a:pos x="10" y="136"/>
                    </a:cxn>
                    <a:cxn ang="0">
                      <a:pos x="0" y="0"/>
                    </a:cxn>
                  </a:cxnLst>
                  <a:rect l="0" t="0" r="r" b="b"/>
                  <a:pathLst>
                    <a:path w="691" h="331">
                      <a:moveTo>
                        <a:pt x="0" y="0"/>
                      </a:moveTo>
                      <a:lnTo>
                        <a:pt x="691" y="170"/>
                      </a:lnTo>
                      <a:lnTo>
                        <a:pt x="691" y="331"/>
                      </a:lnTo>
                      <a:lnTo>
                        <a:pt x="10" y="136"/>
                      </a:lnTo>
                      <a:lnTo>
                        <a:pt x="0" y="0"/>
                      </a:lnTo>
                      <a:close/>
                    </a:path>
                  </a:pathLst>
                </a:custGeom>
                <a:solidFill>
                  <a:srgbClr val="000000"/>
                </a:solidFill>
                <a:ln w="9525">
                  <a:noFill/>
                  <a:round/>
                  <a:headEnd/>
                  <a:tailEnd/>
                </a:ln>
              </p:spPr>
              <p:txBody>
                <a:bodyPr/>
                <a:lstStyle/>
                <a:p>
                  <a:endParaRPr lang="fr-BE"/>
                </a:p>
              </p:txBody>
            </p:sp>
            <p:sp>
              <p:nvSpPr>
                <p:cNvPr id="46995" name="Freeform 915"/>
                <p:cNvSpPr>
                  <a:spLocks/>
                </p:cNvSpPr>
                <p:nvPr/>
              </p:nvSpPr>
              <p:spPr bwMode="auto">
                <a:xfrm>
                  <a:off x="2052" y="1361"/>
                  <a:ext cx="691" cy="331"/>
                </a:xfrm>
                <a:custGeom>
                  <a:avLst/>
                  <a:gdLst/>
                  <a:ahLst/>
                  <a:cxnLst>
                    <a:cxn ang="0">
                      <a:pos x="0" y="0"/>
                    </a:cxn>
                    <a:cxn ang="0">
                      <a:pos x="691" y="170"/>
                    </a:cxn>
                    <a:cxn ang="0">
                      <a:pos x="691" y="331"/>
                    </a:cxn>
                    <a:cxn ang="0">
                      <a:pos x="10" y="136"/>
                    </a:cxn>
                    <a:cxn ang="0">
                      <a:pos x="0" y="0"/>
                    </a:cxn>
                  </a:cxnLst>
                  <a:rect l="0" t="0" r="r" b="b"/>
                  <a:pathLst>
                    <a:path w="691" h="331">
                      <a:moveTo>
                        <a:pt x="0" y="0"/>
                      </a:moveTo>
                      <a:lnTo>
                        <a:pt x="691" y="170"/>
                      </a:lnTo>
                      <a:lnTo>
                        <a:pt x="691" y="331"/>
                      </a:lnTo>
                      <a:lnTo>
                        <a:pt x="10" y="136"/>
                      </a:lnTo>
                      <a:lnTo>
                        <a:pt x="0" y="0"/>
                      </a:lnTo>
                    </a:path>
                  </a:pathLst>
                </a:custGeom>
                <a:gradFill rotWithShape="0">
                  <a:gsLst>
                    <a:gs pos="0">
                      <a:srgbClr val="969696">
                        <a:gamma/>
                        <a:shade val="46275"/>
                        <a:invGamma/>
                      </a:srgbClr>
                    </a:gs>
                    <a:gs pos="100000">
                      <a:srgbClr val="969696"/>
                    </a:gs>
                  </a:gsLst>
                  <a:lin ang="5400000" scaled="1"/>
                </a:gradFill>
                <a:ln w="9525" cap="flat" cmpd="sng">
                  <a:solidFill>
                    <a:srgbClr val="000000"/>
                  </a:solidFill>
                  <a:prstDash val="solid"/>
                  <a:miter lim="800000"/>
                  <a:headEnd type="none" w="med" len="med"/>
                  <a:tailEnd type="none" w="med" len="med"/>
                </a:ln>
                <a:effectLst/>
              </p:spPr>
              <p:txBody>
                <a:bodyPr/>
                <a:lstStyle/>
                <a:p>
                  <a:endParaRPr lang="fr-BE"/>
                </a:p>
              </p:txBody>
            </p:sp>
            <p:sp>
              <p:nvSpPr>
                <p:cNvPr id="46996" name="Freeform 916"/>
                <p:cNvSpPr>
                  <a:spLocks/>
                </p:cNvSpPr>
                <p:nvPr/>
              </p:nvSpPr>
              <p:spPr bwMode="auto">
                <a:xfrm>
                  <a:off x="2743" y="1361"/>
                  <a:ext cx="690" cy="331"/>
                </a:xfrm>
                <a:custGeom>
                  <a:avLst/>
                  <a:gdLst/>
                  <a:ahLst/>
                  <a:cxnLst>
                    <a:cxn ang="0">
                      <a:pos x="690" y="0"/>
                    </a:cxn>
                    <a:cxn ang="0">
                      <a:pos x="0" y="170"/>
                    </a:cxn>
                    <a:cxn ang="0">
                      <a:pos x="0" y="331"/>
                    </a:cxn>
                    <a:cxn ang="0">
                      <a:pos x="680" y="136"/>
                    </a:cxn>
                    <a:cxn ang="0">
                      <a:pos x="690" y="0"/>
                    </a:cxn>
                  </a:cxnLst>
                  <a:rect l="0" t="0" r="r" b="b"/>
                  <a:pathLst>
                    <a:path w="690" h="331">
                      <a:moveTo>
                        <a:pt x="690" y="0"/>
                      </a:moveTo>
                      <a:lnTo>
                        <a:pt x="0" y="170"/>
                      </a:lnTo>
                      <a:lnTo>
                        <a:pt x="0" y="331"/>
                      </a:lnTo>
                      <a:lnTo>
                        <a:pt x="680" y="136"/>
                      </a:lnTo>
                      <a:lnTo>
                        <a:pt x="690" y="0"/>
                      </a:lnTo>
                      <a:close/>
                    </a:path>
                  </a:pathLst>
                </a:custGeom>
                <a:solidFill>
                  <a:srgbClr val="000000"/>
                </a:solidFill>
                <a:ln w="9525">
                  <a:noFill/>
                  <a:round/>
                  <a:headEnd/>
                  <a:tailEnd/>
                </a:ln>
              </p:spPr>
              <p:txBody>
                <a:bodyPr/>
                <a:lstStyle/>
                <a:p>
                  <a:endParaRPr lang="fr-BE"/>
                </a:p>
              </p:txBody>
            </p:sp>
            <p:sp>
              <p:nvSpPr>
                <p:cNvPr id="46997" name="Freeform 917"/>
                <p:cNvSpPr>
                  <a:spLocks/>
                </p:cNvSpPr>
                <p:nvPr/>
              </p:nvSpPr>
              <p:spPr bwMode="auto">
                <a:xfrm>
                  <a:off x="2743" y="1361"/>
                  <a:ext cx="690" cy="331"/>
                </a:xfrm>
                <a:custGeom>
                  <a:avLst/>
                  <a:gdLst/>
                  <a:ahLst/>
                  <a:cxnLst>
                    <a:cxn ang="0">
                      <a:pos x="690" y="0"/>
                    </a:cxn>
                    <a:cxn ang="0">
                      <a:pos x="0" y="170"/>
                    </a:cxn>
                    <a:cxn ang="0">
                      <a:pos x="0" y="331"/>
                    </a:cxn>
                    <a:cxn ang="0">
                      <a:pos x="680" y="136"/>
                    </a:cxn>
                    <a:cxn ang="0">
                      <a:pos x="690" y="0"/>
                    </a:cxn>
                  </a:cxnLst>
                  <a:rect l="0" t="0" r="r" b="b"/>
                  <a:pathLst>
                    <a:path w="690" h="331">
                      <a:moveTo>
                        <a:pt x="690" y="0"/>
                      </a:moveTo>
                      <a:lnTo>
                        <a:pt x="0" y="170"/>
                      </a:lnTo>
                      <a:lnTo>
                        <a:pt x="0" y="331"/>
                      </a:lnTo>
                      <a:lnTo>
                        <a:pt x="680" y="136"/>
                      </a:lnTo>
                      <a:lnTo>
                        <a:pt x="690" y="0"/>
                      </a:lnTo>
                    </a:path>
                  </a:pathLst>
                </a:custGeom>
                <a:gradFill rotWithShape="0">
                  <a:gsLst>
                    <a:gs pos="0">
                      <a:srgbClr val="969696">
                        <a:gamma/>
                        <a:shade val="46275"/>
                        <a:invGamma/>
                      </a:srgbClr>
                    </a:gs>
                    <a:gs pos="100000">
                      <a:srgbClr val="969696"/>
                    </a:gs>
                  </a:gsLst>
                  <a:lin ang="5400000" scaled="1"/>
                </a:gradFill>
                <a:ln w="9525" cap="flat" cmpd="sng">
                  <a:solidFill>
                    <a:srgbClr val="000000"/>
                  </a:solidFill>
                  <a:prstDash val="solid"/>
                  <a:miter lim="800000"/>
                  <a:headEnd type="none" w="med" len="med"/>
                  <a:tailEnd type="none" w="med" len="med"/>
                </a:ln>
                <a:effectLst/>
              </p:spPr>
              <p:txBody>
                <a:bodyPr/>
                <a:lstStyle/>
                <a:p>
                  <a:endParaRPr lang="fr-BE"/>
                </a:p>
              </p:txBody>
            </p:sp>
            <p:sp>
              <p:nvSpPr>
                <p:cNvPr id="46998" name="Freeform 918"/>
                <p:cNvSpPr>
                  <a:spLocks/>
                </p:cNvSpPr>
                <p:nvPr/>
              </p:nvSpPr>
              <p:spPr bwMode="auto">
                <a:xfrm>
                  <a:off x="2645" y="1598"/>
                  <a:ext cx="66" cy="202"/>
                </a:xfrm>
                <a:custGeom>
                  <a:avLst/>
                  <a:gdLst/>
                  <a:ahLst/>
                  <a:cxnLst>
                    <a:cxn ang="0">
                      <a:pos x="0" y="0"/>
                    </a:cxn>
                    <a:cxn ang="0">
                      <a:pos x="66" y="21"/>
                    </a:cxn>
                    <a:cxn ang="0">
                      <a:pos x="66" y="111"/>
                    </a:cxn>
                    <a:cxn ang="0">
                      <a:pos x="49" y="150"/>
                    </a:cxn>
                    <a:cxn ang="0">
                      <a:pos x="45" y="202"/>
                    </a:cxn>
                    <a:cxn ang="0">
                      <a:pos x="21" y="195"/>
                    </a:cxn>
                    <a:cxn ang="0">
                      <a:pos x="14" y="143"/>
                    </a:cxn>
                    <a:cxn ang="0">
                      <a:pos x="0" y="94"/>
                    </a:cxn>
                    <a:cxn ang="0">
                      <a:pos x="0" y="0"/>
                    </a:cxn>
                  </a:cxnLst>
                  <a:rect l="0" t="0" r="r" b="b"/>
                  <a:pathLst>
                    <a:path w="66" h="202">
                      <a:moveTo>
                        <a:pt x="0" y="0"/>
                      </a:moveTo>
                      <a:lnTo>
                        <a:pt x="66" y="21"/>
                      </a:lnTo>
                      <a:lnTo>
                        <a:pt x="66" y="111"/>
                      </a:lnTo>
                      <a:lnTo>
                        <a:pt x="49" y="150"/>
                      </a:lnTo>
                      <a:lnTo>
                        <a:pt x="45" y="202"/>
                      </a:lnTo>
                      <a:lnTo>
                        <a:pt x="21" y="195"/>
                      </a:lnTo>
                      <a:lnTo>
                        <a:pt x="14" y="143"/>
                      </a:lnTo>
                      <a:lnTo>
                        <a:pt x="0" y="94"/>
                      </a:lnTo>
                      <a:lnTo>
                        <a:pt x="0" y="0"/>
                      </a:lnTo>
                      <a:close/>
                    </a:path>
                  </a:pathLst>
                </a:custGeom>
                <a:solidFill>
                  <a:srgbClr val="FFFFFF"/>
                </a:solidFill>
                <a:ln w="9525">
                  <a:noFill/>
                  <a:round/>
                  <a:headEnd/>
                  <a:tailEnd/>
                </a:ln>
              </p:spPr>
              <p:txBody>
                <a:bodyPr/>
                <a:lstStyle/>
                <a:p>
                  <a:endParaRPr lang="fr-BE"/>
                </a:p>
              </p:txBody>
            </p:sp>
            <p:sp>
              <p:nvSpPr>
                <p:cNvPr id="46999" name="Freeform 919"/>
                <p:cNvSpPr>
                  <a:spLocks/>
                </p:cNvSpPr>
                <p:nvPr/>
              </p:nvSpPr>
              <p:spPr bwMode="auto">
                <a:xfrm>
                  <a:off x="2519" y="1566"/>
                  <a:ext cx="63" cy="196"/>
                </a:xfrm>
                <a:custGeom>
                  <a:avLst/>
                  <a:gdLst/>
                  <a:ahLst/>
                  <a:cxnLst>
                    <a:cxn ang="0">
                      <a:pos x="0" y="0"/>
                    </a:cxn>
                    <a:cxn ang="0">
                      <a:pos x="63" y="18"/>
                    </a:cxn>
                    <a:cxn ang="0">
                      <a:pos x="63" y="63"/>
                    </a:cxn>
                    <a:cxn ang="0">
                      <a:pos x="63" y="108"/>
                    </a:cxn>
                    <a:cxn ang="0">
                      <a:pos x="49" y="143"/>
                    </a:cxn>
                    <a:cxn ang="0">
                      <a:pos x="46" y="196"/>
                    </a:cxn>
                    <a:cxn ang="0">
                      <a:pos x="25" y="189"/>
                    </a:cxn>
                    <a:cxn ang="0">
                      <a:pos x="18" y="136"/>
                    </a:cxn>
                    <a:cxn ang="0">
                      <a:pos x="4" y="91"/>
                    </a:cxn>
                    <a:cxn ang="0">
                      <a:pos x="0" y="46"/>
                    </a:cxn>
                    <a:cxn ang="0">
                      <a:pos x="0" y="0"/>
                    </a:cxn>
                  </a:cxnLst>
                  <a:rect l="0" t="0" r="r" b="b"/>
                  <a:pathLst>
                    <a:path w="63" h="196">
                      <a:moveTo>
                        <a:pt x="0" y="0"/>
                      </a:moveTo>
                      <a:lnTo>
                        <a:pt x="63" y="18"/>
                      </a:lnTo>
                      <a:lnTo>
                        <a:pt x="63" y="63"/>
                      </a:lnTo>
                      <a:lnTo>
                        <a:pt x="63" y="108"/>
                      </a:lnTo>
                      <a:lnTo>
                        <a:pt x="49" y="143"/>
                      </a:lnTo>
                      <a:lnTo>
                        <a:pt x="46" y="196"/>
                      </a:lnTo>
                      <a:lnTo>
                        <a:pt x="25" y="189"/>
                      </a:lnTo>
                      <a:lnTo>
                        <a:pt x="18" y="136"/>
                      </a:lnTo>
                      <a:lnTo>
                        <a:pt x="4" y="91"/>
                      </a:lnTo>
                      <a:lnTo>
                        <a:pt x="0" y="46"/>
                      </a:lnTo>
                      <a:lnTo>
                        <a:pt x="0" y="0"/>
                      </a:lnTo>
                      <a:close/>
                    </a:path>
                  </a:pathLst>
                </a:custGeom>
                <a:solidFill>
                  <a:srgbClr val="FFFFFF"/>
                </a:solidFill>
                <a:ln w="9525">
                  <a:noFill/>
                  <a:round/>
                  <a:headEnd/>
                  <a:tailEnd/>
                </a:ln>
              </p:spPr>
              <p:txBody>
                <a:bodyPr/>
                <a:lstStyle/>
                <a:p>
                  <a:endParaRPr lang="fr-BE"/>
                </a:p>
              </p:txBody>
            </p:sp>
            <p:sp>
              <p:nvSpPr>
                <p:cNvPr id="47000" name="Freeform 920"/>
                <p:cNvSpPr>
                  <a:spLocks/>
                </p:cNvSpPr>
                <p:nvPr/>
              </p:nvSpPr>
              <p:spPr bwMode="auto">
                <a:xfrm>
                  <a:off x="2401" y="1535"/>
                  <a:ext cx="63" cy="188"/>
                </a:xfrm>
                <a:custGeom>
                  <a:avLst/>
                  <a:gdLst/>
                  <a:ahLst/>
                  <a:cxnLst>
                    <a:cxn ang="0">
                      <a:pos x="0" y="0"/>
                    </a:cxn>
                    <a:cxn ang="0">
                      <a:pos x="59" y="14"/>
                    </a:cxn>
                    <a:cxn ang="0">
                      <a:pos x="63" y="59"/>
                    </a:cxn>
                    <a:cxn ang="0">
                      <a:pos x="63" y="105"/>
                    </a:cxn>
                    <a:cxn ang="0">
                      <a:pos x="49" y="139"/>
                    </a:cxn>
                    <a:cxn ang="0">
                      <a:pos x="45" y="188"/>
                    </a:cxn>
                    <a:cxn ang="0">
                      <a:pos x="24" y="181"/>
                    </a:cxn>
                    <a:cxn ang="0">
                      <a:pos x="21" y="132"/>
                    </a:cxn>
                    <a:cxn ang="0">
                      <a:pos x="3" y="87"/>
                    </a:cxn>
                    <a:cxn ang="0">
                      <a:pos x="3" y="42"/>
                    </a:cxn>
                    <a:cxn ang="0">
                      <a:pos x="0" y="0"/>
                    </a:cxn>
                  </a:cxnLst>
                  <a:rect l="0" t="0" r="r" b="b"/>
                  <a:pathLst>
                    <a:path w="63" h="188">
                      <a:moveTo>
                        <a:pt x="0" y="0"/>
                      </a:moveTo>
                      <a:lnTo>
                        <a:pt x="59" y="14"/>
                      </a:lnTo>
                      <a:lnTo>
                        <a:pt x="63" y="59"/>
                      </a:lnTo>
                      <a:lnTo>
                        <a:pt x="63" y="105"/>
                      </a:lnTo>
                      <a:lnTo>
                        <a:pt x="49" y="139"/>
                      </a:lnTo>
                      <a:lnTo>
                        <a:pt x="45" y="188"/>
                      </a:lnTo>
                      <a:lnTo>
                        <a:pt x="24" y="181"/>
                      </a:lnTo>
                      <a:lnTo>
                        <a:pt x="21" y="132"/>
                      </a:lnTo>
                      <a:lnTo>
                        <a:pt x="3" y="87"/>
                      </a:lnTo>
                      <a:lnTo>
                        <a:pt x="3" y="42"/>
                      </a:lnTo>
                      <a:lnTo>
                        <a:pt x="0" y="0"/>
                      </a:lnTo>
                      <a:close/>
                    </a:path>
                  </a:pathLst>
                </a:custGeom>
                <a:solidFill>
                  <a:srgbClr val="FFFFFF"/>
                </a:solidFill>
                <a:ln w="9525">
                  <a:noFill/>
                  <a:round/>
                  <a:headEnd/>
                  <a:tailEnd/>
                </a:ln>
              </p:spPr>
              <p:txBody>
                <a:bodyPr/>
                <a:lstStyle/>
                <a:p>
                  <a:endParaRPr lang="fr-BE"/>
                </a:p>
              </p:txBody>
            </p:sp>
            <p:sp>
              <p:nvSpPr>
                <p:cNvPr id="47001" name="Freeform 921"/>
                <p:cNvSpPr>
                  <a:spLocks/>
                </p:cNvSpPr>
                <p:nvPr/>
              </p:nvSpPr>
              <p:spPr bwMode="auto">
                <a:xfrm>
                  <a:off x="2293" y="1504"/>
                  <a:ext cx="59" cy="184"/>
                </a:xfrm>
                <a:custGeom>
                  <a:avLst/>
                  <a:gdLst/>
                  <a:ahLst/>
                  <a:cxnLst>
                    <a:cxn ang="0">
                      <a:pos x="0" y="0"/>
                    </a:cxn>
                    <a:cxn ang="0">
                      <a:pos x="55" y="14"/>
                    </a:cxn>
                    <a:cxn ang="0">
                      <a:pos x="55" y="59"/>
                    </a:cxn>
                    <a:cxn ang="0">
                      <a:pos x="59" y="101"/>
                    </a:cxn>
                    <a:cxn ang="0">
                      <a:pos x="45" y="136"/>
                    </a:cxn>
                    <a:cxn ang="0">
                      <a:pos x="41" y="184"/>
                    </a:cxn>
                    <a:cxn ang="0">
                      <a:pos x="24" y="177"/>
                    </a:cxn>
                    <a:cxn ang="0">
                      <a:pos x="17" y="129"/>
                    </a:cxn>
                    <a:cxn ang="0">
                      <a:pos x="3" y="87"/>
                    </a:cxn>
                    <a:cxn ang="0">
                      <a:pos x="0" y="41"/>
                    </a:cxn>
                    <a:cxn ang="0">
                      <a:pos x="0" y="0"/>
                    </a:cxn>
                  </a:cxnLst>
                  <a:rect l="0" t="0" r="r" b="b"/>
                  <a:pathLst>
                    <a:path w="59" h="184">
                      <a:moveTo>
                        <a:pt x="0" y="0"/>
                      </a:moveTo>
                      <a:lnTo>
                        <a:pt x="55" y="14"/>
                      </a:lnTo>
                      <a:lnTo>
                        <a:pt x="55" y="59"/>
                      </a:lnTo>
                      <a:lnTo>
                        <a:pt x="59" y="101"/>
                      </a:lnTo>
                      <a:lnTo>
                        <a:pt x="45" y="136"/>
                      </a:lnTo>
                      <a:lnTo>
                        <a:pt x="41" y="184"/>
                      </a:lnTo>
                      <a:lnTo>
                        <a:pt x="24" y="177"/>
                      </a:lnTo>
                      <a:lnTo>
                        <a:pt x="17" y="129"/>
                      </a:lnTo>
                      <a:lnTo>
                        <a:pt x="3" y="87"/>
                      </a:lnTo>
                      <a:lnTo>
                        <a:pt x="0" y="41"/>
                      </a:lnTo>
                      <a:lnTo>
                        <a:pt x="0" y="0"/>
                      </a:lnTo>
                      <a:close/>
                    </a:path>
                  </a:pathLst>
                </a:custGeom>
                <a:solidFill>
                  <a:srgbClr val="FFFFFF"/>
                </a:solidFill>
                <a:ln w="9525">
                  <a:noFill/>
                  <a:round/>
                  <a:headEnd/>
                  <a:tailEnd/>
                </a:ln>
              </p:spPr>
              <p:txBody>
                <a:bodyPr/>
                <a:lstStyle/>
                <a:p>
                  <a:endParaRPr lang="fr-BE"/>
                </a:p>
              </p:txBody>
            </p:sp>
            <p:sp>
              <p:nvSpPr>
                <p:cNvPr id="47002" name="Freeform 922"/>
                <p:cNvSpPr>
                  <a:spLocks/>
                </p:cNvSpPr>
                <p:nvPr/>
              </p:nvSpPr>
              <p:spPr bwMode="auto">
                <a:xfrm>
                  <a:off x="2188" y="1476"/>
                  <a:ext cx="56" cy="181"/>
                </a:xfrm>
                <a:custGeom>
                  <a:avLst/>
                  <a:gdLst/>
                  <a:ahLst/>
                  <a:cxnLst>
                    <a:cxn ang="0">
                      <a:pos x="0" y="0"/>
                    </a:cxn>
                    <a:cxn ang="0">
                      <a:pos x="52" y="14"/>
                    </a:cxn>
                    <a:cxn ang="0">
                      <a:pos x="52" y="55"/>
                    </a:cxn>
                    <a:cxn ang="0">
                      <a:pos x="56" y="97"/>
                    </a:cxn>
                    <a:cxn ang="0">
                      <a:pos x="45" y="132"/>
                    </a:cxn>
                    <a:cxn ang="0">
                      <a:pos x="42" y="181"/>
                    </a:cxn>
                    <a:cxn ang="0">
                      <a:pos x="24" y="174"/>
                    </a:cxn>
                    <a:cxn ang="0">
                      <a:pos x="17" y="125"/>
                    </a:cxn>
                    <a:cxn ang="0">
                      <a:pos x="3" y="83"/>
                    </a:cxn>
                    <a:cxn ang="0">
                      <a:pos x="0" y="42"/>
                    </a:cxn>
                    <a:cxn ang="0">
                      <a:pos x="0" y="0"/>
                    </a:cxn>
                  </a:cxnLst>
                  <a:rect l="0" t="0" r="r" b="b"/>
                  <a:pathLst>
                    <a:path w="56" h="181">
                      <a:moveTo>
                        <a:pt x="0" y="0"/>
                      </a:moveTo>
                      <a:lnTo>
                        <a:pt x="52" y="14"/>
                      </a:lnTo>
                      <a:lnTo>
                        <a:pt x="52" y="55"/>
                      </a:lnTo>
                      <a:lnTo>
                        <a:pt x="56" y="97"/>
                      </a:lnTo>
                      <a:lnTo>
                        <a:pt x="45" y="132"/>
                      </a:lnTo>
                      <a:lnTo>
                        <a:pt x="42" y="181"/>
                      </a:lnTo>
                      <a:lnTo>
                        <a:pt x="24" y="174"/>
                      </a:lnTo>
                      <a:lnTo>
                        <a:pt x="17" y="125"/>
                      </a:lnTo>
                      <a:lnTo>
                        <a:pt x="3" y="83"/>
                      </a:lnTo>
                      <a:lnTo>
                        <a:pt x="0" y="42"/>
                      </a:lnTo>
                      <a:lnTo>
                        <a:pt x="0" y="0"/>
                      </a:lnTo>
                      <a:close/>
                    </a:path>
                  </a:pathLst>
                </a:custGeom>
                <a:solidFill>
                  <a:srgbClr val="FFFFFF"/>
                </a:solidFill>
                <a:ln w="9525">
                  <a:noFill/>
                  <a:round/>
                  <a:headEnd/>
                  <a:tailEnd/>
                </a:ln>
              </p:spPr>
              <p:txBody>
                <a:bodyPr/>
                <a:lstStyle/>
                <a:p>
                  <a:endParaRPr lang="fr-BE"/>
                </a:p>
              </p:txBody>
            </p:sp>
            <p:sp>
              <p:nvSpPr>
                <p:cNvPr id="47003" name="Freeform 923"/>
                <p:cNvSpPr>
                  <a:spLocks/>
                </p:cNvSpPr>
                <p:nvPr/>
              </p:nvSpPr>
              <p:spPr bwMode="auto">
                <a:xfrm>
                  <a:off x="2087" y="1448"/>
                  <a:ext cx="56" cy="178"/>
                </a:xfrm>
                <a:custGeom>
                  <a:avLst/>
                  <a:gdLst/>
                  <a:ahLst/>
                  <a:cxnLst>
                    <a:cxn ang="0">
                      <a:pos x="0" y="0"/>
                    </a:cxn>
                    <a:cxn ang="0">
                      <a:pos x="49" y="14"/>
                    </a:cxn>
                    <a:cxn ang="0">
                      <a:pos x="52" y="56"/>
                    </a:cxn>
                    <a:cxn ang="0">
                      <a:pos x="56" y="97"/>
                    </a:cxn>
                    <a:cxn ang="0">
                      <a:pos x="45" y="129"/>
                    </a:cxn>
                    <a:cxn ang="0">
                      <a:pos x="45" y="178"/>
                    </a:cxn>
                    <a:cxn ang="0">
                      <a:pos x="28" y="171"/>
                    </a:cxn>
                    <a:cxn ang="0">
                      <a:pos x="21" y="125"/>
                    </a:cxn>
                    <a:cxn ang="0">
                      <a:pos x="7" y="80"/>
                    </a:cxn>
                    <a:cxn ang="0">
                      <a:pos x="3" y="42"/>
                    </a:cxn>
                    <a:cxn ang="0">
                      <a:pos x="0" y="0"/>
                    </a:cxn>
                  </a:cxnLst>
                  <a:rect l="0" t="0" r="r" b="b"/>
                  <a:pathLst>
                    <a:path w="56" h="178">
                      <a:moveTo>
                        <a:pt x="0" y="0"/>
                      </a:moveTo>
                      <a:lnTo>
                        <a:pt x="49" y="14"/>
                      </a:lnTo>
                      <a:lnTo>
                        <a:pt x="52" y="56"/>
                      </a:lnTo>
                      <a:lnTo>
                        <a:pt x="56" y="97"/>
                      </a:lnTo>
                      <a:lnTo>
                        <a:pt x="45" y="129"/>
                      </a:lnTo>
                      <a:lnTo>
                        <a:pt x="45" y="178"/>
                      </a:lnTo>
                      <a:lnTo>
                        <a:pt x="28" y="171"/>
                      </a:lnTo>
                      <a:lnTo>
                        <a:pt x="21" y="125"/>
                      </a:lnTo>
                      <a:lnTo>
                        <a:pt x="7" y="80"/>
                      </a:lnTo>
                      <a:lnTo>
                        <a:pt x="3" y="42"/>
                      </a:lnTo>
                      <a:lnTo>
                        <a:pt x="0" y="0"/>
                      </a:lnTo>
                      <a:close/>
                    </a:path>
                  </a:pathLst>
                </a:custGeom>
                <a:solidFill>
                  <a:srgbClr val="FFFFFF"/>
                </a:solidFill>
                <a:ln w="9525">
                  <a:noFill/>
                  <a:round/>
                  <a:headEnd/>
                  <a:tailEnd/>
                </a:ln>
              </p:spPr>
              <p:txBody>
                <a:bodyPr/>
                <a:lstStyle/>
                <a:p>
                  <a:endParaRPr lang="fr-BE"/>
                </a:p>
              </p:txBody>
            </p:sp>
            <p:sp>
              <p:nvSpPr>
                <p:cNvPr id="47004" name="Freeform 924"/>
                <p:cNvSpPr>
                  <a:spLocks/>
                </p:cNvSpPr>
                <p:nvPr/>
              </p:nvSpPr>
              <p:spPr bwMode="auto">
                <a:xfrm>
                  <a:off x="2645" y="1598"/>
                  <a:ext cx="66" cy="202"/>
                </a:xfrm>
                <a:custGeom>
                  <a:avLst/>
                  <a:gdLst/>
                  <a:ahLst/>
                  <a:cxnLst>
                    <a:cxn ang="0">
                      <a:pos x="0" y="0"/>
                    </a:cxn>
                    <a:cxn ang="0">
                      <a:pos x="66" y="21"/>
                    </a:cxn>
                    <a:cxn ang="0">
                      <a:pos x="66" y="111"/>
                    </a:cxn>
                    <a:cxn ang="0">
                      <a:pos x="49" y="150"/>
                    </a:cxn>
                    <a:cxn ang="0">
                      <a:pos x="45" y="202"/>
                    </a:cxn>
                    <a:cxn ang="0">
                      <a:pos x="21" y="195"/>
                    </a:cxn>
                    <a:cxn ang="0">
                      <a:pos x="14" y="143"/>
                    </a:cxn>
                    <a:cxn ang="0">
                      <a:pos x="0" y="94"/>
                    </a:cxn>
                    <a:cxn ang="0">
                      <a:pos x="0" y="0"/>
                    </a:cxn>
                  </a:cxnLst>
                  <a:rect l="0" t="0" r="r" b="b"/>
                  <a:pathLst>
                    <a:path w="66" h="202">
                      <a:moveTo>
                        <a:pt x="0" y="0"/>
                      </a:moveTo>
                      <a:lnTo>
                        <a:pt x="66" y="21"/>
                      </a:lnTo>
                      <a:lnTo>
                        <a:pt x="66" y="111"/>
                      </a:lnTo>
                      <a:lnTo>
                        <a:pt x="49" y="150"/>
                      </a:lnTo>
                      <a:lnTo>
                        <a:pt x="45" y="202"/>
                      </a:lnTo>
                      <a:lnTo>
                        <a:pt x="21" y="195"/>
                      </a:lnTo>
                      <a:lnTo>
                        <a:pt x="14" y="143"/>
                      </a:lnTo>
                      <a:lnTo>
                        <a:pt x="0" y="94"/>
                      </a:lnTo>
                      <a:lnTo>
                        <a:pt x="0" y="0"/>
                      </a:lnTo>
                    </a:path>
                  </a:pathLst>
                </a:custGeom>
                <a:noFill/>
                <a:ln w="0" cap="sq">
                  <a:solidFill>
                    <a:srgbClr val="000000"/>
                  </a:solidFill>
                  <a:prstDash val="solid"/>
                  <a:miter lim="800000"/>
                  <a:headEnd/>
                  <a:tailEnd/>
                </a:ln>
              </p:spPr>
              <p:txBody>
                <a:bodyPr/>
                <a:lstStyle/>
                <a:p>
                  <a:endParaRPr lang="fr-BE"/>
                </a:p>
              </p:txBody>
            </p:sp>
            <p:sp>
              <p:nvSpPr>
                <p:cNvPr id="47005" name="Freeform 925"/>
                <p:cNvSpPr>
                  <a:spLocks/>
                </p:cNvSpPr>
                <p:nvPr/>
              </p:nvSpPr>
              <p:spPr bwMode="auto">
                <a:xfrm>
                  <a:off x="2519" y="1566"/>
                  <a:ext cx="63" cy="196"/>
                </a:xfrm>
                <a:custGeom>
                  <a:avLst/>
                  <a:gdLst/>
                  <a:ahLst/>
                  <a:cxnLst>
                    <a:cxn ang="0">
                      <a:pos x="0" y="0"/>
                    </a:cxn>
                    <a:cxn ang="0">
                      <a:pos x="63" y="18"/>
                    </a:cxn>
                    <a:cxn ang="0">
                      <a:pos x="63" y="63"/>
                    </a:cxn>
                    <a:cxn ang="0">
                      <a:pos x="63" y="108"/>
                    </a:cxn>
                    <a:cxn ang="0">
                      <a:pos x="49" y="143"/>
                    </a:cxn>
                    <a:cxn ang="0">
                      <a:pos x="46" y="196"/>
                    </a:cxn>
                    <a:cxn ang="0">
                      <a:pos x="25" y="189"/>
                    </a:cxn>
                    <a:cxn ang="0">
                      <a:pos x="18" y="136"/>
                    </a:cxn>
                    <a:cxn ang="0">
                      <a:pos x="4" y="91"/>
                    </a:cxn>
                    <a:cxn ang="0">
                      <a:pos x="0" y="46"/>
                    </a:cxn>
                    <a:cxn ang="0">
                      <a:pos x="0" y="0"/>
                    </a:cxn>
                  </a:cxnLst>
                  <a:rect l="0" t="0" r="r" b="b"/>
                  <a:pathLst>
                    <a:path w="63" h="196">
                      <a:moveTo>
                        <a:pt x="0" y="0"/>
                      </a:moveTo>
                      <a:lnTo>
                        <a:pt x="63" y="18"/>
                      </a:lnTo>
                      <a:lnTo>
                        <a:pt x="63" y="63"/>
                      </a:lnTo>
                      <a:lnTo>
                        <a:pt x="63" y="108"/>
                      </a:lnTo>
                      <a:lnTo>
                        <a:pt x="49" y="143"/>
                      </a:lnTo>
                      <a:lnTo>
                        <a:pt x="46" y="196"/>
                      </a:lnTo>
                      <a:lnTo>
                        <a:pt x="25" y="189"/>
                      </a:lnTo>
                      <a:lnTo>
                        <a:pt x="18" y="136"/>
                      </a:lnTo>
                      <a:lnTo>
                        <a:pt x="4" y="91"/>
                      </a:lnTo>
                      <a:lnTo>
                        <a:pt x="0" y="46"/>
                      </a:lnTo>
                      <a:lnTo>
                        <a:pt x="0" y="0"/>
                      </a:lnTo>
                    </a:path>
                  </a:pathLst>
                </a:custGeom>
                <a:noFill/>
                <a:ln w="0" cap="sq">
                  <a:solidFill>
                    <a:srgbClr val="000000"/>
                  </a:solidFill>
                  <a:prstDash val="solid"/>
                  <a:miter lim="800000"/>
                  <a:headEnd/>
                  <a:tailEnd/>
                </a:ln>
              </p:spPr>
              <p:txBody>
                <a:bodyPr/>
                <a:lstStyle/>
                <a:p>
                  <a:endParaRPr lang="fr-BE"/>
                </a:p>
              </p:txBody>
            </p:sp>
            <p:sp>
              <p:nvSpPr>
                <p:cNvPr id="47006" name="Freeform 926"/>
                <p:cNvSpPr>
                  <a:spLocks/>
                </p:cNvSpPr>
                <p:nvPr/>
              </p:nvSpPr>
              <p:spPr bwMode="auto">
                <a:xfrm>
                  <a:off x="2401" y="1535"/>
                  <a:ext cx="63" cy="188"/>
                </a:xfrm>
                <a:custGeom>
                  <a:avLst/>
                  <a:gdLst/>
                  <a:ahLst/>
                  <a:cxnLst>
                    <a:cxn ang="0">
                      <a:pos x="0" y="0"/>
                    </a:cxn>
                    <a:cxn ang="0">
                      <a:pos x="59" y="14"/>
                    </a:cxn>
                    <a:cxn ang="0">
                      <a:pos x="63" y="59"/>
                    </a:cxn>
                    <a:cxn ang="0">
                      <a:pos x="63" y="105"/>
                    </a:cxn>
                    <a:cxn ang="0">
                      <a:pos x="49" y="139"/>
                    </a:cxn>
                    <a:cxn ang="0">
                      <a:pos x="45" y="188"/>
                    </a:cxn>
                    <a:cxn ang="0">
                      <a:pos x="24" y="181"/>
                    </a:cxn>
                    <a:cxn ang="0">
                      <a:pos x="21" y="132"/>
                    </a:cxn>
                    <a:cxn ang="0">
                      <a:pos x="3" y="87"/>
                    </a:cxn>
                    <a:cxn ang="0">
                      <a:pos x="3" y="42"/>
                    </a:cxn>
                    <a:cxn ang="0">
                      <a:pos x="0" y="0"/>
                    </a:cxn>
                  </a:cxnLst>
                  <a:rect l="0" t="0" r="r" b="b"/>
                  <a:pathLst>
                    <a:path w="63" h="188">
                      <a:moveTo>
                        <a:pt x="0" y="0"/>
                      </a:moveTo>
                      <a:lnTo>
                        <a:pt x="59" y="14"/>
                      </a:lnTo>
                      <a:lnTo>
                        <a:pt x="63" y="59"/>
                      </a:lnTo>
                      <a:lnTo>
                        <a:pt x="63" y="105"/>
                      </a:lnTo>
                      <a:lnTo>
                        <a:pt x="49" y="139"/>
                      </a:lnTo>
                      <a:lnTo>
                        <a:pt x="45" y="188"/>
                      </a:lnTo>
                      <a:lnTo>
                        <a:pt x="24" y="181"/>
                      </a:lnTo>
                      <a:lnTo>
                        <a:pt x="21" y="132"/>
                      </a:lnTo>
                      <a:lnTo>
                        <a:pt x="3" y="87"/>
                      </a:lnTo>
                      <a:lnTo>
                        <a:pt x="3" y="42"/>
                      </a:lnTo>
                      <a:lnTo>
                        <a:pt x="0" y="0"/>
                      </a:lnTo>
                    </a:path>
                  </a:pathLst>
                </a:custGeom>
                <a:noFill/>
                <a:ln w="0" cap="sq">
                  <a:solidFill>
                    <a:srgbClr val="000000"/>
                  </a:solidFill>
                  <a:prstDash val="solid"/>
                  <a:miter lim="800000"/>
                  <a:headEnd/>
                  <a:tailEnd/>
                </a:ln>
              </p:spPr>
              <p:txBody>
                <a:bodyPr/>
                <a:lstStyle/>
                <a:p>
                  <a:endParaRPr lang="fr-BE"/>
                </a:p>
              </p:txBody>
            </p:sp>
            <p:sp>
              <p:nvSpPr>
                <p:cNvPr id="47007" name="Freeform 927"/>
                <p:cNvSpPr>
                  <a:spLocks/>
                </p:cNvSpPr>
                <p:nvPr/>
              </p:nvSpPr>
              <p:spPr bwMode="auto">
                <a:xfrm>
                  <a:off x="2293" y="1504"/>
                  <a:ext cx="59" cy="184"/>
                </a:xfrm>
                <a:custGeom>
                  <a:avLst/>
                  <a:gdLst/>
                  <a:ahLst/>
                  <a:cxnLst>
                    <a:cxn ang="0">
                      <a:pos x="0" y="0"/>
                    </a:cxn>
                    <a:cxn ang="0">
                      <a:pos x="55" y="14"/>
                    </a:cxn>
                    <a:cxn ang="0">
                      <a:pos x="55" y="59"/>
                    </a:cxn>
                    <a:cxn ang="0">
                      <a:pos x="59" y="101"/>
                    </a:cxn>
                    <a:cxn ang="0">
                      <a:pos x="45" y="136"/>
                    </a:cxn>
                    <a:cxn ang="0">
                      <a:pos x="41" y="184"/>
                    </a:cxn>
                    <a:cxn ang="0">
                      <a:pos x="24" y="177"/>
                    </a:cxn>
                    <a:cxn ang="0">
                      <a:pos x="17" y="129"/>
                    </a:cxn>
                    <a:cxn ang="0">
                      <a:pos x="3" y="87"/>
                    </a:cxn>
                    <a:cxn ang="0">
                      <a:pos x="0" y="41"/>
                    </a:cxn>
                    <a:cxn ang="0">
                      <a:pos x="0" y="0"/>
                    </a:cxn>
                  </a:cxnLst>
                  <a:rect l="0" t="0" r="r" b="b"/>
                  <a:pathLst>
                    <a:path w="59" h="184">
                      <a:moveTo>
                        <a:pt x="0" y="0"/>
                      </a:moveTo>
                      <a:lnTo>
                        <a:pt x="55" y="14"/>
                      </a:lnTo>
                      <a:lnTo>
                        <a:pt x="55" y="59"/>
                      </a:lnTo>
                      <a:lnTo>
                        <a:pt x="59" y="101"/>
                      </a:lnTo>
                      <a:lnTo>
                        <a:pt x="45" y="136"/>
                      </a:lnTo>
                      <a:lnTo>
                        <a:pt x="41" y="184"/>
                      </a:lnTo>
                      <a:lnTo>
                        <a:pt x="24" y="177"/>
                      </a:lnTo>
                      <a:lnTo>
                        <a:pt x="17" y="129"/>
                      </a:lnTo>
                      <a:lnTo>
                        <a:pt x="3" y="87"/>
                      </a:lnTo>
                      <a:lnTo>
                        <a:pt x="0" y="41"/>
                      </a:lnTo>
                      <a:lnTo>
                        <a:pt x="0" y="0"/>
                      </a:lnTo>
                    </a:path>
                  </a:pathLst>
                </a:custGeom>
                <a:noFill/>
                <a:ln w="0" cap="sq">
                  <a:solidFill>
                    <a:srgbClr val="000000"/>
                  </a:solidFill>
                  <a:prstDash val="solid"/>
                  <a:miter lim="800000"/>
                  <a:headEnd/>
                  <a:tailEnd/>
                </a:ln>
              </p:spPr>
              <p:txBody>
                <a:bodyPr/>
                <a:lstStyle/>
                <a:p>
                  <a:endParaRPr lang="fr-BE"/>
                </a:p>
              </p:txBody>
            </p:sp>
            <p:sp>
              <p:nvSpPr>
                <p:cNvPr id="47008" name="Freeform 928"/>
                <p:cNvSpPr>
                  <a:spLocks/>
                </p:cNvSpPr>
                <p:nvPr/>
              </p:nvSpPr>
              <p:spPr bwMode="auto">
                <a:xfrm>
                  <a:off x="2188" y="1476"/>
                  <a:ext cx="56" cy="181"/>
                </a:xfrm>
                <a:custGeom>
                  <a:avLst/>
                  <a:gdLst/>
                  <a:ahLst/>
                  <a:cxnLst>
                    <a:cxn ang="0">
                      <a:pos x="0" y="0"/>
                    </a:cxn>
                    <a:cxn ang="0">
                      <a:pos x="52" y="14"/>
                    </a:cxn>
                    <a:cxn ang="0">
                      <a:pos x="52" y="55"/>
                    </a:cxn>
                    <a:cxn ang="0">
                      <a:pos x="56" y="97"/>
                    </a:cxn>
                    <a:cxn ang="0">
                      <a:pos x="45" y="132"/>
                    </a:cxn>
                    <a:cxn ang="0">
                      <a:pos x="42" y="181"/>
                    </a:cxn>
                    <a:cxn ang="0">
                      <a:pos x="24" y="174"/>
                    </a:cxn>
                    <a:cxn ang="0">
                      <a:pos x="17" y="125"/>
                    </a:cxn>
                    <a:cxn ang="0">
                      <a:pos x="3" y="83"/>
                    </a:cxn>
                    <a:cxn ang="0">
                      <a:pos x="0" y="42"/>
                    </a:cxn>
                    <a:cxn ang="0">
                      <a:pos x="0" y="0"/>
                    </a:cxn>
                  </a:cxnLst>
                  <a:rect l="0" t="0" r="r" b="b"/>
                  <a:pathLst>
                    <a:path w="56" h="181">
                      <a:moveTo>
                        <a:pt x="0" y="0"/>
                      </a:moveTo>
                      <a:lnTo>
                        <a:pt x="52" y="14"/>
                      </a:lnTo>
                      <a:lnTo>
                        <a:pt x="52" y="55"/>
                      </a:lnTo>
                      <a:lnTo>
                        <a:pt x="56" y="97"/>
                      </a:lnTo>
                      <a:lnTo>
                        <a:pt x="45" y="132"/>
                      </a:lnTo>
                      <a:lnTo>
                        <a:pt x="42" y="181"/>
                      </a:lnTo>
                      <a:lnTo>
                        <a:pt x="24" y="174"/>
                      </a:lnTo>
                      <a:lnTo>
                        <a:pt x="17" y="125"/>
                      </a:lnTo>
                      <a:lnTo>
                        <a:pt x="3" y="83"/>
                      </a:lnTo>
                      <a:lnTo>
                        <a:pt x="0" y="42"/>
                      </a:lnTo>
                      <a:lnTo>
                        <a:pt x="0" y="0"/>
                      </a:lnTo>
                    </a:path>
                  </a:pathLst>
                </a:custGeom>
                <a:noFill/>
                <a:ln w="0" cap="sq">
                  <a:solidFill>
                    <a:srgbClr val="000000"/>
                  </a:solidFill>
                  <a:prstDash val="solid"/>
                  <a:miter lim="800000"/>
                  <a:headEnd/>
                  <a:tailEnd/>
                </a:ln>
              </p:spPr>
              <p:txBody>
                <a:bodyPr/>
                <a:lstStyle/>
                <a:p>
                  <a:endParaRPr lang="fr-BE"/>
                </a:p>
              </p:txBody>
            </p:sp>
            <p:sp>
              <p:nvSpPr>
                <p:cNvPr id="47009" name="Freeform 929"/>
                <p:cNvSpPr>
                  <a:spLocks/>
                </p:cNvSpPr>
                <p:nvPr/>
              </p:nvSpPr>
              <p:spPr bwMode="auto">
                <a:xfrm>
                  <a:off x="2087" y="1448"/>
                  <a:ext cx="56" cy="178"/>
                </a:xfrm>
                <a:custGeom>
                  <a:avLst/>
                  <a:gdLst/>
                  <a:ahLst/>
                  <a:cxnLst>
                    <a:cxn ang="0">
                      <a:pos x="0" y="0"/>
                    </a:cxn>
                    <a:cxn ang="0">
                      <a:pos x="49" y="14"/>
                    </a:cxn>
                    <a:cxn ang="0">
                      <a:pos x="52" y="56"/>
                    </a:cxn>
                    <a:cxn ang="0">
                      <a:pos x="56" y="97"/>
                    </a:cxn>
                    <a:cxn ang="0">
                      <a:pos x="45" y="129"/>
                    </a:cxn>
                    <a:cxn ang="0">
                      <a:pos x="45" y="178"/>
                    </a:cxn>
                    <a:cxn ang="0">
                      <a:pos x="28" y="171"/>
                    </a:cxn>
                    <a:cxn ang="0">
                      <a:pos x="21" y="125"/>
                    </a:cxn>
                    <a:cxn ang="0">
                      <a:pos x="7" y="80"/>
                    </a:cxn>
                    <a:cxn ang="0">
                      <a:pos x="3" y="42"/>
                    </a:cxn>
                    <a:cxn ang="0">
                      <a:pos x="0" y="0"/>
                    </a:cxn>
                  </a:cxnLst>
                  <a:rect l="0" t="0" r="r" b="b"/>
                  <a:pathLst>
                    <a:path w="56" h="178">
                      <a:moveTo>
                        <a:pt x="0" y="0"/>
                      </a:moveTo>
                      <a:lnTo>
                        <a:pt x="49" y="14"/>
                      </a:lnTo>
                      <a:lnTo>
                        <a:pt x="52" y="56"/>
                      </a:lnTo>
                      <a:lnTo>
                        <a:pt x="56" y="97"/>
                      </a:lnTo>
                      <a:lnTo>
                        <a:pt x="45" y="129"/>
                      </a:lnTo>
                      <a:lnTo>
                        <a:pt x="45" y="178"/>
                      </a:lnTo>
                      <a:lnTo>
                        <a:pt x="28" y="171"/>
                      </a:lnTo>
                      <a:lnTo>
                        <a:pt x="21" y="125"/>
                      </a:lnTo>
                      <a:lnTo>
                        <a:pt x="7" y="80"/>
                      </a:lnTo>
                      <a:lnTo>
                        <a:pt x="3" y="42"/>
                      </a:lnTo>
                      <a:lnTo>
                        <a:pt x="0" y="0"/>
                      </a:lnTo>
                    </a:path>
                  </a:pathLst>
                </a:custGeom>
                <a:noFill/>
                <a:ln w="0" cap="sq">
                  <a:solidFill>
                    <a:srgbClr val="000000"/>
                  </a:solidFill>
                  <a:prstDash val="solid"/>
                  <a:miter lim="800000"/>
                  <a:headEnd/>
                  <a:tailEnd/>
                </a:ln>
              </p:spPr>
              <p:txBody>
                <a:bodyPr/>
                <a:lstStyle/>
                <a:p>
                  <a:endParaRPr lang="fr-BE"/>
                </a:p>
              </p:txBody>
            </p:sp>
            <p:sp>
              <p:nvSpPr>
                <p:cNvPr id="47010" name="Freeform 930"/>
                <p:cNvSpPr>
                  <a:spLocks/>
                </p:cNvSpPr>
                <p:nvPr/>
              </p:nvSpPr>
              <p:spPr bwMode="auto">
                <a:xfrm>
                  <a:off x="2777" y="1598"/>
                  <a:ext cx="63" cy="202"/>
                </a:xfrm>
                <a:custGeom>
                  <a:avLst/>
                  <a:gdLst/>
                  <a:ahLst/>
                  <a:cxnLst>
                    <a:cxn ang="0">
                      <a:pos x="63" y="0"/>
                    </a:cxn>
                    <a:cxn ang="0">
                      <a:pos x="0" y="21"/>
                    </a:cxn>
                    <a:cxn ang="0">
                      <a:pos x="0" y="111"/>
                    </a:cxn>
                    <a:cxn ang="0">
                      <a:pos x="14" y="150"/>
                    </a:cxn>
                    <a:cxn ang="0">
                      <a:pos x="21" y="202"/>
                    </a:cxn>
                    <a:cxn ang="0">
                      <a:pos x="42" y="195"/>
                    </a:cxn>
                    <a:cxn ang="0">
                      <a:pos x="49" y="143"/>
                    </a:cxn>
                    <a:cxn ang="0">
                      <a:pos x="63" y="94"/>
                    </a:cxn>
                    <a:cxn ang="0">
                      <a:pos x="63" y="0"/>
                    </a:cxn>
                  </a:cxnLst>
                  <a:rect l="0" t="0" r="r" b="b"/>
                  <a:pathLst>
                    <a:path w="63" h="202">
                      <a:moveTo>
                        <a:pt x="63" y="0"/>
                      </a:moveTo>
                      <a:lnTo>
                        <a:pt x="0" y="21"/>
                      </a:lnTo>
                      <a:lnTo>
                        <a:pt x="0" y="111"/>
                      </a:lnTo>
                      <a:lnTo>
                        <a:pt x="14" y="150"/>
                      </a:lnTo>
                      <a:lnTo>
                        <a:pt x="21" y="202"/>
                      </a:lnTo>
                      <a:lnTo>
                        <a:pt x="42" y="195"/>
                      </a:lnTo>
                      <a:lnTo>
                        <a:pt x="49" y="143"/>
                      </a:lnTo>
                      <a:lnTo>
                        <a:pt x="63" y="94"/>
                      </a:lnTo>
                      <a:lnTo>
                        <a:pt x="63" y="0"/>
                      </a:lnTo>
                      <a:close/>
                    </a:path>
                  </a:pathLst>
                </a:custGeom>
                <a:solidFill>
                  <a:srgbClr val="FFFFFF"/>
                </a:solidFill>
                <a:ln w="9525">
                  <a:noFill/>
                  <a:round/>
                  <a:headEnd/>
                  <a:tailEnd/>
                </a:ln>
              </p:spPr>
              <p:txBody>
                <a:bodyPr/>
                <a:lstStyle/>
                <a:p>
                  <a:endParaRPr lang="fr-BE"/>
                </a:p>
              </p:txBody>
            </p:sp>
            <p:sp>
              <p:nvSpPr>
                <p:cNvPr id="47011" name="Freeform 931"/>
                <p:cNvSpPr>
                  <a:spLocks/>
                </p:cNvSpPr>
                <p:nvPr/>
              </p:nvSpPr>
              <p:spPr bwMode="auto">
                <a:xfrm>
                  <a:off x="2903" y="1566"/>
                  <a:ext cx="63" cy="196"/>
                </a:xfrm>
                <a:custGeom>
                  <a:avLst/>
                  <a:gdLst/>
                  <a:ahLst/>
                  <a:cxnLst>
                    <a:cxn ang="0">
                      <a:pos x="63" y="0"/>
                    </a:cxn>
                    <a:cxn ang="0">
                      <a:pos x="0" y="18"/>
                    </a:cxn>
                    <a:cxn ang="0">
                      <a:pos x="0" y="63"/>
                    </a:cxn>
                    <a:cxn ang="0">
                      <a:pos x="0" y="108"/>
                    </a:cxn>
                    <a:cxn ang="0">
                      <a:pos x="14" y="143"/>
                    </a:cxn>
                    <a:cxn ang="0">
                      <a:pos x="17" y="196"/>
                    </a:cxn>
                    <a:cxn ang="0">
                      <a:pos x="42" y="189"/>
                    </a:cxn>
                    <a:cxn ang="0">
                      <a:pos x="45" y="136"/>
                    </a:cxn>
                    <a:cxn ang="0">
                      <a:pos x="59" y="91"/>
                    </a:cxn>
                    <a:cxn ang="0">
                      <a:pos x="63" y="46"/>
                    </a:cxn>
                    <a:cxn ang="0">
                      <a:pos x="63" y="0"/>
                    </a:cxn>
                  </a:cxnLst>
                  <a:rect l="0" t="0" r="r" b="b"/>
                  <a:pathLst>
                    <a:path w="63" h="196">
                      <a:moveTo>
                        <a:pt x="63" y="0"/>
                      </a:moveTo>
                      <a:lnTo>
                        <a:pt x="0" y="18"/>
                      </a:lnTo>
                      <a:lnTo>
                        <a:pt x="0" y="63"/>
                      </a:lnTo>
                      <a:lnTo>
                        <a:pt x="0" y="108"/>
                      </a:lnTo>
                      <a:lnTo>
                        <a:pt x="14" y="143"/>
                      </a:lnTo>
                      <a:lnTo>
                        <a:pt x="17" y="196"/>
                      </a:lnTo>
                      <a:lnTo>
                        <a:pt x="42" y="189"/>
                      </a:lnTo>
                      <a:lnTo>
                        <a:pt x="45" y="136"/>
                      </a:lnTo>
                      <a:lnTo>
                        <a:pt x="59" y="91"/>
                      </a:lnTo>
                      <a:lnTo>
                        <a:pt x="63" y="46"/>
                      </a:lnTo>
                      <a:lnTo>
                        <a:pt x="63" y="0"/>
                      </a:lnTo>
                      <a:close/>
                    </a:path>
                  </a:pathLst>
                </a:custGeom>
                <a:solidFill>
                  <a:srgbClr val="FFFFFF"/>
                </a:solidFill>
                <a:ln w="9525">
                  <a:noFill/>
                  <a:round/>
                  <a:headEnd/>
                  <a:tailEnd/>
                </a:ln>
              </p:spPr>
              <p:txBody>
                <a:bodyPr/>
                <a:lstStyle/>
                <a:p>
                  <a:endParaRPr lang="fr-BE"/>
                </a:p>
              </p:txBody>
            </p:sp>
            <p:sp>
              <p:nvSpPr>
                <p:cNvPr id="47012" name="Freeform 932"/>
                <p:cNvSpPr>
                  <a:spLocks/>
                </p:cNvSpPr>
                <p:nvPr/>
              </p:nvSpPr>
              <p:spPr bwMode="auto">
                <a:xfrm>
                  <a:off x="3021" y="1535"/>
                  <a:ext cx="63" cy="188"/>
                </a:xfrm>
                <a:custGeom>
                  <a:avLst/>
                  <a:gdLst/>
                  <a:ahLst/>
                  <a:cxnLst>
                    <a:cxn ang="0">
                      <a:pos x="63" y="0"/>
                    </a:cxn>
                    <a:cxn ang="0">
                      <a:pos x="4" y="14"/>
                    </a:cxn>
                    <a:cxn ang="0">
                      <a:pos x="0" y="59"/>
                    </a:cxn>
                    <a:cxn ang="0">
                      <a:pos x="0" y="105"/>
                    </a:cxn>
                    <a:cxn ang="0">
                      <a:pos x="14" y="139"/>
                    </a:cxn>
                    <a:cxn ang="0">
                      <a:pos x="18" y="188"/>
                    </a:cxn>
                    <a:cxn ang="0">
                      <a:pos x="39" y="181"/>
                    </a:cxn>
                    <a:cxn ang="0">
                      <a:pos x="42" y="132"/>
                    </a:cxn>
                    <a:cxn ang="0">
                      <a:pos x="60" y="87"/>
                    </a:cxn>
                    <a:cxn ang="0">
                      <a:pos x="60" y="42"/>
                    </a:cxn>
                    <a:cxn ang="0">
                      <a:pos x="63" y="0"/>
                    </a:cxn>
                  </a:cxnLst>
                  <a:rect l="0" t="0" r="r" b="b"/>
                  <a:pathLst>
                    <a:path w="63" h="188">
                      <a:moveTo>
                        <a:pt x="63" y="0"/>
                      </a:moveTo>
                      <a:lnTo>
                        <a:pt x="4" y="14"/>
                      </a:lnTo>
                      <a:lnTo>
                        <a:pt x="0" y="59"/>
                      </a:lnTo>
                      <a:lnTo>
                        <a:pt x="0" y="105"/>
                      </a:lnTo>
                      <a:lnTo>
                        <a:pt x="14" y="139"/>
                      </a:lnTo>
                      <a:lnTo>
                        <a:pt x="18" y="188"/>
                      </a:lnTo>
                      <a:lnTo>
                        <a:pt x="39" y="181"/>
                      </a:lnTo>
                      <a:lnTo>
                        <a:pt x="42" y="132"/>
                      </a:lnTo>
                      <a:lnTo>
                        <a:pt x="60" y="87"/>
                      </a:lnTo>
                      <a:lnTo>
                        <a:pt x="60" y="42"/>
                      </a:lnTo>
                      <a:lnTo>
                        <a:pt x="63" y="0"/>
                      </a:lnTo>
                      <a:close/>
                    </a:path>
                  </a:pathLst>
                </a:custGeom>
                <a:solidFill>
                  <a:srgbClr val="FFFFFF"/>
                </a:solidFill>
                <a:ln w="9525">
                  <a:noFill/>
                  <a:round/>
                  <a:headEnd/>
                  <a:tailEnd/>
                </a:ln>
              </p:spPr>
              <p:txBody>
                <a:bodyPr/>
                <a:lstStyle/>
                <a:p>
                  <a:endParaRPr lang="fr-BE"/>
                </a:p>
              </p:txBody>
            </p:sp>
            <p:sp>
              <p:nvSpPr>
                <p:cNvPr id="47013" name="Freeform 933"/>
                <p:cNvSpPr>
                  <a:spLocks/>
                </p:cNvSpPr>
                <p:nvPr/>
              </p:nvSpPr>
              <p:spPr bwMode="auto">
                <a:xfrm>
                  <a:off x="3133" y="1504"/>
                  <a:ext cx="59" cy="184"/>
                </a:xfrm>
                <a:custGeom>
                  <a:avLst/>
                  <a:gdLst/>
                  <a:ahLst/>
                  <a:cxnLst>
                    <a:cxn ang="0">
                      <a:pos x="59" y="0"/>
                    </a:cxn>
                    <a:cxn ang="0">
                      <a:pos x="4" y="14"/>
                    </a:cxn>
                    <a:cxn ang="0">
                      <a:pos x="4" y="59"/>
                    </a:cxn>
                    <a:cxn ang="0">
                      <a:pos x="0" y="101"/>
                    </a:cxn>
                    <a:cxn ang="0">
                      <a:pos x="14" y="136"/>
                    </a:cxn>
                    <a:cxn ang="0">
                      <a:pos x="18" y="184"/>
                    </a:cxn>
                    <a:cxn ang="0">
                      <a:pos x="35" y="177"/>
                    </a:cxn>
                    <a:cxn ang="0">
                      <a:pos x="42" y="129"/>
                    </a:cxn>
                    <a:cxn ang="0">
                      <a:pos x="56" y="87"/>
                    </a:cxn>
                    <a:cxn ang="0">
                      <a:pos x="59" y="41"/>
                    </a:cxn>
                    <a:cxn ang="0">
                      <a:pos x="59" y="0"/>
                    </a:cxn>
                  </a:cxnLst>
                  <a:rect l="0" t="0" r="r" b="b"/>
                  <a:pathLst>
                    <a:path w="59" h="184">
                      <a:moveTo>
                        <a:pt x="59" y="0"/>
                      </a:moveTo>
                      <a:lnTo>
                        <a:pt x="4" y="14"/>
                      </a:lnTo>
                      <a:lnTo>
                        <a:pt x="4" y="59"/>
                      </a:lnTo>
                      <a:lnTo>
                        <a:pt x="0" y="101"/>
                      </a:lnTo>
                      <a:lnTo>
                        <a:pt x="14" y="136"/>
                      </a:lnTo>
                      <a:lnTo>
                        <a:pt x="18" y="184"/>
                      </a:lnTo>
                      <a:lnTo>
                        <a:pt x="35" y="177"/>
                      </a:lnTo>
                      <a:lnTo>
                        <a:pt x="42" y="129"/>
                      </a:lnTo>
                      <a:lnTo>
                        <a:pt x="56" y="87"/>
                      </a:lnTo>
                      <a:lnTo>
                        <a:pt x="59" y="41"/>
                      </a:lnTo>
                      <a:lnTo>
                        <a:pt x="59" y="0"/>
                      </a:lnTo>
                      <a:close/>
                    </a:path>
                  </a:pathLst>
                </a:custGeom>
                <a:solidFill>
                  <a:srgbClr val="FFFFFF"/>
                </a:solidFill>
                <a:ln w="9525">
                  <a:noFill/>
                  <a:round/>
                  <a:headEnd/>
                  <a:tailEnd/>
                </a:ln>
              </p:spPr>
              <p:txBody>
                <a:bodyPr/>
                <a:lstStyle/>
                <a:p>
                  <a:endParaRPr lang="fr-BE"/>
                </a:p>
              </p:txBody>
            </p:sp>
            <p:sp>
              <p:nvSpPr>
                <p:cNvPr id="47014" name="Freeform 934"/>
                <p:cNvSpPr>
                  <a:spLocks/>
                </p:cNvSpPr>
                <p:nvPr/>
              </p:nvSpPr>
              <p:spPr bwMode="auto">
                <a:xfrm>
                  <a:off x="3241" y="1476"/>
                  <a:ext cx="56" cy="181"/>
                </a:xfrm>
                <a:custGeom>
                  <a:avLst/>
                  <a:gdLst/>
                  <a:ahLst/>
                  <a:cxnLst>
                    <a:cxn ang="0">
                      <a:pos x="56" y="0"/>
                    </a:cxn>
                    <a:cxn ang="0">
                      <a:pos x="4" y="14"/>
                    </a:cxn>
                    <a:cxn ang="0">
                      <a:pos x="4" y="55"/>
                    </a:cxn>
                    <a:cxn ang="0">
                      <a:pos x="0" y="97"/>
                    </a:cxn>
                    <a:cxn ang="0">
                      <a:pos x="11" y="132"/>
                    </a:cxn>
                    <a:cxn ang="0">
                      <a:pos x="14" y="181"/>
                    </a:cxn>
                    <a:cxn ang="0">
                      <a:pos x="32" y="174"/>
                    </a:cxn>
                    <a:cxn ang="0">
                      <a:pos x="39" y="125"/>
                    </a:cxn>
                    <a:cxn ang="0">
                      <a:pos x="53" y="83"/>
                    </a:cxn>
                    <a:cxn ang="0">
                      <a:pos x="56" y="42"/>
                    </a:cxn>
                    <a:cxn ang="0">
                      <a:pos x="56" y="0"/>
                    </a:cxn>
                  </a:cxnLst>
                  <a:rect l="0" t="0" r="r" b="b"/>
                  <a:pathLst>
                    <a:path w="56" h="181">
                      <a:moveTo>
                        <a:pt x="56" y="0"/>
                      </a:moveTo>
                      <a:lnTo>
                        <a:pt x="4" y="14"/>
                      </a:lnTo>
                      <a:lnTo>
                        <a:pt x="4" y="55"/>
                      </a:lnTo>
                      <a:lnTo>
                        <a:pt x="0" y="97"/>
                      </a:lnTo>
                      <a:lnTo>
                        <a:pt x="11" y="132"/>
                      </a:lnTo>
                      <a:lnTo>
                        <a:pt x="14" y="181"/>
                      </a:lnTo>
                      <a:lnTo>
                        <a:pt x="32" y="174"/>
                      </a:lnTo>
                      <a:lnTo>
                        <a:pt x="39" y="125"/>
                      </a:lnTo>
                      <a:lnTo>
                        <a:pt x="53" y="83"/>
                      </a:lnTo>
                      <a:lnTo>
                        <a:pt x="56" y="42"/>
                      </a:lnTo>
                      <a:lnTo>
                        <a:pt x="56" y="0"/>
                      </a:lnTo>
                      <a:close/>
                    </a:path>
                  </a:pathLst>
                </a:custGeom>
                <a:solidFill>
                  <a:srgbClr val="FFFFFF"/>
                </a:solidFill>
                <a:ln w="9525">
                  <a:noFill/>
                  <a:round/>
                  <a:headEnd/>
                  <a:tailEnd/>
                </a:ln>
              </p:spPr>
              <p:txBody>
                <a:bodyPr/>
                <a:lstStyle/>
                <a:p>
                  <a:endParaRPr lang="fr-BE"/>
                </a:p>
              </p:txBody>
            </p:sp>
            <p:sp>
              <p:nvSpPr>
                <p:cNvPr id="47015" name="Freeform 935"/>
                <p:cNvSpPr>
                  <a:spLocks/>
                </p:cNvSpPr>
                <p:nvPr/>
              </p:nvSpPr>
              <p:spPr bwMode="auto">
                <a:xfrm>
                  <a:off x="3342" y="1448"/>
                  <a:ext cx="56" cy="178"/>
                </a:xfrm>
                <a:custGeom>
                  <a:avLst/>
                  <a:gdLst/>
                  <a:ahLst/>
                  <a:cxnLst>
                    <a:cxn ang="0">
                      <a:pos x="56" y="0"/>
                    </a:cxn>
                    <a:cxn ang="0">
                      <a:pos x="7" y="14"/>
                    </a:cxn>
                    <a:cxn ang="0">
                      <a:pos x="4" y="56"/>
                    </a:cxn>
                    <a:cxn ang="0">
                      <a:pos x="0" y="97"/>
                    </a:cxn>
                    <a:cxn ang="0">
                      <a:pos x="11" y="129"/>
                    </a:cxn>
                    <a:cxn ang="0">
                      <a:pos x="11" y="178"/>
                    </a:cxn>
                    <a:cxn ang="0">
                      <a:pos x="28" y="171"/>
                    </a:cxn>
                    <a:cxn ang="0">
                      <a:pos x="35" y="125"/>
                    </a:cxn>
                    <a:cxn ang="0">
                      <a:pos x="49" y="80"/>
                    </a:cxn>
                    <a:cxn ang="0">
                      <a:pos x="53" y="42"/>
                    </a:cxn>
                    <a:cxn ang="0">
                      <a:pos x="56" y="0"/>
                    </a:cxn>
                  </a:cxnLst>
                  <a:rect l="0" t="0" r="r" b="b"/>
                  <a:pathLst>
                    <a:path w="56" h="178">
                      <a:moveTo>
                        <a:pt x="56" y="0"/>
                      </a:moveTo>
                      <a:lnTo>
                        <a:pt x="7" y="14"/>
                      </a:lnTo>
                      <a:lnTo>
                        <a:pt x="4" y="56"/>
                      </a:lnTo>
                      <a:lnTo>
                        <a:pt x="0" y="97"/>
                      </a:lnTo>
                      <a:lnTo>
                        <a:pt x="11" y="129"/>
                      </a:lnTo>
                      <a:lnTo>
                        <a:pt x="11" y="178"/>
                      </a:lnTo>
                      <a:lnTo>
                        <a:pt x="28" y="171"/>
                      </a:lnTo>
                      <a:lnTo>
                        <a:pt x="35" y="125"/>
                      </a:lnTo>
                      <a:lnTo>
                        <a:pt x="49" y="80"/>
                      </a:lnTo>
                      <a:lnTo>
                        <a:pt x="53" y="42"/>
                      </a:lnTo>
                      <a:lnTo>
                        <a:pt x="56" y="0"/>
                      </a:lnTo>
                      <a:close/>
                    </a:path>
                  </a:pathLst>
                </a:custGeom>
                <a:solidFill>
                  <a:srgbClr val="FFFFFF"/>
                </a:solidFill>
                <a:ln w="9525">
                  <a:noFill/>
                  <a:round/>
                  <a:headEnd/>
                  <a:tailEnd/>
                </a:ln>
              </p:spPr>
              <p:txBody>
                <a:bodyPr/>
                <a:lstStyle/>
                <a:p>
                  <a:endParaRPr lang="fr-BE"/>
                </a:p>
              </p:txBody>
            </p:sp>
            <p:sp>
              <p:nvSpPr>
                <p:cNvPr id="47016" name="Freeform 936"/>
                <p:cNvSpPr>
                  <a:spLocks/>
                </p:cNvSpPr>
                <p:nvPr/>
              </p:nvSpPr>
              <p:spPr bwMode="auto">
                <a:xfrm>
                  <a:off x="2777" y="1598"/>
                  <a:ext cx="63" cy="202"/>
                </a:xfrm>
                <a:custGeom>
                  <a:avLst/>
                  <a:gdLst/>
                  <a:ahLst/>
                  <a:cxnLst>
                    <a:cxn ang="0">
                      <a:pos x="63" y="0"/>
                    </a:cxn>
                    <a:cxn ang="0">
                      <a:pos x="0" y="21"/>
                    </a:cxn>
                    <a:cxn ang="0">
                      <a:pos x="0" y="111"/>
                    </a:cxn>
                    <a:cxn ang="0">
                      <a:pos x="14" y="150"/>
                    </a:cxn>
                    <a:cxn ang="0">
                      <a:pos x="21" y="202"/>
                    </a:cxn>
                    <a:cxn ang="0">
                      <a:pos x="42" y="195"/>
                    </a:cxn>
                    <a:cxn ang="0">
                      <a:pos x="49" y="143"/>
                    </a:cxn>
                    <a:cxn ang="0">
                      <a:pos x="63" y="94"/>
                    </a:cxn>
                    <a:cxn ang="0">
                      <a:pos x="63" y="0"/>
                    </a:cxn>
                  </a:cxnLst>
                  <a:rect l="0" t="0" r="r" b="b"/>
                  <a:pathLst>
                    <a:path w="63" h="202">
                      <a:moveTo>
                        <a:pt x="63" y="0"/>
                      </a:moveTo>
                      <a:lnTo>
                        <a:pt x="0" y="21"/>
                      </a:lnTo>
                      <a:lnTo>
                        <a:pt x="0" y="111"/>
                      </a:lnTo>
                      <a:lnTo>
                        <a:pt x="14" y="150"/>
                      </a:lnTo>
                      <a:lnTo>
                        <a:pt x="21" y="202"/>
                      </a:lnTo>
                      <a:lnTo>
                        <a:pt x="42" y="195"/>
                      </a:lnTo>
                      <a:lnTo>
                        <a:pt x="49" y="143"/>
                      </a:lnTo>
                      <a:lnTo>
                        <a:pt x="63" y="94"/>
                      </a:lnTo>
                      <a:lnTo>
                        <a:pt x="63" y="0"/>
                      </a:lnTo>
                    </a:path>
                  </a:pathLst>
                </a:custGeom>
                <a:noFill/>
                <a:ln w="0" cap="sq">
                  <a:solidFill>
                    <a:srgbClr val="000000"/>
                  </a:solidFill>
                  <a:prstDash val="solid"/>
                  <a:miter lim="800000"/>
                  <a:headEnd/>
                  <a:tailEnd/>
                </a:ln>
              </p:spPr>
              <p:txBody>
                <a:bodyPr/>
                <a:lstStyle/>
                <a:p>
                  <a:endParaRPr lang="fr-BE"/>
                </a:p>
              </p:txBody>
            </p:sp>
            <p:sp>
              <p:nvSpPr>
                <p:cNvPr id="47017" name="Freeform 937"/>
                <p:cNvSpPr>
                  <a:spLocks/>
                </p:cNvSpPr>
                <p:nvPr/>
              </p:nvSpPr>
              <p:spPr bwMode="auto">
                <a:xfrm>
                  <a:off x="2903" y="1566"/>
                  <a:ext cx="63" cy="196"/>
                </a:xfrm>
                <a:custGeom>
                  <a:avLst/>
                  <a:gdLst/>
                  <a:ahLst/>
                  <a:cxnLst>
                    <a:cxn ang="0">
                      <a:pos x="63" y="0"/>
                    </a:cxn>
                    <a:cxn ang="0">
                      <a:pos x="0" y="18"/>
                    </a:cxn>
                    <a:cxn ang="0">
                      <a:pos x="0" y="63"/>
                    </a:cxn>
                    <a:cxn ang="0">
                      <a:pos x="0" y="108"/>
                    </a:cxn>
                    <a:cxn ang="0">
                      <a:pos x="14" y="143"/>
                    </a:cxn>
                    <a:cxn ang="0">
                      <a:pos x="17" y="196"/>
                    </a:cxn>
                    <a:cxn ang="0">
                      <a:pos x="42" y="189"/>
                    </a:cxn>
                    <a:cxn ang="0">
                      <a:pos x="45" y="136"/>
                    </a:cxn>
                    <a:cxn ang="0">
                      <a:pos x="59" y="91"/>
                    </a:cxn>
                    <a:cxn ang="0">
                      <a:pos x="63" y="46"/>
                    </a:cxn>
                    <a:cxn ang="0">
                      <a:pos x="63" y="0"/>
                    </a:cxn>
                  </a:cxnLst>
                  <a:rect l="0" t="0" r="r" b="b"/>
                  <a:pathLst>
                    <a:path w="63" h="196">
                      <a:moveTo>
                        <a:pt x="63" y="0"/>
                      </a:moveTo>
                      <a:lnTo>
                        <a:pt x="0" y="18"/>
                      </a:lnTo>
                      <a:lnTo>
                        <a:pt x="0" y="63"/>
                      </a:lnTo>
                      <a:lnTo>
                        <a:pt x="0" y="108"/>
                      </a:lnTo>
                      <a:lnTo>
                        <a:pt x="14" y="143"/>
                      </a:lnTo>
                      <a:lnTo>
                        <a:pt x="17" y="196"/>
                      </a:lnTo>
                      <a:lnTo>
                        <a:pt x="42" y="189"/>
                      </a:lnTo>
                      <a:lnTo>
                        <a:pt x="45" y="136"/>
                      </a:lnTo>
                      <a:lnTo>
                        <a:pt x="59" y="91"/>
                      </a:lnTo>
                      <a:lnTo>
                        <a:pt x="63" y="46"/>
                      </a:lnTo>
                      <a:lnTo>
                        <a:pt x="63" y="0"/>
                      </a:lnTo>
                    </a:path>
                  </a:pathLst>
                </a:custGeom>
                <a:noFill/>
                <a:ln w="0" cap="sq">
                  <a:solidFill>
                    <a:srgbClr val="000000"/>
                  </a:solidFill>
                  <a:prstDash val="solid"/>
                  <a:miter lim="800000"/>
                  <a:headEnd/>
                  <a:tailEnd/>
                </a:ln>
              </p:spPr>
              <p:txBody>
                <a:bodyPr/>
                <a:lstStyle/>
                <a:p>
                  <a:endParaRPr lang="fr-BE"/>
                </a:p>
              </p:txBody>
            </p:sp>
            <p:sp>
              <p:nvSpPr>
                <p:cNvPr id="47018" name="Freeform 938"/>
                <p:cNvSpPr>
                  <a:spLocks/>
                </p:cNvSpPr>
                <p:nvPr/>
              </p:nvSpPr>
              <p:spPr bwMode="auto">
                <a:xfrm>
                  <a:off x="3021" y="1535"/>
                  <a:ext cx="63" cy="188"/>
                </a:xfrm>
                <a:custGeom>
                  <a:avLst/>
                  <a:gdLst/>
                  <a:ahLst/>
                  <a:cxnLst>
                    <a:cxn ang="0">
                      <a:pos x="63" y="0"/>
                    </a:cxn>
                    <a:cxn ang="0">
                      <a:pos x="4" y="14"/>
                    </a:cxn>
                    <a:cxn ang="0">
                      <a:pos x="0" y="59"/>
                    </a:cxn>
                    <a:cxn ang="0">
                      <a:pos x="0" y="105"/>
                    </a:cxn>
                    <a:cxn ang="0">
                      <a:pos x="14" y="139"/>
                    </a:cxn>
                    <a:cxn ang="0">
                      <a:pos x="18" y="188"/>
                    </a:cxn>
                    <a:cxn ang="0">
                      <a:pos x="39" y="181"/>
                    </a:cxn>
                    <a:cxn ang="0">
                      <a:pos x="42" y="132"/>
                    </a:cxn>
                    <a:cxn ang="0">
                      <a:pos x="60" y="87"/>
                    </a:cxn>
                    <a:cxn ang="0">
                      <a:pos x="60" y="42"/>
                    </a:cxn>
                    <a:cxn ang="0">
                      <a:pos x="63" y="0"/>
                    </a:cxn>
                  </a:cxnLst>
                  <a:rect l="0" t="0" r="r" b="b"/>
                  <a:pathLst>
                    <a:path w="63" h="188">
                      <a:moveTo>
                        <a:pt x="63" y="0"/>
                      </a:moveTo>
                      <a:lnTo>
                        <a:pt x="4" y="14"/>
                      </a:lnTo>
                      <a:lnTo>
                        <a:pt x="0" y="59"/>
                      </a:lnTo>
                      <a:lnTo>
                        <a:pt x="0" y="105"/>
                      </a:lnTo>
                      <a:lnTo>
                        <a:pt x="14" y="139"/>
                      </a:lnTo>
                      <a:lnTo>
                        <a:pt x="18" y="188"/>
                      </a:lnTo>
                      <a:lnTo>
                        <a:pt x="39" y="181"/>
                      </a:lnTo>
                      <a:lnTo>
                        <a:pt x="42" y="132"/>
                      </a:lnTo>
                      <a:lnTo>
                        <a:pt x="60" y="87"/>
                      </a:lnTo>
                      <a:lnTo>
                        <a:pt x="60" y="42"/>
                      </a:lnTo>
                      <a:lnTo>
                        <a:pt x="63" y="0"/>
                      </a:lnTo>
                    </a:path>
                  </a:pathLst>
                </a:custGeom>
                <a:noFill/>
                <a:ln w="0" cap="sq">
                  <a:solidFill>
                    <a:srgbClr val="000000"/>
                  </a:solidFill>
                  <a:prstDash val="solid"/>
                  <a:miter lim="800000"/>
                  <a:headEnd/>
                  <a:tailEnd/>
                </a:ln>
              </p:spPr>
              <p:txBody>
                <a:bodyPr/>
                <a:lstStyle/>
                <a:p>
                  <a:endParaRPr lang="fr-BE"/>
                </a:p>
              </p:txBody>
            </p:sp>
            <p:sp>
              <p:nvSpPr>
                <p:cNvPr id="47019" name="Freeform 939"/>
                <p:cNvSpPr>
                  <a:spLocks/>
                </p:cNvSpPr>
                <p:nvPr/>
              </p:nvSpPr>
              <p:spPr bwMode="auto">
                <a:xfrm>
                  <a:off x="3133" y="1504"/>
                  <a:ext cx="59" cy="184"/>
                </a:xfrm>
                <a:custGeom>
                  <a:avLst/>
                  <a:gdLst/>
                  <a:ahLst/>
                  <a:cxnLst>
                    <a:cxn ang="0">
                      <a:pos x="59" y="0"/>
                    </a:cxn>
                    <a:cxn ang="0">
                      <a:pos x="4" y="14"/>
                    </a:cxn>
                    <a:cxn ang="0">
                      <a:pos x="4" y="59"/>
                    </a:cxn>
                    <a:cxn ang="0">
                      <a:pos x="0" y="101"/>
                    </a:cxn>
                    <a:cxn ang="0">
                      <a:pos x="14" y="136"/>
                    </a:cxn>
                    <a:cxn ang="0">
                      <a:pos x="18" y="184"/>
                    </a:cxn>
                    <a:cxn ang="0">
                      <a:pos x="35" y="177"/>
                    </a:cxn>
                    <a:cxn ang="0">
                      <a:pos x="42" y="129"/>
                    </a:cxn>
                    <a:cxn ang="0">
                      <a:pos x="56" y="87"/>
                    </a:cxn>
                    <a:cxn ang="0">
                      <a:pos x="59" y="41"/>
                    </a:cxn>
                    <a:cxn ang="0">
                      <a:pos x="59" y="0"/>
                    </a:cxn>
                  </a:cxnLst>
                  <a:rect l="0" t="0" r="r" b="b"/>
                  <a:pathLst>
                    <a:path w="59" h="184">
                      <a:moveTo>
                        <a:pt x="59" y="0"/>
                      </a:moveTo>
                      <a:lnTo>
                        <a:pt x="4" y="14"/>
                      </a:lnTo>
                      <a:lnTo>
                        <a:pt x="4" y="59"/>
                      </a:lnTo>
                      <a:lnTo>
                        <a:pt x="0" y="101"/>
                      </a:lnTo>
                      <a:lnTo>
                        <a:pt x="14" y="136"/>
                      </a:lnTo>
                      <a:lnTo>
                        <a:pt x="18" y="184"/>
                      </a:lnTo>
                      <a:lnTo>
                        <a:pt x="35" y="177"/>
                      </a:lnTo>
                      <a:lnTo>
                        <a:pt x="42" y="129"/>
                      </a:lnTo>
                      <a:lnTo>
                        <a:pt x="56" y="87"/>
                      </a:lnTo>
                      <a:lnTo>
                        <a:pt x="59" y="41"/>
                      </a:lnTo>
                      <a:lnTo>
                        <a:pt x="59" y="0"/>
                      </a:lnTo>
                    </a:path>
                  </a:pathLst>
                </a:custGeom>
                <a:noFill/>
                <a:ln w="0" cap="sq">
                  <a:solidFill>
                    <a:srgbClr val="000000"/>
                  </a:solidFill>
                  <a:prstDash val="solid"/>
                  <a:miter lim="800000"/>
                  <a:headEnd/>
                  <a:tailEnd/>
                </a:ln>
              </p:spPr>
              <p:txBody>
                <a:bodyPr/>
                <a:lstStyle/>
                <a:p>
                  <a:endParaRPr lang="fr-BE"/>
                </a:p>
              </p:txBody>
            </p:sp>
            <p:sp>
              <p:nvSpPr>
                <p:cNvPr id="47020" name="Freeform 940"/>
                <p:cNvSpPr>
                  <a:spLocks/>
                </p:cNvSpPr>
                <p:nvPr/>
              </p:nvSpPr>
              <p:spPr bwMode="auto">
                <a:xfrm>
                  <a:off x="3241" y="1476"/>
                  <a:ext cx="56" cy="181"/>
                </a:xfrm>
                <a:custGeom>
                  <a:avLst/>
                  <a:gdLst/>
                  <a:ahLst/>
                  <a:cxnLst>
                    <a:cxn ang="0">
                      <a:pos x="56" y="0"/>
                    </a:cxn>
                    <a:cxn ang="0">
                      <a:pos x="4" y="14"/>
                    </a:cxn>
                    <a:cxn ang="0">
                      <a:pos x="4" y="55"/>
                    </a:cxn>
                    <a:cxn ang="0">
                      <a:pos x="0" y="97"/>
                    </a:cxn>
                    <a:cxn ang="0">
                      <a:pos x="11" y="132"/>
                    </a:cxn>
                    <a:cxn ang="0">
                      <a:pos x="14" y="181"/>
                    </a:cxn>
                    <a:cxn ang="0">
                      <a:pos x="32" y="174"/>
                    </a:cxn>
                    <a:cxn ang="0">
                      <a:pos x="39" y="125"/>
                    </a:cxn>
                    <a:cxn ang="0">
                      <a:pos x="53" y="83"/>
                    </a:cxn>
                    <a:cxn ang="0">
                      <a:pos x="56" y="42"/>
                    </a:cxn>
                    <a:cxn ang="0">
                      <a:pos x="56" y="0"/>
                    </a:cxn>
                  </a:cxnLst>
                  <a:rect l="0" t="0" r="r" b="b"/>
                  <a:pathLst>
                    <a:path w="56" h="181">
                      <a:moveTo>
                        <a:pt x="56" y="0"/>
                      </a:moveTo>
                      <a:lnTo>
                        <a:pt x="4" y="14"/>
                      </a:lnTo>
                      <a:lnTo>
                        <a:pt x="4" y="55"/>
                      </a:lnTo>
                      <a:lnTo>
                        <a:pt x="0" y="97"/>
                      </a:lnTo>
                      <a:lnTo>
                        <a:pt x="11" y="132"/>
                      </a:lnTo>
                      <a:lnTo>
                        <a:pt x="14" y="181"/>
                      </a:lnTo>
                      <a:lnTo>
                        <a:pt x="32" y="174"/>
                      </a:lnTo>
                      <a:lnTo>
                        <a:pt x="39" y="125"/>
                      </a:lnTo>
                      <a:lnTo>
                        <a:pt x="53" y="83"/>
                      </a:lnTo>
                      <a:lnTo>
                        <a:pt x="56" y="42"/>
                      </a:lnTo>
                      <a:lnTo>
                        <a:pt x="56" y="0"/>
                      </a:lnTo>
                    </a:path>
                  </a:pathLst>
                </a:custGeom>
                <a:noFill/>
                <a:ln w="0" cap="sq">
                  <a:solidFill>
                    <a:srgbClr val="000000"/>
                  </a:solidFill>
                  <a:prstDash val="solid"/>
                  <a:miter lim="800000"/>
                  <a:headEnd/>
                  <a:tailEnd/>
                </a:ln>
              </p:spPr>
              <p:txBody>
                <a:bodyPr/>
                <a:lstStyle/>
                <a:p>
                  <a:endParaRPr lang="fr-BE"/>
                </a:p>
              </p:txBody>
            </p:sp>
            <p:sp>
              <p:nvSpPr>
                <p:cNvPr id="47021" name="Freeform 941"/>
                <p:cNvSpPr>
                  <a:spLocks/>
                </p:cNvSpPr>
                <p:nvPr/>
              </p:nvSpPr>
              <p:spPr bwMode="auto">
                <a:xfrm>
                  <a:off x="3342" y="1448"/>
                  <a:ext cx="56" cy="178"/>
                </a:xfrm>
                <a:custGeom>
                  <a:avLst/>
                  <a:gdLst/>
                  <a:ahLst/>
                  <a:cxnLst>
                    <a:cxn ang="0">
                      <a:pos x="56" y="0"/>
                    </a:cxn>
                    <a:cxn ang="0">
                      <a:pos x="7" y="14"/>
                    </a:cxn>
                    <a:cxn ang="0">
                      <a:pos x="4" y="56"/>
                    </a:cxn>
                    <a:cxn ang="0">
                      <a:pos x="0" y="97"/>
                    </a:cxn>
                    <a:cxn ang="0">
                      <a:pos x="11" y="129"/>
                    </a:cxn>
                    <a:cxn ang="0">
                      <a:pos x="11" y="178"/>
                    </a:cxn>
                    <a:cxn ang="0">
                      <a:pos x="28" y="171"/>
                    </a:cxn>
                    <a:cxn ang="0">
                      <a:pos x="35" y="125"/>
                    </a:cxn>
                    <a:cxn ang="0">
                      <a:pos x="49" y="80"/>
                    </a:cxn>
                    <a:cxn ang="0">
                      <a:pos x="53" y="42"/>
                    </a:cxn>
                    <a:cxn ang="0">
                      <a:pos x="56" y="0"/>
                    </a:cxn>
                  </a:cxnLst>
                  <a:rect l="0" t="0" r="r" b="b"/>
                  <a:pathLst>
                    <a:path w="56" h="178">
                      <a:moveTo>
                        <a:pt x="56" y="0"/>
                      </a:moveTo>
                      <a:lnTo>
                        <a:pt x="7" y="14"/>
                      </a:lnTo>
                      <a:lnTo>
                        <a:pt x="4" y="56"/>
                      </a:lnTo>
                      <a:lnTo>
                        <a:pt x="0" y="97"/>
                      </a:lnTo>
                      <a:lnTo>
                        <a:pt x="11" y="129"/>
                      </a:lnTo>
                      <a:lnTo>
                        <a:pt x="11" y="178"/>
                      </a:lnTo>
                      <a:lnTo>
                        <a:pt x="28" y="171"/>
                      </a:lnTo>
                      <a:lnTo>
                        <a:pt x="35" y="125"/>
                      </a:lnTo>
                      <a:lnTo>
                        <a:pt x="49" y="80"/>
                      </a:lnTo>
                      <a:lnTo>
                        <a:pt x="53" y="42"/>
                      </a:lnTo>
                      <a:lnTo>
                        <a:pt x="56" y="0"/>
                      </a:lnTo>
                    </a:path>
                  </a:pathLst>
                </a:custGeom>
                <a:noFill/>
                <a:ln w="0" cap="sq">
                  <a:solidFill>
                    <a:srgbClr val="000000"/>
                  </a:solidFill>
                  <a:prstDash val="solid"/>
                  <a:miter lim="800000"/>
                  <a:headEnd/>
                  <a:tailEnd/>
                </a:ln>
              </p:spPr>
              <p:txBody>
                <a:bodyPr/>
                <a:lstStyle/>
                <a:p>
                  <a:endParaRPr lang="fr-BE"/>
                </a:p>
              </p:txBody>
            </p:sp>
            <p:sp>
              <p:nvSpPr>
                <p:cNvPr id="47022" name="Freeform 942"/>
                <p:cNvSpPr>
                  <a:spLocks/>
                </p:cNvSpPr>
                <p:nvPr/>
              </p:nvSpPr>
              <p:spPr bwMode="auto">
                <a:xfrm>
                  <a:off x="2083" y="1242"/>
                  <a:ext cx="1312" cy="251"/>
                </a:xfrm>
                <a:custGeom>
                  <a:avLst/>
                  <a:gdLst/>
                  <a:ahLst/>
                  <a:cxnLst>
                    <a:cxn ang="0">
                      <a:pos x="0" y="105"/>
                    </a:cxn>
                    <a:cxn ang="0">
                      <a:pos x="663" y="251"/>
                    </a:cxn>
                    <a:cxn ang="0">
                      <a:pos x="1312" y="101"/>
                    </a:cxn>
                    <a:cxn ang="0">
                      <a:pos x="635" y="0"/>
                    </a:cxn>
                    <a:cxn ang="0">
                      <a:pos x="0" y="105"/>
                    </a:cxn>
                  </a:cxnLst>
                  <a:rect l="0" t="0" r="r" b="b"/>
                  <a:pathLst>
                    <a:path w="1312" h="251">
                      <a:moveTo>
                        <a:pt x="0" y="105"/>
                      </a:moveTo>
                      <a:lnTo>
                        <a:pt x="663" y="251"/>
                      </a:lnTo>
                      <a:lnTo>
                        <a:pt x="1312" y="101"/>
                      </a:lnTo>
                      <a:lnTo>
                        <a:pt x="635" y="0"/>
                      </a:lnTo>
                      <a:lnTo>
                        <a:pt x="0" y="105"/>
                      </a:lnTo>
                      <a:close/>
                    </a:path>
                  </a:pathLst>
                </a:custGeom>
                <a:gradFill rotWithShape="0">
                  <a:gsLst>
                    <a:gs pos="0">
                      <a:srgbClr val="969696">
                        <a:gamma/>
                        <a:shade val="46275"/>
                        <a:invGamma/>
                      </a:srgbClr>
                    </a:gs>
                    <a:gs pos="100000">
                      <a:srgbClr val="969696"/>
                    </a:gs>
                  </a:gsLst>
                  <a:lin ang="5400000" scaled="1"/>
                </a:gradFill>
                <a:ln w="9525">
                  <a:noFill/>
                  <a:round/>
                  <a:headEnd/>
                  <a:tailEnd/>
                </a:ln>
              </p:spPr>
              <p:txBody>
                <a:bodyPr/>
                <a:lstStyle/>
                <a:p>
                  <a:endParaRPr lang="fr-BE"/>
                </a:p>
              </p:txBody>
            </p:sp>
            <p:sp>
              <p:nvSpPr>
                <p:cNvPr id="47023" name="Freeform 943"/>
                <p:cNvSpPr>
                  <a:spLocks/>
                </p:cNvSpPr>
                <p:nvPr/>
              </p:nvSpPr>
              <p:spPr bwMode="auto">
                <a:xfrm>
                  <a:off x="2083" y="1242"/>
                  <a:ext cx="1312" cy="251"/>
                </a:xfrm>
                <a:custGeom>
                  <a:avLst/>
                  <a:gdLst/>
                  <a:ahLst/>
                  <a:cxnLst>
                    <a:cxn ang="0">
                      <a:pos x="0" y="105"/>
                    </a:cxn>
                    <a:cxn ang="0">
                      <a:pos x="663" y="251"/>
                    </a:cxn>
                    <a:cxn ang="0">
                      <a:pos x="1312" y="101"/>
                    </a:cxn>
                    <a:cxn ang="0">
                      <a:pos x="635" y="0"/>
                    </a:cxn>
                    <a:cxn ang="0">
                      <a:pos x="0" y="105"/>
                    </a:cxn>
                  </a:cxnLst>
                  <a:rect l="0" t="0" r="r" b="b"/>
                  <a:pathLst>
                    <a:path w="1312" h="251">
                      <a:moveTo>
                        <a:pt x="0" y="105"/>
                      </a:moveTo>
                      <a:lnTo>
                        <a:pt x="663" y="251"/>
                      </a:lnTo>
                      <a:lnTo>
                        <a:pt x="1312" y="101"/>
                      </a:lnTo>
                      <a:lnTo>
                        <a:pt x="635" y="0"/>
                      </a:lnTo>
                      <a:lnTo>
                        <a:pt x="0" y="105"/>
                      </a:lnTo>
                    </a:path>
                  </a:pathLst>
                </a:custGeom>
                <a:noFill/>
                <a:ln w="0" cap="sq">
                  <a:solidFill>
                    <a:srgbClr val="000000"/>
                  </a:solidFill>
                  <a:prstDash val="solid"/>
                  <a:miter lim="800000"/>
                  <a:headEnd/>
                  <a:tailEnd/>
                </a:ln>
              </p:spPr>
              <p:txBody>
                <a:bodyPr/>
                <a:lstStyle/>
                <a:p>
                  <a:endParaRPr lang="fr-BE"/>
                </a:p>
              </p:txBody>
            </p:sp>
          </p:grpSp>
        </p:grpSp>
        <p:sp>
          <p:nvSpPr>
            <p:cNvPr id="47024" name="Text Box 944"/>
            <p:cNvSpPr txBox="1">
              <a:spLocks noChangeArrowheads="1"/>
            </p:cNvSpPr>
            <p:nvPr/>
          </p:nvSpPr>
          <p:spPr bwMode="auto">
            <a:xfrm>
              <a:off x="902470" y="2386012"/>
              <a:ext cx="2628036" cy="358597"/>
            </a:xfrm>
            <a:prstGeom prst="rect">
              <a:avLst/>
            </a:prstGeom>
            <a:noFill/>
            <a:ln w="12700">
              <a:noFill/>
              <a:miter lim="800000"/>
              <a:headEnd/>
              <a:tailEnd/>
            </a:ln>
            <a:effectLst/>
          </p:spPr>
          <p:txBody>
            <a:bodyPr wrap="square" lIns="274320" tIns="44450" rIns="90488" bIns="44450">
              <a:spAutoFit/>
            </a:bodyPr>
            <a:lstStyle/>
            <a:p>
              <a:pPr lvl="0"/>
              <a:r>
                <a:rPr lang="en-US" u="none" dirty="0">
                  <a:solidFill>
                    <a:schemeClr val="tx1"/>
                  </a:solidFill>
                </a:rPr>
                <a:t>1 GHz </a:t>
              </a:r>
              <a:r>
                <a:rPr lang="en-US" u="none" dirty="0" err="1">
                  <a:solidFill>
                    <a:schemeClr val="tx1"/>
                  </a:solidFill>
                  <a:latin typeface="Arial" charset="0"/>
                </a:rPr>
                <a:t>ou</a:t>
              </a:r>
              <a:r>
                <a:rPr lang="en-US" u="none" dirty="0">
                  <a:solidFill>
                    <a:schemeClr val="tx1"/>
                  </a:solidFill>
                  <a:latin typeface="Arial" charset="0"/>
                </a:rPr>
                <a:t> </a:t>
              </a:r>
              <a:r>
                <a:rPr lang="en-US" u="none" dirty="0" err="1">
                  <a:solidFill>
                    <a:schemeClr val="tx1"/>
                  </a:solidFill>
                  <a:latin typeface="Arial" charset="0"/>
                </a:rPr>
                <a:t>supérieur</a:t>
              </a:r>
              <a:endParaRPr lang="en-US" u="none" dirty="0">
                <a:solidFill>
                  <a:schemeClr val="tx1"/>
                </a:solidFill>
                <a:latin typeface="Arial" charset="0"/>
              </a:endParaRPr>
            </a:p>
          </p:txBody>
        </p:sp>
      </p:grpSp>
      <p:sp>
        <p:nvSpPr>
          <p:cNvPr id="47094" name="Rectangle 1014"/>
          <p:cNvSpPr>
            <a:spLocks noChangeArrowheads="1"/>
          </p:cNvSpPr>
          <p:nvPr/>
        </p:nvSpPr>
        <p:spPr bwMode="auto">
          <a:xfrm>
            <a:off x="6341806" y="1524000"/>
            <a:ext cx="2612769" cy="2575783"/>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lstStyle/>
          <a:p>
            <a:pPr marL="177800" indent="-177800" algn="ctr">
              <a:spcBef>
                <a:spcPct val="20000"/>
              </a:spcBef>
              <a:spcAft>
                <a:spcPct val="20000"/>
              </a:spcAft>
              <a:buClr>
                <a:srgbClr val="D60093"/>
              </a:buClr>
              <a:buSzPct val="70000"/>
              <a:buFont typeface="Wingdings" pitchFamily="2" charset="2"/>
              <a:buNone/>
            </a:pPr>
            <a:r>
              <a:rPr lang="en-US" u="none" dirty="0" err="1">
                <a:solidFill>
                  <a:schemeClr val="tx1"/>
                </a:solidFill>
                <a:latin typeface="Arial" charset="0"/>
              </a:rPr>
              <a:t>Espace</a:t>
            </a:r>
            <a:r>
              <a:rPr lang="en-US" u="none" dirty="0">
                <a:solidFill>
                  <a:schemeClr val="tx1"/>
                </a:solidFill>
                <a:latin typeface="Arial" charset="0"/>
              </a:rPr>
              <a:t> </a:t>
            </a:r>
            <a:r>
              <a:rPr lang="en-US" u="none" dirty="0" err="1">
                <a:solidFill>
                  <a:schemeClr val="tx1"/>
                </a:solidFill>
                <a:latin typeface="Arial" charset="0"/>
              </a:rPr>
              <a:t>disque</a:t>
            </a:r>
            <a:r>
              <a:rPr lang="en-US" u="none" dirty="0">
                <a:solidFill>
                  <a:schemeClr val="tx1"/>
                </a:solidFill>
                <a:latin typeface="Arial" charset="0"/>
              </a:rPr>
              <a:t> </a:t>
            </a:r>
            <a:r>
              <a:rPr lang="en-US" u="none" dirty="0" err="1">
                <a:solidFill>
                  <a:schemeClr val="tx1"/>
                </a:solidFill>
                <a:latin typeface="Arial" charset="0"/>
              </a:rPr>
              <a:t>dur</a:t>
            </a:r>
            <a:endParaRPr lang="en-US" u="none" dirty="0">
              <a:solidFill>
                <a:schemeClr val="tx1"/>
              </a:solidFill>
              <a:latin typeface="Arial" charset="0"/>
            </a:endParaRPr>
          </a:p>
        </p:txBody>
      </p:sp>
      <p:grpSp>
        <p:nvGrpSpPr>
          <p:cNvPr id="294" name="Groupe 293"/>
          <p:cNvGrpSpPr/>
          <p:nvPr/>
        </p:nvGrpSpPr>
        <p:grpSpPr>
          <a:xfrm>
            <a:off x="6356555" y="4121754"/>
            <a:ext cx="2598021" cy="1733089"/>
            <a:chOff x="5843588" y="2824163"/>
            <a:chExt cx="2314575" cy="1587500"/>
          </a:xfrm>
        </p:grpSpPr>
        <p:sp>
          <p:nvSpPr>
            <p:cNvPr id="47095" name="Rectangle 1015"/>
            <p:cNvSpPr>
              <a:spLocks noChangeArrowheads="1"/>
            </p:cNvSpPr>
            <p:nvPr/>
          </p:nvSpPr>
          <p:spPr bwMode="auto">
            <a:xfrm>
              <a:off x="5843588" y="2824163"/>
              <a:ext cx="2314575" cy="1587500"/>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lstStyle/>
            <a:p>
              <a:pPr marL="177800" indent="-177800" algn="ctr">
                <a:spcBef>
                  <a:spcPct val="20000"/>
                </a:spcBef>
                <a:spcAft>
                  <a:spcPct val="20000"/>
                </a:spcAft>
                <a:buClr>
                  <a:srgbClr val="D60093"/>
                </a:buClr>
                <a:buSzPct val="70000"/>
                <a:buFont typeface="Wingdings" pitchFamily="2" charset="2"/>
                <a:buNone/>
              </a:pPr>
              <a:r>
                <a:rPr lang="en-US" u="none">
                  <a:solidFill>
                    <a:schemeClr val="tx1"/>
                  </a:solidFill>
                  <a:latin typeface="Arial" charset="0"/>
                </a:rPr>
                <a:t>Accessoires</a:t>
              </a:r>
            </a:p>
          </p:txBody>
        </p:sp>
        <p:grpSp>
          <p:nvGrpSpPr>
            <p:cNvPr id="80968" name="Group 1096"/>
            <p:cNvGrpSpPr>
              <a:grpSpLocks/>
            </p:cNvGrpSpPr>
            <p:nvPr/>
          </p:nvGrpSpPr>
          <p:grpSpPr bwMode="auto">
            <a:xfrm>
              <a:off x="6088063" y="3319463"/>
              <a:ext cx="1749425" cy="930275"/>
              <a:chOff x="3867" y="2107"/>
              <a:chExt cx="1102" cy="586"/>
            </a:xfrm>
          </p:grpSpPr>
          <p:sp>
            <p:nvSpPr>
              <p:cNvPr id="80969" name="Freeform 1097"/>
              <p:cNvSpPr>
                <a:spLocks/>
              </p:cNvSpPr>
              <p:nvPr/>
            </p:nvSpPr>
            <p:spPr bwMode="auto">
              <a:xfrm>
                <a:off x="3867" y="2130"/>
                <a:ext cx="583" cy="212"/>
              </a:xfrm>
              <a:custGeom>
                <a:avLst/>
                <a:gdLst/>
                <a:ahLst/>
                <a:cxnLst>
                  <a:cxn ang="0">
                    <a:pos x="583" y="52"/>
                  </a:cxn>
                  <a:cxn ang="0">
                    <a:pos x="325" y="2"/>
                  </a:cxn>
                  <a:cxn ang="0">
                    <a:pos x="169" y="60"/>
                  </a:cxn>
                  <a:cxn ang="0">
                    <a:pos x="249" y="212"/>
                  </a:cxn>
                  <a:cxn ang="0">
                    <a:pos x="0" y="146"/>
                  </a:cxn>
                </a:cxnLst>
                <a:rect l="0" t="0" r="r" b="b"/>
                <a:pathLst>
                  <a:path w="583" h="212">
                    <a:moveTo>
                      <a:pt x="583" y="52"/>
                    </a:moveTo>
                    <a:cubicBezTo>
                      <a:pt x="489" y="26"/>
                      <a:pt x="415" y="10"/>
                      <a:pt x="325" y="2"/>
                    </a:cubicBezTo>
                    <a:cubicBezTo>
                      <a:pt x="256" y="3"/>
                      <a:pt x="147" y="0"/>
                      <a:pt x="169" y="60"/>
                    </a:cubicBezTo>
                    <a:cubicBezTo>
                      <a:pt x="185" y="100"/>
                      <a:pt x="357" y="188"/>
                      <a:pt x="249" y="212"/>
                    </a:cubicBezTo>
                    <a:cubicBezTo>
                      <a:pt x="39" y="209"/>
                      <a:pt x="44" y="153"/>
                      <a:pt x="0" y="146"/>
                    </a:cubicBezTo>
                  </a:path>
                </a:pathLst>
              </a:custGeom>
              <a:noFill/>
              <a:ln w="25400" cap="rnd" cmpd="sng">
                <a:solidFill>
                  <a:srgbClr val="919191"/>
                </a:solidFill>
                <a:prstDash val="solid"/>
                <a:round/>
                <a:headEnd type="none" w="med" len="med"/>
                <a:tailEnd type="none" w="med" len="med"/>
              </a:ln>
              <a:effectLst/>
            </p:spPr>
            <p:txBody>
              <a:bodyPr/>
              <a:lstStyle/>
              <a:p>
                <a:endParaRPr lang="fr-BE"/>
              </a:p>
            </p:txBody>
          </p:sp>
          <p:sp>
            <p:nvSpPr>
              <p:cNvPr id="80970" name="Freeform 1098"/>
              <p:cNvSpPr>
                <a:spLocks/>
              </p:cNvSpPr>
              <p:nvPr/>
            </p:nvSpPr>
            <p:spPr bwMode="auto">
              <a:xfrm>
                <a:off x="4337" y="2315"/>
                <a:ext cx="626" cy="378"/>
              </a:xfrm>
              <a:custGeom>
                <a:avLst/>
                <a:gdLst/>
                <a:ahLst/>
                <a:cxnLst>
                  <a:cxn ang="0">
                    <a:pos x="625" y="227"/>
                  </a:cxn>
                  <a:cxn ang="0">
                    <a:pos x="622" y="238"/>
                  </a:cxn>
                  <a:cxn ang="0">
                    <a:pos x="619" y="247"/>
                  </a:cxn>
                  <a:cxn ang="0">
                    <a:pos x="616" y="254"/>
                  </a:cxn>
                  <a:cxn ang="0">
                    <a:pos x="612" y="262"/>
                  </a:cxn>
                  <a:cxn ang="0">
                    <a:pos x="610" y="268"/>
                  </a:cxn>
                  <a:cxn ang="0">
                    <a:pos x="607" y="274"/>
                  </a:cxn>
                  <a:cxn ang="0">
                    <a:pos x="604" y="279"/>
                  </a:cxn>
                  <a:cxn ang="0">
                    <a:pos x="602" y="284"/>
                  </a:cxn>
                  <a:cxn ang="0">
                    <a:pos x="599" y="288"/>
                  </a:cxn>
                  <a:cxn ang="0">
                    <a:pos x="596" y="292"/>
                  </a:cxn>
                  <a:cxn ang="0">
                    <a:pos x="593" y="296"/>
                  </a:cxn>
                  <a:cxn ang="0">
                    <a:pos x="589" y="301"/>
                  </a:cxn>
                  <a:cxn ang="0">
                    <a:pos x="585" y="305"/>
                  </a:cxn>
                  <a:cxn ang="0">
                    <a:pos x="581" y="309"/>
                  </a:cxn>
                  <a:cxn ang="0">
                    <a:pos x="571" y="319"/>
                  </a:cxn>
                  <a:cxn ang="0">
                    <a:pos x="563" y="326"/>
                  </a:cxn>
                  <a:cxn ang="0">
                    <a:pos x="555" y="333"/>
                  </a:cxn>
                  <a:cxn ang="0">
                    <a:pos x="545" y="341"/>
                  </a:cxn>
                  <a:cxn ang="0">
                    <a:pos x="532" y="349"/>
                  </a:cxn>
                  <a:cxn ang="0">
                    <a:pos x="518" y="356"/>
                  </a:cxn>
                  <a:cxn ang="0">
                    <a:pos x="502" y="363"/>
                  </a:cxn>
                  <a:cxn ang="0">
                    <a:pos x="486" y="369"/>
                  </a:cxn>
                  <a:cxn ang="0">
                    <a:pos x="467" y="374"/>
                  </a:cxn>
                  <a:cxn ang="0">
                    <a:pos x="448" y="377"/>
                  </a:cxn>
                  <a:cxn ang="0">
                    <a:pos x="429" y="377"/>
                  </a:cxn>
                  <a:cxn ang="0">
                    <a:pos x="409" y="376"/>
                  </a:cxn>
                  <a:cxn ang="0">
                    <a:pos x="388" y="371"/>
                  </a:cxn>
                  <a:cxn ang="0">
                    <a:pos x="367" y="363"/>
                  </a:cxn>
                  <a:cxn ang="0">
                    <a:pos x="345" y="352"/>
                  </a:cxn>
                  <a:cxn ang="0">
                    <a:pos x="302" y="316"/>
                  </a:cxn>
                  <a:cxn ang="0">
                    <a:pos x="284" y="297"/>
                  </a:cxn>
                  <a:cxn ang="0">
                    <a:pos x="267" y="280"/>
                  </a:cxn>
                  <a:cxn ang="0">
                    <a:pos x="249" y="262"/>
                  </a:cxn>
                  <a:cxn ang="0">
                    <a:pos x="230" y="244"/>
                  </a:cxn>
                  <a:cxn ang="0">
                    <a:pos x="212" y="227"/>
                  </a:cxn>
                  <a:cxn ang="0">
                    <a:pos x="195" y="210"/>
                  </a:cxn>
                  <a:cxn ang="0">
                    <a:pos x="177" y="195"/>
                  </a:cxn>
                  <a:cxn ang="0">
                    <a:pos x="159" y="179"/>
                  </a:cxn>
                  <a:cxn ang="0">
                    <a:pos x="142" y="163"/>
                  </a:cxn>
                  <a:cxn ang="0">
                    <a:pos x="123" y="149"/>
                  </a:cxn>
                  <a:cxn ang="0">
                    <a:pos x="106" y="134"/>
                  </a:cxn>
                  <a:cxn ang="0">
                    <a:pos x="87" y="119"/>
                  </a:cxn>
                  <a:cxn ang="0">
                    <a:pos x="69" y="105"/>
                  </a:cxn>
                  <a:cxn ang="0">
                    <a:pos x="50" y="91"/>
                  </a:cxn>
                  <a:cxn ang="0">
                    <a:pos x="11" y="63"/>
                  </a:cxn>
                  <a:cxn ang="0">
                    <a:pos x="10" y="62"/>
                  </a:cxn>
                  <a:cxn ang="0">
                    <a:pos x="8" y="59"/>
                  </a:cxn>
                  <a:cxn ang="0">
                    <a:pos x="7" y="56"/>
                  </a:cxn>
                  <a:cxn ang="0">
                    <a:pos x="6" y="52"/>
                  </a:cxn>
                  <a:cxn ang="0">
                    <a:pos x="5" y="47"/>
                  </a:cxn>
                  <a:cxn ang="0">
                    <a:pos x="4" y="43"/>
                  </a:cxn>
                  <a:cxn ang="0">
                    <a:pos x="3" y="39"/>
                  </a:cxn>
                  <a:cxn ang="0">
                    <a:pos x="2" y="34"/>
                  </a:cxn>
                  <a:cxn ang="0">
                    <a:pos x="1" y="28"/>
                  </a:cxn>
                  <a:cxn ang="0">
                    <a:pos x="1" y="24"/>
                  </a:cxn>
                  <a:cxn ang="0">
                    <a:pos x="1" y="19"/>
                  </a:cxn>
                  <a:cxn ang="0">
                    <a:pos x="0" y="15"/>
                  </a:cxn>
                  <a:cxn ang="0">
                    <a:pos x="0" y="10"/>
                  </a:cxn>
                  <a:cxn ang="0">
                    <a:pos x="0" y="6"/>
                  </a:cxn>
                  <a:cxn ang="0">
                    <a:pos x="1" y="0"/>
                  </a:cxn>
                </a:cxnLst>
                <a:rect l="0" t="0" r="r" b="b"/>
                <a:pathLst>
                  <a:path w="626" h="378">
                    <a:moveTo>
                      <a:pt x="625" y="227"/>
                    </a:moveTo>
                    <a:lnTo>
                      <a:pt x="622" y="238"/>
                    </a:lnTo>
                    <a:lnTo>
                      <a:pt x="619" y="247"/>
                    </a:lnTo>
                    <a:lnTo>
                      <a:pt x="616" y="254"/>
                    </a:lnTo>
                    <a:lnTo>
                      <a:pt x="612" y="262"/>
                    </a:lnTo>
                    <a:lnTo>
                      <a:pt x="610" y="268"/>
                    </a:lnTo>
                    <a:lnTo>
                      <a:pt x="607" y="274"/>
                    </a:lnTo>
                    <a:lnTo>
                      <a:pt x="604" y="279"/>
                    </a:lnTo>
                    <a:lnTo>
                      <a:pt x="602" y="284"/>
                    </a:lnTo>
                    <a:lnTo>
                      <a:pt x="599" y="288"/>
                    </a:lnTo>
                    <a:lnTo>
                      <a:pt x="596" y="292"/>
                    </a:lnTo>
                    <a:lnTo>
                      <a:pt x="593" y="296"/>
                    </a:lnTo>
                    <a:lnTo>
                      <a:pt x="589" y="301"/>
                    </a:lnTo>
                    <a:lnTo>
                      <a:pt x="585" y="305"/>
                    </a:lnTo>
                    <a:lnTo>
                      <a:pt x="581" y="309"/>
                    </a:lnTo>
                    <a:lnTo>
                      <a:pt x="571" y="319"/>
                    </a:lnTo>
                    <a:lnTo>
                      <a:pt x="563" y="326"/>
                    </a:lnTo>
                    <a:lnTo>
                      <a:pt x="555" y="333"/>
                    </a:lnTo>
                    <a:lnTo>
                      <a:pt x="545" y="341"/>
                    </a:lnTo>
                    <a:lnTo>
                      <a:pt x="532" y="349"/>
                    </a:lnTo>
                    <a:lnTo>
                      <a:pt x="518" y="356"/>
                    </a:lnTo>
                    <a:lnTo>
                      <a:pt x="502" y="363"/>
                    </a:lnTo>
                    <a:lnTo>
                      <a:pt x="486" y="369"/>
                    </a:lnTo>
                    <a:lnTo>
                      <a:pt x="467" y="374"/>
                    </a:lnTo>
                    <a:lnTo>
                      <a:pt x="448" y="377"/>
                    </a:lnTo>
                    <a:lnTo>
                      <a:pt x="429" y="377"/>
                    </a:lnTo>
                    <a:lnTo>
                      <a:pt x="409" y="376"/>
                    </a:lnTo>
                    <a:lnTo>
                      <a:pt x="388" y="371"/>
                    </a:lnTo>
                    <a:lnTo>
                      <a:pt x="367" y="363"/>
                    </a:lnTo>
                    <a:lnTo>
                      <a:pt x="345" y="352"/>
                    </a:lnTo>
                    <a:lnTo>
                      <a:pt x="302" y="316"/>
                    </a:lnTo>
                    <a:lnTo>
                      <a:pt x="284" y="297"/>
                    </a:lnTo>
                    <a:lnTo>
                      <a:pt x="267" y="280"/>
                    </a:lnTo>
                    <a:lnTo>
                      <a:pt x="249" y="262"/>
                    </a:lnTo>
                    <a:lnTo>
                      <a:pt x="230" y="244"/>
                    </a:lnTo>
                    <a:lnTo>
                      <a:pt x="212" y="227"/>
                    </a:lnTo>
                    <a:lnTo>
                      <a:pt x="195" y="210"/>
                    </a:lnTo>
                    <a:lnTo>
                      <a:pt x="177" y="195"/>
                    </a:lnTo>
                    <a:lnTo>
                      <a:pt x="159" y="179"/>
                    </a:lnTo>
                    <a:lnTo>
                      <a:pt x="142" y="163"/>
                    </a:lnTo>
                    <a:lnTo>
                      <a:pt x="123" y="149"/>
                    </a:lnTo>
                    <a:lnTo>
                      <a:pt x="106" y="134"/>
                    </a:lnTo>
                    <a:lnTo>
                      <a:pt x="87" y="119"/>
                    </a:lnTo>
                    <a:lnTo>
                      <a:pt x="69" y="105"/>
                    </a:lnTo>
                    <a:lnTo>
                      <a:pt x="50" y="91"/>
                    </a:lnTo>
                    <a:lnTo>
                      <a:pt x="11" y="63"/>
                    </a:lnTo>
                    <a:lnTo>
                      <a:pt x="10" y="62"/>
                    </a:lnTo>
                    <a:lnTo>
                      <a:pt x="8" y="59"/>
                    </a:lnTo>
                    <a:lnTo>
                      <a:pt x="7" y="56"/>
                    </a:lnTo>
                    <a:lnTo>
                      <a:pt x="6" y="52"/>
                    </a:lnTo>
                    <a:lnTo>
                      <a:pt x="5" y="47"/>
                    </a:lnTo>
                    <a:lnTo>
                      <a:pt x="4" y="43"/>
                    </a:lnTo>
                    <a:lnTo>
                      <a:pt x="3" y="39"/>
                    </a:lnTo>
                    <a:lnTo>
                      <a:pt x="2" y="34"/>
                    </a:lnTo>
                    <a:lnTo>
                      <a:pt x="1" y="28"/>
                    </a:lnTo>
                    <a:lnTo>
                      <a:pt x="1" y="24"/>
                    </a:lnTo>
                    <a:lnTo>
                      <a:pt x="1" y="19"/>
                    </a:lnTo>
                    <a:lnTo>
                      <a:pt x="0" y="15"/>
                    </a:lnTo>
                    <a:lnTo>
                      <a:pt x="0" y="10"/>
                    </a:lnTo>
                    <a:lnTo>
                      <a:pt x="0" y="6"/>
                    </a:lnTo>
                    <a:lnTo>
                      <a:pt x="1" y="0"/>
                    </a:lnTo>
                  </a:path>
                </a:pathLst>
              </a:custGeom>
              <a:solidFill>
                <a:srgbClr val="DADADA"/>
              </a:solidFill>
              <a:ln w="9525" cap="rnd" cmpd="sng">
                <a:solidFill>
                  <a:srgbClr val="000000"/>
                </a:solidFill>
                <a:prstDash val="solid"/>
                <a:round/>
                <a:headEnd type="none" w="med" len="med"/>
                <a:tailEnd type="none" w="med" len="med"/>
              </a:ln>
              <a:effectLst/>
            </p:spPr>
            <p:txBody>
              <a:bodyPr/>
              <a:lstStyle/>
              <a:p>
                <a:endParaRPr lang="fr-BE"/>
              </a:p>
            </p:txBody>
          </p:sp>
          <p:sp>
            <p:nvSpPr>
              <p:cNvPr id="80971" name="Freeform 1099"/>
              <p:cNvSpPr>
                <a:spLocks/>
              </p:cNvSpPr>
              <p:nvPr/>
            </p:nvSpPr>
            <p:spPr bwMode="auto">
              <a:xfrm>
                <a:off x="4337" y="2107"/>
                <a:ext cx="632" cy="572"/>
              </a:xfrm>
              <a:custGeom>
                <a:avLst/>
                <a:gdLst/>
                <a:ahLst/>
                <a:cxnLst>
                  <a:cxn ang="0">
                    <a:pos x="617" y="301"/>
                  </a:cxn>
                  <a:cxn ang="0">
                    <a:pos x="608" y="281"/>
                  </a:cxn>
                  <a:cxn ang="0">
                    <a:pos x="599" y="262"/>
                  </a:cxn>
                  <a:cxn ang="0">
                    <a:pos x="585" y="243"/>
                  </a:cxn>
                  <a:cxn ang="0">
                    <a:pos x="569" y="222"/>
                  </a:cxn>
                  <a:cxn ang="0">
                    <a:pos x="528" y="180"/>
                  </a:cxn>
                  <a:cxn ang="0">
                    <a:pos x="477" y="139"/>
                  </a:cxn>
                  <a:cxn ang="0">
                    <a:pos x="416" y="99"/>
                  </a:cxn>
                  <a:cxn ang="0">
                    <a:pos x="354" y="62"/>
                  </a:cxn>
                  <a:cxn ang="0">
                    <a:pos x="293" y="28"/>
                  </a:cxn>
                  <a:cxn ang="0">
                    <a:pos x="249" y="4"/>
                  </a:cxn>
                  <a:cxn ang="0">
                    <a:pos x="240" y="1"/>
                  </a:cxn>
                  <a:cxn ang="0">
                    <a:pos x="230" y="0"/>
                  </a:cxn>
                  <a:cxn ang="0">
                    <a:pos x="222" y="1"/>
                  </a:cxn>
                  <a:cxn ang="0">
                    <a:pos x="213" y="6"/>
                  </a:cxn>
                  <a:cxn ang="0">
                    <a:pos x="201" y="15"/>
                  </a:cxn>
                  <a:cxn ang="0">
                    <a:pos x="193" y="22"/>
                  </a:cxn>
                  <a:cxn ang="0">
                    <a:pos x="184" y="28"/>
                  </a:cxn>
                  <a:cxn ang="0">
                    <a:pos x="175" y="35"/>
                  </a:cxn>
                  <a:cxn ang="0">
                    <a:pos x="164" y="41"/>
                  </a:cxn>
                  <a:cxn ang="0">
                    <a:pos x="154" y="47"/>
                  </a:cxn>
                  <a:cxn ang="0">
                    <a:pos x="149" y="49"/>
                  </a:cxn>
                  <a:cxn ang="0">
                    <a:pos x="145" y="52"/>
                  </a:cxn>
                  <a:cxn ang="0">
                    <a:pos x="142" y="55"/>
                  </a:cxn>
                  <a:cxn ang="0">
                    <a:pos x="140" y="59"/>
                  </a:cxn>
                  <a:cxn ang="0">
                    <a:pos x="123" y="78"/>
                  </a:cxn>
                  <a:cxn ang="0">
                    <a:pos x="102" y="97"/>
                  </a:cxn>
                  <a:cxn ang="0">
                    <a:pos x="77" y="114"/>
                  </a:cxn>
                  <a:cxn ang="0">
                    <a:pos x="53" y="128"/>
                  </a:cxn>
                  <a:cxn ang="0">
                    <a:pos x="29" y="144"/>
                  </a:cxn>
                  <a:cxn ang="0">
                    <a:pos x="7" y="163"/>
                  </a:cxn>
                  <a:cxn ang="0">
                    <a:pos x="2" y="175"/>
                  </a:cxn>
                  <a:cxn ang="0">
                    <a:pos x="0" y="186"/>
                  </a:cxn>
                  <a:cxn ang="0">
                    <a:pos x="1" y="198"/>
                  </a:cxn>
                  <a:cxn ang="0">
                    <a:pos x="2" y="207"/>
                  </a:cxn>
                  <a:cxn ang="0">
                    <a:pos x="47" y="242"/>
                  </a:cxn>
                  <a:cxn ang="0">
                    <a:pos x="113" y="282"/>
                  </a:cxn>
                  <a:cxn ang="0">
                    <a:pos x="174" y="321"/>
                  </a:cxn>
                  <a:cxn ang="0">
                    <a:pos x="227" y="363"/>
                  </a:cxn>
                  <a:cxn ang="0">
                    <a:pos x="271" y="413"/>
                  </a:cxn>
                  <a:cxn ang="0">
                    <a:pos x="319" y="494"/>
                  </a:cxn>
                  <a:cxn ang="0">
                    <a:pos x="361" y="538"/>
                  </a:cxn>
                  <a:cxn ang="0">
                    <a:pos x="408" y="564"/>
                  </a:cxn>
                  <a:cxn ang="0">
                    <a:pos x="459" y="571"/>
                  </a:cxn>
                  <a:cxn ang="0">
                    <a:pos x="513" y="559"/>
                  </a:cxn>
                  <a:cxn ang="0">
                    <a:pos x="580" y="516"/>
                  </a:cxn>
                  <a:cxn ang="0">
                    <a:pos x="611" y="471"/>
                  </a:cxn>
                  <a:cxn ang="0">
                    <a:pos x="627" y="422"/>
                  </a:cxn>
                  <a:cxn ang="0">
                    <a:pos x="631" y="374"/>
                  </a:cxn>
                  <a:cxn ang="0">
                    <a:pos x="628" y="335"/>
                  </a:cxn>
                </a:cxnLst>
                <a:rect l="0" t="0" r="r" b="b"/>
                <a:pathLst>
                  <a:path w="632" h="572">
                    <a:moveTo>
                      <a:pt x="623" y="315"/>
                    </a:moveTo>
                    <a:lnTo>
                      <a:pt x="621" y="309"/>
                    </a:lnTo>
                    <a:lnTo>
                      <a:pt x="617" y="301"/>
                    </a:lnTo>
                    <a:lnTo>
                      <a:pt x="614" y="294"/>
                    </a:lnTo>
                    <a:lnTo>
                      <a:pt x="612" y="288"/>
                    </a:lnTo>
                    <a:lnTo>
                      <a:pt x="608" y="281"/>
                    </a:lnTo>
                    <a:lnTo>
                      <a:pt x="605" y="274"/>
                    </a:lnTo>
                    <a:lnTo>
                      <a:pt x="602" y="268"/>
                    </a:lnTo>
                    <a:lnTo>
                      <a:pt x="599" y="262"/>
                    </a:lnTo>
                    <a:lnTo>
                      <a:pt x="594" y="256"/>
                    </a:lnTo>
                    <a:lnTo>
                      <a:pt x="590" y="249"/>
                    </a:lnTo>
                    <a:lnTo>
                      <a:pt x="585" y="243"/>
                    </a:lnTo>
                    <a:lnTo>
                      <a:pt x="581" y="237"/>
                    </a:lnTo>
                    <a:lnTo>
                      <a:pt x="576" y="229"/>
                    </a:lnTo>
                    <a:lnTo>
                      <a:pt x="569" y="222"/>
                    </a:lnTo>
                    <a:lnTo>
                      <a:pt x="557" y="208"/>
                    </a:lnTo>
                    <a:lnTo>
                      <a:pt x="543" y="193"/>
                    </a:lnTo>
                    <a:lnTo>
                      <a:pt x="528" y="180"/>
                    </a:lnTo>
                    <a:lnTo>
                      <a:pt x="513" y="166"/>
                    </a:lnTo>
                    <a:lnTo>
                      <a:pt x="495" y="152"/>
                    </a:lnTo>
                    <a:lnTo>
                      <a:pt x="477" y="139"/>
                    </a:lnTo>
                    <a:lnTo>
                      <a:pt x="457" y="125"/>
                    </a:lnTo>
                    <a:lnTo>
                      <a:pt x="437" y="113"/>
                    </a:lnTo>
                    <a:lnTo>
                      <a:pt x="416" y="99"/>
                    </a:lnTo>
                    <a:lnTo>
                      <a:pt x="396" y="86"/>
                    </a:lnTo>
                    <a:lnTo>
                      <a:pt x="375" y="75"/>
                    </a:lnTo>
                    <a:lnTo>
                      <a:pt x="354" y="62"/>
                    </a:lnTo>
                    <a:lnTo>
                      <a:pt x="333" y="50"/>
                    </a:lnTo>
                    <a:lnTo>
                      <a:pt x="313" y="39"/>
                    </a:lnTo>
                    <a:lnTo>
                      <a:pt x="293" y="28"/>
                    </a:lnTo>
                    <a:lnTo>
                      <a:pt x="256" y="8"/>
                    </a:lnTo>
                    <a:lnTo>
                      <a:pt x="252" y="6"/>
                    </a:lnTo>
                    <a:lnTo>
                      <a:pt x="249" y="4"/>
                    </a:lnTo>
                    <a:lnTo>
                      <a:pt x="246" y="3"/>
                    </a:lnTo>
                    <a:lnTo>
                      <a:pt x="243" y="2"/>
                    </a:lnTo>
                    <a:lnTo>
                      <a:pt x="240" y="1"/>
                    </a:lnTo>
                    <a:lnTo>
                      <a:pt x="236" y="0"/>
                    </a:lnTo>
                    <a:lnTo>
                      <a:pt x="233" y="0"/>
                    </a:lnTo>
                    <a:lnTo>
                      <a:pt x="230" y="0"/>
                    </a:lnTo>
                    <a:lnTo>
                      <a:pt x="227" y="0"/>
                    </a:lnTo>
                    <a:lnTo>
                      <a:pt x="225" y="0"/>
                    </a:lnTo>
                    <a:lnTo>
                      <a:pt x="222" y="1"/>
                    </a:lnTo>
                    <a:lnTo>
                      <a:pt x="219" y="2"/>
                    </a:lnTo>
                    <a:lnTo>
                      <a:pt x="217" y="4"/>
                    </a:lnTo>
                    <a:lnTo>
                      <a:pt x="213" y="6"/>
                    </a:lnTo>
                    <a:lnTo>
                      <a:pt x="207" y="11"/>
                    </a:lnTo>
                    <a:lnTo>
                      <a:pt x="204" y="13"/>
                    </a:lnTo>
                    <a:lnTo>
                      <a:pt x="201" y="15"/>
                    </a:lnTo>
                    <a:lnTo>
                      <a:pt x="198" y="17"/>
                    </a:lnTo>
                    <a:lnTo>
                      <a:pt x="195" y="20"/>
                    </a:lnTo>
                    <a:lnTo>
                      <a:pt x="193" y="22"/>
                    </a:lnTo>
                    <a:lnTo>
                      <a:pt x="189" y="24"/>
                    </a:lnTo>
                    <a:lnTo>
                      <a:pt x="186" y="26"/>
                    </a:lnTo>
                    <a:lnTo>
                      <a:pt x="184" y="28"/>
                    </a:lnTo>
                    <a:lnTo>
                      <a:pt x="180" y="30"/>
                    </a:lnTo>
                    <a:lnTo>
                      <a:pt x="178" y="33"/>
                    </a:lnTo>
                    <a:lnTo>
                      <a:pt x="175" y="35"/>
                    </a:lnTo>
                    <a:lnTo>
                      <a:pt x="172" y="37"/>
                    </a:lnTo>
                    <a:lnTo>
                      <a:pt x="168" y="39"/>
                    </a:lnTo>
                    <a:lnTo>
                      <a:pt x="164" y="41"/>
                    </a:lnTo>
                    <a:lnTo>
                      <a:pt x="158" y="45"/>
                    </a:lnTo>
                    <a:lnTo>
                      <a:pt x="155" y="47"/>
                    </a:lnTo>
                    <a:lnTo>
                      <a:pt x="154" y="47"/>
                    </a:lnTo>
                    <a:lnTo>
                      <a:pt x="152" y="48"/>
                    </a:lnTo>
                    <a:lnTo>
                      <a:pt x="151" y="49"/>
                    </a:lnTo>
                    <a:lnTo>
                      <a:pt x="149" y="49"/>
                    </a:lnTo>
                    <a:lnTo>
                      <a:pt x="148" y="50"/>
                    </a:lnTo>
                    <a:lnTo>
                      <a:pt x="147" y="52"/>
                    </a:lnTo>
                    <a:lnTo>
                      <a:pt x="145" y="52"/>
                    </a:lnTo>
                    <a:lnTo>
                      <a:pt x="144" y="54"/>
                    </a:lnTo>
                    <a:lnTo>
                      <a:pt x="143" y="54"/>
                    </a:lnTo>
                    <a:lnTo>
                      <a:pt x="142" y="55"/>
                    </a:lnTo>
                    <a:lnTo>
                      <a:pt x="141" y="57"/>
                    </a:lnTo>
                    <a:lnTo>
                      <a:pt x="141" y="58"/>
                    </a:lnTo>
                    <a:lnTo>
                      <a:pt x="140" y="59"/>
                    </a:lnTo>
                    <a:lnTo>
                      <a:pt x="138" y="63"/>
                    </a:lnTo>
                    <a:lnTo>
                      <a:pt x="131" y="70"/>
                    </a:lnTo>
                    <a:lnTo>
                      <a:pt x="123" y="78"/>
                    </a:lnTo>
                    <a:lnTo>
                      <a:pt x="117" y="84"/>
                    </a:lnTo>
                    <a:lnTo>
                      <a:pt x="109" y="90"/>
                    </a:lnTo>
                    <a:lnTo>
                      <a:pt x="102" y="97"/>
                    </a:lnTo>
                    <a:lnTo>
                      <a:pt x="93" y="102"/>
                    </a:lnTo>
                    <a:lnTo>
                      <a:pt x="86" y="108"/>
                    </a:lnTo>
                    <a:lnTo>
                      <a:pt x="77" y="114"/>
                    </a:lnTo>
                    <a:lnTo>
                      <a:pt x="70" y="119"/>
                    </a:lnTo>
                    <a:lnTo>
                      <a:pt x="62" y="124"/>
                    </a:lnTo>
                    <a:lnTo>
                      <a:pt x="53" y="128"/>
                    </a:lnTo>
                    <a:lnTo>
                      <a:pt x="45" y="135"/>
                    </a:lnTo>
                    <a:lnTo>
                      <a:pt x="38" y="139"/>
                    </a:lnTo>
                    <a:lnTo>
                      <a:pt x="29" y="144"/>
                    </a:lnTo>
                    <a:lnTo>
                      <a:pt x="15" y="155"/>
                    </a:lnTo>
                    <a:lnTo>
                      <a:pt x="10" y="159"/>
                    </a:lnTo>
                    <a:lnTo>
                      <a:pt x="7" y="163"/>
                    </a:lnTo>
                    <a:lnTo>
                      <a:pt x="5" y="166"/>
                    </a:lnTo>
                    <a:lnTo>
                      <a:pt x="3" y="170"/>
                    </a:lnTo>
                    <a:lnTo>
                      <a:pt x="2" y="175"/>
                    </a:lnTo>
                    <a:lnTo>
                      <a:pt x="1" y="178"/>
                    </a:lnTo>
                    <a:lnTo>
                      <a:pt x="0" y="182"/>
                    </a:lnTo>
                    <a:lnTo>
                      <a:pt x="0" y="186"/>
                    </a:lnTo>
                    <a:lnTo>
                      <a:pt x="0" y="189"/>
                    </a:lnTo>
                    <a:lnTo>
                      <a:pt x="0" y="193"/>
                    </a:lnTo>
                    <a:lnTo>
                      <a:pt x="1" y="198"/>
                    </a:lnTo>
                    <a:lnTo>
                      <a:pt x="1" y="201"/>
                    </a:lnTo>
                    <a:lnTo>
                      <a:pt x="2" y="204"/>
                    </a:lnTo>
                    <a:lnTo>
                      <a:pt x="2" y="207"/>
                    </a:lnTo>
                    <a:lnTo>
                      <a:pt x="2" y="212"/>
                    </a:lnTo>
                    <a:lnTo>
                      <a:pt x="25" y="228"/>
                    </a:lnTo>
                    <a:lnTo>
                      <a:pt x="47" y="242"/>
                    </a:lnTo>
                    <a:lnTo>
                      <a:pt x="70" y="256"/>
                    </a:lnTo>
                    <a:lnTo>
                      <a:pt x="92" y="269"/>
                    </a:lnTo>
                    <a:lnTo>
                      <a:pt x="113" y="282"/>
                    </a:lnTo>
                    <a:lnTo>
                      <a:pt x="134" y="294"/>
                    </a:lnTo>
                    <a:lnTo>
                      <a:pt x="154" y="307"/>
                    </a:lnTo>
                    <a:lnTo>
                      <a:pt x="174" y="321"/>
                    </a:lnTo>
                    <a:lnTo>
                      <a:pt x="193" y="333"/>
                    </a:lnTo>
                    <a:lnTo>
                      <a:pt x="210" y="348"/>
                    </a:lnTo>
                    <a:lnTo>
                      <a:pt x="227" y="363"/>
                    </a:lnTo>
                    <a:lnTo>
                      <a:pt x="243" y="379"/>
                    </a:lnTo>
                    <a:lnTo>
                      <a:pt x="257" y="395"/>
                    </a:lnTo>
                    <a:lnTo>
                      <a:pt x="271" y="413"/>
                    </a:lnTo>
                    <a:lnTo>
                      <a:pt x="295" y="453"/>
                    </a:lnTo>
                    <a:lnTo>
                      <a:pt x="308" y="475"/>
                    </a:lnTo>
                    <a:lnTo>
                      <a:pt x="319" y="494"/>
                    </a:lnTo>
                    <a:lnTo>
                      <a:pt x="332" y="511"/>
                    </a:lnTo>
                    <a:lnTo>
                      <a:pt x="346" y="526"/>
                    </a:lnTo>
                    <a:lnTo>
                      <a:pt x="361" y="538"/>
                    </a:lnTo>
                    <a:lnTo>
                      <a:pt x="377" y="549"/>
                    </a:lnTo>
                    <a:lnTo>
                      <a:pt x="391" y="557"/>
                    </a:lnTo>
                    <a:lnTo>
                      <a:pt x="408" y="564"/>
                    </a:lnTo>
                    <a:lnTo>
                      <a:pt x="425" y="568"/>
                    </a:lnTo>
                    <a:lnTo>
                      <a:pt x="443" y="570"/>
                    </a:lnTo>
                    <a:lnTo>
                      <a:pt x="459" y="571"/>
                    </a:lnTo>
                    <a:lnTo>
                      <a:pt x="477" y="569"/>
                    </a:lnTo>
                    <a:lnTo>
                      <a:pt x="495" y="565"/>
                    </a:lnTo>
                    <a:lnTo>
                      <a:pt x="513" y="559"/>
                    </a:lnTo>
                    <a:lnTo>
                      <a:pt x="548" y="541"/>
                    </a:lnTo>
                    <a:lnTo>
                      <a:pt x="565" y="529"/>
                    </a:lnTo>
                    <a:lnTo>
                      <a:pt x="580" y="516"/>
                    </a:lnTo>
                    <a:lnTo>
                      <a:pt x="591" y="502"/>
                    </a:lnTo>
                    <a:lnTo>
                      <a:pt x="602" y="487"/>
                    </a:lnTo>
                    <a:lnTo>
                      <a:pt x="611" y="471"/>
                    </a:lnTo>
                    <a:lnTo>
                      <a:pt x="617" y="454"/>
                    </a:lnTo>
                    <a:lnTo>
                      <a:pt x="623" y="439"/>
                    </a:lnTo>
                    <a:lnTo>
                      <a:pt x="627" y="422"/>
                    </a:lnTo>
                    <a:lnTo>
                      <a:pt x="629" y="405"/>
                    </a:lnTo>
                    <a:lnTo>
                      <a:pt x="630" y="389"/>
                    </a:lnTo>
                    <a:lnTo>
                      <a:pt x="631" y="374"/>
                    </a:lnTo>
                    <a:lnTo>
                      <a:pt x="630" y="360"/>
                    </a:lnTo>
                    <a:lnTo>
                      <a:pt x="629" y="347"/>
                    </a:lnTo>
                    <a:lnTo>
                      <a:pt x="628" y="335"/>
                    </a:lnTo>
                    <a:lnTo>
                      <a:pt x="623" y="315"/>
                    </a:lnTo>
                  </a:path>
                </a:pathLst>
              </a:custGeom>
              <a:solidFill>
                <a:srgbClr val="FFFFCC"/>
              </a:solidFill>
              <a:ln w="9525" cap="rnd" cmpd="sng">
                <a:solidFill>
                  <a:srgbClr val="000000"/>
                </a:solidFill>
                <a:prstDash val="solid"/>
                <a:round/>
                <a:headEnd type="none" w="med" len="med"/>
                <a:tailEnd type="none" w="med" len="med"/>
              </a:ln>
              <a:effectLst/>
            </p:spPr>
            <p:txBody>
              <a:bodyPr/>
              <a:lstStyle/>
              <a:p>
                <a:endParaRPr lang="fr-BE"/>
              </a:p>
            </p:txBody>
          </p:sp>
          <p:sp>
            <p:nvSpPr>
              <p:cNvPr id="80972" name="Freeform 1100"/>
              <p:cNvSpPr>
                <a:spLocks/>
              </p:cNvSpPr>
              <p:nvPr/>
            </p:nvSpPr>
            <p:spPr bwMode="auto">
              <a:xfrm>
                <a:off x="4344" y="2282"/>
                <a:ext cx="611" cy="376"/>
              </a:xfrm>
              <a:custGeom>
                <a:avLst/>
                <a:gdLst/>
                <a:ahLst/>
                <a:cxnLst>
                  <a:cxn ang="0">
                    <a:pos x="610" y="249"/>
                  </a:cxn>
                  <a:cxn ang="0">
                    <a:pos x="601" y="278"/>
                  </a:cxn>
                  <a:cxn ang="0">
                    <a:pos x="587" y="304"/>
                  </a:cxn>
                  <a:cxn ang="0">
                    <a:pos x="571" y="325"/>
                  </a:cxn>
                  <a:cxn ang="0">
                    <a:pos x="553" y="342"/>
                  </a:cxn>
                  <a:cxn ang="0">
                    <a:pos x="534" y="357"/>
                  </a:cxn>
                  <a:cxn ang="0">
                    <a:pos x="513" y="368"/>
                  </a:cxn>
                  <a:cxn ang="0">
                    <a:pos x="490" y="374"/>
                  </a:cxn>
                  <a:cxn ang="0">
                    <a:pos x="467" y="375"/>
                  </a:cxn>
                  <a:cxn ang="0">
                    <a:pos x="443" y="373"/>
                  </a:cxn>
                  <a:cxn ang="0">
                    <a:pos x="420" y="366"/>
                  </a:cxn>
                  <a:cxn ang="0">
                    <a:pos x="396" y="355"/>
                  </a:cxn>
                  <a:cxn ang="0">
                    <a:pos x="374" y="339"/>
                  </a:cxn>
                  <a:cxn ang="0">
                    <a:pos x="351" y="318"/>
                  </a:cxn>
                  <a:cxn ang="0">
                    <a:pos x="331" y="294"/>
                  </a:cxn>
                  <a:cxn ang="0">
                    <a:pos x="295" y="228"/>
                  </a:cxn>
                  <a:cxn ang="0">
                    <a:pos x="281" y="208"/>
                  </a:cxn>
                  <a:cxn ang="0">
                    <a:pos x="267" y="189"/>
                  </a:cxn>
                  <a:cxn ang="0">
                    <a:pos x="252" y="171"/>
                  </a:cxn>
                  <a:cxn ang="0">
                    <a:pos x="235" y="154"/>
                  </a:cxn>
                  <a:cxn ang="0">
                    <a:pos x="218" y="139"/>
                  </a:cxn>
                  <a:cxn ang="0">
                    <a:pos x="200" y="123"/>
                  </a:cxn>
                  <a:cxn ang="0">
                    <a:pos x="180" y="109"/>
                  </a:cxn>
                  <a:cxn ang="0">
                    <a:pos x="161" y="95"/>
                  </a:cxn>
                  <a:cxn ang="0">
                    <a:pos x="140" y="82"/>
                  </a:cxn>
                  <a:cxn ang="0">
                    <a:pos x="120" y="69"/>
                  </a:cxn>
                  <a:cxn ang="0">
                    <a:pos x="99" y="57"/>
                  </a:cxn>
                  <a:cxn ang="0">
                    <a:pos x="80" y="45"/>
                  </a:cxn>
                  <a:cxn ang="0">
                    <a:pos x="59" y="34"/>
                  </a:cxn>
                  <a:cxn ang="0">
                    <a:pos x="39" y="22"/>
                  </a:cxn>
                  <a:cxn ang="0">
                    <a:pos x="0" y="0"/>
                  </a:cxn>
                </a:cxnLst>
                <a:rect l="0" t="0" r="r" b="b"/>
                <a:pathLst>
                  <a:path w="611" h="376">
                    <a:moveTo>
                      <a:pt x="610" y="249"/>
                    </a:moveTo>
                    <a:lnTo>
                      <a:pt x="601" y="278"/>
                    </a:lnTo>
                    <a:lnTo>
                      <a:pt x="587" y="304"/>
                    </a:lnTo>
                    <a:lnTo>
                      <a:pt x="571" y="325"/>
                    </a:lnTo>
                    <a:lnTo>
                      <a:pt x="553" y="342"/>
                    </a:lnTo>
                    <a:lnTo>
                      <a:pt x="534" y="357"/>
                    </a:lnTo>
                    <a:lnTo>
                      <a:pt x="513" y="368"/>
                    </a:lnTo>
                    <a:lnTo>
                      <a:pt x="490" y="374"/>
                    </a:lnTo>
                    <a:lnTo>
                      <a:pt x="467" y="375"/>
                    </a:lnTo>
                    <a:lnTo>
                      <a:pt x="443" y="373"/>
                    </a:lnTo>
                    <a:lnTo>
                      <a:pt x="420" y="366"/>
                    </a:lnTo>
                    <a:lnTo>
                      <a:pt x="396" y="355"/>
                    </a:lnTo>
                    <a:lnTo>
                      <a:pt x="374" y="339"/>
                    </a:lnTo>
                    <a:lnTo>
                      <a:pt x="351" y="318"/>
                    </a:lnTo>
                    <a:lnTo>
                      <a:pt x="331" y="294"/>
                    </a:lnTo>
                    <a:lnTo>
                      <a:pt x="295" y="228"/>
                    </a:lnTo>
                    <a:lnTo>
                      <a:pt x="281" y="208"/>
                    </a:lnTo>
                    <a:lnTo>
                      <a:pt x="267" y="189"/>
                    </a:lnTo>
                    <a:lnTo>
                      <a:pt x="252" y="171"/>
                    </a:lnTo>
                    <a:lnTo>
                      <a:pt x="235" y="154"/>
                    </a:lnTo>
                    <a:lnTo>
                      <a:pt x="218" y="139"/>
                    </a:lnTo>
                    <a:lnTo>
                      <a:pt x="200" y="123"/>
                    </a:lnTo>
                    <a:lnTo>
                      <a:pt x="180" y="109"/>
                    </a:lnTo>
                    <a:lnTo>
                      <a:pt x="161" y="95"/>
                    </a:lnTo>
                    <a:lnTo>
                      <a:pt x="140" y="82"/>
                    </a:lnTo>
                    <a:lnTo>
                      <a:pt x="120" y="69"/>
                    </a:lnTo>
                    <a:lnTo>
                      <a:pt x="99" y="57"/>
                    </a:lnTo>
                    <a:lnTo>
                      <a:pt x="80" y="45"/>
                    </a:lnTo>
                    <a:lnTo>
                      <a:pt x="59" y="34"/>
                    </a:lnTo>
                    <a:lnTo>
                      <a:pt x="39" y="22"/>
                    </a:lnTo>
                    <a:lnTo>
                      <a:pt x="0" y="0"/>
                    </a:lnTo>
                  </a:path>
                </a:pathLst>
              </a:custGeom>
              <a:noFill/>
              <a:ln w="9525" cap="rnd" cmpd="sng">
                <a:solidFill>
                  <a:srgbClr val="909090"/>
                </a:solidFill>
                <a:prstDash val="solid"/>
                <a:round/>
                <a:headEnd type="none" w="med" len="med"/>
                <a:tailEnd type="none" w="med" len="med"/>
              </a:ln>
              <a:effectLst/>
            </p:spPr>
            <p:txBody>
              <a:bodyPr/>
              <a:lstStyle/>
              <a:p>
                <a:endParaRPr lang="fr-BE"/>
              </a:p>
            </p:txBody>
          </p:sp>
          <p:sp>
            <p:nvSpPr>
              <p:cNvPr id="80973" name="Freeform 1101"/>
              <p:cNvSpPr>
                <a:spLocks/>
              </p:cNvSpPr>
              <p:nvPr/>
            </p:nvSpPr>
            <p:spPr bwMode="auto">
              <a:xfrm>
                <a:off x="4451" y="2173"/>
                <a:ext cx="253" cy="218"/>
              </a:xfrm>
              <a:custGeom>
                <a:avLst/>
                <a:gdLst/>
                <a:ahLst/>
                <a:cxnLst>
                  <a:cxn ang="0">
                    <a:pos x="1" y="217"/>
                  </a:cxn>
                  <a:cxn ang="0">
                    <a:pos x="1" y="215"/>
                  </a:cxn>
                  <a:cxn ang="0">
                    <a:pos x="1" y="212"/>
                  </a:cxn>
                  <a:cxn ang="0">
                    <a:pos x="0" y="209"/>
                  </a:cxn>
                  <a:cxn ang="0">
                    <a:pos x="0" y="206"/>
                  </a:cxn>
                  <a:cxn ang="0">
                    <a:pos x="0" y="203"/>
                  </a:cxn>
                  <a:cxn ang="0">
                    <a:pos x="0" y="201"/>
                  </a:cxn>
                  <a:cxn ang="0">
                    <a:pos x="0" y="198"/>
                  </a:cxn>
                  <a:cxn ang="0">
                    <a:pos x="0" y="196"/>
                  </a:cxn>
                  <a:cxn ang="0">
                    <a:pos x="0" y="194"/>
                  </a:cxn>
                  <a:cxn ang="0">
                    <a:pos x="0" y="191"/>
                  </a:cxn>
                  <a:cxn ang="0">
                    <a:pos x="1" y="188"/>
                  </a:cxn>
                  <a:cxn ang="0">
                    <a:pos x="1" y="186"/>
                  </a:cxn>
                  <a:cxn ang="0">
                    <a:pos x="1" y="184"/>
                  </a:cxn>
                  <a:cxn ang="0">
                    <a:pos x="2" y="181"/>
                  </a:cxn>
                  <a:cxn ang="0">
                    <a:pos x="3" y="177"/>
                  </a:cxn>
                  <a:cxn ang="0">
                    <a:pos x="234" y="4"/>
                  </a:cxn>
                  <a:cxn ang="0">
                    <a:pos x="235" y="3"/>
                  </a:cxn>
                  <a:cxn ang="0">
                    <a:pos x="237" y="3"/>
                  </a:cxn>
                  <a:cxn ang="0">
                    <a:pos x="238" y="2"/>
                  </a:cxn>
                  <a:cxn ang="0">
                    <a:pos x="239" y="1"/>
                  </a:cxn>
                  <a:cxn ang="0">
                    <a:pos x="240" y="1"/>
                  </a:cxn>
                  <a:cxn ang="0">
                    <a:pos x="242" y="1"/>
                  </a:cxn>
                  <a:cxn ang="0">
                    <a:pos x="243" y="0"/>
                  </a:cxn>
                  <a:cxn ang="0">
                    <a:pos x="244" y="0"/>
                  </a:cxn>
                  <a:cxn ang="0">
                    <a:pos x="245" y="0"/>
                  </a:cxn>
                  <a:cxn ang="0">
                    <a:pos x="247" y="0"/>
                  </a:cxn>
                  <a:cxn ang="0">
                    <a:pos x="248" y="1"/>
                  </a:cxn>
                  <a:cxn ang="0">
                    <a:pos x="249" y="1"/>
                  </a:cxn>
                  <a:cxn ang="0">
                    <a:pos x="250" y="2"/>
                  </a:cxn>
                  <a:cxn ang="0">
                    <a:pos x="252" y="3"/>
                  </a:cxn>
                </a:cxnLst>
                <a:rect l="0" t="0" r="r" b="b"/>
                <a:pathLst>
                  <a:path w="253" h="218">
                    <a:moveTo>
                      <a:pt x="1" y="217"/>
                    </a:moveTo>
                    <a:lnTo>
                      <a:pt x="1" y="215"/>
                    </a:lnTo>
                    <a:lnTo>
                      <a:pt x="1" y="212"/>
                    </a:lnTo>
                    <a:lnTo>
                      <a:pt x="0" y="209"/>
                    </a:lnTo>
                    <a:lnTo>
                      <a:pt x="0" y="206"/>
                    </a:lnTo>
                    <a:lnTo>
                      <a:pt x="0" y="203"/>
                    </a:lnTo>
                    <a:lnTo>
                      <a:pt x="0" y="201"/>
                    </a:lnTo>
                    <a:lnTo>
                      <a:pt x="0" y="198"/>
                    </a:lnTo>
                    <a:lnTo>
                      <a:pt x="0" y="196"/>
                    </a:lnTo>
                    <a:lnTo>
                      <a:pt x="0" y="194"/>
                    </a:lnTo>
                    <a:lnTo>
                      <a:pt x="0" y="191"/>
                    </a:lnTo>
                    <a:lnTo>
                      <a:pt x="1" y="188"/>
                    </a:lnTo>
                    <a:lnTo>
                      <a:pt x="1" y="186"/>
                    </a:lnTo>
                    <a:lnTo>
                      <a:pt x="1" y="184"/>
                    </a:lnTo>
                    <a:lnTo>
                      <a:pt x="2" y="181"/>
                    </a:lnTo>
                    <a:lnTo>
                      <a:pt x="3" y="177"/>
                    </a:lnTo>
                    <a:lnTo>
                      <a:pt x="234" y="4"/>
                    </a:lnTo>
                    <a:lnTo>
                      <a:pt x="235" y="3"/>
                    </a:lnTo>
                    <a:lnTo>
                      <a:pt x="237" y="3"/>
                    </a:lnTo>
                    <a:lnTo>
                      <a:pt x="238" y="2"/>
                    </a:lnTo>
                    <a:lnTo>
                      <a:pt x="239" y="1"/>
                    </a:lnTo>
                    <a:lnTo>
                      <a:pt x="240" y="1"/>
                    </a:lnTo>
                    <a:lnTo>
                      <a:pt x="242" y="1"/>
                    </a:lnTo>
                    <a:lnTo>
                      <a:pt x="243" y="0"/>
                    </a:lnTo>
                    <a:lnTo>
                      <a:pt x="244" y="0"/>
                    </a:lnTo>
                    <a:lnTo>
                      <a:pt x="245" y="0"/>
                    </a:lnTo>
                    <a:lnTo>
                      <a:pt x="247" y="0"/>
                    </a:lnTo>
                    <a:lnTo>
                      <a:pt x="248" y="1"/>
                    </a:lnTo>
                    <a:lnTo>
                      <a:pt x="249" y="1"/>
                    </a:lnTo>
                    <a:lnTo>
                      <a:pt x="250" y="2"/>
                    </a:lnTo>
                    <a:lnTo>
                      <a:pt x="252" y="3"/>
                    </a:lnTo>
                  </a:path>
                </a:pathLst>
              </a:custGeom>
              <a:noFill/>
              <a:ln w="9525" cap="rnd" cmpd="sng">
                <a:solidFill>
                  <a:srgbClr val="000000"/>
                </a:solidFill>
                <a:prstDash val="solid"/>
                <a:round/>
                <a:headEnd type="none" w="med" len="med"/>
                <a:tailEnd type="none" w="med" len="med"/>
              </a:ln>
              <a:effectLst/>
            </p:spPr>
            <p:txBody>
              <a:bodyPr/>
              <a:lstStyle/>
              <a:p>
                <a:endParaRPr lang="fr-BE"/>
              </a:p>
            </p:txBody>
          </p:sp>
          <p:sp>
            <p:nvSpPr>
              <p:cNvPr id="80974" name="Line 1102"/>
              <p:cNvSpPr>
                <a:spLocks noChangeShapeType="1"/>
              </p:cNvSpPr>
              <p:nvPr/>
            </p:nvSpPr>
            <p:spPr bwMode="auto">
              <a:xfrm>
                <a:off x="4489" y="2165"/>
                <a:ext cx="117" cy="65"/>
              </a:xfrm>
              <a:prstGeom prst="line">
                <a:avLst/>
              </a:prstGeom>
              <a:noFill/>
              <a:ln w="9525">
                <a:solidFill>
                  <a:srgbClr val="000000"/>
                </a:solidFill>
                <a:round/>
                <a:headEnd/>
                <a:tailEnd/>
              </a:ln>
              <a:effectLst/>
            </p:spPr>
            <p:txBody>
              <a:bodyPr wrap="none" anchor="ctr"/>
              <a:lstStyle/>
              <a:p>
                <a:endParaRPr lang="fr-BE"/>
              </a:p>
            </p:txBody>
          </p:sp>
        </p:grpSp>
      </p:grpSp>
      <p:grpSp>
        <p:nvGrpSpPr>
          <p:cNvPr id="302" name="Groupe 301"/>
          <p:cNvGrpSpPr/>
          <p:nvPr/>
        </p:nvGrpSpPr>
        <p:grpSpPr>
          <a:xfrm>
            <a:off x="3115649" y="1751833"/>
            <a:ext cx="3240906" cy="4014785"/>
            <a:chOff x="3454861" y="2341769"/>
            <a:chExt cx="2347452" cy="2773362"/>
          </a:xfrm>
        </p:grpSpPr>
        <p:grpSp>
          <p:nvGrpSpPr>
            <p:cNvPr id="296" name="Groupe 295"/>
            <p:cNvGrpSpPr/>
            <p:nvPr/>
          </p:nvGrpSpPr>
          <p:grpSpPr>
            <a:xfrm>
              <a:off x="3454861" y="2341769"/>
              <a:ext cx="2314575" cy="2773362"/>
              <a:chOff x="3440113" y="2386013"/>
              <a:chExt cx="2314575" cy="2773362"/>
            </a:xfrm>
          </p:grpSpPr>
          <p:sp>
            <p:nvSpPr>
              <p:cNvPr id="47092" name="Rectangle 1012"/>
              <p:cNvSpPr>
                <a:spLocks noChangeArrowheads="1"/>
              </p:cNvSpPr>
              <p:nvPr/>
            </p:nvSpPr>
            <p:spPr bwMode="auto">
              <a:xfrm>
                <a:off x="3440113" y="2386013"/>
                <a:ext cx="2314575" cy="2773362"/>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lstStyle/>
              <a:p>
                <a:pPr marL="177800" indent="-177800" algn="ctr">
                  <a:spcBef>
                    <a:spcPct val="20000"/>
                  </a:spcBef>
                  <a:spcAft>
                    <a:spcPct val="20000"/>
                  </a:spcAft>
                  <a:buClr>
                    <a:srgbClr val="D60093"/>
                  </a:buClr>
                  <a:buSzPct val="70000"/>
                  <a:buFont typeface="Wingdings" pitchFamily="2" charset="2"/>
                  <a:buNone/>
                </a:pPr>
                <a:r>
                  <a:rPr lang="en-US" u="none">
                    <a:solidFill>
                      <a:schemeClr val="tx1"/>
                    </a:solidFill>
                    <a:latin typeface="Arial" charset="0"/>
                  </a:rPr>
                  <a:t>Mémoire</a:t>
                </a:r>
              </a:p>
            </p:txBody>
          </p:sp>
          <p:grpSp>
            <p:nvGrpSpPr>
              <p:cNvPr id="47097" name="Group 1017"/>
              <p:cNvGrpSpPr>
                <a:grpSpLocks/>
              </p:cNvGrpSpPr>
              <p:nvPr/>
            </p:nvGrpSpPr>
            <p:grpSpPr bwMode="auto">
              <a:xfrm>
                <a:off x="3625850" y="2806700"/>
                <a:ext cx="1744663" cy="982663"/>
                <a:chOff x="2316" y="1024"/>
                <a:chExt cx="1099" cy="619"/>
              </a:xfrm>
            </p:grpSpPr>
            <p:sp>
              <p:nvSpPr>
                <p:cNvPr id="47098" name="Freeform 1018"/>
                <p:cNvSpPr>
                  <a:spLocks/>
                </p:cNvSpPr>
                <p:nvPr/>
              </p:nvSpPr>
              <p:spPr bwMode="auto">
                <a:xfrm>
                  <a:off x="2316" y="1024"/>
                  <a:ext cx="1029" cy="303"/>
                </a:xfrm>
                <a:custGeom>
                  <a:avLst/>
                  <a:gdLst/>
                  <a:ahLst/>
                  <a:cxnLst>
                    <a:cxn ang="0">
                      <a:pos x="0" y="302"/>
                    </a:cxn>
                    <a:cxn ang="0">
                      <a:pos x="28" y="276"/>
                    </a:cxn>
                    <a:cxn ang="0">
                      <a:pos x="990" y="0"/>
                    </a:cxn>
                    <a:cxn ang="0">
                      <a:pos x="1028" y="7"/>
                    </a:cxn>
                  </a:cxnLst>
                  <a:rect l="0" t="0" r="r" b="b"/>
                  <a:pathLst>
                    <a:path w="1029" h="303">
                      <a:moveTo>
                        <a:pt x="0" y="302"/>
                      </a:moveTo>
                      <a:lnTo>
                        <a:pt x="28" y="276"/>
                      </a:lnTo>
                      <a:lnTo>
                        <a:pt x="990" y="0"/>
                      </a:lnTo>
                      <a:lnTo>
                        <a:pt x="1028" y="7"/>
                      </a:lnTo>
                    </a:path>
                  </a:pathLst>
                </a:custGeom>
                <a:gradFill rotWithShape="0">
                  <a:gsLst>
                    <a:gs pos="0">
                      <a:srgbClr val="339966"/>
                    </a:gs>
                    <a:gs pos="100000">
                      <a:srgbClr val="33CC33"/>
                    </a:gs>
                  </a:gsLst>
                  <a:lin ang="18900000" scaled="1"/>
                </a:gradFill>
                <a:ln w="6350" cap="flat" cmpd="sng">
                  <a:solidFill>
                    <a:schemeClr val="tx1"/>
                  </a:solidFill>
                  <a:prstDash val="solid"/>
                  <a:round/>
                  <a:headEnd type="none" w="med" len="med"/>
                  <a:tailEnd type="none" w="med" len="med"/>
                </a:ln>
                <a:effectLst/>
              </p:spPr>
              <p:txBody>
                <a:bodyPr wrap="none" anchor="ctr"/>
                <a:lstStyle/>
                <a:p>
                  <a:endParaRPr lang="fr-BE"/>
                </a:p>
              </p:txBody>
            </p:sp>
            <p:sp>
              <p:nvSpPr>
                <p:cNvPr id="47099" name="Rectangle 1019"/>
                <p:cNvSpPr>
                  <a:spLocks noChangeArrowheads="1"/>
                </p:cNvSpPr>
                <p:nvPr/>
              </p:nvSpPr>
              <p:spPr bwMode="auto">
                <a:xfrm rot="20640000">
                  <a:off x="2347" y="1173"/>
                  <a:ext cx="1068" cy="346"/>
                </a:xfrm>
                <a:prstGeom prst="rect">
                  <a:avLst/>
                </a:prstGeom>
                <a:gradFill rotWithShape="0">
                  <a:gsLst>
                    <a:gs pos="0">
                      <a:srgbClr val="339966"/>
                    </a:gs>
                    <a:gs pos="100000">
                      <a:srgbClr val="33CC33"/>
                    </a:gs>
                  </a:gsLst>
                  <a:lin ang="18900000" scaled="1"/>
                </a:gradFill>
                <a:ln w="6350">
                  <a:solidFill>
                    <a:schemeClr val="tx1"/>
                  </a:solidFill>
                  <a:miter lim="800000"/>
                  <a:headEnd/>
                  <a:tailEnd/>
                </a:ln>
                <a:effectLst/>
              </p:spPr>
              <p:txBody>
                <a:bodyPr wrap="none" anchor="ctr"/>
                <a:lstStyle/>
                <a:p>
                  <a:endParaRPr lang="fr-BE"/>
                </a:p>
              </p:txBody>
            </p:sp>
            <p:sp>
              <p:nvSpPr>
                <p:cNvPr id="47100" name="Line 1020"/>
                <p:cNvSpPr>
                  <a:spLocks noChangeShapeType="1"/>
                </p:cNvSpPr>
                <p:nvPr/>
              </p:nvSpPr>
              <p:spPr bwMode="auto">
                <a:xfrm>
                  <a:off x="2443" y="1591"/>
                  <a:ext cx="10" cy="52"/>
                </a:xfrm>
                <a:prstGeom prst="line">
                  <a:avLst/>
                </a:prstGeom>
                <a:noFill/>
                <a:ln w="12700">
                  <a:solidFill>
                    <a:schemeClr val="tx1"/>
                  </a:solidFill>
                  <a:round/>
                  <a:headEnd/>
                  <a:tailEnd/>
                </a:ln>
                <a:effectLst/>
              </p:spPr>
              <p:txBody>
                <a:bodyPr wrap="none" anchor="ctr"/>
                <a:lstStyle/>
                <a:p>
                  <a:endParaRPr lang="fr-BE"/>
                </a:p>
              </p:txBody>
            </p:sp>
            <p:sp>
              <p:nvSpPr>
                <p:cNvPr id="47101" name="Line 1021"/>
                <p:cNvSpPr>
                  <a:spLocks noChangeShapeType="1"/>
                </p:cNvSpPr>
                <p:nvPr/>
              </p:nvSpPr>
              <p:spPr bwMode="auto">
                <a:xfrm>
                  <a:off x="2473" y="1582"/>
                  <a:ext cx="9" cy="52"/>
                </a:xfrm>
                <a:prstGeom prst="line">
                  <a:avLst/>
                </a:prstGeom>
                <a:noFill/>
                <a:ln w="12700">
                  <a:solidFill>
                    <a:schemeClr val="tx1"/>
                  </a:solidFill>
                  <a:round/>
                  <a:headEnd/>
                  <a:tailEnd/>
                </a:ln>
                <a:effectLst/>
              </p:spPr>
              <p:txBody>
                <a:bodyPr wrap="none" anchor="ctr"/>
                <a:lstStyle/>
                <a:p>
                  <a:endParaRPr lang="fr-BE"/>
                </a:p>
              </p:txBody>
            </p:sp>
            <p:sp>
              <p:nvSpPr>
                <p:cNvPr id="47102" name="Line 1022"/>
                <p:cNvSpPr>
                  <a:spLocks noChangeShapeType="1"/>
                </p:cNvSpPr>
                <p:nvPr/>
              </p:nvSpPr>
              <p:spPr bwMode="auto">
                <a:xfrm>
                  <a:off x="2501" y="1575"/>
                  <a:ext cx="10" cy="52"/>
                </a:xfrm>
                <a:prstGeom prst="line">
                  <a:avLst/>
                </a:prstGeom>
                <a:noFill/>
                <a:ln w="12700">
                  <a:solidFill>
                    <a:schemeClr val="tx1"/>
                  </a:solidFill>
                  <a:round/>
                  <a:headEnd/>
                  <a:tailEnd/>
                </a:ln>
                <a:effectLst/>
              </p:spPr>
              <p:txBody>
                <a:bodyPr wrap="none" anchor="ctr"/>
                <a:lstStyle/>
                <a:p>
                  <a:endParaRPr lang="fr-BE"/>
                </a:p>
              </p:txBody>
            </p:sp>
            <p:sp>
              <p:nvSpPr>
                <p:cNvPr id="47103" name="Line 1023"/>
                <p:cNvSpPr>
                  <a:spLocks noChangeShapeType="1"/>
                </p:cNvSpPr>
                <p:nvPr/>
              </p:nvSpPr>
              <p:spPr bwMode="auto">
                <a:xfrm>
                  <a:off x="2529" y="1567"/>
                  <a:ext cx="10" cy="52"/>
                </a:xfrm>
                <a:prstGeom prst="line">
                  <a:avLst/>
                </a:prstGeom>
                <a:noFill/>
                <a:ln w="12700">
                  <a:solidFill>
                    <a:schemeClr val="tx1"/>
                  </a:solidFill>
                  <a:round/>
                  <a:headEnd/>
                  <a:tailEnd/>
                </a:ln>
                <a:effectLst/>
              </p:spPr>
              <p:txBody>
                <a:bodyPr wrap="none" anchor="ctr"/>
                <a:lstStyle/>
                <a:p>
                  <a:endParaRPr lang="fr-BE"/>
                </a:p>
              </p:txBody>
            </p:sp>
            <p:sp>
              <p:nvSpPr>
                <p:cNvPr id="80896" name="Line 1024"/>
                <p:cNvSpPr>
                  <a:spLocks noChangeShapeType="1"/>
                </p:cNvSpPr>
                <p:nvPr/>
              </p:nvSpPr>
              <p:spPr bwMode="auto">
                <a:xfrm>
                  <a:off x="2558" y="1558"/>
                  <a:ext cx="9" cy="52"/>
                </a:xfrm>
                <a:prstGeom prst="line">
                  <a:avLst/>
                </a:prstGeom>
                <a:noFill/>
                <a:ln w="12700">
                  <a:solidFill>
                    <a:schemeClr val="tx1"/>
                  </a:solidFill>
                  <a:round/>
                  <a:headEnd/>
                  <a:tailEnd/>
                </a:ln>
                <a:effectLst/>
              </p:spPr>
              <p:txBody>
                <a:bodyPr wrap="none" anchor="ctr"/>
                <a:lstStyle/>
                <a:p>
                  <a:endParaRPr lang="fr-BE"/>
                </a:p>
              </p:txBody>
            </p:sp>
            <p:sp>
              <p:nvSpPr>
                <p:cNvPr id="80897" name="Line 1025"/>
                <p:cNvSpPr>
                  <a:spLocks noChangeShapeType="1"/>
                </p:cNvSpPr>
                <p:nvPr/>
              </p:nvSpPr>
              <p:spPr bwMode="auto">
                <a:xfrm>
                  <a:off x="2587" y="1549"/>
                  <a:ext cx="10" cy="52"/>
                </a:xfrm>
                <a:prstGeom prst="line">
                  <a:avLst/>
                </a:prstGeom>
                <a:noFill/>
                <a:ln w="12700">
                  <a:solidFill>
                    <a:schemeClr val="tx1"/>
                  </a:solidFill>
                  <a:round/>
                  <a:headEnd/>
                  <a:tailEnd/>
                </a:ln>
                <a:effectLst/>
              </p:spPr>
              <p:txBody>
                <a:bodyPr wrap="none" anchor="ctr"/>
                <a:lstStyle/>
                <a:p>
                  <a:endParaRPr lang="fr-BE"/>
                </a:p>
              </p:txBody>
            </p:sp>
            <p:sp>
              <p:nvSpPr>
                <p:cNvPr id="80898" name="Line 1026"/>
                <p:cNvSpPr>
                  <a:spLocks noChangeShapeType="1"/>
                </p:cNvSpPr>
                <p:nvPr/>
              </p:nvSpPr>
              <p:spPr bwMode="auto">
                <a:xfrm>
                  <a:off x="2617" y="1542"/>
                  <a:ext cx="9" cy="52"/>
                </a:xfrm>
                <a:prstGeom prst="line">
                  <a:avLst/>
                </a:prstGeom>
                <a:noFill/>
                <a:ln w="12700">
                  <a:solidFill>
                    <a:schemeClr val="tx1"/>
                  </a:solidFill>
                  <a:round/>
                  <a:headEnd/>
                  <a:tailEnd/>
                </a:ln>
                <a:effectLst/>
              </p:spPr>
              <p:txBody>
                <a:bodyPr wrap="none" anchor="ctr"/>
                <a:lstStyle/>
                <a:p>
                  <a:endParaRPr lang="fr-BE"/>
                </a:p>
              </p:txBody>
            </p:sp>
            <p:sp>
              <p:nvSpPr>
                <p:cNvPr id="80899" name="Line 1027"/>
                <p:cNvSpPr>
                  <a:spLocks noChangeShapeType="1"/>
                </p:cNvSpPr>
                <p:nvPr/>
              </p:nvSpPr>
              <p:spPr bwMode="auto">
                <a:xfrm>
                  <a:off x="2644" y="1534"/>
                  <a:ext cx="10" cy="52"/>
                </a:xfrm>
                <a:prstGeom prst="line">
                  <a:avLst/>
                </a:prstGeom>
                <a:noFill/>
                <a:ln w="12700">
                  <a:solidFill>
                    <a:schemeClr val="tx1"/>
                  </a:solidFill>
                  <a:round/>
                  <a:headEnd/>
                  <a:tailEnd/>
                </a:ln>
                <a:effectLst/>
              </p:spPr>
              <p:txBody>
                <a:bodyPr wrap="none" anchor="ctr"/>
                <a:lstStyle/>
                <a:p>
                  <a:endParaRPr lang="fr-BE"/>
                </a:p>
              </p:txBody>
            </p:sp>
            <p:sp>
              <p:nvSpPr>
                <p:cNvPr id="80900" name="Line 1028"/>
                <p:cNvSpPr>
                  <a:spLocks noChangeShapeType="1"/>
                </p:cNvSpPr>
                <p:nvPr/>
              </p:nvSpPr>
              <p:spPr bwMode="auto">
                <a:xfrm>
                  <a:off x="2673" y="1525"/>
                  <a:ext cx="9" cy="52"/>
                </a:xfrm>
                <a:prstGeom prst="line">
                  <a:avLst/>
                </a:prstGeom>
                <a:noFill/>
                <a:ln w="12700">
                  <a:solidFill>
                    <a:schemeClr val="tx1"/>
                  </a:solidFill>
                  <a:round/>
                  <a:headEnd/>
                  <a:tailEnd/>
                </a:ln>
                <a:effectLst/>
              </p:spPr>
              <p:txBody>
                <a:bodyPr wrap="none" anchor="ctr"/>
                <a:lstStyle/>
                <a:p>
                  <a:endParaRPr lang="fr-BE"/>
                </a:p>
              </p:txBody>
            </p:sp>
            <p:sp>
              <p:nvSpPr>
                <p:cNvPr id="80901" name="Line 1029"/>
                <p:cNvSpPr>
                  <a:spLocks noChangeShapeType="1"/>
                </p:cNvSpPr>
                <p:nvPr/>
              </p:nvSpPr>
              <p:spPr bwMode="auto">
                <a:xfrm>
                  <a:off x="2701" y="1517"/>
                  <a:ext cx="9" cy="52"/>
                </a:xfrm>
                <a:prstGeom prst="line">
                  <a:avLst/>
                </a:prstGeom>
                <a:noFill/>
                <a:ln w="12700">
                  <a:solidFill>
                    <a:schemeClr val="tx1"/>
                  </a:solidFill>
                  <a:round/>
                  <a:headEnd/>
                  <a:tailEnd/>
                </a:ln>
                <a:effectLst/>
              </p:spPr>
              <p:txBody>
                <a:bodyPr wrap="none" anchor="ctr"/>
                <a:lstStyle/>
                <a:p>
                  <a:endParaRPr lang="fr-BE"/>
                </a:p>
              </p:txBody>
            </p:sp>
            <p:sp>
              <p:nvSpPr>
                <p:cNvPr id="80902" name="Line 1030"/>
                <p:cNvSpPr>
                  <a:spLocks noChangeShapeType="1"/>
                </p:cNvSpPr>
                <p:nvPr/>
              </p:nvSpPr>
              <p:spPr bwMode="auto">
                <a:xfrm>
                  <a:off x="2729" y="1509"/>
                  <a:ext cx="9" cy="52"/>
                </a:xfrm>
                <a:prstGeom prst="line">
                  <a:avLst/>
                </a:prstGeom>
                <a:noFill/>
                <a:ln w="12700">
                  <a:solidFill>
                    <a:schemeClr val="tx1"/>
                  </a:solidFill>
                  <a:round/>
                  <a:headEnd/>
                  <a:tailEnd/>
                </a:ln>
                <a:effectLst/>
              </p:spPr>
              <p:txBody>
                <a:bodyPr wrap="none" anchor="ctr"/>
                <a:lstStyle/>
                <a:p>
                  <a:endParaRPr lang="fr-BE"/>
                </a:p>
              </p:txBody>
            </p:sp>
            <p:sp>
              <p:nvSpPr>
                <p:cNvPr id="80903" name="Line 1031"/>
                <p:cNvSpPr>
                  <a:spLocks noChangeShapeType="1"/>
                </p:cNvSpPr>
                <p:nvPr/>
              </p:nvSpPr>
              <p:spPr bwMode="auto">
                <a:xfrm>
                  <a:off x="2758" y="1501"/>
                  <a:ext cx="9" cy="52"/>
                </a:xfrm>
                <a:prstGeom prst="line">
                  <a:avLst/>
                </a:prstGeom>
                <a:noFill/>
                <a:ln w="12700">
                  <a:solidFill>
                    <a:schemeClr val="tx1"/>
                  </a:solidFill>
                  <a:round/>
                  <a:headEnd/>
                  <a:tailEnd/>
                </a:ln>
                <a:effectLst/>
              </p:spPr>
              <p:txBody>
                <a:bodyPr wrap="none" anchor="ctr"/>
                <a:lstStyle/>
                <a:p>
                  <a:endParaRPr lang="fr-BE"/>
                </a:p>
              </p:txBody>
            </p:sp>
            <p:sp>
              <p:nvSpPr>
                <p:cNvPr id="80904" name="Line 1032"/>
                <p:cNvSpPr>
                  <a:spLocks noChangeShapeType="1"/>
                </p:cNvSpPr>
                <p:nvPr/>
              </p:nvSpPr>
              <p:spPr bwMode="auto">
                <a:xfrm>
                  <a:off x="2787" y="1492"/>
                  <a:ext cx="9" cy="52"/>
                </a:xfrm>
                <a:prstGeom prst="line">
                  <a:avLst/>
                </a:prstGeom>
                <a:noFill/>
                <a:ln w="12700">
                  <a:solidFill>
                    <a:schemeClr val="tx1"/>
                  </a:solidFill>
                  <a:round/>
                  <a:headEnd/>
                  <a:tailEnd/>
                </a:ln>
                <a:effectLst/>
              </p:spPr>
              <p:txBody>
                <a:bodyPr wrap="none" anchor="ctr"/>
                <a:lstStyle/>
                <a:p>
                  <a:endParaRPr lang="fr-BE"/>
                </a:p>
              </p:txBody>
            </p:sp>
            <p:sp>
              <p:nvSpPr>
                <p:cNvPr id="80905" name="Line 1033"/>
                <p:cNvSpPr>
                  <a:spLocks noChangeShapeType="1"/>
                </p:cNvSpPr>
                <p:nvPr/>
              </p:nvSpPr>
              <p:spPr bwMode="auto">
                <a:xfrm>
                  <a:off x="2816" y="1484"/>
                  <a:ext cx="9" cy="52"/>
                </a:xfrm>
                <a:prstGeom prst="line">
                  <a:avLst/>
                </a:prstGeom>
                <a:noFill/>
                <a:ln w="12700">
                  <a:solidFill>
                    <a:schemeClr val="tx1"/>
                  </a:solidFill>
                  <a:round/>
                  <a:headEnd/>
                  <a:tailEnd/>
                </a:ln>
                <a:effectLst/>
              </p:spPr>
              <p:txBody>
                <a:bodyPr wrap="none" anchor="ctr"/>
                <a:lstStyle/>
                <a:p>
                  <a:endParaRPr lang="fr-BE"/>
                </a:p>
              </p:txBody>
            </p:sp>
            <p:sp>
              <p:nvSpPr>
                <p:cNvPr id="80906" name="Line 1034"/>
                <p:cNvSpPr>
                  <a:spLocks noChangeShapeType="1"/>
                </p:cNvSpPr>
                <p:nvPr/>
              </p:nvSpPr>
              <p:spPr bwMode="auto">
                <a:xfrm>
                  <a:off x="2843" y="1476"/>
                  <a:ext cx="9" cy="52"/>
                </a:xfrm>
                <a:prstGeom prst="line">
                  <a:avLst/>
                </a:prstGeom>
                <a:noFill/>
                <a:ln w="12700">
                  <a:solidFill>
                    <a:schemeClr val="tx1"/>
                  </a:solidFill>
                  <a:round/>
                  <a:headEnd/>
                  <a:tailEnd/>
                </a:ln>
                <a:effectLst/>
              </p:spPr>
              <p:txBody>
                <a:bodyPr wrap="none" anchor="ctr"/>
                <a:lstStyle/>
                <a:p>
                  <a:endParaRPr lang="fr-BE"/>
                </a:p>
              </p:txBody>
            </p:sp>
            <p:sp>
              <p:nvSpPr>
                <p:cNvPr id="80907" name="Line 1035"/>
                <p:cNvSpPr>
                  <a:spLocks noChangeShapeType="1"/>
                </p:cNvSpPr>
                <p:nvPr/>
              </p:nvSpPr>
              <p:spPr bwMode="auto">
                <a:xfrm>
                  <a:off x="2873" y="1468"/>
                  <a:ext cx="9" cy="52"/>
                </a:xfrm>
                <a:prstGeom prst="line">
                  <a:avLst/>
                </a:prstGeom>
                <a:noFill/>
                <a:ln w="12700">
                  <a:solidFill>
                    <a:schemeClr val="tx1"/>
                  </a:solidFill>
                  <a:round/>
                  <a:headEnd/>
                  <a:tailEnd/>
                </a:ln>
                <a:effectLst/>
              </p:spPr>
              <p:txBody>
                <a:bodyPr wrap="none" anchor="ctr"/>
                <a:lstStyle/>
                <a:p>
                  <a:endParaRPr lang="fr-BE"/>
                </a:p>
              </p:txBody>
            </p:sp>
            <p:sp>
              <p:nvSpPr>
                <p:cNvPr id="80908" name="Line 1036"/>
                <p:cNvSpPr>
                  <a:spLocks noChangeShapeType="1"/>
                </p:cNvSpPr>
                <p:nvPr/>
              </p:nvSpPr>
              <p:spPr bwMode="auto">
                <a:xfrm>
                  <a:off x="2901" y="1460"/>
                  <a:ext cx="9" cy="52"/>
                </a:xfrm>
                <a:prstGeom prst="line">
                  <a:avLst/>
                </a:prstGeom>
                <a:noFill/>
                <a:ln w="12700">
                  <a:solidFill>
                    <a:schemeClr val="tx1"/>
                  </a:solidFill>
                  <a:round/>
                  <a:headEnd/>
                  <a:tailEnd/>
                </a:ln>
                <a:effectLst/>
              </p:spPr>
              <p:txBody>
                <a:bodyPr wrap="none" anchor="ctr"/>
                <a:lstStyle/>
                <a:p>
                  <a:endParaRPr lang="fr-BE"/>
                </a:p>
              </p:txBody>
            </p:sp>
            <p:sp>
              <p:nvSpPr>
                <p:cNvPr id="80909" name="Line 1037"/>
                <p:cNvSpPr>
                  <a:spLocks noChangeShapeType="1"/>
                </p:cNvSpPr>
                <p:nvPr/>
              </p:nvSpPr>
              <p:spPr bwMode="auto">
                <a:xfrm>
                  <a:off x="2930" y="1451"/>
                  <a:ext cx="9" cy="52"/>
                </a:xfrm>
                <a:prstGeom prst="line">
                  <a:avLst/>
                </a:prstGeom>
                <a:noFill/>
                <a:ln w="12700">
                  <a:solidFill>
                    <a:schemeClr val="tx1"/>
                  </a:solidFill>
                  <a:round/>
                  <a:headEnd/>
                  <a:tailEnd/>
                </a:ln>
                <a:effectLst/>
              </p:spPr>
              <p:txBody>
                <a:bodyPr wrap="none" anchor="ctr"/>
                <a:lstStyle/>
                <a:p>
                  <a:endParaRPr lang="fr-BE"/>
                </a:p>
              </p:txBody>
            </p:sp>
            <p:sp>
              <p:nvSpPr>
                <p:cNvPr id="80910" name="Line 1038"/>
                <p:cNvSpPr>
                  <a:spLocks noChangeShapeType="1"/>
                </p:cNvSpPr>
                <p:nvPr/>
              </p:nvSpPr>
              <p:spPr bwMode="auto">
                <a:xfrm>
                  <a:off x="2957" y="1443"/>
                  <a:ext cx="10" cy="52"/>
                </a:xfrm>
                <a:prstGeom prst="line">
                  <a:avLst/>
                </a:prstGeom>
                <a:noFill/>
                <a:ln w="12700">
                  <a:solidFill>
                    <a:schemeClr val="tx1"/>
                  </a:solidFill>
                  <a:round/>
                  <a:headEnd/>
                  <a:tailEnd/>
                </a:ln>
                <a:effectLst/>
              </p:spPr>
              <p:txBody>
                <a:bodyPr wrap="none" anchor="ctr"/>
                <a:lstStyle/>
                <a:p>
                  <a:endParaRPr lang="fr-BE"/>
                </a:p>
              </p:txBody>
            </p:sp>
            <p:sp>
              <p:nvSpPr>
                <p:cNvPr id="80911" name="Line 1039"/>
                <p:cNvSpPr>
                  <a:spLocks noChangeShapeType="1"/>
                </p:cNvSpPr>
                <p:nvPr/>
              </p:nvSpPr>
              <p:spPr bwMode="auto">
                <a:xfrm>
                  <a:off x="2987" y="1435"/>
                  <a:ext cx="9" cy="52"/>
                </a:xfrm>
                <a:prstGeom prst="line">
                  <a:avLst/>
                </a:prstGeom>
                <a:noFill/>
                <a:ln w="12700">
                  <a:solidFill>
                    <a:schemeClr val="tx1"/>
                  </a:solidFill>
                  <a:round/>
                  <a:headEnd/>
                  <a:tailEnd/>
                </a:ln>
                <a:effectLst/>
              </p:spPr>
              <p:txBody>
                <a:bodyPr wrap="none" anchor="ctr"/>
                <a:lstStyle/>
                <a:p>
                  <a:endParaRPr lang="fr-BE"/>
                </a:p>
              </p:txBody>
            </p:sp>
            <p:sp>
              <p:nvSpPr>
                <p:cNvPr id="80912" name="Line 1040"/>
                <p:cNvSpPr>
                  <a:spLocks noChangeShapeType="1"/>
                </p:cNvSpPr>
                <p:nvPr/>
              </p:nvSpPr>
              <p:spPr bwMode="auto">
                <a:xfrm>
                  <a:off x="3014" y="1427"/>
                  <a:ext cx="9" cy="52"/>
                </a:xfrm>
                <a:prstGeom prst="line">
                  <a:avLst/>
                </a:prstGeom>
                <a:noFill/>
                <a:ln w="12700">
                  <a:solidFill>
                    <a:schemeClr val="tx1"/>
                  </a:solidFill>
                  <a:round/>
                  <a:headEnd/>
                  <a:tailEnd/>
                </a:ln>
                <a:effectLst/>
              </p:spPr>
              <p:txBody>
                <a:bodyPr wrap="none" anchor="ctr"/>
                <a:lstStyle/>
                <a:p>
                  <a:endParaRPr lang="fr-BE"/>
                </a:p>
              </p:txBody>
            </p:sp>
            <p:sp>
              <p:nvSpPr>
                <p:cNvPr id="80913" name="Line 1041"/>
                <p:cNvSpPr>
                  <a:spLocks noChangeShapeType="1"/>
                </p:cNvSpPr>
                <p:nvPr/>
              </p:nvSpPr>
              <p:spPr bwMode="auto">
                <a:xfrm>
                  <a:off x="3042" y="1419"/>
                  <a:ext cx="10" cy="52"/>
                </a:xfrm>
                <a:prstGeom prst="line">
                  <a:avLst/>
                </a:prstGeom>
                <a:noFill/>
                <a:ln w="12700">
                  <a:solidFill>
                    <a:schemeClr val="tx1"/>
                  </a:solidFill>
                  <a:round/>
                  <a:headEnd/>
                  <a:tailEnd/>
                </a:ln>
                <a:effectLst/>
              </p:spPr>
              <p:txBody>
                <a:bodyPr wrap="none" anchor="ctr"/>
                <a:lstStyle/>
                <a:p>
                  <a:endParaRPr lang="fr-BE"/>
                </a:p>
              </p:txBody>
            </p:sp>
            <p:sp>
              <p:nvSpPr>
                <p:cNvPr id="80914" name="Line 1042"/>
                <p:cNvSpPr>
                  <a:spLocks noChangeShapeType="1"/>
                </p:cNvSpPr>
                <p:nvPr/>
              </p:nvSpPr>
              <p:spPr bwMode="auto">
                <a:xfrm>
                  <a:off x="3073" y="1410"/>
                  <a:ext cx="9" cy="52"/>
                </a:xfrm>
                <a:prstGeom prst="line">
                  <a:avLst/>
                </a:prstGeom>
                <a:noFill/>
                <a:ln w="12700">
                  <a:solidFill>
                    <a:schemeClr val="tx1"/>
                  </a:solidFill>
                  <a:round/>
                  <a:headEnd/>
                  <a:tailEnd/>
                </a:ln>
                <a:effectLst/>
              </p:spPr>
              <p:txBody>
                <a:bodyPr wrap="none" anchor="ctr"/>
                <a:lstStyle/>
                <a:p>
                  <a:endParaRPr lang="fr-BE"/>
                </a:p>
              </p:txBody>
            </p:sp>
            <p:sp>
              <p:nvSpPr>
                <p:cNvPr id="80915" name="Line 1043"/>
                <p:cNvSpPr>
                  <a:spLocks noChangeShapeType="1"/>
                </p:cNvSpPr>
                <p:nvPr/>
              </p:nvSpPr>
              <p:spPr bwMode="auto">
                <a:xfrm>
                  <a:off x="3100" y="1403"/>
                  <a:ext cx="9" cy="52"/>
                </a:xfrm>
                <a:prstGeom prst="line">
                  <a:avLst/>
                </a:prstGeom>
                <a:noFill/>
                <a:ln w="12700">
                  <a:solidFill>
                    <a:schemeClr val="tx1"/>
                  </a:solidFill>
                  <a:round/>
                  <a:headEnd/>
                  <a:tailEnd/>
                </a:ln>
                <a:effectLst/>
              </p:spPr>
              <p:txBody>
                <a:bodyPr wrap="none" anchor="ctr"/>
                <a:lstStyle/>
                <a:p>
                  <a:endParaRPr lang="fr-BE"/>
                </a:p>
              </p:txBody>
            </p:sp>
            <p:sp>
              <p:nvSpPr>
                <p:cNvPr id="80916" name="Line 1044"/>
                <p:cNvSpPr>
                  <a:spLocks noChangeShapeType="1"/>
                </p:cNvSpPr>
                <p:nvPr/>
              </p:nvSpPr>
              <p:spPr bwMode="auto">
                <a:xfrm>
                  <a:off x="3129" y="1394"/>
                  <a:ext cx="9" cy="52"/>
                </a:xfrm>
                <a:prstGeom prst="line">
                  <a:avLst/>
                </a:prstGeom>
                <a:noFill/>
                <a:ln w="12700">
                  <a:solidFill>
                    <a:schemeClr val="tx1"/>
                  </a:solidFill>
                  <a:round/>
                  <a:headEnd/>
                  <a:tailEnd/>
                </a:ln>
                <a:effectLst/>
              </p:spPr>
              <p:txBody>
                <a:bodyPr wrap="none" anchor="ctr"/>
                <a:lstStyle/>
                <a:p>
                  <a:endParaRPr lang="fr-BE"/>
                </a:p>
              </p:txBody>
            </p:sp>
            <p:sp>
              <p:nvSpPr>
                <p:cNvPr id="80917" name="Line 1045"/>
                <p:cNvSpPr>
                  <a:spLocks noChangeShapeType="1"/>
                </p:cNvSpPr>
                <p:nvPr/>
              </p:nvSpPr>
              <p:spPr bwMode="auto">
                <a:xfrm>
                  <a:off x="3157" y="1386"/>
                  <a:ext cx="9" cy="52"/>
                </a:xfrm>
                <a:prstGeom prst="line">
                  <a:avLst/>
                </a:prstGeom>
                <a:noFill/>
                <a:ln w="12700">
                  <a:solidFill>
                    <a:schemeClr val="tx1"/>
                  </a:solidFill>
                  <a:round/>
                  <a:headEnd/>
                  <a:tailEnd/>
                </a:ln>
                <a:effectLst/>
              </p:spPr>
              <p:txBody>
                <a:bodyPr wrap="none" anchor="ctr"/>
                <a:lstStyle/>
                <a:p>
                  <a:endParaRPr lang="fr-BE"/>
                </a:p>
              </p:txBody>
            </p:sp>
            <p:sp>
              <p:nvSpPr>
                <p:cNvPr id="80918" name="Line 1046"/>
                <p:cNvSpPr>
                  <a:spLocks noChangeShapeType="1"/>
                </p:cNvSpPr>
                <p:nvPr/>
              </p:nvSpPr>
              <p:spPr bwMode="auto">
                <a:xfrm>
                  <a:off x="3185" y="1378"/>
                  <a:ext cx="10" cy="51"/>
                </a:xfrm>
                <a:prstGeom prst="line">
                  <a:avLst/>
                </a:prstGeom>
                <a:noFill/>
                <a:ln w="12700">
                  <a:solidFill>
                    <a:schemeClr val="tx1"/>
                  </a:solidFill>
                  <a:round/>
                  <a:headEnd/>
                  <a:tailEnd/>
                </a:ln>
                <a:effectLst/>
              </p:spPr>
              <p:txBody>
                <a:bodyPr wrap="none" anchor="ctr"/>
                <a:lstStyle/>
                <a:p>
                  <a:endParaRPr lang="fr-BE"/>
                </a:p>
              </p:txBody>
            </p:sp>
            <p:sp>
              <p:nvSpPr>
                <p:cNvPr id="80919" name="Line 1047"/>
                <p:cNvSpPr>
                  <a:spLocks noChangeShapeType="1"/>
                </p:cNvSpPr>
                <p:nvPr/>
              </p:nvSpPr>
              <p:spPr bwMode="auto">
                <a:xfrm>
                  <a:off x="3214" y="1370"/>
                  <a:ext cx="9" cy="52"/>
                </a:xfrm>
                <a:prstGeom prst="line">
                  <a:avLst/>
                </a:prstGeom>
                <a:noFill/>
                <a:ln w="12700">
                  <a:solidFill>
                    <a:schemeClr val="tx1"/>
                  </a:solidFill>
                  <a:round/>
                  <a:headEnd/>
                  <a:tailEnd/>
                </a:ln>
                <a:effectLst/>
              </p:spPr>
              <p:txBody>
                <a:bodyPr wrap="none" anchor="ctr"/>
                <a:lstStyle/>
                <a:p>
                  <a:endParaRPr lang="fr-BE"/>
                </a:p>
              </p:txBody>
            </p:sp>
            <p:sp>
              <p:nvSpPr>
                <p:cNvPr id="80920" name="Line 1048"/>
                <p:cNvSpPr>
                  <a:spLocks noChangeShapeType="1"/>
                </p:cNvSpPr>
                <p:nvPr/>
              </p:nvSpPr>
              <p:spPr bwMode="auto">
                <a:xfrm>
                  <a:off x="3242" y="1362"/>
                  <a:ext cx="9" cy="52"/>
                </a:xfrm>
                <a:prstGeom prst="line">
                  <a:avLst/>
                </a:prstGeom>
                <a:noFill/>
                <a:ln w="12700">
                  <a:solidFill>
                    <a:schemeClr val="tx1"/>
                  </a:solidFill>
                  <a:round/>
                  <a:headEnd/>
                  <a:tailEnd/>
                </a:ln>
                <a:effectLst/>
              </p:spPr>
              <p:txBody>
                <a:bodyPr wrap="none" anchor="ctr"/>
                <a:lstStyle/>
                <a:p>
                  <a:endParaRPr lang="fr-BE"/>
                </a:p>
              </p:txBody>
            </p:sp>
            <p:sp>
              <p:nvSpPr>
                <p:cNvPr id="80921" name="Line 1049"/>
                <p:cNvSpPr>
                  <a:spLocks noChangeShapeType="1"/>
                </p:cNvSpPr>
                <p:nvPr/>
              </p:nvSpPr>
              <p:spPr bwMode="auto">
                <a:xfrm>
                  <a:off x="3270" y="1353"/>
                  <a:ext cx="10" cy="52"/>
                </a:xfrm>
                <a:prstGeom prst="line">
                  <a:avLst/>
                </a:prstGeom>
                <a:noFill/>
                <a:ln w="12700">
                  <a:solidFill>
                    <a:schemeClr val="tx1"/>
                  </a:solidFill>
                  <a:round/>
                  <a:headEnd/>
                  <a:tailEnd/>
                </a:ln>
                <a:effectLst/>
              </p:spPr>
              <p:txBody>
                <a:bodyPr wrap="none" anchor="ctr"/>
                <a:lstStyle/>
                <a:p>
                  <a:endParaRPr lang="fr-BE"/>
                </a:p>
              </p:txBody>
            </p:sp>
            <p:sp>
              <p:nvSpPr>
                <p:cNvPr id="80922" name="Line 1050"/>
                <p:cNvSpPr>
                  <a:spLocks noChangeShapeType="1"/>
                </p:cNvSpPr>
                <p:nvPr/>
              </p:nvSpPr>
              <p:spPr bwMode="auto">
                <a:xfrm>
                  <a:off x="3300" y="1345"/>
                  <a:ext cx="9" cy="52"/>
                </a:xfrm>
                <a:prstGeom prst="line">
                  <a:avLst/>
                </a:prstGeom>
                <a:noFill/>
                <a:ln w="12700">
                  <a:solidFill>
                    <a:schemeClr val="tx1"/>
                  </a:solidFill>
                  <a:round/>
                  <a:headEnd/>
                  <a:tailEnd/>
                </a:ln>
                <a:effectLst/>
              </p:spPr>
              <p:txBody>
                <a:bodyPr wrap="none" anchor="ctr"/>
                <a:lstStyle/>
                <a:p>
                  <a:endParaRPr lang="fr-BE"/>
                </a:p>
              </p:txBody>
            </p:sp>
            <p:sp>
              <p:nvSpPr>
                <p:cNvPr id="80923" name="Line 1051"/>
                <p:cNvSpPr>
                  <a:spLocks noChangeShapeType="1"/>
                </p:cNvSpPr>
                <p:nvPr/>
              </p:nvSpPr>
              <p:spPr bwMode="auto">
                <a:xfrm>
                  <a:off x="3329" y="1337"/>
                  <a:ext cx="9" cy="52"/>
                </a:xfrm>
                <a:prstGeom prst="line">
                  <a:avLst/>
                </a:prstGeom>
                <a:noFill/>
                <a:ln w="12700">
                  <a:solidFill>
                    <a:schemeClr val="tx1"/>
                  </a:solidFill>
                  <a:round/>
                  <a:headEnd/>
                  <a:tailEnd/>
                </a:ln>
                <a:effectLst/>
              </p:spPr>
              <p:txBody>
                <a:bodyPr wrap="none" anchor="ctr"/>
                <a:lstStyle/>
                <a:p>
                  <a:endParaRPr lang="fr-BE"/>
                </a:p>
              </p:txBody>
            </p:sp>
            <p:sp>
              <p:nvSpPr>
                <p:cNvPr id="80924" name="Line 1052"/>
                <p:cNvSpPr>
                  <a:spLocks noChangeShapeType="1"/>
                </p:cNvSpPr>
                <p:nvPr/>
              </p:nvSpPr>
              <p:spPr bwMode="auto">
                <a:xfrm>
                  <a:off x="3355" y="1329"/>
                  <a:ext cx="10" cy="52"/>
                </a:xfrm>
                <a:prstGeom prst="line">
                  <a:avLst/>
                </a:prstGeom>
                <a:noFill/>
                <a:ln w="12700">
                  <a:solidFill>
                    <a:schemeClr val="tx1"/>
                  </a:solidFill>
                  <a:round/>
                  <a:headEnd/>
                  <a:tailEnd/>
                </a:ln>
                <a:effectLst/>
              </p:spPr>
              <p:txBody>
                <a:bodyPr wrap="none" anchor="ctr"/>
                <a:lstStyle/>
                <a:p>
                  <a:endParaRPr lang="fr-BE"/>
                </a:p>
              </p:txBody>
            </p:sp>
            <p:sp>
              <p:nvSpPr>
                <p:cNvPr id="80925" name="Line 1053"/>
                <p:cNvSpPr>
                  <a:spLocks noChangeShapeType="1"/>
                </p:cNvSpPr>
                <p:nvPr/>
              </p:nvSpPr>
              <p:spPr bwMode="auto">
                <a:xfrm>
                  <a:off x="3385" y="1321"/>
                  <a:ext cx="9" cy="52"/>
                </a:xfrm>
                <a:prstGeom prst="line">
                  <a:avLst/>
                </a:prstGeom>
                <a:noFill/>
                <a:ln w="12700">
                  <a:solidFill>
                    <a:schemeClr val="tx1"/>
                  </a:solidFill>
                  <a:round/>
                  <a:headEnd/>
                  <a:tailEnd/>
                </a:ln>
                <a:effectLst/>
              </p:spPr>
              <p:txBody>
                <a:bodyPr wrap="none" anchor="ctr"/>
                <a:lstStyle/>
                <a:p>
                  <a:endParaRPr lang="fr-BE"/>
                </a:p>
              </p:txBody>
            </p:sp>
            <p:sp>
              <p:nvSpPr>
                <p:cNvPr id="80926" name="Rectangle 1054"/>
                <p:cNvSpPr>
                  <a:spLocks noChangeArrowheads="1"/>
                </p:cNvSpPr>
                <p:nvPr/>
              </p:nvSpPr>
              <p:spPr bwMode="auto">
                <a:xfrm rot="20640000">
                  <a:off x="2494" y="1323"/>
                  <a:ext cx="16" cy="34"/>
                </a:xfrm>
                <a:prstGeom prst="rect">
                  <a:avLst/>
                </a:prstGeom>
                <a:solidFill>
                  <a:schemeClr val="tx1"/>
                </a:solidFill>
                <a:ln w="3175">
                  <a:noFill/>
                  <a:miter lim="800000"/>
                  <a:headEnd/>
                  <a:tailEnd/>
                </a:ln>
                <a:effectLst/>
              </p:spPr>
              <p:txBody>
                <a:bodyPr wrap="none" anchor="ctr"/>
                <a:lstStyle/>
                <a:p>
                  <a:endParaRPr lang="fr-BE"/>
                </a:p>
              </p:txBody>
            </p:sp>
            <p:sp>
              <p:nvSpPr>
                <p:cNvPr id="80927" name="Rectangle 1055"/>
                <p:cNvSpPr>
                  <a:spLocks noChangeArrowheads="1"/>
                </p:cNvSpPr>
                <p:nvPr/>
              </p:nvSpPr>
              <p:spPr bwMode="auto">
                <a:xfrm rot="20640000">
                  <a:off x="2509" y="1374"/>
                  <a:ext cx="15" cy="32"/>
                </a:xfrm>
                <a:prstGeom prst="rect">
                  <a:avLst/>
                </a:prstGeom>
                <a:solidFill>
                  <a:schemeClr val="tx1"/>
                </a:solidFill>
                <a:ln w="3175">
                  <a:noFill/>
                  <a:miter lim="800000"/>
                  <a:headEnd/>
                  <a:tailEnd/>
                </a:ln>
                <a:effectLst/>
              </p:spPr>
              <p:txBody>
                <a:bodyPr wrap="none" anchor="ctr"/>
                <a:lstStyle/>
                <a:p>
                  <a:endParaRPr lang="fr-BE"/>
                </a:p>
              </p:txBody>
            </p:sp>
            <p:sp>
              <p:nvSpPr>
                <p:cNvPr id="80928" name="Rectangle 1056"/>
                <p:cNvSpPr>
                  <a:spLocks noChangeArrowheads="1"/>
                </p:cNvSpPr>
                <p:nvPr/>
              </p:nvSpPr>
              <p:spPr bwMode="auto">
                <a:xfrm rot="20640000">
                  <a:off x="2523" y="1422"/>
                  <a:ext cx="15" cy="35"/>
                </a:xfrm>
                <a:prstGeom prst="rect">
                  <a:avLst/>
                </a:prstGeom>
                <a:solidFill>
                  <a:schemeClr val="tx1"/>
                </a:solidFill>
                <a:ln w="3175">
                  <a:noFill/>
                  <a:miter lim="800000"/>
                  <a:headEnd/>
                  <a:tailEnd/>
                </a:ln>
                <a:effectLst/>
              </p:spPr>
              <p:txBody>
                <a:bodyPr wrap="none" anchor="ctr"/>
                <a:lstStyle/>
                <a:p>
                  <a:endParaRPr lang="fr-BE"/>
                </a:p>
              </p:txBody>
            </p:sp>
            <p:sp>
              <p:nvSpPr>
                <p:cNvPr id="80929" name="Rectangle 1057"/>
                <p:cNvSpPr>
                  <a:spLocks noChangeArrowheads="1"/>
                </p:cNvSpPr>
                <p:nvPr/>
              </p:nvSpPr>
              <p:spPr bwMode="auto">
                <a:xfrm rot="20640000">
                  <a:off x="2536" y="1472"/>
                  <a:ext cx="16" cy="33"/>
                </a:xfrm>
                <a:prstGeom prst="rect">
                  <a:avLst/>
                </a:prstGeom>
                <a:solidFill>
                  <a:schemeClr val="tx1"/>
                </a:solidFill>
                <a:ln w="3175">
                  <a:noFill/>
                  <a:miter lim="800000"/>
                  <a:headEnd/>
                  <a:tailEnd/>
                </a:ln>
                <a:effectLst/>
              </p:spPr>
              <p:txBody>
                <a:bodyPr wrap="none" anchor="ctr"/>
                <a:lstStyle/>
                <a:p>
                  <a:endParaRPr lang="fr-BE"/>
                </a:p>
              </p:txBody>
            </p:sp>
            <p:sp>
              <p:nvSpPr>
                <p:cNvPr id="80930" name="Rectangle 1058"/>
                <p:cNvSpPr>
                  <a:spLocks noChangeArrowheads="1"/>
                </p:cNvSpPr>
                <p:nvPr/>
              </p:nvSpPr>
              <p:spPr bwMode="auto">
                <a:xfrm rot="20640000">
                  <a:off x="2592" y="1295"/>
                  <a:ext cx="15" cy="34"/>
                </a:xfrm>
                <a:prstGeom prst="rect">
                  <a:avLst/>
                </a:prstGeom>
                <a:solidFill>
                  <a:schemeClr val="tx1"/>
                </a:solidFill>
                <a:ln w="3175">
                  <a:noFill/>
                  <a:miter lim="800000"/>
                  <a:headEnd/>
                  <a:tailEnd/>
                </a:ln>
                <a:effectLst/>
              </p:spPr>
              <p:txBody>
                <a:bodyPr wrap="none" anchor="ctr"/>
                <a:lstStyle/>
                <a:p>
                  <a:endParaRPr lang="fr-BE"/>
                </a:p>
              </p:txBody>
            </p:sp>
            <p:sp>
              <p:nvSpPr>
                <p:cNvPr id="80931" name="Rectangle 1059"/>
                <p:cNvSpPr>
                  <a:spLocks noChangeArrowheads="1"/>
                </p:cNvSpPr>
                <p:nvPr/>
              </p:nvSpPr>
              <p:spPr bwMode="auto">
                <a:xfrm rot="20640000">
                  <a:off x="2607" y="1346"/>
                  <a:ext cx="14" cy="33"/>
                </a:xfrm>
                <a:prstGeom prst="rect">
                  <a:avLst/>
                </a:prstGeom>
                <a:solidFill>
                  <a:schemeClr val="tx1"/>
                </a:solidFill>
                <a:ln w="3175">
                  <a:noFill/>
                  <a:miter lim="800000"/>
                  <a:headEnd/>
                  <a:tailEnd/>
                </a:ln>
                <a:effectLst/>
              </p:spPr>
              <p:txBody>
                <a:bodyPr wrap="none" anchor="ctr"/>
                <a:lstStyle/>
                <a:p>
                  <a:endParaRPr lang="fr-BE"/>
                </a:p>
              </p:txBody>
            </p:sp>
            <p:sp>
              <p:nvSpPr>
                <p:cNvPr id="80932" name="Rectangle 1060"/>
                <p:cNvSpPr>
                  <a:spLocks noChangeArrowheads="1"/>
                </p:cNvSpPr>
                <p:nvPr/>
              </p:nvSpPr>
              <p:spPr bwMode="auto">
                <a:xfrm rot="20640000">
                  <a:off x="2621" y="1394"/>
                  <a:ext cx="14" cy="35"/>
                </a:xfrm>
                <a:prstGeom prst="rect">
                  <a:avLst/>
                </a:prstGeom>
                <a:solidFill>
                  <a:schemeClr val="tx1"/>
                </a:solidFill>
                <a:ln w="3175">
                  <a:noFill/>
                  <a:miter lim="800000"/>
                  <a:headEnd/>
                  <a:tailEnd/>
                </a:ln>
                <a:effectLst/>
              </p:spPr>
              <p:txBody>
                <a:bodyPr wrap="none" anchor="ctr"/>
                <a:lstStyle/>
                <a:p>
                  <a:endParaRPr lang="fr-BE"/>
                </a:p>
              </p:txBody>
            </p:sp>
            <p:sp>
              <p:nvSpPr>
                <p:cNvPr id="80933" name="Rectangle 1061"/>
                <p:cNvSpPr>
                  <a:spLocks noChangeArrowheads="1"/>
                </p:cNvSpPr>
                <p:nvPr/>
              </p:nvSpPr>
              <p:spPr bwMode="auto">
                <a:xfrm rot="20640000">
                  <a:off x="2634" y="1445"/>
                  <a:ext cx="15" cy="33"/>
                </a:xfrm>
                <a:prstGeom prst="rect">
                  <a:avLst/>
                </a:prstGeom>
                <a:solidFill>
                  <a:schemeClr val="tx1"/>
                </a:solidFill>
                <a:ln w="3175">
                  <a:noFill/>
                  <a:miter lim="800000"/>
                  <a:headEnd/>
                  <a:tailEnd/>
                </a:ln>
                <a:effectLst/>
              </p:spPr>
              <p:txBody>
                <a:bodyPr wrap="none" anchor="ctr"/>
                <a:lstStyle/>
                <a:p>
                  <a:endParaRPr lang="fr-BE"/>
                </a:p>
              </p:txBody>
            </p:sp>
            <p:sp>
              <p:nvSpPr>
                <p:cNvPr id="80934" name="Rectangle 1062"/>
                <p:cNvSpPr>
                  <a:spLocks noChangeArrowheads="1"/>
                </p:cNvSpPr>
                <p:nvPr/>
              </p:nvSpPr>
              <p:spPr bwMode="auto">
                <a:xfrm rot="20640000">
                  <a:off x="2532" y="1298"/>
                  <a:ext cx="81" cy="208"/>
                </a:xfrm>
                <a:prstGeom prst="rect">
                  <a:avLst/>
                </a:prstGeom>
                <a:gradFill rotWithShape="0">
                  <a:gsLst>
                    <a:gs pos="0">
                      <a:schemeClr val="folHlink">
                        <a:gamma/>
                        <a:shade val="46275"/>
                        <a:invGamma/>
                      </a:schemeClr>
                    </a:gs>
                    <a:gs pos="100000">
                      <a:schemeClr val="folHlink"/>
                    </a:gs>
                  </a:gsLst>
                  <a:lin ang="18900000" scaled="1"/>
                </a:gradFill>
                <a:ln w="3175">
                  <a:solidFill>
                    <a:schemeClr val="tx1"/>
                  </a:solidFill>
                  <a:miter lim="800000"/>
                  <a:headEnd/>
                  <a:tailEnd/>
                </a:ln>
                <a:effectLst/>
              </p:spPr>
              <p:txBody>
                <a:bodyPr wrap="none" anchor="ctr"/>
                <a:lstStyle/>
                <a:p>
                  <a:endParaRPr lang="fr-BE"/>
                </a:p>
              </p:txBody>
            </p:sp>
            <p:grpSp>
              <p:nvGrpSpPr>
                <p:cNvPr id="80935" name="Group 1063"/>
                <p:cNvGrpSpPr>
                  <a:grpSpLocks/>
                </p:cNvGrpSpPr>
                <p:nvPr/>
              </p:nvGrpSpPr>
              <p:grpSpPr bwMode="auto">
                <a:xfrm>
                  <a:off x="3289" y="1110"/>
                  <a:ext cx="66" cy="66"/>
                  <a:chOff x="4763" y="2057"/>
                  <a:chExt cx="66" cy="66"/>
                </a:xfrm>
              </p:grpSpPr>
              <p:sp>
                <p:nvSpPr>
                  <p:cNvPr id="80936" name="Oval 1064"/>
                  <p:cNvSpPr>
                    <a:spLocks noChangeArrowheads="1"/>
                  </p:cNvSpPr>
                  <p:nvPr/>
                </p:nvSpPr>
                <p:spPr bwMode="auto">
                  <a:xfrm rot="20640000">
                    <a:off x="4763" y="2057"/>
                    <a:ext cx="66" cy="66"/>
                  </a:xfrm>
                  <a:prstGeom prst="ellipse">
                    <a:avLst/>
                  </a:prstGeom>
                  <a:solidFill>
                    <a:srgbClr val="008000"/>
                  </a:solidFill>
                  <a:ln w="6350">
                    <a:solidFill>
                      <a:schemeClr val="tx1"/>
                    </a:solidFill>
                    <a:round/>
                    <a:headEnd/>
                    <a:tailEnd/>
                  </a:ln>
                  <a:effectLst/>
                </p:spPr>
                <p:txBody>
                  <a:bodyPr wrap="none" anchor="ctr"/>
                  <a:lstStyle/>
                  <a:p>
                    <a:endParaRPr lang="fr-BE"/>
                  </a:p>
                </p:txBody>
              </p:sp>
              <p:sp>
                <p:nvSpPr>
                  <p:cNvPr id="80937" name="Oval 1065"/>
                  <p:cNvSpPr>
                    <a:spLocks noChangeArrowheads="1"/>
                  </p:cNvSpPr>
                  <p:nvPr/>
                </p:nvSpPr>
                <p:spPr bwMode="auto">
                  <a:xfrm rot="20640000">
                    <a:off x="4765" y="2063"/>
                    <a:ext cx="47" cy="49"/>
                  </a:xfrm>
                  <a:prstGeom prst="ellipse">
                    <a:avLst/>
                  </a:prstGeom>
                  <a:solidFill>
                    <a:schemeClr val="bg1"/>
                  </a:solidFill>
                  <a:ln w="6350">
                    <a:solidFill>
                      <a:schemeClr val="tx1"/>
                    </a:solidFill>
                    <a:round/>
                    <a:headEnd/>
                    <a:tailEnd/>
                  </a:ln>
                  <a:effectLst/>
                </p:spPr>
                <p:txBody>
                  <a:bodyPr wrap="none" anchor="ctr"/>
                  <a:lstStyle/>
                  <a:p>
                    <a:endParaRPr lang="fr-BE"/>
                  </a:p>
                </p:txBody>
              </p:sp>
            </p:grpSp>
            <p:sp>
              <p:nvSpPr>
                <p:cNvPr id="80938" name="Rectangle 1066"/>
                <p:cNvSpPr>
                  <a:spLocks noChangeArrowheads="1"/>
                </p:cNvSpPr>
                <p:nvPr/>
              </p:nvSpPr>
              <p:spPr bwMode="auto">
                <a:xfrm rot="20640000">
                  <a:off x="2681" y="1270"/>
                  <a:ext cx="14" cy="34"/>
                </a:xfrm>
                <a:prstGeom prst="rect">
                  <a:avLst/>
                </a:prstGeom>
                <a:solidFill>
                  <a:schemeClr val="tx1"/>
                </a:solidFill>
                <a:ln w="3175">
                  <a:noFill/>
                  <a:miter lim="800000"/>
                  <a:headEnd/>
                  <a:tailEnd/>
                </a:ln>
                <a:effectLst/>
              </p:spPr>
              <p:txBody>
                <a:bodyPr wrap="none" anchor="ctr"/>
                <a:lstStyle/>
                <a:p>
                  <a:endParaRPr lang="fr-BE"/>
                </a:p>
              </p:txBody>
            </p:sp>
            <p:sp>
              <p:nvSpPr>
                <p:cNvPr id="80939" name="Rectangle 1067"/>
                <p:cNvSpPr>
                  <a:spLocks noChangeArrowheads="1"/>
                </p:cNvSpPr>
                <p:nvPr/>
              </p:nvSpPr>
              <p:spPr bwMode="auto">
                <a:xfrm rot="20640000">
                  <a:off x="2696" y="1321"/>
                  <a:ext cx="14" cy="33"/>
                </a:xfrm>
                <a:prstGeom prst="rect">
                  <a:avLst/>
                </a:prstGeom>
                <a:solidFill>
                  <a:schemeClr val="tx1"/>
                </a:solidFill>
                <a:ln w="3175">
                  <a:noFill/>
                  <a:miter lim="800000"/>
                  <a:headEnd/>
                  <a:tailEnd/>
                </a:ln>
                <a:effectLst/>
              </p:spPr>
              <p:txBody>
                <a:bodyPr wrap="none" anchor="ctr"/>
                <a:lstStyle/>
                <a:p>
                  <a:endParaRPr lang="fr-BE"/>
                </a:p>
              </p:txBody>
            </p:sp>
            <p:sp>
              <p:nvSpPr>
                <p:cNvPr id="80940" name="Rectangle 1068"/>
                <p:cNvSpPr>
                  <a:spLocks noChangeArrowheads="1"/>
                </p:cNvSpPr>
                <p:nvPr/>
              </p:nvSpPr>
              <p:spPr bwMode="auto">
                <a:xfrm rot="20640000">
                  <a:off x="2710" y="1369"/>
                  <a:ext cx="14" cy="35"/>
                </a:xfrm>
                <a:prstGeom prst="rect">
                  <a:avLst/>
                </a:prstGeom>
                <a:solidFill>
                  <a:schemeClr val="tx1"/>
                </a:solidFill>
                <a:ln w="3175">
                  <a:noFill/>
                  <a:miter lim="800000"/>
                  <a:headEnd/>
                  <a:tailEnd/>
                </a:ln>
                <a:effectLst/>
              </p:spPr>
              <p:txBody>
                <a:bodyPr wrap="none" anchor="ctr"/>
                <a:lstStyle/>
                <a:p>
                  <a:endParaRPr lang="fr-BE"/>
                </a:p>
              </p:txBody>
            </p:sp>
            <p:sp>
              <p:nvSpPr>
                <p:cNvPr id="80941" name="Rectangle 1069"/>
                <p:cNvSpPr>
                  <a:spLocks noChangeArrowheads="1"/>
                </p:cNvSpPr>
                <p:nvPr/>
              </p:nvSpPr>
              <p:spPr bwMode="auto">
                <a:xfrm rot="20640000">
                  <a:off x="2724" y="1420"/>
                  <a:ext cx="14" cy="33"/>
                </a:xfrm>
                <a:prstGeom prst="rect">
                  <a:avLst/>
                </a:prstGeom>
                <a:solidFill>
                  <a:schemeClr val="tx1"/>
                </a:solidFill>
                <a:ln w="3175">
                  <a:noFill/>
                  <a:miter lim="800000"/>
                  <a:headEnd/>
                  <a:tailEnd/>
                </a:ln>
                <a:effectLst/>
              </p:spPr>
              <p:txBody>
                <a:bodyPr wrap="none" anchor="ctr"/>
                <a:lstStyle/>
                <a:p>
                  <a:endParaRPr lang="fr-BE"/>
                </a:p>
              </p:txBody>
            </p:sp>
            <p:sp>
              <p:nvSpPr>
                <p:cNvPr id="80942" name="Rectangle 1070"/>
                <p:cNvSpPr>
                  <a:spLocks noChangeArrowheads="1"/>
                </p:cNvSpPr>
                <p:nvPr/>
              </p:nvSpPr>
              <p:spPr bwMode="auto">
                <a:xfrm rot="20640000">
                  <a:off x="2777" y="1242"/>
                  <a:ext cx="16" cy="33"/>
                </a:xfrm>
                <a:prstGeom prst="rect">
                  <a:avLst/>
                </a:prstGeom>
                <a:solidFill>
                  <a:schemeClr val="tx1"/>
                </a:solidFill>
                <a:ln w="3175">
                  <a:noFill/>
                  <a:miter lim="800000"/>
                  <a:headEnd/>
                  <a:tailEnd/>
                </a:ln>
                <a:effectLst/>
              </p:spPr>
              <p:txBody>
                <a:bodyPr wrap="none" anchor="ctr"/>
                <a:lstStyle/>
                <a:p>
                  <a:endParaRPr lang="fr-BE"/>
                </a:p>
              </p:txBody>
            </p:sp>
            <p:sp>
              <p:nvSpPr>
                <p:cNvPr id="80943" name="Rectangle 1071"/>
                <p:cNvSpPr>
                  <a:spLocks noChangeArrowheads="1"/>
                </p:cNvSpPr>
                <p:nvPr/>
              </p:nvSpPr>
              <p:spPr bwMode="auto">
                <a:xfrm rot="20640000">
                  <a:off x="2792" y="1292"/>
                  <a:ext cx="16" cy="33"/>
                </a:xfrm>
                <a:prstGeom prst="rect">
                  <a:avLst/>
                </a:prstGeom>
                <a:solidFill>
                  <a:schemeClr val="tx1"/>
                </a:solidFill>
                <a:ln w="3175">
                  <a:noFill/>
                  <a:miter lim="800000"/>
                  <a:headEnd/>
                  <a:tailEnd/>
                </a:ln>
                <a:effectLst/>
              </p:spPr>
              <p:txBody>
                <a:bodyPr wrap="none" anchor="ctr"/>
                <a:lstStyle/>
                <a:p>
                  <a:endParaRPr lang="fr-BE"/>
                </a:p>
              </p:txBody>
            </p:sp>
            <p:sp>
              <p:nvSpPr>
                <p:cNvPr id="80944" name="Rectangle 1072"/>
                <p:cNvSpPr>
                  <a:spLocks noChangeArrowheads="1"/>
                </p:cNvSpPr>
                <p:nvPr/>
              </p:nvSpPr>
              <p:spPr bwMode="auto">
                <a:xfrm rot="20640000">
                  <a:off x="2806" y="1341"/>
                  <a:ext cx="16" cy="34"/>
                </a:xfrm>
                <a:prstGeom prst="rect">
                  <a:avLst/>
                </a:prstGeom>
                <a:solidFill>
                  <a:schemeClr val="tx1"/>
                </a:solidFill>
                <a:ln w="3175">
                  <a:noFill/>
                  <a:miter lim="800000"/>
                  <a:headEnd/>
                  <a:tailEnd/>
                </a:ln>
                <a:effectLst/>
              </p:spPr>
              <p:txBody>
                <a:bodyPr wrap="none" anchor="ctr"/>
                <a:lstStyle/>
                <a:p>
                  <a:endParaRPr lang="fr-BE"/>
                </a:p>
              </p:txBody>
            </p:sp>
            <p:sp>
              <p:nvSpPr>
                <p:cNvPr id="80945" name="Rectangle 1073"/>
                <p:cNvSpPr>
                  <a:spLocks noChangeArrowheads="1"/>
                </p:cNvSpPr>
                <p:nvPr/>
              </p:nvSpPr>
              <p:spPr bwMode="auto">
                <a:xfrm rot="20640000">
                  <a:off x="2820" y="1391"/>
                  <a:ext cx="16" cy="33"/>
                </a:xfrm>
                <a:prstGeom prst="rect">
                  <a:avLst/>
                </a:prstGeom>
                <a:solidFill>
                  <a:schemeClr val="tx1"/>
                </a:solidFill>
                <a:ln w="3175">
                  <a:noFill/>
                  <a:miter lim="800000"/>
                  <a:headEnd/>
                  <a:tailEnd/>
                </a:ln>
                <a:effectLst/>
              </p:spPr>
              <p:txBody>
                <a:bodyPr wrap="none" anchor="ctr"/>
                <a:lstStyle/>
                <a:p>
                  <a:endParaRPr lang="fr-BE"/>
                </a:p>
              </p:txBody>
            </p:sp>
            <p:sp>
              <p:nvSpPr>
                <p:cNvPr id="80946" name="Rectangle 1074"/>
                <p:cNvSpPr>
                  <a:spLocks noChangeArrowheads="1"/>
                </p:cNvSpPr>
                <p:nvPr/>
              </p:nvSpPr>
              <p:spPr bwMode="auto">
                <a:xfrm rot="20640000">
                  <a:off x="2717" y="1245"/>
                  <a:ext cx="83" cy="207"/>
                </a:xfrm>
                <a:prstGeom prst="rect">
                  <a:avLst/>
                </a:prstGeom>
                <a:gradFill rotWithShape="0">
                  <a:gsLst>
                    <a:gs pos="0">
                      <a:schemeClr val="folHlink">
                        <a:gamma/>
                        <a:shade val="46275"/>
                        <a:invGamma/>
                      </a:schemeClr>
                    </a:gs>
                    <a:gs pos="100000">
                      <a:schemeClr val="folHlink"/>
                    </a:gs>
                  </a:gsLst>
                  <a:lin ang="18900000" scaled="1"/>
                </a:gradFill>
                <a:ln w="3175">
                  <a:solidFill>
                    <a:schemeClr val="tx1"/>
                  </a:solidFill>
                  <a:miter lim="800000"/>
                  <a:headEnd/>
                  <a:tailEnd/>
                </a:ln>
                <a:effectLst/>
              </p:spPr>
              <p:txBody>
                <a:bodyPr wrap="none" anchor="ctr"/>
                <a:lstStyle/>
                <a:p>
                  <a:endParaRPr lang="fr-BE"/>
                </a:p>
              </p:txBody>
            </p:sp>
            <p:sp>
              <p:nvSpPr>
                <p:cNvPr id="80947" name="Rectangle 1075"/>
                <p:cNvSpPr>
                  <a:spLocks noChangeArrowheads="1"/>
                </p:cNvSpPr>
                <p:nvPr/>
              </p:nvSpPr>
              <p:spPr bwMode="auto">
                <a:xfrm rot="20640000">
                  <a:off x="2866" y="1216"/>
                  <a:ext cx="16" cy="34"/>
                </a:xfrm>
                <a:prstGeom prst="rect">
                  <a:avLst/>
                </a:prstGeom>
                <a:solidFill>
                  <a:schemeClr val="tx1"/>
                </a:solidFill>
                <a:ln w="3175">
                  <a:noFill/>
                  <a:miter lim="800000"/>
                  <a:headEnd/>
                  <a:tailEnd/>
                </a:ln>
                <a:effectLst/>
              </p:spPr>
              <p:txBody>
                <a:bodyPr wrap="none" anchor="ctr"/>
                <a:lstStyle/>
                <a:p>
                  <a:endParaRPr lang="fr-BE"/>
                </a:p>
              </p:txBody>
            </p:sp>
            <p:sp>
              <p:nvSpPr>
                <p:cNvPr id="80948" name="Rectangle 1076"/>
                <p:cNvSpPr>
                  <a:spLocks noChangeArrowheads="1"/>
                </p:cNvSpPr>
                <p:nvPr/>
              </p:nvSpPr>
              <p:spPr bwMode="auto">
                <a:xfrm rot="20640000">
                  <a:off x="2881" y="1267"/>
                  <a:ext cx="16" cy="33"/>
                </a:xfrm>
                <a:prstGeom prst="rect">
                  <a:avLst/>
                </a:prstGeom>
                <a:solidFill>
                  <a:schemeClr val="tx1"/>
                </a:solidFill>
                <a:ln w="3175">
                  <a:noFill/>
                  <a:miter lim="800000"/>
                  <a:headEnd/>
                  <a:tailEnd/>
                </a:ln>
                <a:effectLst/>
              </p:spPr>
              <p:txBody>
                <a:bodyPr wrap="none" anchor="ctr"/>
                <a:lstStyle/>
                <a:p>
                  <a:endParaRPr lang="fr-BE"/>
                </a:p>
              </p:txBody>
            </p:sp>
            <p:sp>
              <p:nvSpPr>
                <p:cNvPr id="80949" name="Rectangle 1077"/>
                <p:cNvSpPr>
                  <a:spLocks noChangeArrowheads="1"/>
                </p:cNvSpPr>
                <p:nvPr/>
              </p:nvSpPr>
              <p:spPr bwMode="auto">
                <a:xfrm rot="20640000">
                  <a:off x="2895" y="1315"/>
                  <a:ext cx="16" cy="35"/>
                </a:xfrm>
                <a:prstGeom prst="rect">
                  <a:avLst/>
                </a:prstGeom>
                <a:solidFill>
                  <a:schemeClr val="tx1"/>
                </a:solidFill>
                <a:ln w="3175">
                  <a:noFill/>
                  <a:miter lim="800000"/>
                  <a:headEnd/>
                  <a:tailEnd/>
                </a:ln>
                <a:effectLst/>
              </p:spPr>
              <p:txBody>
                <a:bodyPr wrap="none" anchor="ctr"/>
                <a:lstStyle/>
                <a:p>
                  <a:endParaRPr lang="fr-BE"/>
                </a:p>
              </p:txBody>
            </p:sp>
            <p:sp>
              <p:nvSpPr>
                <p:cNvPr id="80950" name="Rectangle 1078"/>
                <p:cNvSpPr>
                  <a:spLocks noChangeArrowheads="1"/>
                </p:cNvSpPr>
                <p:nvPr/>
              </p:nvSpPr>
              <p:spPr bwMode="auto">
                <a:xfrm rot="20640000">
                  <a:off x="2908" y="1366"/>
                  <a:ext cx="17" cy="33"/>
                </a:xfrm>
                <a:prstGeom prst="rect">
                  <a:avLst/>
                </a:prstGeom>
                <a:solidFill>
                  <a:schemeClr val="tx1"/>
                </a:solidFill>
                <a:ln w="3175">
                  <a:noFill/>
                  <a:miter lim="800000"/>
                  <a:headEnd/>
                  <a:tailEnd/>
                </a:ln>
                <a:effectLst/>
              </p:spPr>
              <p:txBody>
                <a:bodyPr wrap="none" anchor="ctr"/>
                <a:lstStyle/>
                <a:p>
                  <a:endParaRPr lang="fr-BE"/>
                </a:p>
              </p:txBody>
            </p:sp>
            <p:sp>
              <p:nvSpPr>
                <p:cNvPr id="80951" name="Rectangle 1079"/>
                <p:cNvSpPr>
                  <a:spLocks noChangeArrowheads="1"/>
                </p:cNvSpPr>
                <p:nvPr/>
              </p:nvSpPr>
              <p:spPr bwMode="auto">
                <a:xfrm rot="20640000">
                  <a:off x="2964" y="1189"/>
                  <a:ext cx="15" cy="33"/>
                </a:xfrm>
                <a:prstGeom prst="rect">
                  <a:avLst/>
                </a:prstGeom>
                <a:solidFill>
                  <a:schemeClr val="tx1"/>
                </a:solidFill>
                <a:ln w="3175">
                  <a:noFill/>
                  <a:miter lim="800000"/>
                  <a:headEnd/>
                  <a:tailEnd/>
                </a:ln>
                <a:effectLst/>
              </p:spPr>
              <p:txBody>
                <a:bodyPr wrap="none" anchor="ctr"/>
                <a:lstStyle/>
                <a:p>
                  <a:endParaRPr lang="fr-BE"/>
                </a:p>
              </p:txBody>
            </p:sp>
            <p:sp>
              <p:nvSpPr>
                <p:cNvPr id="80952" name="Rectangle 1080"/>
                <p:cNvSpPr>
                  <a:spLocks noChangeArrowheads="1"/>
                </p:cNvSpPr>
                <p:nvPr/>
              </p:nvSpPr>
              <p:spPr bwMode="auto">
                <a:xfrm rot="20640000">
                  <a:off x="2979" y="1239"/>
                  <a:ext cx="15" cy="33"/>
                </a:xfrm>
                <a:prstGeom prst="rect">
                  <a:avLst/>
                </a:prstGeom>
                <a:solidFill>
                  <a:schemeClr val="tx1"/>
                </a:solidFill>
                <a:ln w="3175">
                  <a:noFill/>
                  <a:miter lim="800000"/>
                  <a:headEnd/>
                  <a:tailEnd/>
                </a:ln>
                <a:effectLst/>
              </p:spPr>
              <p:txBody>
                <a:bodyPr wrap="none" anchor="ctr"/>
                <a:lstStyle/>
                <a:p>
                  <a:endParaRPr lang="fr-BE"/>
                </a:p>
              </p:txBody>
            </p:sp>
            <p:sp>
              <p:nvSpPr>
                <p:cNvPr id="80953" name="Rectangle 1081"/>
                <p:cNvSpPr>
                  <a:spLocks noChangeArrowheads="1"/>
                </p:cNvSpPr>
                <p:nvPr/>
              </p:nvSpPr>
              <p:spPr bwMode="auto">
                <a:xfrm rot="20640000">
                  <a:off x="2992" y="1288"/>
                  <a:ext cx="16" cy="34"/>
                </a:xfrm>
                <a:prstGeom prst="rect">
                  <a:avLst/>
                </a:prstGeom>
                <a:solidFill>
                  <a:schemeClr val="tx1"/>
                </a:solidFill>
                <a:ln w="3175">
                  <a:noFill/>
                  <a:miter lim="800000"/>
                  <a:headEnd/>
                  <a:tailEnd/>
                </a:ln>
                <a:effectLst/>
              </p:spPr>
              <p:txBody>
                <a:bodyPr wrap="none" anchor="ctr"/>
                <a:lstStyle/>
                <a:p>
                  <a:endParaRPr lang="fr-BE"/>
                </a:p>
              </p:txBody>
            </p:sp>
            <p:sp>
              <p:nvSpPr>
                <p:cNvPr id="80954" name="Rectangle 1082"/>
                <p:cNvSpPr>
                  <a:spLocks noChangeArrowheads="1"/>
                </p:cNvSpPr>
                <p:nvPr/>
              </p:nvSpPr>
              <p:spPr bwMode="auto">
                <a:xfrm rot="20640000">
                  <a:off x="3006" y="1338"/>
                  <a:ext cx="16" cy="33"/>
                </a:xfrm>
                <a:prstGeom prst="rect">
                  <a:avLst/>
                </a:prstGeom>
                <a:solidFill>
                  <a:schemeClr val="tx1"/>
                </a:solidFill>
                <a:ln w="3175">
                  <a:noFill/>
                  <a:miter lim="800000"/>
                  <a:headEnd/>
                  <a:tailEnd/>
                </a:ln>
                <a:effectLst/>
              </p:spPr>
              <p:txBody>
                <a:bodyPr wrap="none" anchor="ctr"/>
                <a:lstStyle/>
                <a:p>
                  <a:endParaRPr lang="fr-BE"/>
                </a:p>
              </p:txBody>
            </p:sp>
            <p:sp>
              <p:nvSpPr>
                <p:cNvPr id="80955" name="Rectangle 1083"/>
                <p:cNvSpPr>
                  <a:spLocks noChangeArrowheads="1"/>
                </p:cNvSpPr>
                <p:nvPr/>
              </p:nvSpPr>
              <p:spPr bwMode="auto">
                <a:xfrm rot="20640000">
                  <a:off x="2904" y="1192"/>
                  <a:ext cx="83" cy="207"/>
                </a:xfrm>
                <a:prstGeom prst="rect">
                  <a:avLst/>
                </a:prstGeom>
                <a:gradFill rotWithShape="0">
                  <a:gsLst>
                    <a:gs pos="0">
                      <a:schemeClr val="folHlink">
                        <a:gamma/>
                        <a:shade val="46275"/>
                        <a:invGamma/>
                      </a:schemeClr>
                    </a:gs>
                    <a:gs pos="100000">
                      <a:schemeClr val="folHlink"/>
                    </a:gs>
                  </a:gsLst>
                  <a:lin ang="18900000" scaled="1"/>
                </a:gradFill>
                <a:ln w="3175">
                  <a:solidFill>
                    <a:schemeClr val="tx1"/>
                  </a:solidFill>
                  <a:miter lim="800000"/>
                  <a:headEnd/>
                  <a:tailEnd/>
                </a:ln>
                <a:effectLst/>
              </p:spPr>
              <p:txBody>
                <a:bodyPr wrap="none" anchor="ctr"/>
                <a:lstStyle/>
                <a:p>
                  <a:endParaRPr lang="fr-BE"/>
                </a:p>
              </p:txBody>
            </p:sp>
            <p:sp>
              <p:nvSpPr>
                <p:cNvPr id="80956" name="Rectangle 1084"/>
                <p:cNvSpPr>
                  <a:spLocks noChangeArrowheads="1"/>
                </p:cNvSpPr>
                <p:nvPr/>
              </p:nvSpPr>
              <p:spPr bwMode="auto">
                <a:xfrm rot="20640000">
                  <a:off x="3053" y="1163"/>
                  <a:ext cx="16" cy="33"/>
                </a:xfrm>
                <a:prstGeom prst="rect">
                  <a:avLst/>
                </a:prstGeom>
                <a:solidFill>
                  <a:schemeClr val="tx1"/>
                </a:solidFill>
                <a:ln w="3175">
                  <a:noFill/>
                  <a:miter lim="800000"/>
                  <a:headEnd/>
                  <a:tailEnd/>
                </a:ln>
                <a:effectLst/>
              </p:spPr>
              <p:txBody>
                <a:bodyPr wrap="none" anchor="ctr"/>
                <a:lstStyle/>
                <a:p>
                  <a:endParaRPr lang="fr-BE"/>
                </a:p>
              </p:txBody>
            </p:sp>
            <p:sp>
              <p:nvSpPr>
                <p:cNvPr id="80957" name="Rectangle 1085"/>
                <p:cNvSpPr>
                  <a:spLocks noChangeArrowheads="1"/>
                </p:cNvSpPr>
                <p:nvPr/>
              </p:nvSpPr>
              <p:spPr bwMode="auto">
                <a:xfrm rot="20640000">
                  <a:off x="3068" y="1213"/>
                  <a:ext cx="15" cy="33"/>
                </a:xfrm>
                <a:prstGeom prst="rect">
                  <a:avLst/>
                </a:prstGeom>
                <a:solidFill>
                  <a:schemeClr val="tx1"/>
                </a:solidFill>
                <a:ln w="3175">
                  <a:noFill/>
                  <a:miter lim="800000"/>
                  <a:headEnd/>
                  <a:tailEnd/>
                </a:ln>
                <a:effectLst/>
              </p:spPr>
              <p:txBody>
                <a:bodyPr wrap="none" anchor="ctr"/>
                <a:lstStyle/>
                <a:p>
                  <a:endParaRPr lang="fr-BE"/>
                </a:p>
              </p:txBody>
            </p:sp>
            <p:sp>
              <p:nvSpPr>
                <p:cNvPr id="80958" name="Rectangle 1086"/>
                <p:cNvSpPr>
                  <a:spLocks noChangeArrowheads="1"/>
                </p:cNvSpPr>
                <p:nvPr/>
              </p:nvSpPr>
              <p:spPr bwMode="auto">
                <a:xfrm rot="20640000">
                  <a:off x="3082" y="1262"/>
                  <a:ext cx="15" cy="34"/>
                </a:xfrm>
                <a:prstGeom prst="rect">
                  <a:avLst/>
                </a:prstGeom>
                <a:solidFill>
                  <a:schemeClr val="tx1"/>
                </a:solidFill>
                <a:ln w="3175">
                  <a:noFill/>
                  <a:miter lim="800000"/>
                  <a:headEnd/>
                  <a:tailEnd/>
                </a:ln>
                <a:effectLst/>
              </p:spPr>
              <p:txBody>
                <a:bodyPr wrap="none" anchor="ctr"/>
                <a:lstStyle/>
                <a:p>
                  <a:endParaRPr lang="fr-BE"/>
                </a:p>
              </p:txBody>
            </p:sp>
            <p:sp>
              <p:nvSpPr>
                <p:cNvPr id="80959" name="Rectangle 1087"/>
                <p:cNvSpPr>
                  <a:spLocks noChangeArrowheads="1"/>
                </p:cNvSpPr>
                <p:nvPr/>
              </p:nvSpPr>
              <p:spPr bwMode="auto">
                <a:xfrm rot="20640000">
                  <a:off x="3096" y="1312"/>
                  <a:ext cx="15" cy="33"/>
                </a:xfrm>
                <a:prstGeom prst="rect">
                  <a:avLst/>
                </a:prstGeom>
                <a:solidFill>
                  <a:schemeClr val="tx1"/>
                </a:solidFill>
                <a:ln w="3175">
                  <a:noFill/>
                  <a:miter lim="800000"/>
                  <a:headEnd/>
                  <a:tailEnd/>
                </a:ln>
                <a:effectLst/>
              </p:spPr>
              <p:txBody>
                <a:bodyPr wrap="none" anchor="ctr"/>
                <a:lstStyle/>
                <a:p>
                  <a:endParaRPr lang="fr-BE"/>
                </a:p>
              </p:txBody>
            </p:sp>
            <p:sp>
              <p:nvSpPr>
                <p:cNvPr id="80960" name="Rectangle 1088"/>
                <p:cNvSpPr>
                  <a:spLocks noChangeArrowheads="1"/>
                </p:cNvSpPr>
                <p:nvPr/>
              </p:nvSpPr>
              <p:spPr bwMode="auto">
                <a:xfrm rot="20640000">
                  <a:off x="3149" y="1135"/>
                  <a:ext cx="18" cy="34"/>
                </a:xfrm>
                <a:prstGeom prst="rect">
                  <a:avLst/>
                </a:prstGeom>
                <a:solidFill>
                  <a:schemeClr val="tx1"/>
                </a:solidFill>
                <a:ln w="3175">
                  <a:noFill/>
                  <a:miter lim="800000"/>
                  <a:headEnd/>
                  <a:tailEnd/>
                </a:ln>
                <a:effectLst/>
              </p:spPr>
              <p:txBody>
                <a:bodyPr wrap="none" anchor="ctr"/>
                <a:lstStyle/>
                <a:p>
                  <a:endParaRPr lang="fr-BE"/>
                </a:p>
              </p:txBody>
            </p:sp>
            <p:sp>
              <p:nvSpPr>
                <p:cNvPr id="80961" name="Rectangle 1089"/>
                <p:cNvSpPr>
                  <a:spLocks noChangeArrowheads="1"/>
                </p:cNvSpPr>
                <p:nvPr/>
              </p:nvSpPr>
              <p:spPr bwMode="auto">
                <a:xfrm rot="20640000">
                  <a:off x="3164" y="1185"/>
                  <a:ext cx="17" cy="33"/>
                </a:xfrm>
                <a:prstGeom prst="rect">
                  <a:avLst/>
                </a:prstGeom>
                <a:solidFill>
                  <a:schemeClr val="tx1"/>
                </a:solidFill>
                <a:ln w="3175">
                  <a:noFill/>
                  <a:miter lim="800000"/>
                  <a:headEnd/>
                  <a:tailEnd/>
                </a:ln>
                <a:effectLst/>
              </p:spPr>
              <p:txBody>
                <a:bodyPr wrap="none" anchor="ctr"/>
                <a:lstStyle/>
                <a:p>
                  <a:endParaRPr lang="fr-BE"/>
                </a:p>
              </p:txBody>
            </p:sp>
            <p:sp>
              <p:nvSpPr>
                <p:cNvPr id="80962" name="Rectangle 1090"/>
                <p:cNvSpPr>
                  <a:spLocks noChangeArrowheads="1"/>
                </p:cNvSpPr>
                <p:nvPr/>
              </p:nvSpPr>
              <p:spPr bwMode="auto">
                <a:xfrm rot="20640000">
                  <a:off x="3178" y="1234"/>
                  <a:ext cx="17" cy="34"/>
                </a:xfrm>
                <a:prstGeom prst="rect">
                  <a:avLst/>
                </a:prstGeom>
                <a:solidFill>
                  <a:schemeClr val="tx1"/>
                </a:solidFill>
                <a:ln w="3175">
                  <a:noFill/>
                  <a:miter lim="800000"/>
                  <a:headEnd/>
                  <a:tailEnd/>
                </a:ln>
                <a:effectLst/>
              </p:spPr>
              <p:txBody>
                <a:bodyPr wrap="none" anchor="ctr"/>
                <a:lstStyle/>
                <a:p>
                  <a:endParaRPr lang="fr-BE"/>
                </a:p>
              </p:txBody>
            </p:sp>
            <p:sp>
              <p:nvSpPr>
                <p:cNvPr id="80963" name="Rectangle 1091"/>
                <p:cNvSpPr>
                  <a:spLocks noChangeArrowheads="1"/>
                </p:cNvSpPr>
                <p:nvPr/>
              </p:nvSpPr>
              <p:spPr bwMode="auto">
                <a:xfrm rot="20640000">
                  <a:off x="3192" y="1284"/>
                  <a:ext cx="17" cy="33"/>
                </a:xfrm>
                <a:prstGeom prst="rect">
                  <a:avLst/>
                </a:prstGeom>
                <a:solidFill>
                  <a:schemeClr val="tx1"/>
                </a:solidFill>
                <a:ln w="3175">
                  <a:noFill/>
                  <a:miter lim="800000"/>
                  <a:headEnd/>
                  <a:tailEnd/>
                </a:ln>
                <a:effectLst/>
              </p:spPr>
              <p:txBody>
                <a:bodyPr wrap="none" anchor="ctr"/>
                <a:lstStyle/>
                <a:p>
                  <a:endParaRPr lang="fr-BE"/>
                </a:p>
              </p:txBody>
            </p:sp>
            <p:sp>
              <p:nvSpPr>
                <p:cNvPr id="80964" name="Rectangle 1092"/>
                <p:cNvSpPr>
                  <a:spLocks noChangeArrowheads="1"/>
                </p:cNvSpPr>
                <p:nvPr/>
              </p:nvSpPr>
              <p:spPr bwMode="auto">
                <a:xfrm rot="20640000">
                  <a:off x="3091" y="1138"/>
                  <a:ext cx="81" cy="207"/>
                </a:xfrm>
                <a:prstGeom prst="rect">
                  <a:avLst/>
                </a:prstGeom>
                <a:gradFill rotWithShape="0">
                  <a:gsLst>
                    <a:gs pos="0">
                      <a:schemeClr val="folHlink">
                        <a:gamma/>
                        <a:shade val="46275"/>
                        <a:invGamma/>
                      </a:schemeClr>
                    </a:gs>
                    <a:gs pos="100000">
                      <a:schemeClr val="folHlink"/>
                    </a:gs>
                  </a:gsLst>
                  <a:lin ang="18900000" scaled="1"/>
                </a:gradFill>
                <a:ln w="3175">
                  <a:solidFill>
                    <a:schemeClr val="tx1"/>
                  </a:solidFill>
                  <a:miter lim="800000"/>
                  <a:headEnd/>
                  <a:tailEnd/>
                </a:ln>
                <a:effectLst/>
              </p:spPr>
              <p:txBody>
                <a:bodyPr wrap="none" anchor="ctr"/>
                <a:lstStyle/>
                <a:p>
                  <a:endParaRPr lang="fr-BE"/>
                </a:p>
              </p:txBody>
            </p:sp>
            <p:sp>
              <p:nvSpPr>
                <p:cNvPr id="80965" name="Oval 1093"/>
                <p:cNvSpPr>
                  <a:spLocks noChangeArrowheads="1"/>
                </p:cNvSpPr>
                <p:nvPr/>
              </p:nvSpPr>
              <p:spPr bwMode="auto">
                <a:xfrm rot="20640000">
                  <a:off x="2370" y="1375"/>
                  <a:ext cx="66" cy="66"/>
                </a:xfrm>
                <a:prstGeom prst="ellipse">
                  <a:avLst/>
                </a:prstGeom>
                <a:solidFill>
                  <a:srgbClr val="008000"/>
                </a:solidFill>
                <a:ln w="6350">
                  <a:solidFill>
                    <a:schemeClr val="tx1"/>
                  </a:solidFill>
                  <a:round/>
                  <a:headEnd/>
                  <a:tailEnd/>
                </a:ln>
                <a:effectLst/>
              </p:spPr>
              <p:txBody>
                <a:bodyPr wrap="none" anchor="ctr"/>
                <a:lstStyle/>
                <a:p>
                  <a:endParaRPr lang="fr-BE"/>
                </a:p>
              </p:txBody>
            </p:sp>
            <p:sp>
              <p:nvSpPr>
                <p:cNvPr id="80966" name="Oval 1094"/>
                <p:cNvSpPr>
                  <a:spLocks noChangeArrowheads="1"/>
                </p:cNvSpPr>
                <p:nvPr/>
              </p:nvSpPr>
              <p:spPr bwMode="auto">
                <a:xfrm rot="20640000">
                  <a:off x="2380" y="1378"/>
                  <a:ext cx="47" cy="49"/>
                </a:xfrm>
                <a:prstGeom prst="ellipse">
                  <a:avLst/>
                </a:prstGeom>
                <a:solidFill>
                  <a:schemeClr val="bg1"/>
                </a:solidFill>
                <a:ln w="6350">
                  <a:solidFill>
                    <a:schemeClr val="tx1"/>
                  </a:solidFill>
                  <a:round/>
                  <a:headEnd/>
                  <a:tailEnd/>
                </a:ln>
                <a:effectLst/>
              </p:spPr>
              <p:txBody>
                <a:bodyPr wrap="none" anchor="ctr"/>
                <a:lstStyle/>
                <a:p>
                  <a:endParaRPr lang="fr-BE"/>
                </a:p>
              </p:txBody>
            </p:sp>
          </p:grpSp>
        </p:grpSp>
        <p:sp>
          <p:nvSpPr>
            <p:cNvPr id="47093" name="Text Box 1013"/>
            <p:cNvSpPr txBox="1">
              <a:spLocks noChangeArrowheads="1"/>
            </p:cNvSpPr>
            <p:nvPr/>
          </p:nvSpPr>
          <p:spPr bwMode="auto">
            <a:xfrm>
              <a:off x="3481388" y="3922713"/>
              <a:ext cx="2320925" cy="806139"/>
            </a:xfrm>
            <a:prstGeom prst="rect">
              <a:avLst/>
            </a:prstGeom>
            <a:noFill/>
            <a:ln w="12700">
              <a:noFill/>
              <a:miter lim="800000"/>
              <a:headEnd/>
              <a:tailEnd/>
            </a:ln>
            <a:effectLst/>
          </p:spPr>
          <p:txBody>
            <a:bodyPr tIns="44450" rIns="90488" bIns="44450">
              <a:spAutoFit/>
            </a:bodyPr>
            <a:lstStyle/>
            <a:p>
              <a:pPr lvl="0" algn="ctr">
                <a:lnSpc>
                  <a:spcPct val="90000"/>
                </a:lnSpc>
                <a:spcBef>
                  <a:spcPct val="40000"/>
                </a:spcBef>
              </a:pPr>
              <a:r>
                <a:rPr lang="en-US" u="none" dirty="0">
                  <a:solidFill>
                    <a:schemeClr val="tx1"/>
                  </a:solidFill>
                </a:rPr>
                <a:t>1 GO pour 32-bit </a:t>
              </a:r>
            </a:p>
            <a:p>
              <a:pPr lvl="0" algn="ctr">
                <a:lnSpc>
                  <a:spcPct val="90000"/>
                </a:lnSpc>
                <a:spcBef>
                  <a:spcPct val="40000"/>
                </a:spcBef>
              </a:pPr>
              <a:r>
                <a:rPr lang="en-US" u="none" dirty="0">
                  <a:solidFill>
                    <a:schemeClr val="tx1"/>
                  </a:solidFill>
                </a:rPr>
                <a:t> </a:t>
              </a:r>
              <a:r>
                <a:rPr lang="en-US" u="none" dirty="0" err="1">
                  <a:solidFill>
                    <a:schemeClr val="tx1"/>
                  </a:solidFill>
                </a:rPr>
                <a:t>ou</a:t>
              </a:r>
              <a:r>
                <a:rPr lang="en-US" u="none" dirty="0">
                  <a:solidFill>
                    <a:schemeClr val="tx1"/>
                  </a:solidFill>
                </a:rPr>
                <a:t> </a:t>
              </a:r>
            </a:p>
            <a:p>
              <a:pPr lvl="0" algn="ctr">
                <a:lnSpc>
                  <a:spcPct val="90000"/>
                </a:lnSpc>
                <a:spcBef>
                  <a:spcPct val="40000"/>
                </a:spcBef>
              </a:pPr>
              <a:r>
                <a:rPr lang="en-US" u="none" dirty="0">
                  <a:solidFill>
                    <a:schemeClr val="tx1"/>
                  </a:solidFill>
                </a:rPr>
                <a:t>2 GO pour 64-bit</a:t>
              </a:r>
            </a:p>
          </p:txBody>
        </p:sp>
      </p:grpSp>
      <p:sp>
        <p:nvSpPr>
          <p:cNvPr id="303" name="Rectangle 302"/>
          <p:cNvSpPr/>
          <p:nvPr/>
        </p:nvSpPr>
        <p:spPr>
          <a:xfrm>
            <a:off x="6464968" y="3224464"/>
            <a:ext cx="2474114" cy="646331"/>
          </a:xfrm>
          <a:prstGeom prst="rect">
            <a:avLst/>
          </a:prstGeom>
        </p:spPr>
        <p:txBody>
          <a:bodyPr wrap="square">
            <a:spAutoFit/>
          </a:bodyPr>
          <a:lstStyle/>
          <a:p>
            <a:pPr lvl="0">
              <a:lnSpc>
                <a:spcPct val="90000"/>
              </a:lnSpc>
              <a:spcBef>
                <a:spcPct val="40000"/>
              </a:spcBef>
            </a:pPr>
            <a:r>
              <a:rPr lang="en-GB" u="none" dirty="0">
                <a:solidFill>
                  <a:schemeClr val="tx1"/>
                </a:solidFill>
              </a:rPr>
              <a:t>16 GO pour 32-bit  </a:t>
            </a:r>
            <a:r>
              <a:rPr lang="en-GB" u="none" dirty="0" err="1">
                <a:solidFill>
                  <a:schemeClr val="tx1"/>
                </a:solidFill>
              </a:rPr>
              <a:t>ou</a:t>
            </a:r>
            <a:r>
              <a:rPr lang="en-GB" u="none" dirty="0">
                <a:solidFill>
                  <a:schemeClr val="tx1"/>
                </a:solidFill>
              </a:rPr>
              <a:t> 20 GO Pour 64-bit </a:t>
            </a:r>
            <a:endParaRPr lang="en-US" u="none" dirty="0">
              <a:solidFill>
                <a:schemeClr val="tx1"/>
              </a:solidFill>
            </a:endParaRPr>
          </a:p>
        </p:txBody>
      </p:sp>
      <p:pic>
        <p:nvPicPr>
          <p:cNvPr id="304" name="Picture 108" descr="HardDiskDrive"/>
          <p:cNvPicPr>
            <a:picLocks noChangeAspect="1" noChangeArrowheads="1"/>
          </p:cNvPicPr>
          <p:nvPr/>
        </p:nvPicPr>
        <p:blipFill>
          <a:blip r:embed="rId2"/>
          <a:srcRect/>
          <a:stretch>
            <a:fillRect/>
          </a:stretch>
        </p:blipFill>
        <p:spPr bwMode="auto">
          <a:xfrm>
            <a:off x="6703928" y="2028599"/>
            <a:ext cx="1825113" cy="1163779"/>
          </a:xfrm>
          <a:prstGeom prst="rect">
            <a:avLst/>
          </a:prstGeom>
          <a:noFill/>
          <a:ln w="9525">
            <a:noFill/>
            <a:miter lim="800000"/>
            <a:headEnd/>
            <a:tailEnd/>
          </a:ln>
        </p:spPr>
      </p:pic>
      <p:grpSp>
        <p:nvGrpSpPr>
          <p:cNvPr id="2" name="Groupe 1">
            <a:extLst>
              <a:ext uri="{FF2B5EF4-FFF2-40B4-BE49-F238E27FC236}">
                <a16:creationId xmlns:a16="http://schemas.microsoft.com/office/drawing/2014/main" id="{F3B29274-F1AB-4940-A2EE-599132DE6C18}"/>
              </a:ext>
            </a:extLst>
          </p:cNvPr>
          <p:cNvGrpSpPr/>
          <p:nvPr/>
        </p:nvGrpSpPr>
        <p:grpSpPr>
          <a:xfrm>
            <a:off x="368250" y="4040775"/>
            <a:ext cx="2803877" cy="2167520"/>
            <a:chOff x="368250" y="4040775"/>
            <a:chExt cx="2803877" cy="2167520"/>
          </a:xfrm>
        </p:grpSpPr>
        <p:grpSp>
          <p:nvGrpSpPr>
            <p:cNvPr id="298" name="Groupe 297"/>
            <p:cNvGrpSpPr/>
            <p:nvPr/>
          </p:nvGrpSpPr>
          <p:grpSpPr>
            <a:xfrm>
              <a:off x="368250" y="4040775"/>
              <a:ext cx="2728912" cy="2167520"/>
              <a:chOff x="928688" y="2824163"/>
              <a:chExt cx="2403475" cy="1587500"/>
            </a:xfrm>
          </p:grpSpPr>
          <p:sp>
            <p:nvSpPr>
              <p:cNvPr id="47025" name="Rectangle 945"/>
              <p:cNvSpPr>
                <a:spLocks noChangeArrowheads="1"/>
              </p:cNvSpPr>
              <p:nvPr/>
            </p:nvSpPr>
            <p:spPr bwMode="auto">
              <a:xfrm>
                <a:off x="928688" y="2824163"/>
                <a:ext cx="2403475" cy="1587500"/>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lstStyle/>
              <a:p>
                <a:pPr marL="177800" indent="-177800" algn="ctr">
                  <a:spcBef>
                    <a:spcPct val="20000"/>
                  </a:spcBef>
                  <a:spcAft>
                    <a:spcPct val="20000"/>
                  </a:spcAft>
                  <a:buClr>
                    <a:srgbClr val="D60093"/>
                  </a:buClr>
                  <a:buSzPct val="70000"/>
                  <a:buFont typeface="Wingdings" pitchFamily="2" charset="2"/>
                  <a:buNone/>
                </a:pPr>
                <a:r>
                  <a:rPr lang="en-US" u="none" dirty="0">
                    <a:solidFill>
                      <a:schemeClr val="tx1"/>
                    </a:solidFill>
                    <a:latin typeface="Arial" charset="0"/>
                  </a:rPr>
                  <a:t>RAM </a:t>
                </a:r>
                <a:r>
                  <a:rPr lang="en-US" u="none" dirty="0" err="1">
                    <a:solidFill>
                      <a:schemeClr val="tx1"/>
                    </a:solidFill>
                    <a:latin typeface="Arial" charset="0"/>
                  </a:rPr>
                  <a:t>vidéo</a:t>
                </a:r>
                <a:endParaRPr lang="en-US" u="none" dirty="0">
                  <a:solidFill>
                    <a:schemeClr val="tx1"/>
                  </a:solidFill>
                  <a:latin typeface="Arial" charset="0"/>
                </a:endParaRPr>
              </a:p>
            </p:txBody>
          </p:sp>
          <p:grpSp>
            <p:nvGrpSpPr>
              <p:cNvPr id="47026" name="Group 946"/>
              <p:cNvGrpSpPr>
                <a:grpSpLocks/>
              </p:cNvGrpSpPr>
              <p:nvPr/>
            </p:nvGrpSpPr>
            <p:grpSpPr bwMode="auto">
              <a:xfrm>
                <a:off x="1490663" y="3232150"/>
                <a:ext cx="1189037" cy="1085850"/>
                <a:chOff x="2169" y="1304"/>
                <a:chExt cx="998" cy="910"/>
              </a:xfrm>
            </p:grpSpPr>
            <p:grpSp>
              <p:nvGrpSpPr>
                <p:cNvPr id="47027" name="Group 947"/>
                <p:cNvGrpSpPr>
                  <a:grpSpLocks/>
                </p:cNvGrpSpPr>
                <p:nvPr/>
              </p:nvGrpSpPr>
              <p:grpSpPr bwMode="auto">
                <a:xfrm>
                  <a:off x="2358" y="1902"/>
                  <a:ext cx="618" cy="312"/>
                  <a:chOff x="1620" y="1816"/>
                  <a:chExt cx="618" cy="312"/>
                </a:xfrm>
              </p:grpSpPr>
              <p:sp>
                <p:nvSpPr>
                  <p:cNvPr id="47028" name="Oval 948"/>
                  <p:cNvSpPr>
                    <a:spLocks noChangeArrowheads="1"/>
                  </p:cNvSpPr>
                  <p:nvPr/>
                </p:nvSpPr>
                <p:spPr bwMode="auto">
                  <a:xfrm>
                    <a:off x="1620" y="1816"/>
                    <a:ext cx="618" cy="264"/>
                  </a:xfrm>
                  <a:prstGeom prst="ellipse">
                    <a:avLst/>
                  </a:prstGeom>
                  <a:solidFill>
                    <a:schemeClr val="folHlink"/>
                  </a:solidFill>
                  <a:ln w="9525" cap="rnd">
                    <a:solidFill>
                      <a:schemeClr val="tx1"/>
                    </a:solidFill>
                    <a:round/>
                    <a:headEnd/>
                    <a:tailEnd/>
                  </a:ln>
                  <a:effectLst/>
                </p:spPr>
                <p:txBody>
                  <a:bodyPr/>
                  <a:lstStyle/>
                  <a:p>
                    <a:endParaRPr lang="fr-BE"/>
                  </a:p>
                </p:txBody>
              </p:sp>
              <p:sp>
                <p:nvSpPr>
                  <p:cNvPr id="47029" name="Rectangle 949"/>
                  <p:cNvSpPr>
                    <a:spLocks noChangeArrowheads="1"/>
                  </p:cNvSpPr>
                  <p:nvPr/>
                </p:nvSpPr>
                <p:spPr bwMode="auto">
                  <a:xfrm>
                    <a:off x="1748" y="2051"/>
                    <a:ext cx="361" cy="47"/>
                  </a:xfrm>
                  <a:prstGeom prst="rect">
                    <a:avLst/>
                  </a:prstGeom>
                  <a:solidFill>
                    <a:schemeClr val="folHlink"/>
                  </a:solidFill>
                  <a:ln w="9525">
                    <a:solidFill>
                      <a:schemeClr val="tx1"/>
                    </a:solidFill>
                    <a:miter lim="800000"/>
                    <a:headEnd/>
                    <a:tailEnd/>
                  </a:ln>
                  <a:effectLst/>
                </p:spPr>
                <p:txBody>
                  <a:bodyPr wrap="none" anchor="ctr"/>
                  <a:lstStyle/>
                  <a:p>
                    <a:endParaRPr lang="fr-BE"/>
                  </a:p>
                </p:txBody>
              </p:sp>
              <p:sp>
                <p:nvSpPr>
                  <p:cNvPr id="47030" name="Rectangle 950"/>
                  <p:cNvSpPr>
                    <a:spLocks noChangeArrowheads="1"/>
                  </p:cNvSpPr>
                  <p:nvPr/>
                </p:nvSpPr>
                <p:spPr bwMode="auto">
                  <a:xfrm>
                    <a:off x="1643" y="2096"/>
                    <a:ext cx="571" cy="32"/>
                  </a:xfrm>
                  <a:prstGeom prst="rect">
                    <a:avLst/>
                  </a:prstGeom>
                  <a:solidFill>
                    <a:schemeClr val="folHlink"/>
                  </a:solidFill>
                  <a:ln w="9525">
                    <a:solidFill>
                      <a:schemeClr val="tx1"/>
                    </a:solidFill>
                    <a:miter lim="800000"/>
                    <a:headEnd/>
                    <a:tailEnd/>
                  </a:ln>
                  <a:effectLst/>
                </p:spPr>
                <p:txBody>
                  <a:bodyPr wrap="none" anchor="ctr"/>
                  <a:lstStyle/>
                  <a:p>
                    <a:endParaRPr lang="fr-BE"/>
                  </a:p>
                </p:txBody>
              </p:sp>
            </p:grpSp>
            <p:sp>
              <p:nvSpPr>
                <p:cNvPr id="47031" name="AutoShape 951"/>
                <p:cNvSpPr>
                  <a:spLocks noChangeArrowheads="1"/>
                </p:cNvSpPr>
                <p:nvPr/>
              </p:nvSpPr>
              <p:spPr bwMode="auto">
                <a:xfrm>
                  <a:off x="2169" y="1304"/>
                  <a:ext cx="998" cy="787"/>
                </a:xfrm>
                <a:prstGeom prst="roundRect">
                  <a:avLst>
                    <a:gd name="adj" fmla="val 3833"/>
                  </a:avLst>
                </a:prstGeom>
                <a:solidFill>
                  <a:schemeClr val="folHlink"/>
                </a:solidFill>
                <a:ln w="9525">
                  <a:solidFill>
                    <a:schemeClr val="tx1"/>
                  </a:solidFill>
                  <a:round/>
                  <a:headEnd/>
                  <a:tailEnd/>
                </a:ln>
                <a:effectLst/>
              </p:spPr>
              <p:txBody>
                <a:bodyPr wrap="none" anchor="ctr"/>
                <a:lstStyle/>
                <a:p>
                  <a:endParaRPr lang="fr-BE"/>
                </a:p>
              </p:txBody>
            </p:sp>
            <p:sp>
              <p:nvSpPr>
                <p:cNvPr id="47032" name="Rectangle 952"/>
                <p:cNvSpPr>
                  <a:spLocks noChangeArrowheads="1"/>
                </p:cNvSpPr>
                <p:nvPr/>
              </p:nvSpPr>
              <p:spPr bwMode="auto">
                <a:xfrm>
                  <a:off x="2269" y="1403"/>
                  <a:ext cx="801" cy="584"/>
                </a:xfrm>
                <a:prstGeom prst="rect">
                  <a:avLst/>
                </a:prstGeom>
                <a:solidFill>
                  <a:srgbClr val="33CCCC"/>
                </a:solidFill>
                <a:ln w="12700">
                  <a:noFill/>
                  <a:miter lim="800000"/>
                  <a:headEnd/>
                  <a:tailEnd/>
                </a:ln>
                <a:effectLst/>
              </p:spPr>
              <p:txBody>
                <a:bodyPr wrap="none" anchor="ctr"/>
                <a:lstStyle/>
                <a:p>
                  <a:endParaRPr lang="fr-BE"/>
                </a:p>
              </p:txBody>
            </p:sp>
            <p:sp>
              <p:nvSpPr>
                <p:cNvPr id="47033" name="Freeform 953"/>
                <p:cNvSpPr>
                  <a:spLocks/>
                </p:cNvSpPr>
                <p:nvPr/>
              </p:nvSpPr>
              <p:spPr bwMode="auto">
                <a:xfrm>
                  <a:off x="2269" y="1405"/>
                  <a:ext cx="803" cy="588"/>
                </a:xfrm>
                <a:custGeom>
                  <a:avLst/>
                  <a:gdLst/>
                  <a:ahLst/>
                  <a:cxnLst>
                    <a:cxn ang="0">
                      <a:pos x="522" y="0"/>
                    </a:cxn>
                    <a:cxn ang="0">
                      <a:pos x="522" y="382"/>
                    </a:cxn>
                    <a:cxn ang="0">
                      <a:pos x="0" y="382"/>
                    </a:cxn>
                  </a:cxnLst>
                  <a:rect l="0" t="0" r="r" b="b"/>
                  <a:pathLst>
                    <a:path w="523" h="383">
                      <a:moveTo>
                        <a:pt x="522" y="0"/>
                      </a:moveTo>
                      <a:lnTo>
                        <a:pt x="522" y="382"/>
                      </a:lnTo>
                      <a:lnTo>
                        <a:pt x="0" y="382"/>
                      </a:lnTo>
                    </a:path>
                  </a:pathLst>
                </a:custGeom>
                <a:noFill/>
                <a:ln w="12700" cap="rnd" cmpd="sng">
                  <a:solidFill>
                    <a:schemeClr val="bg1"/>
                  </a:solidFill>
                  <a:prstDash val="solid"/>
                  <a:round/>
                  <a:headEnd type="none" w="med" len="med"/>
                  <a:tailEnd type="none" w="med" len="med"/>
                </a:ln>
                <a:effectLst/>
              </p:spPr>
              <p:txBody>
                <a:bodyPr/>
                <a:lstStyle/>
                <a:p>
                  <a:endParaRPr lang="fr-BE"/>
                </a:p>
              </p:txBody>
            </p:sp>
            <p:sp>
              <p:nvSpPr>
                <p:cNvPr id="47034" name="Freeform 954"/>
                <p:cNvSpPr>
                  <a:spLocks/>
                </p:cNvSpPr>
                <p:nvPr/>
              </p:nvSpPr>
              <p:spPr bwMode="auto">
                <a:xfrm>
                  <a:off x="2269" y="1402"/>
                  <a:ext cx="800" cy="591"/>
                </a:xfrm>
                <a:custGeom>
                  <a:avLst/>
                  <a:gdLst/>
                  <a:ahLst/>
                  <a:cxnLst>
                    <a:cxn ang="0">
                      <a:pos x="0" y="384"/>
                    </a:cxn>
                    <a:cxn ang="0">
                      <a:pos x="0" y="0"/>
                    </a:cxn>
                    <a:cxn ang="0">
                      <a:pos x="520" y="0"/>
                    </a:cxn>
                    <a:cxn ang="0">
                      <a:pos x="520" y="0"/>
                    </a:cxn>
                  </a:cxnLst>
                  <a:rect l="0" t="0" r="r" b="b"/>
                  <a:pathLst>
                    <a:path w="521" h="385">
                      <a:moveTo>
                        <a:pt x="0" y="384"/>
                      </a:moveTo>
                      <a:lnTo>
                        <a:pt x="0" y="0"/>
                      </a:lnTo>
                      <a:lnTo>
                        <a:pt x="520" y="0"/>
                      </a:lnTo>
                      <a:lnTo>
                        <a:pt x="520" y="0"/>
                      </a:lnTo>
                    </a:path>
                  </a:pathLst>
                </a:custGeom>
                <a:noFill/>
                <a:ln w="12700" cap="rnd" cmpd="sng">
                  <a:solidFill>
                    <a:schemeClr val="tx1"/>
                  </a:solidFill>
                  <a:prstDash val="solid"/>
                  <a:round/>
                  <a:headEnd type="none" w="med" len="med"/>
                  <a:tailEnd type="none" w="med" len="med"/>
                </a:ln>
                <a:effectLst/>
              </p:spPr>
              <p:txBody>
                <a:bodyPr/>
                <a:lstStyle/>
                <a:p>
                  <a:endParaRPr lang="fr-BE"/>
                </a:p>
              </p:txBody>
            </p:sp>
            <p:grpSp>
              <p:nvGrpSpPr>
                <p:cNvPr id="47035" name="Group 955"/>
                <p:cNvGrpSpPr>
                  <a:grpSpLocks/>
                </p:cNvGrpSpPr>
                <p:nvPr/>
              </p:nvGrpSpPr>
              <p:grpSpPr bwMode="auto">
                <a:xfrm>
                  <a:off x="2182" y="1313"/>
                  <a:ext cx="975" cy="769"/>
                  <a:chOff x="2192" y="1325"/>
                  <a:chExt cx="955" cy="749"/>
                </a:xfrm>
              </p:grpSpPr>
              <p:sp>
                <p:nvSpPr>
                  <p:cNvPr id="47036" name="Freeform 956"/>
                  <p:cNvSpPr>
                    <a:spLocks/>
                  </p:cNvSpPr>
                  <p:nvPr/>
                </p:nvSpPr>
                <p:spPr bwMode="auto">
                  <a:xfrm>
                    <a:off x="2192" y="1325"/>
                    <a:ext cx="954" cy="746"/>
                  </a:xfrm>
                  <a:custGeom>
                    <a:avLst/>
                    <a:gdLst/>
                    <a:ahLst/>
                    <a:cxnLst>
                      <a:cxn ang="0">
                        <a:pos x="611" y="0"/>
                      </a:cxn>
                      <a:cxn ang="0">
                        <a:pos x="9" y="0"/>
                      </a:cxn>
                      <a:cxn ang="0">
                        <a:pos x="0" y="8"/>
                      </a:cxn>
                      <a:cxn ang="0">
                        <a:pos x="0" y="480"/>
                      </a:cxn>
                      <a:cxn ang="0">
                        <a:pos x="2" y="485"/>
                      </a:cxn>
                      <a:cxn ang="0">
                        <a:pos x="14" y="472"/>
                      </a:cxn>
                      <a:cxn ang="0">
                        <a:pos x="14" y="20"/>
                      </a:cxn>
                      <a:cxn ang="0">
                        <a:pos x="19" y="15"/>
                      </a:cxn>
                      <a:cxn ang="0">
                        <a:pos x="609" y="15"/>
                      </a:cxn>
                      <a:cxn ang="0">
                        <a:pos x="620" y="1"/>
                      </a:cxn>
                      <a:cxn ang="0">
                        <a:pos x="611" y="0"/>
                      </a:cxn>
                    </a:cxnLst>
                    <a:rect l="0" t="0" r="r" b="b"/>
                    <a:pathLst>
                      <a:path w="621" h="486">
                        <a:moveTo>
                          <a:pt x="611" y="0"/>
                        </a:moveTo>
                        <a:lnTo>
                          <a:pt x="9" y="0"/>
                        </a:lnTo>
                        <a:lnTo>
                          <a:pt x="0" y="8"/>
                        </a:lnTo>
                        <a:lnTo>
                          <a:pt x="0" y="480"/>
                        </a:lnTo>
                        <a:lnTo>
                          <a:pt x="2" y="485"/>
                        </a:lnTo>
                        <a:lnTo>
                          <a:pt x="14" y="472"/>
                        </a:lnTo>
                        <a:lnTo>
                          <a:pt x="14" y="20"/>
                        </a:lnTo>
                        <a:lnTo>
                          <a:pt x="19" y="15"/>
                        </a:lnTo>
                        <a:lnTo>
                          <a:pt x="609" y="15"/>
                        </a:lnTo>
                        <a:lnTo>
                          <a:pt x="620" y="1"/>
                        </a:lnTo>
                        <a:lnTo>
                          <a:pt x="611" y="0"/>
                        </a:lnTo>
                      </a:path>
                    </a:pathLst>
                  </a:custGeom>
                  <a:solidFill>
                    <a:schemeClr val="bg1"/>
                  </a:solidFill>
                  <a:ln w="12700" cap="rnd" cmpd="sng">
                    <a:noFill/>
                    <a:prstDash val="solid"/>
                    <a:round/>
                    <a:headEnd type="none" w="med" len="med"/>
                    <a:tailEnd type="none" w="med" len="med"/>
                  </a:ln>
                  <a:effectLst/>
                </p:spPr>
                <p:txBody>
                  <a:bodyPr/>
                  <a:lstStyle/>
                  <a:p>
                    <a:endParaRPr lang="fr-BE"/>
                  </a:p>
                </p:txBody>
              </p:sp>
              <p:sp>
                <p:nvSpPr>
                  <p:cNvPr id="47037" name="Freeform 957"/>
                  <p:cNvSpPr>
                    <a:spLocks/>
                  </p:cNvSpPr>
                  <p:nvPr/>
                </p:nvSpPr>
                <p:spPr bwMode="auto">
                  <a:xfrm>
                    <a:off x="2194" y="1326"/>
                    <a:ext cx="953" cy="748"/>
                  </a:xfrm>
                  <a:custGeom>
                    <a:avLst/>
                    <a:gdLst/>
                    <a:ahLst/>
                    <a:cxnLst>
                      <a:cxn ang="0">
                        <a:pos x="8" y="486"/>
                      </a:cxn>
                      <a:cxn ang="0">
                        <a:pos x="611" y="486"/>
                      </a:cxn>
                      <a:cxn ang="0">
                        <a:pos x="620" y="478"/>
                      </a:cxn>
                      <a:cxn ang="0">
                        <a:pos x="620" y="6"/>
                      </a:cxn>
                      <a:cxn ang="0">
                        <a:pos x="617" y="0"/>
                      </a:cxn>
                      <a:cxn ang="0">
                        <a:pos x="606" y="13"/>
                      </a:cxn>
                      <a:cxn ang="0">
                        <a:pos x="606" y="466"/>
                      </a:cxn>
                      <a:cxn ang="0">
                        <a:pos x="601" y="471"/>
                      </a:cxn>
                      <a:cxn ang="0">
                        <a:pos x="11" y="471"/>
                      </a:cxn>
                      <a:cxn ang="0">
                        <a:pos x="0" y="484"/>
                      </a:cxn>
                      <a:cxn ang="0">
                        <a:pos x="8" y="486"/>
                      </a:cxn>
                    </a:cxnLst>
                    <a:rect l="0" t="0" r="r" b="b"/>
                    <a:pathLst>
                      <a:path w="621" h="487">
                        <a:moveTo>
                          <a:pt x="8" y="486"/>
                        </a:moveTo>
                        <a:lnTo>
                          <a:pt x="611" y="486"/>
                        </a:lnTo>
                        <a:lnTo>
                          <a:pt x="620" y="478"/>
                        </a:lnTo>
                        <a:lnTo>
                          <a:pt x="620" y="6"/>
                        </a:lnTo>
                        <a:lnTo>
                          <a:pt x="617" y="0"/>
                        </a:lnTo>
                        <a:lnTo>
                          <a:pt x="606" y="13"/>
                        </a:lnTo>
                        <a:lnTo>
                          <a:pt x="606" y="466"/>
                        </a:lnTo>
                        <a:lnTo>
                          <a:pt x="601" y="471"/>
                        </a:lnTo>
                        <a:lnTo>
                          <a:pt x="11" y="471"/>
                        </a:lnTo>
                        <a:lnTo>
                          <a:pt x="0" y="484"/>
                        </a:lnTo>
                        <a:lnTo>
                          <a:pt x="8" y="486"/>
                        </a:lnTo>
                      </a:path>
                    </a:pathLst>
                  </a:custGeom>
                  <a:solidFill>
                    <a:srgbClr val="919191"/>
                  </a:solidFill>
                  <a:ln w="12700" cap="rnd" cmpd="sng">
                    <a:noFill/>
                    <a:prstDash val="solid"/>
                    <a:round/>
                    <a:headEnd type="none" w="med" len="med"/>
                    <a:tailEnd type="none" w="med" len="med"/>
                  </a:ln>
                  <a:effectLst/>
                </p:spPr>
                <p:txBody>
                  <a:bodyPr/>
                  <a:lstStyle/>
                  <a:p>
                    <a:endParaRPr lang="fr-BE"/>
                  </a:p>
                </p:txBody>
              </p:sp>
            </p:grpSp>
          </p:grpSp>
          <p:sp>
            <p:nvSpPr>
              <p:cNvPr id="81072" name="Text Box 1200"/>
              <p:cNvSpPr txBox="1">
                <a:spLocks noChangeArrowheads="1"/>
              </p:cNvSpPr>
              <p:nvPr/>
            </p:nvSpPr>
            <p:spPr bwMode="auto">
              <a:xfrm>
                <a:off x="1657350" y="3574439"/>
                <a:ext cx="819150" cy="393700"/>
              </a:xfrm>
              <a:prstGeom prst="rect">
                <a:avLst/>
              </a:prstGeom>
              <a:noFill/>
              <a:ln w="12700">
                <a:noFill/>
                <a:miter lim="800000"/>
                <a:headEnd/>
                <a:tailEnd/>
              </a:ln>
              <a:effectLst/>
            </p:spPr>
            <p:txBody>
              <a:bodyPr lIns="274320" tIns="44450" rIns="90488" bIns="44450">
                <a:spAutoFit/>
              </a:bodyPr>
              <a:lstStyle/>
              <a:p>
                <a:pPr algn="ctr">
                  <a:spcBef>
                    <a:spcPct val="50000"/>
                  </a:spcBef>
                </a:pPr>
                <a:r>
                  <a:rPr lang="en-US" u="none" dirty="0"/>
                  <a:t>VGA</a:t>
                </a:r>
              </a:p>
            </p:txBody>
          </p:sp>
        </p:grpSp>
        <p:sp>
          <p:nvSpPr>
            <p:cNvPr id="305" name="Rectangle 304"/>
            <p:cNvSpPr/>
            <p:nvPr/>
          </p:nvSpPr>
          <p:spPr>
            <a:xfrm>
              <a:off x="2240462" y="5827112"/>
              <a:ext cx="931665" cy="369332"/>
            </a:xfrm>
            <a:prstGeom prst="rect">
              <a:avLst/>
            </a:prstGeom>
          </p:spPr>
          <p:txBody>
            <a:bodyPr wrap="none">
              <a:spAutoFit/>
            </a:bodyPr>
            <a:lstStyle/>
            <a:p>
              <a:pPr lvl="0">
                <a:lnSpc>
                  <a:spcPct val="90000"/>
                </a:lnSpc>
                <a:spcBef>
                  <a:spcPct val="40000"/>
                </a:spcBef>
              </a:pPr>
              <a:r>
                <a:rPr lang="en-US" u="none" dirty="0">
                  <a:solidFill>
                    <a:schemeClr val="tx1"/>
                  </a:solidFill>
                </a:rPr>
                <a:t>128 MO</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animEffect transition="in" filter="checkerboard(across)">
                                      <p:cBhvr>
                                        <p:cTn id="7" dur="2000"/>
                                        <p:tgtEl>
                                          <p:spTgt spid="30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2"/>
                                        </p:tgtEl>
                                        <p:attrNameLst>
                                          <p:attrName>style.visibility</p:attrName>
                                        </p:attrNameLst>
                                      </p:cBhvr>
                                      <p:to>
                                        <p:strVal val="visible"/>
                                      </p:to>
                                    </p:set>
                                    <p:animEffect transition="in" filter="checkerboard(across)">
                                      <p:cBhvr>
                                        <p:cTn id="17" dur="2000"/>
                                        <p:tgtEl>
                                          <p:spTgt spid="302"/>
                                        </p:tgtEl>
                                      </p:cBhvr>
                                    </p:animEffect>
                                  </p:childTnLst>
                                </p:cTn>
                              </p:par>
                              <p:par>
                                <p:cTn id="18" presetID="5" presetClass="entr" presetSubtype="10" fill="hold" nodeType="withEffect">
                                  <p:stCondLst>
                                    <p:cond delay="0"/>
                                  </p:stCondLst>
                                  <p:childTnLst>
                                    <p:set>
                                      <p:cBhvr>
                                        <p:cTn id="19" dur="1" fill="hold">
                                          <p:stCondLst>
                                            <p:cond delay="0"/>
                                          </p:stCondLst>
                                        </p:cTn>
                                        <p:tgtEl>
                                          <p:spTgt spid="294"/>
                                        </p:tgtEl>
                                        <p:attrNameLst>
                                          <p:attrName>style.visibility</p:attrName>
                                        </p:attrNameLst>
                                      </p:cBhvr>
                                      <p:to>
                                        <p:strVal val="visible"/>
                                      </p:to>
                                    </p:set>
                                    <p:animEffect transition="in" filter="checkerboard(across)">
                                      <p:cBhvr>
                                        <p:cTn id="20" dur="20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Autofit/>
          </a:bodyPr>
          <a:lstStyle/>
          <a:p>
            <a:r>
              <a:rPr lang="en-US" sz="2800" dirty="0" err="1">
                <a:solidFill>
                  <a:srgbClr val="C00000"/>
                </a:solidFill>
              </a:rPr>
              <a:t>Avantages</a:t>
            </a:r>
            <a:r>
              <a:rPr lang="en-US" sz="2800" dirty="0">
                <a:solidFill>
                  <a:srgbClr val="C00000"/>
                </a:solidFill>
              </a:rPr>
              <a:t> de </a:t>
            </a:r>
            <a:r>
              <a:rPr lang="en-US" sz="2800" dirty="0" err="1">
                <a:solidFill>
                  <a:srgbClr val="C00000"/>
                </a:solidFill>
              </a:rPr>
              <a:t>l’utilisation</a:t>
            </a:r>
            <a:r>
              <a:rPr lang="en-US" sz="2800" dirty="0">
                <a:solidFill>
                  <a:srgbClr val="C00000"/>
                </a:solidFill>
              </a:rPr>
              <a:t> des </a:t>
            </a:r>
            <a:r>
              <a:rPr lang="en-US" sz="2800" dirty="0" err="1">
                <a:solidFill>
                  <a:srgbClr val="C00000"/>
                </a:solidFill>
              </a:rPr>
              <a:t>éditions</a:t>
            </a:r>
            <a:r>
              <a:rPr lang="en-US" sz="2800" dirty="0">
                <a:solidFill>
                  <a:srgbClr val="C00000"/>
                </a:solidFill>
              </a:rPr>
              <a:t> 64-Bit de Windows 7</a:t>
            </a:r>
          </a:p>
        </p:txBody>
      </p:sp>
      <p:sp>
        <p:nvSpPr>
          <p:cNvPr id="5" name="AutoShape 12"/>
          <p:cNvSpPr>
            <a:spLocks noChangeArrowheads="1"/>
          </p:cNvSpPr>
          <p:nvPr/>
        </p:nvSpPr>
        <p:spPr bwMode="auto">
          <a:xfrm>
            <a:off x="846029" y="1639383"/>
            <a:ext cx="7483475" cy="4408487"/>
          </a:xfrm>
          <a:prstGeom prst="roundRect">
            <a:avLst>
              <a:gd name="adj" fmla="val 2856"/>
            </a:avLst>
          </a:prstGeom>
          <a:gradFill rotWithShape="0">
            <a:gsLst>
              <a:gs pos="0">
                <a:srgbClr val="8DACD0"/>
              </a:gs>
              <a:gs pos="100000">
                <a:srgbClr val="DEE7F1"/>
              </a:gs>
            </a:gsLst>
            <a:lin ang="0" scaled="1"/>
          </a:gradFill>
          <a:ln w="9525">
            <a:solidFill>
              <a:srgbClr val="4D4D4D"/>
            </a:solidFill>
            <a:round/>
            <a:headEnd/>
            <a:tailEnd/>
          </a:ln>
          <a:effectLst>
            <a:outerShdw dist="35921" dir="2700000" algn="ctr" rotWithShape="0">
              <a:srgbClr val="AFAFAF"/>
            </a:outerShdw>
          </a:effectLst>
        </p:spPr>
        <p:txBody>
          <a:bodyPr lIns="182880"/>
          <a:lstStyle/>
          <a:p>
            <a:pPr>
              <a:lnSpc>
                <a:spcPct val="90000"/>
              </a:lnSpc>
              <a:spcBef>
                <a:spcPct val="40000"/>
              </a:spcBef>
              <a:buClr>
                <a:srgbClr val="8DACD0"/>
              </a:buClr>
              <a:buSzPct val="70000"/>
              <a:buFont typeface="Wingdings" pitchFamily="2" charset="2"/>
              <a:buNone/>
              <a:defRPr/>
            </a:pPr>
            <a:r>
              <a:rPr lang="en-GB" sz="2200" dirty="0"/>
              <a:t>Les </a:t>
            </a:r>
            <a:r>
              <a:rPr lang="en-GB" sz="2200" dirty="0" err="1"/>
              <a:t>avantages</a:t>
            </a:r>
            <a:endParaRPr lang="en-GB" sz="2200" dirty="0"/>
          </a:p>
          <a:p>
            <a:pPr>
              <a:lnSpc>
                <a:spcPct val="90000"/>
              </a:lnSpc>
              <a:spcBef>
                <a:spcPct val="40000"/>
              </a:spcBef>
              <a:buClr>
                <a:srgbClr val="8DACD0"/>
              </a:buClr>
              <a:buSzPct val="70000"/>
              <a:buFont typeface="Wingdings" pitchFamily="2" charset="2"/>
              <a:buNone/>
              <a:defRPr/>
            </a:pPr>
            <a:endParaRPr lang="en-GB" sz="2200" dirty="0"/>
          </a:p>
          <a:p>
            <a:pPr>
              <a:lnSpc>
                <a:spcPct val="90000"/>
              </a:lnSpc>
              <a:spcBef>
                <a:spcPct val="40000"/>
              </a:spcBef>
              <a:buClr>
                <a:srgbClr val="8DACD0"/>
              </a:buClr>
              <a:buSzPct val="70000"/>
              <a:buFont typeface="Wingdings" pitchFamily="2" charset="2"/>
              <a:buNone/>
              <a:defRPr/>
            </a:pPr>
            <a:endParaRPr lang="en-GB" sz="2200" dirty="0"/>
          </a:p>
          <a:p>
            <a:pPr>
              <a:lnSpc>
                <a:spcPct val="90000"/>
              </a:lnSpc>
              <a:spcBef>
                <a:spcPct val="40000"/>
              </a:spcBef>
              <a:buClr>
                <a:srgbClr val="8DACD0"/>
              </a:buClr>
              <a:buSzPct val="70000"/>
              <a:buFont typeface="Wingdings" pitchFamily="2" charset="2"/>
              <a:buNone/>
              <a:defRPr/>
            </a:pPr>
            <a:endParaRPr lang="en-GB" sz="2200" dirty="0"/>
          </a:p>
          <a:p>
            <a:pPr>
              <a:lnSpc>
                <a:spcPct val="90000"/>
              </a:lnSpc>
              <a:spcBef>
                <a:spcPct val="40000"/>
              </a:spcBef>
              <a:buClr>
                <a:srgbClr val="8DACD0"/>
              </a:buClr>
              <a:buSzPct val="70000"/>
              <a:buFont typeface="Wingdings" pitchFamily="2" charset="2"/>
              <a:buNone/>
              <a:defRPr/>
            </a:pPr>
            <a:endParaRPr lang="en-GB" sz="2200" dirty="0"/>
          </a:p>
          <a:p>
            <a:pPr>
              <a:lnSpc>
                <a:spcPct val="90000"/>
              </a:lnSpc>
              <a:spcBef>
                <a:spcPct val="40000"/>
              </a:spcBef>
              <a:buClr>
                <a:srgbClr val="8DACD0"/>
              </a:buClr>
              <a:buSzPct val="70000"/>
              <a:buFont typeface="Wingdings" pitchFamily="2" charset="2"/>
              <a:buNone/>
              <a:defRPr/>
            </a:pPr>
            <a:endParaRPr lang="en-GB" sz="2200" dirty="0"/>
          </a:p>
          <a:p>
            <a:pPr>
              <a:lnSpc>
                <a:spcPct val="90000"/>
              </a:lnSpc>
              <a:spcBef>
                <a:spcPct val="40000"/>
              </a:spcBef>
              <a:buClr>
                <a:srgbClr val="8DACD0"/>
              </a:buClr>
              <a:buSzPct val="70000"/>
              <a:buFont typeface="Wingdings" pitchFamily="2" charset="2"/>
              <a:buNone/>
              <a:defRPr/>
            </a:pPr>
            <a:r>
              <a:rPr lang="en-GB" sz="2200" dirty="0"/>
              <a:t>Les limitations:</a:t>
            </a:r>
          </a:p>
        </p:txBody>
      </p:sp>
      <p:sp>
        <p:nvSpPr>
          <p:cNvPr id="6" name="AutoShape 34"/>
          <p:cNvSpPr>
            <a:spLocks noChangeArrowheads="1"/>
          </p:cNvSpPr>
          <p:nvPr/>
        </p:nvSpPr>
        <p:spPr bwMode="auto">
          <a:xfrm>
            <a:off x="1084373" y="2052463"/>
            <a:ext cx="6945312" cy="2089440"/>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spAutoFit/>
          </a:bodyPr>
          <a:lstStyle/>
          <a:p>
            <a:pPr marL="231775" indent="-231775">
              <a:lnSpc>
                <a:spcPct val="90000"/>
              </a:lnSpc>
              <a:spcBef>
                <a:spcPct val="40000"/>
              </a:spcBef>
              <a:buSzPct val="100000"/>
              <a:buFont typeface="Arial" pitchFamily="34" charset="0"/>
              <a:buChar char="•"/>
              <a:defRPr/>
            </a:pPr>
            <a:r>
              <a:rPr lang="fr-FR" sz="2400" dirty="0"/>
              <a:t>Performances accrues</a:t>
            </a:r>
          </a:p>
          <a:p>
            <a:pPr marL="231775" indent="-231775">
              <a:lnSpc>
                <a:spcPct val="90000"/>
              </a:lnSpc>
              <a:spcBef>
                <a:spcPct val="40000"/>
              </a:spcBef>
              <a:buSzPct val="100000"/>
              <a:buFont typeface="Arial" pitchFamily="34" charset="0"/>
              <a:buChar char="•"/>
              <a:defRPr/>
            </a:pPr>
            <a:r>
              <a:rPr lang="fr-FR" sz="2400" dirty="0"/>
              <a:t>Mémoire améliorée</a:t>
            </a:r>
          </a:p>
          <a:p>
            <a:pPr marL="231775" indent="-231775">
              <a:lnSpc>
                <a:spcPct val="90000"/>
              </a:lnSpc>
              <a:spcBef>
                <a:spcPct val="40000"/>
              </a:spcBef>
              <a:buSzPct val="100000"/>
              <a:buFont typeface="Arial" pitchFamily="34" charset="0"/>
              <a:buChar char="•"/>
              <a:defRPr/>
            </a:pPr>
            <a:r>
              <a:rPr lang="fr-FR" sz="2400" dirty="0"/>
              <a:t>Meilleure prise en charge des périphériques</a:t>
            </a:r>
            <a:r>
              <a:rPr lang="fr-FR" sz="2200" b="0" dirty="0"/>
              <a:t> </a:t>
            </a:r>
          </a:p>
          <a:p>
            <a:pPr marL="231775" indent="-231775">
              <a:lnSpc>
                <a:spcPct val="90000"/>
              </a:lnSpc>
              <a:spcBef>
                <a:spcPct val="40000"/>
              </a:spcBef>
              <a:buSzPct val="100000"/>
              <a:buFont typeface="Arial" pitchFamily="34" charset="0"/>
              <a:buChar char="•"/>
              <a:defRPr/>
            </a:pPr>
            <a:r>
              <a:rPr lang="fr-FR" sz="2400" dirty="0"/>
              <a:t>Sécurité renforcée</a:t>
            </a:r>
            <a:endParaRPr lang="en-US" sz="2200" b="0" dirty="0"/>
          </a:p>
        </p:txBody>
      </p:sp>
      <p:sp>
        <p:nvSpPr>
          <p:cNvPr id="8" name="AutoShape 34"/>
          <p:cNvSpPr>
            <a:spLocks noChangeArrowheads="1"/>
          </p:cNvSpPr>
          <p:nvPr/>
        </p:nvSpPr>
        <p:spPr bwMode="auto">
          <a:xfrm>
            <a:off x="1103313" y="4746229"/>
            <a:ext cx="6943725" cy="960013"/>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spAutoFit/>
          </a:bodyPr>
          <a:lstStyle/>
          <a:p>
            <a:pPr marL="231775" indent="-231775">
              <a:lnSpc>
                <a:spcPct val="90000"/>
              </a:lnSpc>
              <a:spcBef>
                <a:spcPct val="40000"/>
              </a:spcBef>
              <a:buSzPct val="100000"/>
              <a:buFont typeface="Arial" pitchFamily="34" charset="0"/>
              <a:buChar char="•"/>
              <a:defRPr/>
            </a:pPr>
            <a:r>
              <a:rPr lang="fr-FR" sz="2400" dirty="0"/>
              <a:t>Ne prennent pas en charge l'environnement WOW (Windows on Windows) de 16 bits. </a:t>
            </a:r>
            <a:endParaRPr lang="en-US" sz="2200" b="0" dirty="0"/>
          </a:p>
        </p:txBody>
      </p:sp>
      <p:pic>
        <p:nvPicPr>
          <p:cNvPr id="9" name="Picture 9" descr="64-BitHardware.png"/>
          <p:cNvPicPr>
            <a:picLocks noChangeAspect="1"/>
          </p:cNvPicPr>
          <p:nvPr/>
        </p:nvPicPr>
        <p:blipFill>
          <a:blip r:embed="rId3"/>
          <a:srcRect/>
          <a:stretch>
            <a:fillRect/>
          </a:stretch>
        </p:blipFill>
        <p:spPr bwMode="auto">
          <a:xfrm>
            <a:off x="7623175" y="5531598"/>
            <a:ext cx="1520825" cy="11064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91729" y="205042"/>
            <a:ext cx="8775289" cy="841375"/>
          </a:xfrm>
        </p:spPr>
        <p:txBody>
          <a:bodyPr vert="horz" anchor="b">
            <a:normAutofit/>
          </a:bodyPr>
          <a:lstStyle/>
          <a:p>
            <a:r>
              <a:rPr lang="fr-FR" sz="2900" dirty="0">
                <a:solidFill>
                  <a:srgbClr val="C00000"/>
                </a:solidFill>
              </a:rPr>
              <a:t>Les options de partitionnement de disque</a:t>
            </a:r>
            <a:endParaRPr lang="en-US" sz="2900" dirty="0">
              <a:solidFill>
                <a:srgbClr val="C00000"/>
              </a:solidFill>
            </a:endParaRPr>
          </a:p>
        </p:txBody>
      </p:sp>
      <p:grpSp>
        <p:nvGrpSpPr>
          <p:cNvPr id="38" name="Groupe 37"/>
          <p:cNvGrpSpPr/>
          <p:nvPr/>
        </p:nvGrpSpPr>
        <p:grpSpPr>
          <a:xfrm>
            <a:off x="198340" y="1976283"/>
            <a:ext cx="4447401" cy="1755050"/>
            <a:chOff x="154095" y="2448232"/>
            <a:chExt cx="4447401" cy="1755050"/>
          </a:xfrm>
        </p:grpSpPr>
        <p:sp>
          <p:nvSpPr>
            <p:cNvPr id="48195" name="Rectangle 67"/>
            <p:cNvSpPr>
              <a:spLocks noChangeArrowheads="1"/>
            </p:cNvSpPr>
            <p:nvPr/>
          </p:nvSpPr>
          <p:spPr bwMode="auto">
            <a:xfrm>
              <a:off x="154095" y="2448232"/>
              <a:ext cx="4447401" cy="1755050"/>
            </a:xfrm>
            <a:prstGeom prst="rect">
              <a:avLst/>
            </a:prstGeom>
            <a:solidFill>
              <a:schemeClr val="bg1"/>
            </a:solidFill>
            <a:ln w="15875">
              <a:noFill/>
              <a:miter lim="800000"/>
              <a:headEnd/>
              <a:tailEnd/>
            </a:ln>
            <a:effectLst/>
          </p:spPr>
          <p:txBody>
            <a:bodyPr anchor="b"/>
            <a:lstStyle/>
            <a:p>
              <a:pPr algn="ctr"/>
              <a:r>
                <a:rPr lang="fr-FR" sz="1800" u="none" dirty="0">
                  <a:solidFill>
                    <a:schemeClr val="tx1"/>
                  </a:solidFill>
                  <a:latin typeface="Arial" charset="0"/>
                </a:rPr>
                <a:t>Créez une partition sur un disque non partitionné</a:t>
              </a:r>
            </a:p>
          </p:txBody>
        </p:sp>
        <p:grpSp>
          <p:nvGrpSpPr>
            <p:cNvPr id="48199" name="Group 71"/>
            <p:cNvGrpSpPr>
              <a:grpSpLocks/>
            </p:cNvGrpSpPr>
            <p:nvPr/>
          </p:nvGrpSpPr>
          <p:grpSpPr bwMode="auto">
            <a:xfrm>
              <a:off x="206489" y="2557243"/>
              <a:ext cx="4293371" cy="979305"/>
              <a:chOff x="585" y="1004"/>
              <a:chExt cx="2202" cy="555"/>
            </a:xfrm>
          </p:grpSpPr>
          <p:sp>
            <p:nvSpPr>
              <p:cNvPr id="48200" name="AutoShape 72"/>
              <p:cNvSpPr>
                <a:spLocks noChangeArrowheads="1"/>
              </p:cNvSpPr>
              <p:nvPr/>
            </p:nvSpPr>
            <p:spPr bwMode="auto">
              <a:xfrm>
                <a:off x="585" y="1004"/>
                <a:ext cx="873" cy="555"/>
              </a:xfrm>
              <a:prstGeom prst="can">
                <a:avLst>
                  <a:gd name="adj" fmla="val 50000"/>
                </a:avLst>
              </a:prstGeom>
              <a:gradFill rotWithShape="0">
                <a:gsLst>
                  <a:gs pos="0">
                    <a:srgbClr val="B5D2E1"/>
                  </a:gs>
                  <a:gs pos="50000">
                    <a:srgbClr val="B5D2E1">
                      <a:gamma/>
                      <a:tint val="18824"/>
                      <a:invGamma/>
                    </a:srgbClr>
                  </a:gs>
                  <a:gs pos="100000">
                    <a:srgbClr val="B5D2E1"/>
                  </a:gs>
                </a:gsLst>
                <a:lin ang="0" scaled="1"/>
              </a:gradFill>
              <a:ln w="12700" cap="rnd">
                <a:solidFill>
                  <a:srgbClr val="000000"/>
                </a:solidFill>
                <a:round/>
                <a:headEnd/>
                <a:tailEnd/>
              </a:ln>
              <a:effectLst>
                <a:outerShdw dist="52363" dir="4557825" algn="ctr" rotWithShape="0">
                  <a:srgbClr val="969696"/>
                </a:outerShdw>
              </a:effectLst>
            </p:spPr>
            <p:txBody>
              <a:bodyPr tIns="91440"/>
              <a:lstStyle/>
              <a:p>
                <a:pPr algn="ctr"/>
                <a:endParaRPr lang="fr-FR" sz="1800" u="none">
                  <a:solidFill>
                    <a:schemeClr val="bg1"/>
                  </a:solidFill>
                  <a:effectLst>
                    <a:outerShdw blurRad="38100" dist="38100" dir="2700000" algn="tl">
                      <a:srgbClr val="000000"/>
                    </a:outerShdw>
                  </a:effectLst>
                </a:endParaRPr>
              </a:p>
            </p:txBody>
          </p:sp>
          <p:sp>
            <p:nvSpPr>
              <p:cNvPr id="48201" name="AutoShape 73"/>
              <p:cNvSpPr>
                <a:spLocks noChangeArrowheads="1"/>
              </p:cNvSpPr>
              <p:nvPr/>
            </p:nvSpPr>
            <p:spPr bwMode="auto">
              <a:xfrm>
                <a:off x="1914" y="1004"/>
                <a:ext cx="873" cy="555"/>
              </a:xfrm>
              <a:prstGeom prst="can">
                <a:avLst>
                  <a:gd name="adj" fmla="val 50000"/>
                </a:avLst>
              </a:prstGeom>
              <a:gradFill rotWithShape="0">
                <a:gsLst>
                  <a:gs pos="0">
                    <a:srgbClr val="B5D2E1"/>
                  </a:gs>
                  <a:gs pos="50000">
                    <a:srgbClr val="B5D2E1">
                      <a:gamma/>
                      <a:tint val="18824"/>
                      <a:invGamma/>
                    </a:srgbClr>
                  </a:gs>
                  <a:gs pos="100000">
                    <a:srgbClr val="B5D2E1"/>
                  </a:gs>
                </a:gsLst>
                <a:lin ang="0" scaled="1"/>
              </a:gradFill>
              <a:ln w="12700" cap="rnd">
                <a:solidFill>
                  <a:srgbClr val="000000"/>
                </a:solidFill>
                <a:round/>
                <a:headEnd/>
                <a:tailEnd/>
              </a:ln>
              <a:effectLst>
                <a:outerShdw dist="52363" dir="4557825" algn="ctr" rotWithShape="0">
                  <a:srgbClr val="969696"/>
                </a:outerShdw>
              </a:effectLst>
            </p:spPr>
            <p:txBody>
              <a:bodyPr tIns="91440"/>
              <a:lstStyle/>
              <a:p>
                <a:pPr algn="ctr"/>
                <a:endParaRPr lang="fr-FR" sz="1800" u="none">
                  <a:solidFill>
                    <a:schemeClr val="bg1"/>
                  </a:solidFill>
                  <a:effectLst>
                    <a:outerShdw blurRad="38100" dist="38100" dir="2700000" algn="tl">
                      <a:srgbClr val="000000"/>
                    </a:outerShdw>
                  </a:effectLst>
                </a:endParaRPr>
              </a:p>
            </p:txBody>
          </p:sp>
          <p:sp>
            <p:nvSpPr>
              <p:cNvPr id="48202" name="Arc 74"/>
              <p:cNvSpPr>
                <a:spLocks/>
              </p:cNvSpPr>
              <p:nvPr/>
            </p:nvSpPr>
            <p:spPr bwMode="auto">
              <a:xfrm>
                <a:off x="1919" y="1022"/>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gradFill rotWithShape="0">
                <a:gsLst>
                  <a:gs pos="0">
                    <a:srgbClr val="6590FD"/>
                  </a:gs>
                  <a:gs pos="100000">
                    <a:srgbClr val="6590FD">
                      <a:gamma/>
                      <a:shade val="66275"/>
                      <a:invGamma/>
                    </a:srgbClr>
                  </a:gs>
                </a:gsLst>
                <a:lin ang="0" scaled="1"/>
              </a:gradFill>
              <a:ln w="12700" cap="rnd">
                <a:noFill/>
                <a:round/>
                <a:headEnd/>
                <a:tailEnd/>
              </a:ln>
              <a:effectLst/>
            </p:spPr>
            <p:txBody>
              <a:bodyPr tIns="91440"/>
              <a:lstStyle/>
              <a:p>
                <a:endParaRPr lang="fr-BE"/>
              </a:p>
            </p:txBody>
          </p:sp>
          <p:sp>
            <p:nvSpPr>
              <p:cNvPr id="48203" name="AutoShape 75"/>
              <p:cNvSpPr>
                <a:spLocks noChangeArrowheads="1"/>
              </p:cNvSpPr>
              <p:nvPr/>
            </p:nvSpPr>
            <p:spPr bwMode="auto">
              <a:xfrm>
                <a:off x="1536" y="1183"/>
                <a:ext cx="318" cy="248"/>
              </a:xfrm>
              <a:prstGeom prst="rightArrow">
                <a:avLst>
                  <a:gd name="adj1" fmla="val 62907"/>
                  <a:gd name="adj2" fmla="val 75036"/>
                </a:avLst>
              </a:pr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38100" dir="5400000" algn="ctr" rotWithShape="0">
                  <a:srgbClr val="969696"/>
                </a:outerShdw>
              </a:effectLst>
            </p:spPr>
            <p:txBody>
              <a:bodyPr tIns="27432" bIns="27432" anchor="ctr">
                <a:spAutoFit/>
              </a:bodyPr>
              <a:lstStyle/>
              <a:p>
                <a:endParaRPr lang="fr-BE"/>
              </a:p>
            </p:txBody>
          </p:sp>
        </p:grpSp>
      </p:grpSp>
      <p:grpSp>
        <p:nvGrpSpPr>
          <p:cNvPr id="39" name="Groupe 38"/>
          <p:cNvGrpSpPr/>
          <p:nvPr/>
        </p:nvGrpSpPr>
        <p:grpSpPr>
          <a:xfrm>
            <a:off x="4606028" y="1902542"/>
            <a:ext cx="4346245" cy="1784555"/>
            <a:chOff x="4664557" y="2094271"/>
            <a:chExt cx="4346245" cy="1784555"/>
          </a:xfrm>
        </p:grpSpPr>
        <p:sp>
          <p:nvSpPr>
            <p:cNvPr id="48196" name="Rectangle 68"/>
            <p:cNvSpPr>
              <a:spLocks noChangeArrowheads="1"/>
            </p:cNvSpPr>
            <p:nvPr/>
          </p:nvSpPr>
          <p:spPr bwMode="auto">
            <a:xfrm>
              <a:off x="4689526" y="2094271"/>
              <a:ext cx="4321276" cy="1784555"/>
            </a:xfrm>
            <a:prstGeom prst="rect">
              <a:avLst/>
            </a:prstGeom>
            <a:solidFill>
              <a:schemeClr val="bg1"/>
            </a:solidFill>
            <a:ln w="15875">
              <a:noFill/>
              <a:miter lim="800000"/>
              <a:headEnd/>
              <a:tailEnd/>
            </a:ln>
            <a:effectLst/>
          </p:spPr>
          <p:txBody>
            <a:bodyPr anchor="b"/>
            <a:lstStyle/>
            <a:p>
              <a:pPr algn="ctr"/>
              <a:r>
                <a:rPr lang="fr-FR" sz="1800" u="none" dirty="0">
                  <a:solidFill>
                    <a:schemeClr val="tx1"/>
                  </a:solidFill>
                  <a:latin typeface="Arial" charset="0"/>
                </a:rPr>
                <a:t>Créez une nouvelle partition sur un disque dur partitionné</a:t>
              </a:r>
            </a:p>
          </p:txBody>
        </p:sp>
        <p:grpSp>
          <p:nvGrpSpPr>
            <p:cNvPr id="48204" name="Group 76"/>
            <p:cNvGrpSpPr>
              <a:grpSpLocks/>
            </p:cNvGrpSpPr>
            <p:nvPr/>
          </p:nvGrpSpPr>
          <p:grpSpPr bwMode="auto">
            <a:xfrm>
              <a:off x="4664557" y="2154017"/>
              <a:ext cx="4255416" cy="979308"/>
              <a:chOff x="2944" y="1212"/>
              <a:chExt cx="2202" cy="555"/>
            </a:xfrm>
          </p:grpSpPr>
          <p:sp>
            <p:nvSpPr>
              <p:cNvPr id="48205" name="AutoShape 77"/>
              <p:cNvSpPr>
                <a:spLocks noChangeArrowheads="1"/>
              </p:cNvSpPr>
              <p:nvPr/>
            </p:nvSpPr>
            <p:spPr bwMode="auto">
              <a:xfrm>
                <a:off x="2944" y="1212"/>
                <a:ext cx="873" cy="555"/>
              </a:xfrm>
              <a:prstGeom prst="can">
                <a:avLst>
                  <a:gd name="adj" fmla="val 50000"/>
                </a:avLst>
              </a:prstGeom>
              <a:gradFill rotWithShape="0">
                <a:gsLst>
                  <a:gs pos="0">
                    <a:srgbClr val="B5D2E1"/>
                  </a:gs>
                  <a:gs pos="50000">
                    <a:srgbClr val="B5D2E1">
                      <a:gamma/>
                      <a:tint val="18824"/>
                      <a:invGamma/>
                    </a:srgbClr>
                  </a:gs>
                  <a:gs pos="100000">
                    <a:srgbClr val="B5D2E1"/>
                  </a:gs>
                </a:gsLst>
                <a:lin ang="0" scaled="1"/>
              </a:gradFill>
              <a:ln w="12700" cap="rnd">
                <a:solidFill>
                  <a:srgbClr val="000000"/>
                </a:solidFill>
                <a:round/>
                <a:headEnd/>
                <a:tailEnd/>
              </a:ln>
              <a:effectLst>
                <a:outerShdw dist="52363" dir="4557825" algn="ctr" rotWithShape="0">
                  <a:srgbClr val="969696"/>
                </a:outerShdw>
              </a:effectLst>
            </p:spPr>
            <p:txBody>
              <a:bodyPr tIns="91440"/>
              <a:lstStyle/>
              <a:p>
                <a:pPr algn="ctr"/>
                <a:endParaRPr lang="fr-FR" sz="1800" u="none">
                  <a:solidFill>
                    <a:schemeClr val="bg1"/>
                  </a:solidFill>
                  <a:effectLst>
                    <a:outerShdw blurRad="38100" dist="38100" dir="2700000" algn="tl">
                      <a:srgbClr val="000000"/>
                    </a:outerShdw>
                  </a:effectLst>
                </a:endParaRPr>
              </a:p>
            </p:txBody>
          </p:sp>
          <p:sp>
            <p:nvSpPr>
              <p:cNvPr id="48206" name="AutoShape 78"/>
              <p:cNvSpPr>
                <a:spLocks noChangeArrowheads="1"/>
              </p:cNvSpPr>
              <p:nvPr/>
            </p:nvSpPr>
            <p:spPr bwMode="auto">
              <a:xfrm>
                <a:off x="4273" y="1212"/>
                <a:ext cx="873" cy="555"/>
              </a:xfrm>
              <a:prstGeom prst="can">
                <a:avLst>
                  <a:gd name="adj" fmla="val 50000"/>
                </a:avLst>
              </a:prstGeom>
              <a:gradFill rotWithShape="0">
                <a:gsLst>
                  <a:gs pos="0">
                    <a:srgbClr val="B5D2E1"/>
                  </a:gs>
                  <a:gs pos="50000">
                    <a:srgbClr val="B5D2E1">
                      <a:gamma/>
                      <a:tint val="18824"/>
                      <a:invGamma/>
                    </a:srgbClr>
                  </a:gs>
                  <a:gs pos="100000">
                    <a:srgbClr val="B5D2E1"/>
                  </a:gs>
                </a:gsLst>
                <a:lin ang="0" scaled="1"/>
              </a:gradFill>
              <a:ln w="12700" cap="rnd">
                <a:solidFill>
                  <a:srgbClr val="000000"/>
                </a:solidFill>
                <a:round/>
                <a:headEnd/>
                <a:tailEnd/>
              </a:ln>
              <a:effectLst>
                <a:outerShdw dist="52363" dir="4557825" algn="ctr" rotWithShape="0">
                  <a:srgbClr val="969696"/>
                </a:outerShdw>
              </a:effectLst>
            </p:spPr>
            <p:txBody>
              <a:bodyPr tIns="91440"/>
              <a:lstStyle/>
              <a:p>
                <a:pPr algn="ctr"/>
                <a:endParaRPr lang="fr-FR" sz="1800" u="none">
                  <a:solidFill>
                    <a:schemeClr val="bg1"/>
                  </a:solidFill>
                  <a:effectLst>
                    <a:outerShdw blurRad="38100" dist="38100" dir="2700000" algn="tl">
                      <a:srgbClr val="000000"/>
                    </a:outerShdw>
                  </a:effectLst>
                </a:endParaRPr>
              </a:p>
            </p:txBody>
          </p:sp>
          <p:sp>
            <p:nvSpPr>
              <p:cNvPr id="48207" name="Arc 79" descr="Dark vertical"/>
              <p:cNvSpPr>
                <a:spLocks/>
              </p:cNvSpPr>
              <p:nvPr/>
            </p:nvSpPr>
            <p:spPr bwMode="auto">
              <a:xfrm>
                <a:off x="4278" y="1230"/>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pattFill prst="dkVert">
                <a:fgClr>
                  <a:srgbClr val="B5D2E1"/>
                </a:fgClr>
                <a:bgClr>
                  <a:srgbClr val="CC00CC"/>
                </a:bgClr>
              </a:pattFill>
              <a:ln w="12700" cap="rnd">
                <a:noFill/>
                <a:round/>
                <a:headEnd/>
                <a:tailEnd/>
              </a:ln>
              <a:effectLst/>
            </p:spPr>
            <p:txBody>
              <a:bodyPr tIns="91440"/>
              <a:lstStyle/>
              <a:p>
                <a:endParaRPr lang="fr-BE"/>
              </a:p>
            </p:txBody>
          </p:sp>
          <p:sp>
            <p:nvSpPr>
              <p:cNvPr id="48208" name="Arc 80" descr="Dark vertical"/>
              <p:cNvSpPr>
                <a:spLocks/>
              </p:cNvSpPr>
              <p:nvPr/>
            </p:nvSpPr>
            <p:spPr bwMode="auto">
              <a:xfrm>
                <a:off x="2947" y="1230"/>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pattFill prst="dkVert">
                <a:fgClr>
                  <a:srgbClr val="B5D2E1"/>
                </a:fgClr>
                <a:bgClr>
                  <a:srgbClr val="CC00CC"/>
                </a:bgClr>
              </a:pattFill>
              <a:ln w="12700" cap="rnd">
                <a:noFill/>
                <a:round/>
                <a:headEnd/>
                <a:tailEnd/>
              </a:ln>
              <a:effectLst/>
            </p:spPr>
            <p:txBody>
              <a:bodyPr tIns="91440"/>
              <a:lstStyle/>
              <a:p>
                <a:endParaRPr lang="fr-BE"/>
              </a:p>
            </p:txBody>
          </p:sp>
          <p:sp>
            <p:nvSpPr>
              <p:cNvPr id="48209" name="Arc 81"/>
              <p:cNvSpPr>
                <a:spLocks/>
              </p:cNvSpPr>
              <p:nvPr/>
            </p:nvSpPr>
            <p:spPr bwMode="auto">
              <a:xfrm flipH="1">
                <a:off x="4710" y="1230"/>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gradFill rotWithShape="0">
                <a:gsLst>
                  <a:gs pos="0">
                    <a:srgbClr val="6590FD">
                      <a:gamma/>
                      <a:shade val="66275"/>
                      <a:invGamma/>
                    </a:srgbClr>
                  </a:gs>
                  <a:gs pos="100000">
                    <a:srgbClr val="6590FD"/>
                  </a:gs>
                </a:gsLst>
                <a:lin ang="0" scaled="1"/>
              </a:gradFill>
              <a:ln w="12700" cap="rnd">
                <a:noFill/>
                <a:round/>
                <a:headEnd/>
                <a:tailEnd/>
              </a:ln>
              <a:effectLst/>
            </p:spPr>
            <p:txBody>
              <a:bodyPr tIns="91440"/>
              <a:lstStyle/>
              <a:p>
                <a:endParaRPr lang="fr-BE"/>
              </a:p>
            </p:txBody>
          </p:sp>
          <p:sp>
            <p:nvSpPr>
              <p:cNvPr id="48210" name="AutoShape 82"/>
              <p:cNvSpPr>
                <a:spLocks noChangeArrowheads="1"/>
              </p:cNvSpPr>
              <p:nvPr/>
            </p:nvSpPr>
            <p:spPr bwMode="auto">
              <a:xfrm>
                <a:off x="3888" y="1391"/>
                <a:ext cx="318" cy="248"/>
              </a:xfrm>
              <a:prstGeom prst="rightArrow">
                <a:avLst>
                  <a:gd name="adj1" fmla="val 62907"/>
                  <a:gd name="adj2" fmla="val 75036"/>
                </a:avLst>
              </a:pr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38100" dir="5400000" algn="ctr" rotWithShape="0">
                  <a:srgbClr val="969696"/>
                </a:outerShdw>
              </a:effectLst>
            </p:spPr>
            <p:txBody>
              <a:bodyPr tIns="27432" bIns="27432" anchor="ctr">
                <a:spAutoFit/>
              </a:bodyPr>
              <a:lstStyle/>
              <a:p>
                <a:endParaRPr lang="fr-BE"/>
              </a:p>
            </p:txBody>
          </p:sp>
        </p:grpSp>
      </p:grpSp>
      <p:grpSp>
        <p:nvGrpSpPr>
          <p:cNvPr id="40" name="Groupe 39"/>
          <p:cNvGrpSpPr/>
          <p:nvPr/>
        </p:nvGrpSpPr>
        <p:grpSpPr>
          <a:xfrm>
            <a:off x="0" y="4365522"/>
            <a:ext cx="4491648" cy="1651820"/>
            <a:chOff x="124597" y="4999703"/>
            <a:chExt cx="4491648" cy="1651820"/>
          </a:xfrm>
        </p:grpSpPr>
        <p:sp>
          <p:nvSpPr>
            <p:cNvPr id="48197" name="Rectangle 69"/>
            <p:cNvSpPr>
              <a:spLocks noChangeArrowheads="1"/>
            </p:cNvSpPr>
            <p:nvPr/>
          </p:nvSpPr>
          <p:spPr bwMode="auto">
            <a:xfrm>
              <a:off x="124597" y="4999703"/>
              <a:ext cx="4491648" cy="1651820"/>
            </a:xfrm>
            <a:prstGeom prst="rect">
              <a:avLst/>
            </a:prstGeom>
            <a:solidFill>
              <a:schemeClr val="bg1"/>
            </a:solidFill>
            <a:ln w="15875">
              <a:noFill/>
              <a:miter lim="800000"/>
              <a:headEnd/>
              <a:tailEnd/>
            </a:ln>
            <a:effectLst/>
          </p:spPr>
          <p:txBody>
            <a:bodyPr anchor="b"/>
            <a:lstStyle/>
            <a:p>
              <a:pPr algn="ctr"/>
              <a:endParaRPr lang="fr-FR" sz="1800" u="none" dirty="0">
                <a:solidFill>
                  <a:schemeClr val="tx1"/>
                </a:solidFill>
                <a:latin typeface="Arial" charset="0"/>
              </a:endParaRPr>
            </a:p>
            <a:p>
              <a:pPr algn="ctr"/>
              <a:endParaRPr lang="fr-FR" sz="1800" u="none" dirty="0">
                <a:solidFill>
                  <a:schemeClr val="tx1"/>
                </a:solidFill>
                <a:latin typeface="Arial" charset="0"/>
              </a:endParaRPr>
            </a:p>
            <a:p>
              <a:pPr algn="ctr"/>
              <a:r>
                <a:rPr lang="fr-FR" sz="1800" u="none" dirty="0">
                  <a:solidFill>
                    <a:schemeClr val="tx1"/>
                  </a:solidFill>
                  <a:latin typeface="Arial" charset="0"/>
                </a:rPr>
                <a:t>Installez sur une partition existante</a:t>
              </a:r>
              <a:br>
                <a:rPr lang="fr-FR" sz="1800" u="none" dirty="0">
                  <a:solidFill>
                    <a:schemeClr val="tx1"/>
                  </a:solidFill>
                  <a:latin typeface="Arial" charset="0"/>
                </a:rPr>
              </a:br>
              <a:endParaRPr lang="fr-FR" sz="1800" u="none" dirty="0">
                <a:solidFill>
                  <a:schemeClr val="tx1"/>
                </a:solidFill>
                <a:latin typeface="Arial" charset="0"/>
              </a:endParaRPr>
            </a:p>
          </p:txBody>
        </p:sp>
        <p:grpSp>
          <p:nvGrpSpPr>
            <p:cNvPr id="48211" name="Group 83"/>
            <p:cNvGrpSpPr>
              <a:grpSpLocks/>
            </p:cNvGrpSpPr>
            <p:nvPr/>
          </p:nvGrpSpPr>
          <p:grpSpPr bwMode="auto">
            <a:xfrm>
              <a:off x="207302" y="5110306"/>
              <a:ext cx="4336085" cy="867470"/>
              <a:chOff x="585" y="2596"/>
              <a:chExt cx="2202" cy="555"/>
            </a:xfrm>
          </p:grpSpPr>
          <p:sp>
            <p:nvSpPr>
              <p:cNvPr id="48212" name="AutoShape 84"/>
              <p:cNvSpPr>
                <a:spLocks noChangeArrowheads="1"/>
              </p:cNvSpPr>
              <p:nvPr/>
            </p:nvSpPr>
            <p:spPr bwMode="auto">
              <a:xfrm>
                <a:off x="585" y="2596"/>
                <a:ext cx="873" cy="555"/>
              </a:xfrm>
              <a:prstGeom prst="can">
                <a:avLst>
                  <a:gd name="adj" fmla="val 50000"/>
                </a:avLst>
              </a:prstGeom>
              <a:gradFill rotWithShape="0">
                <a:gsLst>
                  <a:gs pos="0">
                    <a:srgbClr val="B5D2E1"/>
                  </a:gs>
                  <a:gs pos="50000">
                    <a:srgbClr val="B5D2E1">
                      <a:gamma/>
                      <a:tint val="18824"/>
                      <a:invGamma/>
                    </a:srgbClr>
                  </a:gs>
                  <a:gs pos="100000">
                    <a:srgbClr val="B5D2E1"/>
                  </a:gs>
                </a:gsLst>
                <a:lin ang="0" scaled="1"/>
              </a:gradFill>
              <a:ln w="12700" cap="rnd">
                <a:solidFill>
                  <a:srgbClr val="000000"/>
                </a:solidFill>
                <a:round/>
                <a:headEnd/>
                <a:tailEnd/>
              </a:ln>
              <a:effectLst>
                <a:outerShdw dist="52363" dir="4557825" algn="ctr" rotWithShape="0">
                  <a:srgbClr val="969696"/>
                </a:outerShdw>
              </a:effectLst>
            </p:spPr>
            <p:txBody>
              <a:bodyPr tIns="91440"/>
              <a:lstStyle/>
              <a:p>
                <a:pPr algn="ctr"/>
                <a:endParaRPr lang="fr-FR" sz="1800" u="none">
                  <a:solidFill>
                    <a:schemeClr val="bg1"/>
                  </a:solidFill>
                  <a:effectLst>
                    <a:outerShdw blurRad="38100" dist="38100" dir="2700000" algn="tl">
                      <a:srgbClr val="000000"/>
                    </a:outerShdw>
                  </a:effectLst>
                </a:endParaRPr>
              </a:p>
            </p:txBody>
          </p:sp>
          <p:sp>
            <p:nvSpPr>
              <p:cNvPr id="48213" name="AutoShape 85"/>
              <p:cNvSpPr>
                <a:spLocks noChangeArrowheads="1"/>
              </p:cNvSpPr>
              <p:nvPr/>
            </p:nvSpPr>
            <p:spPr bwMode="auto">
              <a:xfrm>
                <a:off x="1914" y="2596"/>
                <a:ext cx="873" cy="555"/>
              </a:xfrm>
              <a:prstGeom prst="can">
                <a:avLst>
                  <a:gd name="adj" fmla="val 50000"/>
                </a:avLst>
              </a:prstGeom>
              <a:gradFill rotWithShape="0">
                <a:gsLst>
                  <a:gs pos="0">
                    <a:srgbClr val="B5D2E1"/>
                  </a:gs>
                  <a:gs pos="50000">
                    <a:srgbClr val="B5D2E1">
                      <a:gamma/>
                      <a:tint val="18824"/>
                      <a:invGamma/>
                    </a:srgbClr>
                  </a:gs>
                  <a:gs pos="100000">
                    <a:srgbClr val="B5D2E1"/>
                  </a:gs>
                </a:gsLst>
                <a:lin ang="0" scaled="1"/>
              </a:gradFill>
              <a:ln w="12700" cap="rnd">
                <a:solidFill>
                  <a:srgbClr val="000000"/>
                </a:solidFill>
                <a:round/>
                <a:headEnd/>
                <a:tailEnd/>
              </a:ln>
              <a:effectLst>
                <a:outerShdw dist="52363" dir="4557825" algn="ctr" rotWithShape="0">
                  <a:srgbClr val="969696"/>
                </a:outerShdw>
              </a:effectLst>
            </p:spPr>
            <p:txBody>
              <a:bodyPr tIns="91440"/>
              <a:lstStyle/>
              <a:p>
                <a:pPr algn="ctr"/>
                <a:endParaRPr lang="fr-FR" sz="1800" u="none">
                  <a:solidFill>
                    <a:schemeClr val="bg1"/>
                  </a:solidFill>
                  <a:effectLst>
                    <a:outerShdw blurRad="38100" dist="38100" dir="2700000" algn="tl">
                      <a:srgbClr val="000000"/>
                    </a:outerShdw>
                  </a:effectLst>
                </a:endParaRPr>
              </a:p>
            </p:txBody>
          </p:sp>
          <p:sp>
            <p:nvSpPr>
              <p:cNvPr id="48214" name="Arc 86"/>
              <p:cNvSpPr>
                <a:spLocks/>
              </p:cNvSpPr>
              <p:nvPr/>
            </p:nvSpPr>
            <p:spPr bwMode="auto">
              <a:xfrm>
                <a:off x="1919" y="2614"/>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gradFill rotWithShape="0">
                <a:gsLst>
                  <a:gs pos="0">
                    <a:srgbClr val="6590FD"/>
                  </a:gs>
                  <a:gs pos="100000">
                    <a:srgbClr val="6590FD">
                      <a:gamma/>
                      <a:shade val="66275"/>
                      <a:invGamma/>
                    </a:srgbClr>
                  </a:gs>
                </a:gsLst>
                <a:lin ang="0" scaled="1"/>
              </a:gradFill>
              <a:ln w="12700" cap="rnd">
                <a:noFill/>
                <a:round/>
                <a:headEnd/>
                <a:tailEnd/>
              </a:ln>
              <a:effectLst/>
            </p:spPr>
            <p:txBody>
              <a:bodyPr tIns="91440"/>
              <a:lstStyle/>
              <a:p>
                <a:endParaRPr lang="fr-BE"/>
              </a:p>
            </p:txBody>
          </p:sp>
          <p:sp>
            <p:nvSpPr>
              <p:cNvPr id="48215" name="Arc 87" descr="Dark vertical"/>
              <p:cNvSpPr>
                <a:spLocks/>
              </p:cNvSpPr>
              <p:nvPr/>
            </p:nvSpPr>
            <p:spPr bwMode="auto">
              <a:xfrm>
                <a:off x="595" y="2614"/>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pattFill prst="dkVert">
                <a:fgClr>
                  <a:srgbClr val="B5D2E1"/>
                </a:fgClr>
                <a:bgClr>
                  <a:srgbClr val="CC00CC"/>
                </a:bgClr>
              </a:pattFill>
              <a:ln w="12700" cap="rnd">
                <a:noFill/>
                <a:round/>
                <a:headEnd/>
                <a:tailEnd/>
              </a:ln>
              <a:effectLst/>
            </p:spPr>
            <p:txBody>
              <a:bodyPr tIns="91440"/>
              <a:lstStyle/>
              <a:p>
                <a:endParaRPr lang="fr-BE"/>
              </a:p>
            </p:txBody>
          </p:sp>
          <p:sp>
            <p:nvSpPr>
              <p:cNvPr id="48216" name="AutoShape 88"/>
              <p:cNvSpPr>
                <a:spLocks noChangeArrowheads="1"/>
              </p:cNvSpPr>
              <p:nvPr/>
            </p:nvSpPr>
            <p:spPr bwMode="auto">
              <a:xfrm>
                <a:off x="1536" y="2783"/>
                <a:ext cx="318" cy="248"/>
              </a:xfrm>
              <a:prstGeom prst="rightArrow">
                <a:avLst>
                  <a:gd name="adj1" fmla="val 62907"/>
                  <a:gd name="adj2" fmla="val 75036"/>
                </a:avLst>
              </a:pr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38100" dir="5400000" algn="ctr" rotWithShape="0">
                  <a:srgbClr val="969696"/>
                </a:outerShdw>
              </a:effectLst>
            </p:spPr>
            <p:txBody>
              <a:bodyPr tIns="27432" bIns="27432" anchor="ctr">
                <a:spAutoFit/>
              </a:bodyPr>
              <a:lstStyle/>
              <a:p>
                <a:endParaRPr lang="fr-BE"/>
              </a:p>
            </p:txBody>
          </p:sp>
        </p:grpSp>
      </p:grpSp>
      <p:grpSp>
        <p:nvGrpSpPr>
          <p:cNvPr id="41" name="Groupe 40"/>
          <p:cNvGrpSpPr/>
          <p:nvPr/>
        </p:nvGrpSpPr>
        <p:grpSpPr>
          <a:xfrm>
            <a:off x="4689983" y="4321278"/>
            <a:ext cx="4454017" cy="1716653"/>
            <a:chOff x="4689983" y="4911213"/>
            <a:chExt cx="4454017" cy="1716653"/>
          </a:xfrm>
        </p:grpSpPr>
        <p:sp>
          <p:nvSpPr>
            <p:cNvPr id="48198" name="Rectangle 70"/>
            <p:cNvSpPr>
              <a:spLocks noChangeArrowheads="1"/>
            </p:cNvSpPr>
            <p:nvPr/>
          </p:nvSpPr>
          <p:spPr bwMode="auto">
            <a:xfrm>
              <a:off x="4689983" y="4911213"/>
              <a:ext cx="4454017" cy="1716653"/>
            </a:xfrm>
            <a:prstGeom prst="rect">
              <a:avLst/>
            </a:prstGeom>
            <a:solidFill>
              <a:schemeClr val="bg1"/>
            </a:solidFill>
            <a:ln w="15875">
              <a:noFill/>
              <a:miter lim="800000"/>
              <a:headEnd/>
              <a:tailEnd/>
            </a:ln>
            <a:effectLst/>
          </p:spPr>
          <p:txBody>
            <a:bodyPr anchor="b"/>
            <a:lstStyle/>
            <a:p>
              <a:pPr algn="ctr"/>
              <a:r>
                <a:rPr lang="fr-FR" sz="1800" u="none">
                  <a:solidFill>
                    <a:schemeClr val="tx1"/>
                  </a:solidFill>
                  <a:latin typeface="Arial" charset="0"/>
                </a:rPr>
                <a:t>Supprimez la partition existante pour libérer de l'espace disque</a:t>
              </a:r>
            </a:p>
          </p:txBody>
        </p:sp>
        <p:grpSp>
          <p:nvGrpSpPr>
            <p:cNvPr id="48217" name="Group 89"/>
            <p:cNvGrpSpPr>
              <a:grpSpLocks/>
            </p:cNvGrpSpPr>
            <p:nvPr/>
          </p:nvGrpSpPr>
          <p:grpSpPr bwMode="auto">
            <a:xfrm>
              <a:off x="4939888" y="5085687"/>
              <a:ext cx="3768861" cy="881062"/>
              <a:chOff x="2945" y="2796"/>
              <a:chExt cx="2209" cy="555"/>
            </a:xfrm>
          </p:grpSpPr>
          <p:grpSp>
            <p:nvGrpSpPr>
              <p:cNvPr id="48218" name="Group 90"/>
              <p:cNvGrpSpPr>
                <a:grpSpLocks/>
              </p:cNvGrpSpPr>
              <p:nvPr/>
            </p:nvGrpSpPr>
            <p:grpSpPr bwMode="auto">
              <a:xfrm>
                <a:off x="2945" y="2796"/>
                <a:ext cx="2209" cy="555"/>
                <a:chOff x="2945" y="2796"/>
                <a:chExt cx="2209" cy="555"/>
              </a:xfrm>
            </p:grpSpPr>
            <p:sp>
              <p:nvSpPr>
                <p:cNvPr id="48219" name="AutoShape 91"/>
                <p:cNvSpPr>
                  <a:spLocks noChangeArrowheads="1"/>
                </p:cNvSpPr>
                <p:nvPr/>
              </p:nvSpPr>
              <p:spPr bwMode="auto">
                <a:xfrm>
                  <a:off x="4281" y="2796"/>
                  <a:ext cx="873" cy="555"/>
                </a:xfrm>
                <a:prstGeom prst="can">
                  <a:avLst>
                    <a:gd name="adj" fmla="val 50000"/>
                  </a:avLst>
                </a:prstGeom>
                <a:gradFill rotWithShape="0">
                  <a:gsLst>
                    <a:gs pos="0">
                      <a:srgbClr val="B5D2E1"/>
                    </a:gs>
                    <a:gs pos="50000">
                      <a:srgbClr val="B5D2E1">
                        <a:gamma/>
                        <a:tint val="18824"/>
                        <a:invGamma/>
                      </a:srgbClr>
                    </a:gs>
                    <a:gs pos="100000">
                      <a:srgbClr val="B5D2E1"/>
                    </a:gs>
                  </a:gsLst>
                  <a:lin ang="0" scaled="1"/>
                </a:gradFill>
                <a:ln w="12700" cap="rnd">
                  <a:solidFill>
                    <a:srgbClr val="000000"/>
                  </a:solidFill>
                  <a:round/>
                  <a:headEnd/>
                  <a:tailEnd/>
                </a:ln>
                <a:effectLst>
                  <a:outerShdw dist="52363" dir="4557825" algn="ctr" rotWithShape="0">
                    <a:srgbClr val="969696"/>
                  </a:outerShdw>
                </a:effectLst>
              </p:spPr>
              <p:txBody>
                <a:bodyPr tIns="91440"/>
                <a:lstStyle/>
                <a:p>
                  <a:pPr algn="ctr"/>
                  <a:endParaRPr lang="fr-FR" sz="1800" u="none">
                    <a:solidFill>
                      <a:schemeClr val="bg1"/>
                    </a:solidFill>
                    <a:effectLst>
                      <a:outerShdw blurRad="38100" dist="38100" dir="2700000" algn="tl">
                        <a:srgbClr val="000000"/>
                      </a:outerShdw>
                    </a:effectLst>
                  </a:endParaRPr>
                </a:p>
              </p:txBody>
            </p:sp>
            <p:sp>
              <p:nvSpPr>
                <p:cNvPr id="48220" name="Arc 92"/>
                <p:cNvSpPr>
                  <a:spLocks/>
                </p:cNvSpPr>
                <p:nvPr/>
              </p:nvSpPr>
              <p:spPr bwMode="auto">
                <a:xfrm>
                  <a:off x="4286" y="2814"/>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gradFill rotWithShape="0">
                  <a:gsLst>
                    <a:gs pos="0">
                      <a:srgbClr val="6590FD">
                        <a:gamma/>
                        <a:shade val="66275"/>
                        <a:invGamma/>
                      </a:srgbClr>
                    </a:gs>
                    <a:gs pos="100000">
                      <a:srgbClr val="6590FD"/>
                    </a:gs>
                  </a:gsLst>
                  <a:lin ang="0" scaled="1"/>
                </a:gradFill>
                <a:ln w="12700" cap="rnd">
                  <a:noFill/>
                  <a:round/>
                  <a:headEnd/>
                  <a:tailEnd/>
                </a:ln>
                <a:effectLst/>
              </p:spPr>
              <p:txBody>
                <a:bodyPr tIns="91440"/>
                <a:lstStyle/>
                <a:p>
                  <a:endParaRPr lang="fr-BE"/>
                </a:p>
              </p:txBody>
            </p:sp>
            <p:sp>
              <p:nvSpPr>
                <p:cNvPr id="48221" name="Arc 93" descr="Dark vertical"/>
                <p:cNvSpPr>
                  <a:spLocks/>
                </p:cNvSpPr>
                <p:nvPr/>
              </p:nvSpPr>
              <p:spPr bwMode="auto">
                <a:xfrm flipH="1">
                  <a:off x="4718" y="2814"/>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pattFill prst="dkVert">
                  <a:fgClr>
                    <a:srgbClr val="B5D2E1"/>
                  </a:fgClr>
                  <a:bgClr>
                    <a:srgbClr val="CC00CC"/>
                  </a:bgClr>
                </a:pattFill>
                <a:ln w="12700" cap="rnd">
                  <a:noFill/>
                  <a:round/>
                  <a:headEnd/>
                  <a:tailEnd/>
                </a:ln>
                <a:effectLst/>
              </p:spPr>
              <p:txBody>
                <a:bodyPr tIns="91440"/>
                <a:lstStyle/>
                <a:p>
                  <a:endParaRPr lang="fr-BE"/>
                </a:p>
              </p:txBody>
            </p:sp>
            <p:sp>
              <p:nvSpPr>
                <p:cNvPr id="48222" name="AutoShape 94"/>
                <p:cNvSpPr>
                  <a:spLocks noChangeArrowheads="1"/>
                </p:cNvSpPr>
                <p:nvPr/>
              </p:nvSpPr>
              <p:spPr bwMode="auto">
                <a:xfrm>
                  <a:off x="2945" y="2796"/>
                  <a:ext cx="873" cy="555"/>
                </a:xfrm>
                <a:prstGeom prst="can">
                  <a:avLst>
                    <a:gd name="adj" fmla="val 50000"/>
                  </a:avLst>
                </a:prstGeom>
                <a:gradFill rotWithShape="0">
                  <a:gsLst>
                    <a:gs pos="0">
                      <a:srgbClr val="B5D2E1"/>
                    </a:gs>
                    <a:gs pos="50000">
                      <a:srgbClr val="B5D2E1">
                        <a:gamma/>
                        <a:tint val="18824"/>
                        <a:invGamma/>
                      </a:srgbClr>
                    </a:gs>
                    <a:gs pos="100000">
                      <a:srgbClr val="B5D2E1"/>
                    </a:gs>
                  </a:gsLst>
                  <a:lin ang="0" scaled="1"/>
                </a:gradFill>
                <a:ln w="12700" cap="rnd">
                  <a:solidFill>
                    <a:srgbClr val="000000"/>
                  </a:solidFill>
                  <a:round/>
                  <a:headEnd/>
                  <a:tailEnd/>
                </a:ln>
                <a:effectLst>
                  <a:outerShdw dist="52363" dir="4557825" algn="ctr" rotWithShape="0">
                    <a:srgbClr val="969696"/>
                  </a:outerShdw>
                </a:effectLst>
              </p:spPr>
              <p:txBody>
                <a:bodyPr tIns="91440"/>
                <a:lstStyle/>
                <a:p>
                  <a:pPr algn="ctr"/>
                  <a:endParaRPr lang="fr-FR" sz="1800" u="none">
                    <a:solidFill>
                      <a:schemeClr val="bg1"/>
                    </a:solidFill>
                    <a:effectLst>
                      <a:outerShdw blurRad="38100" dist="38100" dir="2700000" algn="tl">
                        <a:srgbClr val="000000"/>
                      </a:outerShdw>
                    </a:effectLst>
                  </a:endParaRPr>
                </a:p>
              </p:txBody>
            </p:sp>
            <p:sp>
              <p:nvSpPr>
                <p:cNvPr id="48223" name="Arc 95" descr="Dark vertical"/>
                <p:cNvSpPr>
                  <a:spLocks/>
                </p:cNvSpPr>
                <p:nvPr/>
              </p:nvSpPr>
              <p:spPr bwMode="auto">
                <a:xfrm flipH="1">
                  <a:off x="3382" y="2814"/>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pattFill prst="dkVert">
                  <a:fgClr>
                    <a:srgbClr val="B5D2E1"/>
                  </a:fgClr>
                  <a:bgClr>
                    <a:srgbClr val="CC00CC"/>
                  </a:bgClr>
                </a:pattFill>
                <a:ln w="12700" cap="rnd">
                  <a:noFill/>
                  <a:round/>
                  <a:headEnd/>
                  <a:tailEnd/>
                </a:ln>
                <a:effectLst/>
              </p:spPr>
              <p:txBody>
                <a:bodyPr tIns="91440"/>
                <a:lstStyle/>
                <a:p>
                  <a:endParaRPr lang="fr-BE"/>
                </a:p>
              </p:txBody>
            </p:sp>
            <p:sp>
              <p:nvSpPr>
                <p:cNvPr id="48224" name="AutoShape 96"/>
                <p:cNvSpPr>
                  <a:spLocks noChangeArrowheads="1"/>
                </p:cNvSpPr>
                <p:nvPr/>
              </p:nvSpPr>
              <p:spPr bwMode="auto">
                <a:xfrm>
                  <a:off x="3896" y="2983"/>
                  <a:ext cx="318" cy="248"/>
                </a:xfrm>
                <a:prstGeom prst="rightArrow">
                  <a:avLst>
                    <a:gd name="adj1" fmla="val 62907"/>
                    <a:gd name="adj2" fmla="val 75036"/>
                  </a:avLst>
                </a:pr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38100" dir="5400000" algn="ctr" rotWithShape="0">
                    <a:srgbClr val="969696"/>
                  </a:outerShdw>
                </a:effectLst>
              </p:spPr>
              <p:txBody>
                <a:bodyPr tIns="27432" bIns="27432" anchor="ctr">
                  <a:spAutoFit/>
                </a:bodyPr>
                <a:lstStyle/>
                <a:p>
                  <a:endParaRPr lang="fr-BE"/>
                </a:p>
              </p:txBody>
            </p:sp>
          </p:grpSp>
          <p:sp>
            <p:nvSpPr>
              <p:cNvPr id="48225" name="Arc 97" descr="Dark vertical"/>
              <p:cNvSpPr>
                <a:spLocks/>
              </p:cNvSpPr>
              <p:nvPr/>
            </p:nvSpPr>
            <p:spPr bwMode="auto">
              <a:xfrm>
                <a:off x="2950" y="2814"/>
                <a:ext cx="430" cy="240"/>
              </a:xfrm>
              <a:custGeom>
                <a:avLst/>
                <a:gdLst>
                  <a:gd name="G0" fmla="+- 21600 0 0"/>
                  <a:gd name="G1" fmla="+- 19542 0 0"/>
                  <a:gd name="G2" fmla="+- 21600 0 0"/>
                  <a:gd name="T0" fmla="*/ 11915 w 21600"/>
                  <a:gd name="T1" fmla="*/ 38849 h 38849"/>
                  <a:gd name="T2" fmla="*/ 12399 w 21600"/>
                  <a:gd name="T3" fmla="*/ 0 h 38849"/>
                  <a:gd name="T4" fmla="*/ 21600 w 21600"/>
                  <a:gd name="T5" fmla="*/ 19542 h 38849"/>
                </a:gdLst>
                <a:ahLst/>
                <a:cxnLst>
                  <a:cxn ang="0">
                    <a:pos x="T0" y="T1"/>
                  </a:cxn>
                  <a:cxn ang="0">
                    <a:pos x="T2" y="T3"/>
                  </a:cxn>
                  <a:cxn ang="0">
                    <a:pos x="T4" y="T5"/>
                  </a:cxn>
                </a:cxnLst>
                <a:rect l="0" t="0" r="r" b="b"/>
                <a:pathLst>
                  <a:path w="21600" h="38849" fill="none" extrusionOk="0">
                    <a:moveTo>
                      <a:pt x="11914" y="38849"/>
                    </a:moveTo>
                    <a:cubicBezTo>
                      <a:pt x="4611" y="35185"/>
                      <a:pt x="0" y="27713"/>
                      <a:pt x="0" y="19542"/>
                    </a:cubicBezTo>
                    <a:cubicBezTo>
                      <a:pt x="-1" y="11176"/>
                      <a:pt x="4830" y="3563"/>
                      <a:pt x="12398" y="-1"/>
                    </a:cubicBezTo>
                  </a:path>
                  <a:path w="21600" h="38849" stroke="0" extrusionOk="0">
                    <a:moveTo>
                      <a:pt x="11914" y="38849"/>
                    </a:moveTo>
                    <a:cubicBezTo>
                      <a:pt x="4611" y="35185"/>
                      <a:pt x="0" y="27713"/>
                      <a:pt x="0" y="19542"/>
                    </a:cubicBezTo>
                    <a:cubicBezTo>
                      <a:pt x="-1" y="11176"/>
                      <a:pt x="4830" y="3563"/>
                      <a:pt x="12398" y="-1"/>
                    </a:cubicBezTo>
                    <a:lnTo>
                      <a:pt x="21600" y="19542"/>
                    </a:lnTo>
                    <a:close/>
                  </a:path>
                </a:pathLst>
              </a:custGeom>
              <a:pattFill prst="dkVert">
                <a:fgClr>
                  <a:srgbClr val="B5D2E1"/>
                </a:fgClr>
                <a:bgClr>
                  <a:srgbClr val="CC00CC"/>
                </a:bgClr>
              </a:pattFill>
              <a:ln w="12700" cap="rnd">
                <a:noFill/>
                <a:round/>
                <a:headEnd/>
                <a:tailEnd/>
              </a:ln>
              <a:effectLst/>
            </p:spPr>
            <p:txBody>
              <a:bodyPr tIns="91440"/>
              <a:lstStyle/>
              <a:p>
                <a:endParaRPr lang="fr-BE"/>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checkerboard(across)">
                                      <p:cBhvr>
                                        <p:cTn id="7" dur="10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checkerboard(across)">
                                      <p:cBhvr>
                                        <p:cTn id="12" dur="10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checkerboard(across)">
                                      <p:cBhvr>
                                        <p:cTn id="17" dur="10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checkerboard(across)">
                                      <p:cBhvr>
                                        <p:cTn id="22"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1752" y="88488"/>
            <a:ext cx="8534400" cy="987552"/>
          </a:xfrm>
        </p:spPr>
        <p:txBody>
          <a:bodyPr vert="horz" anchor="b">
            <a:noAutofit/>
          </a:bodyPr>
          <a:lstStyle/>
          <a:p>
            <a:r>
              <a:rPr lang="fr-FR" sz="2800" dirty="0">
                <a:solidFill>
                  <a:srgbClr val="C00000"/>
                </a:solidFill>
              </a:rPr>
              <a:t>Choix du système de fichiers approprié : </a:t>
            </a:r>
            <a:br>
              <a:rPr lang="fr-FR" sz="2800" dirty="0">
                <a:solidFill>
                  <a:srgbClr val="C00000"/>
                </a:solidFill>
              </a:rPr>
            </a:br>
            <a:r>
              <a:rPr lang="fr-FR" sz="2800" dirty="0">
                <a:solidFill>
                  <a:srgbClr val="C00000"/>
                </a:solidFill>
              </a:rPr>
              <a:t>FAT, FAT32, NTFS</a:t>
            </a:r>
            <a:endParaRPr lang="en-US" sz="2800" dirty="0">
              <a:solidFill>
                <a:srgbClr val="C00000"/>
              </a:solidFill>
            </a:endParaRPr>
          </a:p>
        </p:txBody>
      </p:sp>
      <p:sp>
        <p:nvSpPr>
          <p:cNvPr id="49275" name="Rectangle 123"/>
          <p:cNvSpPr>
            <a:spLocks noChangeArrowheads="1"/>
          </p:cNvSpPr>
          <p:nvPr/>
        </p:nvSpPr>
        <p:spPr bwMode="auto">
          <a:xfrm>
            <a:off x="4424516" y="3893574"/>
            <a:ext cx="4719483" cy="2433484"/>
          </a:xfrm>
          <a:prstGeom prst="rect">
            <a:avLst/>
          </a:prstGeom>
          <a:solidFill>
            <a:schemeClr val="bg1"/>
          </a:solidFill>
          <a:ln w="9525">
            <a:noFill/>
            <a:miter lim="800000"/>
            <a:headEnd/>
            <a:tailEnd/>
          </a:ln>
          <a:effectLst/>
        </p:spPr>
        <p:txBody>
          <a:bodyPr anchor="ctr"/>
          <a:lstStyle/>
          <a:p>
            <a:pPr marL="228600" indent="-228600">
              <a:lnSpc>
                <a:spcPct val="90000"/>
              </a:lnSpc>
              <a:buClr>
                <a:schemeClr val="accent2"/>
              </a:buClr>
              <a:buSzPct val="75000"/>
              <a:buFont typeface="Wingdings" pitchFamily="2" charset="2"/>
              <a:buChar char="n"/>
            </a:pPr>
            <a:r>
              <a:rPr lang="fr-FR" sz="2400" u="none" dirty="0">
                <a:solidFill>
                  <a:schemeClr val="tx1"/>
                </a:solidFill>
                <a:latin typeface="Arial" charset="0"/>
              </a:rPr>
              <a:t>Prend en charge les configurations à double amorçage</a:t>
            </a:r>
          </a:p>
          <a:p>
            <a:pPr marL="228600" indent="-228600">
              <a:lnSpc>
                <a:spcPct val="90000"/>
              </a:lnSpc>
              <a:buClr>
                <a:schemeClr val="accent2"/>
              </a:buClr>
              <a:buSzPct val="75000"/>
              <a:buFont typeface="Wingdings" pitchFamily="2" charset="2"/>
              <a:buChar char="n"/>
            </a:pPr>
            <a:r>
              <a:rPr lang="fr-FR" sz="2400" u="none" dirty="0">
                <a:solidFill>
                  <a:schemeClr val="tx1"/>
                </a:solidFill>
                <a:latin typeface="Arial" charset="0"/>
              </a:rPr>
              <a:t>Pas de sécurité au niveau des fichiers et des dossiers</a:t>
            </a:r>
          </a:p>
        </p:txBody>
      </p:sp>
      <p:grpSp>
        <p:nvGrpSpPr>
          <p:cNvPr id="49277" name="Group 125"/>
          <p:cNvGrpSpPr>
            <a:grpSpLocks/>
          </p:cNvGrpSpPr>
          <p:nvPr/>
        </p:nvGrpSpPr>
        <p:grpSpPr bwMode="auto">
          <a:xfrm>
            <a:off x="830110" y="1203533"/>
            <a:ext cx="2045825" cy="2690041"/>
            <a:chOff x="1006" y="786"/>
            <a:chExt cx="1394" cy="1776"/>
          </a:xfrm>
        </p:grpSpPr>
        <p:sp>
          <p:nvSpPr>
            <p:cNvPr id="49278" name="AutoShape 126"/>
            <p:cNvSpPr>
              <a:spLocks noChangeArrowheads="1"/>
            </p:cNvSpPr>
            <p:nvPr/>
          </p:nvSpPr>
          <p:spPr bwMode="auto">
            <a:xfrm>
              <a:off x="1006" y="1986"/>
              <a:ext cx="1394" cy="576"/>
            </a:xfrm>
            <a:prstGeom prst="can">
              <a:avLst>
                <a:gd name="adj" fmla="val 50000"/>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round/>
              <a:headEnd/>
              <a:tailEnd/>
            </a:ln>
            <a:effectLst>
              <a:outerShdw dist="56796" dir="3806097" algn="ctr" rotWithShape="0">
                <a:srgbClr val="C0C0C0"/>
              </a:outerShdw>
            </a:effectLst>
          </p:spPr>
          <p:txBody>
            <a:bodyPr wrap="none" lIns="45720" tIns="228600" rIns="45720" anchor="ctr"/>
            <a:lstStyle/>
            <a:p>
              <a:pPr algn="ctr"/>
              <a:r>
                <a:rPr lang="fr-FR" u="none">
                  <a:solidFill>
                    <a:srgbClr val="FFFFFF"/>
                  </a:solidFill>
                  <a:effectLst>
                    <a:outerShdw blurRad="38100" dist="38100" dir="2700000" algn="tl">
                      <a:srgbClr val="000000"/>
                    </a:outerShdw>
                  </a:effectLst>
                  <a:latin typeface="Arial" charset="0"/>
                </a:rPr>
                <a:t>NTFS</a:t>
              </a:r>
            </a:p>
          </p:txBody>
        </p:sp>
        <p:grpSp>
          <p:nvGrpSpPr>
            <p:cNvPr id="49279" name="Group 127"/>
            <p:cNvGrpSpPr>
              <a:grpSpLocks/>
            </p:cNvGrpSpPr>
            <p:nvPr/>
          </p:nvGrpSpPr>
          <p:grpSpPr bwMode="auto">
            <a:xfrm>
              <a:off x="1026" y="786"/>
              <a:ext cx="1001" cy="1424"/>
              <a:chOff x="960" y="1872"/>
              <a:chExt cx="1272" cy="1808"/>
            </a:xfrm>
          </p:grpSpPr>
          <p:sp>
            <p:nvSpPr>
              <p:cNvPr id="49280" name="Freeform 128"/>
              <p:cNvSpPr>
                <a:spLocks/>
              </p:cNvSpPr>
              <p:nvPr/>
            </p:nvSpPr>
            <p:spPr bwMode="auto">
              <a:xfrm>
                <a:off x="1296" y="2400"/>
                <a:ext cx="480" cy="960"/>
              </a:xfrm>
              <a:custGeom>
                <a:avLst/>
                <a:gdLst/>
                <a:ahLst/>
                <a:cxnLst>
                  <a:cxn ang="0">
                    <a:pos x="0" y="0"/>
                  </a:cxn>
                  <a:cxn ang="0">
                    <a:pos x="0" y="1104"/>
                  </a:cxn>
                  <a:cxn ang="0">
                    <a:pos x="480" y="1104"/>
                  </a:cxn>
                </a:cxnLst>
                <a:rect l="0" t="0" r="r" b="b"/>
                <a:pathLst>
                  <a:path w="480" h="1104">
                    <a:moveTo>
                      <a:pt x="0" y="0"/>
                    </a:moveTo>
                    <a:lnTo>
                      <a:pt x="0" y="1104"/>
                    </a:lnTo>
                    <a:lnTo>
                      <a:pt x="480" y="1104"/>
                    </a:lnTo>
                  </a:path>
                </a:pathLst>
              </a:custGeom>
              <a:noFill/>
              <a:ln w="25400" cap="flat" cmpd="sng">
                <a:solidFill>
                  <a:srgbClr val="333399"/>
                </a:solidFill>
                <a:prstDash val="solid"/>
                <a:round/>
                <a:headEnd/>
                <a:tailEnd/>
              </a:ln>
              <a:effectLst/>
            </p:spPr>
            <p:txBody>
              <a:bodyPr wrap="none" anchor="ctr"/>
              <a:lstStyle/>
              <a:p>
                <a:endParaRPr lang="fr-BE"/>
              </a:p>
            </p:txBody>
          </p:sp>
          <p:grpSp>
            <p:nvGrpSpPr>
              <p:cNvPr id="49281" name="Group 129"/>
              <p:cNvGrpSpPr>
                <a:grpSpLocks/>
              </p:cNvGrpSpPr>
              <p:nvPr/>
            </p:nvGrpSpPr>
            <p:grpSpPr bwMode="auto">
              <a:xfrm>
                <a:off x="960" y="1872"/>
                <a:ext cx="680" cy="530"/>
                <a:chOff x="1296" y="2483"/>
                <a:chExt cx="747" cy="582"/>
              </a:xfrm>
            </p:grpSpPr>
            <p:sp>
              <p:nvSpPr>
                <p:cNvPr id="49282" name="Freeform 130"/>
                <p:cNvSpPr>
                  <a:spLocks/>
                </p:cNvSpPr>
                <p:nvPr/>
              </p:nvSpPr>
              <p:spPr bwMode="auto">
                <a:xfrm>
                  <a:off x="1383" y="2483"/>
                  <a:ext cx="660" cy="582"/>
                </a:xfrm>
                <a:custGeom>
                  <a:avLst/>
                  <a:gdLst/>
                  <a:ahLst/>
                  <a:cxnLst>
                    <a:cxn ang="0">
                      <a:pos x="0" y="720"/>
                    </a:cxn>
                    <a:cxn ang="0">
                      <a:pos x="816" y="720"/>
                    </a:cxn>
                    <a:cxn ang="0">
                      <a:pos x="816" y="144"/>
                    </a:cxn>
                    <a:cxn ang="0">
                      <a:pos x="480" y="144"/>
                    </a:cxn>
                    <a:cxn ang="0">
                      <a:pos x="384" y="0"/>
                    </a:cxn>
                    <a:cxn ang="0">
                      <a:pos x="96" y="0"/>
                    </a:cxn>
                    <a:cxn ang="0">
                      <a:pos x="0" y="144"/>
                    </a:cxn>
                    <a:cxn ang="0">
                      <a:pos x="0" y="720"/>
                    </a:cxn>
                  </a:cxnLst>
                  <a:rect l="0" t="0" r="r" b="b"/>
                  <a:pathLst>
                    <a:path w="816" h="720">
                      <a:moveTo>
                        <a:pt x="0" y="720"/>
                      </a:moveTo>
                      <a:lnTo>
                        <a:pt x="816" y="720"/>
                      </a:lnTo>
                      <a:lnTo>
                        <a:pt x="816" y="144"/>
                      </a:lnTo>
                      <a:lnTo>
                        <a:pt x="480" y="144"/>
                      </a:lnTo>
                      <a:lnTo>
                        <a:pt x="384" y="0"/>
                      </a:lnTo>
                      <a:lnTo>
                        <a:pt x="96" y="0"/>
                      </a:lnTo>
                      <a:lnTo>
                        <a:pt x="0" y="144"/>
                      </a:lnTo>
                      <a:lnTo>
                        <a:pt x="0" y="720"/>
                      </a:lnTo>
                      <a:close/>
                    </a:path>
                  </a:pathLst>
                </a:custGeom>
                <a:gradFill rotWithShape="0">
                  <a:gsLst>
                    <a:gs pos="0">
                      <a:srgbClr val="FFFF99"/>
                    </a:gs>
                    <a:gs pos="100000">
                      <a:srgbClr val="FFCC00"/>
                    </a:gs>
                  </a:gsLst>
                  <a:lin ang="2700000" scaled="1"/>
                </a:gradFill>
                <a:ln w="9525" cap="flat" cmpd="sng">
                  <a:solidFill>
                    <a:schemeClr val="tx1"/>
                  </a:solidFill>
                  <a:prstDash val="solid"/>
                  <a:round/>
                  <a:headEnd type="none" w="med" len="med"/>
                  <a:tailEnd type="none" w="med" len="med"/>
                </a:ln>
                <a:effectLst>
                  <a:outerShdw dist="45791" dir="2021404" algn="ctr" rotWithShape="0">
                    <a:schemeClr val="tx1"/>
                  </a:outerShdw>
                </a:effectLst>
              </p:spPr>
              <p:txBody>
                <a:bodyPr wrap="none" tIns="27432" bIns="27432" anchor="ctr"/>
                <a:lstStyle/>
                <a:p>
                  <a:endParaRPr lang="fr-BE"/>
                </a:p>
              </p:txBody>
            </p:sp>
            <p:sp>
              <p:nvSpPr>
                <p:cNvPr id="49283" name="AutoShape 131"/>
                <p:cNvSpPr>
                  <a:spLocks noChangeArrowheads="1"/>
                </p:cNvSpPr>
                <p:nvPr/>
              </p:nvSpPr>
              <p:spPr bwMode="auto">
                <a:xfrm flipH="1">
                  <a:off x="1296" y="2672"/>
                  <a:ext cx="737" cy="388"/>
                </a:xfrm>
                <a:prstGeom prst="parallelogram">
                  <a:avLst>
                    <a:gd name="adj" fmla="val 21105"/>
                  </a:avLst>
                </a:prstGeom>
                <a:gradFill rotWithShape="0">
                  <a:gsLst>
                    <a:gs pos="0">
                      <a:srgbClr val="FFFF99"/>
                    </a:gs>
                    <a:gs pos="100000">
                      <a:srgbClr val="FFCC00"/>
                    </a:gs>
                  </a:gsLst>
                  <a:lin ang="2700000" scaled="1"/>
                </a:gradFill>
                <a:ln w="9525">
                  <a:solidFill>
                    <a:schemeClr val="tx1"/>
                  </a:solidFill>
                  <a:miter lim="800000"/>
                  <a:headEnd/>
                  <a:tailEnd/>
                </a:ln>
                <a:effectLst>
                  <a:outerShdw dist="45791" dir="2021404" algn="ctr" rotWithShape="0">
                    <a:schemeClr val="tx1"/>
                  </a:outerShdw>
                </a:effectLst>
              </p:spPr>
              <p:txBody>
                <a:bodyPr wrap="none" tIns="27432" bIns="27432" anchor="ctr"/>
                <a:lstStyle/>
                <a:p>
                  <a:pPr algn="ctr"/>
                  <a:endParaRPr lang="fr-FR" sz="1800" u="none">
                    <a:solidFill>
                      <a:schemeClr val="tx1"/>
                    </a:solidFill>
                  </a:endParaRPr>
                </a:p>
              </p:txBody>
            </p:sp>
          </p:grpSp>
          <p:sp>
            <p:nvSpPr>
              <p:cNvPr id="49284" name="Line 132"/>
              <p:cNvSpPr>
                <a:spLocks noChangeShapeType="1"/>
              </p:cNvSpPr>
              <p:nvPr/>
            </p:nvSpPr>
            <p:spPr bwMode="auto">
              <a:xfrm>
                <a:off x="1296" y="2784"/>
                <a:ext cx="528" cy="0"/>
              </a:xfrm>
              <a:prstGeom prst="line">
                <a:avLst/>
              </a:prstGeom>
              <a:noFill/>
              <a:ln w="25400">
                <a:solidFill>
                  <a:srgbClr val="333399"/>
                </a:solidFill>
                <a:round/>
                <a:headEnd/>
                <a:tailEnd/>
              </a:ln>
              <a:effectLst/>
            </p:spPr>
            <p:txBody>
              <a:bodyPr wrap="none" anchor="ctr"/>
              <a:lstStyle/>
              <a:p>
                <a:endParaRPr lang="fr-BE"/>
              </a:p>
            </p:txBody>
          </p:sp>
          <p:sp>
            <p:nvSpPr>
              <p:cNvPr id="49285" name="AutoShape 133"/>
              <p:cNvSpPr>
                <a:spLocks noChangeArrowheads="1"/>
              </p:cNvSpPr>
              <p:nvPr/>
            </p:nvSpPr>
            <p:spPr bwMode="auto">
              <a:xfrm flipV="1">
                <a:off x="1752" y="2392"/>
                <a:ext cx="480" cy="608"/>
              </a:xfrm>
              <a:prstGeom prst="foldedCorner">
                <a:avLst>
                  <a:gd name="adj" fmla="val 28500"/>
                </a:avLst>
              </a:prstGeom>
              <a:solidFill>
                <a:srgbClr val="FFFFFF"/>
              </a:solidFill>
              <a:ln w="9525">
                <a:solidFill>
                  <a:schemeClr val="tx1"/>
                </a:solidFill>
                <a:round/>
                <a:headEnd/>
                <a:tailEnd/>
              </a:ln>
              <a:effectLst/>
            </p:spPr>
            <p:txBody>
              <a:bodyPr wrap="none" anchor="ctr"/>
              <a:lstStyle/>
              <a:p>
                <a:endParaRPr lang="fr-BE"/>
              </a:p>
            </p:txBody>
          </p:sp>
          <p:sp>
            <p:nvSpPr>
              <p:cNvPr id="49286" name="AutoShape 134"/>
              <p:cNvSpPr>
                <a:spLocks noChangeArrowheads="1"/>
              </p:cNvSpPr>
              <p:nvPr/>
            </p:nvSpPr>
            <p:spPr bwMode="auto">
              <a:xfrm flipV="1">
                <a:off x="1752" y="3072"/>
                <a:ext cx="480" cy="608"/>
              </a:xfrm>
              <a:prstGeom prst="foldedCorner">
                <a:avLst>
                  <a:gd name="adj" fmla="val 28500"/>
                </a:avLst>
              </a:prstGeom>
              <a:solidFill>
                <a:srgbClr val="FFFFFF"/>
              </a:solidFill>
              <a:ln w="9525">
                <a:solidFill>
                  <a:schemeClr val="tx1"/>
                </a:solidFill>
                <a:round/>
                <a:headEnd/>
                <a:tailEnd/>
              </a:ln>
              <a:effectLst/>
            </p:spPr>
            <p:txBody>
              <a:bodyPr wrap="none" anchor="ctr"/>
              <a:lstStyle/>
              <a:p>
                <a:endParaRPr lang="fr-BE"/>
              </a:p>
            </p:txBody>
          </p:sp>
          <p:grpSp>
            <p:nvGrpSpPr>
              <p:cNvPr id="49287" name="Group 135"/>
              <p:cNvGrpSpPr>
                <a:grpSpLocks/>
              </p:cNvGrpSpPr>
              <p:nvPr/>
            </p:nvGrpSpPr>
            <p:grpSpPr bwMode="auto">
              <a:xfrm>
                <a:off x="1104" y="2016"/>
                <a:ext cx="664" cy="300"/>
                <a:chOff x="4491" y="808"/>
                <a:chExt cx="664" cy="300"/>
              </a:xfrm>
            </p:grpSpPr>
            <p:sp>
              <p:nvSpPr>
                <p:cNvPr id="49288" name="Freeform 136"/>
                <p:cNvSpPr>
                  <a:spLocks/>
                </p:cNvSpPr>
                <p:nvPr/>
              </p:nvSpPr>
              <p:spPr bwMode="auto">
                <a:xfrm>
                  <a:off x="4491" y="808"/>
                  <a:ext cx="664" cy="300"/>
                </a:xfrm>
                <a:custGeom>
                  <a:avLst/>
                  <a:gdLst/>
                  <a:ahLst/>
                  <a:cxnLst>
                    <a:cxn ang="0">
                      <a:pos x="387" y="144"/>
                    </a:cxn>
                    <a:cxn ang="0">
                      <a:pos x="359" y="119"/>
                    </a:cxn>
                    <a:cxn ang="0">
                      <a:pos x="340" y="75"/>
                    </a:cxn>
                    <a:cxn ang="0">
                      <a:pos x="311" y="32"/>
                    </a:cxn>
                    <a:cxn ang="0">
                      <a:pos x="275" y="8"/>
                    </a:cxn>
                    <a:cxn ang="0">
                      <a:pos x="229" y="0"/>
                    </a:cxn>
                    <a:cxn ang="0">
                      <a:pos x="186" y="19"/>
                    </a:cxn>
                    <a:cxn ang="0">
                      <a:pos x="150" y="55"/>
                    </a:cxn>
                    <a:cxn ang="0">
                      <a:pos x="124" y="109"/>
                    </a:cxn>
                    <a:cxn ang="0">
                      <a:pos x="81" y="123"/>
                    </a:cxn>
                    <a:cxn ang="0">
                      <a:pos x="46" y="143"/>
                    </a:cxn>
                    <a:cxn ang="0">
                      <a:pos x="18" y="174"/>
                    </a:cxn>
                    <a:cxn ang="0">
                      <a:pos x="4" y="207"/>
                    </a:cxn>
                    <a:cxn ang="0">
                      <a:pos x="1" y="241"/>
                    </a:cxn>
                    <a:cxn ang="0">
                      <a:pos x="10" y="272"/>
                    </a:cxn>
                    <a:cxn ang="0">
                      <a:pos x="25" y="293"/>
                    </a:cxn>
                    <a:cxn ang="0">
                      <a:pos x="45" y="312"/>
                    </a:cxn>
                    <a:cxn ang="0">
                      <a:pos x="74" y="330"/>
                    </a:cxn>
                    <a:cxn ang="0">
                      <a:pos x="105" y="342"/>
                    </a:cxn>
                    <a:cxn ang="0">
                      <a:pos x="129" y="362"/>
                    </a:cxn>
                    <a:cxn ang="0">
                      <a:pos x="145" y="395"/>
                    </a:cxn>
                    <a:cxn ang="0">
                      <a:pos x="165" y="419"/>
                    </a:cxn>
                    <a:cxn ang="0">
                      <a:pos x="189" y="440"/>
                    </a:cxn>
                    <a:cxn ang="0">
                      <a:pos x="217" y="452"/>
                    </a:cxn>
                    <a:cxn ang="0">
                      <a:pos x="253" y="454"/>
                    </a:cxn>
                    <a:cxn ang="0">
                      <a:pos x="291" y="438"/>
                    </a:cxn>
                    <a:cxn ang="0">
                      <a:pos x="320" y="415"/>
                    </a:cxn>
                    <a:cxn ang="0">
                      <a:pos x="347" y="381"/>
                    </a:cxn>
                    <a:cxn ang="0">
                      <a:pos x="365" y="353"/>
                    </a:cxn>
                    <a:cxn ang="0">
                      <a:pos x="380" y="294"/>
                    </a:cxn>
                    <a:cxn ang="0">
                      <a:pos x="723" y="240"/>
                    </a:cxn>
                    <a:cxn ang="0">
                      <a:pos x="747" y="312"/>
                    </a:cxn>
                    <a:cxn ang="0">
                      <a:pos x="723" y="360"/>
                    </a:cxn>
                    <a:cxn ang="0">
                      <a:pos x="795" y="408"/>
                    </a:cxn>
                    <a:cxn ang="0">
                      <a:pos x="795" y="312"/>
                    </a:cxn>
                    <a:cxn ang="0">
                      <a:pos x="867" y="288"/>
                    </a:cxn>
                    <a:cxn ang="0">
                      <a:pos x="939" y="408"/>
                    </a:cxn>
                    <a:cxn ang="0">
                      <a:pos x="915" y="360"/>
                    </a:cxn>
                    <a:cxn ang="0">
                      <a:pos x="939" y="312"/>
                    </a:cxn>
                    <a:cxn ang="0">
                      <a:pos x="987" y="240"/>
                    </a:cxn>
                    <a:cxn ang="0">
                      <a:pos x="998" y="225"/>
                    </a:cxn>
                    <a:cxn ang="0">
                      <a:pos x="1001" y="203"/>
                    </a:cxn>
                    <a:cxn ang="0">
                      <a:pos x="1000" y="171"/>
                    </a:cxn>
                    <a:cxn ang="0">
                      <a:pos x="992" y="149"/>
                    </a:cxn>
                  </a:cxnLst>
                  <a:rect l="0" t="0" r="r" b="b"/>
                  <a:pathLst>
                    <a:path w="1003" h="456">
                      <a:moveTo>
                        <a:pt x="987" y="144"/>
                      </a:moveTo>
                      <a:lnTo>
                        <a:pt x="387" y="144"/>
                      </a:lnTo>
                      <a:lnTo>
                        <a:pt x="363" y="143"/>
                      </a:lnTo>
                      <a:lnTo>
                        <a:pt x="359" y="119"/>
                      </a:lnTo>
                      <a:lnTo>
                        <a:pt x="349" y="95"/>
                      </a:lnTo>
                      <a:lnTo>
                        <a:pt x="340" y="75"/>
                      </a:lnTo>
                      <a:lnTo>
                        <a:pt x="325" y="49"/>
                      </a:lnTo>
                      <a:lnTo>
                        <a:pt x="311" y="32"/>
                      </a:lnTo>
                      <a:lnTo>
                        <a:pt x="296" y="20"/>
                      </a:lnTo>
                      <a:lnTo>
                        <a:pt x="275" y="8"/>
                      </a:lnTo>
                      <a:lnTo>
                        <a:pt x="253" y="3"/>
                      </a:lnTo>
                      <a:lnTo>
                        <a:pt x="229" y="0"/>
                      </a:lnTo>
                      <a:lnTo>
                        <a:pt x="205" y="7"/>
                      </a:lnTo>
                      <a:lnTo>
                        <a:pt x="186" y="19"/>
                      </a:lnTo>
                      <a:lnTo>
                        <a:pt x="166" y="35"/>
                      </a:lnTo>
                      <a:lnTo>
                        <a:pt x="150" y="55"/>
                      </a:lnTo>
                      <a:lnTo>
                        <a:pt x="138" y="77"/>
                      </a:lnTo>
                      <a:lnTo>
                        <a:pt x="124" y="109"/>
                      </a:lnTo>
                      <a:lnTo>
                        <a:pt x="101" y="115"/>
                      </a:lnTo>
                      <a:lnTo>
                        <a:pt x="81" y="123"/>
                      </a:lnTo>
                      <a:lnTo>
                        <a:pt x="65" y="130"/>
                      </a:lnTo>
                      <a:lnTo>
                        <a:pt x="46" y="143"/>
                      </a:lnTo>
                      <a:lnTo>
                        <a:pt x="31" y="157"/>
                      </a:lnTo>
                      <a:lnTo>
                        <a:pt x="18" y="174"/>
                      </a:lnTo>
                      <a:lnTo>
                        <a:pt x="9" y="188"/>
                      </a:lnTo>
                      <a:lnTo>
                        <a:pt x="4" y="207"/>
                      </a:lnTo>
                      <a:lnTo>
                        <a:pt x="0" y="227"/>
                      </a:lnTo>
                      <a:lnTo>
                        <a:pt x="1" y="241"/>
                      </a:lnTo>
                      <a:lnTo>
                        <a:pt x="5" y="257"/>
                      </a:lnTo>
                      <a:lnTo>
                        <a:pt x="10" y="272"/>
                      </a:lnTo>
                      <a:lnTo>
                        <a:pt x="16" y="281"/>
                      </a:lnTo>
                      <a:lnTo>
                        <a:pt x="25" y="293"/>
                      </a:lnTo>
                      <a:lnTo>
                        <a:pt x="33" y="302"/>
                      </a:lnTo>
                      <a:lnTo>
                        <a:pt x="45" y="312"/>
                      </a:lnTo>
                      <a:lnTo>
                        <a:pt x="61" y="322"/>
                      </a:lnTo>
                      <a:lnTo>
                        <a:pt x="74" y="330"/>
                      </a:lnTo>
                      <a:lnTo>
                        <a:pt x="86" y="336"/>
                      </a:lnTo>
                      <a:lnTo>
                        <a:pt x="105" y="342"/>
                      </a:lnTo>
                      <a:lnTo>
                        <a:pt x="124" y="346"/>
                      </a:lnTo>
                      <a:lnTo>
                        <a:pt x="129" y="362"/>
                      </a:lnTo>
                      <a:lnTo>
                        <a:pt x="135" y="377"/>
                      </a:lnTo>
                      <a:lnTo>
                        <a:pt x="145" y="395"/>
                      </a:lnTo>
                      <a:lnTo>
                        <a:pt x="154" y="406"/>
                      </a:lnTo>
                      <a:lnTo>
                        <a:pt x="165" y="419"/>
                      </a:lnTo>
                      <a:lnTo>
                        <a:pt x="176" y="431"/>
                      </a:lnTo>
                      <a:lnTo>
                        <a:pt x="189" y="440"/>
                      </a:lnTo>
                      <a:lnTo>
                        <a:pt x="202" y="448"/>
                      </a:lnTo>
                      <a:lnTo>
                        <a:pt x="217" y="452"/>
                      </a:lnTo>
                      <a:lnTo>
                        <a:pt x="238" y="456"/>
                      </a:lnTo>
                      <a:lnTo>
                        <a:pt x="253" y="454"/>
                      </a:lnTo>
                      <a:lnTo>
                        <a:pt x="274" y="448"/>
                      </a:lnTo>
                      <a:lnTo>
                        <a:pt x="291" y="438"/>
                      </a:lnTo>
                      <a:lnTo>
                        <a:pt x="305" y="428"/>
                      </a:lnTo>
                      <a:lnTo>
                        <a:pt x="320" y="415"/>
                      </a:lnTo>
                      <a:lnTo>
                        <a:pt x="336" y="397"/>
                      </a:lnTo>
                      <a:lnTo>
                        <a:pt x="347" y="381"/>
                      </a:lnTo>
                      <a:lnTo>
                        <a:pt x="357" y="366"/>
                      </a:lnTo>
                      <a:lnTo>
                        <a:pt x="365" y="353"/>
                      </a:lnTo>
                      <a:lnTo>
                        <a:pt x="372" y="329"/>
                      </a:lnTo>
                      <a:lnTo>
                        <a:pt x="380" y="294"/>
                      </a:lnTo>
                      <a:lnTo>
                        <a:pt x="387" y="240"/>
                      </a:lnTo>
                      <a:lnTo>
                        <a:pt x="723" y="240"/>
                      </a:lnTo>
                      <a:lnTo>
                        <a:pt x="723" y="312"/>
                      </a:lnTo>
                      <a:lnTo>
                        <a:pt x="747" y="312"/>
                      </a:lnTo>
                      <a:lnTo>
                        <a:pt x="747" y="360"/>
                      </a:lnTo>
                      <a:lnTo>
                        <a:pt x="723" y="360"/>
                      </a:lnTo>
                      <a:lnTo>
                        <a:pt x="723" y="408"/>
                      </a:lnTo>
                      <a:lnTo>
                        <a:pt x="795" y="408"/>
                      </a:lnTo>
                      <a:lnTo>
                        <a:pt x="795" y="360"/>
                      </a:lnTo>
                      <a:lnTo>
                        <a:pt x="795" y="312"/>
                      </a:lnTo>
                      <a:lnTo>
                        <a:pt x="795" y="288"/>
                      </a:lnTo>
                      <a:lnTo>
                        <a:pt x="867" y="288"/>
                      </a:lnTo>
                      <a:lnTo>
                        <a:pt x="867" y="408"/>
                      </a:lnTo>
                      <a:lnTo>
                        <a:pt x="939" y="408"/>
                      </a:lnTo>
                      <a:lnTo>
                        <a:pt x="939" y="360"/>
                      </a:lnTo>
                      <a:lnTo>
                        <a:pt x="915" y="360"/>
                      </a:lnTo>
                      <a:lnTo>
                        <a:pt x="915" y="312"/>
                      </a:lnTo>
                      <a:lnTo>
                        <a:pt x="939" y="312"/>
                      </a:lnTo>
                      <a:lnTo>
                        <a:pt x="939" y="240"/>
                      </a:lnTo>
                      <a:lnTo>
                        <a:pt x="987" y="240"/>
                      </a:lnTo>
                      <a:lnTo>
                        <a:pt x="994" y="234"/>
                      </a:lnTo>
                      <a:lnTo>
                        <a:pt x="998" y="225"/>
                      </a:lnTo>
                      <a:lnTo>
                        <a:pt x="1000" y="214"/>
                      </a:lnTo>
                      <a:lnTo>
                        <a:pt x="1001" y="203"/>
                      </a:lnTo>
                      <a:lnTo>
                        <a:pt x="1003" y="188"/>
                      </a:lnTo>
                      <a:lnTo>
                        <a:pt x="1000" y="171"/>
                      </a:lnTo>
                      <a:lnTo>
                        <a:pt x="997" y="159"/>
                      </a:lnTo>
                      <a:lnTo>
                        <a:pt x="992" y="149"/>
                      </a:lnTo>
                      <a:lnTo>
                        <a:pt x="987" y="144"/>
                      </a:lnTo>
                      <a:close/>
                    </a:path>
                  </a:pathLst>
                </a:custGeom>
                <a:gradFill rotWithShape="0">
                  <a:gsLst>
                    <a:gs pos="0">
                      <a:srgbClr val="FF9900">
                        <a:gamma/>
                        <a:tint val="53725"/>
                        <a:invGamma/>
                      </a:srgbClr>
                    </a:gs>
                    <a:gs pos="100000">
                      <a:srgbClr val="FF9900"/>
                    </a:gs>
                  </a:gsLst>
                  <a:lin ang="0" scaled="1"/>
                </a:gradFill>
                <a:ln w="6350" cmpd="sng">
                  <a:solidFill>
                    <a:schemeClr val="tx1"/>
                  </a:solidFill>
                  <a:round/>
                  <a:headEnd/>
                  <a:tailEnd/>
                </a:ln>
                <a:effectLst>
                  <a:outerShdw dist="35921" dir="2700000" algn="ctr" rotWithShape="0">
                    <a:schemeClr val="tx1"/>
                  </a:outerShdw>
                </a:effectLst>
              </p:spPr>
              <p:txBody>
                <a:bodyPr/>
                <a:lstStyle/>
                <a:p>
                  <a:endParaRPr lang="fr-BE"/>
                </a:p>
              </p:txBody>
            </p:sp>
            <p:sp>
              <p:nvSpPr>
                <p:cNvPr id="49289" name="Oval 137"/>
                <p:cNvSpPr>
                  <a:spLocks noChangeArrowheads="1"/>
                </p:cNvSpPr>
                <p:nvPr/>
              </p:nvSpPr>
              <p:spPr bwMode="auto">
                <a:xfrm>
                  <a:off x="4534" y="933"/>
                  <a:ext cx="51" cy="50"/>
                </a:xfrm>
                <a:prstGeom prst="ellipse">
                  <a:avLst/>
                </a:prstGeom>
                <a:solidFill>
                  <a:schemeClr val="tx1"/>
                </a:solidFill>
                <a:ln w="19050">
                  <a:noFill/>
                  <a:round/>
                  <a:headEnd/>
                  <a:tailEnd/>
                </a:ln>
                <a:effectLst/>
              </p:spPr>
              <p:txBody>
                <a:bodyPr wrap="none" tIns="27432" bIns="27432" anchor="ctr">
                  <a:spAutoFit/>
                </a:bodyPr>
                <a:lstStyle/>
                <a:p>
                  <a:endParaRPr lang="fr-BE"/>
                </a:p>
              </p:txBody>
            </p:sp>
          </p:grpSp>
          <p:grpSp>
            <p:nvGrpSpPr>
              <p:cNvPr id="49290" name="Group 138"/>
              <p:cNvGrpSpPr>
                <a:grpSpLocks/>
              </p:cNvGrpSpPr>
              <p:nvPr/>
            </p:nvGrpSpPr>
            <p:grpSpPr bwMode="auto">
              <a:xfrm>
                <a:off x="1392" y="2640"/>
                <a:ext cx="664" cy="300"/>
                <a:chOff x="4491" y="808"/>
                <a:chExt cx="664" cy="300"/>
              </a:xfrm>
            </p:grpSpPr>
            <p:sp>
              <p:nvSpPr>
                <p:cNvPr id="49291" name="Freeform 139"/>
                <p:cNvSpPr>
                  <a:spLocks/>
                </p:cNvSpPr>
                <p:nvPr/>
              </p:nvSpPr>
              <p:spPr bwMode="auto">
                <a:xfrm>
                  <a:off x="4491" y="808"/>
                  <a:ext cx="664" cy="300"/>
                </a:xfrm>
                <a:custGeom>
                  <a:avLst/>
                  <a:gdLst/>
                  <a:ahLst/>
                  <a:cxnLst>
                    <a:cxn ang="0">
                      <a:pos x="387" y="144"/>
                    </a:cxn>
                    <a:cxn ang="0">
                      <a:pos x="359" y="119"/>
                    </a:cxn>
                    <a:cxn ang="0">
                      <a:pos x="340" y="75"/>
                    </a:cxn>
                    <a:cxn ang="0">
                      <a:pos x="311" y="32"/>
                    </a:cxn>
                    <a:cxn ang="0">
                      <a:pos x="275" y="8"/>
                    </a:cxn>
                    <a:cxn ang="0">
                      <a:pos x="229" y="0"/>
                    </a:cxn>
                    <a:cxn ang="0">
                      <a:pos x="186" y="19"/>
                    </a:cxn>
                    <a:cxn ang="0">
                      <a:pos x="150" y="55"/>
                    </a:cxn>
                    <a:cxn ang="0">
                      <a:pos x="124" y="109"/>
                    </a:cxn>
                    <a:cxn ang="0">
                      <a:pos x="81" y="123"/>
                    </a:cxn>
                    <a:cxn ang="0">
                      <a:pos x="46" y="143"/>
                    </a:cxn>
                    <a:cxn ang="0">
                      <a:pos x="18" y="174"/>
                    </a:cxn>
                    <a:cxn ang="0">
                      <a:pos x="4" y="207"/>
                    </a:cxn>
                    <a:cxn ang="0">
                      <a:pos x="1" y="241"/>
                    </a:cxn>
                    <a:cxn ang="0">
                      <a:pos x="10" y="272"/>
                    </a:cxn>
                    <a:cxn ang="0">
                      <a:pos x="25" y="293"/>
                    </a:cxn>
                    <a:cxn ang="0">
                      <a:pos x="45" y="312"/>
                    </a:cxn>
                    <a:cxn ang="0">
                      <a:pos x="74" y="330"/>
                    </a:cxn>
                    <a:cxn ang="0">
                      <a:pos x="105" y="342"/>
                    </a:cxn>
                    <a:cxn ang="0">
                      <a:pos x="129" y="362"/>
                    </a:cxn>
                    <a:cxn ang="0">
                      <a:pos x="145" y="395"/>
                    </a:cxn>
                    <a:cxn ang="0">
                      <a:pos x="165" y="419"/>
                    </a:cxn>
                    <a:cxn ang="0">
                      <a:pos x="189" y="440"/>
                    </a:cxn>
                    <a:cxn ang="0">
                      <a:pos x="217" y="452"/>
                    </a:cxn>
                    <a:cxn ang="0">
                      <a:pos x="253" y="454"/>
                    </a:cxn>
                    <a:cxn ang="0">
                      <a:pos x="291" y="438"/>
                    </a:cxn>
                    <a:cxn ang="0">
                      <a:pos x="320" y="415"/>
                    </a:cxn>
                    <a:cxn ang="0">
                      <a:pos x="347" y="381"/>
                    </a:cxn>
                    <a:cxn ang="0">
                      <a:pos x="365" y="353"/>
                    </a:cxn>
                    <a:cxn ang="0">
                      <a:pos x="380" y="294"/>
                    </a:cxn>
                    <a:cxn ang="0">
                      <a:pos x="723" y="240"/>
                    </a:cxn>
                    <a:cxn ang="0">
                      <a:pos x="747" y="312"/>
                    </a:cxn>
                    <a:cxn ang="0">
                      <a:pos x="723" y="360"/>
                    </a:cxn>
                    <a:cxn ang="0">
                      <a:pos x="795" y="408"/>
                    </a:cxn>
                    <a:cxn ang="0">
                      <a:pos x="795" y="312"/>
                    </a:cxn>
                    <a:cxn ang="0">
                      <a:pos x="867" y="288"/>
                    </a:cxn>
                    <a:cxn ang="0">
                      <a:pos x="939" y="408"/>
                    </a:cxn>
                    <a:cxn ang="0">
                      <a:pos x="915" y="360"/>
                    </a:cxn>
                    <a:cxn ang="0">
                      <a:pos x="939" y="312"/>
                    </a:cxn>
                    <a:cxn ang="0">
                      <a:pos x="987" y="240"/>
                    </a:cxn>
                    <a:cxn ang="0">
                      <a:pos x="998" y="225"/>
                    </a:cxn>
                    <a:cxn ang="0">
                      <a:pos x="1001" y="203"/>
                    </a:cxn>
                    <a:cxn ang="0">
                      <a:pos x="1000" y="171"/>
                    </a:cxn>
                    <a:cxn ang="0">
                      <a:pos x="992" y="149"/>
                    </a:cxn>
                  </a:cxnLst>
                  <a:rect l="0" t="0" r="r" b="b"/>
                  <a:pathLst>
                    <a:path w="1003" h="456">
                      <a:moveTo>
                        <a:pt x="987" y="144"/>
                      </a:moveTo>
                      <a:lnTo>
                        <a:pt x="387" y="144"/>
                      </a:lnTo>
                      <a:lnTo>
                        <a:pt x="363" y="143"/>
                      </a:lnTo>
                      <a:lnTo>
                        <a:pt x="359" y="119"/>
                      </a:lnTo>
                      <a:lnTo>
                        <a:pt x="349" y="95"/>
                      </a:lnTo>
                      <a:lnTo>
                        <a:pt x="340" y="75"/>
                      </a:lnTo>
                      <a:lnTo>
                        <a:pt x="325" y="49"/>
                      </a:lnTo>
                      <a:lnTo>
                        <a:pt x="311" y="32"/>
                      </a:lnTo>
                      <a:lnTo>
                        <a:pt x="296" y="20"/>
                      </a:lnTo>
                      <a:lnTo>
                        <a:pt x="275" y="8"/>
                      </a:lnTo>
                      <a:lnTo>
                        <a:pt x="253" y="3"/>
                      </a:lnTo>
                      <a:lnTo>
                        <a:pt x="229" y="0"/>
                      </a:lnTo>
                      <a:lnTo>
                        <a:pt x="205" y="7"/>
                      </a:lnTo>
                      <a:lnTo>
                        <a:pt x="186" y="19"/>
                      </a:lnTo>
                      <a:lnTo>
                        <a:pt x="166" y="35"/>
                      </a:lnTo>
                      <a:lnTo>
                        <a:pt x="150" y="55"/>
                      </a:lnTo>
                      <a:lnTo>
                        <a:pt x="138" y="77"/>
                      </a:lnTo>
                      <a:lnTo>
                        <a:pt x="124" y="109"/>
                      </a:lnTo>
                      <a:lnTo>
                        <a:pt x="101" y="115"/>
                      </a:lnTo>
                      <a:lnTo>
                        <a:pt x="81" y="123"/>
                      </a:lnTo>
                      <a:lnTo>
                        <a:pt x="65" y="130"/>
                      </a:lnTo>
                      <a:lnTo>
                        <a:pt x="46" y="143"/>
                      </a:lnTo>
                      <a:lnTo>
                        <a:pt x="31" y="157"/>
                      </a:lnTo>
                      <a:lnTo>
                        <a:pt x="18" y="174"/>
                      </a:lnTo>
                      <a:lnTo>
                        <a:pt x="9" y="188"/>
                      </a:lnTo>
                      <a:lnTo>
                        <a:pt x="4" y="207"/>
                      </a:lnTo>
                      <a:lnTo>
                        <a:pt x="0" y="227"/>
                      </a:lnTo>
                      <a:lnTo>
                        <a:pt x="1" y="241"/>
                      </a:lnTo>
                      <a:lnTo>
                        <a:pt x="5" y="257"/>
                      </a:lnTo>
                      <a:lnTo>
                        <a:pt x="10" y="272"/>
                      </a:lnTo>
                      <a:lnTo>
                        <a:pt x="16" y="281"/>
                      </a:lnTo>
                      <a:lnTo>
                        <a:pt x="25" y="293"/>
                      </a:lnTo>
                      <a:lnTo>
                        <a:pt x="33" y="302"/>
                      </a:lnTo>
                      <a:lnTo>
                        <a:pt x="45" y="312"/>
                      </a:lnTo>
                      <a:lnTo>
                        <a:pt x="61" y="322"/>
                      </a:lnTo>
                      <a:lnTo>
                        <a:pt x="74" y="330"/>
                      </a:lnTo>
                      <a:lnTo>
                        <a:pt x="86" y="336"/>
                      </a:lnTo>
                      <a:lnTo>
                        <a:pt x="105" y="342"/>
                      </a:lnTo>
                      <a:lnTo>
                        <a:pt x="124" y="346"/>
                      </a:lnTo>
                      <a:lnTo>
                        <a:pt x="129" y="362"/>
                      </a:lnTo>
                      <a:lnTo>
                        <a:pt x="135" y="377"/>
                      </a:lnTo>
                      <a:lnTo>
                        <a:pt x="145" y="395"/>
                      </a:lnTo>
                      <a:lnTo>
                        <a:pt x="154" y="406"/>
                      </a:lnTo>
                      <a:lnTo>
                        <a:pt x="165" y="419"/>
                      </a:lnTo>
                      <a:lnTo>
                        <a:pt x="176" y="431"/>
                      </a:lnTo>
                      <a:lnTo>
                        <a:pt x="189" y="440"/>
                      </a:lnTo>
                      <a:lnTo>
                        <a:pt x="202" y="448"/>
                      </a:lnTo>
                      <a:lnTo>
                        <a:pt x="217" y="452"/>
                      </a:lnTo>
                      <a:lnTo>
                        <a:pt x="238" y="456"/>
                      </a:lnTo>
                      <a:lnTo>
                        <a:pt x="253" y="454"/>
                      </a:lnTo>
                      <a:lnTo>
                        <a:pt x="274" y="448"/>
                      </a:lnTo>
                      <a:lnTo>
                        <a:pt x="291" y="438"/>
                      </a:lnTo>
                      <a:lnTo>
                        <a:pt x="305" y="428"/>
                      </a:lnTo>
                      <a:lnTo>
                        <a:pt x="320" y="415"/>
                      </a:lnTo>
                      <a:lnTo>
                        <a:pt x="336" y="397"/>
                      </a:lnTo>
                      <a:lnTo>
                        <a:pt x="347" y="381"/>
                      </a:lnTo>
                      <a:lnTo>
                        <a:pt x="357" y="366"/>
                      </a:lnTo>
                      <a:lnTo>
                        <a:pt x="365" y="353"/>
                      </a:lnTo>
                      <a:lnTo>
                        <a:pt x="372" y="329"/>
                      </a:lnTo>
                      <a:lnTo>
                        <a:pt x="380" y="294"/>
                      </a:lnTo>
                      <a:lnTo>
                        <a:pt x="387" y="240"/>
                      </a:lnTo>
                      <a:lnTo>
                        <a:pt x="723" y="240"/>
                      </a:lnTo>
                      <a:lnTo>
                        <a:pt x="723" y="312"/>
                      </a:lnTo>
                      <a:lnTo>
                        <a:pt x="747" y="312"/>
                      </a:lnTo>
                      <a:lnTo>
                        <a:pt x="747" y="360"/>
                      </a:lnTo>
                      <a:lnTo>
                        <a:pt x="723" y="360"/>
                      </a:lnTo>
                      <a:lnTo>
                        <a:pt x="723" y="408"/>
                      </a:lnTo>
                      <a:lnTo>
                        <a:pt x="795" y="408"/>
                      </a:lnTo>
                      <a:lnTo>
                        <a:pt x="795" y="360"/>
                      </a:lnTo>
                      <a:lnTo>
                        <a:pt x="795" y="312"/>
                      </a:lnTo>
                      <a:lnTo>
                        <a:pt x="795" y="288"/>
                      </a:lnTo>
                      <a:lnTo>
                        <a:pt x="867" y="288"/>
                      </a:lnTo>
                      <a:lnTo>
                        <a:pt x="867" y="408"/>
                      </a:lnTo>
                      <a:lnTo>
                        <a:pt x="939" y="408"/>
                      </a:lnTo>
                      <a:lnTo>
                        <a:pt x="939" y="360"/>
                      </a:lnTo>
                      <a:lnTo>
                        <a:pt x="915" y="360"/>
                      </a:lnTo>
                      <a:lnTo>
                        <a:pt x="915" y="312"/>
                      </a:lnTo>
                      <a:lnTo>
                        <a:pt x="939" y="312"/>
                      </a:lnTo>
                      <a:lnTo>
                        <a:pt x="939" y="240"/>
                      </a:lnTo>
                      <a:lnTo>
                        <a:pt x="987" y="240"/>
                      </a:lnTo>
                      <a:lnTo>
                        <a:pt x="994" y="234"/>
                      </a:lnTo>
                      <a:lnTo>
                        <a:pt x="998" y="225"/>
                      </a:lnTo>
                      <a:lnTo>
                        <a:pt x="1000" y="214"/>
                      </a:lnTo>
                      <a:lnTo>
                        <a:pt x="1001" y="203"/>
                      </a:lnTo>
                      <a:lnTo>
                        <a:pt x="1003" y="188"/>
                      </a:lnTo>
                      <a:lnTo>
                        <a:pt x="1000" y="171"/>
                      </a:lnTo>
                      <a:lnTo>
                        <a:pt x="997" y="159"/>
                      </a:lnTo>
                      <a:lnTo>
                        <a:pt x="992" y="149"/>
                      </a:lnTo>
                      <a:lnTo>
                        <a:pt x="987" y="144"/>
                      </a:lnTo>
                      <a:close/>
                    </a:path>
                  </a:pathLst>
                </a:custGeom>
                <a:gradFill rotWithShape="0">
                  <a:gsLst>
                    <a:gs pos="0">
                      <a:srgbClr val="FF9900">
                        <a:gamma/>
                        <a:tint val="53725"/>
                        <a:invGamma/>
                      </a:srgbClr>
                    </a:gs>
                    <a:gs pos="100000">
                      <a:srgbClr val="FF9900"/>
                    </a:gs>
                  </a:gsLst>
                  <a:lin ang="0" scaled="1"/>
                </a:gradFill>
                <a:ln w="6350" cmpd="sng">
                  <a:solidFill>
                    <a:schemeClr val="tx1"/>
                  </a:solidFill>
                  <a:round/>
                  <a:headEnd/>
                  <a:tailEnd/>
                </a:ln>
                <a:effectLst>
                  <a:outerShdw dist="35921" dir="2700000" algn="ctr" rotWithShape="0">
                    <a:schemeClr val="tx1"/>
                  </a:outerShdw>
                </a:effectLst>
              </p:spPr>
              <p:txBody>
                <a:bodyPr/>
                <a:lstStyle/>
                <a:p>
                  <a:endParaRPr lang="fr-BE"/>
                </a:p>
              </p:txBody>
            </p:sp>
            <p:sp>
              <p:nvSpPr>
                <p:cNvPr id="49292" name="Oval 140"/>
                <p:cNvSpPr>
                  <a:spLocks noChangeArrowheads="1"/>
                </p:cNvSpPr>
                <p:nvPr/>
              </p:nvSpPr>
              <p:spPr bwMode="auto">
                <a:xfrm>
                  <a:off x="4534" y="933"/>
                  <a:ext cx="51" cy="50"/>
                </a:xfrm>
                <a:prstGeom prst="ellipse">
                  <a:avLst/>
                </a:prstGeom>
                <a:solidFill>
                  <a:schemeClr val="tx1"/>
                </a:solidFill>
                <a:ln w="19050">
                  <a:noFill/>
                  <a:round/>
                  <a:headEnd/>
                  <a:tailEnd/>
                </a:ln>
                <a:effectLst/>
              </p:spPr>
              <p:txBody>
                <a:bodyPr wrap="none" tIns="27432" bIns="27432" anchor="ctr">
                  <a:spAutoFit/>
                </a:bodyPr>
                <a:lstStyle/>
                <a:p>
                  <a:endParaRPr lang="fr-BE"/>
                </a:p>
              </p:txBody>
            </p:sp>
          </p:grpSp>
          <p:grpSp>
            <p:nvGrpSpPr>
              <p:cNvPr id="49293" name="Group 141"/>
              <p:cNvGrpSpPr>
                <a:grpSpLocks/>
              </p:cNvGrpSpPr>
              <p:nvPr/>
            </p:nvGrpSpPr>
            <p:grpSpPr bwMode="auto">
              <a:xfrm>
                <a:off x="1392" y="3216"/>
                <a:ext cx="664" cy="300"/>
                <a:chOff x="4491" y="808"/>
                <a:chExt cx="664" cy="300"/>
              </a:xfrm>
            </p:grpSpPr>
            <p:sp>
              <p:nvSpPr>
                <p:cNvPr id="49294" name="Freeform 142"/>
                <p:cNvSpPr>
                  <a:spLocks/>
                </p:cNvSpPr>
                <p:nvPr/>
              </p:nvSpPr>
              <p:spPr bwMode="auto">
                <a:xfrm>
                  <a:off x="4491" y="808"/>
                  <a:ext cx="664" cy="300"/>
                </a:xfrm>
                <a:custGeom>
                  <a:avLst/>
                  <a:gdLst/>
                  <a:ahLst/>
                  <a:cxnLst>
                    <a:cxn ang="0">
                      <a:pos x="387" y="144"/>
                    </a:cxn>
                    <a:cxn ang="0">
                      <a:pos x="359" y="119"/>
                    </a:cxn>
                    <a:cxn ang="0">
                      <a:pos x="340" y="75"/>
                    </a:cxn>
                    <a:cxn ang="0">
                      <a:pos x="311" y="32"/>
                    </a:cxn>
                    <a:cxn ang="0">
                      <a:pos x="275" y="8"/>
                    </a:cxn>
                    <a:cxn ang="0">
                      <a:pos x="229" y="0"/>
                    </a:cxn>
                    <a:cxn ang="0">
                      <a:pos x="186" y="19"/>
                    </a:cxn>
                    <a:cxn ang="0">
                      <a:pos x="150" y="55"/>
                    </a:cxn>
                    <a:cxn ang="0">
                      <a:pos x="124" y="109"/>
                    </a:cxn>
                    <a:cxn ang="0">
                      <a:pos x="81" y="123"/>
                    </a:cxn>
                    <a:cxn ang="0">
                      <a:pos x="46" y="143"/>
                    </a:cxn>
                    <a:cxn ang="0">
                      <a:pos x="18" y="174"/>
                    </a:cxn>
                    <a:cxn ang="0">
                      <a:pos x="4" y="207"/>
                    </a:cxn>
                    <a:cxn ang="0">
                      <a:pos x="1" y="241"/>
                    </a:cxn>
                    <a:cxn ang="0">
                      <a:pos x="10" y="272"/>
                    </a:cxn>
                    <a:cxn ang="0">
                      <a:pos x="25" y="293"/>
                    </a:cxn>
                    <a:cxn ang="0">
                      <a:pos x="45" y="312"/>
                    </a:cxn>
                    <a:cxn ang="0">
                      <a:pos x="74" y="330"/>
                    </a:cxn>
                    <a:cxn ang="0">
                      <a:pos x="105" y="342"/>
                    </a:cxn>
                    <a:cxn ang="0">
                      <a:pos x="129" y="362"/>
                    </a:cxn>
                    <a:cxn ang="0">
                      <a:pos x="145" y="395"/>
                    </a:cxn>
                    <a:cxn ang="0">
                      <a:pos x="165" y="419"/>
                    </a:cxn>
                    <a:cxn ang="0">
                      <a:pos x="189" y="440"/>
                    </a:cxn>
                    <a:cxn ang="0">
                      <a:pos x="217" y="452"/>
                    </a:cxn>
                    <a:cxn ang="0">
                      <a:pos x="253" y="454"/>
                    </a:cxn>
                    <a:cxn ang="0">
                      <a:pos x="291" y="438"/>
                    </a:cxn>
                    <a:cxn ang="0">
                      <a:pos x="320" y="415"/>
                    </a:cxn>
                    <a:cxn ang="0">
                      <a:pos x="347" y="381"/>
                    </a:cxn>
                    <a:cxn ang="0">
                      <a:pos x="365" y="353"/>
                    </a:cxn>
                    <a:cxn ang="0">
                      <a:pos x="380" y="294"/>
                    </a:cxn>
                    <a:cxn ang="0">
                      <a:pos x="723" y="240"/>
                    </a:cxn>
                    <a:cxn ang="0">
                      <a:pos x="747" y="312"/>
                    </a:cxn>
                    <a:cxn ang="0">
                      <a:pos x="723" y="360"/>
                    </a:cxn>
                    <a:cxn ang="0">
                      <a:pos x="795" y="408"/>
                    </a:cxn>
                    <a:cxn ang="0">
                      <a:pos x="795" y="312"/>
                    </a:cxn>
                    <a:cxn ang="0">
                      <a:pos x="867" y="288"/>
                    </a:cxn>
                    <a:cxn ang="0">
                      <a:pos x="939" y="408"/>
                    </a:cxn>
                    <a:cxn ang="0">
                      <a:pos x="915" y="360"/>
                    </a:cxn>
                    <a:cxn ang="0">
                      <a:pos x="939" y="312"/>
                    </a:cxn>
                    <a:cxn ang="0">
                      <a:pos x="987" y="240"/>
                    </a:cxn>
                    <a:cxn ang="0">
                      <a:pos x="998" y="225"/>
                    </a:cxn>
                    <a:cxn ang="0">
                      <a:pos x="1001" y="203"/>
                    </a:cxn>
                    <a:cxn ang="0">
                      <a:pos x="1000" y="171"/>
                    </a:cxn>
                    <a:cxn ang="0">
                      <a:pos x="992" y="149"/>
                    </a:cxn>
                  </a:cxnLst>
                  <a:rect l="0" t="0" r="r" b="b"/>
                  <a:pathLst>
                    <a:path w="1003" h="456">
                      <a:moveTo>
                        <a:pt x="987" y="144"/>
                      </a:moveTo>
                      <a:lnTo>
                        <a:pt x="387" y="144"/>
                      </a:lnTo>
                      <a:lnTo>
                        <a:pt x="363" y="143"/>
                      </a:lnTo>
                      <a:lnTo>
                        <a:pt x="359" y="119"/>
                      </a:lnTo>
                      <a:lnTo>
                        <a:pt x="349" y="95"/>
                      </a:lnTo>
                      <a:lnTo>
                        <a:pt x="340" y="75"/>
                      </a:lnTo>
                      <a:lnTo>
                        <a:pt x="325" y="49"/>
                      </a:lnTo>
                      <a:lnTo>
                        <a:pt x="311" y="32"/>
                      </a:lnTo>
                      <a:lnTo>
                        <a:pt x="296" y="20"/>
                      </a:lnTo>
                      <a:lnTo>
                        <a:pt x="275" y="8"/>
                      </a:lnTo>
                      <a:lnTo>
                        <a:pt x="253" y="3"/>
                      </a:lnTo>
                      <a:lnTo>
                        <a:pt x="229" y="0"/>
                      </a:lnTo>
                      <a:lnTo>
                        <a:pt x="205" y="7"/>
                      </a:lnTo>
                      <a:lnTo>
                        <a:pt x="186" y="19"/>
                      </a:lnTo>
                      <a:lnTo>
                        <a:pt x="166" y="35"/>
                      </a:lnTo>
                      <a:lnTo>
                        <a:pt x="150" y="55"/>
                      </a:lnTo>
                      <a:lnTo>
                        <a:pt x="138" y="77"/>
                      </a:lnTo>
                      <a:lnTo>
                        <a:pt x="124" y="109"/>
                      </a:lnTo>
                      <a:lnTo>
                        <a:pt x="101" y="115"/>
                      </a:lnTo>
                      <a:lnTo>
                        <a:pt x="81" y="123"/>
                      </a:lnTo>
                      <a:lnTo>
                        <a:pt x="65" y="130"/>
                      </a:lnTo>
                      <a:lnTo>
                        <a:pt x="46" y="143"/>
                      </a:lnTo>
                      <a:lnTo>
                        <a:pt x="31" y="157"/>
                      </a:lnTo>
                      <a:lnTo>
                        <a:pt x="18" y="174"/>
                      </a:lnTo>
                      <a:lnTo>
                        <a:pt x="9" y="188"/>
                      </a:lnTo>
                      <a:lnTo>
                        <a:pt x="4" y="207"/>
                      </a:lnTo>
                      <a:lnTo>
                        <a:pt x="0" y="227"/>
                      </a:lnTo>
                      <a:lnTo>
                        <a:pt x="1" y="241"/>
                      </a:lnTo>
                      <a:lnTo>
                        <a:pt x="5" y="257"/>
                      </a:lnTo>
                      <a:lnTo>
                        <a:pt x="10" y="272"/>
                      </a:lnTo>
                      <a:lnTo>
                        <a:pt x="16" y="281"/>
                      </a:lnTo>
                      <a:lnTo>
                        <a:pt x="25" y="293"/>
                      </a:lnTo>
                      <a:lnTo>
                        <a:pt x="33" y="302"/>
                      </a:lnTo>
                      <a:lnTo>
                        <a:pt x="45" y="312"/>
                      </a:lnTo>
                      <a:lnTo>
                        <a:pt x="61" y="322"/>
                      </a:lnTo>
                      <a:lnTo>
                        <a:pt x="74" y="330"/>
                      </a:lnTo>
                      <a:lnTo>
                        <a:pt x="86" y="336"/>
                      </a:lnTo>
                      <a:lnTo>
                        <a:pt x="105" y="342"/>
                      </a:lnTo>
                      <a:lnTo>
                        <a:pt x="124" y="346"/>
                      </a:lnTo>
                      <a:lnTo>
                        <a:pt x="129" y="362"/>
                      </a:lnTo>
                      <a:lnTo>
                        <a:pt x="135" y="377"/>
                      </a:lnTo>
                      <a:lnTo>
                        <a:pt x="145" y="395"/>
                      </a:lnTo>
                      <a:lnTo>
                        <a:pt x="154" y="406"/>
                      </a:lnTo>
                      <a:lnTo>
                        <a:pt x="165" y="419"/>
                      </a:lnTo>
                      <a:lnTo>
                        <a:pt x="176" y="431"/>
                      </a:lnTo>
                      <a:lnTo>
                        <a:pt x="189" y="440"/>
                      </a:lnTo>
                      <a:lnTo>
                        <a:pt x="202" y="448"/>
                      </a:lnTo>
                      <a:lnTo>
                        <a:pt x="217" y="452"/>
                      </a:lnTo>
                      <a:lnTo>
                        <a:pt x="238" y="456"/>
                      </a:lnTo>
                      <a:lnTo>
                        <a:pt x="253" y="454"/>
                      </a:lnTo>
                      <a:lnTo>
                        <a:pt x="274" y="448"/>
                      </a:lnTo>
                      <a:lnTo>
                        <a:pt x="291" y="438"/>
                      </a:lnTo>
                      <a:lnTo>
                        <a:pt x="305" y="428"/>
                      </a:lnTo>
                      <a:lnTo>
                        <a:pt x="320" y="415"/>
                      </a:lnTo>
                      <a:lnTo>
                        <a:pt x="336" y="397"/>
                      </a:lnTo>
                      <a:lnTo>
                        <a:pt x="347" y="381"/>
                      </a:lnTo>
                      <a:lnTo>
                        <a:pt x="357" y="366"/>
                      </a:lnTo>
                      <a:lnTo>
                        <a:pt x="365" y="353"/>
                      </a:lnTo>
                      <a:lnTo>
                        <a:pt x="372" y="329"/>
                      </a:lnTo>
                      <a:lnTo>
                        <a:pt x="380" y="294"/>
                      </a:lnTo>
                      <a:lnTo>
                        <a:pt x="387" y="240"/>
                      </a:lnTo>
                      <a:lnTo>
                        <a:pt x="723" y="240"/>
                      </a:lnTo>
                      <a:lnTo>
                        <a:pt x="723" y="312"/>
                      </a:lnTo>
                      <a:lnTo>
                        <a:pt x="747" y="312"/>
                      </a:lnTo>
                      <a:lnTo>
                        <a:pt x="747" y="360"/>
                      </a:lnTo>
                      <a:lnTo>
                        <a:pt x="723" y="360"/>
                      </a:lnTo>
                      <a:lnTo>
                        <a:pt x="723" y="408"/>
                      </a:lnTo>
                      <a:lnTo>
                        <a:pt x="795" y="408"/>
                      </a:lnTo>
                      <a:lnTo>
                        <a:pt x="795" y="360"/>
                      </a:lnTo>
                      <a:lnTo>
                        <a:pt x="795" y="312"/>
                      </a:lnTo>
                      <a:lnTo>
                        <a:pt x="795" y="288"/>
                      </a:lnTo>
                      <a:lnTo>
                        <a:pt x="867" y="288"/>
                      </a:lnTo>
                      <a:lnTo>
                        <a:pt x="867" y="408"/>
                      </a:lnTo>
                      <a:lnTo>
                        <a:pt x="939" y="408"/>
                      </a:lnTo>
                      <a:lnTo>
                        <a:pt x="939" y="360"/>
                      </a:lnTo>
                      <a:lnTo>
                        <a:pt x="915" y="360"/>
                      </a:lnTo>
                      <a:lnTo>
                        <a:pt x="915" y="312"/>
                      </a:lnTo>
                      <a:lnTo>
                        <a:pt x="939" y="312"/>
                      </a:lnTo>
                      <a:lnTo>
                        <a:pt x="939" y="240"/>
                      </a:lnTo>
                      <a:lnTo>
                        <a:pt x="987" y="240"/>
                      </a:lnTo>
                      <a:lnTo>
                        <a:pt x="994" y="234"/>
                      </a:lnTo>
                      <a:lnTo>
                        <a:pt x="998" y="225"/>
                      </a:lnTo>
                      <a:lnTo>
                        <a:pt x="1000" y="214"/>
                      </a:lnTo>
                      <a:lnTo>
                        <a:pt x="1001" y="203"/>
                      </a:lnTo>
                      <a:lnTo>
                        <a:pt x="1003" y="188"/>
                      </a:lnTo>
                      <a:lnTo>
                        <a:pt x="1000" y="171"/>
                      </a:lnTo>
                      <a:lnTo>
                        <a:pt x="997" y="159"/>
                      </a:lnTo>
                      <a:lnTo>
                        <a:pt x="992" y="149"/>
                      </a:lnTo>
                      <a:lnTo>
                        <a:pt x="987" y="144"/>
                      </a:lnTo>
                      <a:close/>
                    </a:path>
                  </a:pathLst>
                </a:custGeom>
                <a:gradFill rotWithShape="0">
                  <a:gsLst>
                    <a:gs pos="0">
                      <a:srgbClr val="FF9900">
                        <a:gamma/>
                        <a:tint val="53725"/>
                        <a:invGamma/>
                      </a:srgbClr>
                    </a:gs>
                    <a:gs pos="100000">
                      <a:srgbClr val="FF9900"/>
                    </a:gs>
                  </a:gsLst>
                  <a:lin ang="0" scaled="1"/>
                </a:gradFill>
                <a:ln w="6350" cmpd="sng">
                  <a:solidFill>
                    <a:schemeClr val="tx1"/>
                  </a:solidFill>
                  <a:round/>
                  <a:headEnd/>
                  <a:tailEnd/>
                </a:ln>
                <a:effectLst>
                  <a:outerShdw dist="35921" dir="2700000" algn="ctr" rotWithShape="0">
                    <a:schemeClr val="tx1"/>
                  </a:outerShdw>
                </a:effectLst>
              </p:spPr>
              <p:txBody>
                <a:bodyPr/>
                <a:lstStyle/>
                <a:p>
                  <a:endParaRPr lang="fr-BE"/>
                </a:p>
              </p:txBody>
            </p:sp>
            <p:sp>
              <p:nvSpPr>
                <p:cNvPr id="49295" name="Oval 143"/>
                <p:cNvSpPr>
                  <a:spLocks noChangeArrowheads="1"/>
                </p:cNvSpPr>
                <p:nvPr/>
              </p:nvSpPr>
              <p:spPr bwMode="auto">
                <a:xfrm>
                  <a:off x="4534" y="933"/>
                  <a:ext cx="51" cy="50"/>
                </a:xfrm>
                <a:prstGeom prst="ellipse">
                  <a:avLst/>
                </a:prstGeom>
                <a:solidFill>
                  <a:schemeClr val="tx1"/>
                </a:solidFill>
                <a:ln w="19050">
                  <a:noFill/>
                  <a:round/>
                  <a:headEnd/>
                  <a:tailEnd/>
                </a:ln>
                <a:effectLst/>
              </p:spPr>
              <p:txBody>
                <a:bodyPr wrap="none" tIns="27432" bIns="27432" anchor="ctr">
                  <a:spAutoFit/>
                </a:bodyPr>
                <a:lstStyle/>
                <a:p>
                  <a:endParaRPr lang="fr-BE"/>
                </a:p>
              </p:txBody>
            </p:sp>
          </p:grpSp>
        </p:grpSp>
      </p:grpSp>
      <p:grpSp>
        <p:nvGrpSpPr>
          <p:cNvPr id="117" name="Groupe 116"/>
          <p:cNvGrpSpPr/>
          <p:nvPr/>
        </p:nvGrpSpPr>
        <p:grpSpPr>
          <a:xfrm>
            <a:off x="5781368" y="1087596"/>
            <a:ext cx="2482330" cy="2746986"/>
            <a:chOff x="4948238" y="1235075"/>
            <a:chExt cx="2681287" cy="2892425"/>
          </a:xfrm>
        </p:grpSpPr>
        <p:sp>
          <p:nvSpPr>
            <p:cNvPr id="49297" name="AutoShape 145"/>
            <p:cNvSpPr>
              <a:spLocks noChangeArrowheads="1"/>
            </p:cNvSpPr>
            <p:nvPr/>
          </p:nvSpPr>
          <p:spPr bwMode="auto">
            <a:xfrm>
              <a:off x="4948238" y="3201988"/>
              <a:ext cx="2681287" cy="925512"/>
            </a:xfrm>
            <a:prstGeom prst="can">
              <a:avLst>
                <a:gd name="adj" fmla="val 50000"/>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round/>
              <a:headEnd/>
              <a:tailEnd/>
            </a:ln>
            <a:effectLst>
              <a:outerShdw dist="52363" dir="4557825" algn="ctr" rotWithShape="0">
                <a:srgbClr val="C0C0C0"/>
              </a:outerShdw>
            </a:effectLst>
          </p:spPr>
          <p:txBody>
            <a:bodyPr wrap="none" lIns="45720" tIns="228600" rIns="45720" anchor="ctr"/>
            <a:lstStyle/>
            <a:p>
              <a:pPr algn="ctr"/>
              <a:r>
                <a:rPr lang="fr-FR" u="none" dirty="0">
                  <a:solidFill>
                    <a:srgbClr val="FFFFFF"/>
                  </a:solidFill>
                  <a:effectLst>
                    <a:outerShdw blurRad="38100" dist="38100" dir="2700000" algn="tl">
                      <a:srgbClr val="000000"/>
                    </a:outerShdw>
                  </a:effectLst>
                  <a:latin typeface="Arial" charset="0"/>
                </a:rPr>
                <a:t>FAT/FAT32</a:t>
              </a:r>
            </a:p>
          </p:txBody>
        </p:sp>
        <p:sp>
          <p:nvSpPr>
            <p:cNvPr id="49300" name="Oval 148"/>
            <p:cNvSpPr>
              <a:spLocks noChangeArrowheads="1"/>
            </p:cNvSpPr>
            <p:nvPr/>
          </p:nvSpPr>
          <p:spPr bwMode="auto">
            <a:xfrm>
              <a:off x="5334000" y="3300413"/>
              <a:ext cx="1968500" cy="169862"/>
            </a:xfrm>
            <a:prstGeom prst="ellipse">
              <a:avLst/>
            </a:prstGeom>
            <a:gradFill rotWithShape="0">
              <a:gsLst>
                <a:gs pos="0">
                  <a:srgbClr val="CECECE">
                    <a:gamma/>
                    <a:shade val="80000"/>
                    <a:invGamma/>
                  </a:srgbClr>
                </a:gs>
                <a:gs pos="50000">
                  <a:srgbClr val="CECECE"/>
                </a:gs>
                <a:gs pos="100000">
                  <a:srgbClr val="CECECE">
                    <a:gamma/>
                    <a:shade val="80000"/>
                    <a:invGamma/>
                  </a:srgbClr>
                </a:gs>
              </a:gsLst>
              <a:lin ang="2700000" scaled="1"/>
            </a:gradFill>
            <a:ln w="6350">
              <a:solidFill>
                <a:schemeClr val="tx1"/>
              </a:solidFill>
              <a:round/>
              <a:headEnd/>
              <a:tailEnd/>
            </a:ln>
            <a:effectLst>
              <a:outerShdw dist="25400" dir="5400000" algn="ctr" rotWithShape="0">
                <a:srgbClr val="474747"/>
              </a:outerShdw>
            </a:effectLst>
          </p:spPr>
          <p:txBody>
            <a:bodyPr wrap="none" anchor="ctr"/>
            <a:lstStyle/>
            <a:p>
              <a:endParaRPr lang="fr-BE"/>
            </a:p>
          </p:txBody>
        </p:sp>
        <p:sp>
          <p:nvSpPr>
            <p:cNvPr id="49301" name="Arc 149"/>
            <p:cNvSpPr>
              <a:spLocks/>
            </p:cNvSpPr>
            <p:nvPr/>
          </p:nvSpPr>
          <p:spPr bwMode="auto">
            <a:xfrm>
              <a:off x="5473700" y="3375025"/>
              <a:ext cx="595313" cy="42863"/>
            </a:xfrm>
            <a:custGeom>
              <a:avLst/>
              <a:gdLst>
                <a:gd name="G0" fmla="+- 21600 0 0"/>
                <a:gd name="G1" fmla="+- 1722 0 0"/>
                <a:gd name="G2" fmla="+- 21600 0 0"/>
                <a:gd name="T0" fmla="*/ 21600 w 21600"/>
                <a:gd name="T1" fmla="*/ 23322 h 23322"/>
                <a:gd name="T2" fmla="*/ 69 w 21600"/>
                <a:gd name="T3" fmla="*/ 0 h 23322"/>
                <a:gd name="T4" fmla="*/ 21600 w 21600"/>
                <a:gd name="T5" fmla="*/ 1722 h 23322"/>
              </a:gdLst>
              <a:ahLst/>
              <a:cxnLst>
                <a:cxn ang="0">
                  <a:pos x="T0" y="T1"/>
                </a:cxn>
                <a:cxn ang="0">
                  <a:pos x="T2" y="T3"/>
                </a:cxn>
                <a:cxn ang="0">
                  <a:pos x="T4" y="T5"/>
                </a:cxn>
              </a:cxnLst>
              <a:rect l="0" t="0" r="r" b="b"/>
              <a:pathLst>
                <a:path w="21600" h="23322" fill="none" extrusionOk="0">
                  <a:moveTo>
                    <a:pt x="21600" y="23322"/>
                  </a:moveTo>
                  <a:cubicBezTo>
                    <a:pt x="9670" y="23322"/>
                    <a:pt x="0" y="13651"/>
                    <a:pt x="0" y="1722"/>
                  </a:cubicBezTo>
                  <a:cubicBezTo>
                    <a:pt x="-1" y="1147"/>
                    <a:pt x="22" y="572"/>
                    <a:pt x="68" y="-1"/>
                  </a:cubicBezTo>
                </a:path>
                <a:path w="21600" h="23322" stroke="0" extrusionOk="0">
                  <a:moveTo>
                    <a:pt x="21600" y="23322"/>
                  </a:moveTo>
                  <a:cubicBezTo>
                    <a:pt x="9670" y="23322"/>
                    <a:pt x="0" y="13651"/>
                    <a:pt x="0" y="1722"/>
                  </a:cubicBezTo>
                  <a:cubicBezTo>
                    <a:pt x="-1" y="1147"/>
                    <a:pt x="22" y="572"/>
                    <a:pt x="68" y="-1"/>
                  </a:cubicBezTo>
                  <a:lnTo>
                    <a:pt x="21600" y="1722"/>
                  </a:lnTo>
                  <a:close/>
                </a:path>
              </a:pathLst>
            </a:custGeom>
            <a:noFill/>
            <a:ln w="12700" cap="rnd">
              <a:solidFill>
                <a:schemeClr val="bg1"/>
              </a:solidFill>
              <a:round/>
              <a:headEnd/>
              <a:tailEnd/>
            </a:ln>
            <a:effectLst/>
          </p:spPr>
          <p:txBody>
            <a:bodyPr wrap="none" anchor="ctr"/>
            <a:lstStyle/>
            <a:p>
              <a:endParaRPr lang="fr-BE"/>
            </a:p>
          </p:txBody>
        </p:sp>
        <p:sp>
          <p:nvSpPr>
            <p:cNvPr id="49302" name="AutoShape 150"/>
            <p:cNvSpPr>
              <a:spLocks noChangeArrowheads="1"/>
            </p:cNvSpPr>
            <p:nvPr/>
          </p:nvSpPr>
          <p:spPr bwMode="auto">
            <a:xfrm>
              <a:off x="5634038" y="2782888"/>
              <a:ext cx="1365250" cy="566737"/>
            </a:xfrm>
            <a:prstGeom prst="roundRect">
              <a:avLst>
                <a:gd name="adj" fmla="val 49718"/>
              </a:avLst>
            </a:prstGeom>
            <a:solidFill>
              <a:schemeClr val="folHlink"/>
            </a:solidFill>
            <a:ln w="6350">
              <a:solidFill>
                <a:schemeClr val="tx1"/>
              </a:solidFill>
              <a:round/>
              <a:headEnd/>
              <a:tailEnd/>
            </a:ln>
            <a:effectLst/>
          </p:spPr>
          <p:txBody>
            <a:bodyPr wrap="none" anchor="ctr"/>
            <a:lstStyle/>
            <a:p>
              <a:endParaRPr lang="fr-BE"/>
            </a:p>
          </p:txBody>
        </p:sp>
        <p:sp>
          <p:nvSpPr>
            <p:cNvPr id="49304" name="Freeform 152"/>
            <p:cNvSpPr>
              <a:spLocks/>
            </p:cNvSpPr>
            <p:nvPr/>
          </p:nvSpPr>
          <p:spPr bwMode="auto">
            <a:xfrm>
              <a:off x="5018088" y="1235075"/>
              <a:ext cx="2597150" cy="1944688"/>
            </a:xfrm>
            <a:custGeom>
              <a:avLst/>
              <a:gdLst/>
              <a:ahLst/>
              <a:cxnLst>
                <a:cxn ang="0">
                  <a:pos x="0" y="0"/>
                </a:cxn>
                <a:cxn ang="0">
                  <a:pos x="1209" y="0"/>
                </a:cxn>
                <a:cxn ang="0">
                  <a:pos x="1209" y="907"/>
                </a:cxn>
                <a:cxn ang="0">
                  <a:pos x="1133" y="983"/>
                </a:cxn>
                <a:cxn ang="0">
                  <a:pos x="76" y="983"/>
                </a:cxn>
                <a:cxn ang="0">
                  <a:pos x="0" y="902"/>
                </a:cxn>
                <a:cxn ang="0">
                  <a:pos x="0" y="0"/>
                </a:cxn>
              </a:cxnLst>
              <a:rect l="0" t="0" r="r" b="b"/>
              <a:pathLst>
                <a:path w="1209" h="983">
                  <a:moveTo>
                    <a:pt x="0" y="0"/>
                  </a:moveTo>
                  <a:lnTo>
                    <a:pt x="1209" y="0"/>
                  </a:lnTo>
                  <a:lnTo>
                    <a:pt x="1209" y="907"/>
                  </a:lnTo>
                  <a:lnTo>
                    <a:pt x="1133" y="983"/>
                  </a:lnTo>
                  <a:lnTo>
                    <a:pt x="76" y="983"/>
                  </a:lnTo>
                  <a:lnTo>
                    <a:pt x="0" y="902"/>
                  </a:lnTo>
                  <a:lnTo>
                    <a:pt x="0" y="0"/>
                  </a:lnTo>
                </a:path>
              </a:pathLst>
            </a:custGeom>
            <a:solidFill>
              <a:srgbClr val="DADADA"/>
            </a:solidFill>
            <a:ln w="6350" cap="rnd" cmpd="sng">
              <a:solidFill>
                <a:schemeClr val="tx1"/>
              </a:solidFill>
              <a:prstDash val="solid"/>
              <a:round/>
              <a:headEnd type="none" w="med" len="med"/>
              <a:tailEnd type="none" w="med" len="med"/>
            </a:ln>
            <a:effectLst/>
          </p:spPr>
          <p:txBody>
            <a:bodyPr/>
            <a:lstStyle/>
            <a:p>
              <a:endParaRPr lang="fr-BE"/>
            </a:p>
          </p:txBody>
        </p:sp>
        <p:sp>
          <p:nvSpPr>
            <p:cNvPr id="49305" name="Rectangle 153"/>
            <p:cNvSpPr>
              <a:spLocks noChangeArrowheads="1"/>
            </p:cNvSpPr>
            <p:nvPr/>
          </p:nvSpPr>
          <p:spPr bwMode="auto">
            <a:xfrm>
              <a:off x="5156200" y="1414463"/>
              <a:ext cx="2320925" cy="1611312"/>
            </a:xfrm>
            <a:prstGeom prst="rect">
              <a:avLst/>
            </a:prstGeom>
            <a:gradFill rotWithShape="0">
              <a:gsLst>
                <a:gs pos="0">
                  <a:srgbClr val="0066FF">
                    <a:gamma/>
                    <a:tint val="27451"/>
                    <a:invGamma/>
                  </a:srgbClr>
                </a:gs>
                <a:gs pos="100000">
                  <a:srgbClr val="0066FF"/>
                </a:gs>
              </a:gsLst>
              <a:lin ang="2700000" scaled="1"/>
            </a:gradFill>
            <a:ln w="6350">
              <a:solidFill>
                <a:schemeClr val="tx1"/>
              </a:solidFill>
              <a:miter lim="800000"/>
              <a:headEnd/>
              <a:tailEnd/>
            </a:ln>
            <a:effectLst>
              <a:outerShdw dist="17961" dir="2700000" algn="ctr" rotWithShape="0">
                <a:schemeClr val="bg1"/>
              </a:outerShdw>
            </a:effectLst>
          </p:spPr>
          <p:txBody>
            <a:bodyPr wrap="none" anchor="ctr"/>
            <a:lstStyle/>
            <a:p>
              <a:endParaRPr lang="fr-BE"/>
            </a:p>
          </p:txBody>
        </p:sp>
        <p:sp>
          <p:nvSpPr>
            <p:cNvPr id="49306" name="Line 154"/>
            <p:cNvSpPr>
              <a:spLocks noChangeShapeType="1"/>
            </p:cNvSpPr>
            <p:nvPr/>
          </p:nvSpPr>
          <p:spPr bwMode="auto">
            <a:xfrm flipH="1">
              <a:off x="5146675" y="1427163"/>
              <a:ext cx="2335213" cy="1603375"/>
            </a:xfrm>
            <a:prstGeom prst="line">
              <a:avLst/>
            </a:prstGeom>
            <a:noFill/>
            <a:ln w="19050">
              <a:solidFill>
                <a:schemeClr val="tx1"/>
              </a:solidFill>
              <a:round/>
              <a:headEnd/>
              <a:tailEnd/>
            </a:ln>
            <a:effectLst>
              <a:outerShdw dist="12700" dir="5400000" algn="ctr" rotWithShape="0">
                <a:srgbClr val="F5F5E7"/>
              </a:outerShdw>
            </a:effectLst>
          </p:spPr>
          <p:txBody>
            <a:bodyPr tIns="27432" bIns="27432" anchor="ctr">
              <a:spAutoFit/>
            </a:bodyPr>
            <a:lstStyle/>
            <a:p>
              <a:endParaRPr lang="fr-BE"/>
            </a:p>
          </p:txBody>
        </p:sp>
        <p:sp>
          <p:nvSpPr>
            <p:cNvPr id="49307" name="Text Box 155"/>
            <p:cNvSpPr txBox="1">
              <a:spLocks noChangeArrowheads="1"/>
            </p:cNvSpPr>
            <p:nvPr/>
          </p:nvSpPr>
          <p:spPr bwMode="auto">
            <a:xfrm>
              <a:off x="5249863" y="1490663"/>
              <a:ext cx="1443037" cy="511175"/>
            </a:xfrm>
            <a:prstGeom prst="rect">
              <a:avLst/>
            </a:prstGeom>
            <a:noFill/>
            <a:ln w="12700">
              <a:noFill/>
              <a:miter lim="800000"/>
              <a:headEnd/>
              <a:tailEnd/>
            </a:ln>
            <a:effectLst/>
          </p:spPr>
          <p:txBody>
            <a:bodyPr wrap="none" tIns="27432" bIns="27432" anchor="ctr">
              <a:spAutoFit/>
            </a:bodyPr>
            <a:lstStyle/>
            <a:p>
              <a:r>
                <a:rPr lang="fr-FR" sz="1500" u="none">
                  <a:solidFill>
                    <a:schemeClr val="tx1"/>
                  </a:solidFill>
                  <a:latin typeface="Arial" charset="0"/>
                </a:rPr>
                <a:t>Windows XP</a:t>
              </a:r>
            </a:p>
            <a:p>
              <a:r>
                <a:rPr lang="fr-FR" sz="1500" u="none">
                  <a:solidFill>
                    <a:schemeClr val="tx1"/>
                  </a:solidFill>
                  <a:latin typeface="Arial" charset="0"/>
                </a:rPr>
                <a:t>Professionnel</a:t>
              </a:r>
              <a:endParaRPr lang="fr-FR" sz="1500" u="none">
                <a:solidFill>
                  <a:srgbClr val="FFFFFF"/>
                </a:solidFill>
                <a:latin typeface="Arial" charset="0"/>
              </a:endParaRPr>
            </a:p>
          </p:txBody>
        </p:sp>
        <p:grpSp>
          <p:nvGrpSpPr>
            <p:cNvPr id="49308" name="Group 156"/>
            <p:cNvGrpSpPr>
              <a:grpSpLocks/>
            </p:cNvGrpSpPr>
            <p:nvPr/>
          </p:nvGrpSpPr>
          <p:grpSpPr bwMode="auto">
            <a:xfrm>
              <a:off x="5273675" y="2070100"/>
              <a:ext cx="534988" cy="444500"/>
              <a:chOff x="800" y="3248"/>
              <a:chExt cx="310" cy="257"/>
            </a:xfrm>
          </p:grpSpPr>
          <p:sp>
            <p:nvSpPr>
              <p:cNvPr id="49309" name="Freeform 157"/>
              <p:cNvSpPr>
                <a:spLocks/>
              </p:cNvSpPr>
              <p:nvPr/>
            </p:nvSpPr>
            <p:spPr bwMode="auto">
              <a:xfrm>
                <a:off x="953" y="3365"/>
                <a:ext cx="53" cy="95"/>
              </a:xfrm>
              <a:custGeom>
                <a:avLst/>
                <a:gdLst/>
                <a:ahLst/>
                <a:cxnLst>
                  <a:cxn ang="0">
                    <a:pos x="52" y="0"/>
                  </a:cxn>
                  <a:cxn ang="0">
                    <a:pos x="52" y="77"/>
                  </a:cxn>
                  <a:cxn ang="0">
                    <a:pos x="43" y="78"/>
                  </a:cxn>
                  <a:cxn ang="0">
                    <a:pos x="34" y="80"/>
                  </a:cxn>
                  <a:cxn ang="0">
                    <a:pos x="23" y="84"/>
                  </a:cxn>
                  <a:cxn ang="0">
                    <a:pos x="14" y="87"/>
                  </a:cxn>
                  <a:cxn ang="0">
                    <a:pos x="8" y="90"/>
                  </a:cxn>
                  <a:cxn ang="0">
                    <a:pos x="0" y="94"/>
                  </a:cxn>
                  <a:cxn ang="0">
                    <a:pos x="0" y="17"/>
                  </a:cxn>
                  <a:cxn ang="0">
                    <a:pos x="8" y="12"/>
                  </a:cxn>
                  <a:cxn ang="0">
                    <a:pos x="19" y="9"/>
                  </a:cxn>
                  <a:cxn ang="0">
                    <a:pos x="27" y="6"/>
                  </a:cxn>
                  <a:cxn ang="0">
                    <a:pos x="38" y="2"/>
                  </a:cxn>
                  <a:cxn ang="0">
                    <a:pos x="47" y="1"/>
                  </a:cxn>
                  <a:cxn ang="0">
                    <a:pos x="52" y="0"/>
                  </a:cxn>
                </a:cxnLst>
                <a:rect l="0" t="0" r="r" b="b"/>
                <a:pathLst>
                  <a:path w="53" h="95">
                    <a:moveTo>
                      <a:pt x="52" y="0"/>
                    </a:moveTo>
                    <a:lnTo>
                      <a:pt x="52" y="77"/>
                    </a:lnTo>
                    <a:lnTo>
                      <a:pt x="43" y="78"/>
                    </a:lnTo>
                    <a:lnTo>
                      <a:pt x="34" y="80"/>
                    </a:lnTo>
                    <a:lnTo>
                      <a:pt x="23" y="84"/>
                    </a:lnTo>
                    <a:lnTo>
                      <a:pt x="14" y="87"/>
                    </a:lnTo>
                    <a:lnTo>
                      <a:pt x="8" y="90"/>
                    </a:lnTo>
                    <a:lnTo>
                      <a:pt x="0" y="94"/>
                    </a:lnTo>
                    <a:lnTo>
                      <a:pt x="0" y="17"/>
                    </a:lnTo>
                    <a:lnTo>
                      <a:pt x="8" y="12"/>
                    </a:lnTo>
                    <a:lnTo>
                      <a:pt x="19" y="9"/>
                    </a:lnTo>
                    <a:lnTo>
                      <a:pt x="27" y="6"/>
                    </a:lnTo>
                    <a:lnTo>
                      <a:pt x="38" y="2"/>
                    </a:lnTo>
                    <a:lnTo>
                      <a:pt x="47" y="1"/>
                    </a:lnTo>
                    <a:lnTo>
                      <a:pt x="52" y="0"/>
                    </a:lnTo>
                  </a:path>
                </a:pathLst>
              </a:custGeom>
              <a:solidFill>
                <a:schemeClr val="hlink"/>
              </a:solidFill>
              <a:ln w="12700" cap="rnd" cmpd="sng">
                <a:noFill/>
                <a:prstDash val="solid"/>
                <a:round/>
                <a:headEnd type="none" w="med" len="med"/>
                <a:tailEnd type="none" w="med" len="med"/>
              </a:ln>
              <a:effectLst/>
            </p:spPr>
            <p:txBody>
              <a:bodyPr/>
              <a:lstStyle/>
              <a:p>
                <a:endParaRPr lang="fr-BE"/>
              </a:p>
            </p:txBody>
          </p:sp>
          <p:sp>
            <p:nvSpPr>
              <p:cNvPr id="49310" name="Freeform 158"/>
              <p:cNvSpPr>
                <a:spLocks/>
              </p:cNvSpPr>
              <p:nvPr/>
            </p:nvSpPr>
            <p:spPr bwMode="auto">
              <a:xfrm>
                <a:off x="953" y="3279"/>
                <a:ext cx="53" cy="84"/>
              </a:xfrm>
              <a:custGeom>
                <a:avLst/>
                <a:gdLst/>
                <a:ahLst/>
                <a:cxnLst>
                  <a:cxn ang="0">
                    <a:pos x="52" y="0"/>
                  </a:cxn>
                  <a:cxn ang="0">
                    <a:pos x="52" y="68"/>
                  </a:cxn>
                  <a:cxn ang="0">
                    <a:pos x="43" y="69"/>
                  </a:cxn>
                  <a:cxn ang="0">
                    <a:pos x="34" y="71"/>
                  </a:cxn>
                  <a:cxn ang="0">
                    <a:pos x="23" y="74"/>
                  </a:cxn>
                  <a:cxn ang="0">
                    <a:pos x="14" y="77"/>
                  </a:cxn>
                  <a:cxn ang="0">
                    <a:pos x="8" y="79"/>
                  </a:cxn>
                  <a:cxn ang="0">
                    <a:pos x="0" y="83"/>
                  </a:cxn>
                  <a:cxn ang="0">
                    <a:pos x="0" y="15"/>
                  </a:cxn>
                  <a:cxn ang="0">
                    <a:pos x="8" y="11"/>
                  </a:cxn>
                  <a:cxn ang="0">
                    <a:pos x="19" y="8"/>
                  </a:cxn>
                  <a:cxn ang="0">
                    <a:pos x="27" y="5"/>
                  </a:cxn>
                  <a:cxn ang="0">
                    <a:pos x="38" y="2"/>
                  </a:cxn>
                  <a:cxn ang="0">
                    <a:pos x="47" y="1"/>
                  </a:cxn>
                  <a:cxn ang="0">
                    <a:pos x="52" y="0"/>
                  </a:cxn>
                </a:cxnLst>
                <a:rect l="0" t="0" r="r" b="b"/>
                <a:pathLst>
                  <a:path w="53" h="84">
                    <a:moveTo>
                      <a:pt x="52" y="0"/>
                    </a:moveTo>
                    <a:lnTo>
                      <a:pt x="52" y="68"/>
                    </a:lnTo>
                    <a:lnTo>
                      <a:pt x="43" y="69"/>
                    </a:lnTo>
                    <a:lnTo>
                      <a:pt x="34" y="71"/>
                    </a:lnTo>
                    <a:lnTo>
                      <a:pt x="23" y="74"/>
                    </a:lnTo>
                    <a:lnTo>
                      <a:pt x="14" y="77"/>
                    </a:lnTo>
                    <a:lnTo>
                      <a:pt x="8" y="79"/>
                    </a:lnTo>
                    <a:lnTo>
                      <a:pt x="0" y="83"/>
                    </a:lnTo>
                    <a:lnTo>
                      <a:pt x="0" y="15"/>
                    </a:lnTo>
                    <a:lnTo>
                      <a:pt x="8" y="11"/>
                    </a:lnTo>
                    <a:lnTo>
                      <a:pt x="19" y="8"/>
                    </a:lnTo>
                    <a:lnTo>
                      <a:pt x="27" y="5"/>
                    </a:lnTo>
                    <a:lnTo>
                      <a:pt x="38" y="2"/>
                    </a:lnTo>
                    <a:lnTo>
                      <a:pt x="47" y="1"/>
                    </a:lnTo>
                    <a:lnTo>
                      <a:pt x="52"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11" name="Freeform 159"/>
              <p:cNvSpPr>
                <a:spLocks/>
              </p:cNvSpPr>
              <p:nvPr/>
            </p:nvSpPr>
            <p:spPr bwMode="auto">
              <a:xfrm>
                <a:off x="800" y="3273"/>
                <a:ext cx="17" cy="16"/>
              </a:xfrm>
              <a:custGeom>
                <a:avLst/>
                <a:gdLst/>
                <a:ahLst/>
                <a:cxnLst>
                  <a:cxn ang="0">
                    <a:pos x="16" y="0"/>
                  </a:cxn>
                  <a:cxn ang="0">
                    <a:pos x="16" y="10"/>
                  </a:cxn>
                  <a:cxn ang="0">
                    <a:pos x="0" y="15"/>
                  </a:cxn>
                  <a:cxn ang="0">
                    <a:pos x="0" y="5"/>
                  </a:cxn>
                  <a:cxn ang="0">
                    <a:pos x="16" y="0"/>
                  </a:cxn>
                </a:cxnLst>
                <a:rect l="0" t="0" r="r" b="b"/>
                <a:pathLst>
                  <a:path w="17" h="16">
                    <a:moveTo>
                      <a:pt x="16" y="0"/>
                    </a:moveTo>
                    <a:lnTo>
                      <a:pt x="16" y="10"/>
                    </a:lnTo>
                    <a:lnTo>
                      <a:pt x="0" y="15"/>
                    </a:lnTo>
                    <a:lnTo>
                      <a:pt x="0" y="5"/>
                    </a:lnTo>
                    <a:lnTo>
                      <a:pt x="16"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12" name="Freeform 160"/>
              <p:cNvSpPr>
                <a:spLocks/>
              </p:cNvSpPr>
              <p:nvPr/>
            </p:nvSpPr>
            <p:spPr bwMode="auto">
              <a:xfrm>
                <a:off x="802" y="3305"/>
                <a:ext cx="13" cy="17"/>
              </a:xfrm>
              <a:custGeom>
                <a:avLst/>
                <a:gdLst/>
                <a:ahLst/>
                <a:cxnLst>
                  <a:cxn ang="0">
                    <a:pos x="12" y="0"/>
                  </a:cxn>
                  <a:cxn ang="0">
                    <a:pos x="12" y="11"/>
                  </a:cxn>
                  <a:cxn ang="0">
                    <a:pos x="0" y="16"/>
                  </a:cxn>
                  <a:cxn ang="0">
                    <a:pos x="0" y="5"/>
                  </a:cxn>
                  <a:cxn ang="0">
                    <a:pos x="12" y="0"/>
                  </a:cxn>
                </a:cxnLst>
                <a:rect l="0" t="0" r="r" b="b"/>
                <a:pathLst>
                  <a:path w="13" h="17">
                    <a:moveTo>
                      <a:pt x="12" y="0"/>
                    </a:moveTo>
                    <a:lnTo>
                      <a:pt x="12" y="11"/>
                    </a:lnTo>
                    <a:lnTo>
                      <a:pt x="0" y="16"/>
                    </a:lnTo>
                    <a:lnTo>
                      <a:pt x="0" y="5"/>
                    </a:lnTo>
                    <a:lnTo>
                      <a:pt x="12"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13" name="Freeform 161"/>
              <p:cNvSpPr>
                <a:spLocks/>
              </p:cNvSpPr>
              <p:nvPr/>
            </p:nvSpPr>
            <p:spPr bwMode="auto">
              <a:xfrm>
                <a:off x="802" y="3339"/>
                <a:ext cx="13" cy="14"/>
              </a:xfrm>
              <a:custGeom>
                <a:avLst/>
                <a:gdLst/>
                <a:ahLst/>
                <a:cxnLst>
                  <a:cxn ang="0">
                    <a:pos x="12" y="0"/>
                  </a:cxn>
                  <a:cxn ang="0">
                    <a:pos x="12" y="9"/>
                  </a:cxn>
                  <a:cxn ang="0">
                    <a:pos x="0" y="13"/>
                  </a:cxn>
                  <a:cxn ang="0">
                    <a:pos x="0" y="4"/>
                  </a:cxn>
                  <a:cxn ang="0">
                    <a:pos x="12" y="0"/>
                  </a:cxn>
                </a:cxnLst>
                <a:rect l="0" t="0" r="r" b="b"/>
                <a:pathLst>
                  <a:path w="13" h="14">
                    <a:moveTo>
                      <a:pt x="12" y="0"/>
                    </a:moveTo>
                    <a:lnTo>
                      <a:pt x="12" y="9"/>
                    </a:lnTo>
                    <a:lnTo>
                      <a:pt x="0" y="13"/>
                    </a:lnTo>
                    <a:lnTo>
                      <a:pt x="0" y="4"/>
                    </a:lnTo>
                    <a:lnTo>
                      <a:pt x="12"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14" name="Freeform 162"/>
              <p:cNvSpPr>
                <a:spLocks/>
              </p:cNvSpPr>
              <p:nvPr/>
            </p:nvSpPr>
            <p:spPr bwMode="auto">
              <a:xfrm>
                <a:off x="800" y="3368"/>
                <a:ext cx="11" cy="17"/>
              </a:xfrm>
              <a:custGeom>
                <a:avLst/>
                <a:gdLst/>
                <a:ahLst/>
                <a:cxnLst>
                  <a:cxn ang="0">
                    <a:pos x="10" y="0"/>
                  </a:cxn>
                  <a:cxn ang="0">
                    <a:pos x="10" y="10"/>
                  </a:cxn>
                  <a:cxn ang="0">
                    <a:pos x="0" y="16"/>
                  </a:cxn>
                  <a:cxn ang="0">
                    <a:pos x="0" y="5"/>
                  </a:cxn>
                  <a:cxn ang="0">
                    <a:pos x="10" y="0"/>
                  </a:cxn>
                </a:cxnLst>
                <a:rect l="0" t="0" r="r" b="b"/>
                <a:pathLst>
                  <a:path w="11" h="17">
                    <a:moveTo>
                      <a:pt x="10" y="0"/>
                    </a:moveTo>
                    <a:lnTo>
                      <a:pt x="10" y="10"/>
                    </a:lnTo>
                    <a:lnTo>
                      <a:pt x="0" y="16"/>
                    </a:lnTo>
                    <a:lnTo>
                      <a:pt x="0" y="5"/>
                    </a:lnTo>
                    <a:lnTo>
                      <a:pt x="1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15" name="Freeform 163"/>
              <p:cNvSpPr>
                <a:spLocks/>
              </p:cNvSpPr>
              <p:nvPr/>
            </p:nvSpPr>
            <p:spPr bwMode="auto">
              <a:xfrm>
                <a:off x="802" y="3404"/>
                <a:ext cx="13" cy="16"/>
              </a:xfrm>
              <a:custGeom>
                <a:avLst/>
                <a:gdLst/>
                <a:ahLst/>
                <a:cxnLst>
                  <a:cxn ang="0">
                    <a:pos x="12" y="0"/>
                  </a:cxn>
                  <a:cxn ang="0">
                    <a:pos x="12" y="10"/>
                  </a:cxn>
                  <a:cxn ang="0">
                    <a:pos x="0" y="15"/>
                  </a:cxn>
                  <a:cxn ang="0">
                    <a:pos x="0" y="5"/>
                  </a:cxn>
                  <a:cxn ang="0">
                    <a:pos x="12" y="0"/>
                  </a:cxn>
                </a:cxnLst>
                <a:rect l="0" t="0" r="r" b="b"/>
                <a:pathLst>
                  <a:path w="13" h="16">
                    <a:moveTo>
                      <a:pt x="12" y="0"/>
                    </a:moveTo>
                    <a:lnTo>
                      <a:pt x="12" y="10"/>
                    </a:lnTo>
                    <a:lnTo>
                      <a:pt x="0" y="15"/>
                    </a:lnTo>
                    <a:lnTo>
                      <a:pt x="0" y="5"/>
                    </a:lnTo>
                    <a:lnTo>
                      <a:pt x="12"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16" name="Freeform 164"/>
              <p:cNvSpPr>
                <a:spLocks/>
              </p:cNvSpPr>
              <p:nvPr/>
            </p:nvSpPr>
            <p:spPr bwMode="auto">
              <a:xfrm>
                <a:off x="802" y="3437"/>
                <a:ext cx="13" cy="15"/>
              </a:xfrm>
              <a:custGeom>
                <a:avLst/>
                <a:gdLst/>
                <a:ahLst/>
                <a:cxnLst>
                  <a:cxn ang="0">
                    <a:pos x="12" y="0"/>
                  </a:cxn>
                  <a:cxn ang="0">
                    <a:pos x="12" y="9"/>
                  </a:cxn>
                  <a:cxn ang="0">
                    <a:pos x="0" y="14"/>
                  </a:cxn>
                  <a:cxn ang="0">
                    <a:pos x="0" y="4"/>
                  </a:cxn>
                  <a:cxn ang="0">
                    <a:pos x="12" y="0"/>
                  </a:cxn>
                </a:cxnLst>
                <a:rect l="0" t="0" r="r" b="b"/>
                <a:pathLst>
                  <a:path w="13" h="15">
                    <a:moveTo>
                      <a:pt x="12" y="0"/>
                    </a:moveTo>
                    <a:lnTo>
                      <a:pt x="12" y="9"/>
                    </a:lnTo>
                    <a:lnTo>
                      <a:pt x="0" y="14"/>
                    </a:lnTo>
                    <a:lnTo>
                      <a:pt x="0" y="4"/>
                    </a:lnTo>
                    <a:lnTo>
                      <a:pt x="12"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17" name="Freeform 165"/>
              <p:cNvSpPr>
                <a:spLocks/>
              </p:cNvSpPr>
              <p:nvPr/>
            </p:nvSpPr>
            <p:spPr bwMode="auto">
              <a:xfrm>
                <a:off x="800" y="3467"/>
                <a:ext cx="17" cy="19"/>
              </a:xfrm>
              <a:custGeom>
                <a:avLst/>
                <a:gdLst/>
                <a:ahLst/>
                <a:cxnLst>
                  <a:cxn ang="0">
                    <a:pos x="16" y="0"/>
                  </a:cxn>
                  <a:cxn ang="0">
                    <a:pos x="16" y="12"/>
                  </a:cxn>
                  <a:cxn ang="0">
                    <a:pos x="0" y="18"/>
                  </a:cxn>
                  <a:cxn ang="0">
                    <a:pos x="0" y="6"/>
                  </a:cxn>
                  <a:cxn ang="0">
                    <a:pos x="16" y="0"/>
                  </a:cxn>
                </a:cxnLst>
                <a:rect l="0" t="0" r="r" b="b"/>
                <a:pathLst>
                  <a:path w="17" h="19">
                    <a:moveTo>
                      <a:pt x="16" y="0"/>
                    </a:moveTo>
                    <a:lnTo>
                      <a:pt x="16" y="12"/>
                    </a:lnTo>
                    <a:lnTo>
                      <a:pt x="0" y="18"/>
                    </a:lnTo>
                    <a:lnTo>
                      <a:pt x="0" y="6"/>
                    </a:lnTo>
                    <a:lnTo>
                      <a:pt x="16"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18" name="Freeform 166"/>
              <p:cNvSpPr>
                <a:spLocks/>
              </p:cNvSpPr>
              <p:nvPr/>
            </p:nvSpPr>
            <p:spPr bwMode="auto">
              <a:xfrm>
                <a:off x="824" y="3278"/>
                <a:ext cx="26" cy="24"/>
              </a:xfrm>
              <a:custGeom>
                <a:avLst/>
                <a:gdLst/>
                <a:ahLst/>
                <a:cxnLst>
                  <a:cxn ang="0">
                    <a:pos x="25" y="0"/>
                  </a:cxn>
                  <a:cxn ang="0">
                    <a:pos x="25" y="14"/>
                  </a:cxn>
                  <a:cxn ang="0">
                    <a:pos x="0" y="23"/>
                  </a:cxn>
                  <a:cxn ang="0">
                    <a:pos x="0" y="9"/>
                  </a:cxn>
                  <a:cxn ang="0">
                    <a:pos x="25" y="0"/>
                  </a:cxn>
                </a:cxnLst>
                <a:rect l="0" t="0" r="r" b="b"/>
                <a:pathLst>
                  <a:path w="26" h="24">
                    <a:moveTo>
                      <a:pt x="25" y="0"/>
                    </a:moveTo>
                    <a:lnTo>
                      <a:pt x="25" y="14"/>
                    </a:lnTo>
                    <a:lnTo>
                      <a:pt x="0" y="23"/>
                    </a:lnTo>
                    <a:lnTo>
                      <a:pt x="0" y="9"/>
                    </a:lnTo>
                    <a:lnTo>
                      <a:pt x="25"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19" name="Freeform 167"/>
              <p:cNvSpPr>
                <a:spLocks/>
              </p:cNvSpPr>
              <p:nvPr/>
            </p:nvSpPr>
            <p:spPr bwMode="auto">
              <a:xfrm>
                <a:off x="828" y="3314"/>
                <a:ext cx="20" cy="19"/>
              </a:xfrm>
              <a:custGeom>
                <a:avLst/>
                <a:gdLst/>
                <a:ahLst/>
                <a:cxnLst>
                  <a:cxn ang="0">
                    <a:pos x="19" y="0"/>
                  </a:cxn>
                  <a:cxn ang="0">
                    <a:pos x="19" y="12"/>
                  </a:cxn>
                  <a:cxn ang="0">
                    <a:pos x="0" y="18"/>
                  </a:cxn>
                  <a:cxn ang="0">
                    <a:pos x="0" y="6"/>
                  </a:cxn>
                  <a:cxn ang="0">
                    <a:pos x="19" y="0"/>
                  </a:cxn>
                </a:cxnLst>
                <a:rect l="0" t="0" r="r" b="b"/>
                <a:pathLst>
                  <a:path w="20" h="19">
                    <a:moveTo>
                      <a:pt x="19" y="0"/>
                    </a:moveTo>
                    <a:lnTo>
                      <a:pt x="19" y="12"/>
                    </a:lnTo>
                    <a:lnTo>
                      <a:pt x="0" y="18"/>
                    </a:lnTo>
                    <a:lnTo>
                      <a:pt x="0" y="6"/>
                    </a:lnTo>
                    <a:lnTo>
                      <a:pt x="19"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20" name="Freeform 168"/>
              <p:cNvSpPr>
                <a:spLocks/>
              </p:cNvSpPr>
              <p:nvPr/>
            </p:nvSpPr>
            <p:spPr bwMode="auto">
              <a:xfrm>
                <a:off x="828" y="3346"/>
                <a:ext cx="20" cy="19"/>
              </a:xfrm>
              <a:custGeom>
                <a:avLst/>
                <a:gdLst/>
                <a:ahLst/>
                <a:cxnLst>
                  <a:cxn ang="0">
                    <a:pos x="19" y="0"/>
                  </a:cxn>
                  <a:cxn ang="0">
                    <a:pos x="19" y="11"/>
                  </a:cxn>
                  <a:cxn ang="0">
                    <a:pos x="0" y="18"/>
                  </a:cxn>
                  <a:cxn ang="0">
                    <a:pos x="0" y="6"/>
                  </a:cxn>
                  <a:cxn ang="0">
                    <a:pos x="19" y="0"/>
                  </a:cxn>
                </a:cxnLst>
                <a:rect l="0" t="0" r="r" b="b"/>
                <a:pathLst>
                  <a:path w="20" h="19">
                    <a:moveTo>
                      <a:pt x="19" y="0"/>
                    </a:moveTo>
                    <a:lnTo>
                      <a:pt x="19" y="11"/>
                    </a:lnTo>
                    <a:lnTo>
                      <a:pt x="0" y="18"/>
                    </a:lnTo>
                    <a:lnTo>
                      <a:pt x="0" y="6"/>
                    </a:lnTo>
                    <a:lnTo>
                      <a:pt x="19"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21" name="Freeform 169"/>
              <p:cNvSpPr>
                <a:spLocks/>
              </p:cNvSpPr>
              <p:nvPr/>
            </p:nvSpPr>
            <p:spPr bwMode="auto">
              <a:xfrm>
                <a:off x="824" y="3376"/>
                <a:ext cx="20" cy="19"/>
              </a:xfrm>
              <a:custGeom>
                <a:avLst/>
                <a:gdLst/>
                <a:ahLst/>
                <a:cxnLst>
                  <a:cxn ang="0">
                    <a:pos x="19" y="0"/>
                  </a:cxn>
                  <a:cxn ang="0">
                    <a:pos x="19" y="11"/>
                  </a:cxn>
                  <a:cxn ang="0">
                    <a:pos x="0" y="18"/>
                  </a:cxn>
                  <a:cxn ang="0">
                    <a:pos x="0" y="7"/>
                  </a:cxn>
                  <a:cxn ang="0">
                    <a:pos x="19" y="0"/>
                  </a:cxn>
                </a:cxnLst>
                <a:rect l="0" t="0" r="r" b="b"/>
                <a:pathLst>
                  <a:path w="20" h="19">
                    <a:moveTo>
                      <a:pt x="19" y="0"/>
                    </a:moveTo>
                    <a:lnTo>
                      <a:pt x="19" y="11"/>
                    </a:lnTo>
                    <a:lnTo>
                      <a:pt x="0" y="18"/>
                    </a:lnTo>
                    <a:lnTo>
                      <a:pt x="0" y="7"/>
                    </a:lnTo>
                    <a:lnTo>
                      <a:pt x="19"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22" name="Freeform 170"/>
              <p:cNvSpPr>
                <a:spLocks/>
              </p:cNvSpPr>
              <p:nvPr/>
            </p:nvSpPr>
            <p:spPr bwMode="auto">
              <a:xfrm>
                <a:off x="828" y="3411"/>
                <a:ext cx="20" cy="19"/>
              </a:xfrm>
              <a:custGeom>
                <a:avLst/>
                <a:gdLst/>
                <a:ahLst/>
                <a:cxnLst>
                  <a:cxn ang="0">
                    <a:pos x="19" y="0"/>
                  </a:cxn>
                  <a:cxn ang="0">
                    <a:pos x="19" y="11"/>
                  </a:cxn>
                  <a:cxn ang="0">
                    <a:pos x="0" y="18"/>
                  </a:cxn>
                  <a:cxn ang="0">
                    <a:pos x="0" y="6"/>
                  </a:cxn>
                  <a:cxn ang="0">
                    <a:pos x="19" y="0"/>
                  </a:cxn>
                </a:cxnLst>
                <a:rect l="0" t="0" r="r" b="b"/>
                <a:pathLst>
                  <a:path w="20" h="19">
                    <a:moveTo>
                      <a:pt x="19" y="0"/>
                    </a:moveTo>
                    <a:lnTo>
                      <a:pt x="19" y="11"/>
                    </a:lnTo>
                    <a:lnTo>
                      <a:pt x="0" y="18"/>
                    </a:lnTo>
                    <a:lnTo>
                      <a:pt x="0" y="6"/>
                    </a:lnTo>
                    <a:lnTo>
                      <a:pt x="19"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23" name="Freeform 171"/>
              <p:cNvSpPr>
                <a:spLocks/>
              </p:cNvSpPr>
              <p:nvPr/>
            </p:nvSpPr>
            <p:spPr bwMode="auto">
              <a:xfrm>
                <a:off x="828" y="3443"/>
                <a:ext cx="20" cy="20"/>
              </a:xfrm>
              <a:custGeom>
                <a:avLst/>
                <a:gdLst/>
                <a:ahLst/>
                <a:cxnLst>
                  <a:cxn ang="0">
                    <a:pos x="19" y="0"/>
                  </a:cxn>
                  <a:cxn ang="0">
                    <a:pos x="19" y="12"/>
                  </a:cxn>
                  <a:cxn ang="0">
                    <a:pos x="0" y="19"/>
                  </a:cxn>
                  <a:cxn ang="0">
                    <a:pos x="0" y="7"/>
                  </a:cxn>
                  <a:cxn ang="0">
                    <a:pos x="19" y="0"/>
                  </a:cxn>
                </a:cxnLst>
                <a:rect l="0" t="0" r="r" b="b"/>
                <a:pathLst>
                  <a:path w="20" h="20">
                    <a:moveTo>
                      <a:pt x="19" y="0"/>
                    </a:moveTo>
                    <a:lnTo>
                      <a:pt x="19" y="12"/>
                    </a:lnTo>
                    <a:lnTo>
                      <a:pt x="0" y="19"/>
                    </a:lnTo>
                    <a:lnTo>
                      <a:pt x="0" y="7"/>
                    </a:lnTo>
                    <a:lnTo>
                      <a:pt x="19"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24" name="Freeform 172"/>
              <p:cNvSpPr>
                <a:spLocks/>
              </p:cNvSpPr>
              <p:nvPr/>
            </p:nvSpPr>
            <p:spPr bwMode="auto">
              <a:xfrm>
                <a:off x="824" y="3474"/>
                <a:ext cx="26" cy="23"/>
              </a:xfrm>
              <a:custGeom>
                <a:avLst/>
                <a:gdLst/>
                <a:ahLst/>
                <a:cxnLst>
                  <a:cxn ang="0">
                    <a:pos x="25" y="0"/>
                  </a:cxn>
                  <a:cxn ang="0">
                    <a:pos x="25" y="14"/>
                  </a:cxn>
                  <a:cxn ang="0">
                    <a:pos x="0" y="22"/>
                  </a:cxn>
                  <a:cxn ang="0">
                    <a:pos x="0" y="8"/>
                  </a:cxn>
                  <a:cxn ang="0">
                    <a:pos x="25" y="0"/>
                  </a:cxn>
                </a:cxnLst>
                <a:rect l="0" t="0" r="r" b="b"/>
                <a:pathLst>
                  <a:path w="26" h="23">
                    <a:moveTo>
                      <a:pt x="25" y="0"/>
                    </a:moveTo>
                    <a:lnTo>
                      <a:pt x="25" y="14"/>
                    </a:lnTo>
                    <a:lnTo>
                      <a:pt x="0" y="22"/>
                    </a:lnTo>
                    <a:lnTo>
                      <a:pt x="0" y="8"/>
                    </a:lnTo>
                    <a:lnTo>
                      <a:pt x="25"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25" name="Freeform 173"/>
              <p:cNvSpPr>
                <a:spLocks/>
              </p:cNvSpPr>
              <p:nvPr/>
            </p:nvSpPr>
            <p:spPr bwMode="auto">
              <a:xfrm>
                <a:off x="855" y="3278"/>
                <a:ext cx="28" cy="30"/>
              </a:xfrm>
              <a:custGeom>
                <a:avLst/>
                <a:gdLst/>
                <a:ahLst/>
                <a:cxnLst>
                  <a:cxn ang="0">
                    <a:pos x="27" y="0"/>
                  </a:cxn>
                  <a:cxn ang="0">
                    <a:pos x="27" y="19"/>
                  </a:cxn>
                  <a:cxn ang="0">
                    <a:pos x="0" y="29"/>
                  </a:cxn>
                  <a:cxn ang="0">
                    <a:pos x="0" y="11"/>
                  </a:cxn>
                  <a:cxn ang="0">
                    <a:pos x="27" y="0"/>
                  </a:cxn>
                </a:cxnLst>
                <a:rect l="0" t="0" r="r" b="b"/>
                <a:pathLst>
                  <a:path w="28" h="30">
                    <a:moveTo>
                      <a:pt x="27" y="0"/>
                    </a:moveTo>
                    <a:lnTo>
                      <a:pt x="27" y="19"/>
                    </a:lnTo>
                    <a:lnTo>
                      <a:pt x="0" y="29"/>
                    </a:lnTo>
                    <a:lnTo>
                      <a:pt x="0" y="11"/>
                    </a:lnTo>
                    <a:lnTo>
                      <a:pt x="27"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26" name="Freeform 174"/>
              <p:cNvSpPr>
                <a:spLocks/>
              </p:cNvSpPr>
              <p:nvPr/>
            </p:nvSpPr>
            <p:spPr bwMode="auto">
              <a:xfrm>
                <a:off x="858" y="3312"/>
                <a:ext cx="22" cy="25"/>
              </a:xfrm>
              <a:custGeom>
                <a:avLst/>
                <a:gdLst/>
                <a:ahLst/>
                <a:cxnLst>
                  <a:cxn ang="0">
                    <a:pos x="21" y="0"/>
                  </a:cxn>
                  <a:cxn ang="0">
                    <a:pos x="21" y="16"/>
                  </a:cxn>
                  <a:cxn ang="0">
                    <a:pos x="0" y="24"/>
                  </a:cxn>
                  <a:cxn ang="0">
                    <a:pos x="0" y="8"/>
                  </a:cxn>
                  <a:cxn ang="0">
                    <a:pos x="21" y="0"/>
                  </a:cxn>
                </a:cxnLst>
                <a:rect l="0" t="0" r="r" b="b"/>
                <a:pathLst>
                  <a:path w="22" h="25">
                    <a:moveTo>
                      <a:pt x="21" y="0"/>
                    </a:moveTo>
                    <a:lnTo>
                      <a:pt x="21" y="16"/>
                    </a:lnTo>
                    <a:lnTo>
                      <a:pt x="0" y="24"/>
                    </a:lnTo>
                    <a:lnTo>
                      <a:pt x="0" y="8"/>
                    </a:lnTo>
                    <a:lnTo>
                      <a:pt x="21"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27" name="Freeform 175"/>
              <p:cNvSpPr>
                <a:spLocks/>
              </p:cNvSpPr>
              <p:nvPr/>
            </p:nvSpPr>
            <p:spPr bwMode="auto">
              <a:xfrm>
                <a:off x="858" y="3344"/>
                <a:ext cx="22" cy="25"/>
              </a:xfrm>
              <a:custGeom>
                <a:avLst/>
                <a:gdLst/>
                <a:ahLst/>
                <a:cxnLst>
                  <a:cxn ang="0">
                    <a:pos x="21" y="0"/>
                  </a:cxn>
                  <a:cxn ang="0">
                    <a:pos x="21" y="16"/>
                  </a:cxn>
                  <a:cxn ang="0">
                    <a:pos x="0" y="24"/>
                  </a:cxn>
                  <a:cxn ang="0">
                    <a:pos x="0" y="8"/>
                  </a:cxn>
                  <a:cxn ang="0">
                    <a:pos x="21" y="0"/>
                  </a:cxn>
                </a:cxnLst>
                <a:rect l="0" t="0" r="r" b="b"/>
                <a:pathLst>
                  <a:path w="22" h="25">
                    <a:moveTo>
                      <a:pt x="21" y="0"/>
                    </a:moveTo>
                    <a:lnTo>
                      <a:pt x="21" y="16"/>
                    </a:lnTo>
                    <a:lnTo>
                      <a:pt x="0" y="24"/>
                    </a:lnTo>
                    <a:lnTo>
                      <a:pt x="0" y="8"/>
                    </a:lnTo>
                    <a:lnTo>
                      <a:pt x="21"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28" name="Freeform 176"/>
              <p:cNvSpPr>
                <a:spLocks/>
              </p:cNvSpPr>
              <p:nvPr/>
            </p:nvSpPr>
            <p:spPr bwMode="auto">
              <a:xfrm>
                <a:off x="855" y="3376"/>
                <a:ext cx="19" cy="25"/>
              </a:xfrm>
              <a:custGeom>
                <a:avLst/>
                <a:gdLst/>
                <a:ahLst/>
                <a:cxnLst>
                  <a:cxn ang="0">
                    <a:pos x="18" y="0"/>
                  </a:cxn>
                  <a:cxn ang="0">
                    <a:pos x="18" y="16"/>
                  </a:cxn>
                  <a:cxn ang="0">
                    <a:pos x="0" y="24"/>
                  </a:cxn>
                  <a:cxn ang="0">
                    <a:pos x="0" y="9"/>
                  </a:cxn>
                  <a:cxn ang="0">
                    <a:pos x="18" y="0"/>
                  </a:cxn>
                </a:cxnLst>
                <a:rect l="0" t="0" r="r" b="b"/>
                <a:pathLst>
                  <a:path w="19" h="25">
                    <a:moveTo>
                      <a:pt x="18" y="0"/>
                    </a:moveTo>
                    <a:lnTo>
                      <a:pt x="18" y="16"/>
                    </a:lnTo>
                    <a:lnTo>
                      <a:pt x="0" y="24"/>
                    </a:lnTo>
                    <a:lnTo>
                      <a:pt x="0" y="9"/>
                    </a:lnTo>
                    <a:lnTo>
                      <a:pt x="18"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29" name="Freeform 177"/>
              <p:cNvSpPr>
                <a:spLocks/>
              </p:cNvSpPr>
              <p:nvPr/>
            </p:nvSpPr>
            <p:spPr bwMode="auto">
              <a:xfrm>
                <a:off x="858" y="3410"/>
                <a:ext cx="22" cy="27"/>
              </a:xfrm>
              <a:custGeom>
                <a:avLst/>
                <a:gdLst/>
                <a:ahLst/>
                <a:cxnLst>
                  <a:cxn ang="0">
                    <a:pos x="21" y="0"/>
                  </a:cxn>
                  <a:cxn ang="0">
                    <a:pos x="21" y="17"/>
                  </a:cxn>
                  <a:cxn ang="0">
                    <a:pos x="0" y="26"/>
                  </a:cxn>
                  <a:cxn ang="0">
                    <a:pos x="0" y="9"/>
                  </a:cxn>
                  <a:cxn ang="0">
                    <a:pos x="21" y="0"/>
                  </a:cxn>
                </a:cxnLst>
                <a:rect l="0" t="0" r="r" b="b"/>
                <a:pathLst>
                  <a:path w="22" h="27">
                    <a:moveTo>
                      <a:pt x="21" y="0"/>
                    </a:moveTo>
                    <a:lnTo>
                      <a:pt x="21" y="17"/>
                    </a:lnTo>
                    <a:lnTo>
                      <a:pt x="0" y="26"/>
                    </a:lnTo>
                    <a:lnTo>
                      <a:pt x="0" y="9"/>
                    </a:lnTo>
                    <a:lnTo>
                      <a:pt x="21"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30" name="Freeform 178"/>
              <p:cNvSpPr>
                <a:spLocks/>
              </p:cNvSpPr>
              <p:nvPr/>
            </p:nvSpPr>
            <p:spPr bwMode="auto">
              <a:xfrm>
                <a:off x="858" y="3441"/>
                <a:ext cx="22" cy="27"/>
              </a:xfrm>
              <a:custGeom>
                <a:avLst/>
                <a:gdLst/>
                <a:ahLst/>
                <a:cxnLst>
                  <a:cxn ang="0">
                    <a:pos x="21" y="0"/>
                  </a:cxn>
                  <a:cxn ang="0">
                    <a:pos x="21" y="17"/>
                  </a:cxn>
                  <a:cxn ang="0">
                    <a:pos x="0" y="26"/>
                  </a:cxn>
                  <a:cxn ang="0">
                    <a:pos x="0" y="9"/>
                  </a:cxn>
                  <a:cxn ang="0">
                    <a:pos x="21" y="0"/>
                  </a:cxn>
                </a:cxnLst>
                <a:rect l="0" t="0" r="r" b="b"/>
                <a:pathLst>
                  <a:path w="22" h="27">
                    <a:moveTo>
                      <a:pt x="21" y="0"/>
                    </a:moveTo>
                    <a:lnTo>
                      <a:pt x="21" y="17"/>
                    </a:lnTo>
                    <a:lnTo>
                      <a:pt x="0" y="26"/>
                    </a:lnTo>
                    <a:lnTo>
                      <a:pt x="0" y="9"/>
                    </a:lnTo>
                    <a:lnTo>
                      <a:pt x="21"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31" name="Freeform 179"/>
              <p:cNvSpPr>
                <a:spLocks/>
              </p:cNvSpPr>
              <p:nvPr/>
            </p:nvSpPr>
            <p:spPr bwMode="auto">
              <a:xfrm>
                <a:off x="855" y="3473"/>
                <a:ext cx="28" cy="28"/>
              </a:xfrm>
              <a:custGeom>
                <a:avLst/>
                <a:gdLst/>
                <a:ahLst/>
                <a:cxnLst>
                  <a:cxn ang="0">
                    <a:pos x="27" y="0"/>
                  </a:cxn>
                  <a:cxn ang="0">
                    <a:pos x="27" y="17"/>
                  </a:cxn>
                  <a:cxn ang="0">
                    <a:pos x="0" y="27"/>
                  </a:cxn>
                  <a:cxn ang="0">
                    <a:pos x="0" y="10"/>
                  </a:cxn>
                  <a:cxn ang="0">
                    <a:pos x="27" y="0"/>
                  </a:cxn>
                </a:cxnLst>
                <a:rect l="0" t="0" r="r" b="b"/>
                <a:pathLst>
                  <a:path w="28" h="28">
                    <a:moveTo>
                      <a:pt x="27" y="0"/>
                    </a:moveTo>
                    <a:lnTo>
                      <a:pt x="27" y="17"/>
                    </a:lnTo>
                    <a:lnTo>
                      <a:pt x="0" y="27"/>
                    </a:lnTo>
                    <a:lnTo>
                      <a:pt x="0" y="10"/>
                    </a:lnTo>
                    <a:lnTo>
                      <a:pt x="27"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32" name="Freeform 180"/>
              <p:cNvSpPr>
                <a:spLocks/>
              </p:cNvSpPr>
              <p:nvPr/>
            </p:nvSpPr>
            <p:spPr bwMode="auto">
              <a:xfrm>
                <a:off x="885" y="3275"/>
                <a:ext cx="31" cy="35"/>
              </a:xfrm>
              <a:custGeom>
                <a:avLst/>
                <a:gdLst/>
                <a:ahLst/>
                <a:cxnLst>
                  <a:cxn ang="0">
                    <a:pos x="30" y="0"/>
                  </a:cxn>
                  <a:cxn ang="0">
                    <a:pos x="30" y="23"/>
                  </a:cxn>
                  <a:cxn ang="0">
                    <a:pos x="0" y="34"/>
                  </a:cxn>
                  <a:cxn ang="0">
                    <a:pos x="0" y="11"/>
                  </a:cxn>
                  <a:cxn ang="0">
                    <a:pos x="30" y="0"/>
                  </a:cxn>
                </a:cxnLst>
                <a:rect l="0" t="0" r="r" b="b"/>
                <a:pathLst>
                  <a:path w="31" h="35">
                    <a:moveTo>
                      <a:pt x="30" y="0"/>
                    </a:moveTo>
                    <a:lnTo>
                      <a:pt x="30" y="23"/>
                    </a:lnTo>
                    <a:lnTo>
                      <a:pt x="0" y="34"/>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33" name="Freeform 181"/>
              <p:cNvSpPr>
                <a:spLocks/>
              </p:cNvSpPr>
              <p:nvPr/>
            </p:nvSpPr>
            <p:spPr bwMode="auto">
              <a:xfrm>
                <a:off x="889" y="3311"/>
                <a:ext cx="26" cy="30"/>
              </a:xfrm>
              <a:custGeom>
                <a:avLst/>
                <a:gdLst/>
                <a:ahLst/>
                <a:cxnLst>
                  <a:cxn ang="0">
                    <a:pos x="25" y="0"/>
                  </a:cxn>
                  <a:cxn ang="0">
                    <a:pos x="25" y="20"/>
                  </a:cxn>
                  <a:cxn ang="0">
                    <a:pos x="0" y="29"/>
                  </a:cxn>
                  <a:cxn ang="0">
                    <a:pos x="0" y="9"/>
                  </a:cxn>
                  <a:cxn ang="0">
                    <a:pos x="25" y="0"/>
                  </a:cxn>
                </a:cxnLst>
                <a:rect l="0" t="0" r="r" b="b"/>
                <a:pathLst>
                  <a:path w="26" h="30">
                    <a:moveTo>
                      <a:pt x="25" y="0"/>
                    </a:moveTo>
                    <a:lnTo>
                      <a:pt x="25" y="20"/>
                    </a:lnTo>
                    <a:lnTo>
                      <a:pt x="0" y="29"/>
                    </a:lnTo>
                    <a:lnTo>
                      <a:pt x="0" y="9"/>
                    </a:lnTo>
                    <a:lnTo>
                      <a:pt x="25"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34" name="Freeform 182"/>
              <p:cNvSpPr>
                <a:spLocks/>
              </p:cNvSpPr>
              <p:nvPr/>
            </p:nvSpPr>
            <p:spPr bwMode="auto">
              <a:xfrm>
                <a:off x="889" y="3341"/>
                <a:ext cx="26" cy="32"/>
              </a:xfrm>
              <a:custGeom>
                <a:avLst/>
                <a:gdLst/>
                <a:ahLst/>
                <a:cxnLst>
                  <a:cxn ang="0">
                    <a:pos x="25" y="0"/>
                  </a:cxn>
                  <a:cxn ang="0">
                    <a:pos x="25" y="21"/>
                  </a:cxn>
                  <a:cxn ang="0">
                    <a:pos x="0" y="31"/>
                  </a:cxn>
                  <a:cxn ang="0">
                    <a:pos x="0" y="10"/>
                  </a:cxn>
                  <a:cxn ang="0">
                    <a:pos x="25" y="0"/>
                  </a:cxn>
                </a:cxnLst>
                <a:rect l="0" t="0" r="r" b="b"/>
                <a:pathLst>
                  <a:path w="26" h="32">
                    <a:moveTo>
                      <a:pt x="25" y="0"/>
                    </a:moveTo>
                    <a:lnTo>
                      <a:pt x="25" y="21"/>
                    </a:lnTo>
                    <a:lnTo>
                      <a:pt x="0" y="31"/>
                    </a:lnTo>
                    <a:lnTo>
                      <a:pt x="0" y="10"/>
                    </a:lnTo>
                    <a:lnTo>
                      <a:pt x="25"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35" name="Freeform 183"/>
              <p:cNvSpPr>
                <a:spLocks/>
              </p:cNvSpPr>
              <p:nvPr/>
            </p:nvSpPr>
            <p:spPr bwMode="auto">
              <a:xfrm>
                <a:off x="885" y="3372"/>
                <a:ext cx="31" cy="37"/>
              </a:xfrm>
              <a:custGeom>
                <a:avLst/>
                <a:gdLst/>
                <a:ahLst/>
                <a:cxnLst>
                  <a:cxn ang="0">
                    <a:pos x="30" y="0"/>
                  </a:cxn>
                  <a:cxn ang="0">
                    <a:pos x="30" y="24"/>
                  </a:cxn>
                  <a:cxn ang="0">
                    <a:pos x="0" y="36"/>
                  </a:cxn>
                  <a:cxn ang="0">
                    <a:pos x="0" y="12"/>
                  </a:cxn>
                  <a:cxn ang="0">
                    <a:pos x="30" y="0"/>
                  </a:cxn>
                </a:cxnLst>
                <a:rect l="0" t="0" r="r" b="b"/>
                <a:pathLst>
                  <a:path w="31" h="37">
                    <a:moveTo>
                      <a:pt x="30" y="0"/>
                    </a:moveTo>
                    <a:lnTo>
                      <a:pt x="30" y="24"/>
                    </a:lnTo>
                    <a:lnTo>
                      <a:pt x="0" y="36"/>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36" name="Freeform 184"/>
              <p:cNvSpPr>
                <a:spLocks/>
              </p:cNvSpPr>
              <p:nvPr/>
            </p:nvSpPr>
            <p:spPr bwMode="auto">
              <a:xfrm>
                <a:off x="889" y="3408"/>
                <a:ext cx="26" cy="30"/>
              </a:xfrm>
              <a:custGeom>
                <a:avLst/>
                <a:gdLst/>
                <a:ahLst/>
                <a:cxnLst>
                  <a:cxn ang="0">
                    <a:pos x="25" y="0"/>
                  </a:cxn>
                  <a:cxn ang="0">
                    <a:pos x="25" y="20"/>
                  </a:cxn>
                  <a:cxn ang="0">
                    <a:pos x="0" y="29"/>
                  </a:cxn>
                  <a:cxn ang="0">
                    <a:pos x="0" y="10"/>
                  </a:cxn>
                  <a:cxn ang="0">
                    <a:pos x="25" y="0"/>
                  </a:cxn>
                </a:cxnLst>
                <a:rect l="0" t="0" r="r" b="b"/>
                <a:pathLst>
                  <a:path w="26" h="30">
                    <a:moveTo>
                      <a:pt x="25" y="0"/>
                    </a:moveTo>
                    <a:lnTo>
                      <a:pt x="25" y="20"/>
                    </a:lnTo>
                    <a:lnTo>
                      <a:pt x="0" y="29"/>
                    </a:lnTo>
                    <a:lnTo>
                      <a:pt x="0" y="10"/>
                    </a:lnTo>
                    <a:lnTo>
                      <a:pt x="25"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37" name="Freeform 185"/>
              <p:cNvSpPr>
                <a:spLocks/>
              </p:cNvSpPr>
              <p:nvPr/>
            </p:nvSpPr>
            <p:spPr bwMode="auto">
              <a:xfrm>
                <a:off x="889" y="3440"/>
                <a:ext cx="26" cy="30"/>
              </a:xfrm>
              <a:custGeom>
                <a:avLst/>
                <a:gdLst/>
                <a:ahLst/>
                <a:cxnLst>
                  <a:cxn ang="0">
                    <a:pos x="25" y="0"/>
                  </a:cxn>
                  <a:cxn ang="0">
                    <a:pos x="25" y="20"/>
                  </a:cxn>
                  <a:cxn ang="0">
                    <a:pos x="0" y="29"/>
                  </a:cxn>
                  <a:cxn ang="0">
                    <a:pos x="0" y="9"/>
                  </a:cxn>
                  <a:cxn ang="0">
                    <a:pos x="25" y="0"/>
                  </a:cxn>
                </a:cxnLst>
                <a:rect l="0" t="0" r="r" b="b"/>
                <a:pathLst>
                  <a:path w="26" h="30">
                    <a:moveTo>
                      <a:pt x="25" y="0"/>
                    </a:moveTo>
                    <a:lnTo>
                      <a:pt x="25" y="20"/>
                    </a:lnTo>
                    <a:lnTo>
                      <a:pt x="0" y="29"/>
                    </a:lnTo>
                    <a:lnTo>
                      <a:pt x="0" y="9"/>
                    </a:lnTo>
                    <a:lnTo>
                      <a:pt x="25"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38" name="Freeform 186"/>
              <p:cNvSpPr>
                <a:spLocks/>
              </p:cNvSpPr>
              <p:nvPr/>
            </p:nvSpPr>
            <p:spPr bwMode="auto">
              <a:xfrm>
                <a:off x="885" y="3469"/>
                <a:ext cx="31" cy="36"/>
              </a:xfrm>
              <a:custGeom>
                <a:avLst/>
                <a:gdLst/>
                <a:ahLst/>
                <a:cxnLst>
                  <a:cxn ang="0">
                    <a:pos x="30" y="0"/>
                  </a:cxn>
                  <a:cxn ang="0">
                    <a:pos x="30" y="24"/>
                  </a:cxn>
                  <a:cxn ang="0">
                    <a:pos x="0" y="35"/>
                  </a:cxn>
                  <a:cxn ang="0">
                    <a:pos x="0" y="12"/>
                  </a:cxn>
                  <a:cxn ang="0">
                    <a:pos x="30" y="0"/>
                  </a:cxn>
                </a:cxnLst>
                <a:rect l="0" t="0" r="r" b="b"/>
                <a:pathLst>
                  <a:path w="31" h="36">
                    <a:moveTo>
                      <a:pt x="30" y="0"/>
                    </a:moveTo>
                    <a:lnTo>
                      <a:pt x="30" y="24"/>
                    </a:lnTo>
                    <a:lnTo>
                      <a:pt x="0" y="35"/>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39" name="Freeform 187"/>
              <p:cNvSpPr>
                <a:spLocks/>
              </p:cNvSpPr>
              <p:nvPr/>
            </p:nvSpPr>
            <p:spPr bwMode="auto">
              <a:xfrm>
                <a:off x="919" y="3262"/>
                <a:ext cx="31" cy="47"/>
              </a:xfrm>
              <a:custGeom>
                <a:avLst/>
                <a:gdLst/>
                <a:ahLst/>
                <a:cxnLst>
                  <a:cxn ang="0">
                    <a:pos x="30" y="0"/>
                  </a:cxn>
                  <a:cxn ang="0">
                    <a:pos x="30" y="33"/>
                  </a:cxn>
                  <a:cxn ang="0">
                    <a:pos x="0" y="46"/>
                  </a:cxn>
                  <a:cxn ang="0">
                    <a:pos x="0" y="15"/>
                  </a:cxn>
                  <a:cxn ang="0">
                    <a:pos x="2" y="14"/>
                  </a:cxn>
                  <a:cxn ang="0">
                    <a:pos x="4" y="13"/>
                  </a:cxn>
                  <a:cxn ang="0">
                    <a:pos x="6" y="12"/>
                  </a:cxn>
                  <a:cxn ang="0">
                    <a:pos x="8" y="11"/>
                  </a:cxn>
                  <a:cxn ang="0">
                    <a:pos x="10" y="10"/>
                  </a:cxn>
                  <a:cxn ang="0">
                    <a:pos x="12" y="9"/>
                  </a:cxn>
                  <a:cxn ang="0">
                    <a:pos x="14" y="8"/>
                  </a:cxn>
                  <a:cxn ang="0">
                    <a:pos x="16" y="7"/>
                  </a:cxn>
                  <a:cxn ang="0">
                    <a:pos x="17" y="6"/>
                  </a:cxn>
                  <a:cxn ang="0">
                    <a:pos x="19" y="5"/>
                  </a:cxn>
                  <a:cxn ang="0">
                    <a:pos x="21" y="4"/>
                  </a:cxn>
                  <a:cxn ang="0">
                    <a:pos x="23" y="3"/>
                  </a:cxn>
                  <a:cxn ang="0">
                    <a:pos x="25" y="2"/>
                  </a:cxn>
                  <a:cxn ang="0">
                    <a:pos x="27" y="2"/>
                  </a:cxn>
                  <a:cxn ang="0">
                    <a:pos x="28" y="1"/>
                  </a:cxn>
                  <a:cxn ang="0">
                    <a:pos x="30" y="0"/>
                  </a:cxn>
                </a:cxnLst>
                <a:rect l="0" t="0" r="r" b="b"/>
                <a:pathLst>
                  <a:path w="31" h="47">
                    <a:moveTo>
                      <a:pt x="30" y="0"/>
                    </a:moveTo>
                    <a:lnTo>
                      <a:pt x="30" y="33"/>
                    </a:lnTo>
                    <a:lnTo>
                      <a:pt x="0" y="46"/>
                    </a:lnTo>
                    <a:lnTo>
                      <a:pt x="0" y="15"/>
                    </a:lnTo>
                    <a:lnTo>
                      <a:pt x="2" y="14"/>
                    </a:lnTo>
                    <a:lnTo>
                      <a:pt x="4" y="13"/>
                    </a:lnTo>
                    <a:lnTo>
                      <a:pt x="6" y="12"/>
                    </a:lnTo>
                    <a:lnTo>
                      <a:pt x="8" y="11"/>
                    </a:lnTo>
                    <a:lnTo>
                      <a:pt x="10" y="10"/>
                    </a:lnTo>
                    <a:lnTo>
                      <a:pt x="12" y="9"/>
                    </a:lnTo>
                    <a:lnTo>
                      <a:pt x="14" y="8"/>
                    </a:lnTo>
                    <a:lnTo>
                      <a:pt x="16" y="7"/>
                    </a:lnTo>
                    <a:lnTo>
                      <a:pt x="17" y="6"/>
                    </a:lnTo>
                    <a:lnTo>
                      <a:pt x="19" y="5"/>
                    </a:lnTo>
                    <a:lnTo>
                      <a:pt x="21" y="4"/>
                    </a:lnTo>
                    <a:lnTo>
                      <a:pt x="23" y="3"/>
                    </a:lnTo>
                    <a:lnTo>
                      <a:pt x="25" y="2"/>
                    </a:lnTo>
                    <a:lnTo>
                      <a:pt x="27" y="2"/>
                    </a:lnTo>
                    <a:lnTo>
                      <a:pt x="28" y="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40" name="Freeform 188"/>
              <p:cNvSpPr>
                <a:spLocks/>
              </p:cNvSpPr>
              <p:nvPr/>
            </p:nvSpPr>
            <p:spPr bwMode="auto">
              <a:xfrm>
                <a:off x="919" y="3299"/>
                <a:ext cx="31" cy="38"/>
              </a:xfrm>
              <a:custGeom>
                <a:avLst/>
                <a:gdLst/>
                <a:ahLst/>
                <a:cxnLst>
                  <a:cxn ang="0">
                    <a:pos x="30" y="0"/>
                  </a:cxn>
                  <a:cxn ang="0">
                    <a:pos x="30" y="26"/>
                  </a:cxn>
                  <a:cxn ang="0">
                    <a:pos x="0" y="37"/>
                  </a:cxn>
                  <a:cxn ang="0">
                    <a:pos x="0" y="11"/>
                  </a:cxn>
                  <a:cxn ang="0">
                    <a:pos x="30" y="0"/>
                  </a:cxn>
                </a:cxnLst>
                <a:rect l="0" t="0" r="r" b="b"/>
                <a:pathLst>
                  <a:path w="31" h="38">
                    <a:moveTo>
                      <a:pt x="30" y="0"/>
                    </a:moveTo>
                    <a:lnTo>
                      <a:pt x="30" y="26"/>
                    </a:lnTo>
                    <a:lnTo>
                      <a:pt x="0" y="37"/>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41" name="Freeform 189"/>
              <p:cNvSpPr>
                <a:spLocks/>
              </p:cNvSpPr>
              <p:nvPr/>
            </p:nvSpPr>
            <p:spPr bwMode="auto">
              <a:xfrm>
                <a:off x="919" y="3331"/>
                <a:ext cx="31" cy="38"/>
              </a:xfrm>
              <a:custGeom>
                <a:avLst/>
                <a:gdLst/>
                <a:ahLst/>
                <a:cxnLst>
                  <a:cxn ang="0">
                    <a:pos x="30" y="0"/>
                  </a:cxn>
                  <a:cxn ang="0">
                    <a:pos x="30" y="26"/>
                  </a:cxn>
                  <a:cxn ang="0">
                    <a:pos x="0" y="37"/>
                  </a:cxn>
                  <a:cxn ang="0">
                    <a:pos x="0" y="11"/>
                  </a:cxn>
                  <a:cxn ang="0">
                    <a:pos x="30" y="0"/>
                  </a:cxn>
                </a:cxnLst>
                <a:rect l="0" t="0" r="r" b="b"/>
                <a:pathLst>
                  <a:path w="31" h="38">
                    <a:moveTo>
                      <a:pt x="30" y="0"/>
                    </a:moveTo>
                    <a:lnTo>
                      <a:pt x="30" y="26"/>
                    </a:lnTo>
                    <a:lnTo>
                      <a:pt x="0" y="37"/>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42" name="Freeform 190"/>
              <p:cNvSpPr>
                <a:spLocks/>
              </p:cNvSpPr>
              <p:nvPr/>
            </p:nvSpPr>
            <p:spPr bwMode="auto">
              <a:xfrm>
                <a:off x="919" y="3362"/>
                <a:ext cx="31" cy="42"/>
              </a:xfrm>
              <a:custGeom>
                <a:avLst/>
                <a:gdLst/>
                <a:ahLst/>
                <a:cxnLst>
                  <a:cxn ang="0">
                    <a:pos x="30" y="0"/>
                  </a:cxn>
                  <a:cxn ang="0">
                    <a:pos x="30" y="28"/>
                  </a:cxn>
                  <a:cxn ang="0">
                    <a:pos x="0" y="41"/>
                  </a:cxn>
                  <a:cxn ang="0">
                    <a:pos x="0" y="12"/>
                  </a:cxn>
                  <a:cxn ang="0">
                    <a:pos x="30" y="0"/>
                  </a:cxn>
                </a:cxnLst>
                <a:rect l="0" t="0" r="r" b="b"/>
                <a:pathLst>
                  <a:path w="31" h="42">
                    <a:moveTo>
                      <a:pt x="30" y="0"/>
                    </a:moveTo>
                    <a:lnTo>
                      <a:pt x="30" y="28"/>
                    </a:lnTo>
                    <a:lnTo>
                      <a:pt x="0" y="41"/>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43" name="Freeform 191"/>
              <p:cNvSpPr>
                <a:spLocks/>
              </p:cNvSpPr>
              <p:nvPr/>
            </p:nvSpPr>
            <p:spPr bwMode="auto">
              <a:xfrm>
                <a:off x="919" y="3394"/>
                <a:ext cx="31" cy="41"/>
              </a:xfrm>
              <a:custGeom>
                <a:avLst/>
                <a:gdLst/>
                <a:ahLst/>
                <a:cxnLst>
                  <a:cxn ang="0">
                    <a:pos x="30" y="0"/>
                  </a:cxn>
                  <a:cxn ang="0">
                    <a:pos x="30" y="28"/>
                  </a:cxn>
                  <a:cxn ang="0">
                    <a:pos x="0" y="40"/>
                  </a:cxn>
                  <a:cxn ang="0">
                    <a:pos x="0" y="12"/>
                  </a:cxn>
                  <a:cxn ang="0">
                    <a:pos x="30" y="0"/>
                  </a:cxn>
                </a:cxnLst>
                <a:rect l="0" t="0" r="r" b="b"/>
                <a:pathLst>
                  <a:path w="31" h="41">
                    <a:moveTo>
                      <a:pt x="30" y="0"/>
                    </a:moveTo>
                    <a:lnTo>
                      <a:pt x="30" y="28"/>
                    </a:lnTo>
                    <a:lnTo>
                      <a:pt x="0" y="40"/>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44" name="Freeform 192"/>
              <p:cNvSpPr>
                <a:spLocks/>
              </p:cNvSpPr>
              <p:nvPr/>
            </p:nvSpPr>
            <p:spPr bwMode="auto">
              <a:xfrm>
                <a:off x="919" y="3429"/>
                <a:ext cx="31" cy="39"/>
              </a:xfrm>
              <a:custGeom>
                <a:avLst/>
                <a:gdLst/>
                <a:ahLst/>
                <a:cxnLst>
                  <a:cxn ang="0">
                    <a:pos x="30" y="0"/>
                  </a:cxn>
                  <a:cxn ang="0">
                    <a:pos x="30" y="26"/>
                  </a:cxn>
                  <a:cxn ang="0">
                    <a:pos x="0" y="38"/>
                  </a:cxn>
                  <a:cxn ang="0">
                    <a:pos x="0" y="11"/>
                  </a:cxn>
                  <a:cxn ang="0">
                    <a:pos x="30" y="0"/>
                  </a:cxn>
                </a:cxnLst>
                <a:rect l="0" t="0" r="r" b="b"/>
                <a:pathLst>
                  <a:path w="31" h="39">
                    <a:moveTo>
                      <a:pt x="30" y="0"/>
                    </a:moveTo>
                    <a:lnTo>
                      <a:pt x="30" y="26"/>
                    </a:lnTo>
                    <a:lnTo>
                      <a:pt x="0" y="38"/>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45" name="Freeform 193"/>
              <p:cNvSpPr>
                <a:spLocks/>
              </p:cNvSpPr>
              <p:nvPr/>
            </p:nvSpPr>
            <p:spPr bwMode="auto">
              <a:xfrm>
                <a:off x="919" y="3461"/>
                <a:ext cx="31" cy="40"/>
              </a:xfrm>
              <a:custGeom>
                <a:avLst/>
                <a:gdLst/>
                <a:ahLst/>
                <a:cxnLst>
                  <a:cxn ang="0">
                    <a:pos x="30" y="0"/>
                  </a:cxn>
                  <a:cxn ang="0">
                    <a:pos x="30" y="27"/>
                  </a:cxn>
                  <a:cxn ang="0">
                    <a:pos x="28" y="28"/>
                  </a:cxn>
                  <a:cxn ang="0">
                    <a:pos x="26" y="29"/>
                  </a:cxn>
                  <a:cxn ang="0">
                    <a:pos x="24" y="29"/>
                  </a:cxn>
                  <a:cxn ang="0">
                    <a:pos x="22" y="30"/>
                  </a:cxn>
                  <a:cxn ang="0">
                    <a:pos x="20" y="31"/>
                  </a:cxn>
                  <a:cxn ang="0">
                    <a:pos x="18" y="32"/>
                  </a:cxn>
                  <a:cxn ang="0">
                    <a:pos x="16" y="32"/>
                  </a:cxn>
                  <a:cxn ang="0">
                    <a:pos x="14" y="33"/>
                  </a:cxn>
                  <a:cxn ang="0">
                    <a:pos x="12" y="34"/>
                  </a:cxn>
                  <a:cxn ang="0">
                    <a:pos x="10" y="35"/>
                  </a:cxn>
                  <a:cxn ang="0">
                    <a:pos x="8" y="35"/>
                  </a:cxn>
                  <a:cxn ang="0">
                    <a:pos x="7" y="36"/>
                  </a:cxn>
                  <a:cxn ang="0">
                    <a:pos x="5" y="37"/>
                  </a:cxn>
                  <a:cxn ang="0">
                    <a:pos x="3" y="38"/>
                  </a:cxn>
                  <a:cxn ang="0">
                    <a:pos x="2" y="38"/>
                  </a:cxn>
                  <a:cxn ang="0">
                    <a:pos x="0" y="39"/>
                  </a:cxn>
                  <a:cxn ang="0">
                    <a:pos x="0" y="11"/>
                  </a:cxn>
                  <a:cxn ang="0">
                    <a:pos x="30" y="0"/>
                  </a:cxn>
                </a:cxnLst>
                <a:rect l="0" t="0" r="r" b="b"/>
                <a:pathLst>
                  <a:path w="31" h="40">
                    <a:moveTo>
                      <a:pt x="30" y="0"/>
                    </a:moveTo>
                    <a:lnTo>
                      <a:pt x="30" y="27"/>
                    </a:lnTo>
                    <a:lnTo>
                      <a:pt x="28" y="28"/>
                    </a:lnTo>
                    <a:lnTo>
                      <a:pt x="26" y="29"/>
                    </a:lnTo>
                    <a:lnTo>
                      <a:pt x="24" y="29"/>
                    </a:lnTo>
                    <a:lnTo>
                      <a:pt x="22" y="30"/>
                    </a:lnTo>
                    <a:lnTo>
                      <a:pt x="20" y="31"/>
                    </a:lnTo>
                    <a:lnTo>
                      <a:pt x="18" y="32"/>
                    </a:lnTo>
                    <a:lnTo>
                      <a:pt x="16" y="32"/>
                    </a:lnTo>
                    <a:lnTo>
                      <a:pt x="14" y="33"/>
                    </a:lnTo>
                    <a:lnTo>
                      <a:pt x="12" y="34"/>
                    </a:lnTo>
                    <a:lnTo>
                      <a:pt x="10" y="35"/>
                    </a:lnTo>
                    <a:lnTo>
                      <a:pt x="8" y="35"/>
                    </a:lnTo>
                    <a:lnTo>
                      <a:pt x="7" y="36"/>
                    </a:lnTo>
                    <a:lnTo>
                      <a:pt x="5" y="37"/>
                    </a:lnTo>
                    <a:lnTo>
                      <a:pt x="3" y="38"/>
                    </a:lnTo>
                    <a:lnTo>
                      <a:pt x="2" y="38"/>
                    </a:lnTo>
                    <a:lnTo>
                      <a:pt x="0" y="39"/>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46" name="Freeform 194"/>
              <p:cNvSpPr>
                <a:spLocks/>
              </p:cNvSpPr>
              <p:nvPr/>
            </p:nvSpPr>
            <p:spPr bwMode="auto">
              <a:xfrm>
                <a:off x="953" y="3248"/>
                <a:ext cx="157" cy="244"/>
              </a:xfrm>
              <a:custGeom>
                <a:avLst/>
                <a:gdLst/>
                <a:ahLst/>
                <a:cxnLst>
                  <a:cxn ang="0">
                    <a:pos x="152" y="241"/>
                  </a:cxn>
                  <a:cxn ang="0">
                    <a:pos x="144" y="237"/>
                  </a:cxn>
                  <a:cxn ang="0">
                    <a:pos x="136" y="233"/>
                  </a:cxn>
                  <a:cxn ang="0">
                    <a:pos x="127" y="230"/>
                  </a:cxn>
                  <a:cxn ang="0">
                    <a:pos x="118" y="228"/>
                  </a:cxn>
                  <a:cxn ang="0">
                    <a:pos x="108" y="226"/>
                  </a:cxn>
                  <a:cxn ang="0">
                    <a:pos x="98" y="225"/>
                  </a:cxn>
                  <a:cxn ang="0">
                    <a:pos x="88" y="225"/>
                  </a:cxn>
                  <a:cxn ang="0">
                    <a:pos x="78" y="224"/>
                  </a:cxn>
                  <a:cxn ang="0">
                    <a:pos x="68" y="225"/>
                  </a:cxn>
                  <a:cxn ang="0">
                    <a:pos x="58" y="226"/>
                  </a:cxn>
                  <a:cxn ang="0">
                    <a:pos x="48" y="227"/>
                  </a:cxn>
                  <a:cxn ang="0">
                    <a:pos x="38" y="229"/>
                  </a:cxn>
                  <a:cxn ang="0">
                    <a:pos x="27" y="230"/>
                  </a:cxn>
                  <a:cxn ang="0">
                    <a:pos x="17" y="233"/>
                  </a:cxn>
                  <a:cxn ang="0">
                    <a:pos x="6" y="236"/>
                  </a:cxn>
                  <a:cxn ang="0">
                    <a:pos x="3" y="204"/>
                  </a:cxn>
                  <a:cxn ang="0">
                    <a:pos x="15" y="200"/>
                  </a:cxn>
                  <a:cxn ang="0">
                    <a:pos x="27" y="197"/>
                  </a:cxn>
                  <a:cxn ang="0">
                    <a:pos x="40" y="194"/>
                  </a:cxn>
                  <a:cxn ang="0">
                    <a:pos x="50" y="120"/>
                  </a:cxn>
                  <a:cxn ang="0">
                    <a:pos x="38" y="122"/>
                  </a:cxn>
                  <a:cxn ang="0">
                    <a:pos x="26" y="126"/>
                  </a:cxn>
                  <a:cxn ang="0">
                    <a:pos x="13" y="130"/>
                  </a:cxn>
                  <a:cxn ang="0">
                    <a:pos x="0" y="136"/>
                  </a:cxn>
                  <a:cxn ang="0">
                    <a:pos x="9" y="110"/>
                  </a:cxn>
                  <a:cxn ang="0">
                    <a:pos x="21" y="106"/>
                  </a:cxn>
                  <a:cxn ang="0">
                    <a:pos x="34" y="102"/>
                  </a:cxn>
                  <a:cxn ang="0">
                    <a:pos x="46" y="99"/>
                  </a:cxn>
                  <a:cxn ang="0">
                    <a:pos x="44" y="33"/>
                  </a:cxn>
                  <a:cxn ang="0">
                    <a:pos x="32" y="36"/>
                  </a:cxn>
                  <a:cxn ang="0">
                    <a:pos x="19" y="39"/>
                  </a:cxn>
                  <a:cxn ang="0">
                    <a:pos x="6" y="43"/>
                  </a:cxn>
                  <a:cxn ang="0">
                    <a:pos x="3" y="13"/>
                  </a:cxn>
                  <a:cxn ang="0">
                    <a:pos x="13" y="10"/>
                  </a:cxn>
                  <a:cxn ang="0">
                    <a:pos x="23" y="7"/>
                  </a:cxn>
                  <a:cxn ang="0">
                    <a:pos x="33" y="5"/>
                  </a:cxn>
                  <a:cxn ang="0">
                    <a:pos x="43" y="3"/>
                  </a:cxn>
                  <a:cxn ang="0">
                    <a:pos x="53" y="2"/>
                  </a:cxn>
                  <a:cxn ang="0">
                    <a:pos x="62" y="1"/>
                  </a:cxn>
                  <a:cxn ang="0">
                    <a:pos x="72" y="0"/>
                  </a:cxn>
                  <a:cxn ang="0">
                    <a:pos x="82" y="0"/>
                  </a:cxn>
                  <a:cxn ang="0">
                    <a:pos x="92" y="1"/>
                  </a:cxn>
                  <a:cxn ang="0">
                    <a:pos x="102" y="2"/>
                  </a:cxn>
                  <a:cxn ang="0">
                    <a:pos x="112" y="3"/>
                  </a:cxn>
                  <a:cxn ang="0">
                    <a:pos x="122" y="6"/>
                  </a:cxn>
                  <a:cxn ang="0">
                    <a:pos x="131" y="8"/>
                  </a:cxn>
                  <a:cxn ang="0">
                    <a:pos x="140" y="12"/>
                  </a:cxn>
                  <a:cxn ang="0">
                    <a:pos x="149" y="16"/>
                  </a:cxn>
                </a:cxnLst>
                <a:rect l="0" t="0" r="r" b="b"/>
                <a:pathLst>
                  <a:path w="157" h="244">
                    <a:moveTo>
                      <a:pt x="156" y="19"/>
                    </a:moveTo>
                    <a:lnTo>
                      <a:pt x="156" y="243"/>
                    </a:lnTo>
                    <a:lnTo>
                      <a:pt x="154" y="242"/>
                    </a:lnTo>
                    <a:lnTo>
                      <a:pt x="152" y="241"/>
                    </a:lnTo>
                    <a:lnTo>
                      <a:pt x="150" y="240"/>
                    </a:lnTo>
                    <a:lnTo>
                      <a:pt x="148" y="238"/>
                    </a:lnTo>
                    <a:lnTo>
                      <a:pt x="146" y="238"/>
                    </a:lnTo>
                    <a:lnTo>
                      <a:pt x="144" y="237"/>
                    </a:lnTo>
                    <a:lnTo>
                      <a:pt x="142" y="236"/>
                    </a:lnTo>
                    <a:lnTo>
                      <a:pt x="140" y="235"/>
                    </a:lnTo>
                    <a:lnTo>
                      <a:pt x="138" y="234"/>
                    </a:lnTo>
                    <a:lnTo>
                      <a:pt x="136" y="233"/>
                    </a:lnTo>
                    <a:lnTo>
                      <a:pt x="134" y="232"/>
                    </a:lnTo>
                    <a:lnTo>
                      <a:pt x="132" y="232"/>
                    </a:lnTo>
                    <a:lnTo>
                      <a:pt x="129" y="231"/>
                    </a:lnTo>
                    <a:lnTo>
                      <a:pt x="127" y="230"/>
                    </a:lnTo>
                    <a:lnTo>
                      <a:pt x="125" y="230"/>
                    </a:lnTo>
                    <a:lnTo>
                      <a:pt x="123" y="229"/>
                    </a:lnTo>
                    <a:lnTo>
                      <a:pt x="120" y="229"/>
                    </a:lnTo>
                    <a:lnTo>
                      <a:pt x="118" y="228"/>
                    </a:lnTo>
                    <a:lnTo>
                      <a:pt x="116" y="227"/>
                    </a:lnTo>
                    <a:lnTo>
                      <a:pt x="113" y="227"/>
                    </a:lnTo>
                    <a:lnTo>
                      <a:pt x="111" y="227"/>
                    </a:lnTo>
                    <a:lnTo>
                      <a:pt x="108" y="226"/>
                    </a:lnTo>
                    <a:lnTo>
                      <a:pt x="106" y="226"/>
                    </a:lnTo>
                    <a:lnTo>
                      <a:pt x="103" y="226"/>
                    </a:lnTo>
                    <a:lnTo>
                      <a:pt x="101" y="225"/>
                    </a:lnTo>
                    <a:lnTo>
                      <a:pt x="98" y="225"/>
                    </a:lnTo>
                    <a:lnTo>
                      <a:pt x="96" y="225"/>
                    </a:lnTo>
                    <a:lnTo>
                      <a:pt x="93" y="225"/>
                    </a:lnTo>
                    <a:lnTo>
                      <a:pt x="90" y="225"/>
                    </a:lnTo>
                    <a:lnTo>
                      <a:pt x="88" y="225"/>
                    </a:lnTo>
                    <a:lnTo>
                      <a:pt x="85" y="224"/>
                    </a:lnTo>
                    <a:lnTo>
                      <a:pt x="82" y="224"/>
                    </a:lnTo>
                    <a:lnTo>
                      <a:pt x="80" y="224"/>
                    </a:lnTo>
                    <a:lnTo>
                      <a:pt x="78" y="224"/>
                    </a:lnTo>
                    <a:lnTo>
                      <a:pt x="75" y="225"/>
                    </a:lnTo>
                    <a:lnTo>
                      <a:pt x="73" y="225"/>
                    </a:lnTo>
                    <a:lnTo>
                      <a:pt x="70" y="225"/>
                    </a:lnTo>
                    <a:lnTo>
                      <a:pt x="68" y="225"/>
                    </a:lnTo>
                    <a:lnTo>
                      <a:pt x="66" y="225"/>
                    </a:lnTo>
                    <a:lnTo>
                      <a:pt x="63" y="225"/>
                    </a:lnTo>
                    <a:lnTo>
                      <a:pt x="61" y="226"/>
                    </a:lnTo>
                    <a:lnTo>
                      <a:pt x="58" y="226"/>
                    </a:lnTo>
                    <a:lnTo>
                      <a:pt x="56" y="226"/>
                    </a:lnTo>
                    <a:lnTo>
                      <a:pt x="53" y="226"/>
                    </a:lnTo>
                    <a:lnTo>
                      <a:pt x="51" y="227"/>
                    </a:lnTo>
                    <a:lnTo>
                      <a:pt x="48" y="227"/>
                    </a:lnTo>
                    <a:lnTo>
                      <a:pt x="46" y="227"/>
                    </a:lnTo>
                    <a:lnTo>
                      <a:pt x="43" y="228"/>
                    </a:lnTo>
                    <a:lnTo>
                      <a:pt x="41" y="228"/>
                    </a:lnTo>
                    <a:lnTo>
                      <a:pt x="38" y="229"/>
                    </a:lnTo>
                    <a:lnTo>
                      <a:pt x="35" y="229"/>
                    </a:lnTo>
                    <a:lnTo>
                      <a:pt x="33" y="229"/>
                    </a:lnTo>
                    <a:lnTo>
                      <a:pt x="30" y="230"/>
                    </a:lnTo>
                    <a:lnTo>
                      <a:pt x="27" y="230"/>
                    </a:lnTo>
                    <a:lnTo>
                      <a:pt x="25" y="231"/>
                    </a:lnTo>
                    <a:lnTo>
                      <a:pt x="22" y="232"/>
                    </a:lnTo>
                    <a:lnTo>
                      <a:pt x="19" y="232"/>
                    </a:lnTo>
                    <a:lnTo>
                      <a:pt x="17" y="233"/>
                    </a:lnTo>
                    <a:lnTo>
                      <a:pt x="14" y="234"/>
                    </a:lnTo>
                    <a:lnTo>
                      <a:pt x="11" y="234"/>
                    </a:lnTo>
                    <a:lnTo>
                      <a:pt x="8" y="235"/>
                    </a:lnTo>
                    <a:lnTo>
                      <a:pt x="6" y="236"/>
                    </a:lnTo>
                    <a:lnTo>
                      <a:pt x="3" y="237"/>
                    </a:lnTo>
                    <a:lnTo>
                      <a:pt x="0" y="237"/>
                    </a:lnTo>
                    <a:lnTo>
                      <a:pt x="0" y="205"/>
                    </a:lnTo>
                    <a:lnTo>
                      <a:pt x="3" y="204"/>
                    </a:lnTo>
                    <a:lnTo>
                      <a:pt x="6" y="203"/>
                    </a:lnTo>
                    <a:lnTo>
                      <a:pt x="9" y="202"/>
                    </a:lnTo>
                    <a:lnTo>
                      <a:pt x="12" y="201"/>
                    </a:lnTo>
                    <a:lnTo>
                      <a:pt x="15" y="200"/>
                    </a:lnTo>
                    <a:lnTo>
                      <a:pt x="18" y="199"/>
                    </a:lnTo>
                    <a:lnTo>
                      <a:pt x="21" y="198"/>
                    </a:lnTo>
                    <a:lnTo>
                      <a:pt x="24" y="198"/>
                    </a:lnTo>
                    <a:lnTo>
                      <a:pt x="27" y="197"/>
                    </a:lnTo>
                    <a:lnTo>
                      <a:pt x="30" y="196"/>
                    </a:lnTo>
                    <a:lnTo>
                      <a:pt x="33" y="195"/>
                    </a:lnTo>
                    <a:lnTo>
                      <a:pt x="37" y="195"/>
                    </a:lnTo>
                    <a:lnTo>
                      <a:pt x="40" y="194"/>
                    </a:lnTo>
                    <a:lnTo>
                      <a:pt x="43" y="193"/>
                    </a:lnTo>
                    <a:lnTo>
                      <a:pt x="46" y="193"/>
                    </a:lnTo>
                    <a:lnTo>
                      <a:pt x="50" y="192"/>
                    </a:lnTo>
                    <a:lnTo>
                      <a:pt x="50" y="120"/>
                    </a:lnTo>
                    <a:lnTo>
                      <a:pt x="47" y="121"/>
                    </a:lnTo>
                    <a:lnTo>
                      <a:pt x="44" y="121"/>
                    </a:lnTo>
                    <a:lnTo>
                      <a:pt x="41" y="122"/>
                    </a:lnTo>
                    <a:lnTo>
                      <a:pt x="38" y="122"/>
                    </a:lnTo>
                    <a:lnTo>
                      <a:pt x="35" y="123"/>
                    </a:lnTo>
                    <a:lnTo>
                      <a:pt x="32" y="124"/>
                    </a:lnTo>
                    <a:lnTo>
                      <a:pt x="29" y="125"/>
                    </a:lnTo>
                    <a:lnTo>
                      <a:pt x="26" y="126"/>
                    </a:lnTo>
                    <a:lnTo>
                      <a:pt x="23" y="127"/>
                    </a:lnTo>
                    <a:lnTo>
                      <a:pt x="20" y="128"/>
                    </a:lnTo>
                    <a:lnTo>
                      <a:pt x="17" y="129"/>
                    </a:lnTo>
                    <a:lnTo>
                      <a:pt x="13" y="130"/>
                    </a:lnTo>
                    <a:lnTo>
                      <a:pt x="10" y="132"/>
                    </a:lnTo>
                    <a:lnTo>
                      <a:pt x="7" y="133"/>
                    </a:lnTo>
                    <a:lnTo>
                      <a:pt x="3" y="135"/>
                    </a:lnTo>
                    <a:lnTo>
                      <a:pt x="0" y="136"/>
                    </a:lnTo>
                    <a:lnTo>
                      <a:pt x="0" y="114"/>
                    </a:lnTo>
                    <a:lnTo>
                      <a:pt x="3" y="113"/>
                    </a:lnTo>
                    <a:lnTo>
                      <a:pt x="6" y="111"/>
                    </a:lnTo>
                    <a:lnTo>
                      <a:pt x="9" y="110"/>
                    </a:lnTo>
                    <a:lnTo>
                      <a:pt x="12" y="109"/>
                    </a:lnTo>
                    <a:lnTo>
                      <a:pt x="15" y="108"/>
                    </a:lnTo>
                    <a:lnTo>
                      <a:pt x="18" y="107"/>
                    </a:lnTo>
                    <a:lnTo>
                      <a:pt x="21" y="106"/>
                    </a:lnTo>
                    <a:lnTo>
                      <a:pt x="24" y="105"/>
                    </a:lnTo>
                    <a:lnTo>
                      <a:pt x="27" y="104"/>
                    </a:lnTo>
                    <a:lnTo>
                      <a:pt x="30" y="103"/>
                    </a:lnTo>
                    <a:lnTo>
                      <a:pt x="34" y="102"/>
                    </a:lnTo>
                    <a:lnTo>
                      <a:pt x="37" y="101"/>
                    </a:lnTo>
                    <a:lnTo>
                      <a:pt x="40" y="101"/>
                    </a:lnTo>
                    <a:lnTo>
                      <a:pt x="43" y="100"/>
                    </a:lnTo>
                    <a:lnTo>
                      <a:pt x="46" y="99"/>
                    </a:lnTo>
                    <a:lnTo>
                      <a:pt x="50" y="99"/>
                    </a:lnTo>
                    <a:lnTo>
                      <a:pt x="50" y="32"/>
                    </a:lnTo>
                    <a:lnTo>
                      <a:pt x="47" y="32"/>
                    </a:lnTo>
                    <a:lnTo>
                      <a:pt x="44" y="33"/>
                    </a:lnTo>
                    <a:lnTo>
                      <a:pt x="41" y="34"/>
                    </a:lnTo>
                    <a:lnTo>
                      <a:pt x="38" y="34"/>
                    </a:lnTo>
                    <a:lnTo>
                      <a:pt x="35" y="35"/>
                    </a:lnTo>
                    <a:lnTo>
                      <a:pt x="32" y="36"/>
                    </a:lnTo>
                    <a:lnTo>
                      <a:pt x="29" y="37"/>
                    </a:lnTo>
                    <a:lnTo>
                      <a:pt x="26" y="38"/>
                    </a:lnTo>
                    <a:lnTo>
                      <a:pt x="22" y="38"/>
                    </a:lnTo>
                    <a:lnTo>
                      <a:pt x="19" y="39"/>
                    </a:lnTo>
                    <a:lnTo>
                      <a:pt x="16" y="40"/>
                    </a:lnTo>
                    <a:lnTo>
                      <a:pt x="13" y="41"/>
                    </a:lnTo>
                    <a:lnTo>
                      <a:pt x="10" y="42"/>
                    </a:lnTo>
                    <a:lnTo>
                      <a:pt x="6" y="43"/>
                    </a:lnTo>
                    <a:lnTo>
                      <a:pt x="3" y="45"/>
                    </a:lnTo>
                    <a:lnTo>
                      <a:pt x="0" y="46"/>
                    </a:lnTo>
                    <a:lnTo>
                      <a:pt x="0" y="14"/>
                    </a:lnTo>
                    <a:lnTo>
                      <a:pt x="3" y="13"/>
                    </a:lnTo>
                    <a:lnTo>
                      <a:pt x="5" y="12"/>
                    </a:lnTo>
                    <a:lnTo>
                      <a:pt x="8" y="11"/>
                    </a:lnTo>
                    <a:lnTo>
                      <a:pt x="10" y="10"/>
                    </a:lnTo>
                    <a:lnTo>
                      <a:pt x="13" y="10"/>
                    </a:lnTo>
                    <a:lnTo>
                      <a:pt x="15" y="9"/>
                    </a:lnTo>
                    <a:lnTo>
                      <a:pt x="18" y="8"/>
                    </a:lnTo>
                    <a:lnTo>
                      <a:pt x="20" y="8"/>
                    </a:lnTo>
                    <a:lnTo>
                      <a:pt x="23" y="7"/>
                    </a:lnTo>
                    <a:lnTo>
                      <a:pt x="25" y="6"/>
                    </a:lnTo>
                    <a:lnTo>
                      <a:pt x="28" y="6"/>
                    </a:lnTo>
                    <a:lnTo>
                      <a:pt x="30" y="5"/>
                    </a:lnTo>
                    <a:lnTo>
                      <a:pt x="33" y="5"/>
                    </a:lnTo>
                    <a:lnTo>
                      <a:pt x="35" y="4"/>
                    </a:lnTo>
                    <a:lnTo>
                      <a:pt x="38" y="4"/>
                    </a:lnTo>
                    <a:lnTo>
                      <a:pt x="40" y="4"/>
                    </a:lnTo>
                    <a:lnTo>
                      <a:pt x="43" y="3"/>
                    </a:lnTo>
                    <a:lnTo>
                      <a:pt x="45" y="3"/>
                    </a:lnTo>
                    <a:lnTo>
                      <a:pt x="48" y="2"/>
                    </a:lnTo>
                    <a:lnTo>
                      <a:pt x="50" y="2"/>
                    </a:lnTo>
                    <a:lnTo>
                      <a:pt x="53" y="2"/>
                    </a:lnTo>
                    <a:lnTo>
                      <a:pt x="55" y="1"/>
                    </a:lnTo>
                    <a:lnTo>
                      <a:pt x="57" y="1"/>
                    </a:lnTo>
                    <a:lnTo>
                      <a:pt x="60" y="1"/>
                    </a:lnTo>
                    <a:lnTo>
                      <a:pt x="62" y="1"/>
                    </a:lnTo>
                    <a:lnTo>
                      <a:pt x="65" y="1"/>
                    </a:lnTo>
                    <a:lnTo>
                      <a:pt x="67" y="0"/>
                    </a:lnTo>
                    <a:lnTo>
                      <a:pt x="69" y="0"/>
                    </a:lnTo>
                    <a:lnTo>
                      <a:pt x="72" y="0"/>
                    </a:lnTo>
                    <a:lnTo>
                      <a:pt x="74" y="0"/>
                    </a:lnTo>
                    <a:lnTo>
                      <a:pt x="77" y="0"/>
                    </a:lnTo>
                    <a:lnTo>
                      <a:pt x="79" y="0"/>
                    </a:lnTo>
                    <a:lnTo>
                      <a:pt x="82" y="0"/>
                    </a:lnTo>
                    <a:lnTo>
                      <a:pt x="84" y="0"/>
                    </a:lnTo>
                    <a:lnTo>
                      <a:pt x="87" y="0"/>
                    </a:lnTo>
                    <a:lnTo>
                      <a:pt x="89" y="0"/>
                    </a:lnTo>
                    <a:lnTo>
                      <a:pt x="92" y="1"/>
                    </a:lnTo>
                    <a:lnTo>
                      <a:pt x="94" y="1"/>
                    </a:lnTo>
                    <a:lnTo>
                      <a:pt x="97" y="1"/>
                    </a:lnTo>
                    <a:lnTo>
                      <a:pt x="99" y="1"/>
                    </a:lnTo>
                    <a:lnTo>
                      <a:pt x="102" y="2"/>
                    </a:lnTo>
                    <a:lnTo>
                      <a:pt x="104" y="2"/>
                    </a:lnTo>
                    <a:lnTo>
                      <a:pt x="107" y="2"/>
                    </a:lnTo>
                    <a:lnTo>
                      <a:pt x="109" y="3"/>
                    </a:lnTo>
                    <a:lnTo>
                      <a:pt x="112" y="3"/>
                    </a:lnTo>
                    <a:lnTo>
                      <a:pt x="114" y="4"/>
                    </a:lnTo>
                    <a:lnTo>
                      <a:pt x="117" y="4"/>
                    </a:lnTo>
                    <a:lnTo>
                      <a:pt x="119" y="5"/>
                    </a:lnTo>
                    <a:lnTo>
                      <a:pt x="122" y="6"/>
                    </a:lnTo>
                    <a:lnTo>
                      <a:pt x="124" y="6"/>
                    </a:lnTo>
                    <a:lnTo>
                      <a:pt x="126" y="7"/>
                    </a:lnTo>
                    <a:lnTo>
                      <a:pt x="129" y="8"/>
                    </a:lnTo>
                    <a:lnTo>
                      <a:pt x="131" y="8"/>
                    </a:lnTo>
                    <a:lnTo>
                      <a:pt x="133" y="9"/>
                    </a:lnTo>
                    <a:lnTo>
                      <a:pt x="136" y="10"/>
                    </a:lnTo>
                    <a:lnTo>
                      <a:pt x="138" y="11"/>
                    </a:lnTo>
                    <a:lnTo>
                      <a:pt x="140" y="12"/>
                    </a:lnTo>
                    <a:lnTo>
                      <a:pt x="143" y="13"/>
                    </a:lnTo>
                    <a:lnTo>
                      <a:pt x="145" y="14"/>
                    </a:lnTo>
                    <a:lnTo>
                      <a:pt x="147" y="15"/>
                    </a:lnTo>
                    <a:lnTo>
                      <a:pt x="149" y="16"/>
                    </a:lnTo>
                    <a:lnTo>
                      <a:pt x="151" y="17"/>
                    </a:lnTo>
                    <a:lnTo>
                      <a:pt x="154" y="18"/>
                    </a:lnTo>
                    <a:lnTo>
                      <a:pt x="156" y="19"/>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47" name="Freeform 195"/>
              <p:cNvSpPr>
                <a:spLocks/>
              </p:cNvSpPr>
              <p:nvPr/>
            </p:nvSpPr>
            <p:spPr bwMode="auto">
              <a:xfrm>
                <a:off x="1027" y="3282"/>
                <a:ext cx="54" cy="75"/>
              </a:xfrm>
              <a:custGeom>
                <a:avLst/>
                <a:gdLst/>
                <a:ahLst/>
                <a:cxnLst>
                  <a:cxn ang="0">
                    <a:pos x="53" y="10"/>
                  </a:cxn>
                  <a:cxn ang="0">
                    <a:pos x="53" y="10"/>
                  </a:cxn>
                  <a:cxn ang="0">
                    <a:pos x="51" y="9"/>
                  </a:cxn>
                  <a:cxn ang="0">
                    <a:pos x="48" y="7"/>
                  </a:cxn>
                  <a:cxn ang="0">
                    <a:pos x="45" y="7"/>
                  </a:cxn>
                  <a:cxn ang="0">
                    <a:pos x="43" y="6"/>
                  </a:cxn>
                  <a:cxn ang="0">
                    <a:pos x="40" y="5"/>
                  </a:cxn>
                  <a:cxn ang="0">
                    <a:pos x="37" y="4"/>
                  </a:cxn>
                  <a:cxn ang="0">
                    <a:pos x="34" y="3"/>
                  </a:cxn>
                  <a:cxn ang="0">
                    <a:pos x="32" y="3"/>
                  </a:cxn>
                  <a:cxn ang="0">
                    <a:pos x="29" y="2"/>
                  </a:cxn>
                  <a:cxn ang="0">
                    <a:pos x="26" y="1"/>
                  </a:cxn>
                  <a:cxn ang="0">
                    <a:pos x="22" y="1"/>
                  </a:cxn>
                  <a:cxn ang="0">
                    <a:pos x="19" y="1"/>
                  </a:cxn>
                  <a:cxn ang="0">
                    <a:pos x="16" y="0"/>
                  </a:cxn>
                  <a:cxn ang="0">
                    <a:pos x="13" y="0"/>
                  </a:cxn>
                  <a:cxn ang="0">
                    <a:pos x="9" y="0"/>
                  </a:cxn>
                  <a:cxn ang="0">
                    <a:pos x="6" y="0"/>
                  </a:cxn>
                  <a:cxn ang="0">
                    <a:pos x="5" y="0"/>
                  </a:cxn>
                  <a:cxn ang="0">
                    <a:pos x="4" y="0"/>
                  </a:cxn>
                  <a:cxn ang="0">
                    <a:pos x="4" y="0"/>
                  </a:cxn>
                  <a:cxn ang="0">
                    <a:pos x="3" y="0"/>
                  </a:cxn>
                  <a:cxn ang="0">
                    <a:pos x="2" y="0"/>
                  </a:cxn>
                  <a:cxn ang="0">
                    <a:pos x="2" y="0"/>
                  </a:cxn>
                  <a:cxn ang="0">
                    <a:pos x="1" y="0"/>
                  </a:cxn>
                  <a:cxn ang="0">
                    <a:pos x="0" y="0"/>
                  </a:cxn>
                  <a:cxn ang="0">
                    <a:pos x="0" y="67"/>
                  </a:cxn>
                  <a:cxn ang="0">
                    <a:pos x="6" y="67"/>
                  </a:cxn>
                  <a:cxn ang="0">
                    <a:pos x="9" y="67"/>
                  </a:cxn>
                  <a:cxn ang="0">
                    <a:pos x="12" y="67"/>
                  </a:cxn>
                  <a:cxn ang="0">
                    <a:pos x="15" y="67"/>
                  </a:cxn>
                  <a:cxn ang="0">
                    <a:pos x="18" y="68"/>
                  </a:cxn>
                  <a:cxn ang="0">
                    <a:pos x="21" y="68"/>
                  </a:cxn>
                  <a:cxn ang="0">
                    <a:pos x="24" y="68"/>
                  </a:cxn>
                  <a:cxn ang="0">
                    <a:pos x="27" y="68"/>
                  </a:cxn>
                  <a:cxn ang="0">
                    <a:pos x="30" y="69"/>
                  </a:cxn>
                  <a:cxn ang="0">
                    <a:pos x="33" y="69"/>
                  </a:cxn>
                  <a:cxn ang="0">
                    <a:pos x="36" y="70"/>
                  </a:cxn>
                  <a:cxn ang="0">
                    <a:pos x="39" y="70"/>
                  </a:cxn>
                  <a:cxn ang="0">
                    <a:pos x="42" y="71"/>
                  </a:cxn>
                  <a:cxn ang="0">
                    <a:pos x="44" y="72"/>
                  </a:cxn>
                  <a:cxn ang="0">
                    <a:pos x="47" y="72"/>
                  </a:cxn>
                  <a:cxn ang="0">
                    <a:pos x="50" y="73"/>
                  </a:cxn>
                  <a:cxn ang="0">
                    <a:pos x="53" y="74"/>
                  </a:cxn>
                  <a:cxn ang="0">
                    <a:pos x="53" y="10"/>
                  </a:cxn>
                </a:cxnLst>
                <a:rect l="0" t="0" r="r" b="b"/>
                <a:pathLst>
                  <a:path w="54" h="75">
                    <a:moveTo>
                      <a:pt x="53" y="10"/>
                    </a:moveTo>
                    <a:lnTo>
                      <a:pt x="53" y="10"/>
                    </a:lnTo>
                    <a:lnTo>
                      <a:pt x="51" y="9"/>
                    </a:lnTo>
                    <a:lnTo>
                      <a:pt x="48" y="7"/>
                    </a:lnTo>
                    <a:lnTo>
                      <a:pt x="45" y="7"/>
                    </a:lnTo>
                    <a:lnTo>
                      <a:pt x="43" y="6"/>
                    </a:lnTo>
                    <a:lnTo>
                      <a:pt x="40" y="5"/>
                    </a:lnTo>
                    <a:lnTo>
                      <a:pt x="37" y="4"/>
                    </a:lnTo>
                    <a:lnTo>
                      <a:pt x="34" y="3"/>
                    </a:lnTo>
                    <a:lnTo>
                      <a:pt x="32" y="3"/>
                    </a:lnTo>
                    <a:lnTo>
                      <a:pt x="29" y="2"/>
                    </a:lnTo>
                    <a:lnTo>
                      <a:pt x="26" y="1"/>
                    </a:lnTo>
                    <a:lnTo>
                      <a:pt x="22" y="1"/>
                    </a:lnTo>
                    <a:lnTo>
                      <a:pt x="19" y="1"/>
                    </a:lnTo>
                    <a:lnTo>
                      <a:pt x="16" y="0"/>
                    </a:lnTo>
                    <a:lnTo>
                      <a:pt x="13" y="0"/>
                    </a:lnTo>
                    <a:lnTo>
                      <a:pt x="9" y="0"/>
                    </a:lnTo>
                    <a:lnTo>
                      <a:pt x="6" y="0"/>
                    </a:lnTo>
                    <a:lnTo>
                      <a:pt x="5" y="0"/>
                    </a:lnTo>
                    <a:lnTo>
                      <a:pt x="4" y="0"/>
                    </a:lnTo>
                    <a:lnTo>
                      <a:pt x="4" y="0"/>
                    </a:lnTo>
                    <a:lnTo>
                      <a:pt x="3" y="0"/>
                    </a:lnTo>
                    <a:lnTo>
                      <a:pt x="2" y="0"/>
                    </a:lnTo>
                    <a:lnTo>
                      <a:pt x="2" y="0"/>
                    </a:lnTo>
                    <a:lnTo>
                      <a:pt x="1" y="0"/>
                    </a:lnTo>
                    <a:lnTo>
                      <a:pt x="0" y="0"/>
                    </a:lnTo>
                    <a:lnTo>
                      <a:pt x="0" y="67"/>
                    </a:lnTo>
                    <a:lnTo>
                      <a:pt x="6" y="67"/>
                    </a:lnTo>
                    <a:lnTo>
                      <a:pt x="9" y="67"/>
                    </a:lnTo>
                    <a:lnTo>
                      <a:pt x="12" y="67"/>
                    </a:lnTo>
                    <a:lnTo>
                      <a:pt x="15" y="67"/>
                    </a:lnTo>
                    <a:lnTo>
                      <a:pt x="18" y="68"/>
                    </a:lnTo>
                    <a:lnTo>
                      <a:pt x="21" y="68"/>
                    </a:lnTo>
                    <a:lnTo>
                      <a:pt x="24" y="68"/>
                    </a:lnTo>
                    <a:lnTo>
                      <a:pt x="27" y="68"/>
                    </a:lnTo>
                    <a:lnTo>
                      <a:pt x="30" y="69"/>
                    </a:lnTo>
                    <a:lnTo>
                      <a:pt x="33" y="69"/>
                    </a:lnTo>
                    <a:lnTo>
                      <a:pt x="36" y="70"/>
                    </a:lnTo>
                    <a:lnTo>
                      <a:pt x="39" y="70"/>
                    </a:lnTo>
                    <a:lnTo>
                      <a:pt x="42" y="71"/>
                    </a:lnTo>
                    <a:lnTo>
                      <a:pt x="44" y="72"/>
                    </a:lnTo>
                    <a:lnTo>
                      <a:pt x="47" y="72"/>
                    </a:lnTo>
                    <a:lnTo>
                      <a:pt x="50" y="73"/>
                    </a:lnTo>
                    <a:lnTo>
                      <a:pt x="53" y="74"/>
                    </a:lnTo>
                    <a:lnTo>
                      <a:pt x="53" y="10"/>
                    </a:lnTo>
                  </a:path>
                </a:pathLst>
              </a:custGeom>
              <a:solidFill>
                <a:srgbClr val="037C03"/>
              </a:solidFill>
              <a:ln w="12700" cap="rnd" cmpd="sng">
                <a:noFill/>
                <a:prstDash val="solid"/>
                <a:round/>
                <a:headEnd type="none" w="med" len="med"/>
                <a:tailEnd type="none" w="med" len="med"/>
              </a:ln>
              <a:effectLst/>
            </p:spPr>
            <p:txBody>
              <a:bodyPr/>
              <a:lstStyle/>
              <a:p>
                <a:endParaRPr lang="fr-BE"/>
              </a:p>
            </p:txBody>
          </p:sp>
          <p:sp>
            <p:nvSpPr>
              <p:cNvPr id="49348" name="Freeform 196"/>
              <p:cNvSpPr>
                <a:spLocks/>
              </p:cNvSpPr>
              <p:nvPr/>
            </p:nvSpPr>
            <p:spPr bwMode="auto">
              <a:xfrm>
                <a:off x="1026" y="3368"/>
                <a:ext cx="54" cy="80"/>
              </a:xfrm>
              <a:custGeom>
                <a:avLst/>
                <a:gdLst/>
                <a:ahLst/>
                <a:cxnLst>
                  <a:cxn ang="0">
                    <a:pos x="53" y="8"/>
                  </a:cxn>
                  <a:cxn ang="0">
                    <a:pos x="53" y="8"/>
                  </a:cxn>
                  <a:cxn ang="0">
                    <a:pos x="50" y="7"/>
                  </a:cxn>
                  <a:cxn ang="0">
                    <a:pos x="48" y="6"/>
                  </a:cxn>
                  <a:cxn ang="0">
                    <a:pos x="45" y="5"/>
                  </a:cxn>
                  <a:cxn ang="0">
                    <a:pos x="42" y="5"/>
                  </a:cxn>
                  <a:cxn ang="0">
                    <a:pos x="39" y="4"/>
                  </a:cxn>
                  <a:cxn ang="0">
                    <a:pos x="37" y="3"/>
                  </a:cxn>
                  <a:cxn ang="0">
                    <a:pos x="34" y="3"/>
                  </a:cxn>
                  <a:cxn ang="0">
                    <a:pos x="31" y="2"/>
                  </a:cxn>
                  <a:cxn ang="0">
                    <a:pos x="28" y="2"/>
                  </a:cxn>
                  <a:cxn ang="0">
                    <a:pos x="25" y="1"/>
                  </a:cxn>
                  <a:cxn ang="0">
                    <a:pos x="22" y="1"/>
                  </a:cxn>
                  <a:cxn ang="0">
                    <a:pos x="19" y="1"/>
                  </a:cxn>
                  <a:cxn ang="0">
                    <a:pos x="16" y="0"/>
                  </a:cxn>
                  <a:cxn ang="0">
                    <a:pos x="13" y="0"/>
                  </a:cxn>
                  <a:cxn ang="0">
                    <a:pos x="10" y="0"/>
                  </a:cxn>
                  <a:cxn ang="0">
                    <a:pos x="6" y="0"/>
                  </a:cxn>
                  <a:cxn ang="0">
                    <a:pos x="6" y="0"/>
                  </a:cxn>
                  <a:cxn ang="0">
                    <a:pos x="5" y="0"/>
                  </a:cxn>
                  <a:cxn ang="0">
                    <a:pos x="4" y="0"/>
                  </a:cxn>
                  <a:cxn ang="0">
                    <a:pos x="3" y="0"/>
                  </a:cxn>
                  <a:cxn ang="0">
                    <a:pos x="2" y="0"/>
                  </a:cxn>
                  <a:cxn ang="0">
                    <a:pos x="2" y="0"/>
                  </a:cxn>
                  <a:cxn ang="0">
                    <a:pos x="1" y="0"/>
                  </a:cxn>
                  <a:cxn ang="0">
                    <a:pos x="0" y="0"/>
                  </a:cxn>
                  <a:cxn ang="0">
                    <a:pos x="0" y="73"/>
                  </a:cxn>
                  <a:cxn ang="0">
                    <a:pos x="6" y="73"/>
                  </a:cxn>
                  <a:cxn ang="0">
                    <a:pos x="10" y="73"/>
                  </a:cxn>
                  <a:cxn ang="0">
                    <a:pos x="13" y="73"/>
                  </a:cxn>
                  <a:cxn ang="0">
                    <a:pos x="16" y="73"/>
                  </a:cxn>
                  <a:cxn ang="0">
                    <a:pos x="19" y="73"/>
                  </a:cxn>
                  <a:cxn ang="0">
                    <a:pos x="22" y="73"/>
                  </a:cxn>
                  <a:cxn ang="0">
                    <a:pos x="25" y="74"/>
                  </a:cxn>
                  <a:cxn ang="0">
                    <a:pos x="28" y="74"/>
                  </a:cxn>
                  <a:cxn ang="0">
                    <a:pos x="31" y="74"/>
                  </a:cxn>
                  <a:cxn ang="0">
                    <a:pos x="34" y="75"/>
                  </a:cxn>
                  <a:cxn ang="0">
                    <a:pos x="37" y="75"/>
                  </a:cxn>
                  <a:cxn ang="0">
                    <a:pos x="40" y="76"/>
                  </a:cxn>
                  <a:cxn ang="0">
                    <a:pos x="42" y="76"/>
                  </a:cxn>
                  <a:cxn ang="0">
                    <a:pos x="45" y="77"/>
                  </a:cxn>
                  <a:cxn ang="0">
                    <a:pos x="48" y="78"/>
                  </a:cxn>
                  <a:cxn ang="0">
                    <a:pos x="50" y="78"/>
                  </a:cxn>
                  <a:cxn ang="0">
                    <a:pos x="53" y="79"/>
                  </a:cxn>
                  <a:cxn ang="0">
                    <a:pos x="53" y="8"/>
                  </a:cxn>
                </a:cxnLst>
                <a:rect l="0" t="0" r="r" b="b"/>
                <a:pathLst>
                  <a:path w="54" h="80">
                    <a:moveTo>
                      <a:pt x="53" y="8"/>
                    </a:moveTo>
                    <a:lnTo>
                      <a:pt x="53" y="8"/>
                    </a:lnTo>
                    <a:lnTo>
                      <a:pt x="50" y="7"/>
                    </a:lnTo>
                    <a:lnTo>
                      <a:pt x="48" y="6"/>
                    </a:lnTo>
                    <a:lnTo>
                      <a:pt x="45" y="5"/>
                    </a:lnTo>
                    <a:lnTo>
                      <a:pt x="42" y="5"/>
                    </a:lnTo>
                    <a:lnTo>
                      <a:pt x="39" y="4"/>
                    </a:lnTo>
                    <a:lnTo>
                      <a:pt x="37" y="3"/>
                    </a:lnTo>
                    <a:lnTo>
                      <a:pt x="34" y="3"/>
                    </a:lnTo>
                    <a:lnTo>
                      <a:pt x="31" y="2"/>
                    </a:lnTo>
                    <a:lnTo>
                      <a:pt x="28" y="2"/>
                    </a:lnTo>
                    <a:lnTo>
                      <a:pt x="25" y="1"/>
                    </a:lnTo>
                    <a:lnTo>
                      <a:pt x="22" y="1"/>
                    </a:lnTo>
                    <a:lnTo>
                      <a:pt x="19" y="1"/>
                    </a:lnTo>
                    <a:lnTo>
                      <a:pt x="16" y="0"/>
                    </a:lnTo>
                    <a:lnTo>
                      <a:pt x="13" y="0"/>
                    </a:lnTo>
                    <a:lnTo>
                      <a:pt x="10" y="0"/>
                    </a:lnTo>
                    <a:lnTo>
                      <a:pt x="6" y="0"/>
                    </a:lnTo>
                    <a:lnTo>
                      <a:pt x="6" y="0"/>
                    </a:lnTo>
                    <a:lnTo>
                      <a:pt x="5" y="0"/>
                    </a:lnTo>
                    <a:lnTo>
                      <a:pt x="4" y="0"/>
                    </a:lnTo>
                    <a:lnTo>
                      <a:pt x="3" y="0"/>
                    </a:lnTo>
                    <a:lnTo>
                      <a:pt x="2" y="0"/>
                    </a:lnTo>
                    <a:lnTo>
                      <a:pt x="2" y="0"/>
                    </a:lnTo>
                    <a:lnTo>
                      <a:pt x="1" y="0"/>
                    </a:lnTo>
                    <a:lnTo>
                      <a:pt x="0" y="0"/>
                    </a:lnTo>
                    <a:lnTo>
                      <a:pt x="0" y="73"/>
                    </a:lnTo>
                    <a:lnTo>
                      <a:pt x="6" y="73"/>
                    </a:lnTo>
                    <a:lnTo>
                      <a:pt x="10" y="73"/>
                    </a:lnTo>
                    <a:lnTo>
                      <a:pt x="13" y="73"/>
                    </a:lnTo>
                    <a:lnTo>
                      <a:pt x="16" y="73"/>
                    </a:lnTo>
                    <a:lnTo>
                      <a:pt x="19" y="73"/>
                    </a:lnTo>
                    <a:lnTo>
                      <a:pt x="22" y="73"/>
                    </a:lnTo>
                    <a:lnTo>
                      <a:pt x="25" y="74"/>
                    </a:lnTo>
                    <a:lnTo>
                      <a:pt x="28" y="74"/>
                    </a:lnTo>
                    <a:lnTo>
                      <a:pt x="31" y="74"/>
                    </a:lnTo>
                    <a:lnTo>
                      <a:pt x="34" y="75"/>
                    </a:lnTo>
                    <a:lnTo>
                      <a:pt x="37" y="75"/>
                    </a:lnTo>
                    <a:lnTo>
                      <a:pt x="40" y="76"/>
                    </a:lnTo>
                    <a:lnTo>
                      <a:pt x="42" y="76"/>
                    </a:lnTo>
                    <a:lnTo>
                      <a:pt x="45" y="77"/>
                    </a:lnTo>
                    <a:lnTo>
                      <a:pt x="48" y="78"/>
                    </a:lnTo>
                    <a:lnTo>
                      <a:pt x="50" y="78"/>
                    </a:lnTo>
                    <a:lnTo>
                      <a:pt x="53" y="79"/>
                    </a:lnTo>
                    <a:lnTo>
                      <a:pt x="53" y="8"/>
                    </a:lnTo>
                  </a:path>
                </a:pathLst>
              </a:custGeom>
              <a:solidFill>
                <a:srgbClr val="FAFD00"/>
              </a:solidFill>
              <a:ln w="12700" cap="rnd" cmpd="sng">
                <a:noFill/>
                <a:prstDash val="solid"/>
                <a:round/>
                <a:headEnd type="none" w="med" len="med"/>
                <a:tailEnd type="none" w="med" len="med"/>
              </a:ln>
              <a:effectLst/>
            </p:spPr>
            <p:txBody>
              <a:bodyPr/>
              <a:lstStyle/>
              <a:p>
                <a:endParaRPr lang="fr-BE"/>
              </a:p>
            </p:txBody>
          </p:sp>
        </p:grpSp>
        <p:sp>
          <p:nvSpPr>
            <p:cNvPr id="49349" name="Text Box 197"/>
            <p:cNvSpPr txBox="1">
              <a:spLocks noChangeArrowheads="1"/>
            </p:cNvSpPr>
            <p:nvPr/>
          </p:nvSpPr>
          <p:spPr bwMode="auto">
            <a:xfrm>
              <a:off x="6146800" y="2263775"/>
              <a:ext cx="1282700" cy="282575"/>
            </a:xfrm>
            <a:prstGeom prst="rect">
              <a:avLst/>
            </a:prstGeom>
            <a:noFill/>
            <a:ln w="12700">
              <a:noFill/>
              <a:miter lim="800000"/>
              <a:headEnd/>
              <a:tailEnd/>
            </a:ln>
            <a:effectLst/>
          </p:spPr>
          <p:txBody>
            <a:bodyPr wrap="none" tIns="27432" bIns="27432" anchor="ctr">
              <a:spAutoFit/>
            </a:bodyPr>
            <a:lstStyle/>
            <a:p>
              <a:pPr algn="ctr"/>
              <a:r>
                <a:rPr lang="fr-FR" sz="1500" u="none">
                  <a:solidFill>
                    <a:schemeClr val="tx1"/>
                  </a:solidFill>
                  <a:latin typeface="Arial" charset="0"/>
                </a:rPr>
                <a:t>Windows 98</a:t>
              </a:r>
              <a:endParaRPr lang="fr-FR" sz="1500" u="none">
                <a:solidFill>
                  <a:srgbClr val="FFFFFF"/>
                </a:solidFill>
                <a:latin typeface="Arial" charset="0"/>
              </a:endParaRPr>
            </a:p>
          </p:txBody>
        </p:sp>
        <p:grpSp>
          <p:nvGrpSpPr>
            <p:cNvPr id="49350" name="Group 198"/>
            <p:cNvGrpSpPr>
              <a:grpSpLocks/>
            </p:cNvGrpSpPr>
            <p:nvPr/>
          </p:nvGrpSpPr>
          <p:grpSpPr bwMode="auto">
            <a:xfrm>
              <a:off x="5894388" y="2516188"/>
              <a:ext cx="534987" cy="469900"/>
              <a:chOff x="800" y="3248"/>
              <a:chExt cx="310" cy="257"/>
            </a:xfrm>
          </p:grpSpPr>
          <p:sp>
            <p:nvSpPr>
              <p:cNvPr id="49351" name="Freeform 199"/>
              <p:cNvSpPr>
                <a:spLocks/>
              </p:cNvSpPr>
              <p:nvPr/>
            </p:nvSpPr>
            <p:spPr bwMode="auto">
              <a:xfrm>
                <a:off x="953" y="3365"/>
                <a:ext cx="53" cy="95"/>
              </a:xfrm>
              <a:custGeom>
                <a:avLst/>
                <a:gdLst/>
                <a:ahLst/>
                <a:cxnLst>
                  <a:cxn ang="0">
                    <a:pos x="52" y="0"/>
                  </a:cxn>
                  <a:cxn ang="0">
                    <a:pos x="52" y="77"/>
                  </a:cxn>
                  <a:cxn ang="0">
                    <a:pos x="43" y="78"/>
                  </a:cxn>
                  <a:cxn ang="0">
                    <a:pos x="34" y="80"/>
                  </a:cxn>
                  <a:cxn ang="0">
                    <a:pos x="23" y="84"/>
                  </a:cxn>
                  <a:cxn ang="0">
                    <a:pos x="14" y="87"/>
                  </a:cxn>
                  <a:cxn ang="0">
                    <a:pos x="8" y="90"/>
                  </a:cxn>
                  <a:cxn ang="0">
                    <a:pos x="0" y="94"/>
                  </a:cxn>
                  <a:cxn ang="0">
                    <a:pos x="0" y="17"/>
                  </a:cxn>
                  <a:cxn ang="0">
                    <a:pos x="8" y="12"/>
                  </a:cxn>
                  <a:cxn ang="0">
                    <a:pos x="19" y="9"/>
                  </a:cxn>
                  <a:cxn ang="0">
                    <a:pos x="27" y="6"/>
                  </a:cxn>
                  <a:cxn ang="0">
                    <a:pos x="38" y="2"/>
                  </a:cxn>
                  <a:cxn ang="0">
                    <a:pos x="47" y="1"/>
                  </a:cxn>
                  <a:cxn ang="0">
                    <a:pos x="52" y="0"/>
                  </a:cxn>
                </a:cxnLst>
                <a:rect l="0" t="0" r="r" b="b"/>
                <a:pathLst>
                  <a:path w="53" h="95">
                    <a:moveTo>
                      <a:pt x="52" y="0"/>
                    </a:moveTo>
                    <a:lnTo>
                      <a:pt x="52" y="77"/>
                    </a:lnTo>
                    <a:lnTo>
                      <a:pt x="43" y="78"/>
                    </a:lnTo>
                    <a:lnTo>
                      <a:pt x="34" y="80"/>
                    </a:lnTo>
                    <a:lnTo>
                      <a:pt x="23" y="84"/>
                    </a:lnTo>
                    <a:lnTo>
                      <a:pt x="14" y="87"/>
                    </a:lnTo>
                    <a:lnTo>
                      <a:pt x="8" y="90"/>
                    </a:lnTo>
                    <a:lnTo>
                      <a:pt x="0" y="94"/>
                    </a:lnTo>
                    <a:lnTo>
                      <a:pt x="0" y="17"/>
                    </a:lnTo>
                    <a:lnTo>
                      <a:pt x="8" y="12"/>
                    </a:lnTo>
                    <a:lnTo>
                      <a:pt x="19" y="9"/>
                    </a:lnTo>
                    <a:lnTo>
                      <a:pt x="27" y="6"/>
                    </a:lnTo>
                    <a:lnTo>
                      <a:pt x="38" y="2"/>
                    </a:lnTo>
                    <a:lnTo>
                      <a:pt x="47" y="1"/>
                    </a:lnTo>
                    <a:lnTo>
                      <a:pt x="52" y="0"/>
                    </a:lnTo>
                  </a:path>
                </a:pathLst>
              </a:custGeom>
              <a:solidFill>
                <a:schemeClr val="hlink"/>
              </a:solidFill>
              <a:ln w="12700" cap="rnd" cmpd="sng">
                <a:noFill/>
                <a:prstDash val="solid"/>
                <a:round/>
                <a:headEnd type="none" w="med" len="med"/>
                <a:tailEnd type="none" w="med" len="med"/>
              </a:ln>
              <a:effectLst/>
            </p:spPr>
            <p:txBody>
              <a:bodyPr/>
              <a:lstStyle/>
              <a:p>
                <a:endParaRPr lang="fr-BE"/>
              </a:p>
            </p:txBody>
          </p:sp>
          <p:sp>
            <p:nvSpPr>
              <p:cNvPr id="49352" name="Freeform 200"/>
              <p:cNvSpPr>
                <a:spLocks/>
              </p:cNvSpPr>
              <p:nvPr/>
            </p:nvSpPr>
            <p:spPr bwMode="auto">
              <a:xfrm>
                <a:off x="953" y="3279"/>
                <a:ext cx="53" cy="84"/>
              </a:xfrm>
              <a:custGeom>
                <a:avLst/>
                <a:gdLst/>
                <a:ahLst/>
                <a:cxnLst>
                  <a:cxn ang="0">
                    <a:pos x="52" y="0"/>
                  </a:cxn>
                  <a:cxn ang="0">
                    <a:pos x="52" y="68"/>
                  </a:cxn>
                  <a:cxn ang="0">
                    <a:pos x="43" y="69"/>
                  </a:cxn>
                  <a:cxn ang="0">
                    <a:pos x="34" y="71"/>
                  </a:cxn>
                  <a:cxn ang="0">
                    <a:pos x="23" y="74"/>
                  </a:cxn>
                  <a:cxn ang="0">
                    <a:pos x="14" y="77"/>
                  </a:cxn>
                  <a:cxn ang="0">
                    <a:pos x="8" y="79"/>
                  </a:cxn>
                  <a:cxn ang="0">
                    <a:pos x="0" y="83"/>
                  </a:cxn>
                  <a:cxn ang="0">
                    <a:pos x="0" y="15"/>
                  </a:cxn>
                  <a:cxn ang="0">
                    <a:pos x="8" y="11"/>
                  </a:cxn>
                  <a:cxn ang="0">
                    <a:pos x="19" y="8"/>
                  </a:cxn>
                  <a:cxn ang="0">
                    <a:pos x="27" y="5"/>
                  </a:cxn>
                  <a:cxn ang="0">
                    <a:pos x="38" y="2"/>
                  </a:cxn>
                  <a:cxn ang="0">
                    <a:pos x="47" y="1"/>
                  </a:cxn>
                  <a:cxn ang="0">
                    <a:pos x="52" y="0"/>
                  </a:cxn>
                </a:cxnLst>
                <a:rect l="0" t="0" r="r" b="b"/>
                <a:pathLst>
                  <a:path w="53" h="84">
                    <a:moveTo>
                      <a:pt x="52" y="0"/>
                    </a:moveTo>
                    <a:lnTo>
                      <a:pt x="52" y="68"/>
                    </a:lnTo>
                    <a:lnTo>
                      <a:pt x="43" y="69"/>
                    </a:lnTo>
                    <a:lnTo>
                      <a:pt x="34" y="71"/>
                    </a:lnTo>
                    <a:lnTo>
                      <a:pt x="23" y="74"/>
                    </a:lnTo>
                    <a:lnTo>
                      <a:pt x="14" y="77"/>
                    </a:lnTo>
                    <a:lnTo>
                      <a:pt x="8" y="79"/>
                    </a:lnTo>
                    <a:lnTo>
                      <a:pt x="0" y="83"/>
                    </a:lnTo>
                    <a:lnTo>
                      <a:pt x="0" y="15"/>
                    </a:lnTo>
                    <a:lnTo>
                      <a:pt x="8" y="11"/>
                    </a:lnTo>
                    <a:lnTo>
                      <a:pt x="19" y="8"/>
                    </a:lnTo>
                    <a:lnTo>
                      <a:pt x="27" y="5"/>
                    </a:lnTo>
                    <a:lnTo>
                      <a:pt x="38" y="2"/>
                    </a:lnTo>
                    <a:lnTo>
                      <a:pt x="47" y="1"/>
                    </a:lnTo>
                    <a:lnTo>
                      <a:pt x="52"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53" name="Freeform 201"/>
              <p:cNvSpPr>
                <a:spLocks/>
              </p:cNvSpPr>
              <p:nvPr/>
            </p:nvSpPr>
            <p:spPr bwMode="auto">
              <a:xfrm>
                <a:off x="800" y="3273"/>
                <a:ext cx="17" cy="16"/>
              </a:xfrm>
              <a:custGeom>
                <a:avLst/>
                <a:gdLst/>
                <a:ahLst/>
                <a:cxnLst>
                  <a:cxn ang="0">
                    <a:pos x="16" y="0"/>
                  </a:cxn>
                  <a:cxn ang="0">
                    <a:pos x="16" y="10"/>
                  </a:cxn>
                  <a:cxn ang="0">
                    <a:pos x="0" y="15"/>
                  </a:cxn>
                  <a:cxn ang="0">
                    <a:pos x="0" y="5"/>
                  </a:cxn>
                  <a:cxn ang="0">
                    <a:pos x="16" y="0"/>
                  </a:cxn>
                </a:cxnLst>
                <a:rect l="0" t="0" r="r" b="b"/>
                <a:pathLst>
                  <a:path w="17" h="16">
                    <a:moveTo>
                      <a:pt x="16" y="0"/>
                    </a:moveTo>
                    <a:lnTo>
                      <a:pt x="16" y="10"/>
                    </a:lnTo>
                    <a:lnTo>
                      <a:pt x="0" y="15"/>
                    </a:lnTo>
                    <a:lnTo>
                      <a:pt x="0" y="5"/>
                    </a:lnTo>
                    <a:lnTo>
                      <a:pt x="16"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54" name="Freeform 202"/>
              <p:cNvSpPr>
                <a:spLocks/>
              </p:cNvSpPr>
              <p:nvPr/>
            </p:nvSpPr>
            <p:spPr bwMode="auto">
              <a:xfrm>
                <a:off x="802" y="3305"/>
                <a:ext cx="13" cy="17"/>
              </a:xfrm>
              <a:custGeom>
                <a:avLst/>
                <a:gdLst/>
                <a:ahLst/>
                <a:cxnLst>
                  <a:cxn ang="0">
                    <a:pos x="12" y="0"/>
                  </a:cxn>
                  <a:cxn ang="0">
                    <a:pos x="12" y="11"/>
                  </a:cxn>
                  <a:cxn ang="0">
                    <a:pos x="0" y="16"/>
                  </a:cxn>
                  <a:cxn ang="0">
                    <a:pos x="0" y="5"/>
                  </a:cxn>
                  <a:cxn ang="0">
                    <a:pos x="12" y="0"/>
                  </a:cxn>
                </a:cxnLst>
                <a:rect l="0" t="0" r="r" b="b"/>
                <a:pathLst>
                  <a:path w="13" h="17">
                    <a:moveTo>
                      <a:pt x="12" y="0"/>
                    </a:moveTo>
                    <a:lnTo>
                      <a:pt x="12" y="11"/>
                    </a:lnTo>
                    <a:lnTo>
                      <a:pt x="0" y="16"/>
                    </a:lnTo>
                    <a:lnTo>
                      <a:pt x="0" y="5"/>
                    </a:lnTo>
                    <a:lnTo>
                      <a:pt x="12"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55" name="Freeform 203"/>
              <p:cNvSpPr>
                <a:spLocks/>
              </p:cNvSpPr>
              <p:nvPr/>
            </p:nvSpPr>
            <p:spPr bwMode="auto">
              <a:xfrm>
                <a:off x="802" y="3339"/>
                <a:ext cx="13" cy="14"/>
              </a:xfrm>
              <a:custGeom>
                <a:avLst/>
                <a:gdLst/>
                <a:ahLst/>
                <a:cxnLst>
                  <a:cxn ang="0">
                    <a:pos x="12" y="0"/>
                  </a:cxn>
                  <a:cxn ang="0">
                    <a:pos x="12" y="9"/>
                  </a:cxn>
                  <a:cxn ang="0">
                    <a:pos x="0" y="13"/>
                  </a:cxn>
                  <a:cxn ang="0">
                    <a:pos x="0" y="4"/>
                  </a:cxn>
                  <a:cxn ang="0">
                    <a:pos x="12" y="0"/>
                  </a:cxn>
                </a:cxnLst>
                <a:rect l="0" t="0" r="r" b="b"/>
                <a:pathLst>
                  <a:path w="13" h="14">
                    <a:moveTo>
                      <a:pt x="12" y="0"/>
                    </a:moveTo>
                    <a:lnTo>
                      <a:pt x="12" y="9"/>
                    </a:lnTo>
                    <a:lnTo>
                      <a:pt x="0" y="13"/>
                    </a:lnTo>
                    <a:lnTo>
                      <a:pt x="0" y="4"/>
                    </a:lnTo>
                    <a:lnTo>
                      <a:pt x="12"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56" name="Freeform 204"/>
              <p:cNvSpPr>
                <a:spLocks/>
              </p:cNvSpPr>
              <p:nvPr/>
            </p:nvSpPr>
            <p:spPr bwMode="auto">
              <a:xfrm>
                <a:off x="800" y="3368"/>
                <a:ext cx="11" cy="17"/>
              </a:xfrm>
              <a:custGeom>
                <a:avLst/>
                <a:gdLst/>
                <a:ahLst/>
                <a:cxnLst>
                  <a:cxn ang="0">
                    <a:pos x="10" y="0"/>
                  </a:cxn>
                  <a:cxn ang="0">
                    <a:pos x="10" y="10"/>
                  </a:cxn>
                  <a:cxn ang="0">
                    <a:pos x="0" y="16"/>
                  </a:cxn>
                  <a:cxn ang="0">
                    <a:pos x="0" y="5"/>
                  </a:cxn>
                  <a:cxn ang="0">
                    <a:pos x="10" y="0"/>
                  </a:cxn>
                </a:cxnLst>
                <a:rect l="0" t="0" r="r" b="b"/>
                <a:pathLst>
                  <a:path w="11" h="17">
                    <a:moveTo>
                      <a:pt x="10" y="0"/>
                    </a:moveTo>
                    <a:lnTo>
                      <a:pt x="10" y="10"/>
                    </a:lnTo>
                    <a:lnTo>
                      <a:pt x="0" y="16"/>
                    </a:lnTo>
                    <a:lnTo>
                      <a:pt x="0" y="5"/>
                    </a:lnTo>
                    <a:lnTo>
                      <a:pt x="1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57" name="Freeform 205"/>
              <p:cNvSpPr>
                <a:spLocks/>
              </p:cNvSpPr>
              <p:nvPr/>
            </p:nvSpPr>
            <p:spPr bwMode="auto">
              <a:xfrm>
                <a:off x="802" y="3404"/>
                <a:ext cx="13" cy="16"/>
              </a:xfrm>
              <a:custGeom>
                <a:avLst/>
                <a:gdLst/>
                <a:ahLst/>
                <a:cxnLst>
                  <a:cxn ang="0">
                    <a:pos x="12" y="0"/>
                  </a:cxn>
                  <a:cxn ang="0">
                    <a:pos x="12" y="10"/>
                  </a:cxn>
                  <a:cxn ang="0">
                    <a:pos x="0" y="15"/>
                  </a:cxn>
                  <a:cxn ang="0">
                    <a:pos x="0" y="5"/>
                  </a:cxn>
                  <a:cxn ang="0">
                    <a:pos x="12" y="0"/>
                  </a:cxn>
                </a:cxnLst>
                <a:rect l="0" t="0" r="r" b="b"/>
                <a:pathLst>
                  <a:path w="13" h="16">
                    <a:moveTo>
                      <a:pt x="12" y="0"/>
                    </a:moveTo>
                    <a:lnTo>
                      <a:pt x="12" y="10"/>
                    </a:lnTo>
                    <a:lnTo>
                      <a:pt x="0" y="15"/>
                    </a:lnTo>
                    <a:lnTo>
                      <a:pt x="0" y="5"/>
                    </a:lnTo>
                    <a:lnTo>
                      <a:pt x="12"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58" name="Freeform 206"/>
              <p:cNvSpPr>
                <a:spLocks/>
              </p:cNvSpPr>
              <p:nvPr/>
            </p:nvSpPr>
            <p:spPr bwMode="auto">
              <a:xfrm>
                <a:off x="802" y="3437"/>
                <a:ext cx="13" cy="15"/>
              </a:xfrm>
              <a:custGeom>
                <a:avLst/>
                <a:gdLst/>
                <a:ahLst/>
                <a:cxnLst>
                  <a:cxn ang="0">
                    <a:pos x="12" y="0"/>
                  </a:cxn>
                  <a:cxn ang="0">
                    <a:pos x="12" y="9"/>
                  </a:cxn>
                  <a:cxn ang="0">
                    <a:pos x="0" y="14"/>
                  </a:cxn>
                  <a:cxn ang="0">
                    <a:pos x="0" y="4"/>
                  </a:cxn>
                  <a:cxn ang="0">
                    <a:pos x="12" y="0"/>
                  </a:cxn>
                </a:cxnLst>
                <a:rect l="0" t="0" r="r" b="b"/>
                <a:pathLst>
                  <a:path w="13" h="15">
                    <a:moveTo>
                      <a:pt x="12" y="0"/>
                    </a:moveTo>
                    <a:lnTo>
                      <a:pt x="12" y="9"/>
                    </a:lnTo>
                    <a:lnTo>
                      <a:pt x="0" y="14"/>
                    </a:lnTo>
                    <a:lnTo>
                      <a:pt x="0" y="4"/>
                    </a:lnTo>
                    <a:lnTo>
                      <a:pt x="12"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59" name="Freeform 207"/>
              <p:cNvSpPr>
                <a:spLocks/>
              </p:cNvSpPr>
              <p:nvPr/>
            </p:nvSpPr>
            <p:spPr bwMode="auto">
              <a:xfrm>
                <a:off x="800" y="3467"/>
                <a:ext cx="17" cy="19"/>
              </a:xfrm>
              <a:custGeom>
                <a:avLst/>
                <a:gdLst/>
                <a:ahLst/>
                <a:cxnLst>
                  <a:cxn ang="0">
                    <a:pos x="16" y="0"/>
                  </a:cxn>
                  <a:cxn ang="0">
                    <a:pos x="16" y="12"/>
                  </a:cxn>
                  <a:cxn ang="0">
                    <a:pos x="0" y="18"/>
                  </a:cxn>
                  <a:cxn ang="0">
                    <a:pos x="0" y="6"/>
                  </a:cxn>
                  <a:cxn ang="0">
                    <a:pos x="16" y="0"/>
                  </a:cxn>
                </a:cxnLst>
                <a:rect l="0" t="0" r="r" b="b"/>
                <a:pathLst>
                  <a:path w="17" h="19">
                    <a:moveTo>
                      <a:pt x="16" y="0"/>
                    </a:moveTo>
                    <a:lnTo>
                      <a:pt x="16" y="12"/>
                    </a:lnTo>
                    <a:lnTo>
                      <a:pt x="0" y="18"/>
                    </a:lnTo>
                    <a:lnTo>
                      <a:pt x="0" y="6"/>
                    </a:lnTo>
                    <a:lnTo>
                      <a:pt x="16"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60" name="Freeform 208"/>
              <p:cNvSpPr>
                <a:spLocks/>
              </p:cNvSpPr>
              <p:nvPr/>
            </p:nvSpPr>
            <p:spPr bwMode="auto">
              <a:xfrm>
                <a:off x="824" y="3278"/>
                <a:ext cx="26" cy="24"/>
              </a:xfrm>
              <a:custGeom>
                <a:avLst/>
                <a:gdLst/>
                <a:ahLst/>
                <a:cxnLst>
                  <a:cxn ang="0">
                    <a:pos x="25" y="0"/>
                  </a:cxn>
                  <a:cxn ang="0">
                    <a:pos x="25" y="14"/>
                  </a:cxn>
                  <a:cxn ang="0">
                    <a:pos x="0" y="23"/>
                  </a:cxn>
                  <a:cxn ang="0">
                    <a:pos x="0" y="9"/>
                  </a:cxn>
                  <a:cxn ang="0">
                    <a:pos x="25" y="0"/>
                  </a:cxn>
                </a:cxnLst>
                <a:rect l="0" t="0" r="r" b="b"/>
                <a:pathLst>
                  <a:path w="26" h="24">
                    <a:moveTo>
                      <a:pt x="25" y="0"/>
                    </a:moveTo>
                    <a:lnTo>
                      <a:pt x="25" y="14"/>
                    </a:lnTo>
                    <a:lnTo>
                      <a:pt x="0" y="23"/>
                    </a:lnTo>
                    <a:lnTo>
                      <a:pt x="0" y="9"/>
                    </a:lnTo>
                    <a:lnTo>
                      <a:pt x="25"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61" name="Freeform 209"/>
              <p:cNvSpPr>
                <a:spLocks/>
              </p:cNvSpPr>
              <p:nvPr/>
            </p:nvSpPr>
            <p:spPr bwMode="auto">
              <a:xfrm>
                <a:off x="828" y="3314"/>
                <a:ext cx="20" cy="19"/>
              </a:xfrm>
              <a:custGeom>
                <a:avLst/>
                <a:gdLst/>
                <a:ahLst/>
                <a:cxnLst>
                  <a:cxn ang="0">
                    <a:pos x="19" y="0"/>
                  </a:cxn>
                  <a:cxn ang="0">
                    <a:pos x="19" y="12"/>
                  </a:cxn>
                  <a:cxn ang="0">
                    <a:pos x="0" y="18"/>
                  </a:cxn>
                  <a:cxn ang="0">
                    <a:pos x="0" y="6"/>
                  </a:cxn>
                  <a:cxn ang="0">
                    <a:pos x="19" y="0"/>
                  </a:cxn>
                </a:cxnLst>
                <a:rect l="0" t="0" r="r" b="b"/>
                <a:pathLst>
                  <a:path w="20" h="19">
                    <a:moveTo>
                      <a:pt x="19" y="0"/>
                    </a:moveTo>
                    <a:lnTo>
                      <a:pt x="19" y="12"/>
                    </a:lnTo>
                    <a:lnTo>
                      <a:pt x="0" y="18"/>
                    </a:lnTo>
                    <a:lnTo>
                      <a:pt x="0" y="6"/>
                    </a:lnTo>
                    <a:lnTo>
                      <a:pt x="19"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62" name="Freeform 210"/>
              <p:cNvSpPr>
                <a:spLocks/>
              </p:cNvSpPr>
              <p:nvPr/>
            </p:nvSpPr>
            <p:spPr bwMode="auto">
              <a:xfrm>
                <a:off x="828" y="3346"/>
                <a:ext cx="20" cy="19"/>
              </a:xfrm>
              <a:custGeom>
                <a:avLst/>
                <a:gdLst/>
                <a:ahLst/>
                <a:cxnLst>
                  <a:cxn ang="0">
                    <a:pos x="19" y="0"/>
                  </a:cxn>
                  <a:cxn ang="0">
                    <a:pos x="19" y="11"/>
                  </a:cxn>
                  <a:cxn ang="0">
                    <a:pos x="0" y="18"/>
                  </a:cxn>
                  <a:cxn ang="0">
                    <a:pos x="0" y="6"/>
                  </a:cxn>
                  <a:cxn ang="0">
                    <a:pos x="19" y="0"/>
                  </a:cxn>
                </a:cxnLst>
                <a:rect l="0" t="0" r="r" b="b"/>
                <a:pathLst>
                  <a:path w="20" h="19">
                    <a:moveTo>
                      <a:pt x="19" y="0"/>
                    </a:moveTo>
                    <a:lnTo>
                      <a:pt x="19" y="11"/>
                    </a:lnTo>
                    <a:lnTo>
                      <a:pt x="0" y="18"/>
                    </a:lnTo>
                    <a:lnTo>
                      <a:pt x="0" y="6"/>
                    </a:lnTo>
                    <a:lnTo>
                      <a:pt x="19"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63" name="Freeform 211"/>
              <p:cNvSpPr>
                <a:spLocks/>
              </p:cNvSpPr>
              <p:nvPr/>
            </p:nvSpPr>
            <p:spPr bwMode="auto">
              <a:xfrm>
                <a:off x="824" y="3376"/>
                <a:ext cx="20" cy="19"/>
              </a:xfrm>
              <a:custGeom>
                <a:avLst/>
                <a:gdLst/>
                <a:ahLst/>
                <a:cxnLst>
                  <a:cxn ang="0">
                    <a:pos x="19" y="0"/>
                  </a:cxn>
                  <a:cxn ang="0">
                    <a:pos x="19" y="11"/>
                  </a:cxn>
                  <a:cxn ang="0">
                    <a:pos x="0" y="18"/>
                  </a:cxn>
                  <a:cxn ang="0">
                    <a:pos x="0" y="7"/>
                  </a:cxn>
                  <a:cxn ang="0">
                    <a:pos x="19" y="0"/>
                  </a:cxn>
                </a:cxnLst>
                <a:rect l="0" t="0" r="r" b="b"/>
                <a:pathLst>
                  <a:path w="20" h="19">
                    <a:moveTo>
                      <a:pt x="19" y="0"/>
                    </a:moveTo>
                    <a:lnTo>
                      <a:pt x="19" y="11"/>
                    </a:lnTo>
                    <a:lnTo>
                      <a:pt x="0" y="18"/>
                    </a:lnTo>
                    <a:lnTo>
                      <a:pt x="0" y="7"/>
                    </a:lnTo>
                    <a:lnTo>
                      <a:pt x="19"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64" name="Freeform 212"/>
              <p:cNvSpPr>
                <a:spLocks/>
              </p:cNvSpPr>
              <p:nvPr/>
            </p:nvSpPr>
            <p:spPr bwMode="auto">
              <a:xfrm>
                <a:off x="828" y="3411"/>
                <a:ext cx="20" cy="19"/>
              </a:xfrm>
              <a:custGeom>
                <a:avLst/>
                <a:gdLst/>
                <a:ahLst/>
                <a:cxnLst>
                  <a:cxn ang="0">
                    <a:pos x="19" y="0"/>
                  </a:cxn>
                  <a:cxn ang="0">
                    <a:pos x="19" y="11"/>
                  </a:cxn>
                  <a:cxn ang="0">
                    <a:pos x="0" y="18"/>
                  </a:cxn>
                  <a:cxn ang="0">
                    <a:pos x="0" y="6"/>
                  </a:cxn>
                  <a:cxn ang="0">
                    <a:pos x="19" y="0"/>
                  </a:cxn>
                </a:cxnLst>
                <a:rect l="0" t="0" r="r" b="b"/>
                <a:pathLst>
                  <a:path w="20" h="19">
                    <a:moveTo>
                      <a:pt x="19" y="0"/>
                    </a:moveTo>
                    <a:lnTo>
                      <a:pt x="19" y="11"/>
                    </a:lnTo>
                    <a:lnTo>
                      <a:pt x="0" y="18"/>
                    </a:lnTo>
                    <a:lnTo>
                      <a:pt x="0" y="6"/>
                    </a:lnTo>
                    <a:lnTo>
                      <a:pt x="19"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65" name="Freeform 213"/>
              <p:cNvSpPr>
                <a:spLocks/>
              </p:cNvSpPr>
              <p:nvPr/>
            </p:nvSpPr>
            <p:spPr bwMode="auto">
              <a:xfrm>
                <a:off x="828" y="3443"/>
                <a:ext cx="20" cy="20"/>
              </a:xfrm>
              <a:custGeom>
                <a:avLst/>
                <a:gdLst/>
                <a:ahLst/>
                <a:cxnLst>
                  <a:cxn ang="0">
                    <a:pos x="19" y="0"/>
                  </a:cxn>
                  <a:cxn ang="0">
                    <a:pos x="19" y="12"/>
                  </a:cxn>
                  <a:cxn ang="0">
                    <a:pos x="0" y="19"/>
                  </a:cxn>
                  <a:cxn ang="0">
                    <a:pos x="0" y="7"/>
                  </a:cxn>
                  <a:cxn ang="0">
                    <a:pos x="19" y="0"/>
                  </a:cxn>
                </a:cxnLst>
                <a:rect l="0" t="0" r="r" b="b"/>
                <a:pathLst>
                  <a:path w="20" h="20">
                    <a:moveTo>
                      <a:pt x="19" y="0"/>
                    </a:moveTo>
                    <a:lnTo>
                      <a:pt x="19" y="12"/>
                    </a:lnTo>
                    <a:lnTo>
                      <a:pt x="0" y="19"/>
                    </a:lnTo>
                    <a:lnTo>
                      <a:pt x="0" y="7"/>
                    </a:lnTo>
                    <a:lnTo>
                      <a:pt x="19"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66" name="Freeform 214"/>
              <p:cNvSpPr>
                <a:spLocks/>
              </p:cNvSpPr>
              <p:nvPr/>
            </p:nvSpPr>
            <p:spPr bwMode="auto">
              <a:xfrm>
                <a:off x="824" y="3474"/>
                <a:ext cx="26" cy="23"/>
              </a:xfrm>
              <a:custGeom>
                <a:avLst/>
                <a:gdLst/>
                <a:ahLst/>
                <a:cxnLst>
                  <a:cxn ang="0">
                    <a:pos x="25" y="0"/>
                  </a:cxn>
                  <a:cxn ang="0">
                    <a:pos x="25" y="14"/>
                  </a:cxn>
                  <a:cxn ang="0">
                    <a:pos x="0" y="22"/>
                  </a:cxn>
                  <a:cxn ang="0">
                    <a:pos x="0" y="8"/>
                  </a:cxn>
                  <a:cxn ang="0">
                    <a:pos x="25" y="0"/>
                  </a:cxn>
                </a:cxnLst>
                <a:rect l="0" t="0" r="r" b="b"/>
                <a:pathLst>
                  <a:path w="26" h="23">
                    <a:moveTo>
                      <a:pt x="25" y="0"/>
                    </a:moveTo>
                    <a:lnTo>
                      <a:pt x="25" y="14"/>
                    </a:lnTo>
                    <a:lnTo>
                      <a:pt x="0" y="22"/>
                    </a:lnTo>
                    <a:lnTo>
                      <a:pt x="0" y="8"/>
                    </a:lnTo>
                    <a:lnTo>
                      <a:pt x="25"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67" name="Freeform 215"/>
              <p:cNvSpPr>
                <a:spLocks/>
              </p:cNvSpPr>
              <p:nvPr/>
            </p:nvSpPr>
            <p:spPr bwMode="auto">
              <a:xfrm>
                <a:off x="855" y="3278"/>
                <a:ext cx="28" cy="30"/>
              </a:xfrm>
              <a:custGeom>
                <a:avLst/>
                <a:gdLst/>
                <a:ahLst/>
                <a:cxnLst>
                  <a:cxn ang="0">
                    <a:pos x="27" y="0"/>
                  </a:cxn>
                  <a:cxn ang="0">
                    <a:pos x="27" y="19"/>
                  </a:cxn>
                  <a:cxn ang="0">
                    <a:pos x="0" y="29"/>
                  </a:cxn>
                  <a:cxn ang="0">
                    <a:pos x="0" y="11"/>
                  </a:cxn>
                  <a:cxn ang="0">
                    <a:pos x="27" y="0"/>
                  </a:cxn>
                </a:cxnLst>
                <a:rect l="0" t="0" r="r" b="b"/>
                <a:pathLst>
                  <a:path w="28" h="30">
                    <a:moveTo>
                      <a:pt x="27" y="0"/>
                    </a:moveTo>
                    <a:lnTo>
                      <a:pt x="27" y="19"/>
                    </a:lnTo>
                    <a:lnTo>
                      <a:pt x="0" y="29"/>
                    </a:lnTo>
                    <a:lnTo>
                      <a:pt x="0" y="11"/>
                    </a:lnTo>
                    <a:lnTo>
                      <a:pt x="27"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68" name="Freeform 216"/>
              <p:cNvSpPr>
                <a:spLocks/>
              </p:cNvSpPr>
              <p:nvPr/>
            </p:nvSpPr>
            <p:spPr bwMode="auto">
              <a:xfrm>
                <a:off x="858" y="3312"/>
                <a:ext cx="22" cy="25"/>
              </a:xfrm>
              <a:custGeom>
                <a:avLst/>
                <a:gdLst/>
                <a:ahLst/>
                <a:cxnLst>
                  <a:cxn ang="0">
                    <a:pos x="21" y="0"/>
                  </a:cxn>
                  <a:cxn ang="0">
                    <a:pos x="21" y="16"/>
                  </a:cxn>
                  <a:cxn ang="0">
                    <a:pos x="0" y="24"/>
                  </a:cxn>
                  <a:cxn ang="0">
                    <a:pos x="0" y="8"/>
                  </a:cxn>
                  <a:cxn ang="0">
                    <a:pos x="21" y="0"/>
                  </a:cxn>
                </a:cxnLst>
                <a:rect l="0" t="0" r="r" b="b"/>
                <a:pathLst>
                  <a:path w="22" h="25">
                    <a:moveTo>
                      <a:pt x="21" y="0"/>
                    </a:moveTo>
                    <a:lnTo>
                      <a:pt x="21" y="16"/>
                    </a:lnTo>
                    <a:lnTo>
                      <a:pt x="0" y="24"/>
                    </a:lnTo>
                    <a:lnTo>
                      <a:pt x="0" y="8"/>
                    </a:lnTo>
                    <a:lnTo>
                      <a:pt x="21"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69" name="Freeform 217"/>
              <p:cNvSpPr>
                <a:spLocks/>
              </p:cNvSpPr>
              <p:nvPr/>
            </p:nvSpPr>
            <p:spPr bwMode="auto">
              <a:xfrm>
                <a:off x="858" y="3344"/>
                <a:ext cx="22" cy="25"/>
              </a:xfrm>
              <a:custGeom>
                <a:avLst/>
                <a:gdLst/>
                <a:ahLst/>
                <a:cxnLst>
                  <a:cxn ang="0">
                    <a:pos x="21" y="0"/>
                  </a:cxn>
                  <a:cxn ang="0">
                    <a:pos x="21" y="16"/>
                  </a:cxn>
                  <a:cxn ang="0">
                    <a:pos x="0" y="24"/>
                  </a:cxn>
                  <a:cxn ang="0">
                    <a:pos x="0" y="8"/>
                  </a:cxn>
                  <a:cxn ang="0">
                    <a:pos x="21" y="0"/>
                  </a:cxn>
                </a:cxnLst>
                <a:rect l="0" t="0" r="r" b="b"/>
                <a:pathLst>
                  <a:path w="22" h="25">
                    <a:moveTo>
                      <a:pt x="21" y="0"/>
                    </a:moveTo>
                    <a:lnTo>
                      <a:pt x="21" y="16"/>
                    </a:lnTo>
                    <a:lnTo>
                      <a:pt x="0" y="24"/>
                    </a:lnTo>
                    <a:lnTo>
                      <a:pt x="0" y="8"/>
                    </a:lnTo>
                    <a:lnTo>
                      <a:pt x="21"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70" name="Freeform 218"/>
              <p:cNvSpPr>
                <a:spLocks/>
              </p:cNvSpPr>
              <p:nvPr/>
            </p:nvSpPr>
            <p:spPr bwMode="auto">
              <a:xfrm>
                <a:off x="855" y="3376"/>
                <a:ext cx="19" cy="25"/>
              </a:xfrm>
              <a:custGeom>
                <a:avLst/>
                <a:gdLst/>
                <a:ahLst/>
                <a:cxnLst>
                  <a:cxn ang="0">
                    <a:pos x="18" y="0"/>
                  </a:cxn>
                  <a:cxn ang="0">
                    <a:pos x="18" y="16"/>
                  </a:cxn>
                  <a:cxn ang="0">
                    <a:pos x="0" y="24"/>
                  </a:cxn>
                  <a:cxn ang="0">
                    <a:pos x="0" y="9"/>
                  </a:cxn>
                  <a:cxn ang="0">
                    <a:pos x="18" y="0"/>
                  </a:cxn>
                </a:cxnLst>
                <a:rect l="0" t="0" r="r" b="b"/>
                <a:pathLst>
                  <a:path w="19" h="25">
                    <a:moveTo>
                      <a:pt x="18" y="0"/>
                    </a:moveTo>
                    <a:lnTo>
                      <a:pt x="18" y="16"/>
                    </a:lnTo>
                    <a:lnTo>
                      <a:pt x="0" y="24"/>
                    </a:lnTo>
                    <a:lnTo>
                      <a:pt x="0" y="9"/>
                    </a:lnTo>
                    <a:lnTo>
                      <a:pt x="18"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71" name="Freeform 219"/>
              <p:cNvSpPr>
                <a:spLocks/>
              </p:cNvSpPr>
              <p:nvPr/>
            </p:nvSpPr>
            <p:spPr bwMode="auto">
              <a:xfrm>
                <a:off x="858" y="3410"/>
                <a:ext cx="22" cy="27"/>
              </a:xfrm>
              <a:custGeom>
                <a:avLst/>
                <a:gdLst/>
                <a:ahLst/>
                <a:cxnLst>
                  <a:cxn ang="0">
                    <a:pos x="21" y="0"/>
                  </a:cxn>
                  <a:cxn ang="0">
                    <a:pos x="21" y="17"/>
                  </a:cxn>
                  <a:cxn ang="0">
                    <a:pos x="0" y="26"/>
                  </a:cxn>
                  <a:cxn ang="0">
                    <a:pos x="0" y="9"/>
                  </a:cxn>
                  <a:cxn ang="0">
                    <a:pos x="21" y="0"/>
                  </a:cxn>
                </a:cxnLst>
                <a:rect l="0" t="0" r="r" b="b"/>
                <a:pathLst>
                  <a:path w="22" h="27">
                    <a:moveTo>
                      <a:pt x="21" y="0"/>
                    </a:moveTo>
                    <a:lnTo>
                      <a:pt x="21" y="17"/>
                    </a:lnTo>
                    <a:lnTo>
                      <a:pt x="0" y="26"/>
                    </a:lnTo>
                    <a:lnTo>
                      <a:pt x="0" y="9"/>
                    </a:lnTo>
                    <a:lnTo>
                      <a:pt x="21"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72" name="Freeform 220"/>
              <p:cNvSpPr>
                <a:spLocks/>
              </p:cNvSpPr>
              <p:nvPr/>
            </p:nvSpPr>
            <p:spPr bwMode="auto">
              <a:xfrm>
                <a:off x="858" y="3441"/>
                <a:ext cx="22" cy="27"/>
              </a:xfrm>
              <a:custGeom>
                <a:avLst/>
                <a:gdLst/>
                <a:ahLst/>
                <a:cxnLst>
                  <a:cxn ang="0">
                    <a:pos x="21" y="0"/>
                  </a:cxn>
                  <a:cxn ang="0">
                    <a:pos x="21" y="17"/>
                  </a:cxn>
                  <a:cxn ang="0">
                    <a:pos x="0" y="26"/>
                  </a:cxn>
                  <a:cxn ang="0">
                    <a:pos x="0" y="9"/>
                  </a:cxn>
                  <a:cxn ang="0">
                    <a:pos x="21" y="0"/>
                  </a:cxn>
                </a:cxnLst>
                <a:rect l="0" t="0" r="r" b="b"/>
                <a:pathLst>
                  <a:path w="22" h="27">
                    <a:moveTo>
                      <a:pt x="21" y="0"/>
                    </a:moveTo>
                    <a:lnTo>
                      <a:pt x="21" y="17"/>
                    </a:lnTo>
                    <a:lnTo>
                      <a:pt x="0" y="26"/>
                    </a:lnTo>
                    <a:lnTo>
                      <a:pt x="0" y="9"/>
                    </a:lnTo>
                    <a:lnTo>
                      <a:pt x="21"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73" name="Freeform 221"/>
              <p:cNvSpPr>
                <a:spLocks/>
              </p:cNvSpPr>
              <p:nvPr/>
            </p:nvSpPr>
            <p:spPr bwMode="auto">
              <a:xfrm>
                <a:off x="855" y="3473"/>
                <a:ext cx="28" cy="28"/>
              </a:xfrm>
              <a:custGeom>
                <a:avLst/>
                <a:gdLst/>
                <a:ahLst/>
                <a:cxnLst>
                  <a:cxn ang="0">
                    <a:pos x="27" y="0"/>
                  </a:cxn>
                  <a:cxn ang="0">
                    <a:pos x="27" y="17"/>
                  </a:cxn>
                  <a:cxn ang="0">
                    <a:pos x="0" y="27"/>
                  </a:cxn>
                  <a:cxn ang="0">
                    <a:pos x="0" y="10"/>
                  </a:cxn>
                  <a:cxn ang="0">
                    <a:pos x="27" y="0"/>
                  </a:cxn>
                </a:cxnLst>
                <a:rect l="0" t="0" r="r" b="b"/>
                <a:pathLst>
                  <a:path w="28" h="28">
                    <a:moveTo>
                      <a:pt x="27" y="0"/>
                    </a:moveTo>
                    <a:lnTo>
                      <a:pt x="27" y="17"/>
                    </a:lnTo>
                    <a:lnTo>
                      <a:pt x="0" y="27"/>
                    </a:lnTo>
                    <a:lnTo>
                      <a:pt x="0" y="10"/>
                    </a:lnTo>
                    <a:lnTo>
                      <a:pt x="27"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74" name="Freeform 222"/>
              <p:cNvSpPr>
                <a:spLocks/>
              </p:cNvSpPr>
              <p:nvPr/>
            </p:nvSpPr>
            <p:spPr bwMode="auto">
              <a:xfrm>
                <a:off x="885" y="3275"/>
                <a:ext cx="31" cy="35"/>
              </a:xfrm>
              <a:custGeom>
                <a:avLst/>
                <a:gdLst/>
                <a:ahLst/>
                <a:cxnLst>
                  <a:cxn ang="0">
                    <a:pos x="30" y="0"/>
                  </a:cxn>
                  <a:cxn ang="0">
                    <a:pos x="30" y="23"/>
                  </a:cxn>
                  <a:cxn ang="0">
                    <a:pos x="0" y="34"/>
                  </a:cxn>
                  <a:cxn ang="0">
                    <a:pos x="0" y="11"/>
                  </a:cxn>
                  <a:cxn ang="0">
                    <a:pos x="30" y="0"/>
                  </a:cxn>
                </a:cxnLst>
                <a:rect l="0" t="0" r="r" b="b"/>
                <a:pathLst>
                  <a:path w="31" h="35">
                    <a:moveTo>
                      <a:pt x="30" y="0"/>
                    </a:moveTo>
                    <a:lnTo>
                      <a:pt x="30" y="23"/>
                    </a:lnTo>
                    <a:lnTo>
                      <a:pt x="0" y="34"/>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75" name="Freeform 223"/>
              <p:cNvSpPr>
                <a:spLocks/>
              </p:cNvSpPr>
              <p:nvPr/>
            </p:nvSpPr>
            <p:spPr bwMode="auto">
              <a:xfrm>
                <a:off x="889" y="3311"/>
                <a:ext cx="26" cy="30"/>
              </a:xfrm>
              <a:custGeom>
                <a:avLst/>
                <a:gdLst/>
                <a:ahLst/>
                <a:cxnLst>
                  <a:cxn ang="0">
                    <a:pos x="25" y="0"/>
                  </a:cxn>
                  <a:cxn ang="0">
                    <a:pos x="25" y="20"/>
                  </a:cxn>
                  <a:cxn ang="0">
                    <a:pos x="0" y="29"/>
                  </a:cxn>
                  <a:cxn ang="0">
                    <a:pos x="0" y="9"/>
                  </a:cxn>
                  <a:cxn ang="0">
                    <a:pos x="25" y="0"/>
                  </a:cxn>
                </a:cxnLst>
                <a:rect l="0" t="0" r="r" b="b"/>
                <a:pathLst>
                  <a:path w="26" h="30">
                    <a:moveTo>
                      <a:pt x="25" y="0"/>
                    </a:moveTo>
                    <a:lnTo>
                      <a:pt x="25" y="20"/>
                    </a:lnTo>
                    <a:lnTo>
                      <a:pt x="0" y="29"/>
                    </a:lnTo>
                    <a:lnTo>
                      <a:pt x="0" y="9"/>
                    </a:lnTo>
                    <a:lnTo>
                      <a:pt x="25"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76" name="Freeform 224"/>
              <p:cNvSpPr>
                <a:spLocks/>
              </p:cNvSpPr>
              <p:nvPr/>
            </p:nvSpPr>
            <p:spPr bwMode="auto">
              <a:xfrm>
                <a:off x="889" y="3341"/>
                <a:ext cx="26" cy="32"/>
              </a:xfrm>
              <a:custGeom>
                <a:avLst/>
                <a:gdLst/>
                <a:ahLst/>
                <a:cxnLst>
                  <a:cxn ang="0">
                    <a:pos x="25" y="0"/>
                  </a:cxn>
                  <a:cxn ang="0">
                    <a:pos x="25" y="21"/>
                  </a:cxn>
                  <a:cxn ang="0">
                    <a:pos x="0" y="31"/>
                  </a:cxn>
                  <a:cxn ang="0">
                    <a:pos x="0" y="10"/>
                  </a:cxn>
                  <a:cxn ang="0">
                    <a:pos x="25" y="0"/>
                  </a:cxn>
                </a:cxnLst>
                <a:rect l="0" t="0" r="r" b="b"/>
                <a:pathLst>
                  <a:path w="26" h="32">
                    <a:moveTo>
                      <a:pt x="25" y="0"/>
                    </a:moveTo>
                    <a:lnTo>
                      <a:pt x="25" y="21"/>
                    </a:lnTo>
                    <a:lnTo>
                      <a:pt x="0" y="31"/>
                    </a:lnTo>
                    <a:lnTo>
                      <a:pt x="0" y="10"/>
                    </a:lnTo>
                    <a:lnTo>
                      <a:pt x="25" y="0"/>
                    </a:lnTo>
                  </a:path>
                </a:pathLst>
              </a:custGeom>
              <a:solidFill>
                <a:srgbClr val="FF5008"/>
              </a:solidFill>
              <a:ln w="12700" cap="rnd" cmpd="sng">
                <a:noFill/>
                <a:prstDash val="solid"/>
                <a:round/>
                <a:headEnd type="none" w="med" len="med"/>
                <a:tailEnd type="none" w="med" len="med"/>
              </a:ln>
              <a:effectLst/>
            </p:spPr>
            <p:txBody>
              <a:bodyPr/>
              <a:lstStyle/>
              <a:p>
                <a:endParaRPr lang="fr-BE"/>
              </a:p>
            </p:txBody>
          </p:sp>
          <p:sp>
            <p:nvSpPr>
              <p:cNvPr id="49377" name="Freeform 225"/>
              <p:cNvSpPr>
                <a:spLocks/>
              </p:cNvSpPr>
              <p:nvPr/>
            </p:nvSpPr>
            <p:spPr bwMode="auto">
              <a:xfrm>
                <a:off x="885" y="3372"/>
                <a:ext cx="31" cy="37"/>
              </a:xfrm>
              <a:custGeom>
                <a:avLst/>
                <a:gdLst/>
                <a:ahLst/>
                <a:cxnLst>
                  <a:cxn ang="0">
                    <a:pos x="30" y="0"/>
                  </a:cxn>
                  <a:cxn ang="0">
                    <a:pos x="30" y="24"/>
                  </a:cxn>
                  <a:cxn ang="0">
                    <a:pos x="0" y="36"/>
                  </a:cxn>
                  <a:cxn ang="0">
                    <a:pos x="0" y="12"/>
                  </a:cxn>
                  <a:cxn ang="0">
                    <a:pos x="30" y="0"/>
                  </a:cxn>
                </a:cxnLst>
                <a:rect l="0" t="0" r="r" b="b"/>
                <a:pathLst>
                  <a:path w="31" h="37">
                    <a:moveTo>
                      <a:pt x="30" y="0"/>
                    </a:moveTo>
                    <a:lnTo>
                      <a:pt x="30" y="24"/>
                    </a:lnTo>
                    <a:lnTo>
                      <a:pt x="0" y="36"/>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78" name="Freeform 226"/>
              <p:cNvSpPr>
                <a:spLocks/>
              </p:cNvSpPr>
              <p:nvPr/>
            </p:nvSpPr>
            <p:spPr bwMode="auto">
              <a:xfrm>
                <a:off x="889" y="3408"/>
                <a:ext cx="26" cy="30"/>
              </a:xfrm>
              <a:custGeom>
                <a:avLst/>
                <a:gdLst/>
                <a:ahLst/>
                <a:cxnLst>
                  <a:cxn ang="0">
                    <a:pos x="25" y="0"/>
                  </a:cxn>
                  <a:cxn ang="0">
                    <a:pos x="25" y="20"/>
                  </a:cxn>
                  <a:cxn ang="0">
                    <a:pos x="0" y="29"/>
                  </a:cxn>
                  <a:cxn ang="0">
                    <a:pos x="0" y="10"/>
                  </a:cxn>
                  <a:cxn ang="0">
                    <a:pos x="25" y="0"/>
                  </a:cxn>
                </a:cxnLst>
                <a:rect l="0" t="0" r="r" b="b"/>
                <a:pathLst>
                  <a:path w="26" h="30">
                    <a:moveTo>
                      <a:pt x="25" y="0"/>
                    </a:moveTo>
                    <a:lnTo>
                      <a:pt x="25" y="20"/>
                    </a:lnTo>
                    <a:lnTo>
                      <a:pt x="0" y="29"/>
                    </a:lnTo>
                    <a:lnTo>
                      <a:pt x="0" y="10"/>
                    </a:lnTo>
                    <a:lnTo>
                      <a:pt x="25"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79" name="Freeform 227"/>
              <p:cNvSpPr>
                <a:spLocks/>
              </p:cNvSpPr>
              <p:nvPr/>
            </p:nvSpPr>
            <p:spPr bwMode="auto">
              <a:xfrm>
                <a:off x="889" y="3440"/>
                <a:ext cx="26" cy="30"/>
              </a:xfrm>
              <a:custGeom>
                <a:avLst/>
                <a:gdLst/>
                <a:ahLst/>
                <a:cxnLst>
                  <a:cxn ang="0">
                    <a:pos x="25" y="0"/>
                  </a:cxn>
                  <a:cxn ang="0">
                    <a:pos x="25" y="20"/>
                  </a:cxn>
                  <a:cxn ang="0">
                    <a:pos x="0" y="29"/>
                  </a:cxn>
                  <a:cxn ang="0">
                    <a:pos x="0" y="9"/>
                  </a:cxn>
                  <a:cxn ang="0">
                    <a:pos x="25" y="0"/>
                  </a:cxn>
                </a:cxnLst>
                <a:rect l="0" t="0" r="r" b="b"/>
                <a:pathLst>
                  <a:path w="26" h="30">
                    <a:moveTo>
                      <a:pt x="25" y="0"/>
                    </a:moveTo>
                    <a:lnTo>
                      <a:pt x="25" y="20"/>
                    </a:lnTo>
                    <a:lnTo>
                      <a:pt x="0" y="29"/>
                    </a:lnTo>
                    <a:lnTo>
                      <a:pt x="0" y="9"/>
                    </a:lnTo>
                    <a:lnTo>
                      <a:pt x="25" y="0"/>
                    </a:lnTo>
                  </a:path>
                </a:pathLst>
              </a:custGeom>
              <a:solidFill>
                <a:srgbClr val="114FFB"/>
              </a:solidFill>
              <a:ln w="12700" cap="rnd" cmpd="sng">
                <a:noFill/>
                <a:prstDash val="solid"/>
                <a:round/>
                <a:headEnd type="none" w="med" len="med"/>
                <a:tailEnd type="none" w="med" len="med"/>
              </a:ln>
              <a:effectLst/>
            </p:spPr>
            <p:txBody>
              <a:bodyPr/>
              <a:lstStyle/>
              <a:p>
                <a:endParaRPr lang="fr-BE"/>
              </a:p>
            </p:txBody>
          </p:sp>
          <p:sp>
            <p:nvSpPr>
              <p:cNvPr id="49380" name="Freeform 228"/>
              <p:cNvSpPr>
                <a:spLocks/>
              </p:cNvSpPr>
              <p:nvPr/>
            </p:nvSpPr>
            <p:spPr bwMode="auto">
              <a:xfrm>
                <a:off x="885" y="3469"/>
                <a:ext cx="31" cy="36"/>
              </a:xfrm>
              <a:custGeom>
                <a:avLst/>
                <a:gdLst/>
                <a:ahLst/>
                <a:cxnLst>
                  <a:cxn ang="0">
                    <a:pos x="30" y="0"/>
                  </a:cxn>
                  <a:cxn ang="0">
                    <a:pos x="30" y="24"/>
                  </a:cxn>
                  <a:cxn ang="0">
                    <a:pos x="0" y="35"/>
                  </a:cxn>
                  <a:cxn ang="0">
                    <a:pos x="0" y="12"/>
                  </a:cxn>
                  <a:cxn ang="0">
                    <a:pos x="30" y="0"/>
                  </a:cxn>
                </a:cxnLst>
                <a:rect l="0" t="0" r="r" b="b"/>
                <a:pathLst>
                  <a:path w="31" h="36">
                    <a:moveTo>
                      <a:pt x="30" y="0"/>
                    </a:moveTo>
                    <a:lnTo>
                      <a:pt x="30" y="24"/>
                    </a:lnTo>
                    <a:lnTo>
                      <a:pt x="0" y="35"/>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1" name="Freeform 229"/>
              <p:cNvSpPr>
                <a:spLocks/>
              </p:cNvSpPr>
              <p:nvPr/>
            </p:nvSpPr>
            <p:spPr bwMode="auto">
              <a:xfrm>
                <a:off x="919" y="3262"/>
                <a:ext cx="31" cy="47"/>
              </a:xfrm>
              <a:custGeom>
                <a:avLst/>
                <a:gdLst/>
                <a:ahLst/>
                <a:cxnLst>
                  <a:cxn ang="0">
                    <a:pos x="30" y="0"/>
                  </a:cxn>
                  <a:cxn ang="0">
                    <a:pos x="30" y="33"/>
                  </a:cxn>
                  <a:cxn ang="0">
                    <a:pos x="0" y="46"/>
                  </a:cxn>
                  <a:cxn ang="0">
                    <a:pos x="0" y="15"/>
                  </a:cxn>
                  <a:cxn ang="0">
                    <a:pos x="2" y="14"/>
                  </a:cxn>
                  <a:cxn ang="0">
                    <a:pos x="4" y="13"/>
                  </a:cxn>
                  <a:cxn ang="0">
                    <a:pos x="6" y="12"/>
                  </a:cxn>
                  <a:cxn ang="0">
                    <a:pos x="8" y="11"/>
                  </a:cxn>
                  <a:cxn ang="0">
                    <a:pos x="10" y="10"/>
                  </a:cxn>
                  <a:cxn ang="0">
                    <a:pos x="12" y="9"/>
                  </a:cxn>
                  <a:cxn ang="0">
                    <a:pos x="14" y="8"/>
                  </a:cxn>
                  <a:cxn ang="0">
                    <a:pos x="16" y="7"/>
                  </a:cxn>
                  <a:cxn ang="0">
                    <a:pos x="17" y="6"/>
                  </a:cxn>
                  <a:cxn ang="0">
                    <a:pos x="19" y="5"/>
                  </a:cxn>
                  <a:cxn ang="0">
                    <a:pos x="21" y="4"/>
                  </a:cxn>
                  <a:cxn ang="0">
                    <a:pos x="23" y="3"/>
                  </a:cxn>
                  <a:cxn ang="0">
                    <a:pos x="25" y="2"/>
                  </a:cxn>
                  <a:cxn ang="0">
                    <a:pos x="27" y="2"/>
                  </a:cxn>
                  <a:cxn ang="0">
                    <a:pos x="28" y="1"/>
                  </a:cxn>
                  <a:cxn ang="0">
                    <a:pos x="30" y="0"/>
                  </a:cxn>
                </a:cxnLst>
                <a:rect l="0" t="0" r="r" b="b"/>
                <a:pathLst>
                  <a:path w="31" h="47">
                    <a:moveTo>
                      <a:pt x="30" y="0"/>
                    </a:moveTo>
                    <a:lnTo>
                      <a:pt x="30" y="33"/>
                    </a:lnTo>
                    <a:lnTo>
                      <a:pt x="0" y="46"/>
                    </a:lnTo>
                    <a:lnTo>
                      <a:pt x="0" y="15"/>
                    </a:lnTo>
                    <a:lnTo>
                      <a:pt x="2" y="14"/>
                    </a:lnTo>
                    <a:lnTo>
                      <a:pt x="4" y="13"/>
                    </a:lnTo>
                    <a:lnTo>
                      <a:pt x="6" y="12"/>
                    </a:lnTo>
                    <a:lnTo>
                      <a:pt x="8" y="11"/>
                    </a:lnTo>
                    <a:lnTo>
                      <a:pt x="10" y="10"/>
                    </a:lnTo>
                    <a:lnTo>
                      <a:pt x="12" y="9"/>
                    </a:lnTo>
                    <a:lnTo>
                      <a:pt x="14" y="8"/>
                    </a:lnTo>
                    <a:lnTo>
                      <a:pt x="16" y="7"/>
                    </a:lnTo>
                    <a:lnTo>
                      <a:pt x="17" y="6"/>
                    </a:lnTo>
                    <a:lnTo>
                      <a:pt x="19" y="5"/>
                    </a:lnTo>
                    <a:lnTo>
                      <a:pt x="21" y="4"/>
                    </a:lnTo>
                    <a:lnTo>
                      <a:pt x="23" y="3"/>
                    </a:lnTo>
                    <a:lnTo>
                      <a:pt x="25" y="2"/>
                    </a:lnTo>
                    <a:lnTo>
                      <a:pt x="27" y="2"/>
                    </a:lnTo>
                    <a:lnTo>
                      <a:pt x="28" y="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2" name="Freeform 230"/>
              <p:cNvSpPr>
                <a:spLocks/>
              </p:cNvSpPr>
              <p:nvPr/>
            </p:nvSpPr>
            <p:spPr bwMode="auto">
              <a:xfrm>
                <a:off x="919" y="3299"/>
                <a:ext cx="31" cy="38"/>
              </a:xfrm>
              <a:custGeom>
                <a:avLst/>
                <a:gdLst/>
                <a:ahLst/>
                <a:cxnLst>
                  <a:cxn ang="0">
                    <a:pos x="30" y="0"/>
                  </a:cxn>
                  <a:cxn ang="0">
                    <a:pos x="30" y="26"/>
                  </a:cxn>
                  <a:cxn ang="0">
                    <a:pos x="0" y="37"/>
                  </a:cxn>
                  <a:cxn ang="0">
                    <a:pos x="0" y="11"/>
                  </a:cxn>
                  <a:cxn ang="0">
                    <a:pos x="30" y="0"/>
                  </a:cxn>
                </a:cxnLst>
                <a:rect l="0" t="0" r="r" b="b"/>
                <a:pathLst>
                  <a:path w="31" h="38">
                    <a:moveTo>
                      <a:pt x="30" y="0"/>
                    </a:moveTo>
                    <a:lnTo>
                      <a:pt x="30" y="26"/>
                    </a:lnTo>
                    <a:lnTo>
                      <a:pt x="0" y="37"/>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3" name="Freeform 231"/>
              <p:cNvSpPr>
                <a:spLocks/>
              </p:cNvSpPr>
              <p:nvPr/>
            </p:nvSpPr>
            <p:spPr bwMode="auto">
              <a:xfrm>
                <a:off x="919" y="3331"/>
                <a:ext cx="31" cy="38"/>
              </a:xfrm>
              <a:custGeom>
                <a:avLst/>
                <a:gdLst/>
                <a:ahLst/>
                <a:cxnLst>
                  <a:cxn ang="0">
                    <a:pos x="30" y="0"/>
                  </a:cxn>
                  <a:cxn ang="0">
                    <a:pos x="30" y="26"/>
                  </a:cxn>
                  <a:cxn ang="0">
                    <a:pos x="0" y="37"/>
                  </a:cxn>
                  <a:cxn ang="0">
                    <a:pos x="0" y="11"/>
                  </a:cxn>
                  <a:cxn ang="0">
                    <a:pos x="30" y="0"/>
                  </a:cxn>
                </a:cxnLst>
                <a:rect l="0" t="0" r="r" b="b"/>
                <a:pathLst>
                  <a:path w="31" h="38">
                    <a:moveTo>
                      <a:pt x="30" y="0"/>
                    </a:moveTo>
                    <a:lnTo>
                      <a:pt x="30" y="26"/>
                    </a:lnTo>
                    <a:lnTo>
                      <a:pt x="0" y="37"/>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4" name="Freeform 232"/>
              <p:cNvSpPr>
                <a:spLocks/>
              </p:cNvSpPr>
              <p:nvPr/>
            </p:nvSpPr>
            <p:spPr bwMode="auto">
              <a:xfrm>
                <a:off x="919" y="3362"/>
                <a:ext cx="31" cy="42"/>
              </a:xfrm>
              <a:custGeom>
                <a:avLst/>
                <a:gdLst/>
                <a:ahLst/>
                <a:cxnLst>
                  <a:cxn ang="0">
                    <a:pos x="30" y="0"/>
                  </a:cxn>
                  <a:cxn ang="0">
                    <a:pos x="30" y="28"/>
                  </a:cxn>
                  <a:cxn ang="0">
                    <a:pos x="0" y="41"/>
                  </a:cxn>
                  <a:cxn ang="0">
                    <a:pos x="0" y="12"/>
                  </a:cxn>
                  <a:cxn ang="0">
                    <a:pos x="30" y="0"/>
                  </a:cxn>
                </a:cxnLst>
                <a:rect l="0" t="0" r="r" b="b"/>
                <a:pathLst>
                  <a:path w="31" h="42">
                    <a:moveTo>
                      <a:pt x="30" y="0"/>
                    </a:moveTo>
                    <a:lnTo>
                      <a:pt x="30" y="28"/>
                    </a:lnTo>
                    <a:lnTo>
                      <a:pt x="0" y="41"/>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5" name="Freeform 233"/>
              <p:cNvSpPr>
                <a:spLocks/>
              </p:cNvSpPr>
              <p:nvPr/>
            </p:nvSpPr>
            <p:spPr bwMode="auto">
              <a:xfrm>
                <a:off x="919" y="3394"/>
                <a:ext cx="31" cy="41"/>
              </a:xfrm>
              <a:custGeom>
                <a:avLst/>
                <a:gdLst/>
                <a:ahLst/>
                <a:cxnLst>
                  <a:cxn ang="0">
                    <a:pos x="30" y="0"/>
                  </a:cxn>
                  <a:cxn ang="0">
                    <a:pos x="30" y="28"/>
                  </a:cxn>
                  <a:cxn ang="0">
                    <a:pos x="0" y="40"/>
                  </a:cxn>
                  <a:cxn ang="0">
                    <a:pos x="0" y="12"/>
                  </a:cxn>
                  <a:cxn ang="0">
                    <a:pos x="30" y="0"/>
                  </a:cxn>
                </a:cxnLst>
                <a:rect l="0" t="0" r="r" b="b"/>
                <a:pathLst>
                  <a:path w="31" h="41">
                    <a:moveTo>
                      <a:pt x="30" y="0"/>
                    </a:moveTo>
                    <a:lnTo>
                      <a:pt x="30" y="28"/>
                    </a:lnTo>
                    <a:lnTo>
                      <a:pt x="0" y="40"/>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6" name="Freeform 234"/>
              <p:cNvSpPr>
                <a:spLocks/>
              </p:cNvSpPr>
              <p:nvPr/>
            </p:nvSpPr>
            <p:spPr bwMode="auto">
              <a:xfrm>
                <a:off x="919" y="3429"/>
                <a:ext cx="31" cy="39"/>
              </a:xfrm>
              <a:custGeom>
                <a:avLst/>
                <a:gdLst/>
                <a:ahLst/>
                <a:cxnLst>
                  <a:cxn ang="0">
                    <a:pos x="30" y="0"/>
                  </a:cxn>
                  <a:cxn ang="0">
                    <a:pos x="30" y="26"/>
                  </a:cxn>
                  <a:cxn ang="0">
                    <a:pos x="0" y="38"/>
                  </a:cxn>
                  <a:cxn ang="0">
                    <a:pos x="0" y="11"/>
                  </a:cxn>
                  <a:cxn ang="0">
                    <a:pos x="30" y="0"/>
                  </a:cxn>
                </a:cxnLst>
                <a:rect l="0" t="0" r="r" b="b"/>
                <a:pathLst>
                  <a:path w="31" h="39">
                    <a:moveTo>
                      <a:pt x="30" y="0"/>
                    </a:moveTo>
                    <a:lnTo>
                      <a:pt x="30" y="26"/>
                    </a:lnTo>
                    <a:lnTo>
                      <a:pt x="0" y="38"/>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7" name="Freeform 235"/>
              <p:cNvSpPr>
                <a:spLocks/>
              </p:cNvSpPr>
              <p:nvPr/>
            </p:nvSpPr>
            <p:spPr bwMode="auto">
              <a:xfrm>
                <a:off x="919" y="3461"/>
                <a:ext cx="31" cy="40"/>
              </a:xfrm>
              <a:custGeom>
                <a:avLst/>
                <a:gdLst/>
                <a:ahLst/>
                <a:cxnLst>
                  <a:cxn ang="0">
                    <a:pos x="30" y="0"/>
                  </a:cxn>
                  <a:cxn ang="0">
                    <a:pos x="30" y="27"/>
                  </a:cxn>
                  <a:cxn ang="0">
                    <a:pos x="28" y="28"/>
                  </a:cxn>
                  <a:cxn ang="0">
                    <a:pos x="26" y="29"/>
                  </a:cxn>
                  <a:cxn ang="0">
                    <a:pos x="24" y="29"/>
                  </a:cxn>
                  <a:cxn ang="0">
                    <a:pos x="22" y="30"/>
                  </a:cxn>
                  <a:cxn ang="0">
                    <a:pos x="20" y="31"/>
                  </a:cxn>
                  <a:cxn ang="0">
                    <a:pos x="18" y="32"/>
                  </a:cxn>
                  <a:cxn ang="0">
                    <a:pos x="16" y="32"/>
                  </a:cxn>
                  <a:cxn ang="0">
                    <a:pos x="14" y="33"/>
                  </a:cxn>
                  <a:cxn ang="0">
                    <a:pos x="12" y="34"/>
                  </a:cxn>
                  <a:cxn ang="0">
                    <a:pos x="10" y="35"/>
                  </a:cxn>
                  <a:cxn ang="0">
                    <a:pos x="8" y="35"/>
                  </a:cxn>
                  <a:cxn ang="0">
                    <a:pos x="7" y="36"/>
                  </a:cxn>
                  <a:cxn ang="0">
                    <a:pos x="5" y="37"/>
                  </a:cxn>
                  <a:cxn ang="0">
                    <a:pos x="3" y="38"/>
                  </a:cxn>
                  <a:cxn ang="0">
                    <a:pos x="2" y="38"/>
                  </a:cxn>
                  <a:cxn ang="0">
                    <a:pos x="0" y="39"/>
                  </a:cxn>
                  <a:cxn ang="0">
                    <a:pos x="0" y="11"/>
                  </a:cxn>
                  <a:cxn ang="0">
                    <a:pos x="30" y="0"/>
                  </a:cxn>
                </a:cxnLst>
                <a:rect l="0" t="0" r="r" b="b"/>
                <a:pathLst>
                  <a:path w="31" h="40">
                    <a:moveTo>
                      <a:pt x="30" y="0"/>
                    </a:moveTo>
                    <a:lnTo>
                      <a:pt x="30" y="27"/>
                    </a:lnTo>
                    <a:lnTo>
                      <a:pt x="28" y="28"/>
                    </a:lnTo>
                    <a:lnTo>
                      <a:pt x="26" y="29"/>
                    </a:lnTo>
                    <a:lnTo>
                      <a:pt x="24" y="29"/>
                    </a:lnTo>
                    <a:lnTo>
                      <a:pt x="22" y="30"/>
                    </a:lnTo>
                    <a:lnTo>
                      <a:pt x="20" y="31"/>
                    </a:lnTo>
                    <a:lnTo>
                      <a:pt x="18" y="32"/>
                    </a:lnTo>
                    <a:lnTo>
                      <a:pt x="16" y="32"/>
                    </a:lnTo>
                    <a:lnTo>
                      <a:pt x="14" y="33"/>
                    </a:lnTo>
                    <a:lnTo>
                      <a:pt x="12" y="34"/>
                    </a:lnTo>
                    <a:lnTo>
                      <a:pt x="10" y="35"/>
                    </a:lnTo>
                    <a:lnTo>
                      <a:pt x="8" y="35"/>
                    </a:lnTo>
                    <a:lnTo>
                      <a:pt x="7" y="36"/>
                    </a:lnTo>
                    <a:lnTo>
                      <a:pt x="5" y="37"/>
                    </a:lnTo>
                    <a:lnTo>
                      <a:pt x="3" y="38"/>
                    </a:lnTo>
                    <a:lnTo>
                      <a:pt x="2" y="38"/>
                    </a:lnTo>
                    <a:lnTo>
                      <a:pt x="0" y="39"/>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8" name="Freeform 236"/>
              <p:cNvSpPr>
                <a:spLocks/>
              </p:cNvSpPr>
              <p:nvPr/>
            </p:nvSpPr>
            <p:spPr bwMode="auto">
              <a:xfrm>
                <a:off x="953" y="3248"/>
                <a:ext cx="157" cy="244"/>
              </a:xfrm>
              <a:custGeom>
                <a:avLst/>
                <a:gdLst/>
                <a:ahLst/>
                <a:cxnLst>
                  <a:cxn ang="0">
                    <a:pos x="152" y="241"/>
                  </a:cxn>
                  <a:cxn ang="0">
                    <a:pos x="144" y="237"/>
                  </a:cxn>
                  <a:cxn ang="0">
                    <a:pos x="136" y="233"/>
                  </a:cxn>
                  <a:cxn ang="0">
                    <a:pos x="127" y="230"/>
                  </a:cxn>
                  <a:cxn ang="0">
                    <a:pos x="118" y="228"/>
                  </a:cxn>
                  <a:cxn ang="0">
                    <a:pos x="108" y="226"/>
                  </a:cxn>
                  <a:cxn ang="0">
                    <a:pos x="98" y="225"/>
                  </a:cxn>
                  <a:cxn ang="0">
                    <a:pos x="88" y="225"/>
                  </a:cxn>
                  <a:cxn ang="0">
                    <a:pos x="78" y="224"/>
                  </a:cxn>
                  <a:cxn ang="0">
                    <a:pos x="68" y="225"/>
                  </a:cxn>
                  <a:cxn ang="0">
                    <a:pos x="58" y="226"/>
                  </a:cxn>
                  <a:cxn ang="0">
                    <a:pos x="48" y="227"/>
                  </a:cxn>
                  <a:cxn ang="0">
                    <a:pos x="38" y="229"/>
                  </a:cxn>
                  <a:cxn ang="0">
                    <a:pos x="27" y="230"/>
                  </a:cxn>
                  <a:cxn ang="0">
                    <a:pos x="17" y="233"/>
                  </a:cxn>
                  <a:cxn ang="0">
                    <a:pos x="6" y="236"/>
                  </a:cxn>
                  <a:cxn ang="0">
                    <a:pos x="3" y="204"/>
                  </a:cxn>
                  <a:cxn ang="0">
                    <a:pos x="15" y="200"/>
                  </a:cxn>
                  <a:cxn ang="0">
                    <a:pos x="27" y="197"/>
                  </a:cxn>
                  <a:cxn ang="0">
                    <a:pos x="40" y="194"/>
                  </a:cxn>
                  <a:cxn ang="0">
                    <a:pos x="50" y="120"/>
                  </a:cxn>
                  <a:cxn ang="0">
                    <a:pos x="38" y="122"/>
                  </a:cxn>
                  <a:cxn ang="0">
                    <a:pos x="26" y="126"/>
                  </a:cxn>
                  <a:cxn ang="0">
                    <a:pos x="13" y="130"/>
                  </a:cxn>
                  <a:cxn ang="0">
                    <a:pos x="0" y="136"/>
                  </a:cxn>
                  <a:cxn ang="0">
                    <a:pos x="9" y="110"/>
                  </a:cxn>
                  <a:cxn ang="0">
                    <a:pos x="21" y="106"/>
                  </a:cxn>
                  <a:cxn ang="0">
                    <a:pos x="34" y="102"/>
                  </a:cxn>
                  <a:cxn ang="0">
                    <a:pos x="46" y="99"/>
                  </a:cxn>
                  <a:cxn ang="0">
                    <a:pos x="44" y="33"/>
                  </a:cxn>
                  <a:cxn ang="0">
                    <a:pos x="32" y="36"/>
                  </a:cxn>
                  <a:cxn ang="0">
                    <a:pos x="19" y="39"/>
                  </a:cxn>
                  <a:cxn ang="0">
                    <a:pos x="6" y="43"/>
                  </a:cxn>
                  <a:cxn ang="0">
                    <a:pos x="3" y="13"/>
                  </a:cxn>
                  <a:cxn ang="0">
                    <a:pos x="13" y="10"/>
                  </a:cxn>
                  <a:cxn ang="0">
                    <a:pos x="23" y="7"/>
                  </a:cxn>
                  <a:cxn ang="0">
                    <a:pos x="33" y="5"/>
                  </a:cxn>
                  <a:cxn ang="0">
                    <a:pos x="43" y="3"/>
                  </a:cxn>
                  <a:cxn ang="0">
                    <a:pos x="53" y="2"/>
                  </a:cxn>
                  <a:cxn ang="0">
                    <a:pos x="62" y="1"/>
                  </a:cxn>
                  <a:cxn ang="0">
                    <a:pos x="72" y="0"/>
                  </a:cxn>
                  <a:cxn ang="0">
                    <a:pos x="82" y="0"/>
                  </a:cxn>
                  <a:cxn ang="0">
                    <a:pos x="92" y="1"/>
                  </a:cxn>
                  <a:cxn ang="0">
                    <a:pos x="102" y="2"/>
                  </a:cxn>
                  <a:cxn ang="0">
                    <a:pos x="112" y="3"/>
                  </a:cxn>
                  <a:cxn ang="0">
                    <a:pos x="122" y="6"/>
                  </a:cxn>
                  <a:cxn ang="0">
                    <a:pos x="131" y="8"/>
                  </a:cxn>
                  <a:cxn ang="0">
                    <a:pos x="140" y="12"/>
                  </a:cxn>
                  <a:cxn ang="0">
                    <a:pos x="149" y="16"/>
                  </a:cxn>
                </a:cxnLst>
                <a:rect l="0" t="0" r="r" b="b"/>
                <a:pathLst>
                  <a:path w="157" h="244">
                    <a:moveTo>
                      <a:pt x="156" y="19"/>
                    </a:moveTo>
                    <a:lnTo>
                      <a:pt x="156" y="243"/>
                    </a:lnTo>
                    <a:lnTo>
                      <a:pt x="154" y="242"/>
                    </a:lnTo>
                    <a:lnTo>
                      <a:pt x="152" y="241"/>
                    </a:lnTo>
                    <a:lnTo>
                      <a:pt x="150" y="240"/>
                    </a:lnTo>
                    <a:lnTo>
                      <a:pt x="148" y="238"/>
                    </a:lnTo>
                    <a:lnTo>
                      <a:pt x="146" y="238"/>
                    </a:lnTo>
                    <a:lnTo>
                      <a:pt x="144" y="237"/>
                    </a:lnTo>
                    <a:lnTo>
                      <a:pt x="142" y="236"/>
                    </a:lnTo>
                    <a:lnTo>
                      <a:pt x="140" y="235"/>
                    </a:lnTo>
                    <a:lnTo>
                      <a:pt x="138" y="234"/>
                    </a:lnTo>
                    <a:lnTo>
                      <a:pt x="136" y="233"/>
                    </a:lnTo>
                    <a:lnTo>
                      <a:pt x="134" y="232"/>
                    </a:lnTo>
                    <a:lnTo>
                      <a:pt x="132" y="232"/>
                    </a:lnTo>
                    <a:lnTo>
                      <a:pt x="129" y="231"/>
                    </a:lnTo>
                    <a:lnTo>
                      <a:pt x="127" y="230"/>
                    </a:lnTo>
                    <a:lnTo>
                      <a:pt x="125" y="230"/>
                    </a:lnTo>
                    <a:lnTo>
                      <a:pt x="123" y="229"/>
                    </a:lnTo>
                    <a:lnTo>
                      <a:pt x="120" y="229"/>
                    </a:lnTo>
                    <a:lnTo>
                      <a:pt x="118" y="228"/>
                    </a:lnTo>
                    <a:lnTo>
                      <a:pt x="116" y="227"/>
                    </a:lnTo>
                    <a:lnTo>
                      <a:pt x="113" y="227"/>
                    </a:lnTo>
                    <a:lnTo>
                      <a:pt x="111" y="227"/>
                    </a:lnTo>
                    <a:lnTo>
                      <a:pt x="108" y="226"/>
                    </a:lnTo>
                    <a:lnTo>
                      <a:pt x="106" y="226"/>
                    </a:lnTo>
                    <a:lnTo>
                      <a:pt x="103" y="226"/>
                    </a:lnTo>
                    <a:lnTo>
                      <a:pt x="101" y="225"/>
                    </a:lnTo>
                    <a:lnTo>
                      <a:pt x="98" y="225"/>
                    </a:lnTo>
                    <a:lnTo>
                      <a:pt x="96" y="225"/>
                    </a:lnTo>
                    <a:lnTo>
                      <a:pt x="93" y="225"/>
                    </a:lnTo>
                    <a:lnTo>
                      <a:pt x="90" y="225"/>
                    </a:lnTo>
                    <a:lnTo>
                      <a:pt x="88" y="225"/>
                    </a:lnTo>
                    <a:lnTo>
                      <a:pt x="85" y="224"/>
                    </a:lnTo>
                    <a:lnTo>
                      <a:pt x="82" y="224"/>
                    </a:lnTo>
                    <a:lnTo>
                      <a:pt x="80" y="224"/>
                    </a:lnTo>
                    <a:lnTo>
                      <a:pt x="78" y="224"/>
                    </a:lnTo>
                    <a:lnTo>
                      <a:pt x="75" y="225"/>
                    </a:lnTo>
                    <a:lnTo>
                      <a:pt x="73" y="225"/>
                    </a:lnTo>
                    <a:lnTo>
                      <a:pt x="70" y="225"/>
                    </a:lnTo>
                    <a:lnTo>
                      <a:pt x="68" y="225"/>
                    </a:lnTo>
                    <a:lnTo>
                      <a:pt x="66" y="225"/>
                    </a:lnTo>
                    <a:lnTo>
                      <a:pt x="63" y="225"/>
                    </a:lnTo>
                    <a:lnTo>
                      <a:pt x="61" y="226"/>
                    </a:lnTo>
                    <a:lnTo>
                      <a:pt x="58" y="226"/>
                    </a:lnTo>
                    <a:lnTo>
                      <a:pt x="56" y="226"/>
                    </a:lnTo>
                    <a:lnTo>
                      <a:pt x="53" y="226"/>
                    </a:lnTo>
                    <a:lnTo>
                      <a:pt x="51" y="227"/>
                    </a:lnTo>
                    <a:lnTo>
                      <a:pt x="48" y="227"/>
                    </a:lnTo>
                    <a:lnTo>
                      <a:pt x="46" y="227"/>
                    </a:lnTo>
                    <a:lnTo>
                      <a:pt x="43" y="228"/>
                    </a:lnTo>
                    <a:lnTo>
                      <a:pt x="41" y="228"/>
                    </a:lnTo>
                    <a:lnTo>
                      <a:pt x="38" y="229"/>
                    </a:lnTo>
                    <a:lnTo>
                      <a:pt x="35" y="229"/>
                    </a:lnTo>
                    <a:lnTo>
                      <a:pt x="33" y="229"/>
                    </a:lnTo>
                    <a:lnTo>
                      <a:pt x="30" y="230"/>
                    </a:lnTo>
                    <a:lnTo>
                      <a:pt x="27" y="230"/>
                    </a:lnTo>
                    <a:lnTo>
                      <a:pt x="25" y="231"/>
                    </a:lnTo>
                    <a:lnTo>
                      <a:pt x="22" y="232"/>
                    </a:lnTo>
                    <a:lnTo>
                      <a:pt x="19" y="232"/>
                    </a:lnTo>
                    <a:lnTo>
                      <a:pt x="17" y="233"/>
                    </a:lnTo>
                    <a:lnTo>
                      <a:pt x="14" y="234"/>
                    </a:lnTo>
                    <a:lnTo>
                      <a:pt x="11" y="234"/>
                    </a:lnTo>
                    <a:lnTo>
                      <a:pt x="8" y="235"/>
                    </a:lnTo>
                    <a:lnTo>
                      <a:pt x="6" y="236"/>
                    </a:lnTo>
                    <a:lnTo>
                      <a:pt x="3" y="237"/>
                    </a:lnTo>
                    <a:lnTo>
                      <a:pt x="0" y="237"/>
                    </a:lnTo>
                    <a:lnTo>
                      <a:pt x="0" y="205"/>
                    </a:lnTo>
                    <a:lnTo>
                      <a:pt x="3" y="204"/>
                    </a:lnTo>
                    <a:lnTo>
                      <a:pt x="6" y="203"/>
                    </a:lnTo>
                    <a:lnTo>
                      <a:pt x="9" y="202"/>
                    </a:lnTo>
                    <a:lnTo>
                      <a:pt x="12" y="201"/>
                    </a:lnTo>
                    <a:lnTo>
                      <a:pt x="15" y="200"/>
                    </a:lnTo>
                    <a:lnTo>
                      <a:pt x="18" y="199"/>
                    </a:lnTo>
                    <a:lnTo>
                      <a:pt x="21" y="198"/>
                    </a:lnTo>
                    <a:lnTo>
                      <a:pt x="24" y="198"/>
                    </a:lnTo>
                    <a:lnTo>
                      <a:pt x="27" y="197"/>
                    </a:lnTo>
                    <a:lnTo>
                      <a:pt x="30" y="196"/>
                    </a:lnTo>
                    <a:lnTo>
                      <a:pt x="33" y="195"/>
                    </a:lnTo>
                    <a:lnTo>
                      <a:pt x="37" y="195"/>
                    </a:lnTo>
                    <a:lnTo>
                      <a:pt x="40" y="194"/>
                    </a:lnTo>
                    <a:lnTo>
                      <a:pt x="43" y="193"/>
                    </a:lnTo>
                    <a:lnTo>
                      <a:pt x="46" y="193"/>
                    </a:lnTo>
                    <a:lnTo>
                      <a:pt x="50" y="192"/>
                    </a:lnTo>
                    <a:lnTo>
                      <a:pt x="50" y="120"/>
                    </a:lnTo>
                    <a:lnTo>
                      <a:pt x="47" y="121"/>
                    </a:lnTo>
                    <a:lnTo>
                      <a:pt x="44" y="121"/>
                    </a:lnTo>
                    <a:lnTo>
                      <a:pt x="41" y="122"/>
                    </a:lnTo>
                    <a:lnTo>
                      <a:pt x="38" y="122"/>
                    </a:lnTo>
                    <a:lnTo>
                      <a:pt x="35" y="123"/>
                    </a:lnTo>
                    <a:lnTo>
                      <a:pt x="32" y="124"/>
                    </a:lnTo>
                    <a:lnTo>
                      <a:pt x="29" y="125"/>
                    </a:lnTo>
                    <a:lnTo>
                      <a:pt x="26" y="126"/>
                    </a:lnTo>
                    <a:lnTo>
                      <a:pt x="23" y="127"/>
                    </a:lnTo>
                    <a:lnTo>
                      <a:pt x="20" y="128"/>
                    </a:lnTo>
                    <a:lnTo>
                      <a:pt x="17" y="129"/>
                    </a:lnTo>
                    <a:lnTo>
                      <a:pt x="13" y="130"/>
                    </a:lnTo>
                    <a:lnTo>
                      <a:pt x="10" y="132"/>
                    </a:lnTo>
                    <a:lnTo>
                      <a:pt x="7" y="133"/>
                    </a:lnTo>
                    <a:lnTo>
                      <a:pt x="3" y="135"/>
                    </a:lnTo>
                    <a:lnTo>
                      <a:pt x="0" y="136"/>
                    </a:lnTo>
                    <a:lnTo>
                      <a:pt x="0" y="114"/>
                    </a:lnTo>
                    <a:lnTo>
                      <a:pt x="3" y="113"/>
                    </a:lnTo>
                    <a:lnTo>
                      <a:pt x="6" y="111"/>
                    </a:lnTo>
                    <a:lnTo>
                      <a:pt x="9" y="110"/>
                    </a:lnTo>
                    <a:lnTo>
                      <a:pt x="12" y="109"/>
                    </a:lnTo>
                    <a:lnTo>
                      <a:pt x="15" y="108"/>
                    </a:lnTo>
                    <a:lnTo>
                      <a:pt x="18" y="107"/>
                    </a:lnTo>
                    <a:lnTo>
                      <a:pt x="21" y="106"/>
                    </a:lnTo>
                    <a:lnTo>
                      <a:pt x="24" y="105"/>
                    </a:lnTo>
                    <a:lnTo>
                      <a:pt x="27" y="104"/>
                    </a:lnTo>
                    <a:lnTo>
                      <a:pt x="30" y="103"/>
                    </a:lnTo>
                    <a:lnTo>
                      <a:pt x="34" y="102"/>
                    </a:lnTo>
                    <a:lnTo>
                      <a:pt x="37" y="101"/>
                    </a:lnTo>
                    <a:lnTo>
                      <a:pt x="40" y="101"/>
                    </a:lnTo>
                    <a:lnTo>
                      <a:pt x="43" y="100"/>
                    </a:lnTo>
                    <a:lnTo>
                      <a:pt x="46" y="99"/>
                    </a:lnTo>
                    <a:lnTo>
                      <a:pt x="50" y="99"/>
                    </a:lnTo>
                    <a:lnTo>
                      <a:pt x="50" y="32"/>
                    </a:lnTo>
                    <a:lnTo>
                      <a:pt x="47" y="32"/>
                    </a:lnTo>
                    <a:lnTo>
                      <a:pt x="44" y="33"/>
                    </a:lnTo>
                    <a:lnTo>
                      <a:pt x="41" y="34"/>
                    </a:lnTo>
                    <a:lnTo>
                      <a:pt x="38" y="34"/>
                    </a:lnTo>
                    <a:lnTo>
                      <a:pt x="35" y="35"/>
                    </a:lnTo>
                    <a:lnTo>
                      <a:pt x="32" y="36"/>
                    </a:lnTo>
                    <a:lnTo>
                      <a:pt x="29" y="37"/>
                    </a:lnTo>
                    <a:lnTo>
                      <a:pt x="26" y="38"/>
                    </a:lnTo>
                    <a:lnTo>
                      <a:pt x="22" y="38"/>
                    </a:lnTo>
                    <a:lnTo>
                      <a:pt x="19" y="39"/>
                    </a:lnTo>
                    <a:lnTo>
                      <a:pt x="16" y="40"/>
                    </a:lnTo>
                    <a:lnTo>
                      <a:pt x="13" y="41"/>
                    </a:lnTo>
                    <a:lnTo>
                      <a:pt x="10" y="42"/>
                    </a:lnTo>
                    <a:lnTo>
                      <a:pt x="6" y="43"/>
                    </a:lnTo>
                    <a:lnTo>
                      <a:pt x="3" y="45"/>
                    </a:lnTo>
                    <a:lnTo>
                      <a:pt x="0" y="46"/>
                    </a:lnTo>
                    <a:lnTo>
                      <a:pt x="0" y="14"/>
                    </a:lnTo>
                    <a:lnTo>
                      <a:pt x="3" y="13"/>
                    </a:lnTo>
                    <a:lnTo>
                      <a:pt x="5" y="12"/>
                    </a:lnTo>
                    <a:lnTo>
                      <a:pt x="8" y="11"/>
                    </a:lnTo>
                    <a:lnTo>
                      <a:pt x="10" y="10"/>
                    </a:lnTo>
                    <a:lnTo>
                      <a:pt x="13" y="10"/>
                    </a:lnTo>
                    <a:lnTo>
                      <a:pt x="15" y="9"/>
                    </a:lnTo>
                    <a:lnTo>
                      <a:pt x="18" y="8"/>
                    </a:lnTo>
                    <a:lnTo>
                      <a:pt x="20" y="8"/>
                    </a:lnTo>
                    <a:lnTo>
                      <a:pt x="23" y="7"/>
                    </a:lnTo>
                    <a:lnTo>
                      <a:pt x="25" y="6"/>
                    </a:lnTo>
                    <a:lnTo>
                      <a:pt x="28" y="6"/>
                    </a:lnTo>
                    <a:lnTo>
                      <a:pt x="30" y="5"/>
                    </a:lnTo>
                    <a:lnTo>
                      <a:pt x="33" y="5"/>
                    </a:lnTo>
                    <a:lnTo>
                      <a:pt x="35" y="4"/>
                    </a:lnTo>
                    <a:lnTo>
                      <a:pt x="38" y="4"/>
                    </a:lnTo>
                    <a:lnTo>
                      <a:pt x="40" y="4"/>
                    </a:lnTo>
                    <a:lnTo>
                      <a:pt x="43" y="3"/>
                    </a:lnTo>
                    <a:lnTo>
                      <a:pt x="45" y="3"/>
                    </a:lnTo>
                    <a:lnTo>
                      <a:pt x="48" y="2"/>
                    </a:lnTo>
                    <a:lnTo>
                      <a:pt x="50" y="2"/>
                    </a:lnTo>
                    <a:lnTo>
                      <a:pt x="53" y="2"/>
                    </a:lnTo>
                    <a:lnTo>
                      <a:pt x="55" y="1"/>
                    </a:lnTo>
                    <a:lnTo>
                      <a:pt x="57" y="1"/>
                    </a:lnTo>
                    <a:lnTo>
                      <a:pt x="60" y="1"/>
                    </a:lnTo>
                    <a:lnTo>
                      <a:pt x="62" y="1"/>
                    </a:lnTo>
                    <a:lnTo>
                      <a:pt x="65" y="1"/>
                    </a:lnTo>
                    <a:lnTo>
                      <a:pt x="67" y="0"/>
                    </a:lnTo>
                    <a:lnTo>
                      <a:pt x="69" y="0"/>
                    </a:lnTo>
                    <a:lnTo>
                      <a:pt x="72" y="0"/>
                    </a:lnTo>
                    <a:lnTo>
                      <a:pt x="74" y="0"/>
                    </a:lnTo>
                    <a:lnTo>
                      <a:pt x="77" y="0"/>
                    </a:lnTo>
                    <a:lnTo>
                      <a:pt x="79" y="0"/>
                    </a:lnTo>
                    <a:lnTo>
                      <a:pt x="82" y="0"/>
                    </a:lnTo>
                    <a:lnTo>
                      <a:pt x="84" y="0"/>
                    </a:lnTo>
                    <a:lnTo>
                      <a:pt x="87" y="0"/>
                    </a:lnTo>
                    <a:lnTo>
                      <a:pt x="89" y="0"/>
                    </a:lnTo>
                    <a:lnTo>
                      <a:pt x="92" y="1"/>
                    </a:lnTo>
                    <a:lnTo>
                      <a:pt x="94" y="1"/>
                    </a:lnTo>
                    <a:lnTo>
                      <a:pt x="97" y="1"/>
                    </a:lnTo>
                    <a:lnTo>
                      <a:pt x="99" y="1"/>
                    </a:lnTo>
                    <a:lnTo>
                      <a:pt x="102" y="2"/>
                    </a:lnTo>
                    <a:lnTo>
                      <a:pt x="104" y="2"/>
                    </a:lnTo>
                    <a:lnTo>
                      <a:pt x="107" y="2"/>
                    </a:lnTo>
                    <a:lnTo>
                      <a:pt x="109" y="3"/>
                    </a:lnTo>
                    <a:lnTo>
                      <a:pt x="112" y="3"/>
                    </a:lnTo>
                    <a:lnTo>
                      <a:pt x="114" y="4"/>
                    </a:lnTo>
                    <a:lnTo>
                      <a:pt x="117" y="4"/>
                    </a:lnTo>
                    <a:lnTo>
                      <a:pt x="119" y="5"/>
                    </a:lnTo>
                    <a:lnTo>
                      <a:pt x="122" y="6"/>
                    </a:lnTo>
                    <a:lnTo>
                      <a:pt x="124" y="6"/>
                    </a:lnTo>
                    <a:lnTo>
                      <a:pt x="126" y="7"/>
                    </a:lnTo>
                    <a:lnTo>
                      <a:pt x="129" y="8"/>
                    </a:lnTo>
                    <a:lnTo>
                      <a:pt x="131" y="8"/>
                    </a:lnTo>
                    <a:lnTo>
                      <a:pt x="133" y="9"/>
                    </a:lnTo>
                    <a:lnTo>
                      <a:pt x="136" y="10"/>
                    </a:lnTo>
                    <a:lnTo>
                      <a:pt x="138" y="11"/>
                    </a:lnTo>
                    <a:lnTo>
                      <a:pt x="140" y="12"/>
                    </a:lnTo>
                    <a:lnTo>
                      <a:pt x="143" y="13"/>
                    </a:lnTo>
                    <a:lnTo>
                      <a:pt x="145" y="14"/>
                    </a:lnTo>
                    <a:lnTo>
                      <a:pt x="147" y="15"/>
                    </a:lnTo>
                    <a:lnTo>
                      <a:pt x="149" y="16"/>
                    </a:lnTo>
                    <a:lnTo>
                      <a:pt x="151" y="17"/>
                    </a:lnTo>
                    <a:lnTo>
                      <a:pt x="154" y="18"/>
                    </a:lnTo>
                    <a:lnTo>
                      <a:pt x="156" y="19"/>
                    </a:lnTo>
                  </a:path>
                </a:pathLst>
              </a:custGeom>
              <a:solidFill>
                <a:schemeClr val="tx1"/>
              </a:solidFill>
              <a:ln w="12700" cap="rnd" cmpd="sng">
                <a:noFill/>
                <a:prstDash val="solid"/>
                <a:round/>
                <a:headEnd type="none" w="med" len="med"/>
                <a:tailEnd type="none" w="med" len="med"/>
              </a:ln>
              <a:effectLst/>
            </p:spPr>
            <p:txBody>
              <a:bodyPr/>
              <a:lstStyle/>
              <a:p>
                <a:endParaRPr lang="fr-BE"/>
              </a:p>
            </p:txBody>
          </p:sp>
          <p:sp>
            <p:nvSpPr>
              <p:cNvPr id="49389" name="Freeform 237"/>
              <p:cNvSpPr>
                <a:spLocks/>
              </p:cNvSpPr>
              <p:nvPr/>
            </p:nvSpPr>
            <p:spPr bwMode="auto">
              <a:xfrm>
                <a:off x="1027" y="3282"/>
                <a:ext cx="54" cy="75"/>
              </a:xfrm>
              <a:custGeom>
                <a:avLst/>
                <a:gdLst/>
                <a:ahLst/>
                <a:cxnLst>
                  <a:cxn ang="0">
                    <a:pos x="53" y="10"/>
                  </a:cxn>
                  <a:cxn ang="0">
                    <a:pos x="53" y="10"/>
                  </a:cxn>
                  <a:cxn ang="0">
                    <a:pos x="51" y="9"/>
                  </a:cxn>
                  <a:cxn ang="0">
                    <a:pos x="48" y="7"/>
                  </a:cxn>
                  <a:cxn ang="0">
                    <a:pos x="45" y="7"/>
                  </a:cxn>
                  <a:cxn ang="0">
                    <a:pos x="43" y="6"/>
                  </a:cxn>
                  <a:cxn ang="0">
                    <a:pos x="40" y="5"/>
                  </a:cxn>
                  <a:cxn ang="0">
                    <a:pos x="37" y="4"/>
                  </a:cxn>
                  <a:cxn ang="0">
                    <a:pos x="34" y="3"/>
                  </a:cxn>
                  <a:cxn ang="0">
                    <a:pos x="32" y="3"/>
                  </a:cxn>
                  <a:cxn ang="0">
                    <a:pos x="29" y="2"/>
                  </a:cxn>
                  <a:cxn ang="0">
                    <a:pos x="26" y="1"/>
                  </a:cxn>
                  <a:cxn ang="0">
                    <a:pos x="22" y="1"/>
                  </a:cxn>
                  <a:cxn ang="0">
                    <a:pos x="19" y="1"/>
                  </a:cxn>
                  <a:cxn ang="0">
                    <a:pos x="16" y="0"/>
                  </a:cxn>
                  <a:cxn ang="0">
                    <a:pos x="13" y="0"/>
                  </a:cxn>
                  <a:cxn ang="0">
                    <a:pos x="9" y="0"/>
                  </a:cxn>
                  <a:cxn ang="0">
                    <a:pos x="6" y="0"/>
                  </a:cxn>
                  <a:cxn ang="0">
                    <a:pos x="5" y="0"/>
                  </a:cxn>
                  <a:cxn ang="0">
                    <a:pos x="4" y="0"/>
                  </a:cxn>
                  <a:cxn ang="0">
                    <a:pos x="4" y="0"/>
                  </a:cxn>
                  <a:cxn ang="0">
                    <a:pos x="3" y="0"/>
                  </a:cxn>
                  <a:cxn ang="0">
                    <a:pos x="2" y="0"/>
                  </a:cxn>
                  <a:cxn ang="0">
                    <a:pos x="2" y="0"/>
                  </a:cxn>
                  <a:cxn ang="0">
                    <a:pos x="1" y="0"/>
                  </a:cxn>
                  <a:cxn ang="0">
                    <a:pos x="0" y="0"/>
                  </a:cxn>
                  <a:cxn ang="0">
                    <a:pos x="0" y="67"/>
                  </a:cxn>
                  <a:cxn ang="0">
                    <a:pos x="6" y="67"/>
                  </a:cxn>
                  <a:cxn ang="0">
                    <a:pos x="9" y="67"/>
                  </a:cxn>
                  <a:cxn ang="0">
                    <a:pos x="12" y="67"/>
                  </a:cxn>
                  <a:cxn ang="0">
                    <a:pos x="15" y="67"/>
                  </a:cxn>
                  <a:cxn ang="0">
                    <a:pos x="18" y="68"/>
                  </a:cxn>
                  <a:cxn ang="0">
                    <a:pos x="21" y="68"/>
                  </a:cxn>
                  <a:cxn ang="0">
                    <a:pos x="24" y="68"/>
                  </a:cxn>
                  <a:cxn ang="0">
                    <a:pos x="27" y="68"/>
                  </a:cxn>
                  <a:cxn ang="0">
                    <a:pos x="30" y="69"/>
                  </a:cxn>
                  <a:cxn ang="0">
                    <a:pos x="33" y="69"/>
                  </a:cxn>
                  <a:cxn ang="0">
                    <a:pos x="36" y="70"/>
                  </a:cxn>
                  <a:cxn ang="0">
                    <a:pos x="39" y="70"/>
                  </a:cxn>
                  <a:cxn ang="0">
                    <a:pos x="42" y="71"/>
                  </a:cxn>
                  <a:cxn ang="0">
                    <a:pos x="44" y="72"/>
                  </a:cxn>
                  <a:cxn ang="0">
                    <a:pos x="47" y="72"/>
                  </a:cxn>
                  <a:cxn ang="0">
                    <a:pos x="50" y="73"/>
                  </a:cxn>
                  <a:cxn ang="0">
                    <a:pos x="53" y="74"/>
                  </a:cxn>
                  <a:cxn ang="0">
                    <a:pos x="53" y="10"/>
                  </a:cxn>
                </a:cxnLst>
                <a:rect l="0" t="0" r="r" b="b"/>
                <a:pathLst>
                  <a:path w="54" h="75">
                    <a:moveTo>
                      <a:pt x="53" y="10"/>
                    </a:moveTo>
                    <a:lnTo>
                      <a:pt x="53" y="10"/>
                    </a:lnTo>
                    <a:lnTo>
                      <a:pt x="51" y="9"/>
                    </a:lnTo>
                    <a:lnTo>
                      <a:pt x="48" y="7"/>
                    </a:lnTo>
                    <a:lnTo>
                      <a:pt x="45" y="7"/>
                    </a:lnTo>
                    <a:lnTo>
                      <a:pt x="43" y="6"/>
                    </a:lnTo>
                    <a:lnTo>
                      <a:pt x="40" y="5"/>
                    </a:lnTo>
                    <a:lnTo>
                      <a:pt x="37" y="4"/>
                    </a:lnTo>
                    <a:lnTo>
                      <a:pt x="34" y="3"/>
                    </a:lnTo>
                    <a:lnTo>
                      <a:pt x="32" y="3"/>
                    </a:lnTo>
                    <a:lnTo>
                      <a:pt x="29" y="2"/>
                    </a:lnTo>
                    <a:lnTo>
                      <a:pt x="26" y="1"/>
                    </a:lnTo>
                    <a:lnTo>
                      <a:pt x="22" y="1"/>
                    </a:lnTo>
                    <a:lnTo>
                      <a:pt x="19" y="1"/>
                    </a:lnTo>
                    <a:lnTo>
                      <a:pt x="16" y="0"/>
                    </a:lnTo>
                    <a:lnTo>
                      <a:pt x="13" y="0"/>
                    </a:lnTo>
                    <a:lnTo>
                      <a:pt x="9" y="0"/>
                    </a:lnTo>
                    <a:lnTo>
                      <a:pt x="6" y="0"/>
                    </a:lnTo>
                    <a:lnTo>
                      <a:pt x="5" y="0"/>
                    </a:lnTo>
                    <a:lnTo>
                      <a:pt x="4" y="0"/>
                    </a:lnTo>
                    <a:lnTo>
                      <a:pt x="4" y="0"/>
                    </a:lnTo>
                    <a:lnTo>
                      <a:pt x="3" y="0"/>
                    </a:lnTo>
                    <a:lnTo>
                      <a:pt x="2" y="0"/>
                    </a:lnTo>
                    <a:lnTo>
                      <a:pt x="2" y="0"/>
                    </a:lnTo>
                    <a:lnTo>
                      <a:pt x="1" y="0"/>
                    </a:lnTo>
                    <a:lnTo>
                      <a:pt x="0" y="0"/>
                    </a:lnTo>
                    <a:lnTo>
                      <a:pt x="0" y="67"/>
                    </a:lnTo>
                    <a:lnTo>
                      <a:pt x="6" y="67"/>
                    </a:lnTo>
                    <a:lnTo>
                      <a:pt x="9" y="67"/>
                    </a:lnTo>
                    <a:lnTo>
                      <a:pt x="12" y="67"/>
                    </a:lnTo>
                    <a:lnTo>
                      <a:pt x="15" y="67"/>
                    </a:lnTo>
                    <a:lnTo>
                      <a:pt x="18" y="68"/>
                    </a:lnTo>
                    <a:lnTo>
                      <a:pt x="21" y="68"/>
                    </a:lnTo>
                    <a:lnTo>
                      <a:pt x="24" y="68"/>
                    </a:lnTo>
                    <a:lnTo>
                      <a:pt x="27" y="68"/>
                    </a:lnTo>
                    <a:lnTo>
                      <a:pt x="30" y="69"/>
                    </a:lnTo>
                    <a:lnTo>
                      <a:pt x="33" y="69"/>
                    </a:lnTo>
                    <a:lnTo>
                      <a:pt x="36" y="70"/>
                    </a:lnTo>
                    <a:lnTo>
                      <a:pt x="39" y="70"/>
                    </a:lnTo>
                    <a:lnTo>
                      <a:pt x="42" y="71"/>
                    </a:lnTo>
                    <a:lnTo>
                      <a:pt x="44" y="72"/>
                    </a:lnTo>
                    <a:lnTo>
                      <a:pt x="47" y="72"/>
                    </a:lnTo>
                    <a:lnTo>
                      <a:pt x="50" y="73"/>
                    </a:lnTo>
                    <a:lnTo>
                      <a:pt x="53" y="74"/>
                    </a:lnTo>
                    <a:lnTo>
                      <a:pt x="53" y="10"/>
                    </a:lnTo>
                  </a:path>
                </a:pathLst>
              </a:custGeom>
              <a:solidFill>
                <a:srgbClr val="037C03"/>
              </a:solidFill>
              <a:ln w="12700" cap="rnd" cmpd="sng">
                <a:noFill/>
                <a:prstDash val="solid"/>
                <a:round/>
                <a:headEnd type="none" w="med" len="med"/>
                <a:tailEnd type="none" w="med" len="med"/>
              </a:ln>
              <a:effectLst/>
            </p:spPr>
            <p:txBody>
              <a:bodyPr/>
              <a:lstStyle/>
              <a:p>
                <a:endParaRPr lang="fr-BE"/>
              </a:p>
            </p:txBody>
          </p:sp>
          <p:sp>
            <p:nvSpPr>
              <p:cNvPr id="49390" name="Freeform 238"/>
              <p:cNvSpPr>
                <a:spLocks/>
              </p:cNvSpPr>
              <p:nvPr/>
            </p:nvSpPr>
            <p:spPr bwMode="auto">
              <a:xfrm>
                <a:off x="1026" y="3368"/>
                <a:ext cx="54" cy="80"/>
              </a:xfrm>
              <a:custGeom>
                <a:avLst/>
                <a:gdLst/>
                <a:ahLst/>
                <a:cxnLst>
                  <a:cxn ang="0">
                    <a:pos x="53" y="8"/>
                  </a:cxn>
                  <a:cxn ang="0">
                    <a:pos x="53" y="8"/>
                  </a:cxn>
                  <a:cxn ang="0">
                    <a:pos x="50" y="7"/>
                  </a:cxn>
                  <a:cxn ang="0">
                    <a:pos x="48" y="6"/>
                  </a:cxn>
                  <a:cxn ang="0">
                    <a:pos x="45" y="5"/>
                  </a:cxn>
                  <a:cxn ang="0">
                    <a:pos x="42" y="5"/>
                  </a:cxn>
                  <a:cxn ang="0">
                    <a:pos x="39" y="4"/>
                  </a:cxn>
                  <a:cxn ang="0">
                    <a:pos x="37" y="3"/>
                  </a:cxn>
                  <a:cxn ang="0">
                    <a:pos x="34" y="3"/>
                  </a:cxn>
                  <a:cxn ang="0">
                    <a:pos x="31" y="2"/>
                  </a:cxn>
                  <a:cxn ang="0">
                    <a:pos x="28" y="2"/>
                  </a:cxn>
                  <a:cxn ang="0">
                    <a:pos x="25" y="1"/>
                  </a:cxn>
                  <a:cxn ang="0">
                    <a:pos x="22" y="1"/>
                  </a:cxn>
                  <a:cxn ang="0">
                    <a:pos x="19" y="1"/>
                  </a:cxn>
                  <a:cxn ang="0">
                    <a:pos x="16" y="0"/>
                  </a:cxn>
                  <a:cxn ang="0">
                    <a:pos x="13" y="0"/>
                  </a:cxn>
                  <a:cxn ang="0">
                    <a:pos x="10" y="0"/>
                  </a:cxn>
                  <a:cxn ang="0">
                    <a:pos x="6" y="0"/>
                  </a:cxn>
                  <a:cxn ang="0">
                    <a:pos x="6" y="0"/>
                  </a:cxn>
                  <a:cxn ang="0">
                    <a:pos x="5" y="0"/>
                  </a:cxn>
                  <a:cxn ang="0">
                    <a:pos x="4" y="0"/>
                  </a:cxn>
                  <a:cxn ang="0">
                    <a:pos x="3" y="0"/>
                  </a:cxn>
                  <a:cxn ang="0">
                    <a:pos x="2" y="0"/>
                  </a:cxn>
                  <a:cxn ang="0">
                    <a:pos x="2" y="0"/>
                  </a:cxn>
                  <a:cxn ang="0">
                    <a:pos x="1" y="0"/>
                  </a:cxn>
                  <a:cxn ang="0">
                    <a:pos x="0" y="0"/>
                  </a:cxn>
                  <a:cxn ang="0">
                    <a:pos x="0" y="73"/>
                  </a:cxn>
                  <a:cxn ang="0">
                    <a:pos x="6" y="73"/>
                  </a:cxn>
                  <a:cxn ang="0">
                    <a:pos x="10" y="73"/>
                  </a:cxn>
                  <a:cxn ang="0">
                    <a:pos x="13" y="73"/>
                  </a:cxn>
                  <a:cxn ang="0">
                    <a:pos x="16" y="73"/>
                  </a:cxn>
                  <a:cxn ang="0">
                    <a:pos x="19" y="73"/>
                  </a:cxn>
                  <a:cxn ang="0">
                    <a:pos x="22" y="73"/>
                  </a:cxn>
                  <a:cxn ang="0">
                    <a:pos x="25" y="74"/>
                  </a:cxn>
                  <a:cxn ang="0">
                    <a:pos x="28" y="74"/>
                  </a:cxn>
                  <a:cxn ang="0">
                    <a:pos x="31" y="74"/>
                  </a:cxn>
                  <a:cxn ang="0">
                    <a:pos x="34" y="75"/>
                  </a:cxn>
                  <a:cxn ang="0">
                    <a:pos x="37" y="75"/>
                  </a:cxn>
                  <a:cxn ang="0">
                    <a:pos x="40" y="76"/>
                  </a:cxn>
                  <a:cxn ang="0">
                    <a:pos x="42" y="76"/>
                  </a:cxn>
                  <a:cxn ang="0">
                    <a:pos x="45" y="77"/>
                  </a:cxn>
                  <a:cxn ang="0">
                    <a:pos x="48" y="78"/>
                  </a:cxn>
                  <a:cxn ang="0">
                    <a:pos x="50" y="78"/>
                  </a:cxn>
                  <a:cxn ang="0">
                    <a:pos x="53" y="79"/>
                  </a:cxn>
                  <a:cxn ang="0">
                    <a:pos x="53" y="8"/>
                  </a:cxn>
                </a:cxnLst>
                <a:rect l="0" t="0" r="r" b="b"/>
                <a:pathLst>
                  <a:path w="54" h="80">
                    <a:moveTo>
                      <a:pt x="53" y="8"/>
                    </a:moveTo>
                    <a:lnTo>
                      <a:pt x="53" y="8"/>
                    </a:lnTo>
                    <a:lnTo>
                      <a:pt x="50" y="7"/>
                    </a:lnTo>
                    <a:lnTo>
                      <a:pt x="48" y="6"/>
                    </a:lnTo>
                    <a:lnTo>
                      <a:pt x="45" y="5"/>
                    </a:lnTo>
                    <a:lnTo>
                      <a:pt x="42" y="5"/>
                    </a:lnTo>
                    <a:lnTo>
                      <a:pt x="39" y="4"/>
                    </a:lnTo>
                    <a:lnTo>
                      <a:pt x="37" y="3"/>
                    </a:lnTo>
                    <a:lnTo>
                      <a:pt x="34" y="3"/>
                    </a:lnTo>
                    <a:lnTo>
                      <a:pt x="31" y="2"/>
                    </a:lnTo>
                    <a:lnTo>
                      <a:pt x="28" y="2"/>
                    </a:lnTo>
                    <a:lnTo>
                      <a:pt x="25" y="1"/>
                    </a:lnTo>
                    <a:lnTo>
                      <a:pt x="22" y="1"/>
                    </a:lnTo>
                    <a:lnTo>
                      <a:pt x="19" y="1"/>
                    </a:lnTo>
                    <a:lnTo>
                      <a:pt x="16" y="0"/>
                    </a:lnTo>
                    <a:lnTo>
                      <a:pt x="13" y="0"/>
                    </a:lnTo>
                    <a:lnTo>
                      <a:pt x="10" y="0"/>
                    </a:lnTo>
                    <a:lnTo>
                      <a:pt x="6" y="0"/>
                    </a:lnTo>
                    <a:lnTo>
                      <a:pt x="6" y="0"/>
                    </a:lnTo>
                    <a:lnTo>
                      <a:pt x="5" y="0"/>
                    </a:lnTo>
                    <a:lnTo>
                      <a:pt x="4" y="0"/>
                    </a:lnTo>
                    <a:lnTo>
                      <a:pt x="3" y="0"/>
                    </a:lnTo>
                    <a:lnTo>
                      <a:pt x="2" y="0"/>
                    </a:lnTo>
                    <a:lnTo>
                      <a:pt x="2" y="0"/>
                    </a:lnTo>
                    <a:lnTo>
                      <a:pt x="1" y="0"/>
                    </a:lnTo>
                    <a:lnTo>
                      <a:pt x="0" y="0"/>
                    </a:lnTo>
                    <a:lnTo>
                      <a:pt x="0" y="73"/>
                    </a:lnTo>
                    <a:lnTo>
                      <a:pt x="6" y="73"/>
                    </a:lnTo>
                    <a:lnTo>
                      <a:pt x="10" y="73"/>
                    </a:lnTo>
                    <a:lnTo>
                      <a:pt x="13" y="73"/>
                    </a:lnTo>
                    <a:lnTo>
                      <a:pt x="16" y="73"/>
                    </a:lnTo>
                    <a:lnTo>
                      <a:pt x="19" y="73"/>
                    </a:lnTo>
                    <a:lnTo>
                      <a:pt x="22" y="73"/>
                    </a:lnTo>
                    <a:lnTo>
                      <a:pt x="25" y="74"/>
                    </a:lnTo>
                    <a:lnTo>
                      <a:pt x="28" y="74"/>
                    </a:lnTo>
                    <a:lnTo>
                      <a:pt x="31" y="74"/>
                    </a:lnTo>
                    <a:lnTo>
                      <a:pt x="34" y="75"/>
                    </a:lnTo>
                    <a:lnTo>
                      <a:pt x="37" y="75"/>
                    </a:lnTo>
                    <a:lnTo>
                      <a:pt x="40" y="76"/>
                    </a:lnTo>
                    <a:lnTo>
                      <a:pt x="42" y="76"/>
                    </a:lnTo>
                    <a:lnTo>
                      <a:pt x="45" y="77"/>
                    </a:lnTo>
                    <a:lnTo>
                      <a:pt x="48" y="78"/>
                    </a:lnTo>
                    <a:lnTo>
                      <a:pt x="50" y="78"/>
                    </a:lnTo>
                    <a:lnTo>
                      <a:pt x="53" y="79"/>
                    </a:lnTo>
                    <a:lnTo>
                      <a:pt x="53" y="8"/>
                    </a:lnTo>
                  </a:path>
                </a:pathLst>
              </a:custGeom>
              <a:solidFill>
                <a:srgbClr val="FAFD00"/>
              </a:solidFill>
              <a:ln w="12700" cap="rnd" cmpd="sng">
                <a:noFill/>
                <a:prstDash val="solid"/>
                <a:round/>
                <a:headEnd type="none" w="med" len="med"/>
                <a:tailEnd type="none" w="med" len="med"/>
              </a:ln>
              <a:effectLst/>
            </p:spPr>
            <p:txBody>
              <a:bodyPr/>
              <a:lstStyle/>
              <a:p>
                <a:endParaRPr lang="fr-BE"/>
              </a:p>
            </p:txBody>
          </p:sp>
        </p:grpSp>
      </p:grpSp>
      <p:sp>
        <p:nvSpPr>
          <p:cNvPr id="49391" name="Rectangle 239"/>
          <p:cNvSpPr>
            <a:spLocks noChangeArrowheads="1"/>
          </p:cNvSpPr>
          <p:nvPr/>
        </p:nvSpPr>
        <p:spPr bwMode="auto">
          <a:xfrm>
            <a:off x="-1" y="3923071"/>
            <a:ext cx="4513007" cy="2403987"/>
          </a:xfrm>
          <a:prstGeom prst="rect">
            <a:avLst/>
          </a:prstGeom>
          <a:solidFill>
            <a:schemeClr val="bg1"/>
          </a:solidFill>
          <a:ln w="9525">
            <a:noFill/>
            <a:miter lim="800000"/>
            <a:headEnd/>
            <a:tailEnd/>
          </a:ln>
          <a:effectLst/>
        </p:spPr>
        <p:txBody>
          <a:bodyPr anchor="ctr"/>
          <a:lstStyle/>
          <a:p>
            <a:pPr marL="228600" indent="-228600">
              <a:lnSpc>
                <a:spcPct val="90000"/>
              </a:lnSpc>
              <a:buClr>
                <a:schemeClr val="accent2"/>
              </a:buClr>
              <a:buSzPct val="75000"/>
              <a:buFont typeface="Wingdings" pitchFamily="2" charset="2"/>
              <a:buChar char="n"/>
            </a:pPr>
            <a:r>
              <a:rPr lang="fr-FR" sz="2400" u="none" dirty="0">
                <a:solidFill>
                  <a:schemeClr val="tx1"/>
                </a:solidFill>
                <a:latin typeface="Arial" charset="0"/>
              </a:rPr>
              <a:t>Sécurité au niveau des fichiers et des dossiers</a:t>
            </a:r>
          </a:p>
          <a:p>
            <a:pPr marL="228600" indent="-228600">
              <a:lnSpc>
                <a:spcPct val="90000"/>
              </a:lnSpc>
              <a:buClr>
                <a:schemeClr val="accent2"/>
              </a:buClr>
              <a:buSzPct val="75000"/>
              <a:buFont typeface="Wingdings" pitchFamily="2" charset="2"/>
              <a:buChar char="n"/>
            </a:pPr>
            <a:r>
              <a:rPr lang="fr-FR" sz="2400" u="none" dirty="0">
                <a:solidFill>
                  <a:schemeClr val="tx1"/>
                </a:solidFill>
                <a:latin typeface="Arial" charset="0"/>
              </a:rPr>
              <a:t>Compression de fichiers</a:t>
            </a:r>
          </a:p>
          <a:p>
            <a:pPr marL="228600" indent="-228600">
              <a:lnSpc>
                <a:spcPct val="90000"/>
              </a:lnSpc>
              <a:buClr>
                <a:schemeClr val="accent2"/>
              </a:buClr>
              <a:buSzPct val="75000"/>
              <a:buFont typeface="Wingdings" pitchFamily="2" charset="2"/>
              <a:buChar char="n"/>
            </a:pPr>
            <a:r>
              <a:rPr lang="fr-FR" sz="2400" u="none" dirty="0">
                <a:solidFill>
                  <a:schemeClr val="tx1"/>
                </a:solidFill>
                <a:latin typeface="Arial" charset="0"/>
              </a:rPr>
              <a:t>Quotas de disque</a:t>
            </a:r>
          </a:p>
          <a:p>
            <a:pPr marL="228600" indent="-228600">
              <a:lnSpc>
                <a:spcPct val="90000"/>
              </a:lnSpc>
              <a:buClr>
                <a:schemeClr val="accent2"/>
              </a:buClr>
              <a:buSzPct val="75000"/>
              <a:buFont typeface="Wingdings" pitchFamily="2" charset="2"/>
              <a:buChar char="n"/>
            </a:pPr>
            <a:r>
              <a:rPr lang="fr-FR" sz="2400" u="none" dirty="0">
                <a:solidFill>
                  <a:schemeClr val="tx1"/>
                </a:solidFill>
                <a:latin typeface="Arial" charset="0"/>
              </a:rPr>
              <a:t>Cryptage de fichiers</a:t>
            </a:r>
            <a:endParaRPr lang="fr-FR" sz="24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9275"/>
                                        </p:tgtEl>
                                        <p:attrNameLst>
                                          <p:attrName>style.visibility</p:attrName>
                                        </p:attrNameLst>
                                      </p:cBhvr>
                                      <p:to>
                                        <p:strVal val="visible"/>
                                      </p:to>
                                    </p:set>
                                    <p:animEffect transition="in" filter="checkerboard(across)">
                                      <p:cBhvr>
                                        <p:cTn id="7" dur="1000"/>
                                        <p:tgtEl>
                                          <p:spTgt spid="49275"/>
                                        </p:tgtEl>
                                      </p:cBhvr>
                                    </p:animEffect>
                                  </p:childTnLst>
                                </p:cTn>
                              </p:par>
                              <p:par>
                                <p:cTn id="8" presetID="5" presetClass="entr" presetSubtype="10" fill="hold" nodeType="withEffect">
                                  <p:stCondLst>
                                    <p:cond delay="0"/>
                                  </p:stCondLst>
                                  <p:childTnLst>
                                    <p:set>
                                      <p:cBhvr>
                                        <p:cTn id="9" dur="1" fill="hold">
                                          <p:stCondLst>
                                            <p:cond delay="0"/>
                                          </p:stCondLst>
                                        </p:cTn>
                                        <p:tgtEl>
                                          <p:spTgt spid="117"/>
                                        </p:tgtEl>
                                        <p:attrNameLst>
                                          <p:attrName>style.visibility</p:attrName>
                                        </p:attrNameLst>
                                      </p:cBhvr>
                                      <p:to>
                                        <p:strVal val="visible"/>
                                      </p:to>
                                    </p:set>
                                    <p:animEffect transition="in" filter="checkerboard(across)">
                                      <p:cBhvr>
                                        <p:cTn id="10" dur="1000"/>
                                        <p:tgtEl>
                                          <p:spTgt spid="11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49277"/>
                                        </p:tgtEl>
                                        <p:attrNameLst>
                                          <p:attrName>style.visibility</p:attrName>
                                        </p:attrNameLst>
                                      </p:cBhvr>
                                      <p:to>
                                        <p:strVal val="visible"/>
                                      </p:to>
                                    </p:set>
                                    <p:animEffect transition="in" filter="checkerboard(across)">
                                      <p:cBhvr>
                                        <p:cTn id="15" dur="1000"/>
                                        <p:tgtEl>
                                          <p:spTgt spid="49277"/>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49391"/>
                                        </p:tgtEl>
                                        <p:attrNameLst>
                                          <p:attrName>style.visibility</p:attrName>
                                        </p:attrNameLst>
                                      </p:cBhvr>
                                      <p:to>
                                        <p:strVal val="visible"/>
                                      </p:to>
                                    </p:set>
                                    <p:animEffect transition="in" filter="checkerboard(across)">
                                      <p:cBhvr>
                                        <p:cTn id="18" dur="1000"/>
                                        <p:tgtEl>
                                          <p:spTgt spid="49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75" grpId="0" animBg="1"/>
      <p:bldP spid="4939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91729" y="228600"/>
            <a:ext cx="8775290" cy="758952"/>
          </a:xfrm>
        </p:spPr>
        <p:txBody>
          <a:bodyPr vert="horz" anchor="b">
            <a:noAutofit/>
          </a:bodyPr>
          <a:lstStyle/>
          <a:p>
            <a:r>
              <a:rPr lang="fr-FR" sz="2800" dirty="0">
                <a:solidFill>
                  <a:srgbClr val="C00000"/>
                </a:solidFill>
              </a:rPr>
              <a:t>Choix entre une installation dans un groupe de travail et dans un domaine</a:t>
            </a:r>
            <a:endParaRPr lang="en-US" sz="2800" dirty="0">
              <a:solidFill>
                <a:srgbClr val="C00000"/>
              </a:solidFill>
            </a:endParaRPr>
          </a:p>
        </p:txBody>
      </p:sp>
      <p:grpSp>
        <p:nvGrpSpPr>
          <p:cNvPr id="50509" name="Group 333"/>
          <p:cNvGrpSpPr>
            <a:grpSpLocks/>
          </p:cNvGrpSpPr>
          <p:nvPr/>
        </p:nvGrpSpPr>
        <p:grpSpPr bwMode="auto">
          <a:xfrm>
            <a:off x="533400" y="6043629"/>
            <a:ext cx="941388" cy="357188"/>
            <a:chOff x="336" y="3759"/>
            <a:chExt cx="593" cy="225"/>
          </a:xfrm>
        </p:grpSpPr>
        <p:grpSp>
          <p:nvGrpSpPr>
            <p:cNvPr id="50510" name="Group 334"/>
            <p:cNvGrpSpPr>
              <a:grpSpLocks/>
            </p:cNvGrpSpPr>
            <p:nvPr/>
          </p:nvGrpSpPr>
          <p:grpSpPr bwMode="auto">
            <a:xfrm>
              <a:off x="336" y="3759"/>
              <a:ext cx="279" cy="225"/>
              <a:chOff x="336" y="3759"/>
              <a:chExt cx="279" cy="225"/>
            </a:xfrm>
          </p:grpSpPr>
          <p:sp>
            <p:nvSpPr>
              <p:cNvPr id="50511" name="AutoShape 335"/>
              <p:cNvSpPr>
                <a:spLocks noChangeArrowheads="1"/>
              </p:cNvSpPr>
              <p:nvPr/>
            </p:nvSpPr>
            <p:spPr bwMode="auto">
              <a:xfrm>
                <a:off x="336" y="3759"/>
                <a:ext cx="279" cy="225"/>
              </a:xfrm>
              <a:prstGeom prst="roundRect">
                <a:avLst>
                  <a:gd name="adj" fmla="val 16667"/>
                </a:avLst>
              </a:prstGeom>
              <a:solidFill>
                <a:srgbClr val="FFFFFF"/>
              </a:solidFill>
              <a:ln w="9525">
                <a:solidFill>
                  <a:srgbClr val="000000"/>
                </a:solidFill>
                <a:round/>
                <a:headEnd/>
                <a:tailEnd/>
              </a:ln>
              <a:effectLst/>
            </p:spPr>
            <p:txBody>
              <a:bodyPr wrap="none" anchor="ctr"/>
              <a:lstStyle/>
              <a:p>
                <a:endParaRPr lang="fr-BE"/>
              </a:p>
            </p:txBody>
          </p:sp>
          <p:sp>
            <p:nvSpPr>
              <p:cNvPr id="50512" name="Rectangle 336"/>
              <p:cNvSpPr>
                <a:spLocks noChangeArrowheads="1"/>
              </p:cNvSpPr>
              <p:nvPr/>
            </p:nvSpPr>
            <p:spPr bwMode="auto">
              <a:xfrm>
                <a:off x="371" y="3811"/>
                <a:ext cx="209" cy="121"/>
              </a:xfrm>
              <a:prstGeom prst="rect">
                <a:avLst/>
              </a:prstGeom>
              <a:solidFill>
                <a:srgbClr val="CCFFFF"/>
              </a:solidFill>
              <a:ln w="9525">
                <a:solidFill>
                  <a:srgbClr val="000000"/>
                </a:solidFill>
                <a:miter lim="800000"/>
                <a:headEnd/>
                <a:tailEnd/>
              </a:ln>
              <a:effectLst/>
            </p:spPr>
            <p:txBody>
              <a:bodyPr wrap="none" anchor="ctr"/>
              <a:lstStyle/>
              <a:p>
                <a:endParaRPr lang="fr-BE"/>
              </a:p>
            </p:txBody>
          </p:sp>
          <p:sp>
            <p:nvSpPr>
              <p:cNvPr id="50513" name="Arc 337"/>
              <p:cNvSpPr>
                <a:spLocks/>
              </p:cNvSpPr>
              <p:nvPr/>
            </p:nvSpPr>
            <p:spPr bwMode="auto">
              <a:xfrm>
                <a:off x="376" y="3815"/>
                <a:ext cx="68" cy="46"/>
              </a:xfrm>
              <a:custGeom>
                <a:avLst/>
                <a:gdLst>
                  <a:gd name="G0" fmla="+- 21600 0 0"/>
                  <a:gd name="G1" fmla="+- 21600 0 0"/>
                  <a:gd name="G2" fmla="+- 21600 0 0"/>
                  <a:gd name="T0" fmla="*/ 9259 w 22320"/>
                  <a:gd name="T1" fmla="*/ 39327 h 39327"/>
                  <a:gd name="T2" fmla="*/ 22320 w 22320"/>
                  <a:gd name="T3" fmla="*/ 12 h 39327"/>
                  <a:gd name="T4" fmla="*/ 21600 w 22320"/>
                  <a:gd name="T5" fmla="*/ 21600 h 39327"/>
                </a:gdLst>
                <a:ahLst/>
                <a:cxnLst>
                  <a:cxn ang="0">
                    <a:pos x="T0" y="T1"/>
                  </a:cxn>
                  <a:cxn ang="0">
                    <a:pos x="T2" y="T3"/>
                  </a:cxn>
                  <a:cxn ang="0">
                    <a:pos x="T4" y="T5"/>
                  </a:cxn>
                </a:cxnLst>
                <a:rect l="0" t="0" r="r" b="b"/>
                <a:pathLst>
                  <a:path w="22320" h="39327" fill="none" extrusionOk="0">
                    <a:moveTo>
                      <a:pt x="9258" y="39327"/>
                    </a:moveTo>
                    <a:cubicBezTo>
                      <a:pt x="3458" y="35288"/>
                      <a:pt x="0" y="28668"/>
                      <a:pt x="0" y="21600"/>
                    </a:cubicBezTo>
                    <a:cubicBezTo>
                      <a:pt x="0" y="9670"/>
                      <a:pt x="9670" y="0"/>
                      <a:pt x="21600" y="0"/>
                    </a:cubicBezTo>
                    <a:cubicBezTo>
                      <a:pt x="21840" y="-1"/>
                      <a:pt x="22080" y="4"/>
                      <a:pt x="22319" y="12"/>
                    </a:cubicBezTo>
                  </a:path>
                  <a:path w="22320" h="39327" stroke="0" extrusionOk="0">
                    <a:moveTo>
                      <a:pt x="9258" y="39327"/>
                    </a:moveTo>
                    <a:cubicBezTo>
                      <a:pt x="3458" y="35288"/>
                      <a:pt x="0" y="28668"/>
                      <a:pt x="0" y="21600"/>
                    </a:cubicBezTo>
                    <a:cubicBezTo>
                      <a:pt x="0" y="9670"/>
                      <a:pt x="9670" y="0"/>
                      <a:pt x="21600" y="0"/>
                    </a:cubicBezTo>
                    <a:cubicBezTo>
                      <a:pt x="21840" y="-1"/>
                      <a:pt x="22080" y="4"/>
                      <a:pt x="22319" y="12"/>
                    </a:cubicBezTo>
                    <a:lnTo>
                      <a:pt x="21600" y="21600"/>
                    </a:lnTo>
                    <a:close/>
                  </a:path>
                </a:pathLst>
              </a:custGeom>
              <a:solidFill>
                <a:srgbClr val="3366FF"/>
              </a:solidFill>
              <a:ln w="9525">
                <a:solidFill>
                  <a:srgbClr val="3366FF"/>
                </a:solidFill>
                <a:round/>
                <a:headEnd/>
                <a:tailEnd/>
              </a:ln>
              <a:effectLst>
                <a:outerShdw dist="25400" dir="5400000" algn="ctr" rotWithShape="0">
                  <a:srgbClr val="000099"/>
                </a:outerShdw>
              </a:effectLst>
            </p:spPr>
            <p:txBody>
              <a:bodyPr wrap="none" anchor="ctr"/>
              <a:lstStyle/>
              <a:p>
                <a:endParaRPr lang="fr-BE"/>
              </a:p>
            </p:txBody>
          </p:sp>
          <p:sp>
            <p:nvSpPr>
              <p:cNvPr id="50514" name="Arc 338"/>
              <p:cNvSpPr>
                <a:spLocks/>
              </p:cNvSpPr>
              <p:nvPr/>
            </p:nvSpPr>
            <p:spPr bwMode="auto">
              <a:xfrm>
                <a:off x="430" y="3846"/>
                <a:ext cx="108" cy="50"/>
              </a:xfrm>
              <a:custGeom>
                <a:avLst/>
                <a:gdLst>
                  <a:gd name="G0" fmla="+- 13604 0 0"/>
                  <a:gd name="G1" fmla="+- 21600 0 0"/>
                  <a:gd name="G2" fmla="+- 21600 0 0"/>
                  <a:gd name="T0" fmla="*/ 13604 w 35204"/>
                  <a:gd name="T1" fmla="*/ 0 h 43200"/>
                  <a:gd name="T2" fmla="*/ 0 w 35204"/>
                  <a:gd name="T3" fmla="*/ 38378 h 43200"/>
                  <a:gd name="T4" fmla="*/ 13604 w 35204"/>
                  <a:gd name="T5" fmla="*/ 21600 h 43200"/>
                </a:gdLst>
                <a:ahLst/>
                <a:cxnLst>
                  <a:cxn ang="0">
                    <a:pos x="T0" y="T1"/>
                  </a:cxn>
                  <a:cxn ang="0">
                    <a:pos x="T2" y="T3"/>
                  </a:cxn>
                  <a:cxn ang="0">
                    <a:pos x="T4" y="T5"/>
                  </a:cxn>
                </a:cxnLst>
                <a:rect l="0" t="0" r="r" b="b"/>
                <a:pathLst>
                  <a:path w="35204" h="43200" fill="none" extrusionOk="0">
                    <a:moveTo>
                      <a:pt x="13603" y="0"/>
                    </a:moveTo>
                    <a:cubicBezTo>
                      <a:pt x="25533" y="0"/>
                      <a:pt x="35204" y="9670"/>
                      <a:pt x="35204" y="21600"/>
                    </a:cubicBezTo>
                    <a:cubicBezTo>
                      <a:pt x="35204" y="33529"/>
                      <a:pt x="25533" y="43200"/>
                      <a:pt x="13604" y="43200"/>
                    </a:cubicBezTo>
                    <a:cubicBezTo>
                      <a:pt x="8650" y="43200"/>
                      <a:pt x="3847" y="41497"/>
                      <a:pt x="0" y="38377"/>
                    </a:cubicBezTo>
                  </a:path>
                  <a:path w="35204" h="43200" stroke="0" extrusionOk="0">
                    <a:moveTo>
                      <a:pt x="13603" y="0"/>
                    </a:moveTo>
                    <a:cubicBezTo>
                      <a:pt x="25533" y="0"/>
                      <a:pt x="35204" y="9670"/>
                      <a:pt x="35204" y="21600"/>
                    </a:cubicBezTo>
                    <a:cubicBezTo>
                      <a:pt x="35204" y="33529"/>
                      <a:pt x="25533" y="43200"/>
                      <a:pt x="13604" y="43200"/>
                    </a:cubicBezTo>
                    <a:cubicBezTo>
                      <a:pt x="8650" y="43200"/>
                      <a:pt x="3847" y="41497"/>
                      <a:pt x="0" y="38377"/>
                    </a:cubicBezTo>
                    <a:lnTo>
                      <a:pt x="13604" y="21600"/>
                    </a:lnTo>
                    <a:close/>
                  </a:path>
                </a:pathLst>
              </a:custGeom>
              <a:solidFill>
                <a:srgbClr val="CC0000"/>
              </a:solidFill>
              <a:ln w="9525">
                <a:solidFill>
                  <a:srgbClr val="CC0000"/>
                </a:solidFill>
                <a:round/>
                <a:headEnd/>
                <a:tailEnd/>
              </a:ln>
              <a:effectLst>
                <a:outerShdw dist="25400" dir="5400000" algn="ctr" rotWithShape="0">
                  <a:srgbClr val="990000"/>
                </a:outerShdw>
              </a:effectLst>
            </p:spPr>
            <p:txBody>
              <a:bodyPr wrap="none" anchor="ctr"/>
              <a:lstStyle/>
              <a:p>
                <a:endParaRPr lang="fr-BE"/>
              </a:p>
            </p:txBody>
          </p:sp>
        </p:grpSp>
        <p:grpSp>
          <p:nvGrpSpPr>
            <p:cNvPr id="50515" name="Group 339"/>
            <p:cNvGrpSpPr>
              <a:grpSpLocks/>
            </p:cNvGrpSpPr>
            <p:nvPr/>
          </p:nvGrpSpPr>
          <p:grpSpPr bwMode="auto">
            <a:xfrm>
              <a:off x="650" y="3759"/>
              <a:ext cx="279" cy="225"/>
              <a:chOff x="650" y="3759"/>
              <a:chExt cx="279" cy="225"/>
            </a:xfrm>
          </p:grpSpPr>
          <p:sp>
            <p:nvSpPr>
              <p:cNvPr id="50516" name="AutoShape 340"/>
              <p:cNvSpPr>
                <a:spLocks noChangeArrowheads="1"/>
              </p:cNvSpPr>
              <p:nvPr/>
            </p:nvSpPr>
            <p:spPr bwMode="auto">
              <a:xfrm>
                <a:off x="650" y="3759"/>
                <a:ext cx="279" cy="225"/>
              </a:xfrm>
              <a:prstGeom prst="roundRect">
                <a:avLst>
                  <a:gd name="adj" fmla="val 16667"/>
                </a:avLst>
              </a:prstGeom>
              <a:solidFill>
                <a:srgbClr val="FFFFFF"/>
              </a:solidFill>
              <a:ln w="9525">
                <a:solidFill>
                  <a:srgbClr val="000000"/>
                </a:solidFill>
                <a:round/>
                <a:headEnd/>
                <a:tailEnd/>
              </a:ln>
              <a:effectLst/>
            </p:spPr>
            <p:txBody>
              <a:bodyPr wrap="none" anchor="ctr"/>
              <a:lstStyle/>
              <a:p>
                <a:endParaRPr lang="fr-BE"/>
              </a:p>
            </p:txBody>
          </p:sp>
          <p:sp>
            <p:nvSpPr>
              <p:cNvPr id="50517" name="Rectangle 341"/>
              <p:cNvSpPr>
                <a:spLocks noChangeArrowheads="1"/>
              </p:cNvSpPr>
              <p:nvPr/>
            </p:nvSpPr>
            <p:spPr bwMode="auto">
              <a:xfrm>
                <a:off x="685" y="3811"/>
                <a:ext cx="209" cy="121"/>
              </a:xfrm>
              <a:prstGeom prst="rect">
                <a:avLst/>
              </a:prstGeom>
              <a:solidFill>
                <a:srgbClr val="CCFFFF"/>
              </a:solidFill>
              <a:ln w="9525">
                <a:solidFill>
                  <a:srgbClr val="000000"/>
                </a:solidFill>
                <a:miter lim="800000"/>
                <a:headEnd/>
                <a:tailEnd/>
              </a:ln>
              <a:effectLst/>
            </p:spPr>
            <p:txBody>
              <a:bodyPr wrap="none" anchor="ctr"/>
              <a:lstStyle/>
              <a:p>
                <a:endParaRPr lang="fr-BE"/>
              </a:p>
            </p:txBody>
          </p:sp>
          <p:sp>
            <p:nvSpPr>
              <p:cNvPr id="50518" name="Arc 342"/>
              <p:cNvSpPr>
                <a:spLocks/>
              </p:cNvSpPr>
              <p:nvPr/>
            </p:nvSpPr>
            <p:spPr bwMode="auto">
              <a:xfrm>
                <a:off x="720" y="3846"/>
                <a:ext cx="68" cy="46"/>
              </a:xfrm>
              <a:custGeom>
                <a:avLst/>
                <a:gdLst>
                  <a:gd name="G0" fmla="+- 21600 0 0"/>
                  <a:gd name="G1" fmla="+- 21600 0 0"/>
                  <a:gd name="G2" fmla="+- 21600 0 0"/>
                  <a:gd name="T0" fmla="*/ 9897 w 22320"/>
                  <a:gd name="T1" fmla="*/ 39755 h 39755"/>
                  <a:gd name="T2" fmla="*/ 22320 w 22320"/>
                  <a:gd name="T3" fmla="*/ 12 h 39755"/>
                  <a:gd name="T4" fmla="*/ 21600 w 22320"/>
                  <a:gd name="T5" fmla="*/ 21600 h 39755"/>
                </a:gdLst>
                <a:ahLst/>
                <a:cxnLst>
                  <a:cxn ang="0">
                    <a:pos x="T0" y="T1"/>
                  </a:cxn>
                  <a:cxn ang="0">
                    <a:pos x="T2" y="T3"/>
                  </a:cxn>
                  <a:cxn ang="0">
                    <a:pos x="T4" y="T5"/>
                  </a:cxn>
                </a:cxnLst>
                <a:rect l="0" t="0" r="r" b="b"/>
                <a:pathLst>
                  <a:path w="22320" h="39755" fill="none" extrusionOk="0">
                    <a:moveTo>
                      <a:pt x="9897" y="39754"/>
                    </a:moveTo>
                    <a:cubicBezTo>
                      <a:pt x="3727" y="35777"/>
                      <a:pt x="0" y="28940"/>
                      <a:pt x="0" y="21600"/>
                    </a:cubicBezTo>
                    <a:cubicBezTo>
                      <a:pt x="0" y="9670"/>
                      <a:pt x="9670" y="0"/>
                      <a:pt x="21600" y="0"/>
                    </a:cubicBezTo>
                    <a:cubicBezTo>
                      <a:pt x="21840" y="-1"/>
                      <a:pt x="22080" y="4"/>
                      <a:pt x="22319" y="12"/>
                    </a:cubicBezTo>
                  </a:path>
                  <a:path w="22320" h="39755" stroke="0" extrusionOk="0">
                    <a:moveTo>
                      <a:pt x="9897" y="39754"/>
                    </a:moveTo>
                    <a:cubicBezTo>
                      <a:pt x="3727" y="35777"/>
                      <a:pt x="0" y="28940"/>
                      <a:pt x="0" y="21600"/>
                    </a:cubicBezTo>
                    <a:cubicBezTo>
                      <a:pt x="0" y="9670"/>
                      <a:pt x="9670" y="0"/>
                      <a:pt x="21600" y="0"/>
                    </a:cubicBezTo>
                    <a:cubicBezTo>
                      <a:pt x="21840" y="-1"/>
                      <a:pt x="22080" y="4"/>
                      <a:pt x="22319" y="12"/>
                    </a:cubicBezTo>
                    <a:lnTo>
                      <a:pt x="21600" y="21600"/>
                    </a:lnTo>
                    <a:close/>
                  </a:path>
                </a:pathLst>
              </a:custGeom>
              <a:solidFill>
                <a:srgbClr val="3366FF"/>
              </a:solidFill>
              <a:ln w="9525">
                <a:solidFill>
                  <a:srgbClr val="3366FF"/>
                </a:solidFill>
                <a:round/>
                <a:headEnd/>
                <a:tailEnd/>
              </a:ln>
              <a:effectLst>
                <a:outerShdw dist="25400" dir="5400000" algn="ctr" rotWithShape="0">
                  <a:srgbClr val="000099"/>
                </a:outerShdw>
              </a:effectLst>
            </p:spPr>
            <p:txBody>
              <a:bodyPr wrap="none" anchor="ctr"/>
              <a:lstStyle/>
              <a:p>
                <a:endParaRPr lang="fr-BE"/>
              </a:p>
            </p:txBody>
          </p:sp>
          <p:sp>
            <p:nvSpPr>
              <p:cNvPr id="50519" name="Arc 343"/>
              <p:cNvSpPr>
                <a:spLocks/>
              </p:cNvSpPr>
              <p:nvPr/>
            </p:nvSpPr>
            <p:spPr bwMode="auto">
              <a:xfrm>
                <a:off x="739" y="3846"/>
                <a:ext cx="113" cy="50"/>
              </a:xfrm>
              <a:custGeom>
                <a:avLst/>
                <a:gdLst>
                  <a:gd name="G0" fmla="+- 15335 0 0"/>
                  <a:gd name="G1" fmla="+- 21600 0 0"/>
                  <a:gd name="G2" fmla="+- 21600 0 0"/>
                  <a:gd name="T0" fmla="*/ 15335 w 36935"/>
                  <a:gd name="T1" fmla="*/ 0 h 43200"/>
                  <a:gd name="T2" fmla="*/ 0 w 36935"/>
                  <a:gd name="T3" fmla="*/ 36811 h 43200"/>
                  <a:gd name="T4" fmla="*/ 15335 w 36935"/>
                  <a:gd name="T5" fmla="*/ 21600 h 43200"/>
                </a:gdLst>
                <a:ahLst/>
                <a:cxnLst>
                  <a:cxn ang="0">
                    <a:pos x="T0" y="T1"/>
                  </a:cxn>
                  <a:cxn ang="0">
                    <a:pos x="T2" y="T3"/>
                  </a:cxn>
                  <a:cxn ang="0">
                    <a:pos x="T4" y="T5"/>
                  </a:cxn>
                </a:cxnLst>
                <a:rect l="0" t="0" r="r" b="b"/>
                <a:pathLst>
                  <a:path w="36935" h="43200" fill="none" extrusionOk="0">
                    <a:moveTo>
                      <a:pt x="15334" y="0"/>
                    </a:moveTo>
                    <a:cubicBezTo>
                      <a:pt x="27264" y="0"/>
                      <a:pt x="36935" y="9670"/>
                      <a:pt x="36935" y="21600"/>
                    </a:cubicBezTo>
                    <a:cubicBezTo>
                      <a:pt x="36935" y="33529"/>
                      <a:pt x="27264" y="43200"/>
                      <a:pt x="15335" y="43200"/>
                    </a:cubicBezTo>
                    <a:cubicBezTo>
                      <a:pt x="9575" y="43200"/>
                      <a:pt x="4055" y="40900"/>
                      <a:pt x="-1" y="36811"/>
                    </a:cubicBezTo>
                  </a:path>
                  <a:path w="36935" h="43200" stroke="0" extrusionOk="0">
                    <a:moveTo>
                      <a:pt x="15334" y="0"/>
                    </a:moveTo>
                    <a:cubicBezTo>
                      <a:pt x="27264" y="0"/>
                      <a:pt x="36935" y="9670"/>
                      <a:pt x="36935" y="21600"/>
                    </a:cubicBezTo>
                    <a:cubicBezTo>
                      <a:pt x="36935" y="33529"/>
                      <a:pt x="27264" y="43200"/>
                      <a:pt x="15335" y="43200"/>
                    </a:cubicBezTo>
                    <a:cubicBezTo>
                      <a:pt x="9575" y="43200"/>
                      <a:pt x="4055" y="40900"/>
                      <a:pt x="-1" y="36811"/>
                    </a:cubicBezTo>
                    <a:lnTo>
                      <a:pt x="15335" y="21600"/>
                    </a:lnTo>
                    <a:close/>
                  </a:path>
                </a:pathLst>
              </a:custGeom>
              <a:solidFill>
                <a:srgbClr val="CC0000"/>
              </a:solidFill>
              <a:ln w="9525">
                <a:solidFill>
                  <a:srgbClr val="CC0000"/>
                </a:solidFill>
                <a:round/>
                <a:headEnd/>
                <a:tailEnd/>
              </a:ln>
              <a:effectLst>
                <a:outerShdw dist="25400" dir="5400000" algn="ctr" rotWithShape="0">
                  <a:srgbClr val="990000"/>
                </a:outerShdw>
              </a:effectLst>
            </p:spPr>
            <p:txBody>
              <a:bodyPr wrap="none" anchor="ctr"/>
              <a:lstStyle/>
              <a:p>
                <a:endParaRPr lang="fr-BE"/>
              </a:p>
            </p:txBody>
          </p:sp>
        </p:grpSp>
        <p:sp>
          <p:nvSpPr>
            <p:cNvPr id="50520" name="AutoShape 344"/>
            <p:cNvSpPr>
              <a:spLocks noChangeArrowheads="1"/>
            </p:cNvSpPr>
            <p:nvPr/>
          </p:nvSpPr>
          <p:spPr bwMode="auto">
            <a:xfrm>
              <a:off x="551" y="3811"/>
              <a:ext cx="162" cy="132"/>
            </a:xfrm>
            <a:prstGeom prst="rightArrow">
              <a:avLst>
                <a:gd name="adj1" fmla="val 54546"/>
                <a:gd name="adj2" fmla="val 90909"/>
              </a:avLst>
            </a:prstGeom>
            <a:solidFill>
              <a:srgbClr val="D60093"/>
            </a:solidFill>
            <a:ln w="9525">
              <a:solidFill>
                <a:srgbClr val="000000"/>
              </a:solidFill>
              <a:miter lim="800000"/>
              <a:headEnd/>
              <a:tailEnd/>
            </a:ln>
            <a:effectLst/>
          </p:spPr>
          <p:txBody>
            <a:bodyPr wrap="none" anchor="ctr"/>
            <a:lstStyle/>
            <a:p>
              <a:endParaRPr lang="fr-BE"/>
            </a:p>
          </p:txBody>
        </p:sp>
      </p:grpSp>
      <p:grpSp>
        <p:nvGrpSpPr>
          <p:cNvPr id="198" name="Groupe 197"/>
          <p:cNvGrpSpPr/>
          <p:nvPr/>
        </p:nvGrpSpPr>
        <p:grpSpPr>
          <a:xfrm>
            <a:off x="88493" y="3788494"/>
            <a:ext cx="8878526" cy="2951516"/>
            <a:chOff x="471948" y="3714750"/>
            <a:chExt cx="8067367" cy="2457450"/>
          </a:xfrm>
        </p:grpSpPr>
        <p:sp>
          <p:nvSpPr>
            <p:cNvPr id="50414" name="Rectangle 238"/>
            <p:cNvSpPr>
              <a:spLocks noChangeArrowheads="1"/>
            </p:cNvSpPr>
            <p:nvPr/>
          </p:nvSpPr>
          <p:spPr bwMode="auto">
            <a:xfrm>
              <a:off x="471948" y="3714750"/>
              <a:ext cx="8067367" cy="2457450"/>
            </a:xfrm>
            <a:prstGeom prst="rect">
              <a:avLst/>
            </a:prstGeom>
            <a:solidFill>
              <a:schemeClr val="bg1"/>
            </a:solidFill>
            <a:ln w="9525">
              <a:solidFill>
                <a:schemeClr val="tx1"/>
              </a:solidFill>
              <a:miter lim="800000"/>
              <a:headEnd/>
              <a:tailEnd/>
            </a:ln>
            <a:effectLst/>
          </p:spPr>
          <p:txBody>
            <a:bodyPr wrap="none"/>
            <a:lstStyle/>
            <a:p>
              <a:pPr algn="ctr"/>
              <a:r>
                <a:rPr lang="en-US" sz="2200" u="none">
                  <a:solidFill>
                    <a:schemeClr val="tx1"/>
                  </a:solidFill>
                  <a:latin typeface="Arial" charset="0"/>
                </a:rPr>
                <a:t>Domaine</a:t>
              </a:r>
            </a:p>
          </p:txBody>
        </p:sp>
        <p:sp>
          <p:nvSpPr>
            <p:cNvPr id="50415" name="Rectangle 239"/>
            <p:cNvSpPr>
              <a:spLocks noChangeArrowheads="1"/>
            </p:cNvSpPr>
            <p:nvPr/>
          </p:nvSpPr>
          <p:spPr bwMode="auto">
            <a:xfrm>
              <a:off x="898525" y="5889625"/>
              <a:ext cx="7312025" cy="125413"/>
            </a:xfrm>
            <a:prstGeom prst="rect">
              <a:avLst/>
            </a:prstGeom>
            <a:gradFill rotWithShape="0">
              <a:gsLst>
                <a:gs pos="0">
                  <a:srgbClr val="CC0099"/>
                </a:gs>
                <a:gs pos="50000">
                  <a:srgbClr val="CC0099">
                    <a:gamma/>
                    <a:tint val="21176"/>
                    <a:invGamma/>
                  </a:srgbClr>
                </a:gs>
                <a:gs pos="100000">
                  <a:srgbClr val="CC0099"/>
                </a:gs>
              </a:gsLst>
              <a:lin ang="5400000" scaled="1"/>
            </a:gradFill>
            <a:ln w="9525">
              <a:noFill/>
              <a:miter lim="800000"/>
              <a:headEnd/>
              <a:tailEnd/>
            </a:ln>
            <a:effectLst/>
          </p:spPr>
          <p:txBody>
            <a:bodyPr wrap="none" anchor="ctr"/>
            <a:lstStyle/>
            <a:p>
              <a:endParaRPr lang="fr-BE"/>
            </a:p>
          </p:txBody>
        </p:sp>
        <p:sp>
          <p:nvSpPr>
            <p:cNvPr id="50416" name="AutoShape 240"/>
            <p:cNvSpPr>
              <a:spLocks noChangeArrowheads="1"/>
            </p:cNvSpPr>
            <p:nvPr/>
          </p:nvSpPr>
          <p:spPr bwMode="auto">
            <a:xfrm rot="5400000" flipV="1">
              <a:off x="2404269" y="5463381"/>
              <a:ext cx="908050" cy="122238"/>
            </a:xfrm>
            <a:prstGeom prst="homePlate">
              <a:avLst>
                <a:gd name="adj" fmla="val 74045"/>
              </a:avLst>
            </a:prstGeom>
            <a:gradFill rotWithShape="0">
              <a:gsLst>
                <a:gs pos="0">
                  <a:srgbClr val="CC0099"/>
                </a:gs>
                <a:gs pos="50000">
                  <a:srgbClr val="CC0099">
                    <a:gamma/>
                    <a:tint val="21176"/>
                    <a:invGamma/>
                  </a:srgbClr>
                </a:gs>
                <a:gs pos="100000">
                  <a:srgbClr val="CC0099"/>
                </a:gs>
              </a:gsLst>
              <a:lin ang="0" scaled="1"/>
            </a:gradFill>
            <a:ln w="9525">
              <a:noFill/>
              <a:miter lim="800000"/>
              <a:headEnd/>
              <a:tailEnd/>
            </a:ln>
            <a:effectLst/>
          </p:spPr>
          <p:txBody>
            <a:bodyPr wrap="none" anchor="ctr"/>
            <a:lstStyle/>
            <a:p>
              <a:endParaRPr lang="fr-BE"/>
            </a:p>
          </p:txBody>
        </p:sp>
        <p:sp>
          <p:nvSpPr>
            <p:cNvPr id="50417" name="AutoShape 241"/>
            <p:cNvSpPr>
              <a:spLocks noChangeArrowheads="1"/>
            </p:cNvSpPr>
            <p:nvPr/>
          </p:nvSpPr>
          <p:spPr bwMode="auto">
            <a:xfrm rot="5400000" flipV="1">
              <a:off x="7117557" y="5485606"/>
              <a:ext cx="908050" cy="122237"/>
            </a:xfrm>
            <a:prstGeom prst="homePlate">
              <a:avLst>
                <a:gd name="adj" fmla="val 74045"/>
              </a:avLst>
            </a:prstGeom>
            <a:gradFill rotWithShape="0">
              <a:gsLst>
                <a:gs pos="0">
                  <a:srgbClr val="CC0099"/>
                </a:gs>
                <a:gs pos="50000">
                  <a:srgbClr val="CC0099">
                    <a:gamma/>
                    <a:tint val="21176"/>
                    <a:invGamma/>
                  </a:srgbClr>
                </a:gs>
                <a:gs pos="100000">
                  <a:srgbClr val="CC0099"/>
                </a:gs>
              </a:gsLst>
              <a:lin ang="0" scaled="1"/>
            </a:gradFill>
            <a:ln w="9525">
              <a:noFill/>
              <a:miter lim="800000"/>
              <a:headEnd/>
              <a:tailEnd/>
            </a:ln>
            <a:effectLst/>
          </p:spPr>
          <p:txBody>
            <a:bodyPr wrap="none" anchor="ctr"/>
            <a:lstStyle/>
            <a:p>
              <a:endParaRPr lang="fr-BE"/>
            </a:p>
          </p:txBody>
        </p:sp>
        <p:sp>
          <p:nvSpPr>
            <p:cNvPr id="50454" name="AutoShape 278"/>
            <p:cNvSpPr>
              <a:spLocks noChangeArrowheads="1"/>
            </p:cNvSpPr>
            <p:nvPr/>
          </p:nvSpPr>
          <p:spPr bwMode="auto">
            <a:xfrm rot="5400000" flipV="1">
              <a:off x="3966369" y="5463381"/>
              <a:ext cx="908050" cy="122238"/>
            </a:xfrm>
            <a:prstGeom prst="homePlate">
              <a:avLst>
                <a:gd name="adj" fmla="val 74045"/>
              </a:avLst>
            </a:prstGeom>
            <a:gradFill rotWithShape="0">
              <a:gsLst>
                <a:gs pos="0">
                  <a:srgbClr val="CC0099"/>
                </a:gs>
                <a:gs pos="50000">
                  <a:srgbClr val="CC0099">
                    <a:gamma/>
                    <a:tint val="21176"/>
                    <a:invGamma/>
                  </a:srgbClr>
                </a:gs>
                <a:gs pos="100000">
                  <a:srgbClr val="CC0099"/>
                </a:gs>
              </a:gsLst>
              <a:lin ang="0" scaled="1"/>
            </a:gradFill>
            <a:ln w="9525">
              <a:noFill/>
              <a:miter lim="800000"/>
              <a:headEnd/>
              <a:tailEnd/>
            </a:ln>
            <a:effectLst/>
          </p:spPr>
          <p:txBody>
            <a:bodyPr wrap="none" anchor="ctr"/>
            <a:lstStyle/>
            <a:p>
              <a:endParaRPr lang="fr-BE"/>
            </a:p>
          </p:txBody>
        </p:sp>
        <p:grpSp>
          <p:nvGrpSpPr>
            <p:cNvPr id="50455" name="Group 279"/>
            <p:cNvGrpSpPr>
              <a:grpSpLocks/>
            </p:cNvGrpSpPr>
            <p:nvPr/>
          </p:nvGrpSpPr>
          <p:grpSpPr bwMode="auto">
            <a:xfrm>
              <a:off x="3921125" y="4416425"/>
              <a:ext cx="958850" cy="1058863"/>
              <a:chOff x="1114" y="2441"/>
              <a:chExt cx="1064" cy="1173"/>
            </a:xfrm>
          </p:grpSpPr>
          <p:sp>
            <p:nvSpPr>
              <p:cNvPr id="50456" name="Freeform 280"/>
              <p:cNvSpPr>
                <a:spLocks noChangeAspect="1"/>
              </p:cNvSpPr>
              <p:nvPr/>
            </p:nvSpPr>
            <p:spPr bwMode="auto">
              <a:xfrm>
                <a:off x="1784" y="3203"/>
                <a:ext cx="357" cy="411"/>
              </a:xfrm>
              <a:custGeom>
                <a:avLst/>
                <a:gdLst/>
                <a:ahLst/>
                <a:cxnLst>
                  <a:cxn ang="0">
                    <a:pos x="0" y="158"/>
                  </a:cxn>
                  <a:cxn ang="0">
                    <a:pos x="265" y="0"/>
                  </a:cxn>
                  <a:cxn ang="0">
                    <a:pos x="265" y="130"/>
                  </a:cxn>
                  <a:cxn ang="0">
                    <a:pos x="2" y="305"/>
                  </a:cxn>
                </a:cxnLst>
                <a:rect l="0" t="0" r="r" b="b"/>
                <a:pathLst>
                  <a:path w="265" h="305">
                    <a:moveTo>
                      <a:pt x="0" y="158"/>
                    </a:moveTo>
                    <a:lnTo>
                      <a:pt x="265" y="0"/>
                    </a:lnTo>
                    <a:lnTo>
                      <a:pt x="265" y="130"/>
                    </a:lnTo>
                    <a:lnTo>
                      <a:pt x="2" y="305"/>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57" name="Freeform 281"/>
              <p:cNvSpPr>
                <a:spLocks noChangeAspect="1"/>
              </p:cNvSpPr>
              <p:nvPr/>
            </p:nvSpPr>
            <p:spPr bwMode="auto">
              <a:xfrm>
                <a:off x="1114" y="3058"/>
                <a:ext cx="1027" cy="358"/>
              </a:xfrm>
              <a:custGeom>
                <a:avLst/>
                <a:gdLst/>
                <a:ahLst/>
                <a:cxnLst>
                  <a:cxn ang="0">
                    <a:pos x="497" y="265"/>
                  </a:cxn>
                  <a:cxn ang="0">
                    <a:pos x="0" y="131"/>
                  </a:cxn>
                  <a:cxn ang="0">
                    <a:pos x="278" y="0"/>
                  </a:cxn>
                  <a:cxn ang="0">
                    <a:pos x="761" y="107"/>
                  </a:cxn>
                  <a:cxn ang="0">
                    <a:pos x="500" y="263"/>
                  </a:cxn>
                </a:cxnLst>
                <a:rect l="0" t="0" r="r" b="b"/>
                <a:pathLst>
                  <a:path w="761" h="265">
                    <a:moveTo>
                      <a:pt x="497" y="265"/>
                    </a:moveTo>
                    <a:lnTo>
                      <a:pt x="0" y="131"/>
                    </a:lnTo>
                    <a:lnTo>
                      <a:pt x="278" y="0"/>
                    </a:lnTo>
                    <a:lnTo>
                      <a:pt x="761" y="107"/>
                    </a:lnTo>
                    <a:lnTo>
                      <a:pt x="500" y="26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58" name="Freeform 282"/>
              <p:cNvSpPr>
                <a:spLocks noChangeAspect="1"/>
              </p:cNvSpPr>
              <p:nvPr/>
            </p:nvSpPr>
            <p:spPr bwMode="auto">
              <a:xfrm>
                <a:off x="1114" y="3234"/>
                <a:ext cx="673" cy="380"/>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59" name="Freeform 283"/>
              <p:cNvSpPr>
                <a:spLocks/>
              </p:cNvSpPr>
              <p:nvPr/>
            </p:nvSpPr>
            <p:spPr bwMode="auto">
              <a:xfrm>
                <a:off x="1288" y="3031"/>
                <a:ext cx="750" cy="316"/>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5F5F5F"/>
                </a:solidFill>
                <a:prstDash val="solid"/>
                <a:round/>
                <a:headEnd type="none" w="med" len="med"/>
                <a:tailEnd type="none" w="med" len="med"/>
              </a:ln>
              <a:effectLst/>
            </p:spPr>
            <p:txBody>
              <a:bodyPr/>
              <a:lstStyle/>
              <a:p>
                <a:endParaRPr lang="fr-BE"/>
              </a:p>
            </p:txBody>
          </p:sp>
          <p:sp>
            <p:nvSpPr>
              <p:cNvPr id="50460" name="Freeform 284"/>
              <p:cNvSpPr>
                <a:spLocks/>
              </p:cNvSpPr>
              <p:nvPr/>
            </p:nvSpPr>
            <p:spPr bwMode="auto">
              <a:xfrm>
                <a:off x="1297" y="3038"/>
                <a:ext cx="725" cy="280"/>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BE"/>
              </a:p>
            </p:txBody>
          </p:sp>
          <p:sp>
            <p:nvSpPr>
              <p:cNvPr id="50461" name="Oval 285"/>
              <p:cNvSpPr>
                <a:spLocks noChangeArrowheads="1"/>
              </p:cNvSpPr>
              <p:nvPr/>
            </p:nvSpPr>
            <p:spPr bwMode="auto">
              <a:xfrm>
                <a:off x="1478" y="3105"/>
                <a:ext cx="377" cy="152"/>
              </a:xfrm>
              <a:prstGeom prst="ellipse">
                <a:avLst/>
              </a:prstGeom>
              <a:solidFill>
                <a:srgbClr val="B2B2B2"/>
              </a:solidFill>
              <a:ln w="3175" cap="rnd">
                <a:solidFill>
                  <a:srgbClr val="808080"/>
                </a:solidFill>
                <a:round/>
                <a:headEnd/>
                <a:tailEnd/>
              </a:ln>
              <a:effectLst/>
            </p:spPr>
            <p:txBody>
              <a:bodyPr/>
              <a:lstStyle/>
              <a:p>
                <a:endParaRPr lang="fr-BE"/>
              </a:p>
            </p:txBody>
          </p:sp>
          <p:sp>
            <p:nvSpPr>
              <p:cNvPr id="50462" name="Freeform 286"/>
              <p:cNvSpPr>
                <a:spLocks/>
              </p:cNvSpPr>
              <p:nvPr/>
            </p:nvSpPr>
            <p:spPr bwMode="auto">
              <a:xfrm>
                <a:off x="1271" y="3110"/>
                <a:ext cx="611" cy="171"/>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rgbClr val="808080"/>
                </a:solidFill>
                <a:prstDash val="solid"/>
                <a:round/>
                <a:headEnd type="none" w="med" len="med"/>
                <a:tailEnd type="none" w="med" len="med"/>
              </a:ln>
              <a:effectLst/>
            </p:spPr>
            <p:txBody>
              <a:bodyPr/>
              <a:lstStyle/>
              <a:p>
                <a:endParaRPr lang="fr-BE"/>
              </a:p>
            </p:txBody>
          </p:sp>
          <p:sp>
            <p:nvSpPr>
              <p:cNvPr id="50463" name="Freeform 287"/>
              <p:cNvSpPr>
                <a:spLocks noChangeAspect="1"/>
              </p:cNvSpPr>
              <p:nvPr/>
            </p:nvSpPr>
            <p:spPr bwMode="auto">
              <a:xfrm>
                <a:off x="1417" y="2441"/>
                <a:ext cx="761" cy="701"/>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64" name="Freeform 288"/>
              <p:cNvSpPr>
                <a:spLocks noChangeAspect="1"/>
              </p:cNvSpPr>
              <p:nvPr/>
            </p:nvSpPr>
            <p:spPr bwMode="auto">
              <a:xfrm>
                <a:off x="1892" y="2596"/>
                <a:ext cx="152" cy="682"/>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65" name="Freeform 289"/>
              <p:cNvSpPr>
                <a:spLocks noChangeAspect="1"/>
              </p:cNvSpPr>
              <p:nvPr/>
            </p:nvSpPr>
            <p:spPr bwMode="auto">
              <a:xfrm>
                <a:off x="1215" y="2449"/>
                <a:ext cx="829" cy="23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rgbClr val="5F5F5F"/>
                </a:solidFill>
                <a:prstDash val="solid"/>
                <a:round/>
                <a:headEnd type="none" w="med" len="med"/>
                <a:tailEnd type="none" w="med" len="med"/>
              </a:ln>
              <a:effectLst/>
            </p:spPr>
            <p:txBody>
              <a:bodyPr/>
              <a:lstStyle/>
              <a:p>
                <a:endParaRPr lang="fr-BE"/>
              </a:p>
            </p:txBody>
          </p:sp>
          <p:sp>
            <p:nvSpPr>
              <p:cNvPr id="50466" name="Freeform 290"/>
              <p:cNvSpPr>
                <a:spLocks noChangeAspect="1"/>
              </p:cNvSpPr>
              <p:nvPr/>
            </p:nvSpPr>
            <p:spPr bwMode="auto">
              <a:xfrm>
                <a:off x="1215" y="2517"/>
                <a:ext cx="677" cy="764"/>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67" name="Freeform 291"/>
              <p:cNvSpPr>
                <a:spLocks noChangeAspect="1"/>
              </p:cNvSpPr>
              <p:nvPr/>
            </p:nvSpPr>
            <p:spPr bwMode="auto">
              <a:xfrm>
                <a:off x="1268" y="2585"/>
                <a:ext cx="573" cy="625"/>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3175" cap="rnd" cmpd="sng">
                <a:solidFill>
                  <a:srgbClr val="5F5F5F"/>
                </a:solidFill>
                <a:prstDash val="solid"/>
                <a:round/>
                <a:headEnd type="none" w="med" len="med"/>
                <a:tailEnd type="none" w="med" len="med"/>
              </a:ln>
              <a:effectLst/>
            </p:spPr>
            <p:txBody>
              <a:bodyPr/>
              <a:lstStyle/>
              <a:p>
                <a:endParaRPr lang="fr-BE"/>
              </a:p>
            </p:txBody>
          </p:sp>
          <p:sp>
            <p:nvSpPr>
              <p:cNvPr id="50468" name="Freeform 292"/>
              <p:cNvSpPr>
                <a:spLocks/>
              </p:cNvSpPr>
              <p:nvPr/>
            </p:nvSpPr>
            <p:spPr bwMode="auto">
              <a:xfrm>
                <a:off x="1303" y="2627"/>
                <a:ext cx="501" cy="539"/>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3175"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BE"/>
              </a:p>
            </p:txBody>
          </p:sp>
        </p:grpSp>
        <p:sp>
          <p:nvSpPr>
            <p:cNvPr id="50469" name="AutoShape 293"/>
            <p:cNvSpPr>
              <a:spLocks noChangeArrowheads="1"/>
            </p:cNvSpPr>
            <p:nvPr/>
          </p:nvSpPr>
          <p:spPr bwMode="auto">
            <a:xfrm rot="5400000" flipV="1">
              <a:off x="5622132" y="5463381"/>
              <a:ext cx="908050" cy="122237"/>
            </a:xfrm>
            <a:prstGeom prst="homePlate">
              <a:avLst>
                <a:gd name="adj" fmla="val 74045"/>
              </a:avLst>
            </a:prstGeom>
            <a:gradFill rotWithShape="0">
              <a:gsLst>
                <a:gs pos="0">
                  <a:srgbClr val="CC0099"/>
                </a:gs>
                <a:gs pos="50000">
                  <a:srgbClr val="CC0099">
                    <a:gamma/>
                    <a:tint val="21176"/>
                    <a:invGamma/>
                  </a:srgbClr>
                </a:gs>
                <a:gs pos="100000">
                  <a:srgbClr val="CC0099"/>
                </a:gs>
              </a:gsLst>
              <a:lin ang="0" scaled="1"/>
            </a:gradFill>
            <a:ln w="9525">
              <a:noFill/>
              <a:miter lim="800000"/>
              <a:headEnd/>
              <a:tailEnd/>
            </a:ln>
            <a:effectLst/>
          </p:spPr>
          <p:txBody>
            <a:bodyPr wrap="none" anchor="ctr"/>
            <a:lstStyle/>
            <a:p>
              <a:endParaRPr lang="fr-BE"/>
            </a:p>
          </p:txBody>
        </p:sp>
        <p:grpSp>
          <p:nvGrpSpPr>
            <p:cNvPr id="50470" name="Group 294"/>
            <p:cNvGrpSpPr>
              <a:grpSpLocks/>
            </p:cNvGrpSpPr>
            <p:nvPr/>
          </p:nvGrpSpPr>
          <p:grpSpPr bwMode="auto">
            <a:xfrm>
              <a:off x="5572125" y="4416425"/>
              <a:ext cx="958850" cy="1058863"/>
              <a:chOff x="1114" y="2441"/>
              <a:chExt cx="1064" cy="1173"/>
            </a:xfrm>
          </p:grpSpPr>
          <p:sp>
            <p:nvSpPr>
              <p:cNvPr id="50471" name="Freeform 295"/>
              <p:cNvSpPr>
                <a:spLocks noChangeAspect="1"/>
              </p:cNvSpPr>
              <p:nvPr/>
            </p:nvSpPr>
            <p:spPr bwMode="auto">
              <a:xfrm>
                <a:off x="1784" y="3203"/>
                <a:ext cx="357" cy="411"/>
              </a:xfrm>
              <a:custGeom>
                <a:avLst/>
                <a:gdLst/>
                <a:ahLst/>
                <a:cxnLst>
                  <a:cxn ang="0">
                    <a:pos x="0" y="158"/>
                  </a:cxn>
                  <a:cxn ang="0">
                    <a:pos x="265" y="0"/>
                  </a:cxn>
                  <a:cxn ang="0">
                    <a:pos x="265" y="130"/>
                  </a:cxn>
                  <a:cxn ang="0">
                    <a:pos x="2" y="305"/>
                  </a:cxn>
                </a:cxnLst>
                <a:rect l="0" t="0" r="r" b="b"/>
                <a:pathLst>
                  <a:path w="265" h="305">
                    <a:moveTo>
                      <a:pt x="0" y="158"/>
                    </a:moveTo>
                    <a:lnTo>
                      <a:pt x="265" y="0"/>
                    </a:lnTo>
                    <a:lnTo>
                      <a:pt x="265" y="130"/>
                    </a:lnTo>
                    <a:lnTo>
                      <a:pt x="2" y="305"/>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72" name="Freeform 296"/>
              <p:cNvSpPr>
                <a:spLocks noChangeAspect="1"/>
              </p:cNvSpPr>
              <p:nvPr/>
            </p:nvSpPr>
            <p:spPr bwMode="auto">
              <a:xfrm>
                <a:off x="1114" y="3058"/>
                <a:ext cx="1027" cy="358"/>
              </a:xfrm>
              <a:custGeom>
                <a:avLst/>
                <a:gdLst/>
                <a:ahLst/>
                <a:cxnLst>
                  <a:cxn ang="0">
                    <a:pos x="497" y="265"/>
                  </a:cxn>
                  <a:cxn ang="0">
                    <a:pos x="0" y="131"/>
                  </a:cxn>
                  <a:cxn ang="0">
                    <a:pos x="278" y="0"/>
                  </a:cxn>
                  <a:cxn ang="0">
                    <a:pos x="761" y="107"/>
                  </a:cxn>
                  <a:cxn ang="0">
                    <a:pos x="500" y="263"/>
                  </a:cxn>
                </a:cxnLst>
                <a:rect l="0" t="0" r="r" b="b"/>
                <a:pathLst>
                  <a:path w="761" h="265">
                    <a:moveTo>
                      <a:pt x="497" y="265"/>
                    </a:moveTo>
                    <a:lnTo>
                      <a:pt x="0" y="131"/>
                    </a:lnTo>
                    <a:lnTo>
                      <a:pt x="278" y="0"/>
                    </a:lnTo>
                    <a:lnTo>
                      <a:pt x="761" y="107"/>
                    </a:lnTo>
                    <a:lnTo>
                      <a:pt x="500" y="26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73" name="Freeform 297"/>
              <p:cNvSpPr>
                <a:spLocks noChangeAspect="1"/>
              </p:cNvSpPr>
              <p:nvPr/>
            </p:nvSpPr>
            <p:spPr bwMode="auto">
              <a:xfrm>
                <a:off x="1114" y="3234"/>
                <a:ext cx="673" cy="380"/>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74" name="Freeform 298"/>
              <p:cNvSpPr>
                <a:spLocks/>
              </p:cNvSpPr>
              <p:nvPr/>
            </p:nvSpPr>
            <p:spPr bwMode="auto">
              <a:xfrm>
                <a:off x="1288" y="3031"/>
                <a:ext cx="750" cy="316"/>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5F5F5F"/>
                </a:solidFill>
                <a:prstDash val="solid"/>
                <a:round/>
                <a:headEnd type="none" w="med" len="med"/>
                <a:tailEnd type="none" w="med" len="med"/>
              </a:ln>
              <a:effectLst/>
            </p:spPr>
            <p:txBody>
              <a:bodyPr/>
              <a:lstStyle/>
              <a:p>
                <a:endParaRPr lang="fr-BE"/>
              </a:p>
            </p:txBody>
          </p:sp>
          <p:sp>
            <p:nvSpPr>
              <p:cNvPr id="50475" name="Freeform 299"/>
              <p:cNvSpPr>
                <a:spLocks/>
              </p:cNvSpPr>
              <p:nvPr/>
            </p:nvSpPr>
            <p:spPr bwMode="auto">
              <a:xfrm>
                <a:off x="1297" y="3038"/>
                <a:ext cx="725" cy="280"/>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BE"/>
              </a:p>
            </p:txBody>
          </p:sp>
          <p:sp>
            <p:nvSpPr>
              <p:cNvPr id="50476" name="Oval 300"/>
              <p:cNvSpPr>
                <a:spLocks noChangeArrowheads="1"/>
              </p:cNvSpPr>
              <p:nvPr/>
            </p:nvSpPr>
            <p:spPr bwMode="auto">
              <a:xfrm>
                <a:off x="1478" y="3105"/>
                <a:ext cx="377" cy="152"/>
              </a:xfrm>
              <a:prstGeom prst="ellipse">
                <a:avLst/>
              </a:prstGeom>
              <a:solidFill>
                <a:srgbClr val="B2B2B2"/>
              </a:solidFill>
              <a:ln w="3175" cap="rnd">
                <a:solidFill>
                  <a:srgbClr val="808080"/>
                </a:solidFill>
                <a:round/>
                <a:headEnd/>
                <a:tailEnd/>
              </a:ln>
              <a:effectLst/>
            </p:spPr>
            <p:txBody>
              <a:bodyPr/>
              <a:lstStyle/>
              <a:p>
                <a:endParaRPr lang="fr-BE"/>
              </a:p>
            </p:txBody>
          </p:sp>
          <p:sp>
            <p:nvSpPr>
              <p:cNvPr id="50477" name="Freeform 301"/>
              <p:cNvSpPr>
                <a:spLocks/>
              </p:cNvSpPr>
              <p:nvPr/>
            </p:nvSpPr>
            <p:spPr bwMode="auto">
              <a:xfrm>
                <a:off x="1271" y="3110"/>
                <a:ext cx="611" cy="171"/>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rgbClr val="808080"/>
                </a:solidFill>
                <a:prstDash val="solid"/>
                <a:round/>
                <a:headEnd type="none" w="med" len="med"/>
                <a:tailEnd type="none" w="med" len="med"/>
              </a:ln>
              <a:effectLst/>
            </p:spPr>
            <p:txBody>
              <a:bodyPr/>
              <a:lstStyle/>
              <a:p>
                <a:endParaRPr lang="fr-BE"/>
              </a:p>
            </p:txBody>
          </p:sp>
          <p:sp>
            <p:nvSpPr>
              <p:cNvPr id="50478" name="Freeform 302"/>
              <p:cNvSpPr>
                <a:spLocks noChangeAspect="1"/>
              </p:cNvSpPr>
              <p:nvPr/>
            </p:nvSpPr>
            <p:spPr bwMode="auto">
              <a:xfrm>
                <a:off x="1417" y="2441"/>
                <a:ext cx="761" cy="701"/>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79" name="Freeform 303"/>
              <p:cNvSpPr>
                <a:spLocks noChangeAspect="1"/>
              </p:cNvSpPr>
              <p:nvPr/>
            </p:nvSpPr>
            <p:spPr bwMode="auto">
              <a:xfrm>
                <a:off x="1892" y="2596"/>
                <a:ext cx="152" cy="682"/>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80" name="Freeform 304"/>
              <p:cNvSpPr>
                <a:spLocks noChangeAspect="1"/>
              </p:cNvSpPr>
              <p:nvPr/>
            </p:nvSpPr>
            <p:spPr bwMode="auto">
              <a:xfrm>
                <a:off x="1215" y="2449"/>
                <a:ext cx="829" cy="23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rgbClr val="5F5F5F"/>
                </a:solidFill>
                <a:prstDash val="solid"/>
                <a:round/>
                <a:headEnd type="none" w="med" len="med"/>
                <a:tailEnd type="none" w="med" len="med"/>
              </a:ln>
              <a:effectLst/>
            </p:spPr>
            <p:txBody>
              <a:bodyPr/>
              <a:lstStyle/>
              <a:p>
                <a:endParaRPr lang="fr-BE"/>
              </a:p>
            </p:txBody>
          </p:sp>
          <p:sp>
            <p:nvSpPr>
              <p:cNvPr id="50481" name="Freeform 305"/>
              <p:cNvSpPr>
                <a:spLocks noChangeAspect="1"/>
              </p:cNvSpPr>
              <p:nvPr/>
            </p:nvSpPr>
            <p:spPr bwMode="auto">
              <a:xfrm>
                <a:off x="1215" y="2517"/>
                <a:ext cx="677" cy="764"/>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482" name="Freeform 306"/>
              <p:cNvSpPr>
                <a:spLocks noChangeAspect="1"/>
              </p:cNvSpPr>
              <p:nvPr/>
            </p:nvSpPr>
            <p:spPr bwMode="auto">
              <a:xfrm>
                <a:off x="1268" y="2585"/>
                <a:ext cx="573" cy="625"/>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3175" cap="rnd" cmpd="sng">
                <a:solidFill>
                  <a:srgbClr val="5F5F5F"/>
                </a:solidFill>
                <a:prstDash val="solid"/>
                <a:round/>
                <a:headEnd type="none" w="med" len="med"/>
                <a:tailEnd type="none" w="med" len="med"/>
              </a:ln>
              <a:effectLst/>
            </p:spPr>
            <p:txBody>
              <a:bodyPr/>
              <a:lstStyle/>
              <a:p>
                <a:endParaRPr lang="fr-BE"/>
              </a:p>
            </p:txBody>
          </p:sp>
          <p:sp>
            <p:nvSpPr>
              <p:cNvPr id="50483" name="Freeform 307"/>
              <p:cNvSpPr>
                <a:spLocks/>
              </p:cNvSpPr>
              <p:nvPr/>
            </p:nvSpPr>
            <p:spPr bwMode="auto">
              <a:xfrm>
                <a:off x="1303" y="2627"/>
                <a:ext cx="501" cy="539"/>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3175"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BE"/>
              </a:p>
            </p:txBody>
          </p:sp>
        </p:grpSp>
        <p:grpSp>
          <p:nvGrpSpPr>
            <p:cNvPr id="50484" name="Group 308"/>
            <p:cNvGrpSpPr>
              <a:grpSpLocks/>
            </p:cNvGrpSpPr>
            <p:nvPr/>
          </p:nvGrpSpPr>
          <p:grpSpPr bwMode="auto">
            <a:xfrm>
              <a:off x="2339975" y="4171950"/>
              <a:ext cx="896938" cy="1450975"/>
              <a:chOff x="516" y="612"/>
              <a:chExt cx="626" cy="1012"/>
            </a:xfrm>
          </p:grpSpPr>
          <p:sp>
            <p:nvSpPr>
              <p:cNvPr id="50485" name="Freeform 309"/>
              <p:cNvSpPr>
                <a:spLocks/>
              </p:cNvSpPr>
              <p:nvPr/>
            </p:nvSpPr>
            <p:spPr bwMode="auto">
              <a:xfrm>
                <a:off x="528" y="1365"/>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BE"/>
              </a:p>
            </p:txBody>
          </p:sp>
          <p:sp>
            <p:nvSpPr>
              <p:cNvPr id="50486" name="Freeform 310"/>
              <p:cNvSpPr>
                <a:spLocks/>
              </p:cNvSpPr>
              <p:nvPr/>
            </p:nvSpPr>
            <p:spPr bwMode="auto">
              <a:xfrm>
                <a:off x="518" y="612"/>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BE"/>
              </a:p>
            </p:txBody>
          </p:sp>
          <p:sp>
            <p:nvSpPr>
              <p:cNvPr id="50487" name="Freeform 311"/>
              <p:cNvSpPr>
                <a:spLocks/>
              </p:cNvSpPr>
              <p:nvPr/>
            </p:nvSpPr>
            <p:spPr bwMode="auto">
              <a:xfrm>
                <a:off x="790" y="672"/>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BE"/>
              </a:p>
            </p:txBody>
          </p:sp>
          <p:sp>
            <p:nvSpPr>
              <p:cNvPr id="50488" name="Freeform 312"/>
              <p:cNvSpPr>
                <a:spLocks/>
              </p:cNvSpPr>
              <p:nvPr/>
            </p:nvSpPr>
            <p:spPr bwMode="auto">
              <a:xfrm>
                <a:off x="516" y="760"/>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BE"/>
              </a:p>
            </p:txBody>
          </p:sp>
          <p:sp>
            <p:nvSpPr>
              <p:cNvPr id="50489" name="Line 313"/>
              <p:cNvSpPr>
                <a:spLocks noChangeShapeType="1"/>
              </p:cNvSpPr>
              <p:nvPr/>
            </p:nvSpPr>
            <p:spPr bwMode="auto">
              <a:xfrm>
                <a:off x="555" y="1462"/>
                <a:ext cx="192" cy="51"/>
              </a:xfrm>
              <a:prstGeom prst="line">
                <a:avLst/>
              </a:prstGeom>
              <a:noFill/>
              <a:ln w="6350">
                <a:solidFill>
                  <a:srgbClr val="676767"/>
                </a:solidFill>
                <a:round/>
                <a:headEnd/>
                <a:tailEnd/>
              </a:ln>
              <a:effectLst/>
            </p:spPr>
            <p:txBody>
              <a:bodyPr wrap="none" anchor="ctr"/>
              <a:lstStyle/>
              <a:p>
                <a:endParaRPr lang="fr-BE"/>
              </a:p>
            </p:txBody>
          </p:sp>
          <p:sp>
            <p:nvSpPr>
              <p:cNvPr id="50490" name="Oval 314"/>
              <p:cNvSpPr>
                <a:spLocks noChangeArrowheads="1"/>
              </p:cNvSpPr>
              <p:nvPr/>
            </p:nvSpPr>
            <p:spPr bwMode="auto">
              <a:xfrm>
                <a:off x="548" y="801"/>
                <a:ext cx="31" cy="17"/>
              </a:xfrm>
              <a:prstGeom prst="ellipse">
                <a:avLst/>
              </a:prstGeom>
              <a:solidFill>
                <a:srgbClr val="D60093"/>
              </a:solidFill>
              <a:ln w="12700">
                <a:noFill/>
                <a:round/>
                <a:headEnd/>
                <a:tailEnd/>
              </a:ln>
              <a:effectLst/>
            </p:spPr>
            <p:txBody>
              <a:bodyPr wrap="none" anchor="ctr"/>
              <a:lstStyle/>
              <a:p>
                <a:endParaRPr lang="fr-BE"/>
              </a:p>
            </p:txBody>
          </p:sp>
          <p:sp>
            <p:nvSpPr>
              <p:cNvPr id="50491" name="Line 315"/>
              <p:cNvSpPr>
                <a:spLocks noChangeShapeType="1"/>
              </p:cNvSpPr>
              <p:nvPr/>
            </p:nvSpPr>
            <p:spPr bwMode="auto">
              <a:xfrm>
                <a:off x="555" y="1424"/>
                <a:ext cx="192" cy="51"/>
              </a:xfrm>
              <a:prstGeom prst="line">
                <a:avLst/>
              </a:prstGeom>
              <a:noFill/>
              <a:ln w="6350">
                <a:solidFill>
                  <a:srgbClr val="676767"/>
                </a:solidFill>
                <a:round/>
                <a:headEnd/>
                <a:tailEnd/>
              </a:ln>
              <a:effectLst/>
            </p:spPr>
            <p:txBody>
              <a:bodyPr wrap="none" anchor="ctr"/>
              <a:lstStyle/>
              <a:p>
                <a:endParaRPr lang="fr-BE"/>
              </a:p>
            </p:txBody>
          </p:sp>
          <p:sp>
            <p:nvSpPr>
              <p:cNvPr id="50492" name="Line 316"/>
              <p:cNvSpPr>
                <a:spLocks noChangeShapeType="1"/>
              </p:cNvSpPr>
              <p:nvPr/>
            </p:nvSpPr>
            <p:spPr bwMode="auto">
              <a:xfrm>
                <a:off x="555" y="1386"/>
                <a:ext cx="192" cy="52"/>
              </a:xfrm>
              <a:prstGeom prst="line">
                <a:avLst/>
              </a:prstGeom>
              <a:noFill/>
              <a:ln w="6350">
                <a:solidFill>
                  <a:srgbClr val="676767"/>
                </a:solidFill>
                <a:round/>
                <a:headEnd/>
                <a:tailEnd/>
              </a:ln>
              <a:effectLst/>
            </p:spPr>
            <p:txBody>
              <a:bodyPr wrap="none" anchor="ctr"/>
              <a:lstStyle/>
              <a:p>
                <a:endParaRPr lang="fr-BE"/>
              </a:p>
            </p:txBody>
          </p:sp>
          <p:sp>
            <p:nvSpPr>
              <p:cNvPr id="50493" name="Line 317"/>
              <p:cNvSpPr>
                <a:spLocks noChangeShapeType="1"/>
              </p:cNvSpPr>
              <p:nvPr/>
            </p:nvSpPr>
            <p:spPr bwMode="auto">
              <a:xfrm>
                <a:off x="555" y="1349"/>
                <a:ext cx="192" cy="51"/>
              </a:xfrm>
              <a:prstGeom prst="line">
                <a:avLst/>
              </a:prstGeom>
              <a:noFill/>
              <a:ln w="6350">
                <a:solidFill>
                  <a:srgbClr val="676767"/>
                </a:solidFill>
                <a:round/>
                <a:headEnd/>
                <a:tailEnd/>
              </a:ln>
              <a:effectLst/>
            </p:spPr>
            <p:txBody>
              <a:bodyPr wrap="none" anchor="ctr"/>
              <a:lstStyle/>
              <a:p>
                <a:endParaRPr lang="fr-BE"/>
              </a:p>
            </p:txBody>
          </p:sp>
          <p:sp>
            <p:nvSpPr>
              <p:cNvPr id="50494" name="Line 318"/>
              <p:cNvSpPr>
                <a:spLocks noChangeShapeType="1"/>
              </p:cNvSpPr>
              <p:nvPr/>
            </p:nvSpPr>
            <p:spPr bwMode="auto">
              <a:xfrm>
                <a:off x="555" y="1310"/>
                <a:ext cx="192" cy="51"/>
              </a:xfrm>
              <a:prstGeom prst="line">
                <a:avLst/>
              </a:prstGeom>
              <a:noFill/>
              <a:ln w="6350">
                <a:solidFill>
                  <a:srgbClr val="676767"/>
                </a:solidFill>
                <a:round/>
                <a:headEnd/>
                <a:tailEnd/>
              </a:ln>
              <a:effectLst/>
            </p:spPr>
            <p:txBody>
              <a:bodyPr wrap="none" anchor="ctr"/>
              <a:lstStyle/>
              <a:p>
                <a:endParaRPr lang="fr-BE"/>
              </a:p>
            </p:txBody>
          </p:sp>
          <p:sp>
            <p:nvSpPr>
              <p:cNvPr id="50495" name="Freeform 319"/>
              <p:cNvSpPr>
                <a:spLocks/>
              </p:cNvSpPr>
              <p:nvPr/>
            </p:nvSpPr>
            <p:spPr bwMode="auto">
              <a:xfrm>
                <a:off x="558" y="946"/>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BE"/>
              </a:p>
            </p:txBody>
          </p:sp>
          <p:sp>
            <p:nvSpPr>
              <p:cNvPr id="50496" name="Freeform 320"/>
              <p:cNvSpPr>
                <a:spLocks/>
              </p:cNvSpPr>
              <p:nvPr/>
            </p:nvSpPr>
            <p:spPr bwMode="auto">
              <a:xfrm>
                <a:off x="538" y="876"/>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rgbClr val="808080"/>
                </a:solidFill>
                <a:prstDash val="solid"/>
                <a:round/>
                <a:headEnd type="none" w="med" len="med"/>
                <a:tailEnd type="none" w="med" len="med"/>
              </a:ln>
              <a:effectLst/>
            </p:spPr>
            <p:txBody>
              <a:bodyPr/>
              <a:lstStyle/>
              <a:p>
                <a:endParaRPr lang="fr-BE"/>
              </a:p>
            </p:txBody>
          </p:sp>
          <p:sp>
            <p:nvSpPr>
              <p:cNvPr id="50497" name="Freeform 321"/>
              <p:cNvSpPr>
                <a:spLocks/>
              </p:cNvSpPr>
              <p:nvPr/>
            </p:nvSpPr>
            <p:spPr bwMode="auto">
              <a:xfrm>
                <a:off x="552" y="899"/>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BE"/>
              </a:p>
            </p:txBody>
          </p:sp>
          <p:sp>
            <p:nvSpPr>
              <p:cNvPr id="50498" name="Line 322"/>
              <p:cNvSpPr>
                <a:spLocks noChangeShapeType="1"/>
              </p:cNvSpPr>
              <p:nvPr/>
            </p:nvSpPr>
            <p:spPr bwMode="auto">
              <a:xfrm>
                <a:off x="553" y="980"/>
                <a:ext cx="187" cy="43"/>
              </a:xfrm>
              <a:prstGeom prst="line">
                <a:avLst/>
              </a:prstGeom>
              <a:noFill/>
              <a:ln w="3175">
                <a:solidFill>
                  <a:srgbClr val="676767"/>
                </a:solidFill>
                <a:round/>
                <a:headEnd/>
                <a:tailEnd/>
              </a:ln>
              <a:effectLst/>
            </p:spPr>
            <p:txBody>
              <a:bodyPr wrap="none" anchor="ctr"/>
              <a:lstStyle/>
              <a:p>
                <a:endParaRPr lang="fr-BE"/>
              </a:p>
            </p:txBody>
          </p:sp>
          <p:sp>
            <p:nvSpPr>
              <p:cNvPr id="50499" name="Line 323"/>
              <p:cNvSpPr>
                <a:spLocks noChangeShapeType="1"/>
              </p:cNvSpPr>
              <p:nvPr/>
            </p:nvSpPr>
            <p:spPr bwMode="auto">
              <a:xfrm>
                <a:off x="553" y="1055"/>
                <a:ext cx="189" cy="43"/>
              </a:xfrm>
              <a:prstGeom prst="line">
                <a:avLst/>
              </a:prstGeom>
              <a:noFill/>
              <a:ln w="3175">
                <a:solidFill>
                  <a:srgbClr val="676767"/>
                </a:solidFill>
                <a:round/>
                <a:headEnd/>
                <a:tailEnd/>
              </a:ln>
              <a:effectLst/>
            </p:spPr>
            <p:txBody>
              <a:bodyPr wrap="none" anchor="ctr"/>
              <a:lstStyle/>
              <a:p>
                <a:endParaRPr lang="fr-BE"/>
              </a:p>
            </p:txBody>
          </p:sp>
          <p:sp>
            <p:nvSpPr>
              <p:cNvPr id="50500" name="Line 324"/>
              <p:cNvSpPr>
                <a:spLocks noChangeShapeType="1"/>
              </p:cNvSpPr>
              <p:nvPr/>
            </p:nvSpPr>
            <p:spPr bwMode="auto">
              <a:xfrm>
                <a:off x="553" y="1148"/>
                <a:ext cx="180" cy="43"/>
              </a:xfrm>
              <a:prstGeom prst="line">
                <a:avLst/>
              </a:prstGeom>
              <a:noFill/>
              <a:ln w="3175">
                <a:solidFill>
                  <a:srgbClr val="676767"/>
                </a:solidFill>
                <a:round/>
                <a:headEnd/>
                <a:tailEnd/>
              </a:ln>
              <a:effectLst/>
            </p:spPr>
            <p:txBody>
              <a:bodyPr wrap="none" anchor="ctr"/>
              <a:lstStyle/>
              <a:p>
                <a:endParaRPr lang="fr-BE"/>
              </a:p>
            </p:txBody>
          </p:sp>
          <p:sp>
            <p:nvSpPr>
              <p:cNvPr id="50501" name="Freeform 325"/>
              <p:cNvSpPr>
                <a:spLocks/>
              </p:cNvSpPr>
              <p:nvPr/>
            </p:nvSpPr>
            <p:spPr bwMode="auto">
              <a:xfrm>
                <a:off x="609" y="943"/>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BE"/>
              </a:p>
            </p:txBody>
          </p:sp>
          <p:sp>
            <p:nvSpPr>
              <p:cNvPr id="50502" name="Line 326"/>
              <p:cNvSpPr>
                <a:spLocks noChangeShapeType="1"/>
              </p:cNvSpPr>
              <p:nvPr/>
            </p:nvSpPr>
            <p:spPr bwMode="auto">
              <a:xfrm>
                <a:off x="580" y="949"/>
                <a:ext cx="138" cy="30"/>
              </a:xfrm>
              <a:prstGeom prst="line">
                <a:avLst/>
              </a:prstGeom>
              <a:noFill/>
              <a:ln w="6350">
                <a:solidFill>
                  <a:srgbClr val="919191"/>
                </a:solidFill>
                <a:round/>
                <a:headEnd/>
                <a:tailEnd/>
              </a:ln>
              <a:effectLst/>
            </p:spPr>
            <p:txBody>
              <a:bodyPr wrap="none" anchor="ctr"/>
              <a:lstStyle/>
              <a:p>
                <a:endParaRPr lang="fr-BE"/>
              </a:p>
            </p:txBody>
          </p:sp>
          <p:sp>
            <p:nvSpPr>
              <p:cNvPr id="50503" name="Freeform 327"/>
              <p:cNvSpPr>
                <a:spLocks/>
              </p:cNvSpPr>
              <p:nvPr/>
            </p:nvSpPr>
            <p:spPr bwMode="auto">
              <a:xfrm>
                <a:off x="566" y="1086"/>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BE"/>
              </a:p>
            </p:txBody>
          </p:sp>
          <p:sp>
            <p:nvSpPr>
              <p:cNvPr id="50504" name="Freeform 328"/>
              <p:cNvSpPr>
                <a:spLocks/>
              </p:cNvSpPr>
              <p:nvPr/>
            </p:nvSpPr>
            <p:spPr bwMode="auto">
              <a:xfrm>
                <a:off x="566" y="1179"/>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BE"/>
              </a:p>
            </p:txBody>
          </p:sp>
          <p:sp>
            <p:nvSpPr>
              <p:cNvPr id="50505" name="Freeform 329"/>
              <p:cNvSpPr>
                <a:spLocks/>
              </p:cNvSpPr>
              <p:nvPr/>
            </p:nvSpPr>
            <p:spPr bwMode="auto">
              <a:xfrm>
                <a:off x="563" y="1002"/>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BE"/>
              </a:p>
            </p:txBody>
          </p:sp>
          <p:sp>
            <p:nvSpPr>
              <p:cNvPr id="50506" name="Line 330"/>
              <p:cNvSpPr>
                <a:spLocks noChangeShapeType="1"/>
              </p:cNvSpPr>
              <p:nvPr/>
            </p:nvSpPr>
            <p:spPr bwMode="auto">
              <a:xfrm flipH="1" flipV="1">
                <a:off x="685" y="1049"/>
                <a:ext cx="33" cy="8"/>
              </a:xfrm>
              <a:prstGeom prst="line">
                <a:avLst/>
              </a:prstGeom>
              <a:noFill/>
              <a:ln w="9525">
                <a:solidFill>
                  <a:srgbClr val="D60093"/>
                </a:solidFill>
                <a:round/>
                <a:headEnd/>
                <a:tailEnd/>
              </a:ln>
              <a:effectLst/>
            </p:spPr>
            <p:txBody>
              <a:bodyPr wrap="none" tIns="27432" bIns="27432" anchor="ctr">
                <a:spAutoFit/>
              </a:bodyPr>
              <a:lstStyle/>
              <a:p>
                <a:endParaRPr lang="fr-BE"/>
              </a:p>
            </p:txBody>
          </p:sp>
          <p:sp>
            <p:nvSpPr>
              <p:cNvPr id="50507" name="Line 331"/>
              <p:cNvSpPr>
                <a:spLocks noChangeShapeType="1"/>
              </p:cNvSpPr>
              <p:nvPr/>
            </p:nvSpPr>
            <p:spPr bwMode="auto">
              <a:xfrm flipH="1" flipV="1">
                <a:off x="685" y="1131"/>
                <a:ext cx="33" cy="7"/>
              </a:xfrm>
              <a:prstGeom prst="line">
                <a:avLst/>
              </a:prstGeom>
              <a:noFill/>
              <a:ln w="9525">
                <a:solidFill>
                  <a:srgbClr val="D60093"/>
                </a:solidFill>
                <a:round/>
                <a:headEnd/>
                <a:tailEnd/>
              </a:ln>
              <a:effectLst/>
            </p:spPr>
            <p:txBody>
              <a:bodyPr wrap="none" tIns="27432" bIns="27432" anchor="ctr">
                <a:spAutoFit/>
              </a:bodyPr>
              <a:lstStyle/>
              <a:p>
                <a:endParaRPr lang="fr-BE"/>
              </a:p>
            </p:txBody>
          </p:sp>
          <p:sp>
            <p:nvSpPr>
              <p:cNvPr id="50508" name="Line 332"/>
              <p:cNvSpPr>
                <a:spLocks noChangeShapeType="1"/>
              </p:cNvSpPr>
              <p:nvPr/>
            </p:nvSpPr>
            <p:spPr bwMode="auto">
              <a:xfrm flipH="1" flipV="1">
                <a:off x="685" y="1230"/>
                <a:ext cx="33" cy="8"/>
              </a:xfrm>
              <a:prstGeom prst="line">
                <a:avLst/>
              </a:prstGeom>
              <a:noFill/>
              <a:ln w="9525">
                <a:solidFill>
                  <a:srgbClr val="D60093"/>
                </a:solidFill>
                <a:round/>
                <a:headEnd/>
                <a:tailEnd/>
              </a:ln>
              <a:effectLst/>
            </p:spPr>
            <p:txBody>
              <a:bodyPr wrap="none" tIns="27432" bIns="27432" anchor="ctr">
                <a:spAutoFit/>
              </a:bodyPr>
              <a:lstStyle/>
              <a:p>
                <a:endParaRPr lang="fr-BE"/>
              </a:p>
            </p:txBody>
          </p:sp>
        </p:grpSp>
        <p:grpSp>
          <p:nvGrpSpPr>
            <p:cNvPr id="50628" name="Group 452"/>
            <p:cNvGrpSpPr>
              <a:grpSpLocks/>
            </p:cNvGrpSpPr>
            <p:nvPr/>
          </p:nvGrpSpPr>
          <p:grpSpPr bwMode="auto">
            <a:xfrm>
              <a:off x="928687" y="3719513"/>
              <a:ext cx="2757488" cy="2008188"/>
              <a:chOff x="585" y="2343"/>
              <a:chExt cx="1737" cy="1265"/>
            </a:xfrm>
          </p:grpSpPr>
          <p:grpSp>
            <p:nvGrpSpPr>
              <p:cNvPr id="50629" name="Group 453"/>
              <p:cNvGrpSpPr>
                <a:grpSpLocks/>
              </p:cNvGrpSpPr>
              <p:nvPr/>
            </p:nvGrpSpPr>
            <p:grpSpPr bwMode="auto">
              <a:xfrm>
                <a:off x="912" y="2764"/>
                <a:ext cx="624" cy="528"/>
                <a:chOff x="4430" y="2602"/>
                <a:chExt cx="900" cy="785"/>
              </a:xfrm>
            </p:grpSpPr>
            <p:sp>
              <p:nvSpPr>
                <p:cNvPr id="50630" name="Freeform 454"/>
                <p:cNvSpPr>
                  <a:spLocks/>
                </p:cNvSpPr>
                <p:nvPr/>
              </p:nvSpPr>
              <p:spPr bwMode="auto">
                <a:xfrm>
                  <a:off x="4430" y="2674"/>
                  <a:ext cx="900" cy="713"/>
                </a:xfrm>
                <a:custGeom>
                  <a:avLst/>
                  <a:gdLst/>
                  <a:ahLst/>
                  <a:cxnLst>
                    <a:cxn ang="0">
                      <a:pos x="0" y="307"/>
                    </a:cxn>
                    <a:cxn ang="0">
                      <a:pos x="0" y="433"/>
                    </a:cxn>
                    <a:cxn ang="0">
                      <a:pos x="534" y="713"/>
                    </a:cxn>
                    <a:cxn ang="0">
                      <a:pos x="900" y="387"/>
                    </a:cxn>
                    <a:cxn ang="0">
                      <a:pos x="792" y="321"/>
                    </a:cxn>
                    <a:cxn ang="0">
                      <a:pos x="359" y="0"/>
                    </a:cxn>
                  </a:cxnLst>
                  <a:rect l="0" t="0" r="r" b="b"/>
                  <a:pathLst>
                    <a:path w="900" h="713">
                      <a:moveTo>
                        <a:pt x="0" y="307"/>
                      </a:moveTo>
                      <a:lnTo>
                        <a:pt x="0" y="433"/>
                      </a:lnTo>
                      <a:lnTo>
                        <a:pt x="534" y="713"/>
                      </a:lnTo>
                      <a:lnTo>
                        <a:pt x="900" y="387"/>
                      </a:lnTo>
                      <a:lnTo>
                        <a:pt x="792" y="321"/>
                      </a:lnTo>
                      <a:lnTo>
                        <a:pt x="359" y="0"/>
                      </a:lnTo>
                    </a:path>
                  </a:pathLst>
                </a:custGeom>
                <a:gradFill rotWithShape="0">
                  <a:gsLst>
                    <a:gs pos="0">
                      <a:srgbClr val="C0C0C0"/>
                    </a:gs>
                    <a:gs pos="100000">
                      <a:srgbClr val="777777"/>
                    </a:gs>
                  </a:gsLst>
                  <a:lin ang="2700000" scaled="1"/>
                </a:gradFill>
                <a:ln w="9525" cap="flat" cmpd="sng">
                  <a:solidFill>
                    <a:schemeClr val="tx1"/>
                  </a:solidFill>
                  <a:prstDash val="solid"/>
                  <a:round/>
                  <a:headEnd type="none" w="med" len="med"/>
                  <a:tailEnd type="none" w="med" len="med"/>
                </a:ln>
                <a:effectLst/>
              </p:spPr>
              <p:txBody>
                <a:bodyPr wrap="none" tIns="27432" bIns="27432" anchor="ctr">
                  <a:spAutoFit/>
                </a:bodyPr>
                <a:lstStyle/>
                <a:p>
                  <a:endParaRPr lang="fr-BE"/>
                </a:p>
              </p:txBody>
            </p:sp>
            <p:sp>
              <p:nvSpPr>
                <p:cNvPr id="50631" name="Freeform 455"/>
                <p:cNvSpPr>
                  <a:spLocks/>
                </p:cNvSpPr>
                <p:nvPr/>
              </p:nvSpPr>
              <p:spPr bwMode="auto">
                <a:xfrm>
                  <a:off x="4472" y="2686"/>
                  <a:ext cx="820" cy="667"/>
                </a:xfrm>
                <a:custGeom>
                  <a:avLst/>
                  <a:gdLst/>
                  <a:ahLst/>
                  <a:cxnLst>
                    <a:cxn ang="0">
                      <a:pos x="0" y="288"/>
                    </a:cxn>
                    <a:cxn ang="0">
                      <a:pos x="0" y="409"/>
                    </a:cxn>
                    <a:cxn ang="0">
                      <a:pos x="498" y="667"/>
                    </a:cxn>
                    <a:cxn ang="0">
                      <a:pos x="820" y="379"/>
                    </a:cxn>
                    <a:cxn ang="0">
                      <a:pos x="812" y="327"/>
                    </a:cxn>
                    <a:cxn ang="0">
                      <a:pos x="810" y="285"/>
                    </a:cxn>
                    <a:cxn ang="0">
                      <a:pos x="812" y="235"/>
                    </a:cxn>
                    <a:cxn ang="0">
                      <a:pos x="820" y="187"/>
                    </a:cxn>
                    <a:cxn ang="0">
                      <a:pos x="341" y="0"/>
                    </a:cxn>
                    <a:cxn ang="0">
                      <a:pos x="0" y="288"/>
                    </a:cxn>
                  </a:cxnLst>
                  <a:rect l="0" t="0" r="r" b="b"/>
                  <a:pathLst>
                    <a:path w="820" h="667">
                      <a:moveTo>
                        <a:pt x="0" y="288"/>
                      </a:moveTo>
                      <a:lnTo>
                        <a:pt x="0" y="409"/>
                      </a:lnTo>
                      <a:lnTo>
                        <a:pt x="498" y="667"/>
                      </a:lnTo>
                      <a:lnTo>
                        <a:pt x="820" y="379"/>
                      </a:lnTo>
                      <a:lnTo>
                        <a:pt x="812" y="327"/>
                      </a:lnTo>
                      <a:lnTo>
                        <a:pt x="810" y="285"/>
                      </a:lnTo>
                      <a:lnTo>
                        <a:pt x="812" y="235"/>
                      </a:lnTo>
                      <a:lnTo>
                        <a:pt x="820" y="187"/>
                      </a:lnTo>
                      <a:lnTo>
                        <a:pt x="341" y="0"/>
                      </a:lnTo>
                      <a:lnTo>
                        <a:pt x="0" y="288"/>
                      </a:lnTo>
                      <a:close/>
                    </a:path>
                  </a:pathLst>
                </a:custGeom>
                <a:gradFill rotWithShape="0">
                  <a:gsLst>
                    <a:gs pos="0">
                      <a:srgbClr val="FFFF66"/>
                    </a:gs>
                    <a:gs pos="100000">
                      <a:srgbClr val="FFFFCC"/>
                    </a:gs>
                  </a:gsLst>
                  <a:lin ang="18900000" scaled="1"/>
                </a:gradFill>
                <a:ln w="9525" cap="flat" cmpd="sng">
                  <a:solidFill>
                    <a:schemeClr val="tx1"/>
                  </a:solidFill>
                  <a:prstDash val="solid"/>
                  <a:round/>
                  <a:headEnd type="none" w="med" len="med"/>
                  <a:tailEnd type="none" w="med" len="med"/>
                </a:ln>
                <a:effectLst/>
              </p:spPr>
              <p:txBody>
                <a:bodyPr wrap="none" tIns="27432" bIns="27432" anchor="ctr">
                  <a:spAutoFit/>
                </a:bodyPr>
                <a:lstStyle/>
                <a:p>
                  <a:endParaRPr lang="fr-BE"/>
                </a:p>
              </p:txBody>
            </p:sp>
            <p:sp>
              <p:nvSpPr>
                <p:cNvPr id="50632" name="Freeform 456"/>
                <p:cNvSpPr>
                  <a:spLocks/>
                </p:cNvSpPr>
                <p:nvPr/>
              </p:nvSpPr>
              <p:spPr bwMode="auto">
                <a:xfrm>
                  <a:off x="4431" y="2602"/>
                  <a:ext cx="811" cy="376"/>
                </a:xfrm>
                <a:custGeom>
                  <a:avLst/>
                  <a:gdLst/>
                  <a:ahLst/>
                  <a:cxnLst>
                    <a:cxn ang="0">
                      <a:pos x="367" y="66"/>
                    </a:cxn>
                    <a:cxn ang="0">
                      <a:pos x="0" y="376"/>
                    </a:cxn>
                    <a:cxn ang="0">
                      <a:pos x="432" y="358"/>
                    </a:cxn>
                    <a:cxn ang="0">
                      <a:pos x="811" y="0"/>
                    </a:cxn>
                    <a:cxn ang="0">
                      <a:pos x="367" y="66"/>
                    </a:cxn>
                  </a:cxnLst>
                  <a:rect l="0" t="0" r="r" b="b"/>
                  <a:pathLst>
                    <a:path w="811" h="376">
                      <a:moveTo>
                        <a:pt x="367" y="66"/>
                      </a:moveTo>
                      <a:lnTo>
                        <a:pt x="0" y="376"/>
                      </a:lnTo>
                      <a:lnTo>
                        <a:pt x="432" y="358"/>
                      </a:lnTo>
                      <a:lnTo>
                        <a:pt x="811" y="0"/>
                      </a:lnTo>
                      <a:lnTo>
                        <a:pt x="367" y="66"/>
                      </a:lnTo>
                      <a:close/>
                    </a:path>
                  </a:pathLst>
                </a:custGeom>
                <a:gradFill rotWithShape="0">
                  <a:gsLst>
                    <a:gs pos="0">
                      <a:srgbClr val="DDDDDD"/>
                    </a:gs>
                    <a:gs pos="100000">
                      <a:srgbClr val="777777"/>
                    </a:gs>
                  </a:gsLst>
                  <a:lin ang="2700000" scaled="1"/>
                </a:gradFill>
                <a:ln w="9525" cap="flat" cmpd="sng">
                  <a:solidFill>
                    <a:schemeClr val="tx1"/>
                  </a:solidFill>
                  <a:prstDash val="solid"/>
                  <a:round/>
                  <a:headEnd type="none" w="med" len="med"/>
                  <a:tailEnd type="none" w="med" len="med"/>
                </a:ln>
                <a:effectLst/>
              </p:spPr>
              <p:txBody>
                <a:bodyPr wrap="none" tIns="27432" bIns="27432" anchor="ctr">
                  <a:spAutoFit/>
                </a:bodyPr>
                <a:lstStyle/>
                <a:p>
                  <a:endParaRPr lang="fr-BE"/>
                </a:p>
              </p:txBody>
            </p:sp>
            <p:sp>
              <p:nvSpPr>
                <p:cNvPr id="50633" name="Freeform 457"/>
                <p:cNvSpPr>
                  <a:spLocks/>
                </p:cNvSpPr>
                <p:nvPr/>
              </p:nvSpPr>
              <p:spPr bwMode="auto">
                <a:xfrm>
                  <a:off x="5000" y="3142"/>
                  <a:ext cx="144" cy="112"/>
                </a:xfrm>
                <a:custGeom>
                  <a:avLst/>
                  <a:gdLst/>
                  <a:ahLst/>
                  <a:cxnLst>
                    <a:cxn ang="0">
                      <a:pos x="164" y="0"/>
                    </a:cxn>
                    <a:cxn ang="0">
                      <a:pos x="0" y="149"/>
                    </a:cxn>
                    <a:cxn ang="0">
                      <a:pos x="114" y="197"/>
                    </a:cxn>
                    <a:cxn ang="0">
                      <a:pos x="276" y="41"/>
                    </a:cxn>
                    <a:cxn ang="0">
                      <a:pos x="164" y="0"/>
                    </a:cxn>
                  </a:cxnLst>
                  <a:rect l="0" t="0" r="r" b="b"/>
                  <a:pathLst>
                    <a:path w="276" h="197">
                      <a:moveTo>
                        <a:pt x="164" y="0"/>
                      </a:moveTo>
                      <a:lnTo>
                        <a:pt x="0" y="149"/>
                      </a:lnTo>
                      <a:lnTo>
                        <a:pt x="114" y="197"/>
                      </a:lnTo>
                      <a:lnTo>
                        <a:pt x="276" y="41"/>
                      </a:lnTo>
                      <a:lnTo>
                        <a:pt x="164" y="0"/>
                      </a:lnTo>
                      <a:close/>
                    </a:path>
                  </a:pathLst>
                </a:custGeom>
                <a:solidFill>
                  <a:schemeClr val="tx1"/>
                </a:solidFill>
                <a:ln w="9525" cap="flat" cmpd="sng">
                  <a:solidFill>
                    <a:schemeClr val="tx1"/>
                  </a:solidFill>
                  <a:prstDash val="solid"/>
                  <a:round/>
                  <a:headEnd type="none" w="med" len="med"/>
                  <a:tailEnd type="none" w="med" len="med"/>
                </a:ln>
                <a:effectLst/>
              </p:spPr>
              <p:txBody>
                <a:bodyPr tIns="27432" bIns="27432" anchor="ctr">
                  <a:spAutoFit/>
                </a:bodyPr>
                <a:lstStyle/>
                <a:p>
                  <a:endParaRPr lang="fr-BE"/>
                </a:p>
              </p:txBody>
            </p:sp>
            <p:sp>
              <p:nvSpPr>
                <p:cNvPr id="50634" name="Freeform 458"/>
                <p:cNvSpPr>
                  <a:spLocks/>
                </p:cNvSpPr>
                <p:nvPr/>
              </p:nvSpPr>
              <p:spPr bwMode="auto">
                <a:xfrm>
                  <a:off x="5160" y="2952"/>
                  <a:ext cx="144" cy="112"/>
                </a:xfrm>
                <a:custGeom>
                  <a:avLst/>
                  <a:gdLst/>
                  <a:ahLst/>
                  <a:cxnLst>
                    <a:cxn ang="0">
                      <a:pos x="164" y="0"/>
                    </a:cxn>
                    <a:cxn ang="0">
                      <a:pos x="0" y="149"/>
                    </a:cxn>
                    <a:cxn ang="0">
                      <a:pos x="114" y="197"/>
                    </a:cxn>
                    <a:cxn ang="0">
                      <a:pos x="276" y="41"/>
                    </a:cxn>
                    <a:cxn ang="0">
                      <a:pos x="164" y="0"/>
                    </a:cxn>
                  </a:cxnLst>
                  <a:rect l="0" t="0" r="r" b="b"/>
                  <a:pathLst>
                    <a:path w="276" h="197">
                      <a:moveTo>
                        <a:pt x="164" y="0"/>
                      </a:moveTo>
                      <a:lnTo>
                        <a:pt x="0" y="149"/>
                      </a:lnTo>
                      <a:lnTo>
                        <a:pt x="114" y="197"/>
                      </a:lnTo>
                      <a:lnTo>
                        <a:pt x="276" y="41"/>
                      </a:lnTo>
                      <a:lnTo>
                        <a:pt x="164" y="0"/>
                      </a:lnTo>
                      <a:close/>
                    </a:path>
                  </a:pathLst>
                </a:custGeom>
                <a:solidFill>
                  <a:schemeClr val="tx1"/>
                </a:solidFill>
                <a:ln w="9525" cap="flat" cmpd="sng">
                  <a:solidFill>
                    <a:schemeClr val="tx1"/>
                  </a:solidFill>
                  <a:prstDash val="solid"/>
                  <a:round/>
                  <a:headEnd type="none" w="med" len="med"/>
                  <a:tailEnd type="none" w="med" len="med"/>
                </a:ln>
                <a:effectLst/>
              </p:spPr>
              <p:txBody>
                <a:bodyPr tIns="27432" bIns="27432" anchor="ctr">
                  <a:spAutoFit/>
                </a:bodyPr>
                <a:lstStyle/>
                <a:p>
                  <a:endParaRPr lang="fr-BE"/>
                </a:p>
              </p:txBody>
            </p:sp>
            <p:sp>
              <p:nvSpPr>
                <p:cNvPr id="50635" name="Freeform 459"/>
                <p:cNvSpPr>
                  <a:spLocks/>
                </p:cNvSpPr>
                <p:nvPr/>
              </p:nvSpPr>
              <p:spPr bwMode="auto">
                <a:xfrm>
                  <a:off x="4474" y="2929"/>
                  <a:ext cx="800" cy="294"/>
                </a:xfrm>
                <a:custGeom>
                  <a:avLst/>
                  <a:gdLst/>
                  <a:ahLst/>
                  <a:cxnLst>
                    <a:cxn ang="0">
                      <a:pos x="0" y="64"/>
                    </a:cxn>
                    <a:cxn ang="0">
                      <a:pos x="490" y="294"/>
                    </a:cxn>
                    <a:cxn ang="0">
                      <a:pos x="800" y="0"/>
                    </a:cxn>
                  </a:cxnLst>
                  <a:rect l="0" t="0" r="r" b="b"/>
                  <a:pathLst>
                    <a:path w="800" h="294">
                      <a:moveTo>
                        <a:pt x="0" y="64"/>
                      </a:moveTo>
                      <a:lnTo>
                        <a:pt x="490" y="294"/>
                      </a:lnTo>
                      <a:lnTo>
                        <a:pt x="800" y="0"/>
                      </a:lnTo>
                    </a:path>
                  </a:pathLst>
                </a:custGeom>
                <a:no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BE"/>
                </a:p>
              </p:txBody>
            </p:sp>
            <p:sp>
              <p:nvSpPr>
                <p:cNvPr id="50636" name="Freeform 460"/>
                <p:cNvSpPr>
                  <a:spLocks/>
                </p:cNvSpPr>
                <p:nvPr/>
              </p:nvSpPr>
              <p:spPr bwMode="auto">
                <a:xfrm>
                  <a:off x="4476" y="2969"/>
                  <a:ext cx="798" cy="286"/>
                </a:xfrm>
                <a:custGeom>
                  <a:avLst/>
                  <a:gdLst/>
                  <a:ahLst/>
                  <a:cxnLst>
                    <a:cxn ang="0">
                      <a:pos x="0" y="50"/>
                    </a:cxn>
                    <a:cxn ang="0">
                      <a:pos x="488" y="286"/>
                    </a:cxn>
                    <a:cxn ang="0">
                      <a:pos x="798" y="0"/>
                    </a:cxn>
                  </a:cxnLst>
                  <a:rect l="0" t="0" r="r" b="b"/>
                  <a:pathLst>
                    <a:path w="798" h="286">
                      <a:moveTo>
                        <a:pt x="0" y="50"/>
                      </a:moveTo>
                      <a:lnTo>
                        <a:pt x="488" y="286"/>
                      </a:lnTo>
                      <a:lnTo>
                        <a:pt x="798" y="0"/>
                      </a:lnTo>
                    </a:path>
                  </a:pathLst>
                </a:custGeom>
                <a:no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BE"/>
                </a:p>
              </p:txBody>
            </p:sp>
            <p:sp>
              <p:nvSpPr>
                <p:cNvPr id="50637" name="Freeform 461"/>
                <p:cNvSpPr>
                  <a:spLocks/>
                </p:cNvSpPr>
                <p:nvPr/>
              </p:nvSpPr>
              <p:spPr bwMode="auto">
                <a:xfrm>
                  <a:off x="4476" y="2983"/>
                  <a:ext cx="804" cy="304"/>
                </a:xfrm>
                <a:custGeom>
                  <a:avLst/>
                  <a:gdLst/>
                  <a:ahLst/>
                  <a:cxnLst>
                    <a:cxn ang="0">
                      <a:pos x="0" y="66"/>
                    </a:cxn>
                    <a:cxn ang="0">
                      <a:pos x="488" y="304"/>
                    </a:cxn>
                    <a:cxn ang="0">
                      <a:pos x="804" y="24"/>
                    </a:cxn>
                    <a:cxn ang="0">
                      <a:pos x="804" y="0"/>
                    </a:cxn>
                  </a:cxnLst>
                  <a:rect l="0" t="0" r="r" b="b"/>
                  <a:pathLst>
                    <a:path w="804" h="304">
                      <a:moveTo>
                        <a:pt x="0" y="66"/>
                      </a:moveTo>
                      <a:lnTo>
                        <a:pt x="488" y="304"/>
                      </a:lnTo>
                      <a:lnTo>
                        <a:pt x="804" y="24"/>
                      </a:lnTo>
                      <a:lnTo>
                        <a:pt x="804" y="0"/>
                      </a:lnTo>
                    </a:path>
                  </a:pathLst>
                </a:custGeom>
                <a:no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BE"/>
                </a:p>
              </p:txBody>
            </p:sp>
            <p:sp>
              <p:nvSpPr>
                <p:cNvPr id="50638" name="Freeform 462"/>
                <p:cNvSpPr>
                  <a:spLocks/>
                </p:cNvSpPr>
                <p:nvPr/>
              </p:nvSpPr>
              <p:spPr bwMode="auto">
                <a:xfrm>
                  <a:off x="4472" y="3037"/>
                  <a:ext cx="814" cy="284"/>
                </a:xfrm>
                <a:custGeom>
                  <a:avLst/>
                  <a:gdLst/>
                  <a:ahLst/>
                  <a:cxnLst>
                    <a:cxn ang="0">
                      <a:pos x="0" y="40"/>
                    </a:cxn>
                    <a:cxn ang="0">
                      <a:pos x="492" y="284"/>
                    </a:cxn>
                    <a:cxn ang="0">
                      <a:pos x="814" y="0"/>
                    </a:cxn>
                  </a:cxnLst>
                  <a:rect l="0" t="0" r="r" b="b"/>
                  <a:pathLst>
                    <a:path w="814" h="284">
                      <a:moveTo>
                        <a:pt x="0" y="40"/>
                      </a:moveTo>
                      <a:lnTo>
                        <a:pt x="492" y="284"/>
                      </a:lnTo>
                      <a:lnTo>
                        <a:pt x="814" y="0"/>
                      </a:lnTo>
                    </a:path>
                  </a:pathLst>
                </a:custGeom>
                <a:no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BE"/>
                </a:p>
              </p:txBody>
            </p:sp>
            <p:sp>
              <p:nvSpPr>
                <p:cNvPr id="50639" name="Freeform 463"/>
                <p:cNvSpPr>
                  <a:spLocks/>
                </p:cNvSpPr>
                <p:nvPr/>
              </p:nvSpPr>
              <p:spPr bwMode="auto">
                <a:xfrm>
                  <a:off x="4502" y="2876"/>
                  <a:ext cx="784" cy="309"/>
                </a:xfrm>
                <a:custGeom>
                  <a:avLst/>
                  <a:gdLst/>
                  <a:ahLst/>
                  <a:cxnLst>
                    <a:cxn ang="0">
                      <a:pos x="784" y="0"/>
                    </a:cxn>
                    <a:cxn ang="0">
                      <a:pos x="463" y="309"/>
                    </a:cxn>
                    <a:cxn ang="0">
                      <a:pos x="0" y="100"/>
                    </a:cxn>
                  </a:cxnLst>
                  <a:rect l="0" t="0" r="r" b="b"/>
                  <a:pathLst>
                    <a:path w="784" h="309">
                      <a:moveTo>
                        <a:pt x="784" y="0"/>
                      </a:moveTo>
                      <a:lnTo>
                        <a:pt x="463" y="309"/>
                      </a:lnTo>
                      <a:lnTo>
                        <a:pt x="0" y="100"/>
                      </a:lnTo>
                    </a:path>
                  </a:pathLst>
                </a:custGeom>
                <a:noFill/>
                <a:ln w="9525" cap="flat" cmpd="sng">
                  <a:solidFill>
                    <a:schemeClr val="tx1"/>
                  </a:solidFill>
                  <a:prstDash val="solid"/>
                  <a:round/>
                  <a:headEnd type="none" w="med" len="med"/>
                  <a:tailEnd type="none" w="med" len="med"/>
                </a:ln>
                <a:effectLst/>
              </p:spPr>
              <p:txBody>
                <a:bodyPr wrap="none" tIns="27432" bIns="27432" anchor="ctr">
                  <a:spAutoFit/>
                </a:bodyPr>
                <a:lstStyle/>
                <a:p>
                  <a:endParaRPr lang="fr-BE"/>
                </a:p>
              </p:txBody>
            </p:sp>
          </p:grpSp>
          <p:grpSp>
            <p:nvGrpSpPr>
              <p:cNvPr id="50640" name="Group 464"/>
              <p:cNvGrpSpPr>
                <a:grpSpLocks/>
              </p:cNvGrpSpPr>
              <p:nvPr/>
            </p:nvGrpSpPr>
            <p:grpSpPr bwMode="auto">
              <a:xfrm>
                <a:off x="720" y="2524"/>
                <a:ext cx="332" cy="626"/>
                <a:chOff x="3604" y="2644"/>
                <a:chExt cx="332" cy="626"/>
              </a:xfrm>
            </p:grpSpPr>
            <p:grpSp>
              <p:nvGrpSpPr>
                <p:cNvPr id="50641" name="Group 465"/>
                <p:cNvGrpSpPr>
                  <a:grpSpLocks/>
                </p:cNvGrpSpPr>
                <p:nvPr/>
              </p:nvGrpSpPr>
              <p:grpSpPr bwMode="auto">
                <a:xfrm>
                  <a:off x="3604" y="2644"/>
                  <a:ext cx="245" cy="626"/>
                  <a:chOff x="2073" y="2933"/>
                  <a:chExt cx="238" cy="611"/>
                </a:xfrm>
              </p:grpSpPr>
              <p:sp>
                <p:nvSpPr>
                  <p:cNvPr id="50642" name="Oval 466"/>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w="12700">
                    <a:noFill/>
                    <a:round/>
                    <a:headEnd/>
                    <a:tailEnd/>
                  </a:ln>
                  <a:effectLst>
                    <a:outerShdw dist="35921" dir="2700000" algn="ctr" rotWithShape="0">
                      <a:schemeClr val="tx1"/>
                    </a:outerShdw>
                  </a:effectLst>
                </p:spPr>
                <p:txBody>
                  <a:bodyPr wrap="none" anchor="ctr"/>
                  <a:lstStyle/>
                  <a:p>
                    <a:endParaRPr lang="fr-BE"/>
                  </a:p>
                </p:txBody>
              </p:sp>
              <p:sp>
                <p:nvSpPr>
                  <p:cNvPr id="50643" name="Freeform 467"/>
                  <p:cNvSpPr>
                    <a:spLocks/>
                  </p:cNvSpPr>
                  <p:nvPr/>
                </p:nvSpPr>
                <p:spPr bwMode="auto">
                  <a:xfrm>
                    <a:off x="2073" y="3048"/>
                    <a:ext cx="238" cy="496"/>
                  </a:xfrm>
                  <a:custGeom>
                    <a:avLst/>
                    <a:gdLst/>
                    <a:ahLst/>
                    <a:cxnLst>
                      <a:cxn ang="0">
                        <a:pos x="186" y="0"/>
                      </a:cxn>
                      <a:cxn ang="0">
                        <a:pos x="195" y="3"/>
                      </a:cxn>
                      <a:cxn ang="0">
                        <a:pos x="204" y="4"/>
                      </a:cxn>
                      <a:cxn ang="0">
                        <a:pos x="212" y="9"/>
                      </a:cxn>
                      <a:cxn ang="0">
                        <a:pos x="224" y="13"/>
                      </a:cxn>
                      <a:cxn ang="0">
                        <a:pos x="230" y="24"/>
                      </a:cxn>
                      <a:cxn ang="0">
                        <a:pos x="237" y="34"/>
                      </a:cxn>
                      <a:cxn ang="0">
                        <a:pos x="237" y="226"/>
                      </a:cxn>
                      <a:cxn ang="0">
                        <a:pos x="234" y="232"/>
                      </a:cxn>
                      <a:cxn ang="0">
                        <a:pos x="230" y="239"/>
                      </a:cxn>
                      <a:cxn ang="0">
                        <a:pos x="221" y="242"/>
                      </a:cxn>
                      <a:cxn ang="0">
                        <a:pos x="212" y="244"/>
                      </a:cxn>
                      <a:cxn ang="0">
                        <a:pos x="204" y="242"/>
                      </a:cxn>
                      <a:cxn ang="0">
                        <a:pos x="200" y="235"/>
                      </a:cxn>
                      <a:cxn ang="0">
                        <a:pos x="195" y="230"/>
                      </a:cxn>
                      <a:cxn ang="0">
                        <a:pos x="195" y="84"/>
                      </a:cxn>
                      <a:cxn ang="0">
                        <a:pos x="182" y="471"/>
                      </a:cxn>
                      <a:cxn ang="0">
                        <a:pos x="177" y="483"/>
                      </a:cxn>
                      <a:cxn ang="0">
                        <a:pos x="170" y="491"/>
                      </a:cxn>
                      <a:cxn ang="0">
                        <a:pos x="161" y="495"/>
                      </a:cxn>
                      <a:cxn ang="0">
                        <a:pos x="152" y="495"/>
                      </a:cxn>
                      <a:cxn ang="0">
                        <a:pos x="140" y="492"/>
                      </a:cxn>
                      <a:cxn ang="0">
                        <a:pos x="132" y="486"/>
                      </a:cxn>
                      <a:cxn ang="0">
                        <a:pos x="128" y="479"/>
                      </a:cxn>
                      <a:cxn ang="0">
                        <a:pos x="126" y="470"/>
                      </a:cxn>
                      <a:cxn ang="0">
                        <a:pos x="111" y="470"/>
                      </a:cxn>
                      <a:cxn ang="0">
                        <a:pos x="107" y="479"/>
                      </a:cxn>
                      <a:cxn ang="0">
                        <a:pos x="101" y="491"/>
                      </a:cxn>
                      <a:cxn ang="0">
                        <a:pos x="89" y="495"/>
                      </a:cxn>
                      <a:cxn ang="0">
                        <a:pos x="77" y="495"/>
                      </a:cxn>
                      <a:cxn ang="0">
                        <a:pos x="69" y="491"/>
                      </a:cxn>
                      <a:cxn ang="0">
                        <a:pos x="60" y="486"/>
                      </a:cxn>
                      <a:cxn ang="0">
                        <a:pos x="56" y="477"/>
                      </a:cxn>
                      <a:cxn ang="0">
                        <a:pos x="56" y="84"/>
                      </a:cxn>
                      <a:cxn ang="0">
                        <a:pos x="42" y="227"/>
                      </a:cxn>
                      <a:cxn ang="0">
                        <a:pos x="38" y="235"/>
                      </a:cxn>
                      <a:cxn ang="0">
                        <a:pos x="33" y="239"/>
                      </a:cxn>
                      <a:cxn ang="0">
                        <a:pos x="26" y="244"/>
                      </a:cxn>
                      <a:cxn ang="0">
                        <a:pos x="17" y="244"/>
                      </a:cxn>
                      <a:cxn ang="0">
                        <a:pos x="9" y="239"/>
                      </a:cxn>
                      <a:cxn ang="0">
                        <a:pos x="5" y="238"/>
                      </a:cxn>
                      <a:cxn ang="0">
                        <a:pos x="0" y="230"/>
                      </a:cxn>
                      <a:cxn ang="0">
                        <a:pos x="0" y="39"/>
                      </a:cxn>
                      <a:cxn ang="0">
                        <a:pos x="5" y="25"/>
                      </a:cxn>
                      <a:cxn ang="0">
                        <a:pos x="14" y="13"/>
                      </a:cxn>
                      <a:cxn ang="0">
                        <a:pos x="30" y="7"/>
                      </a:cxn>
                      <a:cxn ang="0">
                        <a:pos x="44" y="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w="12700" cap="rnd" cmpd="sng">
                    <a:noFill/>
                    <a:prstDash val="solid"/>
                    <a:round/>
                    <a:headEnd type="none" w="med" len="med"/>
                    <a:tailEnd type="none" w="med" len="med"/>
                  </a:ln>
                  <a:effectLst>
                    <a:outerShdw dist="35921" dir="2700000" algn="ctr" rotWithShape="0">
                      <a:schemeClr val="tx1"/>
                    </a:outerShdw>
                  </a:effectLst>
                </p:spPr>
                <p:txBody>
                  <a:bodyPr/>
                  <a:lstStyle/>
                  <a:p>
                    <a:endParaRPr lang="fr-BE"/>
                  </a:p>
                </p:txBody>
              </p:sp>
            </p:grpSp>
            <p:sp>
              <p:nvSpPr>
                <p:cNvPr id="50644" name="AutoShape 468"/>
                <p:cNvSpPr>
                  <a:spLocks noChangeArrowheads="1"/>
                </p:cNvSpPr>
                <p:nvPr/>
              </p:nvSpPr>
              <p:spPr bwMode="auto">
                <a:xfrm rot="1965645" flipV="1">
                  <a:off x="3756" y="2800"/>
                  <a:ext cx="180" cy="250"/>
                </a:xfrm>
                <a:prstGeom prst="foldedCorner">
                  <a:avLst>
                    <a:gd name="adj" fmla="val 29269"/>
                  </a:avLst>
                </a:prstGeom>
                <a:solidFill>
                  <a:schemeClr val="bg1"/>
                </a:solidFill>
                <a:ln w="6350">
                  <a:solidFill>
                    <a:schemeClr val="tx1"/>
                  </a:solidFill>
                  <a:round/>
                  <a:headEnd/>
                  <a:tailEnd/>
                </a:ln>
                <a:effectLst/>
              </p:spPr>
              <p:txBody>
                <a:bodyPr tIns="27432" bIns="27432" anchor="ctr">
                  <a:spAutoFit/>
                </a:bodyPr>
                <a:lstStyle/>
                <a:p>
                  <a:endParaRPr lang="fr-BE"/>
                </a:p>
              </p:txBody>
            </p:sp>
          </p:grpSp>
          <p:sp>
            <p:nvSpPr>
              <p:cNvPr id="50645" name="Text Box 469"/>
              <p:cNvSpPr txBox="1">
                <a:spLocks noChangeArrowheads="1"/>
              </p:cNvSpPr>
              <p:nvPr/>
            </p:nvSpPr>
            <p:spPr bwMode="auto">
              <a:xfrm>
                <a:off x="585" y="2343"/>
                <a:ext cx="1737" cy="233"/>
              </a:xfrm>
              <a:prstGeom prst="rect">
                <a:avLst/>
              </a:prstGeom>
              <a:noFill/>
              <a:ln w="9525">
                <a:noFill/>
                <a:miter lim="800000"/>
                <a:headEnd/>
                <a:tailEnd/>
              </a:ln>
              <a:effectLst/>
            </p:spPr>
            <p:txBody>
              <a:bodyPr wrap="square">
                <a:spAutoFit/>
              </a:bodyPr>
              <a:lstStyle/>
              <a:p>
                <a:pPr algn="ctr"/>
                <a:r>
                  <a:rPr lang="en-US" sz="1800" u="none" dirty="0">
                    <a:solidFill>
                      <a:schemeClr val="tx1"/>
                    </a:solidFill>
                    <a:latin typeface="Arial" charset="0"/>
                  </a:rPr>
                  <a:t>Un </a:t>
                </a:r>
                <a:r>
                  <a:rPr lang="en-US" sz="1800" u="none" dirty="0" err="1">
                    <a:solidFill>
                      <a:schemeClr val="tx1"/>
                    </a:solidFill>
                    <a:latin typeface="Arial" charset="0"/>
                  </a:rPr>
                  <a:t>compte</a:t>
                </a:r>
                <a:r>
                  <a:rPr lang="en-US" sz="1800" u="none" dirty="0">
                    <a:solidFill>
                      <a:schemeClr val="tx1"/>
                    </a:solidFill>
                    <a:latin typeface="Arial" charset="0"/>
                  </a:rPr>
                  <a:t> </a:t>
                </a:r>
                <a:r>
                  <a:rPr lang="en-US" sz="1800" u="none" dirty="0" err="1">
                    <a:solidFill>
                      <a:schemeClr val="tx1"/>
                    </a:solidFill>
                    <a:latin typeface="Arial" charset="0"/>
                  </a:rPr>
                  <a:t>d'utilisateur</a:t>
                </a:r>
                <a:endParaRPr lang="en-US" sz="1800" u="none" dirty="0">
                  <a:solidFill>
                    <a:schemeClr val="tx1"/>
                  </a:solidFill>
                  <a:latin typeface="Arial" charset="0"/>
                </a:endParaRPr>
              </a:p>
            </p:txBody>
          </p:sp>
          <p:sp>
            <p:nvSpPr>
              <p:cNvPr id="50646" name="Text Box 470"/>
              <p:cNvSpPr txBox="1">
                <a:spLocks noChangeArrowheads="1"/>
              </p:cNvSpPr>
              <p:nvPr/>
            </p:nvSpPr>
            <p:spPr bwMode="auto">
              <a:xfrm>
                <a:off x="720" y="3204"/>
                <a:ext cx="768" cy="404"/>
              </a:xfrm>
              <a:prstGeom prst="rect">
                <a:avLst/>
              </a:prstGeom>
              <a:noFill/>
              <a:ln w="9525">
                <a:noFill/>
                <a:miter lim="800000"/>
                <a:headEnd/>
                <a:tailEnd/>
              </a:ln>
              <a:effectLst/>
            </p:spPr>
            <p:txBody>
              <a:bodyPr>
                <a:spAutoFit/>
              </a:bodyPr>
              <a:lstStyle/>
              <a:p>
                <a:r>
                  <a:rPr lang="en-US" sz="1800" u="none" dirty="0">
                    <a:solidFill>
                      <a:schemeClr val="tx1"/>
                    </a:solidFill>
                    <a:latin typeface="Arial" charset="0"/>
                  </a:rPr>
                  <a:t>Active Directory</a:t>
                </a:r>
              </a:p>
            </p:txBody>
          </p:sp>
        </p:grpSp>
        <p:grpSp>
          <p:nvGrpSpPr>
            <p:cNvPr id="50647" name="Group 471"/>
            <p:cNvGrpSpPr>
              <a:grpSpLocks/>
            </p:cNvGrpSpPr>
            <p:nvPr/>
          </p:nvGrpSpPr>
          <p:grpSpPr bwMode="auto">
            <a:xfrm>
              <a:off x="7058025" y="4473575"/>
              <a:ext cx="958850" cy="1058863"/>
              <a:chOff x="1114" y="2441"/>
              <a:chExt cx="1064" cy="1173"/>
            </a:xfrm>
          </p:grpSpPr>
          <p:sp>
            <p:nvSpPr>
              <p:cNvPr id="50648" name="Freeform 472"/>
              <p:cNvSpPr>
                <a:spLocks noChangeAspect="1"/>
              </p:cNvSpPr>
              <p:nvPr/>
            </p:nvSpPr>
            <p:spPr bwMode="auto">
              <a:xfrm>
                <a:off x="1784" y="3203"/>
                <a:ext cx="357" cy="411"/>
              </a:xfrm>
              <a:custGeom>
                <a:avLst/>
                <a:gdLst/>
                <a:ahLst/>
                <a:cxnLst>
                  <a:cxn ang="0">
                    <a:pos x="0" y="158"/>
                  </a:cxn>
                  <a:cxn ang="0">
                    <a:pos x="265" y="0"/>
                  </a:cxn>
                  <a:cxn ang="0">
                    <a:pos x="265" y="130"/>
                  </a:cxn>
                  <a:cxn ang="0">
                    <a:pos x="2" y="305"/>
                  </a:cxn>
                </a:cxnLst>
                <a:rect l="0" t="0" r="r" b="b"/>
                <a:pathLst>
                  <a:path w="265" h="305">
                    <a:moveTo>
                      <a:pt x="0" y="158"/>
                    </a:moveTo>
                    <a:lnTo>
                      <a:pt x="265" y="0"/>
                    </a:lnTo>
                    <a:lnTo>
                      <a:pt x="265" y="130"/>
                    </a:lnTo>
                    <a:lnTo>
                      <a:pt x="2" y="305"/>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49" name="Freeform 473"/>
              <p:cNvSpPr>
                <a:spLocks noChangeAspect="1"/>
              </p:cNvSpPr>
              <p:nvPr/>
            </p:nvSpPr>
            <p:spPr bwMode="auto">
              <a:xfrm>
                <a:off x="1114" y="3058"/>
                <a:ext cx="1027" cy="358"/>
              </a:xfrm>
              <a:custGeom>
                <a:avLst/>
                <a:gdLst/>
                <a:ahLst/>
                <a:cxnLst>
                  <a:cxn ang="0">
                    <a:pos x="497" y="265"/>
                  </a:cxn>
                  <a:cxn ang="0">
                    <a:pos x="0" y="131"/>
                  </a:cxn>
                  <a:cxn ang="0">
                    <a:pos x="278" y="0"/>
                  </a:cxn>
                  <a:cxn ang="0">
                    <a:pos x="761" y="107"/>
                  </a:cxn>
                  <a:cxn ang="0">
                    <a:pos x="500" y="263"/>
                  </a:cxn>
                </a:cxnLst>
                <a:rect l="0" t="0" r="r" b="b"/>
                <a:pathLst>
                  <a:path w="761" h="265">
                    <a:moveTo>
                      <a:pt x="497" y="265"/>
                    </a:moveTo>
                    <a:lnTo>
                      <a:pt x="0" y="131"/>
                    </a:lnTo>
                    <a:lnTo>
                      <a:pt x="278" y="0"/>
                    </a:lnTo>
                    <a:lnTo>
                      <a:pt x="761" y="107"/>
                    </a:lnTo>
                    <a:lnTo>
                      <a:pt x="500" y="26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50" name="Freeform 474"/>
              <p:cNvSpPr>
                <a:spLocks noChangeAspect="1"/>
              </p:cNvSpPr>
              <p:nvPr/>
            </p:nvSpPr>
            <p:spPr bwMode="auto">
              <a:xfrm>
                <a:off x="1114" y="3234"/>
                <a:ext cx="673" cy="380"/>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51" name="Freeform 475"/>
              <p:cNvSpPr>
                <a:spLocks/>
              </p:cNvSpPr>
              <p:nvPr/>
            </p:nvSpPr>
            <p:spPr bwMode="auto">
              <a:xfrm>
                <a:off x="1288" y="3031"/>
                <a:ext cx="750" cy="316"/>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5F5F5F"/>
                </a:solidFill>
                <a:prstDash val="solid"/>
                <a:round/>
                <a:headEnd type="none" w="med" len="med"/>
                <a:tailEnd type="none" w="med" len="med"/>
              </a:ln>
              <a:effectLst/>
            </p:spPr>
            <p:txBody>
              <a:bodyPr/>
              <a:lstStyle/>
              <a:p>
                <a:endParaRPr lang="fr-BE"/>
              </a:p>
            </p:txBody>
          </p:sp>
          <p:sp>
            <p:nvSpPr>
              <p:cNvPr id="50652" name="Freeform 476"/>
              <p:cNvSpPr>
                <a:spLocks/>
              </p:cNvSpPr>
              <p:nvPr/>
            </p:nvSpPr>
            <p:spPr bwMode="auto">
              <a:xfrm>
                <a:off x="1297" y="3038"/>
                <a:ext cx="725" cy="280"/>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BE"/>
              </a:p>
            </p:txBody>
          </p:sp>
          <p:sp>
            <p:nvSpPr>
              <p:cNvPr id="50653" name="Oval 477"/>
              <p:cNvSpPr>
                <a:spLocks noChangeArrowheads="1"/>
              </p:cNvSpPr>
              <p:nvPr/>
            </p:nvSpPr>
            <p:spPr bwMode="auto">
              <a:xfrm>
                <a:off x="1478" y="3105"/>
                <a:ext cx="377" cy="152"/>
              </a:xfrm>
              <a:prstGeom prst="ellipse">
                <a:avLst/>
              </a:prstGeom>
              <a:solidFill>
                <a:srgbClr val="B2B2B2"/>
              </a:solidFill>
              <a:ln w="3175" cap="rnd">
                <a:solidFill>
                  <a:srgbClr val="808080"/>
                </a:solidFill>
                <a:round/>
                <a:headEnd/>
                <a:tailEnd/>
              </a:ln>
              <a:effectLst/>
            </p:spPr>
            <p:txBody>
              <a:bodyPr/>
              <a:lstStyle/>
              <a:p>
                <a:endParaRPr lang="fr-BE"/>
              </a:p>
            </p:txBody>
          </p:sp>
          <p:sp>
            <p:nvSpPr>
              <p:cNvPr id="50654" name="Freeform 478"/>
              <p:cNvSpPr>
                <a:spLocks/>
              </p:cNvSpPr>
              <p:nvPr/>
            </p:nvSpPr>
            <p:spPr bwMode="auto">
              <a:xfrm>
                <a:off x="1271" y="3110"/>
                <a:ext cx="611" cy="171"/>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rgbClr val="808080"/>
                </a:solidFill>
                <a:prstDash val="solid"/>
                <a:round/>
                <a:headEnd type="none" w="med" len="med"/>
                <a:tailEnd type="none" w="med" len="med"/>
              </a:ln>
              <a:effectLst/>
            </p:spPr>
            <p:txBody>
              <a:bodyPr/>
              <a:lstStyle/>
              <a:p>
                <a:endParaRPr lang="fr-BE"/>
              </a:p>
            </p:txBody>
          </p:sp>
          <p:sp>
            <p:nvSpPr>
              <p:cNvPr id="50655" name="Freeform 479"/>
              <p:cNvSpPr>
                <a:spLocks noChangeAspect="1"/>
              </p:cNvSpPr>
              <p:nvPr/>
            </p:nvSpPr>
            <p:spPr bwMode="auto">
              <a:xfrm>
                <a:off x="1417" y="2441"/>
                <a:ext cx="761" cy="701"/>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56" name="Freeform 480"/>
              <p:cNvSpPr>
                <a:spLocks noChangeAspect="1"/>
              </p:cNvSpPr>
              <p:nvPr/>
            </p:nvSpPr>
            <p:spPr bwMode="auto">
              <a:xfrm>
                <a:off x="1892" y="2596"/>
                <a:ext cx="152" cy="682"/>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57" name="Freeform 481"/>
              <p:cNvSpPr>
                <a:spLocks noChangeAspect="1"/>
              </p:cNvSpPr>
              <p:nvPr/>
            </p:nvSpPr>
            <p:spPr bwMode="auto">
              <a:xfrm>
                <a:off x="1215" y="2449"/>
                <a:ext cx="829" cy="23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rgbClr val="5F5F5F"/>
                </a:solidFill>
                <a:prstDash val="solid"/>
                <a:round/>
                <a:headEnd type="none" w="med" len="med"/>
                <a:tailEnd type="none" w="med" len="med"/>
              </a:ln>
              <a:effectLst/>
            </p:spPr>
            <p:txBody>
              <a:bodyPr/>
              <a:lstStyle/>
              <a:p>
                <a:endParaRPr lang="fr-BE"/>
              </a:p>
            </p:txBody>
          </p:sp>
          <p:sp>
            <p:nvSpPr>
              <p:cNvPr id="50658" name="Freeform 482"/>
              <p:cNvSpPr>
                <a:spLocks noChangeAspect="1"/>
              </p:cNvSpPr>
              <p:nvPr/>
            </p:nvSpPr>
            <p:spPr bwMode="auto">
              <a:xfrm>
                <a:off x="1215" y="2517"/>
                <a:ext cx="677" cy="764"/>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59" name="Freeform 483"/>
              <p:cNvSpPr>
                <a:spLocks noChangeAspect="1"/>
              </p:cNvSpPr>
              <p:nvPr/>
            </p:nvSpPr>
            <p:spPr bwMode="auto">
              <a:xfrm>
                <a:off x="1268" y="2585"/>
                <a:ext cx="573" cy="625"/>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3175" cap="rnd" cmpd="sng">
                <a:solidFill>
                  <a:srgbClr val="5F5F5F"/>
                </a:solidFill>
                <a:prstDash val="solid"/>
                <a:round/>
                <a:headEnd type="none" w="med" len="med"/>
                <a:tailEnd type="none" w="med" len="med"/>
              </a:ln>
              <a:effectLst/>
            </p:spPr>
            <p:txBody>
              <a:bodyPr/>
              <a:lstStyle/>
              <a:p>
                <a:endParaRPr lang="fr-BE"/>
              </a:p>
            </p:txBody>
          </p:sp>
          <p:sp>
            <p:nvSpPr>
              <p:cNvPr id="50660" name="Freeform 484"/>
              <p:cNvSpPr>
                <a:spLocks/>
              </p:cNvSpPr>
              <p:nvPr/>
            </p:nvSpPr>
            <p:spPr bwMode="auto">
              <a:xfrm>
                <a:off x="1303" y="2627"/>
                <a:ext cx="501" cy="539"/>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3175"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BE"/>
              </a:p>
            </p:txBody>
          </p:sp>
        </p:grpSp>
      </p:grpSp>
      <p:grpSp>
        <p:nvGrpSpPr>
          <p:cNvPr id="197" name="Groupe 196"/>
          <p:cNvGrpSpPr/>
          <p:nvPr/>
        </p:nvGrpSpPr>
        <p:grpSpPr>
          <a:xfrm>
            <a:off x="88488" y="1256682"/>
            <a:ext cx="8878532" cy="2533650"/>
            <a:chOff x="486698" y="1123950"/>
            <a:chExt cx="8082116" cy="2209800"/>
          </a:xfrm>
        </p:grpSpPr>
        <p:sp>
          <p:nvSpPr>
            <p:cNvPr id="50522" name="Rectangle 346"/>
            <p:cNvSpPr>
              <a:spLocks noChangeArrowheads="1"/>
            </p:cNvSpPr>
            <p:nvPr/>
          </p:nvSpPr>
          <p:spPr bwMode="auto">
            <a:xfrm>
              <a:off x="486698" y="1123950"/>
              <a:ext cx="8082116" cy="2209800"/>
            </a:xfrm>
            <a:prstGeom prst="rect">
              <a:avLst/>
            </a:prstGeom>
            <a:solidFill>
              <a:schemeClr val="bg1"/>
            </a:solidFill>
            <a:ln w="12700">
              <a:solidFill>
                <a:schemeClr val="tx1"/>
              </a:solidFill>
              <a:miter lim="800000"/>
              <a:headEnd/>
              <a:tailEnd/>
            </a:ln>
            <a:effectLst/>
          </p:spPr>
          <p:txBody>
            <a:bodyPr wrap="none"/>
            <a:lstStyle/>
            <a:p>
              <a:pPr algn="ctr"/>
              <a:r>
                <a:rPr lang="en-US" sz="2200" u="none">
                  <a:solidFill>
                    <a:schemeClr val="tx1"/>
                  </a:solidFill>
                  <a:latin typeface="Arial" charset="0"/>
                </a:rPr>
                <a:t>Groupe de travail</a:t>
              </a:r>
            </a:p>
          </p:txBody>
        </p:sp>
        <p:sp>
          <p:nvSpPr>
            <p:cNvPr id="50523" name="Rectangle 347"/>
            <p:cNvSpPr>
              <a:spLocks noChangeArrowheads="1"/>
            </p:cNvSpPr>
            <p:nvPr/>
          </p:nvSpPr>
          <p:spPr bwMode="auto">
            <a:xfrm>
              <a:off x="920750" y="3027363"/>
              <a:ext cx="7312025" cy="125412"/>
            </a:xfrm>
            <a:prstGeom prst="rect">
              <a:avLst/>
            </a:prstGeom>
            <a:gradFill rotWithShape="0">
              <a:gsLst>
                <a:gs pos="0">
                  <a:srgbClr val="CC0099"/>
                </a:gs>
                <a:gs pos="50000">
                  <a:srgbClr val="CC0099">
                    <a:gamma/>
                    <a:tint val="21176"/>
                    <a:invGamma/>
                  </a:srgbClr>
                </a:gs>
                <a:gs pos="100000">
                  <a:srgbClr val="CC0099"/>
                </a:gs>
              </a:gsLst>
              <a:lin ang="5400000" scaled="1"/>
            </a:gradFill>
            <a:ln w="9525">
              <a:noFill/>
              <a:miter lim="800000"/>
              <a:headEnd/>
              <a:tailEnd/>
            </a:ln>
            <a:effectLst/>
          </p:spPr>
          <p:txBody>
            <a:bodyPr wrap="none" anchor="ctr"/>
            <a:lstStyle/>
            <a:p>
              <a:endParaRPr lang="fr-BE"/>
            </a:p>
          </p:txBody>
        </p:sp>
        <p:sp>
          <p:nvSpPr>
            <p:cNvPr id="50524" name="AutoShape 348"/>
            <p:cNvSpPr>
              <a:spLocks noChangeArrowheads="1"/>
            </p:cNvSpPr>
            <p:nvPr/>
          </p:nvSpPr>
          <p:spPr bwMode="auto">
            <a:xfrm rot="5400000" flipV="1">
              <a:off x="1512094" y="2602706"/>
              <a:ext cx="908050" cy="122238"/>
            </a:xfrm>
            <a:prstGeom prst="homePlate">
              <a:avLst>
                <a:gd name="adj" fmla="val 74045"/>
              </a:avLst>
            </a:prstGeom>
            <a:gradFill rotWithShape="0">
              <a:gsLst>
                <a:gs pos="0">
                  <a:srgbClr val="CC0099"/>
                </a:gs>
                <a:gs pos="50000">
                  <a:srgbClr val="CC0099">
                    <a:gamma/>
                    <a:tint val="21176"/>
                    <a:invGamma/>
                  </a:srgbClr>
                </a:gs>
                <a:gs pos="100000">
                  <a:srgbClr val="CC0099"/>
                </a:gs>
              </a:gsLst>
              <a:lin ang="0" scaled="1"/>
            </a:gradFill>
            <a:ln w="9525">
              <a:noFill/>
              <a:miter lim="800000"/>
              <a:headEnd/>
              <a:tailEnd/>
            </a:ln>
            <a:effectLst/>
          </p:spPr>
          <p:txBody>
            <a:bodyPr wrap="none" anchor="ctr"/>
            <a:lstStyle/>
            <a:p>
              <a:endParaRPr lang="fr-BE"/>
            </a:p>
          </p:txBody>
        </p:sp>
        <p:grpSp>
          <p:nvGrpSpPr>
            <p:cNvPr id="50526" name="Group 350"/>
            <p:cNvGrpSpPr>
              <a:grpSpLocks/>
            </p:cNvGrpSpPr>
            <p:nvPr/>
          </p:nvGrpSpPr>
          <p:grpSpPr bwMode="auto">
            <a:xfrm>
              <a:off x="1524000" y="1657350"/>
              <a:ext cx="958850" cy="1058863"/>
              <a:chOff x="1114" y="2441"/>
              <a:chExt cx="1064" cy="1173"/>
            </a:xfrm>
          </p:grpSpPr>
          <p:sp>
            <p:nvSpPr>
              <p:cNvPr id="50527" name="Freeform 351"/>
              <p:cNvSpPr>
                <a:spLocks noChangeAspect="1"/>
              </p:cNvSpPr>
              <p:nvPr/>
            </p:nvSpPr>
            <p:spPr bwMode="auto">
              <a:xfrm>
                <a:off x="1784" y="3203"/>
                <a:ext cx="357" cy="411"/>
              </a:xfrm>
              <a:custGeom>
                <a:avLst/>
                <a:gdLst/>
                <a:ahLst/>
                <a:cxnLst>
                  <a:cxn ang="0">
                    <a:pos x="0" y="158"/>
                  </a:cxn>
                  <a:cxn ang="0">
                    <a:pos x="265" y="0"/>
                  </a:cxn>
                  <a:cxn ang="0">
                    <a:pos x="265" y="130"/>
                  </a:cxn>
                  <a:cxn ang="0">
                    <a:pos x="2" y="305"/>
                  </a:cxn>
                </a:cxnLst>
                <a:rect l="0" t="0" r="r" b="b"/>
                <a:pathLst>
                  <a:path w="265" h="305">
                    <a:moveTo>
                      <a:pt x="0" y="158"/>
                    </a:moveTo>
                    <a:lnTo>
                      <a:pt x="265" y="0"/>
                    </a:lnTo>
                    <a:lnTo>
                      <a:pt x="265" y="130"/>
                    </a:lnTo>
                    <a:lnTo>
                      <a:pt x="2" y="305"/>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28" name="Freeform 352"/>
              <p:cNvSpPr>
                <a:spLocks noChangeAspect="1"/>
              </p:cNvSpPr>
              <p:nvPr/>
            </p:nvSpPr>
            <p:spPr bwMode="auto">
              <a:xfrm>
                <a:off x="1114" y="3058"/>
                <a:ext cx="1027" cy="358"/>
              </a:xfrm>
              <a:custGeom>
                <a:avLst/>
                <a:gdLst/>
                <a:ahLst/>
                <a:cxnLst>
                  <a:cxn ang="0">
                    <a:pos x="497" y="265"/>
                  </a:cxn>
                  <a:cxn ang="0">
                    <a:pos x="0" y="131"/>
                  </a:cxn>
                  <a:cxn ang="0">
                    <a:pos x="278" y="0"/>
                  </a:cxn>
                  <a:cxn ang="0">
                    <a:pos x="761" y="107"/>
                  </a:cxn>
                  <a:cxn ang="0">
                    <a:pos x="500" y="263"/>
                  </a:cxn>
                </a:cxnLst>
                <a:rect l="0" t="0" r="r" b="b"/>
                <a:pathLst>
                  <a:path w="761" h="265">
                    <a:moveTo>
                      <a:pt x="497" y="265"/>
                    </a:moveTo>
                    <a:lnTo>
                      <a:pt x="0" y="131"/>
                    </a:lnTo>
                    <a:lnTo>
                      <a:pt x="278" y="0"/>
                    </a:lnTo>
                    <a:lnTo>
                      <a:pt x="761" y="107"/>
                    </a:lnTo>
                    <a:lnTo>
                      <a:pt x="500" y="26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29" name="Freeform 353"/>
              <p:cNvSpPr>
                <a:spLocks noChangeAspect="1"/>
              </p:cNvSpPr>
              <p:nvPr/>
            </p:nvSpPr>
            <p:spPr bwMode="auto">
              <a:xfrm>
                <a:off x="1114" y="3234"/>
                <a:ext cx="673" cy="380"/>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30" name="Freeform 354"/>
              <p:cNvSpPr>
                <a:spLocks/>
              </p:cNvSpPr>
              <p:nvPr/>
            </p:nvSpPr>
            <p:spPr bwMode="auto">
              <a:xfrm>
                <a:off x="1288" y="3031"/>
                <a:ext cx="750" cy="316"/>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5F5F5F"/>
                </a:solidFill>
                <a:prstDash val="solid"/>
                <a:round/>
                <a:headEnd type="none" w="med" len="med"/>
                <a:tailEnd type="none" w="med" len="med"/>
              </a:ln>
              <a:effectLst/>
            </p:spPr>
            <p:txBody>
              <a:bodyPr/>
              <a:lstStyle/>
              <a:p>
                <a:endParaRPr lang="fr-BE"/>
              </a:p>
            </p:txBody>
          </p:sp>
          <p:sp>
            <p:nvSpPr>
              <p:cNvPr id="50531" name="Freeform 355"/>
              <p:cNvSpPr>
                <a:spLocks/>
              </p:cNvSpPr>
              <p:nvPr/>
            </p:nvSpPr>
            <p:spPr bwMode="auto">
              <a:xfrm>
                <a:off x="1297" y="3038"/>
                <a:ext cx="725" cy="280"/>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BE"/>
              </a:p>
            </p:txBody>
          </p:sp>
          <p:sp>
            <p:nvSpPr>
              <p:cNvPr id="50532" name="Oval 356"/>
              <p:cNvSpPr>
                <a:spLocks noChangeArrowheads="1"/>
              </p:cNvSpPr>
              <p:nvPr/>
            </p:nvSpPr>
            <p:spPr bwMode="auto">
              <a:xfrm>
                <a:off x="1478" y="3105"/>
                <a:ext cx="377" cy="152"/>
              </a:xfrm>
              <a:prstGeom prst="ellipse">
                <a:avLst/>
              </a:prstGeom>
              <a:solidFill>
                <a:srgbClr val="B2B2B2"/>
              </a:solidFill>
              <a:ln w="3175" cap="rnd">
                <a:solidFill>
                  <a:srgbClr val="808080"/>
                </a:solidFill>
                <a:round/>
                <a:headEnd/>
                <a:tailEnd/>
              </a:ln>
              <a:effectLst/>
            </p:spPr>
            <p:txBody>
              <a:bodyPr/>
              <a:lstStyle/>
              <a:p>
                <a:endParaRPr lang="fr-BE"/>
              </a:p>
            </p:txBody>
          </p:sp>
          <p:sp>
            <p:nvSpPr>
              <p:cNvPr id="50533" name="Freeform 357"/>
              <p:cNvSpPr>
                <a:spLocks/>
              </p:cNvSpPr>
              <p:nvPr/>
            </p:nvSpPr>
            <p:spPr bwMode="auto">
              <a:xfrm>
                <a:off x="1271" y="3110"/>
                <a:ext cx="611" cy="171"/>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rgbClr val="808080"/>
                </a:solidFill>
                <a:prstDash val="solid"/>
                <a:round/>
                <a:headEnd type="none" w="med" len="med"/>
                <a:tailEnd type="none" w="med" len="med"/>
              </a:ln>
              <a:effectLst/>
            </p:spPr>
            <p:txBody>
              <a:bodyPr/>
              <a:lstStyle/>
              <a:p>
                <a:endParaRPr lang="fr-BE"/>
              </a:p>
            </p:txBody>
          </p:sp>
          <p:sp>
            <p:nvSpPr>
              <p:cNvPr id="50534" name="Freeform 358"/>
              <p:cNvSpPr>
                <a:spLocks noChangeAspect="1"/>
              </p:cNvSpPr>
              <p:nvPr/>
            </p:nvSpPr>
            <p:spPr bwMode="auto">
              <a:xfrm>
                <a:off x="1417" y="2441"/>
                <a:ext cx="761" cy="701"/>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35" name="Freeform 359"/>
              <p:cNvSpPr>
                <a:spLocks noChangeAspect="1"/>
              </p:cNvSpPr>
              <p:nvPr/>
            </p:nvSpPr>
            <p:spPr bwMode="auto">
              <a:xfrm>
                <a:off x="1892" y="2596"/>
                <a:ext cx="152" cy="682"/>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36" name="Freeform 360"/>
              <p:cNvSpPr>
                <a:spLocks noChangeAspect="1"/>
              </p:cNvSpPr>
              <p:nvPr/>
            </p:nvSpPr>
            <p:spPr bwMode="auto">
              <a:xfrm>
                <a:off x="1215" y="2449"/>
                <a:ext cx="829" cy="23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rgbClr val="5F5F5F"/>
                </a:solidFill>
                <a:prstDash val="solid"/>
                <a:round/>
                <a:headEnd type="none" w="med" len="med"/>
                <a:tailEnd type="none" w="med" len="med"/>
              </a:ln>
              <a:effectLst/>
            </p:spPr>
            <p:txBody>
              <a:bodyPr/>
              <a:lstStyle/>
              <a:p>
                <a:endParaRPr lang="fr-BE"/>
              </a:p>
            </p:txBody>
          </p:sp>
          <p:sp>
            <p:nvSpPr>
              <p:cNvPr id="50537" name="Freeform 361"/>
              <p:cNvSpPr>
                <a:spLocks noChangeAspect="1"/>
              </p:cNvSpPr>
              <p:nvPr/>
            </p:nvSpPr>
            <p:spPr bwMode="auto">
              <a:xfrm>
                <a:off x="1215" y="2517"/>
                <a:ext cx="677" cy="764"/>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38" name="Freeform 362"/>
              <p:cNvSpPr>
                <a:spLocks noChangeAspect="1"/>
              </p:cNvSpPr>
              <p:nvPr/>
            </p:nvSpPr>
            <p:spPr bwMode="auto">
              <a:xfrm>
                <a:off x="1268" y="2585"/>
                <a:ext cx="573" cy="625"/>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3175" cap="rnd" cmpd="sng">
                <a:solidFill>
                  <a:srgbClr val="5F5F5F"/>
                </a:solidFill>
                <a:prstDash val="solid"/>
                <a:round/>
                <a:headEnd type="none" w="med" len="med"/>
                <a:tailEnd type="none" w="med" len="med"/>
              </a:ln>
              <a:effectLst/>
            </p:spPr>
            <p:txBody>
              <a:bodyPr/>
              <a:lstStyle/>
              <a:p>
                <a:endParaRPr lang="fr-BE"/>
              </a:p>
            </p:txBody>
          </p:sp>
          <p:sp>
            <p:nvSpPr>
              <p:cNvPr id="50539" name="Freeform 363"/>
              <p:cNvSpPr>
                <a:spLocks/>
              </p:cNvSpPr>
              <p:nvPr/>
            </p:nvSpPr>
            <p:spPr bwMode="auto">
              <a:xfrm>
                <a:off x="1303" y="2627"/>
                <a:ext cx="501" cy="539"/>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3175"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BE"/>
              </a:p>
            </p:txBody>
          </p:sp>
        </p:grpSp>
        <p:sp>
          <p:nvSpPr>
            <p:cNvPr id="50576" name="AutoShape 400"/>
            <p:cNvSpPr>
              <a:spLocks noChangeArrowheads="1"/>
            </p:cNvSpPr>
            <p:nvPr/>
          </p:nvSpPr>
          <p:spPr bwMode="auto">
            <a:xfrm rot="5400000" flipV="1">
              <a:off x="3617119" y="2588419"/>
              <a:ext cx="908050" cy="147638"/>
            </a:xfrm>
            <a:prstGeom prst="homePlate">
              <a:avLst>
                <a:gd name="adj" fmla="val 61306"/>
              </a:avLst>
            </a:prstGeom>
            <a:gradFill rotWithShape="0">
              <a:gsLst>
                <a:gs pos="0">
                  <a:srgbClr val="CC0099"/>
                </a:gs>
                <a:gs pos="50000">
                  <a:srgbClr val="CC0099">
                    <a:gamma/>
                    <a:tint val="21176"/>
                    <a:invGamma/>
                  </a:srgbClr>
                </a:gs>
                <a:gs pos="100000">
                  <a:srgbClr val="CC0099"/>
                </a:gs>
              </a:gsLst>
              <a:lin ang="0" scaled="1"/>
            </a:gradFill>
            <a:ln w="9525">
              <a:noFill/>
              <a:miter lim="800000"/>
              <a:headEnd/>
              <a:tailEnd/>
            </a:ln>
            <a:effectLst/>
          </p:spPr>
          <p:txBody>
            <a:bodyPr wrap="none" anchor="ctr"/>
            <a:lstStyle/>
            <a:p>
              <a:endParaRPr lang="fr-BE"/>
            </a:p>
          </p:txBody>
        </p:sp>
        <p:grpSp>
          <p:nvGrpSpPr>
            <p:cNvPr id="50577" name="Group 401"/>
            <p:cNvGrpSpPr>
              <a:grpSpLocks/>
            </p:cNvGrpSpPr>
            <p:nvPr/>
          </p:nvGrpSpPr>
          <p:grpSpPr bwMode="auto">
            <a:xfrm>
              <a:off x="3581400" y="1657350"/>
              <a:ext cx="958850" cy="1058863"/>
              <a:chOff x="1114" y="2441"/>
              <a:chExt cx="1064" cy="1173"/>
            </a:xfrm>
          </p:grpSpPr>
          <p:sp>
            <p:nvSpPr>
              <p:cNvPr id="50578" name="Freeform 402"/>
              <p:cNvSpPr>
                <a:spLocks noChangeAspect="1"/>
              </p:cNvSpPr>
              <p:nvPr/>
            </p:nvSpPr>
            <p:spPr bwMode="auto">
              <a:xfrm>
                <a:off x="1784" y="3203"/>
                <a:ext cx="357" cy="411"/>
              </a:xfrm>
              <a:custGeom>
                <a:avLst/>
                <a:gdLst/>
                <a:ahLst/>
                <a:cxnLst>
                  <a:cxn ang="0">
                    <a:pos x="0" y="158"/>
                  </a:cxn>
                  <a:cxn ang="0">
                    <a:pos x="265" y="0"/>
                  </a:cxn>
                  <a:cxn ang="0">
                    <a:pos x="265" y="130"/>
                  </a:cxn>
                  <a:cxn ang="0">
                    <a:pos x="2" y="305"/>
                  </a:cxn>
                </a:cxnLst>
                <a:rect l="0" t="0" r="r" b="b"/>
                <a:pathLst>
                  <a:path w="265" h="305">
                    <a:moveTo>
                      <a:pt x="0" y="158"/>
                    </a:moveTo>
                    <a:lnTo>
                      <a:pt x="265" y="0"/>
                    </a:lnTo>
                    <a:lnTo>
                      <a:pt x="265" y="130"/>
                    </a:lnTo>
                    <a:lnTo>
                      <a:pt x="2" y="305"/>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79" name="Freeform 403"/>
              <p:cNvSpPr>
                <a:spLocks noChangeAspect="1"/>
              </p:cNvSpPr>
              <p:nvPr/>
            </p:nvSpPr>
            <p:spPr bwMode="auto">
              <a:xfrm>
                <a:off x="1114" y="3058"/>
                <a:ext cx="1027" cy="358"/>
              </a:xfrm>
              <a:custGeom>
                <a:avLst/>
                <a:gdLst/>
                <a:ahLst/>
                <a:cxnLst>
                  <a:cxn ang="0">
                    <a:pos x="497" y="265"/>
                  </a:cxn>
                  <a:cxn ang="0">
                    <a:pos x="0" y="131"/>
                  </a:cxn>
                  <a:cxn ang="0">
                    <a:pos x="278" y="0"/>
                  </a:cxn>
                  <a:cxn ang="0">
                    <a:pos x="761" y="107"/>
                  </a:cxn>
                  <a:cxn ang="0">
                    <a:pos x="500" y="263"/>
                  </a:cxn>
                </a:cxnLst>
                <a:rect l="0" t="0" r="r" b="b"/>
                <a:pathLst>
                  <a:path w="761" h="265">
                    <a:moveTo>
                      <a:pt x="497" y="265"/>
                    </a:moveTo>
                    <a:lnTo>
                      <a:pt x="0" y="131"/>
                    </a:lnTo>
                    <a:lnTo>
                      <a:pt x="278" y="0"/>
                    </a:lnTo>
                    <a:lnTo>
                      <a:pt x="761" y="107"/>
                    </a:lnTo>
                    <a:lnTo>
                      <a:pt x="500" y="26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80" name="Freeform 404"/>
              <p:cNvSpPr>
                <a:spLocks noChangeAspect="1"/>
              </p:cNvSpPr>
              <p:nvPr/>
            </p:nvSpPr>
            <p:spPr bwMode="auto">
              <a:xfrm>
                <a:off x="1114" y="3234"/>
                <a:ext cx="673" cy="380"/>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81" name="Freeform 405"/>
              <p:cNvSpPr>
                <a:spLocks/>
              </p:cNvSpPr>
              <p:nvPr/>
            </p:nvSpPr>
            <p:spPr bwMode="auto">
              <a:xfrm>
                <a:off x="1288" y="3031"/>
                <a:ext cx="750" cy="316"/>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5F5F5F"/>
                </a:solidFill>
                <a:prstDash val="solid"/>
                <a:round/>
                <a:headEnd type="none" w="med" len="med"/>
                <a:tailEnd type="none" w="med" len="med"/>
              </a:ln>
              <a:effectLst/>
            </p:spPr>
            <p:txBody>
              <a:bodyPr/>
              <a:lstStyle/>
              <a:p>
                <a:endParaRPr lang="fr-BE"/>
              </a:p>
            </p:txBody>
          </p:sp>
          <p:sp>
            <p:nvSpPr>
              <p:cNvPr id="50582" name="Freeform 406"/>
              <p:cNvSpPr>
                <a:spLocks/>
              </p:cNvSpPr>
              <p:nvPr/>
            </p:nvSpPr>
            <p:spPr bwMode="auto">
              <a:xfrm>
                <a:off x="1297" y="3038"/>
                <a:ext cx="725" cy="280"/>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BE"/>
              </a:p>
            </p:txBody>
          </p:sp>
          <p:sp>
            <p:nvSpPr>
              <p:cNvPr id="50583" name="Oval 407"/>
              <p:cNvSpPr>
                <a:spLocks noChangeArrowheads="1"/>
              </p:cNvSpPr>
              <p:nvPr/>
            </p:nvSpPr>
            <p:spPr bwMode="auto">
              <a:xfrm>
                <a:off x="1478" y="3105"/>
                <a:ext cx="377" cy="152"/>
              </a:xfrm>
              <a:prstGeom prst="ellipse">
                <a:avLst/>
              </a:prstGeom>
              <a:solidFill>
                <a:srgbClr val="B2B2B2"/>
              </a:solidFill>
              <a:ln w="3175" cap="rnd">
                <a:solidFill>
                  <a:srgbClr val="808080"/>
                </a:solidFill>
                <a:round/>
                <a:headEnd/>
                <a:tailEnd/>
              </a:ln>
              <a:effectLst/>
            </p:spPr>
            <p:txBody>
              <a:bodyPr/>
              <a:lstStyle/>
              <a:p>
                <a:endParaRPr lang="fr-BE"/>
              </a:p>
            </p:txBody>
          </p:sp>
          <p:sp>
            <p:nvSpPr>
              <p:cNvPr id="50584" name="Freeform 408"/>
              <p:cNvSpPr>
                <a:spLocks/>
              </p:cNvSpPr>
              <p:nvPr/>
            </p:nvSpPr>
            <p:spPr bwMode="auto">
              <a:xfrm>
                <a:off x="1271" y="3110"/>
                <a:ext cx="611" cy="171"/>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rgbClr val="808080"/>
                </a:solidFill>
                <a:prstDash val="solid"/>
                <a:round/>
                <a:headEnd type="none" w="med" len="med"/>
                <a:tailEnd type="none" w="med" len="med"/>
              </a:ln>
              <a:effectLst/>
            </p:spPr>
            <p:txBody>
              <a:bodyPr/>
              <a:lstStyle/>
              <a:p>
                <a:endParaRPr lang="fr-BE"/>
              </a:p>
            </p:txBody>
          </p:sp>
          <p:sp>
            <p:nvSpPr>
              <p:cNvPr id="50585" name="Freeform 409"/>
              <p:cNvSpPr>
                <a:spLocks noChangeAspect="1"/>
              </p:cNvSpPr>
              <p:nvPr/>
            </p:nvSpPr>
            <p:spPr bwMode="auto">
              <a:xfrm>
                <a:off x="1417" y="2441"/>
                <a:ext cx="761" cy="701"/>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86" name="Freeform 410"/>
              <p:cNvSpPr>
                <a:spLocks noChangeAspect="1"/>
              </p:cNvSpPr>
              <p:nvPr/>
            </p:nvSpPr>
            <p:spPr bwMode="auto">
              <a:xfrm>
                <a:off x="1892" y="2596"/>
                <a:ext cx="152" cy="682"/>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87" name="Freeform 411"/>
              <p:cNvSpPr>
                <a:spLocks noChangeAspect="1"/>
              </p:cNvSpPr>
              <p:nvPr/>
            </p:nvSpPr>
            <p:spPr bwMode="auto">
              <a:xfrm>
                <a:off x="1215" y="2449"/>
                <a:ext cx="829" cy="23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rgbClr val="5F5F5F"/>
                </a:solidFill>
                <a:prstDash val="solid"/>
                <a:round/>
                <a:headEnd type="none" w="med" len="med"/>
                <a:tailEnd type="none" w="med" len="med"/>
              </a:ln>
              <a:effectLst/>
            </p:spPr>
            <p:txBody>
              <a:bodyPr/>
              <a:lstStyle/>
              <a:p>
                <a:endParaRPr lang="fr-BE"/>
              </a:p>
            </p:txBody>
          </p:sp>
          <p:sp>
            <p:nvSpPr>
              <p:cNvPr id="50588" name="Freeform 412"/>
              <p:cNvSpPr>
                <a:spLocks noChangeAspect="1"/>
              </p:cNvSpPr>
              <p:nvPr/>
            </p:nvSpPr>
            <p:spPr bwMode="auto">
              <a:xfrm>
                <a:off x="1215" y="2517"/>
                <a:ext cx="677" cy="764"/>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89" name="Freeform 413"/>
              <p:cNvSpPr>
                <a:spLocks noChangeAspect="1"/>
              </p:cNvSpPr>
              <p:nvPr/>
            </p:nvSpPr>
            <p:spPr bwMode="auto">
              <a:xfrm>
                <a:off x="1268" y="2585"/>
                <a:ext cx="573" cy="625"/>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3175" cap="rnd" cmpd="sng">
                <a:solidFill>
                  <a:srgbClr val="5F5F5F"/>
                </a:solidFill>
                <a:prstDash val="solid"/>
                <a:round/>
                <a:headEnd type="none" w="med" len="med"/>
                <a:tailEnd type="none" w="med" len="med"/>
              </a:ln>
              <a:effectLst/>
            </p:spPr>
            <p:txBody>
              <a:bodyPr/>
              <a:lstStyle/>
              <a:p>
                <a:endParaRPr lang="fr-BE"/>
              </a:p>
            </p:txBody>
          </p:sp>
          <p:sp>
            <p:nvSpPr>
              <p:cNvPr id="50590" name="Freeform 414"/>
              <p:cNvSpPr>
                <a:spLocks/>
              </p:cNvSpPr>
              <p:nvPr/>
            </p:nvSpPr>
            <p:spPr bwMode="auto">
              <a:xfrm>
                <a:off x="1303" y="2627"/>
                <a:ext cx="501" cy="539"/>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3175"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BE"/>
              </a:p>
            </p:txBody>
          </p:sp>
        </p:grpSp>
        <p:sp>
          <p:nvSpPr>
            <p:cNvPr id="50591" name="AutoShape 415"/>
            <p:cNvSpPr>
              <a:spLocks noChangeArrowheads="1"/>
            </p:cNvSpPr>
            <p:nvPr/>
          </p:nvSpPr>
          <p:spPr bwMode="auto">
            <a:xfrm rot="5400000" flipV="1">
              <a:off x="5480844" y="2590007"/>
              <a:ext cx="908050" cy="144462"/>
            </a:xfrm>
            <a:prstGeom prst="homePlate">
              <a:avLst>
                <a:gd name="adj" fmla="val 62654"/>
              </a:avLst>
            </a:prstGeom>
            <a:gradFill rotWithShape="0">
              <a:gsLst>
                <a:gs pos="0">
                  <a:srgbClr val="CC0099"/>
                </a:gs>
                <a:gs pos="50000">
                  <a:srgbClr val="CC0099">
                    <a:gamma/>
                    <a:tint val="21176"/>
                    <a:invGamma/>
                  </a:srgbClr>
                </a:gs>
                <a:gs pos="100000">
                  <a:srgbClr val="CC0099"/>
                </a:gs>
              </a:gsLst>
              <a:lin ang="0" scaled="1"/>
            </a:gradFill>
            <a:ln w="9525">
              <a:noFill/>
              <a:miter lim="800000"/>
              <a:headEnd/>
              <a:tailEnd/>
            </a:ln>
            <a:effectLst/>
          </p:spPr>
          <p:txBody>
            <a:bodyPr wrap="none" anchor="ctr"/>
            <a:lstStyle/>
            <a:p>
              <a:endParaRPr lang="fr-BE"/>
            </a:p>
          </p:txBody>
        </p:sp>
        <p:grpSp>
          <p:nvGrpSpPr>
            <p:cNvPr id="50592" name="Group 416"/>
            <p:cNvGrpSpPr>
              <a:grpSpLocks/>
            </p:cNvGrpSpPr>
            <p:nvPr/>
          </p:nvGrpSpPr>
          <p:grpSpPr bwMode="auto">
            <a:xfrm>
              <a:off x="5441950" y="1657350"/>
              <a:ext cx="958850" cy="1058863"/>
              <a:chOff x="1114" y="2441"/>
              <a:chExt cx="1064" cy="1173"/>
            </a:xfrm>
          </p:grpSpPr>
          <p:sp>
            <p:nvSpPr>
              <p:cNvPr id="50593" name="Freeform 417"/>
              <p:cNvSpPr>
                <a:spLocks noChangeAspect="1"/>
              </p:cNvSpPr>
              <p:nvPr/>
            </p:nvSpPr>
            <p:spPr bwMode="auto">
              <a:xfrm>
                <a:off x="1784" y="3203"/>
                <a:ext cx="357" cy="411"/>
              </a:xfrm>
              <a:custGeom>
                <a:avLst/>
                <a:gdLst/>
                <a:ahLst/>
                <a:cxnLst>
                  <a:cxn ang="0">
                    <a:pos x="0" y="158"/>
                  </a:cxn>
                  <a:cxn ang="0">
                    <a:pos x="265" y="0"/>
                  </a:cxn>
                  <a:cxn ang="0">
                    <a:pos x="265" y="130"/>
                  </a:cxn>
                  <a:cxn ang="0">
                    <a:pos x="2" y="305"/>
                  </a:cxn>
                </a:cxnLst>
                <a:rect l="0" t="0" r="r" b="b"/>
                <a:pathLst>
                  <a:path w="265" h="305">
                    <a:moveTo>
                      <a:pt x="0" y="158"/>
                    </a:moveTo>
                    <a:lnTo>
                      <a:pt x="265" y="0"/>
                    </a:lnTo>
                    <a:lnTo>
                      <a:pt x="265" y="130"/>
                    </a:lnTo>
                    <a:lnTo>
                      <a:pt x="2" y="305"/>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94" name="Freeform 418"/>
              <p:cNvSpPr>
                <a:spLocks noChangeAspect="1"/>
              </p:cNvSpPr>
              <p:nvPr/>
            </p:nvSpPr>
            <p:spPr bwMode="auto">
              <a:xfrm>
                <a:off x="1114" y="3058"/>
                <a:ext cx="1027" cy="358"/>
              </a:xfrm>
              <a:custGeom>
                <a:avLst/>
                <a:gdLst/>
                <a:ahLst/>
                <a:cxnLst>
                  <a:cxn ang="0">
                    <a:pos x="497" y="265"/>
                  </a:cxn>
                  <a:cxn ang="0">
                    <a:pos x="0" y="131"/>
                  </a:cxn>
                  <a:cxn ang="0">
                    <a:pos x="278" y="0"/>
                  </a:cxn>
                  <a:cxn ang="0">
                    <a:pos x="761" y="107"/>
                  </a:cxn>
                  <a:cxn ang="0">
                    <a:pos x="500" y="263"/>
                  </a:cxn>
                </a:cxnLst>
                <a:rect l="0" t="0" r="r" b="b"/>
                <a:pathLst>
                  <a:path w="761" h="265">
                    <a:moveTo>
                      <a:pt x="497" y="265"/>
                    </a:moveTo>
                    <a:lnTo>
                      <a:pt x="0" y="131"/>
                    </a:lnTo>
                    <a:lnTo>
                      <a:pt x="278" y="0"/>
                    </a:lnTo>
                    <a:lnTo>
                      <a:pt x="761" y="107"/>
                    </a:lnTo>
                    <a:lnTo>
                      <a:pt x="500" y="26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95" name="Freeform 419"/>
              <p:cNvSpPr>
                <a:spLocks noChangeAspect="1"/>
              </p:cNvSpPr>
              <p:nvPr/>
            </p:nvSpPr>
            <p:spPr bwMode="auto">
              <a:xfrm>
                <a:off x="1114" y="3234"/>
                <a:ext cx="673" cy="380"/>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596" name="Freeform 420"/>
              <p:cNvSpPr>
                <a:spLocks/>
              </p:cNvSpPr>
              <p:nvPr/>
            </p:nvSpPr>
            <p:spPr bwMode="auto">
              <a:xfrm>
                <a:off x="1288" y="3031"/>
                <a:ext cx="750" cy="316"/>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5F5F5F"/>
                </a:solidFill>
                <a:prstDash val="solid"/>
                <a:round/>
                <a:headEnd type="none" w="med" len="med"/>
                <a:tailEnd type="none" w="med" len="med"/>
              </a:ln>
              <a:effectLst/>
            </p:spPr>
            <p:txBody>
              <a:bodyPr/>
              <a:lstStyle/>
              <a:p>
                <a:endParaRPr lang="fr-BE"/>
              </a:p>
            </p:txBody>
          </p:sp>
          <p:sp>
            <p:nvSpPr>
              <p:cNvPr id="50597" name="Freeform 421"/>
              <p:cNvSpPr>
                <a:spLocks/>
              </p:cNvSpPr>
              <p:nvPr/>
            </p:nvSpPr>
            <p:spPr bwMode="auto">
              <a:xfrm>
                <a:off x="1297" y="3038"/>
                <a:ext cx="725" cy="280"/>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BE"/>
              </a:p>
            </p:txBody>
          </p:sp>
          <p:sp>
            <p:nvSpPr>
              <p:cNvPr id="50598" name="Oval 422"/>
              <p:cNvSpPr>
                <a:spLocks noChangeArrowheads="1"/>
              </p:cNvSpPr>
              <p:nvPr/>
            </p:nvSpPr>
            <p:spPr bwMode="auto">
              <a:xfrm>
                <a:off x="1478" y="3105"/>
                <a:ext cx="377" cy="152"/>
              </a:xfrm>
              <a:prstGeom prst="ellipse">
                <a:avLst/>
              </a:prstGeom>
              <a:solidFill>
                <a:srgbClr val="B2B2B2"/>
              </a:solidFill>
              <a:ln w="3175" cap="rnd">
                <a:solidFill>
                  <a:srgbClr val="808080"/>
                </a:solidFill>
                <a:round/>
                <a:headEnd/>
                <a:tailEnd/>
              </a:ln>
              <a:effectLst/>
            </p:spPr>
            <p:txBody>
              <a:bodyPr/>
              <a:lstStyle/>
              <a:p>
                <a:endParaRPr lang="fr-BE"/>
              </a:p>
            </p:txBody>
          </p:sp>
          <p:sp>
            <p:nvSpPr>
              <p:cNvPr id="50599" name="Freeform 423"/>
              <p:cNvSpPr>
                <a:spLocks/>
              </p:cNvSpPr>
              <p:nvPr/>
            </p:nvSpPr>
            <p:spPr bwMode="auto">
              <a:xfrm>
                <a:off x="1271" y="3110"/>
                <a:ext cx="611" cy="171"/>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rgbClr val="808080"/>
                </a:solidFill>
                <a:prstDash val="solid"/>
                <a:round/>
                <a:headEnd type="none" w="med" len="med"/>
                <a:tailEnd type="none" w="med" len="med"/>
              </a:ln>
              <a:effectLst/>
            </p:spPr>
            <p:txBody>
              <a:bodyPr/>
              <a:lstStyle/>
              <a:p>
                <a:endParaRPr lang="fr-BE"/>
              </a:p>
            </p:txBody>
          </p:sp>
          <p:sp>
            <p:nvSpPr>
              <p:cNvPr id="50600" name="Freeform 424"/>
              <p:cNvSpPr>
                <a:spLocks noChangeAspect="1"/>
              </p:cNvSpPr>
              <p:nvPr/>
            </p:nvSpPr>
            <p:spPr bwMode="auto">
              <a:xfrm>
                <a:off x="1417" y="2441"/>
                <a:ext cx="761" cy="701"/>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01" name="Freeform 425"/>
              <p:cNvSpPr>
                <a:spLocks noChangeAspect="1"/>
              </p:cNvSpPr>
              <p:nvPr/>
            </p:nvSpPr>
            <p:spPr bwMode="auto">
              <a:xfrm>
                <a:off x="1892" y="2596"/>
                <a:ext cx="152" cy="682"/>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02" name="Freeform 426"/>
              <p:cNvSpPr>
                <a:spLocks noChangeAspect="1"/>
              </p:cNvSpPr>
              <p:nvPr/>
            </p:nvSpPr>
            <p:spPr bwMode="auto">
              <a:xfrm>
                <a:off x="1215" y="2449"/>
                <a:ext cx="829" cy="23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rgbClr val="5F5F5F"/>
                </a:solidFill>
                <a:prstDash val="solid"/>
                <a:round/>
                <a:headEnd type="none" w="med" len="med"/>
                <a:tailEnd type="none" w="med" len="med"/>
              </a:ln>
              <a:effectLst/>
            </p:spPr>
            <p:txBody>
              <a:bodyPr/>
              <a:lstStyle/>
              <a:p>
                <a:endParaRPr lang="fr-BE"/>
              </a:p>
            </p:txBody>
          </p:sp>
          <p:sp>
            <p:nvSpPr>
              <p:cNvPr id="50603" name="Freeform 427"/>
              <p:cNvSpPr>
                <a:spLocks noChangeAspect="1"/>
              </p:cNvSpPr>
              <p:nvPr/>
            </p:nvSpPr>
            <p:spPr bwMode="auto">
              <a:xfrm>
                <a:off x="1215" y="2517"/>
                <a:ext cx="677" cy="764"/>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04" name="Freeform 428"/>
              <p:cNvSpPr>
                <a:spLocks noChangeAspect="1"/>
              </p:cNvSpPr>
              <p:nvPr/>
            </p:nvSpPr>
            <p:spPr bwMode="auto">
              <a:xfrm>
                <a:off x="1268" y="2585"/>
                <a:ext cx="573" cy="625"/>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3175" cap="rnd" cmpd="sng">
                <a:solidFill>
                  <a:srgbClr val="5F5F5F"/>
                </a:solidFill>
                <a:prstDash val="solid"/>
                <a:round/>
                <a:headEnd type="none" w="med" len="med"/>
                <a:tailEnd type="none" w="med" len="med"/>
              </a:ln>
              <a:effectLst/>
            </p:spPr>
            <p:txBody>
              <a:bodyPr/>
              <a:lstStyle/>
              <a:p>
                <a:endParaRPr lang="fr-BE"/>
              </a:p>
            </p:txBody>
          </p:sp>
          <p:sp>
            <p:nvSpPr>
              <p:cNvPr id="50605" name="Freeform 429"/>
              <p:cNvSpPr>
                <a:spLocks/>
              </p:cNvSpPr>
              <p:nvPr/>
            </p:nvSpPr>
            <p:spPr bwMode="auto">
              <a:xfrm>
                <a:off x="1303" y="2627"/>
                <a:ext cx="501" cy="539"/>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3175"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BE"/>
              </a:p>
            </p:txBody>
          </p:sp>
        </p:grpSp>
        <p:grpSp>
          <p:nvGrpSpPr>
            <p:cNvPr id="50607" name="Group 431"/>
            <p:cNvGrpSpPr>
              <a:grpSpLocks/>
            </p:cNvGrpSpPr>
            <p:nvPr/>
          </p:nvGrpSpPr>
          <p:grpSpPr bwMode="auto">
            <a:xfrm>
              <a:off x="609600" y="1676400"/>
              <a:ext cx="1050925" cy="1047750"/>
              <a:chOff x="480" y="1104"/>
              <a:chExt cx="672" cy="624"/>
            </a:xfrm>
          </p:grpSpPr>
          <p:sp>
            <p:nvSpPr>
              <p:cNvPr id="50608" name="AutoShape 432"/>
              <p:cNvSpPr>
                <a:spLocks noChangeArrowheads="1"/>
              </p:cNvSpPr>
              <p:nvPr/>
            </p:nvSpPr>
            <p:spPr bwMode="auto">
              <a:xfrm>
                <a:off x="480" y="1440"/>
                <a:ext cx="672" cy="288"/>
              </a:xfrm>
              <a:prstGeom prst="can">
                <a:avLst>
                  <a:gd name="adj" fmla="val 29616"/>
                </a:avLst>
              </a:prstGeom>
              <a:gradFill rotWithShape="0">
                <a:gsLst>
                  <a:gs pos="0">
                    <a:srgbClr val="33CCCC">
                      <a:gamma/>
                      <a:shade val="76471"/>
                      <a:invGamma/>
                    </a:srgbClr>
                  </a:gs>
                  <a:gs pos="50000">
                    <a:srgbClr val="33CCCC"/>
                  </a:gs>
                  <a:gs pos="100000">
                    <a:srgbClr val="33CCCC">
                      <a:gamma/>
                      <a:shade val="76471"/>
                      <a:invGamma/>
                    </a:srgbClr>
                  </a:gs>
                </a:gsLst>
                <a:lin ang="0" scaled="1"/>
              </a:gradFill>
              <a:ln w="6350">
                <a:solidFill>
                  <a:schemeClr val="tx1"/>
                </a:solidFill>
                <a:round/>
                <a:headEnd/>
                <a:tailEnd/>
              </a:ln>
              <a:effectLst/>
            </p:spPr>
            <p:txBody>
              <a:bodyPr wrap="none" anchorCtr="1"/>
              <a:lstStyle/>
              <a:p>
                <a:pPr algn="ctr"/>
                <a:r>
                  <a:rPr lang="en-US" sz="1600" u="none">
                    <a:solidFill>
                      <a:schemeClr val="bg1"/>
                    </a:solidFill>
                    <a:effectLst>
                      <a:outerShdw blurRad="38100" dist="38100" dir="2700000" algn="tl">
                        <a:srgbClr val="000000"/>
                      </a:outerShdw>
                    </a:effectLst>
                    <a:latin typeface="Arial" charset="0"/>
                  </a:rPr>
                  <a:t>SAM</a:t>
                </a:r>
              </a:p>
            </p:txBody>
          </p:sp>
          <p:grpSp>
            <p:nvGrpSpPr>
              <p:cNvPr id="50609" name="Group 433"/>
              <p:cNvGrpSpPr>
                <a:grpSpLocks/>
              </p:cNvGrpSpPr>
              <p:nvPr/>
            </p:nvGrpSpPr>
            <p:grpSpPr bwMode="auto">
              <a:xfrm>
                <a:off x="528" y="1104"/>
                <a:ext cx="240" cy="384"/>
                <a:chOff x="3604" y="2644"/>
                <a:chExt cx="332" cy="626"/>
              </a:xfrm>
            </p:grpSpPr>
            <p:grpSp>
              <p:nvGrpSpPr>
                <p:cNvPr id="50610" name="Group 434"/>
                <p:cNvGrpSpPr>
                  <a:grpSpLocks/>
                </p:cNvGrpSpPr>
                <p:nvPr/>
              </p:nvGrpSpPr>
              <p:grpSpPr bwMode="auto">
                <a:xfrm>
                  <a:off x="3604" y="2644"/>
                  <a:ext cx="245" cy="626"/>
                  <a:chOff x="2073" y="2933"/>
                  <a:chExt cx="238" cy="611"/>
                </a:xfrm>
              </p:grpSpPr>
              <p:sp>
                <p:nvSpPr>
                  <p:cNvPr id="50611" name="Oval 435"/>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w="12700">
                    <a:noFill/>
                    <a:round/>
                    <a:headEnd/>
                    <a:tailEnd/>
                  </a:ln>
                  <a:effectLst>
                    <a:outerShdw dist="35921" dir="2700000" algn="ctr" rotWithShape="0">
                      <a:schemeClr val="tx1"/>
                    </a:outerShdw>
                  </a:effectLst>
                </p:spPr>
                <p:txBody>
                  <a:bodyPr wrap="none" anchor="ctr"/>
                  <a:lstStyle/>
                  <a:p>
                    <a:endParaRPr lang="fr-BE"/>
                  </a:p>
                </p:txBody>
              </p:sp>
              <p:sp>
                <p:nvSpPr>
                  <p:cNvPr id="50612" name="Freeform 436"/>
                  <p:cNvSpPr>
                    <a:spLocks/>
                  </p:cNvSpPr>
                  <p:nvPr/>
                </p:nvSpPr>
                <p:spPr bwMode="auto">
                  <a:xfrm>
                    <a:off x="2073" y="3048"/>
                    <a:ext cx="238" cy="496"/>
                  </a:xfrm>
                  <a:custGeom>
                    <a:avLst/>
                    <a:gdLst/>
                    <a:ahLst/>
                    <a:cxnLst>
                      <a:cxn ang="0">
                        <a:pos x="186" y="0"/>
                      </a:cxn>
                      <a:cxn ang="0">
                        <a:pos x="195" y="3"/>
                      </a:cxn>
                      <a:cxn ang="0">
                        <a:pos x="204" y="4"/>
                      </a:cxn>
                      <a:cxn ang="0">
                        <a:pos x="212" y="9"/>
                      </a:cxn>
                      <a:cxn ang="0">
                        <a:pos x="224" y="13"/>
                      </a:cxn>
                      <a:cxn ang="0">
                        <a:pos x="230" y="24"/>
                      </a:cxn>
                      <a:cxn ang="0">
                        <a:pos x="237" y="34"/>
                      </a:cxn>
                      <a:cxn ang="0">
                        <a:pos x="237" y="226"/>
                      </a:cxn>
                      <a:cxn ang="0">
                        <a:pos x="234" y="232"/>
                      </a:cxn>
                      <a:cxn ang="0">
                        <a:pos x="230" y="239"/>
                      </a:cxn>
                      <a:cxn ang="0">
                        <a:pos x="221" y="242"/>
                      </a:cxn>
                      <a:cxn ang="0">
                        <a:pos x="212" y="244"/>
                      </a:cxn>
                      <a:cxn ang="0">
                        <a:pos x="204" y="242"/>
                      </a:cxn>
                      <a:cxn ang="0">
                        <a:pos x="200" y="235"/>
                      </a:cxn>
                      <a:cxn ang="0">
                        <a:pos x="195" y="230"/>
                      </a:cxn>
                      <a:cxn ang="0">
                        <a:pos x="195" y="84"/>
                      </a:cxn>
                      <a:cxn ang="0">
                        <a:pos x="182" y="471"/>
                      </a:cxn>
                      <a:cxn ang="0">
                        <a:pos x="177" y="483"/>
                      </a:cxn>
                      <a:cxn ang="0">
                        <a:pos x="170" y="491"/>
                      </a:cxn>
                      <a:cxn ang="0">
                        <a:pos x="161" y="495"/>
                      </a:cxn>
                      <a:cxn ang="0">
                        <a:pos x="152" y="495"/>
                      </a:cxn>
                      <a:cxn ang="0">
                        <a:pos x="140" y="492"/>
                      </a:cxn>
                      <a:cxn ang="0">
                        <a:pos x="132" y="486"/>
                      </a:cxn>
                      <a:cxn ang="0">
                        <a:pos x="128" y="479"/>
                      </a:cxn>
                      <a:cxn ang="0">
                        <a:pos x="126" y="470"/>
                      </a:cxn>
                      <a:cxn ang="0">
                        <a:pos x="111" y="470"/>
                      </a:cxn>
                      <a:cxn ang="0">
                        <a:pos x="107" y="479"/>
                      </a:cxn>
                      <a:cxn ang="0">
                        <a:pos x="101" y="491"/>
                      </a:cxn>
                      <a:cxn ang="0">
                        <a:pos x="89" y="495"/>
                      </a:cxn>
                      <a:cxn ang="0">
                        <a:pos x="77" y="495"/>
                      </a:cxn>
                      <a:cxn ang="0">
                        <a:pos x="69" y="491"/>
                      </a:cxn>
                      <a:cxn ang="0">
                        <a:pos x="60" y="486"/>
                      </a:cxn>
                      <a:cxn ang="0">
                        <a:pos x="56" y="477"/>
                      </a:cxn>
                      <a:cxn ang="0">
                        <a:pos x="56" y="84"/>
                      </a:cxn>
                      <a:cxn ang="0">
                        <a:pos x="42" y="227"/>
                      </a:cxn>
                      <a:cxn ang="0">
                        <a:pos x="38" y="235"/>
                      </a:cxn>
                      <a:cxn ang="0">
                        <a:pos x="33" y="239"/>
                      </a:cxn>
                      <a:cxn ang="0">
                        <a:pos x="26" y="244"/>
                      </a:cxn>
                      <a:cxn ang="0">
                        <a:pos x="17" y="244"/>
                      </a:cxn>
                      <a:cxn ang="0">
                        <a:pos x="9" y="239"/>
                      </a:cxn>
                      <a:cxn ang="0">
                        <a:pos x="5" y="238"/>
                      </a:cxn>
                      <a:cxn ang="0">
                        <a:pos x="0" y="230"/>
                      </a:cxn>
                      <a:cxn ang="0">
                        <a:pos x="0" y="39"/>
                      </a:cxn>
                      <a:cxn ang="0">
                        <a:pos x="5" y="25"/>
                      </a:cxn>
                      <a:cxn ang="0">
                        <a:pos x="14" y="13"/>
                      </a:cxn>
                      <a:cxn ang="0">
                        <a:pos x="30" y="7"/>
                      </a:cxn>
                      <a:cxn ang="0">
                        <a:pos x="44" y="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w="12700" cap="rnd" cmpd="sng">
                    <a:noFill/>
                    <a:prstDash val="solid"/>
                    <a:round/>
                    <a:headEnd type="none" w="med" len="med"/>
                    <a:tailEnd type="none" w="med" len="med"/>
                  </a:ln>
                  <a:effectLst>
                    <a:outerShdw dist="35921" dir="2700000" algn="ctr" rotWithShape="0">
                      <a:schemeClr val="tx1"/>
                    </a:outerShdw>
                  </a:effectLst>
                </p:spPr>
                <p:txBody>
                  <a:bodyPr/>
                  <a:lstStyle/>
                  <a:p>
                    <a:endParaRPr lang="fr-BE"/>
                  </a:p>
                </p:txBody>
              </p:sp>
            </p:grpSp>
            <p:sp>
              <p:nvSpPr>
                <p:cNvPr id="50613" name="AutoShape 437"/>
                <p:cNvSpPr>
                  <a:spLocks noChangeArrowheads="1"/>
                </p:cNvSpPr>
                <p:nvPr/>
              </p:nvSpPr>
              <p:spPr bwMode="auto">
                <a:xfrm rot="1965645" flipV="1">
                  <a:off x="3756" y="2800"/>
                  <a:ext cx="180" cy="250"/>
                </a:xfrm>
                <a:prstGeom prst="foldedCorner">
                  <a:avLst>
                    <a:gd name="adj" fmla="val 29269"/>
                  </a:avLst>
                </a:prstGeom>
                <a:solidFill>
                  <a:schemeClr val="bg1"/>
                </a:solidFill>
                <a:ln w="6350">
                  <a:solidFill>
                    <a:schemeClr val="tx1"/>
                  </a:solidFill>
                  <a:round/>
                  <a:headEnd/>
                  <a:tailEnd/>
                </a:ln>
                <a:effectLst/>
              </p:spPr>
              <p:txBody>
                <a:bodyPr tIns="27432" bIns="27432" anchor="ctr">
                  <a:spAutoFit/>
                </a:bodyPr>
                <a:lstStyle/>
                <a:p>
                  <a:endParaRPr lang="fr-BE"/>
                </a:p>
              </p:txBody>
            </p:sp>
          </p:grpSp>
        </p:grpSp>
        <p:grpSp>
          <p:nvGrpSpPr>
            <p:cNvPr id="50614" name="Group 438"/>
            <p:cNvGrpSpPr>
              <a:grpSpLocks/>
            </p:cNvGrpSpPr>
            <p:nvPr/>
          </p:nvGrpSpPr>
          <p:grpSpPr bwMode="auto">
            <a:xfrm>
              <a:off x="4587875" y="1676400"/>
              <a:ext cx="1050925" cy="1047750"/>
              <a:chOff x="3024" y="1104"/>
              <a:chExt cx="672" cy="624"/>
            </a:xfrm>
          </p:grpSpPr>
          <p:sp>
            <p:nvSpPr>
              <p:cNvPr id="50615" name="AutoShape 439"/>
              <p:cNvSpPr>
                <a:spLocks noChangeArrowheads="1"/>
              </p:cNvSpPr>
              <p:nvPr/>
            </p:nvSpPr>
            <p:spPr bwMode="auto">
              <a:xfrm>
                <a:off x="3024" y="1440"/>
                <a:ext cx="672" cy="288"/>
              </a:xfrm>
              <a:prstGeom prst="can">
                <a:avLst>
                  <a:gd name="adj" fmla="val 29616"/>
                </a:avLst>
              </a:prstGeom>
              <a:gradFill rotWithShape="0">
                <a:gsLst>
                  <a:gs pos="0">
                    <a:srgbClr val="33CCCC">
                      <a:gamma/>
                      <a:shade val="76471"/>
                      <a:invGamma/>
                    </a:srgbClr>
                  </a:gs>
                  <a:gs pos="50000">
                    <a:srgbClr val="33CCCC"/>
                  </a:gs>
                  <a:gs pos="100000">
                    <a:srgbClr val="33CCCC">
                      <a:gamma/>
                      <a:shade val="76471"/>
                      <a:invGamma/>
                    </a:srgbClr>
                  </a:gs>
                </a:gsLst>
                <a:lin ang="0" scaled="1"/>
              </a:gradFill>
              <a:ln w="6350">
                <a:solidFill>
                  <a:schemeClr val="tx1"/>
                </a:solidFill>
                <a:round/>
                <a:headEnd/>
                <a:tailEnd/>
              </a:ln>
              <a:effectLst/>
            </p:spPr>
            <p:txBody>
              <a:bodyPr wrap="none" anchorCtr="1"/>
              <a:lstStyle/>
              <a:p>
                <a:pPr algn="ctr"/>
                <a:r>
                  <a:rPr lang="en-US" sz="1600" u="none">
                    <a:solidFill>
                      <a:schemeClr val="bg1"/>
                    </a:solidFill>
                    <a:effectLst>
                      <a:outerShdw blurRad="38100" dist="38100" dir="2700000" algn="tl">
                        <a:srgbClr val="000000"/>
                      </a:outerShdw>
                    </a:effectLst>
                    <a:latin typeface="Arial" charset="0"/>
                  </a:rPr>
                  <a:t>SAM</a:t>
                </a:r>
              </a:p>
            </p:txBody>
          </p:sp>
          <p:grpSp>
            <p:nvGrpSpPr>
              <p:cNvPr id="50616" name="Group 440"/>
              <p:cNvGrpSpPr>
                <a:grpSpLocks/>
              </p:cNvGrpSpPr>
              <p:nvPr/>
            </p:nvGrpSpPr>
            <p:grpSpPr bwMode="auto">
              <a:xfrm>
                <a:off x="3072" y="1104"/>
                <a:ext cx="240" cy="384"/>
                <a:chOff x="3604" y="2644"/>
                <a:chExt cx="332" cy="626"/>
              </a:xfrm>
            </p:grpSpPr>
            <p:grpSp>
              <p:nvGrpSpPr>
                <p:cNvPr id="50617" name="Group 441"/>
                <p:cNvGrpSpPr>
                  <a:grpSpLocks/>
                </p:cNvGrpSpPr>
                <p:nvPr/>
              </p:nvGrpSpPr>
              <p:grpSpPr bwMode="auto">
                <a:xfrm>
                  <a:off x="3604" y="2644"/>
                  <a:ext cx="245" cy="626"/>
                  <a:chOff x="2073" y="2933"/>
                  <a:chExt cx="238" cy="611"/>
                </a:xfrm>
              </p:grpSpPr>
              <p:sp>
                <p:nvSpPr>
                  <p:cNvPr id="50618" name="Oval 442"/>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w="12700">
                    <a:noFill/>
                    <a:round/>
                    <a:headEnd/>
                    <a:tailEnd/>
                  </a:ln>
                  <a:effectLst>
                    <a:outerShdw dist="35921" dir="2700000" algn="ctr" rotWithShape="0">
                      <a:schemeClr val="tx1"/>
                    </a:outerShdw>
                  </a:effectLst>
                </p:spPr>
                <p:txBody>
                  <a:bodyPr wrap="none" anchor="ctr"/>
                  <a:lstStyle/>
                  <a:p>
                    <a:endParaRPr lang="fr-BE"/>
                  </a:p>
                </p:txBody>
              </p:sp>
              <p:sp>
                <p:nvSpPr>
                  <p:cNvPr id="50619" name="Freeform 443"/>
                  <p:cNvSpPr>
                    <a:spLocks/>
                  </p:cNvSpPr>
                  <p:nvPr/>
                </p:nvSpPr>
                <p:spPr bwMode="auto">
                  <a:xfrm>
                    <a:off x="2073" y="3048"/>
                    <a:ext cx="238" cy="496"/>
                  </a:xfrm>
                  <a:custGeom>
                    <a:avLst/>
                    <a:gdLst/>
                    <a:ahLst/>
                    <a:cxnLst>
                      <a:cxn ang="0">
                        <a:pos x="186" y="0"/>
                      </a:cxn>
                      <a:cxn ang="0">
                        <a:pos x="195" y="3"/>
                      </a:cxn>
                      <a:cxn ang="0">
                        <a:pos x="204" y="4"/>
                      </a:cxn>
                      <a:cxn ang="0">
                        <a:pos x="212" y="9"/>
                      </a:cxn>
                      <a:cxn ang="0">
                        <a:pos x="224" y="13"/>
                      </a:cxn>
                      <a:cxn ang="0">
                        <a:pos x="230" y="24"/>
                      </a:cxn>
                      <a:cxn ang="0">
                        <a:pos x="237" y="34"/>
                      </a:cxn>
                      <a:cxn ang="0">
                        <a:pos x="237" y="226"/>
                      </a:cxn>
                      <a:cxn ang="0">
                        <a:pos x="234" y="232"/>
                      </a:cxn>
                      <a:cxn ang="0">
                        <a:pos x="230" y="239"/>
                      </a:cxn>
                      <a:cxn ang="0">
                        <a:pos x="221" y="242"/>
                      </a:cxn>
                      <a:cxn ang="0">
                        <a:pos x="212" y="244"/>
                      </a:cxn>
                      <a:cxn ang="0">
                        <a:pos x="204" y="242"/>
                      </a:cxn>
                      <a:cxn ang="0">
                        <a:pos x="200" y="235"/>
                      </a:cxn>
                      <a:cxn ang="0">
                        <a:pos x="195" y="230"/>
                      </a:cxn>
                      <a:cxn ang="0">
                        <a:pos x="195" y="84"/>
                      </a:cxn>
                      <a:cxn ang="0">
                        <a:pos x="182" y="471"/>
                      </a:cxn>
                      <a:cxn ang="0">
                        <a:pos x="177" y="483"/>
                      </a:cxn>
                      <a:cxn ang="0">
                        <a:pos x="170" y="491"/>
                      </a:cxn>
                      <a:cxn ang="0">
                        <a:pos x="161" y="495"/>
                      </a:cxn>
                      <a:cxn ang="0">
                        <a:pos x="152" y="495"/>
                      </a:cxn>
                      <a:cxn ang="0">
                        <a:pos x="140" y="492"/>
                      </a:cxn>
                      <a:cxn ang="0">
                        <a:pos x="132" y="486"/>
                      </a:cxn>
                      <a:cxn ang="0">
                        <a:pos x="128" y="479"/>
                      </a:cxn>
                      <a:cxn ang="0">
                        <a:pos x="126" y="470"/>
                      </a:cxn>
                      <a:cxn ang="0">
                        <a:pos x="111" y="470"/>
                      </a:cxn>
                      <a:cxn ang="0">
                        <a:pos x="107" y="479"/>
                      </a:cxn>
                      <a:cxn ang="0">
                        <a:pos x="101" y="491"/>
                      </a:cxn>
                      <a:cxn ang="0">
                        <a:pos x="89" y="495"/>
                      </a:cxn>
                      <a:cxn ang="0">
                        <a:pos x="77" y="495"/>
                      </a:cxn>
                      <a:cxn ang="0">
                        <a:pos x="69" y="491"/>
                      </a:cxn>
                      <a:cxn ang="0">
                        <a:pos x="60" y="486"/>
                      </a:cxn>
                      <a:cxn ang="0">
                        <a:pos x="56" y="477"/>
                      </a:cxn>
                      <a:cxn ang="0">
                        <a:pos x="56" y="84"/>
                      </a:cxn>
                      <a:cxn ang="0">
                        <a:pos x="42" y="227"/>
                      </a:cxn>
                      <a:cxn ang="0">
                        <a:pos x="38" y="235"/>
                      </a:cxn>
                      <a:cxn ang="0">
                        <a:pos x="33" y="239"/>
                      </a:cxn>
                      <a:cxn ang="0">
                        <a:pos x="26" y="244"/>
                      </a:cxn>
                      <a:cxn ang="0">
                        <a:pos x="17" y="244"/>
                      </a:cxn>
                      <a:cxn ang="0">
                        <a:pos x="9" y="239"/>
                      </a:cxn>
                      <a:cxn ang="0">
                        <a:pos x="5" y="238"/>
                      </a:cxn>
                      <a:cxn ang="0">
                        <a:pos x="0" y="230"/>
                      </a:cxn>
                      <a:cxn ang="0">
                        <a:pos x="0" y="39"/>
                      </a:cxn>
                      <a:cxn ang="0">
                        <a:pos x="5" y="25"/>
                      </a:cxn>
                      <a:cxn ang="0">
                        <a:pos x="14" y="13"/>
                      </a:cxn>
                      <a:cxn ang="0">
                        <a:pos x="30" y="7"/>
                      </a:cxn>
                      <a:cxn ang="0">
                        <a:pos x="44" y="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w="12700" cap="rnd" cmpd="sng">
                    <a:noFill/>
                    <a:prstDash val="solid"/>
                    <a:round/>
                    <a:headEnd type="none" w="med" len="med"/>
                    <a:tailEnd type="none" w="med" len="med"/>
                  </a:ln>
                  <a:effectLst>
                    <a:outerShdw dist="35921" dir="2700000" algn="ctr" rotWithShape="0">
                      <a:schemeClr val="tx1"/>
                    </a:outerShdw>
                  </a:effectLst>
                </p:spPr>
                <p:txBody>
                  <a:bodyPr/>
                  <a:lstStyle/>
                  <a:p>
                    <a:endParaRPr lang="fr-BE"/>
                  </a:p>
                </p:txBody>
              </p:sp>
            </p:grpSp>
            <p:sp>
              <p:nvSpPr>
                <p:cNvPr id="50620" name="AutoShape 444"/>
                <p:cNvSpPr>
                  <a:spLocks noChangeArrowheads="1"/>
                </p:cNvSpPr>
                <p:nvPr/>
              </p:nvSpPr>
              <p:spPr bwMode="auto">
                <a:xfrm rot="1965645" flipV="1">
                  <a:off x="3756" y="2800"/>
                  <a:ext cx="180" cy="250"/>
                </a:xfrm>
                <a:prstGeom prst="foldedCorner">
                  <a:avLst>
                    <a:gd name="adj" fmla="val 29269"/>
                  </a:avLst>
                </a:prstGeom>
                <a:solidFill>
                  <a:schemeClr val="bg1"/>
                </a:solidFill>
                <a:ln w="6350">
                  <a:solidFill>
                    <a:schemeClr val="tx1"/>
                  </a:solidFill>
                  <a:round/>
                  <a:headEnd/>
                  <a:tailEnd/>
                </a:ln>
                <a:effectLst/>
              </p:spPr>
              <p:txBody>
                <a:bodyPr tIns="27432" bIns="27432" anchor="ctr">
                  <a:spAutoFit/>
                </a:bodyPr>
                <a:lstStyle/>
                <a:p>
                  <a:endParaRPr lang="fr-BE"/>
                </a:p>
              </p:txBody>
            </p:sp>
          </p:grpSp>
        </p:grpSp>
        <p:grpSp>
          <p:nvGrpSpPr>
            <p:cNvPr id="50621" name="Group 445"/>
            <p:cNvGrpSpPr>
              <a:grpSpLocks/>
            </p:cNvGrpSpPr>
            <p:nvPr/>
          </p:nvGrpSpPr>
          <p:grpSpPr bwMode="auto">
            <a:xfrm>
              <a:off x="2636838" y="1676400"/>
              <a:ext cx="1050925" cy="1047750"/>
              <a:chOff x="1776" y="1104"/>
              <a:chExt cx="672" cy="624"/>
            </a:xfrm>
          </p:grpSpPr>
          <p:sp>
            <p:nvSpPr>
              <p:cNvPr id="50622" name="AutoShape 446"/>
              <p:cNvSpPr>
                <a:spLocks noChangeArrowheads="1"/>
              </p:cNvSpPr>
              <p:nvPr/>
            </p:nvSpPr>
            <p:spPr bwMode="auto">
              <a:xfrm>
                <a:off x="1776" y="1440"/>
                <a:ext cx="672" cy="288"/>
              </a:xfrm>
              <a:prstGeom prst="can">
                <a:avLst>
                  <a:gd name="adj" fmla="val 29616"/>
                </a:avLst>
              </a:prstGeom>
              <a:gradFill rotWithShape="0">
                <a:gsLst>
                  <a:gs pos="0">
                    <a:srgbClr val="33CCCC">
                      <a:gamma/>
                      <a:shade val="76471"/>
                      <a:invGamma/>
                    </a:srgbClr>
                  </a:gs>
                  <a:gs pos="50000">
                    <a:srgbClr val="33CCCC"/>
                  </a:gs>
                  <a:gs pos="100000">
                    <a:srgbClr val="33CCCC">
                      <a:gamma/>
                      <a:shade val="76471"/>
                      <a:invGamma/>
                    </a:srgbClr>
                  </a:gs>
                </a:gsLst>
                <a:lin ang="0" scaled="1"/>
              </a:gradFill>
              <a:ln w="6350">
                <a:solidFill>
                  <a:schemeClr val="tx1"/>
                </a:solidFill>
                <a:round/>
                <a:headEnd/>
                <a:tailEnd/>
              </a:ln>
              <a:effectLst/>
            </p:spPr>
            <p:txBody>
              <a:bodyPr wrap="none" anchorCtr="1"/>
              <a:lstStyle/>
              <a:p>
                <a:pPr algn="ctr"/>
                <a:r>
                  <a:rPr lang="en-US" sz="1600" u="none">
                    <a:solidFill>
                      <a:schemeClr val="bg1"/>
                    </a:solidFill>
                    <a:effectLst>
                      <a:outerShdw blurRad="38100" dist="38100" dir="2700000" algn="tl">
                        <a:srgbClr val="000000"/>
                      </a:outerShdw>
                    </a:effectLst>
                    <a:latin typeface="Arial" charset="0"/>
                  </a:rPr>
                  <a:t>SAM</a:t>
                </a:r>
              </a:p>
            </p:txBody>
          </p:sp>
          <p:grpSp>
            <p:nvGrpSpPr>
              <p:cNvPr id="50623" name="Group 447"/>
              <p:cNvGrpSpPr>
                <a:grpSpLocks/>
              </p:cNvGrpSpPr>
              <p:nvPr/>
            </p:nvGrpSpPr>
            <p:grpSpPr bwMode="auto">
              <a:xfrm>
                <a:off x="1824" y="1104"/>
                <a:ext cx="240" cy="384"/>
                <a:chOff x="3604" y="2644"/>
                <a:chExt cx="332" cy="626"/>
              </a:xfrm>
            </p:grpSpPr>
            <p:grpSp>
              <p:nvGrpSpPr>
                <p:cNvPr id="50624" name="Group 448"/>
                <p:cNvGrpSpPr>
                  <a:grpSpLocks/>
                </p:cNvGrpSpPr>
                <p:nvPr/>
              </p:nvGrpSpPr>
              <p:grpSpPr bwMode="auto">
                <a:xfrm>
                  <a:off x="3604" y="2644"/>
                  <a:ext cx="245" cy="626"/>
                  <a:chOff x="2073" y="2933"/>
                  <a:chExt cx="238" cy="611"/>
                </a:xfrm>
              </p:grpSpPr>
              <p:sp>
                <p:nvSpPr>
                  <p:cNvPr id="50625" name="Oval 449"/>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w="12700">
                    <a:noFill/>
                    <a:round/>
                    <a:headEnd/>
                    <a:tailEnd/>
                  </a:ln>
                  <a:effectLst>
                    <a:outerShdw dist="35921" dir="2700000" algn="ctr" rotWithShape="0">
                      <a:schemeClr val="tx1"/>
                    </a:outerShdw>
                  </a:effectLst>
                </p:spPr>
                <p:txBody>
                  <a:bodyPr wrap="none" anchor="ctr"/>
                  <a:lstStyle/>
                  <a:p>
                    <a:endParaRPr lang="fr-BE"/>
                  </a:p>
                </p:txBody>
              </p:sp>
              <p:sp>
                <p:nvSpPr>
                  <p:cNvPr id="50626" name="Freeform 450"/>
                  <p:cNvSpPr>
                    <a:spLocks/>
                  </p:cNvSpPr>
                  <p:nvPr/>
                </p:nvSpPr>
                <p:spPr bwMode="auto">
                  <a:xfrm>
                    <a:off x="2073" y="3048"/>
                    <a:ext cx="238" cy="496"/>
                  </a:xfrm>
                  <a:custGeom>
                    <a:avLst/>
                    <a:gdLst/>
                    <a:ahLst/>
                    <a:cxnLst>
                      <a:cxn ang="0">
                        <a:pos x="186" y="0"/>
                      </a:cxn>
                      <a:cxn ang="0">
                        <a:pos x="195" y="3"/>
                      </a:cxn>
                      <a:cxn ang="0">
                        <a:pos x="204" y="4"/>
                      </a:cxn>
                      <a:cxn ang="0">
                        <a:pos x="212" y="9"/>
                      </a:cxn>
                      <a:cxn ang="0">
                        <a:pos x="224" y="13"/>
                      </a:cxn>
                      <a:cxn ang="0">
                        <a:pos x="230" y="24"/>
                      </a:cxn>
                      <a:cxn ang="0">
                        <a:pos x="237" y="34"/>
                      </a:cxn>
                      <a:cxn ang="0">
                        <a:pos x="237" y="226"/>
                      </a:cxn>
                      <a:cxn ang="0">
                        <a:pos x="234" y="232"/>
                      </a:cxn>
                      <a:cxn ang="0">
                        <a:pos x="230" y="239"/>
                      </a:cxn>
                      <a:cxn ang="0">
                        <a:pos x="221" y="242"/>
                      </a:cxn>
                      <a:cxn ang="0">
                        <a:pos x="212" y="244"/>
                      </a:cxn>
                      <a:cxn ang="0">
                        <a:pos x="204" y="242"/>
                      </a:cxn>
                      <a:cxn ang="0">
                        <a:pos x="200" y="235"/>
                      </a:cxn>
                      <a:cxn ang="0">
                        <a:pos x="195" y="230"/>
                      </a:cxn>
                      <a:cxn ang="0">
                        <a:pos x="195" y="84"/>
                      </a:cxn>
                      <a:cxn ang="0">
                        <a:pos x="182" y="471"/>
                      </a:cxn>
                      <a:cxn ang="0">
                        <a:pos x="177" y="483"/>
                      </a:cxn>
                      <a:cxn ang="0">
                        <a:pos x="170" y="491"/>
                      </a:cxn>
                      <a:cxn ang="0">
                        <a:pos x="161" y="495"/>
                      </a:cxn>
                      <a:cxn ang="0">
                        <a:pos x="152" y="495"/>
                      </a:cxn>
                      <a:cxn ang="0">
                        <a:pos x="140" y="492"/>
                      </a:cxn>
                      <a:cxn ang="0">
                        <a:pos x="132" y="486"/>
                      </a:cxn>
                      <a:cxn ang="0">
                        <a:pos x="128" y="479"/>
                      </a:cxn>
                      <a:cxn ang="0">
                        <a:pos x="126" y="470"/>
                      </a:cxn>
                      <a:cxn ang="0">
                        <a:pos x="111" y="470"/>
                      </a:cxn>
                      <a:cxn ang="0">
                        <a:pos x="107" y="479"/>
                      </a:cxn>
                      <a:cxn ang="0">
                        <a:pos x="101" y="491"/>
                      </a:cxn>
                      <a:cxn ang="0">
                        <a:pos x="89" y="495"/>
                      </a:cxn>
                      <a:cxn ang="0">
                        <a:pos x="77" y="495"/>
                      </a:cxn>
                      <a:cxn ang="0">
                        <a:pos x="69" y="491"/>
                      </a:cxn>
                      <a:cxn ang="0">
                        <a:pos x="60" y="486"/>
                      </a:cxn>
                      <a:cxn ang="0">
                        <a:pos x="56" y="477"/>
                      </a:cxn>
                      <a:cxn ang="0">
                        <a:pos x="56" y="84"/>
                      </a:cxn>
                      <a:cxn ang="0">
                        <a:pos x="42" y="227"/>
                      </a:cxn>
                      <a:cxn ang="0">
                        <a:pos x="38" y="235"/>
                      </a:cxn>
                      <a:cxn ang="0">
                        <a:pos x="33" y="239"/>
                      </a:cxn>
                      <a:cxn ang="0">
                        <a:pos x="26" y="244"/>
                      </a:cxn>
                      <a:cxn ang="0">
                        <a:pos x="17" y="244"/>
                      </a:cxn>
                      <a:cxn ang="0">
                        <a:pos x="9" y="239"/>
                      </a:cxn>
                      <a:cxn ang="0">
                        <a:pos x="5" y="238"/>
                      </a:cxn>
                      <a:cxn ang="0">
                        <a:pos x="0" y="230"/>
                      </a:cxn>
                      <a:cxn ang="0">
                        <a:pos x="0" y="39"/>
                      </a:cxn>
                      <a:cxn ang="0">
                        <a:pos x="5" y="25"/>
                      </a:cxn>
                      <a:cxn ang="0">
                        <a:pos x="14" y="13"/>
                      </a:cxn>
                      <a:cxn ang="0">
                        <a:pos x="30" y="7"/>
                      </a:cxn>
                      <a:cxn ang="0">
                        <a:pos x="44" y="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w="12700" cap="rnd" cmpd="sng">
                    <a:noFill/>
                    <a:prstDash val="solid"/>
                    <a:round/>
                    <a:headEnd type="none" w="med" len="med"/>
                    <a:tailEnd type="none" w="med" len="med"/>
                  </a:ln>
                  <a:effectLst>
                    <a:outerShdw dist="35921" dir="2700000" algn="ctr" rotWithShape="0">
                      <a:schemeClr val="tx1"/>
                    </a:outerShdw>
                  </a:effectLst>
                </p:spPr>
                <p:txBody>
                  <a:bodyPr/>
                  <a:lstStyle/>
                  <a:p>
                    <a:endParaRPr lang="fr-BE"/>
                  </a:p>
                </p:txBody>
              </p:sp>
            </p:grpSp>
            <p:sp>
              <p:nvSpPr>
                <p:cNvPr id="50627" name="AutoShape 451"/>
                <p:cNvSpPr>
                  <a:spLocks noChangeArrowheads="1"/>
                </p:cNvSpPr>
                <p:nvPr/>
              </p:nvSpPr>
              <p:spPr bwMode="auto">
                <a:xfrm rot="1965645" flipV="1">
                  <a:off x="3756" y="2800"/>
                  <a:ext cx="180" cy="250"/>
                </a:xfrm>
                <a:prstGeom prst="foldedCorner">
                  <a:avLst>
                    <a:gd name="adj" fmla="val 29269"/>
                  </a:avLst>
                </a:prstGeom>
                <a:solidFill>
                  <a:schemeClr val="bg1"/>
                </a:solidFill>
                <a:ln w="6350">
                  <a:solidFill>
                    <a:schemeClr val="tx1"/>
                  </a:solidFill>
                  <a:round/>
                  <a:headEnd/>
                  <a:tailEnd/>
                </a:ln>
                <a:effectLst/>
              </p:spPr>
              <p:txBody>
                <a:bodyPr tIns="27432" bIns="27432" anchor="ctr">
                  <a:spAutoFit/>
                </a:bodyPr>
                <a:lstStyle/>
                <a:p>
                  <a:endParaRPr lang="fr-BE"/>
                </a:p>
              </p:txBody>
            </p:sp>
          </p:grpSp>
        </p:grpSp>
        <p:sp>
          <p:nvSpPr>
            <p:cNvPr id="50675" name="AutoShape 499"/>
            <p:cNvSpPr>
              <a:spLocks noChangeArrowheads="1"/>
            </p:cNvSpPr>
            <p:nvPr/>
          </p:nvSpPr>
          <p:spPr bwMode="auto">
            <a:xfrm rot="5400000" flipV="1">
              <a:off x="7290594" y="2570957"/>
              <a:ext cx="908050" cy="144462"/>
            </a:xfrm>
            <a:prstGeom prst="homePlate">
              <a:avLst>
                <a:gd name="adj" fmla="val 62654"/>
              </a:avLst>
            </a:prstGeom>
            <a:gradFill rotWithShape="0">
              <a:gsLst>
                <a:gs pos="0">
                  <a:srgbClr val="CC0099"/>
                </a:gs>
                <a:gs pos="50000">
                  <a:srgbClr val="CC0099">
                    <a:gamma/>
                    <a:tint val="21176"/>
                    <a:invGamma/>
                  </a:srgbClr>
                </a:gs>
                <a:gs pos="100000">
                  <a:srgbClr val="CC0099"/>
                </a:gs>
              </a:gsLst>
              <a:lin ang="0" scaled="1"/>
            </a:gradFill>
            <a:ln w="9525">
              <a:noFill/>
              <a:miter lim="800000"/>
              <a:headEnd/>
              <a:tailEnd/>
            </a:ln>
            <a:effectLst/>
          </p:spPr>
          <p:txBody>
            <a:bodyPr wrap="none" anchor="ctr"/>
            <a:lstStyle/>
            <a:p>
              <a:endParaRPr lang="fr-BE"/>
            </a:p>
          </p:txBody>
        </p:sp>
        <p:grpSp>
          <p:nvGrpSpPr>
            <p:cNvPr id="50661" name="Group 485"/>
            <p:cNvGrpSpPr>
              <a:grpSpLocks/>
            </p:cNvGrpSpPr>
            <p:nvPr/>
          </p:nvGrpSpPr>
          <p:grpSpPr bwMode="auto">
            <a:xfrm>
              <a:off x="7248525" y="1692275"/>
              <a:ext cx="958850" cy="1058863"/>
              <a:chOff x="1114" y="2441"/>
              <a:chExt cx="1064" cy="1173"/>
            </a:xfrm>
          </p:grpSpPr>
          <p:sp>
            <p:nvSpPr>
              <p:cNvPr id="50662" name="Freeform 486"/>
              <p:cNvSpPr>
                <a:spLocks noChangeAspect="1"/>
              </p:cNvSpPr>
              <p:nvPr/>
            </p:nvSpPr>
            <p:spPr bwMode="auto">
              <a:xfrm>
                <a:off x="1784" y="3203"/>
                <a:ext cx="357" cy="411"/>
              </a:xfrm>
              <a:custGeom>
                <a:avLst/>
                <a:gdLst/>
                <a:ahLst/>
                <a:cxnLst>
                  <a:cxn ang="0">
                    <a:pos x="0" y="158"/>
                  </a:cxn>
                  <a:cxn ang="0">
                    <a:pos x="265" y="0"/>
                  </a:cxn>
                  <a:cxn ang="0">
                    <a:pos x="265" y="130"/>
                  </a:cxn>
                  <a:cxn ang="0">
                    <a:pos x="2" y="305"/>
                  </a:cxn>
                </a:cxnLst>
                <a:rect l="0" t="0" r="r" b="b"/>
                <a:pathLst>
                  <a:path w="265" h="305">
                    <a:moveTo>
                      <a:pt x="0" y="158"/>
                    </a:moveTo>
                    <a:lnTo>
                      <a:pt x="265" y="0"/>
                    </a:lnTo>
                    <a:lnTo>
                      <a:pt x="265" y="130"/>
                    </a:lnTo>
                    <a:lnTo>
                      <a:pt x="2" y="305"/>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63" name="Freeform 487"/>
              <p:cNvSpPr>
                <a:spLocks noChangeAspect="1"/>
              </p:cNvSpPr>
              <p:nvPr/>
            </p:nvSpPr>
            <p:spPr bwMode="auto">
              <a:xfrm>
                <a:off x="1114" y="3058"/>
                <a:ext cx="1027" cy="358"/>
              </a:xfrm>
              <a:custGeom>
                <a:avLst/>
                <a:gdLst/>
                <a:ahLst/>
                <a:cxnLst>
                  <a:cxn ang="0">
                    <a:pos x="497" y="265"/>
                  </a:cxn>
                  <a:cxn ang="0">
                    <a:pos x="0" y="131"/>
                  </a:cxn>
                  <a:cxn ang="0">
                    <a:pos x="278" y="0"/>
                  </a:cxn>
                  <a:cxn ang="0">
                    <a:pos x="761" y="107"/>
                  </a:cxn>
                  <a:cxn ang="0">
                    <a:pos x="500" y="263"/>
                  </a:cxn>
                </a:cxnLst>
                <a:rect l="0" t="0" r="r" b="b"/>
                <a:pathLst>
                  <a:path w="761" h="265">
                    <a:moveTo>
                      <a:pt x="497" y="265"/>
                    </a:moveTo>
                    <a:lnTo>
                      <a:pt x="0" y="131"/>
                    </a:lnTo>
                    <a:lnTo>
                      <a:pt x="278" y="0"/>
                    </a:lnTo>
                    <a:lnTo>
                      <a:pt x="761" y="107"/>
                    </a:lnTo>
                    <a:lnTo>
                      <a:pt x="500" y="26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64" name="Freeform 488"/>
              <p:cNvSpPr>
                <a:spLocks noChangeAspect="1"/>
              </p:cNvSpPr>
              <p:nvPr/>
            </p:nvSpPr>
            <p:spPr bwMode="auto">
              <a:xfrm>
                <a:off x="1114" y="3234"/>
                <a:ext cx="673" cy="380"/>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65" name="Freeform 489"/>
              <p:cNvSpPr>
                <a:spLocks/>
              </p:cNvSpPr>
              <p:nvPr/>
            </p:nvSpPr>
            <p:spPr bwMode="auto">
              <a:xfrm>
                <a:off x="1288" y="3031"/>
                <a:ext cx="750" cy="316"/>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5F5F5F"/>
                </a:solidFill>
                <a:prstDash val="solid"/>
                <a:round/>
                <a:headEnd type="none" w="med" len="med"/>
                <a:tailEnd type="none" w="med" len="med"/>
              </a:ln>
              <a:effectLst/>
            </p:spPr>
            <p:txBody>
              <a:bodyPr/>
              <a:lstStyle/>
              <a:p>
                <a:endParaRPr lang="fr-BE"/>
              </a:p>
            </p:txBody>
          </p:sp>
          <p:sp>
            <p:nvSpPr>
              <p:cNvPr id="50666" name="Freeform 490"/>
              <p:cNvSpPr>
                <a:spLocks/>
              </p:cNvSpPr>
              <p:nvPr/>
            </p:nvSpPr>
            <p:spPr bwMode="auto">
              <a:xfrm>
                <a:off x="1297" y="3038"/>
                <a:ext cx="725" cy="280"/>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BE"/>
              </a:p>
            </p:txBody>
          </p:sp>
          <p:sp>
            <p:nvSpPr>
              <p:cNvPr id="50667" name="Oval 491"/>
              <p:cNvSpPr>
                <a:spLocks noChangeArrowheads="1"/>
              </p:cNvSpPr>
              <p:nvPr/>
            </p:nvSpPr>
            <p:spPr bwMode="auto">
              <a:xfrm>
                <a:off x="1478" y="3105"/>
                <a:ext cx="377" cy="152"/>
              </a:xfrm>
              <a:prstGeom prst="ellipse">
                <a:avLst/>
              </a:prstGeom>
              <a:solidFill>
                <a:srgbClr val="B2B2B2"/>
              </a:solidFill>
              <a:ln w="3175" cap="rnd">
                <a:solidFill>
                  <a:srgbClr val="808080"/>
                </a:solidFill>
                <a:round/>
                <a:headEnd/>
                <a:tailEnd/>
              </a:ln>
              <a:effectLst/>
            </p:spPr>
            <p:txBody>
              <a:bodyPr/>
              <a:lstStyle/>
              <a:p>
                <a:endParaRPr lang="fr-BE"/>
              </a:p>
            </p:txBody>
          </p:sp>
          <p:sp>
            <p:nvSpPr>
              <p:cNvPr id="50668" name="Freeform 492"/>
              <p:cNvSpPr>
                <a:spLocks/>
              </p:cNvSpPr>
              <p:nvPr/>
            </p:nvSpPr>
            <p:spPr bwMode="auto">
              <a:xfrm>
                <a:off x="1271" y="3110"/>
                <a:ext cx="611" cy="171"/>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rgbClr val="808080"/>
                </a:solidFill>
                <a:prstDash val="solid"/>
                <a:round/>
                <a:headEnd type="none" w="med" len="med"/>
                <a:tailEnd type="none" w="med" len="med"/>
              </a:ln>
              <a:effectLst/>
            </p:spPr>
            <p:txBody>
              <a:bodyPr/>
              <a:lstStyle/>
              <a:p>
                <a:endParaRPr lang="fr-BE"/>
              </a:p>
            </p:txBody>
          </p:sp>
          <p:sp>
            <p:nvSpPr>
              <p:cNvPr id="50669" name="Freeform 493"/>
              <p:cNvSpPr>
                <a:spLocks noChangeAspect="1"/>
              </p:cNvSpPr>
              <p:nvPr/>
            </p:nvSpPr>
            <p:spPr bwMode="auto">
              <a:xfrm>
                <a:off x="1417" y="2441"/>
                <a:ext cx="761" cy="701"/>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70" name="Freeform 494"/>
              <p:cNvSpPr>
                <a:spLocks noChangeAspect="1"/>
              </p:cNvSpPr>
              <p:nvPr/>
            </p:nvSpPr>
            <p:spPr bwMode="auto">
              <a:xfrm>
                <a:off x="1892" y="2596"/>
                <a:ext cx="152" cy="682"/>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71" name="Freeform 495"/>
              <p:cNvSpPr>
                <a:spLocks noChangeAspect="1"/>
              </p:cNvSpPr>
              <p:nvPr/>
            </p:nvSpPr>
            <p:spPr bwMode="auto">
              <a:xfrm>
                <a:off x="1215" y="2449"/>
                <a:ext cx="829" cy="23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rgbClr val="5F5F5F"/>
                </a:solidFill>
                <a:prstDash val="solid"/>
                <a:round/>
                <a:headEnd type="none" w="med" len="med"/>
                <a:tailEnd type="none" w="med" len="med"/>
              </a:ln>
              <a:effectLst/>
            </p:spPr>
            <p:txBody>
              <a:bodyPr/>
              <a:lstStyle/>
              <a:p>
                <a:endParaRPr lang="fr-BE"/>
              </a:p>
            </p:txBody>
          </p:sp>
          <p:sp>
            <p:nvSpPr>
              <p:cNvPr id="50672" name="Freeform 496"/>
              <p:cNvSpPr>
                <a:spLocks noChangeAspect="1"/>
              </p:cNvSpPr>
              <p:nvPr/>
            </p:nvSpPr>
            <p:spPr bwMode="auto">
              <a:xfrm>
                <a:off x="1215" y="2517"/>
                <a:ext cx="677" cy="764"/>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5F5F5F"/>
                </a:solidFill>
                <a:prstDash val="solid"/>
                <a:round/>
                <a:headEnd type="none" w="med" len="med"/>
                <a:tailEnd type="none" w="med" len="med"/>
              </a:ln>
              <a:effectLst/>
            </p:spPr>
            <p:txBody>
              <a:bodyPr/>
              <a:lstStyle/>
              <a:p>
                <a:endParaRPr lang="fr-BE"/>
              </a:p>
            </p:txBody>
          </p:sp>
          <p:sp>
            <p:nvSpPr>
              <p:cNvPr id="50673" name="Freeform 497"/>
              <p:cNvSpPr>
                <a:spLocks noChangeAspect="1"/>
              </p:cNvSpPr>
              <p:nvPr/>
            </p:nvSpPr>
            <p:spPr bwMode="auto">
              <a:xfrm>
                <a:off x="1268" y="2585"/>
                <a:ext cx="573" cy="625"/>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3175" cap="rnd" cmpd="sng">
                <a:solidFill>
                  <a:srgbClr val="5F5F5F"/>
                </a:solidFill>
                <a:prstDash val="solid"/>
                <a:round/>
                <a:headEnd type="none" w="med" len="med"/>
                <a:tailEnd type="none" w="med" len="med"/>
              </a:ln>
              <a:effectLst/>
            </p:spPr>
            <p:txBody>
              <a:bodyPr/>
              <a:lstStyle/>
              <a:p>
                <a:endParaRPr lang="fr-BE"/>
              </a:p>
            </p:txBody>
          </p:sp>
          <p:sp>
            <p:nvSpPr>
              <p:cNvPr id="50674" name="Freeform 498"/>
              <p:cNvSpPr>
                <a:spLocks/>
              </p:cNvSpPr>
              <p:nvPr/>
            </p:nvSpPr>
            <p:spPr bwMode="auto">
              <a:xfrm>
                <a:off x="1303" y="2627"/>
                <a:ext cx="501" cy="539"/>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3175"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BE"/>
              </a:p>
            </p:txBody>
          </p:sp>
        </p:grpSp>
        <p:grpSp>
          <p:nvGrpSpPr>
            <p:cNvPr id="50698" name="Group 522"/>
            <p:cNvGrpSpPr>
              <a:grpSpLocks/>
            </p:cNvGrpSpPr>
            <p:nvPr/>
          </p:nvGrpSpPr>
          <p:grpSpPr bwMode="auto">
            <a:xfrm>
              <a:off x="6511925" y="1733550"/>
              <a:ext cx="1050925" cy="1047750"/>
              <a:chOff x="3024" y="1104"/>
              <a:chExt cx="672" cy="624"/>
            </a:xfrm>
          </p:grpSpPr>
          <p:sp>
            <p:nvSpPr>
              <p:cNvPr id="50699" name="AutoShape 523"/>
              <p:cNvSpPr>
                <a:spLocks noChangeArrowheads="1"/>
              </p:cNvSpPr>
              <p:nvPr/>
            </p:nvSpPr>
            <p:spPr bwMode="auto">
              <a:xfrm>
                <a:off x="3024" y="1440"/>
                <a:ext cx="672" cy="288"/>
              </a:xfrm>
              <a:prstGeom prst="can">
                <a:avLst>
                  <a:gd name="adj" fmla="val 29616"/>
                </a:avLst>
              </a:prstGeom>
              <a:gradFill rotWithShape="0">
                <a:gsLst>
                  <a:gs pos="0">
                    <a:srgbClr val="33CCCC">
                      <a:gamma/>
                      <a:shade val="76471"/>
                      <a:invGamma/>
                    </a:srgbClr>
                  </a:gs>
                  <a:gs pos="50000">
                    <a:srgbClr val="33CCCC"/>
                  </a:gs>
                  <a:gs pos="100000">
                    <a:srgbClr val="33CCCC">
                      <a:gamma/>
                      <a:shade val="76471"/>
                      <a:invGamma/>
                    </a:srgbClr>
                  </a:gs>
                </a:gsLst>
                <a:lin ang="0" scaled="1"/>
              </a:gradFill>
              <a:ln w="6350">
                <a:solidFill>
                  <a:schemeClr val="tx1"/>
                </a:solidFill>
                <a:round/>
                <a:headEnd/>
                <a:tailEnd/>
              </a:ln>
              <a:effectLst/>
            </p:spPr>
            <p:txBody>
              <a:bodyPr wrap="none" anchorCtr="1"/>
              <a:lstStyle/>
              <a:p>
                <a:pPr algn="ctr"/>
                <a:r>
                  <a:rPr lang="en-US" sz="1600" u="none">
                    <a:solidFill>
                      <a:schemeClr val="bg1"/>
                    </a:solidFill>
                    <a:effectLst>
                      <a:outerShdw blurRad="38100" dist="38100" dir="2700000" algn="tl">
                        <a:srgbClr val="000000"/>
                      </a:outerShdw>
                    </a:effectLst>
                    <a:latin typeface="Arial" charset="0"/>
                  </a:rPr>
                  <a:t>SAM</a:t>
                </a:r>
                <a:endParaRPr lang="en-US"/>
              </a:p>
            </p:txBody>
          </p:sp>
          <p:grpSp>
            <p:nvGrpSpPr>
              <p:cNvPr id="50700" name="Group 524"/>
              <p:cNvGrpSpPr>
                <a:grpSpLocks/>
              </p:cNvGrpSpPr>
              <p:nvPr/>
            </p:nvGrpSpPr>
            <p:grpSpPr bwMode="auto">
              <a:xfrm>
                <a:off x="3072" y="1104"/>
                <a:ext cx="240" cy="384"/>
                <a:chOff x="3604" y="2644"/>
                <a:chExt cx="332" cy="626"/>
              </a:xfrm>
            </p:grpSpPr>
            <p:grpSp>
              <p:nvGrpSpPr>
                <p:cNvPr id="50701" name="Group 525"/>
                <p:cNvGrpSpPr>
                  <a:grpSpLocks/>
                </p:cNvGrpSpPr>
                <p:nvPr/>
              </p:nvGrpSpPr>
              <p:grpSpPr bwMode="auto">
                <a:xfrm>
                  <a:off x="3604" y="2644"/>
                  <a:ext cx="245" cy="626"/>
                  <a:chOff x="2073" y="2933"/>
                  <a:chExt cx="238" cy="611"/>
                </a:xfrm>
              </p:grpSpPr>
              <p:sp>
                <p:nvSpPr>
                  <p:cNvPr id="50702" name="Oval 526"/>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w="12700">
                    <a:noFill/>
                    <a:round/>
                    <a:headEnd/>
                    <a:tailEnd/>
                  </a:ln>
                  <a:effectLst>
                    <a:outerShdw dist="35921" dir="2700000" algn="ctr" rotWithShape="0">
                      <a:schemeClr val="tx1"/>
                    </a:outerShdw>
                  </a:effectLst>
                </p:spPr>
                <p:txBody>
                  <a:bodyPr wrap="none" anchor="ctr"/>
                  <a:lstStyle/>
                  <a:p>
                    <a:endParaRPr lang="fr-BE"/>
                  </a:p>
                </p:txBody>
              </p:sp>
              <p:sp>
                <p:nvSpPr>
                  <p:cNvPr id="50703" name="Freeform 527"/>
                  <p:cNvSpPr>
                    <a:spLocks/>
                  </p:cNvSpPr>
                  <p:nvPr/>
                </p:nvSpPr>
                <p:spPr bwMode="auto">
                  <a:xfrm>
                    <a:off x="2073" y="3048"/>
                    <a:ext cx="238" cy="496"/>
                  </a:xfrm>
                  <a:custGeom>
                    <a:avLst/>
                    <a:gdLst/>
                    <a:ahLst/>
                    <a:cxnLst>
                      <a:cxn ang="0">
                        <a:pos x="186" y="0"/>
                      </a:cxn>
                      <a:cxn ang="0">
                        <a:pos x="195" y="3"/>
                      </a:cxn>
                      <a:cxn ang="0">
                        <a:pos x="204" y="4"/>
                      </a:cxn>
                      <a:cxn ang="0">
                        <a:pos x="212" y="9"/>
                      </a:cxn>
                      <a:cxn ang="0">
                        <a:pos x="224" y="13"/>
                      </a:cxn>
                      <a:cxn ang="0">
                        <a:pos x="230" y="24"/>
                      </a:cxn>
                      <a:cxn ang="0">
                        <a:pos x="237" y="34"/>
                      </a:cxn>
                      <a:cxn ang="0">
                        <a:pos x="237" y="226"/>
                      </a:cxn>
                      <a:cxn ang="0">
                        <a:pos x="234" y="232"/>
                      </a:cxn>
                      <a:cxn ang="0">
                        <a:pos x="230" y="239"/>
                      </a:cxn>
                      <a:cxn ang="0">
                        <a:pos x="221" y="242"/>
                      </a:cxn>
                      <a:cxn ang="0">
                        <a:pos x="212" y="244"/>
                      </a:cxn>
                      <a:cxn ang="0">
                        <a:pos x="204" y="242"/>
                      </a:cxn>
                      <a:cxn ang="0">
                        <a:pos x="200" y="235"/>
                      </a:cxn>
                      <a:cxn ang="0">
                        <a:pos x="195" y="230"/>
                      </a:cxn>
                      <a:cxn ang="0">
                        <a:pos x="195" y="84"/>
                      </a:cxn>
                      <a:cxn ang="0">
                        <a:pos x="182" y="471"/>
                      </a:cxn>
                      <a:cxn ang="0">
                        <a:pos x="177" y="483"/>
                      </a:cxn>
                      <a:cxn ang="0">
                        <a:pos x="170" y="491"/>
                      </a:cxn>
                      <a:cxn ang="0">
                        <a:pos x="161" y="495"/>
                      </a:cxn>
                      <a:cxn ang="0">
                        <a:pos x="152" y="495"/>
                      </a:cxn>
                      <a:cxn ang="0">
                        <a:pos x="140" y="492"/>
                      </a:cxn>
                      <a:cxn ang="0">
                        <a:pos x="132" y="486"/>
                      </a:cxn>
                      <a:cxn ang="0">
                        <a:pos x="128" y="479"/>
                      </a:cxn>
                      <a:cxn ang="0">
                        <a:pos x="126" y="470"/>
                      </a:cxn>
                      <a:cxn ang="0">
                        <a:pos x="111" y="470"/>
                      </a:cxn>
                      <a:cxn ang="0">
                        <a:pos x="107" y="479"/>
                      </a:cxn>
                      <a:cxn ang="0">
                        <a:pos x="101" y="491"/>
                      </a:cxn>
                      <a:cxn ang="0">
                        <a:pos x="89" y="495"/>
                      </a:cxn>
                      <a:cxn ang="0">
                        <a:pos x="77" y="495"/>
                      </a:cxn>
                      <a:cxn ang="0">
                        <a:pos x="69" y="491"/>
                      </a:cxn>
                      <a:cxn ang="0">
                        <a:pos x="60" y="486"/>
                      </a:cxn>
                      <a:cxn ang="0">
                        <a:pos x="56" y="477"/>
                      </a:cxn>
                      <a:cxn ang="0">
                        <a:pos x="56" y="84"/>
                      </a:cxn>
                      <a:cxn ang="0">
                        <a:pos x="42" y="227"/>
                      </a:cxn>
                      <a:cxn ang="0">
                        <a:pos x="38" y="235"/>
                      </a:cxn>
                      <a:cxn ang="0">
                        <a:pos x="33" y="239"/>
                      </a:cxn>
                      <a:cxn ang="0">
                        <a:pos x="26" y="244"/>
                      </a:cxn>
                      <a:cxn ang="0">
                        <a:pos x="17" y="244"/>
                      </a:cxn>
                      <a:cxn ang="0">
                        <a:pos x="9" y="239"/>
                      </a:cxn>
                      <a:cxn ang="0">
                        <a:pos x="5" y="238"/>
                      </a:cxn>
                      <a:cxn ang="0">
                        <a:pos x="0" y="230"/>
                      </a:cxn>
                      <a:cxn ang="0">
                        <a:pos x="0" y="39"/>
                      </a:cxn>
                      <a:cxn ang="0">
                        <a:pos x="5" y="25"/>
                      </a:cxn>
                      <a:cxn ang="0">
                        <a:pos x="14" y="13"/>
                      </a:cxn>
                      <a:cxn ang="0">
                        <a:pos x="30" y="7"/>
                      </a:cxn>
                      <a:cxn ang="0">
                        <a:pos x="44" y="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w="12700" cap="rnd" cmpd="sng">
                    <a:noFill/>
                    <a:prstDash val="solid"/>
                    <a:round/>
                    <a:headEnd type="none" w="med" len="med"/>
                    <a:tailEnd type="none" w="med" len="med"/>
                  </a:ln>
                  <a:effectLst>
                    <a:outerShdw dist="35921" dir="2700000" algn="ctr" rotWithShape="0">
                      <a:schemeClr val="tx1"/>
                    </a:outerShdw>
                  </a:effectLst>
                </p:spPr>
                <p:txBody>
                  <a:bodyPr/>
                  <a:lstStyle/>
                  <a:p>
                    <a:endParaRPr lang="fr-BE"/>
                  </a:p>
                </p:txBody>
              </p:sp>
            </p:grpSp>
            <p:sp>
              <p:nvSpPr>
                <p:cNvPr id="50704" name="AutoShape 528"/>
                <p:cNvSpPr>
                  <a:spLocks noChangeArrowheads="1"/>
                </p:cNvSpPr>
                <p:nvPr/>
              </p:nvSpPr>
              <p:spPr bwMode="auto">
                <a:xfrm rot="1965645" flipV="1">
                  <a:off x="3756" y="2800"/>
                  <a:ext cx="180" cy="250"/>
                </a:xfrm>
                <a:prstGeom prst="foldedCorner">
                  <a:avLst>
                    <a:gd name="adj" fmla="val 29269"/>
                  </a:avLst>
                </a:prstGeom>
                <a:solidFill>
                  <a:schemeClr val="bg1"/>
                </a:solidFill>
                <a:ln w="6350">
                  <a:solidFill>
                    <a:schemeClr val="tx1"/>
                  </a:solidFill>
                  <a:round/>
                  <a:headEnd/>
                  <a:tailEnd/>
                </a:ln>
                <a:effectLst/>
              </p:spPr>
              <p:txBody>
                <a:bodyPr tIns="27432" bIns="27432" anchor="ctr">
                  <a:spAutoFit/>
                </a:bodyPr>
                <a:lstStyle/>
                <a:p>
                  <a:endParaRPr lang="fr-BE"/>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checkerboard(across)">
                                      <p:cBhvr>
                                        <p:cTn id="7" dur="500"/>
                                        <p:tgtEl>
                                          <p:spTgt spid="19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8"/>
                                        </p:tgtEl>
                                        <p:attrNameLst>
                                          <p:attrName>style.visibility</p:attrName>
                                        </p:attrNameLst>
                                      </p:cBhvr>
                                      <p:to>
                                        <p:strVal val="visible"/>
                                      </p:to>
                                    </p:set>
                                    <p:animEffect transition="in" filter="checkerboard(across)">
                                      <p:cBhvr>
                                        <p:cTn id="12" dur="5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6"/>
          <p:cNvSpPr>
            <a:spLocks noChangeArrowheads="1"/>
          </p:cNvSpPr>
          <p:nvPr/>
        </p:nvSpPr>
        <p:spPr bwMode="auto">
          <a:xfrm>
            <a:off x="422275" y="1367507"/>
            <a:ext cx="8302625" cy="1358900"/>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r>
              <a:rPr lang="en-US" sz="2400" dirty="0"/>
              <a:t> </a:t>
            </a:r>
            <a:r>
              <a:rPr lang="fr-FR" sz="2400" dirty="0"/>
              <a:t>Nouvelle installation </a:t>
            </a:r>
          </a:p>
        </p:txBody>
      </p:sp>
      <p:sp>
        <p:nvSpPr>
          <p:cNvPr id="5" name="AutoShape 37"/>
          <p:cNvSpPr>
            <a:spLocks noChangeArrowheads="1"/>
          </p:cNvSpPr>
          <p:nvPr/>
        </p:nvSpPr>
        <p:spPr bwMode="auto">
          <a:xfrm>
            <a:off x="681038" y="1843757"/>
            <a:ext cx="7735887" cy="658812"/>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spAutoFit/>
          </a:bodyPr>
          <a:lstStyle/>
          <a:p>
            <a:pPr marL="231775" indent="-231775">
              <a:lnSpc>
                <a:spcPct val="90000"/>
              </a:lnSpc>
              <a:buSzPct val="100000"/>
              <a:buFont typeface="Arial" pitchFamily="34" charset="0"/>
              <a:buChar char="•"/>
              <a:defRPr/>
            </a:pPr>
            <a:r>
              <a:rPr lang="fr-FR" dirty="0" err="1"/>
              <a:t>Instal</a:t>
            </a:r>
            <a:r>
              <a:rPr lang="fr-FR" dirty="0"/>
              <a:t> Windows 7 sur une nouvelle partition </a:t>
            </a:r>
          </a:p>
          <a:p>
            <a:pPr marL="231775" indent="-231775">
              <a:lnSpc>
                <a:spcPct val="90000"/>
              </a:lnSpc>
              <a:buSzPct val="100000"/>
              <a:buFont typeface="Arial" pitchFamily="34" charset="0"/>
              <a:buChar char="•"/>
              <a:defRPr/>
            </a:pPr>
            <a:r>
              <a:rPr lang="fr-FR" dirty="0"/>
              <a:t>Remplace un système d'exploitation existant sur une partition</a:t>
            </a:r>
            <a:endParaRPr lang="en-US" sz="2000" b="0" dirty="0"/>
          </a:p>
        </p:txBody>
      </p:sp>
      <p:sp>
        <p:nvSpPr>
          <p:cNvPr id="6" name="AutoShape 38"/>
          <p:cNvSpPr>
            <a:spLocks noChangeArrowheads="1"/>
          </p:cNvSpPr>
          <p:nvPr/>
        </p:nvSpPr>
        <p:spPr bwMode="auto">
          <a:xfrm>
            <a:off x="422275" y="2864069"/>
            <a:ext cx="8297863" cy="1818290"/>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defRPr/>
            </a:pPr>
            <a:r>
              <a:rPr lang="en-US" sz="2400" dirty="0"/>
              <a:t> </a:t>
            </a:r>
            <a:r>
              <a:rPr lang="fr-FR" sz="2400" dirty="0"/>
              <a:t>Mise à niveau </a:t>
            </a:r>
          </a:p>
          <a:p>
            <a:pPr>
              <a:defRPr/>
            </a:pPr>
            <a:endParaRPr lang="en-US" sz="2400" dirty="0"/>
          </a:p>
        </p:txBody>
      </p:sp>
      <p:sp>
        <p:nvSpPr>
          <p:cNvPr id="7" name="AutoShape 39"/>
          <p:cNvSpPr>
            <a:spLocks noChangeArrowheads="1"/>
          </p:cNvSpPr>
          <p:nvPr/>
        </p:nvSpPr>
        <p:spPr bwMode="auto">
          <a:xfrm>
            <a:off x="684213" y="3376607"/>
            <a:ext cx="7735887" cy="941189"/>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spAutoFit/>
          </a:bodyPr>
          <a:lstStyle/>
          <a:p>
            <a:pPr marL="231775" indent="-231775">
              <a:lnSpc>
                <a:spcPct val="90000"/>
              </a:lnSpc>
              <a:buSzPct val="100000"/>
              <a:buFont typeface="Arial" pitchFamily="34" charset="0"/>
              <a:buChar char="•"/>
              <a:defRPr/>
            </a:pPr>
            <a:r>
              <a:rPr lang="fr-FR" dirty="0"/>
              <a:t>Remplace une version existante de Windows par Windows 7</a:t>
            </a:r>
          </a:p>
          <a:p>
            <a:pPr marL="231775" indent="-231775">
              <a:lnSpc>
                <a:spcPct val="90000"/>
              </a:lnSpc>
              <a:buSzPct val="100000"/>
              <a:buFont typeface="Arial" pitchFamily="34" charset="0"/>
              <a:buChar char="•"/>
              <a:defRPr/>
            </a:pPr>
            <a:r>
              <a:rPr lang="fr-FR" dirty="0"/>
              <a:t>Conserve toutes les applications, ainsi que tous les fichiers et paramètres utilisateur. </a:t>
            </a:r>
            <a:endParaRPr lang="en-US" sz="2000" b="0" dirty="0"/>
          </a:p>
        </p:txBody>
      </p:sp>
      <p:sp>
        <p:nvSpPr>
          <p:cNvPr id="8" name="AutoShape 40"/>
          <p:cNvSpPr>
            <a:spLocks noChangeArrowheads="1"/>
          </p:cNvSpPr>
          <p:nvPr/>
        </p:nvSpPr>
        <p:spPr bwMode="auto">
          <a:xfrm>
            <a:off x="419100" y="4866186"/>
            <a:ext cx="8302625" cy="15144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r>
              <a:rPr lang="fr-FR" sz="2400" dirty="0"/>
              <a:t>Migration</a:t>
            </a:r>
          </a:p>
        </p:txBody>
      </p:sp>
      <p:sp>
        <p:nvSpPr>
          <p:cNvPr id="14" name="AutoShape 42"/>
          <p:cNvSpPr>
            <a:spLocks noChangeArrowheads="1"/>
          </p:cNvSpPr>
          <p:nvPr/>
        </p:nvSpPr>
        <p:spPr bwMode="auto">
          <a:xfrm>
            <a:off x="684213" y="5309099"/>
            <a:ext cx="7735887" cy="941189"/>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spAutoFit/>
          </a:bodyPr>
          <a:lstStyle/>
          <a:p>
            <a:pPr marL="231775" indent="-231775">
              <a:lnSpc>
                <a:spcPct val="90000"/>
              </a:lnSpc>
              <a:buSzPct val="100000"/>
              <a:buFont typeface="Arial" pitchFamily="34" charset="0"/>
              <a:buChar char="•"/>
              <a:defRPr/>
            </a:pPr>
            <a:r>
              <a:rPr lang="fr-FR" dirty="0"/>
              <a:t>Transfert les fichiers et les paramètres d’un ancien système d'exploitation vers Windows 7 </a:t>
            </a:r>
            <a:endParaRPr lang="en-US" sz="2000" b="0" dirty="0"/>
          </a:p>
          <a:p>
            <a:pPr marL="231775" indent="-231775">
              <a:lnSpc>
                <a:spcPct val="90000"/>
              </a:lnSpc>
              <a:buSzPct val="100000"/>
              <a:buFont typeface="Arial" pitchFamily="34" charset="0"/>
              <a:buChar char="•"/>
              <a:defRPr/>
            </a:pPr>
            <a:r>
              <a:rPr lang="fr-FR" dirty="0"/>
              <a:t>Migration de type (côte à côte) ou (</a:t>
            </a:r>
            <a:r>
              <a:rPr lang="fr-FR" dirty="0" err="1"/>
              <a:t>wipe</a:t>
            </a:r>
            <a:r>
              <a:rPr lang="fr-FR" dirty="0"/>
              <a:t>-and-</a:t>
            </a:r>
            <a:r>
              <a:rPr lang="fr-FR" dirty="0" err="1"/>
              <a:t>load</a:t>
            </a:r>
            <a:r>
              <a:rPr lang="fr-FR" dirty="0"/>
              <a:t>)</a:t>
            </a:r>
            <a:endParaRPr lang="en-US" sz="2000" b="0" dirty="0"/>
          </a:p>
        </p:txBody>
      </p:sp>
      <p:sp>
        <p:nvSpPr>
          <p:cNvPr id="12291" name="Rectangle 2"/>
          <p:cNvSpPr>
            <a:spLocks noGrp="1" noChangeArrowheads="1"/>
          </p:cNvSpPr>
          <p:nvPr>
            <p:ph type="title"/>
          </p:nvPr>
        </p:nvSpPr>
        <p:spPr>
          <a:xfrm>
            <a:off x="301752" y="196515"/>
            <a:ext cx="8534400" cy="758952"/>
          </a:xfrm>
        </p:spPr>
        <p:txBody>
          <a:bodyPr>
            <a:normAutofit/>
          </a:bodyPr>
          <a:lstStyle/>
          <a:p>
            <a:r>
              <a:rPr lang="en-US" sz="2800" dirty="0">
                <a:solidFill>
                  <a:srgbClr val="C00000"/>
                </a:solidFill>
              </a:rPr>
              <a:t>Les options de </a:t>
            </a:r>
            <a:r>
              <a:rPr lang="en-US" sz="2800" dirty="0" err="1">
                <a:solidFill>
                  <a:srgbClr val="C00000"/>
                </a:solidFill>
              </a:rPr>
              <a:t>l’installation</a:t>
            </a:r>
            <a:r>
              <a:rPr lang="en-US" sz="2800" dirty="0">
                <a:solidFill>
                  <a:srgbClr val="C00000"/>
                </a:solidFill>
              </a:rPr>
              <a:t> de Windows 7</a:t>
            </a:r>
          </a:p>
        </p:txBody>
      </p:sp>
      <p:grpSp>
        <p:nvGrpSpPr>
          <p:cNvPr id="3" name="Group 14"/>
          <p:cNvGrpSpPr>
            <a:grpSpLocks/>
          </p:cNvGrpSpPr>
          <p:nvPr/>
        </p:nvGrpSpPr>
        <p:grpSpPr bwMode="auto">
          <a:xfrm>
            <a:off x="7361238" y="1230763"/>
            <a:ext cx="1590675" cy="1239837"/>
            <a:chOff x="7252625" y="796025"/>
            <a:chExt cx="1590675" cy="1239838"/>
          </a:xfrm>
        </p:grpSpPr>
        <p:pic>
          <p:nvPicPr>
            <p:cNvPr id="12293" name="Picture 26" descr="abstract_oval_blue_03"/>
            <p:cNvPicPr>
              <a:picLocks noChangeAspect="1" noChangeArrowheads="1"/>
            </p:cNvPicPr>
            <p:nvPr/>
          </p:nvPicPr>
          <p:blipFill>
            <a:blip r:embed="rId3"/>
            <a:srcRect/>
            <a:stretch>
              <a:fillRect/>
            </a:stretch>
          </p:blipFill>
          <p:spPr bwMode="auto">
            <a:xfrm>
              <a:off x="7252625" y="796025"/>
              <a:ext cx="1590675" cy="1239838"/>
            </a:xfrm>
            <a:prstGeom prst="rect">
              <a:avLst/>
            </a:prstGeom>
            <a:noFill/>
            <a:ln w="9525">
              <a:noFill/>
              <a:miter lim="800000"/>
              <a:headEnd/>
              <a:tailEnd/>
            </a:ln>
          </p:spPr>
        </p:pic>
        <p:grpSp>
          <p:nvGrpSpPr>
            <p:cNvPr id="9" name="Group 31"/>
            <p:cNvGrpSpPr>
              <a:grpSpLocks/>
            </p:cNvGrpSpPr>
            <p:nvPr/>
          </p:nvGrpSpPr>
          <p:grpSpPr bwMode="auto">
            <a:xfrm>
              <a:off x="7682837" y="857938"/>
              <a:ext cx="757238" cy="982662"/>
              <a:chOff x="1693" y="2531"/>
              <a:chExt cx="667" cy="866"/>
            </a:xfrm>
          </p:grpSpPr>
          <p:pic>
            <p:nvPicPr>
              <p:cNvPr id="12295" name="Picture 32" descr="Computer_Desktop+Keyboard"/>
              <p:cNvPicPr>
                <a:picLocks noChangeAspect="1" noChangeArrowheads="1"/>
              </p:cNvPicPr>
              <p:nvPr/>
            </p:nvPicPr>
            <p:blipFill>
              <a:blip r:embed="rId4"/>
              <a:srcRect/>
              <a:stretch>
                <a:fillRect/>
              </a:stretch>
            </p:blipFill>
            <p:spPr bwMode="auto">
              <a:xfrm>
                <a:off x="1693" y="2651"/>
                <a:ext cx="667" cy="746"/>
              </a:xfrm>
              <a:prstGeom prst="rect">
                <a:avLst/>
              </a:prstGeom>
              <a:noFill/>
              <a:ln w="9525">
                <a:noFill/>
                <a:miter lim="800000"/>
                <a:headEnd/>
                <a:tailEnd/>
              </a:ln>
            </p:spPr>
          </p:pic>
          <p:pic>
            <p:nvPicPr>
              <p:cNvPr id="12296" name="Picture 33" descr="LOGO_Windows_Vista"/>
              <p:cNvPicPr>
                <a:picLocks noChangeAspect="1" noChangeArrowheads="1"/>
              </p:cNvPicPr>
              <p:nvPr/>
            </p:nvPicPr>
            <p:blipFill>
              <a:blip r:embed="rId5"/>
              <a:srcRect/>
              <a:stretch>
                <a:fillRect/>
              </a:stretch>
            </p:blipFill>
            <p:spPr bwMode="auto">
              <a:xfrm>
                <a:off x="1920" y="2531"/>
                <a:ext cx="366" cy="325"/>
              </a:xfrm>
              <a:prstGeom prst="rect">
                <a:avLst/>
              </a:prstGeom>
              <a:noFill/>
              <a:ln w="9525">
                <a:noFill/>
                <a:miter lim="800000"/>
                <a:headEnd/>
                <a:tailEnd/>
              </a:ln>
            </p:spPr>
          </p:pic>
          <p:pic>
            <p:nvPicPr>
              <p:cNvPr id="12297" name="Picture 34" descr="ServerProcess"/>
              <p:cNvPicPr>
                <a:picLocks noChangeAspect="1" noChangeArrowheads="1"/>
              </p:cNvPicPr>
              <p:nvPr/>
            </p:nvPicPr>
            <p:blipFill>
              <a:blip r:embed="rId6"/>
              <a:srcRect/>
              <a:stretch>
                <a:fillRect/>
              </a:stretch>
            </p:blipFill>
            <p:spPr bwMode="auto">
              <a:xfrm>
                <a:off x="2002" y="2753"/>
                <a:ext cx="309" cy="237"/>
              </a:xfrm>
              <a:prstGeom prst="rect">
                <a:avLst/>
              </a:prstGeom>
              <a:noFill/>
              <a:ln w="9525">
                <a:noFill/>
                <a:miter lim="800000"/>
                <a:headEnd/>
                <a:tailEnd/>
              </a:ln>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heckerboard(across)">
                                      <p:cBhvr>
                                        <p:cTn id="10" dur="500"/>
                                        <p:tgtEl>
                                          <p:spTgt spid="5"/>
                                        </p:tgtEl>
                                      </p:cBhvr>
                                    </p:animEffect>
                                  </p:childTnLst>
                                </p:cTn>
                              </p:par>
                              <p:par>
                                <p:cTn id="11" presetID="5"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heckerboard(across)">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heckerboard(across)">
                                      <p:cBhvr>
                                        <p:cTn id="18" dur="500"/>
                                        <p:tgtEl>
                                          <p:spTgt spid="6"/>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heckerboard(across)">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checkerboard(across)">
                                      <p:cBhvr>
                                        <p:cTn id="26" dur="500"/>
                                        <p:tgtEl>
                                          <p:spTgt spid="8"/>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checkerboard(across)">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301752" y="196515"/>
            <a:ext cx="8534400" cy="758952"/>
          </a:xfrm>
        </p:spPr>
        <p:txBody>
          <a:bodyPr>
            <a:normAutofit/>
          </a:bodyPr>
          <a:lstStyle/>
          <a:p>
            <a:r>
              <a:rPr lang="en-US" sz="2800" dirty="0">
                <a:solidFill>
                  <a:srgbClr val="C00000"/>
                </a:solidFill>
              </a:rPr>
              <a:t>Les options de </a:t>
            </a:r>
            <a:r>
              <a:rPr lang="en-US" sz="2800" dirty="0" err="1">
                <a:solidFill>
                  <a:srgbClr val="C00000"/>
                </a:solidFill>
              </a:rPr>
              <a:t>l’installation</a:t>
            </a:r>
            <a:r>
              <a:rPr lang="en-US" sz="2800" dirty="0">
                <a:solidFill>
                  <a:srgbClr val="C00000"/>
                </a:solidFill>
              </a:rPr>
              <a:t> de Windows 7</a:t>
            </a:r>
          </a:p>
        </p:txBody>
      </p:sp>
      <p:sp>
        <p:nvSpPr>
          <p:cNvPr id="15" name="Rectangle 14"/>
          <p:cNvSpPr/>
          <p:nvPr/>
        </p:nvSpPr>
        <p:spPr>
          <a:xfrm>
            <a:off x="362607" y="1536174"/>
            <a:ext cx="8513379" cy="5007781"/>
          </a:xfrm>
          <a:prstGeom prst="rect">
            <a:avLst/>
          </a:prstGeom>
        </p:spPr>
        <p:txBody>
          <a:bodyPr wrap="square">
            <a:spAutoFit/>
          </a:bodyPr>
          <a:lstStyle/>
          <a:p>
            <a:pPr>
              <a:lnSpc>
                <a:spcPct val="150000"/>
              </a:lnSpc>
            </a:pPr>
            <a:r>
              <a:rPr lang="fr-FR" sz="2400" i="1" dirty="0"/>
              <a:t>Question</a:t>
            </a:r>
            <a:r>
              <a:rPr lang="fr-FR" sz="2400" u="none" dirty="0"/>
              <a:t> : Quel type d'installation devez-vous utiliser dans les scénarios suivants ? </a:t>
            </a:r>
          </a:p>
          <a:p>
            <a:pPr>
              <a:lnSpc>
                <a:spcPct val="150000"/>
              </a:lnSpc>
            </a:pPr>
            <a:r>
              <a:rPr lang="fr-FR" sz="2400" i="1" dirty="0"/>
              <a:t>Scénario 1</a:t>
            </a:r>
            <a:r>
              <a:rPr lang="fr-FR" sz="2400" u="none" dirty="0"/>
              <a:t> : Vos utilisateurs possèdent des ordinateurs de trois ans au moins et votre organisation prévoie de déployer Windows 7 sur de nombreux nouveaux ordinateurs. </a:t>
            </a:r>
          </a:p>
          <a:p>
            <a:pPr>
              <a:lnSpc>
                <a:spcPct val="150000"/>
              </a:lnSpc>
            </a:pPr>
            <a:r>
              <a:rPr lang="fr-FR" sz="2400" i="1" dirty="0"/>
              <a:t>Scénario 2</a:t>
            </a:r>
            <a:r>
              <a:rPr lang="fr-FR" sz="2400" u="none" dirty="0"/>
              <a:t> : Votre entreprise compte seulement quelques utilisateurs. Les ordinateurs sont plutôt récents, mais de nombreuses applications y sont installées et de nombreuses données y sont stockées.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301752" y="196515"/>
            <a:ext cx="8534400" cy="758952"/>
          </a:xfrm>
        </p:spPr>
        <p:txBody>
          <a:bodyPr>
            <a:normAutofit/>
          </a:bodyPr>
          <a:lstStyle/>
          <a:p>
            <a:r>
              <a:rPr lang="en-US" sz="2800" dirty="0">
                <a:solidFill>
                  <a:srgbClr val="C00000"/>
                </a:solidFill>
              </a:rPr>
              <a:t>Les options de </a:t>
            </a:r>
            <a:r>
              <a:rPr lang="en-US" sz="2800" dirty="0" err="1">
                <a:solidFill>
                  <a:srgbClr val="C00000"/>
                </a:solidFill>
              </a:rPr>
              <a:t>l’installation</a:t>
            </a:r>
            <a:r>
              <a:rPr lang="en-US" sz="2800" dirty="0">
                <a:solidFill>
                  <a:srgbClr val="C00000"/>
                </a:solidFill>
              </a:rPr>
              <a:t> de Windows 7</a:t>
            </a:r>
          </a:p>
        </p:txBody>
      </p:sp>
      <p:sp>
        <p:nvSpPr>
          <p:cNvPr id="15" name="Rectangle 14"/>
          <p:cNvSpPr/>
          <p:nvPr/>
        </p:nvSpPr>
        <p:spPr>
          <a:xfrm>
            <a:off x="362607" y="1536174"/>
            <a:ext cx="8513379" cy="3416320"/>
          </a:xfrm>
          <a:prstGeom prst="rect">
            <a:avLst/>
          </a:prstGeom>
        </p:spPr>
        <p:txBody>
          <a:bodyPr wrap="square">
            <a:spAutoFit/>
          </a:bodyPr>
          <a:lstStyle/>
          <a:p>
            <a:pPr>
              <a:lnSpc>
                <a:spcPct val="150000"/>
              </a:lnSpc>
            </a:pPr>
            <a:r>
              <a:rPr lang="fr-FR" sz="2400" i="1" dirty="0"/>
              <a:t>Scénario 1</a:t>
            </a:r>
            <a:r>
              <a:rPr lang="fr-FR" sz="2400" u="none" dirty="0"/>
              <a:t> : Vos utilisateurs possèdent des ordinateurs de trois ans au moins et votre organisation prévoie de déployer Windows 7 sur de nombreux nouveaux ordinateurs. </a:t>
            </a:r>
          </a:p>
          <a:p>
            <a:pPr>
              <a:lnSpc>
                <a:spcPct val="150000"/>
              </a:lnSpc>
            </a:pPr>
            <a:r>
              <a:rPr lang="fr-FR" sz="2400" dirty="0"/>
              <a:t>Réponse</a:t>
            </a:r>
            <a:r>
              <a:rPr lang="fr-FR" sz="2400" u="none" dirty="0"/>
              <a:t> : Vous pouvez acheter le nouveau matériel pour votre organisation, exécuter une nouvelle installation de Windows 7, puis migrer les paramètres et données utilisateur nécessaires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301752" y="196515"/>
            <a:ext cx="8534400" cy="758952"/>
          </a:xfrm>
        </p:spPr>
        <p:txBody>
          <a:bodyPr>
            <a:normAutofit/>
          </a:bodyPr>
          <a:lstStyle/>
          <a:p>
            <a:r>
              <a:rPr lang="en-US" sz="2800" dirty="0">
                <a:solidFill>
                  <a:srgbClr val="C00000"/>
                </a:solidFill>
              </a:rPr>
              <a:t>Les options de </a:t>
            </a:r>
            <a:r>
              <a:rPr lang="en-US" sz="2800" dirty="0" err="1">
                <a:solidFill>
                  <a:srgbClr val="C00000"/>
                </a:solidFill>
              </a:rPr>
              <a:t>l’installation</a:t>
            </a:r>
            <a:r>
              <a:rPr lang="en-US" sz="2800" dirty="0">
                <a:solidFill>
                  <a:srgbClr val="C00000"/>
                </a:solidFill>
              </a:rPr>
              <a:t> de Windows 7</a:t>
            </a:r>
          </a:p>
        </p:txBody>
      </p:sp>
      <p:sp>
        <p:nvSpPr>
          <p:cNvPr id="15" name="Rectangle 14"/>
          <p:cNvSpPr/>
          <p:nvPr/>
        </p:nvSpPr>
        <p:spPr>
          <a:xfrm>
            <a:off x="362607" y="1536174"/>
            <a:ext cx="8513379" cy="3416320"/>
          </a:xfrm>
          <a:prstGeom prst="rect">
            <a:avLst/>
          </a:prstGeom>
        </p:spPr>
        <p:txBody>
          <a:bodyPr wrap="square">
            <a:spAutoFit/>
          </a:bodyPr>
          <a:lstStyle/>
          <a:p>
            <a:pPr>
              <a:lnSpc>
                <a:spcPct val="150000"/>
              </a:lnSpc>
            </a:pPr>
            <a:r>
              <a:rPr lang="fr-FR" sz="2400" i="1" dirty="0"/>
              <a:t>Scénario 2</a:t>
            </a:r>
            <a:r>
              <a:rPr lang="fr-FR" sz="2400" u="none" dirty="0"/>
              <a:t> : Votre entreprise compte seulement quelques utilisateurs. Les ordinateurs sont plutôt récents, mais de nombreuses applications y sont installées et de nombreuses données y sont stockées. </a:t>
            </a:r>
          </a:p>
          <a:p>
            <a:pPr>
              <a:lnSpc>
                <a:spcPct val="150000"/>
              </a:lnSpc>
            </a:pPr>
            <a:r>
              <a:rPr lang="fr-FR" sz="2400" i="1" dirty="0"/>
              <a:t>Réponse</a:t>
            </a:r>
            <a:r>
              <a:rPr lang="fr-FR" sz="2400" u="none" dirty="0"/>
              <a:t>:  Vous pouvez exécuter une mise à niveau sur place vers Windows 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2- Réalisation d'une nouvelle installation</a:t>
            </a:r>
            <a:br>
              <a:rPr lang="fr-FR" dirty="0"/>
            </a:br>
            <a:r>
              <a:rPr lang="fr-FR" dirty="0"/>
              <a:t>de Windows 7</a:t>
            </a:r>
          </a:p>
        </p:txBody>
      </p:sp>
      <p:sp>
        <p:nvSpPr>
          <p:cNvPr id="3" name="Espace réservé du contenu 2"/>
          <p:cNvSpPr>
            <a:spLocks noGrp="1"/>
          </p:cNvSpPr>
          <p:nvPr>
            <p:ph sz="quarter" idx="1"/>
          </p:nvPr>
        </p:nvSpPr>
        <p:spPr>
          <a:xfrm>
            <a:off x="350052" y="2407927"/>
            <a:ext cx="8461613" cy="2340536"/>
          </a:xfrm>
        </p:spPr>
        <p:txBody>
          <a:bodyPr/>
          <a:lstStyle/>
          <a:p>
            <a:pPr>
              <a:buClrTx/>
            </a:pPr>
            <a:r>
              <a:rPr lang="en-US" dirty="0"/>
              <a:t>Discussion: Les </a:t>
            </a:r>
            <a:r>
              <a:rPr lang="en-US" dirty="0" err="1"/>
              <a:t>élements</a:t>
            </a:r>
            <a:r>
              <a:rPr lang="en-US" dirty="0"/>
              <a:t> à </a:t>
            </a:r>
            <a:r>
              <a:rPr lang="en-US" dirty="0" err="1"/>
              <a:t>prendre</a:t>
            </a:r>
            <a:r>
              <a:rPr lang="en-US" dirty="0"/>
              <a:t> en charge </a:t>
            </a:r>
            <a:r>
              <a:rPr lang="en-US" dirty="0" err="1"/>
              <a:t>lors</a:t>
            </a:r>
            <a:r>
              <a:rPr lang="en-US" dirty="0"/>
              <a:t> </a:t>
            </a:r>
            <a:r>
              <a:rPr lang="en-US" dirty="0" err="1"/>
              <a:t>d’une</a:t>
            </a:r>
            <a:r>
              <a:rPr lang="en-US" dirty="0"/>
              <a:t> nouvelle installation</a:t>
            </a:r>
          </a:p>
          <a:p>
            <a:pPr>
              <a:buClrTx/>
            </a:pPr>
            <a:r>
              <a:rPr lang="fr-FR" dirty="0"/>
              <a:t>Méthodes permettant d’effectuer une nouvelle installation </a:t>
            </a:r>
            <a:endParaRPr lang="en-US" dirty="0"/>
          </a:p>
          <a:p>
            <a:endParaRPr lang="fr-F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1542" y="212558"/>
            <a:ext cx="8534400" cy="758952"/>
          </a:xfrm>
        </p:spPr>
        <p:txBody>
          <a:bodyPr>
            <a:noAutofit/>
          </a:bodyPr>
          <a:lstStyle/>
          <a:p>
            <a:r>
              <a:rPr lang="en-US" sz="2800" dirty="0">
                <a:solidFill>
                  <a:srgbClr val="C00000"/>
                </a:solidFill>
              </a:rPr>
              <a:t>Discussion: Les </a:t>
            </a:r>
            <a:r>
              <a:rPr lang="en-US" sz="2800" dirty="0" err="1">
                <a:solidFill>
                  <a:srgbClr val="C00000"/>
                </a:solidFill>
              </a:rPr>
              <a:t>élements</a:t>
            </a:r>
            <a:r>
              <a:rPr lang="en-US" sz="2800" dirty="0">
                <a:solidFill>
                  <a:srgbClr val="C00000"/>
                </a:solidFill>
              </a:rPr>
              <a:t> à </a:t>
            </a:r>
            <a:r>
              <a:rPr lang="en-US" sz="2800" dirty="0" err="1">
                <a:solidFill>
                  <a:srgbClr val="C00000"/>
                </a:solidFill>
              </a:rPr>
              <a:t>prendre</a:t>
            </a:r>
            <a:r>
              <a:rPr lang="en-US" sz="2800" dirty="0">
                <a:solidFill>
                  <a:srgbClr val="C00000"/>
                </a:solidFill>
              </a:rPr>
              <a:t> en charge </a:t>
            </a:r>
            <a:r>
              <a:rPr lang="en-US" sz="2800" dirty="0" err="1">
                <a:solidFill>
                  <a:srgbClr val="C00000"/>
                </a:solidFill>
              </a:rPr>
              <a:t>lors</a:t>
            </a:r>
            <a:r>
              <a:rPr lang="en-US" sz="2800" dirty="0">
                <a:solidFill>
                  <a:srgbClr val="C00000"/>
                </a:solidFill>
              </a:rPr>
              <a:t> </a:t>
            </a:r>
            <a:r>
              <a:rPr lang="en-US" sz="2800" dirty="0" err="1">
                <a:solidFill>
                  <a:srgbClr val="C00000"/>
                </a:solidFill>
              </a:rPr>
              <a:t>d’une</a:t>
            </a:r>
            <a:r>
              <a:rPr lang="en-US" sz="2800" dirty="0">
                <a:solidFill>
                  <a:srgbClr val="C00000"/>
                </a:solidFill>
              </a:rPr>
              <a:t> nouvelle installation</a:t>
            </a:r>
          </a:p>
        </p:txBody>
      </p:sp>
      <p:grpSp>
        <p:nvGrpSpPr>
          <p:cNvPr id="2" name="Group 9"/>
          <p:cNvGrpSpPr>
            <a:grpSpLocks/>
          </p:cNvGrpSpPr>
          <p:nvPr/>
        </p:nvGrpSpPr>
        <p:grpSpPr bwMode="auto">
          <a:xfrm>
            <a:off x="672933" y="1313614"/>
            <a:ext cx="6835775" cy="5126038"/>
            <a:chOff x="1996864" y="940982"/>
            <a:chExt cx="6835549" cy="5124856"/>
          </a:xfrm>
        </p:grpSpPr>
        <p:pic>
          <p:nvPicPr>
            <p:cNvPr id="14344" name="Picture 8" descr="C:\Users\tfrink.NORTHAMERICA\Pictures\MSL Approved graphics from Vendor Resource Toolkit\Graphics\ChatBubble.png"/>
            <p:cNvPicPr>
              <a:picLocks noChangeAspect="1" noChangeArrowheads="1"/>
            </p:cNvPicPr>
            <p:nvPr/>
          </p:nvPicPr>
          <p:blipFill>
            <a:blip r:embed="rId3"/>
            <a:srcRect/>
            <a:stretch>
              <a:fillRect/>
            </a:stretch>
          </p:blipFill>
          <p:spPr bwMode="auto">
            <a:xfrm>
              <a:off x="1996864" y="940982"/>
              <a:ext cx="6835549" cy="3019620"/>
            </a:xfrm>
            <a:prstGeom prst="rect">
              <a:avLst/>
            </a:prstGeom>
            <a:noFill/>
            <a:ln w="9525">
              <a:noFill/>
              <a:miter lim="800000"/>
              <a:headEnd/>
              <a:tailEnd/>
            </a:ln>
          </p:spPr>
        </p:pic>
        <p:pic>
          <p:nvPicPr>
            <p:cNvPr id="14345" name="Picture 9" descr="C:\Users\tfrink.NORTHAMERICA\Pictures\MSL Approved graphics from Vendor Resource Toolkit\Graphics\Collection_Group.png"/>
            <p:cNvPicPr>
              <a:picLocks noChangeAspect="1" noChangeArrowheads="1"/>
            </p:cNvPicPr>
            <p:nvPr/>
          </p:nvPicPr>
          <p:blipFill>
            <a:blip r:embed="rId4"/>
            <a:srcRect/>
            <a:stretch>
              <a:fillRect/>
            </a:stretch>
          </p:blipFill>
          <p:spPr bwMode="auto">
            <a:xfrm>
              <a:off x="2143125" y="3303588"/>
              <a:ext cx="3819525" cy="2762250"/>
            </a:xfrm>
            <a:prstGeom prst="rect">
              <a:avLst/>
            </a:prstGeom>
            <a:noFill/>
            <a:ln w="9525">
              <a:noFill/>
              <a:miter lim="800000"/>
              <a:headEnd/>
              <a:tailEnd/>
            </a:ln>
          </p:spPr>
        </p:pic>
        <p:sp>
          <p:nvSpPr>
            <p:cNvPr id="14346" name="TextBox 10"/>
            <p:cNvSpPr txBox="1">
              <a:spLocks noChangeArrowheads="1"/>
            </p:cNvSpPr>
            <p:nvPr/>
          </p:nvSpPr>
          <p:spPr bwMode="auto">
            <a:xfrm>
              <a:off x="3301746" y="1366919"/>
              <a:ext cx="4176574" cy="1384676"/>
            </a:xfrm>
            <a:prstGeom prst="rect">
              <a:avLst/>
            </a:prstGeom>
            <a:noFill/>
            <a:ln w="9525">
              <a:noFill/>
              <a:miter lim="800000"/>
              <a:headEnd/>
              <a:tailEnd/>
            </a:ln>
          </p:spPr>
          <p:txBody>
            <a:bodyPr>
              <a:spAutoFit/>
            </a:bodyPr>
            <a:lstStyle/>
            <a:p>
              <a:pPr indent="-342900" algn="ctr"/>
              <a:r>
                <a:rPr lang="en-US" sz="2800" dirty="0">
                  <a:latin typeface="Arial" charset="0"/>
                </a:rPr>
                <a:t> </a:t>
              </a:r>
              <a:r>
                <a:rPr lang="fr-FR" sz="2800" dirty="0"/>
                <a:t>En général, quand exécutez-vous une nouvelle installation de Windows ?</a:t>
              </a:r>
              <a:endParaRPr lang="en-US" sz="2800" dirty="0">
                <a:latin typeface="Arial" charset="0"/>
              </a:endParaRPr>
            </a:p>
          </p:txBody>
        </p:sp>
      </p:grpSp>
      <p:sp>
        <p:nvSpPr>
          <p:cNvPr id="7" name="Rectangle 6"/>
          <p:cNvSpPr/>
          <p:nvPr/>
        </p:nvSpPr>
        <p:spPr>
          <a:xfrm>
            <a:off x="315311" y="1450427"/>
            <a:ext cx="8418785" cy="49819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buFont typeface="Wingdings" pitchFamily="2" charset="2"/>
              <a:buChar char="q"/>
            </a:pPr>
            <a:r>
              <a:rPr lang="fr-FR" sz="2400" u="none" dirty="0">
                <a:solidFill>
                  <a:schemeClr val="tx1"/>
                </a:solidFill>
              </a:rPr>
              <a:t>Aucun système d'exploitation n'est installé sur l'ordinateur. </a:t>
            </a:r>
          </a:p>
          <a:p>
            <a:pPr>
              <a:lnSpc>
                <a:spcPct val="150000"/>
              </a:lnSpc>
              <a:buFont typeface="Wingdings" pitchFamily="2" charset="2"/>
              <a:buChar char="q"/>
            </a:pPr>
            <a:r>
              <a:rPr lang="fr-FR" sz="2400" u="none" dirty="0">
                <a:solidFill>
                  <a:schemeClr val="tx1"/>
                </a:solidFill>
              </a:rPr>
              <a:t>Le système d'exploitation installé ne prend pas en charge la mise à niveau vers Windows 7. </a:t>
            </a:r>
          </a:p>
          <a:p>
            <a:pPr>
              <a:lnSpc>
                <a:spcPct val="150000"/>
              </a:lnSpc>
              <a:buFont typeface="Wingdings" pitchFamily="2" charset="2"/>
              <a:buChar char="q"/>
            </a:pPr>
            <a:r>
              <a:rPr lang="fr-FR" sz="2400" u="none" dirty="0">
                <a:solidFill>
                  <a:schemeClr val="tx1"/>
                </a:solidFill>
              </a:rPr>
              <a:t>L'ordinateur comporte plusieurs partitions et doit prendre en charge une configuration à amorçage multiple utilisant Windows 7 et le système d'exploitation actuel.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xit" presetSubtype="10" fill="hold" grpId="0" nodeType="withEffect">
                                  <p:stCondLst>
                                    <p:cond delay="0"/>
                                  </p:stCondLst>
                                  <p:childTnLst>
                                    <p:animEffect transition="out" filter="checkerboard(across)">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1"/>
          <p:cNvGrpSpPr>
            <a:grpSpLocks/>
          </p:cNvGrpSpPr>
          <p:nvPr/>
        </p:nvGrpSpPr>
        <p:grpSpPr bwMode="auto">
          <a:xfrm>
            <a:off x="524933" y="1276350"/>
            <a:ext cx="8009467" cy="4009878"/>
            <a:chOff x="8931954" y="2300707"/>
            <a:chExt cx="8009732" cy="4008859"/>
          </a:xfrm>
        </p:grpSpPr>
        <p:grpSp>
          <p:nvGrpSpPr>
            <p:cNvPr id="3" name="Group 64"/>
            <p:cNvGrpSpPr>
              <a:grpSpLocks/>
            </p:cNvGrpSpPr>
            <p:nvPr/>
          </p:nvGrpSpPr>
          <p:grpSpPr bwMode="auto">
            <a:xfrm>
              <a:off x="9399224" y="3630694"/>
              <a:ext cx="7542462" cy="2678872"/>
              <a:chOff x="981287" y="2638173"/>
              <a:chExt cx="7542462" cy="2678872"/>
            </a:xfrm>
          </p:grpSpPr>
          <p:sp>
            <p:nvSpPr>
              <p:cNvPr id="66" name="AutoShape 34"/>
              <p:cNvSpPr>
                <a:spLocks noChangeArrowheads="1"/>
              </p:cNvSpPr>
              <p:nvPr/>
            </p:nvSpPr>
            <p:spPr bwMode="auto">
              <a:xfrm>
                <a:off x="981287" y="2638173"/>
                <a:ext cx="1746308" cy="1524339"/>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spAutoFit/>
              </a:bodyPr>
              <a:lstStyle/>
              <a:p>
                <a:pPr indent="-231775">
                  <a:lnSpc>
                    <a:spcPct val="90000"/>
                  </a:lnSpc>
                  <a:spcBef>
                    <a:spcPts val="0"/>
                  </a:spcBef>
                  <a:buClr>
                    <a:srgbClr val="8DACD0"/>
                  </a:buClr>
                  <a:buSzPct val="70000"/>
                  <a:defRPr/>
                </a:pPr>
                <a:r>
                  <a:rPr lang="en-US" sz="2200" dirty="0" err="1"/>
                  <a:t>Démarrez</a:t>
                </a:r>
                <a:r>
                  <a:rPr lang="en-US" sz="2200" dirty="0"/>
                  <a:t> </a:t>
                </a:r>
                <a:r>
                  <a:rPr lang="en-US" sz="2200" dirty="0" err="1"/>
                  <a:t>l’ordinateur</a:t>
                </a:r>
                <a:r>
                  <a:rPr lang="en-US" sz="2200" dirty="0"/>
                  <a:t> en </a:t>
                </a:r>
                <a:r>
                  <a:rPr lang="en-US" sz="2200" dirty="0" err="1"/>
                  <a:t>utilisant</a:t>
                </a:r>
                <a:r>
                  <a:rPr lang="en-US" sz="2200" dirty="0"/>
                  <a:t> Windows PE</a:t>
                </a:r>
              </a:p>
            </p:txBody>
          </p:sp>
          <p:sp>
            <p:nvSpPr>
              <p:cNvPr id="67" name="AutoShape 34"/>
              <p:cNvSpPr>
                <a:spLocks noChangeArrowheads="1"/>
              </p:cNvSpPr>
              <p:nvPr/>
            </p:nvSpPr>
            <p:spPr bwMode="auto">
              <a:xfrm>
                <a:off x="3615036" y="2666741"/>
                <a:ext cx="2216224" cy="2314737"/>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wrap="square" tIns="137160" bIns="137160" anchor="ctr">
                <a:spAutoFit/>
              </a:bodyPr>
              <a:lstStyle/>
              <a:p>
                <a:pPr indent="-231775">
                  <a:lnSpc>
                    <a:spcPct val="90000"/>
                  </a:lnSpc>
                  <a:spcBef>
                    <a:spcPts val="0"/>
                  </a:spcBef>
                  <a:buClr>
                    <a:srgbClr val="8DACD0"/>
                  </a:buClr>
                  <a:buSzPct val="70000"/>
                  <a:defRPr/>
                </a:pPr>
                <a:r>
                  <a:rPr lang="fr-FR" sz="2400" dirty="0"/>
                  <a:t>Connectez-vous au partage réseau qui contient les fichiers Windows 7</a:t>
                </a:r>
                <a:endParaRPr lang="en-US" sz="2200" b="0" dirty="0"/>
              </a:p>
            </p:txBody>
          </p:sp>
          <p:sp>
            <p:nvSpPr>
              <p:cNvPr id="68" name="AutoShape 34"/>
              <p:cNvSpPr>
                <a:spLocks noChangeArrowheads="1"/>
              </p:cNvSpPr>
              <p:nvPr/>
            </p:nvSpPr>
            <p:spPr bwMode="auto">
              <a:xfrm>
                <a:off x="6199571" y="2663567"/>
                <a:ext cx="2324178" cy="265347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wrap="square" tIns="137160" bIns="137160" anchor="ctr">
                <a:spAutoFit/>
              </a:bodyPr>
              <a:lstStyle/>
              <a:p>
                <a:pPr indent="-231775">
                  <a:lnSpc>
                    <a:spcPct val="90000"/>
                  </a:lnSpc>
                  <a:spcBef>
                    <a:spcPts val="0"/>
                  </a:spcBef>
                  <a:buClr>
                    <a:srgbClr val="8DACD0"/>
                  </a:buClr>
                  <a:buSzPct val="70000"/>
                  <a:defRPr/>
                </a:pPr>
                <a:r>
                  <a:rPr lang="fr-FR" sz="2400" dirty="0"/>
                  <a:t>Exécutez le setup.exe à partir du partage réseau</a:t>
                </a:r>
              </a:p>
              <a:p>
                <a:pPr indent="-231775">
                  <a:lnSpc>
                    <a:spcPct val="90000"/>
                  </a:lnSpc>
                  <a:spcBef>
                    <a:spcPts val="0"/>
                  </a:spcBef>
                  <a:buClr>
                    <a:srgbClr val="8DACD0"/>
                  </a:buClr>
                  <a:buSzPct val="70000"/>
                  <a:defRPr/>
                </a:pPr>
                <a:r>
                  <a:rPr lang="fr-FR" sz="2400" dirty="0"/>
                  <a:t>et</a:t>
                </a:r>
              </a:p>
              <a:p>
                <a:pPr indent="-231775">
                  <a:lnSpc>
                    <a:spcPct val="90000"/>
                  </a:lnSpc>
                  <a:spcBef>
                    <a:spcPts val="0"/>
                  </a:spcBef>
                  <a:buClr>
                    <a:srgbClr val="8DACD0"/>
                  </a:buClr>
                  <a:buSzPct val="70000"/>
                  <a:defRPr/>
                </a:pPr>
                <a:r>
                  <a:rPr lang="fr-FR" sz="2400" dirty="0"/>
                  <a:t>Exécutez l'Assistant</a:t>
                </a:r>
                <a:endParaRPr lang="en-US" sz="2200" b="0" dirty="0"/>
              </a:p>
            </p:txBody>
          </p:sp>
          <p:sp>
            <p:nvSpPr>
              <p:cNvPr id="15453" name="Freeform 26"/>
              <p:cNvSpPr>
                <a:spLocks/>
              </p:cNvSpPr>
              <p:nvPr/>
            </p:nvSpPr>
            <p:spPr bwMode="auto">
              <a:xfrm rot="5400000">
                <a:off x="2866986" y="2775436"/>
                <a:ext cx="604838" cy="1069383"/>
              </a:xfrm>
              <a:custGeom>
                <a:avLst/>
                <a:gdLst>
                  <a:gd name="T0" fmla="*/ 2147483647 w 208"/>
                  <a:gd name="T1" fmla="*/ 2147483647 h 844"/>
                  <a:gd name="T2" fmla="*/ 2147483647 w 208"/>
                  <a:gd name="T3" fmla="*/ 2147483647 h 844"/>
                  <a:gd name="T4" fmla="*/ 2147483647 w 208"/>
                  <a:gd name="T5" fmla="*/ 2147483647 h 844"/>
                  <a:gd name="T6" fmla="*/ 2147483647 w 208"/>
                  <a:gd name="T7" fmla="*/ 2147483647 h 844"/>
                  <a:gd name="T8" fmla="*/ 2147483647 w 208"/>
                  <a:gd name="T9" fmla="*/ 2147483647 h 844"/>
                  <a:gd name="T10" fmla="*/ 2147483647 w 208"/>
                  <a:gd name="T11" fmla="*/ 0 h 844"/>
                  <a:gd name="T12" fmla="*/ 2147483647 w 208"/>
                  <a:gd name="T13" fmla="*/ 2147483647 h 844"/>
                  <a:gd name="T14" fmla="*/ 2147483647 w 208"/>
                  <a:gd name="T15" fmla="*/ 2147483647 h 844"/>
                  <a:gd name="T16" fmla="*/ 2147483647 w 208"/>
                  <a:gd name="T17" fmla="*/ 2147483647 h 844"/>
                  <a:gd name="T18" fmla="*/ 0 w 208"/>
                  <a:gd name="T19" fmla="*/ 2147483647 h 844"/>
                  <a:gd name="T20" fmla="*/ 2147483647 w 208"/>
                  <a:gd name="T21" fmla="*/ 2147483647 h 844"/>
                  <a:gd name="T22" fmla="*/ 2147483647 w 208"/>
                  <a:gd name="T23" fmla="*/ 2147483647 h 844"/>
                  <a:gd name="T24" fmla="*/ 2147483647 w 208"/>
                  <a:gd name="T25" fmla="*/ 2147483647 h 8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844"/>
                  <a:gd name="T41" fmla="*/ 208 w 208"/>
                  <a:gd name="T42" fmla="*/ 844 h 8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844">
                    <a:moveTo>
                      <a:pt x="148" y="273"/>
                    </a:moveTo>
                    <a:lnTo>
                      <a:pt x="177" y="277"/>
                    </a:lnTo>
                    <a:lnTo>
                      <a:pt x="208" y="283"/>
                    </a:lnTo>
                    <a:lnTo>
                      <a:pt x="154" y="141"/>
                    </a:lnTo>
                    <a:lnTo>
                      <a:pt x="116" y="44"/>
                    </a:lnTo>
                    <a:lnTo>
                      <a:pt x="99" y="0"/>
                    </a:lnTo>
                    <a:lnTo>
                      <a:pt x="95" y="12"/>
                    </a:lnTo>
                    <a:lnTo>
                      <a:pt x="83" y="44"/>
                    </a:lnTo>
                    <a:lnTo>
                      <a:pt x="50" y="142"/>
                    </a:lnTo>
                    <a:lnTo>
                      <a:pt x="0" y="283"/>
                    </a:lnTo>
                    <a:lnTo>
                      <a:pt x="58" y="273"/>
                    </a:lnTo>
                    <a:lnTo>
                      <a:pt x="99" y="844"/>
                    </a:lnTo>
                    <a:lnTo>
                      <a:pt x="148" y="273"/>
                    </a:lnTo>
                    <a:close/>
                  </a:path>
                </a:pathLst>
              </a:custGeom>
              <a:solidFill>
                <a:srgbClr val="FF0000">
                  <a:alpha val="74901"/>
                </a:srgbClr>
              </a:solidFill>
              <a:ln w="9525">
                <a:noFill/>
                <a:round/>
                <a:headEnd/>
                <a:tailEnd/>
              </a:ln>
            </p:spPr>
            <p:txBody>
              <a:bodyPr/>
              <a:lstStyle/>
              <a:p>
                <a:endParaRPr lang="fr-FR"/>
              </a:p>
            </p:txBody>
          </p:sp>
          <p:sp>
            <p:nvSpPr>
              <p:cNvPr id="15454" name="Freeform 26"/>
              <p:cNvSpPr>
                <a:spLocks/>
              </p:cNvSpPr>
              <p:nvPr/>
            </p:nvSpPr>
            <p:spPr bwMode="auto">
              <a:xfrm rot="5400000">
                <a:off x="5468070" y="2772856"/>
                <a:ext cx="604838" cy="1069383"/>
              </a:xfrm>
              <a:custGeom>
                <a:avLst/>
                <a:gdLst>
                  <a:gd name="T0" fmla="*/ 2147483647 w 208"/>
                  <a:gd name="T1" fmla="*/ 2147483647 h 844"/>
                  <a:gd name="T2" fmla="*/ 2147483647 w 208"/>
                  <a:gd name="T3" fmla="*/ 2147483647 h 844"/>
                  <a:gd name="T4" fmla="*/ 2147483647 w 208"/>
                  <a:gd name="T5" fmla="*/ 2147483647 h 844"/>
                  <a:gd name="T6" fmla="*/ 2147483647 w 208"/>
                  <a:gd name="T7" fmla="*/ 2147483647 h 844"/>
                  <a:gd name="T8" fmla="*/ 2147483647 w 208"/>
                  <a:gd name="T9" fmla="*/ 2147483647 h 844"/>
                  <a:gd name="T10" fmla="*/ 2147483647 w 208"/>
                  <a:gd name="T11" fmla="*/ 0 h 844"/>
                  <a:gd name="T12" fmla="*/ 2147483647 w 208"/>
                  <a:gd name="T13" fmla="*/ 2147483647 h 844"/>
                  <a:gd name="T14" fmla="*/ 2147483647 w 208"/>
                  <a:gd name="T15" fmla="*/ 2147483647 h 844"/>
                  <a:gd name="T16" fmla="*/ 2147483647 w 208"/>
                  <a:gd name="T17" fmla="*/ 2147483647 h 844"/>
                  <a:gd name="T18" fmla="*/ 0 w 208"/>
                  <a:gd name="T19" fmla="*/ 2147483647 h 844"/>
                  <a:gd name="T20" fmla="*/ 2147483647 w 208"/>
                  <a:gd name="T21" fmla="*/ 2147483647 h 844"/>
                  <a:gd name="T22" fmla="*/ 2147483647 w 208"/>
                  <a:gd name="T23" fmla="*/ 2147483647 h 844"/>
                  <a:gd name="T24" fmla="*/ 2147483647 w 208"/>
                  <a:gd name="T25" fmla="*/ 2147483647 h 8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844"/>
                  <a:gd name="T41" fmla="*/ 208 w 208"/>
                  <a:gd name="T42" fmla="*/ 844 h 8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844">
                    <a:moveTo>
                      <a:pt x="148" y="273"/>
                    </a:moveTo>
                    <a:lnTo>
                      <a:pt x="177" y="277"/>
                    </a:lnTo>
                    <a:lnTo>
                      <a:pt x="208" y="283"/>
                    </a:lnTo>
                    <a:lnTo>
                      <a:pt x="154" y="141"/>
                    </a:lnTo>
                    <a:lnTo>
                      <a:pt x="116" y="44"/>
                    </a:lnTo>
                    <a:lnTo>
                      <a:pt x="99" y="0"/>
                    </a:lnTo>
                    <a:lnTo>
                      <a:pt x="95" y="12"/>
                    </a:lnTo>
                    <a:lnTo>
                      <a:pt x="83" y="44"/>
                    </a:lnTo>
                    <a:lnTo>
                      <a:pt x="50" y="142"/>
                    </a:lnTo>
                    <a:lnTo>
                      <a:pt x="0" y="283"/>
                    </a:lnTo>
                    <a:lnTo>
                      <a:pt x="58" y="273"/>
                    </a:lnTo>
                    <a:lnTo>
                      <a:pt x="99" y="844"/>
                    </a:lnTo>
                    <a:lnTo>
                      <a:pt x="148" y="273"/>
                    </a:lnTo>
                    <a:close/>
                  </a:path>
                </a:pathLst>
              </a:custGeom>
              <a:solidFill>
                <a:srgbClr val="FF0000">
                  <a:alpha val="74901"/>
                </a:srgbClr>
              </a:solidFill>
              <a:ln w="9525">
                <a:noFill/>
                <a:round/>
                <a:headEnd/>
                <a:tailEnd/>
              </a:ln>
            </p:spPr>
            <p:txBody>
              <a:bodyPr/>
              <a:lstStyle/>
              <a:p>
                <a:endParaRPr lang="fr-FR"/>
              </a:p>
            </p:txBody>
          </p:sp>
        </p:grpSp>
        <p:grpSp>
          <p:nvGrpSpPr>
            <p:cNvPr id="4" name="Group 70"/>
            <p:cNvGrpSpPr>
              <a:grpSpLocks/>
            </p:cNvGrpSpPr>
            <p:nvPr/>
          </p:nvGrpSpPr>
          <p:grpSpPr bwMode="auto">
            <a:xfrm>
              <a:off x="8931954" y="2300707"/>
              <a:ext cx="7482665" cy="1119335"/>
              <a:chOff x="-109240" y="2989775"/>
              <a:chExt cx="7482665" cy="1119335"/>
            </a:xfrm>
          </p:grpSpPr>
          <p:sp>
            <p:nvSpPr>
              <p:cNvPr id="81" name="AutoShape 34"/>
              <p:cNvSpPr>
                <a:spLocks noChangeArrowheads="1"/>
              </p:cNvSpPr>
              <p:nvPr/>
            </p:nvSpPr>
            <p:spPr bwMode="auto">
              <a:xfrm>
                <a:off x="-109240" y="3034215"/>
                <a:ext cx="3620150" cy="83798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lstStyle/>
              <a:p>
                <a:pPr algn="ctr">
                  <a:defRPr/>
                </a:pPr>
                <a:r>
                  <a:rPr lang="fr-FR" dirty="0"/>
                  <a:t>Exécution de setup.exe depuis un partage réseau</a:t>
                </a:r>
                <a:endParaRPr lang="en-GB" dirty="0"/>
              </a:p>
            </p:txBody>
          </p:sp>
          <p:grpSp>
            <p:nvGrpSpPr>
              <p:cNvPr id="5" name="Group 35"/>
              <p:cNvGrpSpPr>
                <a:grpSpLocks/>
              </p:cNvGrpSpPr>
              <p:nvPr/>
            </p:nvGrpSpPr>
            <p:grpSpPr bwMode="auto">
              <a:xfrm>
                <a:off x="3709685" y="3021742"/>
                <a:ext cx="1149350" cy="1076325"/>
                <a:chOff x="3567113" y="2997200"/>
                <a:chExt cx="1149350" cy="1076325"/>
              </a:xfrm>
            </p:grpSpPr>
            <p:pic>
              <p:nvPicPr>
                <p:cNvPr id="15448" name="Picture 26" descr="Computer_Desktop"/>
                <p:cNvPicPr>
                  <a:picLocks noChangeAspect="1" noChangeArrowheads="1"/>
                </p:cNvPicPr>
                <p:nvPr/>
              </p:nvPicPr>
              <p:blipFill>
                <a:blip r:embed="rId3"/>
                <a:srcRect/>
                <a:stretch>
                  <a:fillRect/>
                </a:stretch>
              </p:blipFill>
              <p:spPr bwMode="auto">
                <a:xfrm>
                  <a:off x="3567113" y="2997200"/>
                  <a:ext cx="773112" cy="942975"/>
                </a:xfrm>
                <a:prstGeom prst="rect">
                  <a:avLst/>
                </a:prstGeom>
                <a:noFill/>
                <a:ln w="9525">
                  <a:noFill/>
                  <a:miter lim="800000"/>
                  <a:headEnd/>
                  <a:tailEnd/>
                </a:ln>
              </p:spPr>
            </p:pic>
            <p:pic>
              <p:nvPicPr>
                <p:cNvPr id="15449" name="Picture 30" descr="Database"/>
                <p:cNvPicPr>
                  <a:picLocks noChangeAspect="1" noChangeArrowheads="1"/>
                </p:cNvPicPr>
                <p:nvPr/>
              </p:nvPicPr>
              <p:blipFill>
                <a:blip r:embed="rId4"/>
                <a:srcRect/>
                <a:stretch>
                  <a:fillRect/>
                </a:stretch>
              </p:blipFill>
              <p:spPr bwMode="auto">
                <a:xfrm>
                  <a:off x="4194175" y="3651250"/>
                  <a:ext cx="522288" cy="422275"/>
                </a:xfrm>
                <a:prstGeom prst="rect">
                  <a:avLst/>
                </a:prstGeom>
                <a:noFill/>
                <a:ln w="9525">
                  <a:noFill/>
                  <a:miter lim="800000"/>
                  <a:headEnd/>
                  <a:tailEnd/>
                </a:ln>
              </p:spPr>
            </p:pic>
          </p:grpSp>
          <p:pic>
            <p:nvPicPr>
              <p:cNvPr id="15443" name="Picture 28" descr="arrow01_02"/>
              <p:cNvPicPr>
                <a:picLocks noChangeAspect="1" noChangeArrowheads="1"/>
              </p:cNvPicPr>
              <p:nvPr/>
            </p:nvPicPr>
            <p:blipFill>
              <a:blip r:embed="rId5"/>
              <a:srcRect/>
              <a:stretch>
                <a:fillRect/>
              </a:stretch>
            </p:blipFill>
            <p:spPr bwMode="auto">
              <a:xfrm rot="9254811" flipH="1" flipV="1">
                <a:off x="4937590" y="3292698"/>
                <a:ext cx="633412" cy="361950"/>
              </a:xfrm>
              <a:prstGeom prst="rect">
                <a:avLst/>
              </a:prstGeom>
              <a:noFill/>
              <a:ln w="9525">
                <a:noFill/>
                <a:miter lim="800000"/>
                <a:headEnd/>
                <a:tailEnd/>
              </a:ln>
            </p:spPr>
          </p:pic>
          <p:grpSp>
            <p:nvGrpSpPr>
              <p:cNvPr id="6" name="Group 44"/>
              <p:cNvGrpSpPr>
                <a:grpSpLocks/>
              </p:cNvGrpSpPr>
              <p:nvPr/>
            </p:nvGrpSpPr>
            <p:grpSpPr bwMode="auto">
              <a:xfrm>
                <a:off x="5873699" y="2989775"/>
                <a:ext cx="1499726" cy="1119335"/>
                <a:chOff x="5873699" y="2989775"/>
                <a:chExt cx="1499726" cy="1119335"/>
              </a:xfrm>
            </p:grpSpPr>
            <p:pic>
              <p:nvPicPr>
                <p:cNvPr id="15445" name="Picture 18" descr="Server"/>
                <p:cNvPicPr>
                  <a:picLocks noChangeAspect="1" noChangeArrowheads="1"/>
                </p:cNvPicPr>
                <p:nvPr/>
              </p:nvPicPr>
              <p:blipFill>
                <a:blip r:embed="rId6"/>
                <a:srcRect/>
                <a:stretch>
                  <a:fillRect/>
                </a:stretch>
              </p:blipFill>
              <p:spPr bwMode="auto">
                <a:xfrm>
                  <a:off x="5873699" y="2989775"/>
                  <a:ext cx="944163" cy="1110277"/>
                </a:xfrm>
                <a:prstGeom prst="rect">
                  <a:avLst/>
                </a:prstGeom>
                <a:noFill/>
                <a:ln w="9525">
                  <a:noFill/>
                  <a:miter lim="800000"/>
                  <a:headEnd/>
                  <a:tailEnd/>
                </a:ln>
              </p:spPr>
            </p:pic>
            <p:pic>
              <p:nvPicPr>
                <p:cNvPr id="15446" name="Picture 27" descr="Folder_Open"/>
                <p:cNvPicPr>
                  <a:picLocks noChangeAspect="1" noChangeArrowheads="1"/>
                </p:cNvPicPr>
                <p:nvPr/>
              </p:nvPicPr>
              <p:blipFill>
                <a:blip r:embed="rId7"/>
                <a:srcRect/>
                <a:stretch>
                  <a:fillRect/>
                </a:stretch>
              </p:blipFill>
              <p:spPr bwMode="auto">
                <a:xfrm>
                  <a:off x="6389586" y="3494087"/>
                  <a:ext cx="689640" cy="615023"/>
                </a:xfrm>
                <a:prstGeom prst="rect">
                  <a:avLst/>
                </a:prstGeom>
                <a:noFill/>
                <a:ln w="9525">
                  <a:noFill/>
                  <a:miter lim="800000"/>
                  <a:headEnd/>
                  <a:tailEnd/>
                </a:ln>
              </p:spPr>
            </p:pic>
            <p:pic>
              <p:nvPicPr>
                <p:cNvPr id="15447" name="Picture 23" descr="LOGO_Windows_Vista"/>
                <p:cNvPicPr>
                  <a:picLocks noChangeAspect="1" noChangeArrowheads="1"/>
                </p:cNvPicPr>
                <p:nvPr/>
              </p:nvPicPr>
              <p:blipFill>
                <a:blip r:embed="rId8"/>
                <a:srcRect/>
                <a:stretch>
                  <a:fillRect/>
                </a:stretch>
              </p:blipFill>
              <p:spPr bwMode="auto">
                <a:xfrm>
                  <a:off x="6849550" y="3375589"/>
                  <a:ext cx="523875" cy="465137"/>
                </a:xfrm>
                <a:prstGeom prst="rect">
                  <a:avLst/>
                </a:prstGeom>
                <a:noFill/>
                <a:ln w="9525">
                  <a:noFill/>
                  <a:miter lim="800000"/>
                  <a:headEnd/>
                  <a:tailEnd/>
                </a:ln>
              </p:spPr>
            </p:pic>
          </p:grpSp>
        </p:grpSp>
      </p:grpSp>
      <p:grpSp>
        <p:nvGrpSpPr>
          <p:cNvPr id="7" name="Group 105"/>
          <p:cNvGrpSpPr>
            <a:grpSpLocks/>
          </p:cNvGrpSpPr>
          <p:nvPr/>
        </p:nvGrpSpPr>
        <p:grpSpPr bwMode="auto">
          <a:xfrm>
            <a:off x="761989" y="1525054"/>
            <a:ext cx="7733242" cy="2817183"/>
            <a:chOff x="220633" y="1307726"/>
            <a:chExt cx="7732465" cy="2816874"/>
          </a:xfrm>
        </p:grpSpPr>
        <p:grpSp>
          <p:nvGrpSpPr>
            <p:cNvPr id="8" name="Group 56"/>
            <p:cNvGrpSpPr>
              <a:grpSpLocks/>
            </p:cNvGrpSpPr>
            <p:nvPr/>
          </p:nvGrpSpPr>
          <p:grpSpPr bwMode="auto">
            <a:xfrm>
              <a:off x="694730" y="2458538"/>
              <a:ext cx="7258368" cy="1666062"/>
              <a:chOff x="687059" y="2637248"/>
              <a:chExt cx="7258368" cy="1666062"/>
            </a:xfrm>
          </p:grpSpPr>
          <p:sp>
            <p:nvSpPr>
              <p:cNvPr id="52" name="AutoShape 34"/>
              <p:cNvSpPr>
                <a:spLocks noChangeArrowheads="1"/>
              </p:cNvSpPr>
              <p:nvPr/>
            </p:nvSpPr>
            <p:spPr bwMode="auto">
              <a:xfrm>
                <a:off x="687059" y="2637248"/>
                <a:ext cx="2040781" cy="95990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wrap="square" tIns="137160" bIns="137160" anchor="ctr">
                <a:spAutoFit/>
              </a:bodyPr>
              <a:lstStyle/>
              <a:p>
                <a:pPr indent="-231775">
                  <a:lnSpc>
                    <a:spcPct val="90000"/>
                  </a:lnSpc>
                  <a:spcBef>
                    <a:spcPts val="0"/>
                  </a:spcBef>
                  <a:buClr>
                    <a:srgbClr val="8DACD0"/>
                  </a:buClr>
                  <a:buSzPct val="70000"/>
                  <a:defRPr/>
                </a:pPr>
                <a:r>
                  <a:rPr lang="fr-FR" sz="2400" dirty="0"/>
                  <a:t>Insérez le DVD Windows 7</a:t>
                </a:r>
                <a:endParaRPr lang="en-US" sz="2200" b="0" dirty="0"/>
              </a:p>
            </p:txBody>
          </p:sp>
          <p:sp>
            <p:nvSpPr>
              <p:cNvPr id="53" name="AutoShape 34"/>
              <p:cNvSpPr>
                <a:spLocks noChangeArrowheads="1"/>
              </p:cNvSpPr>
              <p:nvPr/>
            </p:nvSpPr>
            <p:spPr bwMode="auto">
              <a:xfrm>
                <a:off x="3613575" y="2665820"/>
                <a:ext cx="1746076" cy="1637490"/>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spAutoFit/>
              </a:bodyPr>
              <a:lstStyle/>
              <a:p>
                <a:pPr indent="-231775">
                  <a:lnSpc>
                    <a:spcPct val="90000"/>
                  </a:lnSpc>
                  <a:spcBef>
                    <a:spcPts val="0"/>
                  </a:spcBef>
                  <a:buClr>
                    <a:srgbClr val="8DACD0"/>
                  </a:buClr>
                  <a:buSzPct val="70000"/>
                  <a:defRPr/>
                </a:pPr>
                <a:r>
                  <a:rPr lang="fr-FR" sz="2400" dirty="0"/>
                  <a:t>Démarrez l’ordinateur en utilisant le DVD</a:t>
                </a:r>
                <a:endParaRPr lang="en-US" sz="2200" b="0" dirty="0"/>
              </a:p>
            </p:txBody>
          </p:sp>
          <p:sp>
            <p:nvSpPr>
              <p:cNvPr id="54" name="AutoShape 34"/>
              <p:cNvSpPr>
                <a:spLocks noChangeArrowheads="1"/>
              </p:cNvSpPr>
              <p:nvPr/>
            </p:nvSpPr>
            <p:spPr bwMode="auto">
              <a:xfrm>
                <a:off x="6199351" y="2662645"/>
                <a:ext cx="1746076" cy="95990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spAutoFit/>
              </a:bodyPr>
              <a:lstStyle/>
              <a:p>
                <a:pPr indent="-231775">
                  <a:lnSpc>
                    <a:spcPct val="90000"/>
                  </a:lnSpc>
                  <a:spcBef>
                    <a:spcPts val="0"/>
                  </a:spcBef>
                  <a:buClr>
                    <a:srgbClr val="8DACD0"/>
                  </a:buClr>
                  <a:buSzPct val="70000"/>
                  <a:defRPr/>
                </a:pPr>
                <a:r>
                  <a:rPr lang="fr-FR" sz="2400" dirty="0"/>
                  <a:t>Exécutez l'Assistant</a:t>
                </a:r>
                <a:endParaRPr lang="en-US" sz="2200" b="0" dirty="0"/>
              </a:p>
            </p:txBody>
          </p:sp>
          <p:sp>
            <p:nvSpPr>
              <p:cNvPr id="15437" name="Freeform 26"/>
              <p:cNvSpPr>
                <a:spLocks/>
              </p:cNvSpPr>
              <p:nvPr/>
            </p:nvSpPr>
            <p:spPr bwMode="auto">
              <a:xfrm rot="5400000">
                <a:off x="2866986" y="2775436"/>
                <a:ext cx="604838" cy="1069383"/>
              </a:xfrm>
              <a:custGeom>
                <a:avLst/>
                <a:gdLst>
                  <a:gd name="T0" fmla="*/ 2147483647 w 208"/>
                  <a:gd name="T1" fmla="*/ 2147483647 h 844"/>
                  <a:gd name="T2" fmla="*/ 2147483647 w 208"/>
                  <a:gd name="T3" fmla="*/ 2147483647 h 844"/>
                  <a:gd name="T4" fmla="*/ 2147483647 w 208"/>
                  <a:gd name="T5" fmla="*/ 2147483647 h 844"/>
                  <a:gd name="T6" fmla="*/ 2147483647 w 208"/>
                  <a:gd name="T7" fmla="*/ 2147483647 h 844"/>
                  <a:gd name="T8" fmla="*/ 2147483647 w 208"/>
                  <a:gd name="T9" fmla="*/ 2147483647 h 844"/>
                  <a:gd name="T10" fmla="*/ 2147483647 w 208"/>
                  <a:gd name="T11" fmla="*/ 0 h 844"/>
                  <a:gd name="T12" fmla="*/ 2147483647 w 208"/>
                  <a:gd name="T13" fmla="*/ 2147483647 h 844"/>
                  <a:gd name="T14" fmla="*/ 2147483647 w 208"/>
                  <a:gd name="T15" fmla="*/ 2147483647 h 844"/>
                  <a:gd name="T16" fmla="*/ 2147483647 w 208"/>
                  <a:gd name="T17" fmla="*/ 2147483647 h 844"/>
                  <a:gd name="T18" fmla="*/ 0 w 208"/>
                  <a:gd name="T19" fmla="*/ 2147483647 h 844"/>
                  <a:gd name="T20" fmla="*/ 2147483647 w 208"/>
                  <a:gd name="T21" fmla="*/ 2147483647 h 844"/>
                  <a:gd name="T22" fmla="*/ 2147483647 w 208"/>
                  <a:gd name="T23" fmla="*/ 2147483647 h 844"/>
                  <a:gd name="T24" fmla="*/ 2147483647 w 208"/>
                  <a:gd name="T25" fmla="*/ 2147483647 h 8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844"/>
                  <a:gd name="T41" fmla="*/ 208 w 208"/>
                  <a:gd name="T42" fmla="*/ 844 h 8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844">
                    <a:moveTo>
                      <a:pt x="148" y="273"/>
                    </a:moveTo>
                    <a:lnTo>
                      <a:pt x="177" y="277"/>
                    </a:lnTo>
                    <a:lnTo>
                      <a:pt x="208" y="283"/>
                    </a:lnTo>
                    <a:lnTo>
                      <a:pt x="154" y="141"/>
                    </a:lnTo>
                    <a:lnTo>
                      <a:pt x="116" y="44"/>
                    </a:lnTo>
                    <a:lnTo>
                      <a:pt x="99" y="0"/>
                    </a:lnTo>
                    <a:lnTo>
                      <a:pt x="95" y="12"/>
                    </a:lnTo>
                    <a:lnTo>
                      <a:pt x="83" y="44"/>
                    </a:lnTo>
                    <a:lnTo>
                      <a:pt x="50" y="142"/>
                    </a:lnTo>
                    <a:lnTo>
                      <a:pt x="0" y="283"/>
                    </a:lnTo>
                    <a:lnTo>
                      <a:pt x="58" y="273"/>
                    </a:lnTo>
                    <a:lnTo>
                      <a:pt x="99" y="844"/>
                    </a:lnTo>
                    <a:lnTo>
                      <a:pt x="148" y="273"/>
                    </a:lnTo>
                    <a:close/>
                  </a:path>
                </a:pathLst>
              </a:custGeom>
              <a:solidFill>
                <a:srgbClr val="FF0000">
                  <a:alpha val="74901"/>
                </a:srgbClr>
              </a:solidFill>
              <a:ln w="9525">
                <a:noFill/>
                <a:round/>
                <a:headEnd/>
                <a:tailEnd/>
              </a:ln>
            </p:spPr>
            <p:txBody>
              <a:bodyPr/>
              <a:lstStyle/>
              <a:p>
                <a:endParaRPr lang="fr-FR"/>
              </a:p>
            </p:txBody>
          </p:sp>
          <p:sp>
            <p:nvSpPr>
              <p:cNvPr id="15438" name="Freeform 26"/>
              <p:cNvSpPr>
                <a:spLocks/>
              </p:cNvSpPr>
              <p:nvPr/>
            </p:nvSpPr>
            <p:spPr bwMode="auto">
              <a:xfrm rot="5400000">
                <a:off x="5468070" y="2772856"/>
                <a:ext cx="604838" cy="1069383"/>
              </a:xfrm>
              <a:custGeom>
                <a:avLst/>
                <a:gdLst>
                  <a:gd name="T0" fmla="*/ 2147483647 w 208"/>
                  <a:gd name="T1" fmla="*/ 2147483647 h 844"/>
                  <a:gd name="T2" fmla="*/ 2147483647 w 208"/>
                  <a:gd name="T3" fmla="*/ 2147483647 h 844"/>
                  <a:gd name="T4" fmla="*/ 2147483647 w 208"/>
                  <a:gd name="T5" fmla="*/ 2147483647 h 844"/>
                  <a:gd name="T6" fmla="*/ 2147483647 w 208"/>
                  <a:gd name="T7" fmla="*/ 2147483647 h 844"/>
                  <a:gd name="T8" fmla="*/ 2147483647 w 208"/>
                  <a:gd name="T9" fmla="*/ 2147483647 h 844"/>
                  <a:gd name="T10" fmla="*/ 2147483647 w 208"/>
                  <a:gd name="T11" fmla="*/ 0 h 844"/>
                  <a:gd name="T12" fmla="*/ 2147483647 w 208"/>
                  <a:gd name="T13" fmla="*/ 2147483647 h 844"/>
                  <a:gd name="T14" fmla="*/ 2147483647 w 208"/>
                  <a:gd name="T15" fmla="*/ 2147483647 h 844"/>
                  <a:gd name="T16" fmla="*/ 2147483647 w 208"/>
                  <a:gd name="T17" fmla="*/ 2147483647 h 844"/>
                  <a:gd name="T18" fmla="*/ 0 w 208"/>
                  <a:gd name="T19" fmla="*/ 2147483647 h 844"/>
                  <a:gd name="T20" fmla="*/ 2147483647 w 208"/>
                  <a:gd name="T21" fmla="*/ 2147483647 h 844"/>
                  <a:gd name="T22" fmla="*/ 2147483647 w 208"/>
                  <a:gd name="T23" fmla="*/ 2147483647 h 844"/>
                  <a:gd name="T24" fmla="*/ 2147483647 w 208"/>
                  <a:gd name="T25" fmla="*/ 2147483647 h 8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844"/>
                  <a:gd name="T41" fmla="*/ 208 w 208"/>
                  <a:gd name="T42" fmla="*/ 844 h 8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844">
                    <a:moveTo>
                      <a:pt x="148" y="273"/>
                    </a:moveTo>
                    <a:lnTo>
                      <a:pt x="177" y="277"/>
                    </a:lnTo>
                    <a:lnTo>
                      <a:pt x="208" y="283"/>
                    </a:lnTo>
                    <a:lnTo>
                      <a:pt x="154" y="141"/>
                    </a:lnTo>
                    <a:lnTo>
                      <a:pt x="116" y="44"/>
                    </a:lnTo>
                    <a:lnTo>
                      <a:pt x="99" y="0"/>
                    </a:lnTo>
                    <a:lnTo>
                      <a:pt x="95" y="12"/>
                    </a:lnTo>
                    <a:lnTo>
                      <a:pt x="83" y="44"/>
                    </a:lnTo>
                    <a:lnTo>
                      <a:pt x="50" y="142"/>
                    </a:lnTo>
                    <a:lnTo>
                      <a:pt x="0" y="283"/>
                    </a:lnTo>
                    <a:lnTo>
                      <a:pt x="58" y="273"/>
                    </a:lnTo>
                    <a:lnTo>
                      <a:pt x="99" y="844"/>
                    </a:lnTo>
                    <a:lnTo>
                      <a:pt x="148" y="273"/>
                    </a:lnTo>
                    <a:close/>
                  </a:path>
                </a:pathLst>
              </a:custGeom>
              <a:solidFill>
                <a:srgbClr val="FF0000">
                  <a:alpha val="74901"/>
                </a:srgbClr>
              </a:solidFill>
              <a:ln w="9525">
                <a:noFill/>
                <a:round/>
                <a:headEnd/>
                <a:tailEnd/>
              </a:ln>
            </p:spPr>
            <p:txBody>
              <a:bodyPr/>
              <a:lstStyle/>
              <a:p>
                <a:endParaRPr lang="fr-FR"/>
              </a:p>
            </p:txBody>
          </p:sp>
        </p:grpSp>
        <p:grpSp>
          <p:nvGrpSpPr>
            <p:cNvPr id="9" name="Group 93"/>
            <p:cNvGrpSpPr>
              <a:grpSpLocks/>
            </p:cNvGrpSpPr>
            <p:nvPr/>
          </p:nvGrpSpPr>
          <p:grpSpPr bwMode="auto">
            <a:xfrm>
              <a:off x="220633" y="1307726"/>
              <a:ext cx="7272918" cy="1076325"/>
              <a:chOff x="218957" y="1306051"/>
              <a:chExt cx="7272918" cy="1076325"/>
            </a:xfrm>
          </p:grpSpPr>
          <p:grpSp>
            <p:nvGrpSpPr>
              <p:cNvPr id="10" name="Group 45"/>
              <p:cNvGrpSpPr>
                <a:grpSpLocks/>
              </p:cNvGrpSpPr>
              <p:nvPr/>
            </p:nvGrpSpPr>
            <p:grpSpPr bwMode="auto">
              <a:xfrm>
                <a:off x="6520937" y="1688646"/>
                <a:ext cx="970938" cy="480448"/>
                <a:chOff x="5940834" y="1682649"/>
                <a:chExt cx="970938" cy="480448"/>
              </a:xfrm>
            </p:grpSpPr>
            <p:pic>
              <p:nvPicPr>
                <p:cNvPr id="15432" name="Picture 17" descr="CD_DVD_Media"/>
                <p:cNvPicPr>
                  <a:picLocks noChangeAspect="1" noChangeArrowheads="1"/>
                </p:cNvPicPr>
                <p:nvPr/>
              </p:nvPicPr>
              <p:blipFill>
                <a:blip r:embed="rId9"/>
                <a:srcRect/>
                <a:stretch>
                  <a:fillRect/>
                </a:stretch>
              </p:blipFill>
              <p:spPr bwMode="auto">
                <a:xfrm>
                  <a:off x="5940834" y="1682649"/>
                  <a:ext cx="970938" cy="480448"/>
                </a:xfrm>
                <a:prstGeom prst="rect">
                  <a:avLst/>
                </a:prstGeom>
                <a:noFill/>
                <a:ln w="9525">
                  <a:noFill/>
                  <a:miter lim="800000"/>
                  <a:headEnd/>
                  <a:tailEnd/>
                </a:ln>
              </p:spPr>
            </p:pic>
            <p:pic>
              <p:nvPicPr>
                <p:cNvPr id="15433" name="Picture 20" descr="LOGO_Windows_Vista"/>
                <p:cNvPicPr>
                  <a:picLocks noChangeAspect="1" noChangeArrowheads="1"/>
                </p:cNvPicPr>
                <p:nvPr/>
              </p:nvPicPr>
              <p:blipFill>
                <a:blip r:embed="rId10"/>
                <a:srcRect/>
                <a:stretch>
                  <a:fillRect/>
                </a:stretch>
              </p:blipFill>
              <p:spPr bwMode="auto">
                <a:xfrm>
                  <a:off x="6187460" y="1704054"/>
                  <a:ext cx="506413" cy="449263"/>
                </a:xfrm>
                <a:prstGeom prst="rect">
                  <a:avLst/>
                </a:prstGeom>
                <a:noFill/>
                <a:ln w="9525">
                  <a:noFill/>
                  <a:miter lim="800000"/>
                  <a:headEnd/>
                  <a:tailEnd/>
                </a:ln>
              </p:spPr>
            </p:pic>
          </p:grpSp>
          <p:pic>
            <p:nvPicPr>
              <p:cNvPr id="15427" name="Picture 28" descr="arrow01_02"/>
              <p:cNvPicPr>
                <a:picLocks noChangeAspect="1" noChangeArrowheads="1"/>
              </p:cNvPicPr>
              <p:nvPr/>
            </p:nvPicPr>
            <p:blipFill>
              <a:blip r:embed="rId5"/>
              <a:srcRect/>
              <a:stretch>
                <a:fillRect/>
              </a:stretch>
            </p:blipFill>
            <p:spPr bwMode="auto">
              <a:xfrm rot="9254811" flipH="1" flipV="1">
                <a:off x="5561935" y="1744151"/>
                <a:ext cx="633412" cy="361950"/>
              </a:xfrm>
              <a:prstGeom prst="rect">
                <a:avLst/>
              </a:prstGeom>
              <a:noFill/>
              <a:ln w="9525">
                <a:noFill/>
                <a:miter lim="800000"/>
                <a:headEnd/>
                <a:tailEnd/>
              </a:ln>
            </p:spPr>
          </p:pic>
          <p:grpSp>
            <p:nvGrpSpPr>
              <p:cNvPr id="11" name="Group 34"/>
              <p:cNvGrpSpPr>
                <a:grpSpLocks/>
              </p:cNvGrpSpPr>
              <p:nvPr/>
            </p:nvGrpSpPr>
            <p:grpSpPr bwMode="auto">
              <a:xfrm>
                <a:off x="4343862" y="1306051"/>
                <a:ext cx="1149350" cy="1076325"/>
                <a:chOff x="3567113" y="2997200"/>
                <a:chExt cx="1149350" cy="1076325"/>
              </a:xfrm>
            </p:grpSpPr>
            <p:pic>
              <p:nvPicPr>
                <p:cNvPr id="15430" name="Picture 26" descr="Computer_Desktop"/>
                <p:cNvPicPr>
                  <a:picLocks noChangeAspect="1" noChangeArrowheads="1"/>
                </p:cNvPicPr>
                <p:nvPr/>
              </p:nvPicPr>
              <p:blipFill>
                <a:blip r:embed="rId11"/>
                <a:srcRect/>
                <a:stretch>
                  <a:fillRect/>
                </a:stretch>
              </p:blipFill>
              <p:spPr bwMode="auto">
                <a:xfrm>
                  <a:off x="3567113" y="2997200"/>
                  <a:ext cx="773112" cy="942975"/>
                </a:xfrm>
                <a:prstGeom prst="rect">
                  <a:avLst/>
                </a:prstGeom>
                <a:noFill/>
                <a:ln w="9525">
                  <a:noFill/>
                  <a:miter lim="800000"/>
                  <a:headEnd/>
                  <a:tailEnd/>
                </a:ln>
              </p:spPr>
            </p:pic>
            <p:pic>
              <p:nvPicPr>
                <p:cNvPr id="15431" name="Picture 30" descr="Database"/>
                <p:cNvPicPr>
                  <a:picLocks noChangeAspect="1" noChangeArrowheads="1"/>
                </p:cNvPicPr>
                <p:nvPr/>
              </p:nvPicPr>
              <p:blipFill>
                <a:blip r:embed="rId4"/>
                <a:srcRect/>
                <a:stretch>
                  <a:fillRect/>
                </a:stretch>
              </p:blipFill>
              <p:spPr bwMode="auto">
                <a:xfrm>
                  <a:off x="4194175" y="3651250"/>
                  <a:ext cx="522288" cy="422275"/>
                </a:xfrm>
                <a:prstGeom prst="rect">
                  <a:avLst/>
                </a:prstGeom>
                <a:noFill/>
                <a:ln w="9525">
                  <a:noFill/>
                  <a:miter lim="800000"/>
                  <a:headEnd/>
                  <a:tailEnd/>
                </a:ln>
              </p:spPr>
            </p:pic>
          </p:grpSp>
          <p:sp>
            <p:nvSpPr>
              <p:cNvPr id="99" name="AutoShape 34"/>
              <p:cNvSpPr>
                <a:spLocks noChangeArrowheads="1"/>
              </p:cNvSpPr>
              <p:nvPr/>
            </p:nvSpPr>
            <p:spPr bwMode="auto">
              <a:xfrm>
                <a:off x="218957" y="1607643"/>
                <a:ext cx="3930785" cy="55397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lstStyle/>
              <a:p>
                <a:pPr algn="ctr">
                  <a:defRPr/>
                </a:pPr>
                <a:r>
                  <a:rPr lang="fr-FR" dirty="0"/>
                  <a:t>Exécution de setup.exe à partir du DVD</a:t>
                </a:r>
                <a:endParaRPr lang="en-GB" dirty="0"/>
              </a:p>
            </p:txBody>
          </p:sp>
        </p:grpSp>
      </p:grpSp>
      <p:sp>
        <p:nvSpPr>
          <p:cNvPr id="15365" name="Rectangle 2"/>
          <p:cNvSpPr>
            <a:spLocks noGrp="1" noChangeArrowheads="1"/>
          </p:cNvSpPr>
          <p:nvPr>
            <p:ph type="title"/>
          </p:nvPr>
        </p:nvSpPr>
        <p:spPr/>
        <p:txBody>
          <a:bodyPr>
            <a:noAutofit/>
          </a:bodyPr>
          <a:lstStyle/>
          <a:p>
            <a:r>
              <a:rPr lang="fr-FR" sz="2800" dirty="0">
                <a:solidFill>
                  <a:srgbClr val="C00000"/>
                </a:solidFill>
              </a:rPr>
              <a:t>Méthodes permettant d’effectuer une nouvelle installation </a:t>
            </a:r>
            <a:endParaRPr lang="en-US" sz="2800" dirty="0">
              <a:solidFill>
                <a:srgbClr val="C00000"/>
              </a:solidFill>
            </a:endParaRPr>
          </a:p>
        </p:txBody>
      </p:sp>
      <p:grpSp>
        <p:nvGrpSpPr>
          <p:cNvPr id="17" name="Group 238"/>
          <p:cNvGrpSpPr>
            <a:grpSpLocks/>
          </p:cNvGrpSpPr>
          <p:nvPr/>
        </p:nvGrpSpPr>
        <p:grpSpPr bwMode="auto">
          <a:xfrm>
            <a:off x="1228725" y="6119813"/>
            <a:ext cx="304800" cy="244475"/>
            <a:chOff x="768" y="3096"/>
            <a:chExt cx="240" cy="192"/>
          </a:xfrm>
        </p:grpSpPr>
        <p:sp>
          <p:nvSpPr>
            <p:cNvPr id="15406" name="Oval 239"/>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121" name="Rectangle 240"/>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GB" dirty="0"/>
            </a:p>
          </p:txBody>
        </p:sp>
      </p:grpSp>
      <p:grpSp>
        <p:nvGrpSpPr>
          <p:cNvPr id="31" name="Group 229"/>
          <p:cNvGrpSpPr>
            <a:grpSpLocks/>
          </p:cNvGrpSpPr>
          <p:nvPr/>
        </p:nvGrpSpPr>
        <p:grpSpPr bwMode="auto">
          <a:xfrm>
            <a:off x="722313" y="6029325"/>
            <a:ext cx="914400" cy="425450"/>
            <a:chOff x="384" y="3024"/>
            <a:chExt cx="720" cy="336"/>
          </a:xfrm>
        </p:grpSpPr>
        <p:sp>
          <p:nvSpPr>
            <p:cNvPr id="113" name="Oval 23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GB" dirty="0"/>
            </a:p>
          </p:txBody>
        </p:sp>
        <p:grpSp>
          <p:nvGrpSpPr>
            <p:cNvPr id="32" name="Group 231"/>
            <p:cNvGrpSpPr>
              <a:grpSpLocks/>
            </p:cNvGrpSpPr>
            <p:nvPr/>
          </p:nvGrpSpPr>
          <p:grpSpPr bwMode="auto">
            <a:xfrm>
              <a:off x="480" y="3096"/>
              <a:ext cx="240" cy="192"/>
              <a:chOff x="480" y="3096"/>
              <a:chExt cx="240" cy="192"/>
            </a:xfrm>
          </p:grpSpPr>
          <p:sp>
            <p:nvSpPr>
              <p:cNvPr id="15374" name="Oval 23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118" name="Freeform 233"/>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 name="T12" fmla="*/ 0 w 432"/>
                  <a:gd name="T13" fmla="*/ 0 h 576"/>
                  <a:gd name="T14" fmla="*/ 432 w 432"/>
                  <a:gd name="T15" fmla="*/ 576 h 576"/>
                </a:gdLst>
                <a:ahLst/>
                <a:cxnLst>
                  <a:cxn ang="T8">
                    <a:pos x="T0" y="T1"/>
                  </a:cxn>
                  <a:cxn ang="T9">
                    <a:pos x="T2" y="T3"/>
                  </a:cxn>
                  <a:cxn ang="T10">
                    <a:pos x="T4" y="T5"/>
                  </a:cxn>
                  <a:cxn ang="T11">
                    <a:pos x="T6" y="T7"/>
                  </a:cxn>
                </a:cxnLst>
                <a:rect l="T12" t="T13" r="T14" b="T15"/>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dirty="0"/>
              </a:p>
            </p:txBody>
          </p:sp>
        </p:grpSp>
      </p:grpSp>
      <p:grpSp>
        <p:nvGrpSpPr>
          <p:cNvPr id="34" name="Group 234"/>
          <p:cNvGrpSpPr>
            <a:grpSpLocks/>
          </p:cNvGrpSpPr>
          <p:nvPr/>
        </p:nvGrpSpPr>
        <p:grpSpPr bwMode="auto">
          <a:xfrm>
            <a:off x="1241425" y="6119813"/>
            <a:ext cx="304800" cy="244475"/>
            <a:chOff x="768" y="3096"/>
            <a:chExt cx="240" cy="192"/>
          </a:xfrm>
        </p:grpSpPr>
        <p:sp>
          <p:nvSpPr>
            <p:cNvPr id="15370" name="Oval 23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110" name="Rectangle 236"/>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GB" dirty="0"/>
            </a:p>
          </p:txBody>
        </p:sp>
      </p:grpSp>
      <p:grpSp>
        <p:nvGrpSpPr>
          <p:cNvPr id="12" name="Group 123"/>
          <p:cNvGrpSpPr>
            <a:grpSpLocks/>
          </p:cNvGrpSpPr>
          <p:nvPr/>
        </p:nvGrpSpPr>
        <p:grpSpPr bwMode="auto">
          <a:xfrm>
            <a:off x="389466" y="1300163"/>
            <a:ext cx="8009466" cy="4790771"/>
            <a:chOff x="8892830" y="2088156"/>
            <a:chExt cx="8009290" cy="4790974"/>
          </a:xfrm>
        </p:grpSpPr>
        <p:grpSp>
          <p:nvGrpSpPr>
            <p:cNvPr id="13" name="Group 58"/>
            <p:cNvGrpSpPr>
              <a:grpSpLocks/>
            </p:cNvGrpSpPr>
            <p:nvPr/>
          </p:nvGrpSpPr>
          <p:grpSpPr bwMode="auto">
            <a:xfrm>
              <a:off x="9501889" y="3323283"/>
              <a:ext cx="7400231" cy="1835397"/>
              <a:chOff x="981219" y="2640399"/>
              <a:chExt cx="7400231" cy="1835397"/>
            </a:xfrm>
          </p:grpSpPr>
          <p:sp>
            <p:nvSpPr>
              <p:cNvPr id="60" name="AutoShape 34"/>
              <p:cNvSpPr>
                <a:spLocks noChangeArrowheads="1"/>
              </p:cNvSpPr>
              <p:nvPr/>
            </p:nvSpPr>
            <p:spPr bwMode="auto">
              <a:xfrm>
                <a:off x="981219" y="2640399"/>
                <a:ext cx="1746212" cy="1835397"/>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spAutoFit/>
              </a:bodyPr>
              <a:lstStyle/>
              <a:p>
                <a:pPr indent="-231775">
                  <a:lnSpc>
                    <a:spcPct val="90000"/>
                  </a:lnSpc>
                  <a:spcBef>
                    <a:spcPts val="0"/>
                  </a:spcBef>
                  <a:buClr>
                    <a:srgbClr val="8DACD0"/>
                  </a:buClr>
                  <a:buSzPct val="70000"/>
                  <a:defRPr/>
                </a:pPr>
                <a:r>
                  <a:rPr lang="en-US" sz="2200" dirty="0" err="1"/>
                  <a:t>Créez</a:t>
                </a:r>
                <a:r>
                  <a:rPr lang="en-US" sz="2200" dirty="0"/>
                  <a:t> un </a:t>
                </a:r>
                <a:r>
                  <a:rPr lang="en-US" sz="2200" dirty="0" err="1"/>
                  <a:t>fichier</a:t>
                </a:r>
                <a:r>
                  <a:rPr lang="en-US" sz="2200" dirty="0"/>
                  <a:t> WIM à </a:t>
                </a:r>
                <a:r>
                  <a:rPr lang="en-US" sz="2200" dirty="0" err="1"/>
                  <a:t>partir</a:t>
                </a:r>
                <a:r>
                  <a:rPr lang="en-US" sz="2200" dirty="0"/>
                  <a:t> d’un </a:t>
                </a:r>
                <a:r>
                  <a:rPr lang="en-US" sz="2200" dirty="0" err="1"/>
                  <a:t>ordinateur</a:t>
                </a:r>
                <a:r>
                  <a:rPr lang="en-US" sz="2200" dirty="0"/>
                  <a:t> de </a:t>
                </a:r>
                <a:r>
                  <a:rPr lang="en-US" sz="2200" dirty="0" err="1"/>
                  <a:t>référence</a:t>
                </a:r>
                <a:endParaRPr lang="en-US" sz="2200" dirty="0"/>
              </a:p>
            </p:txBody>
          </p:sp>
          <p:sp>
            <p:nvSpPr>
              <p:cNvPr id="61" name="AutoShape 34"/>
              <p:cNvSpPr>
                <a:spLocks noChangeArrowheads="1"/>
              </p:cNvSpPr>
              <p:nvPr/>
            </p:nvSpPr>
            <p:spPr bwMode="auto">
              <a:xfrm>
                <a:off x="3613236" y="2665800"/>
                <a:ext cx="1746212" cy="1524791"/>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spAutoFit/>
              </a:bodyPr>
              <a:lstStyle/>
              <a:p>
                <a:pPr indent="-231775">
                  <a:lnSpc>
                    <a:spcPct val="90000"/>
                  </a:lnSpc>
                  <a:spcBef>
                    <a:spcPts val="0"/>
                  </a:spcBef>
                  <a:buClr>
                    <a:srgbClr val="8DACD0"/>
                  </a:buClr>
                  <a:buSzPct val="70000"/>
                  <a:defRPr/>
                </a:pPr>
                <a:r>
                  <a:rPr lang="en-US" sz="2200" dirty="0" err="1"/>
                  <a:t>Démarrez</a:t>
                </a:r>
                <a:r>
                  <a:rPr lang="en-US" sz="2200" dirty="0"/>
                  <a:t> </a:t>
                </a:r>
                <a:r>
                  <a:rPr lang="en-US" sz="2200" dirty="0" err="1"/>
                  <a:t>l’ordinateur</a:t>
                </a:r>
                <a:r>
                  <a:rPr lang="en-US" sz="2200" dirty="0"/>
                  <a:t> en </a:t>
                </a:r>
                <a:r>
                  <a:rPr lang="en-US" sz="2200" dirty="0" err="1"/>
                  <a:t>utilisant</a:t>
                </a:r>
                <a:r>
                  <a:rPr lang="en-US" sz="2200" dirty="0"/>
                  <a:t> Windows PE</a:t>
                </a:r>
              </a:p>
            </p:txBody>
          </p:sp>
          <p:sp>
            <p:nvSpPr>
              <p:cNvPr id="62" name="AutoShape 34"/>
              <p:cNvSpPr>
                <a:spLocks noChangeArrowheads="1"/>
              </p:cNvSpPr>
              <p:nvPr/>
            </p:nvSpPr>
            <p:spPr bwMode="auto">
              <a:xfrm>
                <a:off x="6199215" y="2665800"/>
                <a:ext cx="2182235" cy="1524791"/>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wrap="square" tIns="137160" bIns="137160" anchor="ctr">
                <a:spAutoFit/>
              </a:bodyPr>
              <a:lstStyle/>
              <a:p>
                <a:pPr indent="-231775">
                  <a:lnSpc>
                    <a:spcPct val="90000"/>
                  </a:lnSpc>
                  <a:spcBef>
                    <a:spcPts val="0"/>
                  </a:spcBef>
                  <a:buClr>
                    <a:srgbClr val="8DACD0"/>
                  </a:buClr>
                  <a:buSzPct val="70000"/>
                  <a:defRPr/>
                </a:pPr>
                <a:r>
                  <a:rPr lang="en-US" sz="2200" dirty="0" err="1"/>
                  <a:t>Appliquez</a:t>
                </a:r>
                <a:r>
                  <a:rPr lang="en-US" sz="2200" dirty="0"/>
                  <a:t> le </a:t>
                </a:r>
                <a:r>
                  <a:rPr lang="en-US" sz="2200" dirty="0" err="1"/>
                  <a:t>fichier</a:t>
                </a:r>
                <a:r>
                  <a:rPr lang="en-US" sz="2200" dirty="0"/>
                  <a:t> WIM </a:t>
                </a:r>
                <a:r>
                  <a:rPr lang="en-US" sz="2200" dirty="0" err="1"/>
                  <a:t>sur</a:t>
                </a:r>
                <a:r>
                  <a:rPr lang="en-US" sz="2200" dirty="0"/>
                  <a:t> </a:t>
                </a:r>
                <a:r>
                  <a:rPr lang="en-US" sz="2200" dirty="0" err="1"/>
                  <a:t>l’ordinateur</a:t>
                </a:r>
                <a:r>
                  <a:rPr lang="en-US" sz="2200" dirty="0"/>
                  <a:t> de </a:t>
                </a:r>
                <a:r>
                  <a:rPr lang="en-US" sz="2200" dirty="0" err="1"/>
                  <a:t>distination</a:t>
                </a:r>
                <a:endParaRPr lang="en-US" sz="2200" dirty="0"/>
              </a:p>
            </p:txBody>
          </p:sp>
          <p:sp>
            <p:nvSpPr>
              <p:cNvPr id="15422" name="Freeform 26"/>
              <p:cNvSpPr>
                <a:spLocks/>
              </p:cNvSpPr>
              <p:nvPr/>
            </p:nvSpPr>
            <p:spPr bwMode="auto">
              <a:xfrm rot="5400000">
                <a:off x="2866986" y="2775436"/>
                <a:ext cx="604838" cy="1069383"/>
              </a:xfrm>
              <a:custGeom>
                <a:avLst/>
                <a:gdLst>
                  <a:gd name="T0" fmla="*/ 2147483647 w 208"/>
                  <a:gd name="T1" fmla="*/ 2147483647 h 844"/>
                  <a:gd name="T2" fmla="*/ 2147483647 w 208"/>
                  <a:gd name="T3" fmla="*/ 2147483647 h 844"/>
                  <a:gd name="T4" fmla="*/ 2147483647 w 208"/>
                  <a:gd name="T5" fmla="*/ 2147483647 h 844"/>
                  <a:gd name="T6" fmla="*/ 2147483647 w 208"/>
                  <a:gd name="T7" fmla="*/ 2147483647 h 844"/>
                  <a:gd name="T8" fmla="*/ 2147483647 w 208"/>
                  <a:gd name="T9" fmla="*/ 2147483647 h 844"/>
                  <a:gd name="T10" fmla="*/ 2147483647 w 208"/>
                  <a:gd name="T11" fmla="*/ 0 h 844"/>
                  <a:gd name="T12" fmla="*/ 2147483647 w 208"/>
                  <a:gd name="T13" fmla="*/ 2147483647 h 844"/>
                  <a:gd name="T14" fmla="*/ 2147483647 w 208"/>
                  <a:gd name="T15" fmla="*/ 2147483647 h 844"/>
                  <a:gd name="T16" fmla="*/ 2147483647 w 208"/>
                  <a:gd name="T17" fmla="*/ 2147483647 h 844"/>
                  <a:gd name="T18" fmla="*/ 0 w 208"/>
                  <a:gd name="T19" fmla="*/ 2147483647 h 844"/>
                  <a:gd name="T20" fmla="*/ 2147483647 w 208"/>
                  <a:gd name="T21" fmla="*/ 2147483647 h 844"/>
                  <a:gd name="T22" fmla="*/ 2147483647 w 208"/>
                  <a:gd name="T23" fmla="*/ 2147483647 h 844"/>
                  <a:gd name="T24" fmla="*/ 2147483647 w 208"/>
                  <a:gd name="T25" fmla="*/ 2147483647 h 8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844"/>
                  <a:gd name="T41" fmla="*/ 208 w 208"/>
                  <a:gd name="T42" fmla="*/ 844 h 8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844">
                    <a:moveTo>
                      <a:pt x="148" y="273"/>
                    </a:moveTo>
                    <a:lnTo>
                      <a:pt x="177" y="277"/>
                    </a:lnTo>
                    <a:lnTo>
                      <a:pt x="208" y="283"/>
                    </a:lnTo>
                    <a:lnTo>
                      <a:pt x="154" y="141"/>
                    </a:lnTo>
                    <a:lnTo>
                      <a:pt x="116" y="44"/>
                    </a:lnTo>
                    <a:lnTo>
                      <a:pt x="99" y="0"/>
                    </a:lnTo>
                    <a:lnTo>
                      <a:pt x="95" y="12"/>
                    </a:lnTo>
                    <a:lnTo>
                      <a:pt x="83" y="44"/>
                    </a:lnTo>
                    <a:lnTo>
                      <a:pt x="50" y="142"/>
                    </a:lnTo>
                    <a:lnTo>
                      <a:pt x="0" y="283"/>
                    </a:lnTo>
                    <a:lnTo>
                      <a:pt x="58" y="273"/>
                    </a:lnTo>
                    <a:lnTo>
                      <a:pt x="99" y="844"/>
                    </a:lnTo>
                    <a:lnTo>
                      <a:pt x="148" y="273"/>
                    </a:lnTo>
                    <a:close/>
                  </a:path>
                </a:pathLst>
              </a:custGeom>
              <a:solidFill>
                <a:srgbClr val="FF0000">
                  <a:alpha val="74901"/>
                </a:srgbClr>
              </a:solidFill>
              <a:ln w="9525">
                <a:noFill/>
                <a:round/>
                <a:headEnd/>
                <a:tailEnd/>
              </a:ln>
            </p:spPr>
            <p:txBody>
              <a:bodyPr/>
              <a:lstStyle/>
              <a:p>
                <a:endParaRPr lang="fr-FR"/>
              </a:p>
            </p:txBody>
          </p:sp>
          <p:sp>
            <p:nvSpPr>
              <p:cNvPr id="15423" name="Freeform 26"/>
              <p:cNvSpPr>
                <a:spLocks/>
              </p:cNvSpPr>
              <p:nvPr/>
            </p:nvSpPr>
            <p:spPr bwMode="auto">
              <a:xfrm rot="5400000">
                <a:off x="5468070" y="2772856"/>
                <a:ext cx="604838" cy="1069383"/>
              </a:xfrm>
              <a:custGeom>
                <a:avLst/>
                <a:gdLst>
                  <a:gd name="T0" fmla="*/ 2147483647 w 208"/>
                  <a:gd name="T1" fmla="*/ 2147483647 h 844"/>
                  <a:gd name="T2" fmla="*/ 2147483647 w 208"/>
                  <a:gd name="T3" fmla="*/ 2147483647 h 844"/>
                  <a:gd name="T4" fmla="*/ 2147483647 w 208"/>
                  <a:gd name="T5" fmla="*/ 2147483647 h 844"/>
                  <a:gd name="T6" fmla="*/ 2147483647 w 208"/>
                  <a:gd name="T7" fmla="*/ 2147483647 h 844"/>
                  <a:gd name="T8" fmla="*/ 2147483647 w 208"/>
                  <a:gd name="T9" fmla="*/ 2147483647 h 844"/>
                  <a:gd name="T10" fmla="*/ 2147483647 w 208"/>
                  <a:gd name="T11" fmla="*/ 0 h 844"/>
                  <a:gd name="T12" fmla="*/ 2147483647 w 208"/>
                  <a:gd name="T13" fmla="*/ 2147483647 h 844"/>
                  <a:gd name="T14" fmla="*/ 2147483647 w 208"/>
                  <a:gd name="T15" fmla="*/ 2147483647 h 844"/>
                  <a:gd name="T16" fmla="*/ 2147483647 w 208"/>
                  <a:gd name="T17" fmla="*/ 2147483647 h 844"/>
                  <a:gd name="T18" fmla="*/ 0 w 208"/>
                  <a:gd name="T19" fmla="*/ 2147483647 h 844"/>
                  <a:gd name="T20" fmla="*/ 2147483647 w 208"/>
                  <a:gd name="T21" fmla="*/ 2147483647 h 844"/>
                  <a:gd name="T22" fmla="*/ 2147483647 w 208"/>
                  <a:gd name="T23" fmla="*/ 2147483647 h 844"/>
                  <a:gd name="T24" fmla="*/ 2147483647 w 208"/>
                  <a:gd name="T25" fmla="*/ 2147483647 h 8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844"/>
                  <a:gd name="T41" fmla="*/ 208 w 208"/>
                  <a:gd name="T42" fmla="*/ 844 h 8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844">
                    <a:moveTo>
                      <a:pt x="148" y="273"/>
                    </a:moveTo>
                    <a:lnTo>
                      <a:pt x="177" y="277"/>
                    </a:lnTo>
                    <a:lnTo>
                      <a:pt x="208" y="283"/>
                    </a:lnTo>
                    <a:lnTo>
                      <a:pt x="154" y="141"/>
                    </a:lnTo>
                    <a:lnTo>
                      <a:pt x="116" y="44"/>
                    </a:lnTo>
                    <a:lnTo>
                      <a:pt x="99" y="0"/>
                    </a:lnTo>
                    <a:lnTo>
                      <a:pt x="95" y="12"/>
                    </a:lnTo>
                    <a:lnTo>
                      <a:pt x="83" y="44"/>
                    </a:lnTo>
                    <a:lnTo>
                      <a:pt x="50" y="142"/>
                    </a:lnTo>
                    <a:lnTo>
                      <a:pt x="0" y="283"/>
                    </a:lnTo>
                    <a:lnTo>
                      <a:pt x="58" y="273"/>
                    </a:lnTo>
                    <a:lnTo>
                      <a:pt x="99" y="844"/>
                    </a:lnTo>
                    <a:lnTo>
                      <a:pt x="148" y="273"/>
                    </a:lnTo>
                    <a:close/>
                  </a:path>
                </a:pathLst>
              </a:custGeom>
              <a:solidFill>
                <a:srgbClr val="FF0000">
                  <a:alpha val="74901"/>
                </a:srgbClr>
              </a:solidFill>
              <a:ln w="9525">
                <a:noFill/>
                <a:round/>
                <a:headEnd/>
                <a:tailEnd/>
              </a:ln>
            </p:spPr>
            <p:txBody>
              <a:bodyPr/>
              <a:lstStyle/>
              <a:p>
                <a:endParaRPr lang="fr-FR"/>
              </a:p>
            </p:txBody>
          </p:sp>
        </p:grpSp>
        <p:grpSp>
          <p:nvGrpSpPr>
            <p:cNvPr id="14" name="Group 82"/>
            <p:cNvGrpSpPr>
              <a:grpSpLocks/>
            </p:cNvGrpSpPr>
            <p:nvPr/>
          </p:nvGrpSpPr>
          <p:grpSpPr bwMode="auto">
            <a:xfrm>
              <a:off x="8892830" y="2088156"/>
              <a:ext cx="7127956" cy="1076325"/>
              <a:chOff x="-251831" y="4594928"/>
              <a:chExt cx="7127956" cy="1076325"/>
            </a:xfrm>
          </p:grpSpPr>
          <p:grpSp>
            <p:nvGrpSpPr>
              <p:cNvPr id="15" name="Group 43"/>
              <p:cNvGrpSpPr>
                <a:grpSpLocks/>
              </p:cNvGrpSpPr>
              <p:nvPr/>
            </p:nvGrpSpPr>
            <p:grpSpPr bwMode="auto">
              <a:xfrm>
                <a:off x="5836625" y="4706119"/>
                <a:ext cx="1039500" cy="839275"/>
                <a:chOff x="5836625" y="4706119"/>
                <a:chExt cx="1039500" cy="839275"/>
              </a:xfrm>
            </p:grpSpPr>
            <p:pic>
              <p:nvPicPr>
                <p:cNvPr id="15417" name="Picture 19" descr="Database"/>
                <p:cNvPicPr>
                  <a:picLocks noChangeAspect="1" noChangeArrowheads="1"/>
                </p:cNvPicPr>
                <p:nvPr/>
              </p:nvPicPr>
              <p:blipFill>
                <a:blip r:embed="rId12"/>
                <a:srcRect/>
                <a:stretch>
                  <a:fillRect/>
                </a:stretch>
              </p:blipFill>
              <p:spPr bwMode="auto">
                <a:xfrm>
                  <a:off x="5836625" y="4706119"/>
                  <a:ext cx="1039500" cy="839275"/>
                </a:xfrm>
                <a:prstGeom prst="rect">
                  <a:avLst/>
                </a:prstGeom>
                <a:noFill/>
                <a:ln w="9525">
                  <a:noFill/>
                  <a:miter lim="800000"/>
                  <a:headEnd/>
                  <a:tailEnd/>
                </a:ln>
              </p:spPr>
            </p:pic>
            <p:pic>
              <p:nvPicPr>
                <p:cNvPr id="15418" name="Picture 21" descr="LOGO_Windows_Vista"/>
                <p:cNvPicPr>
                  <a:picLocks noChangeAspect="1" noChangeArrowheads="1"/>
                </p:cNvPicPr>
                <p:nvPr/>
              </p:nvPicPr>
              <p:blipFill>
                <a:blip r:embed="rId13"/>
                <a:srcRect/>
                <a:stretch>
                  <a:fillRect/>
                </a:stretch>
              </p:blipFill>
              <p:spPr bwMode="auto">
                <a:xfrm>
                  <a:off x="6108854" y="4834449"/>
                  <a:ext cx="531812" cy="471487"/>
                </a:xfrm>
                <a:prstGeom prst="rect">
                  <a:avLst/>
                </a:prstGeom>
                <a:noFill/>
                <a:ln w="9525">
                  <a:noFill/>
                  <a:miter lim="800000"/>
                  <a:headEnd/>
                  <a:tailEnd/>
                </a:ln>
              </p:spPr>
            </p:pic>
          </p:grpSp>
          <p:sp>
            <p:nvSpPr>
              <p:cNvPr id="90" name="AutoShape 34"/>
              <p:cNvSpPr>
                <a:spLocks noChangeArrowheads="1"/>
              </p:cNvSpPr>
              <p:nvPr/>
            </p:nvSpPr>
            <p:spPr bwMode="auto">
              <a:xfrm>
                <a:off x="-251831" y="4901328"/>
                <a:ext cx="3750651" cy="554062"/>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lstStyle/>
              <a:p>
                <a:pPr algn="ctr">
                  <a:defRPr/>
                </a:pPr>
                <a:r>
                  <a:rPr lang="en-GB" dirty="0"/>
                  <a:t>Installation à </a:t>
                </a:r>
                <a:r>
                  <a:rPr lang="en-GB" dirty="0" err="1"/>
                  <a:t>partir</a:t>
                </a:r>
                <a:r>
                  <a:rPr lang="en-GB" dirty="0"/>
                  <a:t> </a:t>
                </a:r>
                <a:r>
                  <a:rPr lang="en-GB" dirty="0" err="1"/>
                  <a:t>d’une</a:t>
                </a:r>
                <a:r>
                  <a:rPr lang="en-GB" dirty="0"/>
                  <a:t> image</a:t>
                </a:r>
              </a:p>
            </p:txBody>
          </p:sp>
          <p:grpSp>
            <p:nvGrpSpPr>
              <p:cNvPr id="16" name="Group 38"/>
              <p:cNvGrpSpPr>
                <a:grpSpLocks/>
              </p:cNvGrpSpPr>
              <p:nvPr/>
            </p:nvGrpSpPr>
            <p:grpSpPr bwMode="auto">
              <a:xfrm>
                <a:off x="3699848" y="4594928"/>
                <a:ext cx="1149350" cy="1076325"/>
                <a:chOff x="3567113" y="2997200"/>
                <a:chExt cx="1149350" cy="1076325"/>
              </a:xfrm>
            </p:grpSpPr>
            <p:pic>
              <p:nvPicPr>
                <p:cNvPr id="15415" name="Picture 26" descr="Computer_Desktop"/>
                <p:cNvPicPr>
                  <a:picLocks noChangeAspect="1" noChangeArrowheads="1"/>
                </p:cNvPicPr>
                <p:nvPr/>
              </p:nvPicPr>
              <p:blipFill>
                <a:blip r:embed="rId3"/>
                <a:srcRect/>
                <a:stretch>
                  <a:fillRect/>
                </a:stretch>
              </p:blipFill>
              <p:spPr bwMode="auto">
                <a:xfrm>
                  <a:off x="3567113" y="2997200"/>
                  <a:ext cx="773112" cy="942975"/>
                </a:xfrm>
                <a:prstGeom prst="rect">
                  <a:avLst/>
                </a:prstGeom>
                <a:noFill/>
                <a:ln w="9525">
                  <a:noFill/>
                  <a:miter lim="800000"/>
                  <a:headEnd/>
                  <a:tailEnd/>
                </a:ln>
              </p:spPr>
            </p:pic>
            <p:pic>
              <p:nvPicPr>
                <p:cNvPr id="15416" name="Picture 30" descr="Database"/>
                <p:cNvPicPr>
                  <a:picLocks noChangeAspect="1" noChangeArrowheads="1"/>
                </p:cNvPicPr>
                <p:nvPr/>
              </p:nvPicPr>
              <p:blipFill>
                <a:blip r:embed="rId4"/>
                <a:srcRect/>
                <a:stretch>
                  <a:fillRect/>
                </a:stretch>
              </p:blipFill>
              <p:spPr bwMode="auto">
                <a:xfrm>
                  <a:off x="4194175" y="3651250"/>
                  <a:ext cx="522288" cy="422275"/>
                </a:xfrm>
                <a:prstGeom prst="rect">
                  <a:avLst/>
                </a:prstGeom>
                <a:noFill/>
                <a:ln w="9525">
                  <a:noFill/>
                  <a:miter lim="800000"/>
                  <a:headEnd/>
                  <a:tailEnd/>
                </a:ln>
              </p:spPr>
            </p:pic>
          </p:grpSp>
          <p:pic>
            <p:nvPicPr>
              <p:cNvPr id="15414" name="Picture 28" descr="arrow01_02"/>
              <p:cNvPicPr>
                <a:picLocks noChangeAspect="1" noChangeArrowheads="1"/>
              </p:cNvPicPr>
              <p:nvPr/>
            </p:nvPicPr>
            <p:blipFill>
              <a:blip r:embed="rId5"/>
              <a:srcRect/>
              <a:stretch>
                <a:fillRect/>
              </a:stretch>
            </p:blipFill>
            <p:spPr bwMode="auto">
              <a:xfrm rot="9254811" flipH="1" flipV="1">
                <a:off x="4942510" y="4792082"/>
                <a:ext cx="633412" cy="361950"/>
              </a:xfrm>
              <a:prstGeom prst="rect">
                <a:avLst/>
              </a:prstGeom>
              <a:noFill/>
              <a:ln w="9525">
                <a:noFill/>
                <a:miter lim="800000"/>
                <a:headEnd/>
                <a:tailEnd/>
              </a:ln>
            </p:spPr>
          </p:pic>
        </p:grpSp>
        <p:sp>
          <p:nvSpPr>
            <p:cNvPr id="123" name="AutoShape 34"/>
            <p:cNvSpPr>
              <a:spLocks noChangeArrowheads="1"/>
            </p:cNvSpPr>
            <p:nvPr/>
          </p:nvSpPr>
          <p:spPr bwMode="auto">
            <a:xfrm>
              <a:off x="9511413" y="5664945"/>
              <a:ext cx="6948334" cy="1214185"/>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wrap="square" tIns="137160" bIns="137160" anchor="ctr">
              <a:spAutoFit/>
            </a:bodyPr>
            <a:lstStyle/>
            <a:p>
              <a:pPr indent="-231775">
                <a:lnSpc>
                  <a:spcPct val="90000"/>
                </a:lnSpc>
                <a:spcBef>
                  <a:spcPts val="0"/>
                </a:spcBef>
                <a:buClr>
                  <a:srgbClr val="8DACD0"/>
                </a:buClr>
                <a:buSzPct val="70000"/>
                <a:buFont typeface="Arial" pitchFamily="34" charset="0"/>
                <a:buChar char="•"/>
                <a:defRPr/>
              </a:pPr>
              <a:r>
                <a:rPr lang="en-US" sz="2200" dirty="0" err="1"/>
                <a:t>ImageX</a:t>
              </a:r>
              <a:endParaRPr lang="en-US" sz="2200" dirty="0"/>
            </a:p>
            <a:p>
              <a:pPr indent="-231775">
                <a:lnSpc>
                  <a:spcPct val="90000"/>
                </a:lnSpc>
                <a:spcBef>
                  <a:spcPts val="0"/>
                </a:spcBef>
                <a:buClr>
                  <a:srgbClr val="8DACD0"/>
                </a:buClr>
                <a:buSzPct val="70000"/>
                <a:buFont typeface="Arial" pitchFamily="34" charset="0"/>
                <a:buChar char="•"/>
                <a:defRPr/>
              </a:pPr>
              <a:r>
                <a:rPr lang="en-US" sz="2200" dirty="0"/>
                <a:t>Windows Deployment Service  WDS </a:t>
              </a:r>
            </a:p>
            <a:p>
              <a:pPr indent="-231775">
                <a:lnSpc>
                  <a:spcPct val="90000"/>
                </a:lnSpc>
                <a:spcBef>
                  <a:spcPts val="0"/>
                </a:spcBef>
                <a:buClr>
                  <a:srgbClr val="8DACD0"/>
                </a:buClr>
                <a:buSzPct val="70000"/>
                <a:buFont typeface="Arial" pitchFamily="34" charset="0"/>
                <a:buChar char="•"/>
                <a:defRPr/>
              </a:pPr>
              <a:r>
                <a:rPr lang="en-US" sz="2200" dirty="0"/>
                <a:t>Microsoft Deployment Toolkit MDT</a:t>
              </a:r>
            </a:p>
          </p:txBody>
        </p:sp>
      </p:grpSp>
      <p:grpSp>
        <p:nvGrpSpPr>
          <p:cNvPr id="18" name="Group 106"/>
          <p:cNvGrpSpPr>
            <a:grpSpLocks/>
          </p:cNvGrpSpPr>
          <p:nvPr/>
        </p:nvGrpSpPr>
        <p:grpSpPr bwMode="auto">
          <a:xfrm>
            <a:off x="206375" y="1198036"/>
            <a:ext cx="8734425" cy="5524500"/>
            <a:chOff x="188913" y="795338"/>
            <a:chExt cx="8734425" cy="5524500"/>
          </a:xfrm>
        </p:grpSpPr>
        <p:pic>
          <p:nvPicPr>
            <p:cNvPr id="15376" name="Picture 2"/>
            <p:cNvPicPr>
              <a:picLocks noChangeAspect="1" noChangeArrowheads="1"/>
            </p:cNvPicPr>
            <p:nvPr/>
          </p:nvPicPr>
          <p:blipFill>
            <a:blip r:embed="rId14"/>
            <a:srcRect/>
            <a:stretch>
              <a:fillRect/>
            </a:stretch>
          </p:blipFill>
          <p:spPr bwMode="auto">
            <a:xfrm>
              <a:off x="188913" y="795338"/>
              <a:ext cx="8734425" cy="5524500"/>
            </a:xfrm>
            <a:prstGeom prst="rect">
              <a:avLst/>
            </a:prstGeom>
            <a:noFill/>
            <a:ln w="9525">
              <a:noFill/>
              <a:miter lim="800000"/>
              <a:headEnd/>
              <a:tailEnd/>
            </a:ln>
          </p:spPr>
        </p:pic>
        <p:grpSp>
          <p:nvGrpSpPr>
            <p:cNvPr id="19" name="Group 104"/>
            <p:cNvGrpSpPr>
              <a:grpSpLocks/>
            </p:cNvGrpSpPr>
            <p:nvPr/>
          </p:nvGrpSpPr>
          <p:grpSpPr bwMode="auto">
            <a:xfrm>
              <a:off x="304800" y="1305307"/>
              <a:ext cx="8112236" cy="4247215"/>
              <a:chOff x="304036" y="1306051"/>
              <a:chExt cx="8112236" cy="4247215"/>
            </a:xfrm>
          </p:grpSpPr>
          <p:grpSp>
            <p:nvGrpSpPr>
              <p:cNvPr id="20" name="Group 57"/>
              <p:cNvGrpSpPr>
                <a:grpSpLocks/>
              </p:cNvGrpSpPr>
              <p:nvPr/>
            </p:nvGrpSpPr>
            <p:grpSpPr bwMode="auto">
              <a:xfrm>
                <a:off x="320078" y="1306051"/>
                <a:ext cx="7575547" cy="1076325"/>
                <a:chOff x="320078" y="1306051"/>
                <a:chExt cx="7575547" cy="1076325"/>
              </a:xfrm>
            </p:grpSpPr>
            <p:grpSp>
              <p:nvGrpSpPr>
                <p:cNvPr id="22" name="Group 45"/>
                <p:cNvGrpSpPr>
                  <a:grpSpLocks/>
                </p:cNvGrpSpPr>
                <p:nvPr/>
              </p:nvGrpSpPr>
              <p:grpSpPr bwMode="auto">
                <a:xfrm>
                  <a:off x="6924687" y="1688646"/>
                  <a:ext cx="970938" cy="480448"/>
                  <a:chOff x="6344584" y="1682649"/>
                  <a:chExt cx="970938" cy="480448"/>
                </a:xfrm>
              </p:grpSpPr>
              <p:pic>
                <p:nvPicPr>
                  <p:cNvPr id="15404" name="Picture 17" descr="CD_DVD_Media"/>
                  <p:cNvPicPr>
                    <a:picLocks noChangeAspect="1" noChangeArrowheads="1"/>
                  </p:cNvPicPr>
                  <p:nvPr/>
                </p:nvPicPr>
                <p:blipFill>
                  <a:blip r:embed="rId9"/>
                  <a:srcRect/>
                  <a:stretch>
                    <a:fillRect/>
                  </a:stretch>
                </p:blipFill>
                <p:spPr bwMode="auto">
                  <a:xfrm>
                    <a:off x="6344584" y="1682649"/>
                    <a:ext cx="970938" cy="480448"/>
                  </a:xfrm>
                  <a:prstGeom prst="rect">
                    <a:avLst/>
                  </a:prstGeom>
                  <a:noFill/>
                  <a:ln w="9525">
                    <a:noFill/>
                    <a:miter lim="800000"/>
                    <a:headEnd/>
                    <a:tailEnd/>
                  </a:ln>
                </p:spPr>
              </p:pic>
              <p:pic>
                <p:nvPicPr>
                  <p:cNvPr id="15405" name="Picture 20" descr="LOGO_Windows_Vista"/>
                  <p:cNvPicPr>
                    <a:picLocks noChangeAspect="1" noChangeArrowheads="1"/>
                  </p:cNvPicPr>
                  <p:nvPr/>
                </p:nvPicPr>
                <p:blipFill>
                  <a:blip r:embed="rId10"/>
                  <a:srcRect/>
                  <a:stretch>
                    <a:fillRect/>
                  </a:stretch>
                </p:blipFill>
                <p:spPr bwMode="auto">
                  <a:xfrm>
                    <a:off x="6591210" y="1704054"/>
                    <a:ext cx="506413" cy="449263"/>
                  </a:xfrm>
                  <a:prstGeom prst="rect">
                    <a:avLst/>
                  </a:prstGeom>
                  <a:noFill/>
                  <a:ln w="9525">
                    <a:noFill/>
                    <a:miter lim="800000"/>
                    <a:headEnd/>
                    <a:tailEnd/>
                  </a:ln>
                </p:spPr>
              </p:pic>
            </p:grpSp>
            <p:pic>
              <p:nvPicPr>
                <p:cNvPr id="15399" name="Picture 28" descr="arrow01_02"/>
                <p:cNvPicPr>
                  <a:picLocks noChangeAspect="1" noChangeArrowheads="1"/>
                </p:cNvPicPr>
                <p:nvPr/>
              </p:nvPicPr>
              <p:blipFill>
                <a:blip r:embed="rId5"/>
                <a:srcRect/>
                <a:stretch>
                  <a:fillRect/>
                </a:stretch>
              </p:blipFill>
              <p:spPr bwMode="auto">
                <a:xfrm rot="9254811" flipH="1" flipV="1">
                  <a:off x="5965685" y="1744151"/>
                  <a:ext cx="633412" cy="361950"/>
                </a:xfrm>
                <a:prstGeom prst="rect">
                  <a:avLst/>
                </a:prstGeom>
                <a:noFill/>
                <a:ln w="9525">
                  <a:noFill/>
                  <a:miter lim="800000"/>
                  <a:headEnd/>
                  <a:tailEnd/>
                </a:ln>
              </p:spPr>
            </p:pic>
            <p:grpSp>
              <p:nvGrpSpPr>
                <p:cNvPr id="23" name="Group 34"/>
                <p:cNvGrpSpPr>
                  <a:grpSpLocks/>
                </p:cNvGrpSpPr>
                <p:nvPr/>
              </p:nvGrpSpPr>
              <p:grpSpPr bwMode="auto">
                <a:xfrm>
                  <a:off x="4747612" y="1306051"/>
                  <a:ext cx="1149350" cy="1076325"/>
                  <a:chOff x="3970863" y="2997200"/>
                  <a:chExt cx="1149350" cy="1076325"/>
                </a:xfrm>
              </p:grpSpPr>
              <p:pic>
                <p:nvPicPr>
                  <p:cNvPr id="15402" name="Picture 26" descr="Computer_Desktop"/>
                  <p:cNvPicPr>
                    <a:picLocks noChangeAspect="1" noChangeArrowheads="1"/>
                  </p:cNvPicPr>
                  <p:nvPr/>
                </p:nvPicPr>
                <p:blipFill>
                  <a:blip r:embed="rId11"/>
                  <a:srcRect/>
                  <a:stretch>
                    <a:fillRect/>
                  </a:stretch>
                </p:blipFill>
                <p:spPr bwMode="auto">
                  <a:xfrm>
                    <a:off x="3970863" y="2997200"/>
                    <a:ext cx="773112" cy="942975"/>
                  </a:xfrm>
                  <a:prstGeom prst="rect">
                    <a:avLst/>
                  </a:prstGeom>
                  <a:noFill/>
                  <a:ln w="9525">
                    <a:noFill/>
                    <a:miter lim="800000"/>
                    <a:headEnd/>
                    <a:tailEnd/>
                  </a:ln>
                </p:spPr>
              </p:pic>
              <p:pic>
                <p:nvPicPr>
                  <p:cNvPr id="15403" name="Picture 30" descr="Database"/>
                  <p:cNvPicPr>
                    <a:picLocks noChangeAspect="1" noChangeArrowheads="1"/>
                  </p:cNvPicPr>
                  <p:nvPr/>
                </p:nvPicPr>
                <p:blipFill>
                  <a:blip r:embed="rId4"/>
                  <a:srcRect/>
                  <a:stretch>
                    <a:fillRect/>
                  </a:stretch>
                </p:blipFill>
                <p:spPr bwMode="auto">
                  <a:xfrm>
                    <a:off x="4597925" y="3651250"/>
                    <a:ext cx="522288" cy="422275"/>
                  </a:xfrm>
                  <a:prstGeom prst="rect">
                    <a:avLst/>
                  </a:prstGeom>
                  <a:noFill/>
                  <a:ln w="9525">
                    <a:noFill/>
                    <a:miter lim="800000"/>
                    <a:headEnd/>
                    <a:tailEnd/>
                  </a:ln>
                </p:spPr>
              </p:pic>
            </p:grpSp>
            <p:sp>
              <p:nvSpPr>
                <p:cNvPr id="21" name="AutoShape 34"/>
                <p:cNvSpPr>
                  <a:spLocks noChangeArrowheads="1"/>
                </p:cNvSpPr>
                <p:nvPr/>
              </p:nvSpPr>
              <p:spPr bwMode="auto">
                <a:xfrm>
                  <a:off x="320078" y="1440607"/>
                  <a:ext cx="4219074" cy="55403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lstStyle/>
                <a:p>
                  <a:pPr algn="ctr">
                    <a:defRPr/>
                  </a:pPr>
                  <a:r>
                    <a:rPr lang="fr-FR" dirty="0"/>
                    <a:t>Exécution de setup.exe à partir du DVD</a:t>
                  </a:r>
                  <a:endParaRPr lang="en-GB" dirty="0"/>
                </a:p>
              </p:txBody>
            </p:sp>
          </p:grpSp>
          <p:grpSp>
            <p:nvGrpSpPr>
              <p:cNvPr id="24" name="Group 48"/>
              <p:cNvGrpSpPr>
                <a:grpSpLocks/>
              </p:cNvGrpSpPr>
              <p:nvPr/>
            </p:nvGrpSpPr>
            <p:grpSpPr bwMode="auto">
              <a:xfrm>
                <a:off x="304036" y="4476941"/>
                <a:ext cx="7614936" cy="1076325"/>
                <a:chOff x="-335061" y="4594928"/>
                <a:chExt cx="7614936" cy="1076325"/>
              </a:xfrm>
            </p:grpSpPr>
            <p:grpSp>
              <p:nvGrpSpPr>
                <p:cNvPr id="25" name="Group 43"/>
                <p:cNvGrpSpPr>
                  <a:grpSpLocks/>
                </p:cNvGrpSpPr>
                <p:nvPr/>
              </p:nvGrpSpPr>
              <p:grpSpPr bwMode="auto">
                <a:xfrm>
                  <a:off x="6240375" y="4706119"/>
                  <a:ext cx="1039500" cy="839275"/>
                  <a:chOff x="6240375" y="4706119"/>
                  <a:chExt cx="1039500" cy="839275"/>
                </a:xfrm>
              </p:grpSpPr>
              <p:pic>
                <p:nvPicPr>
                  <p:cNvPr id="15396" name="Picture 19" descr="Database"/>
                  <p:cNvPicPr>
                    <a:picLocks noChangeAspect="1" noChangeArrowheads="1"/>
                  </p:cNvPicPr>
                  <p:nvPr/>
                </p:nvPicPr>
                <p:blipFill>
                  <a:blip r:embed="rId12"/>
                  <a:srcRect/>
                  <a:stretch>
                    <a:fillRect/>
                  </a:stretch>
                </p:blipFill>
                <p:spPr bwMode="auto">
                  <a:xfrm>
                    <a:off x="6240375" y="4706119"/>
                    <a:ext cx="1039500" cy="839275"/>
                  </a:xfrm>
                  <a:prstGeom prst="rect">
                    <a:avLst/>
                  </a:prstGeom>
                  <a:noFill/>
                  <a:ln w="9525">
                    <a:noFill/>
                    <a:miter lim="800000"/>
                    <a:headEnd/>
                    <a:tailEnd/>
                  </a:ln>
                </p:spPr>
              </p:pic>
              <p:pic>
                <p:nvPicPr>
                  <p:cNvPr id="15397" name="Picture 21" descr="LOGO_Windows_Vista"/>
                  <p:cNvPicPr>
                    <a:picLocks noChangeAspect="1" noChangeArrowheads="1"/>
                  </p:cNvPicPr>
                  <p:nvPr/>
                </p:nvPicPr>
                <p:blipFill>
                  <a:blip r:embed="rId13"/>
                  <a:srcRect/>
                  <a:stretch>
                    <a:fillRect/>
                  </a:stretch>
                </p:blipFill>
                <p:spPr bwMode="auto">
                  <a:xfrm>
                    <a:off x="6512604" y="4834449"/>
                    <a:ext cx="531812" cy="471487"/>
                  </a:xfrm>
                  <a:prstGeom prst="rect">
                    <a:avLst/>
                  </a:prstGeom>
                  <a:noFill/>
                  <a:ln w="9525">
                    <a:noFill/>
                    <a:miter lim="800000"/>
                    <a:headEnd/>
                    <a:tailEnd/>
                  </a:ln>
                </p:spPr>
              </p:pic>
            </p:grpSp>
            <p:sp>
              <p:nvSpPr>
                <p:cNvPr id="33" name="AutoShape 34"/>
                <p:cNvSpPr>
                  <a:spLocks noChangeArrowheads="1"/>
                </p:cNvSpPr>
                <p:nvPr/>
              </p:nvSpPr>
              <p:spPr bwMode="auto">
                <a:xfrm>
                  <a:off x="-335061" y="4720894"/>
                  <a:ext cx="4251158" cy="55403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lstStyle/>
                <a:p>
                  <a:pPr algn="ctr">
                    <a:defRPr/>
                  </a:pPr>
                  <a:r>
                    <a:rPr lang="en-GB" dirty="0"/>
                    <a:t>Installation à </a:t>
                  </a:r>
                  <a:r>
                    <a:rPr lang="en-GB" dirty="0" err="1"/>
                    <a:t>partir</a:t>
                  </a:r>
                  <a:r>
                    <a:rPr lang="en-GB" dirty="0"/>
                    <a:t> </a:t>
                  </a:r>
                  <a:r>
                    <a:rPr lang="en-GB" dirty="0" err="1"/>
                    <a:t>d’une</a:t>
                  </a:r>
                  <a:r>
                    <a:rPr lang="en-GB" dirty="0"/>
                    <a:t> image</a:t>
                  </a:r>
                </a:p>
              </p:txBody>
            </p:sp>
            <p:grpSp>
              <p:nvGrpSpPr>
                <p:cNvPr id="26" name="Group 38"/>
                <p:cNvGrpSpPr>
                  <a:grpSpLocks/>
                </p:cNvGrpSpPr>
                <p:nvPr/>
              </p:nvGrpSpPr>
              <p:grpSpPr bwMode="auto">
                <a:xfrm>
                  <a:off x="4103598" y="4594928"/>
                  <a:ext cx="1149350" cy="1076325"/>
                  <a:chOff x="3970863" y="2997200"/>
                  <a:chExt cx="1149350" cy="1076325"/>
                </a:xfrm>
              </p:grpSpPr>
              <p:pic>
                <p:nvPicPr>
                  <p:cNvPr id="15394" name="Picture 26" descr="Computer_Desktop"/>
                  <p:cNvPicPr>
                    <a:picLocks noChangeAspect="1" noChangeArrowheads="1"/>
                  </p:cNvPicPr>
                  <p:nvPr/>
                </p:nvPicPr>
                <p:blipFill>
                  <a:blip r:embed="rId11"/>
                  <a:srcRect/>
                  <a:stretch>
                    <a:fillRect/>
                  </a:stretch>
                </p:blipFill>
                <p:spPr bwMode="auto">
                  <a:xfrm>
                    <a:off x="3970863" y="2997200"/>
                    <a:ext cx="773112" cy="942975"/>
                  </a:xfrm>
                  <a:prstGeom prst="rect">
                    <a:avLst/>
                  </a:prstGeom>
                  <a:noFill/>
                  <a:ln w="9525">
                    <a:noFill/>
                    <a:miter lim="800000"/>
                    <a:headEnd/>
                    <a:tailEnd/>
                  </a:ln>
                </p:spPr>
              </p:pic>
              <p:pic>
                <p:nvPicPr>
                  <p:cNvPr id="15395" name="Picture 30" descr="Database"/>
                  <p:cNvPicPr>
                    <a:picLocks noChangeAspect="1" noChangeArrowheads="1"/>
                  </p:cNvPicPr>
                  <p:nvPr/>
                </p:nvPicPr>
                <p:blipFill>
                  <a:blip r:embed="rId4"/>
                  <a:srcRect/>
                  <a:stretch>
                    <a:fillRect/>
                  </a:stretch>
                </p:blipFill>
                <p:spPr bwMode="auto">
                  <a:xfrm>
                    <a:off x="4597925" y="3651250"/>
                    <a:ext cx="522288" cy="422275"/>
                  </a:xfrm>
                  <a:prstGeom prst="rect">
                    <a:avLst/>
                  </a:prstGeom>
                  <a:noFill/>
                  <a:ln w="9525">
                    <a:noFill/>
                    <a:miter lim="800000"/>
                    <a:headEnd/>
                    <a:tailEnd/>
                  </a:ln>
                </p:spPr>
              </p:pic>
            </p:grpSp>
            <p:pic>
              <p:nvPicPr>
                <p:cNvPr id="15393" name="Picture 28" descr="arrow01_02"/>
                <p:cNvPicPr>
                  <a:picLocks noChangeAspect="1" noChangeArrowheads="1"/>
                </p:cNvPicPr>
                <p:nvPr/>
              </p:nvPicPr>
              <p:blipFill>
                <a:blip r:embed="rId5"/>
                <a:srcRect/>
                <a:stretch>
                  <a:fillRect/>
                </a:stretch>
              </p:blipFill>
              <p:spPr bwMode="auto">
                <a:xfrm rot="9254811" flipH="1" flipV="1">
                  <a:off x="5346260" y="4792082"/>
                  <a:ext cx="633412" cy="361950"/>
                </a:xfrm>
                <a:prstGeom prst="rect">
                  <a:avLst/>
                </a:prstGeom>
                <a:noFill/>
                <a:ln w="9525">
                  <a:noFill/>
                  <a:miter lim="800000"/>
                  <a:headEnd/>
                  <a:tailEnd/>
                </a:ln>
              </p:spPr>
            </p:pic>
          </p:grpSp>
          <p:grpSp>
            <p:nvGrpSpPr>
              <p:cNvPr id="27" name="Group 47"/>
              <p:cNvGrpSpPr>
                <a:grpSpLocks/>
              </p:cNvGrpSpPr>
              <p:nvPr/>
            </p:nvGrpSpPr>
            <p:grpSpPr bwMode="auto">
              <a:xfrm>
                <a:off x="352162" y="2871788"/>
                <a:ext cx="8064110" cy="1119335"/>
                <a:chOff x="-286935" y="2989775"/>
                <a:chExt cx="8064110" cy="1119335"/>
              </a:xfrm>
            </p:grpSpPr>
            <p:sp>
              <p:nvSpPr>
                <p:cNvPr id="30" name="AutoShape 34"/>
                <p:cNvSpPr>
                  <a:spLocks noChangeArrowheads="1"/>
                </p:cNvSpPr>
                <p:nvPr/>
              </p:nvSpPr>
              <p:spPr bwMode="auto">
                <a:xfrm>
                  <a:off x="-286935" y="3141331"/>
                  <a:ext cx="4186990" cy="795424"/>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lstStyle/>
                <a:p>
                  <a:pPr algn="ctr">
                    <a:defRPr/>
                  </a:pPr>
                  <a:r>
                    <a:rPr lang="fr-FR" dirty="0"/>
                    <a:t>Exécution de setup.exe depuis un partage réseau</a:t>
                  </a:r>
                  <a:endParaRPr lang="en-GB" dirty="0"/>
                </a:p>
              </p:txBody>
            </p:sp>
            <p:grpSp>
              <p:nvGrpSpPr>
                <p:cNvPr id="28" name="Group 35"/>
                <p:cNvGrpSpPr>
                  <a:grpSpLocks/>
                </p:cNvGrpSpPr>
                <p:nvPr/>
              </p:nvGrpSpPr>
              <p:grpSpPr bwMode="auto">
                <a:xfrm>
                  <a:off x="4113435" y="3021742"/>
                  <a:ext cx="1149350" cy="1076325"/>
                  <a:chOff x="3970863" y="2997200"/>
                  <a:chExt cx="1149350" cy="1076325"/>
                </a:xfrm>
              </p:grpSpPr>
              <p:pic>
                <p:nvPicPr>
                  <p:cNvPr id="15388" name="Picture 26" descr="Computer_Desktop"/>
                  <p:cNvPicPr>
                    <a:picLocks noChangeAspect="1" noChangeArrowheads="1"/>
                  </p:cNvPicPr>
                  <p:nvPr/>
                </p:nvPicPr>
                <p:blipFill>
                  <a:blip r:embed="rId11"/>
                  <a:srcRect/>
                  <a:stretch>
                    <a:fillRect/>
                  </a:stretch>
                </p:blipFill>
                <p:spPr bwMode="auto">
                  <a:xfrm>
                    <a:off x="3970863" y="2997200"/>
                    <a:ext cx="773112" cy="942975"/>
                  </a:xfrm>
                  <a:prstGeom prst="rect">
                    <a:avLst/>
                  </a:prstGeom>
                  <a:noFill/>
                  <a:ln w="9525">
                    <a:noFill/>
                    <a:miter lim="800000"/>
                    <a:headEnd/>
                    <a:tailEnd/>
                  </a:ln>
                </p:spPr>
              </p:pic>
              <p:pic>
                <p:nvPicPr>
                  <p:cNvPr id="15389" name="Picture 30" descr="Database"/>
                  <p:cNvPicPr>
                    <a:picLocks noChangeAspect="1" noChangeArrowheads="1"/>
                  </p:cNvPicPr>
                  <p:nvPr/>
                </p:nvPicPr>
                <p:blipFill>
                  <a:blip r:embed="rId4"/>
                  <a:srcRect/>
                  <a:stretch>
                    <a:fillRect/>
                  </a:stretch>
                </p:blipFill>
                <p:spPr bwMode="auto">
                  <a:xfrm>
                    <a:off x="4597925" y="3651250"/>
                    <a:ext cx="522288" cy="422275"/>
                  </a:xfrm>
                  <a:prstGeom prst="rect">
                    <a:avLst/>
                  </a:prstGeom>
                  <a:noFill/>
                  <a:ln w="9525">
                    <a:noFill/>
                    <a:miter lim="800000"/>
                    <a:headEnd/>
                    <a:tailEnd/>
                  </a:ln>
                </p:spPr>
              </p:pic>
            </p:grpSp>
            <p:pic>
              <p:nvPicPr>
                <p:cNvPr id="15383" name="Picture 28" descr="arrow01_02"/>
                <p:cNvPicPr>
                  <a:picLocks noChangeAspect="1" noChangeArrowheads="1"/>
                </p:cNvPicPr>
                <p:nvPr/>
              </p:nvPicPr>
              <p:blipFill>
                <a:blip r:embed="rId5"/>
                <a:srcRect/>
                <a:stretch>
                  <a:fillRect/>
                </a:stretch>
              </p:blipFill>
              <p:spPr bwMode="auto">
                <a:xfrm rot="9254811" flipH="1" flipV="1">
                  <a:off x="5341340" y="3292698"/>
                  <a:ext cx="633412" cy="361950"/>
                </a:xfrm>
                <a:prstGeom prst="rect">
                  <a:avLst/>
                </a:prstGeom>
                <a:noFill/>
                <a:ln w="9525">
                  <a:noFill/>
                  <a:miter lim="800000"/>
                  <a:headEnd/>
                  <a:tailEnd/>
                </a:ln>
              </p:spPr>
            </p:pic>
            <p:grpSp>
              <p:nvGrpSpPr>
                <p:cNvPr id="29" name="Group 44"/>
                <p:cNvGrpSpPr>
                  <a:grpSpLocks/>
                </p:cNvGrpSpPr>
                <p:nvPr/>
              </p:nvGrpSpPr>
              <p:grpSpPr bwMode="auto">
                <a:xfrm>
                  <a:off x="6277449" y="2989775"/>
                  <a:ext cx="1499726" cy="1119335"/>
                  <a:chOff x="6277449" y="2989775"/>
                  <a:chExt cx="1499726" cy="1119335"/>
                </a:xfrm>
              </p:grpSpPr>
              <p:pic>
                <p:nvPicPr>
                  <p:cNvPr id="15385" name="Picture 18" descr="Server"/>
                  <p:cNvPicPr>
                    <a:picLocks noChangeAspect="1" noChangeArrowheads="1"/>
                  </p:cNvPicPr>
                  <p:nvPr/>
                </p:nvPicPr>
                <p:blipFill>
                  <a:blip r:embed="rId6"/>
                  <a:srcRect/>
                  <a:stretch>
                    <a:fillRect/>
                  </a:stretch>
                </p:blipFill>
                <p:spPr bwMode="auto">
                  <a:xfrm>
                    <a:off x="6277449" y="2989775"/>
                    <a:ext cx="944163" cy="1110277"/>
                  </a:xfrm>
                  <a:prstGeom prst="rect">
                    <a:avLst/>
                  </a:prstGeom>
                  <a:noFill/>
                  <a:ln w="9525">
                    <a:noFill/>
                    <a:miter lim="800000"/>
                    <a:headEnd/>
                    <a:tailEnd/>
                  </a:ln>
                </p:spPr>
              </p:pic>
              <p:pic>
                <p:nvPicPr>
                  <p:cNvPr id="15386" name="Picture 27" descr="Folder_Open"/>
                  <p:cNvPicPr>
                    <a:picLocks noChangeAspect="1" noChangeArrowheads="1"/>
                  </p:cNvPicPr>
                  <p:nvPr/>
                </p:nvPicPr>
                <p:blipFill>
                  <a:blip r:embed="rId7"/>
                  <a:srcRect/>
                  <a:stretch>
                    <a:fillRect/>
                  </a:stretch>
                </p:blipFill>
                <p:spPr bwMode="auto">
                  <a:xfrm>
                    <a:off x="6793336" y="3494087"/>
                    <a:ext cx="689640" cy="615023"/>
                  </a:xfrm>
                  <a:prstGeom prst="rect">
                    <a:avLst/>
                  </a:prstGeom>
                  <a:noFill/>
                  <a:ln w="9525">
                    <a:noFill/>
                    <a:miter lim="800000"/>
                    <a:headEnd/>
                    <a:tailEnd/>
                  </a:ln>
                </p:spPr>
              </p:pic>
              <p:pic>
                <p:nvPicPr>
                  <p:cNvPr id="15387" name="Picture 23" descr="LOGO_Windows_Vista"/>
                  <p:cNvPicPr>
                    <a:picLocks noChangeAspect="1" noChangeArrowheads="1"/>
                  </p:cNvPicPr>
                  <p:nvPr/>
                </p:nvPicPr>
                <p:blipFill>
                  <a:blip r:embed="rId8"/>
                  <a:srcRect/>
                  <a:stretch>
                    <a:fillRect/>
                  </a:stretch>
                </p:blipFill>
                <p:spPr bwMode="auto">
                  <a:xfrm>
                    <a:off x="7253300" y="3375589"/>
                    <a:ext cx="523875" cy="465137"/>
                  </a:xfrm>
                  <a:prstGeom prst="rect">
                    <a:avLst/>
                  </a:prstGeom>
                  <a:noFill/>
                  <a:ln w="9525">
                    <a:noFill/>
                    <a:miter lim="800000"/>
                    <a:headEnd/>
                    <a:tailEnd/>
                  </a:ln>
                </p:spPr>
              </p:pic>
            </p:gr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2"/>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2"/>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12"/>
                                        </p:tgtEl>
                                        <p:attrNameLst>
                                          <p:attrName>style.visibility</p:attrName>
                                        </p:attrNameLst>
                                      </p:cBhvr>
                                      <p:to>
                                        <p:strVal val="hidden"/>
                                      </p:to>
                                    </p:set>
                                  </p:childTnLst>
                                </p:cTn>
                              </p:par>
                            </p:childTnLst>
                          </p:cTn>
                        </p:par>
                        <p:par>
                          <p:cTn id="31" fill="hold" nodeType="afterGroup">
                            <p:stCondLst>
                              <p:cond delay="0"/>
                            </p:stCondLst>
                            <p:childTnLst>
                              <p:par>
                                <p:cTn id="32" presetID="1" presetClass="entr" presetSubtype="0" fill="hold" nodeType="after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pPr eaLnBrk="1" hangingPunct="1"/>
            <a:r>
              <a:rPr lang="en-US" sz="2800" dirty="0">
                <a:solidFill>
                  <a:srgbClr val="C00000"/>
                </a:solidFill>
              </a:rPr>
              <a:t>Question</a:t>
            </a:r>
          </a:p>
        </p:txBody>
      </p:sp>
      <p:sp>
        <p:nvSpPr>
          <p:cNvPr id="11" name="ZoneTexte 10"/>
          <p:cNvSpPr txBox="1"/>
          <p:nvPr/>
        </p:nvSpPr>
        <p:spPr>
          <a:xfrm>
            <a:off x="240630" y="1298062"/>
            <a:ext cx="8614612" cy="544764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50000"/>
              </a:lnSpc>
            </a:pPr>
            <a:r>
              <a:rPr lang="fr-FR" sz="2400" dirty="0"/>
              <a:t>L'installation de Windows à partir du DVD:</a:t>
            </a:r>
          </a:p>
          <a:p>
            <a:pPr>
              <a:lnSpc>
                <a:spcPct val="150000"/>
              </a:lnSpc>
              <a:buFont typeface="Wingdings" pitchFamily="2" charset="2"/>
              <a:buChar char="q"/>
            </a:pPr>
            <a:r>
              <a:rPr lang="fr-FR" u="none" dirty="0"/>
              <a:t>La plus simple. </a:t>
            </a:r>
          </a:p>
          <a:p>
            <a:pPr>
              <a:lnSpc>
                <a:spcPct val="150000"/>
              </a:lnSpc>
              <a:buFont typeface="Wingdings" pitchFamily="2" charset="2"/>
              <a:buChar char="q"/>
            </a:pPr>
            <a:r>
              <a:rPr lang="fr-FR" u="none" dirty="0"/>
              <a:t>Appliquée dans un environnement à domicile ou de PME </a:t>
            </a:r>
          </a:p>
          <a:p>
            <a:pPr>
              <a:lnSpc>
                <a:spcPct val="150000"/>
              </a:lnSpc>
              <a:buFont typeface="Wingdings" pitchFamily="2" charset="2"/>
              <a:buChar char="q"/>
            </a:pPr>
            <a:r>
              <a:rPr lang="fr-FR" u="none" dirty="0"/>
              <a:t>Sert à installer un ordinateur de référence. </a:t>
            </a:r>
          </a:p>
          <a:p>
            <a:pPr>
              <a:lnSpc>
                <a:spcPct val="150000"/>
              </a:lnSpc>
            </a:pPr>
            <a:r>
              <a:rPr lang="fr-FR" sz="2400" dirty="0"/>
              <a:t>L'installation  à partir d’un partage réseau:</a:t>
            </a:r>
          </a:p>
          <a:p>
            <a:pPr>
              <a:lnSpc>
                <a:spcPct val="150000"/>
              </a:lnSpc>
              <a:buFont typeface="Wingdings" pitchFamily="2" charset="2"/>
              <a:buChar char="q"/>
            </a:pPr>
            <a:r>
              <a:rPr lang="fr-FR" u="none" dirty="0"/>
              <a:t>Installer Windows sur des ordinateurs qui ne sont pas équipés d'un lecteur de DVD.</a:t>
            </a:r>
          </a:p>
          <a:p>
            <a:pPr>
              <a:lnSpc>
                <a:spcPct val="150000"/>
              </a:lnSpc>
              <a:buFont typeface="Wingdings" pitchFamily="2" charset="2"/>
              <a:buChar char="q"/>
            </a:pPr>
            <a:r>
              <a:rPr lang="fr-FR" u="none" dirty="0"/>
              <a:t>Eviter d'avoir à conserver le support d'installation. </a:t>
            </a:r>
          </a:p>
          <a:p>
            <a:pPr>
              <a:lnSpc>
                <a:spcPct val="150000"/>
              </a:lnSpc>
            </a:pPr>
            <a:r>
              <a:rPr lang="fr-FR" sz="2400" dirty="0"/>
              <a:t>L'installation de Windows à partir d’une image:</a:t>
            </a:r>
          </a:p>
          <a:p>
            <a:pPr>
              <a:lnSpc>
                <a:spcPct val="150000"/>
              </a:lnSpc>
              <a:buFont typeface="Wingdings" pitchFamily="2" charset="2"/>
              <a:buChar char="q"/>
            </a:pPr>
            <a:r>
              <a:rPr lang="fr-FR" u="none" dirty="0"/>
              <a:t>Appliquée dans une grande entreprise </a:t>
            </a:r>
          </a:p>
          <a:p>
            <a:pPr>
              <a:lnSpc>
                <a:spcPct val="150000"/>
              </a:lnSpc>
              <a:buFont typeface="Wingdings" pitchFamily="2" charset="2"/>
              <a:buChar char="q"/>
            </a:pPr>
            <a:r>
              <a:rPr lang="fr-FR" u="none" dirty="0"/>
              <a:t>Sert à standardiser l'environnement</a:t>
            </a:r>
          </a:p>
        </p:txBody>
      </p:sp>
      <p:grpSp>
        <p:nvGrpSpPr>
          <p:cNvPr id="16" name="Groupe 15"/>
          <p:cNvGrpSpPr/>
          <p:nvPr/>
        </p:nvGrpSpPr>
        <p:grpSpPr>
          <a:xfrm>
            <a:off x="68240" y="1282010"/>
            <a:ext cx="8890000" cy="5357622"/>
            <a:chOff x="-191069" y="4954778"/>
            <a:chExt cx="8890000" cy="5357622"/>
          </a:xfrm>
        </p:grpSpPr>
        <p:sp>
          <p:nvSpPr>
            <p:cNvPr id="12" name="Rectangle à coins arrondis 11"/>
            <p:cNvSpPr/>
            <p:nvPr/>
          </p:nvSpPr>
          <p:spPr>
            <a:xfrm>
              <a:off x="-191069" y="4961467"/>
              <a:ext cx="8890000" cy="53509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Picture 8" descr="C:\Users\tfrink.NORTHAMERICA\Pictures\MSL Approved graphics from Vendor Resource Toolkit\Graphics\ChatBubble.png"/>
            <p:cNvPicPr>
              <a:picLocks noChangeAspect="1" noChangeArrowheads="1"/>
            </p:cNvPicPr>
            <p:nvPr/>
          </p:nvPicPr>
          <p:blipFill>
            <a:blip r:embed="rId3"/>
            <a:srcRect/>
            <a:stretch>
              <a:fillRect/>
            </a:stretch>
          </p:blipFill>
          <p:spPr bwMode="auto">
            <a:xfrm>
              <a:off x="504968" y="4954778"/>
              <a:ext cx="7623175" cy="3304172"/>
            </a:xfrm>
            <a:prstGeom prst="rect">
              <a:avLst/>
            </a:prstGeom>
            <a:noFill/>
            <a:ln w="9525">
              <a:noFill/>
              <a:miter lim="800000"/>
              <a:headEnd/>
              <a:tailEnd/>
            </a:ln>
          </p:spPr>
        </p:pic>
        <p:pic>
          <p:nvPicPr>
            <p:cNvPr id="14" name="Picture 9" descr="C:\Users\tfrink.NORTHAMERICA\Pictures\MSL Approved graphics from Vendor Resource Toolkit\Graphics\Collection_Group.png"/>
            <p:cNvPicPr>
              <a:picLocks noChangeAspect="1" noChangeArrowheads="1"/>
            </p:cNvPicPr>
            <p:nvPr/>
          </p:nvPicPr>
          <p:blipFill>
            <a:blip r:embed="rId4"/>
            <a:srcRect/>
            <a:stretch>
              <a:fillRect/>
            </a:stretch>
          </p:blipFill>
          <p:spPr bwMode="auto">
            <a:xfrm>
              <a:off x="2211364" y="7373914"/>
              <a:ext cx="3819525" cy="2762250"/>
            </a:xfrm>
            <a:prstGeom prst="rect">
              <a:avLst/>
            </a:prstGeom>
            <a:noFill/>
            <a:ln w="9525">
              <a:noFill/>
              <a:miter lim="800000"/>
              <a:headEnd/>
              <a:tailEnd/>
            </a:ln>
          </p:spPr>
        </p:pic>
        <p:sp>
          <p:nvSpPr>
            <p:cNvPr id="15" name="Rectangle 14"/>
            <p:cNvSpPr/>
            <p:nvPr/>
          </p:nvSpPr>
          <p:spPr>
            <a:xfrm>
              <a:off x="1975453" y="5356579"/>
              <a:ext cx="4852737" cy="1569660"/>
            </a:xfrm>
            <a:prstGeom prst="rect">
              <a:avLst/>
            </a:prstGeom>
          </p:spPr>
          <p:txBody>
            <a:bodyPr wrap="square">
              <a:spAutoFit/>
            </a:bodyPr>
            <a:lstStyle/>
            <a:p>
              <a:r>
                <a:rPr lang="fr-FR" sz="2400" dirty="0"/>
                <a:t>dans quel contexte utiliserez-vous chaque méthode de nouvelle installation du système d'exploitation Windows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par>
                                <p:cTn id="8" presetID="5" presetClass="entr" presetSubtype="10" fill="hold"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checkerboard(across)">
                                      <p:cBhvr>
                                        <p:cTn id="10" dur="500"/>
                                        <p:tgtEl>
                                          <p:spTgt spid="11">
                                            <p:txEl>
                                              <p:pRg st="0" end="0"/>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checkerboard(across)">
                                      <p:cBhvr>
                                        <p:cTn id="13" dur="500"/>
                                        <p:tgtEl>
                                          <p:spTgt spid="11">
                                            <p:txEl>
                                              <p:pRg st="1" end="1"/>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animEffect transition="in" filter="checkerboard(across)">
                                      <p:cBhvr>
                                        <p:cTn id="16" dur="500"/>
                                        <p:tgtEl>
                                          <p:spTgt spid="11">
                                            <p:txEl>
                                              <p:pRg st="2" end="2"/>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checkerboard(across)">
                                      <p:cBhvr>
                                        <p:cTn id="19" dur="500"/>
                                        <p:tgtEl>
                                          <p:spTgt spid="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checkerboard(across)">
                                      <p:cBhvr>
                                        <p:cTn id="24" dur="500"/>
                                        <p:tgtEl>
                                          <p:spTgt spid="11">
                                            <p:txEl>
                                              <p:pRg st="4" end="4"/>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animEffect transition="in" filter="checkerboard(across)">
                                      <p:cBhvr>
                                        <p:cTn id="27" dur="500"/>
                                        <p:tgtEl>
                                          <p:spTgt spid="11">
                                            <p:txEl>
                                              <p:pRg st="5" end="5"/>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11">
                                            <p:txEl>
                                              <p:pRg st="6" end="6"/>
                                            </p:txEl>
                                          </p:spTgt>
                                        </p:tgtEl>
                                        <p:attrNameLst>
                                          <p:attrName>style.visibility</p:attrName>
                                        </p:attrNameLst>
                                      </p:cBhvr>
                                      <p:to>
                                        <p:strVal val="visible"/>
                                      </p:to>
                                    </p:set>
                                    <p:animEffect transition="in" filter="checkerboard(across)">
                                      <p:cBhvr>
                                        <p:cTn id="30" dur="500"/>
                                        <p:tgtEl>
                                          <p:spTgt spid="11">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11">
                                            <p:txEl>
                                              <p:pRg st="7" end="7"/>
                                            </p:txEl>
                                          </p:spTgt>
                                        </p:tgtEl>
                                        <p:attrNameLst>
                                          <p:attrName>style.visibility</p:attrName>
                                        </p:attrNameLst>
                                      </p:cBhvr>
                                      <p:to>
                                        <p:strVal val="visible"/>
                                      </p:to>
                                    </p:set>
                                    <p:animEffect transition="in" filter="checkerboard(across)">
                                      <p:cBhvr>
                                        <p:cTn id="35" dur="500"/>
                                        <p:tgtEl>
                                          <p:spTgt spid="11">
                                            <p:txEl>
                                              <p:pRg st="7" end="7"/>
                                            </p:txEl>
                                          </p:spTgt>
                                        </p:tgtEl>
                                      </p:cBhvr>
                                    </p:animEffect>
                                  </p:childTnLst>
                                </p:cTn>
                              </p:par>
                              <p:par>
                                <p:cTn id="36" presetID="5" presetClass="entr" presetSubtype="10" fill="hold" nodeType="withEffect">
                                  <p:stCondLst>
                                    <p:cond delay="0"/>
                                  </p:stCondLst>
                                  <p:childTnLst>
                                    <p:set>
                                      <p:cBhvr>
                                        <p:cTn id="37" dur="1" fill="hold">
                                          <p:stCondLst>
                                            <p:cond delay="0"/>
                                          </p:stCondLst>
                                        </p:cTn>
                                        <p:tgtEl>
                                          <p:spTgt spid="11">
                                            <p:txEl>
                                              <p:pRg st="8" end="8"/>
                                            </p:txEl>
                                          </p:spTgt>
                                        </p:tgtEl>
                                        <p:attrNameLst>
                                          <p:attrName>style.visibility</p:attrName>
                                        </p:attrNameLst>
                                      </p:cBhvr>
                                      <p:to>
                                        <p:strVal val="visible"/>
                                      </p:to>
                                    </p:set>
                                    <p:animEffect transition="in" filter="checkerboard(across)">
                                      <p:cBhvr>
                                        <p:cTn id="38" dur="500"/>
                                        <p:tgtEl>
                                          <p:spTgt spid="11">
                                            <p:txEl>
                                              <p:pRg st="8" end="8"/>
                                            </p:txEl>
                                          </p:spTgt>
                                        </p:tgtEl>
                                      </p:cBhvr>
                                    </p:animEffect>
                                  </p:childTnLst>
                                </p:cTn>
                              </p:par>
                              <p:par>
                                <p:cTn id="39" presetID="5" presetClass="entr" presetSubtype="10" fill="hold" nodeType="withEffect">
                                  <p:stCondLst>
                                    <p:cond delay="0"/>
                                  </p:stCondLst>
                                  <p:childTnLst>
                                    <p:set>
                                      <p:cBhvr>
                                        <p:cTn id="40" dur="1" fill="hold">
                                          <p:stCondLst>
                                            <p:cond delay="0"/>
                                          </p:stCondLst>
                                        </p:cTn>
                                        <p:tgtEl>
                                          <p:spTgt spid="11">
                                            <p:txEl>
                                              <p:pRg st="9" end="9"/>
                                            </p:txEl>
                                          </p:spTgt>
                                        </p:tgtEl>
                                        <p:attrNameLst>
                                          <p:attrName>style.visibility</p:attrName>
                                        </p:attrNameLst>
                                      </p:cBhvr>
                                      <p:to>
                                        <p:strVal val="visible"/>
                                      </p:to>
                                    </p:set>
                                    <p:animEffect transition="in" filter="checkerboard(across)">
                                      <p:cBhvr>
                                        <p:cTn id="41" dur="500"/>
                                        <p:tgtEl>
                                          <p:spTgt spid="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pPr eaLnBrk="1" hangingPunct="1"/>
            <a:r>
              <a:rPr lang="en-US" dirty="0"/>
              <a:t>3- </a:t>
            </a:r>
            <a:r>
              <a:rPr lang="en-US" dirty="0" err="1"/>
              <a:t>Mise</a:t>
            </a:r>
            <a:r>
              <a:rPr lang="en-US" dirty="0"/>
              <a:t> à </a:t>
            </a:r>
            <a:r>
              <a:rPr lang="en-US" dirty="0" err="1"/>
              <a:t>niveau</a:t>
            </a:r>
            <a:r>
              <a:rPr lang="en-US" dirty="0"/>
              <a:t> et migration </a:t>
            </a:r>
            <a:r>
              <a:rPr lang="en-US" dirty="0" err="1"/>
              <a:t>vers</a:t>
            </a:r>
            <a:r>
              <a:rPr lang="en-US" dirty="0"/>
              <a:t> Windows 7</a:t>
            </a:r>
          </a:p>
        </p:txBody>
      </p:sp>
      <p:sp>
        <p:nvSpPr>
          <p:cNvPr id="18435" name="Rectangle 3"/>
          <p:cNvSpPr>
            <a:spLocks noGrp="1" noChangeArrowheads="1"/>
          </p:cNvSpPr>
          <p:nvPr>
            <p:ph type="body" idx="1"/>
          </p:nvPr>
        </p:nvSpPr>
        <p:spPr>
          <a:xfrm>
            <a:off x="366370" y="2206848"/>
            <a:ext cx="8461613" cy="1781828"/>
          </a:xfrm>
        </p:spPr>
        <p:txBody>
          <a:bodyPr/>
          <a:lstStyle/>
          <a:p>
            <a:pPr>
              <a:buClrTx/>
            </a:pPr>
            <a:r>
              <a:rPr lang="fr-FR" dirty="0"/>
              <a:t>Les éléments à prendre en compte</a:t>
            </a:r>
          </a:p>
          <a:p>
            <a:pPr>
              <a:buClrTx/>
            </a:pPr>
            <a:r>
              <a:rPr lang="fr-FR" dirty="0"/>
              <a:t>Identification des chemins de mise à niveau valides </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r>
              <a:rPr lang="fr-FR" sz="2800" dirty="0">
                <a:solidFill>
                  <a:srgbClr val="C00000"/>
                </a:solidFill>
              </a:rPr>
              <a:t>Les éléments à prendre en compte</a:t>
            </a:r>
          </a:p>
        </p:txBody>
      </p:sp>
      <p:sp>
        <p:nvSpPr>
          <p:cNvPr id="4" name="AutoShape 3"/>
          <p:cNvSpPr>
            <a:spLocks noChangeArrowheads="1"/>
          </p:cNvSpPr>
          <p:nvPr/>
        </p:nvSpPr>
        <p:spPr bwMode="auto">
          <a:xfrm>
            <a:off x="192504" y="1075239"/>
            <a:ext cx="4331370" cy="5168900"/>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buFont typeface="Wingdings" pitchFamily="2" charset="2"/>
              <a:buNone/>
              <a:defRPr/>
            </a:pPr>
            <a:r>
              <a:rPr lang="en-US" sz="2400" dirty="0" err="1"/>
              <a:t>Mise</a:t>
            </a:r>
            <a:r>
              <a:rPr lang="en-US" sz="2400" dirty="0"/>
              <a:t> à </a:t>
            </a:r>
            <a:r>
              <a:rPr lang="en-US" sz="2400" dirty="0" err="1"/>
              <a:t>niveau</a:t>
            </a:r>
            <a:r>
              <a:rPr lang="en-US" sz="2400" dirty="0"/>
              <a:t>:</a:t>
            </a:r>
          </a:p>
        </p:txBody>
      </p:sp>
      <p:sp>
        <p:nvSpPr>
          <p:cNvPr id="5" name="AutoShape 4"/>
          <p:cNvSpPr>
            <a:spLocks noChangeArrowheads="1"/>
          </p:cNvSpPr>
          <p:nvPr/>
        </p:nvSpPr>
        <p:spPr bwMode="auto">
          <a:xfrm>
            <a:off x="288759" y="1514475"/>
            <a:ext cx="4074694" cy="4449763"/>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lstStyle/>
          <a:p>
            <a:pPr>
              <a:spcAft>
                <a:spcPts val="600"/>
              </a:spcAft>
              <a:buFont typeface="Wingdings" pitchFamily="2" charset="2"/>
              <a:buChar char="§"/>
            </a:pPr>
            <a:r>
              <a:rPr lang="fr-FR" sz="2400" dirty="0"/>
              <a:t>Aucune application à réinstaller. </a:t>
            </a:r>
          </a:p>
          <a:p>
            <a:pPr>
              <a:spcAft>
                <a:spcPts val="600"/>
              </a:spcAft>
              <a:buFont typeface="Wingdings" pitchFamily="2" charset="2"/>
              <a:buChar char="§"/>
            </a:pPr>
            <a:r>
              <a:rPr lang="fr-FR" sz="2400" dirty="0"/>
              <a:t>Pas d'espace de stockage supplémentaire à prévoir</a:t>
            </a:r>
          </a:p>
          <a:p>
            <a:pPr>
              <a:spcAft>
                <a:spcPts val="600"/>
              </a:spcAft>
              <a:buFont typeface="Wingdings" pitchFamily="2" charset="2"/>
              <a:buChar char="§"/>
            </a:pPr>
            <a:r>
              <a:rPr lang="fr-FR" sz="2400" dirty="0"/>
              <a:t>Inutile de remplacer le matériel informatique existant</a:t>
            </a:r>
          </a:p>
          <a:p>
            <a:pPr>
              <a:spcAft>
                <a:spcPts val="600"/>
              </a:spcAft>
              <a:buFont typeface="Wingdings" pitchFamily="2" charset="2"/>
              <a:buChar char="§"/>
            </a:pPr>
            <a:r>
              <a:rPr lang="fr-FR" sz="2400" dirty="0"/>
              <a:t>Solution recommandée pour un réseau domestique et petite entreprise </a:t>
            </a:r>
          </a:p>
          <a:p>
            <a:pPr marL="231775" indent="-231775">
              <a:lnSpc>
                <a:spcPct val="90000"/>
              </a:lnSpc>
              <a:spcBef>
                <a:spcPct val="40000"/>
              </a:spcBef>
              <a:buSzPct val="90000"/>
              <a:defRPr/>
            </a:pPr>
            <a:endParaRPr lang="en-US" altLang="ja-JP" sz="2000" b="0" dirty="0">
              <a:ea typeface="ＭＳ Ｐゴシック" pitchFamily="34" charset="-128"/>
            </a:endParaRPr>
          </a:p>
        </p:txBody>
      </p:sp>
      <p:sp>
        <p:nvSpPr>
          <p:cNvPr id="8" name="AutoShape 3"/>
          <p:cNvSpPr>
            <a:spLocks noChangeArrowheads="1"/>
          </p:cNvSpPr>
          <p:nvPr/>
        </p:nvSpPr>
        <p:spPr bwMode="auto">
          <a:xfrm>
            <a:off x="4588042" y="1078415"/>
            <a:ext cx="4347411" cy="5167312"/>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buClr>
                <a:srgbClr val="8DACD0"/>
              </a:buClr>
              <a:buSzPct val="70000"/>
              <a:defRPr/>
            </a:pPr>
            <a:r>
              <a:rPr lang="en-US" sz="2400" dirty="0" err="1"/>
              <a:t>Migratation</a:t>
            </a:r>
            <a:r>
              <a:rPr lang="en-US" sz="2400" dirty="0"/>
              <a:t>:</a:t>
            </a:r>
          </a:p>
        </p:txBody>
      </p:sp>
      <p:sp>
        <p:nvSpPr>
          <p:cNvPr id="9" name="AutoShape 4"/>
          <p:cNvSpPr>
            <a:spLocks noChangeArrowheads="1"/>
          </p:cNvSpPr>
          <p:nvPr/>
        </p:nvSpPr>
        <p:spPr bwMode="auto">
          <a:xfrm>
            <a:off x="4883150" y="1517650"/>
            <a:ext cx="3619500" cy="4448175"/>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lstStyle/>
          <a:p>
            <a:pPr marL="231775" indent="-231775">
              <a:lnSpc>
                <a:spcPct val="90000"/>
              </a:lnSpc>
              <a:spcBef>
                <a:spcPct val="40000"/>
              </a:spcBef>
              <a:buSzPct val="90000"/>
              <a:buFont typeface="Arial" charset="0"/>
              <a:buChar char="•"/>
            </a:pPr>
            <a:r>
              <a:rPr lang="en-US" altLang="ja-JP" sz="2400" dirty="0" err="1">
                <a:ea typeface="ＭＳ Ｐゴシック" pitchFamily="34" charset="-128"/>
              </a:rPr>
              <a:t>Réinstallation</a:t>
            </a:r>
            <a:r>
              <a:rPr lang="en-US" altLang="ja-JP" sz="2400" dirty="0">
                <a:ea typeface="ＭＳ Ｐゴシック" pitchFamily="34" charset="-128"/>
              </a:rPr>
              <a:t> </a:t>
            </a:r>
            <a:r>
              <a:rPr lang="en-US" altLang="ja-JP" sz="2400" dirty="0" err="1">
                <a:ea typeface="ＭＳ Ｐゴシック" pitchFamily="34" charset="-128"/>
              </a:rPr>
              <a:t>d’applications</a:t>
            </a:r>
            <a:r>
              <a:rPr lang="en-US" altLang="ja-JP" sz="2400" dirty="0">
                <a:ea typeface="ＭＳ Ｐゴシック" pitchFamily="34" charset="-128"/>
              </a:rPr>
              <a:t> </a:t>
            </a:r>
            <a:r>
              <a:rPr lang="en-US" altLang="ja-JP" sz="2400" dirty="0" err="1">
                <a:ea typeface="ＭＳ Ｐゴシック" pitchFamily="34" charset="-128"/>
              </a:rPr>
              <a:t>nécessaire</a:t>
            </a:r>
            <a:endParaRPr lang="en-US" altLang="ja-JP" sz="2400" dirty="0">
              <a:ea typeface="ＭＳ Ｐゴシック" pitchFamily="34" charset="-128"/>
            </a:endParaRPr>
          </a:p>
          <a:p>
            <a:pPr marL="231775" indent="-231775">
              <a:lnSpc>
                <a:spcPct val="90000"/>
              </a:lnSpc>
              <a:spcBef>
                <a:spcPct val="40000"/>
              </a:spcBef>
              <a:buSzPct val="90000"/>
              <a:buFont typeface="Arial" charset="0"/>
              <a:buChar char="•"/>
            </a:pPr>
            <a:r>
              <a:rPr lang="en-US" altLang="ja-JP" sz="2400" dirty="0" err="1">
                <a:ea typeface="ＭＳ Ｐゴシック" pitchFamily="34" charset="-128"/>
              </a:rPr>
              <a:t>Espace</a:t>
            </a:r>
            <a:r>
              <a:rPr lang="en-US" altLang="ja-JP" sz="2400" dirty="0">
                <a:ea typeface="ＭＳ Ｐゴシック" pitchFamily="34" charset="-128"/>
              </a:rPr>
              <a:t> de </a:t>
            </a:r>
            <a:r>
              <a:rPr lang="en-US" altLang="ja-JP" sz="2400" dirty="0" err="1">
                <a:ea typeface="ＭＳ Ｐゴシック" pitchFamily="34" charset="-128"/>
              </a:rPr>
              <a:t>stockage</a:t>
            </a:r>
            <a:r>
              <a:rPr lang="en-US" altLang="ja-JP" sz="2400" dirty="0">
                <a:ea typeface="ＭＳ Ｐゴシック" pitchFamily="34" charset="-128"/>
              </a:rPr>
              <a:t> </a:t>
            </a:r>
            <a:r>
              <a:rPr lang="en-US" altLang="ja-JP" sz="2400" dirty="0" err="1">
                <a:ea typeface="ＭＳ Ｐゴシック" pitchFamily="34" charset="-128"/>
              </a:rPr>
              <a:t>supplémentaire</a:t>
            </a:r>
            <a:r>
              <a:rPr lang="en-US" altLang="ja-JP" sz="2400" dirty="0">
                <a:ea typeface="ＭＳ Ｐゴシック" pitchFamily="34" charset="-128"/>
              </a:rPr>
              <a:t> à </a:t>
            </a:r>
            <a:r>
              <a:rPr lang="en-US" altLang="ja-JP" sz="2400" dirty="0" err="1">
                <a:ea typeface="ＭＳ Ｐゴシック" pitchFamily="34" charset="-128"/>
              </a:rPr>
              <a:t>prévoir</a:t>
            </a:r>
            <a:endParaRPr lang="en-US" altLang="ja-JP" sz="2400" dirty="0">
              <a:ea typeface="ＭＳ Ｐゴシック" pitchFamily="34" charset="-128"/>
            </a:endParaRPr>
          </a:p>
          <a:p>
            <a:pPr marL="231775" indent="-231775">
              <a:lnSpc>
                <a:spcPct val="90000"/>
              </a:lnSpc>
              <a:spcBef>
                <a:spcPct val="40000"/>
              </a:spcBef>
              <a:buSzPct val="90000"/>
              <a:buFont typeface="Arial" charset="0"/>
              <a:buChar char="•"/>
            </a:pPr>
            <a:r>
              <a:rPr lang="en-US" altLang="ja-JP" sz="2400" dirty="0" err="1">
                <a:ea typeface="ＭＳ Ｐゴシック" pitchFamily="34" charset="-128"/>
              </a:rPr>
              <a:t>Remplacement</a:t>
            </a:r>
            <a:r>
              <a:rPr lang="en-US" altLang="ja-JP" sz="2400" dirty="0">
                <a:ea typeface="ＭＳ Ｐゴシック" pitchFamily="34" charset="-128"/>
              </a:rPr>
              <a:t> du </a:t>
            </a:r>
            <a:r>
              <a:rPr lang="en-US" altLang="ja-JP" sz="2400" dirty="0" err="1">
                <a:ea typeface="ＭＳ Ｐゴシック" pitchFamily="34" charset="-128"/>
              </a:rPr>
              <a:t>matériel</a:t>
            </a:r>
            <a:r>
              <a:rPr lang="en-US" altLang="ja-JP" sz="2400" dirty="0">
                <a:ea typeface="ＭＳ Ｐゴシック" pitchFamily="34" charset="-128"/>
              </a:rPr>
              <a:t> </a:t>
            </a:r>
            <a:r>
              <a:rPr lang="en-US" altLang="ja-JP" sz="2400" dirty="0" err="1">
                <a:ea typeface="ＭＳ Ｐゴシック" pitchFamily="34" charset="-128"/>
              </a:rPr>
              <a:t>informatique</a:t>
            </a:r>
            <a:r>
              <a:rPr lang="en-US" altLang="ja-JP" sz="2400" dirty="0">
                <a:ea typeface="ＭＳ Ｐゴシック" pitchFamily="34" charset="-128"/>
              </a:rPr>
              <a:t> </a:t>
            </a:r>
            <a:r>
              <a:rPr lang="en-US" altLang="ja-JP" sz="2400" dirty="0" err="1">
                <a:ea typeface="ＭＳ Ｐゴシック" pitchFamily="34" charset="-128"/>
              </a:rPr>
              <a:t>existant</a:t>
            </a:r>
            <a:endParaRPr lang="en-US" altLang="ja-JP" sz="2400" dirty="0">
              <a:ea typeface="ＭＳ Ｐゴシック" pitchFamily="34" charset="-128"/>
            </a:endParaRPr>
          </a:p>
          <a:p>
            <a:pPr marL="231775" indent="-231775">
              <a:lnSpc>
                <a:spcPct val="90000"/>
              </a:lnSpc>
              <a:spcBef>
                <a:spcPct val="40000"/>
              </a:spcBef>
              <a:buSzPct val="90000"/>
              <a:buFont typeface="Arial" charset="0"/>
              <a:buChar char="•"/>
            </a:pPr>
            <a:r>
              <a:rPr lang="en-US" altLang="ja-JP" sz="2400" dirty="0">
                <a:ea typeface="ＭＳ Ｐゴシック" pitchFamily="34" charset="-128"/>
              </a:rPr>
              <a:t>Solution </a:t>
            </a:r>
            <a:r>
              <a:rPr lang="en-US" altLang="ja-JP" sz="2400" dirty="0" err="1">
                <a:ea typeface="ＭＳ Ｐゴシック" pitchFamily="34" charset="-128"/>
              </a:rPr>
              <a:t>recommandée</a:t>
            </a:r>
            <a:r>
              <a:rPr lang="en-US" altLang="ja-JP" sz="2400" dirty="0">
                <a:ea typeface="ＭＳ Ｐゴシック" pitchFamily="34" charset="-128"/>
              </a:rPr>
              <a:t> pour </a:t>
            </a:r>
            <a:r>
              <a:rPr lang="en-US" altLang="ja-JP" sz="2400" dirty="0" err="1">
                <a:ea typeface="ＭＳ Ｐゴシック" pitchFamily="34" charset="-128"/>
              </a:rPr>
              <a:t>une</a:t>
            </a:r>
            <a:r>
              <a:rPr lang="en-US" altLang="ja-JP" sz="2400" dirty="0">
                <a:ea typeface="ＭＳ Ｐゴシック" pitchFamily="34" charset="-128"/>
              </a:rPr>
              <a:t> </a:t>
            </a:r>
            <a:r>
              <a:rPr lang="en-US" altLang="ja-JP" sz="2400" dirty="0" err="1">
                <a:ea typeface="ＭＳ Ｐゴシック" pitchFamily="34" charset="-128"/>
              </a:rPr>
              <a:t>grande</a:t>
            </a:r>
            <a:r>
              <a:rPr lang="en-US" altLang="ja-JP" sz="2400" dirty="0">
                <a:ea typeface="ＭＳ Ｐゴシック" pitchFamily="34" charset="-128"/>
              </a:rPr>
              <a:t> </a:t>
            </a:r>
            <a:r>
              <a:rPr lang="en-US" altLang="ja-JP" sz="2400" dirty="0" err="1">
                <a:ea typeface="ＭＳ Ｐゴシック" pitchFamily="34" charset="-128"/>
              </a:rPr>
              <a:t>entreprise</a:t>
            </a:r>
            <a:endParaRPr lang="en-US" altLang="ja-JP" sz="2400" dirty="0">
              <a:ea typeface="ＭＳ Ｐゴシック" pitchFamily="34"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Autofit/>
          </a:bodyPr>
          <a:lstStyle/>
          <a:p>
            <a:r>
              <a:rPr lang="fr-FR" sz="2800" dirty="0">
                <a:solidFill>
                  <a:srgbClr val="C00000"/>
                </a:solidFill>
              </a:rPr>
              <a:t>Identification des chemins de mise à niveau valides</a:t>
            </a:r>
          </a:p>
        </p:txBody>
      </p:sp>
      <p:sp>
        <p:nvSpPr>
          <p:cNvPr id="17" name="AutoShape 17"/>
          <p:cNvSpPr>
            <a:spLocks noChangeArrowheads="1"/>
          </p:cNvSpPr>
          <p:nvPr/>
        </p:nvSpPr>
        <p:spPr bwMode="auto">
          <a:xfrm>
            <a:off x="811213" y="1486132"/>
            <a:ext cx="2881312" cy="1506538"/>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spAutoFit/>
          </a:bodyPr>
          <a:lstStyle/>
          <a:p>
            <a:pPr>
              <a:spcBef>
                <a:spcPts val="0"/>
              </a:spcBef>
              <a:defRPr/>
            </a:pPr>
            <a:r>
              <a:rPr lang="en-GB" dirty="0"/>
              <a:t>Windows 95</a:t>
            </a:r>
          </a:p>
          <a:p>
            <a:pPr>
              <a:spcBef>
                <a:spcPts val="0"/>
              </a:spcBef>
              <a:defRPr/>
            </a:pPr>
            <a:r>
              <a:rPr lang="en-GB" dirty="0"/>
              <a:t>Windows 98</a:t>
            </a:r>
          </a:p>
          <a:p>
            <a:pPr>
              <a:spcBef>
                <a:spcPts val="0"/>
              </a:spcBef>
              <a:defRPr/>
            </a:pPr>
            <a:r>
              <a:rPr lang="en-GB" dirty="0"/>
              <a:t>Windows ME</a:t>
            </a:r>
          </a:p>
          <a:p>
            <a:pPr>
              <a:spcBef>
                <a:spcPts val="0"/>
              </a:spcBef>
              <a:defRPr/>
            </a:pPr>
            <a:r>
              <a:rPr lang="en-GB" dirty="0"/>
              <a:t>Windows NT4</a:t>
            </a:r>
          </a:p>
          <a:p>
            <a:pPr>
              <a:spcBef>
                <a:spcPts val="0"/>
              </a:spcBef>
              <a:defRPr/>
            </a:pPr>
            <a:r>
              <a:rPr lang="en-GB" dirty="0"/>
              <a:t>Windows 2000</a:t>
            </a:r>
          </a:p>
        </p:txBody>
      </p:sp>
      <p:sp>
        <p:nvSpPr>
          <p:cNvPr id="6" name="AutoShape 17"/>
          <p:cNvSpPr>
            <a:spLocks noChangeArrowheads="1"/>
          </p:cNvSpPr>
          <p:nvPr/>
        </p:nvSpPr>
        <p:spPr bwMode="auto">
          <a:xfrm>
            <a:off x="750888" y="5465995"/>
            <a:ext cx="3382962" cy="349250"/>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spAutoFit/>
          </a:bodyPr>
          <a:lstStyle/>
          <a:p>
            <a:pPr>
              <a:lnSpc>
                <a:spcPct val="90000"/>
              </a:lnSpc>
              <a:spcBef>
                <a:spcPct val="40000"/>
              </a:spcBef>
              <a:defRPr/>
            </a:pPr>
            <a:r>
              <a:rPr lang="en-GB" dirty="0"/>
              <a:t>Windows Vista SP1, SP2</a:t>
            </a:r>
            <a:endParaRPr lang="en-US" dirty="0"/>
          </a:p>
        </p:txBody>
      </p:sp>
      <p:pic>
        <p:nvPicPr>
          <p:cNvPr id="18439" name="Picture 20"/>
          <p:cNvPicPr>
            <a:picLocks noChangeAspect="1" noChangeArrowheads="1"/>
          </p:cNvPicPr>
          <p:nvPr/>
        </p:nvPicPr>
        <p:blipFill>
          <a:blip r:embed="rId3"/>
          <a:srcRect/>
          <a:stretch>
            <a:fillRect/>
          </a:stretch>
        </p:blipFill>
        <p:spPr bwMode="auto">
          <a:xfrm>
            <a:off x="5938838" y="4130907"/>
            <a:ext cx="2682875" cy="1700213"/>
          </a:xfrm>
          <a:prstGeom prst="rect">
            <a:avLst/>
          </a:prstGeom>
          <a:noFill/>
          <a:ln w="9525" algn="ctr">
            <a:noFill/>
            <a:miter lim="800000"/>
            <a:headEnd/>
            <a:tailEnd/>
          </a:ln>
        </p:spPr>
      </p:pic>
      <p:sp>
        <p:nvSpPr>
          <p:cNvPr id="18440" name="Freeform 26"/>
          <p:cNvSpPr>
            <a:spLocks/>
          </p:cNvSpPr>
          <p:nvPr/>
        </p:nvSpPr>
        <p:spPr bwMode="auto">
          <a:xfrm rot="5400000">
            <a:off x="5257801" y="3597507"/>
            <a:ext cx="366712" cy="2560637"/>
          </a:xfrm>
          <a:custGeom>
            <a:avLst/>
            <a:gdLst>
              <a:gd name="T0" fmla="*/ 2147483647 w 208"/>
              <a:gd name="T1" fmla="*/ 2147483647 h 844"/>
              <a:gd name="T2" fmla="*/ 2147483647 w 208"/>
              <a:gd name="T3" fmla="*/ 2147483647 h 844"/>
              <a:gd name="T4" fmla="*/ 2147483647 w 208"/>
              <a:gd name="T5" fmla="*/ 2147483647 h 844"/>
              <a:gd name="T6" fmla="*/ 2147483647 w 208"/>
              <a:gd name="T7" fmla="*/ 2147483647 h 844"/>
              <a:gd name="T8" fmla="*/ 2147483647 w 208"/>
              <a:gd name="T9" fmla="*/ 2147483647 h 844"/>
              <a:gd name="T10" fmla="*/ 2147483647 w 208"/>
              <a:gd name="T11" fmla="*/ 0 h 844"/>
              <a:gd name="T12" fmla="*/ 2147483647 w 208"/>
              <a:gd name="T13" fmla="*/ 2147483647 h 844"/>
              <a:gd name="T14" fmla="*/ 2147483647 w 208"/>
              <a:gd name="T15" fmla="*/ 2147483647 h 844"/>
              <a:gd name="T16" fmla="*/ 2147483647 w 208"/>
              <a:gd name="T17" fmla="*/ 2147483647 h 844"/>
              <a:gd name="T18" fmla="*/ 0 w 208"/>
              <a:gd name="T19" fmla="*/ 2147483647 h 844"/>
              <a:gd name="T20" fmla="*/ 2147483647 w 208"/>
              <a:gd name="T21" fmla="*/ 2147483647 h 844"/>
              <a:gd name="T22" fmla="*/ 2147483647 w 208"/>
              <a:gd name="T23" fmla="*/ 2147483647 h 844"/>
              <a:gd name="T24" fmla="*/ 2147483647 w 208"/>
              <a:gd name="T25" fmla="*/ 2147483647 h 8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844"/>
              <a:gd name="T41" fmla="*/ 208 w 208"/>
              <a:gd name="T42" fmla="*/ 844 h 8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844">
                <a:moveTo>
                  <a:pt x="148" y="273"/>
                </a:moveTo>
                <a:lnTo>
                  <a:pt x="177" y="277"/>
                </a:lnTo>
                <a:lnTo>
                  <a:pt x="208" y="283"/>
                </a:lnTo>
                <a:lnTo>
                  <a:pt x="154" y="141"/>
                </a:lnTo>
                <a:lnTo>
                  <a:pt x="116" y="44"/>
                </a:lnTo>
                <a:lnTo>
                  <a:pt x="99" y="0"/>
                </a:lnTo>
                <a:lnTo>
                  <a:pt x="95" y="12"/>
                </a:lnTo>
                <a:lnTo>
                  <a:pt x="83" y="44"/>
                </a:lnTo>
                <a:lnTo>
                  <a:pt x="50" y="142"/>
                </a:lnTo>
                <a:lnTo>
                  <a:pt x="0" y="283"/>
                </a:lnTo>
                <a:lnTo>
                  <a:pt x="58" y="273"/>
                </a:lnTo>
                <a:lnTo>
                  <a:pt x="99" y="844"/>
                </a:lnTo>
                <a:lnTo>
                  <a:pt x="148" y="273"/>
                </a:lnTo>
                <a:close/>
              </a:path>
            </a:pathLst>
          </a:custGeom>
          <a:solidFill>
            <a:srgbClr val="FF0000">
              <a:alpha val="74901"/>
            </a:srgbClr>
          </a:solidFill>
          <a:ln w="9525">
            <a:noFill/>
            <a:round/>
            <a:headEnd/>
            <a:tailEnd/>
          </a:ln>
        </p:spPr>
        <p:txBody>
          <a:bodyPr/>
          <a:lstStyle/>
          <a:p>
            <a:endParaRPr lang="fr-FR"/>
          </a:p>
        </p:txBody>
      </p:sp>
      <p:sp>
        <p:nvSpPr>
          <p:cNvPr id="20" name="AutoShape 17"/>
          <p:cNvSpPr>
            <a:spLocks noChangeArrowheads="1"/>
          </p:cNvSpPr>
          <p:nvPr/>
        </p:nvSpPr>
        <p:spPr bwMode="auto">
          <a:xfrm>
            <a:off x="6362700" y="5465995"/>
            <a:ext cx="1644650" cy="347662"/>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spAutoFit/>
          </a:bodyPr>
          <a:lstStyle/>
          <a:p>
            <a:pPr>
              <a:lnSpc>
                <a:spcPct val="90000"/>
              </a:lnSpc>
              <a:spcBef>
                <a:spcPct val="40000"/>
              </a:spcBef>
              <a:defRPr/>
            </a:pPr>
            <a:r>
              <a:rPr lang="en-GB" dirty="0"/>
              <a:t>Windows 7</a:t>
            </a:r>
            <a:endParaRPr lang="en-US" dirty="0"/>
          </a:p>
        </p:txBody>
      </p:sp>
      <p:sp>
        <p:nvSpPr>
          <p:cNvPr id="22" name="AutoShape 34"/>
          <p:cNvSpPr>
            <a:spLocks noGrp="1" noChangeArrowheads="1"/>
          </p:cNvSpPr>
          <p:nvPr>
            <p:ph type="body" idx="1"/>
          </p:nvPr>
        </p:nvSpPr>
        <p:spPr>
          <a:xfrm>
            <a:off x="4546599" y="2067157"/>
            <a:ext cx="3982545" cy="707587"/>
          </a:xfrm>
          <a:prstGeom prst="roundRect">
            <a:avLst>
              <a:gd name="adj" fmla="val 4167"/>
            </a:avLst>
          </a:prstGeom>
          <a:gradFill rotWithShape="1">
            <a:gsLst>
              <a:gs pos="0">
                <a:srgbClr val="E4CD9A"/>
              </a:gs>
              <a:gs pos="100000">
                <a:srgbClr val="EEEFD7"/>
              </a:gs>
            </a:gsLst>
            <a:lin ang="2700000" scaled="1"/>
          </a:gradFill>
          <a:ln algn="ctr">
            <a:solidFill>
              <a:srgbClr val="4D4D4D"/>
            </a:solidFill>
            <a:round/>
          </a:ln>
          <a:effectLst>
            <a:outerShdw dist="35921" dir="2700000" algn="ctr" rotWithShape="0">
              <a:srgbClr val="AFAFAF"/>
            </a:outerShdw>
          </a:effectLst>
        </p:spPr>
        <p:txBody>
          <a:bodyPr tIns="137160" bIns="137160" anchor="ctr">
            <a:noAutofit/>
          </a:bodyPr>
          <a:lstStyle/>
          <a:p>
            <a:pPr marL="0" indent="-231775" algn="ctr">
              <a:spcBef>
                <a:spcPts val="0"/>
              </a:spcBef>
              <a:buClr>
                <a:srgbClr val="8DACD0"/>
              </a:buClr>
              <a:buSzPct val="70000"/>
              <a:buFontTx/>
              <a:buNone/>
              <a:defRPr/>
            </a:pPr>
            <a:r>
              <a:rPr lang="en-GB" sz="2000" b="1" u="sng" dirty="0"/>
              <a:t>Nouvelle installation </a:t>
            </a:r>
            <a:r>
              <a:rPr lang="en-GB" sz="2000" b="1" u="sng" dirty="0" err="1"/>
              <a:t>uniquemment</a:t>
            </a:r>
            <a:r>
              <a:rPr lang="en-GB" sz="2000" b="1" u="sng" dirty="0"/>
              <a:t> </a:t>
            </a:r>
          </a:p>
        </p:txBody>
      </p:sp>
      <p:sp>
        <p:nvSpPr>
          <p:cNvPr id="18443" name="Right Brace 22"/>
          <p:cNvSpPr>
            <a:spLocks/>
          </p:cNvSpPr>
          <p:nvPr/>
        </p:nvSpPr>
        <p:spPr bwMode="auto">
          <a:xfrm>
            <a:off x="3922713" y="1503595"/>
            <a:ext cx="520700" cy="1501775"/>
          </a:xfrm>
          <a:prstGeom prst="rightBrace">
            <a:avLst>
              <a:gd name="adj1" fmla="val 8305"/>
              <a:gd name="adj2" fmla="val 50000"/>
            </a:avLst>
          </a:prstGeom>
          <a:noFill/>
          <a:ln w="41275" algn="ctr">
            <a:solidFill>
              <a:srgbClr val="FF0000"/>
            </a:solidFill>
            <a:round/>
            <a:headEnd/>
            <a:tailEnd/>
          </a:ln>
        </p:spPr>
        <p:txBody>
          <a:bodyPr lIns="182880" rIns="182880" anchor="ctr"/>
          <a:lstStyle/>
          <a:p>
            <a:pPr algn="ctr" eaLnBrk="0" hangingPunct="0"/>
            <a:endParaRPr lang="fr-FR"/>
          </a:p>
        </p:txBody>
      </p:sp>
      <p:pic>
        <p:nvPicPr>
          <p:cNvPr id="18444" name="Picture 24" descr="Computer_Desktop+Keyboard"/>
          <p:cNvPicPr>
            <a:picLocks noChangeAspect="1" noChangeArrowheads="1"/>
          </p:cNvPicPr>
          <p:nvPr/>
        </p:nvPicPr>
        <p:blipFill>
          <a:blip r:embed="rId4"/>
          <a:srcRect/>
          <a:stretch>
            <a:fillRect/>
          </a:stretch>
        </p:blipFill>
        <p:spPr bwMode="auto">
          <a:xfrm>
            <a:off x="912813" y="4272195"/>
            <a:ext cx="1082675" cy="1212850"/>
          </a:xfrm>
          <a:prstGeom prst="rect">
            <a:avLst/>
          </a:prstGeom>
          <a:noFill/>
          <a:ln w="9525">
            <a:noFill/>
            <a:miter lim="800000"/>
            <a:headEnd/>
            <a:tailEnd/>
          </a:ln>
        </p:spPr>
      </p:pic>
      <p:sp>
        <p:nvSpPr>
          <p:cNvPr id="18447" name="Right Brace 22"/>
          <p:cNvSpPr>
            <a:spLocks/>
          </p:cNvSpPr>
          <p:nvPr/>
        </p:nvSpPr>
        <p:spPr bwMode="auto">
          <a:xfrm>
            <a:off x="3925888" y="3321282"/>
            <a:ext cx="519112" cy="584200"/>
          </a:xfrm>
          <a:prstGeom prst="rightBrace">
            <a:avLst>
              <a:gd name="adj1" fmla="val 8326"/>
              <a:gd name="adj2" fmla="val 50000"/>
            </a:avLst>
          </a:prstGeom>
          <a:noFill/>
          <a:ln w="41275" algn="ctr">
            <a:solidFill>
              <a:srgbClr val="FF0000"/>
            </a:solidFill>
            <a:round/>
            <a:headEnd/>
            <a:tailEnd/>
          </a:ln>
        </p:spPr>
        <p:txBody>
          <a:bodyPr lIns="182880" rIns="182880" anchor="ctr"/>
          <a:lstStyle/>
          <a:p>
            <a:pPr algn="ctr" eaLnBrk="0" hangingPunct="0"/>
            <a:endParaRPr lang="fr-FR"/>
          </a:p>
        </p:txBody>
      </p:sp>
      <p:sp>
        <p:nvSpPr>
          <p:cNvPr id="19" name="AutoShape 34"/>
          <p:cNvSpPr>
            <a:spLocks noChangeArrowheads="1"/>
          </p:cNvSpPr>
          <p:nvPr/>
        </p:nvSpPr>
        <p:spPr bwMode="auto">
          <a:xfrm>
            <a:off x="4563954" y="3137350"/>
            <a:ext cx="1553067" cy="819807"/>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lIns="0" tIns="137160" rIns="0" bIns="137160" anchor="ctr"/>
          <a:lstStyle/>
          <a:p>
            <a:pPr indent="-231775" algn="ctr" eaLnBrk="1" hangingPunct="1">
              <a:lnSpc>
                <a:spcPct val="90000"/>
              </a:lnSpc>
              <a:spcBef>
                <a:spcPts val="0"/>
              </a:spcBef>
              <a:buClr>
                <a:srgbClr val="8DACD0"/>
              </a:buClr>
              <a:buSzPct val="70000"/>
              <a:defRPr/>
            </a:pPr>
            <a:r>
              <a:rPr lang="en-GB" dirty="0">
                <a:solidFill>
                  <a:schemeClr val="tx1"/>
                </a:solidFill>
                <a:latin typeface="+mn-lt"/>
              </a:rPr>
              <a:t>Nouvelle installation</a:t>
            </a:r>
          </a:p>
        </p:txBody>
      </p:sp>
      <p:sp>
        <p:nvSpPr>
          <p:cNvPr id="21" name="AutoShape 34"/>
          <p:cNvSpPr>
            <a:spLocks noChangeArrowheads="1"/>
          </p:cNvSpPr>
          <p:nvPr/>
        </p:nvSpPr>
        <p:spPr bwMode="auto">
          <a:xfrm>
            <a:off x="2012949" y="4382828"/>
            <a:ext cx="2732471" cy="1008992"/>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rIns="0" bIns="137160" anchor="ctr"/>
          <a:lstStyle/>
          <a:p>
            <a:pPr indent="-231775" eaLnBrk="1" hangingPunct="1">
              <a:lnSpc>
                <a:spcPct val="90000"/>
              </a:lnSpc>
              <a:spcBef>
                <a:spcPts val="0"/>
              </a:spcBef>
              <a:buClr>
                <a:srgbClr val="8DACD0"/>
              </a:buClr>
              <a:buSzPct val="70000"/>
              <a:buFont typeface="Arial" pitchFamily="34" charset="0"/>
              <a:buChar char="•"/>
              <a:defRPr/>
            </a:pPr>
            <a:r>
              <a:rPr lang="en-GB" dirty="0" err="1">
                <a:solidFill>
                  <a:schemeClr val="tx1"/>
                </a:solidFill>
              </a:rPr>
              <a:t>Mise</a:t>
            </a:r>
            <a:r>
              <a:rPr lang="en-GB" dirty="0">
                <a:solidFill>
                  <a:schemeClr val="tx1"/>
                </a:solidFill>
              </a:rPr>
              <a:t> à </a:t>
            </a:r>
            <a:r>
              <a:rPr lang="en-GB" dirty="0" err="1">
                <a:solidFill>
                  <a:schemeClr val="tx1"/>
                </a:solidFill>
              </a:rPr>
              <a:t>niveau</a:t>
            </a:r>
            <a:endParaRPr lang="en-GB" dirty="0">
              <a:solidFill>
                <a:schemeClr val="tx1"/>
              </a:solidFill>
            </a:endParaRPr>
          </a:p>
          <a:p>
            <a:pPr indent="-231775" eaLnBrk="1" hangingPunct="1">
              <a:lnSpc>
                <a:spcPct val="90000"/>
              </a:lnSpc>
              <a:spcBef>
                <a:spcPts val="0"/>
              </a:spcBef>
              <a:buClr>
                <a:srgbClr val="8DACD0"/>
              </a:buClr>
              <a:buSzPct val="70000"/>
              <a:buFont typeface="Arial" pitchFamily="34" charset="0"/>
              <a:buChar char="•"/>
              <a:defRPr/>
            </a:pPr>
            <a:r>
              <a:rPr lang="en-GB" dirty="0">
                <a:solidFill>
                  <a:schemeClr val="tx1"/>
                </a:solidFill>
              </a:rPr>
              <a:t>Nouvelle installation</a:t>
            </a:r>
          </a:p>
          <a:p>
            <a:pPr indent="-231775" eaLnBrk="1" hangingPunct="1">
              <a:lnSpc>
                <a:spcPct val="90000"/>
              </a:lnSpc>
              <a:spcBef>
                <a:spcPts val="0"/>
              </a:spcBef>
              <a:buClr>
                <a:srgbClr val="8DACD0"/>
              </a:buClr>
              <a:buSzPct val="70000"/>
              <a:buFont typeface="Arial" pitchFamily="34" charset="0"/>
              <a:buChar char="•"/>
              <a:defRPr/>
            </a:pPr>
            <a:r>
              <a:rPr lang="en-GB" dirty="0">
                <a:solidFill>
                  <a:schemeClr val="tx1"/>
                </a:solidFill>
              </a:rPr>
              <a:t>Migration</a:t>
            </a:r>
          </a:p>
        </p:txBody>
      </p:sp>
      <p:sp>
        <p:nvSpPr>
          <p:cNvPr id="23" name="AutoShape 34"/>
          <p:cNvSpPr>
            <a:spLocks noChangeArrowheads="1"/>
          </p:cNvSpPr>
          <p:nvPr/>
        </p:nvSpPr>
        <p:spPr bwMode="auto">
          <a:xfrm>
            <a:off x="6542087" y="3058524"/>
            <a:ext cx="1529857" cy="88286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lIns="0" tIns="137160" rIns="0" bIns="137160" anchor="ctr"/>
          <a:lstStyle/>
          <a:p>
            <a:pPr indent="-231775" algn="ctr" eaLnBrk="0" hangingPunct="0">
              <a:lnSpc>
                <a:spcPct val="90000"/>
              </a:lnSpc>
              <a:buClr>
                <a:srgbClr val="8DACD0"/>
              </a:buClr>
              <a:buSzPct val="70000"/>
            </a:pPr>
            <a:r>
              <a:rPr lang="en-GB" sz="1600" b="0" dirty="0"/>
              <a:t> </a:t>
            </a:r>
            <a:r>
              <a:rPr lang="en-GB" dirty="0">
                <a:solidFill>
                  <a:schemeClr val="tx1"/>
                </a:solidFill>
                <a:latin typeface="+mn-lt"/>
              </a:rPr>
              <a:t>Migration</a:t>
            </a:r>
          </a:p>
        </p:txBody>
      </p:sp>
      <p:sp>
        <p:nvSpPr>
          <p:cNvPr id="24" name="Plus 23"/>
          <p:cNvSpPr>
            <a:spLocks/>
          </p:cNvSpPr>
          <p:nvPr/>
        </p:nvSpPr>
        <p:spPr bwMode="auto">
          <a:xfrm>
            <a:off x="6089650" y="3416532"/>
            <a:ext cx="365125" cy="366713"/>
          </a:xfrm>
          <a:custGeom>
            <a:avLst/>
            <a:gdLst>
              <a:gd name="T0" fmla="*/ 48397 w 365125"/>
              <a:gd name="T1" fmla="*/ 140418 h 366713"/>
              <a:gd name="T2" fmla="*/ 139624 w 365125"/>
              <a:gd name="T3" fmla="*/ 140418 h 366713"/>
              <a:gd name="T4" fmla="*/ 139624 w 365125"/>
              <a:gd name="T5" fmla="*/ 48608 h 366713"/>
              <a:gd name="T6" fmla="*/ 225501 w 365125"/>
              <a:gd name="T7" fmla="*/ 48608 h 366713"/>
              <a:gd name="T8" fmla="*/ 225501 w 365125"/>
              <a:gd name="T9" fmla="*/ 140418 h 366713"/>
              <a:gd name="T10" fmla="*/ 316728 w 365125"/>
              <a:gd name="T11" fmla="*/ 140418 h 366713"/>
              <a:gd name="T12" fmla="*/ 316728 w 365125"/>
              <a:gd name="T13" fmla="*/ 226295 h 366713"/>
              <a:gd name="T14" fmla="*/ 225501 w 365125"/>
              <a:gd name="T15" fmla="*/ 226295 h 366713"/>
              <a:gd name="T16" fmla="*/ 225501 w 365125"/>
              <a:gd name="T17" fmla="*/ 318105 h 366713"/>
              <a:gd name="T18" fmla="*/ 139624 w 365125"/>
              <a:gd name="T19" fmla="*/ 318105 h 366713"/>
              <a:gd name="T20" fmla="*/ 139624 w 365125"/>
              <a:gd name="T21" fmla="*/ 226295 h 366713"/>
              <a:gd name="T22" fmla="*/ 48397 w 365125"/>
              <a:gd name="T23" fmla="*/ 226295 h 366713"/>
              <a:gd name="T24" fmla="*/ 48397 w 365125"/>
              <a:gd name="T25" fmla="*/ 140418 h 3667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5125" h="366713">
                <a:moveTo>
                  <a:pt x="48397" y="140418"/>
                </a:moveTo>
                <a:lnTo>
                  <a:pt x="139624" y="140418"/>
                </a:lnTo>
                <a:lnTo>
                  <a:pt x="139624" y="48608"/>
                </a:lnTo>
                <a:lnTo>
                  <a:pt x="225501" y="48608"/>
                </a:lnTo>
                <a:lnTo>
                  <a:pt x="225501" y="140418"/>
                </a:lnTo>
                <a:lnTo>
                  <a:pt x="316728" y="140418"/>
                </a:lnTo>
                <a:lnTo>
                  <a:pt x="316728" y="226295"/>
                </a:lnTo>
                <a:lnTo>
                  <a:pt x="225501" y="226295"/>
                </a:lnTo>
                <a:lnTo>
                  <a:pt x="225501" y="318105"/>
                </a:lnTo>
                <a:lnTo>
                  <a:pt x="139624" y="318105"/>
                </a:lnTo>
                <a:lnTo>
                  <a:pt x="139624" y="226295"/>
                </a:lnTo>
                <a:lnTo>
                  <a:pt x="48397" y="226295"/>
                </a:lnTo>
                <a:lnTo>
                  <a:pt x="48397" y="140418"/>
                </a:lnTo>
                <a:close/>
              </a:path>
            </a:pathLst>
          </a:custGeom>
          <a:solidFill>
            <a:srgbClr val="FF0000"/>
          </a:solidFill>
          <a:ln w="9525" cap="flat" cmpd="sng" algn="ctr">
            <a:noFill/>
            <a:prstDash val="solid"/>
            <a:round/>
            <a:headEnd type="none" w="med" len="med"/>
            <a:tailEnd type="none" w="med" len="med"/>
          </a:ln>
          <a:effectLst>
            <a:outerShdw dist="35921" dir="2700000" algn="ctr" rotWithShape="0">
              <a:srgbClr val="AFAFAF"/>
            </a:outerShdw>
          </a:effectLst>
        </p:spPr>
        <p:txBody>
          <a:bodyPr lIns="182880" rIns="182880" anchor="ctr"/>
          <a:lstStyle/>
          <a:p>
            <a:pPr>
              <a:defRPr/>
            </a:pPr>
            <a:endParaRPr lang="en-US" dirty="0"/>
          </a:p>
        </p:txBody>
      </p:sp>
      <p:pic>
        <p:nvPicPr>
          <p:cNvPr id="18452" name="Picture 24" descr="Computer_Desktop+Keyboard"/>
          <p:cNvPicPr>
            <a:picLocks noChangeAspect="1" noChangeArrowheads="1"/>
          </p:cNvPicPr>
          <p:nvPr/>
        </p:nvPicPr>
        <p:blipFill>
          <a:blip r:embed="rId4"/>
          <a:srcRect/>
          <a:stretch>
            <a:fillRect/>
          </a:stretch>
        </p:blipFill>
        <p:spPr bwMode="auto">
          <a:xfrm>
            <a:off x="2908300" y="1598845"/>
            <a:ext cx="1082675" cy="1212850"/>
          </a:xfrm>
          <a:prstGeom prst="rect">
            <a:avLst/>
          </a:prstGeom>
          <a:noFill/>
          <a:ln w="9525">
            <a:noFill/>
            <a:miter lim="800000"/>
            <a:headEnd/>
            <a:tailEnd/>
          </a:ln>
        </p:spPr>
      </p:pic>
      <p:sp>
        <p:nvSpPr>
          <p:cNvPr id="25" name="AutoShape 17"/>
          <p:cNvSpPr>
            <a:spLocks noChangeArrowheads="1"/>
          </p:cNvSpPr>
          <p:nvPr/>
        </p:nvSpPr>
        <p:spPr bwMode="auto">
          <a:xfrm>
            <a:off x="831850" y="3284770"/>
            <a:ext cx="2878138" cy="721578"/>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anchor="ctr">
            <a:spAutoFit/>
          </a:bodyPr>
          <a:lstStyle/>
          <a:p>
            <a:pPr>
              <a:spcBef>
                <a:spcPts val="0"/>
              </a:spcBef>
              <a:defRPr/>
            </a:pPr>
            <a:r>
              <a:rPr lang="en-GB" dirty="0"/>
              <a:t>Windows XP</a:t>
            </a:r>
          </a:p>
          <a:p>
            <a:pPr>
              <a:spcBef>
                <a:spcPts val="0"/>
              </a:spcBef>
              <a:defRPr/>
            </a:pPr>
            <a:r>
              <a:rPr lang="en-GB" dirty="0"/>
              <a:t>Windows Vista</a:t>
            </a:r>
          </a:p>
        </p:txBody>
      </p:sp>
      <p:grpSp>
        <p:nvGrpSpPr>
          <p:cNvPr id="2" name="Group 234"/>
          <p:cNvGrpSpPr>
            <a:grpSpLocks/>
          </p:cNvGrpSpPr>
          <p:nvPr/>
        </p:nvGrpSpPr>
        <p:grpSpPr bwMode="auto">
          <a:xfrm>
            <a:off x="882650" y="6059488"/>
            <a:ext cx="304800" cy="244475"/>
            <a:chOff x="768" y="3096"/>
            <a:chExt cx="240" cy="192"/>
          </a:xfrm>
        </p:grpSpPr>
        <p:sp>
          <p:nvSpPr>
            <p:cNvPr id="21532" name="Oval 23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40" name="Rectangle 236"/>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GB" dirty="0"/>
            </a:p>
          </p:txBody>
        </p:sp>
      </p:grpSp>
      <p:grpSp>
        <p:nvGrpSpPr>
          <p:cNvPr id="3" name="Group 229"/>
          <p:cNvGrpSpPr>
            <a:grpSpLocks/>
          </p:cNvGrpSpPr>
          <p:nvPr/>
        </p:nvGrpSpPr>
        <p:grpSpPr bwMode="auto">
          <a:xfrm>
            <a:off x="371475" y="5969000"/>
            <a:ext cx="914400" cy="425450"/>
            <a:chOff x="384" y="3024"/>
            <a:chExt cx="720" cy="336"/>
          </a:xfrm>
        </p:grpSpPr>
        <p:sp>
          <p:nvSpPr>
            <p:cNvPr id="42" name="Oval 23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GB" dirty="0"/>
            </a:p>
          </p:txBody>
        </p:sp>
        <p:grpSp>
          <p:nvGrpSpPr>
            <p:cNvPr id="4" name="Group 231"/>
            <p:cNvGrpSpPr>
              <a:grpSpLocks/>
            </p:cNvGrpSpPr>
            <p:nvPr/>
          </p:nvGrpSpPr>
          <p:grpSpPr bwMode="auto">
            <a:xfrm>
              <a:off x="480" y="3096"/>
              <a:ext cx="240" cy="192"/>
              <a:chOff x="480" y="3096"/>
              <a:chExt cx="240" cy="192"/>
            </a:xfrm>
          </p:grpSpPr>
          <p:sp>
            <p:nvSpPr>
              <p:cNvPr id="21530" name="Oval 23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45" name="Freeform 233"/>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 name="T12" fmla="*/ 0 w 432"/>
                  <a:gd name="T13" fmla="*/ 0 h 576"/>
                  <a:gd name="T14" fmla="*/ 432 w 432"/>
                  <a:gd name="T15" fmla="*/ 576 h 576"/>
                </a:gdLst>
                <a:ahLst/>
                <a:cxnLst>
                  <a:cxn ang="T8">
                    <a:pos x="T0" y="T1"/>
                  </a:cxn>
                  <a:cxn ang="T9">
                    <a:pos x="T2" y="T3"/>
                  </a:cxn>
                  <a:cxn ang="T10">
                    <a:pos x="T4" y="T5"/>
                  </a:cxn>
                  <a:cxn ang="T11">
                    <a:pos x="T6" y="T7"/>
                  </a:cxn>
                </a:cxnLst>
                <a:rect l="T12" t="T13" r="T14" b="T15"/>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dirty="0"/>
              </a:p>
            </p:txBody>
          </p:sp>
        </p:grpSp>
      </p:grpSp>
      <p:grpSp>
        <p:nvGrpSpPr>
          <p:cNvPr id="5" name="Group 238"/>
          <p:cNvGrpSpPr>
            <a:grpSpLocks/>
          </p:cNvGrpSpPr>
          <p:nvPr/>
        </p:nvGrpSpPr>
        <p:grpSpPr bwMode="auto">
          <a:xfrm>
            <a:off x="879475" y="6053138"/>
            <a:ext cx="304800" cy="244475"/>
            <a:chOff x="768" y="3096"/>
            <a:chExt cx="240" cy="192"/>
          </a:xfrm>
        </p:grpSpPr>
        <p:sp>
          <p:nvSpPr>
            <p:cNvPr id="21526" name="Oval 239"/>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48" name="Rectangle 240"/>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GB"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4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84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4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439"/>
                                        </p:tgtEl>
                                        <p:attrNameLst>
                                          <p:attrName>style.visibility</p:attrName>
                                        </p:attrNameLst>
                                      </p:cBhvr>
                                      <p:to>
                                        <p:strVal val="visible"/>
                                      </p:to>
                                    </p:set>
                                  </p:childTnLst>
                                </p:cTn>
                              </p:par>
                            </p:childTnLst>
                          </p:cTn>
                        </p:par>
                        <p:par>
                          <p:cTn id="41" fill="hold" nodeType="afterGroup">
                            <p:stCondLst>
                              <p:cond delay="0"/>
                            </p:stCondLst>
                            <p:childTnLst>
                              <p:par>
                                <p:cTn id="42" presetID="1" presetClass="entr" presetSubtype="0" fill="hold" nodeType="afterEffect">
                                  <p:stCondLst>
                                    <p:cond delay="0"/>
                                  </p:stCondLst>
                                  <p:childTnLst>
                                    <p:set>
                                      <p:cBhvr>
                                        <p:cTn id="43" dur="1" fill="hold">
                                          <p:stCondLst>
                                            <p:cond delay="0"/>
                                          </p:stCondLst>
                                        </p:cTn>
                                        <p:tgtEl>
                                          <p:spTgt spid="2"/>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6" grpId="0" animBg="1"/>
      <p:bldP spid="18440" grpId="0" animBg="1"/>
      <p:bldP spid="20" grpId="0" animBg="1"/>
      <p:bldP spid="22" grpId="0" build="p" animBg="1"/>
      <p:bldP spid="18443" grpId="0" animBg="1"/>
      <p:bldP spid="18447" grpId="0" animBg="1"/>
      <p:bldP spid="19" grpId="0" animBg="1"/>
      <p:bldP spid="21" grpId="0" animBg="1"/>
      <p:bldP spid="23"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FADBFD-1B5E-4A67-8E28-ABDFEE5D1CFA}"/>
              </a:ext>
            </a:extLst>
          </p:cNvPr>
          <p:cNvSpPr>
            <a:spLocks noGrp="1"/>
          </p:cNvSpPr>
          <p:nvPr>
            <p:ph type="title"/>
          </p:nvPr>
        </p:nvSpPr>
        <p:spPr/>
        <p:txBody>
          <a:bodyPr/>
          <a:lstStyle/>
          <a:p>
            <a:r>
              <a:rPr lang="fr-FR" sz="2800" dirty="0">
                <a:solidFill>
                  <a:srgbClr val="C00000"/>
                </a:solidFill>
              </a:rPr>
              <a:t>Limitations de mise à niveau</a:t>
            </a:r>
            <a:endParaRPr lang="en-US" sz="2800" dirty="0">
              <a:solidFill>
                <a:srgbClr val="C00000"/>
              </a:solidFill>
            </a:endParaRPr>
          </a:p>
        </p:txBody>
      </p:sp>
      <p:sp>
        <p:nvSpPr>
          <p:cNvPr id="3" name="Espace réservé du contenu 2">
            <a:extLst>
              <a:ext uri="{FF2B5EF4-FFF2-40B4-BE49-F238E27FC236}">
                <a16:creationId xmlns:a16="http://schemas.microsoft.com/office/drawing/2014/main" id="{5343B897-560F-46F3-A287-1C1A74CBF976}"/>
              </a:ext>
            </a:extLst>
          </p:cNvPr>
          <p:cNvSpPr>
            <a:spLocks noGrp="1"/>
          </p:cNvSpPr>
          <p:nvPr>
            <p:ph sz="quarter" idx="1"/>
          </p:nvPr>
        </p:nvSpPr>
        <p:spPr/>
        <p:txBody>
          <a:bodyPr/>
          <a:lstStyle/>
          <a:p>
            <a:r>
              <a:rPr lang="fr-FR" dirty="0"/>
              <a:t>Une mise à niveau sur place ne prend pas en charge différentes architectures.</a:t>
            </a:r>
          </a:p>
          <a:p>
            <a:r>
              <a:rPr lang="fr-FR" dirty="0"/>
              <a:t>Cela veut dire que vous ne pouvez pas effectuer de mise à niveau entre des versions 32 bits et 64 bits.</a:t>
            </a:r>
          </a:p>
          <a:p>
            <a:r>
              <a:rPr lang="fr-FR" dirty="0"/>
              <a:t>Une mise à niveau sur place ne prend pas en charge différentes langues. </a:t>
            </a:r>
          </a:p>
          <a:p>
            <a:r>
              <a:rPr lang="fr-FR" dirty="0"/>
              <a:t>Dans les deux cas, vous devez effectuer une nouvelle installation et la migration nécessaire.</a:t>
            </a:r>
            <a:endParaRPr lang="en-US" dirty="0"/>
          </a:p>
        </p:txBody>
      </p:sp>
    </p:spTree>
    <p:extLst>
      <p:ext uri="{BB962C8B-B14F-4D97-AF65-F5344CB8AC3E}">
        <p14:creationId xmlns:p14="http://schemas.microsoft.com/office/powerpoint/2010/main" val="197249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4"/>
          <p:cNvSpPr>
            <a:spLocks noGrp="1" noChangeArrowheads="1"/>
          </p:cNvSpPr>
          <p:nvPr>
            <p:ph type="title"/>
          </p:nvPr>
        </p:nvSpPr>
        <p:spPr>
          <a:xfrm>
            <a:off x="191729" y="88488"/>
            <a:ext cx="8775290" cy="1031796"/>
          </a:xfrm>
        </p:spPr>
        <p:txBody>
          <a:bodyPr>
            <a:normAutofit fontScale="90000"/>
          </a:bodyPr>
          <a:lstStyle/>
          <a:p>
            <a:pPr marL="439738" indent="-439738"/>
            <a:r>
              <a:rPr lang="fr-FR" dirty="0">
                <a:solidFill>
                  <a:schemeClr val="tx1"/>
                </a:solidFill>
                <a:cs typeface="Times New Roman" pitchFamily="18" charset="0"/>
              </a:rPr>
              <a:t>4. Transfert des paramètres et des fichiers d'utilisateurs à l'aide de l'outil USMT</a:t>
            </a:r>
            <a:endParaRPr lang="en-US" dirty="0">
              <a:solidFill>
                <a:schemeClr val="tx1"/>
              </a:solidFill>
            </a:endParaRPr>
          </a:p>
        </p:txBody>
      </p:sp>
      <p:sp>
        <p:nvSpPr>
          <p:cNvPr id="65541" name="Rectangle 5"/>
          <p:cNvSpPr>
            <a:spLocks noGrp="1" noChangeArrowheads="1"/>
          </p:cNvSpPr>
          <p:nvPr>
            <p:ph sz="quarter" idx="1"/>
          </p:nvPr>
        </p:nvSpPr>
        <p:spPr/>
        <p:txBody>
          <a:bodyPr/>
          <a:lstStyle/>
          <a:p>
            <a:r>
              <a:rPr lang="fr-FR" dirty="0"/>
              <a:t>Migration des paramètres et des données utilisateur à l'aide d'USMT 4.0</a:t>
            </a:r>
          </a:p>
          <a:p>
            <a:r>
              <a:rPr lang="fr-FR" dirty="0"/>
              <a:t>Paramètres, dossiers et types de fichiers transférés par défaut </a:t>
            </a:r>
            <a:endParaRPr lang="en-US" dirty="0"/>
          </a:p>
          <a:p>
            <a:r>
              <a:rPr lang="fr-FR" dirty="0"/>
              <a:t>Utilisation de l'Assistant Transfert de fichiers et de paramètres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noAutofit/>
          </a:bodyPr>
          <a:lstStyle/>
          <a:p>
            <a:r>
              <a:rPr lang="fr-FR" sz="2800" dirty="0">
                <a:solidFill>
                  <a:srgbClr val="C00000"/>
                </a:solidFill>
              </a:rPr>
              <a:t>Migration des paramètres et des données utilisateur à l'aide d'USMT 4.0</a:t>
            </a:r>
          </a:p>
        </p:txBody>
      </p:sp>
      <p:sp>
        <p:nvSpPr>
          <p:cNvPr id="37891" name="AutoShape 10"/>
          <p:cNvSpPr>
            <a:spLocks noChangeArrowheads="1"/>
          </p:cNvSpPr>
          <p:nvPr/>
        </p:nvSpPr>
        <p:spPr bwMode="auto">
          <a:xfrm>
            <a:off x="289472" y="1809093"/>
            <a:ext cx="8502650" cy="1247076"/>
          </a:xfrm>
          <a:prstGeom prst="roundRect">
            <a:avLst>
              <a:gd name="adj" fmla="val 4167"/>
            </a:avLst>
          </a:prstGeom>
          <a:gradFill rotWithShape="1">
            <a:gsLst>
              <a:gs pos="0">
                <a:srgbClr val="E4CD9A"/>
              </a:gs>
              <a:gs pos="100000">
                <a:srgbClr val="F2E7CE"/>
              </a:gs>
            </a:gsLst>
            <a:lin ang="2700000" scaled="1"/>
          </a:gradFill>
          <a:ln w="9525" algn="ctr">
            <a:solidFill>
              <a:srgbClr val="4D4D4D"/>
            </a:solidFill>
            <a:round/>
            <a:headEnd/>
            <a:tailEnd/>
          </a:ln>
        </p:spPr>
        <p:txBody>
          <a:bodyPr wrap="square" tIns="91440" bIns="91440" anchor="ctr">
            <a:spAutoFit/>
          </a:bodyPr>
          <a:lstStyle/>
          <a:p>
            <a:pPr algn="ctr">
              <a:lnSpc>
                <a:spcPct val="90000"/>
              </a:lnSpc>
            </a:pPr>
            <a:r>
              <a:rPr lang="fr-FR" sz="2500" dirty="0"/>
              <a:t>USMT (User State Migration </a:t>
            </a:r>
            <a:r>
              <a:rPr lang="fr-FR" sz="2500" dirty="0" err="1"/>
              <a:t>Tool</a:t>
            </a:r>
            <a:r>
              <a:rPr lang="fr-FR" sz="2500" dirty="0"/>
              <a:t>) est un outil en ligne de commande scriptable qui permet la migration de profils utilisateur hautement personnalisable.</a:t>
            </a:r>
            <a:endParaRPr lang="en-US" sz="2500" dirty="0"/>
          </a:p>
        </p:txBody>
      </p:sp>
      <p:sp>
        <p:nvSpPr>
          <p:cNvPr id="5" name="AutoShape 3"/>
          <p:cNvSpPr>
            <a:spLocks noChangeArrowheads="1"/>
          </p:cNvSpPr>
          <p:nvPr/>
        </p:nvSpPr>
        <p:spPr bwMode="auto">
          <a:xfrm>
            <a:off x="294017" y="3603241"/>
            <a:ext cx="8513762" cy="1394427"/>
          </a:xfrm>
          <a:prstGeom prst="roundRect">
            <a:avLst>
              <a:gd name="adj" fmla="val 12106"/>
            </a:avLst>
          </a:prstGeom>
          <a:gradFill rotWithShape="0">
            <a:gsLst>
              <a:gs pos="0">
                <a:srgbClr val="33B348"/>
              </a:gs>
              <a:gs pos="100000">
                <a:srgbClr val="ADE2A1"/>
              </a:gs>
            </a:gsLst>
            <a:lin ang="2700000" scaled="1"/>
          </a:gradFill>
          <a:ln w="9525" algn="ctr">
            <a:solidFill>
              <a:srgbClr val="4D4D4D"/>
            </a:solidFill>
            <a:round/>
            <a:headEnd/>
            <a:tailEnd/>
          </a:ln>
          <a:effectLst>
            <a:outerShdw dist="35921" dir="2700000" algn="ctr" rotWithShape="0">
              <a:srgbClr val="AFAFAF"/>
            </a:outerShdw>
          </a:effectLst>
        </p:spPr>
        <p:txBody>
          <a:bodyPr/>
          <a:lstStyle/>
          <a:p>
            <a:pPr algn="ctr">
              <a:defRPr/>
            </a:pPr>
            <a:r>
              <a:rPr lang="en-US" sz="2500" dirty="0"/>
              <a:t>Scanstate [StorePath] [/i:[path\]FileName] [Options]</a:t>
            </a:r>
            <a:br>
              <a:rPr lang="en-US" sz="2500" dirty="0"/>
            </a:br>
            <a:r>
              <a:rPr lang="en-US" sz="2500" dirty="0"/>
              <a:t>Loadstate [StorePath] [/i:[path\]FileName] [Options]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6" name="Rectangle 8"/>
          <p:cNvSpPr>
            <a:spLocks noGrp="1" noChangeArrowheads="1"/>
          </p:cNvSpPr>
          <p:nvPr>
            <p:ph type="title"/>
          </p:nvPr>
        </p:nvSpPr>
        <p:spPr/>
        <p:txBody>
          <a:bodyPr vert="horz" anchor="b">
            <a:noAutofit/>
          </a:bodyPr>
          <a:lstStyle/>
          <a:p>
            <a:pPr>
              <a:defRPr/>
            </a:pPr>
            <a:r>
              <a:rPr lang="fr-FR" sz="2800" dirty="0">
                <a:solidFill>
                  <a:srgbClr val="C00000"/>
                </a:solidFill>
              </a:rPr>
              <a:t>Migration des paramètres et des données utilisateur à l'aide d'USMT 4.0</a:t>
            </a:r>
            <a:endParaRPr lang="en-US" sz="2800" dirty="0">
              <a:solidFill>
                <a:srgbClr val="C00000"/>
              </a:solidFill>
            </a:endParaRPr>
          </a:p>
        </p:txBody>
      </p:sp>
      <p:sp>
        <p:nvSpPr>
          <p:cNvPr id="89097" name="Rectangle 9"/>
          <p:cNvSpPr>
            <a:spLocks noGrp="1" noChangeArrowheads="1"/>
          </p:cNvSpPr>
          <p:nvPr>
            <p:ph sz="quarter" idx="1"/>
          </p:nvPr>
        </p:nvSpPr>
        <p:spPr>
          <a:xfrm>
            <a:off x="206477" y="1296786"/>
            <a:ext cx="8731046" cy="5053666"/>
          </a:xfrm>
        </p:spPr>
        <p:txBody>
          <a:bodyPr>
            <a:normAutofit lnSpcReduction="10000"/>
          </a:bodyPr>
          <a:lstStyle/>
          <a:p>
            <a:pPr marL="0" indent="0">
              <a:lnSpc>
                <a:spcPct val="85000"/>
              </a:lnSpc>
              <a:buNone/>
            </a:pPr>
            <a:r>
              <a:rPr lang="fr-FR" u="sng" dirty="0"/>
              <a:t>Besoin?</a:t>
            </a:r>
          </a:p>
          <a:p>
            <a:pPr>
              <a:lnSpc>
                <a:spcPct val="85000"/>
              </a:lnSpc>
            </a:pPr>
            <a:r>
              <a:rPr lang="fr-FR" dirty="0"/>
              <a:t>Un serveur auquel les ordinateurs source et cible peuvent accéder </a:t>
            </a:r>
            <a:endParaRPr lang="en-US" dirty="0"/>
          </a:p>
          <a:p>
            <a:pPr>
              <a:lnSpc>
                <a:spcPct val="85000"/>
              </a:lnSpc>
            </a:pPr>
            <a:r>
              <a:rPr lang="fr-FR" dirty="0"/>
              <a:t>Un ordinateur source contenant un compte pour l'utilisateur à transférer </a:t>
            </a:r>
            <a:endParaRPr lang="en-US" dirty="0"/>
          </a:p>
          <a:p>
            <a:pPr>
              <a:lnSpc>
                <a:spcPct val="85000"/>
              </a:lnSpc>
            </a:pPr>
            <a:r>
              <a:rPr lang="fr-FR" dirty="0"/>
              <a:t>Un ordinateur cible exécutant Windows 7 Professionnel qui ne contient pas de profil pour l'utilisateur dont vous transférez l'état </a:t>
            </a:r>
          </a:p>
          <a:p>
            <a:pPr>
              <a:lnSpc>
                <a:spcPct val="85000"/>
              </a:lnSpc>
            </a:pPr>
            <a:r>
              <a:rPr lang="fr-FR" dirty="0"/>
              <a:t>Un compte avec des privilèges d'administrateur sur l'ordinateur cible </a:t>
            </a:r>
            <a:r>
              <a:rPr lang="en-US" dirty="0"/>
              <a:t> </a:t>
            </a:r>
          </a:p>
          <a:p>
            <a:pPr>
              <a:lnSpc>
                <a:spcPct val="85000"/>
              </a:lnSpc>
            </a:pPr>
            <a:r>
              <a:rPr lang="fr-FR" dirty="0"/>
              <a:t>Le nom de compte et le mot de passe de l'utilisateur dont vous allez transférer les paramètres et les fichiers</a:t>
            </a:r>
            <a:r>
              <a:rPr lang="en-US" dirty="0"/>
              <a:t> </a:t>
            </a:r>
          </a:p>
          <a:p>
            <a:pPr>
              <a:lnSpc>
                <a:spcPct val="85000"/>
              </a:lnSpc>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9097">
                                            <p:txEl>
                                              <p:pRg st="0" end="0"/>
                                            </p:txEl>
                                          </p:spTgt>
                                        </p:tgtEl>
                                        <p:attrNameLst>
                                          <p:attrName>style.visibility</p:attrName>
                                        </p:attrNameLst>
                                      </p:cBhvr>
                                      <p:to>
                                        <p:strVal val="visible"/>
                                      </p:to>
                                    </p:set>
                                    <p:animEffect transition="in" filter="checkerboard(across)">
                                      <p:cBhvr>
                                        <p:cTn id="7" dur="1000"/>
                                        <p:tgtEl>
                                          <p:spTgt spid="890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9097">
                                            <p:txEl>
                                              <p:pRg st="1" end="1"/>
                                            </p:txEl>
                                          </p:spTgt>
                                        </p:tgtEl>
                                        <p:attrNameLst>
                                          <p:attrName>style.visibility</p:attrName>
                                        </p:attrNameLst>
                                      </p:cBhvr>
                                      <p:to>
                                        <p:strVal val="visible"/>
                                      </p:to>
                                    </p:set>
                                    <p:animEffect transition="in" filter="checkerboard(across)">
                                      <p:cBhvr>
                                        <p:cTn id="12" dur="1000"/>
                                        <p:tgtEl>
                                          <p:spTgt spid="890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89097">
                                            <p:txEl>
                                              <p:pRg st="2" end="2"/>
                                            </p:txEl>
                                          </p:spTgt>
                                        </p:tgtEl>
                                        <p:attrNameLst>
                                          <p:attrName>style.visibility</p:attrName>
                                        </p:attrNameLst>
                                      </p:cBhvr>
                                      <p:to>
                                        <p:strVal val="visible"/>
                                      </p:to>
                                    </p:set>
                                    <p:animEffect transition="in" filter="checkerboard(across)">
                                      <p:cBhvr>
                                        <p:cTn id="17" dur="1000"/>
                                        <p:tgtEl>
                                          <p:spTgt spid="890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9097">
                                            <p:txEl>
                                              <p:pRg st="3" end="3"/>
                                            </p:txEl>
                                          </p:spTgt>
                                        </p:tgtEl>
                                        <p:attrNameLst>
                                          <p:attrName>style.visibility</p:attrName>
                                        </p:attrNameLst>
                                      </p:cBhvr>
                                      <p:to>
                                        <p:strVal val="visible"/>
                                      </p:to>
                                    </p:set>
                                    <p:animEffect transition="in" filter="checkerboard(across)">
                                      <p:cBhvr>
                                        <p:cTn id="22" dur="1000"/>
                                        <p:tgtEl>
                                          <p:spTgt spid="8909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89097">
                                            <p:txEl>
                                              <p:pRg st="4" end="4"/>
                                            </p:txEl>
                                          </p:spTgt>
                                        </p:tgtEl>
                                        <p:attrNameLst>
                                          <p:attrName>style.visibility</p:attrName>
                                        </p:attrNameLst>
                                      </p:cBhvr>
                                      <p:to>
                                        <p:strVal val="visible"/>
                                      </p:to>
                                    </p:set>
                                    <p:animEffect transition="in" filter="checkerboard(across)">
                                      <p:cBhvr>
                                        <p:cTn id="27" dur="1000"/>
                                        <p:tgtEl>
                                          <p:spTgt spid="8909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89097">
                                            <p:txEl>
                                              <p:pRg st="5" end="5"/>
                                            </p:txEl>
                                          </p:spTgt>
                                        </p:tgtEl>
                                        <p:attrNameLst>
                                          <p:attrName>style.visibility</p:attrName>
                                        </p:attrNameLst>
                                      </p:cBhvr>
                                      <p:to>
                                        <p:strVal val="visible"/>
                                      </p:to>
                                    </p:set>
                                    <p:animEffect transition="in" filter="checkerboard(across)">
                                      <p:cBhvr>
                                        <p:cTn id="32" dur="1000"/>
                                        <p:tgtEl>
                                          <p:spTgt spid="8909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a:xfrm>
            <a:off x="1" y="176981"/>
            <a:ext cx="8952270" cy="928555"/>
          </a:xfrm>
        </p:spPr>
        <p:txBody>
          <a:bodyPr vert="horz" anchor="b">
            <a:noAutofit/>
          </a:bodyPr>
          <a:lstStyle/>
          <a:p>
            <a:pPr>
              <a:defRPr/>
            </a:pPr>
            <a:r>
              <a:rPr lang="fr-FR" sz="2800" dirty="0">
                <a:solidFill>
                  <a:srgbClr val="C00000"/>
                </a:solidFill>
              </a:rPr>
              <a:t>Paramètres, dossiers et types de fichiers transférés par défaut</a:t>
            </a:r>
            <a:endParaRPr lang="en-US" sz="2800" dirty="0">
              <a:solidFill>
                <a:srgbClr val="C00000"/>
              </a:solidFill>
            </a:endParaRPr>
          </a:p>
        </p:txBody>
      </p:sp>
      <p:sp>
        <p:nvSpPr>
          <p:cNvPr id="9" name="Espace réservé du contenu 8"/>
          <p:cNvSpPr>
            <a:spLocks noGrp="1"/>
          </p:cNvSpPr>
          <p:nvPr>
            <p:ph sz="quarter" idx="1"/>
          </p:nvPr>
        </p:nvSpPr>
        <p:spPr>
          <a:xfrm>
            <a:off x="382136" y="1446415"/>
            <a:ext cx="8461613" cy="4843702"/>
          </a:xfrm>
        </p:spPr>
        <p:txBody>
          <a:bodyPr>
            <a:normAutofit fontScale="92500" lnSpcReduction="10000"/>
          </a:bodyPr>
          <a:lstStyle/>
          <a:p>
            <a:pPr marL="0" indent="0">
              <a:buClr>
                <a:schemeClr val="tx1"/>
              </a:buClr>
              <a:buNone/>
            </a:pPr>
            <a:r>
              <a:rPr lang="fr-FR" u="sng" dirty="0"/>
              <a:t>Quoi?</a:t>
            </a:r>
          </a:p>
          <a:p>
            <a:pPr>
              <a:buClr>
                <a:schemeClr val="tx1"/>
              </a:buClr>
              <a:buFont typeface="Wingdings" pitchFamily="2" charset="2"/>
              <a:buChar char="q"/>
            </a:pPr>
            <a:r>
              <a:rPr lang="fr-FR" dirty="0"/>
              <a:t>Comptes et paramètres utilisateur </a:t>
            </a:r>
          </a:p>
          <a:p>
            <a:pPr>
              <a:buClr>
                <a:schemeClr val="tx1"/>
              </a:buClr>
              <a:buFont typeface="Wingdings" pitchFamily="2" charset="2"/>
              <a:buChar char="q"/>
            </a:pPr>
            <a:r>
              <a:rPr lang="fr-FR" dirty="0"/>
              <a:t>Fichiers et dossiers </a:t>
            </a:r>
          </a:p>
          <a:p>
            <a:pPr>
              <a:buClr>
                <a:schemeClr val="tx1"/>
              </a:buClr>
              <a:buFont typeface="Wingdings" pitchFamily="2" charset="2"/>
              <a:buChar char="q"/>
            </a:pPr>
            <a:r>
              <a:rPr lang="fr-FR" dirty="0"/>
              <a:t>Paramètres de messagerie </a:t>
            </a:r>
          </a:p>
          <a:p>
            <a:pPr>
              <a:buClr>
                <a:schemeClr val="tx1"/>
              </a:buClr>
              <a:buFont typeface="Wingdings" pitchFamily="2" charset="2"/>
              <a:buChar char="q"/>
            </a:pPr>
            <a:r>
              <a:rPr lang="fr-FR" dirty="0"/>
              <a:t>Contacts et messages </a:t>
            </a:r>
          </a:p>
          <a:p>
            <a:pPr>
              <a:buClr>
                <a:schemeClr val="tx1"/>
              </a:buClr>
              <a:buFont typeface="Wingdings" pitchFamily="2" charset="2"/>
              <a:buChar char="q"/>
            </a:pPr>
            <a:r>
              <a:rPr lang="fr-FR" dirty="0"/>
              <a:t>Paramètres d'applications </a:t>
            </a:r>
          </a:p>
          <a:p>
            <a:pPr>
              <a:buClr>
                <a:schemeClr val="tx1"/>
              </a:buClr>
              <a:buFont typeface="Wingdings" pitchFamily="2" charset="2"/>
              <a:buChar char="q"/>
            </a:pPr>
            <a:r>
              <a:rPr lang="fr-FR" dirty="0"/>
              <a:t>Paramètres Internet et favoris </a:t>
            </a:r>
          </a:p>
          <a:p>
            <a:pPr>
              <a:buClr>
                <a:schemeClr val="tx1"/>
              </a:buClr>
              <a:buFont typeface="Wingdings" pitchFamily="2" charset="2"/>
              <a:buChar char="q"/>
            </a:pPr>
            <a:r>
              <a:rPr lang="fr-FR" dirty="0"/>
              <a:t>Vous ne pouvez l’utiliser pour déplacer des fichiers programme ou des applications. </a:t>
            </a:r>
          </a:p>
          <a:p>
            <a:pPr>
              <a:buClr>
                <a:schemeClr val="tx1"/>
              </a:buClr>
              <a:buFont typeface="Wingdings" pitchFamily="2" charset="2"/>
              <a:buChar char="q"/>
            </a:pPr>
            <a:r>
              <a:rPr lang="fr-FR" dirty="0"/>
              <a:t>Il peut transférer uniquement des données et des paramètres d'application.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ChangeArrowheads="1"/>
          </p:cNvSpPr>
          <p:nvPr/>
        </p:nvSpPr>
        <p:spPr bwMode="auto">
          <a:xfrm>
            <a:off x="204606" y="1401763"/>
            <a:ext cx="8732378" cy="4697412"/>
          </a:xfrm>
          <a:prstGeom prst="rect">
            <a:avLst/>
          </a:prstGeom>
          <a:gradFill rotWithShape="0">
            <a:gsLst>
              <a:gs pos="0">
                <a:srgbClr val="FCFEBC"/>
              </a:gs>
              <a:gs pos="100000">
                <a:srgbClr val="FFCC66"/>
              </a:gs>
            </a:gsLst>
            <a:lin ang="5400000" scaled="1"/>
          </a:gradFill>
          <a:ln w="9525">
            <a:noFill/>
            <a:miter lim="800000"/>
            <a:headEnd/>
            <a:tailEnd/>
          </a:ln>
          <a:effectLst/>
        </p:spPr>
        <p:txBody>
          <a:bodyPr wrap="none" anchor="ctr"/>
          <a:lstStyle/>
          <a:p>
            <a:pPr marL="457200" indent="-457200">
              <a:buFontTx/>
              <a:buAutoNum type="arabicPeriod"/>
            </a:pPr>
            <a:endParaRPr lang="fr-FR"/>
          </a:p>
        </p:txBody>
      </p:sp>
      <p:sp>
        <p:nvSpPr>
          <p:cNvPr id="88069" name="Rectangle 5"/>
          <p:cNvSpPr>
            <a:spLocks noChangeArrowheads="1"/>
          </p:cNvSpPr>
          <p:nvPr/>
        </p:nvSpPr>
        <p:spPr bwMode="auto">
          <a:xfrm>
            <a:off x="158567" y="1301750"/>
            <a:ext cx="8808451" cy="4819650"/>
          </a:xfrm>
          <a:prstGeom prst="rect">
            <a:avLst/>
          </a:prstGeom>
          <a:gradFill rotWithShape="0">
            <a:gsLst>
              <a:gs pos="0">
                <a:srgbClr val="FFCC66"/>
              </a:gs>
              <a:gs pos="100000">
                <a:srgbClr val="FCFEB9"/>
              </a:gs>
            </a:gsLst>
            <a:lin ang="5400000" scaled="1"/>
          </a:gradFill>
          <a:ln w="9525">
            <a:noFill/>
            <a:miter lim="800000"/>
            <a:headEnd/>
            <a:tailEnd/>
          </a:ln>
          <a:effectLst/>
        </p:spPr>
        <p:txBody>
          <a:bodyPr wrap="none" anchor="ctr"/>
          <a:lstStyle/>
          <a:p>
            <a:endParaRPr lang="fr-BE"/>
          </a:p>
        </p:txBody>
      </p:sp>
      <p:sp>
        <p:nvSpPr>
          <p:cNvPr id="88070" name="Rectangle 6"/>
          <p:cNvSpPr>
            <a:spLocks noChangeArrowheads="1"/>
          </p:cNvSpPr>
          <p:nvPr/>
        </p:nvSpPr>
        <p:spPr bwMode="auto">
          <a:xfrm>
            <a:off x="520518" y="1473200"/>
            <a:ext cx="8087760" cy="1347788"/>
          </a:xfrm>
          <a:prstGeom prst="rect">
            <a:avLst/>
          </a:prstGeom>
          <a:gradFill rotWithShape="0">
            <a:gsLst>
              <a:gs pos="0">
                <a:srgbClr val="FFFFFF"/>
              </a:gs>
              <a:gs pos="100000">
                <a:srgbClr val="FFFFCC"/>
              </a:gs>
            </a:gsLst>
            <a:lin ang="0" scaled="1"/>
          </a:gradFill>
          <a:ln w="9525">
            <a:noFill/>
            <a:miter lim="800000"/>
            <a:headEnd/>
            <a:tailEnd/>
          </a:ln>
          <a:effectLst/>
        </p:spPr>
        <p:txBody>
          <a:bodyPr lIns="640080" anchor="ctr"/>
          <a:lstStyle/>
          <a:p>
            <a:r>
              <a:rPr lang="fr-FR" sz="2200" u="none" dirty="0">
                <a:solidFill>
                  <a:schemeClr val="tx1"/>
                </a:solidFill>
                <a:latin typeface="Arial" charset="0"/>
              </a:rPr>
              <a:t>Ouvrez une session sur l'ordinateur cible, ouvrez l'Assistant </a:t>
            </a:r>
            <a:r>
              <a:rPr lang="fr-FR" sz="2200" u="none" dirty="0">
                <a:solidFill>
                  <a:schemeClr val="tx1"/>
                </a:solidFill>
                <a:latin typeface="Arial" charset="0"/>
                <a:cs typeface="Times New Roman" pitchFamily="18" charset="0"/>
              </a:rPr>
              <a:t>Transfert de fichiers et de paramètres</a:t>
            </a:r>
            <a:r>
              <a:rPr lang="fr-FR" sz="2200" u="none" dirty="0">
                <a:solidFill>
                  <a:schemeClr val="tx1"/>
                </a:solidFill>
                <a:latin typeface="Arial" charset="0"/>
              </a:rPr>
              <a:t> et créez un support comportant cet Assistant</a:t>
            </a:r>
          </a:p>
        </p:txBody>
      </p:sp>
      <p:sp>
        <p:nvSpPr>
          <p:cNvPr id="88071" name="Rectangle 7"/>
          <p:cNvSpPr>
            <a:spLocks noChangeArrowheads="1"/>
          </p:cNvSpPr>
          <p:nvPr/>
        </p:nvSpPr>
        <p:spPr bwMode="auto">
          <a:xfrm>
            <a:off x="539567" y="2905125"/>
            <a:ext cx="8039713" cy="1633538"/>
          </a:xfrm>
          <a:prstGeom prst="rect">
            <a:avLst/>
          </a:prstGeom>
          <a:gradFill rotWithShape="0">
            <a:gsLst>
              <a:gs pos="0">
                <a:srgbClr val="FFFFFF"/>
              </a:gs>
              <a:gs pos="100000">
                <a:srgbClr val="FFFFCC"/>
              </a:gs>
            </a:gsLst>
            <a:lin ang="0" scaled="1"/>
          </a:gradFill>
          <a:ln w="9525">
            <a:noFill/>
            <a:miter lim="800000"/>
            <a:headEnd/>
            <a:tailEnd/>
          </a:ln>
          <a:effectLst/>
        </p:spPr>
        <p:txBody>
          <a:bodyPr lIns="640080" anchor="ctr"/>
          <a:lstStyle/>
          <a:p>
            <a:r>
              <a:rPr lang="fr-FR" sz="2200" u="none" dirty="0">
                <a:solidFill>
                  <a:schemeClr val="tx1"/>
                </a:solidFill>
                <a:latin typeface="Arial" charset="0"/>
              </a:rPr>
              <a:t>Sur l'ordinateur source, ouvrez une session en tant qu'utilisateur migrant, utilisez le support pour exécuter l'Assistant et stockez l'état d'utilisateur sur un serveur ou un autre support amovible</a:t>
            </a:r>
          </a:p>
        </p:txBody>
      </p:sp>
      <p:sp>
        <p:nvSpPr>
          <p:cNvPr id="88072" name="Rectangle 8"/>
          <p:cNvSpPr>
            <a:spLocks noChangeArrowheads="1"/>
          </p:cNvSpPr>
          <p:nvPr/>
        </p:nvSpPr>
        <p:spPr bwMode="auto">
          <a:xfrm>
            <a:off x="539568" y="4643438"/>
            <a:ext cx="8087760" cy="1371600"/>
          </a:xfrm>
          <a:prstGeom prst="rect">
            <a:avLst/>
          </a:prstGeom>
          <a:gradFill rotWithShape="0">
            <a:gsLst>
              <a:gs pos="0">
                <a:srgbClr val="FFFFFF"/>
              </a:gs>
              <a:gs pos="100000">
                <a:srgbClr val="FFFFCC"/>
              </a:gs>
            </a:gsLst>
            <a:lin ang="0" scaled="1"/>
          </a:gradFill>
          <a:ln w="9525">
            <a:noFill/>
            <a:miter lim="800000"/>
            <a:headEnd/>
            <a:tailEnd/>
          </a:ln>
          <a:effectLst/>
        </p:spPr>
        <p:txBody>
          <a:bodyPr lIns="640080" anchor="ctr"/>
          <a:lstStyle/>
          <a:p>
            <a:r>
              <a:rPr lang="fr-FR" sz="2200" u="none">
                <a:solidFill>
                  <a:schemeClr val="tx1"/>
                </a:solidFill>
                <a:latin typeface="Arial" charset="0"/>
              </a:rPr>
              <a:t>Sur l'ordinateur cible, exécutez l'Assistant pour transférer l'état d'utilisateur vers le nouvel ordinateur </a:t>
            </a:r>
          </a:p>
        </p:txBody>
      </p:sp>
      <p:sp>
        <p:nvSpPr>
          <p:cNvPr id="88066" name="Rectangle 2"/>
          <p:cNvSpPr>
            <a:spLocks noGrp="1" noChangeArrowheads="1"/>
          </p:cNvSpPr>
          <p:nvPr>
            <p:ph type="title"/>
          </p:nvPr>
        </p:nvSpPr>
        <p:spPr/>
        <p:txBody>
          <a:bodyPr vert="horz" anchor="b">
            <a:noAutofit/>
          </a:bodyPr>
          <a:lstStyle/>
          <a:p>
            <a:pPr>
              <a:defRPr/>
            </a:pPr>
            <a:r>
              <a:rPr lang="fr-FR" sz="2800" dirty="0">
                <a:solidFill>
                  <a:srgbClr val="C00000"/>
                </a:solidFill>
              </a:rPr>
              <a:t>Utilisation de l'Assistant Transfert de fichiers et de paramètres</a:t>
            </a:r>
            <a:endParaRPr lang="en-US" sz="2800" dirty="0">
              <a:solidFill>
                <a:srgbClr val="C00000"/>
              </a:solidFill>
            </a:endParaRPr>
          </a:p>
        </p:txBody>
      </p:sp>
      <p:sp>
        <p:nvSpPr>
          <p:cNvPr id="88073" name="Freeform 9"/>
          <p:cNvSpPr>
            <a:spLocks/>
          </p:cNvSpPr>
          <p:nvPr/>
        </p:nvSpPr>
        <p:spPr bwMode="auto">
          <a:xfrm>
            <a:off x="687206" y="2009775"/>
            <a:ext cx="290512" cy="381000"/>
          </a:xfrm>
          <a:custGeom>
            <a:avLst/>
            <a:gdLst/>
            <a:ahLst/>
            <a:cxnLst>
              <a:cxn ang="0">
                <a:pos x="14" y="859"/>
              </a:cxn>
              <a:cxn ang="0">
                <a:pos x="130" y="855"/>
              </a:cxn>
              <a:cxn ang="0">
                <a:pos x="157" y="850"/>
              </a:cxn>
              <a:cxn ang="0">
                <a:pos x="176" y="843"/>
              </a:cxn>
              <a:cxn ang="0">
                <a:pos x="193" y="833"/>
              </a:cxn>
              <a:cxn ang="0">
                <a:pos x="206" y="820"/>
              </a:cxn>
              <a:cxn ang="0">
                <a:pos x="215" y="800"/>
              </a:cxn>
              <a:cxn ang="0">
                <a:pos x="221" y="772"/>
              </a:cxn>
              <a:cxn ang="0">
                <a:pos x="224" y="738"/>
              </a:cxn>
              <a:cxn ang="0">
                <a:pos x="224" y="294"/>
              </a:cxn>
              <a:cxn ang="0">
                <a:pos x="222" y="265"/>
              </a:cxn>
              <a:cxn ang="0">
                <a:pos x="218" y="242"/>
              </a:cxn>
              <a:cxn ang="0">
                <a:pos x="212" y="223"/>
              </a:cxn>
              <a:cxn ang="0">
                <a:pos x="203" y="211"/>
              </a:cxn>
              <a:cxn ang="0">
                <a:pos x="189" y="203"/>
              </a:cxn>
              <a:cxn ang="0">
                <a:pos x="164" y="197"/>
              </a:cxn>
              <a:cxn ang="0">
                <a:pos x="130" y="194"/>
              </a:cxn>
              <a:cxn ang="0">
                <a:pos x="89" y="193"/>
              </a:cxn>
              <a:cxn ang="0">
                <a:pos x="72" y="193"/>
              </a:cxn>
              <a:cxn ang="0">
                <a:pos x="57" y="193"/>
              </a:cxn>
              <a:cxn ang="0">
                <a:pos x="44" y="193"/>
              </a:cxn>
              <a:cxn ang="0">
                <a:pos x="34" y="193"/>
              </a:cxn>
              <a:cxn ang="0">
                <a:pos x="26" y="193"/>
              </a:cxn>
              <a:cxn ang="0">
                <a:pos x="17" y="194"/>
              </a:cxn>
              <a:cxn ang="0">
                <a:pos x="9" y="194"/>
              </a:cxn>
              <a:cxn ang="0">
                <a:pos x="0" y="194"/>
              </a:cxn>
              <a:cxn ang="0">
                <a:pos x="34" y="145"/>
              </a:cxn>
              <a:cxn ang="0">
                <a:pos x="98" y="136"/>
              </a:cxn>
              <a:cxn ang="0">
                <a:pos x="163" y="124"/>
              </a:cxn>
              <a:cxn ang="0">
                <a:pos x="224" y="108"/>
              </a:cxn>
              <a:cxn ang="0">
                <a:pos x="285" y="88"/>
              </a:cxn>
              <a:cxn ang="0">
                <a:pos x="345" y="67"/>
              </a:cxn>
              <a:cxn ang="0">
                <a:pos x="405" y="42"/>
              </a:cxn>
              <a:cxn ang="0">
                <a:pos x="463" y="15"/>
              </a:cxn>
              <a:cxn ang="0">
                <a:pos x="493" y="746"/>
              </a:cxn>
              <a:cxn ang="0">
                <a:pos x="494" y="774"/>
              </a:cxn>
              <a:cxn ang="0">
                <a:pos x="497" y="797"/>
              </a:cxn>
              <a:cxn ang="0">
                <a:pos x="503" y="815"/>
              </a:cxn>
              <a:cxn ang="0">
                <a:pos x="511" y="827"/>
              </a:cxn>
              <a:cxn ang="0">
                <a:pos x="522" y="835"/>
              </a:cxn>
              <a:cxn ang="0">
                <a:pos x="535" y="843"/>
              </a:cxn>
              <a:cxn ang="0">
                <a:pos x="554" y="847"/>
              </a:cxn>
              <a:cxn ang="0">
                <a:pos x="577" y="850"/>
              </a:cxn>
              <a:cxn ang="0">
                <a:pos x="692" y="910"/>
              </a:cxn>
            </a:cxnLst>
            <a:rect l="0" t="0" r="r" b="b"/>
            <a:pathLst>
              <a:path w="692" h="910">
                <a:moveTo>
                  <a:pt x="14" y="910"/>
                </a:moveTo>
                <a:lnTo>
                  <a:pt x="14" y="859"/>
                </a:lnTo>
                <a:lnTo>
                  <a:pt x="115" y="856"/>
                </a:lnTo>
                <a:lnTo>
                  <a:pt x="130" y="855"/>
                </a:lnTo>
                <a:lnTo>
                  <a:pt x="143" y="853"/>
                </a:lnTo>
                <a:lnTo>
                  <a:pt x="157" y="850"/>
                </a:lnTo>
                <a:lnTo>
                  <a:pt x="167" y="847"/>
                </a:lnTo>
                <a:lnTo>
                  <a:pt x="176" y="843"/>
                </a:lnTo>
                <a:lnTo>
                  <a:pt x="186" y="838"/>
                </a:lnTo>
                <a:lnTo>
                  <a:pt x="193" y="833"/>
                </a:lnTo>
                <a:lnTo>
                  <a:pt x="199" y="827"/>
                </a:lnTo>
                <a:lnTo>
                  <a:pt x="206" y="820"/>
                </a:lnTo>
                <a:lnTo>
                  <a:pt x="210" y="810"/>
                </a:lnTo>
                <a:lnTo>
                  <a:pt x="215" y="800"/>
                </a:lnTo>
                <a:lnTo>
                  <a:pt x="218" y="787"/>
                </a:lnTo>
                <a:lnTo>
                  <a:pt x="221" y="772"/>
                </a:lnTo>
                <a:lnTo>
                  <a:pt x="222" y="757"/>
                </a:lnTo>
                <a:lnTo>
                  <a:pt x="224" y="738"/>
                </a:lnTo>
                <a:lnTo>
                  <a:pt x="224" y="720"/>
                </a:lnTo>
                <a:lnTo>
                  <a:pt x="224" y="294"/>
                </a:lnTo>
                <a:lnTo>
                  <a:pt x="224" y="278"/>
                </a:lnTo>
                <a:lnTo>
                  <a:pt x="222" y="265"/>
                </a:lnTo>
                <a:lnTo>
                  <a:pt x="221" y="252"/>
                </a:lnTo>
                <a:lnTo>
                  <a:pt x="218" y="242"/>
                </a:lnTo>
                <a:lnTo>
                  <a:pt x="216" y="233"/>
                </a:lnTo>
                <a:lnTo>
                  <a:pt x="212" y="223"/>
                </a:lnTo>
                <a:lnTo>
                  <a:pt x="209" y="217"/>
                </a:lnTo>
                <a:lnTo>
                  <a:pt x="203" y="211"/>
                </a:lnTo>
                <a:lnTo>
                  <a:pt x="196" y="206"/>
                </a:lnTo>
                <a:lnTo>
                  <a:pt x="189" y="203"/>
                </a:lnTo>
                <a:lnTo>
                  <a:pt x="178" y="200"/>
                </a:lnTo>
                <a:lnTo>
                  <a:pt x="164" y="197"/>
                </a:lnTo>
                <a:lnTo>
                  <a:pt x="149" y="196"/>
                </a:lnTo>
                <a:lnTo>
                  <a:pt x="130" y="194"/>
                </a:lnTo>
                <a:lnTo>
                  <a:pt x="110" y="193"/>
                </a:lnTo>
                <a:lnTo>
                  <a:pt x="89" y="193"/>
                </a:lnTo>
                <a:lnTo>
                  <a:pt x="80" y="193"/>
                </a:lnTo>
                <a:lnTo>
                  <a:pt x="72" y="193"/>
                </a:lnTo>
                <a:lnTo>
                  <a:pt x="64" y="193"/>
                </a:lnTo>
                <a:lnTo>
                  <a:pt x="57" y="193"/>
                </a:lnTo>
                <a:lnTo>
                  <a:pt x="51" y="193"/>
                </a:lnTo>
                <a:lnTo>
                  <a:pt x="44" y="193"/>
                </a:lnTo>
                <a:lnTo>
                  <a:pt x="38" y="193"/>
                </a:lnTo>
                <a:lnTo>
                  <a:pt x="34" y="193"/>
                </a:lnTo>
                <a:lnTo>
                  <a:pt x="29" y="193"/>
                </a:lnTo>
                <a:lnTo>
                  <a:pt x="26" y="193"/>
                </a:lnTo>
                <a:lnTo>
                  <a:pt x="21" y="194"/>
                </a:lnTo>
                <a:lnTo>
                  <a:pt x="17" y="194"/>
                </a:lnTo>
                <a:lnTo>
                  <a:pt x="12" y="194"/>
                </a:lnTo>
                <a:lnTo>
                  <a:pt x="9" y="194"/>
                </a:lnTo>
                <a:lnTo>
                  <a:pt x="5" y="194"/>
                </a:lnTo>
                <a:lnTo>
                  <a:pt x="0" y="194"/>
                </a:lnTo>
                <a:lnTo>
                  <a:pt x="0" y="150"/>
                </a:lnTo>
                <a:lnTo>
                  <a:pt x="34" y="145"/>
                </a:lnTo>
                <a:lnTo>
                  <a:pt x="66" y="141"/>
                </a:lnTo>
                <a:lnTo>
                  <a:pt x="98" y="136"/>
                </a:lnTo>
                <a:lnTo>
                  <a:pt x="130" y="130"/>
                </a:lnTo>
                <a:lnTo>
                  <a:pt x="163" y="124"/>
                </a:lnTo>
                <a:lnTo>
                  <a:pt x="193" y="116"/>
                </a:lnTo>
                <a:lnTo>
                  <a:pt x="224" y="108"/>
                </a:lnTo>
                <a:lnTo>
                  <a:pt x="255" y="99"/>
                </a:lnTo>
                <a:lnTo>
                  <a:pt x="285" y="88"/>
                </a:lnTo>
                <a:lnTo>
                  <a:pt x="316" y="79"/>
                </a:lnTo>
                <a:lnTo>
                  <a:pt x="345" y="67"/>
                </a:lnTo>
                <a:lnTo>
                  <a:pt x="376" y="55"/>
                </a:lnTo>
                <a:lnTo>
                  <a:pt x="405" y="42"/>
                </a:lnTo>
                <a:lnTo>
                  <a:pt x="434" y="29"/>
                </a:lnTo>
                <a:lnTo>
                  <a:pt x="463" y="15"/>
                </a:lnTo>
                <a:lnTo>
                  <a:pt x="493" y="0"/>
                </a:lnTo>
                <a:lnTo>
                  <a:pt x="493" y="746"/>
                </a:lnTo>
                <a:lnTo>
                  <a:pt x="493" y="761"/>
                </a:lnTo>
                <a:lnTo>
                  <a:pt x="494" y="774"/>
                </a:lnTo>
                <a:lnTo>
                  <a:pt x="496" y="786"/>
                </a:lnTo>
                <a:lnTo>
                  <a:pt x="497" y="797"/>
                </a:lnTo>
                <a:lnTo>
                  <a:pt x="500" y="806"/>
                </a:lnTo>
                <a:lnTo>
                  <a:pt x="503" y="815"/>
                </a:lnTo>
                <a:lnTo>
                  <a:pt x="506" y="821"/>
                </a:lnTo>
                <a:lnTo>
                  <a:pt x="511" y="827"/>
                </a:lnTo>
                <a:lnTo>
                  <a:pt x="516" y="832"/>
                </a:lnTo>
                <a:lnTo>
                  <a:pt x="522" y="835"/>
                </a:lnTo>
                <a:lnTo>
                  <a:pt x="528" y="839"/>
                </a:lnTo>
                <a:lnTo>
                  <a:pt x="535" y="843"/>
                </a:lnTo>
                <a:lnTo>
                  <a:pt x="545" y="846"/>
                </a:lnTo>
                <a:lnTo>
                  <a:pt x="554" y="847"/>
                </a:lnTo>
                <a:lnTo>
                  <a:pt x="565" y="849"/>
                </a:lnTo>
                <a:lnTo>
                  <a:pt x="577" y="850"/>
                </a:lnTo>
                <a:lnTo>
                  <a:pt x="692" y="859"/>
                </a:lnTo>
                <a:lnTo>
                  <a:pt x="692" y="910"/>
                </a:lnTo>
                <a:lnTo>
                  <a:pt x="14" y="910"/>
                </a:lnTo>
              </a:path>
            </a:pathLst>
          </a:custGeom>
          <a:gradFill rotWithShape="0">
            <a:gsLst>
              <a:gs pos="0">
                <a:srgbClr val="6699FF">
                  <a:gamma/>
                  <a:tint val="42745"/>
                  <a:invGamma/>
                </a:srgbClr>
              </a:gs>
              <a:gs pos="100000">
                <a:srgbClr val="6699FF"/>
              </a:gs>
            </a:gsLst>
            <a:lin ang="5400000" scaled="1"/>
          </a:gradFill>
          <a:ln w="0" cap="sq">
            <a:noFill/>
            <a:prstDash val="solid"/>
            <a:miter lim="800000"/>
            <a:headEnd/>
            <a:tailEnd/>
          </a:ln>
          <a:effectLst>
            <a:outerShdw dist="35921" dir="2700000" algn="ctr" rotWithShape="0">
              <a:srgbClr val="919191"/>
            </a:outerShdw>
          </a:effectLst>
        </p:spPr>
        <p:txBody>
          <a:bodyPr/>
          <a:lstStyle/>
          <a:p>
            <a:endParaRPr lang="fr-BE"/>
          </a:p>
        </p:txBody>
      </p:sp>
      <p:sp>
        <p:nvSpPr>
          <p:cNvPr id="88074" name="Freeform 10"/>
          <p:cNvSpPr>
            <a:spLocks/>
          </p:cNvSpPr>
          <p:nvPr/>
        </p:nvSpPr>
        <p:spPr bwMode="auto">
          <a:xfrm>
            <a:off x="668156" y="3444875"/>
            <a:ext cx="328612" cy="381000"/>
          </a:xfrm>
          <a:custGeom>
            <a:avLst/>
            <a:gdLst/>
            <a:ahLst/>
            <a:cxnLst>
              <a:cxn ang="0">
                <a:pos x="100" y="783"/>
              </a:cxn>
              <a:cxn ang="0">
                <a:pos x="229" y="667"/>
              </a:cxn>
              <a:cxn ang="0">
                <a:pos x="332" y="550"/>
              </a:cxn>
              <a:cxn ang="0">
                <a:pos x="404" y="437"/>
              </a:cxn>
              <a:cxn ang="0">
                <a:pos x="433" y="366"/>
              </a:cxn>
              <a:cxn ang="0">
                <a:pos x="446" y="315"/>
              </a:cxn>
              <a:cxn ang="0">
                <a:pos x="451" y="268"/>
              </a:cxn>
              <a:cxn ang="0">
                <a:pos x="445" y="218"/>
              </a:cxn>
              <a:cxn ang="0">
                <a:pos x="429" y="177"/>
              </a:cxn>
              <a:cxn ang="0">
                <a:pos x="401" y="143"/>
              </a:cxn>
              <a:cxn ang="0">
                <a:pos x="367" y="122"/>
              </a:cxn>
              <a:cxn ang="0">
                <a:pos x="323" y="111"/>
              </a:cxn>
              <a:cxn ang="0">
                <a:pos x="267" y="114"/>
              </a:cxn>
              <a:cxn ang="0">
                <a:pos x="213" y="132"/>
              </a:cxn>
              <a:cxn ang="0">
                <a:pos x="168" y="163"/>
              </a:cxn>
              <a:cxn ang="0">
                <a:pos x="135" y="210"/>
              </a:cxn>
              <a:cxn ang="0">
                <a:pos x="114" y="266"/>
              </a:cxn>
              <a:cxn ang="0">
                <a:pos x="84" y="315"/>
              </a:cxn>
              <a:cxn ang="0">
                <a:pos x="68" y="75"/>
              </a:cxn>
              <a:cxn ang="0">
                <a:pos x="138" y="46"/>
              </a:cxn>
              <a:cxn ang="0">
                <a:pos x="207" y="25"/>
              </a:cxn>
              <a:cxn ang="0">
                <a:pos x="275" y="10"/>
              </a:cxn>
              <a:cxn ang="0">
                <a:pos x="343" y="1"/>
              </a:cxn>
              <a:cxn ang="0">
                <a:pos x="423" y="1"/>
              </a:cxn>
              <a:cxn ang="0">
                <a:pos x="522" y="17"/>
              </a:cxn>
              <a:cxn ang="0">
                <a:pos x="604" y="52"/>
              </a:cxn>
              <a:cxn ang="0">
                <a:pos x="648" y="85"/>
              </a:cxn>
              <a:cxn ang="0">
                <a:pos x="674" y="113"/>
              </a:cxn>
              <a:cxn ang="0">
                <a:pos x="694" y="145"/>
              </a:cxn>
              <a:cxn ang="0">
                <a:pos x="708" y="179"/>
              </a:cxn>
              <a:cxn ang="0">
                <a:pos x="716" y="217"/>
              </a:cxn>
              <a:cxn ang="0">
                <a:pos x="716" y="268"/>
              </a:cxn>
              <a:cxn ang="0">
                <a:pos x="701" y="337"/>
              </a:cxn>
              <a:cxn ang="0">
                <a:pos x="668" y="407"/>
              </a:cxn>
              <a:cxn ang="0">
                <a:pos x="611" y="477"/>
              </a:cxn>
              <a:cxn ang="0">
                <a:pos x="520" y="567"/>
              </a:cxn>
              <a:cxn ang="0">
                <a:pos x="391" y="676"/>
              </a:cxn>
              <a:cxn ang="0">
                <a:pos x="630" y="674"/>
              </a:cxn>
              <a:cxn ang="0">
                <a:pos x="662" y="670"/>
              </a:cxn>
              <a:cxn ang="0">
                <a:pos x="687" y="660"/>
              </a:cxn>
              <a:cxn ang="0">
                <a:pos x="707" y="645"/>
              </a:cxn>
              <a:cxn ang="0">
                <a:pos x="723" y="625"/>
              </a:cxn>
              <a:cxn ang="0">
                <a:pos x="761" y="615"/>
              </a:cxn>
              <a:cxn ang="0">
                <a:pos x="649" y="877"/>
              </a:cxn>
              <a:cxn ang="0">
                <a:pos x="642" y="870"/>
              </a:cxn>
              <a:cxn ang="0">
                <a:pos x="633" y="865"/>
              </a:cxn>
              <a:cxn ang="0">
                <a:pos x="621" y="862"/>
              </a:cxn>
              <a:cxn ang="0">
                <a:pos x="607" y="861"/>
              </a:cxn>
              <a:cxn ang="0">
                <a:pos x="0" y="859"/>
              </a:cxn>
            </a:cxnLst>
            <a:rect l="0" t="0" r="r" b="b"/>
            <a:pathLst>
              <a:path w="761" h="883">
                <a:moveTo>
                  <a:pt x="0" y="859"/>
                </a:moveTo>
                <a:lnTo>
                  <a:pt x="52" y="822"/>
                </a:lnTo>
                <a:lnTo>
                  <a:pt x="100" y="783"/>
                </a:lnTo>
                <a:lnTo>
                  <a:pt x="146" y="745"/>
                </a:lnTo>
                <a:lnTo>
                  <a:pt x="190" y="706"/>
                </a:lnTo>
                <a:lnTo>
                  <a:pt x="229" y="667"/>
                </a:lnTo>
                <a:lnTo>
                  <a:pt x="267" y="629"/>
                </a:lnTo>
                <a:lnTo>
                  <a:pt x="300" y="589"/>
                </a:lnTo>
                <a:lnTo>
                  <a:pt x="332" y="550"/>
                </a:lnTo>
                <a:lnTo>
                  <a:pt x="359" y="512"/>
                </a:lnTo>
                <a:lnTo>
                  <a:pt x="384" y="473"/>
                </a:lnTo>
                <a:lnTo>
                  <a:pt x="404" y="437"/>
                </a:lnTo>
                <a:lnTo>
                  <a:pt x="420" y="401"/>
                </a:lnTo>
                <a:lnTo>
                  <a:pt x="427" y="383"/>
                </a:lnTo>
                <a:lnTo>
                  <a:pt x="433" y="366"/>
                </a:lnTo>
                <a:lnTo>
                  <a:pt x="439" y="349"/>
                </a:lnTo>
                <a:lnTo>
                  <a:pt x="443" y="333"/>
                </a:lnTo>
                <a:lnTo>
                  <a:pt x="446" y="315"/>
                </a:lnTo>
                <a:lnTo>
                  <a:pt x="449" y="299"/>
                </a:lnTo>
                <a:lnTo>
                  <a:pt x="451" y="284"/>
                </a:lnTo>
                <a:lnTo>
                  <a:pt x="451" y="268"/>
                </a:lnTo>
                <a:lnTo>
                  <a:pt x="451" y="250"/>
                </a:lnTo>
                <a:lnTo>
                  <a:pt x="448" y="234"/>
                </a:lnTo>
                <a:lnTo>
                  <a:pt x="445" y="218"/>
                </a:lnTo>
                <a:lnTo>
                  <a:pt x="440" y="204"/>
                </a:lnTo>
                <a:lnTo>
                  <a:pt x="435" y="190"/>
                </a:lnTo>
                <a:lnTo>
                  <a:pt x="429" y="177"/>
                </a:lnTo>
                <a:lnTo>
                  <a:pt x="420" y="165"/>
                </a:lnTo>
                <a:lnTo>
                  <a:pt x="411" y="153"/>
                </a:lnTo>
                <a:lnTo>
                  <a:pt x="401" y="143"/>
                </a:lnTo>
                <a:lnTo>
                  <a:pt x="390" y="135"/>
                </a:lnTo>
                <a:lnTo>
                  <a:pt x="378" y="127"/>
                </a:lnTo>
                <a:lnTo>
                  <a:pt x="367" y="122"/>
                </a:lnTo>
                <a:lnTo>
                  <a:pt x="352" y="116"/>
                </a:lnTo>
                <a:lnTo>
                  <a:pt x="339" y="113"/>
                </a:lnTo>
                <a:lnTo>
                  <a:pt x="323" y="111"/>
                </a:lnTo>
                <a:lnTo>
                  <a:pt x="307" y="110"/>
                </a:lnTo>
                <a:lnTo>
                  <a:pt x="287" y="111"/>
                </a:lnTo>
                <a:lnTo>
                  <a:pt x="267" y="114"/>
                </a:lnTo>
                <a:lnTo>
                  <a:pt x="248" y="117"/>
                </a:lnTo>
                <a:lnTo>
                  <a:pt x="229" y="123"/>
                </a:lnTo>
                <a:lnTo>
                  <a:pt x="213" y="132"/>
                </a:lnTo>
                <a:lnTo>
                  <a:pt x="197" y="140"/>
                </a:lnTo>
                <a:lnTo>
                  <a:pt x="181" y="150"/>
                </a:lnTo>
                <a:lnTo>
                  <a:pt x="168" y="163"/>
                </a:lnTo>
                <a:lnTo>
                  <a:pt x="155" y="178"/>
                </a:lnTo>
                <a:lnTo>
                  <a:pt x="145" y="192"/>
                </a:lnTo>
                <a:lnTo>
                  <a:pt x="135" y="210"/>
                </a:lnTo>
                <a:lnTo>
                  <a:pt x="126" y="227"/>
                </a:lnTo>
                <a:lnTo>
                  <a:pt x="120" y="246"/>
                </a:lnTo>
                <a:lnTo>
                  <a:pt x="114" y="266"/>
                </a:lnTo>
                <a:lnTo>
                  <a:pt x="112" y="288"/>
                </a:lnTo>
                <a:lnTo>
                  <a:pt x="109" y="311"/>
                </a:lnTo>
                <a:lnTo>
                  <a:pt x="84" y="315"/>
                </a:lnTo>
                <a:lnTo>
                  <a:pt x="22" y="98"/>
                </a:lnTo>
                <a:lnTo>
                  <a:pt x="45" y="87"/>
                </a:lnTo>
                <a:lnTo>
                  <a:pt x="68" y="75"/>
                </a:lnTo>
                <a:lnTo>
                  <a:pt x="91" y="65"/>
                </a:lnTo>
                <a:lnTo>
                  <a:pt x="114" y="55"/>
                </a:lnTo>
                <a:lnTo>
                  <a:pt x="138" y="46"/>
                </a:lnTo>
                <a:lnTo>
                  <a:pt x="161" y="39"/>
                </a:lnTo>
                <a:lnTo>
                  <a:pt x="184" y="32"/>
                </a:lnTo>
                <a:lnTo>
                  <a:pt x="207" y="25"/>
                </a:lnTo>
                <a:lnTo>
                  <a:pt x="230" y="19"/>
                </a:lnTo>
                <a:lnTo>
                  <a:pt x="254" y="14"/>
                </a:lnTo>
                <a:lnTo>
                  <a:pt x="275" y="10"/>
                </a:lnTo>
                <a:lnTo>
                  <a:pt x="298" y="7"/>
                </a:lnTo>
                <a:lnTo>
                  <a:pt x="320" y="4"/>
                </a:lnTo>
                <a:lnTo>
                  <a:pt x="343" y="1"/>
                </a:lnTo>
                <a:lnTo>
                  <a:pt x="365" y="1"/>
                </a:lnTo>
                <a:lnTo>
                  <a:pt x="387" y="0"/>
                </a:lnTo>
                <a:lnTo>
                  <a:pt x="423" y="1"/>
                </a:lnTo>
                <a:lnTo>
                  <a:pt x="458" y="4"/>
                </a:lnTo>
                <a:lnTo>
                  <a:pt x="491" y="10"/>
                </a:lnTo>
                <a:lnTo>
                  <a:pt x="522" y="17"/>
                </a:lnTo>
                <a:lnTo>
                  <a:pt x="550" y="26"/>
                </a:lnTo>
                <a:lnTo>
                  <a:pt x="578" y="38"/>
                </a:lnTo>
                <a:lnTo>
                  <a:pt x="604" y="52"/>
                </a:lnTo>
                <a:lnTo>
                  <a:pt x="627" y="68"/>
                </a:lnTo>
                <a:lnTo>
                  <a:pt x="637" y="77"/>
                </a:lnTo>
                <a:lnTo>
                  <a:pt x="648" y="85"/>
                </a:lnTo>
                <a:lnTo>
                  <a:pt x="658" y="94"/>
                </a:lnTo>
                <a:lnTo>
                  <a:pt x="666" y="104"/>
                </a:lnTo>
                <a:lnTo>
                  <a:pt x="674" y="113"/>
                </a:lnTo>
                <a:lnTo>
                  <a:pt x="682" y="124"/>
                </a:lnTo>
                <a:lnTo>
                  <a:pt x="688" y="135"/>
                </a:lnTo>
                <a:lnTo>
                  <a:pt x="694" y="145"/>
                </a:lnTo>
                <a:lnTo>
                  <a:pt x="700" y="156"/>
                </a:lnTo>
                <a:lnTo>
                  <a:pt x="704" y="168"/>
                </a:lnTo>
                <a:lnTo>
                  <a:pt x="708" y="179"/>
                </a:lnTo>
                <a:lnTo>
                  <a:pt x="711" y="192"/>
                </a:lnTo>
                <a:lnTo>
                  <a:pt x="714" y="205"/>
                </a:lnTo>
                <a:lnTo>
                  <a:pt x="716" y="217"/>
                </a:lnTo>
                <a:lnTo>
                  <a:pt x="717" y="231"/>
                </a:lnTo>
                <a:lnTo>
                  <a:pt x="717" y="245"/>
                </a:lnTo>
                <a:lnTo>
                  <a:pt x="716" y="268"/>
                </a:lnTo>
                <a:lnTo>
                  <a:pt x="713" y="291"/>
                </a:lnTo>
                <a:lnTo>
                  <a:pt x="708" y="314"/>
                </a:lnTo>
                <a:lnTo>
                  <a:pt x="701" y="337"/>
                </a:lnTo>
                <a:lnTo>
                  <a:pt x="691" y="360"/>
                </a:lnTo>
                <a:lnTo>
                  <a:pt x="681" y="383"/>
                </a:lnTo>
                <a:lnTo>
                  <a:pt x="668" y="407"/>
                </a:lnTo>
                <a:lnTo>
                  <a:pt x="652" y="428"/>
                </a:lnTo>
                <a:lnTo>
                  <a:pt x="635" y="451"/>
                </a:lnTo>
                <a:lnTo>
                  <a:pt x="611" y="477"/>
                </a:lnTo>
                <a:lnTo>
                  <a:pt x="585" y="505"/>
                </a:lnTo>
                <a:lnTo>
                  <a:pt x="555" y="535"/>
                </a:lnTo>
                <a:lnTo>
                  <a:pt x="520" y="567"/>
                </a:lnTo>
                <a:lnTo>
                  <a:pt x="481" y="600"/>
                </a:lnTo>
                <a:lnTo>
                  <a:pt x="437" y="637"/>
                </a:lnTo>
                <a:lnTo>
                  <a:pt x="391" y="676"/>
                </a:lnTo>
                <a:lnTo>
                  <a:pt x="604" y="676"/>
                </a:lnTo>
                <a:lnTo>
                  <a:pt x="617" y="676"/>
                </a:lnTo>
                <a:lnTo>
                  <a:pt x="630" y="674"/>
                </a:lnTo>
                <a:lnTo>
                  <a:pt x="640" y="673"/>
                </a:lnTo>
                <a:lnTo>
                  <a:pt x="652" y="671"/>
                </a:lnTo>
                <a:lnTo>
                  <a:pt x="662" y="670"/>
                </a:lnTo>
                <a:lnTo>
                  <a:pt x="671" y="667"/>
                </a:lnTo>
                <a:lnTo>
                  <a:pt x="679" y="663"/>
                </a:lnTo>
                <a:lnTo>
                  <a:pt x="687" y="660"/>
                </a:lnTo>
                <a:lnTo>
                  <a:pt x="694" y="655"/>
                </a:lnTo>
                <a:lnTo>
                  <a:pt x="701" y="651"/>
                </a:lnTo>
                <a:lnTo>
                  <a:pt x="707" y="645"/>
                </a:lnTo>
                <a:lnTo>
                  <a:pt x="713" y="639"/>
                </a:lnTo>
                <a:lnTo>
                  <a:pt x="719" y="632"/>
                </a:lnTo>
                <a:lnTo>
                  <a:pt x="723" y="625"/>
                </a:lnTo>
                <a:lnTo>
                  <a:pt x="727" y="616"/>
                </a:lnTo>
                <a:lnTo>
                  <a:pt x="730" y="609"/>
                </a:lnTo>
                <a:lnTo>
                  <a:pt x="761" y="615"/>
                </a:lnTo>
                <a:lnTo>
                  <a:pt x="655" y="883"/>
                </a:lnTo>
                <a:lnTo>
                  <a:pt x="652" y="880"/>
                </a:lnTo>
                <a:lnTo>
                  <a:pt x="649" y="877"/>
                </a:lnTo>
                <a:lnTo>
                  <a:pt x="648" y="874"/>
                </a:lnTo>
                <a:lnTo>
                  <a:pt x="645" y="872"/>
                </a:lnTo>
                <a:lnTo>
                  <a:pt x="642" y="870"/>
                </a:lnTo>
                <a:lnTo>
                  <a:pt x="639" y="868"/>
                </a:lnTo>
                <a:lnTo>
                  <a:pt x="636" y="867"/>
                </a:lnTo>
                <a:lnTo>
                  <a:pt x="633" y="865"/>
                </a:lnTo>
                <a:lnTo>
                  <a:pt x="629" y="864"/>
                </a:lnTo>
                <a:lnTo>
                  <a:pt x="626" y="862"/>
                </a:lnTo>
                <a:lnTo>
                  <a:pt x="621" y="862"/>
                </a:lnTo>
                <a:lnTo>
                  <a:pt x="617" y="861"/>
                </a:lnTo>
                <a:lnTo>
                  <a:pt x="613" y="861"/>
                </a:lnTo>
                <a:lnTo>
                  <a:pt x="607" y="861"/>
                </a:lnTo>
                <a:lnTo>
                  <a:pt x="603" y="859"/>
                </a:lnTo>
                <a:lnTo>
                  <a:pt x="597" y="859"/>
                </a:lnTo>
                <a:lnTo>
                  <a:pt x="0" y="859"/>
                </a:lnTo>
              </a:path>
            </a:pathLst>
          </a:custGeom>
          <a:gradFill rotWithShape="0">
            <a:gsLst>
              <a:gs pos="0">
                <a:srgbClr val="6699FF">
                  <a:gamma/>
                  <a:tint val="42745"/>
                  <a:invGamma/>
                </a:srgbClr>
              </a:gs>
              <a:gs pos="100000">
                <a:srgbClr val="6699FF"/>
              </a:gs>
            </a:gsLst>
            <a:lin ang="5400000" scaled="1"/>
          </a:gradFill>
          <a:ln w="0" cap="sq" cmpd="sng">
            <a:noFill/>
            <a:prstDash val="solid"/>
            <a:miter lim="800000"/>
            <a:headEnd type="none" w="med" len="med"/>
            <a:tailEnd type="none" w="med" len="med"/>
          </a:ln>
          <a:effectLst>
            <a:outerShdw dist="35921" dir="2700000" algn="ctr" rotWithShape="0">
              <a:srgbClr val="919191"/>
            </a:outerShdw>
          </a:effectLst>
        </p:spPr>
        <p:txBody>
          <a:bodyPr/>
          <a:lstStyle/>
          <a:p>
            <a:endParaRPr lang="fr-BE"/>
          </a:p>
        </p:txBody>
      </p:sp>
      <p:sp>
        <p:nvSpPr>
          <p:cNvPr id="88075" name="Freeform 11"/>
          <p:cNvSpPr>
            <a:spLocks/>
          </p:cNvSpPr>
          <p:nvPr/>
        </p:nvSpPr>
        <p:spPr bwMode="auto">
          <a:xfrm>
            <a:off x="660218" y="5091113"/>
            <a:ext cx="304800" cy="377825"/>
          </a:xfrm>
          <a:custGeom>
            <a:avLst/>
            <a:gdLst/>
            <a:ahLst/>
            <a:cxnLst>
              <a:cxn ang="0">
                <a:pos x="169" y="771"/>
              </a:cxn>
              <a:cxn ang="0">
                <a:pos x="165" y="785"/>
              </a:cxn>
              <a:cxn ang="0">
                <a:pos x="163" y="800"/>
              </a:cxn>
              <a:cxn ang="0">
                <a:pos x="161" y="812"/>
              </a:cxn>
              <a:cxn ang="0">
                <a:pos x="161" y="823"/>
              </a:cxn>
              <a:cxn ang="0">
                <a:pos x="159" y="835"/>
              </a:cxn>
              <a:cxn ang="0">
                <a:pos x="165" y="881"/>
              </a:cxn>
              <a:cxn ang="0">
                <a:pos x="184" y="935"/>
              </a:cxn>
              <a:cxn ang="0">
                <a:pos x="222" y="981"/>
              </a:cxn>
              <a:cxn ang="0">
                <a:pos x="276" y="1013"/>
              </a:cxn>
              <a:cxn ang="0">
                <a:pos x="341" y="1031"/>
              </a:cxn>
              <a:cxn ang="0">
                <a:pos x="420" y="1032"/>
              </a:cxn>
              <a:cxn ang="0">
                <a:pos x="495" y="1017"/>
              </a:cxn>
              <a:cxn ang="0">
                <a:pos x="560" y="985"/>
              </a:cxn>
              <a:cxn ang="0">
                <a:pos x="612" y="937"/>
              </a:cxn>
              <a:cxn ang="0">
                <a:pos x="645" y="879"/>
              </a:cxn>
              <a:cxn ang="0">
                <a:pos x="654" y="814"/>
              </a:cxn>
              <a:cxn ang="0">
                <a:pos x="643" y="743"/>
              </a:cxn>
              <a:cxn ang="0">
                <a:pos x="604" y="681"/>
              </a:cxn>
              <a:cxn ang="0">
                <a:pos x="541" y="631"/>
              </a:cxn>
              <a:cxn ang="0">
                <a:pos x="462" y="599"/>
              </a:cxn>
              <a:cxn ang="0">
                <a:pos x="366" y="583"/>
              </a:cxn>
              <a:cxn ang="0">
                <a:pos x="316" y="581"/>
              </a:cxn>
              <a:cxn ang="0">
                <a:pos x="293" y="583"/>
              </a:cxn>
              <a:cxn ang="0">
                <a:pos x="269" y="585"/>
              </a:cxn>
              <a:cxn ang="0">
                <a:pos x="244" y="589"/>
              </a:cxn>
              <a:cxn ang="0">
                <a:pos x="217" y="593"/>
              </a:cxn>
              <a:cxn ang="0">
                <a:pos x="608" y="249"/>
              </a:cxn>
              <a:cxn ang="0">
                <a:pos x="219" y="249"/>
              </a:cxn>
              <a:cxn ang="0">
                <a:pos x="196" y="255"/>
              </a:cxn>
              <a:cxn ang="0">
                <a:pos x="176" y="265"/>
              </a:cxn>
              <a:cxn ang="0">
                <a:pos x="157" y="282"/>
              </a:cxn>
              <a:cxn ang="0">
                <a:pos x="138" y="307"/>
              </a:cxn>
              <a:cxn ang="0">
                <a:pos x="88" y="319"/>
              </a:cxn>
              <a:cxn ang="0">
                <a:pos x="207" y="6"/>
              </a:cxn>
              <a:cxn ang="0">
                <a:pos x="217" y="13"/>
              </a:cxn>
              <a:cxn ang="0">
                <a:pos x="226" y="17"/>
              </a:cxn>
              <a:cxn ang="0">
                <a:pos x="238" y="21"/>
              </a:cxn>
              <a:cxn ang="0">
                <a:pos x="253" y="23"/>
              </a:cxn>
              <a:cxn ang="0">
                <a:pos x="850" y="23"/>
              </a:cxn>
              <a:cxn ang="0">
                <a:pos x="648" y="393"/>
              </a:cxn>
              <a:cxn ang="0">
                <a:pos x="756" y="424"/>
              </a:cxn>
              <a:cxn ang="0">
                <a:pos x="842" y="478"/>
              </a:cxn>
              <a:cxn ang="0">
                <a:pos x="909" y="551"/>
              </a:cxn>
              <a:cxn ang="0">
                <a:pos x="952" y="639"/>
              </a:cxn>
              <a:cxn ang="0">
                <a:pos x="965" y="741"/>
              </a:cxn>
              <a:cxn ang="0">
                <a:pos x="959" y="808"/>
              </a:cxn>
              <a:cxn ang="0">
                <a:pos x="944" y="869"/>
              </a:cxn>
              <a:cxn ang="0">
                <a:pos x="917" y="927"/>
              </a:cxn>
              <a:cxn ang="0">
                <a:pos x="882" y="979"/>
              </a:cxn>
              <a:cxn ang="0">
                <a:pos x="836" y="1029"/>
              </a:cxn>
              <a:cxn ang="0">
                <a:pos x="781" y="1071"/>
              </a:cxn>
              <a:cxn ang="0">
                <a:pos x="717" y="1105"/>
              </a:cxn>
              <a:cxn ang="0">
                <a:pos x="650" y="1132"/>
              </a:cxn>
              <a:cxn ang="0">
                <a:pos x="576" y="1150"/>
              </a:cxn>
              <a:cxn ang="0">
                <a:pos x="497" y="1161"/>
              </a:cxn>
              <a:cxn ang="0">
                <a:pos x="409" y="1161"/>
              </a:cxn>
              <a:cxn ang="0">
                <a:pos x="318" y="1153"/>
              </a:cxn>
              <a:cxn ang="0">
                <a:pos x="234" y="1138"/>
              </a:cxn>
              <a:cxn ang="0">
                <a:pos x="153" y="1113"/>
              </a:cxn>
              <a:cxn ang="0">
                <a:pos x="75" y="1079"/>
              </a:cxn>
              <a:cxn ang="0">
                <a:pos x="0" y="1034"/>
              </a:cxn>
            </a:cxnLst>
            <a:rect l="0" t="0" r="r" b="b"/>
            <a:pathLst>
              <a:path w="965" h="1163">
                <a:moveTo>
                  <a:pt x="0" y="1034"/>
                </a:moveTo>
                <a:lnTo>
                  <a:pt x="132" y="754"/>
                </a:lnTo>
                <a:lnTo>
                  <a:pt x="169" y="771"/>
                </a:lnTo>
                <a:lnTo>
                  <a:pt x="167" y="775"/>
                </a:lnTo>
                <a:lnTo>
                  <a:pt x="167" y="781"/>
                </a:lnTo>
                <a:lnTo>
                  <a:pt x="165" y="785"/>
                </a:lnTo>
                <a:lnTo>
                  <a:pt x="165" y="791"/>
                </a:lnTo>
                <a:lnTo>
                  <a:pt x="163" y="794"/>
                </a:lnTo>
                <a:lnTo>
                  <a:pt x="163" y="800"/>
                </a:lnTo>
                <a:lnTo>
                  <a:pt x="163" y="804"/>
                </a:lnTo>
                <a:lnTo>
                  <a:pt x="163" y="808"/>
                </a:lnTo>
                <a:lnTo>
                  <a:pt x="161" y="812"/>
                </a:lnTo>
                <a:lnTo>
                  <a:pt x="161" y="816"/>
                </a:lnTo>
                <a:lnTo>
                  <a:pt x="161" y="819"/>
                </a:lnTo>
                <a:lnTo>
                  <a:pt x="161" y="823"/>
                </a:lnTo>
                <a:lnTo>
                  <a:pt x="161" y="827"/>
                </a:lnTo>
                <a:lnTo>
                  <a:pt x="161" y="831"/>
                </a:lnTo>
                <a:lnTo>
                  <a:pt x="159" y="835"/>
                </a:lnTo>
                <a:lnTo>
                  <a:pt x="159" y="839"/>
                </a:lnTo>
                <a:lnTo>
                  <a:pt x="161" y="860"/>
                </a:lnTo>
                <a:lnTo>
                  <a:pt x="165" y="881"/>
                </a:lnTo>
                <a:lnTo>
                  <a:pt x="169" y="900"/>
                </a:lnTo>
                <a:lnTo>
                  <a:pt x="176" y="917"/>
                </a:lnTo>
                <a:lnTo>
                  <a:pt x="184" y="935"/>
                </a:lnTo>
                <a:lnTo>
                  <a:pt x="196" y="952"/>
                </a:lnTo>
                <a:lnTo>
                  <a:pt x="209" y="967"/>
                </a:lnTo>
                <a:lnTo>
                  <a:pt x="222" y="981"/>
                </a:lnTo>
                <a:lnTo>
                  <a:pt x="240" y="992"/>
                </a:lnTo>
                <a:lnTo>
                  <a:pt x="257" y="1004"/>
                </a:lnTo>
                <a:lnTo>
                  <a:pt x="276" y="1013"/>
                </a:lnTo>
                <a:lnTo>
                  <a:pt x="297" y="1019"/>
                </a:lnTo>
                <a:lnTo>
                  <a:pt x="318" y="1025"/>
                </a:lnTo>
                <a:lnTo>
                  <a:pt x="341" y="1031"/>
                </a:lnTo>
                <a:lnTo>
                  <a:pt x="366" y="1032"/>
                </a:lnTo>
                <a:lnTo>
                  <a:pt x="393" y="1032"/>
                </a:lnTo>
                <a:lnTo>
                  <a:pt x="420" y="1032"/>
                </a:lnTo>
                <a:lnTo>
                  <a:pt x="447" y="1029"/>
                </a:lnTo>
                <a:lnTo>
                  <a:pt x="472" y="1025"/>
                </a:lnTo>
                <a:lnTo>
                  <a:pt x="495" y="1017"/>
                </a:lnTo>
                <a:lnTo>
                  <a:pt x="518" y="1008"/>
                </a:lnTo>
                <a:lnTo>
                  <a:pt x="539" y="998"/>
                </a:lnTo>
                <a:lnTo>
                  <a:pt x="560" y="985"/>
                </a:lnTo>
                <a:lnTo>
                  <a:pt x="579" y="969"/>
                </a:lnTo>
                <a:lnTo>
                  <a:pt x="597" y="954"/>
                </a:lnTo>
                <a:lnTo>
                  <a:pt x="612" y="937"/>
                </a:lnTo>
                <a:lnTo>
                  <a:pt x="625" y="917"/>
                </a:lnTo>
                <a:lnTo>
                  <a:pt x="637" y="900"/>
                </a:lnTo>
                <a:lnTo>
                  <a:pt x="645" y="879"/>
                </a:lnTo>
                <a:lnTo>
                  <a:pt x="650" y="858"/>
                </a:lnTo>
                <a:lnTo>
                  <a:pt x="654" y="837"/>
                </a:lnTo>
                <a:lnTo>
                  <a:pt x="654" y="814"/>
                </a:lnTo>
                <a:lnTo>
                  <a:pt x="654" y="789"/>
                </a:lnTo>
                <a:lnTo>
                  <a:pt x="648" y="766"/>
                </a:lnTo>
                <a:lnTo>
                  <a:pt x="643" y="743"/>
                </a:lnTo>
                <a:lnTo>
                  <a:pt x="633" y="722"/>
                </a:lnTo>
                <a:lnTo>
                  <a:pt x="620" y="700"/>
                </a:lnTo>
                <a:lnTo>
                  <a:pt x="604" y="681"/>
                </a:lnTo>
                <a:lnTo>
                  <a:pt x="585" y="664"/>
                </a:lnTo>
                <a:lnTo>
                  <a:pt x="564" y="647"/>
                </a:lnTo>
                <a:lnTo>
                  <a:pt x="541" y="631"/>
                </a:lnTo>
                <a:lnTo>
                  <a:pt x="516" y="618"/>
                </a:lnTo>
                <a:lnTo>
                  <a:pt x="491" y="606"/>
                </a:lnTo>
                <a:lnTo>
                  <a:pt x="462" y="599"/>
                </a:lnTo>
                <a:lnTo>
                  <a:pt x="432" y="591"/>
                </a:lnTo>
                <a:lnTo>
                  <a:pt x="401" y="585"/>
                </a:lnTo>
                <a:lnTo>
                  <a:pt x="366" y="583"/>
                </a:lnTo>
                <a:lnTo>
                  <a:pt x="332" y="581"/>
                </a:lnTo>
                <a:lnTo>
                  <a:pt x="324" y="581"/>
                </a:lnTo>
                <a:lnTo>
                  <a:pt x="316" y="581"/>
                </a:lnTo>
                <a:lnTo>
                  <a:pt x="309" y="581"/>
                </a:lnTo>
                <a:lnTo>
                  <a:pt x="301" y="583"/>
                </a:lnTo>
                <a:lnTo>
                  <a:pt x="293" y="583"/>
                </a:lnTo>
                <a:lnTo>
                  <a:pt x="286" y="583"/>
                </a:lnTo>
                <a:lnTo>
                  <a:pt x="276" y="585"/>
                </a:lnTo>
                <a:lnTo>
                  <a:pt x="269" y="585"/>
                </a:lnTo>
                <a:lnTo>
                  <a:pt x="261" y="587"/>
                </a:lnTo>
                <a:lnTo>
                  <a:pt x="251" y="587"/>
                </a:lnTo>
                <a:lnTo>
                  <a:pt x="244" y="589"/>
                </a:lnTo>
                <a:lnTo>
                  <a:pt x="234" y="589"/>
                </a:lnTo>
                <a:lnTo>
                  <a:pt x="226" y="591"/>
                </a:lnTo>
                <a:lnTo>
                  <a:pt x="217" y="593"/>
                </a:lnTo>
                <a:lnTo>
                  <a:pt x="207" y="595"/>
                </a:lnTo>
                <a:lnTo>
                  <a:pt x="199" y="597"/>
                </a:lnTo>
                <a:lnTo>
                  <a:pt x="608" y="249"/>
                </a:lnTo>
                <a:lnTo>
                  <a:pt x="236" y="249"/>
                </a:lnTo>
                <a:lnTo>
                  <a:pt x="228" y="249"/>
                </a:lnTo>
                <a:lnTo>
                  <a:pt x="219" y="249"/>
                </a:lnTo>
                <a:lnTo>
                  <a:pt x="211" y="251"/>
                </a:lnTo>
                <a:lnTo>
                  <a:pt x="203" y="253"/>
                </a:lnTo>
                <a:lnTo>
                  <a:pt x="196" y="255"/>
                </a:lnTo>
                <a:lnTo>
                  <a:pt x="190" y="257"/>
                </a:lnTo>
                <a:lnTo>
                  <a:pt x="182" y="261"/>
                </a:lnTo>
                <a:lnTo>
                  <a:pt x="176" y="265"/>
                </a:lnTo>
                <a:lnTo>
                  <a:pt x="171" y="271"/>
                </a:lnTo>
                <a:lnTo>
                  <a:pt x="163" y="276"/>
                </a:lnTo>
                <a:lnTo>
                  <a:pt x="157" y="282"/>
                </a:lnTo>
                <a:lnTo>
                  <a:pt x="151" y="290"/>
                </a:lnTo>
                <a:lnTo>
                  <a:pt x="146" y="297"/>
                </a:lnTo>
                <a:lnTo>
                  <a:pt x="138" y="307"/>
                </a:lnTo>
                <a:lnTo>
                  <a:pt x="132" y="317"/>
                </a:lnTo>
                <a:lnTo>
                  <a:pt x="125" y="328"/>
                </a:lnTo>
                <a:lnTo>
                  <a:pt x="88" y="319"/>
                </a:lnTo>
                <a:lnTo>
                  <a:pt x="199" y="0"/>
                </a:lnTo>
                <a:lnTo>
                  <a:pt x="203" y="2"/>
                </a:lnTo>
                <a:lnTo>
                  <a:pt x="207" y="6"/>
                </a:lnTo>
                <a:lnTo>
                  <a:pt x="209" y="8"/>
                </a:lnTo>
                <a:lnTo>
                  <a:pt x="213" y="11"/>
                </a:lnTo>
                <a:lnTo>
                  <a:pt x="217" y="13"/>
                </a:lnTo>
                <a:lnTo>
                  <a:pt x="221" y="15"/>
                </a:lnTo>
                <a:lnTo>
                  <a:pt x="224" y="17"/>
                </a:lnTo>
                <a:lnTo>
                  <a:pt x="226" y="17"/>
                </a:lnTo>
                <a:lnTo>
                  <a:pt x="230" y="19"/>
                </a:lnTo>
                <a:lnTo>
                  <a:pt x="234" y="21"/>
                </a:lnTo>
                <a:lnTo>
                  <a:pt x="238" y="21"/>
                </a:lnTo>
                <a:lnTo>
                  <a:pt x="244" y="21"/>
                </a:lnTo>
                <a:lnTo>
                  <a:pt x="247" y="23"/>
                </a:lnTo>
                <a:lnTo>
                  <a:pt x="253" y="23"/>
                </a:lnTo>
                <a:lnTo>
                  <a:pt x="259" y="23"/>
                </a:lnTo>
                <a:lnTo>
                  <a:pt x="263" y="23"/>
                </a:lnTo>
                <a:lnTo>
                  <a:pt x="850" y="23"/>
                </a:lnTo>
                <a:lnTo>
                  <a:pt x="906" y="155"/>
                </a:lnTo>
                <a:lnTo>
                  <a:pt x="608" y="390"/>
                </a:lnTo>
                <a:lnTo>
                  <a:pt x="648" y="393"/>
                </a:lnTo>
                <a:lnTo>
                  <a:pt x="687" y="403"/>
                </a:lnTo>
                <a:lnTo>
                  <a:pt x="721" y="413"/>
                </a:lnTo>
                <a:lnTo>
                  <a:pt x="756" y="424"/>
                </a:lnTo>
                <a:lnTo>
                  <a:pt x="787" y="439"/>
                </a:lnTo>
                <a:lnTo>
                  <a:pt x="815" y="459"/>
                </a:lnTo>
                <a:lnTo>
                  <a:pt x="842" y="478"/>
                </a:lnTo>
                <a:lnTo>
                  <a:pt x="869" y="501"/>
                </a:lnTo>
                <a:lnTo>
                  <a:pt x="890" y="526"/>
                </a:lnTo>
                <a:lnTo>
                  <a:pt x="909" y="551"/>
                </a:lnTo>
                <a:lnTo>
                  <a:pt x="927" y="580"/>
                </a:lnTo>
                <a:lnTo>
                  <a:pt x="940" y="608"/>
                </a:lnTo>
                <a:lnTo>
                  <a:pt x="952" y="639"/>
                </a:lnTo>
                <a:lnTo>
                  <a:pt x="957" y="672"/>
                </a:lnTo>
                <a:lnTo>
                  <a:pt x="963" y="704"/>
                </a:lnTo>
                <a:lnTo>
                  <a:pt x="965" y="741"/>
                </a:lnTo>
                <a:lnTo>
                  <a:pt x="963" y="764"/>
                </a:lnTo>
                <a:lnTo>
                  <a:pt x="961" y="785"/>
                </a:lnTo>
                <a:lnTo>
                  <a:pt x="959" y="808"/>
                </a:lnTo>
                <a:lnTo>
                  <a:pt x="955" y="829"/>
                </a:lnTo>
                <a:lnTo>
                  <a:pt x="950" y="848"/>
                </a:lnTo>
                <a:lnTo>
                  <a:pt x="944" y="869"/>
                </a:lnTo>
                <a:lnTo>
                  <a:pt x="936" y="889"/>
                </a:lnTo>
                <a:lnTo>
                  <a:pt x="929" y="908"/>
                </a:lnTo>
                <a:lnTo>
                  <a:pt x="917" y="927"/>
                </a:lnTo>
                <a:lnTo>
                  <a:pt x="907" y="944"/>
                </a:lnTo>
                <a:lnTo>
                  <a:pt x="896" y="961"/>
                </a:lnTo>
                <a:lnTo>
                  <a:pt x="882" y="979"/>
                </a:lnTo>
                <a:lnTo>
                  <a:pt x="867" y="996"/>
                </a:lnTo>
                <a:lnTo>
                  <a:pt x="852" y="1011"/>
                </a:lnTo>
                <a:lnTo>
                  <a:pt x="836" y="1029"/>
                </a:lnTo>
                <a:lnTo>
                  <a:pt x="817" y="1042"/>
                </a:lnTo>
                <a:lnTo>
                  <a:pt x="800" y="1057"/>
                </a:lnTo>
                <a:lnTo>
                  <a:pt x="781" y="1071"/>
                </a:lnTo>
                <a:lnTo>
                  <a:pt x="760" y="1084"/>
                </a:lnTo>
                <a:lnTo>
                  <a:pt x="741" y="1096"/>
                </a:lnTo>
                <a:lnTo>
                  <a:pt x="717" y="1105"/>
                </a:lnTo>
                <a:lnTo>
                  <a:pt x="696" y="1115"/>
                </a:lnTo>
                <a:lnTo>
                  <a:pt x="673" y="1125"/>
                </a:lnTo>
                <a:lnTo>
                  <a:pt x="650" y="1132"/>
                </a:lnTo>
                <a:lnTo>
                  <a:pt x="625" y="1140"/>
                </a:lnTo>
                <a:lnTo>
                  <a:pt x="602" y="1146"/>
                </a:lnTo>
                <a:lnTo>
                  <a:pt x="576" y="1150"/>
                </a:lnTo>
                <a:lnTo>
                  <a:pt x="551" y="1155"/>
                </a:lnTo>
                <a:lnTo>
                  <a:pt x="524" y="1157"/>
                </a:lnTo>
                <a:lnTo>
                  <a:pt x="497" y="1161"/>
                </a:lnTo>
                <a:lnTo>
                  <a:pt x="468" y="1161"/>
                </a:lnTo>
                <a:lnTo>
                  <a:pt x="439" y="1163"/>
                </a:lnTo>
                <a:lnTo>
                  <a:pt x="409" y="1161"/>
                </a:lnTo>
                <a:lnTo>
                  <a:pt x="378" y="1161"/>
                </a:lnTo>
                <a:lnTo>
                  <a:pt x="349" y="1157"/>
                </a:lnTo>
                <a:lnTo>
                  <a:pt x="318" y="1153"/>
                </a:lnTo>
                <a:lnTo>
                  <a:pt x="290" y="1150"/>
                </a:lnTo>
                <a:lnTo>
                  <a:pt x="263" y="1144"/>
                </a:lnTo>
                <a:lnTo>
                  <a:pt x="234" y="1138"/>
                </a:lnTo>
                <a:lnTo>
                  <a:pt x="207" y="1130"/>
                </a:lnTo>
                <a:lnTo>
                  <a:pt x="180" y="1123"/>
                </a:lnTo>
                <a:lnTo>
                  <a:pt x="153" y="1113"/>
                </a:lnTo>
                <a:lnTo>
                  <a:pt x="127" y="1102"/>
                </a:lnTo>
                <a:lnTo>
                  <a:pt x="102" y="1090"/>
                </a:lnTo>
                <a:lnTo>
                  <a:pt x="75" y="1079"/>
                </a:lnTo>
                <a:lnTo>
                  <a:pt x="50" y="1065"/>
                </a:lnTo>
                <a:lnTo>
                  <a:pt x="25" y="1050"/>
                </a:lnTo>
                <a:lnTo>
                  <a:pt x="0" y="1034"/>
                </a:lnTo>
              </a:path>
            </a:pathLst>
          </a:custGeom>
          <a:gradFill rotWithShape="0">
            <a:gsLst>
              <a:gs pos="0">
                <a:srgbClr val="6699FF">
                  <a:gamma/>
                  <a:tint val="42745"/>
                  <a:invGamma/>
                </a:srgbClr>
              </a:gs>
              <a:gs pos="100000">
                <a:srgbClr val="6699FF"/>
              </a:gs>
            </a:gsLst>
            <a:lin ang="5400000" scaled="1"/>
          </a:gradFill>
          <a:ln w="0" cap="sq" cmpd="sng">
            <a:noFill/>
            <a:prstDash val="solid"/>
            <a:miter lim="800000"/>
            <a:headEnd type="none" w="med" len="med"/>
            <a:tailEnd type="none" w="med" len="med"/>
          </a:ln>
          <a:effectLst>
            <a:outerShdw dist="35921" dir="2700000" algn="ctr" rotWithShape="0">
              <a:srgbClr val="919191"/>
            </a:outerShdw>
          </a:effectLst>
        </p:spPr>
        <p:txBody>
          <a:bodyPr/>
          <a:lstStyle/>
          <a:p>
            <a:endParaRPr lang="fr-B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8070"/>
                                        </p:tgtEl>
                                        <p:attrNameLst>
                                          <p:attrName>style.visibility</p:attrName>
                                        </p:attrNameLst>
                                      </p:cBhvr>
                                      <p:to>
                                        <p:strVal val="visible"/>
                                      </p:to>
                                    </p:set>
                                    <p:animEffect transition="in" filter="checkerboard(across)">
                                      <p:cBhvr>
                                        <p:cTn id="7" dur="1000"/>
                                        <p:tgtEl>
                                          <p:spTgt spid="8807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8073"/>
                                        </p:tgtEl>
                                        <p:attrNameLst>
                                          <p:attrName>style.visibility</p:attrName>
                                        </p:attrNameLst>
                                      </p:cBhvr>
                                      <p:to>
                                        <p:strVal val="visible"/>
                                      </p:to>
                                    </p:set>
                                    <p:animEffect transition="in" filter="checkerboard(across)">
                                      <p:cBhvr>
                                        <p:cTn id="10" dur="1000"/>
                                        <p:tgtEl>
                                          <p:spTgt spid="88073"/>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88071"/>
                                        </p:tgtEl>
                                        <p:attrNameLst>
                                          <p:attrName>style.visibility</p:attrName>
                                        </p:attrNameLst>
                                      </p:cBhvr>
                                      <p:to>
                                        <p:strVal val="visible"/>
                                      </p:to>
                                    </p:set>
                                    <p:animEffect transition="in" filter="checkerboard(across)">
                                      <p:cBhvr>
                                        <p:cTn id="15" dur="1000"/>
                                        <p:tgtEl>
                                          <p:spTgt spid="88071"/>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88074"/>
                                        </p:tgtEl>
                                        <p:attrNameLst>
                                          <p:attrName>style.visibility</p:attrName>
                                        </p:attrNameLst>
                                      </p:cBhvr>
                                      <p:to>
                                        <p:strVal val="visible"/>
                                      </p:to>
                                    </p:set>
                                    <p:animEffect transition="in" filter="checkerboard(across)">
                                      <p:cBhvr>
                                        <p:cTn id="18" dur="1000"/>
                                        <p:tgtEl>
                                          <p:spTgt spid="88074"/>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8072"/>
                                        </p:tgtEl>
                                        <p:attrNameLst>
                                          <p:attrName>style.visibility</p:attrName>
                                        </p:attrNameLst>
                                      </p:cBhvr>
                                      <p:to>
                                        <p:strVal val="visible"/>
                                      </p:to>
                                    </p:set>
                                    <p:animEffect transition="in" filter="checkerboard(across)">
                                      <p:cBhvr>
                                        <p:cTn id="23" dur="1000"/>
                                        <p:tgtEl>
                                          <p:spTgt spid="88072"/>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88075"/>
                                        </p:tgtEl>
                                        <p:attrNameLst>
                                          <p:attrName>style.visibility</p:attrName>
                                        </p:attrNameLst>
                                      </p:cBhvr>
                                      <p:to>
                                        <p:strVal val="visible"/>
                                      </p:to>
                                    </p:set>
                                    <p:animEffect transition="in" filter="checkerboard(across)">
                                      <p:cBhvr>
                                        <p:cTn id="26" dur="1000"/>
                                        <p:tgtEl>
                                          <p:spTgt spid="88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0" grpId="0" animBg="1"/>
      <p:bldP spid="88071" grpId="0" animBg="1"/>
      <p:bldP spid="88072" grpId="0" animBg="1"/>
      <p:bldP spid="88073" grpId="0" animBg="1"/>
      <p:bldP spid="88074" grpId="0" animBg="1"/>
      <p:bldP spid="8807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82136" y="1418897"/>
            <a:ext cx="8461613" cy="4871220"/>
          </a:xfrm>
        </p:spPr>
        <p:txBody>
          <a:bodyPr>
            <a:normAutofit fontScale="92500"/>
          </a:bodyPr>
          <a:lstStyle/>
          <a:p>
            <a:pPr marL="514350" indent="-514350">
              <a:buClr>
                <a:schemeClr val="tx1"/>
              </a:buClr>
              <a:buFont typeface="+mj-lt"/>
              <a:buAutoNum type="arabicPeriod"/>
            </a:pPr>
            <a:r>
              <a:rPr lang="fr-FR" dirty="0"/>
              <a:t>Votre entreprise a décidé d'installer Win 7 Pro sur les nouveaux ordinateurs qui seront achetés pour les utilisateurs du bureau. Quelle(s) tâche(s) devez-vous exécuter pour s’assurer que Win 7 Pro peut être installé et exécuté sans problème ?</a:t>
            </a:r>
          </a:p>
          <a:p>
            <a:pPr marL="514350" lvl="0" indent="-514350">
              <a:buClr>
                <a:schemeClr val="tx1"/>
              </a:buClr>
              <a:buFont typeface="+mj-lt"/>
              <a:buAutoNum type="arabicPeriod" startAt="2"/>
            </a:pPr>
            <a:r>
              <a:rPr lang="fr-FR" dirty="0"/>
              <a:t>Vous êtes responsable de la mise à niveau vers Win 7 Pro d'un parc informatique actuellement sous Windows vista. Voici la configuration matérielle des ordinateurs: Processeur Intel 233Mhz ; RAM 512Mo; HDD 20 Go. La mise à jour est-elle possible ? Si non, quels composants empêchent cette mise à jour ?</a:t>
            </a:r>
          </a:p>
          <a:p>
            <a:pPr marL="514350" indent="-514350">
              <a:buClr>
                <a:schemeClr val="tx1"/>
              </a:buClr>
              <a:buFont typeface="+mj-lt"/>
              <a:buAutoNum type="arabicPeriod"/>
            </a:pPr>
            <a:endParaRPr lang="fr-FR" dirty="0"/>
          </a:p>
          <a:p>
            <a:pPr marL="514350" indent="-514350">
              <a:buClr>
                <a:schemeClr val="tx1"/>
              </a:buClr>
              <a:buFont typeface="+mj-lt"/>
              <a:buAutoNum type="arabicPeriod"/>
            </a:pPr>
            <a:endParaRPr lang="fr-FR" dirty="0"/>
          </a:p>
          <a:p>
            <a:pPr marL="514350" indent="-514350">
              <a:buClr>
                <a:schemeClr val="tx1"/>
              </a:buClr>
              <a:buFont typeface="+mj-lt"/>
              <a:buAutoNum type="arabicPeriod"/>
            </a:pPr>
            <a:endParaRPr lang="fr-F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p:txBody>
          <a:bodyPr>
            <a:normAutofit/>
          </a:bodyPr>
          <a:lstStyle/>
          <a:p>
            <a:pPr marL="514350" indent="-514350">
              <a:buClr>
                <a:schemeClr val="tx1"/>
              </a:buClr>
              <a:buFont typeface="+mj-lt"/>
              <a:buAutoNum type="arabicPeriod"/>
            </a:pPr>
            <a:r>
              <a:rPr lang="fr-FR" dirty="0"/>
              <a:t>Votre entreprise a décidé d'installer Win 7 Pro sur les nouveaux ordinateurs qui seront achetés pour les utilisateurs du bureau. Quelle(s) tâche(s) devez-vous exécuter pour s’assurer que Win 7 Pro peut être installé et exécuté sans problème ?</a:t>
            </a:r>
          </a:p>
          <a:p>
            <a:r>
              <a:rPr lang="fr-FR" b="1" dirty="0"/>
              <a:t>Vérifier que les composants des ordinateurs répondent à la configuration système minimale requise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186188" y="1554827"/>
            <a:ext cx="8761864" cy="4572000"/>
          </a:xfrm>
        </p:spPr>
        <p:txBody>
          <a:bodyPr>
            <a:normAutofit lnSpcReduction="10000"/>
          </a:bodyPr>
          <a:lstStyle/>
          <a:p>
            <a:pPr marL="514350" lvl="0" indent="-514350">
              <a:buClr>
                <a:schemeClr val="tx1"/>
              </a:buClr>
              <a:buFont typeface="+mj-lt"/>
              <a:buAutoNum type="arabicPeriod" startAt="2"/>
            </a:pPr>
            <a:r>
              <a:rPr lang="fr-FR" dirty="0"/>
              <a:t>Vous êtes responsable de la mise à niveau vers Win 7 Pro d'un parc informatique actuellement sous Windows vista. Voici la configuration matérielle des ordinateurs: Processeur Intel 233Mhz ; RAM 512Mo; HDD 20 Go. La mise </a:t>
            </a:r>
            <a:r>
              <a:rPr lang="fr-FR"/>
              <a:t>à niveau </a:t>
            </a:r>
            <a:r>
              <a:rPr lang="fr-FR" dirty="0"/>
              <a:t>est-elle possible ? Si non, quels composants empêchent cette mise à jour ?</a:t>
            </a:r>
          </a:p>
          <a:p>
            <a:pPr lvl="0"/>
            <a:r>
              <a:rPr lang="fr-FR" b="1" dirty="0"/>
              <a:t>La mise à jour est impossible</a:t>
            </a:r>
          </a:p>
          <a:p>
            <a:pPr lvl="0"/>
            <a:r>
              <a:rPr lang="fr-FR" b="1" dirty="0"/>
              <a:t>Le processeur n'est pas assez performant</a:t>
            </a:r>
          </a:p>
          <a:p>
            <a:r>
              <a:rPr lang="fr-FR" b="1" dirty="0"/>
              <a:t>La quantité de mémoire vive est insuffisante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heckerboard(across)">
                                      <p:cBhvr>
                                        <p:cTn id="15" dur="1000"/>
                                        <p:tgtEl>
                                          <p:spTgt spid="3">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heckerboard(across)">
                                      <p:cBhvr>
                                        <p:cTn id="18"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8871</TotalTime>
  <Words>8676</Words>
  <Application>Microsoft Office PowerPoint</Application>
  <PresentationFormat>Affichage à l'écran (4:3)</PresentationFormat>
  <Paragraphs>611</Paragraphs>
  <Slides>33</Slides>
  <Notes>16</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33</vt:i4>
      </vt:variant>
    </vt:vector>
  </HeadingPairs>
  <TitlesOfParts>
    <vt:vector size="44" baseType="lpstr">
      <vt:lpstr>ＭＳ Ｐゴシック</vt:lpstr>
      <vt:lpstr>Times New Roman</vt:lpstr>
      <vt:lpstr>Segoe Semibold</vt:lpstr>
      <vt:lpstr>Wingdings</vt:lpstr>
      <vt:lpstr>Calibri</vt:lpstr>
      <vt:lpstr>Arial Narrow</vt:lpstr>
      <vt:lpstr>Segoe</vt:lpstr>
      <vt:lpstr>Georgia</vt:lpstr>
      <vt:lpstr>Wingdings 2</vt:lpstr>
      <vt:lpstr>Arial</vt:lpstr>
      <vt:lpstr>Civil</vt:lpstr>
      <vt:lpstr>Chapitre1 Installation de Microsoft Windows 7</vt:lpstr>
      <vt:lpstr>Plan du cours</vt:lpstr>
      <vt:lpstr>1. Planification de l'installation de Microsoft Windows 7</vt:lpstr>
      <vt:lpstr>Les fonctionnalités de Windows 7</vt:lpstr>
      <vt:lpstr>Les éditions de Windows 7</vt:lpstr>
      <vt:lpstr>Les éditions de Windows 7</vt:lpstr>
      <vt:lpstr>Les éditions de Windows 7</vt:lpstr>
      <vt:lpstr>Liste de vérifications avant l'installation</vt:lpstr>
      <vt:lpstr>Vérification de la configuration système requise</vt:lpstr>
      <vt:lpstr>Avantages de l’utilisation des éditions 64-Bit de Windows 7</vt:lpstr>
      <vt:lpstr>Les options de partitionnement de disque</vt:lpstr>
      <vt:lpstr>Choix du système de fichiers approprié :  FAT, FAT32, NTFS</vt:lpstr>
      <vt:lpstr>Choix entre une installation dans un groupe de travail et dans un domaine</vt:lpstr>
      <vt:lpstr>Les options de l’installation de Windows 7</vt:lpstr>
      <vt:lpstr>Les options de l’installation de Windows 7</vt:lpstr>
      <vt:lpstr>Les options de l’installation de Windows 7</vt:lpstr>
      <vt:lpstr>Les options de l’installation de Windows 7</vt:lpstr>
      <vt:lpstr>2- Réalisation d'une nouvelle installation de Windows 7</vt:lpstr>
      <vt:lpstr>Discussion: Les élements à prendre en charge lors d’une nouvelle installation</vt:lpstr>
      <vt:lpstr>Méthodes permettant d’effectuer une nouvelle installation </vt:lpstr>
      <vt:lpstr>Question</vt:lpstr>
      <vt:lpstr>3- Mise à niveau et migration vers Windows 7</vt:lpstr>
      <vt:lpstr>Les éléments à prendre en compte</vt:lpstr>
      <vt:lpstr>Identification des chemins de mise à niveau valides</vt:lpstr>
      <vt:lpstr>Limitations de mise à niveau</vt:lpstr>
      <vt:lpstr>4. Transfert des paramètres et des fichiers d'utilisateurs à l'aide de l'outil USMT</vt:lpstr>
      <vt:lpstr>Migration des paramètres et des données utilisateur à l'aide d'USMT 4.0</vt:lpstr>
      <vt:lpstr>Migration des paramètres et des données utilisateur à l'aide d'USMT 4.0</vt:lpstr>
      <vt:lpstr>Paramètres, dossiers et types de fichiers transférés par défaut</vt:lpstr>
      <vt:lpstr>Utilisation de l'Assistant Transfert de fichiers et de paramètres</vt:lpstr>
      <vt:lpstr>Exercices</vt:lpstr>
      <vt:lpstr>Exercices</vt:lpstr>
      <vt:lpstr>Exercices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Installing Microsoft Whistler Professional</dc:title>
  <dc:creator>bwinter</dc:creator>
  <cp:lastModifiedBy>HALIMA.HOUSNY</cp:lastModifiedBy>
  <cp:revision>214</cp:revision>
  <dcterms:created xsi:type="dcterms:W3CDTF">2000-11-06T19:22:08Z</dcterms:created>
  <dcterms:modified xsi:type="dcterms:W3CDTF">2024-10-01T19:31:29Z</dcterms:modified>
</cp:coreProperties>
</file>