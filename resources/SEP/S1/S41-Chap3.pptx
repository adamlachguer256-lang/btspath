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1" r:id="rId1"/>
  </p:sldMasterIdLst>
  <p:notesMasterIdLst>
    <p:notesMasterId r:id="rId22"/>
  </p:notesMasterIdLst>
  <p:sldIdLst>
    <p:sldId id="427" r:id="rId2"/>
    <p:sldId id="428" r:id="rId3"/>
    <p:sldId id="450" r:id="rId4"/>
    <p:sldId id="429" r:id="rId5"/>
    <p:sldId id="430" r:id="rId6"/>
    <p:sldId id="431" r:id="rId7"/>
    <p:sldId id="451" r:id="rId8"/>
    <p:sldId id="452" r:id="rId9"/>
    <p:sldId id="453" r:id="rId10"/>
    <p:sldId id="436" r:id="rId11"/>
    <p:sldId id="454" r:id="rId12"/>
    <p:sldId id="455" r:id="rId13"/>
    <p:sldId id="441" r:id="rId14"/>
    <p:sldId id="456" r:id="rId15"/>
    <p:sldId id="457" r:id="rId16"/>
    <p:sldId id="444" r:id="rId17"/>
    <p:sldId id="446" r:id="rId18"/>
    <p:sldId id="458" r:id="rId19"/>
    <p:sldId id="447" r:id="rId20"/>
    <p:sldId id="448" r:id="rId21"/>
  </p:sldIdLst>
  <p:sldSz cx="9144000" cy="6858000" type="screen4x3"/>
  <p:notesSz cx="6858000" cy="9144000"/>
  <p:embeddedFontLst>
    <p:embeddedFont>
      <p:font typeface="Arial Narrow" panose="020B0606020202030204" pitchFamily="34" charset="0"/>
      <p:regular r:id="rId23"/>
      <p:bold r:id="rId24"/>
      <p:italic r:id="rId25"/>
      <p:boldItalic r:id="rId26"/>
    </p:embeddedFont>
    <p:embeddedFont>
      <p:font typeface="Georgia" panose="02040502050405020303" pitchFamily="18" charset="0"/>
      <p:regular r:id="rId27"/>
      <p:bold r:id="rId28"/>
      <p:italic r:id="rId29"/>
      <p:boldItalic r:id="rId30"/>
    </p:embeddedFont>
    <p:embeddedFont>
      <p:font typeface="Wingdings 2" panose="05020102010507070707" pitchFamily="18" charset="2"/>
      <p:regular r:id="rId31"/>
    </p:embeddedFont>
  </p:embeddedFontLst>
  <p:defaultTextStyle>
    <a:defPPr>
      <a:defRPr lang="en-US"/>
    </a:defPPr>
    <a:lvl1pPr algn="l" rtl="0" eaLnBrk="0" fontAlgn="base" hangingPunct="0">
      <a:spcBef>
        <a:spcPct val="0"/>
      </a:spcBef>
      <a:spcAft>
        <a:spcPct val="0"/>
      </a:spcAft>
      <a:defRPr sz="3000"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3000"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3000"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3000"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3000" kern="1200">
        <a:solidFill>
          <a:schemeClr val="tx1"/>
        </a:solidFill>
        <a:latin typeface="Arial Narrow" pitchFamily="34" charset="0"/>
        <a:ea typeface="+mn-ea"/>
        <a:cs typeface="+mn-cs"/>
      </a:defRPr>
    </a:lvl5pPr>
    <a:lvl6pPr marL="2286000" algn="l" defTabSz="914400" rtl="0" eaLnBrk="1" latinLnBrk="0" hangingPunct="1">
      <a:defRPr sz="3000" kern="1200">
        <a:solidFill>
          <a:schemeClr val="tx1"/>
        </a:solidFill>
        <a:latin typeface="Arial Narrow" pitchFamily="34" charset="0"/>
        <a:ea typeface="+mn-ea"/>
        <a:cs typeface="+mn-cs"/>
      </a:defRPr>
    </a:lvl6pPr>
    <a:lvl7pPr marL="2743200" algn="l" defTabSz="914400" rtl="0" eaLnBrk="1" latinLnBrk="0" hangingPunct="1">
      <a:defRPr sz="3000" kern="1200">
        <a:solidFill>
          <a:schemeClr val="tx1"/>
        </a:solidFill>
        <a:latin typeface="Arial Narrow" pitchFamily="34" charset="0"/>
        <a:ea typeface="+mn-ea"/>
        <a:cs typeface="+mn-cs"/>
      </a:defRPr>
    </a:lvl7pPr>
    <a:lvl8pPr marL="3200400" algn="l" defTabSz="914400" rtl="0" eaLnBrk="1" latinLnBrk="0" hangingPunct="1">
      <a:defRPr sz="3000" kern="1200">
        <a:solidFill>
          <a:schemeClr val="tx1"/>
        </a:solidFill>
        <a:latin typeface="Arial Narrow" pitchFamily="34" charset="0"/>
        <a:ea typeface="+mn-ea"/>
        <a:cs typeface="+mn-cs"/>
      </a:defRPr>
    </a:lvl8pPr>
    <a:lvl9pPr marL="3657600" algn="l" defTabSz="914400" rtl="0" eaLnBrk="1" latinLnBrk="0" hangingPunct="1">
      <a:defRPr sz="3000"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CCCCFF"/>
    <a:srgbClr val="FF3399"/>
    <a:srgbClr val="0000CC"/>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5620" autoAdjust="0"/>
    <p:restoredTop sz="94660" autoAdjust="0"/>
  </p:normalViewPr>
  <p:slideViewPr>
    <p:cSldViewPr snapToGrid="0">
      <p:cViewPr varScale="1">
        <p:scale>
          <a:sx n="47" d="100"/>
          <a:sy n="47" d="100"/>
        </p:scale>
        <p:origin x="912" y="51"/>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55" d="100"/>
          <a:sy n="55" d="100"/>
        </p:scale>
        <p:origin x="-1746"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_rels/viewProps.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slide" Target="slides/slide4.xml"/><Relationship Id="rId1" Type="http://schemas.openxmlformats.org/officeDocument/2006/relationships/slide" Target="slides/slide2.xml"/><Relationship Id="rId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1576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1577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577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77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1577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0E3A839-E9CC-4C05-8B68-25BDEB5B1580}"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go.microsoft.com/fwlink/?LinkID=144630&amp;clcid=0x409"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40974E14-7DE6-4950-B0C3-CF01B3330512}" type="slidenum">
              <a:rPr lang="en-US" smtClean="0"/>
              <a:pPr>
                <a:defRPr/>
              </a:pPr>
              <a:t>3</a:t>
            </a:fld>
            <a:endParaRPr lang="en-US" dirty="0"/>
          </a:p>
        </p:txBody>
      </p:sp>
      <p:sp>
        <p:nvSpPr>
          <p:cNvPr id="71685" name="Rectangle 2"/>
          <p:cNvSpPr>
            <a:spLocks noGrp="1" noRot="1" noChangeAspect="1" noChangeArrowheads="1" noTextEdit="1"/>
          </p:cNvSpPr>
          <p:nvPr>
            <p:ph type="sldImg"/>
          </p:nvPr>
        </p:nvSpPr>
        <p:spPr>
          <a:ln/>
        </p:spPr>
      </p:sp>
      <p:sp>
        <p:nvSpPr>
          <p:cNvPr id="67590" name="Rectangle 3"/>
          <p:cNvSpPr>
            <a:spLocks noGrp="1" noChangeArrowheads="1"/>
          </p:cNvSpPr>
          <p:nvPr>
            <p:ph type="body" idx="1"/>
          </p:nvPr>
        </p:nvSpPr>
        <p:spPr>
          <a:xfrm>
            <a:off x="308075" y="2148417"/>
            <a:ext cx="6149578" cy="6731000"/>
          </a:xfrm>
          <a:ln/>
        </p:spPr>
        <p:txBody>
          <a:bodyPr/>
          <a:lstStyle/>
          <a:p>
            <a:pPr>
              <a:defRPr/>
            </a:pPr>
            <a:r>
              <a:rPr lang="en-US" b="1" dirty="0"/>
              <a:t>Key message: </a:t>
            </a:r>
            <a:r>
              <a:rPr lang="en-US" dirty="0"/>
              <a:t>A driver is software that allows the computer to communicate with hardware or devices. </a:t>
            </a:r>
            <a:br>
              <a:rPr lang="en-US" dirty="0"/>
            </a:br>
            <a:endParaRPr lang="en-US" dirty="0"/>
          </a:p>
          <a:p>
            <a:pPr>
              <a:defRPr/>
            </a:pPr>
            <a:r>
              <a:rPr lang="en-US" b="1" dirty="0"/>
              <a:t>To build this slide:</a:t>
            </a:r>
          </a:p>
          <a:p>
            <a:pPr marL="224300" indent="-224300">
              <a:buFontTx/>
              <a:buAutoNum type="arabicPeriod"/>
              <a:defRPr/>
            </a:pPr>
            <a:r>
              <a:rPr lang="en-US" dirty="0"/>
              <a:t>Click to display each of the bullet points.</a:t>
            </a:r>
          </a:p>
          <a:p>
            <a:pPr marL="224300" indent="-224300">
              <a:buFontTx/>
              <a:buAutoNum type="arabicPeriod"/>
              <a:defRPr/>
            </a:pPr>
            <a:r>
              <a:rPr lang="en-US" dirty="0"/>
              <a:t>Use the following information as you talk about each point.</a:t>
            </a:r>
            <a:br>
              <a:rPr lang="en-US" dirty="0"/>
            </a:br>
            <a:endParaRPr lang="en-US" dirty="0"/>
          </a:p>
          <a:p>
            <a:pPr>
              <a:defRPr/>
            </a:pPr>
            <a:r>
              <a:rPr lang="en-US" dirty="0"/>
              <a:t>Describe each of the following so that students have the background information they need for the remainder of this lesson. For more information about each item, refer to the Course Companion CD.</a:t>
            </a:r>
          </a:p>
          <a:p>
            <a:pPr lvl="1">
              <a:buClrTx/>
              <a:defRPr/>
            </a:pPr>
            <a:r>
              <a:rPr lang="en-US" dirty="0"/>
              <a:t>Device drivers – specialized, hardware-dependent software that is also specific to an operating system. </a:t>
            </a:r>
          </a:p>
          <a:p>
            <a:pPr lvl="1">
              <a:buClrTx/>
              <a:defRPr/>
            </a:pPr>
            <a:r>
              <a:rPr lang="en-US" dirty="0"/>
              <a:t>32-bit and 64-bit drivers - drivers developed for the 32-bit versions do not work with the 64-bit versions, and vice versa. You must ensure that you obtain the appropriate device drivers before installing Windows 7.</a:t>
            </a:r>
          </a:p>
          <a:p>
            <a:pPr lvl="1">
              <a:buClrTx/>
              <a:defRPr/>
            </a:pPr>
            <a:r>
              <a:rPr lang="en-US" dirty="0"/>
              <a:t>Driver signing - device drivers that Windows 7 includes have a Microsoft digital signature that indicates whether a particular driver or file has met a certain level of testing, is stable and reliable, and has not been altered since it was digitally signed. </a:t>
            </a:r>
          </a:p>
          <a:p>
            <a:pPr lvl="1">
              <a:buClrTx/>
              <a:defRPr/>
            </a:pPr>
            <a:r>
              <a:rPr lang="en-US" dirty="0"/>
              <a:t>Driver store - the driver repository that can be preloaded with drivers for commonly used peripheral devices. The driver store is located in systemroot\System32\DriverStore. Use the Pnputil.exe tool to add a driver to the Windows 7 driver store manually.</a:t>
            </a:r>
          </a:p>
          <a:p>
            <a:pPr lvl="1">
              <a:buClrTx/>
              <a:defRPr/>
            </a:pPr>
            <a:r>
              <a:rPr lang="en-US" dirty="0"/>
              <a:t>Device metadata packages</a:t>
            </a:r>
            <a:br>
              <a:rPr lang="en-US" dirty="0"/>
            </a:br>
            <a:endParaRPr lang="en-US" dirty="0"/>
          </a:p>
          <a:p>
            <a:pPr>
              <a:defRPr/>
            </a:pPr>
            <a:r>
              <a:rPr lang="en-US" dirty="0"/>
              <a:t>The Device Metadata System provides an end-to-end process for defining and distributing device metadata packages. These packages contain device experience XML documents that represent the properties of the device and its functions, together with applications and services that support the device. Through these XML documents, the Devices and Printers folder and Device Stage present users with an interface that is specific to the device as defined by the device maker.</a:t>
            </a:r>
          </a:p>
          <a:p>
            <a:pPr eaLnBrk="1" hangingPunct="1">
              <a:defRPr/>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D8F57112-899F-4AB4-A81F-36C6DEB56C06}" type="slidenum">
              <a:rPr lang="en-US" smtClean="0"/>
              <a:pPr>
                <a:defRPr/>
              </a:pPr>
              <a:t>7</a:t>
            </a:fld>
            <a:endParaRPr lang="en-US" dirty="0"/>
          </a:p>
        </p:txBody>
      </p:sp>
      <p:sp>
        <p:nvSpPr>
          <p:cNvPr id="72709" name="Rectangle 2"/>
          <p:cNvSpPr>
            <a:spLocks noGrp="1" noRot="1" noChangeAspect="1" noChangeArrowheads="1" noTextEdit="1"/>
          </p:cNvSpPr>
          <p:nvPr>
            <p:ph type="sldImg"/>
          </p:nvPr>
        </p:nvSpPr>
        <p:spPr>
          <a:ln/>
        </p:spPr>
      </p:sp>
      <p:sp>
        <p:nvSpPr>
          <p:cNvPr id="59398" name="Rectangle 3"/>
          <p:cNvSpPr>
            <a:spLocks noGrp="1" noChangeArrowheads="1"/>
          </p:cNvSpPr>
          <p:nvPr>
            <p:ph type="body" idx="1"/>
          </p:nvPr>
        </p:nvSpPr>
        <p:spPr>
          <a:xfrm>
            <a:off x="308075" y="1939775"/>
            <a:ext cx="6149578" cy="6859511"/>
          </a:xfrm>
          <a:ln/>
        </p:spPr>
        <p:txBody>
          <a:bodyPr/>
          <a:lstStyle/>
          <a:p>
            <a:pPr>
              <a:defRPr/>
            </a:pPr>
            <a:r>
              <a:rPr lang="en-US" b="1" dirty="0"/>
              <a:t>Key message: </a:t>
            </a:r>
            <a:r>
              <a:rPr lang="en-US" dirty="0"/>
              <a:t>When you install a new device, typically Windows 7 recognizes and configures it by using Plug and Play. The success of driver installation depends on whether the device is supported by a driver package included with Windows or available on Windows Update and when the user has media with the driver package provided by the vendor. </a:t>
            </a:r>
          </a:p>
          <a:p>
            <a:pPr>
              <a:defRPr/>
            </a:pPr>
            <a:r>
              <a:rPr lang="en-US" dirty="0"/>
              <a:t>At a high level, discuss how the following actions helps improve the user experience and reduce help desk support costs by allowing standard users to install approved driver packages without requiring additional permissions or the assistance of an administrator:</a:t>
            </a:r>
          </a:p>
          <a:p>
            <a:pPr lvl="1">
              <a:buClrTx/>
              <a:defRPr/>
            </a:pPr>
            <a:r>
              <a:rPr lang="en-US" dirty="0"/>
              <a:t>Staging driver packages</a:t>
            </a:r>
          </a:p>
          <a:p>
            <a:pPr lvl="1">
              <a:buClrTx/>
              <a:defRPr/>
            </a:pPr>
            <a:r>
              <a:rPr lang="en-US" dirty="0"/>
              <a:t>Configuring client computers to automatically search a specified list of folders when a new device is attached to the computer</a:t>
            </a:r>
          </a:p>
          <a:p>
            <a:pPr lvl="1">
              <a:buClrTx/>
              <a:defRPr/>
            </a:pPr>
            <a:r>
              <a:rPr lang="en-US" dirty="0"/>
              <a:t>Restarting the system is rarely necessary when installing Plug and Play devices or software applications </a:t>
            </a:r>
          </a:p>
          <a:p>
            <a:pPr>
              <a:defRPr/>
            </a:pPr>
            <a:r>
              <a:rPr lang="en-US" dirty="0"/>
              <a:t>These features also help increase computer security by ensuring that standard users can only install driver packages that you authorize and trust.</a:t>
            </a:r>
          </a:p>
          <a:p>
            <a:pPr>
              <a:defRPr/>
            </a:pPr>
            <a:r>
              <a:rPr lang="en-US" dirty="0"/>
              <a:t>Discuss the device configuration and driver information requirements that must be met.</a:t>
            </a:r>
          </a:p>
          <a:p>
            <a:pPr>
              <a:defRPr/>
            </a:pPr>
            <a:r>
              <a:rPr lang="en-US" dirty="0"/>
              <a:t>Walk through the driver detection process including digital signature validation and how Plug and Play queries the device for identification strings and searches the driver store for a driver package that matches the identification strings and what happens if a matching package is not found in the driver store.</a:t>
            </a:r>
          </a:p>
          <a:p>
            <a:pPr>
              <a:defRPr/>
            </a:pPr>
            <a:r>
              <a:rPr lang="en-US" dirty="0"/>
              <a:t>Describe the Pnputil.exe tool. Mention that it must be run from an elevated command prompt. Two common parameters are “-a” to add a driver, and “-e” to enumerate through the list of drivers in the driver store. Also mention that drivers are renamed to “oem*.inf” when they are added, provide an example. Discuss the difference between disconnecting a device, disabling the driver, and deleting a driver.</a:t>
            </a:r>
          </a:p>
          <a:p>
            <a:pPr>
              <a:defRPr/>
            </a:pPr>
            <a:r>
              <a:rPr lang="en-US" b="1" dirty="0"/>
              <a:t>Non-Plug and Play Devices</a:t>
            </a:r>
          </a:p>
          <a:p>
            <a:pPr>
              <a:defRPr/>
            </a:pPr>
            <a:r>
              <a:rPr lang="en-US" dirty="0"/>
              <a:t>Talk briefly about Non-Plug and Play devices including the following (optionally you can demonstrate where to view Non-Plug and Play devices in Device Manager):</a:t>
            </a:r>
          </a:p>
          <a:p>
            <a:pPr lvl="1">
              <a:buClrTx/>
              <a:defRPr/>
            </a:pPr>
            <a:r>
              <a:rPr lang="en-US" dirty="0"/>
              <a:t>The devices are becoming increasingly rare</a:t>
            </a:r>
          </a:p>
          <a:p>
            <a:pPr lvl="1">
              <a:buClrTx/>
              <a:defRPr/>
            </a:pPr>
            <a:r>
              <a:rPr lang="en-US" dirty="0"/>
              <a:t>The devices are installed and configured in Device Manager</a:t>
            </a:r>
          </a:p>
          <a:p>
            <a:pPr lvl="1">
              <a:buClrTx/>
              <a:defRPr/>
            </a:pPr>
            <a:r>
              <a:rPr lang="en-US" dirty="0"/>
              <a:t>Users need to carefully research changes to the startup type and resource settings</a:t>
            </a:r>
          </a:p>
          <a:p>
            <a:pPr lvl="1">
              <a:buClrTx/>
              <a:defRPr/>
            </a:pPr>
            <a:r>
              <a:rPr lang="en-US" dirty="0"/>
              <a:t>Implementers must use the informational materials that accompanied the device and the Device Manager Help</a:t>
            </a:r>
          </a:p>
          <a:p>
            <a:pPr>
              <a:defRPr/>
            </a:pPr>
            <a:r>
              <a:rPr lang="en-US" b="1" dirty="0"/>
              <a:t>Question:</a:t>
            </a:r>
            <a:r>
              <a:rPr lang="en-US" dirty="0"/>
              <a:t> What are the steps to install a driver in the driver store by using the Pnputil.exe tool?</a:t>
            </a:r>
          </a:p>
          <a:p>
            <a:pPr>
              <a:defRPr/>
            </a:pPr>
            <a:r>
              <a:rPr lang="en-US" b="1" dirty="0"/>
              <a:t>Answer:</a:t>
            </a:r>
            <a:r>
              <a:rPr lang="en-US" dirty="0"/>
              <a:t> The steps are as follows:</a:t>
            </a:r>
          </a:p>
          <a:p>
            <a:pPr marL="216233" indent="-216233">
              <a:buFont typeface="+mj-lt"/>
              <a:buAutoNum type="arabicPeriod"/>
              <a:defRPr/>
            </a:pPr>
            <a:r>
              <a:rPr lang="en-US" dirty="0"/>
              <a:t>Identify the name of the device driver.</a:t>
            </a:r>
          </a:p>
          <a:p>
            <a:pPr marL="216233" indent="-216233">
              <a:buFont typeface="+mj-lt"/>
              <a:buAutoNum type="arabicPeriod"/>
              <a:defRPr/>
            </a:pPr>
            <a:r>
              <a:rPr lang="en-US" dirty="0"/>
              <a:t>Start the Pnputil.exe tool from an elevated command prompt.</a:t>
            </a:r>
          </a:p>
          <a:p>
            <a:pPr marL="216233" indent="-216233">
              <a:buFont typeface="+mj-lt"/>
              <a:buAutoNum type="arabicPeriod"/>
              <a:defRPr/>
            </a:pPr>
            <a:r>
              <a:rPr lang="en-US" dirty="0"/>
              <a:t>Use the –a parameter along with the path to the driver and name of the driver to perform the addition to the driver store.</a:t>
            </a:r>
          </a:p>
          <a:p>
            <a:pPr marL="216233" indent="-216233">
              <a:buFont typeface="+mj-lt"/>
              <a:buAutoNum type="arabicPeriod"/>
              <a:defRPr/>
            </a:pPr>
            <a:r>
              <a:rPr lang="en-US" dirty="0"/>
              <a:t>Make note of the newly assigned driver name, including the number.</a:t>
            </a:r>
          </a:p>
          <a:p>
            <a:pPr marL="224300" indent="-224300">
              <a:buFont typeface="+mj-lt"/>
              <a:buAutoNum type="arabicPeriod"/>
              <a:defRPr/>
            </a:pP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D8F57112-899F-4AB4-A81F-36C6DEB56C06}" type="slidenum">
              <a:rPr lang="en-US" smtClean="0"/>
              <a:pPr>
                <a:defRPr/>
              </a:pPr>
              <a:t>8</a:t>
            </a:fld>
            <a:endParaRPr lang="en-US" dirty="0"/>
          </a:p>
        </p:txBody>
      </p:sp>
      <p:sp>
        <p:nvSpPr>
          <p:cNvPr id="72709" name="Rectangle 2"/>
          <p:cNvSpPr>
            <a:spLocks noGrp="1" noRot="1" noChangeAspect="1" noChangeArrowheads="1" noTextEdit="1"/>
          </p:cNvSpPr>
          <p:nvPr>
            <p:ph type="sldImg"/>
          </p:nvPr>
        </p:nvSpPr>
        <p:spPr>
          <a:ln/>
        </p:spPr>
      </p:sp>
      <p:sp>
        <p:nvSpPr>
          <p:cNvPr id="59398" name="Rectangle 3"/>
          <p:cNvSpPr>
            <a:spLocks noGrp="1" noChangeArrowheads="1"/>
          </p:cNvSpPr>
          <p:nvPr>
            <p:ph type="body" idx="1"/>
          </p:nvPr>
        </p:nvSpPr>
        <p:spPr>
          <a:xfrm>
            <a:off x="308075" y="1939775"/>
            <a:ext cx="6149578" cy="6859511"/>
          </a:xfrm>
          <a:ln/>
        </p:spPr>
        <p:txBody>
          <a:bodyPr/>
          <a:lstStyle/>
          <a:p>
            <a:pPr>
              <a:defRPr/>
            </a:pPr>
            <a:r>
              <a:rPr lang="en-US" b="1" dirty="0"/>
              <a:t>Key message: </a:t>
            </a:r>
            <a:r>
              <a:rPr lang="en-US" dirty="0"/>
              <a:t>When you install a new device, typically Windows 7 recognizes and configures it by using Plug and Play. The success of driver installation depends on whether the device is supported by a driver package included with Windows or available on Windows Update and when the user has media with the driver package provided by the vendor. </a:t>
            </a:r>
          </a:p>
          <a:p>
            <a:pPr>
              <a:defRPr/>
            </a:pPr>
            <a:r>
              <a:rPr lang="en-US" dirty="0"/>
              <a:t>At a high level, discuss how the following actions helps improve the user experience and reduce help desk support costs by allowing standard users to install approved driver packages without requiring additional permissions or the assistance of an administrator:</a:t>
            </a:r>
          </a:p>
          <a:p>
            <a:pPr lvl="1">
              <a:buClrTx/>
              <a:defRPr/>
            </a:pPr>
            <a:r>
              <a:rPr lang="en-US" dirty="0"/>
              <a:t>Staging driver packages</a:t>
            </a:r>
          </a:p>
          <a:p>
            <a:pPr lvl="1">
              <a:buClrTx/>
              <a:defRPr/>
            </a:pPr>
            <a:r>
              <a:rPr lang="en-US" dirty="0"/>
              <a:t>Configuring client computers to automatically search a specified list of folders when a new device is attached to the computer</a:t>
            </a:r>
          </a:p>
          <a:p>
            <a:pPr lvl="1">
              <a:buClrTx/>
              <a:defRPr/>
            </a:pPr>
            <a:r>
              <a:rPr lang="en-US" dirty="0"/>
              <a:t>Restarting the system is rarely necessary when installing Plug and Play devices or software applications </a:t>
            </a:r>
          </a:p>
          <a:p>
            <a:pPr>
              <a:defRPr/>
            </a:pPr>
            <a:r>
              <a:rPr lang="en-US" dirty="0"/>
              <a:t>These features also help increase computer security by ensuring that standard users can only install driver packages that you authorize and trust.</a:t>
            </a:r>
          </a:p>
          <a:p>
            <a:pPr>
              <a:defRPr/>
            </a:pPr>
            <a:r>
              <a:rPr lang="en-US" dirty="0"/>
              <a:t>Discuss the device configuration and driver information requirements that must be met.</a:t>
            </a:r>
          </a:p>
          <a:p>
            <a:pPr>
              <a:defRPr/>
            </a:pPr>
            <a:r>
              <a:rPr lang="en-US" dirty="0"/>
              <a:t>Walk through the driver detection process including digital signature validation and how Plug and Play queries the device for identification strings and searches the driver store for a driver package that matches the identification strings and what happens if a matching package is not found in the driver store.</a:t>
            </a:r>
          </a:p>
          <a:p>
            <a:pPr>
              <a:defRPr/>
            </a:pPr>
            <a:r>
              <a:rPr lang="en-US" dirty="0"/>
              <a:t>Describe the Pnputil.exe tool. Mention that it must be run from an elevated command prompt. Two common parameters are “-a” to add a driver, and “-e” to enumerate through the list of drivers in the driver store. Also mention that drivers are renamed to “oem*.inf” when they are added, provide an example. Discuss the difference between disconnecting a device, disabling the driver, and deleting a driver.</a:t>
            </a:r>
          </a:p>
          <a:p>
            <a:pPr>
              <a:defRPr/>
            </a:pPr>
            <a:r>
              <a:rPr lang="en-US" b="1" dirty="0"/>
              <a:t>Non-Plug and Play Devices</a:t>
            </a:r>
          </a:p>
          <a:p>
            <a:pPr>
              <a:defRPr/>
            </a:pPr>
            <a:r>
              <a:rPr lang="en-US" dirty="0"/>
              <a:t>Talk briefly about Non-Plug and Play devices including the following (optionally you can demonstrate where to view Non-Plug and Play devices in Device Manager):</a:t>
            </a:r>
          </a:p>
          <a:p>
            <a:pPr lvl="1">
              <a:buClrTx/>
              <a:defRPr/>
            </a:pPr>
            <a:r>
              <a:rPr lang="en-US" dirty="0"/>
              <a:t>The devices are becoming increasingly rare</a:t>
            </a:r>
          </a:p>
          <a:p>
            <a:pPr lvl="1">
              <a:buClrTx/>
              <a:defRPr/>
            </a:pPr>
            <a:r>
              <a:rPr lang="en-US" dirty="0"/>
              <a:t>The devices are installed and configured in Device Manager</a:t>
            </a:r>
          </a:p>
          <a:p>
            <a:pPr lvl="1">
              <a:buClrTx/>
              <a:defRPr/>
            </a:pPr>
            <a:r>
              <a:rPr lang="en-US" dirty="0"/>
              <a:t>Users need to carefully research changes to the startup type and resource settings</a:t>
            </a:r>
          </a:p>
          <a:p>
            <a:pPr lvl="1">
              <a:buClrTx/>
              <a:defRPr/>
            </a:pPr>
            <a:r>
              <a:rPr lang="en-US" dirty="0"/>
              <a:t>Implementers must use the informational materials that accompanied the device and the Device Manager Help</a:t>
            </a:r>
          </a:p>
          <a:p>
            <a:pPr>
              <a:defRPr/>
            </a:pPr>
            <a:r>
              <a:rPr lang="en-US" b="1" dirty="0"/>
              <a:t>Question:</a:t>
            </a:r>
            <a:r>
              <a:rPr lang="en-US" dirty="0"/>
              <a:t> What are the steps to install a driver in the driver store by using the Pnputil.exe tool?</a:t>
            </a:r>
          </a:p>
          <a:p>
            <a:pPr>
              <a:defRPr/>
            </a:pPr>
            <a:r>
              <a:rPr lang="en-US" b="1" dirty="0"/>
              <a:t>Answer:</a:t>
            </a:r>
            <a:r>
              <a:rPr lang="en-US" dirty="0"/>
              <a:t> The steps are as follows:</a:t>
            </a:r>
          </a:p>
          <a:p>
            <a:pPr marL="216233" indent="-216233">
              <a:buFont typeface="+mj-lt"/>
              <a:buAutoNum type="arabicPeriod"/>
              <a:defRPr/>
            </a:pPr>
            <a:r>
              <a:rPr lang="en-US" dirty="0"/>
              <a:t>Identify the name of the device driver.</a:t>
            </a:r>
          </a:p>
          <a:p>
            <a:pPr marL="216233" indent="-216233">
              <a:buFont typeface="+mj-lt"/>
              <a:buAutoNum type="arabicPeriod"/>
              <a:defRPr/>
            </a:pPr>
            <a:r>
              <a:rPr lang="en-US" dirty="0"/>
              <a:t>Start the Pnputil.exe tool from an elevated command prompt.</a:t>
            </a:r>
          </a:p>
          <a:p>
            <a:pPr marL="216233" indent="-216233">
              <a:buFont typeface="+mj-lt"/>
              <a:buAutoNum type="arabicPeriod"/>
              <a:defRPr/>
            </a:pPr>
            <a:r>
              <a:rPr lang="en-US" dirty="0"/>
              <a:t>Use the –a parameter along with the path to the driver and name of the driver to perform the addition to the driver store.</a:t>
            </a:r>
          </a:p>
          <a:p>
            <a:pPr marL="216233" indent="-216233">
              <a:buFont typeface="+mj-lt"/>
              <a:buAutoNum type="arabicPeriod"/>
              <a:defRPr/>
            </a:pPr>
            <a:r>
              <a:rPr lang="en-US" dirty="0"/>
              <a:t>Make note of the newly assigned driver name, including the number.</a:t>
            </a:r>
          </a:p>
          <a:p>
            <a:pPr marL="224300" indent="-224300">
              <a:buFont typeface="+mj-lt"/>
              <a:buAutoNum type="arabicPeriod"/>
              <a:defRPr/>
            </a:pP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774C825B-BFA7-46C5-8996-AA2C8A2B0753}" type="slidenum">
              <a:rPr lang="en-US" smtClean="0"/>
              <a:pPr>
                <a:defRPr/>
              </a:pPr>
              <a:t>9</a:t>
            </a:fld>
            <a:endParaRPr lang="en-US" dirty="0"/>
          </a:p>
        </p:txBody>
      </p:sp>
      <p:sp>
        <p:nvSpPr>
          <p:cNvPr id="73733" name="Rectangle 2"/>
          <p:cNvSpPr>
            <a:spLocks noGrp="1" noRot="1" noChangeAspect="1" noChangeArrowheads="1" noTextEdit="1"/>
          </p:cNvSpPr>
          <p:nvPr>
            <p:ph type="sldImg"/>
          </p:nvPr>
        </p:nvSpPr>
        <p:spPr>
          <a:ln/>
        </p:spPr>
      </p:sp>
      <p:sp>
        <p:nvSpPr>
          <p:cNvPr id="69638" name="Rectangle 3"/>
          <p:cNvSpPr>
            <a:spLocks noGrp="1" noChangeArrowheads="1"/>
          </p:cNvSpPr>
          <p:nvPr>
            <p:ph type="body" idx="1"/>
          </p:nvPr>
        </p:nvSpPr>
        <p:spPr>
          <a:xfrm>
            <a:off x="308075" y="2148417"/>
            <a:ext cx="6149578" cy="6731000"/>
          </a:xfrm>
          <a:ln/>
        </p:spPr>
        <p:txBody>
          <a:bodyPr/>
          <a:lstStyle/>
          <a:p>
            <a:pPr eaLnBrk="1" hangingPunct="1">
              <a:defRPr/>
            </a:pPr>
            <a:r>
              <a:rPr lang="en-US" b="1" dirty="0"/>
              <a:t>Key message: </a:t>
            </a:r>
            <a:r>
              <a:rPr lang="en-US" dirty="0"/>
              <a:t>There are several areas in Windows 7 where you can manage devices and their related drivers including Device Manager, Devices and Printers, Device Stage, and the Pnputil tool run from an elevated command prompt.</a:t>
            </a:r>
            <a:br>
              <a:rPr lang="en-US" dirty="0"/>
            </a:br>
            <a:endParaRPr lang="en-US" dirty="0"/>
          </a:p>
          <a:p>
            <a:pPr eaLnBrk="1" hangingPunct="1">
              <a:defRPr/>
            </a:pPr>
            <a:r>
              <a:rPr lang="en-US" b="1" dirty="0"/>
              <a:t>To build this slide:</a:t>
            </a:r>
          </a:p>
          <a:p>
            <a:pPr marL="224300" indent="-224300">
              <a:buFontTx/>
              <a:buAutoNum type="arabicPeriod"/>
              <a:defRPr/>
            </a:pPr>
            <a:r>
              <a:rPr lang="en-US" dirty="0"/>
              <a:t>Click to show Device Manager</a:t>
            </a:r>
          </a:p>
          <a:p>
            <a:pPr marL="224300" indent="-224300">
              <a:buFontTx/>
              <a:buAutoNum type="arabicPeriod"/>
              <a:defRPr/>
            </a:pPr>
            <a:r>
              <a:rPr lang="en-US" dirty="0"/>
              <a:t>Click to show Devices and Printers</a:t>
            </a:r>
          </a:p>
          <a:p>
            <a:pPr marL="224300" indent="-224300">
              <a:buFontTx/>
              <a:buAutoNum type="arabicPeriod"/>
              <a:defRPr/>
            </a:pPr>
            <a:r>
              <a:rPr lang="en-US" dirty="0"/>
              <a:t>Click to show a photo realistic image in Device Stage™</a:t>
            </a:r>
          </a:p>
          <a:p>
            <a:pPr marL="224300" indent="-224300">
              <a:buFontTx/>
              <a:buAutoNum type="arabicPeriod"/>
              <a:defRPr/>
            </a:pPr>
            <a:r>
              <a:rPr lang="en-US" dirty="0"/>
              <a:t>Click to show all images at one time</a:t>
            </a:r>
            <a:br>
              <a:rPr lang="en-US" dirty="0"/>
            </a:br>
            <a:endParaRPr lang="en-US" dirty="0"/>
          </a:p>
          <a:p>
            <a:pPr eaLnBrk="1" hangingPunct="1">
              <a:defRPr/>
            </a:pPr>
            <a:r>
              <a:rPr lang="en-US" dirty="0"/>
              <a:t>Talk about each of these areas in turn, describe the tasks that can be performed in each area or tool:</a:t>
            </a:r>
          </a:p>
          <a:p>
            <a:pPr lvl="1">
              <a:buClrTx/>
              <a:defRPr/>
            </a:pPr>
            <a:r>
              <a:rPr lang="en-US" dirty="0"/>
              <a:t>Device Manager helps you install and update the drivers for hardware devices, change the hardware settings for those devices, and troubleshoot problems by updating a driver or rolling it back. You can use Device Manager to manage devices only on a local computer. On a remote computer, Device Manager works in read-only mode, allowing you to view, but not change, the hardware configuration of that computer. Device Manager is accessible in the All Items category in Control Panel.</a:t>
            </a:r>
          </a:p>
          <a:p>
            <a:pPr lvl="1">
              <a:buClrTx/>
              <a:defRPr/>
            </a:pPr>
            <a:r>
              <a:rPr lang="en-US" dirty="0"/>
              <a:t>The Devices and Printers category in Control Panel provides a single place to access and interact with connected and wireless devices. Wizards guide you through the setup process which reduces complex configuration tasks. Windows 7 recognizes new devices and attempts to automatically download and install any drivers required for that device. Have the students discuss common devices that they see in this location. Also contrast how a multifunction device displays differently in Device Manager and Devices and Printers.</a:t>
            </a:r>
          </a:p>
          <a:p>
            <a:pPr lvl="1">
              <a:buClrTx/>
              <a:defRPr/>
            </a:pPr>
            <a:r>
              <a:rPr lang="en-US" dirty="0"/>
              <a:t>Device Stage provides users with a new way to access devices and advanced options for managing them. Devices in use are shown on the taskbar with a photo-realistic icon. This taskbar icon can include quick access to common device tasks; status indicators that let users quickly discern battery status, device synchronization status, remaining storage capacity, and so on. </a:t>
            </a:r>
            <a:br>
              <a:rPr lang="en-US" dirty="0"/>
            </a:br>
            <a:endParaRPr lang="en-US" dirty="0"/>
          </a:p>
          <a:p>
            <a:pPr>
              <a:defRPr/>
            </a:pPr>
            <a:r>
              <a:rPr lang="en-US" dirty="0"/>
              <a:t>Pnputil tool is run from an elevated command prompt and was discussed previously. Review as needed.</a:t>
            </a:r>
          </a:p>
          <a:p>
            <a:pPr>
              <a:defRPr/>
            </a:pPr>
            <a:r>
              <a:rPr lang="en-US" dirty="0"/>
              <a:t>If you have an internet connection, show the list of the Device Stage experiences found at the following location: </a:t>
            </a:r>
            <a:r>
              <a:rPr lang="en-US" dirty="0">
                <a:hlinkClick r:id="rId3"/>
              </a:rPr>
              <a:t>http://go.microsoft.com/fwlink/?LinkID=144630&amp;clcid=0x409</a:t>
            </a:r>
            <a:r>
              <a:rPr lang="en-US" dirty="0"/>
              <a:t>.</a:t>
            </a:r>
          </a:p>
          <a:p>
            <a:pPr>
              <a:defRPr/>
            </a:pPr>
            <a:endParaRPr lang="en-US" dirty="0"/>
          </a:p>
          <a:p>
            <a:pPr eaLnBrk="1" hangingPunct="1">
              <a:defRPr/>
            </a:pP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D79787B6-09F4-449A-82E5-B59A4C1C327E}" type="slidenum">
              <a:rPr lang="en-US" smtClean="0"/>
              <a:pPr>
                <a:defRPr/>
              </a:pPr>
              <a:t>11</a:t>
            </a:fld>
            <a:endParaRPr lang="en-US" dirty="0"/>
          </a:p>
        </p:txBody>
      </p:sp>
      <p:sp>
        <p:nvSpPr>
          <p:cNvPr id="75781" name="Rectangle 2"/>
          <p:cNvSpPr>
            <a:spLocks noGrp="1" noRot="1" noChangeAspect="1" noChangeArrowheads="1" noTextEdit="1"/>
          </p:cNvSpPr>
          <p:nvPr>
            <p:ph type="sldImg"/>
          </p:nvPr>
        </p:nvSpPr>
        <p:spPr>
          <a:ln/>
        </p:spPr>
      </p:sp>
      <p:sp>
        <p:nvSpPr>
          <p:cNvPr id="75782" name="Rectangle 3"/>
          <p:cNvSpPr>
            <a:spLocks noGrp="1" noChangeArrowheads="1"/>
          </p:cNvSpPr>
          <p:nvPr>
            <p:ph type="body" idx="1"/>
          </p:nvPr>
        </p:nvSpPr>
        <p:spPr>
          <a:xfrm>
            <a:off x="308075" y="2148417"/>
            <a:ext cx="6149578" cy="6731000"/>
          </a:xfrm>
          <a:noFill/>
          <a:ln/>
        </p:spPr>
        <p:txBody>
          <a:bodyPr/>
          <a:lstStyle/>
          <a:p>
            <a:r>
              <a:rPr lang="en-US" b="1"/>
              <a:t>Key message: </a:t>
            </a:r>
            <a:r>
              <a:rPr lang="en-US"/>
              <a:t>Dynamic Update is a feature that works with Windows Update™ to download any critical fixes and device drivers that are required for the setup process. When updated device drivers are required, Microsoft is working to ensure that you can get them directly from Windows Update or through links to driver downloads on device manufacturer Web sites. </a:t>
            </a:r>
            <a:br>
              <a:rPr lang="en-US"/>
            </a:br>
            <a:endParaRPr lang="en-US"/>
          </a:p>
          <a:p>
            <a:r>
              <a:rPr lang="en-US"/>
              <a:t>Mention that students can use Device Manager to manually update drivers. Also talk about the “load driver” feature that is provided so that, if an upgrade is blocked due to incompatible or missing drivers that are required for the system to start, you can load a new or updated driver from the Compatibility Report and continue with the upgrade.</a:t>
            </a:r>
            <a:br>
              <a:rPr lang="en-US"/>
            </a:br>
            <a:endParaRPr lang="en-US"/>
          </a:p>
          <a:p>
            <a:r>
              <a:rPr lang="en-US"/>
              <a:t>Use the information on the slide to describe ways to update drivers.</a:t>
            </a:r>
          </a:p>
          <a:p>
            <a:pPr eaLnBrk="1" hangingPunct="1"/>
            <a:endParaRPr lang="en-US"/>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E85C2AD1-FA95-49FD-B50D-FB7D9BB1B1DB}" type="slidenum">
              <a:rPr lang="en-US" smtClean="0"/>
              <a:pPr>
                <a:defRPr/>
              </a:pPr>
              <a:t>12</a:t>
            </a:fld>
            <a:endParaRPr lang="en-US" dirty="0"/>
          </a:p>
        </p:txBody>
      </p:sp>
      <p:sp>
        <p:nvSpPr>
          <p:cNvPr id="76805" name="Rectangle 2"/>
          <p:cNvSpPr>
            <a:spLocks noGrp="1" noRot="1" noChangeAspect="1" noChangeArrowheads="1" noTextEdit="1"/>
          </p:cNvSpPr>
          <p:nvPr>
            <p:ph type="sldImg"/>
          </p:nvPr>
        </p:nvSpPr>
        <p:spPr>
          <a:ln/>
        </p:spPr>
      </p:sp>
      <p:sp>
        <p:nvSpPr>
          <p:cNvPr id="76806" name="Rectangle 3"/>
          <p:cNvSpPr>
            <a:spLocks noGrp="1" noChangeArrowheads="1"/>
          </p:cNvSpPr>
          <p:nvPr>
            <p:ph type="body" idx="1"/>
          </p:nvPr>
        </p:nvSpPr>
        <p:spPr>
          <a:xfrm>
            <a:off x="308075" y="1945822"/>
            <a:ext cx="6149578" cy="7069667"/>
          </a:xfrm>
          <a:noFill/>
          <a:ln/>
        </p:spPr>
        <p:txBody>
          <a:bodyPr/>
          <a:lstStyle/>
          <a:p>
            <a:r>
              <a:rPr lang="en-US" b="1"/>
              <a:t>Key message: </a:t>
            </a:r>
            <a:r>
              <a:rPr lang="en-US"/>
              <a:t>Because device drivers run with system-level privileges and can access anything on the computer, it is critical to trust device drivers that are installed. Digital signatures allow administrators and end users who are installing Windows-based software to know that a legitimate publisher has provided the software package. A device driver that includes an electronic security mark indicating the publisher of the software and that the original contents of the driver package are unchanged.</a:t>
            </a:r>
            <a:br>
              <a:rPr lang="en-US"/>
            </a:br>
            <a:endParaRPr lang="en-US"/>
          </a:p>
          <a:p>
            <a:r>
              <a:rPr lang="en-US"/>
              <a:t>Discuss the two main principles of trust where authenticity conveys a guarantee that the package came from its claimed source and integrity conveys an assurance that the package is completely intact and has not been modified after its release. </a:t>
            </a:r>
            <a:br>
              <a:rPr lang="en-US"/>
            </a:br>
            <a:endParaRPr lang="en-US"/>
          </a:p>
          <a:p>
            <a:r>
              <a:rPr lang="en-US"/>
              <a:t>Describe a signed driver and talk about each of the benefits of signing and staging driver packages, improved security, reduced support costs, and better user experience. Talk about the store for digital certifications and that Group Policy allows you to have the certificate automatically installed to all managed computers in a domain, organizational unit, or site.</a:t>
            </a:r>
            <a:br>
              <a:rPr lang="en-US"/>
            </a:br>
            <a:endParaRPr lang="en-US"/>
          </a:p>
          <a:p>
            <a:r>
              <a:rPr lang="en-US"/>
              <a:t>Make sure students know what the Sigverf.exe tool is used for. Show them the results of the driverquery command if there is interest.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8A33DCFD-DADA-4615-B550-C0459C30DD2D}" type="slidenum">
              <a:rPr lang="en-US" smtClean="0"/>
              <a:pPr>
                <a:defRPr/>
              </a:pPr>
              <a:t>14</a:t>
            </a:fld>
            <a:endParaRPr lang="en-US" dirty="0"/>
          </a:p>
        </p:txBody>
      </p:sp>
      <p:sp>
        <p:nvSpPr>
          <p:cNvPr id="77829" name="Rectangle 2"/>
          <p:cNvSpPr>
            <a:spLocks noGrp="1" noRot="1" noChangeAspect="1" noChangeArrowheads="1" noTextEdit="1"/>
          </p:cNvSpPr>
          <p:nvPr>
            <p:ph type="sldImg"/>
          </p:nvPr>
        </p:nvSpPr>
        <p:spPr>
          <a:ln/>
        </p:spPr>
      </p:sp>
      <p:sp>
        <p:nvSpPr>
          <p:cNvPr id="77830" name="Rectangle 3"/>
          <p:cNvSpPr>
            <a:spLocks noGrp="1" noChangeArrowheads="1"/>
          </p:cNvSpPr>
          <p:nvPr>
            <p:ph type="body" idx="1"/>
          </p:nvPr>
        </p:nvSpPr>
        <p:spPr>
          <a:xfrm>
            <a:off x="308075" y="2148417"/>
            <a:ext cx="6149578" cy="6731000"/>
          </a:xfrm>
          <a:noFill/>
          <a:ln/>
        </p:spPr>
        <p:txBody>
          <a:bodyPr/>
          <a:lstStyle/>
          <a:p>
            <a:r>
              <a:rPr lang="en-US" b="1"/>
              <a:t>Key message: </a:t>
            </a:r>
            <a:r>
              <a:rPr lang="en-US"/>
              <a:t>If you have a hardware problem, it can be caused by hardware or a device driver. Fortunately, the process to update device drivers to a newer version is straightforward. Alternatively, device drivers can be rolled back to an older version or reinstalled. Troubleshooting hardware problems often starts by troubleshooting device drivers. </a:t>
            </a:r>
          </a:p>
          <a:p>
            <a:r>
              <a:rPr lang="en-US"/>
              <a:t>To identify a device driver problem, answer the following questions:</a:t>
            </a:r>
          </a:p>
          <a:p>
            <a:pPr lvl="1">
              <a:buClrTx/>
            </a:pPr>
            <a:r>
              <a:rPr lang="en-US"/>
              <a:t>Did you recently upgrade the device driver or other software related to the hardware? If so, roll back the device driver to the previous version.</a:t>
            </a:r>
          </a:p>
          <a:p>
            <a:pPr lvl="1">
              <a:buClrTx/>
            </a:pPr>
            <a:r>
              <a:rPr lang="en-US"/>
              <a:t>Are you experiencing occasional problems, or is the hardware not compatible with the current version of Windows? If so, upgrade the device driver.</a:t>
            </a:r>
          </a:p>
          <a:p>
            <a:pPr lvl="1">
              <a:buClrTx/>
            </a:pPr>
            <a:r>
              <a:rPr lang="en-US"/>
              <a:t>Did the hardware suddenly stop working? If so, upgrade the device driver. If that does not solve the problem, reinstall the device. If the problem continues, try troubleshooting the hardware problem.</a:t>
            </a:r>
          </a:p>
          <a:p>
            <a:r>
              <a:rPr lang="en-US"/>
              <a:t>Ask students the following questions:</a:t>
            </a:r>
          </a:p>
          <a:p>
            <a:pPr lvl="1">
              <a:buClrTx/>
            </a:pPr>
            <a:r>
              <a:rPr lang="en-US"/>
              <a:t>How many times have new devices and their associated drivers introduced reliability problems on computers that you manage?</a:t>
            </a:r>
          </a:p>
          <a:p>
            <a:pPr lvl="1">
              <a:buClrTx/>
            </a:pPr>
            <a:r>
              <a:rPr lang="en-US"/>
              <a:t>What are possible ways of recovering from a driver problem? Describe a situation in which you might use each recovery method to resolve a driver problem. Possible answers are to roll back the driver and perform a System Restore.</a:t>
            </a:r>
          </a:p>
          <a:p>
            <a:r>
              <a:rPr lang="en-US"/>
              <a:t>Tell the students that keeping drivers current is critical to efficient performance. A newer version of a device driver often adds functionality and fixes problems that were discovered in earlier versions; many hardware problems can be resolved by installing updated device drivers. Also, device driver updates often help resolve security problems and improve performance. If the updated device driver is not available through Windows Update, find the latest version of the device driver by visiting the computer manufacturer’s Web site for an updated driver, visiting the hardware manufacturer’s Web site, or searching the Web using the device name.</a:t>
            </a:r>
          </a:p>
          <a:p>
            <a:r>
              <a:rPr lang="en-US"/>
              <a:t>Talk about driver maintenance that can be performed in Device Manager, such as updating driver software, rolling back drivers, viewing driver status. Point out that rolling back a driver can cause the loss of new functionality and can reintroduce problems that were addressed with the newer version. Also mention that in certain circumstances the </a:t>
            </a:r>
            <a:r>
              <a:rPr lang="en-US" b="1"/>
              <a:t>Roll Back Driver</a:t>
            </a:r>
            <a:r>
              <a:rPr lang="en-US"/>
              <a:t> button is not available. It is only present if a previous version of the driver was installed. If the current driver for the device is the only one that was ever installed on this computer, then the </a:t>
            </a:r>
            <a:r>
              <a:rPr lang="en-US" b="1"/>
              <a:t>Roll Back Driver</a:t>
            </a:r>
            <a:r>
              <a:rPr lang="en-US"/>
              <a:t> button is not enabled.</a:t>
            </a:r>
          </a:p>
          <a:p>
            <a:r>
              <a:rPr lang="en-US"/>
              <a:t>Inform the students that after a device or driver is updated, it is rare that the computer may not start. This problem may occur in the following situations: </a:t>
            </a:r>
          </a:p>
          <a:p>
            <a:pPr lvl="1">
              <a:buClrTx/>
            </a:pPr>
            <a:r>
              <a:rPr lang="en-US"/>
              <a:t>The new device or the driver causes conflicts with other drivers that are installed on the computer. </a:t>
            </a:r>
          </a:p>
          <a:p>
            <a:pPr lvl="1">
              <a:buClrTx/>
            </a:pPr>
            <a:r>
              <a:rPr lang="en-US"/>
              <a:t>A hardware-specific issue occurs. </a:t>
            </a:r>
          </a:p>
          <a:p>
            <a:pPr lvl="1">
              <a:buClrTx/>
            </a:pPr>
            <a:r>
              <a:rPr lang="en-US"/>
              <a:t>The driver that is installed is damaged.</a:t>
            </a:r>
          </a:p>
          <a:p>
            <a:r>
              <a:rPr lang="en-US"/>
              <a:t>In these types of situations, System Restore or the Last Known Good Configuration can be used to resolve the problem. </a:t>
            </a:r>
          </a:p>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p:txBody>
          <a:bodyPr/>
          <a:lstStyle/>
          <a:p>
            <a:pPr>
              <a:defRPr/>
            </a:pPr>
            <a:r>
              <a:rPr lang="en-US">
                <a:solidFill>
                  <a:schemeClr val="tx1"/>
                </a:solidFill>
              </a:rPr>
              <a:t>Module 2: Configuring Disks and Device Drivers</a:t>
            </a:r>
          </a:p>
        </p:txBody>
      </p:sp>
      <p:sp>
        <p:nvSpPr>
          <p:cNvPr id="24579" name="Rectangle 3"/>
          <p:cNvSpPr>
            <a:spLocks noGrp="1" noChangeArrowheads="1"/>
          </p:cNvSpPr>
          <p:nvPr>
            <p:ph type="dt" sz="quarter" idx="1"/>
          </p:nvPr>
        </p:nvSpPr>
        <p:spPr/>
        <p:txBody>
          <a:bodyPr/>
          <a:lstStyle/>
          <a:p>
            <a:pPr>
              <a:defRPr/>
            </a:pPr>
            <a:r>
              <a:rPr lang="en-US"/>
              <a:t>Course 6292A</a:t>
            </a:r>
          </a:p>
        </p:txBody>
      </p:sp>
      <p:sp>
        <p:nvSpPr>
          <p:cNvPr id="24580" name="Rectangle 7"/>
          <p:cNvSpPr>
            <a:spLocks noGrp="1" noChangeArrowheads="1"/>
          </p:cNvSpPr>
          <p:nvPr>
            <p:ph type="sldNum" sz="quarter" idx="5"/>
          </p:nvPr>
        </p:nvSpPr>
        <p:spPr/>
        <p:txBody>
          <a:bodyPr/>
          <a:lstStyle/>
          <a:p>
            <a:pPr>
              <a:defRPr/>
            </a:pPr>
            <a:fld id="{8A33DCFD-DADA-4615-B550-C0459C30DD2D}" type="slidenum">
              <a:rPr lang="en-US" smtClean="0"/>
              <a:pPr>
                <a:defRPr/>
              </a:pPr>
              <a:t>15</a:t>
            </a:fld>
            <a:endParaRPr lang="en-US" dirty="0"/>
          </a:p>
        </p:txBody>
      </p:sp>
      <p:sp>
        <p:nvSpPr>
          <p:cNvPr id="77829" name="Rectangle 2"/>
          <p:cNvSpPr>
            <a:spLocks noGrp="1" noRot="1" noChangeAspect="1" noChangeArrowheads="1" noTextEdit="1"/>
          </p:cNvSpPr>
          <p:nvPr>
            <p:ph type="sldImg"/>
          </p:nvPr>
        </p:nvSpPr>
        <p:spPr>
          <a:ln/>
        </p:spPr>
      </p:sp>
      <p:sp>
        <p:nvSpPr>
          <p:cNvPr id="77830" name="Rectangle 3"/>
          <p:cNvSpPr>
            <a:spLocks noGrp="1" noChangeArrowheads="1"/>
          </p:cNvSpPr>
          <p:nvPr>
            <p:ph type="body" idx="1"/>
          </p:nvPr>
        </p:nvSpPr>
        <p:spPr>
          <a:xfrm>
            <a:off x="308075" y="2148417"/>
            <a:ext cx="6149578" cy="6731000"/>
          </a:xfrm>
          <a:noFill/>
          <a:ln/>
        </p:spPr>
        <p:txBody>
          <a:bodyPr/>
          <a:lstStyle/>
          <a:p>
            <a:r>
              <a:rPr lang="en-US" b="1"/>
              <a:t>Key message: </a:t>
            </a:r>
            <a:r>
              <a:rPr lang="en-US"/>
              <a:t>If you have a hardware problem, it can be caused by hardware or a device driver. Fortunately, the process to update device drivers to a newer version is straightforward. Alternatively, device drivers can be rolled back to an older version or reinstalled. Troubleshooting hardware problems often starts by troubleshooting device drivers. </a:t>
            </a:r>
          </a:p>
          <a:p>
            <a:r>
              <a:rPr lang="en-US"/>
              <a:t>To identify a device driver problem, answer the following questions:</a:t>
            </a:r>
          </a:p>
          <a:p>
            <a:pPr lvl="1">
              <a:buClrTx/>
            </a:pPr>
            <a:r>
              <a:rPr lang="en-US"/>
              <a:t>Did you recently upgrade the device driver or other software related to the hardware? If so, roll back the device driver to the previous version.</a:t>
            </a:r>
          </a:p>
          <a:p>
            <a:pPr lvl="1">
              <a:buClrTx/>
            </a:pPr>
            <a:r>
              <a:rPr lang="en-US"/>
              <a:t>Are you experiencing occasional problems, or is the hardware not compatible with the current version of Windows? If so, upgrade the device driver.</a:t>
            </a:r>
          </a:p>
          <a:p>
            <a:pPr lvl="1">
              <a:buClrTx/>
            </a:pPr>
            <a:r>
              <a:rPr lang="en-US"/>
              <a:t>Did the hardware suddenly stop working? If so, upgrade the device driver. If that does not solve the problem, reinstall the device. If the problem continues, try troubleshooting the hardware problem.</a:t>
            </a:r>
          </a:p>
          <a:p>
            <a:r>
              <a:rPr lang="en-US"/>
              <a:t>Ask students the following questions:</a:t>
            </a:r>
          </a:p>
          <a:p>
            <a:pPr lvl="1">
              <a:buClrTx/>
            </a:pPr>
            <a:r>
              <a:rPr lang="en-US"/>
              <a:t>How many times have new devices and their associated drivers introduced reliability problems on computers that you manage?</a:t>
            </a:r>
          </a:p>
          <a:p>
            <a:pPr lvl="1">
              <a:buClrTx/>
            </a:pPr>
            <a:r>
              <a:rPr lang="en-US"/>
              <a:t>What are possible ways of recovering from a driver problem? Describe a situation in which you might use each recovery method to resolve a driver problem. Possible answers are to roll back the driver and perform a System Restore.</a:t>
            </a:r>
          </a:p>
          <a:p>
            <a:r>
              <a:rPr lang="en-US"/>
              <a:t>Tell the students that keeping drivers current is critical to efficient performance. A newer version of a device driver often adds functionality and fixes problems that were discovered in earlier versions; many hardware problems can be resolved by installing updated device drivers. Also, device driver updates often help resolve security problems and improve performance. If the updated device driver is not available through Windows Update, find the latest version of the device driver by visiting the computer manufacturer’s Web site for an updated driver, visiting the hardware manufacturer’s Web site, or searching the Web using the device name.</a:t>
            </a:r>
          </a:p>
          <a:p>
            <a:r>
              <a:rPr lang="en-US"/>
              <a:t>Talk about driver maintenance that can be performed in Device Manager, such as updating driver software, rolling back drivers, viewing driver status. Point out that rolling back a driver can cause the loss of new functionality and can reintroduce problems that were addressed with the newer version. Also mention that in certain circumstances the </a:t>
            </a:r>
            <a:r>
              <a:rPr lang="en-US" b="1"/>
              <a:t>Roll Back Driver</a:t>
            </a:r>
            <a:r>
              <a:rPr lang="en-US"/>
              <a:t> button is not available. It is only present if a previous version of the driver was installed. If the current driver for the device is the only one that was ever installed on this computer, then the </a:t>
            </a:r>
            <a:r>
              <a:rPr lang="en-US" b="1"/>
              <a:t>Roll Back Driver</a:t>
            </a:r>
            <a:r>
              <a:rPr lang="en-US"/>
              <a:t> button is not enabled.</a:t>
            </a:r>
          </a:p>
          <a:p>
            <a:r>
              <a:rPr lang="en-US"/>
              <a:t>Inform the students that after a device or driver is updated, it is rare that the computer may not start. This problem may occur in the following situations: </a:t>
            </a:r>
          </a:p>
          <a:p>
            <a:pPr lvl="1">
              <a:buClrTx/>
            </a:pPr>
            <a:r>
              <a:rPr lang="en-US"/>
              <a:t>The new device or the driver causes conflicts with other drivers that are installed on the computer. </a:t>
            </a:r>
          </a:p>
          <a:p>
            <a:pPr lvl="1">
              <a:buClrTx/>
            </a:pPr>
            <a:r>
              <a:rPr lang="en-US"/>
              <a:t>A hardware-specific issue occurs. </a:t>
            </a:r>
          </a:p>
          <a:p>
            <a:pPr lvl="1">
              <a:buClrTx/>
            </a:pPr>
            <a:r>
              <a:rPr lang="en-US"/>
              <a:t>The driver that is installed is damaged.</a:t>
            </a:r>
          </a:p>
          <a:p>
            <a:r>
              <a:rPr lang="en-US"/>
              <a:t>In these types of situations, System Restore or the Last Known Good Configuration can be used to resolve the problem. </a:t>
            </a:r>
          </a:p>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1">
                <a:solidFill>
                  <a:schemeClr val="tx1"/>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10/27/2024</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10/27/2024</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10/27/2024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10/27/2024</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611188" y="2147455"/>
            <a:ext cx="8034048" cy="3047995"/>
          </a:xfrm>
          <a:noFill/>
          <a:ln/>
        </p:spPr>
        <p:txBody>
          <a:bodyPr lIns="90488" tIns="44450" rIns="90488" bIns="44450">
            <a:normAutofit fontScale="90000"/>
          </a:bodyPr>
          <a:lstStyle/>
          <a:p>
            <a:pPr algn="ctr">
              <a:lnSpc>
                <a:spcPct val="95000"/>
              </a:lnSpc>
            </a:pPr>
            <a:r>
              <a:rPr lang="fr-FR" sz="5000" dirty="0">
                <a:solidFill>
                  <a:schemeClr val="tx1"/>
                </a:solidFill>
                <a:latin typeface="Arial" pitchFamily="34" charset="0"/>
                <a:cs typeface="Arial" pitchFamily="34" charset="0"/>
              </a:rPr>
              <a:t>Chapitre 3</a:t>
            </a:r>
            <a:br>
              <a:rPr lang="fr-FR" sz="5000" dirty="0">
                <a:solidFill>
                  <a:schemeClr val="tx1"/>
                </a:solidFill>
                <a:latin typeface="Arial" pitchFamily="34" charset="0"/>
                <a:cs typeface="Arial" pitchFamily="34" charset="0"/>
              </a:rPr>
            </a:br>
            <a:r>
              <a:rPr lang="fr-FR" sz="5000" dirty="0">
                <a:solidFill>
                  <a:schemeClr val="tx1"/>
                </a:solidFill>
                <a:latin typeface="Arial" pitchFamily="34" charset="0"/>
                <a:cs typeface="Arial" pitchFamily="34" charset="0"/>
              </a:rPr>
              <a:t>Configuration du matériel sur un ordinateur exécutant Windows 7 Professionnel</a:t>
            </a:r>
            <a:endParaRPr lang="en-US" sz="5000" dirty="0">
              <a:solidFill>
                <a:schemeClr val="tx1"/>
              </a:solidFill>
              <a:latin typeface="Arial" pitchFamily="34" charset="0"/>
              <a:cs typeface="Arial" pitchFamily="34" charset="0"/>
            </a:endParaRPr>
          </a:p>
        </p:txBody>
      </p:sp>
      <p:sp>
        <p:nvSpPr>
          <p:cNvPr id="3" name="Rectangle 2"/>
          <p:cNvSpPr/>
          <p:nvPr/>
        </p:nvSpPr>
        <p:spPr>
          <a:xfrm>
            <a:off x="3120434" y="296431"/>
            <a:ext cx="2823166" cy="646331"/>
          </a:xfrm>
          <a:prstGeom prst="rect">
            <a:avLst/>
          </a:prstGeom>
        </p:spPr>
        <p:txBody>
          <a:bodyPr wrap="square">
            <a:spAutoFit/>
          </a:bodyPr>
          <a:lstStyle/>
          <a:p>
            <a:r>
              <a:rPr lang="fr-FR" sz="3600" b="1" dirty="0">
                <a:solidFill>
                  <a:schemeClr val="tx1"/>
                </a:solidFill>
                <a:latin typeface="Arial" pitchFamily="34" charset="0"/>
                <a:cs typeface="Arial" pitchFamily="34" charset="0"/>
              </a:rPr>
              <a:t>Module S41</a:t>
            </a:r>
            <a:endParaRPr lang="fr-FR" sz="3600" b="1" dirty="0">
              <a:latin typeface="Arial" pitchFamily="34" charset="0"/>
              <a:cs typeface="Arial"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4" name="Rectangle 4"/>
          <p:cNvSpPr>
            <a:spLocks noGrp="1" noChangeArrowheads="1"/>
          </p:cNvSpPr>
          <p:nvPr>
            <p:ph type="title"/>
          </p:nvPr>
        </p:nvSpPr>
        <p:spPr/>
        <p:txBody>
          <a:bodyPr/>
          <a:lstStyle/>
          <a:p>
            <a:r>
              <a:rPr lang="fr-FR" dirty="0">
                <a:solidFill>
                  <a:schemeClr val="tx1"/>
                </a:solidFill>
                <a:cs typeface="Times New Roman" pitchFamily="18" charset="0"/>
              </a:rPr>
              <a:t>Plan du cours</a:t>
            </a:r>
            <a:endParaRPr lang="en-US" dirty="0">
              <a:solidFill>
                <a:schemeClr val="tx1"/>
              </a:solidFill>
            </a:endParaRPr>
          </a:p>
        </p:txBody>
      </p:sp>
      <p:sp>
        <p:nvSpPr>
          <p:cNvPr id="194565" name="Rectangle 5"/>
          <p:cNvSpPr>
            <a:spLocks noGrp="1" noChangeArrowheads="1"/>
          </p:cNvSpPr>
          <p:nvPr>
            <p:ph sz="quarter" idx="1"/>
          </p:nvPr>
        </p:nvSpPr>
        <p:spPr>
          <a:xfrm>
            <a:off x="260188" y="1884218"/>
            <a:ext cx="8675994" cy="3422073"/>
          </a:xfrm>
        </p:spPr>
        <p:txBody>
          <a:bodyPr>
            <a:normAutofit/>
          </a:bodyPr>
          <a:lstStyle/>
          <a:p>
            <a:pPr marL="514350" indent="-514350">
              <a:buClrTx/>
              <a:buFont typeface="+mj-lt"/>
              <a:buAutoNum type="arabicPeriod"/>
            </a:pPr>
            <a:r>
              <a:rPr lang="fr-FR" sz="2800" dirty="0">
                <a:cs typeface="Times New Roman" pitchFamily="18" charset="0"/>
              </a:rPr>
              <a:t>Vue d'ensemble des pilotes de périphériques dans Windows 7</a:t>
            </a:r>
          </a:p>
          <a:p>
            <a:pPr marL="514350" indent="-514350">
              <a:buClrTx/>
              <a:buFont typeface="+mj-lt"/>
              <a:buAutoNum type="arabicPeriod"/>
            </a:pPr>
            <a:r>
              <a:rPr lang="fr-FR" sz="2800" dirty="0">
                <a:cs typeface="Times New Roman" pitchFamily="18" charset="0"/>
              </a:rPr>
              <a:t>Installation des périphériques et des pilotes</a:t>
            </a:r>
          </a:p>
          <a:p>
            <a:pPr marL="514350" indent="-514350">
              <a:buClrTx/>
              <a:buFont typeface="+mj-lt"/>
              <a:buAutoNum type="arabicPeriod"/>
            </a:pPr>
            <a:r>
              <a:rPr lang="fr-FR" sz="2800" dirty="0">
                <a:cs typeface="Times New Roman" pitchFamily="18" charset="0"/>
              </a:rPr>
              <a:t>Utilisation des pilotes</a:t>
            </a:r>
            <a:endParaRPr lang="en-US" sz="2800" dirty="0">
              <a:cs typeface="Times New Roman" pitchFamily="18" charset="0"/>
            </a:endParaRPr>
          </a:p>
          <a:p>
            <a:pPr marL="514350" indent="-514350">
              <a:buClrTx/>
              <a:buFont typeface="+mj-lt"/>
              <a:buAutoNum type="arabicPeriod"/>
            </a:pPr>
            <a:r>
              <a:rPr lang="fr-FR" sz="2800" dirty="0">
                <a:cs typeface="Times New Roman" pitchFamily="18" charset="0"/>
              </a:rPr>
              <a:t>Résolution des problèmes liés aux périphériques matériels</a:t>
            </a:r>
            <a:endParaRPr lang="en-US" sz="2800" dirty="0">
              <a:cs typeface="Times New Roman" pitchFamily="18" charset="0"/>
            </a:endParaRPr>
          </a:p>
          <a:p>
            <a:pPr>
              <a:buClrTx/>
              <a:buNone/>
            </a:pP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01752" y="297875"/>
            <a:ext cx="8534400" cy="758952"/>
          </a:xfrm>
        </p:spPr>
        <p:txBody>
          <a:bodyPr>
            <a:noAutofit/>
          </a:bodyPr>
          <a:lstStyle/>
          <a:p>
            <a:pPr marL="514350" indent="-514350"/>
            <a:r>
              <a:rPr lang="fr-FR" sz="2800" dirty="0">
                <a:solidFill>
                  <a:srgbClr val="C00000"/>
                </a:solidFill>
              </a:rPr>
              <a:t>Vue d'ensemble des pilotes de périphériques dans Windows 7</a:t>
            </a:r>
          </a:p>
        </p:txBody>
      </p:sp>
      <p:sp>
        <p:nvSpPr>
          <p:cNvPr id="11" name="AutoShape 12"/>
          <p:cNvSpPr>
            <a:spLocks noChangeArrowheads="1"/>
          </p:cNvSpPr>
          <p:nvPr/>
        </p:nvSpPr>
        <p:spPr bwMode="auto">
          <a:xfrm>
            <a:off x="165100" y="1076045"/>
            <a:ext cx="8813800" cy="5648325"/>
          </a:xfrm>
          <a:prstGeom prst="roundRect">
            <a:avLst>
              <a:gd name="adj" fmla="val 2856"/>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lIns="182880" tIns="182880"/>
          <a:lstStyle/>
          <a:p>
            <a:pPr marL="231775" indent="31750">
              <a:lnSpc>
                <a:spcPct val="90000"/>
              </a:lnSpc>
              <a:spcBef>
                <a:spcPct val="40000"/>
              </a:spcBef>
              <a:buClr>
                <a:srgbClr val="8DACD0"/>
              </a:buClr>
              <a:buSzPct val="70000"/>
              <a:defRPr/>
            </a:pPr>
            <a:r>
              <a:rPr lang="fr-FR" sz="2400" dirty="0"/>
              <a:t>Un pilote est un petit logiciel qui permet à un périphérique matériel de communiquer avec un ordinateur</a:t>
            </a:r>
            <a:r>
              <a:rPr lang="en-US" sz="2100" dirty="0"/>
              <a:t>. </a:t>
            </a:r>
          </a:p>
        </p:txBody>
      </p:sp>
      <p:sp>
        <p:nvSpPr>
          <p:cNvPr id="12" name="AutoShape 34"/>
          <p:cNvSpPr>
            <a:spLocks noChangeArrowheads="1"/>
          </p:cNvSpPr>
          <p:nvPr/>
        </p:nvSpPr>
        <p:spPr bwMode="auto">
          <a:xfrm>
            <a:off x="212004" y="2053221"/>
            <a:ext cx="6839960" cy="4486124"/>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000" b="0" dirty="0"/>
              <a:t>Les pilotes développés pour les versions 32 bits ne fonctionnent pas avec les versions 64 bits et vice versa. </a:t>
            </a:r>
          </a:p>
          <a:p>
            <a:pPr marL="231775" indent="-231775">
              <a:lnSpc>
                <a:spcPct val="90000"/>
              </a:lnSpc>
              <a:spcBef>
                <a:spcPct val="40000"/>
              </a:spcBef>
              <a:buSzPct val="90000"/>
              <a:buFont typeface="Arial" pitchFamily="34" charset="0"/>
              <a:buChar char="•"/>
              <a:defRPr/>
            </a:pPr>
            <a:r>
              <a:rPr lang="fr-FR" sz="2000" b="0" dirty="0"/>
              <a:t>Les pilotes de périphériques qui sont fournis avec Windows 7 ont une signature numérique Microsoft.  </a:t>
            </a:r>
          </a:p>
          <a:p>
            <a:pPr marL="231775" indent="-231775">
              <a:lnSpc>
                <a:spcPct val="90000"/>
              </a:lnSpc>
              <a:spcBef>
                <a:spcPct val="40000"/>
              </a:spcBef>
              <a:buSzPct val="90000"/>
              <a:buFont typeface="Arial" pitchFamily="34" charset="0"/>
              <a:buChar char="•"/>
              <a:defRPr/>
            </a:pPr>
            <a:r>
              <a:rPr lang="fr-FR" sz="2000" b="0" dirty="0"/>
              <a:t>Le magasin de pilotes est le référentiel de pilote.</a:t>
            </a:r>
          </a:p>
          <a:p>
            <a:pPr marL="231775" indent="-231775">
              <a:lnSpc>
                <a:spcPct val="90000"/>
              </a:lnSpc>
              <a:spcBef>
                <a:spcPct val="40000"/>
              </a:spcBef>
              <a:buSzPct val="90000"/>
              <a:buFont typeface="Arial" pitchFamily="34" charset="0"/>
              <a:buChar char="•"/>
              <a:defRPr/>
            </a:pPr>
            <a:r>
              <a:rPr lang="fr-FR" sz="2000" b="0" dirty="0"/>
              <a:t>Les packages des </a:t>
            </a:r>
            <a:r>
              <a:rPr lang="fr-FR" sz="2000" dirty="0"/>
              <a:t>périphériques contiennent</a:t>
            </a:r>
            <a:r>
              <a:rPr lang="en-US" sz="2000" b="0" dirty="0"/>
              <a:t>:</a:t>
            </a:r>
          </a:p>
          <a:p>
            <a:pPr marL="688975" lvl="2" indent="-231775">
              <a:lnSpc>
                <a:spcPct val="90000"/>
              </a:lnSpc>
              <a:spcBef>
                <a:spcPct val="40000"/>
              </a:spcBef>
              <a:buSzPct val="90000"/>
              <a:buFont typeface="Arial" pitchFamily="34" charset="0"/>
              <a:buChar char="•"/>
              <a:defRPr/>
            </a:pPr>
            <a:r>
              <a:rPr lang="fr-FR" sz="2000" b="0" dirty="0"/>
              <a:t>Les propriétés du périphérique</a:t>
            </a:r>
          </a:p>
          <a:p>
            <a:pPr marL="688975" lvl="2" indent="-231775">
              <a:lnSpc>
                <a:spcPct val="90000"/>
              </a:lnSpc>
              <a:spcBef>
                <a:spcPct val="40000"/>
              </a:spcBef>
              <a:buSzPct val="90000"/>
              <a:buFont typeface="Arial" pitchFamily="34" charset="0"/>
              <a:buChar char="•"/>
              <a:defRPr/>
            </a:pPr>
            <a:r>
              <a:rPr lang="fr-FR" sz="2000" b="0" dirty="0"/>
              <a:t>Les fonctions du périphérique</a:t>
            </a:r>
          </a:p>
          <a:p>
            <a:pPr marL="688975" lvl="2" indent="-231775">
              <a:lnSpc>
                <a:spcPct val="90000"/>
              </a:lnSpc>
              <a:spcBef>
                <a:spcPct val="40000"/>
              </a:spcBef>
              <a:buSzPct val="90000"/>
              <a:buFont typeface="Arial" pitchFamily="34" charset="0"/>
              <a:buChar char="•"/>
              <a:defRPr/>
            </a:pPr>
            <a:r>
              <a:rPr lang="fr-FR" sz="2000" b="0" dirty="0"/>
              <a:t>Les applications et les services qui prennent en charge le périphérique.</a:t>
            </a:r>
            <a:endParaRPr lang="en-US" sz="2000" b="0" dirty="0"/>
          </a:p>
        </p:txBody>
      </p:sp>
      <p:grpSp>
        <p:nvGrpSpPr>
          <p:cNvPr id="2" name="Group 20"/>
          <p:cNvGrpSpPr>
            <a:grpSpLocks/>
          </p:cNvGrpSpPr>
          <p:nvPr/>
        </p:nvGrpSpPr>
        <p:grpSpPr bwMode="auto">
          <a:xfrm>
            <a:off x="6525492" y="4613558"/>
            <a:ext cx="2300702" cy="2064327"/>
            <a:chOff x="6781800" y="4521200"/>
            <a:chExt cx="2108200" cy="1905000"/>
          </a:xfrm>
        </p:grpSpPr>
        <p:sp>
          <p:nvSpPr>
            <p:cNvPr id="13" name="AutoShape 4"/>
            <p:cNvSpPr>
              <a:spLocks noChangeArrowheads="1"/>
            </p:cNvSpPr>
            <p:nvPr/>
          </p:nvSpPr>
          <p:spPr bwMode="auto">
            <a:xfrm>
              <a:off x="6781800" y="4521200"/>
              <a:ext cx="2108200" cy="1905000"/>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pPr>
                <a:defRPr/>
              </a:pPr>
              <a:endParaRPr lang="en-US" dirty="0"/>
            </a:p>
          </p:txBody>
        </p:sp>
        <p:sp>
          <p:nvSpPr>
            <p:cNvPr id="14" name="AutoShape 5"/>
            <p:cNvSpPr>
              <a:spLocks noChangeArrowheads="1"/>
            </p:cNvSpPr>
            <p:nvPr/>
          </p:nvSpPr>
          <p:spPr bwMode="auto">
            <a:xfrm>
              <a:off x="6840634" y="4602697"/>
              <a:ext cx="1987265" cy="1731819"/>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nSpc>
                  <a:spcPct val="90000"/>
                </a:lnSpc>
                <a:buSzPct val="80000"/>
                <a:buFontTx/>
                <a:buBlip>
                  <a:blip r:embed="rId3"/>
                </a:buBlip>
                <a:defRPr/>
              </a:pPr>
              <a:endParaRPr lang="en-GB" sz="2200" dirty="0"/>
            </a:p>
          </p:txBody>
        </p:sp>
        <p:pic>
          <p:nvPicPr>
            <p:cNvPr id="27664" name="Picture 10" descr="Computer_Desktop+Keyboard"/>
            <p:cNvPicPr>
              <a:picLocks noChangeAspect="1" noChangeArrowheads="1"/>
            </p:cNvPicPr>
            <p:nvPr/>
          </p:nvPicPr>
          <p:blipFill>
            <a:blip r:embed="rId4"/>
            <a:srcRect/>
            <a:stretch>
              <a:fillRect/>
            </a:stretch>
          </p:blipFill>
          <p:spPr bwMode="auto">
            <a:xfrm>
              <a:off x="7025730" y="5569160"/>
              <a:ext cx="510036" cy="627431"/>
            </a:xfrm>
            <a:prstGeom prst="rect">
              <a:avLst/>
            </a:prstGeom>
            <a:noFill/>
            <a:ln w="9525">
              <a:noFill/>
              <a:miter lim="800000"/>
              <a:headEnd/>
              <a:tailEnd/>
            </a:ln>
          </p:spPr>
        </p:pic>
        <p:pic>
          <p:nvPicPr>
            <p:cNvPr id="27665" name="Picture 18" descr="arrow05_02"/>
            <p:cNvPicPr>
              <a:picLocks noChangeAspect="1" noChangeArrowheads="1"/>
            </p:cNvPicPr>
            <p:nvPr/>
          </p:nvPicPr>
          <p:blipFill>
            <a:blip r:embed="rId5"/>
            <a:srcRect/>
            <a:stretch>
              <a:fillRect/>
            </a:stretch>
          </p:blipFill>
          <p:spPr bwMode="auto">
            <a:xfrm rot="20144761" flipH="1">
              <a:off x="7130490" y="5054432"/>
              <a:ext cx="688205" cy="265775"/>
            </a:xfrm>
            <a:prstGeom prst="rect">
              <a:avLst/>
            </a:prstGeom>
            <a:noFill/>
            <a:ln w="9525">
              <a:noFill/>
              <a:miter lim="800000"/>
              <a:headEnd/>
              <a:tailEnd/>
            </a:ln>
          </p:spPr>
        </p:pic>
        <p:pic>
          <p:nvPicPr>
            <p:cNvPr id="27666" name="Picture 25" descr="Printer_Desktop"/>
            <p:cNvPicPr>
              <a:picLocks noChangeAspect="1" noChangeArrowheads="1"/>
            </p:cNvPicPr>
            <p:nvPr/>
          </p:nvPicPr>
          <p:blipFill>
            <a:blip r:embed="rId6"/>
            <a:srcRect/>
            <a:stretch>
              <a:fillRect/>
            </a:stretch>
          </p:blipFill>
          <p:spPr bwMode="auto">
            <a:xfrm>
              <a:off x="8203325" y="5649902"/>
              <a:ext cx="524565" cy="508000"/>
            </a:xfrm>
            <a:prstGeom prst="rect">
              <a:avLst/>
            </a:prstGeom>
            <a:noFill/>
            <a:ln w="9525">
              <a:noFill/>
              <a:miter lim="800000"/>
              <a:headEnd/>
              <a:tailEnd/>
            </a:ln>
          </p:spPr>
        </p:pic>
        <p:pic>
          <p:nvPicPr>
            <p:cNvPr id="27667" name="Picture 27" descr="arrow05_02"/>
            <p:cNvPicPr>
              <a:picLocks noChangeAspect="1" noChangeArrowheads="1"/>
            </p:cNvPicPr>
            <p:nvPr/>
          </p:nvPicPr>
          <p:blipFill>
            <a:blip r:embed="rId5"/>
            <a:srcRect/>
            <a:stretch>
              <a:fillRect/>
            </a:stretch>
          </p:blipFill>
          <p:spPr bwMode="auto">
            <a:xfrm rot="1455239">
              <a:off x="7952512" y="5051068"/>
              <a:ext cx="688205" cy="264093"/>
            </a:xfrm>
            <a:prstGeom prst="rect">
              <a:avLst/>
            </a:prstGeom>
            <a:noFill/>
            <a:ln w="9525">
              <a:noFill/>
              <a:miter lim="800000"/>
              <a:headEnd/>
              <a:tailEnd/>
            </a:ln>
          </p:spPr>
        </p:pic>
        <p:pic>
          <p:nvPicPr>
            <p:cNvPr id="27668" name="Picture 28" descr="Code"/>
            <p:cNvPicPr>
              <a:picLocks noChangeAspect="1" noChangeArrowheads="1"/>
            </p:cNvPicPr>
            <p:nvPr/>
          </p:nvPicPr>
          <p:blipFill>
            <a:blip r:embed="rId7"/>
            <a:srcRect/>
            <a:stretch>
              <a:fillRect/>
            </a:stretch>
          </p:blipFill>
          <p:spPr bwMode="auto">
            <a:xfrm>
              <a:off x="7671878" y="4723054"/>
              <a:ext cx="394571" cy="706490"/>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additive="base">
                                        <p:cTn id="19"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anim calcmode="lin" valueType="num">
                                      <p:cBhvr additive="base">
                                        <p:cTn id="2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8" name="Rectangle 4"/>
          <p:cNvSpPr>
            <a:spLocks noGrp="1" noChangeArrowheads="1"/>
          </p:cNvSpPr>
          <p:nvPr>
            <p:ph type="title"/>
          </p:nvPr>
        </p:nvSpPr>
        <p:spPr>
          <a:xfrm>
            <a:off x="301752" y="180109"/>
            <a:ext cx="8534400" cy="987558"/>
          </a:xfrm>
        </p:spPr>
        <p:txBody>
          <a:bodyPr>
            <a:noAutofit/>
          </a:bodyPr>
          <a:lstStyle/>
          <a:p>
            <a:pPr marL="544513" indent="-544513"/>
            <a:r>
              <a:rPr lang="fr-FR" sz="3200" dirty="0">
                <a:cs typeface="Times New Roman" pitchFamily="18" charset="0"/>
              </a:rPr>
              <a:t>2. Installation et configuration de périphériques matériels</a:t>
            </a:r>
            <a:endParaRPr lang="en-US" sz="3200" dirty="0"/>
          </a:p>
        </p:txBody>
      </p:sp>
      <p:sp>
        <p:nvSpPr>
          <p:cNvPr id="195589" name="Rectangle 5"/>
          <p:cNvSpPr>
            <a:spLocks noGrp="1" noChangeArrowheads="1"/>
          </p:cNvSpPr>
          <p:nvPr>
            <p:ph sz="quarter" idx="1"/>
          </p:nvPr>
        </p:nvSpPr>
        <p:spPr>
          <a:xfrm>
            <a:off x="301752" y="2247484"/>
            <a:ext cx="8503920" cy="3072661"/>
          </a:xfrm>
        </p:spPr>
        <p:txBody>
          <a:bodyPr>
            <a:normAutofit/>
          </a:bodyPr>
          <a:lstStyle/>
          <a:p>
            <a:pPr>
              <a:buClrTx/>
              <a:buFont typeface="Symbol" pitchFamily="18" charset="2"/>
              <a:buChar char="®"/>
            </a:pPr>
            <a:r>
              <a:rPr lang="fr-FR" sz="2800" dirty="0"/>
              <a:t>Installation de périphériques Plug-and-Play </a:t>
            </a:r>
            <a:endParaRPr lang="en-US" sz="2800" dirty="0"/>
          </a:p>
          <a:p>
            <a:pPr>
              <a:buClrTx/>
              <a:buFont typeface="Symbol" pitchFamily="18" charset="2"/>
              <a:buChar char="®"/>
            </a:pPr>
            <a:r>
              <a:rPr lang="fr-FR" sz="2800" dirty="0"/>
              <a:t>Installation de périphériques non-Plug-and-Play</a:t>
            </a:r>
          </a:p>
          <a:p>
            <a:pPr>
              <a:buClrTx/>
              <a:buFont typeface="Symbol" pitchFamily="18" charset="2"/>
              <a:buChar char="®"/>
            </a:pPr>
            <a:r>
              <a:rPr lang="fr-FR" sz="2800" dirty="0"/>
              <a:t>Les nouveautés </a:t>
            </a:r>
          </a:p>
          <a:p>
            <a:pPr>
              <a:buClrTx/>
              <a:buFont typeface="Symbol" pitchFamily="18" charset="2"/>
              <a:buChar char="®"/>
            </a:pPr>
            <a:r>
              <a:rPr lang="fr-FR" sz="2800" dirty="0"/>
              <a:t>Processus de détection des pilotes </a:t>
            </a:r>
            <a:endParaRPr lang="en-US" sz="2800" dirty="0"/>
          </a:p>
          <a:p>
            <a:pPr>
              <a:buClrTx/>
              <a:buFont typeface="Symbol" pitchFamily="18" charset="2"/>
              <a:buChar char="®"/>
            </a:pPr>
            <a:r>
              <a:rPr lang="en-US" sz="2800" dirty="0" err="1"/>
              <a:t>Outils</a:t>
            </a:r>
            <a:r>
              <a:rPr lang="en-US" sz="2800" dirty="0"/>
              <a:t> de </a:t>
            </a:r>
            <a:r>
              <a:rPr lang="en-US" sz="2800" dirty="0" err="1"/>
              <a:t>gestion</a:t>
            </a:r>
            <a:r>
              <a:rPr lang="en-US" sz="2800" dirty="0"/>
              <a:t> de </a:t>
            </a:r>
            <a:r>
              <a:rPr lang="en-US" sz="2800" dirty="0" err="1"/>
              <a:t>pilotes</a:t>
            </a:r>
            <a:r>
              <a:rPr lang="en-US" sz="2800" dirty="0"/>
              <a:t> de </a:t>
            </a:r>
            <a:r>
              <a:rPr lang="en-US" sz="2800" dirty="0" err="1"/>
              <a:t>périphériques</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177056" y="346354"/>
            <a:ext cx="8772974" cy="599625"/>
          </a:xfrm>
        </p:spPr>
        <p:txBody>
          <a:bodyPr vert="horz" anchor="b">
            <a:normAutofit/>
          </a:bodyPr>
          <a:lstStyle/>
          <a:p>
            <a:r>
              <a:rPr lang="en-US" sz="2800" dirty="0">
                <a:solidFill>
                  <a:srgbClr val="C00000"/>
                </a:solidFill>
              </a:rPr>
              <a:t>Installation de </a:t>
            </a:r>
            <a:r>
              <a:rPr lang="en-US" sz="2800" dirty="0" err="1">
                <a:solidFill>
                  <a:srgbClr val="C00000"/>
                </a:solidFill>
              </a:rPr>
              <a:t>périphériques</a:t>
            </a:r>
            <a:r>
              <a:rPr lang="en-US" sz="2800" dirty="0">
                <a:solidFill>
                  <a:srgbClr val="C00000"/>
                </a:solidFill>
              </a:rPr>
              <a:t>  plug and play</a:t>
            </a:r>
          </a:p>
        </p:txBody>
      </p:sp>
      <p:sp>
        <p:nvSpPr>
          <p:cNvPr id="196614" name="Text Box 6"/>
          <p:cNvSpPr txBox="1">
            <a:spLocks noChangeArrowheads="1"/>
          </p:cNvSpPr>
          <p:nvPr/>
        </p:nvSpPr>
        <p:spPr bwMode="auto">
          <a:xfrm>
            <a:off x="181840" y="1629794"/>
            <a:ext cx="360363" cy="650875"/>
          </a:xfrm>
          <a:prstGeom prst="rect">
            <a:avLst/>
          </a:prstGeom>
          <a:solidFill>
            <a:srgbClr val="3366FF"/>
          </a:solidFill>
          <a:ln w="9525">
            <a:solidFill>
              <a:srgbClr val="3366FF"/>
            </a:solidFill>
            <a:miter lim="800000"/>
            <a:headEnd/>
            <a:tailEnd/>
          </a:ln>
          <a:effectLst>
            <a:outerShdw dist="63500" dir="2212194" algn="ctr" rotWithShape="0">
              <a:srgbClr val="969696"/>
            </a:outerShdw>
          </a:effectLst>
        </p:spPr>
        <p:txBody>
          <a:bodyPr wrap="none" anchor="ctr"/>
          <a:lstStyle/>
          <a:p>
            <a:r>
              <a:rPr lang="en-US" sz="2400" b="1">
                <a:solidFill>
                  <a:srgbClr val="FFFFFF"/>
                </a:solidFill>
                <a:effectLst>
                  <a:outerShdw blurRad="38100" dist="38100" dir="2700000" algn="tl">
                    <a:srgbClr val="000000"/>
                  </a:outerShdw>
                </a:effectLst>
                <a:latin typeface="Arial" charset="0"/>
                <a:cs typeface="Times New Roman" pitchFamily="18" charset="0"/>
              </a:rPr>
              <a:t>1</a:t>
            </a:r>
          </a:p>
        </p:txBody>
      </p:sp>
      <p:sp>
        <p:nvSpPr>
          <p:cNvPr id="196615" name="Text Box 7"/>
          <p:cNvSpPr txBox="1">
            <a:spLocks noChangeArrowheads="1"/>
          </p:cNvSpPr>
          <p:nvPr/>
        </p:nvSpPr>
        <p:spPr bwMode="auto">
          <a:xfrm>
            <a:off x="554182" y="1657503"/>
            <a:ext cx="3671743" cy="650875"/>
          </a:xfrm>
          <a:prstGeom prst="rect">
            <a:avLst/>
          </a:prstGeom>
          <a:gradFill rotWithShape="0">
            <a:gsLst>
              <a:gs pos="0">
                <a:srgbClr val="CCECFF"/>
              </a:gs>
              <a:gs pos="100000">
                <a:srgbClr val="CCECFF">
                  <a:gamma/>
                  <a:tint val="0"/>
                  <a:invGamma/>
                </a:srgbClr>
              </a:gs>
            </a:gsLst>
            <a:lin ang="5400000" scaled="1"/>
          </a:gradFill>
          <a:ln w="9525">
            <a:solidFill>
              <a:srgbClr val="3366FF"/>
            </a:solidFill>
            <a:miter lim="800000"/>
            <a:headEnd/>
            <a:tailEnd/>
          </a:ln>
          <a:effectLst>
            <a:outerShdw dist="71842" dir="2700000" algn="ctr" rotWithShape="0">
              <a:srgbClr val="969696"/>
            </a:outerShdw>
          </a:effectLst>
        </p:spPr>
        <p:txBody>
          <a:bodyPr/>
          <a:lstStyle/>
          <a:p>
            <a:r>
              <a:rPr lang="en-US" sz="2000" b="1" dirty="0" err="1">
                <a:latin typeface="Arial" charset="0"/>
                <a:cs typeface="Times New Roman" pitchFamily="18" charset="0"/>
              </a:rPr>
              <a:t>Connectez</a:t>
            </a:r>
            <a:r>
              <a:rPr lang="en-US" sz="2000" b="1" dirty="0">
                <a:latin typeface="Arial" charset="0"/>
                <a:cs typeface="Times New Roman" pitchFamily="18" charset="0"/>
              </a:rPr>
              <a:t> le </a:t>
            </a:r>
            <a:r>
              <a:rPr lang="en-US" sz="2000" b="1" dirty="0" err="1">
                <a:latin typeface="Arial" charset="0"/>
                <a:cs typeface="Times New Roman" pitchFamily="18" charset="0"/>
              </a:rPr>
              <a:t>périphérique</a:t>
            </a:r>
            <a:r>
              <a:rPr lang="en-US" sz="2000" b="1" dirty="0">
                <a:latin typeface="Arial" charset="0"/>
                <a:cs typeface="Times New Roman" pitchFamily="18" charset="0"/>
              </a:rPr>
              <a:t> à </a:t>
            </a:r>
            <a:r>
              <a:rPr lang="en-US" sz="2000" b="1" dirty="0" err="1">
                <a:latin typeface="Arial" charset="0"/>
                <a:cs typeface="Times New Roman" pitchFamily="18" charset="0"/>
              </a:rPr>
              <a:t>votre</a:t>
            </a:r>
            <a:r>
              <a:rPr lang="en-US" sz="2000" b="1" dirty="0">
                <a:latin typeface="Arial" charset="0"/>
                <a:cs typeface="Times New Roman" pitchFamily="18" charset="0"/>
              </a:rPr>
              <a:t> </a:t>
            </a:r>
            <a:r>
              <a:rPr lang="en-US" sz="2000" b="1" dirty="0" err="1">
                <a:latin typeface="Arial" charset="0"/>
                <a:cs typeface="Times New Roman" pitchFamily="18" charset="0"/>
              </a:rPr>
              <a:t>ordinateur</a:t>
            </a:r>
            <a:endParaRPr lang="en-US" sz="2000" b="1" dirty="0">
              <a:latin typeface="Arial" charset="0"/>
              <a:cs typeface="Times New Roman" pitchFamily="18" charset="0"/>
            </a:endParaRPr>
          </a:p>
        </p:txBody>
      </p:sp>
      <p:grpSp>
        <p:nvGrpSpPr>
          <p:cNvPr id="196616" name="Group 8"/>
          <p:cNvGrpSpPr>
            <a:grpSpLocks/>
          </p:cNvGrpSpPr>
          <p:nvPr/>
        </p:nvGrpSpPr>
        <p:grpSpPr bwMode="auto">
          <a:xfrm>
            <a:off x="401638" y="4240365"/>
            <a:ext cx="4291012" cy="1798638"/>
            <a:chOff x="790" y="2401"/>
            <a:chExt cx="2924" cy="1226"/>
          </a:xfrm>
        </p:grpSpPr>
        <p:sp>
          <p:nvSpPr>
            <p:cNvPr id="196617" name="Freeform 9"/>
            <p:cNvSpPr>
              <a:spLocks/>
            </p:cNvSpPr>
            <p:nvPr/>
          </p:nvSpPr>
          <p:spPr bwMode="auto">
            <a:xfrm>
              <a:off x="1515" y="2847"/>
              <a:ext cx="915" cy="246"/>
            </a:xfrm>
            <a:custGeom>
              <a:avLst/>
              <a:gdLst/>
              <a:ahLst/>
              <a:cxnLst>
                <a:cxn ang="0">
                  <a:pos x="0" y="340"/>
                </a:cxn>
                <a:cxn ang="0">
                  <a:pos x="537" y="17"/>
                </a:cxn>
                <a:cxn ang="0">
                  <a:pos x="497" y="443"/>
                </a:cxn>
                <a:cxn ang="0">
                  <a:pos x="915" y="585"/>
                </a:cxn>
              </a:cxnLst>
              <a:rect l="0" t="0" r="r" b="b"/>
              <a:pathLst>
                <a:path w="915" h="585">
                  <a:moveTo>
                    <a:pt x="0" y="340"/>
                  </a:moveTo>
                  <a:cubicBezTo>
                    <a:pt x="227" y="170"/>
                    <a:pt x="454" y="0"/>
                    <a:pt x="537" y="17"/>
                  </a:cubicBezTo>
                  <a:cubicBezTo>
                    <a:pt x="620" y="34"/>
                    <a:pt x="434" y="348"/>
                    <a:pt x="497" y="443"/>
                  </a:cubicBezTo>
                  <a:cubicBezTo>
                    <a:pt x="560" y="538"/>
                    <a:pt x="737" y="561"/>
                    <a:pt x="915" y="585"/>
                  </a:cubicBezTo>
                </a:path>
              </a:pathLst>
            </a:custGeom>
            <a:noFill/>
            <a:ln w="38100" cmpd="sng">
              <a:solidFill>
                <a:srgbClr val="808080"/>
              </a:solidFill>
              <a:round/>
              <a:headEnd/>
              <a:tailEnd/>
            </a:ln>
            <a:effectLst/>
          </p:spPr>
          <p:txBody>
            <a:bodyPr/>
            <a:lstStyle/>
            <a:p>
              <a:endParaRPr lang="fr-FR"/>
            </a:p>
          </p:txBody>
        </p:sp>
        <p:grpSp>
          <p:nvGrpSpPr>
            <p:cNvPr id="196618" name="Group 10"/>
            <p:cNvGrpSpPr>
              <a:grpSpLocks/>
            </p:cNvGrpSpPr>
            <p:nvPr/>
          </p:nvGrpSpPr>
          <p:grpSpPr bwMode="auto">
            <a:xfrm>
              <a:off x="2206" y="2401"/>
              <a:ext cx="1508" cy="1226"/>
              <a:chOff x="4045" y="2487"/>
              <a:chExt cx="1385" cy="1115"/>
            </a:xfrm>
          </p:grpSpPr>
          <p:sp>
            <p:nvSpPr>
              <p:cNvPr id="196619" name="Rectangle 11"/>
              <p:cNvSpPr>
                <a:spLocks noChangeArrowheads="1"/>
              </p:cNvSpPr>
              <p:nvPr/>
            </p:nvSpPr>
            <p:spPr bwMode="auto">
              <a:xfrm flipH="1">
                <a:off x="4112" y="2555"/>
                <a:ext cx="1318" cy="1047"/>
              </a:xfrm>
              <a:prstGeom prst="rect">
                <a:avLst/>
              </a:prstGeom>
              <a:gradFill rotWithShape="0">
                <a:gsLst>
                  <a:gs pos="0">
                    <a:srgbClr val="99CCFF">
                      <a:gamma/>
                      <a:tint val="4314"/>
                      <a:invGamma/>
                    </a:srgbClr>
                  </a:gs>
                  <a:gs pos="100000">
                    <a:srgbClr val="99CCFF"/>
                  </a:gs>
                </a:gsLst>
                <a:lin ang="5400000" scaled="1"/>
              </a:gradFill>
              <a:ln w="9525">
                <a:solidFill>
                  <a:srgbClr val="0033CC"/>
                </a:solidFill>
                <a:miter lim="800000"/>
                <a:headEnd/>
                <a:tailEnd/>
              </a:ln>
              <a:effectLst>
                <a:outerShdw dist="53882" dir="2700000" algn="ctr" rotWithShape="0">
                  <a:srgbClr val="C0C0C0"/>
                </a:outerShdw>
              </a:effectLst>
            </p:spPr>
            <p:txBody>
              <a:bodyPr tIns="27432" bIns="27432" anchor="ctr"/>
              <a:lstStyle/>
              <a:p>
                <a:endParaRPr lang="fr-FR"/>
              </a:p>
            </p:txBody>
          </p:sp>
          <p:grpSp>
            <p:nvGrpSpPr>
              <p:cNvPr id="196620" name="Group 12"/>
              <p:cNvGrpSpPr>
                <a:grpSpLocks/>
              </p:cNvGrpSpPr>
              <p:nvPr/>
            </p:nvGrpSpPr>
            <p:grpSpPr bwMode="auto">
              <a:xfrm>
                <a:off x="4045" y="2487"/>
                <a:ext cx="1046" cy="1021"/>
                <a:chOff x="4045" y="2487"/>
                <a:chExt cx="1046" cy="1021"/>
              </a:xfrm>
            </p:grpSpPr>
            <p:grpSp>
              <p:nvGrpSpPr>
                <p:cNvPr id="196621" name="Group 13"/>
                <p:cNvGrpSpPr>
                  <a:grpSpLocks/>
                </p:cNvGrpSpPr>
                <p:nvPr/>
              </p:nvGrpSpPr>
              <p:grpSpPr bwMode="auto">
                <a:xfrm>
                  <a:off x="4389" y="3214"/>
                  <a:ext cx="702" cy="294"/>
                  <a:chOff x="1999" y="3397"/>
                  <a:chExt cx="776" cy="325"/>
                </a:xfrm>
              </p:grpSpPr>
              <p:sp>
                <p:nvSpPr>
                  <p:cNvPr id="196622" name="Freeform 14"/>
                  <p:cNvSpPr>
                    <a:spLocks/>
                  </p:cNvSpPr>
                  <p:nvPr/>
                </p:nvSpPr>
                <p:spPr bwMode="auto">
                  <a:xfrm flipH="1">
                    <a:off x="1999" y="3397"/>
                    <a:ext cx="776" cy="325"/>
                  </a:xfrm>
                  <a:custGeom>
                    <a:avLst/>
                    <a:gdLst/>
                    <a:ahLst/>
                    <a:cxnLst>
                      <a:cxn ang="0">
                        <a:pos x="872" y="178"/>
                      </a:cxn>
                      <a:cxn ang="0">
                        <a:pos x="872" y="246"/>
                      </a:cxn>
                      <a:cxn ang="0">
                        <a:pos x="682" y="366"/>
                      </a:cxn>
                      <a:cxn ang="0">
                        <a:pos x="0" y="170"/>
                      </a:cxn>
                      <a:cxn ang="0">
                        <a:pos x="0" y="142"/>
                      </a:cxn>
                      <a:cxn ang="0">
                        <a:pos x="230" y="0"/>
                      </a:cxn>
                      <a:cxn ang="0">
                        <a:pos x="872" y="178"/>
                      </a:cxn>
                    </a:cxnLst>
                    <a:rect l="0" t="0" r="r" b="b"/>
                    <a:pathLst>
                      <a:path w="872" h="366">
                        <a:moveTo>
                          <a:pt x="872" y="178"/>
                        </a:moveTo>
                        <a:lnTo>
                          <a:pt x="872" y="246"/>
                        </a:lnTo>
                        <a:lnTo>
                          <a:pt x="682" y="366"/>
                        </a:lnTo>
                        <a:lnTo>
                          <a:pt x="0" y="170"/>
                        </a:lnTo>
                        <a:lnTo>
                          <a:pt x="0" y="142"/>
                        </a:lnTo>
                        <a:lnTo>
                          <a:pt x="230" y="0"/>
                        </a:lnTo>
                        <a:lnTo>
                          <a:pt x="872" y="178"/>
                        </a:lnTo>
                        <a:close/>
                      </a:path>
                    </a:pathLst>
                  </a:custGeom>
                  <a:gradFill rotWithShape="0">
                    <a:gsLst>
                      <a:gs pos="0">
                        <a:srgbClr val="B2B2B2"/>
                      </a:gs>
                      <a:gs pos="100000">
                        <a:srgbClr val="B2B2B2">
                          <a:gamma/>
                          <a:tint val="34118"/>
                          <a:invGamma/>
                        </a:srgbClr>
                      </a:gs>
                    </a:gsLst>
                    <a:path path="rect">
                      <a:fillToRect l="100000" t="100000"/>
                    </a:path>
                  </a:grad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FR"/>
                  </a:p>
                </p:txBody>
              </p:sp>
              <p:sp>
                <p:nvSpPr>
                  <p:cNvPr id="196623" name="Freeform 15"/>
                  <p:cNvSpPr>
                    <a:spLocks/>
                  </p:cNvSpPr>
                  <p:nvPr/>
                </p:nvSpPr>
                <p:spPr bwMode="auto">
                  <a:xfrm flipH="1">
                    <a:off x="2008" y="3404"/>
                    <a:ext cx="755" cy="288"/>
                  </a:xfrm>
                  <a:custGeom>
                    <a:avLst/>
                    <a:gdLst/>
                    <a:ahLst/>
                    <a:cxnLst>
                      <a:cxn ang="0">
                        <a:pos x="848" y="174"/>
                      </a:cxn>
                      <a:cxn ang="0">
                        <a:pos x="216" y="0"/>
                      </a:cxn>
                      <a:cxn ang="0">
                        <a:pos x="0" y="134"/>
                      </a:cxn>
                      <a:cxn ang="0">
                        <a:pos x="666" y="324"/>
                      </a:cxn>
                      <a:cxn ang="0">
                        <a:pos x="848" y="174"/>
                      </a:cxn>
                    </a:cxnLst>
                    <a:rect l="0" t="0" r="r" b="b"/>
                    <a:pathLst>
                      <a:path w="848" h="324">
                        <a:moveTo>
                          <a:pt x="848" y="174"/>
                        </a:moveTo>
                        <a:lnTo>
                          <a:pt x="216" y="0"/>
                        </a:lnTo>
                        <a:lnTo>
                          <a:pt x="0" y="134"/>
                        </a:lnTo>
                        <a:lnTo>
                          <a:pt x="666" y="324"/>
                        </a:lnTo>
                        <a:lnTo>
                          <a:pt x="848" y="174"/>
                        </a:lnTo>
                        <a:close/>
                      </a:path>
                    </a:pathLst>
                  </a:custGeom>
                  <a:solidFill>
                    <a:schemeClr val="bg1"/>
                  </a:solidFill>
                  <a:ln w="3175" cap="flat" cmpd="sng">
                    <a:noFill/>
                    <a:prstDash val="solid"/>
                    <a:round/>
                    <a:headEnd type="none" w="med" len="med"/>
                    <a:tailEnd type="none" w="med" len="med"/>
                  </a:ln>
                  <a:effectLst/>
                </p:spPr>
                <p:txBody>
                  <a:bodyPr wrap="none" tIns="27432" bIns="27432" anchor="ctr">
                    <a:spAutoFit/>
                  </a:bodyPr>
                  <a:lstStyle/>
                  <a:p>
                    <a:endParaRPr lang="fr-FR"/>
                  </a:p>
                </p:txBody>
              </p:sp>
              <p:sp>
                <p:nvSpPr>
                  <p:cNvPr id="196624" name="Freeform 16"/>
                  <p:cNvSpPr>
                    <a:spLocks/>
                  </p:cNvSpPr>
                  <p:nvPr/>
                </p:nvSpPr>
                <p:spPr bwMode="auto">
                  <a:xfrm flipH="1">
                    <a:off x="2050" y="3450"/>
                    <a:ext cx="425" cy="123"/>
                  </a:xfrm>
                  <a:custGeom>
                    <a:avLst/>
                    <a:gdLst/>
                    <a:ahLst/>
                    <a:cxnLst>
                      <a:cxn ang="0">
                        <a:pos x="0" y="12"/>
                      </a:cxn>
                      <a:cxn ang="0">
                        <a:pos x="456" y="138"/>
                      </a:cxn>
                      <a:cxn ang="0">
                        <a:pos x="477" y="125"/>
                      </a:cxn>
                      <a:cxn ang="0">
                        <a:pos x="20" y="0"/>
                      </a:cxn>
                    </a:cxnLst>
                    <a:rect l="0" t="0" r="r" b="b"/>
                    <a:pathLst>
                      <a:path w="477" h="138">
                        <a:moveTo>
                          <a:pt x="0" y="12"/>
                        </a:moveTo>
                        <a:lnTo>
                          <a:pt x="456" y="138"/>
                        </a:lnTo>
                        <a:lnTo>
                          <a:pt x="477" y="125"/>
                        </a:lnTo>
                        <a:lnTo>
                          <a:pt x="20" y="0"/>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sp>
                <p:nvSpPr>
                  <p:cNvPr id="196625" name="Freeform 17"/>
                  <p:cNvSpPr>
                    <a:spLocks/>
                  </p:cNvSpPr>
                  <p:nvPr/>
                </p:nvSpPr>
                <p:spPr bwMode="auto">
                  <a:xfrm>
                    <a:off x="2085" y="3495"/>
                    <a:ext cx="442" cy="158"/>
                  </a:xfrm>
                  <a:custGeom>
                    <a:avLst/>
                    <a:gdLst/>
                    <a:ahLst/>
                    <a:cxnLst>
                      <a:cxn ang="0">
                        <a:pos x="442" y="59"/>
                      </a:cxn>
                      <a:cxn ang="0">
                        <a:pos x="423" y="65"/>
                      </a:cxn>
                      <a:cxn ang="0">
                        <a:pos x="402" y="54"/>
                      </a:cxn>
                      <a:cxn ang="0">
                        <a:pos x="389" y="59"/>
                      </a:cxn>
                      <a:cxn ang="0">
                        <a:pos x="402" y="71"/>
                      </a:cxn>
                      <a:cxn ang="0">
                        <a:pos x="135" y="145"/>
                      </a:cxn>
                      <a:cxn ang="0">
                        <a:pos x="121" y="134"/>
                      </a:cxn>
                      <a:cxn ang="0">
                        <a:pos x="98" y="140"/>
                      </a:cxn>
                      <a:cxn ang="0">
                        <a:pos x="112" y="151"/>
                      </a:cxn>
                      <a:cxn ang="0">
                        <a:pos x="84" y="158"/>
                      </a:cxn>
                      <a:cxn ang="0">
                        <a:pos x="0" y="94"/>
                      </a:cxn>
                      <a:cxn ang="0">
                        <a:pos x="359" y="0"/>
                      </a:cxn>
                    </a:cxnLst>
                    <a:rect l="0" t="0" r="r" b="b"/>
                    <a:pathLst>
                      <a:path w="442" h="158">
                        <a:moveTo>
                          <a:pt x="442" y="59"/>
                        </a:moveTo>
                        <a:lnTo>
                          <a:pt x="423" y="65"/>
                        </a:lnTo>
                        <a:lnTo>
                          <a:pt x="402" y="54"/>
                        </a:lnTo>
                        <a:lnTo>
                          <a:pt x="389" y="59"/>
                        </a:lnTo>
                        <a:lnTo>
                          <a:pt x="402" y="71"/>
                        </a:lnTo>
                        <a:lnTo>
                          <a:pt x="135" y="145"/>
                        </a:lnTo>
                        <a:lnTo>
                          <a:pt x="121" y="134"/>
                        </a:lnTo>
                        <a:lnTo>
                          <a:pt x="98" y="140"/>
                        </a:lnTo>
                        <a:lnTo>
                          <a:pt x="112" y="151"/>
                        </a:lnTo>
                        <a:lnTo>
                          <a:pt x="84" y="158"/>
                        </a:lnTo>
                        <a:lnTo>
                          <a:pt x="0" y="94"/>
                        </a:lnTo>
                        <a:lnTo>
                          <a:pt x="359" y="0"/>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sp>
                <p:nvSpPr>
                  <p:cNvPr id="196626" name="Freeform 18"/>
                  <p:cNvSpPr>
                    <a:spLocks/>
                  </p:cNvSpPr>
                  <p:nvPr/>
                </p:nvSpPr>
                <p:spPr bwMode="auto">
                  <a:xfrm flipH="1">
                    <a:off x="2454" y="3471"/>
                    <a:ext cx="97" cy="38"/>
                  </a:xfrm>
                  <a:custGeom>
                    <a:avLst/>
                    <a:gdLst/>
                    <a:ahLst/>
                    <a:cxnLst>
                      <a:cxn ang="0">
                        <a:pos x="40" y="0"/>
                      </a:cxn>
                      <a:cxn ang="0">
                        <a:pos x="107" y="17"/>
                      </a:cxn>
                      <a:cxn ang="0">
                        <a:pos x="69" y="43"/>
                      </a:cxn>
                      <a:cxn ang="0">
                        <a:pos x="0" y="25"/>
                      </a:cxn>
                      <a:cxn ang="0">
                        <a:pos x="40" y="0"/>
                      </a:cxn>
                    </a:cxnLst>
                    <a:rect l="0" t="0" r="r" b="b"/>
                    <a:pathLst>
                      <a:path w="108" h="44">
                        <a:moveTo>
                          <a:pt x="40" y="0"/>
                        </a:moveTo>
                        <a:lnTo>
                          <a:pt x="107" y="17"/>
                        </a:lnTo>
                        <a:lnTo>
                          <a:pt x="69" y="43"/>
                        </a:lnTo>
                        <a:lnTo>
                          <a:pt x="0" y="25"/>
                        </a:lnTo>
                        <a:lnTo>
                          <a:pt x="40" y="0"/>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sp>
                <p:nvSpPr>
                  <p:cNvPr id="196627" name="Freeform 19"/>
                  <p:cNvSpPr>
                    <a:spLocks/>
                  </p:cNvSpPr>
                  <p:nvPr/>
                </p:nvSpPr>
                <p:spPr bwMode="auto">
                  <a:xfrm flipH="1">
                    <a:off x="2523" y="3506"/>
                    <a:ext cx="86" cy="38"/>
                  </a:xfrm>
                  <a:custGeom>
                    <a:avLst/>
                    <a:gdLst/>
                    <a:ahLst/>
                    <a:cxnLst>
                      <a:cxn ang="0">
                        <a:pos x="21" y="7"/>
                      </a:cxn>
                      <a:cxn ang="0">
                        <a:pos x="46" y="11"/>
                      </a:cxn>
                      <a:cxn ang="0">
                        <a:pos x="60" y="0"/>
                      </a:cxn>
                      <a:cxn ang="0">
                        <a:pos x="84" y="8"/>
                      </a:cxn>
                      <a:cxn ang="0">
                        <a:pos x="72" y="19"/>
                      </a:cxn>
                      <a:cxn ang="0">
                        <a:pos x="96" y="25"/>
                      </a:cxn>
                      <a:cxn ang="0">
                        <a:pos x="77" y="41"/>
                      </a:cxn>
                      <a:cxn ang="0">
                        <a:pos x="0" y="21"/>
                      </a:cxn>
                      <a:cxn ang="0">
                        <a:pos x="21" y="7"/>
                      </a:cxn>
                    </a:cxnLst>
                    <a:rect l="0" t="0" r="r" b="b"/>
                    <a:pathLst>
                      <a:path w="97" h="42">
                        <a:moveTo>
                          <a:pt x="21" y="7"/>
                        </a:moveTo>
                        <a:lnTo>
                          <a:pt x="46" y="11"/>
                        </a:lnTo>
                        <a:lnTo>
                          <a:pt x="60" y="0"/>
                        </a:lnTo>
                        <a:lnTo>
                          <a:pt x="84" y="8"/>
                        </a:lnTo>
                        <a:lnTo>
                          <a:pt x="72" y="19"/>
                        </a:lnTo>
                        <a:lnTo>
                          <a:pt x="96" y="25"/>
                        </a:lnTo>
                        <a:lnTo>
                          <a:pt x="77" y="41"/>
                        </a:lnTo>
                        <a:lnTo>
                          <a:pt x="0" y="21"/>
                        </a:lnTo>
                        <a:lnTo>
                          <a:pt x="21" y="7"/>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sp>
                <p:nvSpPr>
                  <p:cNvPr id="196628" name="Freeform 20"/>
                  <p:cNvSpPr>
                    <a:spLocks/>
                  </p:cNvSpPr>
                  <p:nvPr/>
                </p:nvSpPr>
                <p:spPr bwMode="auto">
                  <a:xfrm>
                    <a:off x="2534" y="3446"/>
                    <a:ext cx="169" cy="76"/>
                  </a:xfrm>
                  <a:custGeom>
                    <a:avLst/>
                    <a:gdLst/>
                    <a:ahLst/>
                    <a:cxnLst>
                      <a:cxn ang="0">
                        <a:pos x="0" y="19"/>
                      </a:cxn>
                      <a:cxn ang="0">
                        <a:pos x="97" y="76"/>
                      </a:cxn>
                      <a:cxn ang="0">
                        <a:pos x="169" y="60"/>
                      </a:cxn>
                      <a:cxn ang="0">
                        <a:pos x="70" y="0"/>
                      </a:cxn>
                    </a:cxnLst>
                    <a:rect l="0" t="0" r="r" b="b"/>
                    <a:pathLst>
                      <a:path w="169" h="76">
                        <a:moveTo>
                          <a:pt x="0" y="19"/>
                        </a:moveTo>
                        <a:lnTo>
                          <a:pt x="97" y="76"/>
                        </a:lnTo>
                        <a:lnTo>
                          <a:pt x="169" y="60"/>
                        </a:lnTo>
                        <a:lnTo>
                          <a:pt x="70" y="0"/>
                        </a:lnTo>
                      </a:path>
                    </a:pathLst>
                  </a:custGeom>
                  <a:solidFill>
                    <a:srgbClr val="B2B2B2"/>
                  </a:solidFill>
                  <a:ln w="12700" cap="rnd" cmpd="sng">
                    <a:noFill/>
                    <a:prstDash val="solid"/>
                    <a:round/>
                    <a:headEnd type="none" w="med" len="med"/>
                    <a:tailEnd type="none" w="med" len="med"/>
                  </a:ln>
                  <a:effectLst/>
                </p:spPr>
                <p:txBody>
                  <a:bodyPr/>
                  <a:lstStyle/>
                  <a:p>
                    <a:endParaRPr lang="fr-FR"/>
                  </a:p>
                </p:txBody>
              </p:sp>
            </p:grpSp>
            <p:grpSp>
              <p:nvGrpSpPr>
                <p:cNvPr id="196629" name="Group 21"/>
                <p:cNvGrpSpPr>
                  <a:grpSpLocks/>
                </p:cNvGrpSpPr>
                <p:nvPr/>
              </p:nvGrpSpPr>
              <p:grpSpPr bwMode="auto">
                <a:xfrm>
                  <a:off x="4045" y="2487"/>
                  <a:ext cx="781" cy="854"/>
                  <a:chOff x="938" y="2601"/>
                  <a:chExt cx="863" cy="943"/>
                </a:xfrm>
              </p:grpSpPr>
              <p:grpSp>
                <p:nvGrpSpPr>
                  <p:cNvPr id="196630" name="Group 22"/>
                  <p:cNvGrpSpPr>
                    <a:grpSpLocks/>
                  </p:cNvGrpSpPr>
                  <p:nvPr/>
                </p:nvGrpSpPr>
                <p:grpSpPr bwMode="auto">
                  <a:xfrm>
                    <a:off x="966" y="3093"/>
                    <a:ext cx="835" cy="451"/>
                    <a:chOff x="966" y="3093"/>
                    <a:chExt cx="835" cy="451"/>
                  </a:xfrm>
                </p:grpSpPr>
                <p:sp>
                  <p:nvSpPr>
                    <p:cNvPr id="196631" name="Freeform 23"/>
                    <p:cNvSpPr>
                      <a:spLocks noChangeAspect="1"/>
                    </p:cNvSpPr>
                    <p:nvPr/>
                  </p:nvSpPr>
                  <p:spPr bwMode="auto">
                    <a:xfrm>
                      <a:off x="967" y="3210"/>
                      <a:ext cx="289" cy="334"/>
                    </a:xfrm>
                    <a:custGeom>
                      <a:avLst/>
                      <a:gdLst/>
                      <a:ahLst/>
                      <a:cxnLst>
                        <a:cxn ang="0">
                          <a:pos x="289" y="174"/>
                        </a:cxn>
                        <a:cxn ang="0">
                          <a:pos x="0" y="0"/>
                        </a:cxn>
                        <a:cxn ang="0">
                          <a:pos x="0" y="142"/>
                        </a:cxn>
                        <a:cxn ang="0">
                          <a:pos x="288" y="334"/>
                        </a:cxn>
                      </a:cxnLst>
                      <a:rect l="0" t="0" r="r" b="b"/>
                      <a:pathLst>
                        <a:path w="289" h="334">
                          <a:moveTo>
                            <a:pt x="289" y="174"/>
                          </a:moveTo>
                          <a:lnTo>
                            <a:pt x="0" y="0"/>
                          </a:lnTo>
                          <a:lnTo>
                            <a:pt x="0" y="142"/>
                          </a:lnTo>
                          <a:lnTo>
                            <a:pt x="288" y="33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6632" name="Freeform 24"/>
                    <p:cNvSpPr>
                      <a:spLocks noChangeAspect="1"/>
                    </p:cNvSpPr>
                    <p:nvPr/>
                  </p:nvSpPr>
                  <p:spPr bwMode="auto">
                    <a:xfrm flipH="1">
                      <a:off x="966" y="3093"/>
                      <a:ext cx="835" cy="289"/>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6633" name="Freeform 25"/>
                    <p:cNvSpPr>
                      <a:spLocks noChangeAspect="1"/>
                    </p:cNvSpPr>
                    <p:nvPr/>
                  </p:nvSpPr>
                  <p:spPr bwMode="auto">
                    <a:xfrm flipH="1">
                      <a:off x="1255" y="3235"/>
                      <a:ext cx="546" cy="309"/>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grpSp>
                  <p:nvGrpSpPr>
                    <p:cNvPr id="196634" name="Group 26"/>
                    <p:cNvGrpSpPr>
                      <a:grpSpLocks/>
                    </p:cNvGrpSpPr>
                    <p:nvPr/>
                  </p:nvGrpSpPr>
                  <p:grpSpPr bwMode="auto">
                    <a:xfrm>
                      <a:off x="1284" y="3356"/>
                      <a:ext cx="221" cy="135"/>
                      <a:chOff x="1566" y="3268"/>
                      <a:chExt cx="221" cy="135"/>
                    </a:xfrm>
                  </p:grpSpPr>
                  <p:sp>
                    <p:nvSpPr>
                      <p:cNvPr id="196635" name="Line 27"/>
                      <p:cNvSpPr>
                        <a:spLocks noChangeShapeType="1"/>
                      </p:cNvSpPr>
                      <p:nvPr/>
                    </p:nvSpPr>
                    <p:spPr bwMode="auto">
                      <a:xfrm flipH="1">
                        <a:off x="1566" y="3268"/>
                        <a:ext cx="221" cy="63"/>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6636" name="Line 28"/>
                      <p:cNvSpPr>
                        <a:spLocks noChangeShapeType="1"/>
                      </p:cNvSpPr>
                      <p:nvPr/>
                    </p:nvSpPr>
                    <p:spPr bwMode="auto">
                      <a:xfrm flipH="1">
                        <a:off x="1566" y="3292"/>
                        <a:ext cx="221" cy="62"/>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6637" name="Line 29"/>
                      <p:cNvSpPr>
                        <a:spLocks noChangeShapeType="1"/>
                      </p:cNvSpPr>
                      <p:nvPr/>
                    </p:nvSpPr>
                    <p:spPr bwMode="auto">
                      <a:xfrm flipH="1">
                        <a:off x="1566" y="3317"/>
                        <a:ext cx="221" cy="63"/>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6638" name="Line 30"/>
                      <p:cNvSpPr>
                        <a:spLocks noChangeShapeType="1"/>
                      </p:cNvSpPr>
                      <p:nvPr/>
                    </p:nvSpPr>
                    <p:spPr bwMode="auto">
                      <a:xfrm flipH="1">
                        <a:off x="1566" y="3341"/>
                        <a:ext cx="221" cy="62"/>
                      </a:xfrm>
                      <a:prstGeom prst="line">
                        <a:avLst/>
                      </a:prstGeom>
                      <a:noFill/>
                      <a:ln w="6350">
                        <a:solidFill>
                          <a:srgbClr val="777777"/>
                        </a:solidFill>
                        <a:round/>
                        <a:headEnd/>
                        <a:tailEnd/>
                      </a:ln>
                      <a:effectLst/>
                    </p:spPr>
                    <p:txBody>
                      <a:bodyPr tIns="27432" bIns="27432" anchor="ctr">
                        <a:spAutoFit/>
                      </a:bodyPr>
                      <a:lstStyle/>
                      <a:p>
                        <a:endParaRPr lang="fr-FR"/>
                      </a:p>
                    </p:txBody>
                  </p:sp>
                </p:grpSp>
                <p:grpSp>
                  <p:nvGrpSpPr>
                    <p:cNvPr id="196639" name="Group 31"/>
                    <p:cNvGrpSpPr>
                      <a:grpSpLocks/>
                    </p:cNvGrpSpPr>
                    <p:nvPr/>
                  </p:nvGrpSpPr>
                  <p:grpSpPr bwMode="auto">
                    <a:xfrm>
                      <a:off x="1546" y="3272"/>
                      <a:ext cx="220" cy="157"/>
                      <a:chOff x="1546" y="3272"/>
                      <a:chExt cx="220" cy="157"/>
                    </a:xfrm>
                  </p:grpSpPr>
                  <p:sp>
                    <p:nvSpPr>
                      <p:cNvPr id="196640" name="Freeform 32"/>
                      <p:cNvSpPr>
                        <a:spLocks noChangeAspect="1"/>
                      </p:cNvSpPr>
                      <p:nvPr/>
                    </p:nvSpPr>
                    <p:spPr bwMode="auto">
                      <a:xfrm flipH="1">
                        <a:off x="1551" y="3273"/>
                        <a:ext cx="214" cy="150"/>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196641" name="Freeform 33"/>
                      <p:cNvSpPr>
                        <a:spLocks noChangeAspect="1" noChangeArrowheads="1"/>
                      </p:cNvSpPr>
                      <p:nvPr/>
                    </p:nvSpPr>
                    <p:spPr bwMode="auto">
                      <a:xfrm flipH="1">
                        <a:off x="1554" y="3329"/>
                        <a:ext cx="207" cy="53"/>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196642" name="Freeform 34"/>
                      <p:cNvSpPr>
                        <a:spLocks/>
                      </p:cNvSpPr>
                      <p:nvPr/>
                    </p:nvSpPr>
                    <p:spPr bwMode="auto">
                      <a:xfrm flipH="1">
                        <a:off x="1552" y="3272"/>
                        <a:ext cx="214" cy="91"/>
                      </a:xfrm>
                      <a:custGeom>
                        <a:avLst/>
                        <a:gdLst/>
                        <a:ahLst/>
                        <a:cxnLst>
                          <a:cxn ang="0">
                            <a:pos x="0" y="116"/>
                          </a:cxn>
                          <a:cxn ang="0">
                            <a:pos x="1" y="0"/>
                          </a:cxn>
                          <a:cxn ang="0">
                            <a:pos x="270" y="75"/>
                          </a:cxn>
                        </a:cxnLst>
                        <a:rect l="0" t="0" r="r" b="b"/>
                        <a:pathLst>
                          <a:path w="270" h="116">
                            <a:moveTo>
                              <a:pt x="0" y="116"/>
                            </a:moveTo>
                            <a:lnTo>
                              <a:pt x="1" y="0"/>
                            </a:lnTo>
                            <a:lnTo>
                              <a:pt x="270" y="75"/>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196643" name="Line 35"/>
                      <p:cNvSpPr>
                        <a:spLocks noChangeShapeType="1"/>
                      </p:cNvSpPr>
                      <p:nvPr/>
                    </p:nvSpPr>
                    <p:spPr bwMode="auto">
                      <a:xfrm flipH="1">
                        <a:off x="1579" y="3302"/>
                        <a:ext cx="168" cy="42"/>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196644" name="Line 36"/>
                      <p:cNvSpPr>
                        <a:spLocks noChangeShapeType="1"/>
                      </p:cNvSpPr>
                      <p:nvPr/>
                    </p:nvSpPr>
                    <p:spPr bwMode="auto">
                      <a:xfrm flipH="1">
                        <a:off x="1711" y="3356"/>
                        <a:ext cx="31" cy="6"/>
                      </a:xfrm>
                      <a:prstGeom prst="line">
                        <a:avLst/>
                      </a:prstGeom>
                      <a:noFill/>
                      <a:ln w="19050">
                        <a:solidFill>
                          <a:schemeClr val="accent2"/>
                        </a:solidFill>
                        <a:round/>
                        <a:headEnd/>
                        <a:tailEnd/>
                      </a:ln>
                      <a:effectLst/>
                    </p:spPr>
                    <p:txBody>
                      <a:bodyPr wrap="none" tIns="27432" bIns="27432" anchor="ctr">
                        <a:spAutoFit/>
                      </a:bodyPr>
                      <a:lstStyle/>
                      <a:p>
                        <a:endParaRPr lang="fr-FR"/>
                      </a:p>
                    </p:txBody>
                  </p:sp>
                  <p:sp>
                    <p:nvSpPr>
                      <p:cNvPr id="196645" name="Freeform 37"/>
                      <p:cNvSpPr>
                        <a:spLocks/>
                      </p:cNvSpPr>
                      <p:nvPr/>
                    </p:nvSpPr>
                    <p:spPr bwMode="auto">
                      <a:xfrm flipH="1">
                        <a:off x="1643" y="3313"/>
                        <a:ext cx="51" cy="28"/>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196646" name="Freeform 38"/>
                      <p:cNvSpPr>
                        <a:spLocks/>
                      </p:cNvSpPr>
                      <p:nvPr/>
                    </p:nvSpPr>
                    <p:spPr bwMode="auto">
                      <a:xfrm flipH="1">
                        <a:off x="1546" y="3337"/>
                        <a:ext cx="217" cy="92"/>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grpSp>
                <p:nvGrpSpPr>
                  <p:cNvPr id="196647" name="Group 39"/>
                  <p:cNvGrpSpPr>
                    <a:grpSpLocks/>
                  </p:cNvGrpSpPr>
                  <p:nvPr/>
                </p:nvGrpSpPr>
                <p:grpSpPr bwMode="auto">
                  <a:xfrm>
                    <a:off x="938" y="2601"/>
                    <a:ext cx="781" cy="735"/>
                    <a:chOff x="952" y="2351"/>
                    <a:chExt cx="781" cy="735"/>
                  </a:xfrm>
                </p:grpSpPr>
                <p:sp>
                  <p:nvSpPr>
                    <p:cNvPr id="196648" name="Freeform 40"/>
                    <p:cNvSpPr>
                      <a:spLocks/>
                    </p:cNvSpPr>
                    <p:nvPr/>
                  </p:nvSpPr>
                  <p:spPr bwMode="auto">
                    <a:xfrm flipH="1">
                      <a:off x="1066" y="2829"/>
                      <a:ext cx="608" cy="257"/>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196649" name="Freeform 41"/>
                    <p:cNvSpPr>
                      <a:spLocks/>
                    </p:cNvSpPr>
                    <p:nvPr/>
                  </p:nvSpPr>
                  <p:spPr bwMode="auto">
                    <a:xfrm flipH="1">
                      <a:off x="1078" y="2834"/>
                      <a:ext cx="588" cy="22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196650" name="Oval 42"/>
                    <p:cNvSpPr>
                      <a:spLocks noChangeArrowheads="1"/>
                    </p:cNvSpPr>
                    <p:nvPr/>
                  </p:nvSpPr>
                  <p:spPr bwMode="auto">
                    <a:xfrm flipH="1">
                      <a:off x="1213" y="2890"/>
                      <a:ext cx="307" cy="123"/>
                    </a:xfrm>
                    <a:prstGeom prst="ellipse">
                      <a:avLst/>
                    </a:prstGeom>
                    <a:solidFill>
                      <a:srgbClr val="B2B2B2"/>
                    </a:solidFill>
                    <a:ln w="3175" cap="rnd">
                      <a:solidFill>
                        <a:schemeClr val="tx1"/>
                      </a:solidFill>
                      <a:round/>
                      <a:headEnd/>
                      <a:tailEnd/>
                    </a:ln>
                    <a:effectLst/>
                  </p:spPr>
                  <p:txBody>
                    <a:bodyPr/>
                    <a:lstStyle/>
                    <a:p>
                      <a:endParaRPr lang="fr-FR"/>
                    </a:p>
                  </p:txBody>
                </p:sp>
                <p:sp>
                  <p:nvSpPr>
                    <p:cNvPr id="196651" name="Freeform 43"/>
                    <p:cNvSpPr>
                      <a:spLocks/>
                    </p:cNvSpPr>
                    <p:nvPr/>
                  </p:nvSpPr>
                  <p:spPr bwMode="auto">
                    <a:xfrm flipH="1">
                      <a:off x="1193" y="2895"/>
                      <a:ext cx="494" cy="137"/>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196652" name="Freeform 44"/>
                    <p:cNvSpPr>
                      <a:spLocks noChangeAspect="1"/>
                    </p:cNvSpPr>
                    <p:nvPr/>
                  </p:nvSpPr>
                  <p:spPr bwMode="auto">
                    <a:xfrm flipH="1">
                      <a:off x="952" y="2351"/>
                      <a:ext cx="617" cy="569"/>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6653" name="Freeform 45"/>
                    <p:cNvSpPr>
                      <a:spLocks noChangeAspect="1"/>
                    </p:cNvSpPr>
                    <p:nvPr/>
                  </p:nvSpPr>
                  <p:spPr bwMode="auto">
                    <a:xfrm flipH="1">
                      <a:off x="1060" y="2477"/>
                      <a:ext cx="124" cy="553"/>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amma/>
                            <a:tint val="34118"/>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196654" name="Freeform 46"/>
                    <p:cNvSpPr>
                      <a:spLocks noChangeAspect="1"/>
                    </p:cNvSpPr>
                    <p:nvPr/>
                  </p:nvSpPr>
                  <p:spPr bwMode="auto">
                    <a:xfrm flipH="1">
                      <a:off x="1060" y="2358"/>
                      <a:ext cx="673" cy="188"/>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196655" name="Freeform 47"/>
                    <p:cNvSpPr>
                      <a:spLocks noChangeAspect="1"/>
                    </p:cNvSpPr>
                    <p:nvPr/>
                  </p:nvSpPr>
                  <p:spPr bwMode="auto">
                    <a:xfrm flipH="1">
                      <a:off x="1184" y="2413"/>
                      <a:ext cx="549" cy="619"/>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6656" name="Freeform 48"/>
                    <p:cNvSpPr>
                      <a:spLocks noChangeAspect="1"/>
                    </p:cNvSpPr>
                    <p:nvPr/>
                  </p:nvSpPr>
                  <p:spPr bwMode="auto">
                    <a:xfrm flipH="1">
                      <a:off x="1225" y="2468"/>
                      <a:ext cx="465" cy="508"/>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196657" name="Freeform 49"/>
                    <p:cNvSpPr>
                      <a:spLocks/>
                    </p:cNvSpPr>
                    <p:nvPr/>
                  </p:nvSpPr>
                  <p:spPr bwMode="auto">
                    <a:xfrm flipH="1">
                      <a:off x="1255" y="2502"/>
                      <a:ext cx="407" cy="437"/>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l="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196658" name="Line 50"/>
                    <p:cNvSpPr>
                      <a:spLocks noChangeShapeType="1"/>
                    </p:cNvSpPr>
                    <p:nvPr/>
                  </p:nvSpPr>
                  <p:spPr bwMode="auto">
                    <a:xfrm flipH="1">
                      <a:off x="1626" y="2538"/>
                      <a:ext cx="0" cy="67"/>
                    </a:xfrm>
                    <a:prstGeom prst="line">
                      <a:avLst/>
                    </a:prstGeom>
                    <a:noFill/>
                    <a:ln w="25400">
                      <a:solidFill>
                        <a:schemeClr val="bg1"/>
                      </a:solidFill>
                      <a:round/>
                      <a:headEnd/>
                      <a:tailEnd/>
                    </a:ln>
                    <a:effectLst/>
                  </p:spPr>
                  <p:txBody>
                    <a:bodyPr wrap="none" anchor="ctr"/>
                    <a:lstStyle/>
                    <a:p>
                      <a:endParaRPr lang="fr-FR"/>
                    </a:p>
                  </p:txBody>
                </p:sp>
              </p:grpSp>
            </p:grpSp>
          </p:grpSp>
          <p:grpSp>
            <p:nvGrpSpPr>
              <p:cNvPr id="196659" name="Group 51"/>
              <p:cNvGrpSpPr>
                <a:grpSpLocks/>
              </p:cNvGrpSpPr>
              <p:nvPr/>
            </p:nvGrpSpPr>
            <p:grpSpPr bwMode="auto">
              <a:xfrm>
                <a:off x="4623" y="2498"/>
                <a:ext cx="799" cy="1095"/>
                <a:chOff x="4146" y="1294"/>
                <a:chExt cx="836" cy="1145"/>
              </a:xfrm>
            </p:grpSpPr>
            <p:sp>
              <p:nvSpPr>
                <p:cNvPr id="196660" name="Freeform 52"/>
                <p:cNvSpPr>
                  <a:spLocks/>
                </p:cNvSpPr>
                <p:nvPr/>
              </p:nvSpPr>
              <p:spPr bwMode="auto">
                <a:xfrm>
                  <a:off x="4556" y="1515"/>
                  <a:ext cx="359" cy="341"/>
                </a:xfrm>
                <a:custGeom>
                  <a:avLst/>
                  <a:gdLst/>
                  <a:ahLst/>
                  <a:cxnLst>
                    <a:cxn ang="0">
                      <a:pos x="21" y="20"/>
                    </a:cxn>
                    <a:cxn ang="0">
                      <a:pos x="18" y="39"/>
                    </a:cxn>
                    <a:cxn ang="0">
                      <a:pos x="18" y="56"/>
                    </a:cxn>
                    <a:cxn ang="0">
                      <a:pos x="19" y="78"/>
                    </a:cxn>
                    <a:cxn ang="0">
                      <a:pos x="13" y="95"/>
                    </a:cxn>
                    <a:cxn ang="0">
                      <a:pos x="6" y="107"/>
                    </a:cxn>
                    <a:cxn ang="0">
                      <a:pos x="0" y="116"/>
                    </a:cxn>
                    <a:cxn ang="0">
                      <a:pos x="0" y="125"/>
                    </a:cxn>
                    <a:cxn ang="0">
                      <a:pos x="6" y="132"/>
                    </a:cxn>
                    <a:cxn ang="0">
                      <a:pos x="19" y="136"/>
                    </a:cxn>
                    <a:cxn ang="0">
                      <a:pos x="29" y="143"/>
                    </a:cxn>
                    <a:cxn ang="0">
                      <a:pos x="30" y="147"/>
                    </a:cxn>
                    <a:cxn ang="0">
                      <a:pos x="33" y="162"/>
                    </a:cxn>
                    <a:cxn ang="0">
                      <a:pos x="33" y="176"/>
                    </a:cxn>
                    <a:cxn ang="0">
                      <a:pos x="38" y="180"/>
                    </a:cxn>
                    <a:cxn ang="0">
                      <a:pos x="45" y="183"/>
                    </a:cxn>
                    <a:cxn ang="0">
                      <a:pos x="49" y="187"/>
                    </a:cxn>
                    <a:cxn ang="0">
                      <a:pos x="46" y="194"/>
                    </a:cxn>
                    <a:cxn ang="0">
                      <a:pos x="49" y="201"/>
                    </a:cxn>
                    <a:cxn ang="0">
                      <a:pos x="55" y="208"/>
                    </a:cxn>
                    <a:cxn ang="0">
                      <a:pos x="65" y="214"/>
                    </a:cxn>
                    <a:cxn ang="0">
                      <a:pos x="67" y="224"/>
                    </a:cxn>
                    <a:cxn ang="0">
                      <a:pos x="67" y="236"/>
                    </a:cxn>
                    <a:cxn ang="0">
                      <a:pos x="70" y="248"/>
                    </a:cxn>
                    <a:cxn ang="0">
                      <a:pos x="77" y="256"/>
                    </a:cxn>
                    <a:cxn ang="0">
                      <a:pos x="90" y="262"/>
                    </a:cxn>
                    <a:cxn ang="0">
                      <a:pos x="106" y="256"/>
                    </a:cxn>
                    <a:cxn ang="0">
                      <a:pos x="129" y="252"/>
                    </a:cxn>
                    <a:cxn ang="0">
                      <a:pos x="146" y="245"/>
                    </a:cxn>
                    <a:cxn ang="0">
                      <a:pos x="161" y="241"/>
                    </a:cxn>
                    <a:cxn ang="0">
                      <a:pos x="172" y="248"/>
                    </a:cxn>
                    <a:cxn ang="0">
                      <a:pos x="187" y="265"/>
                    </a:cxn>
                    <a:cxn ang="0">
                      <a:pos x="194" y="282"/>
                    </a:cxn>
                    <a:cxn ang="0">
                      <a:pos x="206" y="300"/>
                    </a:cxn>
                    <a:cxn ang="0">
                      <a:pos x="213" y="316"/>
                    </a:cxn>
                    <a:cxn ang="0">
                      <a:pos x="219" y="329"/>
                    </a:cxn>
                    <a:cxn ang="0">
                      <a:pos x="227" y="341"/>
                    </a:cxn>
                    <a:cxn ang="0">
                      <a:pos x="238" y="321"/>
                    </a:cxn>
                    <a:cxn ang="0">
                      <a:pos x="247" y="309"/>
                    </a:cxn>
                    <a:cxn ang="0">
                      <a:pos x="259" y="296"/>
                    </a:cxn>
                    <a:cxn ang="0">
                      <a:pos x="276" y="280"/>
                    </a:cxn>
                    <a:cxn ang="0">
                      <a:pos x="359" y="231"/>
                    </a:cxn>
                    <a:cxn ang="0">
                      <a:pos x="317" y="148"/>
                    </a:cxn>
                    <a:cxn ang="0">
                      <a:pos x="97" y="0"/>
                    </a:cxn>
                    <a:cxn ang="0">
                      <a:pos x="21" y="20"/>
                    </a:cxn>
                  </a:cxnLst>
                  <a:rect l="0" t="0" r="r" b="b"/>
                  <a:pathLst>
                    <a:path w="359" h="341">
                      <a:moveTo>
                        <a:pt x="21" y="20"/>
                      </a:moveTo>
                      <a:lnTo>
                        <a:pt x="18" y="39"/>
                      </a:lnTo>
                      <a:lnTo>
                        <a:pt x="18" y="56"/>
                      </a:lnTo>
                      <a:lnTo>
                        <a:pt x="19" y="78"/>
                      </a:lnTo>
                      <a:lnTo>
                        <a:pt x="13" y="95"/>
                      </a:lnTo>
                      <a:lnTo>
                        <a:pt x="6" y="107"/>
                      </a:lnTo>
                      <a:lnTo>
                        <a:pt x="0" y="116"/>
                      </a:lnTo>
                      <a:lnTo>
                        <a:pt x="0" y="125"/>
                      </a:lnTo>
                      <a:lnTo>
                        <a:pt x="6" y="132"/>
                      </a:lnTo>
                      <a:lnTo>
                        <a:pt x="19" y="136"/>
                      </a:lnTo>
                      <a:lnTo>
                        <a:pt x="29" y="143"/>
                      </a:lnTo>
                      <a:lnTo>
                        <a:pt x="30" y="147"/>
                      </a:lnTo>
                      <a:lnTo>
                        <a:pt x="33" y="162"/>
                      </a:lnTo>
                      <a:lnTo>
                        <a:pt x="33" y="176"/>
                      </a:lnTo>
                      <a:lnTo>
                        <a:pt x="38" y="180"/>
                      </a:lnTo>
                      <a:lnTo>
                        <a:pt x="45" y="183"/>
                      </a:lnTo>
                      <a:lnTo>
                        <a:pt x="49" y="187"/>
                      </a:lnTo>
                      <a:lnTo>
                        <a:pt x="46" y="194"/>
                      </a:lnTo>
                      <a:lnTo>
                        <a:pt x="49" y="201"/>
                      </a:lnTo>
                      <a:lnTo>
                        <a:pt x="55" y="208"/>
                      </a:lnTo>
                      <a:lnTo>
                        <a:pt x="65" y="214"/>
                      </a:lnTo>
                      <a:lnTo>
                        <a:pt x="67" y="224"/>
                      </a:lnTo>
                      <a:lnTo>
                        <a:pt x="67" y="236"/>
                      </a:lnTo>
                      <a:lnTo>
                        <a:pt x="70" y="248"/>
                      </a:lnTo>
                      <a:lnTo>
                        <a:pt x="77" y="256"/>
                      </a:lnTo>
                      <a:lnTo>
                        <a:pt x="90" y="262"/>
                      </a:lnTo>
                      <a:lnTo>
                        <a:pt x="106" y="256"/>
                      </a:lnTo>
                      <a:lnTo>
                        <a:pt x="129" y="252"/>
                      </a:lnTo>
                      <a:lnTo>
                        <a:pt x="146" y="245"/>
                      </a:lnTo>
                      <a:lnTo>
                        <a:pt x="161" y="241"/>
                      </a:lnTo>
                      <a:lnTo>
                        <a:pt x="172" y="248"/>
                      </a:lnTo>
                      <a:lnTo>
                        <a:pt x="187" y="265"/>
                      </a:lnTo>
                      <a:lnTo>
                        <a:pt x="194" y="282"/>
                      </a:lnTo>
                      <a:lnTo>
                        <a:pt x="206" y="300"/>
                      </a:lnTo>
                      <a:lnTo>
                        <a:pt x="213" y="316"/>
                      </a:lnTo>
                      <a:lnTo>
                        <a:pt x="219" y="329"/>
                      </a:lnTo>
                      <a:lnTo>
                        <a:pt x="227" y="341"/>
                      </a:lnTo>
                      <a:lnTo>
                        <a:pt x="238" y="321"/>
                      </a:lnTo>
                      <a:lnTo>
                        <a:pt x="247" y="309"/>
                      </a:lnTo>
                      <a:lnTo>
                        <a:pt x="259" y="296"/>
                      </a:lnTo>
                      <a:lnTo>
                        <a:pt x="276" y="280"/>
                      </a:lnTo>
                      <a:lnTo>
                        <a:pt x="359" y="231"/>
                      </a:lnTo>
                      <a:lnTo>
                        <a:pt x="317" y="148"/>
                      </a:lnTo>
                      <a:lnTo>
                        <a:pt x="97" y="0"/>
                      </a:lnTo>
                      <a:lnTo>
                        <a:pt x="21" y="20"/>
                      </a:lnTo>
                    </a:path>
                  </a:pathLst>
                </a:custGeom>
                <a:solidFill>
                  <a:srgbClr val="FDF3CF"/>
                </a:solidFill>
                <a:ln w="3175" cap="rnd" cmpd="sng">
                  <a:solidFill>
                    <a:srgbClr val="808080"/>
                  </a:solidFill>
                  <a:prstDash val="solid"/>
                  <a:round/>
                  <a:headEnd type="none" w="med" len="med"/>
                  <a:tailEnd type="none" w="med" len="med"/>
                </a:ln>
                <a:effectLst/>
              </p:spPr>
              <p:txBody>
                <a:bodyPr/>
                <a:lstStyle/>
                <a:p>
                  <a:endParaRPr lang="fr-FR"/>
                </a:p>
              </p:txBody>
            </p:sp>
            <p:sp>
              <p:nvSpPr>
                <p:cNvPr id="196661" name="Freeform 53"/>
                <p:cNvSpPr>
                  <a:spLocks/>
                </p:cNvSpPr>
                <p:nvPr/>
              </p:nvSpPr>
              <p:spPr bwMode="auto">
                <a:xfrm flipH="1">
                  <a:off x="4532" y="1294"/>
                  <a:ext cx="449" cy="414"/>
                </a:xfrm>
                <a:custGeom>
                  <a:avLst/>
                  <a:gdLst/>
                  <a:ahLst/>
                  <a:cxnLst>
                    <a:cxn ang="0">
                      <a:pos x="481" y="305"/>
                    </a:cxn>
                    <a:cxn ang="0">
                      <a:pos x="503" y="281"/>
                    </a:cxn>
                    <a:cxn ang="0">
                      <a:pos x="517" y="261"/>
                    </a:cxn>
                    <a:cxn ang="0">
                      <a:pos x="526" y="237"/>
                    </a:cxn>
                    <a:cxn ang="0">
                      <a:pos x="528" y="203"/>
                    </a:cxn>
                    <a:cxn ang="0">
                      <a:pos x="526" y="185"/>
                    </a:cxn>
                    <a:cxn ang="0">
                      <a:pos x="519" y="157"/>
                    </a:cxn>
                    <a:cxn ang="0">
                      <a:pos x="508" y="126"/>
                    </a:cxn>
                    <a:cxn ang="0">
                      <a:pos x="483" y="91"/>
                    </a:cxn>
                    <a:cxn ang="0">
                      <a:pos x="457" y="59"/>
                    </a:cxn>
                    <a:cxn ang="0">
                      <a:pos x="419" y="33"/>
                    </a:cxn>
                    <a:cxn ang="0">
                      <a:pos x="399" y="20"/>
                    </a:cxn>
                    <a:cxn ang="0">
                      <a:pos x="365" y="7"/>
                    </a:cxn>
                    <a:cxn ang="0">
                      <a:pos x="330" y="0"/>
                    </a:cxn>
                    <a:cxn ang="0">
                      <a:pos x="287" y="2"/>
                    </a:cxn>
                    <a:cxn ang="0">
                      <a:pos x="234" y="7"/>
                    </a:cxn>
                    <a:cxn ang="0">
                      <a:pos x="183" y="22"/>
                    </a:cxn>
                    <a:cxn ang="0">
                      <a:pos x="125" y="61"/>
                    </a:cxn>
                    <a:cxn ang="0">
                      <a:pos x="87" y="111"/>
                    </a:cxn>
                    <a:cxn ang="0">
                      <a:pos x="62" y="148"/>
                    </a:cxn>
                    <a:cxn ang="0">
                      <a:pos x="45" y="179"/>
                    </a:cxn>
                    <a:cxn ang="0">
                      <a:pos x="31" y="242"/>
                    </a:cxn>
                    <a:cxn ang="0">
                      <a:pos x="22" y="303"/>
                    </a:cxn>
                    <a:cxn ang="0">
                      <a:pos x="9" y="333"/>
                    </a:cxn>
                    <a:cxn ang="0">
                      <a:pos x="0" y="366"/>
                    </a:cxn>
                    <a:cxn ang="0">
                      <a:pos x="9" y="401"/>
                    </a:cxn>
                    <a:cxn ang="0">
                      <a:pos x="40" y="433"/>
                    </a:cxn>
                    <a:cxn ang="0">
                      <a:pos x="96" y="457"/>
                    </a:cxn>
                    <a:cxn ang="0">
                      <a:pos x="216" y="481"/>
                    </a:cxn>
                    <a:cxn ang="0">
                      <a:pos x="307" y="486"/>
                    </a:cxn>
                    <a:cxn ang="0">
                      <a:pos x="332" y="468"/>
                    </a:cxn>
                    <a:cxn ang="0">
                      <a:pos x="345" y="468"/>
                    </a:cxn>
                    <a:cxn ang="0">
                      <a:pos x="340" y="490"/>
                    </a:cxn>
                    <a:cxn ang="0">
                      <a:pos x="380" y="488"/>
                    </a:cxn>
                    <a:cxn ang="0">
                      <a:pos x="414" y="478"/>
                    </a:cxn>
                    <a:cxn ang="0">
                      <a:pos x="374" y="440"/>
                    </a:cxn>
                    <a:cxn ang="0">
                      <a:pos x="356" y="406"/>
                    </a:cxn>
                    <a:cxn ang="0">
                      <a:pos x="356" y="358"/>
                    </a:cxn>
                    <a:cxn ang="0">
                      <a:pos x="372" y="314"/>
                    </a:cxn>
                    <a:cxn ang="0">
                      <a:pos x="388" y="297"/>
                    </a:cxn>
                    <a:cxn ang="0">
                      <a:pos x="438" y="299"/>
                    </a:cxn>
                    <a:cxn ang="0">
                      <a:pos x="481" y="305"/>
                    </a:cxn>
                  </a:cxnLst>
                  <a:rect l="0" t="0" r="r" b="b"/>
                  <a:pathLst>
                    <a:path w="529" h="491">
                      <a:moveTo>
                        <a:pt x="481" y="305"/>
                      </a:moveTo>
                      <a:lnTo>
                        <a:pt x="503" y="281"/>
                      </a:lnTo>
                      <a:lnTo>
                        <a:pt x="517" y="261"/>
                      </a:lnTo>
                      <a:lnTo>
                        <a:pt x="526" y="237"/>
                      </a:lnTo>
                      <a:lnTo>
                        <a:pt x="528" y="203"/>
                      </a:lnTo>
                      <a:lnTo>
                        <a:pt x="526" y="185"/>
                      </a:lnTo>
                      <a:lnTo>
                        <a:pt x="519" y="157"/>
                      </a:lnTo>
                      <a:lnTo>
                        <a:pt x="508" y="126"/>
                      </a:lnTo>
                      <a:lnTo>
                        <a:pt x="483" y="91"/>
                      </a:lnTo>
                      <a:lnTo>
                        <a:pt x="457" y="59"/>
                      </a:lnTo>
                      <a:lnTo>
                        <a:pt x="419" y="33"/>
                      </a:lnTo>
                      <a:lnTo>
                        <a:pt x="399" y="20"/>
                      </a:lnTo>
                      <a:lnTo>
                        <a:pt x="365" y="7"/>
                      </a:lnTo>
                      <a:lnTo>
                        <a:pt x="330" y="0"/>
                      </a:lnTo>
                      <a:lnTo>
                        <a:pt x="287" y="2"/>
                      </a:lnTo>
                      <a:lnTo>
                        <a:pt x="234" y="7"/>
                      </a:lnTo>
                      <a:lnTo>
                        <a:pt x="183" y="22"/>
                      </a:lnTo>
                      <a:lnTo>
                        <a:pt x="125" y="61"/>
                      </a:lnTo>
                      <a:lnTo>
                        <a:pt x="87" y="111"/>
                      </a:lnTo>
                      <a:lnTo>
                        <a:pt x="62" y="148"/>
                      </a:lnTo>
                      <a:lnTo>
                        <a:pt x="45" y="179"/>
                      </a:lnTo>
                      <a:lnTo>
                        <a:pt x="31" y="242"/>
                      </a:lnTo>
                      <a:lnTo>
                        <a:pt x="22" y="303"/>
                      </a:lnTo>
                      <a:lnTo>
                        <a:pt x="9" y="333"/>
                      </a:lnTo>
                      <a:lnTo>
                        <a:pt x="0" y="366"/>
                      </a:lnTo>
                      <a:lnTo>
                        <a:pt x="9" y="401"/>
                      </a:lnTo>
                      <a:lnTo>
                        <a:pt x="40" y="433"/>
                      </a:lnTo>
                      <a:lnTo>
                        <a:pt x="96" y="457"/>
                      </a:lnTo>
                      <a:lnTo>
                        <a:pt x="216" y="481"/>
                      </a:lnTo>
                      <a:lnTo>
                        <a:pt x="307" y="486"/>
                      </a:lnTo>
                      <a:lnTo>
                        <a:pt x="332" y="468"/>
                      </a:lnTo>
                      <a:lnTo>
                        <a:pt x="345" y="468"/>
                      </a:lnTo>
                      <a:lnTo>
                        <a:pt x="340" y="490"/>
                      </a:lnTo>
                      <a:lnTo>
                        <a:pt x="380" y="488"/>
                      </a:lnTo>
                      <a:lnTo>
                        <a:pt x="414" y="478"/>
                      </a:lnTo>
                      <a:lnTo>
                        <a:pt x="374" y="440"/>
                      </a:lnTo>
                      <a:lnTo>
                        <a:pt x="356" y="406"/>
                      </a:lnTo>
                      <a:lnTo>
                        <a:pt x="356" y="358"/>
                      </a:lnTo>
                      <a:lnTo>
                        <a:pt x="372" y="314"/>
                      </a:lnTo>
                      <a:lnTo>
                        <a:pt x="388" y="297"/>
                      </a:lnTo>
                      <a:lnTo>
                        <a:pt x="438" y="299"/>
                      </a:lnTo>
                      <a:lnTo>
                        <a:pt x="481" y="305"/>
                      </a:lnTo>
                    </a:path>
                  </a:pathLst>
                </a:custGeom>
                <a:gradFill rotWithShape="0">
                  <a:gsLst>
                    <a:gs pos="0">
                      <a:srgbClr val="969696"/>
                    </a:gs>
                    <a:gs pos="100000">
                      <a:srgbClr val="969696">
                        <a:gamma/>
                        <a:shade val="46275"/>
                        <a:invGamma/>
                      </a:srgbClr>
                    </a:gs>
                  </a:gsLst>
                  <a:lin ang="5400000" scaled="1"/>
                </a:gradFill>
                <a:ln w="6350" cap="rnd" cmpd="sng">
                  <a:noFill/>
                  <a:prstDash val="solid"/>
                  <a:round/>
                  <a:headEnd type="none" w="med" len="med"/>
                  <a:tailEnd type="none" w="med" len="med"/>
                </a:ln>
                <a:effectLst/>
              </p:spPr>
              <p:txBody>
                <a:bodyPr/>
                <a:lstStyle/>
                <a:p>
                  <a:endParaRPr lang="fr-FR"/>
                </a:p>
              </p:txBody>
            </p:sp>
            <p:sp>
              <p:nvSpPr>
                <p:cNvPr id="196662" name="Freeform 54"/>
                <p:cNvSpPr>
                  <a:spLocks/>
                </p:cNvSpPr>
                <p:nvPr/>
              </p:nvSpPr>
              <p:spPr bwMode="auto">
                <a:xfrm flipH="1">
                  <a:off x="4600" y="1582"/>
                  <a:ext cx="35" cy="13"/>
                </a:xfrm>
                <a:custGeom>
                  <a:avLst/>
                  <a:gdLst/>
                  <a:ahLst/>
                  <a:cxnLst>
                    <a:cxn ang="0">
                      <a:pos x="0" y="0"/>
                    </a:cxn>
                    <a:cxn ang="0">
                      <a:pos x="40" y="6"/>
                    </a:cxn>
                    <a:cxn ang="0">
                      <a:pos x="34" y="14"/>
                    </a:cxn>
                    <a:cxn ang="0">
                      <a:pos x="0" y="0"/>
                    </a:cxn>
                  </a:cxnLst>
                  <a:rect l="0" t="0" r="r" b="b"/>
                  <a:pathLst>
                    <a:path w="41" h="15">
                      <a:moveTo>
                        <a:pt x="0" y="0"/>
                      </a:moveTo>
                      <a:lnTo>
                        <a:pt x="40" y="6"/>
                      </a:lnTo>
                      <a:lnTo>
                        <a:pt x="34" y="14"/>
                      </a:lnTo>
                      <a:lnTo>
                        <a:pt x="0" y="0"/>
                      </a:lnTo>
                    </a:path>
                  </a:pathLst>
                </a:custGeom>
                <a:solidFill>
                  <a:srgbClr val="969696"/>
                </a:solidFill>
                <a:ln w="6350" cap="rnd" cmpd="sng">
                  <a:solidFill>
                    <a:srgbClr val="969696"/>
                  </a:solidFill>
                  <a:prstDash val="solid"/>
                  <a:round/>
                  <a:headEnd type="none" w="med" len="med"/>
                  <a:tailEnd type="none" w="med" len="med"/>
                </a:ln>
                <a:effectLst/>
              </p:spPr>
              <p:txBody>
                <a:bodyPr/>
                <a:lstStyle/>
                <a:p>
                  <a:endParaRPr lang="fr-FR"/>
                </a:p>
              </p:txBody>
            </p:sp>
            <p:sp>
              <p:nvSpPr>
                <p:cNvPr id="196663" name="Freeform 55"/>
                <p:cNvSpPr>
                  <a:spLocks/>
                </p:cNvSpPr>
                <p:nvPr/>
              </p:nvSpPr>
              <p:spPr bwMode="auto">
                <a:xfrm flipH="1">
                  <a:off x="4497" y="2079"/>
                  <a:ext cx="146" cy="115"/>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FDF3CF"/>
                </a:solidFill>
                <a:ln w="3175" cap="rnd" cmpd="sng">
                  <a:solidFill>
                    <a:srgbClr val="969696"/>
                  </a:solidFill>
                  <a:prstDash val="solid"/>
                  <a:round/>
                  <a:headEnd type="none" w="med" len="med"/>
                  <a:tailEnd type="none" w="med" len="med"/>
                </a:ln>
                <a:effectLst/>
              </p:spPr>
              <p:txBody>
                <a:bodyPr/>
                <a:lstStyle/>
                <a:p>
                  <a:endParaRPr lang="fr-FR"/>
                </a:p>
              </p:txBody>
            </p:sp>
            <p:sp>
              <p:nvSpPr>
                <p:cNvPr id="196664" name="Freeform 56"/>
                <p:cNvSpPr>
                  <a:spLocks/>
                </p:cNvSpPr>
                <p:nvPr/>
              </p:nvSpPr>
              <p:spPr bwMode="auto">
                <a:xfrm rot="1622053" flipH="1">
                  <a:off x="4146" y="2220"/>
                  <a:ext cx="449" cy="153"/>
                </a:xfrm>
                <a:custGeom>
                  <a:avLst/>
                  <a:gdLst/>
                  <a:ahLst/>
                  <a:cxnLst>
                    <a:cxn ang="0">
                      <a:pos x="455" y="32"/>
                    </a:cxn>
                    <a:cxn ang="0">
                      <a:pos x="468" y="46"/>
                    </a:cxn>
                    <a:cxn ang="0">
                      <a:pos x="487" y="65"/>
                    </a:cxn>
                    <a:cxn ang="0">
                      <a:pos x="498" y="74"/>
                    </a:cxn>
                    <a:cxn ang="0">
                      <a:pos x="504" y="90"/>
                    </a:cxn>
                    <a:cxn ang="0">
                      <a:pos x="517" y="104"/>
                    </a:cxn>
                    <a:cxn ang="0">
                      <a:pos x="527" y="112"/>
                    </a:cxn>
                    <a:cxn ang="0">
                      <a:pos x="539" y="116"/>
                    </a:cxn>
                    <a:cxn ang="0">
                      <a:pos x="555" y="124"/>
                    </a:cxn>
                    <a:cxn ang="0">
                      <a:pos x="553" y="138"/>
                    </a:cxn>
                    <a:cxn ang="0">
                      <a:pos x="543" y="144"/>
                    </a:cxn>
                    <a:cxn ang="0">
                      <a:pos x="527" y="146"/>
                    </a:cxn>
                    <a:cxn ang="0">
                      <a:pos x="513" y="138"/>
                    </a:cxn>
                    <a:cxn ang="0">
                      <a:pos x="489" y="130"/>
                    </a:cxn>
                    <a:cxn ang="0">
                      <a:pos x="463" y="130"/>
                    </a:cxn>
                    <a:cxn ang="0">
                      <a:pos x="452" y="129"/>
                    </a:cxn>
                    <a:cxn ang="0">
                      <a:pos x="428" y="135"/>
                    </a:cxn>
                    <a:cxn ang="0">
                      <a:pos x="392" y="158"/>
                    </a:cxn>
                    <a:cxn ang="0">
                      <a:pos x="359" y="178"/>
                    </a:cxn>
                    <a:cxn ang="0">
                      <a:pos x="325" y="185"/>
                    </a:cxn>
                    <a:cxn ang="0">
                      <a:pos x="284" y="189"/>
                    </a:cxn>
                    <a:cxn ang="0">
                      <a:pos x="249" y="185"/>
                    </a:cxn>
                    <a:cxn ang="0">
                      <a:pos x="210" y="182"/>
                    </a:cxn>
                    <a:cxn ang="0">
                      <a:pos x="178" y="176"/>
                    </a:cxn>
                    <a:cxn ang="0">
                      <a:pos x="134" y="169"/>
                    </a:cxn>
                    <a:cxn ang="0">
                      <a:pos x="82" y="156"/>
                    </a:cxn>
                    <a:cxn ang="0">
                      <a:pos x="30" y="139"/>
                    </a:cxn>
                    <a:cxn ang="0">
                      <a:pos x="8" y="124"/>
                    </a:cxn>
                    <a:cxn ang="0">
                      <a:pos x="0" y="122"/>
                    </a:cxn>
                    <a:cxn ang="0">
                      <a:pos x="35" y="90"/>
                    </a:cxn>
                    <a:cxn ang="0">
                      <a:pos x="68" y="49"/>
                    </a:cxn>
                    <a:cxn ang="0">
                      <a:pos x="72" y="29"/>
                    </a:cxn>
                    <a:cxn ang="0">
                      <a:pos x="129" y="53"/>
                    </a:cxn>
                    <a:cxn ang="0">
                      <a:pos x="180" y="74"/>
                    </a:cxn>
                    <a:cxn ang="0">
                      <a:pos x="236" y="93"/>
                    </a:cxn>
                    <a:cxn ang="0">
                      <a:pos x="273" y="99"/>
                    </a:cxn>
                    <a:cxn ang="0">
                      <a:pos x="296" y="72"/>
                    </a:cxn>
                    <a:cxn ang="0">
                      <a:pos x="323" y="48"/>
                    </a:cxn>
                    <a:cxn ang="0">
                      <a:pos x="347" y="27"/>
                    </a:cxn>
                    <a:cxn ang="0">
                      <a:pos x="368" y="7"/>
                    </a:cxn>
                    <a:cxn ang="0">
                      <a:pos x="398" y="0"/>
                    </a:cxn>
                    <a:cxn ang="0">
                      <a:pos x="409" y="6"/>
                    </a:cxn>
                    <a:cxn ang="0">
                      <a:pos x="421" y="18"/>
                    </a:cxn>
                    <a:cxn ang="0">
                      <a:pos x="438" y="24"/>
                    </a:cxn>
                    <a:cxn ang="0">
                      <a:pos x="455" y="32"/>
                    </a:cxn>
                  </a:cxnLst>
                  <a:rect l="0" t="0" r="r" b="b"/>
                  <a:pathLst>
                    <a:path w="556" h="190">
                      <a:moveTo>
                        <a:pt x="455" y="32"/>
                      </a:moveTo>
                      <a:lnTo>
                        <a:pt x="468" y="46"/>
                      </a:lnTo>
                      <a:lnTo>
                        <a:pt x="487" y="65"/>
                      </a:lnTo>
                      <a:lnTo>
                        <a:pt x="498" y="74"/>
                      </a:lnTo>
                      <a:lnTo>
                        <a:pt x="504" y="90"/>
                      </a:lnTo>
                      <a:lnTo>
                        <a:pt x="517" y="104"/>
                      </a:lnTo>
                      <a:lnTo>
                        <a:pt x="527" y="112"/>
                      </a:lnTo>
                      <a:lnTo>
                        <a:pt x="539" y="116"/>
                      </a:lnTo>
                      <a:lnTo>
                        <a:pt x="555" y="124"/>
                      </a:lnTo>
                      <a:lnTo>
                        <a:pt x="553" y="138"/>
                      </a:lnTo>
                      <a:lnTo>
                        <a:pt x="543" y="144"/>
                      </a:lnTo>
                      <a:lnTo>
                        <a:pt x="527" y="146"/>
                      </a:lnTo>
                      <a:lnTo>
                        <a:pt x="513" y="138"/>
                      </a:lnTo>
                      <a:lnTo>
                        <a:pt x="489" y="130"/>
                      </a:lnTo>
                      <a:lnTo>
                        <a:pt x="463" y="130"/>
                      </a:lnTo>
                      <a:lnTo>
                        <a:pt x="452" y="129"/>
                      </a:lnTo>
                      <a:lnTo>
                        <a:pt x="428" y="135"/>
                      </a:lnTo>
                      <a:lnTo>
                        <a:pt x="392" y="158"/>
                      </a:lnTo>
                      <a:lnTo>
                        <a:pt x="359" y="178"/>
                      </a:lnTo>
                      <a:lnTo>
                        <a:pt x="325" y="185"/>
                      </a:lnTo>
                      <a:lnTo>
                        <a:pt x="284" y="189"/>
                      </a:lnTo>
                      <a:lnTo>
                        <a:pt x="249" y="185"/>
                      </a:lnTo>
                      <a:lnTo>
                        <a:pt x="210" y="182"/>
                      </a:lnTo>
                      <a:lnTo>
                        <a:pt x="178" y="176"/>
                      </a:lnTo>
                      <a:lnTo>
                        <a:pt x="134" y="169"/>
                      </a:lnTo>
                      <a:lnTo>
                        <a:pt x="82" y="156"/>
                      </a:lnTo>
                      <a:lnTo>
                        <a:pt x="30" y="139"/>
                      </a:lnTo>
                      <a:lnTo>
                        <a:pt x="8" y="124"/>
                      </a:lnTo>
                      <a:lnTo>
                        <a:pt x="0" y="122"/>
                      </a:lnTo>
                      <a:lnTo>
                        <a:pt x="35" y="90"/>
                      </a:lnTo>
                      <a:lnTo>
                        <a:pt x="68" y="49"/>
                      </a:lnTo>
                      <a:lnTo>
                        <a:pt x="72" y="29"/>
                      </a:lnTo>
                      <a:lnTo>
                        <a:pt x="129" y="53"/>
                      </a:lnTo>
                      <a:lnTo>
                        <a:pt x="180" y="74"/>
                      </a:lnTo>
                      <a:lnTo>
                        <a:pt x="236" y="93"/>
                      </a:lnTo>
                      <a:lnTo>
                        <a:pt x="273" y="99"/>
                      </a:lnTo>
                      <a:lnTo>
                        <a:pt x="296" y="72"/>
                      </a:lnTo>
                      <a:lnTo>
                        <a:pt x="323" y="48"/>
                      </a:lnTo>
                      <a:lnTo>
                        <a:pt x="347" y="27"/>
                      </a:lnTo>
                      <a:lnTo>
                        <a:pt x="368" y="7"/>
                      </a:lnTo>
                      <a:lnTo>
                        <a:pt x="398" y="0"/>
                      </a:lnTo>
                      <a:lnTo>
                        <a:pt x="409" y="6"/>
                      </a:lnTo>
                      <a:lnTo>
                        <a:pt x="421" y="18"/>
                      </a:lnTo>
                      <a:lnTo>
                        <a:pt x="438" y="24"/>
                      </a:lnTo>
                      <a:lnTo>
                        <a:pt x="455" y="32"/>
                      </a:lnTo>
                    </a:path>
                  </a:pathLst>
                </a:custGeom>
                <a:solidFill>
                  <a:srgbClr val="FDF3CF"/>
                </a:solidFill>
                <a:ln w="3175" cap="rnd" cmpd="sng">
                  <a:solidFill>
                    <a:srgbClr val="808080"/>
                  </a:solidFill>
                  <a:prstDash val="solid"/>
                  <a:round/>
                  <a:headEnd type="none" w="med" len="med"/>
                  <a:tailEnd type="none" w="med" len="med"/>
                </a:ln>
                <a:effectLst/>
              </p:spPr>
              <p:txBody>
                <a:bodyPr/>
                <a:lstStyle/>
                <a:p>
                  <a:endParaRPr lang="fr-FR"/>
                </a:p>
              </p:txBody>
            </p:sp>
            <p:sp>
              <p:nvSpPr>
                <p:cNvPr id="196665" name="Freeform 57"/>
                <p:cNvSpPr>
                  <a:spLocks/>
                </p:cNvSpPr>
                <p:nvPr/>
              </p:nvSpPr>
              <p:spPr bwMode="auto">
                <a:xfrm flipH="1">
                  <a:off x="4315" y="1726"/>
                  <a:ext cx="667" cy="713"/>
                </a:xfrm>
                <a:custGeom>
                  <a:avLst/>
                  <a:gdLst/>
                  <a:ahLst/>
                  <a:cxnLst>
                    <a:cxn ang="0">
                      <a:pos x="68" y="0"/>
                    </a:cxn>
                    <a:cxn ang="0">
                      <a:pos x="208" y="76"/>
                    </a:cxn>
                    <a:cxn ang="0">
                      <a:pos x="256" y="104"/>
                    </a:cxn>
                    <a:cxn ang="0">
                      <a:pos x="280" y="164"/>
                    </a:cxn>
                    <a:cxn ang="0">
                      <a:pos x="304" y="216"/>
                    </a:cxn>
                    <a:cxn ang="0">
                      <a:pos x="328" y="236"/>
                    </a:cxn>
                    <a:cxn ang="0">
                      <a:pos x="368" y="284"/>
                    </a:cxn>
                    <a:cxn ang="0">
                      <a:pos x="432" y="416"/>
                    </a:cxn>
                    <a:cxn ang="0">
                      <a:pos x="444" y="500"/>
                    </a:cxn>
                    <a:cxn ang="0">
                      <a:pos x="456" y="606"/>
                    </a:cxn>
                    <a:cxn ang="0">
                      <a:pos x="477" y="654"/>
                    </a:cxn>
                    <a:cxn ang="0">
                      <a:pos x="534" y="681"/>
                    </a:cxn>
                    <a:cxn ang="0">
                      <a:pos x="618" y="708"/>
                    </a:cxn>
                    <a:cxn ang="0">
                      <a:pos x="708" y="708"/>
                    </a:cxn>
                    <a:cxn ang="0">
                      <a:pos x="774" y="768"/>
                    </a:cxn>
                    <a:cxn ang="0">
                      <a:pos x="825" y="816"/>
                    </a:cxn>
                    <a:cxn ang="0">
                      <a:pos x="792" y="870"/>
                    </a:cxn>
                    <a:cxn ang="0">
                      <a:pos x="572" y="878"/>
                    </a:cxn>
                    <a:cxn ang="0">
                      <a:pos x="4" y="878"/>
                    </a:cxn>
                    <a:cxn ang="0">
                      <a:pos x="4" y="48"/>
                    </a:cxn>
                    <a:cxn ang="0">
                      <a:pos x="64" y="0"/>
                    </a:cxn>
                  </a:cxnLst>
                  <a:rect l="0" t="0" r="r" b="b"/>
                  <a:pathLst>
                    <a:path w="825" h="882">
                      <a:moveTo>
                        <a:pt x="68" y="0"/>
                      </a:moveTo>
                      <a:cubicBezTo>
                        <a:pt x="118" y="17"/>
                        <a:pt x="156" y="63"/>
                        <a:pt x="208" y="76"/>
                      </a:cubicBezTo>
                      <a:cubicBezTo>
                        <a:pt x="225" y="87"/>
                        <a:pt x="240" y="93"/>
                        <a:pt x="256" y="104"/>
                      </a:cubicBezTo>
                      <a:cubicBezTo>
                        <a:pt x="272" y="128"/>
                        <a:pt x="271" y="137"/>
                        <a:pt x="280" y="164"/>
                      </a:cubicBezTo>
                      <a:cubicBezTo>
                        <a:pt x="283" y="191"/>
                        <a:pt x="278" y="207"/>
                        <a:pt x="304" y="216"/>
                      </a:cubicBezTo>
                      <a:cubicBezTo>
                        <a:pt x="311" y="223"/>
                        <a:pt x="321" y="228"/>
                        <a:pt x="328" y="236"/>
                      </a:cubicBezTo>
                      <a:cubicBezTo>
                        <a:pt x="344" y="254"/>
                        <a:pt x="348" y="270"/>
                        <a:pt x="368" y="284"/>
                      </a:cubicBezTo>
                      <a:cubicBezTo>
                        <a:pt x="384" y="331"/>
                        <a:pt x="422" y="365"/>
                        <a:pt x="432" y="416"/>
                      </a:cubicBezTo>
                      <a:cubicBezTo>
                        <a:pt x="438" y="444"/>
                        <a:pt x="444" y="500"/>
                        <a:pt x="444" y="500"/>
                      </a:cubicBezTo>
                      <a:cubicBezTo>
                        <a:pt x="451" y="530"/>
                        <a:pt x="448" y="584"/>
                        <a:pt x="456" y="606"/>
                      </a:cubicBezTo>
                      <a:cubicBezTo>
                        <a:pt x="461" y="632"/>
                        <a:pt x="464" y="642"/>
                        <a:pt x="477" y="654"/>
                      </a:cubicBezTo>
                      <a:cubicBezTo>
                        <a:pt x="490" y="666"/>
                        <a:pt x="511" y="672"/>
                        <a:pt x="534" y="681"/>
                      </a:cubicBezTo>
                      <a:cubicBezTo>
                        <a:pt x="557" y="690"/>
                        <a:pt x="589" y="704"/>
                        <a:pt x="618" y="708"/>
                      </a:cubicBezTo>
                      <a:cubicBezTo>
                        <a:pt x="674" y="706"/>
                        <a:pt x="648" y="669"/>
                        <a:pt x="708" y="708"/>
                      </a:cubicBezTo>
                      <a:cubicBezTo>
                        <a:pt x="721" y="728"/>
                        <a:pt x="762" y="741"/>
                        <a:pt x="774" y="768"/>
                      </a:cubicBezTo>
                      <a:cubicBezTo>
                        <a:pt x="795" y="775"/>
                        <a:pt x="817" y="792"/>
                        <a:pt x="825" y="816"/>
                      </a:cubicBezTo>
                      <a:cubicBezTo>
                        <a:pt x="825" y="828"/>
                        <a:pt x="803" y="858"/>
                        <a:pt x="792" y="870"/>
                      </a:cubicBezTo>
                      <a:cubicBezTo>
                        <a:pt x="747" y="882"/>
                        <a:pt x="748" y="880"/>
                        <a:pt x="572" y="878"/>
                      </a:cubicBezTo>
                      <a:cubicBezTo>
                        <a:pt x="616" y="878"/>
                        <a:pt x="236" y="878"/>
                        <a:pt x="4" y="878"/>
                      </a:cubicBezTo>
                      <a:cubicBezTo>
                        <a:pt x="8" y="622"/>
                        <a:pt x="0" y="248"/>
                        <a:pt x="4" y="48"/>
                      </a:cubicBezTo>
                      <a:cubicBezTo>
                        <a:pt x="12" y="23"/>
                        <a:pt x="51" y="9"/>
                        <a:pt x="64" y="0"/>
                      </a:cubicBezTo>
                    </a:path>
                  </a:pathLst>
                </a:custGeom>
                <a:gradFill rotWithShape="0">
                  <a:gsLst>
                    <a:gs pos="0">
                      <a:srgbClr val="FFCC99"/>
                    </a:gs>
                    <a:gs pos="100000">
                      <a:srgbClr val="FFCC00"/>
                    </a:gs>
                  </a:gsLst>
                  <a:lin ang="5400000" scaled="1"/>
                </a:gradFill>
                <a:ln w="3175" cap="flat" cmpd="sng">
                  <a:solidFill>
                    <a:srgbClr val="777777"/>
                  </a:solidFill>
                  <a:prstDash val="solid"/>
                  <a:round/>
                  <a:headEnd type="none" w="med" len="med"/>
                  <a:tailEnd type="none" w="med" len="med"/>
                </a:ln>
                <a:effectLst/>
              </p:spPr>
              <p:txBody>
                <a:bodyPr/>
                <a:lstStyle/>
                <a:p>
                  <a:endParaRPr lang="fr-FR"/>
                </a:p>
              </p:txBody>
            </p:sp>
            <p:sp>
              <p:nvSpPr>
                <p:cNvPr id="196666" name="Freeform 58"/>
                <p:cNvSpPr>
                  <a:spLocks/>
                </p:cNvSpPr>
                <p:nvPr/>
              </p:nvSpPr>
              <p:spPr bwMode="auto">
                <a:xfrm flipH="1">
                  <a:off x="4685" y="1840"/>
                  <a:ext cx="291" cy="593"/>
                </a:xfrm>
                <a:custGeom>
                  <a:avLst/>
                  <a:gdLst/>
                  <a:ahLst/>
                  <a:cxnLst>
                    <a:cxn ang="0">
                      <a:pos x="3" y="732"/>
                    </a:cxn>
                    <a:cxn ang="0">
                      <a:pos x="336" y="729"/>
                    </a:cxn>
                    <a:cxn ang="0">
                      <a:pos x="292" y="713"/>
                    </a:cxn>
                    <a:cxn ang="0">
                      <a:pos x="348" y="709"/>
                    </a:cxn>
                    <a:cxn ang="0">
                      <a:pos x="312" y="695"/>
                    </a:cxn>
                    <a:cxn ang="0">
                      <a:pos x="320" y="630"/>
                    </a:cxn>
                    <a:cxn ang="0">
                      <a:pos x="308" y="634"/>
                    </a:cxn>
                    <a:cxn ang="0">
                      <a:pos x="280" y="673"/>
                    </a:cxn>
                    <a:cxn ang="0">
                      <a:pos x="236" y="569"/>
                    </a:cxn>
                    <a:cxn ang="0">
                      <a:pos x="208" y="522"/>
                    </a:cxn>
                    <a:cxn ang="0">
                      <a:pos x="192" y="313"/>
                    </a:cxn>
                    <a:cxn ang="0">
                      <a:pos x="156" y="187"/>
                    </a:cxn>
                    <a:cxn ang="0">
                      <a:pos x="140" y="288"/>
                    </a:cxn>
                    <a:cxn ang="0">
                      <a:pos x="124" y="284"/>
                    </a:cxn>
                    <a:cxn ang="0">
                      <a:pos x="116" y="277"/>
                    </a:cxn>
                    <a:cxn ang="0">
                      <a:pos x="156" y="446"/>
                    </a:cxn>
                    <a:cxn ang="0">
                      <a:pos x="176" y="497"/>
                    </a:cxn>
                    <a:cxn ang="0">
                      <a:pos x="184" y="526"/>
                    </a:cxn>
                    <a:cxn ang="0">
                      <a:pos x="220" y="619"/>
                    </a:cxn>
                    <a:cxn ang="0">
                      <a:pos x="248" y="662"/>
                    </a:cxn>
                    <a:cxn ang="0">
                      <a:pos x="208" y="648"/>
                    </a:cxn>
                    <a:cxn ang="0">
                      <a:pos x="180" y="634"/>
                    </a:cxn>
                    <a:cxn ang="0">
                      <a:pos x="156" y="619"/>
                    </a:cxn>
                    <a:cxn ang="0">
                      <a:pos x="116" y="623"/>
                    </a:cxn>
                    <a:cxn ang="0">
                      <a:pos x="48" y="425"/>
                    </a:cxn>
                    <a:cxn ang="0">
                      <a:pos x="40" y="363"/>
                    </a:cxn>
                    <a:cxn ang="0">
                      <a:pos x="36" y="338"/>
                    </a:cxn>
                    <a:cxn ang="0">
                      <a:pos x="28" y="317"/>
                    </a:cxn>
                    <a:cxn ang="0">
                      <a:pos x="32" y="111"/>
                    </a:cxn>
                    <a:cxn ang="0">
                      <a:pos x="40" y="89"/>
                    </a:cxn>
                    <a:cxn ang="0">
                      <a:pos x="96" y="32"/>
                    </a:cxn>
                    <a:cxn ang="0">
                      <a:pos x="156" y="79"/>
                    </a:cxn>
                    <a:cxn ang="0">
                      <a:pos x="236" y="126"/>
                    </a:cxn>
                    <a:cxn ang="0">
                      <a:pos x="216" y="97"/>
                    </a:cxn>
                    <a:cxn ang="0">
                      <a:pos x="136" y="53"/>
                    </a:cxn>
                    <a:cxn ang="0">
                      <a:pos x="72" y="17"/>
                    </a:cxn>
                    <a:cxn ang="0">
                      <a:pos x="40" y="10"/>
                    </a:cxn>
                    <a:cxn ang="0">
                      <a:pos x="0" y="0"/>
                    </a:cxn>
                    <a:cxn ang="0">
                      <a:pos x="3" y="732"/>
                    </a:cxn>
                  </a:cxnLst>
                  <a:rect l="0" t="0" r="r" b="b"/>
                  <a:pathLst>
                    <a:path w="360" h="734">
                      <a:moveTo>
                        <a:pt x="3" y="732"/>
                      </a:moveTo>
                      <a:cubicBezTo>
                        <a:pt x="71" y="733"/>
                        <a:pt x="334" y="734"/>
                        <a:pt x="336" y="729"/>
                      </a:cubicBezTo>
                      <a:cubicBezTo>
                        <a:pt x="301" y="728"/>
                        <a:pt x="228" y="713"/>
                        <a:pt x="292" y="713"/>
                      </a:cubicBezTo>
                      <a:cubicBezTo>
                        <a:pt x="311" y="713"/>
                        <a:pt x="330" y="716"/>
                        <a:pt x="348" y="709"/>
                      </a:cubicBezTo>
                      <a:cubicBezTo>
                        <a:pt x="360" y="705"/>
                        <a:pt x="323" y="701"/>
                        <a:pt x="312" y="695"/>
                      </a:cubicBezTo>
                      <a:cubicBezTo>
                        <a:pt x="291" y="666"/>
                        <a:pt x="309" y="660"/>
                        <a:pt x="320" y="630"/>
                      </a:cubicBezTo>
                      <a:cubicBezTo>
                        <a:pt x="321" y="626"/>
                        <a:pt x="312" y="633"/>
                        <a:pt x="308" y="634"/>
                      </a:cubicBezTo>
                      <a:cubicBezTo>
                        <a:pt x="301" y="653"/>
                        <a:pt x="299" y="662"/>
                        <a:pt x="280" y="673"/>
                      </a:cubicBezTo>
                      <a:cubicBezTo>
                        <a:pt x="252" y="648"/>
                        <a:pt x="246" y="603"/>
                        <a:pt x="236" y="569"/>
                      </a:cubicBezTo>
                      <a:cubicBezTo>
                        <a:pt x="234" y="548"/>
                        <a:pt x="242" y="501"/>
                        <a:pt x="208" y="522"/>
                      </a:cubicBezTo>
                      <a:cubicBezTo>
                        <a:pt x="184" y="436"/>
                        <a:pt x="200" y="492"/>
                        <a:pt x="192" y="313"/>
                      </a:cubicBezTo>
                      <a:cubicBezTo>
                        <a:pt x="190" y="269"/>
                        <a:pt x="171" y="227"/>
                        <a:pt x="156" y="187"/>
                      </a:cubicBezTo>
                      <a:cubicBezTo>
                        <a:pt x="132" y="219"/>
                        <a:pt x="142" y="240"/>
                        <a:pt x="140" y="288"/>
                      </a:cubicBezTo>
                      <a:cubicBezTo>
                        <a:pt x="135" y="287"/>
                        <a:pt x="128" y="288"/>
                        <a:pt x="124" y="284"/>
                      </a:cubicBezTo>
                      <a:cubicBezTo>
                        <a:pt x="115" y="274"/>
                        <a:pt x="125" y="253"/>
                        <a:pt x="116" y="277"/>
                      </a:cubicBezTo>
                      <a:cubicBezTo>
                        <a:pt x="119" y="346"/>
                        <a:pt x="123" y="387"/>
                        <a:pt x="156" y="446"/>
                      </a:cubicBezTo>
                      <a:cubicBezTo>
                        <a:pt x="160" y="466"/>
                        <a:pt x="171" y="477"/>
                        <a:pt x="176" y="497"/>
                      </a:cubicBezTo>
                      <a:cubicBezTo>
                        <a:pt x="179" y="507"/>
                        <a:pt x="184" y="526"/>
                        <a:pt x="184" y="526"/>
                      </a:cubicBezTo>
                      <a:cubicBezTo>
                        <a:pt x="188" y="554"/>
                        <a:pt x="182" y="611"/>
                        <a:pt x="220" y="619"/>
                      </a:cubicBezTo>
                      <a:cubicBezTo>
                        <a:pt x="233" y="631"/>
                        <a:pt x="242" y="646"/>
                        <a:pt x="248" y="662"/>
                      </a:cubicBezTo>
                      <a:cubicBezTo>
                        <a:pt x="218" y="670"/>
                        <a:pt x="234" y="656"/>
                        <a:pt x="208" y="648"/>
                      </a:cubicBezTo>
                      <a:cubicBezTo>
                        <a:pt x="181" y="624"/>
                        <a:pt x="212" y="648"/>
                        <a:pt x="180" y="634"/>
                      </a:cubicBezTo>
                      <a:cubicBezTo>
                        <a:pt x="171" y="630"/>
                        <a:pt x="156" y="619"/>
                        <a:pt x="156" y="619"/>
                      </a:cubicBezTo>
                      <a:cubicBezTo>
                        <a:pt x="140" y="623"/>
                        <a:pt x="132" y="627"/>
                        <a:pt x="116" y="623"/>
                      </a:cubicBezTo>
                      <a:cubicBezTo>
                        <a:pt x="72" y="583"/>
                        <a:pt x="62" y="480"/>
                        <a:pt x="48" y="425"/>
                      </a:cubicBezTo>
                      <a:cubicBezTo>
                        <a:pt x="43" y="403"/>
                        <a:pt x="43" y="388"/>
                        <a:pt x="40" y="363"/>
                      </a:cubicBezTo>
                      <a:cubicBezTo>
                        <a:pt x="39" y="355"/>
                        <a:pt x="38" y="346"/>
                        <a:pt x="36" y="338"/>
                      </a:cubicBezTo>
                      <a:cubicBezTo>
                        <a:pt x="34" y="331"/>
                        <a:pt x="28" y="317"/>
                        <a:pt x="28" y="317"/>
                      </a:cubicBezTo>
                      <a:cubicBezTo>
                        <a:pt x="29" y="248"/>
                        <a:pt x="28" y="180"/>
                        <a:pt x="32" y="111"/>
                      </a:cubicBezTo>
                      <a:cubicBezTo>
                        <a:pt x="32" y="104"/>
                        <a:pt x="40" y="89"/>
                        <a:pt x="40" y="89"/>
                      </a:cubicBezTo>
                      <a:cubicBezTo>
                        <a:pt x="44" y="26"/>
                        <a:pt x="28" y="19"/>
                        <a:pt x="96" y="32"/>
                      </a:cubicBezTo>
                      <a:cubicBezTo>
                        <a:pt x="118" y="45"/>
                        <a:pt x="131" y="67"/>
                        <a:pt x="156" y="79"/>
                      </a:cubicBezTo>
                      <a:cubicBezTo>
                        <a:pt x="188" y="93"/>
                        <a:pt x="215" y="97"/>
                        <a:pt x="236" y="126"/>
                      </a:cubicBezTo>
                      <a:cubicBezTo>
                        <a:pt x="263" y="117"/>
                        <a:pt x="230" y="101"/>
                        <a:pt x="216" y="97"/>
                      </a:cubicBezTo>
                      <a:cubicBezTo>
                        <a:pt x="194" y="77"/>
                        <a:pt x="163" y="67"/>
                        <a:pt x="136" y="53"/>
                      </a:cubicBezTo>
                      <a:cubicBezTo>
                        <a:pt x="117" y="44"/>
                        <a:pt x="93" y="24"/>
                        <a:pt x="72" y="17"/>
                      </a:cubicBezTo>
                      <a:cubicBezTo>
                        <a:pt x="36" y="7"/>
                        <a:pt x="93" y="23"/>
                        <a:pt x="40" y="10"/>
                      </a:cubicBezTo>
                      <a:cubicBezTo>
                        <a:pt x="32" y="8"/>
                        <a:pt x="0" y="0"/>
                        <a:pt x="0" y="0"/>
                      </a:cubicBezTo>
                      <a:cubicBezTo>
                        <a:pt x="3" y="124"/>
                        <a:pt x="4" y="593"/>
                        <a:pt x="3" y="732"/>
                      </a:cubicBezTo>
                      <a:close/>
                    </a:path>
                  </a:pathLst>
                </a:custGeom>
                <a:solidFill>
                  <a:srgbClr val="969696"/>
                </a:solidFill>
                <a:ln w="6350" cap="rnd" cmpd="sng">
                  <a:noFill/>
                  <a:prstDash val="solid"/>
                  <a:round/>
                  <a:headEnd type="none" w="med" len="med"/>
                  <a:tailEnd type="none" w="med" len="med"/>
                </a:ln>
                <a:effectLst/>
              </p:spPr>
              <p:txBody>
                <a:bodyPr/>
                <a:lstStyle/>
                <a:p>
                  <a:endParaRPr lang="fr-FR"/>
                </a:p>
              </p:txBody>
            </p:sp>
            <p:sp>
              <p:nvSpPr>
                <p:cNvPr id="196667" name="Rectangle 59"/>
                <p:cNvSpPr>
                  <a:spLocks noChangeArrowheads="1"/>
                </p:cNvSpPr>
                <p:nvPr/>
              </p:nvSpPr>
              <p:spPr bwMode="auto">
                <a:xfrm flipH="1">
                  <a:off x="4956" y="1844"/>
                  <a:ext cx="24" cy="592"/>
                </a:xfrm>
                <a:prstGeom prst="rect">
                  <a:avLst/>
                </a:prstGeom>
                <a:solidFill>
                  <a:srgbClr val="969696"/>
                </a:solidFill>
                <a:ln w="6350" cap="rnd">
                  <a:noFill/>
                  <a:miter lim="800000"/>
                  <a:headEnd/>
                  <a:tailEnd/>
                </a:ln>
                <a:effectLst/>
              </p:spPr>
              <p:txBody>
                <a:bodyPr/>
                <a:lstStyle/>
                <a:p>
                  <a:endParaRPr lang="fr-FR"/>
                </a:p>
              </p:txBody>
            </p:sp>
            <p:sp>
              <p:nvSpPr>
                <p:cNvPr id="196668" name="Rectangle 60"/>
                <p:cNvSpPr>
                  <a:spLocks noChangeArrowheads="1"/>
                </p:cNvSpPr>
                <p:nvPr/>
              </p:nvSpPr>
              <p:spPr bwMode="auto">
                <a:xfrm rot="16200000" flipH="1">
                  <a:off x="4864" y="2322"/>
                  <a:ext cx="24" cy="206"/>
                </a:xfrm>
                <a:prstGeom prst="rect">
                  <a:avLst/>
                </a:prstGeom>
                <a:solidFill>
                  <a:srgbClr val="969696"/>
                </a:solidFill>
                <a:ln w="6350" cap="rnd">
                  <a:noFill/>
                  <a:miter lim="800000"/>
                  <a:headEnd/>
                  <a:tailEnd/>
                </a:ln>
                <a:effectLst/>
              </p:spPr>
              <p:txBody>
                <a:bodyPr/>
                <a:lstStyle/>
                <a:p>
                  <a:endParaRPr lang="fr-FR"/>
                </a:p>
              </p:txBody>
            </p:sp>
            <p:sp>
              <p:nvSpPr>
                <p:cNvPr id="196669" name="Freeform 61"/>
                <p:cNvSpPr>
                  <a:spLocks/>
                </p:cNvSpPr>
                <p:nvPr/>
              </p:nvSpPr>
              <p:spPr bwMode="auto">
                <a:xfrm flipH="1">
                  <a:off x="4456" y="2283"/>
                  <a:ext cx="163" cy="66"/>
                </a:xfrm>
                <a:custGeom>
                  <a:avLst/>
                  <a:gdLst/>
                  <a:ahLst/>
                  <a:cxnLst>
                    <a:cxn ang="0">
                      <a:pos x="67" y="11"/>
                    </a:cxn>
                    <a:cxn ang="0">
                      <a:pos x="141" y="19"/>
                    </a:cxn>
                    <a:cxn ang="0">
                      <a:pos x="173" y="27"/>
                    </a:cxn>
                    <a:cxn ang="0">
                      <a:pos x="185" y="31"/>
                    </a:cxn>
                    <a:cxn ang="0">
                      <a:pos x="165" y="27"/>
                    </a:cxn>
                    <a:cxn ang="0">
                      <a:pos x="139" y="29"/>
                    </a:cxn>
                    <a:cxn ang="0">
                      <a:pos x="141" y="39"/>
                    </a:cxn>
                    <a:cxn ang="0">
                      <a:pos x="135" y="43"/>
                    </a:cxn>
                    <a:cxn ang="0">
                      <a:pos x="105" y="45"/>
                    </a:cxn>
                    <a:cxn ang="0">
                      <a:pos x="4" y="82"/>
                    </a:cxn>
                    <a:cxn ang="0">
                      <a:pos x="45" y="21"/>
                    </a:cxn>
                    <a:cxn ang="0">
                      <a:pos x="33" y="17"/>
                    </a:cxn>
                    <a:cxn ang="0">
                      <a:pos x="61" y="9"/>
                    </a:cxn>
                    <a:cxn ang="0">
                      <a:pos x="67" y="11"/>
                    </a:cxn>
                  </a:cxnLst>
                  <a:rect l="0" t="0" r="r" b="b"/>
                  <a:pathLst>
                    <a:path w="202" h="82">
                      <a:moveTo>
                        <a:pt x="67" y="11"/>
                      </a:moveTo>
                      <a:cubicBezTo>
                        <a:pt x="92" y="16"/>
                        <a:pt x="115" y="18"/>
                        <a:pt x="141" y="19"/>
                      </a:cubicBezTo>
                      <a:cubicBezTo>
                        <a:pt x="152" y="22"/>
                        <a:pt x="162" y="24"/>
                        <a:pt x="173" y="27"/>
                      </a:cubicBezTo>
                      <a:cubicBezTo>
                        <a:pt x="177" y="28"/>
                        <a:pt x="185" y="31"/>
                        <a:pt x="185" y="31"/>
                      </a:cubicBezTo>
                      <a:cubicBezTo>
                        <a:pt x="202" y="48"/>
                        <a:pt x="170" y="29"/>
                        <a:pt x="165" y="27"/>
                      </a:cubicBezTo>
                      <a:cubicBezTo>
                        <a:pt x="156" y="28"/>
                        <a:pt x="147" y="25"/>
                        <a:pt x="139" y="29"/>
                      </a:cubicBezTo>
                      <a:cubicBezTo>
                        <a:pt x="136" y="31"/>
                        <a:pt x="142" y="36"/>
                        <a:pt x="141" y="39"/>
                      </a:cubicBezTo>
                      <a:cubicBezTo>
                        <a:pt x="140" y="41"/>
                        <a:pt x="137" y="42"/>
                        <a:pt x="135" y="43"/>
                      </a:cubicBezTo>
                      <a:cubicBezTo>
                        <a:pt x="125" y="42"/>
                        <a:pt x="113" y="42"/>
                        <a:pt x="105" y="45"/>
                      </a:cubicBezTo>
                      <a:cubicBezTo>
                        <a:pt x="125" y="77"/>
                        <a:pt x="79" y="49"/>
                        <a:pt x="4" y="82"/>
                      </a:cubicBezTo>
                      <a:cubicBezTo>
                        <a:pt x="0" y="69"/>
                        <a:pt x="57" y="26"/>
                        <a:pt x="45" y="21"/>
                      </a:cubicBezTo>
                      <a:cubicBezTo>
                        <a:pt x="41" y="19"/>
                        <a:pt x="33" y="17"/>
                        <a:pt x="33" y="17"/>
                      </a:cubicBezTo>
                      <a:cubicBezTo>
                        <a:pt x="27" y="0"/>
                        <a:pt x="52" y="8"/>
                        <a:pt x="61" y="9"/>
                      </a:cubicBezTo>
                      <a:cubicBezTo>
                        <a:pt x="65" y="10"/>
                        <a:pt x="82" y="21"/>
                        <a:pt x="67" y="11"/>
                      </a:cubicBezTo>
                      <a:close/>
                    </a:path>
                  </a:pathLst>
                </a:custGeom>
                <a:solidFill>
                  <a:srgbClr val="969696"/>
                </a:solidFill>
                <a:ln w="6350" cap="rnd" cmpd="sng">
                  <a:noFill/>
                  <a:prstDash val="solid"/>
                  <a:round/>
                  <a:headEnd type="none" w="med" len="med"/>
                  <a:tailEnd type="none" w="med" len="med"/>
                </a:ln>
                <a:effectLst/>
              </p:spPr>
              <p:txBody>
                <a:bodyPr/>
                <a:lstStyle/>
                <a:p>
                  <a:endParaRPr lang="fr-FR"/>
                </a:p>
              </p:txBody>
            </p:sp>
          </p:grpSp>
        </p:grpSp>
        <p:grpSp>
          <p:nvGrpSpPr>
            <p:cNvPr id="196670" name="Group 62"/>
            <p:cNvGrpSpPr>
              <a:grpSpLocks/>
            </p:cNvGrpSpPr>
            <p:nvPr/>
          </p:nvGrpSpPr>
          <p:grpSpPr bwMode="auto">
            <a:xfrm>
              <a:off x="790" y="2493"/>
              <a:ext cx="975" cy="923"/>
              <a:chOff x="790" y="2398"/>
              <a:chExt cx="975" cy="923"/>
            </a:xfrm>
          </p:grpSpPr>
          <p:grpSp>
            <p:nvGrpSpPr>
              <p:cNvPr id="196671" name="Group 63"/>
              <p:cNvGrpSpPr>
                <a:grpSpLocks/>
              </p:cNvGrpSpPr>
              <p:nvPr/>
            </p:nvGrpSpPr>
            <p:grpSpPr bwMode="auto">
              <a:xfrm>
                <a:off x="790" y="2606"/>
                <a:ext cx="975" cy="715"/>
                <a:chOff x="3826" y="946"/>
                <a:chExt cx="811" cy="595"/>
              </a:xfrm>
            </p:grpSpPr>
            <p:sp>
              <p:nvSpPr>
                <p:cNvPr id="196672" name="Freeform 64"/>
                <p:cNvSpPr>
                  <a:spLocks/>
                </p:cNvSpPr>
                <p:nvPr/>
              </p:nvSpPr>
              <p:spPr bwMode="auto">
                <a:xfrm>
                  <a:off x="3892" y="1085"/>
                  <a:ext cx="545" cy="456"/>
                </a:xfrm>
                <a:custGeom>
                  <a:avLst/>
                  <a:gdLst/>
                  <a:ahLst/>
                  <a:cxnLst>
                    <a:cxn ang="0">
                      <a:pos x="542" y="78"/>
                    </a:cxn>
                    <a:cxn ang="0">
                      <a:pos x="1" y="0"/>
                    </a:cxn>
                    <a:cxn ang="0">
                      <a:pos x="0" y="355"/>
                    </a:cxn>
                    <a:cxn ang="0">
                      <a:pos x="542" y="453"/>
                    </a:cxn>
                    <a:cxn ang="0">
                      <a:pos x="542" y="78"/>
                    </a:cxn>
                  </a:cxnLst>
                  <a:rect l="0" t="0" r="r" b="b"/>
                  <a:pathLst>
                    <a:path w="542" h="453">
                      <a:moveTo>
                        <a:pt x="542" y="78"/>
                      </a:moveTo>
                      <a:lnTo>
                        <a:pt x="1" y="0"/>
                      </a:lnTo>
                      <a:lnTo>
                        <a:pt x="0" y="355"/>
                      </a:lnTo>
                      <a:lnTo>
                        <a:pt x="542" y="453"/>
                      </a:lnTo>
                      <a:lnTo>
                        <a:pt x="542" y="78"/>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673" name="Freeform 65"/>
                <p:cNvSpPr>
                  <a:spLocks/>
                </p:cNvSpPr>
                <p:nvPr/>
              </p:nvSpPr>
              <p:spPr bwMode="auto">
                <a:xfrm>
                  <a:off x="4437" y="1005"/>
                  <a:ext cx="200" cy="536"/>
                </a:xfrm>
                <a:custGeom>
                  <a:avLst/>
                  <a:gdLst/>
                  <a:ahLst/>
                  <a:cxnLst>
                    <a:cxn ang="0">
                      <a:pos x="409" y="0"/>
                    </a:cxn>
                    <a:cxn ang="0">
                      <a:pos x="0" y="329"/>
                    </a:cxn>
                    <a:cxn ang="0">
                      <a:pos x="0" y="1100"/>
                    </a:cxn>
                    <a:cxn ang="0">
                      <a:pos x="409" y="693"/>
                    </a:cxn>
                    <a:cxn ang="0">
                      <a:pos x="409" y="0"/>
                    </a:cxn>
                  </a:cxnLst>
                  <a:rect l="0" t="0" r="r" b="b"/>
                  <a:pathLst>
                    <a:path w="410" h="1101">
                      <a:moveTo>
                        <a:pt x="409" y="0"/>
                      </a:moveTo>
                      <a:lnTo>
                        <a:pt x="0" y="329"/>
                      </a:lnTo>
                      <a:lnTo>
                        <a:pt x="0" y="1100"/>
                      </a:lnTo>
                      <a:lnTo>
                        <a:pt x="409" y="693"/>
                      </a:lnTo>
                      <a:lnTo>
                        <a:pt x="409" y="0"/>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674" name="Freeform 66"/>
                <p:cNvSpPr>
                  <a:spLocks/>
                </p:cNvSpPr>
                <p:nvPr/>
              </p:nvSpPr>
              <p:spPr bwMode="auto">
                <a:xfrm>
                  <a:off x="3892" y="946"/>
                  <a:ext cx="743" cy="220"/>
                </a:xfrm>
                <a:custGeom>
                  <a:avLst/>
                  <a:gdLst/>
                  <a:ahLst/>
                  <a:cxnLst>
                    <a:cxn ang="0">
                      <a:pos x="1522" y="125"/>
                    </a:cxn>
                    <a:cxn ang="0">
                      <a:pos x="1113" y="451"/>
                    </a:cxn>
                    <a:cxn ang="0">
                      <a:pos x="0" y="284"/>
                    </a:cxn>
                    <a:cxn ang="0">
                      <a:pos x="509" y="0"/>
                    </a:cxn>
                    <a:cxn ang="0">
                      <a:pos x="1522" y="122"/>
                    </a:cxn>
                  </a:cxnLst>
                  <a:rect l="0" t="0" r="r" b="b"/>
                  <a:pathLst>
                    <a:path w="1522" h="451">
                      <a:moveTo>
                        <a:pt x="1522" y="125"/>
                      </a:moveTo>
                      <a:lnTo>
                        <a:pt x="1113" y="451"/>
                      </a:lnTo>
                      <a:lnTo>
                        <a:pt x="0" y="284"/>
                      </a:lnTo>
                      <a:lnTo>
                        <a:pt x="509" y="0"/>
                      </a:lnTo>
                      <a:lnTo>
                        <a:pt x="1522" y="122"/>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6675" name="Freeform 67"/>
                <p:cNvSpPr>
                  <a:spLocks/>
                </p:cNvSpPr>
                <p:nvPr/>
              </p:nvSpPr>
              <p:spPr bwMode="auto">
                <a:xfrm>
                  <a:off x="4055" y="972"/>
                  <a:ext cx="339" cy="86"/>
                </a:xfrm>
                <a:custGeom>
                  <a:avLst/>
                  <a:gdLst/>
                  <a:ahLst/>
                  <a:cxnLst>
                    <a:cxn ang="0">
                      <a:pos x="210" y="0"/>
                    </a:cxn>
                    <a:cxn ang="0">
                      <a:pos x="0" y="121"/>
                    </a:cxn>
                    <a:cxn ang="0">
                      <a:pos x="497" y="177"/>
                    </a:cxn>
                    <a:cxn ang="0">
                      <a:pos x="693" y="54"/>
                    </a:cxn>
                    <a:cxn ang="0">
                      <a:pos x="210" y="0"/>
                    </a:cxn>
                  </a:cxnLst>
                  <a:rect l="0" t="0" r="r" b="b"/>
                  <a:pathLst>
                    <a:path w="694" h="178">
                      <a:moveTo>
                        <a:pt x="210" y="0"/>
                      </a:moveTo>
                      <a:lnTo>
                        <a:pt x="0" y="121"/>
                      </a:lnTo>
                      <a:lnTo>
                        <a:pt x="497" y="177"/>
                      </a:lnTo>
                      <a:lnTo>
                        <a:pt x="693" y="54"/>
                      </a:lnTo>
                      <a:lnTo>
                        <a:pt x="210" y="0"/>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6676" name="Freeform 68"/>
                <p:cNvSpPr>
                  <a:spLocks/>
                </p:cNvSpPr>
                <p:nvPr/>
              </p:nvSpPr>
              <p:spPr bwMode="auto">
                <a:xfrm>
                  <a:off x="4276" y="997"/>
                  <a:ext cx="197" cy="117"/>
                </a:xfrm>
                <a:custGeom>
                  <a:avLst/>
                  <a:gdLst/>
                  <a:ahLst/>
                  <a:cxnLst>
                    <a:cxn ang="0">
                      <a:pos x="0" y="240"/>
                    </a:cxn>
                    <a:cxn ang="0">
                      <a:pos x="350" y="0"/>
                    </a:cxn>
                    <a:cxn ang="0">
                      <a:pos x="403" y="0"/>
                    </a:cxn>
                    <a:cxn ang="0">
                      <a:pos x="0" y="240"/>
                    </a:cxn>
                  </a:cxnLst>
                  <a:rect l="0" t="0" r="r" b="b"/>
                  <a:pathLst>
                    <a:path w="404" h="241">
                      <a:moveTo>
                        <a:pt x="0" y="240"/>
                      </a:moveTo>
                      <a:lnTo>
                        <a:pt x="350" y="0"/>
                      </a:lnTo>
                      <a:lnTo>
                        <a:pt x="403" y="0"/>
                      </a:lnTo>
                      <a:lnTo>
                        <a:pt x="0" y="240"/>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6677" name="Freeform 69"/>
                <p:cNvSpPr>
                  <a:spLocks/>
                </p:cNvSpPr>
                <p:nvPr/>
              </p:nvSpPr>
              <p:spPr bwMode="auto">
                <a:xfrm>
                  <a:off x="4185" y="1082"/>
                  <a:ext cx="83" cy="25"/>
                </a:xfrm>
                <a:custGeom>
                  <a:avLst/>
                  <a:gdLst/>
                  <a:ahLst/>
                  <a:cxnLst>
                    <a:cxn ang="0">
                      <a:pos x="167" y="8"/>
                    </a:cxn>
                    <a:cxn ang="0">
                      <a:pos x="88" y="0"/>
                    </a:cxn>
                    <a:cxn ang="0">
                      <a:pos x="0" y="47"/>
                    </a:cxn>
                    <a:cxn ang="0">
                      <a:pos x="83" y="51"/>
                    </a:cxn>
                    <a:cxn ang="0">
                      <a:pos x="167" y="8"/>
                    </a:cxn>
                  </a:cxnLst>
                  <a:rect l="0" t="0" r="r" b="b"/>
                  <a:pathLst>
                    <a:path w="168" h="52">
                      <a:moveTo>
                        <a:pt x="167" y="8"/>
                      </a:moveTo>
                      <a:lnTo>
                        <a:pt x="88" y="0"/>
                      </a:lnTo>
                      <a:lnTo>
                        <a:pt x="0" y="47"/>
                      </a:lnTo>
                      <a:lnTo>
                        <a:pt x="83" y="51"/>
                      </a:lnTo>
                      <a:lnTo>
                        <a:pt x="167" y="8"/>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6678" name="Line 70"/>
                <p:cNvSpPr>
                  <a:spLocks noChangeShapeType="1"/>
                </p:cNvSpPr>
                <p:nvPr/>
              </p:nvSpPr>
              <p:spPr bwMode="auto">
                <a:xfrm flipH="1">
                  <a:off x="4443" y="1064"/>
                  <a:ext cx="183" cy="142"/>
                </a:xfrm>
                <a:prstGeom prst="line">
                  <a:avLst/>
                </a:prstGeom>
                <a:noFill/>
                <a:ln w="6350">
                  <a:solidFill>
                    <a:srgbClr val="777777"/>
                  </a:solidFill>
                  <a:round/>
                  <a:headEnd/>
                  <a:tailEnd/>
                </a:ln>
                <a:effectLst/>
              </p:spPr>
              <p:txBody>
                <a:bodyPr wrap="none" anchor="ctr"/>
                <a:lstStyle/>
                <a:p>
                  <a:endParaRPr lang="fr-FR"/>
                </a:p>
              </p:txBody>
            </p:sp>
            <p:sp>
              <p:nvSpPr>
                <p:cNvPr id="196679" name="Line 71"/>
                <p:cNvSpPr>
                  <a:spLocks noChangeShapeType="1"/>
                </p:cNvSpPr>
                <p:nvPr/>
              </p:nvSpPr>
              <p:spPr bwMode="auto">
                <a:xfrm flipH="1" flipV="1">
                  <a:off x="3899" y="1121"/>
                  <a:ext cx="533" cy="87"/>
                </a:xfrm>
                <a:prstGeom prst="line">
                  <a:avLst/>
                </a:prstGeom>
                <a:noFill/>
                <a:ln w="6350">
                  <a:solidFill>
                    <a:srgbClr val="777777"/>
                  </a:solidFill>
                  <a:round/>
                  <a:headEnd/>
                  <a:tailEnd/>
                </a:ln>
                <a:effectLst/>
              </p:spPr>
              <p:txBody>
                <a:bodyPr wrap="none" anchor="ctr"/>
                <a:lstStyle/>
                <a:p>
                  <a:endParaRPr lang="fr-FR"/>
                </a:p>
              </p:txBody>
            </p:sp>
            <p:sp>
              <p:nvSpPr>
                <p:cNvPr id="196680" name="Line 72"/>
                <p:cNvSpPr>
                  <a:spLocks noChangeShapeType="1"/>
                </p:cNvSpPr>
                <p:nvPr/>
              </p:nvSpPr>
              <p:spPr bwMode="auto">
                <a:xfrm flipV="1">
                  <a:off x="4459" y="1333"/>
                  <a:ext cx="156" cy="155"/>
                </a:xfrm>
                <a:prstGeom prst="line">
                  <a:avLst/>
                </a:prstGeom>
                <a:noFill/>
                <a:ln w="6350">
                  <a:solidFill>
                    <a:srgbClr val="777777"/>
                  </a:solidFill>
                  <a:round/>
                  <a:headEnd/>
                  <a:tailEnd/>
                </a:ln>
                <a:effectLst/>
              </p:spPr>
              <p:txBody>
                <a:bodyPr wrap="none" anchor="ctr"/>
                <a:lstStyle/>
                <a:p>
                  <a:endParaRPr lang="fr-FR"/>
                </a:p>
              </p:txBody>
            </p:sp>
            <p:sp>
              <p:nvSpPr>
                <p:cNvPr id="196681" name="Line 73"/>
                <p:cNvSpPr>
                  <a:spLocks noChangeShapeType="1"/>
                </p:cNvSpPr>
                <p:nvPr/>
              </p:nvSpPr>
              <p:spPr bwMode="auto">
                <a:xfrm flipV="1">
                  <a:off x="4459" y="1311"/>
                  <a:ext cx="156" cy="153"/>
                </a:xfrm>
                <a:prstGeom prst="line">
                  <a:avLst/>
                </a:prstGeom>
                <a:noFill/>
                <a:ln w="6350">
                  <a:solidFill>
                    <a:srgbClr val="777777"/>
                  </a:solidFill>
                  <a:round/>
                  <a:headEnd/>
                  <a:tailEnd/>
                </a:ln>
                <a:effectLst/>
              </p:spPr>
              <p:txBody>
                <a:bodyPr wrap="none" anchor="ctr"/>
                <a:lstStyle/>
                <a:p>
                  <a:endParaRPr lang="fr-FR"/>
                </a:p>
              </p:txBody>
            </p:sp>
            <p:sp>
              <p:nvSpPr>
                <p:cNvPr id="196682" name="Line 74"/>
                <p:cNvSpPr>
                  <a:spLocks noChangeShapeType="1"/>
                </p:cNvSpPr>
                <p:nvPr/>
              </p:nvSpPr>
              <p:spPr bwMode="auto">
                <a:xfrm flipV="1">
                  <a:off x="4459" y="1284"/>
                  <a:ext cx="156" cy="154"/>
                </a:xfrm>
                <a:prstGeom prst="line">
                  <a:avLst/>
                </a:prstGeom>
                <a:noFill/>
                <a:ln w="6350">
                  <a:solidFill>
                    <a:srgbClr val="777777"/>
                  </a:solidFill>
                  <a:round/>
                  <a:headEnd/>
                  <a:tailEnd/>
                </a:ln>
                <a:effectLst/>
              </p:spPr>
              <p:txBody>
                <a:bodyPr wrap="none" anchor="ctr"/>
                <a:lstStyle/>
                <a:p>
                  <a:endParaRPr lang="fr-FR"/>
                </a:p>
              </p:txBody>
            </p:sp>
            <p:sp>
              <p:nvSpPr>
                <p:cNvPr id="196683" name="Line 75"/>
                <p:cNvSpPr>
                  <a:spLocks noChangeShapeType="1"/>
                </p:cNvSpPr>
                <p:nvPr/>
              </p:nvSpPr>
              <p:spPr bwMode="auto">
                <a:xfrm flipV="1">
                  <a:off x="4459" y="1256"/>
                  <a:ext cx="156" cy="154"/>
                </a:xfrm>
                <a:prstGeom prst="line">
                  <a:avLst/>
                </a:prstGeom>
                <a:noFill/>
                <a:ln w="6350">
                  <a:solidFill>
                    <a:srgbClr val="777777"/>
                  </a:solidFill>
                  <a:round/>
                  <a:headEnd/>
                  <a:tailEnd/>
                </a:ln>
                <a:effectLst/>
              </p:spPr>
              <p:txBody>
                <a:bodyPr wrap="none" anchor="ctr"/>
                <a:lstStyle/>
                <a:p>
                  <a:endParaRPr lang="fr-FR"/>
                </a:p>
              </p:txBody>
            </p:sp>
            <p:sp>
              <p:nvSpPr>
                <p:cNvPr id="196684" name="Freeform 76"/>
                <p:cNvSpPr>
                  <a:spLocks/>
                </p:cNvSpPr>
                <p:nvPr/>
              </p:nvSpPr>
              <p:spPr bwMode="auto">
                <a:xfrm>
                  <a:off x="3933" y="1324"/>
                  <a:ext cx="254" cy="112"/>
                </a:xfrm>
                <a:custGeom>
                  <a:avLst/>
                  <a:gdLst/>
                  <a:ahLst/>
                  <a:cxnLst>
                    <a:cxn ang="0">
                      <a:pos x="520" y="88"/>
                    </a:cxn>
                    <a:cxn ang="0">
                      <a:pos x="0" y="0"/>
                    </a:cxn>
                    <a:cxn ang="0">
                      <a:pos x="0" y="144"/>
                    </a:cxn>
                    <a:cxn ang="0">
                      <a:pos x="520" y="230"/>
                    </a:cxn>
                    <a:cxn ang="0">
                      <a:pos x="520" y="88"/>
                    </a:cxn>
                  </a:cxnLst>
                  <a:rect l="0" t="0" r="r" b="b"/>
                  <a:pathLst>
                    <a:path w="521" h="231">
                      <a:moveTo>
                        <a:pt x="520" y="88"/>
                      </a:moveTo>
                      <a:lnTo>
                        <a:pt x="0" y="0"/>
                      </a:lnTo>
                      <a:lnTo>
                        <a:pt x="0" y="144"/>
                      </a:lnTo>
                      <a:lnTo>
                        <a:pt x="520" y="230"/>
                      </a:lnTo>
                      <a:lnTo>
                        <a:pt x="520" y="88"/>
                      </a:lnTo>
                    </a:path>
                  </a:pathLst>
                </a:custGeom>
                <a:solidFill>
                  <a:srgbClr val="919191"/>
                </a:solidFill>
                <a:ln w="3175" cap="rnd" cmpd="sng">
                  <a:solidFill>
                    <a:srgbClr val="000000"/>
                  </a:solidFill>
                  <a:prstDash val="solid"/>
                  <a:round/>
                  <a:headEnd type="none" w="med" len="med"/>
                  <a:tailEnd type="none" w="med" len="med"/>
                </a:ln>
                <a:effectLst/>
              </p:spPr>
              <p:txBody>
                <a:bodyPr/>
                <a:lstStyle/>
                <a:p>
                  <a:endParaRPr lang="fr-FR"/>
                </a:p>
              </p:txBody>
            </p:sp>
            <p:grpSp>
              <p:nvGrpSpPr>
                <p:cNvPr id="196685" name="Group 77"/>
                <p:cNvGrpSpPr>
                  <a:grpSpLocks/>
                </p:cNvGrpSpPr>
                <p:nvPr/>
              </p:nvGrpSpPr>
              <p:grpSpPr bwMode="auto">
                <a:xfrm>
                  <a:off x="3826" y="1336"/>
                  <a:ext cx="357" cy="180"/>
                  <a:chOff x="752" y="3672"/>
                  <a:chExt cx="732" cy="372"/>
                </a:xfrm>
              </p:grpSpPr>
              <p:sp>
                <p:nvSpPr>
                  <p:cNvPr id="196686" name="Freeform 78"/>
                  <p:cNvSpPr>
                    <a:spLocks/>
                  </p:cNvSpPr>
                  <p:nvPr/>
                </p:nvSpPr>
                <p:spPr bwMode="auto">
                  <a:xfrm>
                    <a:off x="752" y="3800"/>
                    <a:ext cx="548" cy="244"/>
                  </a:xfrm>
                  <a:custGeom>
                    <a:avLst/>
                    <a:gdLst/>
                    <a:ahLst/>
                    <a:cxnLst>
                      <a:cxn ang="0">
                        <a:pos x="548" y="102"/>
                      </a:cxn>
                      <a:cxn ang="0">
                        <a:pos x="0" y="0"/>
                      </a:cxn>
                      <a:cxn ang="0">
                        <a:pos x="2" y="129"/>
                      </a:cxn>
                      <a:cxn ang="0">
                        <a:pos x="548" y="244"/>
                      </a:cxn>
                      <a:cxn ang="0">
                        <a:pos x="548" y="102"/>
                      </a:cxn>
                    </a:cxnLst>
                    <a:rect l="0" t="0" r="r" b="b"/>
                    <a:pathLst>
                      <a:path w="548" h="244">
                        <a:moveTo>
                          <a:pt x="548" y="102"/>
                        </a:moveTo>
                        <a:lnTo>
                          <a:pt x="0" y="0"/>
                        </a:lnTo>
                        <a:lnTo>
                          <a:pt x="2" y="129"/>
                        </a:lnTo>
                        <a:lnTo>
                          <a:pt x="548" y="244"/>
                        </a:lnTo>
                        <a:lnTo>
                          <a:pt x="548" y="102"/>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687" name="Freeform 79"/>
                  <p:cNvSpPr>
                    <a:spLocks/>
                  </p:cNvSpPr>
                  <p:nvPr/>
                </p:nvSpPr>
                <p:spPr bwMode="auto">
                  <a:xfrm>
                    <a:off x="1300" y="3757"/>
                    <a:ext cx="182" cy="287"/>
                  </a:xfrm>
                  <a:custGeom>
                    <a:avLst/>
                    <a:gdLst/>
                    <a:ahLst/>
                    <a:cxnLst>
                      <a:cxn ang="0">
                        <a:pos x="182" y="0"/>
                      </a:cxn>
                      <a:cxn ang="0">
                        <a:pos x="0" y="146"/>
                      </a:cxn>
                      <a:cxn ang="0">
                        <a:pos x="0" y="287"/>
                      </a:cxn>
                      <a:cxn ang="0">
                        <a:pos x="182" y="125"/>
                      </a:cxn>
                      <a:cxn ang="0">
                        <a:pos x="182" y="0"/>
                      </a:cxn>
                    </a:cxnLst>
                    <a:rect l="0" t="0" r="r" b="b"/>
                    <a:pathLst>
                      <a:path w="182" h="287">
                        <a:moveTo>
                          <a:pt x="182" y="0"/>
                        </a:moveTo>
                        <a:lnTo>
                          <a:pt x="0" y="146"/>
                        </a:lnTo>
                        <a:lnTo>
                          <a:pt x="0" y="287"/>
                        </a:lnTo>
                        <a:lnTo>
                          <a:pt x="182" y="125"/>
                        </a:lnTo>
                        <a:lnTo>
                          <a:pt x="182" y="0"/>
                        </a:lnTo>
                      </a:path>
                    </a:pathLst>
                  </a:custGeom>
                  <a:gradFill rotWithShape="0">
                    <a:gsLst>
                      <a:gs pos="0">
                        <a:srgbClr val="CECECE"/>
                      </a:gs>
                      <a:gs pos="100000">
                        <a:srgbClr val="CECECE">
                          <a:gamma/>
                          <a:shade val="66275"/>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688" name="Freeform 80"/>
                  <p:cNvSpPr>
                    <a:spLocks/>
                  </p:cNvSpPr>
                  <p:nvPr/>
                </p:nvSpPr>
                <p:spPr bwMode="auto">
                  <a:xfrm>
                    <a:off x="756" y="3672"/>
                    <a:ext cx="728" cy="230"/>
                  </a:xfrm>
                  <a:custGeom>
                    <a:avLst/>
                    <a:gdLst/>
                    <a:ahLst/>
                    <a:cxnLst>
                      <a:cxn ang="0">
                        <a:pos x="0" y="128"/>
                      </a:cxn>
                      <a:cxn ang="0">
                        <a:pos x="257" y="0"/>
                      </a:cxn>
                      <a:cxn ang="0">
                        <a:pos x="727" y="82"/>
                      </a:cxn>
                      <a:cxn ang="0">
                        <a:pos x="544" y="229"/>
                      </a:cxn>
                      <a:cxn ang="0">
                        <a:pos x="0" y="128"/>
                      </a:cxn>
                    </a:cxnLst>
                    <a:rect l="0" t="0" r="r" b="b"/>
                    <a:pathLst>
                      <a:path w="728" h="230">
                        <a:moveTo>
                          <a:pt x="0" y="128"/>
                        </a:moveTo>
                        <a:lnTo>
                          <a:pt x="257" y="0"/>
                        </a:lnTo>
                        <a:lnTo>
                          <a:pt x="727" y="82"/>
                        </a:lnTo>
                        <a:lnTo>
                          <a:pt x="544" y="229"/>
                        </a:lnTo>
                        <a:lnTo>
                          <a:pt x="0" y="128"/>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6689" name="Freeform 81"/>
                  <p:cNvSpPr>
                    <a:spLocks/>
                  </p:cNvSpPr>
                  <p:nvPr/>
                </p:nvSpPr>
                <p:spPr bwMode="auto">
                  <a:xfrm>
                    <a:off x="752" y="3821"/>
                    <a:ext cx="725" cy="150"/>
                  </a:xfrm>
                  <a:custGeom>
                    <a:avLst/>
                    <a:gdLst/>
                    <a:ahLst/>
                    <a:cxnLst>
                      <a:cxn ang="0">
                        <a:pos x="725" y="0"/>
                      </a:cxn>
                      <a:cxn ang="0">
                        <a:pos x="548" y="150"/>
                      </a:cxn>
                      <a:cxn ang="0">
                        <a:pos x="0" y="43"/>
                      </a:cxn>
                    </a:cxnLst>
                    <a:rect l="0" t="0" r="r" b="b"/>
                    <a:pathLst>
                      <a:path w="725" h="150">
                        <a:moveTo>
                          <a:pt x="725" y="0"/>
                        </a:moveTo>
                        <a:lnTo>
                          <a:pt x="548" y="150"/>
                        </a:lnTo>
                        <a:lnTo>
                          <a:pt x="0" y="43"/>
                        </a:lnTo>
                      </a:path>
                    </a:pathLst>
                  </a:custGeom>
                  <a:noFill/>
                  <a:ln w="3175" cap="rnd" cmpd="sng">
                    <a:solidFill>
                      <a:srgbClr val="000000"/>
                    </a:solidFill>
                    <a:prstDash val="solid"/>
                    <a:round/>
                    <a:headEnd type="none" w="med" len="med"/>
                    <a:tailEnd type="none" w="med" len="med"/>
                  </a:ln>
                  <a:effectLst/>
                </p:spPr>
                <p:txBody>
                  <a:bodyPr/>
                  <a:lstStyle/>
                  <a:p>
                    <a:endParaRPr lang="fr-FR"/>
                  </a:p>
                </p:txBody>
              </p:sp>
            </p:grpSp>
            <p:sp>
              <p:nvSpPr>
                <p:cNvPr id="196690" name="Freeform 82"/>
                <p:cNvSpPr>
                  <a:spLocks/>
                </p:cNvSpPr>
                <p:nvPr/>
              </p:nvSpPr>
              <p:spPr bwMode="auto">
                <a:xfrm>
                  <a:off x="3933" y="1181"/>
                  <a:ext cx="254" cy="113"/>
                </a:xfrm>
                <a:custGeom>
                  <a:avLst/>
                  <a:gdLst/>
                  <a:ahLst/>
                  <a:cxnLst>
                    <a:cxn ang="0">
                      <a:pos x="520" y="88"/>
                    </a:cxn>
                    <a:cxn ang="0">
                      <a:pos x="0" y="0"/>
                    </a:cxn>
                    <a:cxn ang="0">
                      <a:pos x="0" y="144"/>
                    </a:cxn>
                    <a:cxn ang="0">
                      <a:pos x="520" y="230"/>
                    </a:cxn>
                    <a:cxn ang="0">
                      <a:pos x="520" y="88"/>
                    </a:cxn>
                  </a:cxnLst>
                  <a:rect l="0" t="0" r="r" b="b"/>
                  <a:pathLst>
                    <a:path w="521" h="231">
                      <a:moveTo>
                        <a:pt x="520" y="88"/>
                      </a:moveTo>
                      <a:lnTo>
                        <a:pt x="0" y="0"/>
                      </a:lnTo>
                      <a:lnTo>
                        <a:pt x="0" y="144"/>
                      </a:lnTo>
                      <a:lnTo>
                        <a:pt x="520" y="230"/>
                      </a:lnTo>
                      <a:lnTo>
                        <a:pt x="520" y="88"/>
                      </a:lnTo>
                    </a:path>
                  </a:pathLst>
                </a:custGeom>
                <a:solidFill>
                  <a:srgbClr val="919191"/>
                </a:solidFill>
                <a:ln w="3175" cap="rnd" cmpd="sng">
                  <a:solidFill>
                    <a:srgbClr val="000000"/>
                  </a:solidFill>
                  <a:prstDash val="solid"/>
                  <a:round/>
                  <a:headEnd type="none" w="med" len="med"/>
                  <a:tailEnd type="none" w="med" len="med"/>
                </a:ln>
                <a:effectLst/>
              </p:spPr>
              <p:txBody>
                <a:bodyPr/>
                <a:lstStyle/>
                <a:p>
                  <a:endParaRPr lang="fr-FR"/>
                </a:p>
              </p:txBody>
            </p:sp>
            <p:sp>
              <p:nvSpPr>
                <p:cNvPr id="196691" name="Freeform 83"/>
                <p:cNvSpPr>
                  <a:spLocks/>
                </p:cNvSpPr>
                <p:nvPr/>
              </p:nvSpPr>
              <p:spPr bwMode="auto">
                <a:xfrm>
                  <a:off x="3826" y="1255"/>
                  <a:ext cx="267" cy="120"/>
                </a:xfrm>
                <a:custGeom>
                  <a:avLst/>
                  <a:gdLst/>
                  <a:ahLst/>
                  <a:cxnLst>
                    <a:cxn ang="0">
                      <a:pos x="548" y="102"/>
                    </a:cxn>
                    <a:cxn ang="0">
                      <a:pos x="0" y="0"/>
                    </a:cxn>
                    <a:cxn ang="0">
                      <a:pos x="2" y="129"/>
                    </a:cxn>
                    <a:cxn ang="0">
                      <a:pos x="548" y="244"/>
                    </a:cxn>
                    <a:cxn ang="0">
                      <a:pos x="548" y="102"/>
                    </a:cxn>
                  </a:cxnLst>
                  <a:rect l="0" t="0" r="r" b="b"/>
                  <a:pathLst>
                    <a:path w="548" h="244">
                      <a:moveTo>
                        <a:pt x="548" y="102"/>
                      </a:moveTo>
                      <a:lnTo>
                        <a:pt x="0" y="0"/>
                      </a:lnTo>
                      <a:lnTo>
                        <a:pt x="2" y="129"/>
                      </a:lnTo>
                      <a:lnTo>
                        <a:pt x="548" y="244"/>
                      </a:lnTo>
                      <a:lnTo>
                        <a:pt x="548" y="102"/>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692" name="Freeform 84"/>
                <p:cNvSpPr>
                  <a:spLocks/>
                </p:cNvSpPr>
                <p:nvPr/>
              </p:nvSpPr>
              <p:spPr bwMode="auto">
                <a:xfrm>
                  <a:off x="4093" y="1234"/>
                  <a:ext cx="88" cy="141"/>
                </a:xfrm>
                <a:custGeom>
                  <a:avLst/>
                  <a:gdLst/>
                  <a:ahLst/>
                  <a:cxnLst>
                    <a:cxn ang="0">
                      <a:pos x="182" y="0"/>
                    </a:cxn>
                    <a:cxn ang="0">
                      <a:pos x="0" y="146"/>
                    </a:cxn>
                    <a:cxn ang="0">
                      <a:pos x="0" y="287"/>
                    </a:cxn>
                    <a:cxn ang="0">
                      <a:pos x="182" y="125"/>
                    </a:cxn>
                    <a:cxn ang="0">
                      <a:pos x="182" y="0"/>
                    </a:cxn>
                  </a:cxnLst>
                  <a:rect l="0" t="0" r="r" b="b"/>
                  <a:pathLst>
                    <a:path w="182" h="287">
                      <a:moveTo>
                        <a:pt x="182" y="0"/>
                      </a:moveTo>
                      <a:lnTo>
                        <a:pt x="0" y="146"/>
                      </a:lnTo>
                      <a:lnTo>
                        <a:pt x="0" y="287"/>
                      </a:lnTo>
                      <a:lnTo>
                        <a:pt x="182" y="125"/>
                      </a:lnTo>
                      <a:lnTo>
                        <a:pt x="182" y="0"/>
                      </a:lnTo>
                    </a:path>
                  </a:pathLst>
                </a:custGeom>
                <a:gradFill rotWithShape="0">
                  <a:gsLst>
                    <a:gs pos="0">
                      <a:srgbClr val="CECECE"/>
                    </a:gs>
                    <a:gs pos="100000">
                      <a:srgbClr val="CECECE">
                        <a:gamma/>
                        <a:shade val="66275"/>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693" name="Freeform 85"/>
                <p:cNvSpPr>
                  <a:spLocks/>
                </p:cNvSpPr>
                <p:nvPr/>
              </p:nvSpPr>
              <p:spPr bwMode="auto">
                <a:xfrm>
                  <a:off x="3828" y="1193"/>
                  <a:ext cx="355" cy="112"/>
                </a:xfrm>
                <a:custGeom>
                  <a:avLst/>
                  <a:gdLst/>
                  <a:ahLst/>
                  <a:cxnLst>
                    <a:cxn ang="0">
                      <a:pos x="0" y="128"/>
                    </a:cxn>
                    <a:cxn ang="0">
                      <a:pos x="257" y="0"/>
                    </a:cxn>
                    <a:cxn ang="0">
                      <a:pos x="727" y="82"/>
                    </a:cxn>
                    <a:cxn ang="0">
                      <a:pos x="544" y="229"/>
                    </a:cxn>
                    <a:cxn ang="0">
                      <a:pos x="0" y="128"/>
                    </a:cxn>
                  </a:cxnLst>
                  <a:rect l="0" t="0" r="r" b="b"/>
                  <a:pathLst>
                    <a:path w="728" h="230">
                      <a:moveTo>
                        <a:pt x="0" y="128"/>
                      </a:moveTo>
                      <a:lnTo>
                        <a:pt x="257" y="0"/>
                      </a:lnTo>
                      <a:lnTo>
                        <a:pt x="727" y="82"/>
                      </a:lnTo>
                      <a:lnTo>
                        <a:pt x="544" y="229"/>
                      </a:lnTo>
                      <a:lnTo>
                        <a:pt x="0" y="128"/>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6694" name="Freeform 86"/>
                <p:cNvSpPr>
                  <a:spLocks/>
                </p:cNvSpPr>
                <p:nvPr/>
              </p:nvSpPr>
              <p:spPr bwMode="auto">
                <a:xfrm>
                  <a:off x="3826" y="1266"/>
                  <a:ext cx="353" cy="73"/>
                </a:xfrm>
                <a:custGeom>
                  <a:avLst/>
                  <a:gdLst/>
                  <a:ahLst/>
                  <a:cxnLst>
                    <a:cxn ang="0">
                      <a:pos x="725" y="0"/>
                    </a:cxn>
                    <a:cxn ang="0">
                      <a:pos x="548" y="150"/>
                    </a:cxn>
                    <a:cxn ang="0">
                      <a:pos x="0" y="43"/>
                    </a:cxn>
                  </a:cxnLst>
                  <a:rect l="0" t="0" r="r" b="b"/>
                  <a:pathLst>
                    <a:path w="725" h="150">
                      <a:moveTo>
                        <a:pt x="725" y="0"/>
                      </a:moveTo>
                      <a:lnTo>
                        <a:pt x="548" y="150"/>
                      </a:lnTo>
                      <a:lnTo>
                        <a:pt x="0" y="43"/>
                      </a:lnTo>
                    </a:path>
                  </a:pathLst>
                </a:custGeom>
                <a:noFill/>
                <a:ln w="3175" cap="rnd" cmpd="sng">
                  <a:solidFill>
                    <a:srgbClr val="000000"/>
                  </a:solidFill>
                  <a:prstDash val="solid"/>
                  <a:round/>
                  <a:headEnd type="none" w="med" len="med"/>
                  <a:tailEnd type="none" w="med" len="med"/>
                </a:ln>
                <a:effectLst/>
              </p:spPr>
              <p:txBody>
                <a:bodyPr/>
                <a:lstStyle/>
                <a:p>
                  <a:endParaRPr lang="fr-FR"/>
                </a:p>
              </p:txBody>
            </p:sp>
            <p:grpSp>
              <p:nvGrpSpPr>
                <p:cNvPr id="196695" name="Group 87"/>
                <p:cNvGrpSpPr>
                  <a:grpSpLocks/>
                </p:cNvGrpSpPr>
                <p:nvPr/>
              </p:nvGrpSpPr>
              <p:grpSpPr bwMode="auto">
                <a:xfrm>
                  <a:off x="4242" y="1206"/>
                  <a:ext cx="174" cy="108"/>
                  <a:chOff x="4242" y="1206"/>
                  <a:chExt cx="174" cy="108"/>
                </a:xfrm>
              </p:grpSpPr>
              <p:sp>
                <p:nvSpPr>
                  <p:cNvPr id="196696" name="Freeform 88"/>
                  <p:cNvSpPr>
                    <a:spLocks/>
                  </p:cNvSpPr>
                  <p:nvPr/>
                </p:nvSpPr>
                <p:spPr bwMode="auto">
                  <a:xfrm>
                    <a:off x="4244" y="1228"/>
                    <a:ext cx="172" cy="86"/>
                  </a:xfrm>
                  <a:custGeom>
                    <a:avLst/>
                    <a:gdLst/>
                    <a:ahLst/>
                    <a:cxnLst>
                      <a:cxn ang="0">
                        <a:pos x="172" y="0"/>
                      </a:cxn>
                      <a:cxn ang="0">
                        <a:pos x="172" y="45"/>
                      </a:cxn>
                      <a:cxn ang="0">
                        <a:pos x="148" y="86"/>
                      </a:cxn>
                      <a:cxn ang="0">
                        <a:pos x="0" y="65"/>
                      </a:cxn>
                      <a:cxn ang="0">
                        <a:pos x="1" y="49"/>
                      </a:cxn>
                    </a:cxnLst>
                    <a:rect l="0" t="0" r="r" b="b"/>
                    <a:pathLst>
                      <a:path w="172" h="86">
                        <a:moveTo>
                          <a:pt x="172" y="0"/>
                        </a:moveTo>
                        <a:lnTo>
                          <a:pt x="172" y="45"/>
                        </a:lnTo>
                        <a:lnTo>
                          <a:pt x="148" y="86"/>
                        </a:lnTo>
                        <a:lnTo>
                          <a:pt x="0" y="65"/>
                        </a:lnTo>
                        <a:lnTo>
                          <a:pt x="1" y="49"/>
                        </a:lnTo>
                      </a:path>
                    </a:pathLst>
                  </a:custGeom>
                  <a:solidFill>
                    <a:srgbClr val="969696"/>
                  </a:solid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FR"/>
                  </a:p>
                </p:txBody>
              </p:sp>
              <p:sp>
                <p:nvSpPr>
                  <p:cNvPr id="196697" name="Freeform 89"/>
                  <p:cNvSpPr>
                    <a:spLocks/>
                  </p:cNvSpPr>
                  <p:nvPr/>
                </p:nvSpPr>
                <p:spPr bwMode="auto">
                  <a:xfrm>
                    <a:off x="4242" y="1206"/>
                    <a:ext cx="174" cy="100"/>
                  </a:xfrm>
                  <a:custGeom>
                    <a:avLst/>
                    <a:gdLst/>
                    <a:ahLst/>
                    <a:cxnLst>
                      <a:cxn ang="0">
                        <a:pos x="357" y="41"/>
                      </a:cxn>
                      <a:cxn ang="0">
                        <a:pos x="55" y="0"/>
                      </a:cxn>
                      <a:cxn ang="0">
                        <a:pos x="0" y="158"/>
                      </a:cxn>
                      <a:cxn ang="0">
                        <a:pos x="302" y="203"/>
                      </a:cxn>
                      <a:cxn ang="0">
                        <a:pos x="357" y="41"/>
                      </a:cxn>
                    </a:cxnLst>
                    <a:rect l="0" t="0" r="r" b="b"/>
                    <a:pathLst>
                      <a:path w="358" h="204">
                        <a:moveTo>
                          <a:pt x="357" y="41"/>
                        </a:moveTo>
                        <a:lnTo>
                          <a:pt x="55" y="0"/>
                        </a:lnTo>
                        <a:lnTo>
                          <a:pt x="0" y="158"/>
                        </a:lnTo>
                        <a:lnTo>
                          <a:pt x="302" y="203"/>
                        </a:lnTo>
                        <a:lnTo>
                          <a:pt x="357" y="41"/>
                        </a:lnTo>
                      </a:path>
                    </a:pathLst>
                  </a:custGeom>
                  <a:solidFill>
                    <a:srgbClr val="FCFEB9"/>
                  </a:solidFill>
                  <a:ln w="3175" cap="rnd" cmpd="sng">
                    <a:solidFill>
                      <a:schemeClr val="tx1"/>
                    </a:solidFill>
                    <a:prstDash val="solid"/>
                    <a:round/>
                    <a:headEnd type="none" w="med" len="med"/>
                    <a:tailEnd type="none" w="med" len="med"/>
                  </a:ln>
                  <a:effectLst/>
                </p:spPr>
                <p:txBody>
                  <a:bodyPr/>
                  <a:lstStyle/>
                  <a:p>
                    <a:endParaRPr lang="fr-FR"/>
                  </a:p>
                </p:txBody>
              </p:sp>
              <p:sp>
                <p:nvSpPr>
                  <p:cNvPr id="196698" name="Freeform 90"/>
                  <p:cNvSpPr>
                    <a:spLocks/>
                  </p:cNvSpPr>
                  <p:nvPr/>
                </p:nvSpPr>
                <p:spPr bwMode="auto">
                  <a:xfrm>
                    <a:off x="4363" y="1253"/>
                    <a:ext cx="30" cy="19"/>
                  </a:xfrm>
                  <a:custGeom>
                    <a:avLst/>
                    <a:gdLst/>
                    <a:ahLst/>
                    <a:cxnLst>
                      <a:cxn ang="0">
                        <a:pos x="59" y="8"/>
                      </a:cxn>
                      <a:cxn ang="0">
                        <a:pos x="12" y="0"/>
                      </a:cxn>
                      <a:cxn ang="0">
                        <a:pos x="0" y="31"/>
                      </a:cxn>
                      <a:cxn ang="0">
                        <a:pos x="47" y="39"/>
                      </a:cxn>
                      <a:cxn ang="0">
                        <a:pos x="59" y="8"/>
                      </a:cxn>
                    </a:cxnLst>
                    <a:rect l="0" t="0" r="r" b="b"/>
                    <a:pathLst>
                      <a:path w="60" h="40">
                        <a:moveTo>
                          <a:pt x="59" y="8"/>
                        </a:moveTo>
                        <a:lnTo>
                          <a:pt x="12" y="0"/>
                        </a:lnTo>
                        <a:lnTo>
                          <a:pt x="0" y="31"/>
                        </a:lnTo>
                        <a:lnTo>
                          <a:pt x="47" y="39"/>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699" name="Freeform 91"/>
                  <p:cNvSpPr>
                    <a:spLocks/>
                  </p:cNvSpPr>
                  <p:nvPr/>
                </p:nvSpPr>
                <p:spPr bwMode="auto">
                  <a:xfrm>
                    <a:off x="4275" y="1216"/>
                    <a:ext cx="125" cy="32"/>
                  </a:xfrm>
                  <a:custGeom>
                    <a:avLst/>
                    <a:gdLst/>
                    <a:ahLst/>
                    <a:cxnLst>
                      <a:cxn ang="0">
                        <a:pos x="258" y="35"/>
                      </a:cxn>
                      <a:cxn ang="0">
                        <a:pos x="8" y="0"/>
                      </a:cxn>
                      <a:cxn ang="0">
                        <a:pos x="0" y="27"/>
                      </a:cxn>
                      <a:cxn ang="0">
                        <a:pos x="246" y="66"/>
                      </a:cxn>
                      <a:cxn ang="0">
                        <a:pos x="258" y="35"/>
                      </a:cxn>
                    </a:cxnLst>
                    <a:rect l="0" t="0" r="r" b="b"/>
                    <a:pathLst>
                      <a:path w="259" h="67">
                        <a:moveTo>
                          <a:pt x="258" y="35"/>
                        </a:moveTo>
                        <a:lnTo>
                          <a:pt x="8" y="0"/>
                        </a:lnTo>
                        <a:lnTo>
                          <a:pt x="0" y="27"/>
                        </a:lnTo>
                        <a:lnTo>
                          <a:pt x="246" y="66"/>
                        </a:lnTo>
                        <a:lnTo>
                          <a:pt x="258" y="35"/>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00" name="Freeform 92"/>
                  <p:cNvSpPr>
                    <a:spLocks/>
                  </p:cNvSpPr>
                  <p:nvPr/>
                </p:nvSpPr>
                <p:spPr bwMode="auto">
                  <a:xfrm>
                    <a:off x="4355" y="1274"/>
                    <a:ext cx="29" cy="20"/>
                  </a:xfrm>
                  <a:custGeom>
                    <a:avLst/>
                    <a:gdLst/>
                    <a:ahLst/>
                    <a:cxnLst>
                      <a:cxn ang="0">
                        <a:pos x="59" y="8"/>
                      </a:cxn>
                      <a:cxn ang="0">
                        <a:pos x="12" y="0"/>
                      </a:cxn>
                      <a:cxn ang="0">
                        <a:pos x="0" y="31"/>
                      </a:cxn>
                      <a:cxn ang="0">
                        <a:pos x="49" y="39"/>
                      </a:cxn>
                      <a:cxn ang="0">
                        <a:pos x="59" y="8"/>
                      </a:cxn>
                    </a:cxnLst>
                    <a:rect l="0" t="0" r="r" b="b"/>
                    <a:pathLst>
                      <a:path w="60" h="40">
                        <a:moveTo>
                          <a:pt x="59" y="8"/>
                        </a:moveTo>
                        <a:lnTo>
                          <a:pt x="12" y="0"/>
                        </a:lnTo>
                        <a:lnTo>
                          <a:pt x="0" y="31"/>
                        </a:lnTo>
                        <a:lnTo>
                          <a:pt x="49" y="39"/>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01" name="Freeform 93"/>
                  <p:cNvSpPr>
                    <a:spLocks/>
                  </p:cNvSpPr>
                  <p:nvPr/>
                </p:nvSpPr>
                <p:spPr bwMode="auto">
                  <a:xfrm>
                    <a:off x="4329" y="1248"/>
                    <a:ext cx="32" cy="19"/>
                  </a:xfrm>
                  <a:custGeom>
                    <a:avLst/>
                    <a:gdLst/>
                    <a:ahLst/>
                    <a:cxnLst>
                      <a:cxn ang="0">
                        <a:pos x="61" y="8"/>
                      </a:cxn>
                      <a:cxn ang="0">
                        <a:pos x="12" y="0"/>
                      </a:cxn>
                      <a:cxn ang="0">
                        <a:pos x="0" y="30"/>
                      </a:cxn>
                      <a:cxn ang="0">
                        <a:pos x="51" y="38"/>
                      </a:cxn>
                      <a:cxn ang="0">
                        <a:pos x="61" y="8"/>
                      </a:cxn>
                    </a:cxnLst>
                    <a:rect l="0" t="0" r="r" b="b"/>
                    <a:pathLst>
                      <a:path w="62" h="39">
                        <a:moveTo>
                          <a:pt x="61" y="8"/>
                        </a:moveTo>
                        <a:lnTo>
                          <a:pt x="12" y="0"/>
                        </a:lnTo>
                        <a:lnTo>
                          <a:pt x="0" y="30"/>
                        </a:lnTo>
                        <a:lnTo>
                          <a:pt x="51" y="38"/>
                        </a:lnTo>
                        <a:lnTo>
                          <a:pt x="61"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02" name="Freeform 94"/>
                  <p:cNvSpPr>
                    <a:spLocks/>
                  </p:cNvSpPr>
                  <p:nvPr/>
                </p:nvSpPr>
                <p:spPr bwMode="auto">
                  <a:xfrm>
                    <a:off x="4324" y="1269"/>
                    <a:ext cx="29" cy="18"/>
                  </a:xfrm>
                  <a:custGeom>
                    <a:avLst/>
                    <a:gdLst/>
                    <a:ahLst/>
                    <a:cxnLst>
                      <a:cxn ang="0">
                        <a:pos x="59" y="8"/>
                      </a:cxn>
                      <a:cxn ang="0">
                        <a:pos x="10" y="0"/>
                      </a:cxn>
                      <a:cxn ang="0">
                        <a:pos x="0" y="31"/>
                      </a:cxn>
                      <a:cxn ang="0">
                        <a:pos x="49" y="37"/>
                      </a:cxn>
                      <a:cxn ang="0">
                        <a:pos x="59" y="8"/>
                      </a:cxn>
                    </a:cxnLst>
                    <a:rect l="0" t="0" r="r" b="b"/>
                    <a:pathLst>
                      <a:path w="60" h="38">
                        <a:moveTo>
                          <a:pt x="59" y="8"/>
                        </a:moveTo>
                        <a:lnTo>
                          <a:pt x="10" y="0"/>
                        </a:lnTo>
                        <a:lnTo>
                          <a:pt x="0" y="31"/>
                        </a:lnTo>
                        <a:lnTo>
                          <a:pt x="49" y="37"/>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03" name="Freeform 95"/>
                  <p:cNvSpPr>
                    <a:spLocks/>
                  </p:cNvSpPr>
                  <p:nvPr/>
                </p:nvSpPr>
                <p:spPr bwMode="auto">
                  <a:xfrm>
                    <a:off x="4298" y="1244"/>
                    <a:ext cx="30" cy="17"/>
                  </a:xfrm>
                  <a:custGeom>
                    <a:avLst/>
                    <a:gdLst/>
                    <a:ahLst/>
                    <a:cxnLst>
                      <a:cxn ang="0">
                        <a:pos x="61" y="8"/>
                      </a:cxn>
                      <a:cxn ang="0">
                        <a:pos x="12" y="0"/>
                      </a:cxn>
                      <a:cxn ang="0">
                        <a:pos x="0" y="30"/>
                      </a:cxn>
                      <a:cxn ang="0">
                        <a:pos x="49" y="36"/>
                      </a:cxn>
                      <a:cxn ang="0">
                        <a:pos x="61" y="8"/>
                      </a:cxn>
                    </a:cxnLst>
                    <a:rect l="0" t="0" r="r" b="b"/>
                    <a:pathLst>
                      <a:path w="62" h="37">
                        <a:moveTo>
                          <a:pt x="61" y="8"/>
                        </a:moveTo>
                        <a:lnTo>
                          <a:pt x="12" y="0"/>
                        </a:lnTo>
                        <a:lnTo>
                          <a:pt x="0" y="30"/>
                        </a:lnTo>
                        <a:lnTo>
                          <a:pt x="49" y="36"/>
                        </a:lnTo>
                        <a:lnTo>
                          <a:pt x="61"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04" name="Freeform 96"/>
                  <p:cNvSpPr>
                    <a:spLocks/>
                  </p:cNvSpPr>
                  <p:nvPr/>
                </p:nvSpPr>
                <p:spPr bwMode="auto">
                  <a:xfrm>
                    <a:off x="4290" y="1266"/>
                    <a:ext cx="31" cy="18"/>
                  </a:xfrm>
                  <a:custGeom>
                    <a:avLst/>
                    <a:gdLst/>
                    <a:ahLst/>
                    <a:cxnLst>
                      <a:cxn ang="0">
                        <a:pos x="59" y="8"/>
                      </a:cxn>
                      <a:cxn ang="0">
                        <a:pos x="10" y="0"/>
                      </a:cxn>
                      <a:cxn ang="0">
                        <a:pos x="0" y="28"/>
                      </a:cxn>
                      <a:cxn ang="0">
                        <a:pos x="47" y="36"/>
                      </a:cxn>
                      <a:cxn ang="0">
                        <a:pos x="59" y="8"/>
                      </a:cxn>
                    </a:cxnLst>
                    <a:rect l="0" t="0" r="r" b="b"/>
                    <a:pathLst>
                      <a:path w="60" h="37">
                        <a:moveTo>
                          <a:pt x="59" y="8"/>
                        </a:moveTo>
                        <a:lnTo>
                          <a:pt x="10" y="0"/>
                        </a:lnTo>
                        <a:lnTo>
                          <a:pt x="0" y="28"/>
                        </a:lnTo>
                        <a:lnTo>
                          <a:pt x="47" y="36"/>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05" name="Freeform 97"/>
                  <p:cNvSpPr>
                    <a:spLocks/>
                  </p:cNvSpPr>
                  <p:nvPr/>
                </p:nvSpPr>
                <p:spPr bwMode="auto">
                  <a:xfrm>
                    <a:off x="4268" y="1239"/>
                    <a:ext cx="28" cy="17"/>
                  </a:xfrm>
                  <a:custGeom>
                    <a:avLst/>
                    <a:gdLst/>
                    <a:ahLst/>
                    <a:cxnLst>
                      <a:cxn ang="0">
                        <a:pos x="59" y="6"/>
                      </a:cxn>
                      <a:cxn ang="0">
                        <a:pos x="10" y="0"/>
                      </a:cxn>
                      <a:cxn ang="0">
                        <a:pos x="0" y="29"/>
                      </a:cxn>
                      <a:cxn ang="0">
                        <a:pos x="47" y="37"/>
                      </a:cxn>
                      <a:cxn ang="0">
                        <a:pos x="59" y="6"/>
                      </a:cxn>
                    </a:cxnLst>
                    <a:rect l="0" t="0" r="r" b="b"/>
                    <a:pathLst>
                      <a:path w="60" h="38">
                        <a:moveTo>
                          <a:pt x="59" y="6"/>
                        </a:moveTo>
                        <a:lnTo>
                          <a:pt x="10" y="0"/>
                        </a:lnTo>
                        <a:lnTo>
                          <a:pt x="0" y="29"/>
                        </a:lnTo>
                        <a:lnTo>
                          <a:pt x="47" y="37"/>
                        </a:lnTo>
                        <a:lnTo>
                          <a:pt x="59" y="6"/>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06" name="Freeform 98"/>
                  <p:cNvSpPr>
                    <a:spLocks/>
                  </p:cNvSpPr>
                  <p:nvPr/>
                </p:nvSpPr>
                <p:spPr bwMode="auto">
                  <a:xfrm>
                    <a:off x="4259" y="1260"/>
                    <a:ext cx="29" cy="19"/>
                  </a:xfrm>
                  <a:custGeom>
                    <a:avLst/>
                    <a:gdLst/>
                    <a:ahLst/>
                    <a:cxnLst>
                      <a:cxn ang="0">
                        <a:pos x="59" y="8"/>
                      </a:cxn>
                      <a:cxn ang="0">
                        <a:pos x="10" y="0"/>
                      </a:cxn>
                      <a:cxn ang="0">
                        <a:pos x="0" y="28"/>
                      </a:cxn>
                      <a:cxn ang="0">
                        <a:pos x="47" y="36"/>
                      </a:cxn>
                      <a:cxn ang="0">
                        <a:pos x="59" y="8"/>
                      </a:cxn>
                    </a:cxnLst>
                    <a:rect l="0" t="0" r="r" b="b"/>
                    <a:pathLst>
                      <a:path w="60" h="37">
                        <a:moveTo>
                          <a:pt x="59" y="8"/>
                        </a:moveTo>
                        <a:lnTo>
                          <a:pt x="10" y="0"/>
                        </a:lnTo>
                        <a:lnTo>
                          <a:pt x="0" y="28"/>
                        </a:lnTo>
                        <a:lnTo>
                          <a:pt x="47" y="36"/>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grpSp>
          </p:grpSp>
          <p:grpSp>
            <p:nvGrpSpPr>
              <p:cNvPr id="196707" name="Group 99"/>
              <p:cNvGrpSpPr>
                <a:grpSpLocks/>
              </p:cNvGrpSpPr>
              <p:nvPr/>
            </p:nvGrpSpPr>
            <p:grpSpPr bwMode="auto">
              <a:xfrm>
                <a:off x="1096" y="2398"/>
                <a:ext cx="456" cy="330"/>
                <a:chOff x="1080" y="2406"/>
                <a:chExt cx="456" cy="330"/>
              </a:xfrm>
            </p:grpSpPr>
            <p:sp>
              <p:nvSpPr>
                <p:cNvPr id="196708" name="Freeform 100"/>
                <p:cNvSpPr>
                  <a:spLocks/>
                </p:cNvSpPr>
                <p:nvPr/>
              </p:nvSpPr>
              <p:spPr bwMode="auto">
                <a:xfrm>
                  <a:off x="1128" y="2406"/>
                  <a:ext cx="408" cy="297"/>
                </a:xfrm>
                <a:custGeom>
                  <a:avLst/>
                  <a:gdLst/>
                  <a:ahLst/>
                  <a:cxnLst>
                    <a:cxn ang="0">
                      <a:pos x="0" y="270"/>
                    </a:cxn>
                    <a:cxn ang="0">
                      <a:pos x="279" y="297"/>
                    </a:cxn>
                    <a:cxn ang="0">
                      <a:pos x="408" y="21"/>
                    </a:cxn>
                    <a:cxn ang="0">
                      <a:pos x="138" y="0"/>
                    </a:cxn>
                    <a:cxn ang="0">
                      <a:pos x="0" y="270"/>
                    </a:cxn>
                  </a:cxnLst>
                  <a:rect l="0" t="0" r="r" b="b"/>
                  <a:pathLst>
                    <a:path w="408" h="297">
                      <a:moveTo>
                        <a:pt x="0" y="270"/>
                      </a:moveTo>
                      <a:lnTo>
                        <a:pt x="279" y="297"/>
                      </a:lnTo>
                      <a:lnTo>
                        <a:pt x="408" y="21"/>
                      </a:lnTo>
                      <a:lnTo>
                        <a:pt x="138" y="0"/>
                      </a:lnTo>
                      <a:lnTo>
                        <a:pt x="0" y="270"/>
                      </a:lnTo>
                      <a:close/>
                    </a:path>
                  </a:pathLst>
                </a:custGeom>
                <a:solidFill>
                  <a:srgbClr val="FFFFFF"/>
                </a:solidFill>
                <a:ln w="9525">
                  <a:solidFill>
                    <a:schemeClr val="tx1"/>
                  </a:solidFill>
                  <a:round/>
                  <a:headEnd/>
                  <a:tailEnd/>
                </a:ln>
                <a:effectLst/>
              </p:spPr>
              <p:txBody>
                <a:bodyPr/>
                <a:lstStyle/>
                <a:p>
                  <a:endParaRPr lang="fr-FR"/>
                </a:p>
              </p:txBody>
            </p:sp>
            <p:sp>
              <p:nvSpPr>
                <p:cNvPr id="196709" name="Freeform 101"/>
                <p:cNvSpPr>
                  <a:spLocks/>
                </p:cNvSpPr>
                <p:nvPr/>
              </p:nvSpPr>
              <p:spPr bwMode="auto">
                <a:xfrm>
                  <a:off x="1104" y="2427"/>
                  <a:ext cx="363" cy="297"/>
                </a:xfrm>
                <a:custGeom>
                  <a:avLst/>
                  <a:gdLst/>
                  <a:ahLst/>
                  <a:cxnLst>
                    <a:cxn ang="0">
                      <a:pos x="0" y="270"/>
                    </a:cxn>
                    <a:cxn ang="0">
                      <a:pos x="279" y="297"/>
                    </a:cxn>
                    <a:cxn ang="0">
                      <a:pos x="363" y="21"/>
                    </a:cxn>
                    <a:cxn ang="0">
                      <a:pos x="99" y="0"/>
                    </a:cxn>
                    <a:cxn ang="0">
                      <a:pos x="0" y="270"/>
                    </a:cxn>
                  </a:cxnLst>
                  <a:rect l="0" t="0" r="r" b="b"/>
                  <a:pathLst>
                    <a:path w="363" h="297">
                      <a:moveTo>
                        <a:pt x="0" y="270"/>
                      </a:moveTo>
                      <a:lnTo>
                        <a:pt x="279" y="297"/>
                      </a:lnTo>
                      <a:lnTo>
                        <a:pt x="363" y="21"/>
                      </a:lnTo>
                      <a:lnTo>
                        <a:pt x="99" y="0"/>
                      </a:lnTo>
                      <a:lnTo>
                        <a:pt x="0" y="270"/>
                      </a:lnTo>
                      <a:close/>
                    </a:path>
                  </a:pathLst>
                </a:custGeom>
                <a:solidFill>
                  <a:srgbClr val="FFFFFF"/>
                </a:solidFill>
                <a:ln w="9525">
                  <a:solidFill>
                    <a:schemeClr val="tx1"/>
                  </a:solidFill>
                  <a:round/>
                  <a:headEnd/>
                  <a:tailEnd/>
                </a:ln>
                <a:effectLst/>
              </p:spPr>
              <p:txBody>
                <a:bodyPr/>
                <a:lstStyle/>
                <a:p>
                  <a:endParaRPr lang="fr-FR"/>
                </a:p>
              </p:txBody>
            </p:sp>
            <p:sp>
              <p:nvSpPr>
                <p:cNvPr id="196710" name="Freeform 102"/>
                <p:cNvSpPr>
                  <a:spLocks/>
                </p:cNvSpPr>
                <p:nvPr/>
              </p:nvSpPr>
              <p:spPr bwMode="auto">
                <a:xfrm>
                  <a:off x="1080" y="2445"/>
                  <a:ext cx="336" cy="291"/>
                </a:xfrm>
                <a:custGeom>
                  <a:avLst/>
                  <a:gdLst/>
                  <a:ahLst/>
                  <a:cxnLst>
                    <a:cxn ang="0">
                      <a:pos x="0" y="264"/>
                    </a:cxn>
                    <a:cxn ang="0">
                      <a:pos x="279" y="291"/>
                    </a:cxn>
                    <a:cxn ang="0">
                      <a:pos x="336" y="24"/>
                    </a:cxn>
                    <a:cxn ang="0">
                      <a:pos x="60" y="0"/>
                    </a:cxn>
                    <a:cxn ang="0">
                      <a:pos x="0" y="264"/>
                    </a:cxn>
                  </a:cxnLst>
                  <a:rect l="0" t="0" r="r" b="b"/>
                  <a:pathLst>
                    <a:path w="336" h="291">
                      <a:moveTo>
                        <a:pt x="0" y="264"/>
                      </a:moveTo>
                      <a:lnTo>
                        <a:pt x="279" y="291"/>
                      </a:lnTo>
                      <a:lnTo>
                        <a:pt x="336" y="24"/>
                      </a:lnTo>
                      <a:lnTo>
                        <a:pt x="60" y="0"/>
                      </a:lnTo>
                      <a:lnTo>
                        <a:pt x="0" y="264"/>
                      </a:lnTo>
                      <a:close/>
                    </a:path>
                  </a:pathLst>
                </a:custGeom>
                <a:solidFill>
                  <a:srgbClr val="FFFFFF"/>
                </a:solidFill>
                <a:ln w="9525">
                  <a:solidFill>
                    <a:schemeClr val="tx1"/>
                  </a:solidFill>
                  <a:round/>
                  <a:headEnd/>
                  <a:tailEnd/>
                </a:ln>
                <a:effectLst/>
              </p:spPr>
              <p:txBody>
                <a:bodyPr/>
                <a:lstStyle/>
                <a:p>
                  <a:endParaRPr lang="fr-FR"/>
                </a:p>
              </p:txBody>
            </p:sp>
          </p:grpSp>
        </p:grpSp>
      </p:grpSp>
      <p:grpSp>
        <p:nvGrpSpPr>
          <p:cNvPr id="196711" name="Group 103"/>
          <p:cNvGrpSpPr>
            <a:grpSpLocks/>
          </p:cNvGrpSpPr>
          <p:nvPr/>
        </p:nvGrpSpPr>
        <p:grpSpPr bwMode="auto">
          <a:xfrm>
            <a:off x="2805113" y="1574953"/>
            <a:ext cx="3340100" cy="1471612"/>
            <a:chOff x="853" y="825"/>
            <a:chExt cx="2396" cy="1056"/>
          </a:xfrm>
        </p:grpSpPr>
        <p:sp>
          <p:nvSpPr>
            <p:cNvPr id="196712" name="Freeform 104"/>
            <p:cNvSpPr>
              <a:spLocks/>
            </p:cNvSpPr>
            <p:nvPr/>
          </p:nvSpPr>
          <p:spPr bwMode="auto">
            <a:xfrm>
              <a:off x="1578" y="1364"/>
              <a:ext cx="915" cy="246"/>
            </a:xfrm>
            <a:custGeom>
              <a:avLst/>
              <a:gdLst/>
              <a:ahLst/>
              <a:cxnLst>
                <a:cxn ang="0">
                  <a:pos x="0" y="340"/>
                </a:cxn>
                <a:cxn ang="0">
                  <a:pos x="537" y="17"/>
                </a:cxn>
                <a:cxn ang="0">
                  <a:pos x="497" y="443"/>
                </a:cxn>
                <a:cxn ang="0">
                  <a:pos x="915" y="585"/>
                </a:cxn>
              </a:cxnLst>
              <a:rect l="0" t="0" r="r" b="b"/>
              <a:pathLst>
                <a:path w="915" h="585">
                  <a:moveTo>
                    <a:pt x="0" y="340"/>
                  </a:moveTo>
                  <a:cubicBezTo>
                    <a:pt x="227" y="170"/>
                    <a:pt x="454" y="0"/>
                    <a:pt x="537" y="17"/>
                  </a:cubicBezTo>
                  <a:cubicBezTo>
                    <a:pt x="620" y="34"/>
                    <a:pt x="434" y="348"/>
                    <a:pt x="497" y="443"/>
                  </a:cubicBezTo>
                  <a:cubicBezTo>
                    <a:pt x="560" y="538"/>
                    <a:pt x="737" y="561"/>
                    <a:pt x="915" y="585"/>
                  </a:cubicBezTo>
                </a:path>
              </a:pathLst>
            </a:custGeom>
            <a:noFill/>
            <a:ln w="38100" cmpd="sng">
              <a:solidFill>
                <a:srgbClr val="808080"/>
              </a:solidFill>
              <a:round/>
              <a:headEnd/>
              <a:tailEnd/>
            </a:ln>
            <a:effectLst/>
          </p:spPr>
          <p:txBody>
            <a:bodyPr/>
            <a:lstStyle/>
            <a:p>
              <a:endParaRPr lang="fr-FR"/>
            </a:p>
          </p:txBody>
        </p:sp>
        <p:grpSp>
          <p:nvGrpSpPr>
            <p:cNvPr id="196713" name="Group 105"/>
            <p:cNvGrpSpPr>
              <a:grpSpLocks/>
            </p:cNvGrpSpPr>
            <p:nvPr/>
          </p:nvGrpSpPr>
          <p:grpSpPr bwMode="auto">
            <a:xfrm>
              <a:off x="2283" y="825"/>
              <a:ext cx="966" cy="1056"/>
              <a:chOff x="3999" y="2751"/>
              <a:chExt cx="808" cy="883"/>
            </a:xfrm>
          </p:grpSpPr>
          <p:grpSp>
            <p:nvGrpSpPr>
              <p:cNvPr id="196714" name="Group 106"/>
              <p:cNvGrpSpPr>
                <a:grpSpLocks/>
              </p:cNvGrpSpPr>
              <p:nvPr/>
            </p:nvGrpSpPr>
            <p:grpSpPr bwMode="auto">
              <a:xfrm>
                <a:off x="4030" y="3214"/>
                <a:ext cx="777" cy="420"/>
                <a:chOff x="4082" y="1377"/>
                <a:chExt cx="835" cy="451"/>
              </a:xfrm>
            </p:grpSpPr>
            <p:sp>
              <p:nvSpPr>
                <p:cNvPr id="196715" name="Freeform 107"/>
                <p:cNvSpPr>
                  <a:spLocks noChangeAspect="1"/>
                </p:cNvSpPr>
                <p:nvPr/>
              </p:nvSpPr>
              <p:spPr bwMode="auto">
                <a:xfrm>
                  <a:off x="4083" y="1494"/>
                  <a:ext cx="289" cy="334"/>
                </a:xfrm>
                <a:custGeom>
                  <a:avLst/>
                  <a:gdLst/>
                  <a:ahLst/>
                  <a:cxnLst>
                    <a:cxn ang="0">
                      <a:pos x="289" y="174"/>
                    </a:cxn>
                    <a:cxn ang="0">
                      <a:pos x="0" y="0"/>
                    </a:cxn>
                    <a:cxn ang="0">
                      <a:pos x="0" y="142"/>
                    </a:cxn>
                    <a:cxn ang="0">
                      <a:pos x="288" y="334"/>
                    </a:cxn>
                  </a:cxnLst>
                  <a:rect l="0" t="0" r="r" b="b"/>
                  <a:pathLst>
                    <a:path w="289" h="334">
                      <a:moveTo>
                        <a:pt x="289" y="174"/>
                      </a:moveTo>
                      <a:lnTo>
                        <a:pt x="0" y="0"/>
                      </a:lnTo>
                      <a:lnTo>
                        <a:pt x="0" y="142"/>
                      </a:lnTo>
                      <a:lnTo>
                        <a:pt x="288" y="33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6716" name="Freeform 108"/>
                <p:cNvSpPr>
                  <a:spLocks noChangeAspect="1"/>
                </p:cNvSpPr>
                <p:nvPr/>
              </p:nvSpPr>
              <p:spPr bwMode="auto">
                <a:xfrm flipH="1">
                  <a:off x="4082" y="1377"/>
                  <a:ext cx="835" cy="289"/>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6717" name="Freeform 109"/>
                <p:cNvSpPr>
                  <a:spLocks noChangeAspect="1"/>
                </p:cNvSpPr>
                <p:nvPr/>
              </p:nvSpPr>
              <p:spPr bwMode="auto">
                <a:xfrm flipH="1">
                  <a:off x="4371" y="1519"/>
                  <a:ext cx="546" cy="309"/>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grpSp>
              <p:nvGrpSpPr>
                <p:cNvPr id="196718" name="Group 110"/>
                <p:cNvGrpSpPr>
                  <a:grpSpLocks/>
                </p:cNvGrpSpPr>
                <p:nvPr/>
              </p:nvGrpSpPr>
              <p:grpSpPr bwMode="auto">
                <a:xfrm>
                  <a:off x="4400" y="1640"/>
                  <a:ext cx="221" cy="135"/>
                  <a:chOff x="1566" y="3268"/>
                  <a:chExt cx="221" cy="135"/>
                </a:xfrm>
              </p:grpSpPr>
              <p:sp>
                <p:nvSpPr>
                  <p:cNvPr id="196719" name="Line 111"/>
                  <p:cNvSpPr>
                    <a:spLocks noChangeShapeType="1"/>
                  </p:cNvSpPr>
                  <p:nvPr/>
                </p:nvSpPr>
                <p:spPr bwMode="auto">
                  <a:xfrm flipH="1">
                    <a:off x="1566" y="3268"/>
                    <a:ext cx="221" cy="63"/>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6720" name="Line 112"/>
                  <p:cNvSpPr>
                    <a:spLocks noChangeShapeType="1"/>
                  </p:cNvSpPr>
                  <p:nvPr/>
                </p:nvSpPr>
                <p:spPr bwMode="auto">
                  <a:xfrm flipH="1">
                    <a:off x="1566" y="3292"/>
                    <a:ext cx="221" cy="62"/>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6721" name="Line 113"/>
                  <p:cNvSpPr>
                    <a:spLocks noChangeShapeType="1"/>
                  </p:cNvSpPr>
                  <p:nvPr/>
                </p:nvSpPr>
                <p:spPr bwMode="auto">
                  <a:xfrm flipH="1">
                    <a:off x="1566" y="3317"/>
                    <a:ext cx="221" cy="63"/>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6722" name="Line 114"/>
                  <p:cNvSpPr>
                    <a:spLocks noChangeShapeType="1"/>
                  </p:cNvSpPr>
                  <p:nvPr/>
                </p:nvSpPr>
                <p:spPr bwMode="auto">
                  <a:xfrm flipH="1">
                    <a:off x="1566" y="3341"/>
                    <a:ext cx="221" cy="62"/>
                  </a:xfrm>
                  <a:prstGeom prst="line">
                    <a:avLst/>
                  </a:prstGeom>
                  <a:noFill/>
                  <a:ln w="6350">
                    <a:solidFill>
                      <a:srgbClr val="777777"/>
                    </a:solidFill>
                    <a:round/>
                    <a:headEnd/>
                    <a:tailEnd/>
                  </a:ln>
                  <a:effectLst/>
                </p:spPr>
                <p:txBody>
                  <a:bodyPr tIns="27432" bIns="27432" anchor="ctr">
                    <a:spAutoFit/>
                  </a:bodyPr>
                  <a:lstStyle/>
                  <a:p>
                    <a:endParaRPr lang="fr-FR"/>
                  </a:p>
                </p:txBody>
              </p:sp>
            </p:grpSp>
            <p:sp>
              <p:nvSpPr>
                <p:cNvPr id="196723" name="Freeform 115"/>
                <p:cNvSpPr>
                  <a:spLocks noChangeAspect="1"/>
                </p:cNvSpPr>
                <p:nvPr/>
              </p:nvSpPr>
              <p:spPr bwMode="auto">
                <a:xfrm flipH="1">
                  <a:off x="4667" y="1557"/>
                  <a:ext cx="214" cy="150"/>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196724" name="Freeform 116"/>
                <p:cNvSpPr>
                  <a:spLocks noChangeAspect="1" noChangeArrowheads="1"/>
                </p:cNvSpPr>
                <p:nvPr/>
              </p:nvSpPr>
              <p:spPr bwMode="auto">
                <a:xfrm flipH="1">
                  <a:off x="4670" y="1613"/>
                  <a:ext cx="207" cy="53"/>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196725" name="Freeform 117"/>
                <p:cNvSpPr>
                  <a:spLocks/>
                </p:cNvSpPr>
                <p:nvPr/>
              </p:nvSpPr>
              <p:spPr bwMode="auto">
                <a:xfrm>
                  <a:off x="4668" y="1556"/>
                  <a:ext cx="213" cy="93"/>
                </a:xfrm>
                <a:custGeom>
                  <a:avLst/>
                  <a:gdLst/>
                  <a:ahLst/>
                  <a:cxnLst>
                    <a:cxn ang="0">
                      <a:pos x="213" y="93"/>
                    </a:cxn>
                    <a:cxn ang="0">
                      <a:pos x="213" y="0"/>
                    </a:cxn>
                    <a:cxn ang="0">
                      <a:pos x="0" y="59"/>
                    </a:cxn>
                  </a:cxnLst>
                  <a:rect l="0" t="0" r="r" b="b"/>
                  <a:pathLst>
                    <a:path w="213" h="93">
                      <a:moveTo>
                        <a:pt x="213" y="93"/>
                      </a:moveTo>
                      <a:lnTo>
                        <a:pt x="213" y="0"/>
                      </a:lnTo>
                      <a:lnTo>
                        <a:pt x="0" y="59"/>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196726" name="Line 118"/>
                <p:cNvSpPr>
                  <a:spLocks noChangeShapeType="1"/>
                </p:cNvSpPr>
                <p:nvPr/>
              </p:nvSpPr>
              <p:spPr bwMode="auto">
                <a:xfrm flipH="1">
                  <a:off x="4695" y="1586"/>
                  <a:ext cx="168" cy="42"/>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196727" name="Line 119"/>
                <p:cNvSpPr>
                  <a:spLocks noChangeShapeType="1"/>
                </p:cNvSpPr>
                <p:nvPr/>
              </p:nvSpPr>
              <p:spPr bwMode="auto">
                <a:xfrm flipH="1">
                  <a:off x="4827" y="1640"/>
                  <a:ext cx="31"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196728" name="Freeform 120"/>
                <p:cNvSpPr>
                  <a:spLocks/>
                </p:cNvSpPr>
                <p:nvPr/>
              </p:nvSpPr>
              <p:spPr bwMode="auto">
                <a:xfrm flipH="1">
                  <a:off x="4759" y="1597"/>
                  <a:ext cx="51" cy="28"/>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196729" name="Freeform 121"/>
                <p:cNvSpPr>
                  <a:spLocks/>
                </p:cNvSpPr>
                <p:nvPr/>
              </p:nvSpPr>
              <p:spPr bwMode="auto">
                <a:xfrm flipH="1">
                  <a:off x="4662" y="1621"/>
                  <a:ext cx="217" cy="92"/>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196730" name="Group 122"/>
              <p:cNvGrpSpPr>
                <a:grpSpLocks/>
              </p:cNvGrpSpPr>
              <p:nvPr/>
            </p:nvGrpSpPr>
            <p:grpSpPr bwMode="auto">
              <a:xfrm>
                <a:off x="3999" y="2751"/>
                <a:ext cx="727" cy="684"/>
                <a:chOff x="952" y="2351"/>
                <a:chExt cx="781" cy="735"/>
              </a:xfrm>
            </p:grpSpPr>
            <p:sp>
              <p:nvSpPr>
                <p:cNvPr id="196731" name="Freeform 123"/>
                <p:cNvSpPr>
                  <a:spLocks/>
                </p:cNvSpPr>
                <p:nvPr/>
              </p:nvSpPr>
              <p:spPr bwMode="auto">
                <a:xfrm flipH="1">
                  <a:off x="1066" y="2829"/>
                  <a:ext cx="608" cy="257"/>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196732" name="Freeform 124"/>
                <p:cNvSpPr>
                  <a:spLocks/>
                </p:cNvSpPr>
                <p:nvPr/>
              </p:nvSpPr>
              <p:spPr bwMode="auto">
                <a:xfrm flipH="1">
                  <a:off x="1078" y="2834"/>
                  <a:ext cx="588" cy="22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196733" name="Oval 125"/>
                <p:cNvSpPr>
                  <a:spLocks noChangeArrowheads="1"/>
                </p:cNvSpPr>
                <p:nvPr/>
              </p:nvSpPr>
              <p:spPr bwMode="auto">
                <a:xfrm flipH="1">
                  <a:off x="1213" y="2890"/>
                  <a:ext cx="307" cy="123"/>
                </a:xfrm>
                <a:prstGeom prst="ellipse">
                  <a:avLst/>
                </a:prstGeom>
                <a:solidFill>
                  <a:srgbClr val="B2B2B2"/>
                </a:solidFill>
                <a:ln w="3175" cap="rnd">
                  <a:solidFill>
                    <a:schemeClr val="tx1"/>
                  </a:solidFill>
                  <a:round/>
                  <a:headEnd/>
                  <a:tailEnd/>
                </a:ln>
                <a:effectLst/>
              </p:spPr>
              <p:txBody>
                <a:bodyPr/>
                <a:lstStyle/>
                <a:p>
                  <a:endParaRPr lang="fr-FR"/>
                </a:p>
              </p:txBody>
            </p:sp>
            <p:sp>
              <p:nvSpPr>
                <p:cNvPr id="196734" name="Freeform 126"/>
                <p:cNvSpPr>
                  <a:spLocks/>
                </p:cNvSpPr>
                <p:nvPr/>
              </p:nvSpPr>
              <p:spPr bwMode="auto">
                <a:xfrm flipH="1">
                  <a:off x="1193" y="2895"/>
                  <a:ext cx="494" cy="137"/>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196735" name="Freeform 127"/>
                <p:cNvSpPr>
                  <a:spLocks noChangeAspect="1"/>
                </p:cNvSpPr>
                <p:nvPr/>
              </p:nvSpPr>
              <p:spPr bwMode="auto">
                <a:xfrm flipH="1">
                  <a:off x="952" y="2351"/>
                  <a:ext cx="617" cy="569"/>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6736" name="Freeform 128"/>
                <p:cNvSpPr>
                  <a:spLocks noChangeAspect="1"/>
                </p:cNvSpPr>
                <p:nvPr/>
              </p:nvSpPr>
              <p:spPr bwMode="auto">
                <a:xfrm flipH="1">
                  <a:off x="1060" y="2477"/>
                  <a:ext cx="124" cy="553"/>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amma/>
                        <a:tint val="34118"/>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196737" name="Freeform 129"/>
                <p:cNvSpPr>
                  <a:spLocks noChangeAspect="1"/>
                </p:cNvSpPr>
                <p:nvPr/>
              </p:nvSpPr>
              <p:spPr bwMode="auto">
                <a:xfrm flipH="1">
                  <a:off x="1060" y="2358"/>
                  <a:ext cx="673" cy="188"/>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196738" name="Freeform 130"/>
                <p:cNvSpPr>
                  <a:spLocks noChangeAspect="1"/>
                </p:cNvSpPr>
                <p:nvPr/>
              </p:nvSpPr>
              <p:spPr bwMode="auto">
                <a:xfrm flipH="1">
                  <a:off x="1184" y="2413"/>
                  <a:ext cx="549" cy="619"/>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6739" name="Freeform 131"/>
                <p:cNvSpPr>
                  <a:spLocks noChangeAspect="1"/>
                </p:cNvSpPr>
                <p:nvPr/>
              </p:nvSpPr>
              <p:spPr bwMode="auto">
                <a:xfrm flipH="1">
                  <a:off x="1225" y="2468"/>
                  <a:ext cx="465" cy="508"/>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196740" name="Freeform 132"/>
                <p:cNvSpPr>
                  <a:spLocks/>
                </p:cNvSpPr>
                <p:nvPr/>
              </p:nvSpPr>
              <p:spPr bwMode="auto">
                <a:xfrm flipH="1">
                  <a:off x="1255" y="2502"/>
                  <a:ext cx="407" cy="437"/>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l="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196741" name="Line 133"/>
                <p:cNvSpPr>
                  <a:spLocks noChangeShapeType="1"/>
                </p:cNvSpPr>
                <p:nvPr/>
              </p:nvSpPr>
              <p:spPr bwMode="auto">
                <a:xfrm flipH="1">
                  <a:off x="1626" y="2538"/>
                  <a:ext cx="0" cy="67"/>
                </a:xfrm>
                <a:prstGeom prst="line">
                  <a:avLst/>
                </a:prstGeom>
                <a:noFill/>
                <a:ln w="25400">
                  <a:solidFill>
                    <a:schemeClr val="bg1"/>
                  </a:solidFill>
                  <a:round/>
                  <a:headEnd/>
                  <a:tailEnd/>
                </a:ln>
                <a:effectLst/>
              </p:spPr>
              <p:txBody>
                <a:bodyPr wrap="none" anchor="ctr"/>
                <a:lstStyle/>
                <a:p>
                  <a:endParaRPr lang="fr-FR"/>
                </a:p>
              </p:txBody>
            </p:sp>
          </p:grpSp>
        </p:grpSp>
        <p:grpSp>
          <p:nvGrpSpPr>
            <p:cNvPr id="196742" name="Group 134"/>
            <p:cNvGrpSpPr>
              <a:grpSpLocks/>
            </p:cNvGrpSpPr>
            <p:nvPr/>
          </p:nvGrpSpPr>
          <p:grpSpPr bwMode="auto">
            <a:xfrm>
              <a:off x="853" y="1123"/>
              <a:ext cx="975" cy="715"/>
              <a:chOff x="3826" y="946"/>
              <a:chExt cx="811" cy="595"/>
            </a:xfrm>
          </p:grpSpPr>
          <p:sp>
            <p:nvSpPr>
              <p:cNvPr id="196743" name="Freeform 135"/>
              <p:cNvSpPr>
                <a:spLocks/>
              </p:cNvSpPr>
              <p:nvPr/>
            </p:nvSpPr>
            <p:spPr bwMode="auto">
              <a:xfrm>
                <a:off x="3892" y="1085"/>
                <a:ext cx="545" cy="456"/>
              </a:xfrm>
              <a:custGeom>
                <a:avLst/>
                <a:gdLst/>
                <a:ahLst/>
                <a:cxnLst>
                  <a:cxn ang="0">
                    <a:pos x="542" y="78"/>
                  </a:cxn>
                  <a:cxn ang="0">
                    <a:pos x="1" y="0"/>
                  </a:cxn>
                  <a:cxn ang="0">
                    <a:pos x="0" y="355"/>
                  </a:cxn>
                  <a:cxn ang="0">
                    <a:pos x="542" y="453"/>
                  </a:cxn>
                  <a:cxn ang="0">
                    <a:pos x="542" y="78"/>
                  </a:cxn>
                </a:cxnLst>
                <a:rect l="0" t="0" r="r" b="b"/>
                <a:pathLst>
                  <a:path w="542" h="453">
                    <a:moveTo>
                      <a:pt x="542" y="78"/>
                    </a:moveTo>
                    <a:lnTo>
                      <a:pt x="1" y="0"/>
                    </a:lnTo>
                    <a:lnTo>
                      <a:pt x="0" y="355"/>
                    </a:lnTo>
                    <a:lnTo>
                      <a:pt x="542" y="453"/>
                    </a:lnTo>
                    <a:lnTo>
                      <a:pt x="542" y="78"/>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744" name="Freeform 136"/>
              <p:cNvSpPr>
                <a:spLocks/>
              </p:cNvSpPr>
              <p:nvPr/>
            </p:nvSpPr>
            <p:spPr bwMode="auto">
              <a:xfrm>
                <a:off x="4437" y="1005"/>
                <a:ext cx="200" cy="536"/>
              </a:xfrm>
              <a:custGeom>
                <a:avLst/>
                <a:gdLst/>
                <a:ahLst/>
                <a:cxnLst>
                  <a:cxn ang="0">
                    <a:pos x="409" y="0"/>
                  </a:cxn>
                  <a:cxn ang="0">
                    <a:pos x="0" y="329"/>
                  </a:cxn>
                  <a:cxn ang="0">
                    <a:pos x="0" y="1100"/>
                  </a:cxn>
                  <a:cxn ang="0">
                    <a:pos x="409" y="693"/>
                  </a:cxn>
                  <a:cxn ang="0">
                    <a:pos x="409" y="0"/>
                  </a:cxn>
                </a:cxnLst>
                <a:rect l="0" t="0" r="r" b="b"/>
                <a:pathLst>
                  <a:path w="410" h="1101">
                    <a:moveTo>
                      <a:pt x="409" y="0"/>
                    </a:moveTo>
                    <a:lnTo>
                      <a:pt x="0" y="329"/>
                    </a:lnTo>
                    <a:lnTo>
                      <a:pt x="0" y="1100"/>
                    </a:lnTo>
                    <a:lnTo>
                      <a:pt x="409" y="693"/>
                    </a:lnTo>
                    <a:lnTo>
                      <a:pt x="409" y="0"/>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745" name="Freeform 137"/>
              <p:cNvSpPr>
                <a:spLocks/>
              </p:cNvSpPr>
              <p:nvPr/>
            </p:nvSpPr>
            <p:spPr bwMode="auto">
              <a:xfrm>
                <a:off x="3892" y="946"/>
                <a:ext cx="743" cy="220"/>
              </a:xfrm>
              <a:custGeom>
                <a:avLst/>
                <a:gdLst/>
                <a:ahLst/>
                <a:cxnLst>
                  <a:cxn ang="0">
                    <a:pos x="1522" y="125"/>
                  </a:cxn>
                  <a:cxn ang="0">
                    <a:pos x="1113" y="451"/>
                  </a:cxn>
                  <a:cxn ang="0">
                    <a:pos x="0" y="284"/>
                  </a:cxn>
                  <a:cxn ang="0">
                    <a:pos x="509" y="0"/>
                  </a:cxn>
                  <a:cxn ang="0">
                    <a:pos x="1522" y="122"/>
                  </a:cxn>
                </a:cxnLst>
                <a:rect l="0" t="0" r="r" b="b"/>
                <a:pathLst>
                  <a:path w="1522" h="451">
                    <a:moveTo>
                      <a:pt x="1522" y="125"/>
                    </a:moveTo>
                    <a:lnTo>
                      <a:pt x="1113" y="451"/>
                    </a:lnTo>
                    <a:lnTo>
                      <a:pt x="0" y="284"/>
                    </a:lnTo>
                    <a:lnTo>
                      <a:pt x="509" y="0"/>
                    </a:lnTo>
                    <a:lnTo>
                      <a:pt x="1522" y="122"/>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6746" name="Freeform 138"/>
              <p:cNvSpPr>
                <a:spLocks/>
              </p:cNvSpPr>
              <p:nvPr/>
            </p:nvSpPr>
            <p:spPr bwMode="auto">
              <a:xfrm>
                <a:off x="4055" y="972"/>
                <a:ext cx="339" cy="86"/>
              </a:xfrm>
              <a:custGeom>
                <a:avLst/>
                <a:gdLst/>
                <a:ahLst/>
                <a:cxnLst>
                  <a:cxn ang="0">
                    <a:pos x="210" y="0"/>
                  </a:cxn>
                  <a:cxn ang="0">
                    <a:pos x="0" y="121"/>
                  </a:cxn>
                  <a:cxn ang="0">
                    <a:pos x="497" y="177"/>
                  </a:cxn>
                  <a:cxn ang="0">
                    <a:pos x="693" y="54"/>
                  </a:cxn>
                  <a:cxn ang="0">
                    <a:pos x="210" y="0"/>
                  </a:cxn>
                </a:cxnLst>
                <a:rect l="0" t="0" r="r" b="b"/>
                <a:pathLst>
                  <a:path w="694" h="178">
                    <a:moveTo>
                      <a:pt x="210" y="0"/>
                    </a:moveTo>
                    <a:lnTo>
                      <a:pt x="0" y="121"/>
                    </a:lnTo>
                    <a:lnTo>
                      <a:pt x="497" y="177"/>
                    </a:lnTo>
                    <a:lnTo>
                      <a:pt x="693" y="54"/>
                    </a:lnTo>
                    <a:lnTo>
                      <a:pt x="210" y="0"/>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6747" name="Freeform 139"/>
              <p:cNvSpPr>
                <a:spLocks/>
              </p:cNvSpPr>
              <p:nvPr/>
            </p:nvSpPr>
            <p:spPr bwMode="auto">
              <a:xfrm>
                <a:off x="4276" y="997"/>
                <a:ext cx="197" cy="117"/>
              </a:xfrm>
              <a:custGeom>
                <a:avLst/>
                <a:gdLst/>
                <a:ahLst/>
                <a:cxnLst>
                  <a:cxn ang="0">
                    <a:pos x="0" y="240"/>
                  </a:cxn>
                  <a:cxn ang="0">
                    <a:pos x="350" y="0"/>
                  </a:cxn>
                  <a:cxn ang="0">
                    <a:pos x="403" y="0"/>
                  </a:cxn>
                  <a:cxn ang="0">
                    <a:pos x="0" y="240"/>
                  </a:cxn>
                </a:cxnLst>
                <a:rect l="0" t="0" r="r" b="b"/>
                <a:pathLst>
                  <a:path w="404" h="241">
                    <a:moveTo>
                      <a:pt x="0" y="240"/>
                    </a:moveTo>
                    <a:lnTo>
                      <a:pt x="350" y="0"/>
                    </a:lnTo>
                    <a:lnTo>
                      <a:pt x="403" y="0"/>
                    </a:lnTo>
                    <a:lnTo>
                      <a:pt x="0" y="240"/>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6748" name="Freeform 140"/>
              <p:cNvSpPr>
                <a:spLocks/>
              </p:cNvSpPr>
              <p:nvPr/>
            </p:nvSpPr>
            <p:spPr bwMode="auto">
              <a:xfrm>
                <a:off x="4185" y="1082"/>
                <a:ext cx="83" cy="25"/>
              </a:xfrm>
              <a:custGeom>
                <a:avLst/>
                <a:gdLst/>
                <a:ahLst/>
                <a:cxnLst>
                  <a:cxn ang="0">
                    <a:pos x="167" y="8"/>
                  </a:cxn>
                  <a:cxn ang="0">
                    <a:pos x="88" y="0"/>
                  </a:cxn>
                  <a:cxn ang="0">
                    <a:pos x="0" y="47"/>
                  </a:cxn>
                  <a:cxn ang="0">
                    <a:pos x="83" y="51"/>
                  </a:cxn>
                  <a:cxn ang="0">
                    <a:pos x="167" y="8"/>
                  </a:cxn>
                </a:cxnLst>
                <a:rect l="0" t="0" r="r" b="b"/>
                <a:pathLst>
                  <a:path w="168" h="52">
                    <a:moveTo>
                      <a:pt x="167" y="8"/>
                    </a:moveTo>
                    <a:lnTo>
                      <a:pt x="88" y="0"/>
                    </a:lnTo>
                    <a:lnTo>
                      <a:pt x="0" y="47"/>
                    </a:lnTo>
                    <a:lnTo>
                      <a:pt x="83" y="51"/>
                    </a:lnTo>
                    <a:lnTo>
                      <a:pt x="167" y="8"/>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6749" name="Line 141"/>
              <p:cNvSpPr>
                <a:spLocks noChangeShapeType="1"/>
              </p:cNvSpPr>
              <p:nvPr/>
            </p:nvSpPr>
            <p:spPr bwMode="auto">
              <a:xfrm flipH="1">
                <a:off x="4443" y="1064"/>
                <a:ext cx="183" cy="142"/>
              </a:xfrm>
              <a:prstGeom prst="line">
                <a:avLst/>
              </a:prstGeom>
              <a:noFill/>
              <a:ln w="6350">
                <a:solidFill>
                  <a:srgbClr val="777777"/>
                </a:solidFill>
                <a:round/>
                <a:headEnd/>
                <a:tailEnd/>
              </a:ln>
              <a:effectLst/>
            </p:spPr>
            <p:txBody>
              <a:bodyPr wrap="none" anchor="ctr"/>
              <a:lstStyle/>
              <a:p>
                <a:endParaRPr lang="fr-FR"/>
              </a:p>
            </p:txBody>
          </p:sp>
          <p:sp>
            <p:nvSpPr>
              <p:cNvPr id="196750" name="Line 142"/>
              <p:cNvSpPr>
                <a:spLocks noChangeShapeType="1"/>
              </p:cNvSpPr>
              <p:nvPr/>
            </p:nvSpPr>
            <p:spPr bwMode="auto">
              <a:xfrm flipH="1" flipV="1">
                <a:off x="3899" y="1121"/>
                <a:ext cx="533" cy="87"/>
              </a:xfrm>
              <a:prstGeom prst="line">
                <a:avLst/>
              </a:prstGeom>
              <a:noFill/>
              <a:ln w="6350">
                <a:solidFill>
                  <a:srgbClr val="777777"/>
                </a:solidFill>
                <a:round/>
                <a:headEnd/>
                <a:tailEnd/>
              </a:ln>
              <a:effectLst/>
            </p:spPr>
            <p:txBody>
              <a:bodyPr wrap="none" anchor="ctr"/>
              <a:lstStyle/>
              <a:p>
                <a:endParaRPr lang="fr-FR"/>
              </a:p>
            </p:txBody>
          </p:sp>
          <p:sp>
            <p:nvSpPr>
              <p:cNvPr id="196751" name="Line 143"/>
              <p:cNvSpPr>
                <a:spLocks noChangeShapeType="1"/>
              </p:cNvSpPr>
              <p:nvPr/>
            </p:nvSpPr>
            <p:spPr bwMode="auto">
              <a:xfrm flipV="1">
                <a:off x="4459" y="1333"/>
                <a:ext cx="156" cy="155"/>
              </a:xfrm>
              <a:prstGeom prst="line">
                <a:avLst/>
              </a:prstGeom>
              <a:noFill/>
              <a:ln w="6350">
                <a:solidFill>
                  <a:srgbClr val="777777"/>
                </a:solidFill>
                <a:round/>
                <a:headEnd/>
                <a:tailEnd/>
              </a:ln>
              <a:effectLst/>
            </p:spPr>
            <p:txBody>
              <a:bodyPr wrap="none" anchor="ctr"/>
              <a:lstStyle/>
              <a:p>
                <a:endParaRPr lang="fr-FR"/>
              </a:p>
            </p:txBody>
          </p:sp>
          <p:sp>
            <p:nvSpPr>
              <p:cNvPr id="196752" name="Line 144"/>
              <p:cNvSpPr>
                <a:spLocks noChangeShapeType="1"/>
              </p:cNvSpPr>
              <p:nvPr/>
            </p:nvSpPr>
            <p:spPr bwMode="auto">
              <a:xfrm flipV="1">
                <a:off x="4459" y="1311"/>
                <a:ext cx="156" cy="153"/>
              </a:xfrm>
              <a:prstGeom prst="line">
                <a:avLst/>
              </a:prstGeom>
              <a:noFill/>
              <a:ln w="6350">
                <a:solidFill>
                  <a:srgbClr val="777777"/>
                </a:solidFill>
                <a:round/>
                <a:headEnd/>
                <a:tailEnd/>
              </a:ln>
              <a:effectLst/>
            </p:spPr>
            <p:txBody>
              <a:bodyPr wrap="none" anchor="ctr"/>
              <a:lstStyle/>
              <a:p>
                <a:endParaRPr lang="fr-FR"/>
              </a:p>
            </p:txBody>
          </p:sp>
          <p:sp>
            <p:nvSpPr>
              <p:cNvPr id="196753" name="Line 145"/>
              <p:cNvSpPr>
                <a:spLocks noChangeShapeType="1"/>
              </p:cNvSpPr>
              <p:nvPr/>
            </p:nvSpPr>
            <p:spPr bwMode="auto">
              <a:xfrm flipV="1">
                <a:off x="4459" y="1284"/>
                <a:ext cx="156" cy="154"/>
              </a:xfrm>
              <a:prstGeom prst="line">
                <a:avLst/>
              </a:prstGeom>
              <a:noFill/>
              <a:ln w="6350">
                <a:solidFill>
                  <a:srgbClr val="777777"/>
                </a:solidFill>
                <a:round/>
                <a:headEnd/>
                <a:tailEnd/>
              </a:ln>
              <a:effectLst/>
            </p:spPr>
            <p:txBody>
              <a:bodyPr wrap="none" anchor="ctr"/>
              <a:lstStyle/>
              <a:p>
                <a:endParaRPr lang="fr-FR"/>
              </a:p>
            </p:txBody>
          </p:sp>
          <p:sp>
            <p:nvSpPr>
              <p:cNvPr id="196754" name="Line 146"/>
              <p:cNvSpPr>
                <a:spLocks noChangeShapeType="1"/>
              </p:cNvSpPr>
              <p:nvPr/>
            </p:nvSpPr>
            <p:spPr bwMode="auto">
              <a:xfrm flipV="1">
                <a:off x="4459" y="1256"/>
                <a:ext cx="156" cy="154"/>
              </a:xfrm>
              <a:prstGeom prst="line">
                <a:avLst/>
              </a:prstGeom>
              <a:noFill/>
              <a:ln w="6350">
                <a:solidFill>
                  <a:srgbClr val="777777"/>
                </a:solidFill>
                <a:round/>
                <a:headEnd/>
                <a:tailEnd/>
              </a:ln>
              <a:effectLst/>
            </p:spPr>
            <p:txBody>
              <a:bodyPr wrap="none" anchor="ctr"/>
              <a:lstStyle/>
              <a:p>
                <a:endParaRPr lang="fr-FR"/>
              </a:p>
            </p:txBody>
          </p:sp>
          <p:sp>
            <p:nvSpPr>
              <p:cNvPr id="196755" name="Freeform 147"/>
              <p:cNvSpPr>
                <a:spLocks/>
              </p:cNvSpPr>
              <p:nvPr/>
            </p:nvSpPr>
            <p:spPr bwMode="auto">
              <a:xfrm>
                <a:off x="3933" y="1324"/>
                <a:ext cx="254" cy="112"/>
              </a:xfrm>
              <a:custGeom>
                <a:avLst/>
                <a:gdLst/>
                <a:ahLst/>
                <a:cxnLst>
                  <a:cxn ang="0">
                    <a:pos x="520" y="88"/>
                  </a:cxn>
                  <a:cxn ang="0">
                    <a:pos x="0" y="0"/>
                  </a:cxn>
                  <a:cxn ang="0">
                    <a:pos x="0" y="144"/>
                  </a:cxn>
                  <a:cxn ang="0">
                    <a:pos x="520" y="230"/>
                  </a:cxn>
                  <a:cxn ang="0">
                    <a:pos x="520" y="88"/>
                  </a:cxn>
                </a:cxnLst>
                <a:rect l="0" t="0" r="r" b="b"/>
                <a:pathLst>
                  <a:path w="521" h="231">
                    <a:moveTo>
                      <a:pt x="520" y="88"/>
                    </a:moveTo>
                    <a:lnTo>
                      <a:pt x="0" y="0"/>
                    </a:lnTo>
                    <a:lnTo>
                      <a:pt x="0" y="144"/>
                    </a:lnTo>
                    <a:lnTo>
                      <a:pt x="520" y="230"/>
                    </a:lnTo>
                    <a:lnTo>
                      <a:pt x="520" y="88"/>
                    </a:lnTo>
                  </a:path>
                </a:pathLst>
              </a:custGeom>
              <a:solidFill>
                <a:srgbClr val="919191"/>
              </a:solidFill>
              <a:ln w="3175" cap="rnd" cmpd="sng">
                <a:solidFill>
                  <a:srgbClr val="000000"/>
                </a:solidFill>
                <a:prstDash val="solid"/>
                <a:round/>
                <a:headEnd type="none" w="med" len="med"/>
                <a:tailEnd type="none" w="med" len="med"/>
              </a:ln>
              <a:effectLst/>
            </p:spPr>
            <p:txBody>
              <a:bodyPr/>
              <a:lstStyle/>
              <a:p>
                <a:endParaRPr lang="fr-FR"/>
              </a:p>
            </p:txBody>
          </p:sp>
          <p:grpSp>
            <p:nvGrpSpPr>
              <p:cNvPr id="196756" name="Group 148"/>
              <p:cNvGrpSpPr>
                <a:grpSpLocks/>
              </p:cNvGrpSpPr>
              <p:nvPr/>
            </p:nvGrpSpPr>
            <p:grpSpPr bwMode="auto">
              <a:xfrm>
                <a:off x="3826" y="1336"/>
                <a:ext cx="357" cy="180"/>
                <a:chOff x="752" y="3672"/>
                <a:chExt cx="732" cy="372"/>
              </a:xfrm>
            </p:grpSpPr>
            <p:sp>
              <p:nvSpPr>
                <p:cNvPr id="196757" name="Freeform 149"/>
                <p:cNvSpPr>
                  <a:spLocks/>
                </p:cNvSpPr>
                <p:nvPr/>
              </p:nvSpPr>
              <p:spPr bwMode="auto">
                <a:xfrm>
                  <a:off x="752" y="3800"/>
                  <a:ext cx="548" cy="244"/>
                </a:xfrm>
                <a:custGeom>
                  <a:avLst/>
                  <a:gdLst/>
                  <a:ahLst/>
                  <a:cxnLst>
                    <a:cxn ang="0">
                      <a:pos x="548" y="102"/>
                    </a:cxn>
                    <a:cxn ang="0">
                      <a:pos x="0" y="0"/>
                    </a:cxn>
                    <a:cxn ang="0">
                      <a:pos x="2" y="129"/>
                    </a:cxn>
                    <a:cxn ang="0">
                      <a:pos x="548" y="244"/>
                    </a:cxn>
                    <a:cxn ang="0">
                      <a:pos x="548" y="102"/>
                    </a:cxn>
                  </a:cxnLst>
                  <a:rect l="0" t="0" r="r" b="b"/>
                  <a:pathLst>
                    <a:path w="548" h="244">
                      <a:moveTo>
                        <a:pt x="548" y="102"/>
                      </a:moveTo>
                      <a:lnTo>
                        <a:pt x="0" y="0"/>
                      </a:lnTo>
                      <a:lnTo>
                        <a:pt x="2" y="129"/>
                      </a:lnTo>
                      <a:lnTo>
                        <a:pt x="548" y="244"/>
                      </a:lnTo>
                      <a:lnTo>
                        <a:pt x="548" y="102"/>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758" name="Freeform 150"/>
                <p:cNvSpPr>
                  <a:spLocks/>
                </p:cNvSpPr>
                <p:nvPr/>
              </p:nvSpPr>
              <p:spPr bwMode="auto">
                <a:xfrm>
                  <a:off x="1300" y="3757"/>
                  <a:ext cx="182" cy="287"/>
                </a:xfrm>
                <a:custGeom>
                  <a:avLst/>
                  <a:gdLst/>
                  <a:ahLst/>
                  <a:cxnLst>
                    <a:cxn ang="0">
                      <a:pos x="182" y="0"/>
                    </a:cxn>
                    <a:cxn ang="0">
                      <a:pos x="0" y="146"/>
                    </a:cxn>
                    <a:cxn ang="0">
                      <a:pos x="0" y="287"/>
                    </a:cxn>
                    <a:cxn ang="0">
                      <a:pos x="182" y="125"/>
                    </a:cxn>
                    <a:cxn ang="0">
                      <a:pos x="182" y="0"/>
                    </a:cxn>
                  </a:cxnLst>
                  <a:rect l="0" t="0" r="r" b="b"/>
                  <a:pathLst>
                    <a:path w="182" h="287">
                      <a:moveTo>
                        <a:pt x="182" y="0"/>
                      </a:moveTo>
                      <a:lnTo>
                        <a:pt x="0" y="146"/>
                      </a:lnTo>
                      <a:lnTo>
                        <a:pt x="0" y="287"/>
                      </a:lnTo>
                      <a:lnTo>
                        <a:pt x="182" y="125"/>
                      </a:lnTo>
                      <a:lnTo>
                        <a:pt x="182" y="0"/>
                      </a:lnTo>
                    </a:path>
                  </a:pathLst>
                </a:custGeom>
                <a:gradFill rotWithShape="0">
                  <a:gsLst>
                    <a:gs pos="0">
                      <a:srgbClr val="CECECE"/>
                    </a:gs>
                    <a:gs pos="100000">
                      <a:srgbClr val="CECECE">
                        <a:gamma/>
                        <a:shade val="66275"/>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759" name="Freeform 151"/>
                <p:cNvSpPr>
                  <a:spLocks/>
                </p:cNvSpPr>
                <p:nvPr/>
              </p:nvSpPr>
              <p:spPr bwMode="auto">
                <a:xfrm>
                  <a:off x="756" y="3672"/>
                  <a:ext cx="728" cy="230"/>
                </a:xfrm>
                <a:custGeom>
                  <a:avLst/>
                  <a:gdLst/>
                  <a:ahLst/>
                  <a:cxnLst>
                    <a:cxn ang="0">
                      <a:pos x="0" y="128"/>
                    </a:cxn>
                    <a:cxn ang="0">
                      <a:pos x="257" y="0"/>
                    </a:cxn>
                    <a:cxn ang="0">
                      <a:pos x="727" y="82"/>
                    </a:cxn>
                    <a:cxn ang="0">
                      <a:pos x="544" y="229"/>
                    </a:cxn>
                    <a:cxn ang="0">
                      <a:pos x="0" y="128"/>
                    </a:cxn>
                  </a:cxnLst>
                  <a:rect l="0" t="0" r="r" b="b"/>
                  <a:pathLst>
                    <a:path w="728" h="230">
                      <a:moveTo>
                        <a:pt x="0" y="128"/>
                      </a:moveTo>
                      <a:lnTo>
                        <a:pt x="257" y="0"/>
                      </a:lnTo>
                      <a:lnTo>
                        <a:pt x="727" y="82"/>
                      </a:lnTo>
                      <a:lnTo>
                        <a:pt x="544" y="229"/>
                      </a:lnTo>
                      <a:lnTo>
                        <a:pt x="0" y="128"/>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6760" name="Freeform 152"/>
                <p:cNvSpPr>
                  <a:spLocks/>
                </p:cNvSpPr>
                <p:nvPr/>
              </p:nvSpPr>
              <p:spPr bwMode="auto">
                <a:xfrm>
                  <a:off x="752" y="3821"/>
                  <a:ext cx="725" cy="150"/>
                </a:xfrm>
                <a:custGeom>
                  <a:avLst/>
                  <a:gdLst/>
                  <a:ahLst/>
                  <a:cxnLst>
                    <a:cxn ang="0">
                      <a:pos x="725" y="0"/>
                    </a:cxn>
                    <a:cxn ang="0">
                      <a:pos x="548" y="150"/>
                    </a:cxn>
                    <a:cxn ang="0">
                      <a:pos x="0" y="43"/>
                    </a:cxn>
                  </a:cxnLst>
                  <a:rect l="0" t="0" r="r" b="b"/>
                  <a:pathLst>
                    <a:path w="725" h="150">
                      <a:moveTo>
                        <a:pt x="725" y="0"/>
                      </a:moveTo>
                      <a:lnTo>
                        <a:pt x="548" y="150"/>
                      </a:lnTo>
                      <a:lnTo>
                        <a:pt x="0" y="43"/>
                      </a:lnTo>
                    </a:path>
                  </a:pathLst>
                </a:custGeom>
                <a:noFill/>
                <a:ln w="3175" cap="rnd" cmpd="sng">
                  <a:solidFill>
                    <a:srgbClr val="000000"/>
                  </a:solidFill>
                  <a:prstDash val="solid"/>
                  <a:round/>
                  <a:headEnd type="none" w="med" len="med"/>
                  <a:tailEnd type="none" w="med" len="med"/>
                </a:ln>
                <a:effectLst/>
              </p:spPr>
              <p:txBody>
                <a:bodyPr/>
                <a:lstStyle/>
                <a:p>
                  <a:endParaRPr lang="fr-FR"/>
                </a:p>
              </p:txBody>
            </p:sp>
          </p:grpSp>
          <p:sp>
            <p:nvSpPr>
              <p:cNvPr id="196761" name="Freeform 153"/>
              <p:cNvSpPr>
                <a:spLocks/>
              </p:cNvSpPr>
              <p:nvPr/>
            </p:nvSpPr>
            <p:spPr bwMode="auto">
              <a:xfrm>
                <a:off x="3933" y="1181"/>
                <a:ext cx="254" cy="113"/>
              </a:xfrm>
              <a:custGeom>
                <a:avLst/>
                <a:gdLst/>
                <a:ahLst/>
                <a:cxnLst>
                  <a:cxn ang="0">
                    <a:pos x="520" y="88"/>
                  </a:cxn>
                  <a:cxn ang="0">
                    <a:pos x="0" y="0"/>
                  </a:cxn>
                  <a:cxn ang="0">
                    <a:pos x="0" y="144"/>
                  </a:cxn>
                  <a:cxn ang="0">
                    <a:pos x="520" y="230"/>
                  </a:cxn>
                  <a:cxn ang="0">
                    <a:pos x="520" y="88"/>
                  </a:cxn>
                </a:cxnLst>
                <a:rect l="0" t="0" r="r" b="b"/>
                <a:pathLst>
                  <a:path w="521" h="231">
                    <a:moveTo>
                      <a:pt x="520" y="88"/>
                    </a:moveTo>
                    <a:lnTo>
                      <a:pt x="0" y="0"/>
                    </a:lnTo>
                    <a:lnTo>
                      <a:pt x="0" y="144"/>
                    </a:lnTo>
                    <a:lnTo>
                      <a:pt x="520" y="230"/>
                    </a:lnTo>
                    <a:lnTo>
                      <a:pt x="520" y="88"/>
                    </a:lnTo>
                  </a:path>
                </a:pathLst>
              </a:custGeom>
              <a:solidFill>
                <a:srgbClr val="919191"/>
              </a:solidFill>
              <a:ln w="3175" cap="rnd" cmpd="sng">
                <a:solidFill>
                  <a:srgbClr val="000000"/>
                </a:solidFill>
                <a:prstDash val="solid"/>
                <a:round/>
                <a:headEnd type="none" w="med" len="med"/>
                <a:tailEnd type="none" w="med" len="med"/>
              </a:ln>
              <a:effectLst/>
            </p:spPr>
            <p:txBody>
              <a:bodyPr/>
              <a:lstStyle/>
              <a:p>
                <a:endParaRPr lang="fr-FR"/>
              </a:p>
            </p:txBody>
          </p:sp>
          <p:sp>
            <p:nvSpPr>
              <p:cNvPr id="196762" name="Freeform 154"/>
              <p:cNvSpPr>
                <a:spLocks/>
              </p:cNvSpPr>
              <p:nvPr/>
            </p:nvSpPr>
            <p:spPr bwMode="auto">
              <a:xfrm>
                <a:off x="3826" y="1255"/>
                <a:ext cx="267" cy="120"/>
              </a:xfrm>
              <a:custGeom>
                <a:avLst/>
                <a:gdLst/>
                <a:ahLst/>
                <a:cxnLst>
                  <a:cxn ang="0">
                    <a:pos x="548" y="102"/>
                  </a:cxn>
                  <a:cxn ang="0">
                    <a:pos x="0" y="0"/>
                  </a:cxn>
                  <a:cxn ang="0">
                    <a:pos x="2" y="129"/>
                  </a:cxn>
                  <a:cxn ang="0">
                    <a:pos x="548" y="244"/>
                  </a:cxn>
                  <a:cxn ang="0">
                    <a:pos x="548" y="102"/>
                  </a:cxn>
                </a:cxnLst>
                <a:rect l="0" t="0" r="r" b="b"/>
                <a:pathLst>
                  <a:path w="548" h="244">
                    <a:moveTo>
                      <a:pt x="548" y="102"/>
                    </a:moveTo>
                    <a:lnTo>
                      <a:pt x="0" y="0"/>
                    </a:lnTo>
                    <a:lnTo>
                      <a:pt x="2" y="129"/>
                    </a:lnTo>
                    <a:lnTo>
                      <a:pt x="548" y="244"/>
                    </a:lnTo>
                    <a:lnTo>
                      <a:pt x="548" y="102"/>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763" name="Freeform 155"/>
              <p:cNvSpPr>
                <a:spLocks/>
              </p:cNvSpPr>
              <p:nvPr/>
            </p:nvSpPr>
            <p:spPr bwMode="auto">
              <a:xfrm>
                <a:off x="4093" y="1234"/>
                <a:ext cx="88" cy="141"/>
              </a:xfrm>
              <a:custGeom>
                <a:avLst/>
                <a:gdLst/>
                <a:ahLst/>
                <a:cxnLst>
                  <a:cxn ang="0">
                    <a:pos x="182" y="0"/>
                  </a:cxn>
                  <a:cxn ang="0">
                    <a:pos x="0" y="146"/>
                  </a:cxn>
                  <a:cxn ang="0">
                    <a:pos x="0" y="287"/>
                  </a:cxn>
                  <a:cxn ang="0">
                    <a:pos x="182" y="125"/>
                  </a:cxn>
                  <a:cxn ang="0">
                    <a:pos x="182" y="0"/>
                  </a:cxn>
                </a:cxnLst>
                <a:rect l="0" t="0" r="r" b="b"/>
                <a:pathLst>
                  <a:path w="182" h="287">
                    <a:moveTo>
                      <a:pt x="182" y="0"/>
                    </a:moveTo>
                    <a:lnTo>
                      <a:pt x="0" y="146"/>
                    </a:lnTo>
                    <a:lnTo>
                      <a:pt x="0" y="287"/>
                    </a:lnTo>
                    <a:lnTo>
                      <a:pt x="182" y="125"/>
                    </a:lnTo>
                    <a:lnTo>
                      <a:pt x="182" y="0"/>
                    </a:lnTo>
                  </a:path>
                </a:pathLst>
              </a:custGeom>
              <a:gradFill rotWithShape="0">
                <a:gsLst>
                  <a:gs pos="0">
                    <a:srgbClr val="CECECE"/>
                  </a:gs>
                  <a:gs pos="100000">
                    <a:srgbClr val="CECECE">
                      <a:gamma/>
                      <a:shade val="66275"/>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6764" name="Freeform 156"/>
              <p:cNvSpPr>
                <a:spLocks/>
              </p:cNvSpPr>
              <p:nvPr/>
            </p:nvSpPr>
            <p:spPr bwMode="auto">
              <a:xfrm>
                <a:off x="3828" y="1193"/>
                <a:ext cx="355" cy="112"/>
              </a:xfrm>
              <a:custGeom>
                <a:avLst/>
                <a:gdLst/>
                <a:ahLst/>
                <a:cxnLst>
                  <a:cxn ang="0">
                    <a:pos x="0" y="128"/>
                  </a:cxn>
                  <a:cxn ang="0">
                    <a:pos x="257" y="0"/>
                  </a:cxn>
                  <a:cxn ang="0">
                    <a:pos x="727" y="82"/>
                  </a:cxn>
                  <a:cxn ang="0">
                    <a:pos x="544" y="229"/>
                  </a:cxn>
                  <a:cxn ang="0">
                    <a:pos x="0" y="128"/>
                  </a:cxn>
                </a:cxnLst>
                <a:rect l="0" t="0" r="r" b="b"/>
                <a:pathLst>
                  <a:path w="728" h="230">
                    <a:moveTo>
                      <a:pt x="0" y="128"/>
                    </a:moveTo>
                    <a:lnTo>
                      <a:pt x="257" y="0"/>
                    </a:lnTo>
                    <a:lnTo>
                      <a:pt x="727" y="82"/>
                    </a:lnTo>
                    <a:lnTo>
                      <a:pt x="544" y="229"/>
                    </a:lnTo>
                    <a:lnTo>
                      <a:pt x="0" y="128"/>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6765" name="Freeform 157"/>
              <p:cNvSpPr>
                <a:spLocks/>
              </p:cNvSpPr>
              <p:nvPr/>
            </p:nvSpPr>
            <p:spPr bwMode="auto">
              <a:xfrm>
                <a:off x="3826" y="1266"/>
                <a:ext cx="353" cy="73"/>
              </a:xfrm>
              <a:custGeom>
                <a:avLst/>
                <a:gdLst/>
                <a:ahLst/>
                <a:cxnLst>
                  <a:cxn ang="0">
                    <a:pos x="725" y="0"/>
                  </a:cxn>
                  <a:cxn ang="0">
                    <a:pos x="548" y="150"/>
                  </a:cxn>
                  <a:cxn ang="0">
                    <a:pos x="0" y="43"/>
                  </a:cxn>
                </a:cxnLst>
                <a:rect l="0" t="0" r="r" b="b"/>
                <a:pathLst>
                  <a:path w="725" h="150">
                    <a:moveTo>
                      <a:pt x="725" y="0"/>
                    </a:moveTo>
                    <a:lnTo>
                      <a:pt x="548" y="150"/>
                    </a:lnTo>
                    <a:lnTo>
                      <a:pt x="0" y="43"/>
                    </a:lnTo>
                  </a:path>
                </a:pathLst>
              </a:custGeom>
              <a:noFill/>
              <a:ln w="3175" cap="rnd" cmpd="sng">
                <a:solidFill>
                  <a:srgbClr val="000000"/>
                </a:solidFill>
                <a:prstDash val="solid"/>
                <a:round/>
                <a:headEnd type="none" w="med" len="med"/>
                <a:tailEnd type="none" w="med" len="med"/>
              </a:ln>
              <a:effectLst/>
            </p:spPr>
            <p:txBody>
              <a:bodyPr/>
              <a:lstStyle/>
              <a:p>
                <a:endParaRPr lang="fr-FR"/>
              </a:p>
            </p:txBody>
          </p:sp>
          <p:grpSp>
            <p:nvGrpSpPr>
              <p:cNvPr id="196766" name="Group 158"/>
              <p:cNvGrpSpPr>
                <a:grpSpLocks/>
              </p:cNvGrpSpPr>
              <p:nvPr/>
            </p:nvGrpSpPr>
            <p:grpSpPr bwMode="auto">
              <a:xfrm>
                <a:off x="4242" y="1206"/>
                <a:ext cx="174" cy="108"/>
                <a:chOff x="4242" y="1206"/>
                <a:chExt cx="174" cy="108"/>
              </a:xfrm>
            </p:grpSpPr>
            <p:sp>
              <p:nvSpPr>
                <p:cNvPr id="196767" name="Freeform 159"/>
                <p:cNvSpPr>
                  <a:spLocks/>
                </p:cNvSpPr>
                <p:nvPr/>
              </p:nvSpPr>
              <p:spPr bwMode="auto">
                <a:xfrm>
                  <a:off x="4244" y="1228"/>
                  <a:ext cx="172" cy="86"/>
                </a:xfrm>
                <a:custGeom>
                  <a:avLst/>
                  <a:gdLst/>
                  <a:ahLst/>
                  <a:cxnLst>
                    <a:cxn ang="0">
                      <a:pos x="172" y="0"/>
                    </a:cxn>
                    <a:cxn ang="0">
                      <a:pos x="172" y="45"/>
                    </a:cxn>
                    <a:cxn ang="0">
                      <a:pos x="148" y="86"/>
                    </a:cxn>
                    <a:cxn ang="0">
                      <a:pos x="0" y="65"/>
                    </a:cxn>
                    <a:cxn ang="0">
                      <a:pos x="1" y="49"/>
                    </a:cxn>
                  </a:cxnLst>
                  <a:rect l="0" t="0" r="r" b="b"/>
                  <a:pathLst>
                    <a:path w="172" h="86">
                      <a:moveTo>
                        <a:pt x="172" y="0"/>
                      </a:moveTo>
                      <a:lnTo>
                        <a:pt x="172" y="45"/>
                      </a:lnTo>
                      <a:lnTo>
                        <a:pt x="148" y="86"/>
                      </a:lnTo>
                      <a:lnTo>
                        <a:pt x="0" y="65"/>
                      </a:lnTo>
                      <a:lnTo>
                        <a:pt x="1" y="49"/>
                      </a:lnTo>
                    </a:path>
                  </a:pathLst>
                </a:custGeom>
                <a:solidFill>
                  <a:srgbClr val="969696"/>
                </a:solid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FR"/>
                </a:p>
              </p:txBody>
            </p:sp>
            <p:sp>
              <p:nvSpPr>
                <p:cNvPr id="196768" name="Freeform 160"/>
                <p:cNvSpPr>
                  <a:spLocks/>
                </p:cNvSpPr>
                <p:nvPr/>
              </p:nvSpPr>
              <p:spPr bwMode="auto">
                <a:xfrm>
                  <a:off x="4242" y="1206"/>
                  <a:ext cx="174" cy="100"/>
                </a:xfrm>
                <a:custGeom>
                  <a:avLst/>
                  <a:gdLst/>
                  <a:ahLst/>
                  <a:cxnLst>
                    <a:cxn ang="0">
                      <a:pos x="357" y="41"/>
                    </a:cxn>
                    <a:cxn ang="0">
                      <a:pos x="55" y="0"/>
                    </a:cxn>
                    <a:cxn ang="0">
                      <a:pos x="0" y="158"/>
                    </a:cxn>
                    <a:cxn ang="0">
                      <a:pos x="302" y="203"/>
                    </a:cxn>
                    <a:cxn ang="0">
                      <a:pos x="357" y="41"/>
                    </a:cxn>
                  </a:cxnLst>
                  <a:rect l="0" t="0" r="r" b="b"/>
                  <a:pathLst>
                    <a:path w="358" h="204">
                      <a:moveTo>
                        <a:pt x="357" y="41"/>
                      </a:moveTo>
                      <a:lnTo>
                        <a:pt x="55" y="0"/>
                      </a:lnTo>
                      <a:lnTo>
                        <a:pt x="0" y="158"/>
                      </a:lnTo>
                      <a:lnTo>
                        <a:pt x="302" y="203"/>
                      </a:lnTo>
                      <a:lnTo>
                        <a:pt x="357" y="41"/>
                      </a:lnTo>
                    </a:path>
                  </a:pathLst>
                </a:custGeom>
                <a:solidFill>
                  <a:srgbClr val="FCFEB9"/>
                </a:solidFill>
                <a:ln w="3175" cap="rnd" cmpd="sng">
                  <a:solidFill>
                    <a:schemeClr val="tx1"/>
                  </a:solidFill>
                  <a:prstDash val="solid"/>
                  <a:round/>
                  <a:headEnd type="none" w="med" len="med"/>
                  <a:tailEnd type="none" w="med" len="med"/>
                </a:ln>
                <a:effectLst/>
              </p:spPr>
              <p:txBody>
                <a:bodyPr/>
                <a:lstStyle/>
                <a:p>
                  <a:endParaRPr lang="fr-FR"/>
                </a:p>
              </p:txBody>
            </p:sp>
            <p:sp>
              <p:nvSpPr>
                <p:cNvPr id="196769" name="Freeform 161"/>
                <p:cNvSpPr>
                  <a:spLocks/>
                </p:cNvSpPr>
                <p:nvPr/>
              </p:nvSpPr>
              <p:spPr bwMode="auto">
                <a:xfrm>
                  <a:off x="4363" y="1253"/>
                  <a:ext cx="30" cy="19"/>
                </a:xfrm>
                <a:custGeom>
                  <a:avLst/>
                  <a:gdLst/>
                  <a:ahLst/>
                  <a:cxnLst>
                    <a:cxn ang="0">
                      <a:pos x="59" y="8"/>
                    </a:cxn>
                    <a:cxn ang="0">
                      <a:pos x="12" y="0"/>
                    </a:cxn>
                    <a:cxn ang="0">
                      <a:pos x="0" y="31"/>
                    </a:cxn>
                    <a:cxn ang="0">
                      <a:pos x="47" y="39"/>
                    </a:cxn>
                    <a:cxn ang="0">
                      <a:pos x="59" y="8"/>
                    </a:cxn>
                  </a:cxnLst>
                  <a:rect l="0" t="0" r="r" b="b"/>
                  <a:pathLst>
                    <a:path w="60" h="40">
                      <a:moveTo>
                        <a:pt x="59" y="8"/>
                      </a:moveTo>
                      <a:lnTo>
                        <a:pt x="12" y="0"/>
                      </a:lnTo>
                      <a:lnTo>
                        <a:pt x="0" y="31"/>
                      </a:lnTo>
                      <a:lnTo>
                        <a:pt x="47" y="39"/>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70" name="Freeform 162"/>
                <p:cNvSpPr>
                  <a:spLocks/>
                </p:cNvSpPr>
                <p:nvPr/>
              </p:nvSpPr>
              <p:spPr bwMode="auto">
                <a:xfrm>
                  <a:off x="4275" y="1216"/>
                  <a:ext cx="125" cy="32"/>
                </a:xfrm>
                <a:custGeom>
                  <a:avLst/>
                  <a:gdLst/>
                  <a:ahLst/>
                  <a:cxnLst>
                    <a:cxn ang="0">
                      <a:pos x="258" y="35"/>
                    </a:cxn>
                    <a:cxn ang="0">
                      <a:pos x="8" y="0"/>
                    </a:cxn>
                    <a:cxn ang="0">
                      <a:pos x="0" y="27"/>
                    </a:cxn>
                    <a:cxn ang="0">
                      <a:pos x="246" y="66"/>
                    </a:cxn>
                    <a:cxn ang="0">
                      <a:pos x="258" y="35"/>
                    </a:cxn>
                  </a:cxnLst>
                  <a:rect l="0" t="0" r="r" b="b"/>
                  <a:pathLst>
                    <a:path w="259" h="67">
                      <a:moveTo>
                        <a:pt x="258" y="35"/>
                      </a:moveTo>
                      <a:lnTo>
                        <a:pt x="8" y="0"/>
                      </a:lnTo>
                      <a:lnTo>
                        <a:pt x="0" y="27"/>
                      </a:lnTo>
                      <a:lnTo>
                        <a:pt x="246" y="66"/>
                      </a:lnTo>
                      <a:lnTo>
                        <a:pt x="258" y="35"/>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71" name="Freeform 163"/>
                <p:cNvSpPr>
                  <a:spLocks/>
                </p:cNvSpPr>
                <p:nvPr/>
              </p:nvSpPr>
              <p:spPr bwMode="auto">
                <a:xfrm>
                  <a:off x="4355" y="1274"/>
                  <a:ext cx="29" cy="20"/>
                </a:xfrm>
                <a:custGeom>
                  <a:avLst/>
                  <a:gdLst/>
                  <a:ahLst/>
                  <a:cxnLst>
                    <a:cxn ang="0">
                      <a:pos x="59" y="8"/>
                    </a:cxn>
                    <a:cxn ang="0">
                      <a:pos x="12" y="0"/>
                    </a:cxn>
                    <a:cxn ang="0">
                      <a:pos x="0" y="31"/>
                    </a:cxn>
                    <a:cxn ang="0">
                      <a:pos x="49" y="39"/>
                    </a:cxn>
                    <a:cxn ang="0">
                      <a:pos x="59" y="8"/>
                    </a:cxn>
                  </a:cxnLst>
                  <a:rect l="0" t="0" r="r" b="b"/>
                  <a:pathLst>
                    <a:path w="60" h="40">
                      <a:moveTo>
                        <a:pt x="59" y="8"/>
                      </a:moveTo>
                      <a:lnTo>
                        <a:pt x="12" y="0"/>
                      </a:lnTo>
                      <a:lnTo>
                        <a:pt x="0" y="31"/>
                      </a:lnTo>
                      <a:lnTo>
                        <a:pt x="49" y="39"/>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72" name="Freeform 164"/>
                <p:cNvSpPr>
                  <a:spLocks/>
                </p:cNvSpPr>
                <p:nvPr/>
              </p:nvSpPr>
              <p:spPr bwMode="auto">
                <a:xfrm>
                  <a:off x="4329" y="1248"/>
                  <a:ext cx="32" cy="19"/>
                </a:xfrm>
                <a:custGeom>
                  <a:avLst/>
                  <a:gdLst/>
                  <a:ahLst/>
                  <a:cxnLst>
                    <a:cxn ang="0">
                      <a:pos x="61" y="8"/>
                    </a:cxn>
                    <a:cxn ang="0">
                      <a:pos x="12" y="0"/>
                    </a:cxn>
                    <a:cxn ang="0">
                      <a:pos x="0" y="30"/>
                    </a:cxn>
                    <a:cxn ang="0">
                      <a:pos x="51" y="38"/>
                    </a:cxn>
                    <a:cxn ang="0">
                      <a:pos x="61" y="8"/>
                    </a:cxn>
                  </a:cxnLst>
                  <a:rect l="0" t="0" r="r" b="b"/>
                  <a:pathLst>
                    <a:path w="62" h="39">
                      <a:moveTo>
                        <a:pt x="61" y="8"/>
                      </a:moveTo>
                      <a:lnTo>
                        <a:pt x="12" y="0"/>
                      </a:lnTo>
                      <a:lnTo>
                        <a:pt x="0" y="30"/>
                      </a:lnTo>
                      <a:lnTo>
                        <a:pt x="51" y="38"/>
                      </a:lnTo>
                      <a:lnTo>
                        <a:pt x="61"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73" name="Freeform 165"/>
                <p:cNvSpPr>
                  <a:spLocks/>
                </p:cNvSpPr>
                <p:nvPr/>
              </p:nvSpPr>
              <p:spPr bwMode="auto">
                <a:xfrm>
                  <a:off x="4324" y="1269"/>
                  <a:ext cx="29" cy="18"/>
                </a:xfrm>
                <a:custGeom>
                  <a:avLst/>
                  <a:gdLst/>
                  <a:ahLst/>
                  <a:cxnLst>
                    <a:cxn ang="0">
                      <a:pos x="59" y="8"/>
                    </a:cxn>
                    <a:cxn ang="0">
                      <a:pos x="10" y="0"/>
                    </a:cxn>
                    <a:cxn ang="0">
                      <a:pos x="0" y="31"/>
                    </a:cxn>
                    <a:cxn ang="0">
                      <a:pos x="49" y="37"/>
                    </a:cxn>
                    <a:cxn ang="0">
                      <a:pos x="59" y="8"/>
                    </a:cxn>
                  </a:cxnLst>
                  <a:rect l="0" t="0" r="r" b="b"/>
                  <a:pathLst>
                    <a:path w="60" h="38">
                      <a:moveTo>
                        <a:pt x="59" y="8"/>
                      </a:moveTo>
                      <a:lnTo>
                        <a:pt x="10" y="0"/>
                      </a:lnTo>
                      <a:lnTo>
                        <a:pt x="0" y="31"/>
                      </a:lnTo>
                      <a:lnTo>
                        <a:pt x="49" y="37"/>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74" name="Freeform 166"/>
                <p:cNvSpPr>
                  <a:spLocks/>
                </p:cNvSpPr>
                <p:nvPr/>
              </p:nvSpPr>
              <p:spPr bwMode="auto">
                <a:xfrm>
                  <a:off x="4298" y="1244"/>
                  <a:ext cx="30" cy="17"/>
                </a:xfrm>
                <a:custGeom>
                  <a:avLst/>
                  <a:gdLst/>
                  <a:ahLst/>
                  <a:cxnLst>
                    <a:cxn ang="0">
                      <a:pos x="61" y="8"/>
                    </a:cxn>
                    <a:cxn ang="0">
                      <a:pos x="12" y="0"/>
                    </a:cxn>
                    <a:cxn ang="0">
                      <a:pos x="0" y="30"/>
                    </a:cxn>
                    <a:cxn ang="0">
                      <a:pos x="49" y="36"/>
                    </a:cxn>
                    <a:cxn ang="0">
                      <a:pos x="61" y="8"/>
                    </a:cxn>
                  </a:cxnLst>
                  <a:rect l="0" t="0" r="r" b="b"/>
                  <a:pathLst>
                    <a:path w="62" h="37">
                      <a:moveTo>
                        <a:pt x="61" y="8"/>
                      </a:moveTo>
                      <a:lnTo>
                        <a:pt x="12" y="0"/>
                      </a:lnTo>
                      <a:lnTo>
                        <a:pt x="0" y="30"/>
                      </a:lnTo>
                      <a:lnTo>
                        <a:pt x="49" y="36"/>
                      </a:lnTo>
                      <a:lnTo>
                        <a:pt x="61"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75" name="Freeform 167"/>
                <p:cNvSpPr>
                  <a:spLocks/>
                </p:cNvSpPr>
                <p:nvPr/>
              </p:nvSpPr>
              <p:spPr bwMode="auto">
                <a:xfrm>
                  <a:off x="4290" y="1266"/>
                  <a:ext cx="31" cy="18"/>
                </a:xfrm>
                <a:custGeom>
                  <a:avLst/>
                  <a:gdLst/>
                  <a:ahLst/>
                  <a:cxnLst>
                    <a:cxn ang="0">
                      <a:pos x="59" y="8"/>
                    </a:cxn>
                    <a:cxn ang="0">
                      <a:pos x="10" y="0"/>
                    </a:cxn>
                    <a:cxn ang="0">
                      <a:pos x="0" y="28"/>
                    </a:cxn>
                    <a:cxn ang="0">
                      <a:pos x="47" y="36"/>
                    </a:cxn>
                    <a:cxn ang="0">
                      <a:pos x="59" y="8"/>
                    </a:cxn>
                  </a:cxnLst>
                  <a:rect l="0" t="0" r="r" b="b"/>
                  <a:pathLst>
                    <a:path w="60" h="37">
                      <a:moveTo>
                        <a:pt x="59" y="8"/>
                      </a:moveTo>
                      <a:lnTo>
                        <a:pt x="10" y="0"/>
                      </a:lnTo>
                      <a:lnTo>
                        <a:pt x="0" y="28"/>
                      </a:lnTo>
                      <a:lnTo>
                        <a:pt x="47" y="36"/>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76" name="Freeform 168"/>
                <p:cNvSpPr>
                  <a:spLocks/>
                </p:cNvSpPr>
                <p:nvPr/>
              </p:nvSpPr>
              <p:spPr bwMode="auto">
                <a:xfrm>
                  <a:off x="4268" y="1239"/>
                  <a:ext cx="28" cy="17"/>
                </a:xfrm>
                <a:custGeom>
                  <a:avLst/>
                  <a:gdLst/>
                  <a:ahLst/>
                  <a:cxnLst>
                    <a:cxn ang="0">
                      <a:pos x="59" y="6"/>
                    </a:cxn>
                    <a:cxn ang="0">
                      <a:pos x="10" y="0"/>
                    </a:cxn>
                    <a:cxn ang="0">
                      <a:pos x="0" y="29"/>
                    </a:cxn>
                    <a:cxn ang="0">
                      <a:pos x="47" y="37"/>
                    </a:cxn>
                    <a:cxn ang="0">
                      <a:pos x="59" y="6"/>
                    </a:cxn>
                  </a:cxnLst>
                  <a:rect l="0" t="0" r="r" b="b"/>
                  <a:pathLst>
                    <a:path w="60" h="38">
                      <a:moveTo>
                        <a:pt x="59" y="6"/>
                      </a:moveTo>
                      <a:lnTo>
                        <a:pt x="10" y="0"/>
                      </a:lnTo>
                      <a:lnTo>
                        <a:pt x="0" y="29"/>
                      </a:lnTo>
                      <a:lnTo>
                        <a:pt x="47" y="37"/>
                      </a:lnTo>
                      <a:lnTo>
                        <a:pt x="59" y="6"/>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6777" name="Freeform 169"/>
                <p:cNvSpPr>
                  <a:spLocks/>
                </p:cNvSpPr>
                <p:nvPr/>
              </p:nvSpPr>
              <p:spPr bwMode="auto">
                <a:xfrm>
                  <a:off x="4259" y="1260"/>
                  <a:ext cx="29" cy="19"/>
                </a:xfrm>
                <a:custGeom>
                  <a:avLst/>
                  <a:gdLst/>
                  <a:ahLst/>
                  <a:cxnLst>
                    <a:cxn ang="0">
                      <a:pos x="59" y="8"/>
                    </a:cxn>
                    <a:cxn ang="0">
                      <a:pos x="10" y="0"/>
                    </a:cxn>
                    <a:cxn ang="0">
                      <a:pos x="0" y="28"/>
                    </a:cxn>
                    <a:cxn ang="0">
                      <a:pos x="47" y="36"/>
                    </a:cxn>
                    <a:cxn ang="0">
                      <a:pos x="59" y="8"/>
                    </a:cxn>
                  </a:cxnLst>
                  <a:rect l="0" t="0" r="r" b="b"/>
                  <a:pathLst>
                    <a:path w="60" h="37">
                      <a:moveTo>
                        <a:pt x="59" y="8"/>
                      </a:moveTo>
                      <a:lnTo>
                        <a:pt x="10" y="0"/>
                      </a:lnTo>
                      <a:lnTo>
                        <a:pt x="0" y="28"/>
                      </a:lnTo>
                      <a:lnTo>
                        <a:pt x="47" y="36"/>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grpSp>
        </p:grpSp>
      </p:grpSp>
      <p:sp>
        <p:nvSpPr>
          <p:cNvPr id="196779" name="Text Box 171"/>
          <p:cNvSpPr txBox="1">
            <a:spLocks noChangeArrowheads="1"/>
          </p:cNvSpPr>
          <p:nvPr/>
        </p:nvSpPr>
        <p:spPr bwMode="auto">
          <a:xfrm>
            <a:off x="3779838" y="3438678"/>
            <a:ext cx="360362" cy="703839"/>
          </a:xfrm>
          <a:prstGeom prst="rect">
            <a:avLst/>
          </a:prstGeom>
          <a:solidFill>
            <a:srgbClr val="3366FF"/>
          </a:solidFill>
          <a:ln w="9525">
            <a:solidFill>
              <a:srgbClr val="3366FF"/>
            </a:solidFill>
            <a:miter lim="800000"/>
            <a:headEnd/>
            <a:tailEnd/>
          </a:ln>
          <a:effectLst>
            <a:outerShdw dist="71842" dir="2700000" algn="ctr" rotWithShape="0">
              <a:srgbClr val="969696"/>
            </a:outerShdw>
          </a:effectLst>
        </p:spPr>
        <p:txBody>
          <a:bodyPr wrap="none" anchor="ctr"/>
          <a:lstStyle/>
          <a:p>
            <a:r>
              <a:rPr lang="en-US" sz="2400" b="1" dirty="0">
                <a:solidFill>
                  <a:srgbClr val="FFFFFF"/>
                </a:solidFill>
                <a:effectLst>
                  <a:outerShdw blurRad="38100" dist="38100" dir="2700000" algn="tl">
                    <a:srgbClr val="000000"/>
                  </a:outerShdw>
                </a:effectLst>
                <a:latin typeface="Arial" charset="0"/>
                <a:cs typeface="Times New Roman" pitchFamily="18" charset="0"/>
              </a:rPr>
              <a:t>2</a:t>
            </a:r>
          </a:p>
        </p:txBody>
      </p:sp>
      <p:sp>
        <p:nvSpPr>
          <p:cNvPr id="196780" name="Text Box 172"/>
          <p:cNvSpPr txBox="1">
            <a:spLocks noChangeArrowheads="1"/>
          </p:cNvSpPr>
          <p:nvPr/>
        </p:nvSpPr>
        <p:spPr bwMode="auto">
          <a:xfrm>
            <a:off x="4143374" y="3438678"/>
            <a:ext cx="4806661" cy="707886"/>
          </a:xfrm>
          <a:prstGeom prst="rect">
            <a:avLst/>
          </a:prstGeom>
          <a:gradFill rotWithShape="0">
            <a:gsLst>
              <a:gs pos="0">
                <a:srgbClr val="CCECFF"/>
              </a:gs>
              <a:gs pos="100000">
                <a:srgbClr val="CCECFF">
                  <a:gamma/>
                  <a:tint val="0"/>
                  <a:invGamma/>
                </a:srgbClr>
              </a:gs>
            </a:gsLst>
            <a:lin ang="5400000" scaled="1"/>
          </a:gradFill>
          <a:ln w="9525">
            <a:solidFill>
              <a:srgbClr val="3366FF"/>
            </a:solidFill>
            <a:miter lim="800000"/>
            <a:headEnd/>
            <a:tailEnd/>
          </a:ln>
          <a:effectLst>
            <a:outerShdw dist="71842" dir="2700000" algn="ctr" rotWithShape="0">
              <a:srgbClr val="969696"/>
            </a:outerShdw>
          </a:effectLst>
        </p:spPr>
        <p:txBody>
          <a:bodyPr wrap="square">
            <a:spAutoFit/>
          </a:bodyPr>
          <a:lstStyle/>
          <a:p>
            <a:r>
              <a:rPr lang="en-US" sz="2000" b="1" dirty="0">
                <a:latin typeface="Arial" charset="0"/>
                <a:cs typeface="Times New Roman" pitchFamily="18" charset="0"/>
              </a:rPr>
              <a:t>Windows </a:t>
            </a:r>
            <a:r>
              <a:rPr lang="en-US" sz="2000" b="1" dirty="0" err="1">
                <a:latin typeface="Arial" charset="0"/>
                <a:cs typeface="Times New Roman" pitchFamily="18" charset="0"/>
              </a:rPr>
              <a:t>installe</a:t>
            </a:r>
            <a:r>
              <a:rPr lang="en-US" sz="2000" b="1" dirty="0">
                <a:latin typeface="Arial" charset="0"/>
                <a:cs typeface="Times New Roman" pitchFamily="18" charset="0"/>
              </a:rPr>
              <a:t> </a:t>
            </a:r>
            <a:r>
              <a:rPr lang="en-US" sz="2000" b="1" dirty="0" err="1">
                <a:latin typeface="Arial" charset="0"/>
                <a:cs typeface="Times New Roman" pitchFamily="18" charset="0"/>
              </a:rPr>
              <a:t>automatiquement</a:t>
            </a:r>
            <a:r>
              <a:rPr lang="en-US" sz="2000" b="1" dirty="0">
                <a:latin typeface="Arial" charset="0"/>
                <a:cs typeface="Times New Roman" pitchFamily="18" charset="0"/>
              </a:rPr>
              <a:t> le </a:t>
            </a:r>
            <a:r>
              <a:rPr lang="en-US" sz="2000" b="1" dirty="0" err="1">
                <a:latin typeface="Arial" charset="0"/>
                <a:cs typeface="Times New Roman" pitchFamily="18" charset="0"/>
              </a:rPr>
              <a:t>périphérique</a:t>
            </a:r>
            <a:endParaRPr lang="en-US" sz="2000" b="1" dirty="0">
              <a:latin typeface="Arial" charset="0"/>
              <a:cs typeface="Times New Roman" pitchFamily="18" charset="0"/>
            </a:endParaRPr>
          </a:p>
        </p:txBody>
      </p:sp>
      <p:sp>
        <p:nvSpPr>
          <p:cNvPr id="196782" name="Text Box 174"/>
          <p:cNvSpPr txBox="1">
            <a:spLocks noChangeArrowheads="1"/>
          </p:cNvSpPr>
          <p:nvPr/>
        </p:nvSpPr>
        <p:spPr bwMode="auto">
          <a:xfrm>
            <a:off x="4822825" y="5597678"/>
            <a:ext cx="360363" cy="650875"/>
          </a:xfrm>
          <a:prstGeom prst="rect">
            <a:avLst/>
          </a:prstGeom>
          <a:solidFill>
            <a:srgbClr val="3366FF"/>
          </a:solidFill>
          <a:ln w="9525">
            <a:solidFill>
              <a:srgbClr val="3366FF"/>
            </a:solidFill>
            <a:miter lim="800000"/>
            <a:headEnd/>
            <a:tailEnd/>
          </a:ln>
          <a:effectLst>
            <a:outerShdw dist="63500" dir="2212194" algn="ctr" rotWithShape="0">
              <a:srgbClr val="969696"/>
            </a:outerShdw>
          </a:effectLst>
        </p:spPr>
        <p:txBody>
          <a:bodyPr wrap="none" anchor="ctr"/>
          <a:lstStyle/>
          <a:p>
            <a:r>
              <a:rPr lang="en-US" sz="2400" b="1">
                <a:solidFill>
                  <a:srgbClr val="FFFFFF"/>
                </a:solidFill>
                <a:effectLst>
                  <a:outerShdw blurRad="38100" dist="38100" dir="2700000" algn="tl">
                    <a:srgbClr val="000000"/>
                  </a:outerShdw>
                </a:effectLst>
                <a:latin typeface="Arial" charset="0"/>
                <a:cs typeface="Times New Roman" pitchFamily="18" charset="0"/>
              </a:rPr>
              <a:t>3</a:t>
            </a:r>
          </a:p>
        </p:txBody>
      </p:sp>
      <p:sp>
        <p:nvSpPr>
          <p:cNvPr id="196783" name="Text Box 175"/>
          <p:cNvSpPr txBox="1">
            <a:spLocks noChangeArrowheads="1"/>
          </p:cNvSpPr>
          <p:nvPr/>
        </p:nvSpPr>
        <p:spPr bwMode="auto">
          <a:xfrm>
            <a:off x="5186363" y="5597678"/>
            <a:ext cx="3791382" cy="650875"/>
          </a:xfrm>
          <a:prstGeom prst="rect">
            <a:avLst/>
          </a:prstGeom>
          <a:gradFill rotWithShape="0">
            <a:gsLst>
              <a:gs pos="0">
                <a:srgbClr val="CCECFF"/>
              </a:gs>
              <a:gs pos="100000">
                <a:srgbClr val="CCECFF">
                  <a:gamma/>
                  <a:tint val="0"/>
                  <a:invGamma/>
                </a:srgbClr>
              </a:gs>
            </a:gsLst>
            <a:lin ang="5400000" scaled="1"/>
          </a:gradFill>
          <a:ln w="9525">
            <a:solidFill>
              <a:srgbClr val="3366FF"/>
            </a:solidFill>
            <a:miter lim="800000"/>
            <a:headEnd/>
            <a:tailEnd/>
          </a:ln>
          <a:effectLst>
            <a:outerShdw dist="71842" dir="2700000" algn="ctr" rotWithShape="0">
              <a:srgbClr val="969696"/>
            </a:outerShdw>
          </a:effectLst>
        </p:spPr>
        <p:txBody>
          <a:bodyPr/>
          <a:lstStyle/>
          <a:p>
            <a:r>
              <a:rPr lang="en-US" sz="2000" b="1" dirty="0" err="1">
                <a:latin typeface="Arial" charset="0"/>
                <a:cs typeface="Times New Roman" pitchFamily="18" charset="0"/>
              </a:rPr>
              <a:t>Vous</a:t>
            </a:r>
            <a:r>
              <a:rPr lang="en-US" sz="2000" b="1" dirty="0">
                <a:latin typeface="Arial" charset="0"/>
                <a:cs typeface="Times New Roman" pitchFamily="18" charset="0"/>
              </a:rPr>
              <a:t> </a:t>
            </a:r>
            <a:r>
              <a:rPr lang="en-US" sz="2000" b="1" dirty="0" err="1">
                <a:latin typeface="Arial" charset="0"/>
                <a:cs typeface="Times New Roman" pitchFamily="18" charset="0"/>
              </a:rPr>
              <a:t>pouvez</a:t>
            </a:r>
            <a:r>
              <a:rPr lang="en-US" sz="2000" b="1" dirty="0">
                <a:latin typeface="Arial" charset="0"/>
                <a:cs typeface="Times New Roman" pitchFamily="18" charset="0"/>
              </a:rPr>
              <a:t> commencer à </a:t>
            </a:r>
            <a:r>
              <a:rPr lang="en-US" sz="2000" b="1" dirty="0" err="1">
                <a:latin typeface="Arial" charset="0"/>
                <a:cs typeface="Times New Roman" pitchFamily="18" charset="0"/>
              </a:rPr>
              <a:t>utiliser</a:t>
            </a:r>
            <a:r>
              <a:rPr lang="en-US" sz="2000" b="1" dirty="0">
                <a:latin typeface="Arial" charset="0"/>
                <a:cs typeface="Times New Roman" pitchFamily="18" charset="0"/>
              </a:rPr>
              <a:t> le </a:t>
            </a:r>
            <a:r>
              <a:rPr lang="en-US" sz="2000" b="1" dirty="0" err="1">
                <a:latin typeface="Arial" charset="0"/>
                <a:cs typeface="Times New Roman" pitchFamily="18" charset="0"/>
              </a:rPr>
              <a:t>périphérique</a:t>
            </a:r>
            <a:endParaRPr lang="en-US" sz="2000" b="1" dirty="0">
              <a:latin typeface="Arial" charset="0"/>
              <a:cs typeface="Times New Roman" pitchFamily="18" charset="0"/>
            </a:endParaRPr>
          </a:p>
        </p:txBody>
      </p:sp>
      <p:sp>
        <p:nvSpPr>
          <p:cNvPr id="196784" name="AutoShape 176"/>
          <p:cNvSpPr>
            <a:spLocks noChangeArrowheads="1"/>
          </p:cNvSpPr>
          <p:nvPr/>
        </p:nvSpPr>
        <p:spPr bwMode="auto">
          <a:xfrm>
            <a:off x="5437188" y="1989290"/>
            <a:ext cx="1741487" cy="1741488"/>
          </a:xfrm>
          <a:custGeom>
            <a:avLst/>
            <a:gdLst>
              <a:gd name="G0" fmla="+- 0 0 0"/>
              <a:gd name="G1" fmla="+- -5918872 0 0"/>
              <a:gd name="G2" fmla="+- 0 0 -5918872"/>
              <a:gd name="G3" fmla="+- 10800 0 0"/>
              <a:gd name="G4" fmla="+- 0 0 0"/>
              <a:gd name="T0" fmla="*/ 360 256 1"/>
              <a:gd name="T1" fmla="*/ 0 256 1"/>
              <a:gd name="G5" fmla="+- G2 T0 T1"/>
              <a:gd name="G6" fmla="?: G2 G2 G5"/>
              <a:gd name="G7" fmla="+- 0 0 G6"/>
              <a:gd name="G8" fmla="+- 5400 0 0"/>
              <a:gd name="G9" fmla="+- 0 0 -5918872"/>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5918872"/>
              <a:gd name="G36" fmla="sin G34 -5918872"/>
              <a:gd name="G37" fmla="+/ -5918872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8415 w 21600"/>
              <a:gd name="T5" fmla="*/ 3142 h 21600"/>
              <a:gd name="T6" fmla="*/ 10755 w 21600"/>
              <a:gd name="T7" fmla="*/ 2700 h 21600"/>
              <a:gd name="T8" fmla="*/ 14607 w 21600"/>
              <a:gd name="T9" fmla="*/ 6971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10790" y="5399"/>
                  <a:pt x="10780" y="5400"/>
                  <a:pt x="10770" y="5400"/>
                </a:cubicBezTo>
                <a:lnTo>
                  <a:pt x="10740" y="0"/>
                </a:lnTo>
                <a:cubicBezTo>
                  <a:pt x="10760" y="0"/>
                  <a:pt x="10780"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0">
            <a:gsLst>
              <a:gs pos="0">
                <a:srgbClr val="D60093"/>
              </a:gs>
              <a:gs pos="100000">
                <a:srgbClr val="D60093">
                  <a:gamma/>
                  <a:tint val="33333"/>
                  <a:invGamma/>
                </a:srgbClr>
              </a:gs>
            </a:gsLst>
            <a:lin ang="5400000" scaled="1"/>
          </a:gradFill>
          <a:ln w="6350">
            <a:solidFill>
              <a:srgbClr val="660066"/>
            </a:solidFill>
            <a:miter lim="800000"/>
            <a:headEnd/>
            <a:tailEnd/>
          </a:ln>
          <a:effectLst>
            <a:outerShdw dist="45791" dir="2021404" algn="ctr" rotWithShape="0">
              <a:srgbClr val="B2B2B2"/>
            </a:outerShdw>
          </a:effectLst>
        </p:spPr>
        <p:txBody>
          <a:bodyPr tIns="27432" bIns="27432" anchor="ctr">
            <a:spAutoFit/>
          </a:bodyPr>
          <a:lstStyle/>
          <a:p>
            <a:endParaRPr lang="fr-FR"/>
          </a:p>
        </p:txBody>
      </p:sp>
      <p:sp>
        <p:nvSpPr>
          <p:cNvPr id="196785" name="AutoShape 177"/>
          <p:cNvSpPr>
            <a:spLocks noChangeArrowheads="1"/>
          </p:cNvSpPr>
          <p:nvPr/>
        </p:nvSpPr>
        <p:spPr bwMode="auto">
          <a:xfrm>
            <a:off x="5300663" y="3581553"/>
            <a:ext cx="1879600" cy="1879600"/>
          </a:xfrm>
          <a:custGeom>
            <a:avLst/>
            <a:gdLst>
              <a:gd name="G0" fmla="+- 2940897 0 0"/>
              <a:gd name="G1" fmla="+- 3080 0 0"/>
              <a:gd name="G2" fmla="+- 2940897 0 3080"/>
              <a:gd name="G3" fmla="+- 10800 0 0"/>
              <a:gd name="G4" fmla="+- 0 0 2940897"/>
              <a:gd name="T0" fmla="*/ 360 256 1"/>
              <a:gd name="T1" fmla="*/ 0 256 1"/>
              <a:gd name="G5" fmla="+- G2 T0 T1"/>
              <a:gd name="G6" fmla="?: G2 G2 G5"/>
              <a:gd name="G7" fmla="+- 0 0 G6"/>
              <a:gd name="G8" fmla="+- 6135 0 0"/>
              <a:gd name="G9" fmla="+- 0 0 3080"/>
              <a:gd name="G10" fmla="+- 6135 0 2700"/>
              <a:gd name="G11" fmla="cos G10 2940897"/>
              <a:gd name="G12" fmla="sin G10 2940897"/>
              <a:gd name="G13" fmla="cos 13500 2940897"/>
              <a:gd name="G14" fmla="sin 13500 2940897"/>
              <a:gd name="G15" fmla="+- G11 10800 0"/>
              <a:gd name="G16" fmla="+- G12 10800 0"/>
              <a:gd name="G17" fmla="+- G13 10800 0"/>
              <a:gd name="G18" fmla="+- G14 10800 0"/>
              <a:gd name="G19" fmla="*/ 6135 1 2"/>
              <a:gd name="G20" fmla="+- G19 5400 0"/>
              <a:gd name="G21" fmla="cos G20 2940897"/>
              <a:gd name="G22" fmla="sin G20 2940897"/>
              <a:gd name="G23" fmla="+- G21 10800 0"/>
              <a:gd name="G24" fmla="+- G12 G23 G22"/>
              <a:gd name="G25" fmla="+- G22 G23 G11"/>
              <a:gd name="G26" fmla="cos 10800 2940897"/>
              <a:gd name="G27" fmla="sin 10800 2940897"/>
              <a:gd name="G28" fmla="cos 6135 2940897"/>
              <a:gd name="G29" fmla="sin 6135 2940897"/>
              <a:gd name="G30" fmla="+- G26 10800 0"/>
              <a:gd name="G31" fmla="+- G27 10800 0"/>
              <a:gd name="G32" fmla="+- G28 10800 0"/>
              <a:gd name="G33" fmla="+- G29 10800 0"/>
              <a:gd name="G34" fmla="+- G19 5400 0"/>
              <a:gd name="G35" fmla="cos G34 3080"/>
              <a:gd name="G36" fmla="sin G34 3080"/>
              <a:gd name="G37" fmla="+/ 3080 2940897 2"/>
              <a:gd name="T2" fmla="*/ 180 256 1"/>
              <a:gd name="T3" fmla="*/ 0 256 1"/>
              <a:gd name="G38" fmla="+- G37 T2 T3"/>
              <a:gd name="G39" fmla="?: G2 G37 G38"/>
              <a:gd name="G40" fmla="cos 10800 G39"/>
              <a:gd name="G41" fmla="sin 10800 G39"/>
              <a:gd name="G42" fmla="cos 6135 G39"/>
              <a:gd name="G43" fmla="sin 6135 G39"/>
              <a:gd name="G44" fmla="+- G40 10800 0"/>
              <a:gd name="G45" fmla="+- G41 10800 0"/>
              <a:gd name="G46" fmla="+- G42 10800 0"/>
              <a:gd name="G47" fmla="+- G43 10800 0"/>
              <a:gd name="G48" fmla="+- G35 10800 0"/>
              <a:gd name="G49" fmla="+- G36 10800 0"/>
              <a:gd name="T4" fmla="*/ 20780 w 21600"/>
              <a:gd name="T5" fmla="*/ 14926 h 21600"/>
              <a:gd name="T6" fmla="*/ 19267 w 21600"/>
              <a:gd name="T7" fmla="*/ 10806 h 21600"/>
              <a:gd name="T8" fmla="*/ 16469 w 21600"/>
              <a:gd name="T9" fmla="*/ 13143 h 21600"/>
              <a:gd name="T10" fmla="*/ 20366 w 21600"/>
              <a:gd name="T11" fmla="*/ 20325 h 21600"/>
              <a:gd name="T12" fmla="*/ 13249 w 21600"/>
              <a:gd name="T13" fmla="*/ 20340 h 21600"/>
              <a:gd name="T14" fmla="*/ 13234 w 21600"/>
              <a:gd name="T15" fmla="*/ 13223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5147" y="15128"/>
                </a:moveTo>
                <a:cubicBezTo>
                  <a:pt x="16291" y="13980"/>
                  <a:pt x="16933" y="12425"/>
                  <a:pt x="16934" y="10805"/>
                </a:cubicBezTo>
                <a:lnTo>
                  <a:pt x="21599" y="10808"/>
                </a:lnTo>
                <a:cubicBezTo>
                  <a:pt x="21597" y="13661"/>
                  <a:pt x="20466" y="16398"/>
                  <a:pt x="18453" y="18420"/>
                </a:cubicBezTo>
                <a:lnTo>
                  <a:pt x="20366" y="20325"/>
                </a:lnTo>
                <a:lnTo>
                  <a:pt x="13249" y="20340"/>
                </a:lnTo>
                <a:lnTo>
                  <a:pt x="13234" y="13223"/>
                </a:lnTo>
                <a:lnTo>
                  <a:pt x="15147" y="15128"/>
                </a:lnTo>
                <a:close/>
              </a:path>
            </a:pathLst>
          </a:custGeom>
          <a:gradFill rotWithShape="0">
            <a:gsLst>
              <a:gs pos="0">
                <a:srgbClr val="D60093"/>
              </a:gs>
              <a:gs pos="100000">
                <a:srgbClr val="D60093">
                  <a:gamma/>
                  <a:tint val="33333"/>
                  <a:invGamma/>
                </a:srgbClr>
              </a:gs>
            </a:gsLst>
            <a:lin ang="5400000" scaled="1"/>
          </a:gradFill>
          <a:ln w="6350">
            <a:solidFill>
              <a:srgbClr val="660066"/>
            </a:solidFill>
            <a:miter lim="800000"/>
            <a:headEnd/>
            <a:tailEnd/>
          </a:ln>
          <a:effectLst>
            <a:outerShdw dist="45791" dir="2021404" algn="ctr" rotWithShape="0">
              <a:srgbClr val="B2B2B2"/>
            </a:outerShdw>
          </a:effectLst>
        </p:spPr>
        <p:txBody>
          <a:bodyPr tIns="27432" bIns="27432" anchor="ctr">
            <a:spAutoFit/>
          </a:bodyP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96711"/>
                                        </p:tgtEl>
                                        <p:attrNameLst>
                                          <p:attrName>style.visibility</p:attrName>
                                        </p:attrNameLst>
                                      </p:cBhvr>
                                      <p:to>
                                        <p:strVal val="visible"/>
                                      </p:to>
                                    </p:set>
                                    <p:animEffect transition="in" filter="checkerboard(across)">
                                      <p:cBhvr>
                                        <p:cTn id="7" dur="1000"/>
                                        <p:tgtEl>
                                          <p:spTgt spid="19671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96614"/>
                                        </p:tgtEl>
                                        <p:attrNameLst>
                                          <p:attrName>style.visibility</p:attrName>
                                        </p:attrNameLst>
                                      </p:cBhvr>
                                      <p:to>
                                        <p:strVal val="visible"/>
                                      </p:to>
                                    </p:set>
                                    <p:animEffect transition="in" filter="checkerboard(across)">
                                      <p:cBhvr>
                                        <p:cTn id="10" dur="1000"/>
                                        <p:tgtEl>
                                          <p:spTgt spid="196614"/>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96615"/>
                                        </p:tgtEl>
                                        <p:attrNameLst>
                                          <p:attrName>style.visibility</p:attrName>
                                        </p:attrNameLst>
                                      </p:cBhvr>
                                      <p:to>
                                        <p:strVal val="visible"/>
                                      </p:to>
                                    </p:set>
                                    <p:animEffect transition="in" filter="checkerboard(across)">
                                      <p:cBhvr>
                                        <p:cTn id="13" dur="1000"/>
                                        <p:tgtEl>
                                          <p:spTgt spid="196615"/>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96784"/>
                                        </p:tgtEl>
                                        <p:attrNameLst>
                                          <p:attrName>style.visibility</p:attrName>
                                        </p:attrNameLst>
                                      </p:cBhvr>
                                      <p:to>
                                        <p:strVal val="visible"/>
                                      </p:to>
                                    </p:set>
                                    <p:animEffect transition="in" filter="checkerboard(across)">
                                      <p:cBhvr>
                                        <p:cTn id="18" dur="1000"/>
                                        <p:tgtEl>
                                          <p:spTgt spid="196784"/>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196779"/>
                                        </p:tgtEl>
                                        <p:attrNameLst>
                                          <p:attrName>style.visibility</p:attrName>
                                        </p:attrNameLst>
                                      </p:cBhvr>
                                      <p:to>
                                        <p:strVal val="visible"/>
                                      </p:to>
                                    </p:set>
                                    <p:animEffect transition="in" filter="checkerboard(across)">
                                      <p:cBhvr>
                                        <p:cTn id="21" dur="1000"/>
                                        <p:tgtEl>
                                          <p:spTgt spid="196779"/>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96780"/>
                                        </p:tgtEl>
                                        <p:attrNameLst>
                                          <p:attrName>style.visibility</p:attrName>
                                        </p:attrNameLst>
                                      </p:cBhvr>
                                      <p:to>
                                        <p:strVal val="visible"/>
                                      </p:to>
                                    </p:set>
                                    <p:animEffect transition="in" filter="checkerboard(across)">
                                      <p:cBhvr>
                                        <p:cTn id="24" dur="1000"/>
                                        <p:tgtEl>
                                          <p:spTgt spid="196780"/>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196785"/>
                                        </p:tgtEl>
                                        <p:attrNameLst>
                                          <p:attrName>style.visibility</p:attrName>
                                        </p:attrNameLst>
                                      </p:cBhvr>
                                      <p:to>
                                        <p:strVal val="visible"/>
                                      </p:to>
                                    </p:set>
                                    <p:animEffect transition="in" filter="checkerboard(across)">
                                      <p:cBhvr>
                                        <p:cTn id="29" dur="1000"/>
                                        <p:tgtEl>
                                          <p:spTgt spid="196785"/>
                                        </p:tgtEl>
                                      </p:cBhvr>
                                    </p:animEffect>
                                  </p:childTnLst>
                                </p:cTn>
                              </p:par>
                              <p:par>
                                <p:cTn id="30" presetID="5" presetClass="entr" presetSubtype="10" fill="hold" nodeType="withEffect">
                                  <p:stCondLst>
                                    <p:cond delay="0"/>
                                  </p:stCondLst>
                                  <p:childTnLst>
                                    <p:set>
                                      <p:cBhvr>
                                        <p:cTn id="31" dur="1" fill="hold">
                                          <p:stCondLst>
                                            <p:cond delay="0"/>
                                          </p:stCondLst>
                                        </p:cTn>
                                        <p:tgtEl>
                                          <p:spTgt spid="196616"/>
                                        </p:tgtEl>
                                        <p:attrNameLst>
                                          <p:attrName>style.visibility</p:attrName>
                                        </p:attrNameLst>
                                      </p:cBhvr>
                                      <p:to>
                                        <p:strVal val="visible"/>
                                      </p:to>
                                    </p:set>
                                    <p:animEffect transition="in" filter="checkerboard(across)">
                                      <p:cBhvr>
                                        <p:cTn id="32" dur="1000"/>
                                        <p:tgtEl>
                                          <p:spTgt spid="196616"/>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196782"/>
                                        </p:tgtEl>
                                        <p:attrNameLst>
                                          <p:attrName>style.visibility</p:attrName>
                                        </p:attrNameLst>
                                      </p:cBhvr>
                                      <p:to>
                                        <p:strVal val="visible"/>
                                      </p:to>
                                    </p:set>
                                    <p:animEffect transition="in" filter="checkerboard(across)">
                                      <p:cBhvr>
                                        <p:cTn id="35" dur="1000"/>
                                        <p:tgtEl>
                                          <p:spTgt spid="196782"/>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196783"/>
                                        </p:tgtEl>
                                        <p:attrNameLst>
                                          <p:attrName>style.visibility</p:attrName>
                                        </p:attrNameLst>
                                      </p:cBhvr>
                                      <p:to>
                                        <p:strVal val="visible"/>
                                      </p:to>
                                    </p:set>
                                    <p:animEffect transition="in" filter="checkerboard(across)">
                                      <p:cBhvr>
                                        <p:cTn id="38" dur="1000"/>
                                        <p:tgtEl>
                                          <p:spTgt spid="196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4" grpId="0" animBg="1"/>
      <p:bldP spid="196615" grpId="0" animBg="1"/>
      <p:bldP spid="196779" grpId="0" animBg="1"/>
      <p:bldP spid="196780" grpId="0" animBg="1"/>
      <p:bldP spid="196782" grpId="0" animBg="1"/>
      <p:bldP spid="196783" grpId="0" animBg="1"/>
      <p:bldP spid="196784" grpId="0" animBg="1"/>
      <p:bldP spid="19678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180106" y="195559"/>
            <a:ext cx="8780463" cy="594150"/>
          </a:xfrm>
        </p:spPr>
        <p:txBody>
          <a:bodyPr vert="horz" anchor="b">
            <a:normAutofit fontScale="90000"/>
          </a:bodyPr>
          <a:lstStyle/>
          <a:p>
            <a:r>
              <a:rPr lang="en-US" sz="2800" dirty="0">
                <a:solidFill>
                  <a:srgbClr val="C00000"/>
                </a:solidFill>
              </a:rPr>
              <a:t>Installation de </a:t>
            </a:r>
            <a:r>
              <a:rPr lang="en-US" sz="2800" dirty="0" err="1">
                <a:solidFill>
                  <a:srgbClr val="C00000"/>
                </a:solidFill>
              </a:rPr>
              <a:t>périphériques</a:t>
            </a:r>
            <a:r>
              <a:rPr lang="en-US" sz="2800" dirty="0">
                <a:solidFill>
                  <a:srgbClr val="C00000"/>
                </a:solidFill>
              </a:rPr>
              <a:t> non plug and play</a:t>
            </a:r>
          </a:p>
        </p:txBody>
      </p:sp>
      <p:sp>
        <p:nvSpPr>
          <p:cNvPr id="197637" name="Text Box 5"/>
          <p:cNvSpPr txBox="1">
            <a:spLocks noChangeArrowheads="1"/>
          </p:cNvSpPr>
          <p:nvPr/>
        </p:nvSpPr>
        <p:spPr bwMode="auto">
          <a:xfrm>
            <a:off x="4468813" y="3487600"/>
            <a:ext cx="360362" cy="650875"/>
          </a:xfrm>
          <a:prstGeom prst="rect">
            <a:avLst/>
          </a:prstGeom>
          <a:solidFill>
            <a:srgbClr val="3366FF"/>
          </a:solidFill>
          <a:ln w="9525">
            <a:solidFill>
              <a:srgbClr val="3366FF"/>
            </a:solidFill>
            <a:miter lim="800000"/>
            <a:headEnd/>
            <a:tailEnd/>
          </a:ln>
          <a:effectLst>
            <a:outerShdw dist="71842" dir="2700000" algn="ctr" rotWithShape="0">
              <a:srgbClr val="969696"/>
            </a:outerShdw>
          </a:effectLst>
        </p:spPr>
        <p:txBody>
          <a:bodyPr wrap="none" anchor="ctr"/>
          <a:lstStyle/>
          <a:p>
            <a:r>
              <a:rPr lang="en-US" sz="2400" b="1">
                <a:solidFill>
                  <a:srgbClr val="FFFFFF"/>
                </a:solidFill>
                <a:effectLst>
                  <a:outerShdw blurRad="38100" dist="38100" dir="2700000" algn="tl">
                    <a:srgbClr val="000000"/>
                  </a:outerShdw>
                </a:effectLst>
                <a:latin typeface="Arial" charset="0"/>
                <a:cs typeface="Times New Roman" pitchFamily="18" charset="0"/>
              </a:rPr>
              <a:t>2</a:t>
            </a:r>
          </a:p>
        </p:txBody>
      </p:sp>
      <p:sp>
        <p:nvSpPr>
          <p:cNvPr id="197638" name="Text Box 6"/>
          <p:cNvSpPr txBox="1">
            <a:spLocks noChangeArrowheads="1"/>
          </p:cNvSpPr>
          <p:nvPr/>
        </p:nvSpPr>
        <p:spPr bwMode="auto">
          <a:xfrm>
            <a:off x="4832350" y="3487600"/>
            <a:ext cx="3979141" cy="676275"/>
          </a:xfrm>
          <a:prstGeom prst="rect">
            <a:avLst/>
          </a:prstGeom>
          <a:gradFill rotWithShape="0">
            <a:gsLst>
              <a:gs pos="0">
                <a:srgbClr val="CCECFF"/>
              </a:gs>
              <a:gs pos="100000">
                <a:srgbClr val="CCECFF">
                  <a:gamma/>
                  <a:tint val="0"/>
                  <a:invGamma/>
                </a:srgbClr>
              </a:gs>
            </a:gsLst>
            <a:lin ang="5400000" scaled="1"/>
          </a:gradFill>
          <a:ln w="9525">
            <a:solidFill>
              <a:srgbClr val="3366FF"/>
            </a:solidFill>
            <a:miter lim="800000"/>
            <a:headEnd/>
            <a:tailEnd/>
          </a:ln>
          <a:effectLst>
            <a:outerShdw dist="71842" dir="2700000" algn="ctr" rotWithShape="0">
              <a:srgbClr val="969696"/>
            </a:outerShdw>
          </a:effectLst>
        </p:spPr>
        <p:txBody>
          <a:bodyPr/>
          <a:lstStyle/>
          <a:p>
            <a:r>
              <a:rPr lang="en-US" sz="2000" b="1">
                <a:latin typeface="Arial" charset="0"/>
                <a:cs typeface="Times New Roman" pitchFamily="18" charset="0"/>
              </a:rPr>
              <a:t>Chargez les pilotes de périphérique appropriés</a:t>
            </a:r>
          </a:p>
        </p:txBody>
      </p:sp>
      <p:sp>
        <p:nvSpPr>
          <p:cNvPr id="197640" name="Text Box 8"/>
          <p:cNvSpPr txBox="1">
            <a:spLocks noChangeArrowheads="1"/>
          </p:cNvSpPr>
          <p:nvPr/>
        </p:nvSpPr>
        <p:spPr bwMode="auto">
          <a:xfrm>
            <a:off x="478683" y="1563550"/>
            <a:ext cx="360362" cy="650875"/>
          </a:xfrm>
          <a:prstGeom prst="rect">
            <a:avLst/>
          </a:prstGeom>
          <a:solidFill>
            <a:srgbClr val="3366FF"/>
          </a:solidFill>
          <a:ln w="9525">
            <a:solidFill>
              <a:srgbClr val="3366FF"/>
            </a:solidFill>
            <a:miter lim="800000"/>
            <a:headEnd/>
            <a:tailEnd/>
          </a:ln>
          <a:effectLst>
            <a:outerShdw dist="63500" dir="2212194" algn="ctr" rotWithShape="0">
              <a:srgbClr val="969696"/>
            </a:outerShdw>
          </a:effectLst>
        </p:spPr>
        <p:txBody>
          <a:bodyPr wrap="none" anchor="ctr"/>
          <a:lstStyle/>
          <a:p>
            <a:r>
              <a:rPr lang="en-US" sz="2400" b="1">
                <a:solidFill>
                  <a:srgbClr val="FFFFFF"/>
                </a:solidFill>
                <a:effectLst>
                  <a:outerShdw blurRad="38100" dist="38100" dir="2700000" algn="tl">
                    <a:srgbClr val="000000"/>
                  </a:outerShdw>
                </a:effectLst>
                <a:latin typeface="Arial" charset="0"/>
                <a:cs typeface="Times New Roman" pitchFamily="18" charset="0"/>
              </a:rPr>
              <a:t>1</a:t>
            </a:r>
          </a:p>
        </p:txBody>
      </p:sp>
      <p:sp>
        <p:nvSpPr>
          <p:cNvPr id="197641" name="Text Box 9"/>
          <p:cNvSpPr txBox="1">
            <a:spLocks noChangeArrowheads="1"/>
          </p:cNvSpPr>
          <p:nvPr/>
        </p:nvSpPr>
        <p:spPr bwMode="auto">
          <a:xfrm>
            <a:off x="858982" y="1563550"/>
            <a:ext cx="4197206" cy="650875"/>
          </a:xfrm>
          <a:prstGeom prst="rect">
            <a:avLst/>
          </a:prstGeom>
          <a:gradFill rotWithShape="0">
            <a:gsLst>
              <a:gs pos="0">
                <a:srgbClr val="CCECFF"/>
              </a:gs>
              <a:gs pos="100000">
                <a:srgbClr val="CCECFF">
                  <a:gamma/>
                  <a:tint val="0"/>
                  <a:invGamma/>
                </a:srgbClr>
              </a:gs>
            </a:gsLst>
            <a:lin ang="5400000" scaled="1"/>
          </a:gradFill>
          <a:ln w="9525">
            <a:solidFill>
              <a:srgbClr val="3366FF"/>
            </a:solidFill>
            <a:miter lim="800000"/>
            <a:headEnd/>
            <a:tailEnd/>
          </a:ln>
          <a:effectLst>
            <a:outerShdw dist="71842" dir="2700000" algn="ctr" rotWithShape="0">
              <a:srgbClr val="969696"/>
            </a:outerShdw>
          </a:effectLst>
        </p:spPr>
        <p:txBody>
          <a:bodyPr/>
          <a:lstStyle/>
          <a:p>
            <a:r>
              <a:rPr lang="en-US" sz="2000" b="1">
                <a:latin typeface="Arial" charset="0"/>
                <a:cs typeface="Times New Roman" pitchFamily="18" charset="0"/>
              </a:rPr>
              <a:t>Connectez le périphérique à votre ordinateur</a:t>
            </a:r>
          </a:p>
        </p:txBody>
      </p:sp>
      <p:grpSp>
        <p:nvGrpSpPr>
          <p:cNvPr id="197642" name="Group 10"/>
          <p:cNvGrpSpPr>
            <a:grpSpLocks/>
          </p:cNvGrpSpPr>
          <p:nvPr/>
        </p:nvGrpSpPr>
        <p:grpSpPr bwMode="auto">
          <a:xfrm>
            <a:off x="1916113" y="1909625"/>
            <a:ext cx="3340100" cy="1471613"/>
            <a:chOff x="853" y="825"/>
            <a:chExt cx="2396" cy="1056"/>
          </a:xfrm>
        </p:grpSpPr>
        <p:sp>
          <p:nvSpPr>
            <p:cNvPr id="197643" name="Freeform 11"/>
            <p:cNvSpPr>
              <a:spLocks/>
            </p:cNvSpPr>
            <p:nvPr/>
          </p:nvSpPr>
          <p:spPr bwMode="auto">
            <a:xfrm>
              <a:off x="1578" y="1364"/>
              <a:ext cx="915" cy="246"/>
            </a:xfrm>
            <a:custGeom>
              <a:avLst/>
              <a:gdLst/>
              <a:ahLst/>
              <a:cxnLst>
                <a:cxn ang="0">
                  <a:pos x="0" y="340"/>
                </a:cxn>
                <a:cxn ang="0">
                  <a:pos x="537" y="17"/>
                </a:cxn>
                <a:cxn ang="0">
                  <a:pos x="497" y="443"/>
                </a:cxn>
                <a:cxn ang="0">
                  <a:pos x="915" y="585"/>
                </a:cxn>
              </a:cxnLst>
              <a:rect l="0" t="0" r="r" b="b"/>
              <a:pathLst>
                <a:path w="915" h="585">
                  <a:moveTo>
                    <a:pt x="0" y="340"/>
                  </a:moveTo>
                  <a:cubicBezTo>
                    <a:pt x="227" y="170"/>
                    <a:pt x="454" y="0"/>
                    <a:pt x="537" y="17"/>
                  </a:cubicBezTo>
                  <a:cubicBezTo>
                    <a:pt x="620" y="34"/>
                    <a:pt x="434" y="348"/>
                    <a:pt x="497" y="443"/>
                  </a:cubicBezTo>
                  <a:cubicBezTo>
                    <a:pt x="560" y="538"/>
                    <a:pt x="737" y="561"/>
                    <a:pt x="915" y="585"/>
                  </a:cubicBezTo>
                </a:path>
              </a:pathLst>
            </a:custGeom>
            <a:noFill/>
            <a:ln w="38100" cmpd="sng">
              <a:solidFill>
                <a:srgbClr val="808080"/>
              </a:solidFill>
              <a:round/>
              <a:headEnd/>
              <a:tailEnd/>
            </a:ln>
            <a:effectLst/>
          </p:spPr>
          <p:txBody>
            <a:bodyPr/>
            <a:lstStyle/>
            <a:p>
              <a:endParaRPr lang="fr-FR"/>
            </a:p>
          </p:txBody>
        </p:sp>
        <p:grpSp>
          <p:nvGrpSpPr>
            <p:cNvPr id="197644" name="Group 12"/>
            <p:cNvGrpSpPr>
              <a:grpSpLocks/>
            </p:cNvGrpSpPr>
            <p:nvPr/>
          </p:nvGrpSpPr>
          <p:grpSpPr bwMode="auto">
            <a:xfrm>
              <a:off x="2283" y="825"/>
              <a:ext cx="966" cy="1056"/>
              <a:chOff x="3999" y="2751"/>
              <a:chExt cx="808" cy="883"/>
            </a:xfrm>
          </p:grpSpPr>
          <p:grpSp>
            <p:nvGrpSpPr>
              <p:cNvPr id="197645" name="Group 13"/>
              <p:cNvGrpSpPr>
                <a:grpSpLocks/>
              </p:cNvGrpSpPr>
              <p:nvPr/>
            </p:nvGrpSpPr>
            <p:grpSpPr bwMode="auto">
              <a:xfrm>
                <a:off x="4030" y="3214"/>
                <a:ext cx="777" cy="420"/>
                <a:chOff x="4082" y="1377"/>
                <a:chExt cx="835" cy="451"/>
              </a:xfrm>
            </p:grpSpPr>
            <p:sp>
              <p:nvSpPr>
                <p:cNvPr id="197646" name="Freeform 14"/>
                <p:cNvSpPr>
                  <a:spLocks noChangeAspect="1"/>
                </p:cNvSpPr>
                <p:nvPr/>
              </p:nvSpPr>
              <p:spPr bwMode="auto">
                <a:xfrm>
                  <a:off x="4083" y="1494"/>
                  <a:ext cx="289" cy="334"/>
                </a:xfrm>
                <a:custGeom>
                  <a:avLst/>
                  <a:gdLst/>
                  <a:ahLst/>
                  <a:cxnLst>
                    <a:cxn ang="0">
                      <a:pos x="289" y="174"/>
                    </a:cxn>
                    <a:cxn ang="0">
                      <a:pos x="0" y="0"/>
                    </a:cxn>
                    <a:cxn ang="0">
                      <a:pos x="0" y="142"/>
                    </a:cxn>
                    <a:cxn ang="0">
                      <a:pos x="288" y="334"/>
                    </a:cxn>
                  </a:cxnLst>
                  <a:rect l="0" t="0" r="r" b="b"/>
                  <a:pathLst>
                    <a:path w="289" h="334">
                      <a:moveTo>
                        <a:pt x="289" y="174"/>
                      </a:moveTo>
                      <a:lnTo>
                        <a:pt x="0" y="0"/>
                      </a:lnTo>
                      <a:lnTo>
                        <a:pt x="0" y="142"/>
                      </a:lnTo>
                      <a:lnTo>
                        <a:pt x="288" y="33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7647" name="Freeform 15"/>
                <p:cNvSpPr>
                  <a:spLocks noChangeAspect="1"/>
                </p:cNvSpPr>
                <p:nvPr/>
              </p:nvSpPr>
              <p:spPr bwMode="auto">
                <a:xfrm flipH="1">
                  <a:off x="4082" y="1377"/>
                  <a:ext cx="835" cy="289"/>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7648" name="Freeform 16"/>
                <p:cNvSpPr>
                  <a:spLocks noChangeAspect="1"/>
                </p:cNvSpPr>
                <p:nvPr/>
              </p:nvSpPr>
              <p:spPr bwMode="auto">
                <a:xfrm flipH="1">
                  <a:off x="4371" y="1519"/>
                  <a:ext cx="546" cy="309"/>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grpSp>
              <p:nvGrpSpPr>
                <p:cNvPr id="197649" name="Group 17"/>
                <p:cNvGrpSpPr>
                  <a:grpSpLocks/>
                </p:cNvGrpSpPr>
                <p:nvPr/>
              </p:nvGrpSpPr>
              <p:grpSpPr bwMode="auto">
                <a:xfrm>
                  <a:off x="4400" y="1640"/>
                  <a:ext cx="221" cy="135"/>
                  <a:chOff x="1566" y="3268"/>
                  <a:chExt cx="221" cy="135"/>
                </a:xfrm>
              </p:grpSpPr>
              <p:sp>
                <p:nvSpPr>
                  <p:cNvPr id="197650" name="Line 18"/>
                  <p:cNvSpPr>
                    <a:spLocks noChangeShapeType="1"/>
                  </p:cNvSpPr>
                  <p:nvPr/>
                </p:nvSpPr>
                <p:spPr bwMode="auto">
                  <a:xfrm flipH="1">
                    <a:off x="1566" y="3268"/>
                    <a:ext cx="221" cy="63"/>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7651" name="Line 19"/>
                  <p:cNvSpPr>
                    <a:spLocks noChangeShapeType="1"/>
                  </p:cNvSpPr>
                  <p:nvPr/>
                </p:nvSpPr>
                <p:spPr bwMode="auto">
                  <a:xfrm flipH="1">
                    <a:off x="1566" y="3292"/>
                    <a:ext cx="221" cy="62"/>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7652" name="Line 20"/>
                  <p:cNvSpPr>
                    <a:spLocks noChangeShapeType="1"/>
                  </p:cNvSpPr>
                  <p:nvPr/>
                </p:nvSpPr>
                <p:spPr bwMode="auto">
                  <a:xfrm flipH="1">
                    <a:off x="1566" y="3317"/>
                    <a:ext cx="221" cy="63"/>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97653" name="Line 21"/>
                  <p:cNvSpPr>
                    <a:spLocks noChangeShapeType="1"/>
                  </p:cNvSpPr>
                  <p:nvPr/>
                </p:nvSpPr>
                <p:spPr bwMode="auto">
                  <a:xfrm flipH="1">
                    <a:off x="1566" y="3341"/>
                    <a:ext cx="221" cy="62"/>
                  </a:xfrm>
                  <a:prstGeom prst="line">
                    <a:avLst/>
                  </a:prstGeom>
                  <a:noFill/>
                  <a:ln w="6350">
                    <a:solidFill>
                      <a:srgbClr val="777777"/>
                    </a:solidFill>
                    <a:round/>
                    <a:headEnd/>
                    <a:tailEnd/>
                  </a:ln>
                  <a:effectLst/>
                </p:spPr>
                <p:txBody>
                  <a:bodyPr tIns="27432" bIns="27432" anchor="ctr">
                    <a:spAutoFit/>
                  </a:bodyPr>
                  <a:lstStyle/>
                  <a:p>
                    <a:endParaRPr lang="fr-FR"/>
                  </a:p>
                </p:txBody>
              </p:sp>
            </p:grpSp>
            <p:sp>
              <p:nvSpPr>
                <p:cNvPr id="197654" name="Freeform 22"/>
                <p:cNvSpPr>
                  <a:spLocks noChangeAspect="1"/>
                </p:cNvSpPr>
                <p:nvPr/>
              </p:nvSpPr>
              <p:spPr bwMode="auto">
                <a:xfrm flipH="1">
                  <a:off x="4667" y="1557"/>
                  <a:ext cx="214" cy="150"/>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197655" name="Freeform 23"/>
                <p:cNvSpPr>
                  <a:spLocks noChangeAspect="1" noChangeArrowheads="1"/>
                </p:cNvSpPr>
                <p:nvPr/>
              </p:nvSpPr>
              <p:spPr bwMode="auto">
                <a:xfrm flipH="1">
                  <a:off x="4670" y="1613"/>
                  <a:ext cx="207" cy="53"/>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197656" name="Freeform 24"/>
                <p:cNvSpPr>
                  <a:spLocks/>
                </p:cNvSpPr>
                <p:nvPr/>
              </p:nvSpPr>
              <p:spPr bwMode="auto">
                <a:xfrm>
                  <a:off x="4668" y="1556"/>
                  <a:ext cx="213" cy="93"/>
                </a:xfrm>
                <a:custGeom>
                  <a:avLst/>
                  <a:gdLst/>
                  <a:ahLst/>
                  <a:cxnLst>
                    <a:cxn ang="0">
                      <a:pos x="213" y="93"/>
                    </a:cxn>
                    <a:cxn ang="0">
                      <a:pos x="213" y="0"/>
                    </a:cxn>
                    <a:cxn ang="0">
                      <a:pos x="0" y="59"/>
                    </a:cxn>
                  </a:cxnLst>
                  <a:rect l="0" t="0" r="r" b="b"/>
                  <a:pathLst>
                    <a:path w="213" h="93">
                      <a:moveTo>
                        <a:pt x="213" y="93"/>
                      </a:moveTo>
                      <a:lnTo>
                        <a:pt x="213" y="0"/>
                      </a:lnTo>
                      <a:lnTo>
                        <a:pt x="0" y="59"/>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197657" name="Line 25"/>
                <p:cNvSpPr>
                  <a:spLocks noChangeShapeType="1"/>
                </p:cNvSpPr>
                <p:nvPr/>
              </p:nvSpPr>
              <p:spPr bwMode="auto">
                <a:xfrm flipH="1">
                  <a:off x="4695" y="1586"/>
                  <a:ext cx="168" cy="42"/>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197658" name="Line 26"/>
                <p:cNvSpPr>
                  <a:spLocks noChangeShapeType="1"/>
                </p:cNvSpPr>
                <p:nvPr/>
              </p:nvSpPr>
              <p:spPr bwMode="auto">
                <a:xfrm flipH="1">
                  <a:off x="4827" y="1640"/>
                  <a:ext cx="31"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197659" name="Freeform 27"/>
                <p:cNvSpPr>
                  <a:spLocks/>
                </p:cNvSpPr>
                <p:nvPr/>
              </p:nvSpPr>
              <p:spPr bwMode="auto">
                <a:xfrm flipH="1">
                  <a:off x="4759" y="1597"/>
                  <a:ext cx="51" cy="28"/>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197660" name="Freeform 28"/>
                <p:cNvSpPr>
                  <a:spLocks/>
                </p:cNvSpPr>
                <p:nvPr/>
              </p:nvSpPr>
              <p:spPr bwMode="auto">
                <a:xfrm flipH="1">
                  <a:off x="4662" y="1621"/>
                  <a:ext cx="217" cy="92"/>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197661" name="Group 29"/>
              <p:cNvGrpSpPr>
                <a:grpSpLocks/>
              </p:cNvGrpSpPr>
              <p:nvPr/>
            </p:nvGrpSpPr>
            <p:grpSpPr bwMode="auto">
              <a:xfrm>
                <a:off x="3999" y="2751"/>
                <a:ext cx="727" cy="684"/>
                <a:chOff x="952" y="2351"/>
                <a:chExt cx="781" cy="735"/>
              </a:xfrm>
            </p:grpSpPr>
            <p:sp>
              <p:nvSpPr>
                <p:cNvPr id="197662" name="Freeform 30"/>
                <p:cNvSpPr>
                  <a:spLocks/>
                </p:cNvSpPr>
                <p:nvPr/>
              </p:nvSpPr>
              <p:spPr bwMode="auto">
                <a:xfrm flipH="1">
                  <a:off x="1066" y="2829"/>
                  <a:ext cx="608" cy="257"/>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197663" name="Freeform 31"/>
                <p:cNvSpPr>
                  <a:spLocks/>
                </p:cNvSpPr>
                <p:nvPr/>
              </p:nvSpPr>
              <p:spPr bwMode="auto">
                <a:xfrm flipH="1">
                  <a:off x="1078" y="2834"/>
                  <a:ext cx="588" cy="22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197664" name="Oval 32"/>
                <p:cNvSpPr>
                  <a:spLocks noChangeArrowheads="1"/>
                </p:cNvSpPr>
                <p:nvPr/>
              </p:nvSpPr>
              <p:spPr bwMode="auto">
                <a:xfrm flipH="1">
                  <a:off x="1213" y="2890"/>
                  <a:ext cx="307" cy="123"/>
                </a:xfrm>
                <a:prstGeom prst="ellipse">
                  <a:avLst/>
                </a:prstGeom>
                <a:solidFill>
                  <a:srgbClr val="B2B2B2"/>
                </a:solidFill>
                <a:ln w="3175" cap="rnd">
                  <a:solidFill>
                    <a:schemeClr val="tx1"/>
                  </a:solidFill>
                  <a:round/>
                  <a:headEnd/>
                  <a:tailEnd/>
                </a:ln>
                <a:effectLst/>
              </p:spPr>
              <p:txBody>
                <a:bodyPr/>
                <a:lstStyle/>
                <a:p>
                  <a:endParaRPr lang="fr-FR"/>
                </a:p>
              </p:txBody>
            </p:sp>
            <p:sp>
              <p:nvSpPr>
                <p:cNvPr id="197665" name="Freeform 33"/>
                <p:cNvSpPr>
                  <a:spLocks/>
                </p:cNvSpPr>
                <p:nvPr/>
              </p:nvSpPr>
              <p:spPr bwMode="auto">
                <a:xfrm flipH="1">
                  <a:off x="1193" y="2895"/>
                  <a:ext cx="494" cy="137"/>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197666" name="Freeform 34"/>
                <p:cNvSpPr>
                  <a:spLocks noChangeAspect="1"/>
                </p:cNvSpPr>
                <p:nvPr/>
              </p:nvSpPr>
              <p:spPr bwMode="auto">
                <a:xfrm flipH="1">
                  <a:off x="952" y="2351"/>
                  <a:ext cx="617" cy="569"/>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7667" name="Freeform 35"/>
                <p:cNvSpPr>
                  <a:spLocks noChangeAspect="1"/>
                </p:cNvSpPr>
                <p:nvPr/>
              </p:nvSpPr>
              <p:spPr bwMode="auto">
                <a:xfrm flipH="1">
                  <a:off x="1060" y="2477"/>
                  <a:ext cx="124" cy="553"/>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amma/>
                        <a:tint val="34118"/>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197668" name="Freeform 36"/>
                <p:cNvSpPr>
                  <a:spLocks noChangeAspect="1"/>
                </p:cNvSpPr>
                <p:nvPr/>
              </p:nvSpPr>
              <p:spPr bwMode="auto">
                <a:xfrm flipH="1">
                  <a:off x="1060" y="2358"/>
                  <a:ext cx="673" cy="188"/>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197669" name="Freeform 37"/>
                <p:cNvSpPr>
                  <a:spLocks noChangeAspect="1"/>
                </p:cNvSpPr>
                <p:nvPr/>
              </p:nvSpPr>
              <p:spPr bwMode="auto">
                <a:xfrm flipH="1">
                  <a:off x="1184" y="2413"/>
                  <a:ext cx="549" cy="619"/>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t="100000" r="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97670" name="Freeform 38"/>
                <p:cNvSpPr>
                  <a:spLocks noChangeAspect="1"/>
                </p:cNvSpPr>
                <p:nvPr/>
              </p:nvSpPr>
              <p:spPr bwMode="auto">
                <a:xfrm flipH="1">
                  <a:off x="1225" y="2468"/>
                  <a:ext cx="465" cy="508"/>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197671" name="Freeform 39"/>
                <p:cNvSpPr>
                  <a:spLocks/>
                </p:cNvSpPr>
                <p:nvPr/>
              </p:nvSpPr>
              <p:spPr bwMode="auto">
                <a:xfrm flipH="1">
                  <a:off x="1255" y="2502"/>
                  <a:ext cx="407" cy="437"/>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l="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197672" name="Line 40"/>
                <p:cNvSpPr>
                  <a:spLocks noChangeShapeType="1"/>
                </p:cNvSpPr>
                <p:nvPr/>
              </p:nvSpPr>
              <p:spPr bwMode="auto">
                <a:xfrm flipH="1">
                  <a:off x="1626" y="2538"/>
                  <a:ext cx="0" cy="67"/>
                </a:xfrm>
                <a:prstGeom prst="line">
                  <a:avLst/>
                </a:prstGeom>
                <a:noFill/>
                <a:ln w="25400">
                  <a:solidFill>
                    <a:schemeClr val="bg1"/>
                  </a:solidFill>
                  <a:round/>
                  <a:headEnd/>
                  <a:tailEnd/>
                </a:ln>
                <a:effectLst/>
              </p:spPr>
              <p:txBody>
                <a:bodyPr wrap="none" anchor="ctr"/>
                <a:lstStyle/>
                <a:p>
                  <a:endParaRPr lang="fr-FR"/>
                </a:p>
              </p:txBody>
            </p:sp>
          </p:grpSp>
        </p:grpSp>
        <p:grpSp>
          <p:nvGrpSpPr>
            <p:cNvPr id="197673" name="Group 41"/>
            <p:cNvGrpSpPr>
              <a:grpSpLocks/>
            </p:cNvGrpSpPr>
            <p:nvPr/>
          </p:nvGrpSpPr>
          <p:grpSpPr bwMode="auto">
            <a:xfrm>
              <a:off x="853" y="1123"/>
              <a:ext cx="975" cy="715"/>
              <a:chOff x="3826" y="946"/>
              <a:chExt cx="811" cy="595"/>
            </a:xfrm>
          </p:grpSpPr>
          <p:sp>
            <p:nvSpPr>
              <p:cNvPr id="197674" name="Freeform 42"/>
              <p:cNvSpPr>
                <a:spLocks/>
              </p:cNvSpPr>
              <p:nvPr/>
            </p:nvSpPr>
            <p:spPr bwMode="auto">
              <a:xfrm>
                <a:off x="3892" y="1085"/>
                <a:ext cx="545" cy="456"/>
              </a:xfrm>
              <a:custGeom>
                <a:avLst/>
                <a:gdLst/>
                <a:ahLst/>
                <a:cxnLst>
                  <a:cxn ang="0">
                    <a:pos x="542" y="78"/>
                  </a:cxn>
                  <a:cxn ang="0">
                    <a:pos x="1" y="0"/>
                  </a:cxn>
                  <a:cxn ang="0">
                    <a:pos x="0" y="355"/>
                  </a:cxn>
                  <a:cxn ang="0">
                    <a:pos x="542" y="453"/>
                  </a:cxn>
                  <a:cxn ang="0">
                    <a:pos x="542" y="78"/>
                  </a:cxn>
                </a:cxnLst>
                <a:rect l="0" t="0" r="r" b="b"/>
                <a:pathLst>
                  <a:path w="542" h="453">
                    <a:moveTo>
                      <a:pt x="542" y="78"/>
                    </a:moveTo>
                    <a:lnTo>
                      <a:pt x="1" y="0"/>
                    </a:lnTo>
                    <a:lnTo>
                      <a:pt x="0" y="355"/>
                    </a:lnTo>
                    <a:lnTo>
                      <a:pt x="542" y="453"/>
                    </a:lnTo>
                    <a:lnTo>
                      <a:pt x="542" y="78"/>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7675" name="Freeform 43"/>
              <p:cNvSpPr>
                <a:spLocks/>
              </p:cNvSpPr>
              <p:nvPr/>
            </p:nvSpPr>
            <p:spPr bwMode="auto">
              <a:xfrm>
                <a:off x="4437" y="1005"/>
                <a:ext cx="200" cy="536"/>
              </a:xfrm>
              <a:custGeom>
                <a:avLst/>
                <a:gdLst/>
                <a:ahLst/>
                <a:cxnLst>
                  <a:cxn ang="0">
                    <a:pos x="409" y="0"/>
                  </a:cxn>
                  <a:cxn ang="0">
                    <a:pos x="0" y="329"/>
                  </a:cxn>
                  <a:cxn ang="0">
                    <a:pos x="0" y="1100"/>
                  </a:cxn>
                  <a:cxn ang="0">
                    <a:pos x="409" y="693"/>
                  </a:cxn>
                  <a:cxn ang="0">
                    <a:pos x="409" y="0"/>
                  </a:cxn>
                </a:cxnLst>
                <a:rect l="0" t="0" r="r" b="b"/>
                <a:pathLst>
                  <a:path w="410" h="1101">
                    <a:moveTo>
                      <a:pt x="409" y="0"/>
                    </a:moveTo>
                    <a:lnTo>
                      <a:pt x="0" y="329"/>
                    </a:lnTo>
                    <a:lnTo>
                      <a:pt x="0" y="1100"/>
                    </a:lnTo>
                    <a:lnTo>
                      <a:pt x="409" y="693"/>
                    </a:lnTo>
                    <a:lnTo>
                      <a:pt x="409" y="0"/>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7676" name="Freeform 44"/>
              <p:cNvSpPr>
                <a:spLocks/>
              </p:cNvSpPr>
              <p:nvPr/>
            </p:nvSpPr>
            <p:spPr bwMode="auto">
              <a:xfrm>
                <a:off x="3892" y="946"/>
                <a:ext cx="743" cy="220"/>
              </a:xfrm>
              <a:custGeom>
                <a:avLst/>
                <a:gdLst/>
                <a:ahLst/>
                <a:cxnLst>
                  <a:cxn ang="0">
                    <a:pos x="1522" y="125"/>
                  </a:cxn>
                  <a:cxn ang="0">
                    <a:pos x="1113" y="451"/>
                  </a:cxn>
                  <a:cxn ang="0">
                    <a:pos x="0" y="284"/>
                  </a:cxn>
                  <a:cxn ang="0">
                    <a:pos x="509" y="0"/>
                  </a:cxn>
                  <a:cxn ang="0">
                    <a:pos x="1522" y="122"/>
                  </a:cxn>
                </a:cxnLst>
                <a:rect l="0" t="0" r="r" b="b"/>
                <a:pathLst>
                  <a:path w="1522" h="451">
                    <a:moveTo>
                      <a:pt x="1522" y="125"/>
                    </a:moveTo>
                    <a:lnTo>
                      <a:pt x="1113" y="451"/>
                    </a:lnTo>
                    <a:lnTo>
                      <a:pt x="0" y="284"/>
                    </a:lnTo>
                    <a:lnTo>
                      <a:pt x="509" y="0"/>
                    </a:lnTo>
                    <a:lnTo>
                      <a:pt x="1522" y="122"/>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7677" name="Freeform 45"/>
              <p:cNvSpPr>
                <a:spLocks/>
              </p:cNvSpPr>
              <p:nvPr/>
            </p:nvSpPr>
            <p:spPr bwMode="auto">
              <a:xfrm>
                <a:off x="4055" y="972"/>
                <a:ext cx="339" cy="86"/>
              </a:xfrm>
              <a:custGeom>
                <a:avLst/>
                <a:gdLst/>
                <a:ahLst/>
                <a:cxnLst>
                  <a:cxn ang="0">
                    <a:pos x="210" y="0"/>
                  </a:cxn>
                  <a:cxn ang="0">
                    <a:pos x="0" y="121"/>
                  </a:cxn>
                  <a:cxn ang="0">
                    <a:pos x="497" y="177"/>
                  </a:cxn>
                  <a:cxn ang="0">
                    <a:pos x="693" y="54"/>
                  </a:cxn>
                  <a:cxn ang="0">
                    <a:pos x="210" y="0"/>
                  </a:cxn>
                </a:cxnLst>
                <a:rect l="0" t="0" r="r" b="b"/>
                <a:pathLst>
                  <a:path w="694" h="178">
                    <a:moveTo>
                      <a:pt x="210" y="0"/>
                    </a:moveTo>
                    <a:lnTo>
                      <a:pt x="0" y="121"/>
                    </a:lnTo>
                    <a:lnTo>
                      <a:pt x="497" y="177"/>
                    </a:lnTo>
                    <a:lnTo>
                      <a:pt x="693" y="54"/>
                    </a:lnTo>
                    <a:lnTo>
                      <a:pt x="210" y="0"/>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7678" name="Freeform 46"/>
              <p:cNvSpPr>
                <a:spLocks/>
              </p:cNvSpPr>
              <p:nvPr/>
            </p:nvSpPr>
            <p:spPr bwMode="auto">
              <a:xfrm>
                <a:off x="4276" y="997"/>
                <a:ext cx="197" cy="117"/>
              </a:xfrm>
              <a:custGeom>
                <a:avLst/>
                <a:gdLst/>
                <a:ahLst/>
                <a:cxnLst>
                  <a:cxn ang="0">
                    <a:pos x="0" y="240"/>
                  </a:cxn>
                  <a:cxn ang="0">
                    <a:pos x="350" y="0"/>
                  </a:cxn>
                  <a:cxn ang="0">
                    <a:pos x="403" y="0"/>
                  </a:cxn>
                  <a:cxn ang="0">
                    <a:pos x="0" y="240"/>
                  </a:cxn>
                </a:cxnLst>
                <a:rect l="0" t="0" r="r" b="b"/>
                <a:pathLst>
                  <a:path w="404" h="241">
                    <a:moveTo>
                      <a:pt x="0" y="240"/>
                    </a:moveTo>
                    <a:lnTo>
                      <a:pt x="350" y="0"/>
                    </a:lnTo>
                    <a:lnTo>
                      <a:pt x="403" y="0"/>
                    </a:lnTo>
                    <a:lnTo>
                      <a:pt x="0" y="240"/>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7679" name="Freeform 47"/>
              <p:cNvSpPr>
                <a:spLocks/>
              </p:cNvSpPr>
              <p:nvPr/>
            </p:nvSpPr>
            <p:spPr bwMode="auto">
              <a:xfrm>
                <a:off x="4185" y="1082"/>
                <a:ext cx="83" cy="25"/>
              </a:xfrm>
              <a:custGeom>
                <a:avLst/>
                <a:gdLst/>
                <a:ahLst/>
                <a:cxnLst>
                  <a:cxn ang="0">
                    <a:pos x="167" y="8"/>
                  </a:cxn>
                  <a:cxn ang="0">
                    <a:pos x="88" y="0"/>
                  </a:cxn>
                  <a:cxn ang="0">
                    <a:pos x="0" y="47"/>
                  </a:cxn>
                  <a:cxn ang="0">
                    <a:pos x="83" y="51"/>
                  </a:cxn>
                  <a:cxn ang="0">
                    <a:pos x="167" y="8"/>
                  </a:cxn>
                </a:cxnLst>
                <a:rect l="0" t="0" r="r" b="b"/>
                <a:pathLst>
                  <a:path w="168" h="52">
                    <a:moveTo>
                      <a:pt x="167" y="8"/>
                    </a:moveTo>
                    <a:lnTo>
                      <a:pt x="88" y="0"/>
                    </a:lnTo>
                    <a:lnTo>
                      <a:pt x="0" y="47"/>
                    </a:lnTo>
                    <a:lnTo>
                      <a:pt x="83" y="51"/>
                    </a:lnTo>
                    <a:lnTo>
                      <a:pt x="167" y="8"/>
                    </a:lnTo>
                  </a:path>
                </a:pathLst>
              </a:custGeom>
              <a:solidFill>
                <a:srgbClr val="919191"/>
              </a:solidFill>
              <a:ln w="12700" cap="rnd" cmpd="sng">
                <a:noFill/>
                <a:prstDash val="solid"/>
                <a:round/>
                <a:headEnd type="none" w="med" len="med"/>
                <a:tailEnd type="none" w="med" len="med"/>
              </a:ln>
              <a:effectLst/>
            </p:spPr>
            <p:txBody>
              <a:bodyPr/>
              <a:lstStyle/>
              <a:p>
                <a:endParaRPr lang="fr-FR"/>
              </a:p>
            </p:txBody>
          </p:sp>
          <p:sp>
            <p:nvSpPr>
              <p:cNvPr id="197680" name="Line 48"/>
              <p:cNvSpPr>
                <a:spLocks noChangeShapeType="1"/>
              </p:cNvSpPr>
              <p:nvPr/>
            </p:nvSpPr>
            <p:spPr bwMode="auto">
              <a:xfrm flipH="1">
                <a:off x="4443" y="1064"/>
                <a:ext cx="183" cy="142"/>
              </a:xfrm>
              <a:prstGeom prst="line">
                <a:avLst/>
              </a:prstGeom>
              <a:noFill/>
              <a:ln w="6350">
                <a:solidFill>
                  <a:srgbClr val="777777"/>
                </a:solidFill>
                <a:round/>
                <a:headEnd/>
                <a:tailEnd/>
              </a:ln>
              <a:effectLst/>
            </p:spPr>
            <p:txBody>
              <a:bodyPr wrap="none" anchor="ctr"/>
              <a:lstStyle/>
              <a:p>
                <a:endParaRPr lang="fr-FR"/>
              </a:p>
            </p:txBody>
          </p:sp>
          <p:sp>
            <p:nvSpPr>
              <p:cNvPr id="197681" name="Line 49"/>
              <p:cNvSpPr>
                <a:spLocks noChangeShapeType="1"/>
              </p:cNvSpPr>
              <p:nvPr/>
            </p:nvSpPr>
            <p:spPr bwMode="auto">
              <a:xfrm flipH="1" flipV="1">
                <a:off x="3899" y="1121"/>
                <a:ext cx="533" cy="87"/>
              </a:xfrm>
              <a:prstGeom prst="line">
                <a:avLst/>
              </a:prstGeom>
              <a:noFill/>
              <a:ln w="6350">
                <a:solidFill>
                  <a:srgbClr val="777777"/>
                </a:solidFill>
                <a:round/>
                <a:headEnd/>
                <a:tailEnd/>
              </a:ln>
              <a:effectLst/>
            </p:spPr>
            <p:txBody>
              <a:bodyPr wrap="none" anchor="ctr"/>
              <a:lstStyle/>
              <a:p>
                <a:endParaRPr lang="fr-FR"/>
              </a:p>
            </p:txBody>
          </p:sp>
          <p:sp>
            <p:nvSpPr>
              <p:cNvPr id="197682" name="Line 50"/>
              <p:cNvSpPr>
                <a:spLocks noChangeShapeType="1"/>
              </p:cNvSpPr>
              <p:nvPr/>
            </p:nvSpPr>
            <p:spPr bwMode="auto">
              <a:xfrm flipV="1">
                <a:off x="4459" y="1333"/>
                <a:ext cx="156" cy="155"/>
              </a:xfrm>
              <a:prstGeom prst="line">
                <a:avLst/>
              </a:prstGeom>
              <a:noFill/>
              <a:ln w="6350">
                <a:solidFill>
                  <a:srgbClr val="777777"/>
                </a:solidFill>
                <a:round/>
                <a:headEnd/>
                <a:tailEnd/>
              </a:ln>
              <a:effectLst/>
            </p:spPr>
            <p:txBody>
              <a:bodyPr wrap="none" anchor="ctr"/>
              <a:lstStyle/>
              <a:p>
                <a:endParaRPr lang="fr-FR"/>
              </a:p>
            </p:txBody>
          </p:sp>
          <p:sp>
            <p:nvSpPr>
              <p:cNvPr id="197683" name="Line 51"/>
              <p:cNvSpPr>
                <a:spLocks noChangeShapeType="1"/>
              </p:cNvSpPr>
              <p:nvPr/>
            </p:nvSpPr>
            <p:spPr bwMode="auto">
              <a:xfrm flipV="1">
                <a:off x="4459" y="1311"/>
                <a:ext cx="156" cy="153"/>
              </a:xfrm>
              <a:prstGeom prst="line">
                <a:avLst/>
              </a:prstGeom>
              <a:noFill/>
              <a:ln w="6350">
                <a:solidFill>
                  <a:srgbClr val="777777"/>
                </a:solidFill>
                <a:round/>
                <a:headEnd/>
                <a:tailEnd/>
              </a:ln>
              <a:effectLst/>
            </p:spPr>
            <p:txBody>
              <a:bodyPr wrap="none" anchor="ctr"/>
              <a:lstStyle/>
              <a:p>
                <a:endParaRPr lang="fr-FR"/>
              </a:p>
            </p:txBody>
          </p:sp>
          <p:sp>
            <p:nvSpPr>
              <p:cNvPr id="197684" name="Line 52"/>
              <p:cNvSpPr>
                <a:spLocks noChangeShapeType="1"/>
              </p:cNvSpPr>
              <p:nvPr/>
            </p:nvSpPr>
            <p:spPr bwMode="auto">
              <a:xfrm flipV="1">
                <a:off x="4459" y="1284"/>
                <a:ext cx="156" cy="154"/>
              </a:xfrm>
              <a:prstGeom prst="line">
                <a:avLst/>
              </a:prstGeom>
              <a:noFill/>
              <a:ln w="6350">
                <a:solidFill>
                  <a:srgbClr val="777777"/>
                </a:solidFill>
                <a:round/>
                <a:headEnd/>
                <a:tailEnd/>
              </a:ln>
              <a:effectLst/>
            </p:spPr>
            <p:txBody>
              <a:bodyPr wrap="none" anchor="ctr"/>
              <a:lstStyle/>
              <a:p>
                <a:endParaRPr lang="fr-FR"/>
              </a:p>
            </p:txBody>
          </p:sp>
          <p:sp>
            <p:nvSpPr>
              <p:cNvPr id="197685" name="Line 53"/>
              <p:cNvSpPr>
                <a:spLocks noChangeShapeType="1"/>
              </p:cNvSpPr>
              <p:nvPr/>
            </p:nvSpPr>
            <p:spPr bwMode="auto">
              <a:xfrm flipV="1">
                <a:off x="4459" y="1256"/>
                <a:ext cx="156" cy="154"/>
              </a:xfrm>
              <a:prstGeom prst="line">
                <a:avLst/>
              </a:prstGeom>
              <a:noFill/>
              <a:ln w="6350">
                <a:solidFill>
                  <a:srgbClr val="777777"/>
                </a:solidFill>
                <a:round/>
                <a:headEnd/>
                <a:tailEnd/>
              </a:ln>
              <a:effectLst/>
            </p:spPr>
            <p:txBody>
              <a:bodyPr wrap="none" anchor="ctr"/>
              <a:lstStyle/>
              <a:p>
                <a:endParaRPr lang="fr-FR"/>
              </a:p>
            </p:txBody>
          </p:sp>
          <p:sp>
            <p:nvSpPr>
              <p:cNvPr id="197686" name="Freeform 54"/>
              <p:cNvSpPr>
                <a:spLocks/>
              </p:cNvSpPr>
              <p:nvPr/>
            </p:nvSpPr>
            <p:spPr bwMode="auto">
              <a:xfrm>
                <a:off x="3933" y="1324"/>
                <a:ext cx="254" cy="112"/>
              </a:xfrm>
              <a:custGeom>
                <a:avLst/>
                <a:gdLst/>
                <a:ahLst/>
                <a:cxnLst>
                  <a:cxn ang="0">
                    <a:pos x="520" y="88"/>
                  </a:cxn>
                  <a:cxn ang="0">
                    <a:pos x="0" y="0"/>
                  </a:cxn>
                  <a:cxn ang="0">
                    <a:pos x="0" y="144"/>
                  </a:cxn>
                  <a:cxn ang="0">
                    <a:pos x="520" y="230"/>
                  </a:cxn>
                  <a:cxn ang="0">
                    <a:pos x="520" y="88"/>
                  </a:cxn>
                </a:cxnLst>
                <a:rect l="0" t="0" r="r" b="b"/>
                <a:pathLst>
                  <a:path w="521" h="231">
                    <a:moveTo>
                      <a:pt x="520" y="88"/>
                    </a:moveTo>
                    <a:lnTo>
                      <a:pt x="0" y="0"/>
                    </a:lnTo>
                    <a:lnTo>
                      <a:pt x="0" y="144"/>
                    </a:lnTo>
                    <a:lnTo>
                      <a:pt x="520" y="230"/>
                    </a:lnTo>
                    <a:lnTo>
                      <a:pt x="520" y="88"/>
                    </a:lnTo>
                  </a:path>
                </a:pathLst>
              </a:custGeom>
              <a:solidFill>
                <a:srgbClr val="919191"/>
              </a:solidFill>
              <a:ln w="3175" cap="rnd" cmpd="sng">
                <a:solidFill>
                  <a:srgbClr val="000000"/>
                </a:solidFill>
                <a:prstDash val="solid"/>
                <a:round/>
                <a:headEnd type="none" w="med" len="med"/>
                <a:tailEnd type="none" w="med" len="med"/>
              </a:ln>
              <a:effectLst/>
            </p:spPr>
            <p:txBody>
              <a:bodyPr/>
              <a:lstStyle/>
              <a:p>
                <a:endParaRPr lang="fr-FR"/>
              </a:p>
            </p:txBody>
          </p:sp>
          <p:grpSp>
            <p:nvGrpSpPr>
              <p:cNvPr id="197687" name="Group 55"/>
              <p:cNvGrpSpPr>
                <a:grpSpLocks/>
              </p:cNvGrpSpPr>
              <p:nvPr/>
            </p:nvGrpSpPr>
            <p:grpSpPr bwMode="auto">
              <a:xfrm>
                <a:off x="3826" y="1336"/>
                <a:ext cx="357" cy="180"/>
                <a:chOff x="752" y="3672"/>
                <a:chExt cx="732" cy="372"/>
              </a:xfrm>
            </p:grpSpPr>
            <p:sp>
              <p:nvSpPr>
                <p:cNvPr id="197688" name="Freeform 56"/>
                <p:cNvSpPr>
                  <a:spLocks/>
                </p:cNvSpPr>
                <p:nvPr/>
              </p:nvSpPr>
              <p:spPr bwMode="auto">
                <a:xfrm>
                  <a:off x="752" y="3800"/>
                  <a:ext cx="548" cy="244"/>
                </a:xfrm>
                <a:custGeom>
                  <a:avLst/>
                  <a:gdLst/>
                  <a:ahLst/>
                  <a:cxnLst>
                    <a:cxn ang="0">
                      <a:pos x="548" y="102"/>
                    </a:cxn>
                    <a:cxn ang="0">
                      <a:pos x="0" y="0"/>
                    </a:cxn>
                    <a:cxn ang="0">
                      <a:pos x="2" y="129"/>
                    </a:cxn>
                    <a:cxn ang="0">
                      <a:pos x="548" y="244"/>
                    </a:cxn>
                    <a:cxn ang="0">
                      <a:pos x="548" y="102"/>
                    </a:cxn>
                  </a:cxnLst>
                  <a:rect l="0" t="0" r="r" b="b"/>
                  <a:pathLst>
                    <a:path w="548" h="244">
                      <a:moveTo>
                        <a:pt x="548" y="102"/>
                      </a:moveTo>
                      <a:lnTo>
                        <a:pt x="0" y="0"/>
                      </a:lnTo>
                      <a:lnTo>
                        <a:pt x="2" y="129"/>
                      </a:lnTo>
                      <a:lnTo>
                        <a:pt x="548" y="244"/>
                      </a:lnTo>
                      <a:lnTo>
                        <a:pt x="548" y="102"/>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7689" name="Freeform 57"/>
                <p:cNvSpPr>
                  <a:spLocks/>
                </p:cNvSpPr>
                <p:nvPr/>
              </p:nvSpPr>
              <p:spPr bwMode="auto">
                <a:xfrm>
                  <a:off x="1300" y="3757"/>
                  <a:ext cx="182" cy="287"/>
                </a:xfrm>
                <a:custGeom>
                  <a:avLst/>
                  <a:gdLst/>
                  <a:ahLst/>
                  <a:cxnLst>
                    <a:cxn ang="0">
                      <a:pos x="182" y="0"/>
                    </a:cxn>
                    <a:cxn ang="0">
                      <a:pos x="0" y="146"/>
                    </a:cxn>
                    <a:cxn ang="0">
                      <a:pos x="0" y="287"/>
                    </a:cxn>
                    <a:cxn ang="0">
                      <a:pos x="182" y="125"/>
                    </a:cxn>
                    <a:cxn ang="0">
                      <a:pos x="182" y="0"/>
                    </a:cxn>
                  </a:cxnLst>
                  <a:rect l="0" t="0" r="r" b="b"/>
                  <a:pathLst>
                    <a:path w="182" h="287">
                      <a:moveTo>
                        <a:pt x="182" y="0"/>
                      </a:moveTo>
                      <a:lnTo>
                        <a:pt x="0" y="146"/>
                      </a:lnTo>
                      <a:lnTo>
                        <a:pt x="0" y="287"/>
                      </a:lnTo>
                      <a:lnTo>
                        <a:pt x="182" y="125"/>
                      </a:lnTo>
                      <a:lnTo>
                        <a:pt x="182" y="0"/>
                      </a:lnTo>
                    </a:path>
                  </a:pathLst>
                </a:custGeom>
                <a:gradFill rotWithShape="0">
                  <a:gsLst>
                    <a:gs pos="0">
                      <a:srgbClr val="CECECE"/>
                    </a:gs>
                    <a:gs pos="100000">
                      <a:srgbClr val="CECECE">
                        <a:gamma/>
                        <a:shade val="66275"/>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7690" name="Freeform 58"/>
                <p:cNvSpPr>
                  <a:spLocks/>
                </p:cNvSpPr>
                <p:nvPr/>
              </p:nvSpPr>
              <p:spPr bwMode="auto">
                <a:xfrm>
                  <a:off x="756" y="3672"/>
                  <a:ext cx="728" cy="230"/>
                </a:xfrm>
                <a:custGeom>
                  <a:avLst/>
                  <a:gdLst/>
                  <a:ahLst/>
                  <a:cxnLst>
                    <a:cxn ang="0">
                      <a:pos x="0" y="128"/>
                    </a:cxn>
                    <a:cxn ang="0">
                      <a:pos x="257" y="0"/>
                    </a:cxn>
                    <a:cxn ang="0">
                      <a:pos x="727" y="82"/>
                    </a:cxn>
                    <a:cxn ang="0">
                      <a:pos x="544" y="229"/>
                    </a:cxn>
                    <a:cxn ang="0">
                      <a:pos x="0" y="128"/>
                    </a:cxn>
                  </a:cxnLst>
                  <a:rect l="0" t="0" r="r" b="b"/>
                  <a:pathLst>
                    <a:path w="728" h="230">
                      <a:moveTo>
                        <a:pt x="0" y="128"/>
                      </a:moveTo>
                      <a:lnTo>
                        <a:pt x="257" y="0"/>
                      </a:lnTo>
                      <a:lnTo>
                        <a:pt x="727" y="82"/>
                      </a:lnTo>
                      <a:lnTo>
                        <a:pt x="544" y="229"/>
                      </a:lnTo>
                      <a:lnTo>
                        <a:pt x="0" y="128"/>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7691" name="Freeform 59"/>
                <p:cNvSpPr>
                  <a:spLocks/>
                </p:cNvSpPr>
                <p:nvPr/>
              </p:nvSpPr>
              <p:spPr bwMode="auto">
                <a:xfrm>
                  <a:off x="752" y="3821"/>
                  <a:ext cx="725" cy="150"/>
                </a:xfrm>
                <a:custGeom>
                  <a:avLst/>
                  <a:gdLst/>
                  <a:ahLst/>
                  <a:cxnLst>
                    <a:cxn ang="0">
                      <a:pos x="725" y="0"/>
                    </a:cxn>
                    <a:cxn ang="0">
                      <a:pos x="548" y="150"/>
                    </a:cxn>
                    <a:cxn ang="0">
                      <a:pos x="0" y="43"/>
                    </a:cxn>
                  </a:cxnLst>
                  <a:rect l="0" t="0" r="r" b="b"/>
                  <a:pathLst>
                    <a:path w="725" h="150">
                      <a:moveTo>
                        <a:pt x="725" y="0"/>
                      </a:moveTo>
                      <a:lnTo>
                        <a:pt x="548" y="150"/>
                      </a:lnTo>
                      <a:lnTo>
                        <a:pt x="0" y="43"/>
                      </a:lnTo>
                    </a:path>
                  </a:pathLst>
                </a:custGeom>
                <a:noFill/>
                <a:ln w="3175" cap="rnd" cmpd="sng">
                  <a:solidFill>
                    <a:srgbClr val="000000"/>
                  </a:solidFill>
                  <a:prstDash val="solid"/>
                  <a:round/>
                  <a:headEnd type="none" w="med" len="med"/>
                  <a:tailEnd type="none" w="med" len="med"/>
                </a:ln>
                <a:effectLst/>
              </p:spPr>
              <p:txBody>
                <a:bodyPr/>
                <a:lstStyle/>
                <a:p>
                  <a:endParaRPr lang="fr-FR"/>
                </a:p>
              </p:txBody>
            </p:sp>
          </p:grpSp>
          <p:sp>
            <p:nvSpPr>
              <p:cNvPr id="197692" name="Freeform 60"/>
              <p:cNvSpPr>
                <a:spLocks/>
              </p:cNvSpPr>
              <p:nvPr/>
            </p:nvSpPr>
            <p:spPr bwMode="auto">
              <a:xfrm>
                <a:off x="3933" y="1181"/>
                <a:ext cx="254" cy="113"/>
              </a:xfrm>
              <a:custGeom>
                <a:avLst/>
                <a:gdLst/>
                <a:ahLst/>
                <a:cxnLst>
                  <a:cxn ang="0">
                    <a:pos x="520" y="88"/>
                  </a:cxn>
                  <a:cxn ang="0">
                    <a:pos x="0" y="0"/>
                  </a:cxn>
                  <a:cxn ang="0">
                    <a:pos x="0" y="144"/>
                  </a:cxn>
                  <a:cxn ang="0">
                    <a:pos x="520" y="230"/>
                  </a:cxn>
                  <a:cxn ang="0">
                    <a:pos x="520" y="88"/>
                  </a:cxn>
                </a:cxnLst>
                <a:rect l="0" t="0" r="r" b="b"/>
                <a:pathLst>
                  <a:path w="521" h="231">
                    <a:moveTo>
                      <a:pt x="520" y="88"/>
                    </a:moveTo>
                    <a:lnTo>
                      <a:pt x="0" y="0"/>
                    </a:lnTo>
                    <a:lnTo>
                      <a:pt x="0" y="144"/>
                    </a:lnTo>
                    <a:lnTo>
                      <a:pt x="520" y="230"/>
                    </a:lnTo>
                    <a:lnTo>
                      <a:pt x="520" y="88"/>
                    </a:lnTo>
                  </a:path>
                </a:pathLst>
              </a:custGeom>
              <a:solidFill>
                <a:srgbClr val="919191"/>
              </a:solidFill>
              <a:ln w="3175" cap="rnd" cmpd="sng">
                <a:solidFill>
                  <a:srgbClr val="000000"/>
                </a:solidFill>
                <a:prstDash val="solid"/>
                <a:round/>
                <a:headEnd type="none" w="med" len="med"/>
                <a:tailEnd type="none" w="med" len="med"/>
              </a:ln>
              <a:effectLst/>
            </p:spPr>
            <p:txBody>
              <a:bodyPr/>
              <a:lstStyle/>
              <a:p>
                <a:endParaRPr lang="fr-FR"/>
              </a:p>
            </p:txBody>
          </p:sp>
          <p:sp>
            <p:nvSpPr>
              <p:cNvPr id="197693" name="Freeform 61"/>
              <p:cNvSpPr>
                <a:spLocks/>
              </p:cNvSpPr>
              <p:nvPr/>
            </p:nvSpPr>
            <p:spPr bwMode="auto">
              <a:xfrm>
                <a:off x="3826" y="1255"/>
                <a:ext cx="267" cy="120"/>
              </a:xfrm>
              <a:custGeom>
                <a:avLst/>
                <a:gdLst/>
                <a:ahLst/>
                <a:cxnLst>
                  <a:cxn ang="0">
                    <a:pos x="548" y="102"/>
                  </a:cxn>
                  <a:cxn ang="0">
                    <a:pos x="0" y="0"/>
                  </a:cxn>
                  <a:cxn ang="0">
                    <a:pos x="2" y="129"/>
                  </a:cxn>
                  <a:cxn ang="0">
                    <a:pos x="548" y="244"/>
                  </a:cxn>
                  <a:cxn ang="0">
                    <a:pos x="548" y="102"/>
                  </a:cxn>
                </a:cxnLst>
                <a:rect l="0" t="0" r="r" b="b"/>
                <a:pathLst>
                  <a:path w="548" h="244">
                    <a:moveTo>
                      <a:pt x="548" y="102"/>
                    </a:moveTo>
                    <a:lnTo>
                      <a:pt x="0" y="0"/>
                    </a:lnTo>
                    <a:lnTo>
                      <a:pt x="2" y="129"/>
                    </a:lnTo>
                    <a:lnTo>
                      <a:pt x="548" y="244"/>
                    </a:lnTo>
                    <a:lnTo>
                      <a:pt x="548" y="102"/>
                    </a:lnTo>
                  </a:path>
                </a:pathLst>
              </a:custGeom>
              <a:gradFill rotWithShape="0">
                <a:gsLst>
                  <a:gs pos="0">
                    <a:srgbClr val="E5E6D1"/>
                  </a:gs>
                  <a:gs pos="100000">
                    <a:srgbClr val="E5E6D1">
                      <a:gamma/>
                      <a:shade val="76078"/>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7694" name="Freeform 62"/>
              <p:cNvSpPr>
                <a:spLocks/>
              </p:cNvSpPr>
              <p:nvPr/>
            </p:nvSpPr>
            <p:spPr bwMode="auto">
              <a:xfrm>
                <a:off x="4093" y="1234"/>
                <a:ext cx="88" cy="141"/>
              </a:xfrm>
              <a:custGeom>
                <a:avLst/>
                <a:gdLst/>
                <a:ahLst/>
                <a:cxnLst>
                  <a:cxn ang="0">
                    <a:pos x="182" y="0"/>
                  </a:cxn>
                  <a:cxn ang="0">
                    <a:pos x="0" y="146"/>
                  </a:cxn>
                  <a:cxn ang="0">
                    <a:pos x="0" y="287"/>
                  </a:cxn>
                  <a:cxn ang="0">
                    <a:pos x="182" y="125"/>
                  </a:cxn>
                  <a:cxn ang="0">
                    <a:pos x="182" y="0"/>
                  </a:cxn>
                </a:cxnLst>
                <a:rect l="0" t="0" r="r" b="b"/>
                <a:pathLst>
                  <a:path w="182" h="287">
                    <a:moveTo>
                      <a:pt x="182" y="0"/>
                    </a:moveTo>
                    <a:lnTo>
                      <a:pt x="0" y="146"/>
                    </a:lnTo>
                    <a:lnTo>
                      <a:pt x="0" y="287"/>
                    </a:lnTo>
                    <a:lnTo>
                      <a:pt x="182" y="125"/>
                    </a:lnTo>
                    <a:lnTo>
                      <a:pt x="182" y="0"/>
                    </a:lnTo>
                  </a:path>
                </a:pathLst>
              </a:custGeom>
              <a:gradFill rotWithShape="0">
                <a:gsLst>
                  <a:gs pos="0">
                    <a:srgbClr val="CECECE"/>
                  </a:gs>
                  <a:gs pos="100000">
                    <a:srgbClr val="CECECE">
                      <a:gamma/>
                      <a:shade val="66275"/>
                      <a:invGamma/>
                    </a:srgbClr>
                  </a:gs>
                </a:gsLst>
                <a:lin ang="5400000" scaled="1"/>
              </a:gradFill>
              <a:ln w="3175" cap="rnd" cmpd="sng">
                <a:solidFill>
                  <a:srgbClr val="000000"/>
                </a:solidFill>
                <a:prstDash val="solid"/>
                <a:round/>
                <a:headEnd type="none" w="med" len="med"/>
                <a:tailEnd type="none" w="med" len="med"/>
              </a:ln>
              <a:effectLst/>
            </p:spPr>
            <p:txBody>
              <a:bodyPr/>
              <a:lstStyle/>
              <a:p>
                <a:endParaRPr lang="fr-FR"/>
              </a:p>
            </p:txBody>
          </p:sp>
          <p:sp>
            <p:nvSpPr>
              <p:cNvPr id="197695" name="Freeform 63"/>
              <p:cNvSpPr>
                <a:spLocks/>
              </p:cNvSpPr>
              <p:nvPr/>
            </p:nvSpPr>
            <p:spPr bwMode="auto">
              <a:xfrm>
                <a:off x="3828" y="1193"/>
                <a:ext cx="355" cy="112"/>
              </a:xfrm>
              <a:custGeom>
                <a:avLst/>
                <a:gdLst/>
                <a:ahLst/>
                <a:cxnLst>
                  <a:cxn ang="0">
                    <a:pos x="0" y="128"/>
                  </a:cxn>
                  <a:cxn ang="0">
                    <a:pos x="257" y="0"/>
                  </a:cxn>
                  <a:cxn ang="0">
                    <a:pos x="727" y="82"/>
                  </a:cxn>
                  <a:cxn ang="0">
                    <a:pos x="544" y="229"/>
                  </a:cxn>
                  <a:cxn ang="0">
                    <a:pos x="0" y="128"/>
                  </a:cxn>
                </a:cxnLst>
                <a:rect l="0" t="0" r="r" b="b"/>
                <a:pathLst>
                  <a:path w="728" h="230">
                    <a:moveTo>
                      <a:pt x="0" y="128"/>
                    </a:moveTo>
                    <a:lnTo>
                      <a:pt x="257" y="0"/>
                    </a:lnTo>
                    <a:lnTo>
                      <a:pt x="727" y="82"/>
                    </a:lnTo>
                    <a:lnTo>
                      <a:pt x="544" y="229"/>
                    </a:lnTo>
                    <a:lnTo>
                      <a:pt x="0" y="128"/>
                    </a:lnTo>
                  </a:path>
                </a:pathLst>
              </a:custGeom>
              <a:solidFill>
                <a:schemeClr val="bg1"/>
              </a:solidFill>
              <a:ln w="3175" cap="rnd" cmpd="sng">
                <a:solidFill>
                  <a:srgbClr val="000000"/>
                </a:solidFill>
                <a:prstDash val="solid"/>
                <a:round/>
                <a:headEnd type="none" w="med" len="med"/>
                <a:tailEnd type="none" w="med" len="med"/>
              </a:ln>
              <a:effectLst/>
            </p:spPr>
            <p:txBody>
              <a:bodyPr/>
              <a:lstStyle/>
              <a:p>
                <a:endParaRPr lang="fr-FR"/>
              </a:p>
            </p:txBody>
          </p:sp>
          <p:sp>
            <p:nvSpPr>
              <p:cNvPr id="197696" name="Freeform 64"/>
              <p:cNvSpPr>
                <a:spLocks/>
              </p:cNvSpPr>
              <p:nvPr/>
            </p:nvSpPr>
            <p:spPr bwMode="auto">
              <a:xfrm>
                <a:off x="3826" y="1266"/>
                <a:ext cx="353" cy="73"/>
              </a:xfrm>
              <a:custGeom>
                <a:avLst/>
                <a:gdLst/>
                <a:ahLst/>
                <a:cxnLst>
                  <a:cxn ang="0">
                    <a:pos x="725" y="0"/>
                  </a:cxn>
                  <a:cxn ang="0">
                    <a:pos x="548" y="150"/>
                  </a:cxn>
                  <a:cxn ang="0">
                    <a:pos x="0" y="43"/>
                  </a:cxn>
                </a:cxnLst>
                <a:rect l="0" t="0" r="r" b="b"/>
                <a:pathLst>
                  <a:path w="725" h="150">
                    <a:moveTo>
                      <a:pt x="725" y="0"/>
                    </a:moveTo>
                    <a:lnTo>
                      <a:pt x="548" y="150"/>
                    </a:lnTo>
                    <a:lnTo>
                      <a:pt x="0" y="43"/>
                    </a:lnTo>
                  </a:path>
                </a:pathLst>
              </a:custGeom>
              <a:noFill/>
              <a:ln w="3175" cap="rnd" cmpd="sng">
                <a:solidFill>
                  <a:srgbClr val="000000"/>
                </a:solidFill>
                <a:prstDash val="solid"/>
                <a:round/>
                <a:headEnd type="none" w="med" len="med"/>
                <a:tailEnd type="none" w="med" len="med"/>
              </a:ln>
              <a:effectLst/>
            </p:spPr>
            <p:txBody>
              <a:bodyPr/>
              <a:lstStyle/>
              <a:p>
                <a:endParaRPr lang="fr-FR"/>
              </a:p>
            </p:txBody>
          </p:sp>
          <p:grpSp>
            <p:nvGrpSpPr>
              <p:cNvPr id="197697" name="Group 65"/>
              <p:cNvGrpSpPr>
                <a:grpSpLocks/>
              </p:cNvGrpSpPr>
              <p:nvPr/>
            </p:nvGrpSpPr>
            <p:grpSpPr bwMode="auto">
              <a:xfrm>
                <a:off x="4242" y="1206"/>
                <a:ext cx="174" cy="108"/>
                <a:chOff x="4242" y="1206"/>
                <a:chExt cx="174" cy="108"/>
              </a:xfrm>
            </p:grpSpPr>
            <p:sp>
              <p:nvSpPr>
                <p:cNvPr id="197698" name="Freeform 66"/>
                <p:cNvSpPr>
                  <a:spLocks/>
                </p:cNvSpPr>
                <p:nvPr/>
              </p:nvSpPr>
              <p:spPr bwMode="auto">
                <a:xfrm>
                  <a:off x="4244" y="1228"/>
                  <a:ext cx="172" cy="86"/>
                </a:xfrm>
                <a:custGeom>
                  <a:avLst/>
                  <a:gdLst/>
                  <a:ahLst/>
                  <a:cxnLst>
                    <a:cxn ang="0">
                      <a:pos x="172" y="0"/>
                    </a:cxn>
                    <a:cxn ang="0">
                      <a:pos x="172" y="45"/>
                    </a:cxn>
                    <a:cxn ang="0">
                      <a:pos x="148" y="86"/>
                    </a:cxn>
                    <a:cxn ang="0">
                      <a:pos x="0" y="65"/>
                    </a:cxn>
                    <a:cxn ang="0">
                      <a:pos x="1" y="49"/>
                    </a:cxn>
                  </a:cxnLst>
                  <a:rect l="0" t="0" r="r" b="b"/>
                  <a:pathLst>
                    <a:path w="172" h="86">
                      <a:moveTo>
                        <a:pt x="172" y="0"/>
                      </a:moveTo>
                      <a:lnTo>
                        <a:pt x="172" y="45"/>
                      </a:lnTo>
                      <a:lnTo>
                        <a:pt x="148" y="86"/>
                      </a:lnTo>
                      <a:lnTo>
                        <a:pt x="0" y="65"/>
                      </a:lnTo>
                      <a:lnTo>
                        <a:pt x="1" y="49"/>
                      </a:lnTo>
                    </a:path>
                  </a:pathLst>
                </a:custGeom>
                <a:solidFill>
                  <a:srgbClr val="969696"/>
                </a:solid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FR"/>
                </a:p>
              </p:txBody>
            </p:sp>
            <p:sp>
              <p:nvSpPr>
                <p:cNvPr id="197699" name="Freeform 67"/>
                <p:cNvSpPr>
                  <a:spLocks/>
                </p:cNvSpPr>
                <p:nvPr/>
              </p:nvSpPr>
              <p:spPr bwMode="auto">
                <a:xfrm>
                  <a:off x="4242" y="1206"/>
                  <a:ext cx="174" cy="100"/>
                </a:xfrm>
                <a:custGeom>
                  <a:avLst/>
                  <a:gdLst/>
                  <a:ahLst/>
                  <a:cxnLst>
                    <a:cxn ang="0">
                      <a:pos x="357" y="41"/>
                    </a:cxn>
                    <a:cxn ang="0">
                      <a:pos x="55" y="0"/>
                    </a:cxn>
                    <a:cxn ang="0">
                      <a:pos x="0" y="158"/>
                    </a:cxn>
                    <a:cxn ang="0">
                      <a:pos x="302" y="203"/>
                    </a:cxn>
                    <a:cxn ang="0">
                      <a:pos x="357" y="41"/>
                    </a:cxn>
                  </a:cxnLst>
                  <a:rect l="0" t="0" r="r" b="b"/>
                  <a:pathLst>
                    <a:path w="358" h="204">
                      <a:moveTo>
                        <a:pt x="357" y="41"/>
                      </a:moveTo>
                      <a:lnTo>
                        <a:pt x="55" y="0"/>
                      </a:lnTo>
                      <a:lnTo>
                        <a:pt x="0" y="158"/>
                      </a:lnTo>
                      <a:lnTo>
                        <a:pt x="302" y="203"/>
                      </a:lnTo>
                      <a:lnTo>
                        <a:pt x="357" y="41"/>
                      </a:lnTo>
                    </a:path>
                  </a:pathLst>
                </a:custGeom>
                <a:solidFill>
                  <a:srgbClr val="FCFEB9"/>
                </a:solidFill>
                <a:ln w="3175" cap="rnd" cmpd="sng">
                  <a:solidFill>
                    <a:schemeClr val="tx1"/>
                  </a:solidFill>
                  <a:prstDash val="solid"/>
                  <a:round/>
                  <a:headEnd type="none" w="med" len="med"/>
                  <a:tailEnd type="none" w="med" len="med"/>
                </a:ln>
                <a:effectLst/>
              </p:spPr>
              <p:txBody>
                <a:bodyPr/>
                <a:lstStyle/>
                <a:p>
                  <a:endParaRPr lang="fr-FR"/>
                </a:p>
              </p:txBody>
            </p:sp>
            <p:sp>
              <p:nvSpPr>
                <p:cNvPr id="197700" name="Freeform 68"/>
                <p:cNvSpPr>
                  <a:spLocks/>
                </p:cNvSpPr>
                <p:nvPr/>
              </p:nvSpPr>
              <p:spPr bwMode="auto">
                <a:xfrm>
                  <a:off x="4363" y="1253"/>
                  <a:ext cx="30" cy="19"/>
                </a:xfrm>
                <a:custGeom>
                  <a:avLst/>
                  <a:gdLst/>
                  <a:ahLst/>
                  <a:cxnLst>
                    <a:cxn ang="0">
                      <a:pos x="59" y="8"/>
                    </a:cxn>
                    <a:cxn ang="0">
                      <a:pos x="12" y="0"/>
                    </a:cxn>
                    <a:cxn ang="0">
                      <a:pos x="0" y="31"/>
                    </a:cxn>
                    <a:cxn ang="0">
                      <a:pos x="47" y="39"/>
                    </a:cxn>
                    <a:cxn ang="0">
                      <a:pos x="59" y="8"/>
                    </a:cxn>
                  </a:cxnLst>
                  <a:rect l="0" t="0" r="r" b="b"/>
                  <a:pathLst>
                    <a:path w="60" h="40">
                      <a:moveTo>
                        <a:pt x="59" y="8"/>
                      </a:moveTo>
                      <a:lnTo>
                        <a:pt x="12" y="0"/>
                      </a:lnTo>
                      <a:lnTo>
                        <a:pt x="0" y="31"/>
                      </a:lnTo>
                      <a:lnTo>
                        <a:pt x="47" y="39"/>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7701" name="Freeform 69"/>
                <p:cNvSpPr>
                  <a:spLocks/>
                </p:cNvSpPr>
                <p:nvPr/>
              </p:nvSpPr>
              <p:spPr bwMode="auto">
                <a:xfrm>
                  <a:off x="4275" y="1216"/>
                  <a:ext cx="125" cy="32"/>
                </a:xfrm>
                <a:custGeom>
                  <a:avLst/>
                  <a:gdLst/>
                  <a:ahLst/>
                  <a:cxnLst>
                    <a:cxn ang="0">
                      <a:pos x="258" y="35"/>
                    </a:cxn>
                    <a:cxn ang="0">
                      <a:pos x="8" y="0"/>
                    </a:cxn>
                    <a:cxn ang="0">
                      <a:pos x="0" y="27"/>
                    </a:cxn>
                    <a:cxn ang="0">
                      <a:pos x="246" y="66"/>
                    </a:cxn>
                    <a:cxn ang="0">
                      <a:pos x="258" y="35"/>
                    </a:cxn>
                  </a:cxnLst>
                  <a:rect l="0" t="0" r="r" b="b"/>
                  <a:pathLst>
                    <a:path w="259" h="67">
                      <a:moveTo>
                        <a:pt x="258" y="35"/>
                      </a:moveTo>
                      <a:lnTo>
                        <a:pt x="8" y="0"/>
                      </a:lnTo>
                      <a:lnTo>
                        <a:pt x="0" y="27"/>
                      </a:lnTo>
                      <a:lnTo>
                        <a:pt x="246" y="66"/>
                      </a:lnTo>
                      <a:lnTo>
                        <a:pt x="258" y="35"/>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7702" name="Freeform 70"/>
                <p:cNvSpPr>
                  <a:spLocks/>
                </p:cNvSpPr>
                <p:nvPr/>
              </p:nvSpPr>
              <p:spPr bwMode="auto">
                <a:xfrm>
                  <a:off x="4355" y="1274"/>
                  <a:ext cx="29" cy="20"/>
                </a:xfrm>
                <a:custGeom>
                  <a:avLst/>
                  <a:gdLst/>
                  <a:ahLst/>
                  <a:cxnLst>
                    <a:cxn ang="0">
                      <a:pos x="59" y="8"/>
                    </a:cxn>
                    <a:cxn ang="0">
                      <a:pos x="12" y="0"/>
                    </a:cxn>
                    <a:cxn ang="0">
                      <a:pos x="0" y="31"/>
                    </a:cxn>
                    <a:cxn ang="0">
                      <a:pos x="49" y="39"/>
                    </a:cxn>
                    <a:cxn ang="0">
                      <a:pos x="59" y="8"/>
                    </a:cxn>
                  </a:cxnLst>
                  <a:rect l="0" t="0" r="r" b="b"/>
                  <a:pathLst>
                    <a:path w="60" h="40">
                      <a:moveTo>
                        <a:pt x="59" y="8"/>
                      </a:moveTo>
                      <a:lnTo>
                        <a:pt x="12" y="0"/>
                      </a:lnTo>
                      <a:lnTo>
                        <a:pt x="0" y="31"/>
                      </a:lnTo>
                      <a:lnTo>
                        <a:pt x="49" y="39"/>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7703" name="Freeform 71"/>
                <p:cNvSpPr>
                  <a:spLocks/>
                </p:cNvSpPr>
                <p:nvPr/>
              </p:nvSpPr>
              <p:spPr bwMode="auto">
                <a:xfrm>
                  <a:off x="4329" y="1248"/>
                  <a:ext cx="32" cy="19"/>
                </a:xfrm>
                <a:custGeom>
                  <a:avLst/>
                  <a:gdLst/>
                  <a:ahLst/>
                  <a:cxnLst>
                    <a:cxn ang="0">
                      <a:pos x="61" y="8"/>
                    </a:cxn>
                    <a:cxn ang="0">
                      <a:pos x="12" y="0"/>
                    </a:cxn>
                    <a:cxn ang="0">
                      <a:pos x="0" y="30"/>
                    </a:cxn>
                    <a:cxn ang="0">
                      <a:pos x="51" y="38"/>
                    </a:cxn>
                    <a:cxn ang="0">
                      <a:pos x="61" y="8"/>
                    </a:cxn>
                  </a:cxnLst>
                  <a:rect l="0" t="0" r="r" b="b"/>
                  <a:pathLst>
                    <a:path w="62" h="39">
                      <a:moveTo>
                        <a:pt x="61" y="8"/>
                      </a:moveTo>
                      <a:lnTo>
                        <a:pt x="12" y="0"/>
                      </a:lnTo>
                      <a:lnTo>
                        <a:pt x="0" y="30"/>
                      </a:lnTo>
                      <a:lnTo>
                        <a:pt x="51" y="38"/>
                      </a:lnTo>
                      <a:lnTo>
                        <a:pt x="61"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7704" name="Freeform 72"/>
                <p:cNvSpPr>
                  <a:spLocks/>
                </p:cNvSpPr>
                <p:nvPr/>
              </p:nvSpPr>
              <p:spPr bwMode="auto">
                <a:xfrm>
                  <a:off x="4324" y="1269"/>
                  <a:ext cx="29" cy="18"/>
                </a:xfrm>
                <a:custGeom>
                  <a:avLst/>
                  <a:gdLst/>
                  <a:ahLst/>
                  <a:cxnLst>
                    <a:cxn ang="0">
                      <a:pos x="59" y="8"/>
                    </a:cxn>
                    <a:cxn ang="0">
                      <a:pos x="10" y="0"/>
                    </a:cxn>
                    <a:cxn ang="0">
                      <a:pos x="0" y="31"/>
                    </a:cxn>
                    <a:cxn ang="0">
                      <a:pos x="49" y="37"/>
                    </a:cxn>
                    <a:cxn ang="0">
                      <a:pos x="59" y="8"/>
                    </a:cxn>
                  </a:cxnLst>
                  <a:rect l="0" t="0" r="r" b="b"/>
                  <a:pathLst>
                    <a:path w="60" h="38">
                      <a:moveTo>
                        <a:pt x="59" y="8"/>
                      </a:moveTo>
                      <a:lnTo>
                        <a:pt x="10" y="0"/>
                      </a:lnTo>
                      <a:lnTo>
                        <a:pt x="0" y="31"/>
                      </a:lnTo>
                      <a:lnTo>
                        <a:pt x="49" y="37"/>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7705" name="Freeform 73"/>
                <p:cNvSpPr>
                  <a:spLocks/>
                </p:cNvSpPr>
                <p:nvPr/>
              </p:nvSpPr>
              <p:spPr bwMode="auto">
                <a:xfrm>
                  <a:off x="4298" y="1244"/>
                  <a:ext cx="30" cy="17"/>
                </a:xfrm>
                <a:custGeom>
                  <a:avLst/>
                  <a:gdLst/>
                  <a:ahLst/>
                  <a:cxnLst>
                    <a:cxn ang="0">
                      <a:pos x="61" y="8"/>
                    </a:cxn>
                    <a:cxn ang="0">
                      <a:pos x="12" y="0"/>
                    </a:cxn>
                    <a:cxn ang="0">
                      <a:pos x="0" y="30"/>
                    </a:cxn>
                    <a:cxn ang="0">
                      <a:pos x="49" y="36"/>
                    </a:cxn>
                    <a:cxn ang="0">
                      <a:pos x="61" y="8"/>
                    </a:cxn>
                  </a:cxnLst>
                  <a:rect l="0" t="0" r="r" b="b"/>
                  <a:pathLst>
                    <a:path w="62" h="37">
                      <a:moveTo>
                        <a:pt x="61" y="8"/>
                      </a:moveTo>
                      <a:lnTo>
                        <a:pt x="12" y="0"/>
                      </a:lnTo>
                      <a:lnTo>
                        <a:pt x="0" y="30"/>
                      </a:lnTo>
                      <a:lnTo>
                        <a:pt x="49" y="36"/>
                      </a:lnTo>
                      <a:lnTo>
                        <a:pt x="61"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7706" name="Freeform 74"/>
                <p:cNvSpPr>
                  <a:spLocks/>
                </p:cNvSpPr>
                <p:nvPr/>
              </p:nvSpPr>
              <p:spPr bwMode="auto">
                <a:xfrm>
                  <a:off x="4290" y="1266"/>
                  <a:ext cx="31" cy="18"/>
                </a:xfrm>
                <a:custGeom>
                  <a:avLst/>
                  <a:gdLst/>
                  <a:ahLst/>
                  <a:cxnLst>
                    <a:cxn ang="0">
                      <a:pos x="59" y="8"/>
                    </a:cxn>
                    <a:cxn ang="0">
                      <a:pos x="10" y="0"/>
                    </a:cxn>
                    <a:cxn ang="0">
                      <a:pos x="0" y="28"/>
                    </a:cxn>
                    <a:cxn ang="0">
                      <a:pos x="47" y="36"/>
                    </a:cxn>
                    <a:cxn ang="0">
                      <a:pos x="59" y="8"/>
                    </a:cxn>
                  </a:cxnLst>
                  <a:rect l="0" t="0" r="r" b="b"/>
                  <a:pathLst>
                    <a:path w="60" h="37">
                      <a:moveTo>
                        <a:pt x="59" y="8"/>
                      </a:moveTo>
                      <a:lnTo>
                        <a:pt x="10" y="0"/>
                      </a:lnTo>
                      <a:lnTo>
                        <a:pt x="0" y="28"/>
                      </a:lnTo>
                      <a:lnTo>
                        <a:pt x="47" y="36"/>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7707" name="Freeform 75"/>
                <p:cNvSpPr>
                  <a:spLocks/>
                </p:cNvSpPr>
                <p:nvPr/>
              </p:nvSpPr>
              <p:spPr bwMode="auto">
                <a:xfrm>
                  <a:off x="4268" y="1239"/>
                  <a:ext cx="28" cy="17"/>
                </a:xfrm>
                <a:custGeom>
                  <a:avLst/>
                  <a:gdLst/>
                  <a:ahLst/>
                  <a:cxnLst>
                    <a:cxn ang="0">
                      <a:pos x="59" y="6"/>
                    </a:cxn>
                    <a:cxn ang="0">
                      <a:pos x="10" y="0"/>
                    </a:cxn>
                    <a:cxn ang="0">
                      <a:pos x="0" y="29"/>
                    </a:cxn>
                    <a:cxn ang="0">
                      <a:pos x="47" y="37"/>
                    </a:cxn>
                    <a:cxn ang="0">
                      <a:pos x="59" y="6"/>
                    </a:cxn>
                  </a:cxnLst>
                  <a:rect l="0" t="0" r="r" b="b"/>
                  <a:pathLst>
                    <a:path w="60" h="38">
                      <a:moveTo>
                        <a:pt x="59" y="6"/>
                      </a:moveTo>
                      <a:lnTo>
                        <a:pt x="10" y="0"/>
                      </a:lnTo>
                      <a:lnTo>
                        <a:pt x="0" y="29"/>
                      </a:lnTo>
                      <a:lnTo>
                        <a:pt x="47" y="37"/>
                      </a:lnTo>
                      <a:lnTo>
                        <a:pt x="59" y="6"/>
                      </a:lnTo>
                    </a:path>
                  </a:pathLst>
                </a:custGeom>
                <a:solidFill>
                  <a:srgbClr val="919191"/>
                </a:solidFill>
                <a:ln w="3175" cap="rnd" cmpd="sng">
                  <a:noFill/>
                  <a:prstDash val="solid"/>
                  <a:round/>
                  <a:headEnd type="none" w="med" len="med"/>
                  <a:tailEnd type="none" w="med" len="med"/>
                </a:ln>
                <a:effectLst/>
              </p:spPr>
              <p:txBody>
                <a:bodyPr/>
                <a:lstStyle/>
                <a:p>
                  <a:endParaRPr lang="fr-FR"/>
                </a:p>
              </p:txBody>
            </p:sp>
            <p:sp>
              <p:nvSpPr>
                <p:cNvPr id="197708" name="Freeform 76"/>
                <p:cNvSpPr>
                  <a:spLocks/>
                </p:cNvSpPr>
                <p:nvPr/>
              </p:nvSpPr>
              <p:spPr bwMode="auto">
                <a:xfrm>
                  <a:off x="4259" y="1260"/>
                  <a:ext cx="29" cy="19"/>
                </a:xfrm>
                <a:custGeom>
                  <a:avLst/>
                  <a:gdLst/>
                  <a:ahLst/>
                  <a:cxnLst>
                    <a:cxn ang="0">
                      <a:pos x="59" y="8"/>
                    </a:cxn>
                    <a:cxn ang="0">
                      <a:pos x="10" y="0"/>
                    </a:cxn>
                    <a:cxn ang="0">
                      <a:pos x="0" y="28"/>
                    </a:cxn>
                    <a:cxn ang="0">
                      <a:pos x="47" y="36"/>
                    </a:cxn>
                    <a:cxn ang="0">
                      <a:pos x="59" y="8"/>
                    </a:cxn>
                  </a:cxnLst>
                  <a:rect l="0" t="0" r="r" b="b"/>
                  <a:pathLst>
                    <a:path w="60" h="37">
                      <a:moveTo>
                        <a:pt x="59" y="8"/>
                      </a:moveTo>
                      <a:lnTo>
                        <a:pt x="10" y="0"/>
                      </a:lnTo>
                      <a:lnTo>
                        <a:pt x="0" y="28"/>
                      </a:lnTo>
                      <a:lnTo>
                        <a:pt x="47" y="36"/>
                      </a:lnTo>
                      <a:lnTo>
                        <a:pt x="59" y="8"/>
                      </a:lnTo>
                    </a:path>
                  </a:pathLst>
                </a:custGeom>
                <a:solidFill>
                  <a:srgbClr val="919191"/>
                </a:solidFill>
                <a:ln w="3175" cap="rnd" cmpd="sng">
                  <a:noFill/>
                  <a:prstDash val="solid"/>
                  <a:round/>
                  <a:headEnd type="none" w="med" len="med"/>
                  <a:tailEnd type="none" w="med" len="med"/>
                </a:ln>
                <a:effectLst/>
              </p:spPr>
              <p:txBody>
                <a:bodyPr/>
                <a:lstStyle/>
                <a:p>
                  <a:endParaRPr lang="fr-FR"/>
                </a:p>
              </p:txBody>
            </p:sp>
          </p:grpSp>
        </p:grpSp>
      </p:grpSp>
      <p:sp>
        <p:nvSpPr>
          <p:cNvPr id="197709" name="AutoShape 77"/>
          <p:cNvSpPr>
            <a:spLocks noChangeArrowheads="1"/>
          </p:cNvSpPr>
          <p:nvPr/>
        </p:nvSpPr>
        <p:spPr bwMode="auto">
          <a:xfrm>
            <a:off x="4549775" y="2139813"/>
            <a:ext cx="1741488" cy="1741487"/>
          </a:xfrm>
          <a:custGeom>
            <a:avLst/>
            <a:gdLst>
              <a:gd name="G0" fmla="+- 0 0 0"/>
              <a:gd name="G1" fmla="+- -5901717 0 0"/>
              <a:gd name="G2" fmla="+- 0 0 -5901717"/>
              <a:gd name="G3" fmla="+- 10800 0 0"/>
              <a:gd name="G4" fmla="+- 0 0 0"/>
              <a:gd name="T0" fmla="*/ 360 256 1"/>
              <a:gd name="T1" fmla="*/ 0 256 1"/>
              <a:gd name="G5" fmla="+- G2 T0 T1"/>
              <a:gd name="G6" fmla="?: G2 G2 G5"/>
              <a:gd name="G7" fmla="+- 0 0 G6"/>
              <a:gd name="G8" fmla="+- 5400 0 0"/>
              <a:gd name="G9" fmla="+- 0 0 -5901717"/>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5901717"/>
              <a:gd name="G36" fmla="sin G34 -5901717"/>
              <a:gd name="G37" fmla="+/ -5901717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8433 w 21600"/>
              <a:gd name="T5" fmla="*/ 3159 h 21600"/>
              <a:gd name="T6" fmla="*/ 10792 w 21600"/>
              <a:gd name="T7" fmla="*/ 2700 h 21600"/>
              <a:gd name="T8" fmla="*/ 14616 w 21600"/>
              <a:gd name="T9" fmla="*/ 6979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10798" y="5399"/>
                  <a:pt x="10796" y="5400"/>
                  <a:pt x="10794" y="5400"/>
                </a:cubicBezTo>
                <a:lnTo>
                  <a:pt x="10789" y="0"/>
                </a:lnTo>
                <a:cubicBezTo>
                  <a:pt x="10793" y="0"/>
                  <a:pt x="10796" y="-1"/>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gradFill rotWithShape="0">
            <a:gsLst>
              <a:gs pos="0">
                <a:srgbClr val="D60093"/>
              </a:gs>
              <a:gs pos="100000">
                <a:srgbClr val="D60093">
                  <a:gamma/>
                  <a:tint val="33333"/>
                  <a:invGamma/>
                </a:srgbClr>
              </a:gs>
            </a:gsLst>
            <a:lin ang="5400000" scaled="1"/>
          </a:gradFill>
          <a:ln w="6350">
            <a:solidFill>
              <a:srgbClr val="660066"/>
            </a:solidFill>
            <a:miter lim="800000"/>
            <a:headEnd/>
            <a:tailEnd/>
          </a:ln>
          <a:effectLst>
            <a:outerShdw dist="45791" dir="2021404" algn="ctr" rotWithShape="0">
              <a:srgbClr val="B2B2B2"/>
            </a:outerShdw>
          </a:effectLst>
        </p:spPr>
        <p:txBody>
          <a:bodyPr tIns="27432" bIns="27432" anchor="ctr">
            <a:spAutoFit/>
          </a:bodyPr>
          <a:lstStyle/>
          <a:p>
            <a:endParaRPr lang="fr-FR"/>
          </a:p>
        </p:txBody>
      </p:sp>
      <p:grpSp>
        <p:nvGrpSpPr>
          <p:cNvPr id="197711" name="Group 79"/>
          <p:cNvGrpSpPr>
            <a:grpSpLocks/>
          </p:cNvGrpSpPr>
          <p:nvPr/>
        </p:nvGrpSpPr>
        <p:grpSpPr bwMode="auto">
          <a:xfrm>
            <a:off x="7288213" y="4251188"/>
            <a:ext cx="914400" cy="858837"/>
            <a:chOff x="2902" y="2472"/>
            <a:chExt cx="1433" cy="1433"/>
          </a:xfrm>
        </p:grpSpPr>
        <p:sp>
          <p:nvSpPr>
            <p:cNvPr id="197712" name="Oval 80"/>
            <p:cNvSpPr>
              <a:spLocks noChangeArrowheads="1"/>
            </p:cNvSpPr>
            <p:nvPr/>
          </p:nvSpPr>
          <p:spPr bwMode="auto">
            <a:xfrm>
              <a:off x="2902" y="2472"/>
              <a:ext cx="1433" cy="1433"/>
            </a:xfrm>
            <a:prstGeom prst="ellipse">
              <a:avLst/>
            </a:prstGeom>
            <a:gradFill rotWithShape="0">
              <a:gsLst>
                <a:gs pos="0">
                  <a:srgbClr val="FFFFFF"/>
                </a:gs>
                <a:gs pos="100000">
                  <a:srgbClr val="CECECE"/>
                </a:gs>
              </a:gsLst>
              <a:path path="shape">
                <a:fillToRect l="50000" t="50000" r="50000" b="50000"/>
              </a:path>
            </a:gradFill>
            <a:ln w="12700">
              <a:solidFill>
                <a:srgbClr val="000000"/>
              </a:solidFill>
              <a:round/>
              <a:headEnd/>
              <a:tailEnd/>
            </a:ln>
            <a:effectLst>
              <a:outerShdw dist="35921" dir="2700000" algn="ctr" rotWithShape="0">
                <a:srgbClr val="919191"/>
              </a:outerShdw>
            </a:effectLst>
          </p:spPr>
          <p:txBody>
            <a:bodyPr/>
            <a:lstStyle/>
            <a:p>
              <a:endParaRPr lang="fr-FR"/>
            </a:p>
          </p:txBody>
        </p:sp>
        <p:sp>
          <p:nvSpPr>
            <p:cNvPr id="197713" name="Freeform 81"/>
            <p:cNvSpPr>
              <a:spLocks/>
            </p:cNvSpPr>
            <p:nvPr/>
          </p:nvSpPr>
          <p:spPr bwMode="auto">
            <a:xfrm>
              <a:off x="3371" y="2473"/>
              <a:ext cx="332" cy="716"/>
            </a:xfrm>
            <a:custGeom>
              <a:avLst/>
              <a:gdLst/>
              <a:ahLst/>
              <a:cxnLst>
                <a:cxn ang="0">
                  <a:pos x="0" y="44"/>
                </a:cxn>
                <a:cxn ang="0">
                  <a:pos x="30" y="34"/>
                </a:cxn>
                <a:cxn ang="0">
                  <a:pos x="60" y="25"/>
                </a:cxn>
                <a:cxn ang="0">
                  <a:pos x="91" y="17"/>
                </a:cxn>
                <a:cxn ang="0">
                  <a:pos x="122" y="11"/>
                </a:cxn>
                <a:cxn ang="0">
                  <a:pos x="153" y="6"/>
                </a:cxn>
                <a:cxn ang="0">
                  <a:pos x="185" y="3"/>
                </a:cxn>
                <a:cxn ang="0">
                  <a:pos x="216" y="1"/>
                </a:cxn>
                <a:cxn ang="0">
                  <a:pos x="248" y="0"/>
                </a:cxn>
                <a:cxn ang="0">
                  <a:pos x="290" y="1"/>
                </a:cxn>
                <a:cxn ang="0">
                  <a:pos x="332" y="5"/>
                </a:cxn>
                <a:cxn ang="0">
                  <a:pos x="248" y="716"/>
                </a:cxn>
                <a:cxn ang="0">
                  <a:pos x="0" y="44"/>
                </a:cxn>
              </a:cxnLst>
              <a:rect l="0" t="0" r="r" b="b"/>
              <a:pathLst>
                <a:path w="332" h="716">
                  <a:moveTo>
                    <a:pt x="0" y="44"/>
                  </a:moveTo>
                  <a:lnTo>
                    <a:pt x="30" y="34"/>
                  </a:lnTo>
                  <a:lnTo>
                    <a:pt x="60" y="25"/>
                  </a:lnTo>
                  <a:lnTo>
                    <a:pt x="91" y="17"/>
                  </a:lnTo>
                  <a:lnTo>
                    <a:pt x="122" y="11"/>
                  </a:lnTo>
                  <a:lnTo>
                    <a:pt x="153" y="6"/>
                  </a:lnTo>
                  <a:lnTo>
                    <a:pt x="185" y="3"/>
                  </a:lnTo>
                  <a:lnTo>
                    <a:pt x="216" y="1"/>
                  </a:lnTo>
                  <a:lnTo>
                    <a:pt x="248" y="0"/>
                  </a:lnTo>
                  <a:lnTo>
                    <a:pt x="290" y="1"/>
                  </a:lnTo>
                  <a:lnTo>
                    <a:pt x="332" y="5"/>
                  </a:lnTo>
                  <a:lnTo>
                    <a:pt x="248" y="716"/>
                  </a:lnTo>
                  <a:lnTo>
                    <a:pt x="0" y="44"/>
                  </a:lnTo>
                  <a:close/>
                </a:path>
              </a:pathLst>
            </a:custGeom>
            <a:solidFill>
              <a:srgbClr val="FF6600"/>
            </a:solidFill>
            <a:ln w="9525">
              <a:noFill/>
              <a:round/>
              <a:headEnd/>
              <a:tailEnd/>
            </a:ln>
          </p:spPr>
          <p:txBody>
            <a:bodyPr/>
            <a:lstStyle/>
            <a:p>
              <a:endParaRPr lang="fr-FR"/>
            </a:p>
          </p:txBody>
        </p:sp>
        <p:sp>
          <p:nvSpPr>
            <p:cNvPr id="197714" name="Freeform 82"/>
            <p:cNvSpPr>
              <a:spLocks/>
            </p:cNvSpPr>
            <p:nvPr/>
          </p:nvSpPr>
          <p:spPr bwMode="auto">
            <a:xfrm>
              <a:off x="3371" y="2473"/>
              <a:ext cx="332" cy="44"/>
            </a:xfrm>
            <a:custGeom>
              <a:avLst/>
              <a:gdLst/>
              <a:ahLst/>
              <a:cxnLst>
                <a:cxn ang="0">
                  <a:pos x="0" y="44"/>
                </a:cxn>
                <a:cxn ang="0">
                  <a:pos x="30" y="34"/>
                </a:cxn>
                <a:cxn ang="0">
                  <a:pos x="60" y="25"/>
                </a:cxn>
                <a:cxn ang="0">
                  <a:pos x="91" y="17"/>
                </a:cxn>
                <a:cxn ang="0">
                  <a:pos x="122" y="11"/>
                </a:cxn>
                <a:cxn ang="0">
                  <a:pos x="153" y="6"/>
                </a:cxn>
                <a:cxn ang="0">
                  <a:pos x="185" y="3"/>
                </a:cxn>
                <a:cxn ang="0">
                  <a:pos x="216" y="1"/>
                </a:cxn>
                <a:cxn ang="0">
                  <a:pos x="248" y="0"/>
                </a:cxn>
                <a:cxn ang="0">
                  <a:pos x="290" y="1"/>
                </a:cxn>
                <a:cxn ang="0">
                  <a:pos x="332" y="5"/>
                </a:cxn>
              </a:cxnLst>
              <a:rect l="0" t="0" r="r" b="b"/>
              <a:pathLst>
                <a:path w="332" h="44">
                  <a:moveTo>
                    <a:pt x="0" y="44"/>
                  </a:moveTo>
                  <a:lnTo>
                    <a:pt x="30" y="34"/>
                  </a:lnTo>
                  <a:lnTo>
                    <a:pt x="60" y="25"/>
                  </a:lnTo>
                  <a:lnTo>
                    <a:pt x="91" y="17"/>
                  </a:lnTo>
                  <a:lnTo>
                    <a:pt x="122" y="11"/>
                  </a:lnTo>
                  <a:lnTo>
                    <a:pt x="153" y="6"/>
                  </a:lnTo>
                  <a:lnTo>
                    <a:pt x="185" y="3"/>
                  </a:lnTo>
                  <a:lnTo>
                    <a:pt x="216" y="1"/>
                  </a:lnTo>
                  <a:lnTo>
                    <a:pt x="248" y="0"/>
                  </a:lnTo>
                  <a:lnTo>
                    <a:pt x="290" y="1"/>
                  </a:lnTo>
                  <a:lnTo>
                    <a:pt x="332" y="5"/>
                  </a:lnTo>
                </a:path>
              </a:pathLst>
            </a:custGeom>
            <a:noFill/>
            <a:ln w="12700">
              <a:solidFill>
                <a:srgbClr val="000000"/>
              </a:solidFill>
              <a:prstDash val="solid"/>
              <a:round/>
              <a:headEnd/>
              <a:tailEnd/>
            </a:ln>
          </p:spPr>
          <p:txBody>
            <a:bodyPr/>
            <a:lstStyle/>
            <a:p>
              <a:endParaRPr lang="fr-FR"/>
            </a:p>
          </p:txBody>
        </p:sp>
        <p:sp>
          <p:nvSpPr>
            <p:cNvPr id="197715" name="Freeform 83"/>
            <p:cNvSpPr>
              <a:spLocks/>
            </p:cNvSpPr>
            <p:nvPr/>
          </p:nvSpPr>
          <p:spPr bwMode="auto">
            <a:xfrm>
              <a:off x="3618" y="2473"/>
              <a:ext cx="383" cy="716"/>
            </a:xfrm>
            <a:custGeom>
              <a:avLst/>
              <a:gdLst/>
              <a:ahLst/>
              <a:cxnLst>
                <a:cxn ang="0">
                  <a:pos x="0" y="0"/>
                </a:cxn>
                <a:cxn ang="0">
                  <a:pos x="1" y="0"/>
                </a:cxn>
                <a:cxn ang="0">
                  <a:pos x="1" y="0"/>
                </a:cxn>
                <a:cxn ang="0">
                  <a:pos x="52" y="2"/>
                </a:cxn>
                <a:cxn ang="0">
                  <a:pos x="102" y="7"/>
                </a:cxn>
                <a:cxn ang="0">
                  <a:pos x="151" y="16"/>
                </a:cxn>
                <a:cxn ang="0">
                  <a:pos x="200" y="28"/>
                </a:cxn>
                <a:cxn ang="0">
                  <a:pos x="248" y="44"/>
                </a:cxn>
                <a:cxn ang="0">
                  <a:pos x="294" y="62"/>
                </a:cxn>
                <a:cxn ang="0">
                  <a:pos x="339" y="85"/>
                </a:cxn>
                <a:cxn ang="0">
                  <a:pos x="383" y="110"/>
                </a:cxn>
                <a:cxn ang="0">
                  <a:pos x="1" y="716"/>
                </a:cxn>
                <a:cxn ang="0">
                  <a:pos x="0" y="0"/>
                </a:cxn>
              </a:cxnLst>
              <a:rect l="0" t="0" r="r" b="b"/>
              <a:pathLst>
                <a:path w="383" h="716">
                  <a:moveTo>
                    <a:pt x="0" y="0"/>
                  </a:moveTo>
                  <a:lnTo>
                    <a:pt x="1" y="0"/>
                  </a:lnTo>
                  <a:lnTo>
                    <a:pt x="1" y="0"/>
                  </a:lnTo>
                  <a:lnTo>
                    <a:pt x="52" y="2"/>
                  </a:lnTo>
                  <a:lnTo>
                    <a:pt x="102" y="7"/>
                  </a:lnTo>
                  <a:lnTo>
                    <a:pt x="151" y="16"/>
                  </a:lnTo>
                  <a:lnTo>
                    <a:pt x="200" y="28"/>
                  </a:lnTo>
                  <a:lnTo>
                    <a:pt x="248" y="44"/>
                  </a:lnTo>
                  <a:lnTo>
                    <a:pt x="294" y="62"/>
                  </a:lnTo>
                  <a:lnTo>
                    <a:pt x="339" y="85"/>
                  </a:lnTo>
                  <a:lnTo>
                    <a:pt x="383" y="110"/>
                  </a:lnTo>
                  <a:lnTo>
                    <a:pt x="1" y="716"/>
                  </a:lnTo>
                  <a:lnTo>
                    <a:pt x="0" y="0"/>
                  </a:lnTo>
                  <a:close/>
                </a:path>
              </a:pathLst>
            </a:custGeom>
            <a:solidFill>
              <a:srgbClr val="FFFF00"/>
            </a:solidFill>
            <a:ln w="9525">
              <a:noFill/>
              <a:round/>
              <a:headEnd/>
              <a:tailEnd/>
            </a:ln>
          </p:spPr>
          <p:txBody>
            <a:bodyPr/>
            <a:lstStyle/>
            <a:p>
              <a:endParaRPr lang="fr-FR"/>
            </a:p>
          </p:txBody>
        </p:sp>
        <p:sp>
          <p:nvSpPr>
            <p:cNvPr id="197716" name="Freeform 84"/>
            <p:cNvSpPr>
              <a:spLocks/>
            </p:cNvSpPr>
            <p:nvPr/>
          </p:nvSpPr>
          <p:spPr bwMode="auto">
            <a:xfrm>
              <a:off x="3618" y="2473"/>
              <a:ext cx="383" cy="110"/>
            </a:xfrm>
            <a:custGeom>
              <a:avLst/>
              <a:gdLst/>
              <a:ahLst/>
              <a:cxnLst>
                <a:cxn ang="0">
                  <a:pos x="0" y="0"/>
                </a:cxn>
                <a:cxn ang="0">
                  <a:pos x="1" y="0"/>
                </a:cxn>
                <a:cxn ang="0">
                  <a:pos x="1" y="0"/>
                </a:cxn>
                <a:cxn ang="0">
                  <a:pos x="52" y="2"/>
                </a:cxn>
                <a:cxn ang="0">
                  <a:pos x="102" y="7"/>
                </a:cxn>
                <a:cxn ang="0">
                  <a:pos x="151" y="16"/>
                </a:cxn>
                <a:cxn ang="0">
                  <a:pos x="200" y="28"/>
                </a:cxn>
                <a:cxn ang="0">
                  <a:pos x="248" y="44"/>
                </a:cxn>
                <a:cxn ang="0">
                  <a:pos x="294" y="62"/>
                </a:cxn>
                <a:cxn ang="0">
                  <a:pos x="339" y="85"/>
                </a:cxn>
                <a:cxn ang="0">
                  <a:pos x="383" y="110"/>
                </a:cxn>
              </a:cxnLst>
              <a:rect l="0" t="0" r="r" b="b"/>
              <a:pathLst>
                <a:path w="383" h="110">
                  <a:moveTo>
                    <a:pt x="0" y="0"/>
                  </a:moveTo>
                  <a:lnTo>
                    <a:pt x="1" y="0"/>
                  </a:lnTo>
                  <a:lnTo>
                    <a:pt x="1" y="0"/>
                  </a:lnTo>
                  <a:lnTo>
                    <a:pt x="52" y="2"/>
                  </a:lnTo>
                  <a:lnTo>
                    <a:pt x="102" y="7"/>
                  </a:lnTo>
                  <a:lnTo>
                    <a:pt x="151" y="16"/>
                  </a:lnTo>
                  <a:lnTo>
                    <a:pt x="200" y="28"/>
                  </a:lnTo>
                  <a:lnTo>
                    <a:pt x="248" y="44"/>
                  </a:lnTo>
                  <a:lnTo>
                    <a:pt x="294" y="62"/>
                  </a:lnTo>
                  <a:lnTo>
                    <a:pt x="339" y="85"/>
                  </a:lnTo>
                  <a:lnTo>
                    <a:pt x="383" y="110"/>
                  </a:lnTo>
                </a:path>
              </a:pathLst>
            </a:custGeom>
            <a:noFill/>
            <a:ln w="12700">
              <a:solidFill>
                <a:srgbClr val="000000"/>
              </a:solidFill>
              <a:prstDash val="solid"/>
              <a:round/>
              <a:headEnd/>
              <a:tailEnd/>
            </a:ln>
          </p:spPr>
          <p:txBody>
            <a:bodyPr/>
            <a:lstStyle/>
            <a:p>
              <a:endParaRPr lang="fr-FR"/>
            </a:p>
          </p:txBody>
        </p:sp>
        <p:sp>
          <p:nvSpPr>
            <p:cNvPr id="197717" name="Freeform 85"/>
            <p:cNvSpPr>
              <a:spLocks/>
            </p:cNvSpPr>
            <p:nvPr/>
          </p:nvSpPr>
          <p:spPr bwMode="auto">
            <a:xfrm>
              <a:off x="3471" y="2473"/>
              <a:ext cx="232" cy="716"/>
            </a:xfrm>
            <a:custGeom>
              <a:avLst/>
              <a:gdLst/>
              <a:ahLst/>
              <a:cxnLst>
                <a:cxn ang="0">
                  <a:pos x="0" y="15"/>
                </a:cxn>
                <a:cxn ang="0">
                  <a:pos x="37" y="8"/>
                </a:cxn>
                <a:cxn ang="0">
                  <a:pos x="74" y="4"/>
                </a:cxn>
                <a:cxn ang="0">
                  <a:pos x="111" y="1"/>
                </a:cxn>
                <a:cxn ang="0">
                  <a:pos x="148" y="0"/>
                </a:cxn>
                <a:cxn ang="0">
                  <a:pos x="190" y="1"/>
                </a:cxn>
                <a:cxn ang="0">
                  <a:pos x="232" y="5"/>
                </a:cxn>
                <a:cxn ang="0">
                  <a:pos x="148" y="716"/>
                </a:cxn>
                <a:cxn ang="0">
                  <a:pos x="0" y="15"/>
                </a:cxn>
              </a:cxnLst>
              <a:rect l="0" t="0" r="r" b="b"/>
              <a:pathLst>
                <a:path w="232" h="716">
                  <a:moveTo>
                    <a:pt x="0" y="15"/>
                  </a:moveTo>
                  <a:lnTo>
                    <a:pt x="37" y="8"/>
                  </a:lnTo>
                  <a:lnTo>
                    <a:pt x="74" y="4"/>
                  </a:lnTo>
                  <a:lnTo>
                    <a:pt x="111" y="1"/>
                  </a:lnTo>
                  <a:lnTo>
                    <a:pt x="148" y="0"/>
                  </a:lnTo>
                  <a:lnTo>
                    <a:pt x="190" y="1"/>
                  </a:lnTo>
                  <a:lnTo>
                    <a:pt x="232" y="5"/>
                  </a:lnTo>
                  <a:lnTo>
                    <a:pt x="148" y="716"/>
                  </a:lnTo>
                  <a:lnTo>
                    <a:pt x="0" y="15"/>
                  </a:lnTo>
                  <a:close/>
                </a:path>
              </a:pathLst>
            </a:custGeom>
            <a:solidFill>
              <a:srgbClr val="FF0000"/>
            </a:solidFill>
            <a:ln w="9525">
              <a:noFill/>
              <a:round/>
              <a:headEnd/>
              <a:tailEnd/>
            </a:ln>
          </p:spPr>
          <p:txBody>
            <a:bodyPr/>
            <a:lstStyle/>
            <a:p>
              <a:endParaRPr lang="fr-FR"/>
            </a:p>
          </p:txBody>
        </p:sp>
        <p:sp>
          <p:nvSpPr>
            <p:cNvPr id="197718" name="Freeform 86"/>
            <p:cNvSpPr>
              <a:spLocks/>
            </p:cNvSpPr>
            <p:nvPr/>
          </p:nvSpPr>
          <p:spPr bwMode="auto">
            <a:xfrm>
              <a:off x="3471" y="2473"/>
              <a:ext cx="232" cy="15"/>
            </a:xfrm>
            <a:custGeom>
              <a:avLst/>
              <a:gdLst/>
              <a:ahLst/>
              <a:cxnLst>
                <a:cxn ang="0">
                  <a:pos x="0" y="15"/>
                </a:cxn>
                <a:cxn ang="0">
                  <a:pos x="37" y="8"/>
                </a:cxn>
                <a:cxn ang="0">
                  <a:pos x="74" y="4"/>
                </a:cxn>
                <a:cxn ang="0">
                  <a:pos x="111" y="1"/>
                </a:cxn>
                <a:cxn ang="0">
                  <a:pos x="148" y="0"/>
                </a:cxn>
                <a:cxn ang="0">
                  <a:pos x="190" y="1"/>
                </a:cxn>
                <a:cxn ang="0">
                  <a:pos x="232" y="5"/>
                </a:cxn>
              </a:cxnLst>
              <a:rect l="0" t="0" r="r" b="b"/>
              <a:pathLst>
                <a:path w="232" h="15">
                  <a:moveTo>
                    <a:pt x="0" y="15"/>
                  </a:moveTo>
                  <a:lnTo>
                    <a:pt x="37" y="8"/>
                  </a:lnTo>
                  <a:lnTo>
                    <a:pt x="74" y="4"/>
                  </a:lnTo>
                  <a:lnTo>
                    <a:pt x="111" y="1"/>
                  </a:lnTo>
                  <a:lnTo>
                    <a:pt x="148" y="0"/>
                  </a:lnTo>
                  <a:lnTo>
                    <a:pt x="190" y="1"/>
                  </a:lnTo>
                  <a:lnTo>
                    <a:pt x="232" y="5"/>
                  </a:lnTo>
                </a:path>
              </a:pathLst>
            </a:custGeom>
            <a:noFill/>
            <a:ln w="12700">
              <a:solidFill>
                <a:srgbClr val="000000"/>
              </a:solidFill>
              <a:prstDash val="solid"/>
              <a:round/>
              <a:headEnd/>
              <a:tailEnd/>
            </a:ln>
          </p:spPr>
          <p:txBody>
            <a:bodyPr/>
            <a:lstStyle/>
            <a:p>
              <a:endParaRPr lang="fr-FR"/>
            </a:p>
          </p:txBody>
        </p:sp>
        <p:sp>
          <p:nvSpPr>
            <p:cNvPr id="197719" name="Freeform 87"/>
            <p:cNvSpPr>
              <a:spLocks/>
            </p:cNvSpPr>
            <p:nvPr/>
          </p:nvSpPr>
          <p:spPr bwMode="auto">
            <a:xfrm>
              <a:off x="3513" y="2473"/>
              <a:ext cx="183" cy="716"/>
            </a:xfrm>
            <a:custGeom>
              <a:avLst/>
              <a:gdLst/>
              <a:ahLst/>
              <a:cxnLst>
                <a:cxn ang="0">
                  <a:pos x="0" y="8"/>
                </a:cxn>
                <a:cxn ang="0">
                  <a:pos x="53" y="2"/>
                </a:cxn>
                <a:cxn ang="0">
                  <a:pos x="79" y="1"/>
                </a:cxn>
                <a:cxn ang="0">
                  <a:pos x="106" y="0"/>
                </a:cxn>
                <a:cxn ang="0">
                  <a:pos x="145" y="1"/>
                </a:cxn>
                <a:cxn ang="0">
                  <a:pos x="183" y="4"/>
                </a:cxn>
                <a:cxn ang="0">
                  <a:pos x="106" y="716"/>
                </a:cxn>
                <a:cxn ang="0">
                  <a:pos x="0" y="8"/>
                </a:cxn>
              </a:cxnLst>
              <a:rect l="0" t="0" r="r" b="b"/>
              <a:pathLst>
                <a:path w="183" h="716">
                  <a:moveTo>
                    <a:pt x="0" y="8"/>
                  </a:moveTo>
                  <a:lnTo>
                    <a:pt x="53" y="2"/>
                  </a:lnTo>
                  <a:lnTo>
                    <a:pt x="79" y="1"/>
                  </a:lnTo>
                  <a:lnTo>
                    <a:pt x="106" y="0"/>
                  </a:lnTo>
                  <a:lnTo>
                    <a:pt x="145" y="1"/>
                  </a:lnTo>
                  <a:lnTo>
                    <a:pt x="183" y="4"/>
                  </a:lnTo>
                  <a:lnTo>
                    <a:pt x="106" y="716"/>
                  </a:lnTo>
                  <a:lnTo>
                    <a:pt x="0" y="8"/>
                  </a:lnTo>
                  <a:close/>
                </a:path>
              </a:pathLst>
            </a:custGeom>
            <a:solidFill>
              <a:srgbClr val="D60093"/>
            </a:solidFill>
            <a:ln w="9525">
              <a:noFill/>
              <a:round/>
              <a:headEnd/>
              <a:tailEnd/>
            </a:ln>
          </p:spPr>
          <p:txBody>
            <a:bodyPr/>
            <a:lstStyle/>
            <a:p>
              <a:endParaRPr lang="fr-FR"/>
            </a:p>
          </p:txBody>
        </p:sp>
        <p:sp>
          <p:nvSpPr>
            <p:cNvPr id="197720" name="Freeform 88"/>
            <p:cNvSpPr>
              <a:spLocks/>
            </p:cNvSpPr>
            <p:nvPr/>
          </p:nvSpPr>
          <p:spPr bwMode="auto">
            <a:xfrm>
              <a:off x="3513" y="2473"/>
              <a:ext cx="183" cy="8"/>
            </a:xfrm>
            <a:custGeom>
              <a:avLst/>
              <a:gdLst/>
              <a:ahLst/>
              <a:cxnLst>
                <a:cxn ang="0">
                  <a:pos x="0" y="8"/>
                </a:cxn>
                <a:cxn ang="0">
                  <a:pos x="53" y="2"/>
                </a:cxn>
                <a:cxn ang="0">
                  <a:pos x="79" y="1"/>
                </a:cxn>
                <a:cxn ang="0">
                  <a:pos x="106" y="0"/>
                </a:cxn>
                <a:cxn ang="0">
                  <a:pos x="145" y="1"/>
                </a:cxn>
                <a:cxn ang="0">
                  <a:pos x="183" y="4"/>
                </a:cxn>
              </a:cxnLst>
              <a:rect l="0" t="0" r="r" b="b"/>
              <a:pathLst>
                <a:path w="183" h="8">
                  <a:moveTo>
                    <a:pt x="0" y="8"/>
                  </a:moveTo>
                  <a:lnTo>
                    <a:pt x="53" y="2"/>
                  </a:lnTo>
                  <a:lnTo>
                    <a:pt x="79" y="1"/>
                  </a:lnTo>
                  <a:lnTo>
                    <a:pt x="106" y="0"/>
                  </a:lnTo>
                  <a:lnTo>
                    <a:pt x="145" y="1"/>
                  </a:lnTo>
                  <a:lnTo>
                    <a:pt x="183" y="4"/>
                  </a:lnTo>
                </a:path>
              </a:pathLst>
            </a:custGeom>
            <a:noFill/>
            <a:ln w="12700">
              <a:solidFill>
                <a:srgbClr val="000000"/>
              </a:solidFill>
              <a:prstDash val="solid"/>
              <a:round/>
              <a:headEnd/>
              <a:tailEnd/>
            </a:ln>
          </p:spPr>
          <p:txBody>
            <a:bodyPr/>
            <a:lstStyle/>
            <a:p>
              <a:endParaRPr lang="fr-FR"/>
            </a:p>
          </p:txBody>
        </p:sp>
        <p:sp>
          <p:nvSpPr>
            <p:cNvPr id="197721" name="Freeform 89"/>
            <p:cNvSpPr>
              <a:spLocks/>
            </p:cNvSpPr>
            <p:nvPr/>
          </p:nvSpPr>
          <p:spPr bwMode="auto">
            <a:xfrm>
              <a:off x="3618" y="2473"/>
              <a:ext cx="293" cy="716"/>
            </a:xfrm>
            <a:custGeom>
              <a:avLst/>
              <a:gdLst/>
              <a:ahLst/>
              <a:cxnLst>
                <a:cxn ang="0">
                  <a:pos x="0" y="0"/>
                </a:cxn>
                <a:cxn ang="0">
                  <a:pos x="1" y="0"/>
                </a:cxn>
                <a:cxn ang="0">
                  <a:pos x="1" y="0"/>
                </a:cxn>
                <a:cxn ang="0">
                  <a:pos x="39" y="1"/>
                </a:cxn>
                <a:cxn ang="0">
                  <a:pos x="76" y="4"/>
                </a:cxn>
                <a:cxn ang="0">
                  <a:pos x="114" y="9"/>
                </a:cxn>
                <a:cxn ang="0">
                  <a:pos x="150" y="16"/>
                </a:cxn>
                <a:cxn ang="0">
                  <a:pos x="187" y="24"/>
                </a:cxn>
                <a:cxn ang="0">
                  <a:pos x="223" y="35"/>
                </a:cxn>
                <a:cxn ang="0">
                  <a:pos x="258" y="48"/>
                </a:cxn>
                <a:cxn ang="0">
                  <a:pos x="293" y="62"/>
                </a:cxn>
                <a:cxn ang="0">
                  <a:pos x="1" y="716"/>
                </a:cxn>
                <a:cxn ang="0">
                  <a:pos x="0" y="0"/>
                </a:cxn>
              </a:cxnLst>
              <a:rect l="0" t="0" r="r" b="b"/>
              <a:pathLst>
                <a:path w="293" h="716">
                  <a:moveTo>
                    <a:pt x="0" y="0"/>
                  </a:moveTo>
                  <a:lnTo>
                    <a:pt x="1" y="0"/>
                  </a:lnTo>
                  <a:lnTo>
                    <a:pt x="1" y="0"/>
                  </a:lnTo>
                  <a:lnTo>
                    <a:pt x="39" y="1"/>
                  </a:lnTo>
                  <a:lnTo>
                    <a:pt x="76" y="4"/>
                  </a:lnTo>
                  <a:lnTo>
                    <a:pt x="114" y="9"/>
                  </a:lnTo>
                  <a:lnTo>
                    <a:pt x="150" y="16"/>
                  </a:lnTo>
                  <a:lnTo>
                    <a:pt x="187" y="24"/>
                  </a:lnTo>
                  <a:lnTo>
                    <a:pt x="223" y="35"/>
                  </a:lnTo>
                  <a:lnTo>
                    <a:pt x="258" y="48"/>
                  </a:lnTo>
                  <a:lnTo>
                    <a:pt x="293" y="62"/>
                  </a:lnTo>
                  <a:lnTo>
                    <a:pt x="1" y="716"/>
                  </a:lnTo>
                  <a:lnTo>
                    <a:pt x="0" y="0"/>
                  </a:lnTo>
                  <a:close/>
                </a:path>
              </a:pathLst>
            </a:custGeom>
            <a:solidFill>
              <a:srgbClr val="00FF00"/>
            </a:solidFill>
            <a:ln w="9525">
              <a:noFill/>
              <a:round/>
              <a:headEnd/>
              <a:tailEnd/>
            </a:ln>
          </p:spPr>
          <p:txBody>
            <a:bodyPr/>
            <a:lstStyle/>
            <a:p>
              <a:endParaRPr lang="fr-FR"/>
            </a:p>
          </p:txBody>
        </p:sp>
        <p:sp>
          <p:nvSpPr>
            <p:cNvPr id="197722" name="Freeform 90"/>
            <p:cNvSpPr>
              <a:spLocks/>
            </p:cNvSpPr>
            <p:nvPr/>
          </p:nvSpPr>
          <p:spPr bwMode="auto">
            <a:xfrm>
              <a:off x="3618" y="2473"/>
              <a:ext cx="293" cy="62"/>
            </a:xfrm>
            <a:custGeom>
              <a:avLst/>
              <a:gdLst/>
              <a:ahLst/>
              <a:cxnLst>
                <a:cxn ang="0">
                  <a:pos x="0" y="0"/>
                </a:cxn>
                <a:cxn ang="0">
                  <a:pos x="1" y="0"/>
                </a:cxn>
                <a:cxn ang="0">
                  <a:pos x="1" y="0"/>
                </a:cxn>
                <a:cxn ang="0">
                  <a:pos x="39" y="1"/>
                </a:cxn>
                <a:cxn ang="0">
                  <a:pos x="76" y="4"/>
                </a:cxn>
                <a:cxn ang="0">
                  <a:pos x="114" y="9"/>
                </a:cxn>
                <a:cxn ang="0">
                  <a:pos x="150" y="16"/>
                </a:cxn>
                <a:cxn ang="0">
                  <a:pos x="187" y="24"/>
                </a:cxn>
                <a:cxn ang="0">
                  <a:pos x="223" y="35"/>
                </a:cxn>
                <a:cxn ang="0">
                  <a:pos x="258" y="48"/>
                </a:cxn>
                <a:cxn ang="0">
                  <a:pos x="293" y="62"/>
                </a:cxn>
              </a:cxnLst>
              <a:rect l="0" t="0" r="r" b="b"/>
              <a:pathLst>
                <a:path w="293" h="62">
                  <a:moveTo>
                    <a:pt x="0" y="0"/>
                  </a:moveTo>
                  <a:lnTo>
                    <a:pt x="1" y="0"/>
                  </a:lnTo>
                  <a:lnTo>
                    <a:pt x="1" y="0"/>
                  </a:lnTo>
                  <a:lnTo>
                    <a:pt x="39" y="1"/>
                  </a:lnTo>
                  <a:lnTo>
                    <a:pt x="76" y="4"/>
                  </a:lnTo>
                  <a:lnTo>
                    <a:pt x="114" y="9"/>
                  </a:lnTo>
                  <a:lnTo>
                    <a:pt x="150" y="16"/>
                  </a:lnTo>
                  <a:lnTo>
                    <a:pt x="187" y="24"/>
                  </a:lnTo>
                  <a:lnTo>
                    <a:pt x="223" y="35"/>
                  </a:lnTo>
                  <a:lnTo>
                    <a:pt x="258" y="48"/>
                  </a:lnTo>
                  <a:lnTo>
                    <a:pt x="293" y="62"/>
                  </a:lnTo>
                </a:path>
              </a:pathLst>
            </a:custGeom>
            <a:noFill/>
            <a:ln w="12700">
              <a:solidFill>
                <a:srgbClr val="000000"/>
              </a:solidFill>
              <a:prstDash val="solid"/>
              <a:round/>
              <a:headEnd/>
              <a:tailEnd/>
            </a:ln>
          </p:spPr>
          <p:txBody>
            <a:bodyPr/>
            <a:lstStyle/>
            <a:p>
              <a:endParaRPr lang="fr-FR"/>
            </a:p>
          </p:txBody>
        </p:sp>
        <p:sp>
          <p:nvSpPr>
            <p:cNvPr id="197723" name="Freeform 91"/>
            <p:cNvSpPr>
              <a:spLocks/>
            </p:cNvSpPr>
            <p:nvPr/>
          </p:nvSpPr>
          <p:spPr bwMode="auto">
            <a:xfrm>
              <a:off x="3618" y="2473"/>
              <a:ext cx="200" cy="716"/>
            </a:xfrm>
            <a:custGeom>
              <a:avLst/>
              <a:gdLst/>
              <a:ahLst/>
              <a:cxnLst>
                <a:cxn ang="0">
                  <a:pos x="0" y="0"/>
                </a:cxn>
                <a:cxn ang="0">
                  <a:pos x="1" y="0"/>
                </a:cxn>
                <a:cxn ang="0">
                  <a:pos x="1" y="0"/>
                </a:cxn>
                <a:cxn ang="0">
                  <a:pos x="51" y="2"/>
                </a:cxn>
                <a:cxn ang="0">
                  <a:pos x="101" y="7"/>
                </a:cxn>
                <a:cxn ang="0">
                  <a:pos x="151" y="16"/>
                </a:cxn>
                <a:cxn ang="0">
                  <a:pos x="200" y="28"/>
                </a:cxn>
                <a:cxn ang="0">
                  <a:pos x="1" y="716"/>
                </a:cxn>
                <a:cxn ang="0">
                  <a:pos x="0" y="0"/>
                </a:cxn>
              </a:cxnLst>
              <a:rect l="0" t="0" r="r" b="b"/>
              <a:pathLst>
                <a:path w="200" h="716">
                  <a:moveTo>
                    <a:pt x="0" y="0"/>
                  </a:moveTo>
                  <a:lnTo>
                    <a:pt x="1" y="0"/>
                  </a:lnTo>
                  <a:lnTo>
                    <a:pt x="1" y="0"/>
                  </a:lnTo>
                  <a:lnTo>
                    <a:pt x="51" y="2"/>
                  </a:lnTo>
                  <a:lnTo>
                    <a:pt x="101" y="7"/>
                  </a:lnTo>
                  <a:lnTo>
                    <a:pt x="151" y="16"/>
                  </a:lnTo>
                  <a:lnTo>
                    <a:pt x="200" y="28"/>
                  </a:lnTo>
                  <a:lnTo>
                    <a:pt x="1" y="716"/>
                  </a:lnTo>
                  <a:lnTo>
                    <a:pt x="0" y="0"/>
                  </a:lnTo>
                  <a:close/>
                </a:path>
              </a:pathLst>
            </a:custGeom>
            <a:solidFill>
              <a:srgbClr val="3366FF"/>
            </a:solidFill>
            <a:ln w="9525">
              <a:noFill/>
              <a:round/>
              <a:headEnd/>
              <a:tailEnd/>
            </a:ln>
          </p:spPr>
          <p:txBody>
            <a:bodyPr/>
            <a:lstStyle/>
            <a:p>
              <a:endParaRPr lang="fr-FR"/>
            </a:p>
          </p:txBody>
        </p:sp>
        <p:sp>
          <p:nvSpPr>
            <p:cNvPr id="197724" name="Freeform 92"/>
            <p:cNvSpPr>
              <a:spLocks/>
            </p:cNvSpPr>
            <p:nvPr/>
          </p:nvSpPr>
          <p:spPr bwMode="auto">
            <a:xfrm>
              <a:off x="3618" y="2473"/>
              <a:ext cx="200" cy="28"/>
            </a:xfrm>
            <a:custGeom>
              <a:avLst/>
              <a:gdLst/>
              <a:ahLst/>
              <a:cxnLst>
                <a:cxn ang="0">
                  <a:pos x="0" y="0"/>
                </a:cxn>
                <a:cxn ang="0">
                  <a:pos x="1" y="0"/>
                </a:cxn>
                <a:cxn ang="0">
                  <a:pos x="1" y="0"/>
                </a:cxn>
                <a:cxn ang="0">
                  <a:pos x="51" y="2"/>
                </a:cxn>
                <a:cxn ang="0">
                  <a:pos x="101" y="7"/>
                </a:cxn>
                <a:cxn ang="0">
                  <a:pos x="151" y="16"/>
                </a:cxn>
                <a:cxn ang="0">
                  <a:pos x="200" y="28"/>
                </a:cxn>
              </a:cxnLst>
              <a:rect l="0" t="0" r="r" b="b"/>
              <a:pathLst>
                <a:path w="200" h="28">
                  <a:moveTo>
                    <a:pt x="0" y="0"/>
                  </a:moveTo>
                  <a:lnTo>
                    <a:pt x="1" y="0"/>
                  </a:lnTo>
                  <a:lnTo>
                    <a:pt x="1" y="0"/>
                  </a:lnTo>
                  <a:lnTo>
                    <a:pt x="51" y="2"/>
                  </a:lnTo>
                  <a:lnTo>
                    <a:pt x="101" y="7"/>
                  </a:lnTo>
                  <a:lnTo>
                    <a:pt x="151" y="16"/>
                  </a:lnTo>
                  <a:lnTo>
                    <a:pt x="200" y="28"/>
                  </a:lnTo>
                </a:path>
              </a:pathLst>
            </a:custGeom>
            <a:noFill/>
            <a:ln w="12700">
              <a:solidFill>
                <a:srgbClr val="000000"/>
              </a:solidFill>
              <a:prstDash val="solid"/>
              <a:round/>
              <a:headEnd/>
              <a:tailEnd/>
            </a:ln>
          </p:spPr>
          <p:txBody>
            <a:bodyPr/>
            <a:lstStyle/>
            <a:p>
              <a:endParaRPr lang="fr-FR"/>
            </a:p>
          </p:txBody>
        </p:sp>
        <p:sp>
          <p:nvSpPr>
            <p:cNvPr id="197725" name="Freeform 93"/>
            <p:cNvSpPr>
              <a:spLocks/>
            </p:cNvSpPr>
            <p:nvPr/>
          </p:nvSpPr>
          <p:spPr bwMode="auto">
            <a:xfrm>
              <a:off x="3371" y="3188"/>
              <a:ext cx="332" cy="716"/>
            </a:xfrm>
            <a:custGeom>
              <a:avLst/>
              <a:gdLst/>
              <a:ahLst/>
              <a:cxnLst>
                <a:cxn ang="0">
                  <a:pos x="332" y="711"/>
                </a:cxn>
                <a:cxn ang="0">
                  <a:pos x="290" y="715"/>
                </a:cxn>
                <a:cxn ang="0">
                  <a:pos x="248" y="716"/>
                </a:cxn>
                <a:cxn ang="0">
                  <a:pos x="216" y="715"/>
                </a:cxn>
                <a:cxn ang="0">
                  <a:pos x="185" y="713"/>
                </a:cxn>
                <a:cxn ang="0">
                  <a:pos x="153" y="710"/>
                </a:cxn>
                <a:cxn ang="0">
                  <a:pos x="122" y="705"/>
                </a:cxn>
                <a:cxn ang="0">
                  <a:pos x="91" y="699"/>
                </a:cxn>
                <a:cxn ang="0">
                  <a:pos x="60" y="691"/>
                </a:cxn>
                <a:cxn ang="0">
                  <a:pos x="30" y="682"/>
                </a:cxn>
                <a:cxn ang="0">
                  <a:pos x="0" y="672"/>
                </a:cxn>
                <a:cxn ang="0">
                  <a:pos x="248" y="0"/>
                </a:cxn>
                <a:cxn ang="0">
                  <a:pos x="332" y="711"/>
                </a:cxn>
              </a:cxnLst>
              <a:rect l="0" t="0" r="r" b="b"/>
              <a:pathLst>
                <a:path w="332" h="716">
                  <a:moveTo>
                    <a:pt x="332" y="711"/>
                  </a:moveTo>
                  <a:lnTo>
                    <a:pt x="290" y="715"/>
                  </a:lnTo>
                  <a:lnTo>
                    <a:pt x="248" y="716"/>
                  </a:lnTo>
                  <a:lnTo>
                    <a:pt x="216" y="715"/>
                  </a:lnTo>
                  <a:lnTo>
                    <a:pt x="185" y="713"/>
                  </a:lnTo>
                  <a:lnTo>
                    <a:pt x="153" y="710"/>
                  </a:lnTo>
                  <a:lnTo>
                    <a:pt x="122" y="705"/>
                  </a:lnTo>
                  <a:lnTo>
                    <a:pt x="91" y="699"/>
                  </a:lnTo>
                  <a:lnTo>
                    <a:pt x="60" y="691"/>
                  </a:lnTo>
                  <a:lnTo>
                    <a:pt x="30" y="682"/>
                  </a:lnTo>
                  <a:lnTo>
                    <a:pt x="0" y="672"/>
                  </a:lnTo>
                  <a:lnTo>
                    <a:pt x="248" y="0"/>
                  </a:lnTo>
                  <a:lnTo>
                    <a:pt x="332" y="711"/>
                  </a:lnTo>
                  <a:close/>
                </a:path>
              </a:pathLst>
            </a:custGeom>
            <a:solidFill>
              <a:srgbClr val="FF6600"/>
            </a:solidFill>
            <a:ln w="9525">
              <a:noFill/>
              <a:round/>
              <a:headEnd/>
              <a:tailEnd/>
            </a:ln>
          </p:spPr>
          <p:txBody>
            <a:bodyPr/>
            <a:lstStyle/>
            <a:p>
              <a:endParaRPr lang="fr-FR"/>
            </a:p>
          </p:txBody>
        </p:sp>
        <p:sp>
          <p:nvSpPr>
            <p:cNvPr id="197726" name="Freeform 94"/>
            <p:cNvSpPr>
              <a:spLocks/>
            </p:cNvSpPr>
            <p:nvPr/>
          </p:nvSpPr>
          <p:spPr bwMode="auto">
            <a:xfrm>
              <a:off x="3371" y="3860"/>
              <a:ext cx="332" cy="44"/>
            </a:xfrm>
            <a:custGeom>
              <a:avLst/>
              <a:gdLst/>
              <a:ahLst/>
              <a:cxnLst>
                <a:cxn ang="0">
                  <a:pos x="332" y="39"/>
                </a:cxn>
                <a:cxn ang="0">
                  <a:pos x="290" y="43"/>
                </a:cxn>
                <a:cxn ang="0">
                  <a:pos x="248" y="44"/>
                </a:cxn>
                <a:cxn ang="0">
                  <a:pos x="216" y="43"/>
                </a:cxn>
                <a:cxn ang="0">
                  <a:pos x="185" y="41"/>
                </a:cxn>
                <a:cxn ang="0">
                  <a:pos x="153" y="38"/>
                </a:cxn>
                <a:cxn ang="0">
                  <a:pos x="122" y="33"/>
                </a:cxn>
                <a:cxn ang="0">
                  <a:pos x="91" y="27"/>
                </a:cxn>
                <a:cxn ang="0">
                  <a:pos x="60" y="19"/>
                </a:cxn>
                <a:cxn ang="0">
                  <a:pos x="30" y="10"/>
                </a:cxn>
                <a:cxn ang="0">
                  <a:pos x="0" y="0"/>
                </a:cxn>
              </a:cxnLst>
              <a:rect l="0" t="0" r="r" b="b"/>
              <a:pathLst>
                <a:path w="332" h="44">
                  <a:moveTo>
                    <a:pt x="332" y="39"/>
                  </a:moveTo>
                  <a:lnTo>
                    <a:pt x="290" y="43"/>
                  </a:lnTo>
                  <a:lnTo>
                    <a:pt x="248" y="44"/>
                  </a:lnTo>
                  <a:lnTo>
                    <a:pt x="216" y="43"/>
                  </a:lnTo>
                  <a:lnTo>
                    <a:pt x="185" y="41"/>
                  </a:lnTo>
                  <a:lnTo>
                    <a:pt x="153" y="38"/>
                  </a:lnTo>
                  <a:lnTo>
                    <a:pt x="122" y="33"/>
                  </a:lnTo>
                  <a:lnTo>
                    <a:pt x="91" y="27"/>
                  </a:lnTo>
                  <a:lnTo>
                    <a:pt x="60" y="19"/>
                  </a:lnTo>
                  <a:lnTo>
                    <a:pt x="30" y="10"/>
                  </a:lnTo>
                  <a:lnTo>
                    <a:pt x="0" y="0"/>
                  </a:lnTo>
                </a:path>
              </a:pathLst>
            </a:custGeom>
            <a:noFill/>
            <a:ln w="12700">
              <a:solidFill>
                <a:srgbClr val="000000"/>
              </a:solidFill>
              <a:prstDash val="solid"/>
              <a:round/>
              <a:headEnd/>
              <a:tailEnd/>
            </a:ln>
          </p:spPr>
          <p:txBody>
            <a:bodyPr/>
            <a:lstStyle/>
            <a:p>
              <a:endParaRPr lang="fr-FR"/>
            </a:p>
          </p:txBody>
        </p:sp>
        <p:sp>
          <p:nvSpPr>
            <p:cNvPr id="197727" name="Freeform 95"/>
            <p:cNvSpPr>
              <a:spLocks/>
            </p:cNvSpPr>
            <p:nvPr/>
          </p:nvSpPr>
          <p:spPr bwMode="auto">
            <a:xfrm>
              <a:off x="3618" y="3188"/>
              <a:ext cx="382" cy="716"/>
            </a:xfrm>
            <a:custGeom>
              <a:avLst/>
              <a:gdLst/>
              <a:ahLst/>
              <a:cxnLst>
                <a:cxn ang="0">
                  <a:pos x="382" y="605"/>
                </a:cxn>
                <a:cxn ang="0">
                  <a:pos x="338" y="631"/>
                </a:cxn>
                <a:cxn ang="0">
                  <a:pos x="293" y="653"/>
                </a:cxn>
                <a:cxn ang="0">
                  <a:pos x="247" y="672"/>
                </a:cxn>
                <a:cxn ang="0">
                  <a:pos x="199" y="688"/>
                </a:cxn>
                <a:cxn ang="0">
                  <a:pos x="150" y="700"/>
                </a:cxn>
                <a:cxn ang="0">
                  <a:pos x="101" y="709"/>
                </a:cxn>
                <a:cxn ang="0">
                  <a:pos x="51" y="714"/>
                </a:cxn>
                <a:cxn ang="0">
                  <a:pos x="0" y="716"/>
                </a:cxn>
                <a:cxn ang="0">
                  <a:pos x="0" y="0"/>
                </a:cxn>
                <a:cxn ang="0">
                  <a:pos x="382" y="605"/>
                </a:cxn>
              </a:cxnLst>
              <a:rect l="0" t="0" r="r" b="b"/>
              <a:pathLst>
                <a:path w="382" h="716">
                  <a:moveTo>
                    <a:pt x="382" y="605"/>
                  </a:moveTo>
                  <a:lnTo>
                    <a:pt x="338" y="631"/>
                  </a:lnTo>
                  <a:lnTo>
                    <a:pt x="293" y="653"/>
                  </a:lnTo>
                  <a:lnTo>
                    <a:pt x="247" y="672"/>
                  </a:lnTo>
                  <a:lnTo>
                    <a:pt x="199" y="688"/>
                  </a:lnTo>
                  <a:lnTo>
                    <a:pt x="150" y="700"/>
                  </a:lnTo>
                  <a:lnTo>
                    <a:pt x="101" y="709"/>
                  </a:lnTo>
                  <a:lnTo>
                    <a:pt x="51" y="714"/>
                  </a:lnTo>
                  <a:lnTo>
                    <a:pt x="0" y="716"/>
                  </a:lnTo>
                  <a:lnTo>
                    <a:pt x="0" y="0"/>
                  </a:lnTo>
                  <a:lnTo>
                    <a:pt x="382" y="605"/>
                  </a:lnTo>
                  <a:close/>
                </a:path>
              </a:pathLst>
            </a:custGeom>
            <a:solidFill>
              <a:srgbClr val="FFFF00"/>
            </a:solidFill>
            <a:ln w="9525">
              <a:noFill/>
              <a:round/>
              <a:headEnd/>
              <a:tailEnd/>
            </a:ln>
          </p:spPr>
          <p:txBody>
            <a:bodyPr/>
            <a:lstStyle/>
            <a:p>
              <a:endParaRPr lang="fr-FR"/>
            </a:p>
          </p:txBody>
        </p:sp>
        <p:sp>
          <p:nvSpPr>
            <p:cNvPr id="197728" name="Freeform 96"/>
            <p:cNvSpPr>
              <a:spLocks/>
            </p:cNvSpPr>
            <p:nvPr/>
          </p:nvSpPr>
          <p:spPr bwMode="auto">
            <a:xfrm>
              <a:off x="3618" y="3793"/>
              <a:ext cx="382" cy="111"/>
            </a:xfrm>
            <a:custGeom>
              <a:avLst/>
              <a:gdLst/>
              <a:ahLst/>
              <a:cxnLst>
                <a:cxn ang="0">
                  <a:pos x="382" y="0"/>
                </a:cxn>
                <a:cxn ang="0">
                  <a:pos x="338" y="26"/>
                </a:cxn>
                <a:cxn ang="0">
                  <a:pos x="293" y="48"/>
                </a:cxn>
                <a:cxn ang="0">
                  <a:pos x="247" y="67"/>
                </a:cxn>
                <a:cxn ang="0">
                  <a:pos x="199" y="83"/>
                </a:cxn>
                <a:cxn ang="0">
                  <a:pos x="150" y="95"/>
                </a:cxn>
                <a:cxn ang="0">
                  <a:pos x="101" y="104"/>
                </a:cxn>
                <a:cxn ang="0">
                  <a:pos x="51" y="109"/>
                </a:cxn>
                <a:cxn ang="0">
                  <a:pos x="0" y="111"/>
                </a:cxn>
              </a:cxnLst>
              <a:rect l="0" t="0" r="r" b="b"/>
              <a:pathLst>
                <a:path w="382" h="111">
                  <a:moveTo>
                    <a:pt x="382" y="0"/>
                  </a:moveTo>
                  <a:lnTo>
                    <a:pt x="338" y="26"/>
                  </a:lnTo>
                  <a:lnTo>
                    <a:pt x="293" y="48"/>
                  </a:lnTo>
                  <a:lnTo>
                    <a:pt x="247" y="67"/>
                  </a:lnTo>
                  <a:lnTo>
                    <a:pt x="199" y="83"/>
                  </a:lnTo>
                  <a:lnTo>
                    <a:pt x="150" y="95"/>
                  </a:lnTo>
                  <a:lnTo>
                    <a:pt x="101" y="104"/>
                  </a:lnTo>
                  <a:lnTo>
                    <a:pt x="51" y="109"/>
                  </a:lnTo>
                  <a:lnTo>
                    <a:pt x="0" y="111"/>
                  </a:lnTo>
                </a:path>
              </a:pathLst>
            </a:custGeom>
            <a:noFill/>
            <a:ln w="12700">
              <a:solidFill>
                <a:srgbClr val="000000"/>
              </a:solidFill>
              <a:prstDash val="solid"/>
              <a:round/>
              <a:headEnd/>
              <a:tailEnd/>
            </a:ln>
          </p:spPr>
          <p:txBody>
            <a:bodyPr/>
            <a:lstStyle/>
            <a:p>
              <a:endParaRPr lang="fr-FR"/>
            </a:p>
          </p:txBody>
        </p:sp>
        <p:sp>
          <p:nvSpPr>
            <p:cNvPr id="197729" name="Freeform 97"/>
            <p:cNvSpPr>
              <a:spLocks/>
            </p:cNvSpPr>
            <p:nvPr/>
          </p:nvSpPr>
          <p:spPr bwMode="auto">
            <a:xfrm>
              <a:off x="3471" y="3188"/>
              <a:ext cx="232" cy="716"/>
            </a:xfrm>
            <a:custGeom>
              <a:avLst/>
              <a:gdLst/>
              <a:ahLst/>
              <a:cxnLst>
                <a:cxn ang="0">
                  <a:pos x="232" y="711"/>
                </a:cxn>
                <a:cxn ang="0">
                  <a:pos x="190" y="715"/>
                </a:cxn>
                <a:cxn ang="0">
                  <a:pos x="148" y="716"/>
                </a:cxn>
                <a:cxn ang="0">
                  <a:pos x="111" y="715"/>
                </a:cxn>
                <a:cxn ang="0">
                  <a:pos x="74" y="712"/>
                </a:cxn>
                <a:cxn ang="0">
                  <a:pos x="37" y="707"/>
                </a:cxn>
                <a:cxn ang="0">
                  <a:pos x="0" y="700"/>
                </a:cxn>
                <a:cxn ang="0">
                  <a:pos x="148" y="0"/>
                </a:cxn>
                <a:cxn ang="0">
                  <a:pos x="232" y="711"/>
                </a:cxn>
              </a:cxnLst>
              <a:rect l="0" t="0" r="r" b="b"/>
              <a:pathLst>
                <a:path w="232" h="716">
                  <a:moveTo>
                    <a:pt x="232" y="711"/>
                  </a:moveTo>
                  <a:lnTo>
                    <a:pt x="190" y="715"/>
                  </a:lnTo>
                  <a:lnTo>
                    <a:pt x="148" y="716"/>
                  </a:lnTo>
                  <a:lnTo>
                    <a:pt x="111" y="715"/>
                  </a:lnTo>
                  <a:lnTo>
                    <a:pt x="74" y="712"/>
                  </a:lnTo>
                  <a:lnTo>
                    <a:pt x="37" y="707"/>
                  </a:lnTo>
                  <a:lnTo>
                    <a:pt x="0" y="700"/>
                  </a:lnTo>
                  <a:lnTo>
                    <a:pt x="148" y="0"/>
                  </a:lnTo>
                  <a:lnTo>
                    <a:pt x="232" y="711"/>
                  </a:lnTo>
                  <a:close/>
                </a:path>
              </a:pathLst>
            </a:custGeom>
            <a:solidFill>
              <a:srgbClr val="FF0000"/>
            </a:solidFill>
            <a:ln w="9525">
              <a:noFill/>
              <a:round/>
              <a:headEnd/>
              <a:tailEnd/>
            </a:ln>
          </p:spPr>
          <p:txBody>
            <a:bodyPr/>
            <a:lstStyle/>
            <a:p>
              <a:endParaRPr lang="fr-FR"/>
            </a:p>
          </p:txBody>
        </p:sp>
        <p:sp>
          <p:nvSpPr>
            <p:cNvPr id="197730" name="Freeform 98"/>
            <p:cNvSpPr>
              <a:spLocks/>
            </p:cNvSpPr>
            <p:nvPr/>
          </p:nvSpPr>
          <p:spPr bwMode="auto">
            <a:xfrm>
              <a:off x="3471" y="3888"/>
              <a:ext cx="232" cy="16"/>
            </a:xfrm>
            <a:custGeom>
              <a:avLst/>
              <a:gdLst/>
              <a:ahLst/>
              <a:cxnLst>
                <a:cxn ang="0">
                  <a:pos x="232" y="11"/>
                </a:cxn>
                <a:cxn ang="0">
                  <a:pos x="190" y="15"/>
                </a:cxn>
                <a:cxn ang="0">
                  <a:pos x="148" y="16"/>
                </a:cxn>
                <a:cxn ang="0">
                  <a:pos x="111" y="15"/>
                </a:cxn>
                <a:cxn ang="0">
                  <a:pos x="74" y="12"/>
                </a:cxn>
                <a:cxn ang="0">
                  <a:pos x="37" y="7"/>
                </a:cxn>
                <a:cxn ang="0">
                  <a:pos x="0" y="0"/>
                </a:cxn>
              </a:cxnLst>
              <a:rect l="0" t="0" r="r" b="b"/>
              <a:pathLst>
                <a:path w="232" h="16">
                  <a:moveTo>
                    <a:pt x="232" y="11"/>
                  </a:moveTo>
                  <a:lnTo>
                    <a:pt x="190" y="15"/>
                  </a:lnTo>
                  <a:lnTo>
                    <a:pt x="148" y="16"/>
                  </a:lnTo>
                  <a:lnTo>
                    <a:pt x="111" y="15"/>
                  </a:lnTo>
                  <a:lnTo>
                    <a:pt x="74" y="12"/>
                  </a:lnTo>
                  <a:lnTo>
                    <a:pt x="37" y="7"/>
                  </a:lnTo>
                  <a:lnTo>
                    <a:pt x="0" y="0"/>
                  </a:lnTo>
                </a:path>
              </a:pathLst>
            </a:custGeom>
            <a:noFill/>
            <a:ln w="12700">
              <a:solidFill>
                <a:srgbClr val="000000"/>
              </a:solidFill>
              <a:prstDash val="solid"/>
              <a:round/>
              <a:headEnd/>
              <a:tailEnd/>
            </a:ln>
          </p:spPr>
          <p:txBody>
            <a:bodyPr/>
            <a:lstStyle/>
            <a:p>
              <a:endParaRPr lang="fr-FR"/>
            </a:p>
          </p:txBody>
        </p:sp>
        <p:sp>
          <p:nvSpPr>
            <p:cNvPr id="197731" name="Freeform 99"/>
            <p:cNvSpPr>
              <a:spLocks/>
            </p:cNvSpPr>
            <p:nvPr/>
          </p:nvSpPr>
          <p:spPr bwMode="auto">
            <a:xfrm>
              <a:off x="3513" y="3188"/>
              <a:ext cx="183" cy="716"/>
            </a:xfrm>
            <a:custGeom>
              <a:avLst/>
              <a:gdLst/>
              <a:ahLst/>
              <a:cxnLst>
                <a:cxn ang="0">
                  <a:pos x="183" y="712"/>
                </a:cxn>
                <a:cxn ang="0">
                  <a:pos x="145" y="715"/>
                </a:cxn>
                <a:cxn ang="0">
                  <a:pos x="106" y="716"/>
                </a:cxn>
                <a:cxn ang="0">
                  <a:pos x="79" y="715"/>
                </a:cxn>
                <a:cxn ang="0">
                  <a:pos x="53" y="714"/>
                </a:cxn>
                <a:cxn ang="0">
                  <a:pos x="0" y="708"/>
                </a:cxn>
                <a:cxn ang="0">
                  <a:pos x="106" y="0"/>
                </a:cxn>
                <a:cxn ang="0">
                  <a:pos x="183" y="712"/>
                </a:cxn>
              </a:cxnLst>
              <a:rect l="0" t="0" r="r" b="b"/>
              <a:pathLst>
                <a:path w="183" h="716">
                  <a:moveTo>
                    <a:pt x="183" y="712"/>
                  </a:moveTo>
                  <a:lnTo>
                    <a:pt x="145" y="715"/>
                  </a:lnTo>
                  <a:lnTo>
                    <a:pt x="106" y="716"/>
                  </a:lnTo>
                  <a:lnTo>
                    <a:pt x="79" y="715"/>
                  </a:lnTo>
                  <a:lnTo>
                    <a:pt x="53" y="714"/>
                  </a:lnTo>
                  <a:lnTo>
                    <a:pt x="0" y="708"/>
                  </a:lnTo>
                  <a:lnTo>
                    <a:pt x="106" y="0"/>
                  </a:lnTo>
                  <a:lnTo>
                    <a:pt x="183" y="712"/>
                  </a:lnTo>
                  <a:close/>
                </a:path>
              </a:pathLst>
            </a:custGeom>
            <a:solidFill>
              <a:srgbClr val="D60093"/>
            </a:solidFill>
            <a:ln w="9525">
              <a:noFill/>
              <a:round/>
              <a:headEnd/>
              <a:tailEnd/>
            </a:ln>
          </p:spPr>
          <p:txBody>
            <a:bodyPr/>
            <a:lstStyle/>
            <a:p>
              <a:endParaRPr lang="fr-FR"/>
            </a:p>
          </p:txBody>
        </p:sp>
        <p:sp>
          <p:nvSpPr>
            <p:cNvPr id="197732" name="Freeform 100"/>
            <p:cNvSpPr>
              <a:spLocks/>
            </p:cNvSpPr>
            <p:nvPr/>
          </p:nvSpPr>
          <p:spPr bwMode="auto">
            <a:xfrm>
              <a:off x="3513" y="3896"/>
              <a:ext cx="183" cy="8"/>
            </a:xfrm>
            <a:custGeom>
              <a:avLst/>
              <a:gdLst/>
              <a:ahLst/>
              <a:cxnLst>
                <a:cxn ang="0">
                  <a:pos x="183" y="4"/>
                </a:cxn>
                <a:cxn ang="0">
                  <a:pos x="145" y="7"/>
                </a:cxn>
                <a:cxn ang="0">
                  <a:pos x="106" y="8"/>
                </a:cxn>
                <a:cxn ang="0">
                  <a:pos x="79" y="7"/>
                </a:cxn>
                <a:cxn ang="0">
                  <a:pos x="53" y="6"/>
                </a:cxn>
                <a:cxn ang="0">
                  <a:pos x="0" y="0"/>
                </a:cxn>
              </a:cxnLst>
              <a:rect l="0" t="0" r="r" b="b"/>
              <a:pathLst>
                <a:path w="183" h="8">
                  <a:moveTo>
                    <a:pt x="183" y="4"/>
                  </a:moveTo>
                  <a:lnTo>
                    <a:pt x="145" y="7"/>
                  </a:lnTo>
                  <a:lnTo>
                    <a:pt x="106" y="8"/>
                  </a:lnTo>
                  <a:lnTo>
                    <a:pt x="79" y="7"/>
                  </a:lnTo>
                  <a:lnTo>
                    <a:pt x="53" y="6"/>
                  </a:lnTo>
                  <a:lnTo>
                    <a:pt x="0" y="0"/>
                  </a:lnTo>
                </a:path>
              </a:pathLst>
            </a:custGeom>
            <a:noFill/>
            <a:ln w="12700">
              <a:solidFill>
                <a:srgbClr val="000000"/>
              </a:solidFill>
              <a:prstDash val="solid"/>
              <a:round/>
              <a:headEnd/>
              <a:tailEnd/>
            </a:ln>
          </p:spPr>
          <p:txBody>
            <a:bodyPr/>
            <a:lstStyle/>
            <a:p>
              <a:endParaRPr lang="fr-FR"/>
            </a:p>
          </p:txBody>
        </p:sp>
        <p:sp>
          <p:nvSpPr>
            <p:cNvPr id="197733" name="Freeform 101"/>
            <p:cNvSpPr>
              <a:spLocks/>
            </p:cNvSpPr>
            <p:nvPr/>
          </p:nvSpPr>
          <p:spPr bwMode="auto">
            <a:xfrm>
              <a:off x="3618" y="3188"/>
              <a:ext cx="292" cy="716"/>
            </a:xfrm>
            <a:custGeom>
              <a:avLst/>
              <a:gdLst/>
              <a:ahLst/>
              <a:cxnLst>
                <a:cxn ang="0">
                  <a:pos x="292" y="654"/>
                </a:cxn>
                <a:cxn ang="0">
                  <a:pos x="257" y="668"/>
                </a:cxn>
                <a:cxn ang="0">
                  <a:pos x="222" y="681"/>
                </a:cxn>
                <a:cxn ang="0">
                  <a:pos x="186" y="692"/>
                </a:cxn>
                <a:cxn ang="0">
                  <a:pos x="149" y="700"/>
                </a:cxn>
                <a:cxn ang="0">
                  <a:pos x="113" y="707"/>
                </a:cxn>
                <a:cxn ang="0">
                  <a:pos x="75" y="712"/>
                </a:cxn>
                <a:cxn ang="0">
                  <a:pos x="38" y="715"/>
                </a:cxn>
                <a:cxn ang="0">
                  <a:pos x="0" y="716"/>
                </a:cxn>
                <a:cxn ang="0">
                  <a:pos x="0" y="0"/>
                </a:cxn>
                <a:cxn ang="0">
                  <a:pos x="292" y="654"/>
                </a:cxn>
              </a:cxnLst>
              <a:rect l="0" t="0" r="r" b="b"/>
              <a:pathLst>
                <a:path w="292" h="716">
                  <a:moveTo>
                    <a:pt x="292" y="654"/>
                  </a:moveTo>
                  <a:lnTo>
                    <a:pt x="257" y="668"/>
                  </a:lnTo>
                  <a:lnTo>
                    <a:pt x="222" y="681"/>
                  </a:lnTo>
                  <a:lnTo>
                    <a:pt x="186" y="692"/>
                  </a:lnTo>
                  <a:lnTo>
                    <a:pt x="149" y="700"/>
                  </a:lnTo>
                  <a:lnTo>
                    <a:pt x="113" y="707"/>
                  </a:lnTo>
                  <a:lnTo>
                    <a:pt x="75" y="712"/>
                  </a:lnTo>
                  <a:lnTo>
                    <a:pt x="38" y="715"/>
                  </a:lnTo>
                  <a:lnTo>
                    <a:pt x="0" y="716"/>
                  </a:lnTo>
                  <a:lnTo>
                    <a:pt x="0" y="0"/>
                  </a:lnTo>
                  <a:lnTo>
                    <a:pt x="292" y="654"/>
                  </a:lnTo>
                  <a:close/>
                </a:path>
              </a:pathLst>
            </a:custGeom>
            <a:solidFill>
              <a:srgbClr val="00FF00"/>
            </a:solidFill>
            <a:ln w="9525">
              <a:noFill/>
              <a:round/>
              <a:headEnd/>
              <a:tailEnd/>
            </a:ln>
          </p:spPr>
          <p:txBody>
            <a:bodyPr/>
            <a:lstStyle/>
            <a:p>
              <a:endParaRPr lang="fr-FR"/>
            </a:p>
          </p:txBody>
        </p:sp>
        <p:sp>
          <p:nvSpPr>
            <p:cNvPr id="197734" name="Freeform 102"/>
            <p:cNvSpPr>
              <a:spLocks/>
            </p:cNvSpPr>
            <p:nvPr/>
          </p:nvSpPr>
          <p:spPr bwMode="auto">
            <a:xfrm>
              <a:off x="3618" y="3842"/>
              <a:ext cx="292" cy="62"/>
            </a:xfrm>
            <a:custGeom>
              <a:avLst/>
              <a:gdLst/>
              <a:ahLst/>
              <a:cxnLst>
                <a:cxn ang="0">
                  <a:pos x="292" y="0"/>
                </a:cxn>
                <a:cxn ang="0">
                  <a:pos x="257" y="14"/>
                </a:cxn>
                <a:cxn ang="0">
                  <a:pos x="222" y="27"/>
                </a:cxn>
                <a:cxn ang="0">
                  <a:pos x="186" y="38"/>
                </a:cxn>
                <a:cxn ang="0">
                  <a:pos x="149" y="46"/>
                </a:cxn>
                <a:cxn ang="0">
                  <a:pos x="113" y="53"/>
                </a:cxn>
                <a:cxn ang="0">
                  <a:pos x="75" y="58"/>
                </a:cxn>
                <a:cxn ang="0">
                  <a:pos x="38" y="61"/>
                </a:cxn>
                <a:cxn ang="0">
                  <a:pos x="0" y="62"/>
                </a:cxn>
              </a:cxnLst>
              <a:rect l="0" t="0" r="r" b="b"/>
              <a:pathLst>
                <a:path w="292" h="62">
                  <a:moveTo>
                    <a:pt x="292" y="0"/>
                  </a:moveTo>
                  <a:lnTo>
                    <a:pt x="257" y="14"/>
                  </a:lnTo>
                  <a:lnTo>
                    <a:pt x="222" y="27"/>
                  </a:lnTo>
                  <a:lnTo>
                    <a:pt x="186" y="38"/>
                  </a:lnTo>
                  <a:lnTo>
                    <a:pt x="149" y="46"/>
                  </a:lnTo>
                  <a:lnTo>
                    <a:pt x="113" y="53"/>
                  </a:lnTo>
                  <a:lnTo>
                    <a:pt x="75" y="58"/>
                  </a:lnTo>
                  <a:lnTo>
                    <a:pt x="38" y="61"/>
                  </a:lnTo>
                  <a:lnTo>
                    <a:pt x="0" y="62"/>
                  </a:lnTo>
                </a:path>
              </a:pathLst>
            </a:custGeom>
            <a:noFill/>
            <a:ln w="12700">
              <a:solidFill>
                <a:srgbClr val="000000"/>
              </a:solidFill>
              <a:prstDash val="solid"/>
              <a:round/>
              <a:headEnd/>
              <a:tailEnd/>
            </a:ln>
          </p:spPr>
          <p:txBody>
            <a:bodyPr/>
            <a:lstStyle/>
            <a:p>
              <a:endParaRPr lang="fr-FR"/>
            </a:p>
          </p:txBody>
        </p:sp>
        <p:sp>
          <p:nvSpPr>
            <p:cNvPr id="197735" name="Freeform 103"/>
            <p:cNvSpPr>
              <a:spLocks/>
            </p:cNvSpPr>
            <p:nvPr/>
          </p:nvSpPr>
          <p:spPr bwMode="auto">
            <a:xfrm>
              <a:off x="3618" y="3188"/>
              <a:ext cx="199" cy="716"/>
            </a:xfrm>
            <a:custGeom>
              <a:avLst/>
              <a:gdLst/>
              <a:ahLst/>
              <a:cxnLst>
                <a:cxn ang="0">
                  <a:pos x="199" y="688"/>
                </a:cxn>
                <a:cxn ang="0">
                  <a:pos x="150" y="700"/>
                </a:cxn>
                <a:cxn ang="0">
                  <a:pos x="100" y="709"/>
                </a:cxn>
                <a:cxn ang="0">
                  <a:pos x="50" y="714"/>
                </a:cxn>
                <a:cxn ang="0">
                  <a:pos x="0" y="716"/>
                </a:cxn>
                <a:cxn ang="0">
                  <a:pos x="0" y="0"/>
                </a:cxn>
                <a:cxn ang="0">
                  <a:pos x="199" y="688"/>
                </a:cxn>
              </a:cxnLst>
              <a:rect l="0" t="0" r="r" b="b"/>
              <a:pathLst>
                <a:path w="199" h="716">
                  <a:moveTo>
                    <a:pt x="199" y="688"/>
                  </a:moveTo>
                  <a:lnTo>
                    <a:pt x="150" y="700"/>
                  </a:lnTo>
                  <a:lnTo>
                    <a:pt x="100" y="709"/>
                  </a:lnTo>
                  <a:lnTo>
                    <a:pt x="50" y="714"/>
                  </a:lnTo>
                  <a:lnTo>
                    <a:pt x="0" y="716"/>
                  </a:lnTo>
                  <a:lnTo>
                    <a:pt x="0" y="0"/>
                  </a:lnTo>
                  <a:lnTo>
                    <a:pt x="199" y="688"/>
                  </a:lnTo>
                  <a:close/>
                </a:path>
              </a:pathLst>
            </a:custGeom>
            <a:solidFill>
              <a:srgbClr val="3366FF"/>
            </a:solidFill>
            <a:ln w="9525">
              <a:noFill/>
              <a:round/>
              <a:headEnd/>
              <a:tailEnd/>
            </a:ln>
          </p:spPr>
          <p:txBody>
            <a:bodyPr/>
            <a:lstStyle/>
            <a:p>
              <a:endParaRPr lang="fr-FR"/>
            </a:p>
          </p:txBody>
        </p:sp>
        <p:sp>
          <p:nvSpPr>
            <p:cNvPr id="197736" name="Freeform 104"/>
            <p:cNvSpPr>
              <a:spLocks/>
            </p:cNvSpPr>
            <p:nvPr/>
          </p:nvSpPr>
          <p:spPr bwMode="auto">
            <a:xfrm>
              <a:off x="3618" y="3876"/>
              <a:ext cx="199" cy="28"/>
            </a:xfrm>
            <a:custGeom>
              <a:avLst/>
              <a:gdLst/>
              <a:ahLst/>
              <a:cxnLst>
                <a:cxn ang="0">
                  <a:pos x="199" y="0"/>
                </a:cxn>
                <a:cxn ang="0">
                  <a:pos x="150" y="12"/>
                </a:cxn>
                <a:cxn ang="0">
                  <a:pos x="100" y="21"/>
                </a:cxn>
                <a:cxn ang="0">
                  <a:pos x="50" y="26"/>
                </a:cxn>
                <a:cxn ang="0">
                  <a:pos x="0" y="28"/>
                </a:cxn>
              </a:cxnLst>
              <a:rect l="0" t="0" r="r" b="b"/>
              <a:pathLst>
                <a:path w="199" h="28">
                  <a:moveTo>
                    <a:pt x="199" y="0"/>
                  </a:moveTo>
                  <a:lnTo>
                    <a:pt x="150" y="12"/>
                  </a:lnTo>
                  <a:lnTo>
                    <a:pt x="100" y="21"/>
                  </a:lnTo>
                  <a:lnTo>
                    <a:pt x="50" y="26"/>
                  </a:lnTo>
                  <a:lnTo>
                    <a:pt x="0" y="28"/>
                  </a:lnTo>
                </a:path>
              </a:pathLst>
            </a:custGeom>
            <a:noFill/>
            <a:ln w="12700">
              <a:solidFill>
                <a:srgbClr val="000000"/>
              </a:solidFill>
              <a:prstDash val="solid"/>
              <a:round/>
              <a:headEnd/>
              <a:tailEnd/>
            </a:ln>
          </p:spPr>
          <p:txBody>
            <a:bodyPr/>
            <a:lstStyle/>
            <a:p>
              <a:endParaRPr lang="fr-FR"/>
            </a:p>
          </p:txBody>
        </p:sp>
        <p:sp>
          <p:nvSpPr>
            <p:cNvPr id="197737" name="Oval 105"/>
            <p:cNvSpPr>
              <a:spLocks noChangeArrowheads="1"/>
            </p:cNvSpPr>
            <p:nvPr/>
          </p:nvSpPr>
          <p:spPr bwMode="auto">
            <a:xfrm>
              <a:off x="3316" y="2888"/>
              <a:ext cx="605" cy="602"/>
            </a:xfrm>
            <a:prstGeom prst="ellipse">
              <a:avLst/>
            </a:prstGeom>
            <a:noFill/>
            <a:ln w="12700">
              <a:solidFill>
                <a:srgbClr val="919191"/>
              </a:solidFill>
              <a:round/>
              <a:headEnd/>
              <a:tailEnd/>
            </a:ln>
          </p:spPr>
          <p:txBody>
            <a:bodyPr/>
            <a:lstStyle/>
            <a:p>
              <a:endParaRPr lang="fr-FR"/>
            </a:p>
          </p:txBody>
        </p:sp>
        <p:sp>
          <p:nvSpPr>
            <p:cNvPr id="197738" name="Oval 106"/>
            <p:cNvSpPr>
              <a:spLocks noChangeArrowheads="1"/>
            </p:cNvSpPr>
            <p:nvPr/>
          </p:nvSpPr>
          <p:spPr bwMode="auto">
            <a:xfrm>
              <a:off x="3480" y="3052"/>
              <a:ext cx="277" cy="274"/>
            </a:xfrm>
            <a:prstGeom prst="ellipse">
              <a:avLst/>
            </a:prstGeom>
            <a:solidFill>
              <a:srgbClr val="FCFEB9"/>
            </a:solidFill>
            <a:ln w="12700">
              <a:solidFill>
                <a:srgbClr val="919191"/>
              </a:solidFill>
              <a:round/>
              <a:headEnd/>
              <a:tailEnd/>
            </a:ln>
          </p:spPr>
          <p:txBody>
            <a:bodyPr/>
            <a:lstStyle/>
            <a:p>
              <a:endParaRPr lang="fr-FR"/>
            </a:p>
          </p:txBody>
        </p:sp>
      </p:grpSp>
      <p:sp>
        <p:nvSpPr>
          <p:cNvPr id="197739" name="Text Box 107"/>
          <p:cNvSpPr txBox="1">
            <a:spLocks noChangeArrowheads="1"/>
          </p:cNvSpPr>
          <p:nvPr/>
        </p:nvSpPr>
        <p:spPr bwMode="auto">
          <a:xfrm>
            <a:off x="353868" y="5128209"/>
            <a:ext cx="360363" cy="650875"/>
          </a:xfrm>
          <a:prstGeom prst="rect">
            <a:avLst/>
          </a:prstGeom>
          <a:solidFill>
            <a:srgbClr val="3366FF"/>
          </a:solidFill>
          <a:ln w="9525">
            <a:solidFill>
              <a:srgbClr val="3366FF"/>
            </a:solidFill>
            <a:miter lim="800000"/>
            <a:headEnd/>
            <a:tailEnd/>
          </a:ln>
          <a:effectLst>
            <a:outerShdw dist="71842" dir="2700000" algn="ctr" rotWithShape="0">
              <a:srgbClr val="969696"/>
            </a:outerShdw>
          </a:effectLst>
        </p:spPr>
        <p:txBody>
          <a:bodyPr wrap="none" anchor="ctr"/>
          <a:lstStyle/>
          <a:p>
            <a:r>
              <a:rPr lang="en-US" sz="2400" b="1">
                <a:solidFill>
                  <a:srgbClr val="FFFFFF"/>
                </a:solidFill>
                <a:effectLst>
                  <a:outerShdw blurRad="38100" dist="38100" dir="2700000" algn="tl">
                    <a:srgbClr val="000000"/>
                  </a:outerShdw>
                </a:effectLst>
                <a:latin typeface="Arial" charset="0"/>
                <a:cs typeface="Times New Roman" pitchFamily="18" charset="0"/>
              </a:rPr>
              <a:t>3</a:t>
            </a:r>
          </a:p>
        </p:txBody>
      </p:sp>
      <p:sp>
        <p:nvSpPr>
          <p:cNvPr id="197740" name="Text Box 108"/>
          <p:cNvSpPr txBox="1">
            <a:spLocks noChangeArrowheads="1"/>
          </p:cNvSpPr>
          <p:nvPr/>
        </p:nvSpPr>
        <p:spPr bwMode="auto">
          <a:xfrm>
            <a:off x="734291" y="5100500"/>
            <a:ext cx="5571259" cy="676275"/>
          </a:xfrm>
          <a:prstGeom prst="rect">
            <a:avLst/>
          </a:prstGeom>
          <a:gradFill rotWithShape="0">
            <a:gsLst>
              <a:gs pos="0">
                <a:srgbClr val="CCECFF"/>
              </a:gs>
              <a:gs pos="100000">
                <a:srgbClr val="CCECFF">
                  <a:gamma/>
                  <a:tint val="0"/>
                  <a:invGamma/>
                </a:srgbClr>
              </a:gs>
            </a:gsLst>
            <a:lin ang="5400000" scaled="1"/>
          </a:gradFill>
          <a:ln w="9525">
            <a:solidFill>
              <a:srgbClr val="3366FF"/>
            </a:solidFill>
            <a:miter lim="800000"/>
            <a:headEnd/>
            <a:tailEnd/>
          </a:ln>
          <a:effectLst>
            <a:outerShdw dist="71842" dir="2700000" algn="ctr" rotWithShape="0">
              <a:srgbClr val="969696"/>
            </a:outerShdw>
          </a:effectLst>
        </p:spPr>
        <p:txBody>
          <a:bodyPr/>
          <a:lstStyle/>
          <a:p>
            <a:r>
              <a:rPr lang="en-US" sz="2000" b="1">
                <a:latin typeface="Arial" charset="0"/>
                <a:cs typeface="Times New Roman" pitchFamily="18" charset="0"/>
              </a:rPr>
              <a:t>Configurez les propriétés et les paramètres du périphérique, si nécessaire</a:t>
            </a:r>
          </a:p>
        </p:txBody>
      </p:sp>
      <p:sp>
        <p:nvSpPr>
          <p:cNvPr id="197710" name="AutoShape 78"/>
          <p:cNvSpPr>
            <a:spLocks noChangeArrowheads="1"/>
          </p:cNvSpPr>
          <p:nvPr/>
        </p:nvSpPr>
        <p:spPr bwMode="auto">
          <a:xfrm>
            <a:off x="5794375" y="4343263"/>
            <a:ext cx="1879600" cy="1616075"/>
          </a:xfrm>
          <a:custGeom>
            <a:avLst/>
            <a:gdLst>
              <a:gd name="G0" fmla="+- 5885890 0 0"/>
              <a:gd name="G1" fmla="+- 3080 0 0"/>
              <a:gd name="G2" fmla="+- 5885890 0 3080"/>
              <a:gd name="G3" fmla="+- 10800 0 0"/>
              <a:gd name="G4" fmla="+- 0 0 5885890"/>
              <a:gd name="T0" fmla="*/ 360 256 1"/>
              <a:gd name="T1" fmla="*/ 0 256 1"/>
              <a:gd name="G5" fmla="+- G2 T0 T1"/>
              <a:gd name="G6" fmla="?: G2 G2 G5"/>
              <a:gd name="G7" fmla="+- 0 0 G6"/>
              <a:gd name="G8" fmla="+- 5473 0 0"/>
              <a:gd name="G9" fmla="+- 0 0 3080"/>
              <a:gd name="G10" fmla="+- 5473 0 2700"/>
              <a:gd name="G11" fmla="cos G10 5885890"/>
              <a:gd name="G12" fmla="sin G10 5885890"/>
              <a:gd name="G13" fmla="cos 13500 5885890"/>
              <a:gd name="G14" fmla="sin 13500 5885890"/>
              <a:gd name="G15" fmla="+- G11 10800 0"/>
              <a:gd name="G16" fmla="+- G12 10800 0"/>
              <a:gd name="G17" fmla="+- G13 10800 0"/>
              <a:gd name="G18" fmla="+- G14 10800 0"/>
              <a:gd name="G19" fmla="*/ 5473 1 2"/>
              <a:gd name="G20" fmla="+- G19 5400 0"/>
              <a:gd name="G21" fmla="cos G20 5885890"/>
              <a:gd name="G22" fmla="sin G20 5885890"/>
              <a:gd name="G23" fmla="+- G21 10800 0"/>
              <a:gd name="G24" fmla="+- G12 G23 G22"/>
              <a:gd name="G25" fmla="+- G22 G23 G11"/>
              <a:gd name="G26" fmla="cos 10800 5885890"/>
              <a:gd name="G27" fmla="sin 10800 5885890"/>
              <a:gd name="G28" fmla="cos 5473 5885890"/>
              <a:gd name="G29" fmla="sin 5473 5885890"/>
              <a:gd name="G30" fmla="+- G26 10800 0"/>
              <a:gd name="G31" fmla="+- G27 10800 0"/>
              <a:gd name="G32" fmla="+- G28 10800 0"/>
              <a:gd name="G33" fmla="+- G29 10800 0"/>
              <a:gd name="G34" fmla="+- G19 5400 0"/>
              <a:gd name="G35" fmla="cos G34 3080"/>
              <a:gd name="G36" fmla="sin G34 3080"/>
              <a:gd name="G37" fmla="+/ 3080 5885890 2"/>
              <a:gd name="T2" fmla="*/ 180 256 1"/>
              <a:gd name="T3" fmla="*/ 0 256 1"/>
              <a:gd name="G38" fmla="+- G37 T2 T3"/>
              <a:gd name="G39" fmla="?: G2 G37 G38"/>
              <a:gd name="G40" fmla="cos 10800 G39"/>
              <a:gd name="G41" fmla="sin 10800 G39"/>
              <a:gd name="G42" fmla="cos 5473 G39"/>
              <a:gd name="G43" fmla="sin 5473 G39"/>
              <a:gd name="G44" fmla="+- G40 10800 0"/>
              <a:gd name="G45" fmla="+- G41 10800 0"/>
              <a:gd name="G46" fmla="+- G42 10800 0"/>
              <a:gd name="G47" fmla="+- G43 10800 0"/>
              <a:gd name="G48" fmla="+- G35 10800 0"/>
              <a:gd name="G49" fmla="+- G36 10800 0"/>
              <a:gd name="T4" fmla="*/ 18446 w 21600"/>
              <a:gd name="T5" fmla="*/ 18427 h 21600"/>
              <a:gd name="T6" fmla="*/ 18936 w 21600"/>
              <a:gd name="T7" fmla="*/ 10806 h 21600"/>
              <a:gd name="T8" fmla="*/ 14674 w 21600"/>
              <a:gd name="T9" fmla="*/ 14665 h 21600"/>
              <a:gd name="T10" fmla="*/ 10844 w 21600"/>
              <a:gd name="T11" fmla="*/ 24299 h 21600"/>
              <a:gd name="T12" fmla="*/ 5462 w 21600"/>
              <a:gd name="T13" fmla="*/ 18953 h 21600"/>
              <a:gd name="T14" fmla="*/ 10809 w 21600"/>
              <a:gd name="T15" fmla="*/ 13572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0818" y="16272"/>
                </a:moveTo>
                <a:cubicBezTo>
                  <a:pt x="13831" y="16263"/>
                  <a:pt x="16270" y="13818"/>
                  <a:pt x="16272" y="10804"/>
                </a:cubicBezTo>
                <a:lnTo>
                  <a:pt x="21599" y="10808"/>
                </a:lnTo>
                <a:cubicBezTo>
                  <a:pt x="21595" y="16756"/>
                  <a:pt x="16782" y="21580"/>
                  <a:pt x="10835" y="21599"/>
                </a:cubicBezTo>
                <a:lnTo>
                  <a:pt x="10844" y="24299"/>
                </a:lnTo>
                <a:lnTo>
                  <a:pt x="5462" y="18953"/>
                </a:lnTo>
                <a:lnTo>
                  <a:pt x="10809" y="13572"/>
                </a:lnTo>
                <a:lnTo>
                  <a:pt x="10818" y="16272"/>
                </a:lnTo>
                <a:close/>
              </a:path>
            </a:pathLst>
          </a:custGeom>
          <a:gradFill rotWithShape="0">
            <a:gsLst>
              <a:gs pos="0">
                <a:srgbClr val="D60093"/>
              </a:gs>
              <a:gs pos="100000">
                <a:srgbClr val="D60093">
                  <a:gamma/>
                  <a:tint val="33333"/>
                  <a:invGamma/>
                </a:srgbClr>
              </a:gs>
            </a:gsLst>
            <a:lin ang="5400000" scaled="1"/>
          </a:gradFill>
          <a:ln w="6350">
            <a:solidFill>
              <a:srgbClr val="660066"/>
            </a:solidFill>
            <a:miter lim="800000"/>
            <a:headEnd/>
            <a:tailEnd/>
          </a:ln>
          <a:effectLst>
            <a:outerShdw dist="45791" dir="2021404" algn="ctr" rotWithShape="0">
              <a:srgbClr val="B2B2B2"/>
            </a:outerShdw>
          </a:effectLst>
        </p:spPr>
        <p:txBody>
          <a:bodyPr tIns="27432" bIns="27432" anchor="ctr">
            <a:spAutoFit/>
          </a:bodyP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7640"/>
                                        </p:tgtEl>
                                        <p:attrNameLst>
                                          <p:attrName>style.visibility</p:attrName>
                                        </p:attrNameLst>
                                      </p:cBhvr>
                                      <p:to>
                                        <p:strVal val="visible"/>
                                      </p:to>
                                    </p:set>
                                    <p:animEffect transition="in" filter="checkerboard(across)">
                                      <p:cBhvr>
                                        <p:cTn id="7" dur="500"/>
                                        <p:tgtEl>
                                          <p:spTgt spid="19764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97641"/>
                                        </p:tgtEl>
                                        <p:attrNameLst>
                                          <p:attrName>style.visibility</p:attrName>
                                        </p:attrNameLst>
                                      </p:cBhvr>
                                      <p:to>
                                        <p:strVal val="visible"/>
                                      </p:to>
                                    </p:set>
                                    <p:animEffect transition="in" filter="checkerboard(across)">
                                      <p:cBhvr>
                                        <p:cTn id="10" dur="500"/>
                                        <p:tgtEl>
                                          <p:spTgt spid="197641"/>
                                        </p:tgtEl>
                                      </p:cBhvr>
                                    </p:animEffect>
                                  </p:childTnLst>
                                </p:cTn>
                              </p:par>
                              <p:par>
                                <p:cTn id="11" presetID="5" presetClass="entr" presetSubtype="10" fill="hold" nodeType="withEffect">
                                  <p:stCondLst>
                                    <p:cond delay="0"/>
                                  </p:stCondLst>
                                  <p:childTnLst>
                                    <p:set>
                                      <p:cBhvr>
                                        <p:cTn id="12" dur="1" fill="hold">
                                          <p:stCondLst>
                                            <p:cond delay="0"/>
                                          </p:stCondLst>
                                        </p:cTn>
                                        <p:tgtEl>
                                          <p:spTgt spid="197642"/>
                                        </p:tgtEl>
                                        <p:attrNameLst>
                                          <p:attrName>style.visibility</p:attrName>
                                        </p:attrNameLst>
                                      </p:cBhvr>
                                      <p:to>
                                        <p:strVal val="visible"/>
                                      </p:to>
                                    </p:set>
                                    <p:animEffect transition="in" filter="checkerboard(across)">
                                      <p:cBhvr>
                                        <p:cTn id="13" dur="500"/>
                                        <p:tgtEl>
                                          <p:spTgt spid="197642"/>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97709"/>
                                        </p:tgtEl>
                                        <p:attrNameLst>
                                          <p:attrName>style.visibility</p:attrName>
                                        </p:attrNameLst>
                                      </p:cBhvr>
                                      <p:to>
                                        <p:strVal val="visible"/>
                                      </p:to>
                                    </p:set>
                                    <p:animEffect transition="in" filter="checkerboard(across)">
                                      <p:cBhvr>
                                        <p:cTn id="18" dur="500"/>
                                        <p:tgtEl>
                                          <p:spTgt spid="197709"/>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197637"/>
                                        </p:tgtEl>
                                        <p:attrNameLst>
                                          <p:attrName>style.visibility</p:attrName>
                                        </p:attrNameLst>
                                      </p:cBhvr>
                                      <p:to>
                                        <p:strVal val="visible"/>
                                      </p:to>
                                    </p:set>
                                    <p:animEffect transition="in" filter="checkerboard(across)">
                                      <p:cBhvr>
                                        <p:cTn id="21" dur="500"/>
                                        <p:tgtEl>
                                          <p:spTgt spid="197637"/>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97638"/>
                                        </p:tgtEl>
                                        <p:attrNameLst>
                                          <p:attrName>style.visibility</p:attrName>
                                        </p:attrNameLst>
                                      </p:cBhvr>
                                      <p:to>
                                        <p:strVal val="visible"/>
                                      </p:to>
                                    </p:set>
                                    <p:animEffect transition="in" filter="checkerboard(across)">
                                      <p:cBhvr>
                                        <p:cTn id="24" dur="500"/>
                                        <p:tgtEl>
                                          <p:spTgt spid="197638"/>
                                        </p:tgtEl>
                                      </p:cBhvr>
                                    </p:animEffect>
                                  </p:childTnLst>
                                </p:cTn>
                              </p:par>
                              <p:par>
                                <p:cTn id="25" presetID="5" presetClass="entr" presetSubtype="10" fill="hold" nodeType="withEffect">
                                  <p:stCondLst>
                                    <p:cond delay="0"/>
                                  </p:stCondLst>
                                  <p:childTnLst>
                                    <p:set>
                                      <p:cBhvr>
                                        <p:cTn id="26" dur="1" fill="hold">
                                          <p:stCondLst>
                                            <p:cond delay="0"/>
                                          </p:stCondLst>
                                        </p:cTn>
                                        <p:tgtEl>
                                          <p:spTgt spid="197711"/>
                                        </p:tgtEl>
                                        <p:attrNameLst>
                                          <p:attrName>style.visibility</p:attrName>
                                        </p:attrNameLst>
                                      </p:cBhvr>
                                      <p:to>
                                        <p:strVal val="visible"/>
                                      </p:to>
                                    </p:set>
                                    <p:animEffect transition="in" filter="checkerboard(across)">
                                      <p:cBhvr>
                                        <p:cTn id="27" dur="500"/>
                                        <p:tgtEl>
                                          <p:spTgt spid="197711"/>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97710"/>
                                        </p:tgtEl>
                                        <p:attrNameLst>
                                          <p:attrName>style.visibility</p:attrName>
                                        </p:attrNameLst>
                                      </p:cBhvr>
                                      <p:to>
                                        <p:strVal val="visible"/>
                                      </p:to>
                                    </p:set>
                                    <p:animEffect transition="in" filter="checkerboard(across)">
                                      <p:cBhvr>
                                        <p:cTn id="32" dur="500"/>
                                        <p:tgtEl>
                                          <p:spTgt spid="197710"/>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197739"/>
                                        </p:tgtEl>
                                        <p:attrNameLst>
                                          <p:attrName>style.visibility</p:attrName>
                                        </p:attrNameLst>
                                      </p:cBhvr>
                                      <p:to>
                                        <p:strVal val="visible"/>
                                      </p:to>
                                    </p:set>
                                    <p:animEffect transition="in" filter="checkerboard(across)">
                                      <p:cBhvr>
                                        <p:cTn id="35" dur="500"/>
                                        <p:tgtEl>
                                          <p:spTgt spid="197739"/>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197740"/>
                                        </p:tgtEl>
                                        <p:attrNameLst>
                                          <p:attrName>style.visibility</p:attrName>
                                        </p:attrNameLst>
                                      </p:cBhvr>
                                      <p:to>
                                        <p:strVal val="visible"/>
                                      </p:to>
                                    </p:set>
                                    <p:animEffect transition="in" filter="checkerboard(across)">
                                      <p:cBhvr>
                                        <p:cTn id="38" dur="500"/>
                                        <p:tgtEl>
                                          <p:spTgt spid="197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animBg="1"/>
      <p:bldP spid="197638" grpId="0" animBg="1"/>
      <p:bldP spid="197640" grpId="0" animBg="1"/>
      <p:bldP spid="197641" grpId="0" animBg="1"/>
      <p:bldP spid="197709" grpId="0" animBg="1"/>
      <p:bldP spid="197739" grpId="0" animBg="1"/>
      <p:bldP spid="197740" grpId="0" animBg="1"/>
      <p:bldP spid="1977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r>
              <a:rPr lang="fr-FR" sz="2800" dirty="0">
                <a:solidFill>
                  <a:srgbClr val="C00000"/>
                </a:solidFill>
              </a:rPr>
              <a:t>Les nouveautés</a:t>
            </a:r>
            <a:endParaRPr lang="fr-FR" sz="2800" u="sng" dirty="0"/>
          </a:p>
        </p:txBody>
      </p:sp>
      <p:sp>
        <p:nvSpPr>
          <p:cNvPr id="66" name="AutoShape 34"/>
          <p:cNvSpPr>
            <a:spLocks noChangeArrowheads="1"/>
          </p:cNvSpPr>
          <p:nvPr/>
        </p:nvSpPr>
        <p:spPr bwMode="auto">
          <a:xfrm>
            <a:off x="247218" y="1343886"/>
            <a:ext cx="8677275" cy="5056914"/>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lstStyle/>
          <a:p>
            <a:pPr marL="231775" indent="-231775">
              <a:lnSpc>
                <a:spcPct val="90000"/>
              </a:lnSpc>
              <a:spcBef>
                <a:spcPct val="40000"/>
              </a:spcBef>
              <a:buClr>
                <a:srgbClr val="8DACD0"/>
              </a:buClr>
              <a:buSzPct val="90000"/>
              <a:buFont typeface="Arial" pitchFamily="34" charset="0"/>
              <a:buChar char="•"/>
              <a:defRPr/>
            </a:pPr>
            <a:endParaRPr lang="en-US" sz="2000" b="0" dirty="0"/>
          </a:p>
        </p:txBody>
      </p:sp>
      <p:sp>
        <p:nvSpPr>
          <p:cNvPr id="50" name="AutoShape 34"/>
          <p:cNvSpPr>
            <a:spLocks noChangeArrowheads="1"/>
          </p:cNvSpPr>
          <p:nvPr/>
        </p:nvSpPr>
        <p:spPr bwMode="auto">
          <a:xfrm>
            <a:off x="369166" y="2072258"/>
            <a:ext cx="8350250" cy="3261742"/>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tIns="91440" bIns="91440"/>
          <a:lstStyle/>
          <a:p>
            <a:pPr marL="82550">
              <a:lnSpc>
                <a:spcPct val="150000"/>
              </a:lnSpc>
              <a:spcBef>
                <a:spcPct val="40000"/>
              </a:spcBef>
              <a:buSzPct val="80000"/>
              <a:buFont typeface="Wingdings" pitchFamily="2" charset="2"/>
              <a:buChar char="q"/>
              <a:defRPr/>
            </a:pPr>
            <a:r>
              <a:rPr lang="fr-FR" sz="2400" dirty="0"/>
              <a:t> Les packages de pilotes sont stockés dans le magasin de pilotes protégé</a:t>
            </a:r>
          </a:p>
          <a:p>
            <a:pPr marL="82550">
              <a:lnSpc>
                <a:spcPct val="150000"/>
              </a:lnSpc>
              <a:spcBef>
                <a:spcPct val="40000"/>
              </a:spcBef>
              <a:buSzPct val="80000"/>
              <a:buFont typeface="Wingdings" pitchFamily="2" charset="2"/>
              <a:buChar char="q"/>
              <a:defRPr/>
            </a:pPr>
            <a:r>
              <a:rPr lang="fr-FR" sz="2400" b="0" dirty="0"/>
              <a:t> Utilisation de l’outil en ligne de commande (Pnputil.exe).</a:t>
            </a:r>
          </a:p>
          <a:p>
            <a:pPr marL="82550">
              <a:lnSpc>
                <a:spcPct val="150000"/>
              </a:lnSpc>
              <a:spcBef>
                <a:spcPct val="40000"/>
              </a:spcBef>
              <a:buSzPct val="80000"/>
              <a:buFont typeface="Wingdings" pitchFamily="2" charset="2"/>
              <a:buChar char="q"/>
              <a:defRPr/>
            </a:pPr>
            <a:r>
              <a:rPr lang="fr-FR" sz="2400" dirty="0"/>
              <a:t> Les utilisateurs standard peuvent uniquement installer des packages de pilotes que vous autorisez. </a:t>
            </a:r>
          </a:p>
          <a:p>
            <a:pPr marL="82550">
              <a:lnSpc>
                <a:spcPct val="150000"/>
              </a:lnSpc>
              <a:spcBef>
                <a:spcPct val="40000"/>
              </a:spcBef>
              <a:buSzPct val="80000"/>
              <a:buFont typeface="Wingdings" pitchFamily="2" charset="2"/>
              <a:buChar char="q"/>
              <a:defRPr/>
            </a:pPr>
            <a:endParaRPr lang="en-GB"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80109" y="228600"/>
            <a:ext cx="8783782" cy="758952"/>
          </a:xfrm>
        </p:spPr>
        <p:txBody>
          <a:bodyPr>
            <a:normAutofit/>
          </a:bodyPr>
          <a:lstStyle/>
          <a:p>
            <a:r>
              <a:rPr lang="fr-FR" sz="2800" dirty="0">
                <a:solidFill>
                  <a:srgbClr val="C00000"/>
                </a:solidFill>
              </a:rPr>
              <a:t>Processus de détection des pilotes </a:t>
            </a:r>
          </a:p>
        </p:txBody>
      </p:sp>
      <p:sp>
        <p:nvSpPr>
          <p:cNvPr id="66" name="AutoShape 34"/>
          <p:cNvSpPr>
            <a:spLocks noChangeArrowheads="1"/>
          </p:cNvSpPr>
          <p:nvPr/>
        </p:nvSpPr>
        <p:spPr bwMode="auto">
          <a:xfrm>
            <a:off x="219508" y="1510146"/>
            <a:ext cx="8677275" cy="5347854"/>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lstStyle/>
          <a:p>
            <a:pPr marL="231775" indent="-231775">
              <a:lnSpc>
                <a:spcPct val="90000"/>
              </a:lnSpc>
              <a:spcBef>
                <a:spcPct val="40000"/>
              </a:spcBef>
              <a:buClr>
                <a:srgbClr val="8DACD0"/>
              </a:buClr>
              <a:buSzPct val="90000"/>
              <a:buFont typeface="Arial" pitchFamily="34" charset="0"/>
              <a:buChar char="•"/>
              <a:defRPr/>
            </a:pPr>
            <a:endParaRPr lang="en-US" sz="2000" b="0" dirty="0"/>
          </a:p>
        </p:txBody>
      </p:sp>
      <p:grpSp>
        <p:nvGrpSpPr>
          <p:cNvPr id="2" name="Groupe 36"/>
          <p:cNvGrpSpPr/>
          <p:nvPr/>
        </p:nvGrpSpPr>
        <p:grpSpPr>
          <a:xfrm>
            <a:off x="395556" y="1355649"/>
            <a:ext cx="8277389" cy="486898"/>
            <a:chOff x="395556" y="4445314"/>
            <a:chExt cx="8277389" cy="486898"/>
          </a:xfrm>
        </p:grpSpPr>
        <p:sp>
          <p:nvSpPr>
            <p:cNvPr id="30" name="Text Box 8"/>
            <p:cNvSpPr txBox="1">
              <a:spLocks noChangeArrowheads="1"/>
            </p:cNvSpPr>
            <p:nvPr/>
          </p:nvSpPr>
          <p:spPr bwMode="auto">
            <a:xfrm>
              <a:off x="395556" y="4445314"/>
              <a:ext cx="360362" cy="445342"/>
            </a:xfrm>
            <a:prstGeom prst="rect">
              <a:avLst/>
            </a:prstGeom>
            <a:solidFill>
              <a:srgbClr val="3366FF"/>
            </a:solidFill>
            <a:ln w="9525">
              <a:solidFill>
                <a:srgbClr val="3366FF"/>
              </a:solidFill>
              <a:miter lim="800000"/>
              <a:headEnd/>
              <a:tailEnd/>
            </a:ln>
            <a:effectLst>
              <a:outerShdw dist="63500" dir="2212194" algn="ctr" rotWithShape="0">
                <a:srgbClr val="969696"/>
              </a:outerShdw>
            </a:effectLst>
          </p:spPr>
          <p:txBody>
            <a:bodyPr wrap="none" anchor="ctr"/>
            <a:lstStyle/>
            <a:p>
              <a:r>
                <a:rPr lang="en-US" sz="2400" b="1" dirty="0">
                  <a:solidFill>
                    <a:srgbClr val="FFFFFF"/>
                  </a:solidFill>
                  <a:effectLst>
                    <a:outerShdw blurRad="38100" dist="38100" dir="2700000" algn="tl">
                      <a:srgbClr val="000000"/>
                    </a:outerShdw>
                  </a:effectLst>
                  <a:latin typeface="Arial" charset="0"/>
                  <a:cs typeface="Times New Roman" pitchFamily="18" charset="0"/>
                </a:rPr>
                <a:t>1</a:t>
              </a:r>
            </a:p>
          </p:txBody>
        </p:sp>
        <p:sp>
          <p:nvSpPr>
            <p:cNvPr id="35" name="AutoShape 34"/>
            <p:cNvSpPr>
              <a:spLocks noChangeArrowheads="1"/>
            </p:cNvSpPr>
            <p:nvPr/>
          </p:nvSpPr>
          <p:spPr bwMode="auto">
            <a:xfrm>
              <a:off x="757086" y="4469088"/>
              <a:ext cx="7915859" cy="463124"/>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tIns="91440" bIns="91440"/>
            <a:lstStyle/>
            <a:p>
              <a:pPr marL="82550">
                <a:lnSpc>
                  <a:spcPct val="90000"/>
                </a:lnSpc>
                <a:spcBef>
                  <a:spcPct val="40000"/>
                </a:spcBef>
                <a:buSzPct val="80000"/>
                <a:defRPr/>
              </a:pPr>
              <a:r>
                <a:rPr lang="fr-FR" sz="2200" dirty="0"/>
                <a:t>Lorsqu'un utilisateur insère un périphérique, Windows le détecte</a:t>
              </a:r>
              <a:endParaRPr lang="en-GB" sz="2200" dirty="0"/>
            </a:p>
          </p:txBody>
        </p:sp>
      </p:grpSp>
      <p:grpSp>
        <p:nvGrpSpPr>
          <p:cNvPr id="3" name="Groupe 37"/>
          <p:cNvGrpSpPr/>
          <p:nvPr/>
        </p:nvGrpSpPr>
        <p:grpSpPr>
          <a:xfrm>
            <a:off x="409410" y="1975169"/>
            <a:ext cx="8277389" cy="726365"/>
            <a:chOff x="395556" y="4441379"/>
            <a:chExt cx="8277389" cy="726365"/>
          </a:xfrm>
        </p:grpSpPr>
        <p:sp>
          <p:nvSpPr>
            <p:cNvPr id="39" name="Text Box 8"/>
            <p:cNvSpPr txBox="1">
              <a:spLocks noChangeArrowheads="1"/>
            </p:cNvSpPr>
            <p:nvPr/>
          </p:nvSpPr>
          <p:spPr bwMode="auto">
            <a:xfrm>
              <a:off x="395556" y="4445313"/>
              <a:ext cx="360362" cy="722431"/>
            </a:xfrm>
            <a:prstGeom prst="rect">
              <a:avLst/>
            </a:prstGeom>
            <a:solidFill>
              <a:srgbClr val="3366FF"/>
            </a:solidFill>
            <a:ln w="9525">
              <a:solidFill>
                <a:srgbClr val="3366FF"/>
              </a:solidFill>
              <a:miter lim="800000"/>
              <a:headEnd/>
              <a:tailEnd/>
            </a:ln>
            <a:effectLst>
              <a:outerShdw dist="63500" dir="2212194" algn="ctr" rotWithShape="0">
                <a:srgbClr val="969696"/>
              </a:outerShdw>
            </a:effectLst>
          </p:spPr>
          <p:txBody>
            <a:bodyPr wrap="none" anchor="ctr"/>
            <a:lstStyle/>
            <a:p>
              <a:r>
                <a:rPr lang="en-US" sz="2400" b="1" dirty="0">
                  <a:solidFill>
                    <a:srgbClr val="FFFFFF"/>
                  </a:solidFill>
                  <a:effectLst>
                    <a:outerShdw blurRad="38100" dist="38100" dir="2700000" algn="tl">
                      <a:srgbClr val="000000"/>
                    </a:outerShdw>
                  </a:effectLst>
                  <a:latin typeface="Arial" charset="0"/>
                  <a:cs typeface="Times New Roman" pitchFamily="18" charset="0"/>
                </a:rPr>
                <a:t>2</a:t>
              </a:r>
            </a:p>
          </p:txBody>
        </p:sp>
        <p:sp>
          <p:nvSpPr>
            <p:cNvPr id="40" name="AutoShape 34"/>
            <p:cNvSpPr>
              <a:spLocks noChangeArrowheads="1"/>
            </p:cNvSpPr>
            <p:nvPr/>
          </p:nvSpPr>
          <p:spPr bwMode="auto">
            <a:xfrm>
              <a:off x="757086" y="4441379"/>
              <a:ext cx="7915859" cy="712512"/>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tIns="91440" bIns="91440"/>
            <a:lstStyle/>
            <a:p>
              <a:pPr marL="82550">
                <a:lnSpc>
                  <a:spcPct val="90000"/>
                </a:lnSpc>
                <a:spcBef>
                  <a:spcPct val="40000"/>
                </a:spcBef>
                <a:buSzPct val="80000"/>
                <a:defRPr/>
              </a:pPr>
              <a:r>
                <a:rPr lang="fr-FR" sz="2200" dirty="0"/>
                <a:t>Le service </a:t>
              </a:r>
              <a:r>
                <a:rPr lang="fr-FR" sz="2200" dirty="0" err="1"/>
                <a:t>PnP</a:t>
              </a:r>
              <a:r>
                <a:rPr lang="fr-FR" sz="2200" dirty="0"/>
                <a:t> récupère les chaînes d'identification du périphérique et recherche un package de pilotes qui lui correspond</a:t>
              </a:r>
              <a:endParaRPr lang="en-GB" sz="2200" dirty="0"/>
            </a:p>
          </p:txBody>
        </p:sp>
      </p:grpSp>
      <p:sp>
        <p:nvSpPr>
          <p:cNvPr id="12" name="AutoShape 34"/>
          <p:cNvSpPr>
            <a:spLocks noChangeArrowheads="1"/>
          </p:cNvSpPr>
          <p:nvPr/>
        </p:nvSpPr>
        <p:spPr bwMode="auto">
          <a:xfrm>
            <a:off x="867930" y="2861939"/>
            <a:ext cx="3856470" cy="435414"/>
          </a:xfrm>
          <a:prstGeom prst="roundRect">
            <a:avLst>
              <a:gd name="adj" fmla="val 4167"/>
            </a:avLst>
          </a:prstGeom>
          <a:solidFill>
            <a:srgbClr val="CCFFCC"/>
          </a:solidFill>
          <a:ln>
            <a:headEnd/>
            <a:tailEnd/>
          </a:ln>
        </p:spPr>
        <p:style>
          <a:lnRef idx="2">
            <a:schemeClr val="accent3"/>
          </a:lnRef>
          <a:fillRef idx="1">
            <a:schemeClr val="lt1"/>
          </a:fillRef>
          <a:effectRef idx="0">
            <a:schemeClr val="accent3"/>
          </a:effectRef>
          <a:fontRef idx="minor">
            <a:schemeClr val="dk1"/>
          </a:fontRef>
        </p:style>
        <p:txBody>
          <a:bodyPr wrap="square" tIns="91440" bIns="91440"/>
          <a:lstStyle/>
          <a:p>
            <a:pPr marL="82550">
              <a:lnSpc>
                <a:spcPct val="90000"/>
              </a:lnSpc>
              <a:spcBef>
                <a:spcPct val="40000"/>
              </a:spcBef>
              <a:buSzPct val="80000"/>
              <a:defRPr/>
            </a:pPr>
            <a:r>
              <a:rPr lang="fr-FR" sz="2200" b="1" dirty="0"/>
              <a:t>Si le package est trouvé:</a:t>
            </a:r>
            <a:endParaRPr lang="en-GB" sz="2200" dirty="0"/>
          </a:p>
        </p:txBody>
      </p:sp>
      <p:grpSp>
        <p:nvGrpSpPr>
          <p:cNvPr id="13" name="Groupe 37"/>
          <p:cNvGrpSpPr/>
          <p:nvPr/>
        </p:nvGrpSpPr>
        <p:grpSpPr>
          <a:xfrm>
            <a:off x="367846" y="3402187"/>
            <a:ext cx="8277389" cy="726365"/>
            <a:chOff x="395556" y="4441379"/>
            <a:chExt cx="8277389" cy="726365"/>
          </a:xfrm>
        </p:grpSpPr>
        <p:sp>
          <p:nvSpPr>
            <p:cNvPr id="14" name="Text Box 8"/>
            <p:cNvSpPr txBox="1">
              <a:spLocks noChangeArrowheads="1"/>
            </p:cNvSpPr>
            <p:nvPr/>
          </p:nvSpPr>
          <p:spPr bwMode="auto">
            <a:xfrm>
              <a:off x="395556" y="4445313"/>
              <a:ext cx="360362" cy="722431"/>
            </a:xfrm>
            <a:prstGeom prst="rect">
              <a:avLst/>
            </a:prstGeom>
            <a:solidFill>
              <a:srgbClr val="3366FF"/>
            </a:solidFill>
            <a:ln w="9525">
              <a:solidFill>
                <a:srgbClr val="3366FF"/>
              </a:solidFill>
              <a:miter lim="800000"/>
              <a:headEnd/>
              <a:tailEnd/>
            </a:ln>
            <a:effectLst>
              <a:outerShdw dist="63500" dir="2212194" algn="ctr" rotWithShape="0">
                <a:srgbClr val="969696"/>
              </a:outerShdw>
            </a:effectLst>
          </p:spPr>
          <p:txBody>
            <a:bodyPr wrap="none" anchor="ctr"/>
            <a:lstStyle/>
            <a:p>
              <a:r>
                <a:rPr lang="en-US" sz="2400" b="1" dirty="0">
                  <a:solidFill>
                    <a:srgbClr val="FFFFFF"/>
                  </a:solidFill>
                  <a:effectLst>
                    <a:outerShdw blurRad="38100" dist="38100" dir="2700000" algn="tl">
                      <a:srgbClr val="000000"/>
                    </a:outerShdw>
                  </a:effectLst>
                  <a:latin typeface="Arial" charset="0"/>
                  <a:cs typeface="Times New Roman" pitchFamily="18" charset="0"/>
                </a:rPr>
                <a:t>3</a:t>
              </a:r>
            </a:p>
          </p:txBody>
        </p:sp>
        <p:sp>
          <p:nvSpPr>
            <p:cNvPr id="15" name="AutoShape 34"/>
            <p:cNvSpPr>
              <a:spLocks noChangeArrowheads="1"/>
            </p:cNvSpPr>
            <p:nvPr/>
          </p:nvSpPr>
          <p:spPr bwMode="auto">
            <a:xfrm>
              <a:off x="757086" y="4441379"/>
              <a:ext cx="7915859" cy="712512"/>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tIns="91440" bIns="91440"/>
            <a:lstStyle/>
            <a:p>
              <a:pPr marL="82550">
                <a:lnSpc>
                  <a:spcPct val="90000"/>
                </a:lnSpc>
                <a:spcBef>
                  <a:spcPct val="40000"/>
                </a:spcBef>
                <a:buSzPct val="80000"/>
                <a:defRPr/>
              </a:pPr>
              <a:r>
                <a:rPr lang="fr-FR" sz="2200" dirty="0"/>
                <a:t>Copie des fichiers de pilotes de périphériques à partir du magasin de pilotes vers leurs emplacements opérationnels</a:t>
              </a:r>
              <a:endParaRPr lang="en-GB" sz="2200" dirty="0"/>
            </a:p>
          </p:txBody>
        </p:sp>
      </p:grpSp>
      <p:grpSp>
        <p:nvGrpSpPr>
          <p:cNvPr id="16" name="Groupe 37"/>
          <p:cNvGrpSpPr/>
          <p:nvPr/>
        </p:nvGrpSpPr>
        <p:grpSpPr>
          <a:xfrm>
            <a:off x="353992" y="4265104"/>
            <a:ext cx="8249680" cy="542394"/>
            <a:chOff x="395556" y="4445314"/>
            <a:chExt cx="8249680" cy="542394"/>
          </a:xfrm>
        </p:grpSpPr>
        <p:sp>
          <p:nvSpPr>
            <p:cNvPr id="17" name="Text Box 8"/>
            <p:cNvSpPr txBox="1">
              <a:spLocks noChangeArrowheads="1"/>
            </p:cNvSpPr>
            <p:nvPr/>
          </p:nvSpPr>
          <p:spPr bwMode="auto">
            <a:xfrm>
              <a:off x="395556" y="4445314"/>
              <a:ext cx="360362" cy="514686"/>
            </a:xfrm>
            <a:prstGeom prst="rect">
              <a:avLst/>
            </a:prstGeom>
            <a:solidFill>
              <a:srgbClr val="3366FF"/>
            </a:solidFill>
            <a:ln w="9525">
              <a:solidFill>
                <a:srgbClr val="3366FF"/>
              </a:solidFill>
              <a:miter lim="800000"/>
              <a:headEnd/>
              <a:tailEnd/>
            </a:ln>
            <a:effectLst>
              <a:outerShdw dist="63500" dir="2212194" algn="ctr" rotWithShape="0">
                <a:srgbClr val="969696"/>
              </a:outerShdw>
            </a:effectLst>
          </p:spPr>
          <p:txBody>
            <a:bodyPr wrap="none" anchor="ctr"/>
            <a:lstStyle/>
            <a:p>
              <a:r>
                <a:rPr lang="en-US" sz="2400" b="1" dirty="0">
                  <a:solidFill>
                    <a:srgbClr val="FFFFFF"/>
                  </a:solidFill>
                  <a:effectLst>
                    <a:outerShdw blurRad="38100" dist="38100" dir="2700000" algn="tl">
                      <a:srgbClr val="000000"/>
                    </a:outerShdw>
                  </a:effectLst>
                  <a:latin typeface="Arial" charset="0"/>
                  <a:cs typeface="Times New Roman" pitchFamily="18" charset="0"/>
                </a:rPr>
                <a:t>4</a:t>
              </a:r>
            </a:p>
          </p:txBody>
        </p:sp>
        <p:sp>
          <p:nvSpPr>
            <p:cNvPr id="18" name="AutoShape 34"/>
            <p:cNvSpPr>
              <a:spLocks noChangeArrowheads="1"/>
            </p:cNvSpPr>
            <p:nvPr/>
          </p:nvSpPr>
          <p:spPr bwMode="auto">
            <a:xfrm>
              <a:off x="729377" y="4482942"/>
              <a:ext cx="7915859" cy="504766"/>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tIns="91440" bIns="91440"/>
            <a:lstStyle/>
            <a:p>
              <a:pPr marL="82550">
                <a:lnSpc>
                  <a:spcPct val="90000"/>
                </a:lnSpc>
                <a:spcBef>
                  <a:spcPct val="40000"/>
                </a:spcBef>
                <a:buSzPct val="80000"/>
                <a:defRPr/>
              </a:pPr>
              <a:r>
                <a:rPr lang="fr-FR" sz="2200" dirty="0"/>
                <a:t>Démarrage du pilote de périphérique installé</a:t>
              </a:r>
              <a:endParaRPr lang="en-GB" sz="2200" dirty="0"/>
            </a:p>
          </p:txBody>
        </p:sp>
      </p:grpSp>
      <p:sp>
        <p:nvSpPr>
          <p:cNvPr id="19" name="AutoShape 34"/>
          <p:cNvSpPr>
            <a:spLocks noChangeArrowheads="1"/>
          </p:cNvSpPr>
          <p:nvPr/>
        </p:nvSpPr>
        <p:spPr bwMode="auto">
          <a:xfrm>
            <a:off x="923349" y="4981697"/>
            <a:ext cx="5047960" cy="435414"/>
          </a:xfrm>
          <a:prstGeom prst="roundRect">
            <a:avLst>
              <a:gd name="adj" fmla="val 4167"/>
            </a:avLst>
          </a:prstGeom>
          <a:solidFill>
            <a:srgbClr val="CCFFCC"/>
          </a:solidFill>
          <a:ln>
            <a:headEnd/>
            <a:tailEnd/>
          </a:ln>
        </p:spPr>
        <p:style>
          <a:lnRef idx="2">
            <a:schemeClr val="accent3"/>
          </a:lnRef>
          <a:fillRef idx="1">
            <a:schemeClr val="lt1"/>
          </a:fillRef>
          <a:effectRef idx="0">
            <a:schemeClr val="accent3"/>
          </a:effectRef>
          <a:fontRef idx="minor">
            <a:schemeClr val="dk1"/>
          </a:fontRef>
        </p:style>
        <p:txBody>
          <a:bodyPr wrap="square" tIns="91440" bIns="91440"/>
          <a:lstStyle/>
          <a:p>
            <a:pPr marL="82550">
              <a:lnSpc>
                <a:spcPct val="90000"/>
              </a:lnSpc>
              <a:spcBef>
                <a:spcPct val="40000"/>
              </a:spcBef>
              <a:buSzPct val="80000"/>
              <a:defRPr/>
            </a:pPr>
            <a:r>
              <a:rPr lang="fr-FR" sz="2200" b="1" dirty="0"/>
              <a:t>Si le package est non trouvé:</a:t>
            </a:r>
            <a:endParaRPr lang="en-GB" sz="2200" dirty="0"/>
          </a:p>
        </p:txBody>
      </p:sp>
      <p:grpSp>
        <p:nvGrpSpPr>
          <p:cNvPr id="20" name="Groupe 37"/>
          <p:cNvGrpSpPr/>
          <p:nvPr/>
        </p:nvGrpSpPr>
        <p:grpSpPr>
          <a:xfrm>
            <a:off x="423265" y="5521946"/>
            <a:ext cx="8277389" cy="865000"/>
            <a:chOff x="395556" y="4441379"/>
            <a:chExt cx="8277389" cy="477073"/>
          </a:xfrm>
        </p:grpSpPr>
        <p:sp>
          <p:nvSpPr>
            <p:cNvPr id="21" name="Text Box 8"/>
            <p:cNvSpPr txBox="1">
              <a:spLocks noChangeArrowheads="1"/>
            </p:cNvSpPr>
            <p:nvPr/>
          </p:nvSpPr>
          <p:spPr bwMode="auto">
            <a:xfrm>
              <a:off x="395556" y="4445313"/>
              <a:ext cx="360362" cy="473139"/>
            </a:xfrm>
            <a:prstGeom prst="rect">
              <a:avLst/>
            </a:prstGeom>
            <a:solidFill>
              <a:srgbClr val="3366FF"/>
            </a:solidFill>
            <a:ln w="9525">
              <a:solidFill>
                <a:srgbClr val="3366FF"/>
              </a:solidFill>
              <a:miter lim="800000"/>
              <a:headEnd/>
              <a:tailEnd/>
            </a:ln>
            <a:effectLst>
              <a:outerShdw dist="63500" dir="2212194" algn="ctr" rotWithShape="0">
                <a:srgbClr val="969696"/>
              </a:outerShdw>
            </a:effectLst>
          </p:spPr>
          <p:txBody>
            <a:bodyPr wrap="none" anchor="ctr"/>
            <a:lstStyle/>
            <a:p>
              <a:r>
                <a:rPr lang="en-US" sz="2400" b="1" dirty="0">
                  <a:solidFill>
                    <a:srgbClr val="FFFFFF"/>
                  </a:solidFill>
                  <a:effectLst>
                    <a:outerShdw blurRad="38100" dist="38100" dir="2700000" algn="tl">
                      <a:srgbClr val="000000"/>
                    </a:outerShdw>
                  </a:effectLst>
                  <a:latin typeface="Arial" charset="0"/>
                  <a:cs typeface="Times New Roman" pitchFamily="18" charset="0"/>
                </a:rPr>
                <a:t>3</a:t>
              </a:r>
            </a:p>
          </p:txBody>
        </p:sp>
        <p:sp>
          <p:nvSpPr>
            <p:cNvPr id="22" name="AutoShape 34"/>
            <p:cNvSpPr>
              <a:spLocks noChangeArrowheads="1"/>
            </p:cNvSpPr>
            <p:nvPr/>
          </p:nvSpPr>
          <p:spPr bwMode="auto">
            <a:xfrm>
              <a:off x="757086" y="4441379"/>
              <a:ext cx="7915859" cy="463219"/>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tIns="91440" bIns="91440"/>
            <a:lstStyle/>
            <a:p>
              <a:r>
                <a:rPr lang="fr-FR" sz="2200" dirty="0"/>
                <a:t>Windows lance une recherche: dossiers spécifiés par Registre; </a:t>
              </a:r>
            </a:p>
            <a:p>
              <a:r>
                <a:rPr lang="fr-FR" sz="2200" dirty="0"/>
                <a:t>site Web Windows Update ; média.</a:t>
              </a:r>
            </a:p>
            <a:p>
              <a:pPr marL="82550">
                <a:lnSpc>
                  <a:spcPct val="90000"/>
                </a:lnSpc>
                <a:spcBef>
                  <a:spcPct val="40000"/>
                </a:spcBef>
                <a:buSzPct val="80000"/>
                <a:defRPr/>
              </a:pPr>
              <a:endParaRPr lang="en-GB" sz="2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heckerboard(across)">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heckerboard(across)">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checkerboard(across)">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checkerboard(across)">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checkerboard(across)">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00037" y="1400188"/>
            <a:ext cx="8472487" cy="5472113"/>
            <a:chOff x="1195388" y="1028700"/>
            <a:chExt cx="6693027" cy="5248275"/>
          </a:xfrm>
        </p:grpSpPr>
        <p:sp>
          <p:nvSpPr>
            <p:cNvPr id="7" name="AutoShape 39"/>
            <p:cNvSpPr>
              <a:spLocks noChangeArrowheads="1"/>
            </p:cNvSpPr>
            <p:nvPr/>
          </p:nvSpPr>
          <p:spPr bwMode="auto">
            <a:xfrm>
              <a:off x="1195388" y="1028700"/>
              <a:ext cx="3679473" cy="415201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anchor="ctr"/>
            <a:lstStyle/>
            <a:p>
              <a:pPr algn="ctr">
                <a:defRPr/>
              </a:pPr>
              <a:r>
                <a:rPr lang="en-GB" sz="2200" b="1" u="sng" dirty="0" err="1"/>
                <a:t>Gestionnaire</a:t>
              </a:r>
              <a:r>
                <a:rPr lang="en-GB" sz="2200" b="1" u="sng" dirty="0"/>
                <a:t> de </a:t>
              </a:r>
              <a:r>
                <a:rPr lang="en-GB" sz="2200" b="1" u="sng" dirty="0" err="1"/>
                <a:t>périphériques</a:t>
              </a:r>
              <a:endParaRPr lang="en-GB" sz="2200" b="1" u="sng" dirty="0"/>
            </a:p>
            <a:p>
              <a:pPr>
                <a:buFont typeface="Wingdings" pitchFamily="2" charset="2"/>
                <a:buChar char="§"/>
              </a:pPr>
              <a:r>
                <a:rPr lang="fr-FR" sz="2200" b="1" dirty="0"/>
                <a:t>Afficher la liste des périphériques installés</a:t>
              </a:r>
            </a:p>
            <a:p>
              <a:pPr>
                <a:buFont typeface="Wingdings" pitchFamily="2" charset="2"/>
                <a:buChar char="§"/>
              </a:pPr>
              <a:r>
                <a:rPr lang="fr-FR" sz="2200" b="1" dirty="0"/>
                <a:t>Désinstaller un périphérique</a:t>
              </a:r>
              <a:r>
                <a:rPr lang="fr-FR" sz="2200" dirty="0"/>
                <a:t> </a:t>
              </a:r>
            </a:p>
            <a:p>
              <a:pPr>
                <a:buFont typeface="Wingdings" pitchFamily="2" charset="2"/>
                <a:buChar char="§"/>
              </a:pPr>
              <a:r>
                <a:rPr lang="fr-FR" sz="2200" b="1" dirty="0"/>
                <a:t>Activer ou désactiver des périphériques</a:t>
              </a:r>
              <a:r>
                <a:rPr lang="fr-FR" sz="2200" dirty="0"/>
                <a:t> </a:t>
              </a:r>
            </a:p>
            <a:p>
              <a:pPr>
                <a:buFont typeface="Wingdings" pitchFamily="2" charset="2"/>
                <a:buChar char="§"/>
              </a:pPr>
              <a:r>
                <a:rPr lang="fr-FR" sz="2200" b="1" dirty="0"/>
                <a:t>Résoudre les problèmes liés aux périphériques</a:t>
              </a:r>
            </a:p>
            <a:p>
              <a:pPr>
                <a:buFont typeface="Wingdings" pitchFamily="2" charset="2"/>
                <a:buChar char="§"/>
              </a:pPr>
              <a:r>
                <a:rPr lang="fr-FR" sz="2200" b="1" dirty="0"/>
                <a:t>Mettre à jour les pilotes de périphériques</a:t>
              </a:r>
              <a:r>
                <a:rPr lang="fr-FR" sz="2200" dirty="0"/>
                <a:t> </a:t>
              </a:r>
            </a:p>
            <a:p>
              <a:pPr>
                <a:buFont typeface="Wingdings" pitchFamily="2" charset="2"/>
                <a:buChar char="§"/>
              </a:pPr>
              <a:r>
                <a:rPr lang="fr-FR" sz="2200" b="1" dirty="0"/>
                <a:t>Restaurer des pilotes</a:t>
              </a:r>
              <a:endParaRPr lang="fr-FR" sz="2200" dirty="0"/>
            </a:p>
          </p:txBody>
        </p:sp>
        <p:pic>
          <p:nvPicPr>
            <p:cNvPr id="29725" name="Picture 32"/>
            <p:cNvPicPr>
              <a:picLocks noChangeAspect="1" noChangeArrowheads="1"/>
            </p:cNvPicPr>
            <p:nvPr/>
          </p:nvPicPr>
          <p:blipFill>
            <a:blip r:embed="rId3"/>
            <a:srcRect/>
            <a:stretch>
              <a:fillRect/>
            </a:stretch>
          </p:blipFill>
          <p:spPr bwMode="auto">
            <a:xfrm>
              <a:off x="5059490" y="1028700"/>
              <a:ext cx="2828925" cy="5248275"/>
            </a:xfrm>
            <a:prstGeom prst="rect">
              <a:avLst/>
            </a:prstGeom>
            <a:noFill/>
            <a:ln w="9525">
              <a:noFill/>
              <a:miter lim="800000"/>
              <a:headEnd/>
              <a:tailEnd/>
            </a:ln>
          </p:spPr>
        </p:pic>
      </p:grpSp>
      <p:grpSp>
        <p:nvGrpSpPr>
          <p:cNvPr id="3" name="Group 36"/>
          <p:cNvGrpSpPr>
            <a:grpSpLocks/>
          </p:cNvGrpSpPr>
          <p:nvPr/>
        </p:nvGrpSpPr>
        <p:grpSpPr bwMode="auto">
          <a:xfrm>
            <a:off x="300038" y="1370014"/>
            <a:ext cx="8772529" cy="5253037"/>
            <a:chOff x="306388" y="997840"/>
            <a:chExt cx="8772275" cy="5253037"/>
          </a:xfrm>
        </p:grpSpPr>
        <p:sp>
          <p:nvSpPr>
            <p:cNvPr id="8" name="AutoShape 39"/>
            <p:cNvSpPr>
              <a:spLocks noChangeArrowheads="1"/>
            </p:cNvSpPr>
            <p:nvPr/>
          </p:nvSpPr>
          <p:spPr bwMode="auto">
            <a:xfrm>
              <a:off x="306388" y="997840"/>
              <a:ext cx="3357465" cy="4945062"/>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anchor="ctr"/>
            <a:lstStyle/>
            <a:p>
              <a:pPr algn="ctr"/>
              <a:r>
                <a:rPr lang="fr-FR" sz="2200" b="1" u="sng" dirty="0"/>
                <a:t>Périphériques et imprimantes </a:t>
              </a:r>
            </a:p>
            <a:p>
              <a:pPr marL="231775" indent="-231775">
                <a:lnSpc>
                  <a:spcPct val="90000"/>
                </a:lnSpc>
                <a:spcBef>
                  <a:spcPct val="40000"/>
                </a:spcBef>
                <a:buSzPct val="90000"/>
                <a:buFont typeface="Wingdings" pitchFamily="2" charset="2"/>
                <a:buChar char="§"/>
                <a:defRPr/>
              </a:pPr>
              <a:r>
                <a:rPr lang="fr-FR" sz="2200" dirty="0"/>
                <a:t>fournit un endroit supplémentaire pour gérer des périphériques.</a:t>
              </a:r>
            </a:p>
            <a:p>
              <a:pPr marL="231775" indent="-231775">
                <a:lnSpc>
                  <a:spcPct val="90000"/>
                </a:lnSpc>
                <a:spcBef>
                  <a:spcPct val="40000"/>
                </a:spcBef>
                <a:buSzPct val="90000"/>
                <a:buFont typeface="Wingdings" pitchFamily="2" charset="2"/>
                <a:buChar char="§"/>
                <a:defRPr/>
              </a:pPr>
              <a:r>
                <a:rPr lang="en-US" sz="2200" b="0" dirty="0"/>
                <a:t>Les </a:t>
              </a:r>
              <a:r>
                <a:rPr lang="en-US" sz="2200" b="0" dirty="0" err="1"/>
                <a:t>périphériques</a:t>
              </a:r>
              <a:r>
                <a:rPr lang="en-US" sz="2200" b="0" dirty="0"/>
                <a:t> qui </a:t>
              </a:r>
              <a:r>
                <a:rPr lang="en-US" sz="2200" b="0" dirty="0" err="1"/>
                <a:t>s’affichent</a:t>
              </a:r>
              <a:r>
                <a:rPr lang="en-US" sz="2200" b="0" dirty="0"/>
                <a:t> </a:t>
              </a:r>
              <a:r>
                <a:rPr lang="en-US" sz="2200" b="0" dirty="0" err="1"/>
                <a:t>dans</a:t>
              </a:r>
              <a:r>
                <a:rPr lang="en-US" sz="2200" b="0" dirty="0"/>
                <a:t> </a:t>
              </a:r>
              <a:r>
                <a:rPr lang="en-US" sz="2200" b="0" dirty="0" err="1"/>
                <a:t>cet</a:t>
              </a:r>
              <a:r>
                <a:rPr lang="en-US" sz="2200" b="0" dirty="0"/>
                <a:t> emplacement </a:t>
              </a:r>
              <a:r>
                <a:rPr lang="fr-FR" sz="2200" dirty="0"/>
                <a:t>sont en général des périphériques externes que vous connectez ou déconnectez de l'ordinateur via un port ou une connexion réseau</a:t>
              </a:r>
              <a:endParaRPr lang="en-GB" sz="2200" b="0" dirty="0"/>
            </a:p>
          </p:txBody>
        </p:sp>
        <p:pic>
          <p:nvPicPr>
            <p:cNvPr id="29723" name="Picture 31"/>
            <p:cNvPicPr>
              <a:picLocks noChangeAspect="1" noChangeArrowheads="1"/>
            </p:cNvPicPr>
            <p:nvPr/>
          </p:nvPicPr>
          <p:blipFill>
            <a:blip r:embed="rId4"/>
            <a:srcRect/>
            <a:stretch>
              <a:fillRect/>
            </a:stretch>
          </p:blipFill>
          <p:spPr bwMode="auto">
            <a:xfrm>
              <a:off x="3716086" y="1021652"/>
              <a:ext cx="5362577" cy="5229225"/>
            </a:xfrm>
            <a:prstGeom prst="rect">
              <a:avLst/>
            </a:prstGeom>
            <a:noFill/>
            <a:ln w="9525">
              <a:noFill/>
              <a:miter lim="800000"/>
              <a:headEnd/>
              <a:tailEnd/>
            </a:ln>
          </p:spPr>
        </p:pic>
      </p:grpSp>
      <p:sp>
        <p:nvSpPr>
          <p:cNvPr id="29702" name="Rectangle 2"/>
          <p:cNvSpPr>
            <a:spLocks noGrp="1" noChangeArrowheads="1"/>
          </p:cNvSpPr>
          <p:nvPr>
            <p:ph type="title"/>
          </p:nvPr>
        </p:nvSpPr>
        <p:spPr>
          <a:noFill/>
          <a:ln/>
        </p:spPr>
        <p:txBody>
          <a:bodyPr vert="horz" anchor="b">
            <a:normAutofit/>
          </a:bodyPr>
          <a:lstStyle/>
          <a:p>
            <a:r>
              <a:rPr lang="en-US" sz="2800" dirty="0" err="1">
                <a:solidFill>
                  <a:srgbClr val="C00000"/>
                </a:solidFill>
              </a:rPr>
              <a:t>Outils</a:t>
            </a:r>
            <a:r>
              <a:rPr lang="en-US" sz="2800" dirty="0">
                <a:solidFill>
                  <a:srgbClr val="C00000"/>
                </a:solidFill>
              </a:rPr>
              <a:t> de </a:t>
            </a:r>
            <a:r>
              <a:rPr lang="en-US" sz="2800" dirty="0" err="1">
                <a:solidFill>
                  <a:srgbClr val="C00000"/>
                </a:solidFill>
              </a:rPr>
              <a:t>gestion</a:t>
            </a:r>
            <a:r>
              <a:rPr lang="en-US" sz="2800" dirty="0">
                <a:solidFill>
                  <a:srgbClr val="C00000"/>
                </a:solidFill>
              </a:rPr>
              <a:t> de </a:t>
            </a:r>
            <a:r>
              <a:rPr lang="en-US" sz="2800" dirty="0" err="1">
                <a:solidFill>
                  <a:srgbClr val="C00000"/>
                </a:solidFill>
              </a:rPr>
              <a:t>pilotes</a:t>
            </a:r>
            <a:r>
              <a:rPr lang="en-US" sz="2800" dirty="0">
                <a:solidFill>
                  <a:srgbClr val="C00000"/>
                </a:solidFill>
              </a:rPr>
              <a:t> de </a:t>
            </a:r>
            <a:r>
              <a:rPr lang="en-US" sz="2800" dirty="0" err="1">
                <a:solidFill>
                  <a:srgbClr val="C00000"/>
                </a:solidFill>
              </a:rPr>
              <a:t>périphériques</a:t>
            </a:r>
            <a:endParaRPr lang="en-US" sz="2800" dirty="0">
              <a:solidFill>
                <a:srgbClr val="C00000"/>
              </a:solidFill>
            </a:endParaRPr>
          </a:p>
        </p:txBody>
      </p:sp>
      <p:grpSp>
        <p:nvGrpSpPr>
          <p:cNvPr id="12" name="Group 7"/>
          <p:cNvGrpSpPr>
            <a:grpSpLocks/>
          </p:cNvGrpSpPr>
          <p:nvPr/>
        </p:nvGrpSpPr>
        <p:grpSpPr bwMode="auto">
          <a:xfrm>
            <a:off x="406400" y="5895975"/>
            <a:ext cx="914400" cy="425450"/>
            <a:chOff x="384" y="3024"/>
            <a:chExt cx="720" cy="336"/>
          </a:xfrm>
        </p:grpSpPr>
        <p:sp>
          <p:nvSpPr>
            <p:cNvPr id="19" name="Oval 8"/>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sz="2000" dirty="0">
                <a:cs typeface="+mn-cs"/>
              </a:endParaRPr>
            </a:p>
          </p:txBody>
        </p:sp>
        <p:grpSp>
          <p:nvGrpSpPr>
            <p:cNvPr id="13" name="Group 9"/>
            <p:cNvGrpSpPr>
              <a:grpSpLocks/>
            </p:cNvGrpSpPr>
            <p:nvPr/>
          </p:nvGrpSpPr>
          <p:grpSpPr bwMode="auto">
            <a:xfrm>
              <a:off x="480" y="3096"/>
              <a:ext cx="240" cy="192"/>
              <a:chOff x="480" y="3096"/>
              <a:chExt cx="240" cy="192"/>
            </a:xfrm>
          </p:grpSpPr>
          <p:sp>
            <p:nvSpPr>
              <p:cNvPr id="29709" name="Oval 10"/>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fr-FR" sz="2000"/>
              </a:p>
            </p:txBody>
          </p:sp>
          <p:sp>
            <p:nvSpPr>
              <p:cNvPr id="22" name="Freeform 11"/>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 name="T12" fmla="*/ 0 w 432"/>
                  <a:gd name="T13" fmla="*/ 0 h 576"/>
                  <a:gd name="T14" fmla="*/ 432 w 432"/>
                  <a:gd name="T15" fmla="*/ 576 h 576"/>
                </a:gdLst>
                <a:ahLst/>
                <a:cxnLst>
                  <a:cxn ang="T8">
                    <a:pos x="T0" y="T1"/>
                  </a:cxn>
                  <a:cxn ang="T9">
                    <a:pos x="T2" y="T3"/>
                  </a:cxn>
                  <a:cxn ang="T10">
                    <a:pos x="T4" y="T5"/>
                  </a:cxn>
                  <a:cxn ang="T11">
                    <a:pos x="T6" y="T7"/>
                  </a:cxn>
                </a:cxnLst>
                <a:rect l="T12" t="T13" r="T14" b="T15"/>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sz="2000"/>
              </a:p>
            </p:txBody>
          </p:sp>
        </p:grpSp>
      </p:grpSp>
      <p:grpSp>
        <p:nvGrpSpPr>
          <p:cNvPr id="14" name="Group 12"/>
          <p:cNvGrpSpPr>
            <a:grpSpLocks/>
          </p:cNvGrpSpPr>
          <p:nvPr/>
        </p:nvGrpSpPr>
        <p:grpSpPr bwMode="auto">
          <a:xfrm>
            <a:off x="958850" y="5986463"/>
            <a:ext cx="304800" cy="244475"/>
            <a:chOff x="768" y="3096"/>
            <a:chExt cx="240" cy="192"/>
          </a:xfrm>
        </p:grpSpPr>
        <p:sp>
          <p:nvSpPr>
            <p:cNvPr id="29705" name="Oval 13"/>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fr-FR" sz="2000"/>
            </a:p>
          </p:txBody>
        </p:sp>
        <p:sp>
          <p:nvSpPr>
            <p:cNvPr id="34" name="Rectangle 14"/>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sz="2000" dirty="0">
                <a:cs typeface="+mn-cs"/>
              </a:endParaRPr>
            </a:p>
          </p:txBody>
        </p:sp>
      </p:grpSp>
      <p:grpSp>
        <p:nvGrpSpPr>
          <p:cNvPr id="30" name="Group 39"/>
          <p:cNvGrpSpPr>
            <a:grpSpLocks/>
          </p:cNvGrpSpPr>
          <p:nvPr/>
        </p:nvGrpSpPr>
        <p:grpSpPr bwMode="auto">
          <a:xfrm>
            <a:off x="1173613" y="1269427"/>
            <a:ext cx="7538064" cy="5434238"/>
            <a:chOff x="1067615" y="1283270"/>
            <a:chExt cx="7627623" cy="5433838"/>
          </a:xfrm>
        </p:grpSpPr>
        <p:grpSp>
          <p:nvGrpSpPr>
            <p:cNvPr id="31" name="Group 35"/>
            <p:cNvGrpSpPr>
              <a:grpSpLocks/>
            </p:cNvGrpSpPr>
            <p:nvPr/>
          </p:nvGrpSpPr>
          <p:grpSpPr bwMode="auto">
            <a:xfrm>
              <a:off x="1067615" y="1283270"/>
              <a:ext cx="7627623" cy="5353230"/>
              <a:chOff x="1067615" y="1283270"/>
              <a:chExt cx="7627623" cy="5353230"/>
            </a:xfrm>
          </p:grpSpPr>
          <p:sp>
            <p:nvSpPr>
              <p:cNvPr id="33" name="AutoShape 39"/>
              <p:cNvSpPr>
                <a:spLocks noChangeArrowheads="1"/>
              </p:cNvSpPr>
              <p:nvPr/>
            </p:nvSpPr>
            <p:spPr bwMode="auto">
              <a:xfrm>
                <a:off x="1067615" y="1285676"/>
                <a:ext cx="2383254" cy="850837"/>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anchor="ctr"/>
              <a:lstStyle/>
              <a:p>
                <a:pPr algn="ctr">
                  <a:defRPr/>
                </a:pPr>
                <a:r>
                  <a:rPr lang="en-GB" sz="2200" b="1" dirty="0" err="1"/>
                  <a:t>Gestionnaire</a:t>
                </a:r>
                <a:r>
                  <a:rPr lang="en-GB" sz="2200" b="1" dirty="0"/>
                  <a:t> de </a:t>
                </a:r>
                <a:r>
                  <a:rPr lang="en-GB" sz="2200" b="1" dirty="0" err="1"/>
                  <a:t>périphériques</a:t>
                </a:r>
                <a:endParaRPr lang="en-GB" sz="2200" b="1" dirty="0"/>
              </a:p>
            </p:txBody>
          </p:sp>
          <p:grpSp>
            <p:nvGrpSpPr>
              <p:cNvPr id="36" name="Group 33"/>
              <p:cNvGrpSpPr>
                <a:grpSpLocks/>
              </p:cNvGrpSpPr>
              <p:nvPr/>
            </p:nvGrpSpPr>
            <p:grpSpPr bwMode="auto">
              <a:xfrm>
                <a:off x="4589141" y="1283270"/>
                <a:ext cx="4106097" cy="5353230"/>
                <a:chOff x="4636308" y="1283270"/>
                <a:chExt cx="4106097" cy="5353230"/>
              </a:xfrm>
            </p:grpSpPr>
            <p:sp>
              <p:nvSpPr>
                <p:cNvPr id="37" name="AutoShape 39"/>
                <p:cNvSpPr>
                  <a:spLocks noChangeArrowheads="1"/>
                </p:cNvSpPr>
                <p:nvPr/>
              </p:nvSpPr>
              <p:spPr bwMode="auto">
                <a:xfrm>
                  <a:off x="5279669" y="1283270"/>
                  <a:ext cx="2722271" cy="795423"/>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28398" dir="1593903" algn="ctr" rotWithShape="0">
                    <a:schemeClr val="tx1">
                      <a:alpha val="50000"/>
                    </a:schemeClr>
                  </a:outerShdw>
                </a:effectLst>
              </p:spPr>
              <p:txBody>
                <a:bodyPr wrap="square" anchor="ctr"/>
                <a:lstStyle/>
                <a:p>
                  <a:pPr algn="ctr">
                    <a:defRPr/>
                  </a:pPr>
                  <a:r>
                    <a:rPr lang="fr-FR" sz="2200" b="1" u="sng" dirty="0"/>
                    <a:t>Périphériques et imprimantes</a:t>
                  </a:r>
                  <a:endParaRPr lang="en-GB" sz="2200" u="sng" dirty="0"/>
                </a:p>
              </p:txBody>
            </p:sp>
            <p:pic>
              <p:nvPicPr>
                <p:cNvPr id="38" name="Picture 31"/>
                <p:cNvPicPr>
                  <a:picLocks noChangeAspect="1" noChangeArrowheads="1"/>
                </p:cNvPicPr>
                <p:nvPr/>
              </p:nvPicPr>
              <p:blipFill>
                <a:blip r:embed="rId4"/>
                <a:srcRect/>
                <a:stretch>
                  <a:fillRect/>
                </a:stretch>
              </p:blipFill>
              <p:spPr bwMode="auto">
                <a:xfrm>
                  <a:off x="4636308" y="2189406"/>
                  <a:ext cx="4106097" cy="4447094"/>
                </a:xfrm>
                <a:prstGeom prst="rect">
                  <a:avLst/>
                </a:prstGeom>
                <a:noFill/>
                <a:ln w="9525">
                  <a:noFill/>
                  <a:miter lim="800000"/>
                  <a:headEnd/>
                  <a:tailEnd/>
                </a:ln>
              </p:spPr>
            </p:pic>
          </p:grpSp>
        </p:grpSp>
        <p:pic>
          <p:nvPicPr>
            <p:cNvPr id="32" name="Picture 32"/>
            <p:cNvPicPr>
              <a:picLocks noChangeAspect="1" noChangeArrowheads="1"/>
            </p:cNvPicPr>
            <p:nvPr/>
          </p:nvPicPr>
          <p:blipFill>
            <a:blip r:embed="rId3"/>
            <a:srcRect/>
            <a:stretch>
              <a:fillRect/>
            </a:stretch>
          </p:blipFill>
          <p:spPr bwMode="auto">
            <a:xfrm>
              <a:off x="1081630" y="2316509"/>
              <a:ext cx="2372010" cy="4400599"/>
            </a:xfrm>
            <a:prstGeom prst="rect">
              <a:avLst/>
            </a:prstGeom>
            <a:noFill/>
            <a:ln w="9525">
              <a:noFill/>
              <a:miter lim="800000"/>
              <a:headEnd/>
              <a:tailEnd/>
            </a:ln>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1000"/>
                                        <p:tgtEl>
                                          <p:spTgt spid="2"/>
                                        </p:tgtEl>
                                        <p:attrNameLst>
                                          <p:attrName>ppt_x</p:attrName>
                                        </p:attrNameLst>
                                      </p:cBhvr>
                                      <p:tavLst>
                                        <p:tav tm="0">
                                          <p:val>
                                            <p:strVal val="ppt_x"/>
                                          </p:val>
                                        </p:tav>
                                        <p:tav tm="100000">
                                          <p:val>
                                            <p:strVal val="ppt_x"/>
                                          </p:val>
                                        </p:tav>
                                      </p:tavLst>
                                    </p:anim>
                                    <p:anim calcmode="lin" valueType="num">
                                      <p:cBhvr additive="base">
                                        <p:cTn id="7" dur="1000"/>
                                        <p:tgtEl>
                                          <p:spTgt spid="2"/>
                                        </p:tgtEl>
                                        <p:attrNameLst>
                                          <p:attrName>ppt_y</p:attrName>
                                        </p:attrNameLst>
                                      </p:cBhvr>
                                      <p:tavLst>
                                        <p:tav tm="0">
                                          <p:val>
                                            <p:strVal val="ppt_y"/>
                                          </p:val>
                                        </p:tav>
                                        <p:tav tm="100000">
                                          <p:val>
                                            <p:strVal val="1+ppt_h/2"/>
                                          </p:val>
                                        </p:tav>
                                      </p:tavLst>
                                    </p:anim>
                                    <p:set>
                                      <p:cBhvr>
                                        <p:cTn id="8" dur="1" fill="hold">
                                          <p:stCondLst>
                                            <p:cond delay="999"/>
                                          </p:stCondLst>
                                        </p:cTn>
                                        <p:tgtEl>
                                          <p:spTgt spid="2"/>
                                        </p:tgtEl>
                                        <p:attrNameLst>
                                          <p:attrName>style.visibility</p:attrName>
                                        </p:attrNameLst>
                                      </p:cBhvr>
                                      <p:to>
                                        <p:strVal val="hidden"/>
                                      </p:to>
                                    </p:set>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xit" presetSubtype="4" fill="hold" nodeType="clickEffect">
                                  <p:stCondLst>
                                    <p:cond delay="0"/>
                                  </p:stCondLst>
                                  <p:childTnLst>
                                    <p:anim calcmode="lin" valueType="num">
                                      <p:cBhvr additive="base">
                                        <p:cTn id="16" dur="1000"/>
                                        <p:tgtEl>
                                          <p:spTgt spid="3"/>
                                        </p:tgtEl>
                                        <p:attrNameLst>
                                          <p:attrName>ppt_x</p:attrName>
                                        </p:attrNameLst>
                                      </p:cBhvr>
                                      <p:tavLst>
                                        <p:tav tm="0">
                                          <p:val>
                                            <p:strVal val="ppt_x"/>
                                          </p:val>
                                        </p:tav>
                                        <p:tav tm="100000">
                                          <p:val>
                                            <p:strVal val="ppt_x"/>
                                          </p:val>
                                        </p:tav>
                                      </p:tavLst>
                                    </p:anim>
                                    <p:anim calcmode="lin" valueType="num">
                                      <p:cBhvr additive="base">
                                        <p:cTn id="17" dur="1000"/>
                                        <p:tgtEl>
                                          <p:spTgt spid="3"/>
                                        </p:tgtEl>
                                        <p:attrNameLst>
                                          <p:attrName>ppt_y</p:attrName>
                                        </p:attrNameLst>
                                      </p:cBhvr>
                                      <p:tavLst>
                                        <p:tav tm="0">
                                          <p:val>
                                            <p:strVal val="ppt_y"/>
                                          </p:val>
                                        </p:tav>
                                        <p:tav tm="100000">
                                          <p:val>
                                            <p:strVal val="1+ppt_h/2"/>
                                          </p:val>
                                        </p:tav>
                                      </p:tavLst>
                                    </p:anim>
                                    <p:set>
                                      <p:cBhvr>
                                        <p:cTn id="18" dur="1" fill="hold">
                                          <p:stCondLst>
                                            <p:cond delay="999"/>
                                          </p:stCondLst>
                                        </p:cTn>
                                        <p:tgtEl>
                                          <p:spTgt spid="3"/>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5" presetClass="entr" presetSubtype="1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checkerboard(across)">
                                      <p:cBhvr>
                                        <p:cTn id="2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80" name="Rectangle 4"/>
          <p:cNvSpPr>
            <a:spLocks noGrp="1" noChangeArrowheads="1"/>
          </p:cNvSpPr>
          <p:nvPr>
            <p:ph type="title"/>
          </p:nvPr>
        </p:nvSpPr>
        <p:spPr/>
        <p:txBody>
          <a:bodyPr/>
          <a:lstStyle/>
          <a:p>
            <a:r>
              <a:rPr lang="en-US" dirty="0">
                <a:cs typeface="Times New Roman" pitchFamily="18" charset="0"/>
              </a:rPr>
              <a:t>2. </a:t>
            </a:r>
            <a:r>
              <a:rPr lang="fr-FR" dirty="0">
                <a:cs typeface="Times New Roman" pitchFamily="18" charset="0"/>
              </a:rPr>
              <a:t>Utilisation des pilotes</a:t>
            </a:r>
            <a:endParaRPr lang="en-US" dirty="0"/>
          </a:p>
        </p:txBody>
      </p:sp>
      <p:sp>
        <p:nvSpPr>
          <p:cNvPr id="203781" name="Rectangle 5"/>
          <p:cNvSpPr>
            <a:spLocks noGrp="1" noChangeArrowheads="1"/>
          </p:cNvSpPr>
          <p:nvPr>
            <p:ph sz="quarter" idx="1"/>
          </p:nvPr>
        </p:nvSpPr>
        <p:spPr>
          <a:xfrm>
            <a:off x="329461" y="2524575"/>
            <a:ext cx="8503920" cy="2158261"/>
          </a:xfrm>
        </p:spPr>
        <p:txBody>
          <a:bodyPr>
            <a:normAutofit/>
          </a:bodyPr>
          <a:lstStyle/>
          <a:p>
            <a:pPr>
              <a:buClr>
                <a:schemeClr val="tx1"/>
              </a:buClr>
              <a:buFont typeface="Symbol" pitchFamily="18" charset="2"/>
              <a:buChar char="®"/>
            </a:pPr>
            <a:endParaRPr lang="fr-FR" sz="2800" dirty="0"/>
          </a:p>
          <a:p>
            <a:pPr>
              <a:buClr>
                <a:schemeClr val="tx1"/>
              </a:buClr>
              <a:buFont typeface="Symbol" pitchFamily="18" charset="2"/>
              <a:buChar char="®"/>
            </a:pPr>
            <a:r>
              <a:rPr lang="fr-FR" sz="2800" dirty="0"/>
              <a:t>Options de mise à jour de pilotes</a:t>
            </a:r>
          </a:p>
          <a:p>
            <a:pPr>
              <a:buClr>
                <a:schemeClr val="tx1"/>
              </a:buClr>
              <a:buFont typeface="Symbol" pitchFamily="18" charset="2"/>
              <a:buChar char="®"/>
            </a:pPr>
            <a:r>
              <a:rPr lang="fr-FR" sz="2800" dirty="0"/>
              <a:t>Gestion des pilotes signés</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vert="horz" anchor="b">
            <a:normAutofit/>
          </a:bodyPr>
          <a:lstStyle/>
          <a:p>
            <a:r>
              <a:rPr lang="fr-FR" sz="2800" dirty="0">
                <a:solidFill>
                  <a:srgbClr val="C00000"/>
                </a:solidFill>
              </a:rPr>
              <a:t>Options de mise à jour de pilotes</a:t>
            </a:r>
            <a:endParaRPr lang="en-US" sz="2800" dirty="0">
              <a:solidFill>
                <a:srgbClr val="C00000"/>
              </a:solidFill>
            </a:endParaRPr>
          </a:p>
        </p:txBody>
      </p:sp>
      <p:sp>
        <p:nvSpPr>
          <p:cNvPr id="4" name="AutoShape 5"/>
          <p:cNvSpPr>
            <a:spLocks noChangeArrowheads="1"/>
          </p:cNvSpPr>
          <p:nvPr/>
        </p:nvSpPr>
        <p:spPr bwMode="auto">
          <a:xfrm>
            <a:off x="277091" y="1530935"/>
            <a:ext cx="8483600" cy="5119248"/>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defRPr/>
            </a:pPr>
            <a:r>
              <a:rPr lang="en-US" sz="2200" b="1" dirty="0" err="1">
                <a:solidFill>
                  <a:srgbClr val="000000"/>
                </a:solidFill>
                <a:cs typeface="Times New Roman" pitchFamily="18" charset="0"/>
              </a:rPr>
              <a:t>Mise</a:t>
            </a:r>
            <a:r>
              <a:rPr lang="en-US" sz="2200" b="1" dirty="0">
                <a:solidFill>
                  <a:srgbClr val="000000"/>
                </a:solidFill>
                <a:cs typeface="Times New Roman" pitchFamily="18" charset="0"/>
              </a:rPr>
              <a:t> à jour </a:t>
            </a:r>
            <a:r>
              <a:rPr lang="en-US" sz="2200" b="1" dirty="0" err="1">
                <a:solidFill>
                  <a:srgbClr val="000000"/>
                </a:solidFill>
                <a:cs typeface="Times New Roman" pitchFamily="18" charset="0"/>
              </a:rPr>
              <a:t>dynamique</a:t>
            </a:r>
            <a:endParaRPr lang="en-US" sz="2200" b="1"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ts val="1800"/>
              </a:spcBef>
              <a:defRPr/>
            </a:pPr>
            <a:r>
              <a:rPr lang="en-US" sz="2200" b="1" dirty="0" err="1">
                <a:solidFill>
                  <a:srgbClr val="000000"/>
                </a:solidFill>
                <a:cs typeface="Times New Roman" pitchFamily="18" charset="0"/>
              </a:rPr>
              <a:t>Mise</a:t>
            </a:r>
            <a:r>
              <a:rPr lang="en-US" sz="2200" b="1" dirty="0">
                <a:solidFill>
                  <a:srgbClr val="000000"/>
                </a:solidFill>
                <a:cs typeface="Times New Roman" pitchFamily="18" charset="0"/>
              </a:rPr>
              <a:t> à jour de Windows</a:t>
            </a: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r>
              <a:rPr lang="fr-FR" sz="2200" b="1" dirty="0">
                <a:solidFill>
                  <a:srgbClr val="000000"/>
                </a:solidFill>
                <a:cs typeface="Times New Roman" pitchFamily="18" charset="0"/>
              </a:rPr>
              <a:t>Médias ou le site Web du fabricant</a:t>
            </a:r>
            <a:endParaRPr lang="en-US" sz="2200" b="1"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ts val="600"/>
              </a:spcBef>
              <a:defRPr/>
            </a:pPr>
            <a:endParaRPr lang="en-US" sz="2200" b="1" dirty="0">
              <a:solidFill>
                <a:srgbClr val="000000"/>
              </a:solidFill>
              <a:cs typeface="Times New Roman" pitchFamily="18" charset="0"/>
            </a:endParaRPr>
          </a:p>
          <a:p>
            <a:pPr marL="58738">
              <a:lnSpc>
                <a:spcPct val="90000"/>
              </a:lnSpc>
              <a:spcBef>
                <a:spcPts val="600"/>
              </a:spcBef>
              <a:defRPr/>
            </a:pPr>
            <a:r>
              <a:rPr lang="en-US" sz="2200" b="1" dirty="0" err="1">
                <a:solidFill>
                  <a:srgbClr val="000000"/>
                </a:solidFill>
                <a:cs typeface="Times New Roman" pitchFamily="18" charset="0"/>
              </a:rPr>
              <a:t>Gestionnaire</a:t>
            </a:r>
            <a:r>
              <a:rPr lang="en-US" sz="2200" b="1" dirty="0">
                <a:solidFill>
                  <a:srgbClr val="000000"/>
                </a:solidFill>
                <a:cs typeface="Times New Roman" pitchFamily="18" charset="0"/>
              </a:rPr>
              <a:t> de </a:t>
            </a:r>
            <a:r>
              <a:rPr lang="en-US" sz="2200" b="1" dirty="0" err="1">
                <a:solidFill>
                  <a:srgbClr val="000000"/>
                </a:solidFill>
                <a:cs typeface="Times New Roman" pitchFamily="18" charset="0"/>
              </a:rPr>
              <a:t>périphériques</a:t>
            </a:r>
            <a:endParaRPr lang="en-US" sz="2200" b="1"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p:txBody>
      </p:sp>
      <p:sp>
        <p:nvSpPr>
          <p:cNvPr id="5" name="AutoShape 6"/>
          <p:cNvSpPr>
            <a:spLocks noChangeArrowheads="1"/>
          </p:cNvSpPr>
          <p:nvPr/>
        </p:nvSpPr>
        <p:spPr bwMode="auto">
          <a:xfrm>
            <a:off x="719138" y="1954090"/>
            <a:ext cx="7750175" cy="99692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200" b="0" dirty="0"/>
              <a:t>Fonctionne avec Windows Update pour télécharger les correctifs critiques et pilotes de périphériques requis pour le processus d’installation</a:t>
            </a:r>
            <a:endParaRPr lang="en-US" sz="2200" b="0" dirty="0"/>
          </a:p>
        </p:txBody>
      </p:sp>
      <p:sp>
        <p:nvSpPr>
          <p:cNvPr id="8" name="AutoShape 6"/>
          <p:cNvSpPr>
            <a:spLocks noChangeArrowheads="1"/>
          </p:cNvSpPr>
          <p:nvPr/>
        </p:nvSpPr>
        <p:spPr bwMode="auto">
          <a:xfrm>
            <a:off x="514928" y="5830195"/>
            <a:ext cx="7750175" cy="56673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200" b="0" dirty="0"/>
              <a:t>Met à jour </a:t>
            </a:r>
            <a:r>
              <a:rPr lang="fr-FR" sz="2200" dirty="0"/>
              <a:t>manuellement </a:t>
            </a:r>
            <a:r>
              <a:rPr lang="fr-FR" sz="2200" b="0" dirty="0"/>
              <a:t>le logiciel du pilote pour le périphérique</a:t>
            </a:r>
            <a:endParaRPr lang="en-US" sz="2200" b="0" dirty="0"/>
          </a:p>
        </p:txBody>
      </p:sp>
      <p:sp>
        <p:nvSpPr>
          <p:cNvPr id="9" name="AutoShape 6"/>
          <p:cNvSpPr>
            <a:spLocks noChangeArrowheads="1"/>
          </p:cNvSpPr>
          <p:nvPr/>
        </p:nvSpPr>
        <p:spPr bwMode="auto">
          <a:xfrm>
            <a:off x="539029" y="4678096"/>
            <a:ext cx="7750175" cy="641350"/>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200" b="0" dirty="0"/>
              <a:t>Utiliser les médias ou accédez au site Web du fabricant de l’appareil pour obtenir un pilote mis à jour</a:t>
            </a:r>
            <a:endParaRPr lang="en-US" sz="2200" b="0" dirty="0"/>
          </a:p>
        </p:txBody>
      </p:sp>
      <p:sp>
        <p:nvSpPr>
          <p:cNvPr id="11" name="AutoShape 6"/>
          <p:cNvSpPr>
            <a:spLocks noChangeArrowheads="1"/>
          </p:cNvSpPr>
          <p:nvPr/>
        </p:nvSpPr>
        <p:spPr bwMode="auto">
          <a:xfrm>
            <a:off x="566738" y="3412425"/>
            <a:ext cx="7750175" cy="639762"/>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200" b="0" dirty="0"/>
              <a:t>Fournit des mises à jour de logicielles et des pilotes et fournit des options de mise à jour automatiques</a:t>
            </a:r>
            <a:endParaRPr lang="en-US" sz="2200" b="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r>
              <a:rPr lang="fr-FR" sz="2800" dirty="0">
                <a:solidFill>
                  <a:srgbClr val="C00000"/>
                </a:solidFill>
              </a:rPr>
              <a:t>Gestion des pilotes signés</a:t>
            </a:r>
          </a:p>
        </p:txBody>
      </p:sp>
      <p:sp>
        <p:nvSpPr>
          <p:cNvPr id="4" name="AutoShape 5"/>
          <p:cNvSpPr>
            <a:spLocks noChangeArrowheads="1"/>
          </p:cNvSpPr>
          <p:nvPr/>
        </p:nvSpPr>
        <p:spPr bwMode="auto">
          <a:xfrm>
            <a:off x="250650" y="2464524"/>
            <a:ext cx="4021788" cy="524468"/>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pPr>
              <a:defRPr/>
            </a:pPr>
            <a:r>
              <a:rPr lang="en-US" sz="2200" b="1" u="sng" dirty="0"/>
              <a:t>Gestion des </a:t>
            </a:r>
            <a:r>
              <a:rPr lang="en-US" sz="2200" b="1" u="sng" dirty="0" err="1"/>
              <a:t>pilotes</a:t>
            </a:r>
            <a:r>
              <a:rPr lang="en-US" sz="2200" b="1" u="sng" dirty="0"/>
              <a:t> </a:t>
            </a:r>
            <a:r>
              <a:rPr lang="en-US" sz="2200" b="1" u="sng" dirty="0" err="1"/>
              <a:t>signés</a:t>
            </a:r>
            <a:br>
              <a:rPr lang="en-US" sz="2200" dirty="0"/>
            </a:br>
            <a:endParaRPr lang="en-US" sz="2200" dirty="0"/>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a:defRPr/>
            </a:pPr>
            <a:endParaRPr lang="en-US" sz="2200" dirty="0"/>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a:p>
            <a:pPr marL="58738" algn="ctr">
              <a:lnSpc>
                <a:spcPct val="90000"/>
              </a:lnSpc>
              <a:spcBef>
                <a:spcPct val="40000"/>
              </a:spcBef>
              <a:defRPr/>
            </a:pPr>
            <a:endParaRPr lang="en-US" sz="2200" dirty="0">
              <a:solidFill>
                <a:srgbClr val="000000"/>
              </a:solidFill>
              <a:cs typeface="Times New Roman" pitchFamily="18" charset="0"/>
            </a:endParaRPr>
          </a:p>
          <a:p>
            <a:pPr algn="ctr">
              <a:defRPr/>
            </a:pPr>
            <a:endParaRPr lang="en-US" sz="2200" dirty="0"/>
          </a:p>
          <a:p>
            <a:pPr marL="58738">
              <a:lnSpc>
                <a:spcPct val="90000"/>
              </a:lnSpc>
              <a:spcBef>
                <a:spcPct val="40000"/>
              </a:spcBef>
              <a:defRPr/>
            </a:pPr>
            <a:endParaRPr lang="en-US" sz="2200" dirty="0">
              <a:solidFill>
                <a:srgbClr val="000000"/>
              </a:solidFill>
              <a:cs typeface="Times New Roman" pitchFamily="18" charset="0"/>
            </a:endParaRPr>
          </a:p>
        </p:txBody>
      </p:sp>
      <p:sp>
        <p:nvSpPr>
          <p:cNvPr id="6" name="AutoShape 6"/>
          <p:cNvSpPr>
            <a:spLocks noChangeArrowheads="1"/>
          </p:cNvSpPr>
          <p:nvPr/>
        </p:nvSpPr>
        <p:spPr bwMode="auto">
          <a:xfrm>
            <a:off x="4240413" y="1280564"/>
            <a:ext cx="4684962" cy="1008506"/>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200" b="0" dirty="0"/>
              <a:t>Amélioration de la sécurité</a:t>
            </a:r>
          </a:p>
          <a:p>
            <a:pPr marL="231775" indent="-231775">
              <a:lnSpc>
                <a:spcPct val="90000"/>
              </a:lnSpc>
              <a:spcBef>
                <a:spcPct val="40000"/>
              </a:spcBef>
              <a:buSzPct val="90000"/>
              <a:buFont typeface="Arial" pitchFamily="34" charset="0"/>
              <a:buChar char="•"/>
              <a:defRPr/>
            </a:pPr>
            <a:r>
              <a:rPr lang="fr-FR" sz="2200" b="0" dirty="0"/>
              <a:t>Réduction du coût de la prise en charge</a:t>
            </a:r>
          </a:p>
        </p:txBody>
      </p:sp>
      <p:sp>
        <p:nvSpPr>
          <p:cNvPr id="7" name="AutoShape 6"/>
          <p:cNvSpPr>
            <a:spLocks noChangeArrowheads="1"/>
          </p:cNvSpPr>
          <p:nvPr/>
        </p:nvSpPr>
        <p:spPr bwMode="auto">
          <a:xfrm>
            <a:off x="4371276" y="2420938"/>
            <a:ext cx="4554099" cy="673428"/>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200" b="0" dirty="0"/>
              <a:t>Utiliser </a:t>
            </a:r>
            <a:r>
              <a:rPr lang="fr-FR" sz="2200" b="1" dirty="0"/>
              <a:t>Sigverif.exe </a:t>
            </a:r>
            <a:r>
              <a:rPr lang="fr-FR" sz="2200" b="0" dirty="0"/>
              <a:t>pour rechercher les pilotes de périphériques non signés</a:t>
            </a:r>
            <a:endParaRPr lang="en-US" sz="2200" b="0" dirty="0"/>
          </a:p>
        </p:txBody>
      </p:sp>
      <p:pic>
        <p:nvPicPr>
          <p:cNvPr id="3" name="Image 2">
            <a:extLst>
              <a:ext uri="{FF2B5EF4-FFF2-40B4-BE49-F238E27FC236}">
                <a16:creationId xmlns:a16="http://schemas.microsoft.com/office/drawing/2014/main" id="{C254175B-2224-92DB-91AC-2CBAA0A35046}"/>
              </a:ext>
            </a:extLst>
          </p:cNvPr>
          <p:cNvPicPr>
            <a:picLocks noChangeAspect="1"/>
          </p:cNvPicPr>
          <p:nvPr/>
        </p:nvPicPr>
        <p:blipFill>
          <a:blip r:embed="rId3"/>
          <a:stretch>
            <a:fillRect/>
          </a:stretch>
        </p:blipFill>
        <p:spPr>
          <a:xfrm>
            <a:off x="1336747" y="3164446"/>
            <a:ext cx="6069058" cy="3629957"/>
          </a:xfrm>
          <a:prstGeom prst="rect">
            <a:avLst/>
          </a:prstGeom>
        </p:spPr>
      </p:pic>
      <p:sp>
        <p:nvSpPr>
          <p:cNvPr id="5" name="AutoShape 5">
            <a:extLst>
              <a:ext uri="{FF2B5EF4-FFF2-40B4-BE49-F238E27FC236}">
                <a16:creationId xmlns:a16="http://schemas.microsoft.com/office/drawing/2014/main" id="{C84B4D35-F439-0EAA-D216-C38F26E960EB}"/>
              </a:ext>
            </a:extLst>
          </p:cNvPr>
          <p:cNvSpPr>
            <a:spLocks noChangeArrowheads="1"/>
          </p:cNvSpPr>
          <p:nvPr/>
        </p:nvSpPr>
        <p:spPr bwMode="auto">
          <a:xfrm>
            <a:off x="218625" y="1291458"/>
            <a:ext cx="4021788" cy="869160"/>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pPr algn="ctr">
              <a:defRPr/>
            </a:pPr>
            <a:r>
              <a:rPr lang="fr-FR" sz="2200" b="1" u="sng" dirty="0"/>
              <a:t>Avantages de la signature de pilotes</a:t>
            </a:r>
            <a:endParaRPr lang="en-US" sz="2200" dirty="0">
              <a:solidFill>
                <a:srgbClr val="000000"/>
              </a:solidFill>
              <a:cs typeface="Times New Roman" pitchFamily="18" charset="0"/>
            </a:endParaRPr>
          </a:p>
        </p:txBody>
      </p:sp>
      <p:sp>
        <p:nvSpPr>
          <p:cNvPr id="8" name="AutoShape 6">
            <a:extLst>
              <a:ext uri="{FF2B5EF4-FFF2-40B4-BE49-F238E27FC236}">
                <a16:creationId xmlns:a16="http://schemas.microsoft.com/office/drawing/2014/main" id="{BBF59230-955D-07D3-C918-13BC834FC6D2}"/>
              </a:ext>
            </a:extLst>
          </p:cNvPr>
          <p:cNvSpPr>
            <a:spLocks noChangeArrowheads="1"/>
          </p:cNvSpPr>
          <p:nvPr/>
        </p:nvSpPr>
        <p:spPr bwMode="auto">
          <a:xfrm>
            <a:off x="301752" y="3747773"/>
            <a:ext cx="3811431" cy="1996535"/>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200" b="0" dirty="0"/>
              <a:t>Utilisez la commande </a:t>
            </a:r>
            <a:r>
              <a:rPr lang="fr-FR" sz="2200" b="1" dirty="0" err="1"/>
              <a:t>driverquery</a:t>
            </a:r>
            <a:r>
              <a:rPr lang="fr-FR" sz="2200" b="0" dirty="0"/>
              <a:t> avec le commutateur </a:t>
            </a:r>
            <a:r>
              <a:rPr lang="fr-FR" sz="2200" b="1" dirty="0"/>
              <a:t>/si </a:t>
            </a:r>
            <a:r>
              <a:rPr lang="fr-FR" sz="2200" b="0" dirty="0"/>
              <a:t>pour obtenir une liste de base des pilotes signés et non signés</a:t>
            </a:r>
            <a:endParaRPr lang="en-US" sz="2200" b="0" dirty="0"/>
          </a:p>
        </p:txBody>
      </p:sp>
      <p:pic>
        <p:nvPicPr>
          <p:cNvPr id="10" name="Image 9">
            <a:extLst>
              <a:ext uri="{FF2B5EF4-FFF2-40B4-BE49-F238E27FC236}">
                <a16:creationId xmlns:a16="http://schemas.microsoft.com/office/drawing/2014/main" id="{EA307563-5748-12F3-394F-890B9EE157C4}"/>
              </a:ext>
            </a:extLst>
          </p:cNvPr>
          <p:cNvPicPr>
            <a:picLocks noChangeAspect="1"/>
          </p:cNvPicPr>
          <p:nvPr/>
        </p:nvPicPr>
        <p:blipFill>
          <a:blip r:embed="rId4"/>
          <a:srcRect t="5655" r="32179"/>
          <a:stretch/>
        </p:blipFill>
        <p:spPr>
          <a:xfrm>
            <a:off x="4272437" y="3150079"/>
            <a:ext cx="4767485" cy="37200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par>
                          <p:cTn id="14" fill="hold">
                            <p:stCondLst>
                              <p:cond delay="0"/>
                            </p:stCondLst>
                            <p:childTnLst>
                              <p:par>
                                <p:cTn id="15" presetID="5" presetClass="entr" presetSubtype="1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500"/>
                                        <p:tgtEl>
                                          <p:spTgt spid="7"/>
                                        </p:tgtEl>
                                      </p:cBhvr>
                                    </p:animEffect>
                                  </p:childTnLst>
                                </p:cTn>
                              </p:par>
                              <p:par>
                                <p:cTn id="18" presetID="1" presetClass="entr" presetSubtype="0" fill="hold" nodeType="with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xit" presetSubtype="0" fill="hold" grpId="1" nodeType="withEffect">
                                  <p:stCondLst>
                                    <p:cond delay="0"/>
                                  </p:stCondLst>
                                  <p:childTnLst>
                                    <p:set>
                                      <p:cBhvr>
                                        <p:cTn id="25" dur="1" fill="hold">
                                          <p:stCondLst>
                                            <p:cond delay="0"/>
                                          </p:stCondLst>
                                        </p:cTn>
                                        <p:tgtEl>
                                          <p:spTgt spid="7"/>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3"/>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7" grpId="1" animBg="1"/>
      <p:bldP spid="5"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232476" y="284019"/>
            <a:ext cx="8662139" cy="865909"/>
          </a:xfrm>
        </p:spPr>
        <p:txBody>
          <a:bodyPr>
            <a:normAutofit fontScale="90000"/>
          </a:bodyPr>
          <a:lstStyle/>
          <a:p>
            <a:pPr marL="439738" indent="-439738"/>
            <a:r>
              <a:rPr lang="fr-FR" dirty="0">
                <a:cs typeface="Times New Roman" pitchFamily="18" charset="0"/>
              </a:rPr>
              <a:t>3. Résolution des problèmes liés aux périphériques matériels</a:t>
            </a:r>
            <a:endParaRPr lang="en-US" dirty="0"/>
          </a:p>
        </p:txBody>
      </p:sp>
      <p:sp>
        <p:nvSpPr>
          <p:cNvPr id="210947" name="Rectangle 3"/>
          <p:cNvSpPr>
            <a:spLocks noGrp="1" noChangeArrowheads="1"/>
          </p:cNvSpPr>
          <p:nvPr>
            <p:ph sz="quarter" idx="1"/>
          </p:nvPr>
        </p:nvSpPr>
        <p:spPr>
          <a:xfrm>
            <a:off x="190916" y="2413739"/>
            <a:ext cx="8503920" cy="2393788"/>
          </a:xfrm>
        </p:spPr>
        <p:txBody>
          <a:bodyPr/>
          <a:lstStyle/>
          <a:p>
            <a:r>
              <a:rPr lang="en-US" dirty="0">
                <a:cs typeface="Times New Roman" pitchFamily="18" charset="0"/>
              </a:rPr>
              <a:t>Options de </a:t>
            </a:r>
            <a:r>
              <a:rPr lang="en-US" dirty="0" err="1">
                <a:cs typeface="Times New Roman" pitchFamily="18" charset="0"/>
              </a:rPr>
              <a:t>récupération</a:t>
            </a:r>
            <a:r>
              <a:rPr lang="en-US" dirty="0">
                <a:cs typeface="Times New Roman" pitchFamily="18" charset="0"/>
              </a:rPr>
              <a:t> suite à un  </a:t>
            </a:r>
            <a:r>
              <a:rPr lang="en-US" dirty="0" err="1">
                <a:cs typeface="Times New Roman" pitchFamily="18" charset="0"/>
              </a:rPr>
              <a:t>problème</a:t>
            </a:r>
            <a:r>
              <a:rPr lang="en-US" dirty="0">
                <a:cs typeface="Times New Roman" pitchFamily="18" charset="0"/>
              </a:rPr>
              <a:t> du </a:t>
            </a:r>
            <a:r>
              <a:rPr lang="en-US" dirty="0" err="1">
                <a:cs typeface="Times New Roman" pitchFamily="18" charset="0"/>
              </a:rPr>
              <a:t>pilote</a:t>
            </a:r>
            <a:endParaRPr lang="en-US" dirty="0">
              <a:cs typeface="Times New Roman" pitchFamily="18" charset="0"/>
            </a:endParaRPr>
          </a:p>
          <a:p>
            <a:r>
              <a:rPr lang="fr-FR" dirty="0">
                <a:cs typeface="Times New Roman" pitchFamily="18" charset="0"/>
              </a:rPr>
              <a:t>Suppression de périphériques </a:t>
            </a:r>
            <a:endParaRPr lang="en-US" dirty="0">
              <a:cs typeface="Times New Roman" pitchFamily="18" charset="0"/>
            </a:endParaRPr>
          </a:p>
          <a:p>
            <a:pPr>
              <a:buFont typeface="Wingdings" pitchFamily="2" charset="2"/>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8" descr="C:\Users\tfrink.NORTHAMERICA\Pictures\MSL Approved graphics from Vendor Resource Toolkit\Graphics\ChatBubble.png"/>
          <p:cNvPicPr>
            <a:picLocks noChangeAspect="1" noChangeArrowheads="1"/>
          </p:cNvPicPr>
          <p:nvPr/>
        </p:nvPicPr>
        <p:blipFill>
          <a:blip r:embed="rId3"/>
          <a:srcRect/>
          <a:stretch>
            <a:fillRect/>
          </a:stretch>
        </p:blipFill>
        <p:spPr bwMode="auto">
          <a:xfrm>
            <a:off x="166255" y="1515557"/>
            <a:ext cx="8728364" cy="3527498"/>
          </a:xfrm>
          <a:prstGeom prst="rect">
            <a:avLst/>
          </a:prstGeom>
          <a:noFill/>
          <a:ln w="9525">
            <a:noFill/>
            <a:miter lim="800000"/>
            <a:headEnd/>
            <a:tailEnd/>
          </a:ln>
        </p:spPr>
      </p:pic>
      <p:sp>
        <p:nvSpPr>
          <p:cNvPr id="33795" name="Rectangle 2"/>
          <p:cNvSpPr>
            <a:spLocks noGrp="1" noChangeArrowheads="1"/>
          </p:cNvSpPr>
          <p:nvPr>
            <p:ph type="title"/>
          </p:nvPr>
        </p:nvSpPr>
        <p:spPr>
          <a:xfrm>
            <a:off x="371026" y="367146"/>
            <a:ext cx="8534400" cy="758952"/>
          </a:xfrm>
        </p:spPr>
        <p:txBody>
          <a:bodyPr vert="horz" anchor="b">
            <a:normAutofit fontScale="90000"/>
          </a:bodyPr>
          <a:lstStyle/>
          <a:p>
            <a:r>
              <a:rPr lang="en-US" sz="2800" dirty="0">
                <a:solidFill>
                  <a:srgbClr val="C00000"/>
                </a:solidFill>
              </a:rPr>
              <a:t>Options de </a:t>
            </a:r>
            <a:r>
              <a:rPr lang="en-US" sz="2800" dirty="0" err="1">
                <a:solidFill>
                  <a:srgbClr val="C00000"/>
                </a:solidFill>
              </a:rPr>
              <a:t>récupération</a:t>
            </a:r>
            <a:r>
              <a:rPr lang="en-US" sz="2800" dirty="0">
                <a:solidFill>
                  <a:srgbClr val="C00000"/>
                </a:solidFill>
              </a:rPr>
              <a:t> suite à un  </a:t>
            </a:r>
            <a:r>
              <a:rPr lang="en-US" sz="2800" dirty="0" err="1">
                <a:solidFill>
                  <a:srgbClr val="C00000"/>
                </a:solidFill>
              </a:rPr>
              <a:t>problème</a:t>
            </a:r>
            <a:r>
              <a:rPr lang="en-US" sz="2800" dirty="0">
                <a:solidFill>
                  <a:srgbClr val="C00000"/>
                </a:solidFill>
              </a:rPr>
              <a:t> du </a:t>
            </a:r>
            <a:r>
              <a:rPr lang="en-US" sz="2800" dirty="0" err="1">
                <a:solidFill>
                  <a:srgbClr val="C00000"/>
                </a:solidFill>
              </a:rPr>
              <a:t>pilote</a:t>
            </a:r>
            <a:endParaRPr lang="en-US" sz="2800" dirty="0">
              <a:solidFill>
                <a:srgbClr val="C00000"/>
              </a:solidFill>
            </a:endParaRPr>
          </a:p>
        </p:txBody>
      </p:sp>
      <p:pic>
        <p:nvPicPr>
          <p:cNvPr id="33796" name="Picture 9" descr="C:\Users\tfrink.NORTHAMERICA\Pictures\MSL Approved graphics from Vendor Resource Toolkit\Graphics\Collection_Group.png"/>
          <p:cNvPicPr>
            <a:picLocks noChangeAspect="1" noChangeArrowheads="1"/>
          </p:cNvPicPr>
          <p:nvPr/>
        </p:nvPicPr>
        <p:blipFill>
          <a:blip r:embed="rId4"/>
          <a:srcRect/>
          <a:stretch>
            <a:fillRect/>
          </a:stretch>
        </p:blipFill>
        <p:spPr bwMode="auto">
          <a:xfrm>
            <a:off x="839463" y="4539823"/>
            <a:ext cx="2605087" cy="1882775"/>
          </a:xfrm>
          <a:prstGeom prst="rect">
            <a:avLst/>
          </a:prstGeom>
          <a:noFill/>
          <a:ln w="9525">
            <a:noFill/>
            <a:miter lim="800000"/>
            <a:headEnd/>
            <a:tailEnd/>
          </a:ln>
        </p:spPr>
      </p:pic>
      <p:sp>
        <p:nvSpPr>
          <p:cNvPr id="33797" name="TextBox 10"/>
          <p:cNvSpPr txBox="1">
            <a:spLocks noChangeArrowheads="1"/>
          </p:cNvSpPr>
          <p:nvPr/>
        </p:nvSpPr>
        <p:spPr bwMode="auto">
          <a:xfrm>
            <a:off x="1939638" y="2042201"/>
            <a:ext cx="4932218" cy="1615827"/>
          </a:xfrm>
          <a:prstGeom prst="rect">
            <a:avLst/>
          </a:prstGeom>
          <a:noFill/>
          <a:ln w="9525">
            <a:noFill/>
            <a:miter lim="800000"/>
            <a:headEnd/>
            <a:tailEnd/>
          </a:ln>
        </p:spPr>
        <p:txBody>
          <a:bodyPr wrap="square">
            <a:spAutoFit/>
          </a:bodyPr>
          <a:lstStyle/>
          <a:p>
            <a:pPr marL="177800" indent="17463">
              <a:lnSpc>
                <a:spcPct val="150000"/>
              </a:lnSpc>
            </a:pPr>
            <a:r>
              <a:rPr lang="en-US" sz="2200" b="1" dirty="0" err="1"/>
              <a:t>Quelles</a:t>
            </a:r>
            <a:r>
              <a:rPr lang="en-US" sz="2200" b="1" dirty="0"/>
              <a:t> </a:t>
            </a:r>
            <a:r>
              <a:rPr lang="en-US" sz="2200" b="1" dirty="0" err="1"/>
              <a:t>sont</a:t>
            </a:r>
            <a:r>
              <a:rPr lang="en-US" sz="2200" b="1" dirty="0"/>
              <a:t> les </a:t>
            </a:r>
            <a:r>
              <a:rPr lang="en-US" sz="2200" b="1" dirty="0" err="1"/>
              <a:t>différentes</a:t>
            </a:r>
            <a:r>
              <a:rPr lang="en-US" sz="2200" b="1" dirty="0"/>
              <a:t> </a:t>
            </a:r>
            <a:r>
              <a:rPr lang="en-US" sz="2200" b="1" dirty="0" err="1"/>
              <a:t>façons</a:t>
            </a:r>
            <a:r>
              <a:rPr lang="en-US" sz="2200" b="1" dirty="0"/>
              <a:t> de </a:t>
            </a:r>
            <a:r>
              <a:rPr lang="en-US" sz="2200" b="1" dirty="0" err="1"/>
              <a:t>procéder</a:t>
            </a:r>
            <a:r>
              <a:rPr lang="en-US" sz="2200" b="1" dirty="0"/>
              <a:t> à </a:t>
            </a:r>
            <a:r>
              <a:rPr lang="en-US" sz="2200" b="1" dirty="0" err="1"/>
              <a:t>une</a:t>
            </a:r>
            <a:r>
              <a:rPr lang="en-US" sz="2200" b="1" dirty="0"/>
              <a:t> </a:t>
            </a:r>
            <a:r>
              <a:rPr lang="en-US" sz="2200" b="1" dirty="0" err="1"/>
              <a:t>récupération</a:t>
            </a:r>
            <a:r>
              <a:rPr lang="en-US" sz="2200" b="1" dirty="0"/>
              <a:t> suite à un </a:t>
            </a:r>
            <a:r>
              <a:rPr lang="en-US" sz="2200" b="1" dirty="0" err="1"/>
              <a:t>problème</a:t>
            </a:r>
            <a:r>
              <a:rPr lang="en-US" sz="2200" b="1" dirty="0"/>
              <a:t> du </a:t>
            </a:r>
            <a:r>
              <a:rPr lang="en-US" sz="2200" b="1" dirty="0" err="1"/>
              <a:t>pilote</a:t>
            </a:r>
            <a:r>
              <a:rPr lang="en-US" sz="2200" b="1"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371026" y="367146"/>
            <a:ext cx="8534400" cy="758952"/>
          </a:xfrm>
        </p:spPr>
        <p:txBody>
          <a:bodyPr vert="horz" anchor="b">
            <a:normAutofit fontScale="90000"/>
          </a:bodyPr>
          <a:lstStyle/>
          <a:p>
            <a:r>
              <a:rPr lang="en-US" sz="2800" dirty="0">
                <a:solidFill>
                  <a:srgbClr val="C00000"/>
                </a:solidFill>
              </a:rPr>
              <a:t>Options de </a:t>
            </a:r>
            <a:r>
              <a:rPr lang="en-US" sz="2800" dirty="0" err="1">
                <a:solidFill>
                  <a:srgbClr val="C00000"/>
                </a:solidFill>
              </a:rPr>
              <a:t>récupération</a:t>
            </a:r>
            <a:r>
              <a:rPr lang="en-US" sz="2800" dirty="0">
                <a:solidFill>
                  <a:srgbClr val="C00000"/>
                </a:solidFill>
              </a:rPr>
              <a:t> suite à un  </a:t>
            </a:r>
            <a:r>
              <a:rPr lang="en-US" sz="2800" dirty="0" err="1">
                <a:solidFill>
                  <a:srgbClr val="C00000"/>
                </a:solidFill>
              </a:rPr>
              <a:t>problème</a:t>
            </a:r>
            <a:r>
              <a:rPr lang="en-US" sz="2800" dirty="0">
                <a:solidFill>
                  <a:srgbClr val="C00000"/>
                </a:solidFill>
              </a:rPr>
              <a:t> du </a:t>
            </a:r>
            <a:r>
              <a:rPr lang="en-US" sz="2800" dirty="0" err="1">
                <a:solidFill>
                  <a:srgbClr val="C00000"/>
                </a:solidFill>
              </a:rPr>
              <a:t>pilote</a:t>
            </a:r>
            <a:endParaRPr lang="en-US" sz="2800" dirty="0">
              <a:solidFill>
                <a:srgbClr val="C00000"/>
              </a:solidFill>
            </a:endParaRPr>
          </a:p>
        </p:txBody>
      </p:sp>
      <p:sp>
        <p:nvSpPr>
          <p:cNvPr id="6" name="AutoShape 5"/>
          <p:cNvSpPr>
            <a:spLocks noChangeArrowheads="1"/>
          </p:cNvSpPr>
          <p:nvPr/>
        </p:nvSpPr>
        <p:spPr bwMode="auto">
          <a:xfrm>
            <a:off x="277091" y="1530935"/>
            <a:ext cx="8483600" cy="5119248"/>
          </a:xfrm>
          <a:prstGeom prst="roundRect">
            <a:avLst>
              <a:gd name="adj" fmla="val 4167"/>
            </a:avLst>
          </a:prstGeom>
          <a:gradFill rotWithShape="0">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lstStyle/>
          <a:p>
            <a:pPr marL="58738">
              <a:lnSpc>
                <a:spcPct val="90000"/>
              </a:lnSpc>
              <a:spcBef>
                <a:spcPct val="40000"/>
              </a:spcBef>
              <a:defRPr/>
            </a:pPr>
            <a:endParaRPr lang="en-US" sz="2200" dirty="0">
              <a:solidFill>
                <a:srgbClr val="000000"/>
              </a:solidFill>
              <a:cs typeface="Times New Roman" pitchFamily="18" charset="0"/>
            </a:endParaRPr>
          </a:p>
          <a:p>
            <a:pPr marL="58738">
              <a:lnSpc>
                <a:spcPct val="90000"/>
              </a:lnSpc>
              <a:spcBef>
                <a:spcPct val="40000"/>
              </a:spcBef>
              <a:defRPr/>
            </a:pPr>
            <a:endParaRPr lang="en-US" sz="2200" dirty="0">
              <a:solidFill>
                <a:srgbClr val="000000"/>
              </a:solidFill>
              <a:cs typeface="Times New Roman" pitchFamily="18" charset="0"/>
            </a:endParaRPr>
          </a:p>
        </p:txBody>
      </p:sp>
      <p:sp>
        <p:nvSpPr>
          <p:cNvPr id="7" name="AutoShape 6"/>
          <p:cNvSpPr>
            <a:spLocks noChangeArrowheads="1"/>
          </p:cNvSpPr>
          <p:nvPr/>
        </p:nvSpPr>
        <p:spPr bwMode="auto">
          <a:xfrm>
            <a:off x="566738" y="2106488"/>
            <a:ext cx="7750175" cy="3740130"/>
          </a:xfrm>
          <a:prstGeom prst="roundRect">
            <a:avLst>
              <a:gd name="adj" fmla="val 4167"/>
            </a:avLst>
          </a:prstGeom>
          <a:gradFill rotWithShape="1">
            <a:gsLst>
              <a:gs pos="0">
                <a:srgbClr val="E4CD9A"/>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tIns="137160" bIns="137160" anchor="ctr"/>
          <a:lstStyle/>
          <a:p>
            <a:pPr marL="231775" indent="-231775">
              <a:lnSpc>
                <a:spcPct val="90000"/>
              </a:lnSpc>
              <a:spcBef>
                <a:spcPct val="40000"/>
              </a:spcBef>
              <a:buSzPct val="90000"/>
              <a:buFont typeface="Arial" pitchFamily="34" charset="0"/>
              <a:buChar char="•"/>
              <a:defRPr/>
            </a:pPr>
            <a:r>
              <a:rPr lang="fr-FR" sz="2400" dirty="0"/>
              <a:t>Vous pouvez utiliser la fonction de </a:t>
            </a:r>
            <a:r>
              <a:rPr lang="fr-FR" sz="2400" b="1" u="sng" dirty="0"/>
              <a:t>restauration de la version précédente du pilote </a:t>
            </a:r>
            <a:r>
              <a:rPr lang="fr-FR" sz="2400" dirty="0"/>
              <a:t>pour effectuer une récupération à la suite d'un problème lié au périphérique.</a:t>
            </a:r>
          </a:p>
          <a:p>
            <a:pPr marL="231775" indent="-231775">
              <a:lnSpc>
                <a:spcPct val="90000"/>
              </a:lnSpc>
              <a:spcBef>
                <a:spcPct val="40000"/>
              </a:spcBef>
              <a:buSzPct val="90000"/>
              <a:buFont typeface="Arial" pitchFamily="34" charset="0"/>
              <a:buChar char="•"/>
              <a:defRPr/>
            </a:pPr>
            <a:r>
              <a:rPr lang="fr-FR" sz="2400" dirty="0"/>
              <a:t>Si la restauration du pilote n'est pas suffisante, vous pouvez utiliser l'outil </a:t>
            </a:r>
            <a:r>
              <a:rPr lang="fr-FR" sz="2400" b="1" u="sng" dirty="0"/>
              <a:t>Restauration du système</a:t>
            </a:r>
            <a:r>
              <a:rPr lang="fr-FR" sz="2400" dirty="0"/>
              <a:t>.</a:t>
            </a:r>
          </a:p>
          <a:p>
            <a:pPr marL="231775" indent="-231775">
              <a:lnSpc>
                <a:spcPct val="90000"/>
              </a:lnSpc>
              <a:spcBef>
                <a:spcPct val="40000"/>
              </a:spcBef>
              <a:buSzPct val="90000"/>
              <a:buFont typeface="Arial" pitchFamily="34" charset="0"/>
              <a:buChar char="•"/>
              <a:defRPr/>
            </a:pPr>
            <a:r>
              <a:rPr lang="fr-FR" sz="2400" dirty="0"/>
              <a:t>Utilisez l'option </a:t>
            </a:r>
            <a:r>
              <a:rPr lang="fr-FR" sz="2400" b="1" u="sng" dirty="0"/>
              <a:t>Dernière bonne configuration connue </a:t>
            </a:r>
            <a:r>
              <a:rPr lang="fr-FR" sz="2400" dirty="0"/>
              <a:t>comme moyen de restauration du système à une configuration précédente</a:t>
            </a:r>
            <a:endParaRPr lang="en-US" sz="2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checkerboard(across)">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checkerboard(across)">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checkerboard(across)">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3"/>
          <p:cNvSpPr>
            <a:spLocks noGrp="1" noChangeArrowheads="1"/>
          </p:cNvSpPr>
          <p:nvPr>
            <p:ph type="title"/>
          </p:nvPr>
        </p:nvSpPr>
        <p:spPr>
          <a:noFill/>
          <a:ln/>
        </p:spPr>
        <p:txBody>
          <a:bodyPr>
            <a:normAutofit/>
          </a:bodyPr>
          <a:lstStyle/>
          <a:p>
            <a:r>
              <a:rPr lang="fr-FR" sz="2800" dirty="0">
                <a:solidFill>
                  <a:srgbClr val="C00000"/>
                </a:solidFill>
              </a:rPr>
              <a:t>Suppression de périphériques</a:t>
            </a:r>
            <a:endParaRPr lang="en-US" sz="2800" dirty="0">
              <a:solidFill>
                <a:srgbClr val="C00000"/>
              </a:solidFill>
            </a:endParaRPr>
          </a:p>
        </p:txBody>
      </p:sp>
      <p:pic>
        <p:nvPicPr>
          <p:cNvPr id="1026" name="Picture 2"/>
          <p:cNvPicPr>
            <a:picLocks noChangeAspect="1" noChangeArrowheads="1"/>
          </p:cNvPicPr>
          <p:nvPr/>
        </p:nvPicPr>
        <p:blipFill>
          <a:blip r:embed="rId2"/>
          <a:srcRect l="81672" t="85606"/>
          <a:stretch>
            <a:fillRect/>
          </a:stretch>
        </p:blipFill>
        <p:spPr bwMode="auto">
          <a:xfrm>
            <a:off x="1842655" y="2161310"/>
            <a:ext cx="5710762" cy="2521527"/>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9"/>
            <a:ext cx="8503920" cy="3405170"/>
          </a:xfrm>
        </p:spPr>
        <p:txBody>
          <a:bodyPr>
            <a:normAutofit lnSpcReduction="10000"/>
          </a:bodyPr>
          <a:lstStyle/>
          <a:p>
            <a:pPr marL="179388" lvl="0" indent="-179388">
              <a:buClr>
                <a:schemeClr val="tx1"/>
              </a:buClr>
              <a:buFont typeface="+mj-lt"/>
              <a:buAutoNum type="arabicPeriod"/>
            </a:pPr>
            <a:r>
              <a:rPr lang="fr-FR" sz="2200" dirty="0"/>
              <a:t>Vous venez d'installer un nouveau périphérique sur un ordinateur exécutant Windows 7. Vous téléchargez et installez la version 2.2 du pilote de périphérique sur l'ordinateur, mais découvrez que le périphérique se comporte de manière erratique. Après avoir vérifié les forums de support technique, vous découvrez que vous pouvez résoudre le problème en utilisant la version 2.1 du pilote de périphérique, que vous pouvez également télécharger sur le site Web du fournisseur. Quelles mesures devez-vous prendre pour vous assurer que la version 2.1 de ce pilote de périphérique est utilisée à la place de la version 2.2?</a:t>
            </a:r>
          </a:p>
        </p:txBody>
      </p:sp>
      <p:sp>
        <p:nvSpPr>
          <p:cNvPr id="4" name="Rectangle 3"/>
          <p:cNvSpPr/>
          <p:nvPr/>
        </p:nvSpPr>
        <p:spPr>
          <a:xfrm>
            <a:off x="360216" y="4856341"/>
            <a:ext cx="8451273" cy="1446550"/>
          </a:xfrm>
          <a:prstGeom prst="rect">
            <a:avLst/>
          </a:prstGeom>
        </p:spPr>
        <p:txBody>
          <a:bodyPr wrap="square">
            <a:spAutoFit/>
          </a:bodyPr>
          <a:lstStyle/>
          <a:p>
            <a:r>
              <a:rPr lang="fr-FR" sz="2200" b="1" dirty="0"/>
              <a:t>Vous devez désinstaller la version 2.2 du pilote et le supprimer  du magasin de pilotes. Vous pouvez ensuite installer la version 2.1 du pilote de périphérique. Vous ne pouvez pas revenir à la version 2.1 car il n'a pas été installé sur l'ordinateur en premier lieu.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3474443"/>
          </a:xfrm>
        </p:spPr>
        <p:txBody>
          <a:bodyPr/>
          <a:lstStyle/>
          <a:p>
            <a:pPr marL="514350" lvl="0" indent="-514350">
              <a:buClr>
                <a:schemeClr val="tx1"/>
              </a:buClr>
              <a:buFont typeface="+mj-lt"/>
              <a:buAutoNum type="arabicPeriod" startAt="2"/>
            </a:pPr>
            <a:r>
              <a:rPr lang="fr-FR" dirty="0"/>
              <a:t>Vous êtes l'administrateur de 100 ordinateurs exécutant Windows 7 Professionnel. Un utilisateur annonce que son lecteur de DVD-ROM ne fonctionne plus. Après lui avoir demandé plus d'informations, vous découvrez que l'utilisateur a récemment mis à jour le pilote de son lecteur de DVD-ROM. Comment résoudrez-vous le problème de la manière la plus simple ?</a:t>
            </a:r>
          </a:p>
          <a:p>
            <a:endParaRPr lang="fr-FR" dirty="0"/>
          </a:p>
        </p:txBody>
      </p:sp>
      <p:sp>
        <p:nvSpPr>
          <p:cNvPr id="4" name="Rectangle 3"/>
          <p:cNvSpPr/>
          <p:nvPr/>
        </p:nvSpPr>
        <p:spPr>
          <a:xfrm>
            <a:off x="415635" y="5299686"/>
            <a:ext cx="8451273" cy="1015663"/>
          </a:xfrm>
          <a:prstGeom prst="rect">
            <a:avLst/>
          </a:prstGeom>
        </p:spPr>
        <p:txBody>
          <a:bodyPr wrap="square">
            <a:spAutoFit/>
          </a:bodyPr>
          <a:lstStyle/>
          <a:p>
            <a:r>
              <a:rPr lang="fr-FR" b="1" dirty="0"/>
              <a:t>La meilleure méthode serait d'utiliser la fonctionnalité de restauration de pilote pour rétablir le pilote initial.</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2850988"/>
          </a:xfrm>
        </p:spPr>
        <p:txBody>
          <a:bodyPr>
            <a:normAutofit/>
          </a:bodyPr>
          <a:lstStyle/>
          <a:p>
            <a:pPr marL="514350" indent="-514350">
              <a:buClr>
                <a:schemeClr val="tx1"/>
              </a:buClr>
              <a:buFont typeface="+mj-lt"/>
              <a:buAutoNum type="arabicPeriod" startAt="3"/>
            </a:pPr>
            <a:r>
              <a:rPr lang="fr-FR" dirty="0"/>
              <a:t>Un utilisateur de votre service graphique essaye d'utiliser sa caméra numérique USB, mais il ne peut pas la visualiser. Quel est l'utilitaire le plus approprié pour vérifier que la caméra est présente et que les pilotes appropriés sont installés sur cet ordinateur ?</a:t>
            </a:r>
          </a:p>
        </p:txBody>
      </p:sp>
      <p:sp>
        <p:nvSpPr>
          <p:cNvPr id="4" name="Rectangle 3"/>
          <p:cNvSpPr/>
          <p:nvPr/>
        </p:nvSpPr>
        <p:spPr>
          <a:xfrm>
            <a:off x="249381" y="4565624"/>
            <a:ext cx="8700655" cy="1938992"/>
          </a:xfrm>
          <a:prstGeom prst="rect">
            <a:avLst/>
          </a:prstGeom>
        </p:spPr>
        <p:txBody>
          <a:bodyPr wrap="square">
            <a:spAutoFit/>
          </a:bodyPr>
          <a:lstStyle/>
          <a:p>
            <a:r>
              <a:rPr lang="fr-FR" b="1" dirty="0"/>
              <a:t>Vous pouvez utiliser le Gestionnaire de périphériques, vous pouvez voir si le périphérique fonctionne correctement et que les pilotes appropriés sont installés.</a:t>
            </a:r>
          </a:p>
          <a:p>
            <a:r>
              <a:rPr lang="fr-FR" b="1" dirty="0"/>
              <a:t>Vous pouvez aussi utilisez la fonctionnalité </a:t>
            </a:r>
            <a:r>
              <a:rPr lang="fr-FR" b="1" dirty="0" err="1"/>
              <a:t>Device</a:t>
            </a:r>
            <a:r>
              <a:rPr lang="fr-FR" b="1" dirty="0"/>
              <a:t> Stage</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sp>
        <p:nvSpPr>
          <p:cNvPr id="3" name="Espace réservé du contenu 2"/>
          <p:cNvSpPr>
            <a:spLocks noGrp="1"/>
          </p:cNvSpPr>
          <p:nvPr>
            <p:ph sz="quarter" idx="1"/>
          </p:nvPr>
        </p:nvSpPr>
        <p:spPr>
          <a:xfrm>
            <a:off x="301752" y="1527048"/>
            <a:ext cx="8503920" cy="3100370"/>
          </a:xfrm>
        </p:spPr>
        <p:txBody>
          <a:bodyPr/>
          <a:lstStyle/>
          <a:p>
            <a:pPr marL="514350" indent="-514350">
              <a:buClr>
                <a:schemeClr val="tx1"/>
              </a:buClr>
              <a:buFont typeface="+mj-lt"/>
              <a:buAutoNum type="arabicPeriod" startAt="4"/>
            </a:pPr>
            <a:r>
              <a:rPr lang="fr-FR" dirty="0"/>
              <a:t>Un utilisateur se sert d'une caméra PC USB pour de la vidéoconférence et doit déplacer chaque jour la caméra entre deux ordinateurs. Il craint que le redémarrage de chaque ordinateur lui prenne trop de temps lorsque la caméra est déplacée d'un ordinateur à un autre. Que pouvez-vous répondre à cet utilisateur ?</a:t>
            </a:r>
          </a:p>
        </p:txBody>
      </p:sp>
      <p:sp>
        <p:nvSpPr>
          <p:cNvPr id="4" name="Rectangle 3"/>
          <p:cNvSpPr/>
          <p:nvPr/>
        </p:nvSpPr>
        <p:spPr>
          <a:xfrm>
            <a:off x="193963" y="4528756"/>
            <a:ext cx="8783782" cy="1938992"/>
          </a:xfrm>
          <a:prstGeom prst="rect">
            <a:avLst/>
          </a:prstGeom>
        </p:spPr>
        <p:txBody>
          <a:bodyPr wrap="square">
            <a:spAutoFit/>
          </a:bodyPr>
          <a:lstStyle/>
          <a:p>
            <a:r>
              <a:rPr lang="fr-FR" b="1" dirty="0"/>
              <a:t>La plupart des périphériques USB sont dotés de la fonctionnalité Plug-and-Play. Cet utilisateur n'a donc pas besoin de redémarrer l'ordinateur lorsqu'il connecte et déconnecte son périphérique USB</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6916</TotalTime>
  <Words>4288</Words>
  <Application>Microsoft Office PowerPoint</Application>
  <PresentationFormat>Affichage à l'écran (4:3)</PresentationFormat>
  <Paragraphs>256</Paragraphs>
  <Slides>20</Slides>
  <Notes>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Georgia</vt:lpstr>
      <vt:lpstr>Times New Roman</vt:lpstr>
      <vt:lpstr>Arial Narrow</vt:lpstr>
      <vt:lpstr>Wingdings</vt:lpstr>
      <vt:lpstr>Wingdings 2</vt:lpstr>
      <vt:lpstr>Symbol</vt:lpstr>
      <vt:lpstr>Arial</vt:lpstr>
      <vt:lpstr>Civil</vt:lpstr>
      <vt:lpstr>Chapitre 3 Configuration du matériel sur un ordinateur exécutant Windows 7 Professionnel</vt:lpstr>
      <vt:lpstr>Plan du cours</vt:lpstr>
      <vt:lpstr>Vue d'ensemble des pilotes de périphériques dans Windows 7</vt:lpstr>
      <vt:lpstr>2. Installation et configuration de périphériques matériels</vt:lpstr>
      <vt:lpstr>Installation de périphériques  plug and play</vt:lpstr>
      <vt:lpstr>Installation de périphériques non plug and play</vt:lpstr>
      <vt:lpstr>Les nouveautés</vt:lpstr>
      <vt:lpstr>Processus de détection des pilotes </vt:lpstr>
      <vt:lpstr>Outils de gestion de pilotes de périphériques</vt:lpstr>
      <vt:lpstr>2. Utilisation des pilotes</vt:lpstr>
      <vt:lpstr>Options de mise à jour de pilotes</vt:lpstr>
      <vt:lpstr>Gestion des pilotes signés</vt:lpstr>
      <vt:lpstr>3. Résolution des problèmes liés aux périphériques matériels</vt:lpstr>
      <vt:lpstr>Options de récupération suite à un  problème du pilote</vt:lpstr>
      <vt:lpstr>Options de récupération suite à un  problème du pilote</vt:lpstr>
      <vt:lpstr>Suppression de périphériques</vt:lpstr>
      <vt:lpstr>Exercices</vt:lpstr>
      <vt:lpstr>Exercices</vt:lpstr>
      <vt:lpstr>Exercices</vt:lpstr>
      <vt:lpstr>Exercices</vt:lpstr>
    </vt:vector>
  </TitlesOfParts>
  <Company>Daves+Associates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Configuring Hardware on a Computer Running Microsoft Window XP Professional</dc:title>
  <dc:creator>Nancy Daves</dc:creator>
  <cp:lastModifiedBy>HALIMA.HOUSNY</cp:lastModifiedBy>
  <cp:revision>128</cp:revision>
  <dcterms:created xsi:type="dcterms:W3CDTF">2001-03-28T23:28:26Z</dcterms:created>
  <dcterms:modified xsi:type="dcterms:W3CDTF">2024-10-27T22:13:21Z</dcterms:modified>
</cp:coreProperties>
</file>