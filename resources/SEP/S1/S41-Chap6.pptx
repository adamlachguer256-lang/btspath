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1" r:id="rId1"/>
  </p:sldMasterIdLst>
  <p:notesMasterIdLst>
    <p:notesMasterId r:id="rId32"/>
  </p:notesMasterIdLst>
  <p:handoutMasterIdLst>
    <p:handoutMasterId r:id="rId33"/>
  </p:handoutMasterIdLst>
  <p:sldIdLst>
    <p:sldId id="290" r:id="rId2"/>
    <p:sldId id="304" r:id="rId3"/>
    <p:sldId id="327" r:id="rId4"/>
    <p:sldId id="328" r:id="rId5"/>
    <p:sldId id="306" r:id="rId6"/>
    <p:sldId id="329" r:id="rId7"/>
    <p:sldId id="332" r:id="rId8"/>
    <p:sldId id="331" r:id="rId9"/>
    <p:sldId id="309" r:id="rId10"/>
    <p:sldId id="325" r:id="rId11"/>
    <p:sldId id="326" r:id="rId12"/>
    <p:sldId id="310" r:id="rId13"/>
    <p:sldId id="311" r:id="rId14"/>
    <p:sldId id="312" r:id="rId15"/>
    <p:sldId id="333" r:id="rId16"/>
    <p:sldId id="313" r:id="rId17"/>
    <p:sldId id="346" r:id="rId18"/>
    <p:sldId id="317" r:id="rId19"/>
    <p:sldId id="319" r:id="rId20"/>
    <p:sldId id="340" r:id="rId21"/>
    <p:sldId id="341" r:id="rId22"/>
    <p:sldId id="343" r:id="rId23"/>
    <p:sldId id="339" r:id="rId24"/>
    <p:sldId id="342" r:id="rId25"/>
    <p:sldId id="335" r:id="rId26"/>
    <p:sldId id="338" r:id="rId27"/>
    <p:sldId id="344" r:id="rId28"/>
    <p:sldId id="336" r:id="rId29"/>
    <p:sldId id="337" r:id="rId30"/>
    <p:sldId id="345" r:id="rId31"/>
  </p:sldIdLst>
  <p:sldSz cx="9144000" cy="6858000" type="screen4x3"/>
  <p:notesSz cx="7010400" cy="9296400"/>
  <p:embeddedFontLst>
    <p:embeddedFont>
      <p:font typeface="Arial Narrow" panose="020B0606020202030204" pitchFamily="34" charset="0"/>
      <p:regular r:id="rId34"/>
      <p:bold r:id="rId35"/>
      <p:italic r:id="rId36"/>
      <p:boldItalic r:id="rId37"/>
    </p:embeddedFont>
    <p:embeddedFont>
      <p:font typeface="Georgia" panose="02040502050405020303" pitchFamily="18" charset="0"/>
      <p:regular r:id="rId38"/>
      <p:bold r:id="rId39"/>
      <p:italic r:id="rId40"/>
      <p:boldItalic r:id="rId41"/>
    </p:embeddedFont>
    <p:embeddedFont>
      <p:font typeface="Wingdings 2" panose="05020102010507070707" pitchFamily="18" charset="2"/>
      <p:regular r:id="rId42"/>
    </p:embeddedFont>
  </p:embeddedFont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winter" initials="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969696"/>
    <a:srgbClr val="FFFFCC"/>
    <a:srgbClr val="FEE3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59" autoAdjust="0"/>
    <p:restoredTop sz="94660" autoAdjust="0"/>
  </p:normalViewPr>
  <p:slideViewPr>
    <p:cSldViewPr snapToGrid="0">
      <p:cViewPr varScale="1">
        <p:scale>
          <a:sx n="47" d="100"/>
          <a:sy n="47" d="100"/>
        </p:scale>
        <p:origin x="669" y="5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openxmlformats.org/officeDocument/2006/relationships/font" Target="fonts/font5.fntdata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8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defTabSz="931863">
              <a:defRPr sz="1200" b="0">
                <a:latin typeface="Arial Narrow" pitchFamily="34" charset="0"/>
              </a:defRPr>
            </a:lvl1pPr>
          </a:lstStyle>
          <a:p>
            <a:endParaRPr lang="en-US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925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defTabSz="931863">
              <a:defRPr sz="1200" b="0">
                <a:latin typeface="Arial Narrow" pitchFamily="34" charset="0"/>
              </a:defRPr>
            </a:lvl1pPr>
          </a:lstStyle>
          <a:p>
            <a:endParaRPr lang="en-US"/>
          </a:p>
        </p:txBody>
      </p:sp>
      <p:sp>
        <p:nvSpPr>
          <p:cNvPr id="307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263"/>
            <a:ext cx="30384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defTabSz="931863">
              <a:defRPr sz="1200" b="0">
                <a:latin typeface="Arial Narrow" pitchFamily="34" charset="0"/>
              </a:defRPr>
            </a:lvl1pPr>
          </a:lstStyle>
          <a:p>
            <a:endParaRPr lang="en-US"/>
          </a:p>
        </p:txBody>
      </p:sp>
      <p:sp>
        <p:nvSpPr>
          <p:cNvPr id="307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925" y="8831263"/>
            <a:ext cx="30384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defTabSz="931863">
              <a:defRPr sz="1200" b="0">
                <a:latin typeface="Arial Narrow" pitchFamily="34" charset="0"/>
              </a:defRPr>
            </a:lvl1pPr>
          </a:lstStyle>
          <a:p>
            <a:fld id="{B8D64D21-9CF4-417A-B9D5-F725B7356FED}" type="slidenum">
              <a:rPr lang="en-US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defTabSz="931863">
              <a:defRPr sz="1200" b="0">
                <a:latin typeface="Arial Narrow" pitchFamily="34" charset="0"/>
              </a:defRPr>
            </a:lvl1pPr>
          </a:lstStyle>
          <a:p>
            <a:endParaRPr lang="en-US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defTabSz="931863">
              <a:defRPr sz="1200" b="0">
                <a:latin typeface="Arial Narrow" pitchFamily="34" charset="0"/>
              </a:defRPr>
            </a:lvl1pPr>
          </a:lstStyle>
          <a:p>
            <a:endParaRPr lang="en-US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263"/>
            <a:ext cx="30384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defTabSz="931863">
              <a:defRPr sz="1200" b="0">
                <a:latin typeface="Arial Narrow" pitchFamily="34" charset="0"/>
              </a:defRPr>
            </a:lvl1pPr>
          </a:lstStyle>
          <a:p>
            <a:endParaRPr lang="en-US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31263"/>
            <a:ext cx="30384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defTabSz="931863">
              <a:defRPr sz="1200" b="0">
                <a:latin typeface="Arial Narrow" pitchFamily="34" charset="0"/>
              </a:defRPr>
            </a:lvl1pPr>
          </a:lstStyle>
          <a:p>
            <a:fld id="{40A42A9A-8F84-49F2-86A2-AF8C5A860238}" type="slidenum">
              <a:rPr lang="en-US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/>
              <a:t>Cliquez pour modifier le style des sous-titres du masque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12/1/2024</a:t>
            </a:fld>
            <a:endParaRPr lang="en-US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Connecteur droit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Ellipse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Ellipse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12/1/2024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12/1/2024</a:t>
            </a:fld>
            <a:endParaRPr lang="en-US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Ellipse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Ellipse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9D21D778-B565-4D7E-94D7-64010A445B68}" type="datetimeFigureOut">
              <a:rPr lang="en-US" smtClean="0"/>
              <a:pPr/>
              <a:t>12/1/2024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Espace réservé du contenu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12" name="Espace réservé du contenu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necteur droit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12/1/2024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kumimoji="0" lang="en-US"/>
          </a:p>
        </p:txBody>
      </p:sp>
      <p:sp>
        <p:nvSpPr>
          <p:cNvPr id="15" name="Connecteur droit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Espace réservé du contenu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26" name="Espace réservé du contenu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25" name="Ellipse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Ellipse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pPr algn="ctr" eaLnBrk="1" latinLnBrk="0" hangingPunct="1"/>
            <a:fld id="{2C6B1FF6-39B9-40F5-8B67-33C6354A3D4F}" type="slidenum">
              <a:rPr kumimoji="0" lang="en-US" smtClean="0"/>
              <a:pPr algn="ctr" eaLnBrk="1" latinLnBrk="0" hangingPunct="1"/>
              <a:t>‹N°›</a:t>
            </a:fld>
            <a:endParaRPr kumimoji="0" lang="en-US" dirty="0"/>
          </a:p>
        </p:txBody>
      </p:sp>
      <p:sp>
        <p:nvSpPr>
          <p:cNvPr id="23" name="Titr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12/1/2024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12/1/2024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Espace réservé du contenu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10" name="Ellipse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Ellipse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12/1/2024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necteur droit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Ellipse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Ellipse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fr-FR"/>
              <a:t>Cliquez sur l'icône pour ajouter une image</a:t>
            </a:r>
            <a:endParaRPr kumimoji="0"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9D21D778-B565-4D7E-94D7-64010A445B68}" type="datetimeFigureOut">
              <a:rPr lang="en-US" smtClean="0"/>
              <a:pPr/>
              <a:t>12/1/2024</a:t>
            </a:fld>
            <a:endParaRPr lang="en-US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12/1/2024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Connecteur droit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Ellipse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Ellipse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12/1/2024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pPr algn="r" eaLnBrk="1" latinLnBrk="0" hangingPunct="1"/>
            <a:fld id="{9D21D778-B565-4D7E-94D7-64010A445B68}" type="datetimeFigureOut">
              <a:rPr lang="en-US" smtClean="0"/>
              <a:pPr algn="r" eaLnBrk="1" latinLnBrk="0" hangingPunct="1"/>
              <a:t>12/1/2024</a:t>
            </a:fld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pPr algn="l" eaLnBrk="1" latinLnBrk="0" hangingPunct="1"/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Connecteur droit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Ellipse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Ellipse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 algn="ctr" eaLnBrk="1" latinLnBrk="0" hangingPunct="1"/>
            <a:fld id="{2C6B1FF6-39B9-40F5-8B67-33C6354A3D4F}" type="slidenum">
              <a:rPr kumimoji="0" lang="en-US" smtClean="0"/>
              <a:pPr algn="ctr" eaLnBrk="1" latinLnBrk="0" hangingPunct="1"/>
              <a:t>‹N°›</a:t>
            </a:fld>
            <a:endParaRPr kumimoji="0" lang="en-US" sz="1600" dirty="0">
              <a:solidFill>
                <a:schemeClr val="accent3">
                  <a:shade val="75000"/>
                </a:schemeClr>
              </a:solidFill>
            </a:endParaRPr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/>
              <a:t>Cliquez pour modifier les styles du texte du masque</a:t>
            </a:r>
          </a:p>
          <a:p>
            <a:pPr lvl="1" eaLnBrk="1" latinLnBrk="0" hangingPunct="1"/>
            <a:r>
              <a:rPr kumimoji="0" lang="fr-FR"/>
              <a:t>Deuxième niveau</a:t>
            </a:r>
          </a:p>
          <a:p>
            <a:pPr lvl="2" eaLnBrk="1" latinLnBrk="0" hangingPunct="1"/>
            <a:r>
              <a:rPr kumimoji="0" lang="fr-FR"/>
              <a:t>Troisième niveau</a:t>
            </a:r>
          </a:p>
          <a:p>
            <a:pPr lvl="3" eaLnBrk="1" latinLnBrk="0" hangingPunct="1"/>
            <a:r>
              <a:rPr kumimoji="0" lang="fr-FR"/>
              <a:t>Quatrième niveau</a:t>
            </a:r>
          </a:p>
          <a:p>
            <a:pPr lvl="4" eaLnBrk="1" latinLnBrk="0" hangingPunct="1"/>
            <a:r>
              <a:rPr kumimoji="0" lang="fr-FR"/>
              <a:t>Cinquième niveau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751713" y="1769423"/>
            <a:ext cx="7524750" cy="3247057"/>
          </a:xfrm>
          <a:noFill/>
          <a:ln/>
        </p:spPr>
        <p:txBody>
          <a:bodyPr lIns="90488" tIns="44450" rIns="90488" bIns="44450">
            <a:normAutofit/>
          </a:bodyPr>
          <a:lstStyle/>
          <a:p>
            <a:pPr algn="ctr">
              <a:lnSpc>
                <a:spcPct val="95000"/>
              </a:lnSpc>
            </a:pPr>
            <a:r>
              <a:rPr lang="en-US" sz="4000" b="1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Chapitre</a:t>
            </a:r>
            <a:r>
              <a:rPr lang="en-US" sz="4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6</a:t>
            </a:r>
            <a:br>
              <a:rPr lang="en-US" sz="4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en-US" sz="4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4000" b="1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Résolution</a:t>
            </a:r>
            <a:r>
              <a:rPr lang="en-US" sz="4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des </a:t>
            </a:r>
            <a:r>
              <a:rPr lang="en-US" sz="4000" b="1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problèmes</a:t>
            </a:r>
            <a:r>
              <a:rPr lang="en-US" sz="4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4000" b="1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liés</a:t>
            </a:r>
            <a:r>
              <a:rPr lang="en-US" sz="4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au </a:t>
            </a:r>
            <a:r>
              <a:rPr lang="en-US" sz="4000" b="1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processus</a:t>
            </a:r>
            <a:r>
              <a:rPr lang="en-US" sz="4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4000" b="1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d'amorçage</a:t>
            </a:r>
            <a:r>
              <a:rPr lang="en-US" sz="4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et au </a:t>
            </a:r>
            <a:r>
              <a:rPr lang="en-US" sz="4000" b="1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système</a:t>
            </a:r>
            <a:endParaRPr lang="en-US" sz="40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581321" y="287390"/>
            <a:ext cx="399761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dirty="0">
                <a:latin typeface="Arial" pitchFamily="34" charset="0"/>
                <a:cs typeface="Arial" pitchFamily="34" charset="0"/>
              </a:rPr>
              <a:t>Module S41</a:t>
            </a:r>
            <a:endParaRPr lang="fr-FR" sz="4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Plan du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cours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4517" name="Rectangle 5"/>
          <p:cNvSpPr>
            <a:spLocks noGrp="1" noChangeArrowheads="1"/>
          </p:cNvSpPr>
          <p:nvPr>
            <p:ph sz="quarter" idx="1"/>
          </p:nvPr>
        </p:nvSpPr>
        <p:spPr>
          <a:xfrm>
            <a:off x="382136" y="1739900"/>
            <a:ext cx="8407021" cy="4287838"/>
          </a:xfrm>
        </p:spPr>
        <p:txBody>
          <a:bodyPr>
            <a:normAutofit/>
          </a:bodyPr>
          <a:lstStyle/>
          <a:p>
            <a:pPr marL="514350" indent="-514350">
              <a:lnSpc>
                <a:spcPct val="80000"/>
              </a:lnSpc>
              <a:buClrTx/>
              <a:buFont typeface="+mj-lt"/>
              <a:buAutoNum type="arabicPeriod"/>
            </a:pPr>
            <a:r>
              <a:rPr lang="en-US" dirty="0" err="1">
                <a:cs typeface="Times New Roman" pitchFamily="18" charset="0"/>
              </a:rPr>
              <a:t>Étude</a:t>
            </a:r>
            <a:r>
              <a:rPr lang="en-US" dirty="0">
                <a:cs typeface="Times New Roman" pitchFamily="18" charset="0"/>
              </a:rPr>
              <a:t> du </a:t>
            </a:r>
            <a:r>
              <a:rPr lang="en-US" dirty="0" err="1">
                <a:cs typeface="Times New Roman" pitchFamily="18" charset="0"/>
              </a:rPr>
              <a:t>processus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d'amorçage</a:t>
            </a:r>
            <a:r>
              <a:rPr lang="en-US" dirty="0">
                <a:cs typeface="Times New Roman" pitchFamily="18" charset="0"/>
              </a:rPr>
              <a:t> de Windows 7</a:t>
            </a:r>
            <a:endParaRPr lang="en-US" dirty="0"/>
          </a:p>
          <a:p>
            <a:pPr marL="514350" indent="-514350">
              <a:lnSpc>
                <a:spcPct val="80000"/>
              </a:lnSpc>
              <a:buClrTx/>
              <a:buFont typeface="+mj-lt"/>
              <a:buAutoNum type="arabicPeriod"/>
            </a:pPr>
            <a:r>
              <a:rPr lang="en-US" dirty="0" err="1">
                <a:cs typeface="Times New Roman" pitchFamily="18" charset="0"/>
              </a:rPr>
              <a:t>Contrôle</a:t>
            </a:r>
            <a:r>
              <a:rPr lang="en-US" dirty="0">
                <a:cs typeface="Times New Roman" pitchFamily="18" charset="0"/>
              </a:rPr>
              <a:t> des </a:t>
            </a:r>
            <a:r>
              <a:rPr lang="en-US" dirty="0" err="1">
                <a:cs typeface="Times New Roman" pitchFamily="18" charset="0"/>
              </a:rPr>
              <a:t>paramètres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système</a:t>
            </a:r>
            <a:r>
              <a:rPr lang="en-US" dirty="0">
                <a:cs typeface="Times New Roman" pitchFamily="18" charset="0"/>
              </a:rPr>
              <a:t> au </a:t>
            </a:r>
            <a:r>
              <a:rPr lang="en-US" dirty="0" err="1">
                <a:cs typeface="Times New Roman" pitchFamily="18" charset="0"/>
              </a:rPr>
              <a:t>cours</a:t>
            </a:r>
            <a:r>
              <a:rPr lang="en-US" dirty="0">
                <a:cs typeface="Times New Roman" pitchFamily="18" charset="0"/>
              </a:rPr>
              <a:t> du </a:t>
            </a:r>
            <a:r>
              <a:rPr lang="en-US" dirty="0" err="1">
                <a:cs typeface="Times New Roman" pitchFamily="18" charset="0"/>
              </a:rPr>
              <a:t>processus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d'amorçage</a:t>
            </a:r>
            <a:endParaRPr lang="en-US" dirty="0"/>
          </a:p>
          <a:p>
            <a:pPr marL="514350" indent="-514350">
              <a:lnSpc>
                <a:spcPct val="80000"/>
              </a:lnSpc>
              <a:buClrTx/>
              <a:buFont typeface="+mj-lt"/>
              <a:buAutoNum type="arabicPeriod"/>
            </a:pPr>
            <a:r>
              <a:rPr lang="en-US" dirty="0">
                <a:cs typeface="Times New Roman" pitchFamily="18" charset="0"/>
              </a:rPr>
              <a:t>Modification du </a:t>
            </a:r>
            <a:r>
              <a:rPr lang="en-US" dirty="0" err="1">
                <a:cs typeface="Times New Roman" pitchFamily="18" charset="0"/>
              </a:rPr>
              <a:t>comportement</a:t>
            </a:r>
            <a:r>
              <a:rPr lang="en-US" dirty="0">
                <a:cs typeface="Times New Roman" pitchFamily="18" charset="0"/>
              </a:rPr>
              <a:t> au </a:t>
            </a:r>
            <a:r>
              <a:rPr lang="en-US" dirty="0" err="1">
                <a:cs typeface="Times New Roman" pitchFamily="18" charset="0"/>
              </a:rPr>
              <a:t>démarrage</a:t>
            </a:r>
            <a:r>
              <a:rPr lang="en-US" dirty="0">
                <a:cs typeface="Times New Roman" pitchFamily="18" charset="0"/>
              </a:rPr>
              <a:t> à </a:t>
            </a:r>
            <a:r>
              <a:rPr lang="en-US" dirty="0" err="1">
                <a:cs typeface="Times New Roman" pitchFamily="18" charset="0"/>
              </a:rPr>
              <a:t>l'aide</a:t>
            </a:r>
            <a:r>
              <a:rPr lang="en-US" dirty="0">
                <a:cs typeface="Times New Roman" pitchFamily="18" charset="0"/>
              </a:rPr>
              <a:t> du </a:t>
            </a:r>
            <a:r>
              <a:rPr lang="en-US" dirty="0" err="1">
                <a:cs typeface="Times New Roman" pitchFamily="18" charset="0"/>
              </a:rPr>
              <a:t>fichier</a:t>
            </a:r>
            <a:r>
              <a:rPr lang="en-US" dirty="0">
                <a:cs typeface="Times New Roman" pitchFamily="18" charset="0"/>
              </a:rPr>
              <a:t> Boot.ini</a:t>
            </a:r>
            <a:endParaRPr lang="en-US" dirty="0"/>
          </a:p>
          <a:p>
            <a:pPr marL="514350" indent="-514350">
              <a:lnSpc>
                <a:spcPct val="80000"/>
              </a:lnSpc>
              <a:buClrTx/>
              <a:buFont typeface="+mj-lt"/>
              <a:buAutoNum type="arabicPeriod"/>
            </a:pPr>
            <a:r>
              <a:rPr lang="en-US" dirty="0" err="1">
                <a:cs typeface="Times New Roman" pitchFamily="18" charset="0"/>
              </a:rPr>
              <a:t>Utilisation</a:t>
            </a:r>
            <a:r>
              <a:rPr lang="en-US" dirty="0">
                <a:cs typeface="Times New Roman" pitchFamily="18" charset="0"/>
              </a:rPr>
              <a:t> des options </a:t>
            </a:r>
            <a:r>
              <a:rPr lang="en-US" dirty="0" err="1">
                <a:cs typeface="Times New Roman" pitchFamily="18" charset="0"/>
              </a:rPr>
              <a:t>d'amorçage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avancées</a:t>
            </a:r>
            <a:r>
              <a:rPr lang="en-US" dirty="0">
                <a:cs typeface="Times New Roman" pitchFamily="18" charset="0"/>
              </a:rPr>
              <a:t> </a:t>
            </a:r>
            <a:br>
              <a:rPr lang="en-US" dirty="0">
                <a:cs typeface="Times New Roman" pitchFamily="18" charset="0"/>
              </a:rPr>
            </a:br>
            <a:r>
              <a:rPr lang="en-US" dirty="0">
                <a:cs typeface="Times New Roman" pitchFamily="18" charset="0"/>
              </a:rPr>
              <a:t>pour </a:t>
            </a:r>
            <a:r>
              <a:rPr lang="en-US" dirty="0" err="1">
                <a:cs typeface="Times New Roman" pitchFamily="18" charset="0"/>
              </a:rPr>
              <a:t>résoudre</a:t>
            </a:r>
            <a:r>
              <a:rPr lang="en-US" dirty="0">
                <a:cs typeface="Times New Roman" pitchFamily="18" charset="0"/>
              </a:rPr>
              <a:t> les </a:t>
            </a:r>
            <a:r>
              <a:rPr lang="en-US" dirty="0" err="1">
                <a:cs typeface="Times New Roman" pitchFamily="18" charset="0"/>
              </a:rPr>
              <a:t>problèmes</a:t>
            </a:r>
            <a:r>
              <a:rPr lang="en-US" dirty="0">
                <a:cs typeface="Times New Roman" pitchFamily="18" charset="0"/>
              </a:rPr>
              <a:t> de </a:t>
            </a:r>
            <a:r>
              <a:rPr lang="en-US" dirty="0" err="1">
                <a:cs typeface="Times New Roman" pitchFamily="18" charset="0"/>
              </a:rPr>
              <a:t>démarrage</a:t>
            </a:r>
            <a:endParaRPr lang="en-US" dirty="0"/>
          </a:p>
          <a:p>
            <a:pPr>
              <a:lnSpc>
                <a:spcPct val="80000"/>
              </a:lnSpc>
            </a:pP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14350" indent="-514350">
              <a:lnSpc>
                <a:spcPct val="80000"/>
              </a:lnSpc>
            </a:pPr>
            <a:r>
              <a:rPr lang="en-US" dirty="0">
                <a:cs typeface="Times New Roman" pitchFamily="18" charset="0"/>
              </a:rPr>
              <a:t>1. </a:t>
            </a:r>
            <a:r>
              <a:rPr lang="en-US" dirty="0" err="1">
                <a:cs typeface="Times New Roman" pitchFamily="18" charset="0"/>
              </a:rPr>
              <a:t>Étude</a:t>
            </a:r>
            <a:r>
              <a:rPr lang="en-US" dirty="0">
                <a:cs typeface="Times New Roman" pitchFamily="18" charset="0"/>
              </a:rPr>
              <a:t> du </a:t>
            </a:r>
            <a:r>
              <a:rPr lang="en-US" dirty="0" err="1">
                <a:cs typeface="Times New Roman" pitchFamily="18" charset="0"/>
              </a:rPr>
              <a:t>processus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d'amorçage</a:t>
            </a:r>
            <a:r>
              <a:rPr lang="en-US" dirty="0">
                <a:cs typeface="Times New Roman" pitchFamily="18" charset="0"/>
              </a:rPr>
              <a:t> de Windows 7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301752" y="2523334"/>
            <a:ext cx="8503920" cy="2580928"/>
          </a:xfrm>
        </p:spPr>
        <p:txBody>
          <a:bodyPr/>
          <a:lstStyle/>
          <a:p>
            <a:r>
              <a:rPr lang="fr-FR" dirty="0"/>
              <a:t>La séquence d’amorçage commence à partir du moment où vous appuyez sur l’interrupteur de l’ordinateur pour l’allumer jusqu’à l’ouverture de session </a:t>
            </a:r>
          </a:p>
          <a:p>
            <a:r>
              <a:rPr lang="fr-FR" dirty="0"/>
              <a:t>Elle se déroule en arrière plan.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14350" indent="-514350">
              <a:lnSpc>
                <a:spcPct val="80000"/>
              </a:lnSpc>
            </a:pPr>
            <a:r>
              <a:rPr lang="en-US" dirty="0">
                <a:cs typeface="Times New Roman" pitchFamily="18" charset="0"/>
              </a:rPr>
              <a:t>1. </a:t>
            </a:r>
            <a:r>
              <a:rPr lang="en-US" dirty="0" err="1">
                <a:cs typeface="Times New Roman" pitchFamily="18" charset="0"/>
              </a:rPr>
              <a:t>Étude</a:t>
            </a:r>
            <a:r>
              <a:rPr lang="en-US" dirty="0">
                <a:cs typeface="Times New Roman" pitchFamily="18" charset="0"/>
              </a:rPr>
              <a:t> du </a:t>
            </a:r>
            <a:r>
              <a:rPr lang="en-US" dirty="0" err="1">
                <a:cs typeface="Times New Roman" pitchFamily="18" charset="0"/>
              </a:rPr>
              <a:t>processus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d'amorçage</a:t>
            </a:r>
            <a:r>
              <a:rPr lang="en-US" dirty="0">
                <a:cs typeface="Times New Roman" pitchFamily="18" charset="0"/>
              </a:rPr>
              <a:t> de Windows 7</a:t>
            </a:r>
            <a:endParaRPr lang="en-US" dirty="0"/>
          </a:p>
        </p:txBody>
      </p:sp>
      <p:grpSp>
        <p:nvGrpSpPr>
          <p:cNvPr id="7" name="Groupe 6"/>
          <p:cNvGrpSpPr/>
          <p:nvPr/>
        </p:nvGrpSpPr>
        <p:grpSpPr>
          <a:xfrm>
            <a:off x="167867" y="1358188"/>
            <a:ext cx="3585267" cy="640114"/>
            <a:chOff x="436273" y="8006"/>
            <a:chExt cx="6107827" cy="354240"/>
          </a:xfrm>
          <a:scene3d>
            <a:camera prst="orthographicFront"/>
            <a:lightRig rig="flat" dir="t"/>
          </a:scene3d>
        </p:grpSpPr>
        <p:sp>
          <p:nvSpPr>
            <p:cNvPr id="32" name="Rectangle à coins arrondis 31"/>
            <p:cNvSpPr/>
            <p:nvPr/>
          </p:nvSpPr>
          <p:spPr>
            <a:xfrm>
              <a:off x="436273" y="8006"/>
              <a:ext cx="6107827" cy="354240"/>
            </a:xfrm>
            <a:prstGeom prst="roundRect">
              <a:avLst/>
            </a:prstGeom>
            <a:solidFill>
              <a:srgbClr val="002060"/>
            </a:solidFill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2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453566" y="25299"/>
              <a:ext cx="6073241" cy="319654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30861" tIns="0" rIns="230861" bIns="0" numCol="1" spcCol="1270" anchor="ctr" anchorCtr="0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FR" sz="2200" b="1" kern="1200" dirty="0">
                  <a:solidFill>
                    <a:srgbClr val="FFC000"/>
                  </a:solidFill>
                </a:rPr>
                <a:t>Pré-amorçage</a:t>
              </a:r>
            </a:p>
          </p:txBody>
        </p:sp>
      </p:grpSp>
      <p:grpSp>
        <p:nvGrpSpPr>
          <p:cNvPr id="9" name="Groupe 8"/>
          <p:cNvGrpSpPr/>
          <p:nvPr/>
        </p:nvGrpSpPr>
        <p:grpSpPr>
          <a:xfrm>
            <a:off x="167867" y="2457929"/>
            <a:ext cx="3585267" cy="640114"/>
            <a:chOff x="436273" y="930326"/>
            <a:chExt cx="6107827" cy="354240"/>
          </a:xfrm>
          <a:scene3d>
            <a:camera prst="orthographicFront"/>
            <a:lightRig rig="flat" dir="t"/>
          </a:scene3d>
        </p:grpSpPr>
        <p:sp>
          <p:nvSpPr>
            <p:cNvPr id="28" name="Rectangle à coins arrondis 27"/>
            <p:cNvSpPr/>
            <p:nvPr/>
          </p:nvSpPr>
          <p:spPr>
            <a:xfrm>
              <a:off x="436273" y="930326"/>
              <a:ext cx="6107827" cy="354240"/>
            </a:xfrm>
            <a:prstGeom prst="roundRect">
              <a:avLst/>
            </a:prstGeom>
            <a:solidFill>
              <a:srgbClr val="002060"/>
            </a:solidFill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2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453566" y="947619"/>
              <a:ext cx="6073241" cy="319654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30861" tIns="0" rIns="230861" bIns="0" numCol="1" spcCol="1270" anchor="ctr" anchorCtr="0">
              <a:noAutofit/>
            </a:bodyPr>
            <a:lstStyle/>
            <a:p>
              <a:pPr lvl="0" algn="l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sz="2200" b="1" kern="1200" dirty="0">
                  <a:solidFill>
                    <a:srgbClr val="FFC000"/>
                  </a:solidFill>
                </a:rPr>
                <a:t>Amorçage</a:t>
              </a:r>
            </a:p>
          </p:txBody>
        </p:sp>
      </p:grpSp>
      <p:grpSp>
        <p:nvGrpSpPr>
          <p:cNvPr id="11" name="Groupe 10"/>
          <p:cNvGrpSpPr/>
          <p:nvPr/>
        </p:nvGrpSpPr>
        <p:grpSpPr>
          <a:xfrm>
            <a:off x="167867" y="3561928"/>
            <a:ext cx="3735393" cy="640114"/>
            <a:chOff x="436273" y="2211746"/>
            <a:chExt cx="6363580" cy="354240"/>
          </a:xfrm>
          <a:scene3d>
            <a:camera prst="orthographicFront"/>
            <a:lightRig rig="flat" dir="t"/>
          </a:scene3d>
        </p:grpSpPr>
        <p:sp>
          <p:nvSpPr>
            <p:cNvPr id="24" name="Rectangle à coins arrondis 23"/>
            <p:cNvSpPr/>
            <p:nvPr/>
          </p:nvSpPr>
          <p:spPr>
            <a:xfrm>
              <a:off x="436273" y="2211746"/>
              <a:ext cx="6107827" cy="354240"/>
            </a:xfrm>
            <a:prstGeom prst="roundRect">
              <a:avLst/>
            </a:prstGeom>
            <a:solidFill>
              <a:srgbClr val="002060"/>
            </a:solidFill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2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453566" y="2229039"/>
              <a:ext cx="6346287" cy="319654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30861" tIns="0" rIns="230861" bIns="0" numCol="1" spcCol="1270" anchor="ctr" anchorCtr="0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FR" sz="2200" b="1" kern="1200" dirty="0">
                  <a:solidFill>
                    <a:srgbClr val="FFC000"/>
                  </a:solidFill>
                </a:rPr>
                <a:t>Chargement du noyau</a:t>
              </a:r>
            </a:p>
          </p:txBody>
        </p:sp>
      </p:grpSp>
      <p:grpSp>
        <p:nvGrpSpPr>
          <p:cNvPr id="13" name="Groupe 12"/>
          <p:cNvGrpSpPr/>
          <p:nvPr/>
        </p:nvGrpSpPr>
        <p:grpSpPr>
          <a:xfrm>
            <a:off x="167867" y="4552487"/>
            <a:ext cx="3585267" cy="640114"/>
            <a:chOff x="436273" y="3134066"/>
            <a:chExt cx="6107827" cy="354240"/>
          </a:xfrm>
          <a:scene3d>
            <a:camera prst="orthographicFront"/>
            <a:lightRig rig="flat" dir="t"/>
          </a:scene3d>
        </p:grpSpPr>
        <p:sp>
          <p:nvSpPr>
            <p:cNvPr id="20" name="Rectangle à coins arrondis 19"/>
            <p:cNvSpPr/>
            <p:nvPr/>
          </p:nvSpPr>
          <p:spPr>
            <a:xfrm>
              <a:off x="436273" y="3134066"/>
              <a:ext cx="6107827" cy="354240"/>
            </a:xfrm>
            <a:prstGeom prst="roundRect">
              <a:avLst/>
            </a:prstGeom>
            <a:solidFill>
              <a:srgbClr val="002060"/>
            </a:solidFill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2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453566" y="3151359"/>
              <a:ext cx="6073241" cy="319654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30861" tIns="0" rIns="230861" bIns="0" numCol="1" spcCol="1270" anchor="ctr" anchorCtr="0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FR" sz="2200" b="1" kern="1200" dirty="0">
                  <a:solidFill>
                    <a:srgbClr val="FFC000"/>
                  </a:solidFill>
                </a:rPr>
                <a:t>Démarrage du noyau</a:t>
              </a:r>
            </a:p>
          </p:txBody>
        </p:sp>
      </p:grpSp>
      <p:grpSp>
        <p:nvGrpSpPr>
          <p:cNvPr id="14" name="Groupe 13"/>
          <p:cNvGrpSpPr/>
          <p:nvPr/>
        </p:nvGrpSpPr>
        <p:grpSpPr>
          <a:xfrm>
            <a:off x="1956175" y="6257416"/>
            <a:ext cx="6955809" cy="491400"/>
            <a:chOff x="0" y="4422506"/>
            <a:chExt cx="8725468" cy="491400"/>
          </a:xfrm>
          <a:scene3d>
            <a:camera prst="orthographicFront"/>
            <a:lightRig rig="flat" dir="t"/>
          </a:scene3d>
        </p:grpSpPr>
        <p:sp>
          <p:nvSpPr>
            <p:cNvPr id="18" name="Rectangle 17"/>
            <p:cNvSpPr/>
            <p:nvPr/>
          </p:nvSpPr>
          <p:spPr>
            <a:xfrm>
              <a:off x="0" y="4422506"/>
              <a:ext cx="8725468" cy="491400"/>
            </a:xfrm>
            <a:prstGeom prst="rect">
              <a:avLst/>
            </a:prstGeom>
            <a:sp3d z="190500" extrusionH="12700" prstMaterial="plastic">
              <a:bevelT w="50800" h="50800"/>
            </a:sp3d>
          </p:spPr>
          <p:style>
            <a:lnRef idx="1">
              <a:schemeClr val="accent6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0" y="4422506"/>
              <a:ext cx="8725468" cy="491400"/>
            </a:xfrm>
            <a:prstGeom prst="rect">
              <a:avLst/>
            </a:prstGeom>
            <a:sp3d z="190500"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80000" tIns="180000" rIns="180000" bIns="180000" numCol="1" spcCol="1270" anchor="t" anchorCtr="0">
              <a:noAutofit/>
            </a:bodyPr>
            <a:lstStyle/>
            <a:p>
              <a:pPr marL="114300" lvl="1" indent="-114300" algn="l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fr-FR" sz="2200" kern="1200" dirty="0"/>
                <a:t>Copie du jeu de contrôle actuel</a:t>
              </a:r>
            </a:p>
          </p:txBody>
        </p:sp>
      </p:grpSp>
      <p:grpSp>
        <p:nvGrpSpPr>
          <p:cNvPr id="15" name="Groupe 14"/>
          <p:cNvGrpSpPr/>
          <p:nvPr/>
        </p:nvGrpSpPr>
        <p:grpSpPr>
          <a:xfrm>
            <a:off x="167867" y="5595568"/>
            <a:ext cx="3585267" cy="640114"/>
            <a:chOff x="436273" y="4245386"/>
            <a:chExt cx="6107827" cy="354240"/>
          </a:xfrm>
          <a:scene3d>
            <a:camera prst="orthographicFront"/>
            <a:lightRig rig="flat" dir="t"/>
          </a:scene3d>
        </p:grpSpPr>
        <p:sp>
          <p:nvSpPr>
            <p:cNvPr id="16" name="Rectangle à coins arrondis 15"/>
            <p:cNvSpPr/>
            <p:nvPr/>
          </p:nvSpPr>
          <p:spPr>
            <a:xfrm>
              <a:off x="436273" y="4245386"/>
              <a:ext cx="6107827" cy="354240"/>
            </a:xfrm>
            <a:prstGeom prst="roundRect">
              <a:avLst/>
            </a:prstGeom>
            <a:solidFill>
              <a:srgbClr val="002060"/>
            </a:solidFill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2">
              <a:schemeClr val="accent6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453566" y="4262679"/>
              <a:ext cx="6073241" cy="319654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30861" tIns="0" rIns="230861" bIns="0" numCol="1" spcCol="1270" anchor="ctr" anchorCtr="0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FR" sz="2200" b="1" kern="1200" dirty="0">
                  <a:solidFill>
                    <a:srgbClr val="FFC000"/>
                  </a:solidFill>
                </a:rPr>
                <a:t>Ouverture de session</a:t>
              </a:r>
            </a:p>
          </p:txBody>
        </p:sp>
      </p:grpSp>
      <p:grpSp>
        <p:nvGrpSpPr>
          <p:cNvPr id="6" name="Groupe 5"/>
          <p:cNvGrpSpPr/>
          <p:nvPr/>
        </p:nvGrpSpPr>
        <p:grpSpPr>
          <a:xfrm>
            <a:off x="1983476" y="2026627"/>
            <a:ext cx="6955809" cy="1221541"/>
            <a:chOff x="0" y="185126"/>
            <a:chExt cx="8725468" cy="680400"/>
          </a:xfrm>
          <a:scene3d>
            <a:camera prst="orthographicFront"/>
            <a:lightRig rig="flat" dir="t"/>
          </a:scene3d>
        </p:grpSpPr>
        <p:sp>
          <p:nvSpPr>
            <p:cNvPr id="34" name="Rectangle 33"/>
            <p:cNvSpPr/>
            <p:nvPr/>
          </p:nvSpPr>
          <p:spPr>
            <a:xfrm>
              <a:off x="0" y="185126"/>
              <a:ext cx="8725468" cy="680400"/>
            </a:xfrm>
            <a:prstGeom prst="rect">
              <a:avLst/>
            </a:prstGeom>
            <a:sp3d z="190500" extrusionH="12700" prstMaterial="plastic">
              <a:bevelT w="50800" h="50800"/>
            </a:sp3d>
          </p:spPr>
          <p:style>
            <a:lnRef idx="1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0" y="185126"/>
              <a:ext cx="8725468" cy="680400"/>
            </a:xfrm>
            <a:prstGeom prst="rect">
              <a:avLst/>
            </a:prstGeom>
            <a:sp3d z="190500"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80000" tIns="180000" rIns="180000" bIns="180000" numCol="1" spcCol="1270" anchor="t" anchorCtr="0">
              <a:noAutofit/>
            </a:bodyPr>
            <a:lstStyle/>
            <a:p>
              <a:pPr marL="114300" lvl="1" indent="-114300" algn="l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fr-FR" sz="2200" kern="1200" dirty="0"/>
                <a:t>Déterminer la quantité de mémoire physique</a:t>
              </a:r>
            </a:p>
            <a:p>
              <a:pPr marL="114300" lvl="1" indent="-114300" algn="l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fr-FR" sz="2200" kern="1200" dirty="0"/>
                <a:t>Identifier les composants matériels installés</a:t>
              </a:r>
            </a:p>
          </p:txBody>
        </p:sp>
      </p:grpSp>
      <p:grpSp>
        <p:nvGrpSpPr>
          <p:cNvPr id="10" name="Groupe 9"/>
          <p:cNvGrpSpPr/>
          <p:nvPr/>
        </p:nvGrpSpPr>
        <p:grpSpPr>
          <a:xfrm>
            <a:off x="1942532" y="4189422"/>
            <a:ext cx="6955809" cy="1952068"/>
            <a:chOff x="0" y="2379218"/>
            <a:chExt cx="8725468" cy="690048"/>
          </a:xfrm>
          <a:scene3d>
            <a:camera prst="orthographicFront"/>
            <a:lightRig rig="flat" dir="t"/>
          </a:scene3d>
        </p:grpSpPr>
        <p:sp>
          <p:nvSpPr>
            <p:cNvPr id="26" name="Rectangle 25"/>
            <p:cNvSpPr/>
            <p:nvPr/>
          </p:nvSpPr>
          <p:spPr>
            <a:xfrm>
              <a:off x="0" y="2388866"/>
              <a:ext cx="8725468" cy="680400"/>
            </a:xfrm>
            <a:prstGeom prst="rect">
              <a:avLst/>
            </a:prstGeom>
            <a:sp3d z="190500" extrusionH="12700" prstMaterial="plastic">
              <a:bevelT w="50800" h="50800"/>
            </a:sp3d>
          </p:spPr>
          <p:style>
            <a:lnRef idx="1">
              <a:schemeClr val="accent4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0" y="2379218"/>
              <a:ext cx="8725468" cy="680400"/>
            </a:xfrm>
            <a:prstGeom prst="rect">
              <a:avLst/>
            </a:prstGeom>
            <a:sp3d z="190500"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80000" tIns="180000" rIns="72000" bIns="180000" numCol="1" spcCol="1270" anchor="t" anchorCtr="0">
              <a:noAutofit/>
            </a:bodyPr>
            <a:lstStyle/>
            <a:p>
              <a:pPr marL="114300" lvl="1" indent="-114300" algn="l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fr-FR" sz="2200" kern="1200" dirty="0"/>
                <a:t>Chargement de la clé du registre HKEY_LOCAL_MACHINE\SYSTEM\SELECT</a:t>
              </a:r>
            </a:p>
            <a:p>
              <a:pPr marL="114300" lvl="1" indent="-114300" algn="l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fr-FR" sz="2200" kern="1200" dirty="0"/>
                <a:t>Déterminer le jeu de contrôles à charger: les pilotes de périphériques et les services à charger et à démarrer</a:t>
              </a:r>
            </a:p>
          </p:txBody>
        </p:sp>
      </p:grpSp>
      <p:grpSp>
        <p:nvGrpSpPr>
          <p:cNvPr id="12" name="Groupe 11"/>
          <p:cNvGrpSpPr/>
          <p:nvPr/>
        </p:nvGrpSpPr>
        <p:grpSpPr>
          <a:xfrm>
            <a:off x="1942531" y="5207279"/>
            <a:ext cx="6955809" cy="1070692"/>
            <a:chOff x="0" y="3311186"/>
            <a:chExt cx="8725468" cy="869400"/>
          </a:xfrm>
          <a:scene3d>
            <a:camera prst="orthographicFront"/>
            <a:lightRig rig="flat" dir="t"/>
          </a:scene3d>
        </p:grpSpPr>
        <p:sp>
          <p:nvSpPr>
            <p:cNvPr id="22" name="Rectangle 21"/>
            <p:cNvSpPr/>
            <p:nvPr/>
          </p:nvSpPr>
          <p:spPr>
            <a:xfrm>
              <a:off x="0" y="3311186"/>
              <a:ext cx="8725468" cy="869400"/>
            </a:xfrm>
            <a:prstGeom prst="rect">
              <a:avLst/>
            </a:prstGeom>
            <a:sp3d z="190500" extrusionH="12700" prstMaterial="plastic">
              <a:bevelT w="50800" h="50800"/>
            </a:sp3d>
          </p:spPr>
          <p:style>
            <a:lnRef idx="1">
              <a:schemeClr val="accent5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0" y="3311186"/>
              <a:ext cx="8725468" cy="869400"/>
            </a:xfrm>
            <a:prstGeom prst="rect">
              <a:avLst/>
            </a:prstGeom>
            <a:sp3d z="190500"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80000" tIns="180000" rIns="180000" bIns="180000" numCol="1" spcCol="1270" anchor="t" anchorCtr="0">
              <a:noAutofit/>
            </a:bodyPr>
            <a:lstStyle/>
            <a:p>
              <a:pPr marL="114300" lvl="1" indent="-114300" algn="l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fr-FR" sz="2200" kern="1200" dirty="0"/>
                <a:t>Le logo Microsoft 7 S’affiche</a:t>
              </a:r>
            </a:p>
            <a:p>
              <a:pPr marL="114300" lvl="1" indent="-114300" algn="l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fr-FR" sz="2200" kern="1200" dirty="0"/>
                <a:t>Chargement des pilotes de périphériques</a:t>
              </a:r>
            </a:p>
            <a:p>
              <a:pPr marL="114300" lvl="1" indent="-114300" algn="l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endParaRPr lang="fr-FR" sz="2200" kern="1200" dirty="0"/>
            </a:p>
          </p:txBody>
        </p:sp>
      </p:grpSp>
      <p:grpSp>
        <p:nvGrpSpPr>
          <p:cNvPr id="8" name="Groupe 7"/>
          <p:cNvGrpSpPr/>
          <p:nvPr/>
        </p:nvGrpSpPr>
        <p:grpSpPr>
          <a:xfrm>
            <a:off x="1928885" y="3099078"/>
            <a:ext cx="6969456" cy="1432530"/>
            <a:chOff x="-17119" y="1107446"/>
            <a:chExt cx="8742587" cy="1039500"/>
          </a:xfrm>
          <a:scene3d>
            <a:camera prst="orthographicFront"/>
            <a:lightRig rig="flat" dir="t"/>
          </a:scene3d>
        </p:grpSpPr>
        <p:sp>
          <p:nvSpPr>
            <p:cNvPr id="31" name="Rectangle 30"/>
            <p:cNvSpPr/>
            <p:nvPr/>
          </p:nvSpPr>
          <p:spPr>
            <a:xfrm>
              <a:off x="0" y="1107446"/>
              <a:ext cx="8725468" cy="1039500"/>
            </a:xfrm>
            <a:prstGeom prst="rect">
              <a:avLst/>
            </a:prstGeom>
            <a:sp3d z="190500"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80000" tIns="180000" rIns="180000" bIns="180000" numCol="1" spcCol="1270" anchor="t" anchorCtr="0">
              <a:noAutofit/>
            </a:bodyPr>
            <a:lstStyle/>
            <a:p>
              <a:pPr marL="114300" lvl="1" indent="-114300" algn="l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fr-FR" sz="2200" kern="1200" dirty="0"/>
                <a:t>Choix du système d’exploitation</a:t>
              </a:r>
            </a:p>
            <a:p>
              <a:pPr marL="114300" lvl="1" indent="-114300" algn="l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fr-FR" sz="2200" kern="1200" dirty="0"/>
                <a:t>Détection du matériel </a:t>
              </a:r>
            </a:p>
            <a:p>
              <a:pPr marL="114300" lvl="1" indent="-114300" algn="l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fr-FR" sz="2200" kern="1200" dirty="0"/>
                <a:t>Choix de la configuration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-17119" y="1146308"/>
              <a:ext cx="8725468" cy="970531"/>
            </a:xfrm>
            <a:prstGeom prst="rect">
              <a:avLst/>
            </a:prstGeom>
            <a:sp3d z="190500" extrusionH="12700" prstMaterial="plastic">
              <a:bevelT w="50800" h="50800"/>
            </a:sp3d>
          </p:spPr>
          <p:style>
            <a:lnRef idx="1">
              <a:schemeClr val="accent3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fr-FR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6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5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9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5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5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5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4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00"/>
                            </p:stCondLst>
                            <p:childTnLst>
                              <p:par>
                                <p:cTn id="31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3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000"/>
                            </p:stCondLst>
                            <p:childTnLst>
                              <p:par>
                                <p:cTn id="44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5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000"/>
                            </p:stCondLst>
                            <p:childTnLst>
                              <p:par>
                                <p:cTn id="57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9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63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000"/>
                            </p:stCondLst>
                            <p:childTnLst>
                              <p:par>
                                <p:cTn id="66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8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4000"/>
                            </p:stCondLst>
                            <p:childTnLst>
                              <p:par>
                                <p:cTn id="70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76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8" name="Rectangle 8"/>
          <p:cNvSpPr>
            <a:spLocks noGrp="1" noChangeArrowheads="1"/>
          </p:cNvSpPr>
          <p:nvPr>
            <p:ph type="title"/>
          </p:nvPr>
        </p:nvSpPr>
        <p:spPr>
          <a:xfrm>
            <a:off x="247161" y="310486"/>
            <a:ext cx="8534400" cy="758952"/>
          </a:xfrm>
        </p:spPr>
        <p:txBody>
          <a:bodyPr>
            <a:normAutofit fontScale="90000"/>
          </a:bodyPr>
          <a:lstStyle/>
          <a:p>
            <a:pPr marL="541338" indent="-541338"/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2.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Contrôle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 des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paramètres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système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 au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cours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 du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processus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d'amorçage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ectangle 9"/>
          <p:cNvSpPr>
            <a:spLocks noGrp="1" noChangeArrowheads="1"/>
          </p:cNvSpPr>
          <p:nvPr>
            <p:ph sz="quarter" idx="1"/>
          </p:nvPr>
        </p:nvSpPr>
        <p:spPr>
          <a:xfrm>
            <a:off x="287978" y="2496166"/>
            <a:ext cx="8504238" cy="2034891"/>
          </a:xfrm>
        </p:spPr>
        <p:txBody>
          <a:bodyPr/>
          <a:lstStyle/>
          <a:p>
            <a:pPr>
              <a:buClrTx/>
              <a:buFont typeface="Symbol" pitchFamily="18" charset="2"/>
              <a:buChar char="®"/>
            </a:pPr>
            <a:r>
              <a:rPr lang="fr-FR" dirty="0"/>
              <a:t>Étude des jeux de contrôles </a:t>
            </a:r>
            <a:endParaRPr lang="en-US" dirty="0"/>
          </a:p>
          <a:p>
            <a:pPr>
              <a:buClrTx/>
              <a:buFont typeface="Symbol" pitchFamily="18" charset="2"/>
              <a:buChar char="®"/>
            </a:pPr>
            <a:r>
              <a:rPr lang="fr-FR" dirty="0"/>
              <a:t>Étude de la sous-clé Select </a:t>
            </a:r>
            <a:endParaRPr lang="en-US" dirty="0"/>
          </a:p>
          <a:p>
            <a:pPr>
              <a:buClrTx/>
              <a:buFont typeface="Symbol" pitchFamily="18" charset="2"/>
              <a:buChar char="®"/>
            </a:pPr>
            <a:r>
              <a:rPr lang="fr-FR" dirty="0"/>
              <a:t>Utilisation de la dernière bonne configuration connue 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8" name="Rectangle 8"/>
          <p:cNvSpPr>
            <a:spLocks noGrp="1" noChangeArrowheads="1"/>
          </p:cNvSpPr>
          <p:nvPr>
            <p:ph type="title"/>
          </p:nvPr>
        </p:nvSpPr>
        <p:spPr>
          <a:xfrm>
            <a:off x="247161" y="310486"/>
            <a:ext cx="8534400" cy="758952"/>
          </a:xfrm>
        </p:spPr>
        <p:txBody>
          <a:bodyPr>
            <a:normAutofit/>
          </a:bodyPr>
          <a:lstStyle/>
          <a:p>
            <a:r>
              <a:rPr lang="fr-FR" sz="3000" dirty="0">
                <a:solidFill>
                  <a:srgbClr val="C00000"/>
                </a:solidFill>
              </a:rPr>
              <a:t>Étude des jeux de contrôles </a:t>
            </a:r>
            <a:endParaRPr lang="en-US" sz="3000" dirty="0">
              <a:solidFill>
                <a:srgbClr val="C00000"/>
              </a:solidFill>
            </a:endParaRPr>
          </a:p>
        </p:txBody>
      </p:sp>
      <p:sp>
        <p:nvSpPr>
          <p:cNvPr id="12" name="Espace réservé du contenu 11"/>
          <p:cNvSpPr>
            <a:spLocks noGrp="1"/>
          </p:cNvSpPr>
          <p:nvPr>
            <p:ph sz="quarter" idx="1"/>
          </p:nvPr>
        </p:nvSpPr>
        <p:spPr>
          <a:xfrm>
            <a:off x="315399" y="1334042"/>
            <a:ext cx="4057309" cy="5213472"/>
          </a:xfrm>
        </p:spPr>
        <p:txBody>
          <a:bodyPr>
            <a:normAutofit fontScale="92500" lnSpcReduction="10000"/>
          </a:bodyPr>
          <a:lstStyle/>
          <a:p>
            <a:pPr>
              <a:buClr>
                <a:schemeClr val="tx2"/>
              </a:buClr>
              <a:buFont typeface="Wingdings" pitchFamily="2" charset="2"/>
              <a:buChar char="Ø"/>
            </a:pPr>
            <a:r>
              <a:rPr lang="fr-FR" dirty="0"/>
              <a:t>Le </a:t>
            </a:r>
            <a:r>
              <a:rPr lang="fr-FR" i="1" dirty="0"/>
              <a:t>Registre est une base de données qui contient des informations relatives à la </a:t>
            </a:r>
            <a:r>
              <a:rPr lang="fr-FR" dirty="0"/>
              <a:t>configuration de votre ordinateur. </a:t>
            </a:r>
          </a:p>
          <a:p>
            <a:pPr>
              <a:buClr>
                <a:schemeClr val="tx2"/>
              </a:buClr>
              <a:buFont typeface="Wingdings" pitchFamily="2" charset="2"/>
              <a:buChar char="Ø"/>
            </a:pPr>
            <a:r>
              <a:rPr lang="fr-FR" dirty="0"/>
              <a:t>Il est organisé selon une structure hiérarchique de </a:t>
            </a:r>
            <a:r>
              <a:rPr lang="fr-FR" i="1" dirty="0"/>
              <a:t>clés et de sous-clés.</a:t>
            </a:r>
          </a:p>
          <a:p>
            <a:pPr>
              <a:buClr>
                <a:schemeClr val="tx2"/>
              </a:buClr>
              <a:buFont typeface="Wingdings" pitchFamily="2" charset="2"/>
              <a:buChar char="Ø"/>
            </a:pPr>
            <a:r>
              <a:rPr lang="fr-FR" dirty="0"/>
              <a:t>Pour modifier :Éditeur du Registre.</a:t>
            </a:r>
          </a:p>
          <a:p>
            <a:pPr>
              <a:buClr>
                <a:schemeClr val="tx2"/>
              </a:buClr>
              <a:buFont typeface="Wingdings" pitchFamily="2" charset="2"/>
              <a:buChar char="Ø"/>
            </a:pPr>
            <a:r>
              <a:rPr lang="fr-FR" dirty="0"/>
              <a:t>Pour démarrer l'Éditeur du Registre: </a:t>
            </a:r>
            <a:r>
              <a:rPr lang="fr-FR" b="1" dirty="0"/>
              <a:t>commande regedit</a:t>
            </a:r>
            <a:endParaRPr lang="fr-FR" dirty="0"/>
          </a:p>
        </p:txBody>
      </p:sp>
      <p:pic>
        <p:nvPicPr>
          <p:cNvPr id="2" name="Picture 6" descr="P2272b_W06-05-">
            <a:extLst>
              <a:ext uri="{FF2B5EF4-FFF2-40B4-BE49-F238E27FC236}">
                <a16:creationId xmlns:a16="http://schemas.microsoft.com/office/drawing/2014/main" id="{3B71AAD6-3D35-49A3-3288-F65C6F3A18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 l="-1" r="54250" b="25508"/>
          <a:stretch/>
        </p:blipFill>
        <p:spPr>
          <a:xfrm>
            <a:off x="4372708" y="1334042"/>
            <a:ext cx="4771292" cy="535983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2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2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20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3"/>
          <p:cNvSpPr>
            <a:spLocks noGrp="1" noChangeArrowheads="1"/>
          </p:cNvSpPr>
          <p:nvPr>
            <p:ph type="title"/>
          </p:nvPr>
        </p:nvSpPr>
        <p:spPr>
          <a:xfrm>
            <a:off x="301625" y="296863"/>
            <a:ext cx="8534400" cy="758825"/>
          </a:xfrm>
        </p:spPr>
        <p:txBody>
          <a:bodyPr/>
          <a:lstStyle/>
          <a:p>
            <a:r>
              <a:rPr lang="fr-FR" dirty="0">
                <a:solidFill>
                  <a:srgbClr val="C00000"/>
                </a:solidFill>
              </a:rPr>
              <a:t>Étude des jeux de contrôles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17411" name="Picture 6" descr="P2272b_W06-05-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605929" y="1296934"/>
            <a:ext cx="8060400" cy="5561066"/>
          </a:xfrm>
          <a:noFill/>
        </p:spPr>
      </p:pic>
      <p:sp>
        <p:nvSpPr>
          <p:cNvPr id="17412" name="Rectangle 4"/>
          <p:cNvSpPr>
            <a:spLocks noChangeArrowheads="1"/>
          </p:cNvSpPr>
          <p:nvPr/>
        </p:nvSpPr>
        <p:spPr bwMode="auto">
          <a:xfrm rot="16200000">
            <a:off x="6179029" y="1115705"/>
            <a:ext cx="1890214" cy="3111687"/>
          </a:xfrm>
          <a:prstGeom prst="upArrowCallout">
            <a:avLst>
              <a:gd name="adj1" fmla="val 13067"/>
              <a:gd name="adj2" fmla="val 22777"/>
              <a:gd name="adj3" fmla="val 37070"/>
              <a:gd name="adj4" fmla="val 6497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vert" wrap="square" anchor="ctr"/>
          <a:lstStyle/>
          <a:p>
            <a:pPr algn="ctr"/>
            <a:r>
              <a:rPr lang="en-US" sz="2200" dirty="0" err="1"/>
              <a:t>Pointeurs</a:t>
            </a:r>
            <a:r>
              <a:rPr lang="en-US" sz="2200" dirty="0"/>
              <a:t> </a:t>
            </a:r>
            <a:r>
              <a:rPr lang="en-US" sz="2200" dirty="0" err="1"/>
              <a:t>sur</a:t>
            </a:r>
            <a:r>
              <a:rPr lang="en-US" sz="2200" dirty="0"/>
              <a:t> des </a:t>
            </a:r>
            <a:r>
              <a:rPr lang="en-US" sz="2200" dirty="0" err="1"/>
              <a:t>jeux</a:t>
            </a:r>
            <a:r>
              <a:rPr lang="en-US" sz="2200" dirty="0"/>
              <a:t> de </a:t>
            </a:r>
            <a:br>
              <a:rPr lang="en-US" sz="2200" dirty="0"/>
            </a:br>
            <a:r>
              <a:rPr lang="en-US" sz="2200" dirty="0" err="1"/>
              <a:t>contrôles</a:t>
            </a:r>
            <a:r>
              <a:rPr lang="en-US" sz="2200" dirty="0"/>
              <a:t> </a:t>
            </a:r>
            <a:r>
              <a:rPr lang="en-US" sz="2200" dirty="0" err="1"/>
              <a:t>dans</a:t>
            </a:r>
            <a:r>
              <a:rPr lang="en-US" sz="2200" dirty="0"/>
              <a:t> la </a:t>
            </a:r>
            <a:r>
              <a:rPr lang="en-US" sz="2200" dirty="0" err="1"/>
              <a:t>clé</a:t>
            </a:r>
            <a:r>
              <a:rPr lang="en-US" sz="2200" dirty="0"/>
              <a:t> Select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 rot="16200000">
            <a:off x="3100317" y="3223147"/>
            <a:ext cx="1287437" cy="2147254"/>
          </a:xfrm>
          <a:prstGeom prst="upArrowCallout">
            <a:avLst>
              <a:gd name="adj1" fmla="val 13067"/>
              <a:gd name="adj2" fmla="val 22777"/>
              <a:gd name="adj3" fmla="val 16853"/>
              <a:gd name="adj4" fmla="val 6497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vert" wrap="square" anchor="ctr"/>
          <a:lstStyle/>
          <a:p>
            <a:pPr algn="ctr"/>
            <a:r>
              <a:rPr lang="en-US" sz="2200" dirty="0" err="1"/>
              <a:t>Jeux</a:t>
            </a:r>
            <a:r>
              <a:rPr lang="en-US" sz="2200" dirty="0"/>
              <a:t> de </a:t>
            </a:r>
            <a:br>
              <a:rPr lang="en-US" sz="2200" dirty="0"/>
            </a:br>
            <a:r>
              <a:rPr lang="en-US" sz="2200" dirty="0" err="1"/>
              <a:t>contrôles</a:t>
            </a:r>
            <a:endParaRPr lang="en-US" sz="2200" dirty="0"/>
          </a:p>
        </p:txBody>
      </p:sp>
      <p:sp>
        <p:nvSpPr>
          <p:cNvPr id="8" name="Rectangle 7"/>
          <p:cNvSpPr/>
          <p:nvPr/>
        </p:nvSpPr>
        <p:spPr>
          <a:xfrm>
            <a:off x="232011" y="5790401"/>
            <a:ext cx="8748215" cy="76944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r-FR" sz="2200" i="1" dirty="0"/>
              <a:t>sous-clé qui contient des </a:t>
            </a:r>
            <a:r>
              <a:rPr lang="fr-FR" sz="2200" dirty="0"/>
              <a:t>informations système (les pilotes de périphérique et les services à  charger et démarrer,…)</a:t>
            </a:r>
          </a:p>
        </p:txBody>
      </p:sp>
      <p:sp>
        <p:nvSpPr>
          <p:cNvPr id="9" name="Rectangle 8"/>
          <p:cNvSpPr/>
          <p:nvPr/>
        </p:nvSpPr>
        <p:spPr>
          <a:xfrm>
            <a:off x="234283" y="5860913"/>
            <a:ext cx="8748215" cy="76944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r-FR" sz="2200" dirty="0"/>
              <a:t>Déterminent à quel moment les jeux de contrôles sont utilisés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4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20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2" grpId="0" animBg="1"/>
      <p:bldP spid="7" grpId="0" animBg="1"/>
      <p:bldP spid="8" grpId="0" animBg="1"/>
      <p:bldP spid="8" grpId="1" animBg="1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6" descr="P2272b_W06-05-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46872" y="1296934"/>
            <a:ext cx="8060400" cy="5561066"/>
          </a:xfrm>
          <a:prstGeom prst="rect">
            <a:avLst/>
          </a:prstGeom>
          <a:noFill/>
        </p:spPr>
      </p:pic>
      <p:sp>
        <p:nvSpPr>
          <p:cNvPr id="66568" name="Rectangle 8"/>
          <p:cNvSpPr>
            <a:spLocks noGrp="1" noChangeArrowheads="1"/>
          </p:cNvSpPr>
          <p:nvPr>
            <p:ph type="title"/>
          </p:nvPr>
        </p:nvSpPr>
        <p:spPr>
          <a:xfrm>
            <a:off x="247161" y="310486"/>
            <a:ext cx="8534400" cy="758952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rgbClr val="C00000"/>
                </a:solidFill>
              </a:rPr>
              <a:t>Étude de la sous-clé Select </a:t>
            </a:r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>
          <a:xfrm>
            <a:off x="233513" y="310488"/>
            <a:ext cx="8534400" cy="758952"/>
          </a:xfrm>
        </p:spPr>
        <p:txBody>
          <a:bodyPr vert="horz" anchor="b">
            <a:normAutofit fontScale="90000"/>
          </a:bodyPr>
          <a:lstStyle/>
          <a:p>
            <a:r>
              <a:rPr lang="fr-FR" b="1" dirty="0">
                <a:solidFill>
                  <a:srgbClr val="C00000"/>
                </a:solidFill>
              </a:rPr>
              <a:t>Utilisation de la dernière configuration valide  connue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69655" name="Rectangle 23"/>
          <p:cNvSpPr>
            <a:spLocks noChangeArrowheads="1"/>
          </p:cNvSpPr>
          <p:nvPr/>
        </p:nvSpPr>
        <p:spPr bwMode="auto">
          <a:xfrm>
            <a:off x="212298" y="1310238"/>
            <a:ext cx="4332406" cy="477619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r>
              <a:rPr lang="en-US" sz="2400" i="1" u="sng" dirty="0" err="1">
                <a:solidFill>
                  <a:srgbClr val="0070C0"/>
                </a:solidFill>
              </a:rPr>
              <a:t>Changements</a:t>
            </a:r>
            <a:r>
              <a:rPr lang="en-US" sz="2400" i="1" u="sng" dirty="0">
                <a:solidFill>
                  <a:srgbClr val="0070C0"/>
                </a:solidFill>
              </a:rPr>
              <a:t> de configuration</a:t>
            </a:r>
          </a:p>
        </p:txBody>
      </p:sp>
      <p:sp>
        <p:nvSpPr>
          <p:cNvPr id="69658" name="Rectangle 26"/>
          <p:cNvSpPr>
            <a:spLocks noChangeArrowheads="1"/>
          </p:cNvSpPr>
          <p:nvPr/>
        </p:nvSpPr>
        <p:spPr bwMode="auto">
          <a:xfrm>
            <a:off x="177423" y="4184370"/>
            <a:ext cx="2825083" cy="1998066"/>
          </a:xfrm>
          <a:prstGeom prst="rect">
            <a:avLst/>
          </a:prstGeom>
          <a:gradFill rotWithShape="0">
            <a:gsLst>
              <a:gs pos="0">
                <a:srgbClr val="99CCFF">
                  <a:gamma/>
                  <a:tint val="4314"/>
                  <a:invGamma/>
                </a:srgbClr>
              </a:gs>
              <a:gs pos="100000">
                <a:srgbClr val="99CCFF"/>
              </a:gs>
            </a:gsLst>
            <a:lin ang="5400000" scaled="1"/>
          </a:gradFill>
          <a:ln w="9525">
            <a:solidFill>
              <a:srgbClr val="0033CC"/>
            </a:solidFill>
            <a:miter lim="800000"/>
            <a:headEnd/>
            <a:tailEnd/>
          </a:ln>
          <a:effectLst>
            <a:outerShdw dist="53882" dir="2700000" algn="ctr" rotWithShape="0">
              <a:srgbClr val="C0C0C0"/>
            </a:outerShdw>
          </a:effectLst>
        </p:spPr>
        <p:txBody>
          <a:bodyPr tIns="27432" bIns="27432" anchor="ctr"/>
          <a:lstStyle/>
          <a:p>
            <a:pPr algn="ctr">
              <a:lnSpc>
                <a:spcPct val="85000"/>
              </a:lnSpc>
            </a:pPr>
            <a:r>
              <a:rPr lang="en-US" sz="2200"/>
              <a:t>Modifiez les informations copiées dans la configuration par défaut</a:t>
            </a:r>
          </a:p>
        </p:txBody>
      </p:sp>
      <p:sp>
        <p:nvSpPr>
          <p:cNvPr id="69659" name="Line 27"/>
          <p:cNvSpPr>
            <a:spLocks noChangeShapeType="1"/>
          </p:cNvSpPr>
          <p:nvPr/>
        </p:nvSpPr>
        <p:spPr bwMode="auto">
          <a:xfrm>
            <a:off x="2986557" y="2001433"/>
            <a:ext cx="388800" cy="0"/>
          </a:xfrm>
          <a:prstGeom prst="line">
            <a:avLst/>
          </a:prstGeom>
          <a:noFill/>
          <a:ln w="88900">
            <a:solidFill>
              <a:srgbClr val="003399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69660" name="Line 28"/>
          <p:cNvSpPr>
            <a:spLocks noChangeShapeType="1"/>
          </p:cNvSpPr>
          <p:nvPr/>
        </p:nvSpPr>
        <p:spPr bwMode="auto">
          <a:xfrm>
            <a:off x="5443466" y="1987792"/>
            <a:ext cx="864000" cy="0"/>
          </a:xfrm>
          <a:prstGeom prst="line">
            <a:avLst/>
          </a:prstGeom>
          <a:noFill/>
          <a:ln w="88900">
            <a:solidFill>
              <a:srgbClr val="003399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69663" name="Rectangle 31"/>
          <p:cNvSpPr>
            <a:spLocks noChangeArrowheads="1"/>
          </p:cNvSpPr>
          <p:nvPr/>
        </p:nvSpPr>
        <p:spPr bwMode="auto">
          <a:xfrm>
            <a:off x="3353528" y="1831215"/>
            <a:ext cx="2091923" cy="734565"/>
          </a:xfrm>
          <a:prstGeom prst="rect">
            <a:avLst/>
          </a:prstGeom>
          <a:gradFill rotWithShape="0">
            <a:gsLst>
              <a:gs pos="0">
                <a:srgbClr val="99CCFF">
                  <a:gamma/>
                  <a:tint val="4314"/>
                  <a:invGamma/>
                </a:srgbClr>
              </a:gs>
              <a:gs pos="100000">
                <a:srgbClr val="99CCFF"/>
              </a:gs>
            </a:gsLst>
            <a:lin ang="5400000" scaled="1"/>
          </a:gradFill>
          <a:ln w="9525">
            <a:solidFill>
              <a:srgbClr val="0033CC"/>
            </a:solidFill>
            <a:miter lim="800000"/>
            <a:headEnd/>
            <a:tailEnd/>
          </a:ln>
          <a:effectLst>
            <a:outerShdw dist="53882" dir="2700000" algn="ctr" rotWithShape="0">
              <a:srgbClr val="C0C0C0"/>
            </a:outerShdw>
          </a:effectLst>
        </p:spPr>
        <p:txBody>
          <a:bodyPr tIns="27432" bIns="27432" anchor="ctr"/>
          <a:lstStyle/>
          <a:p>
            <a:pPr algn="ctr">
              <a:lnSpc>
                <a:spcPct val="85000"/>
              </a:lnSpc>
            </a:pPr>
            <a:r>
              <a:rPr lang="en-US" sz="2200" dirty="0" err="1"/>
              <a:t>Modifiez</a:t>
            </a:r>
            <a:r>
              <a:rPr lang="en-US" sz="2200" dirty="0"/>
              <a:t> la configuration</a:t>
            </a:r>
          </a:p>
        </p:txBody>
      </p:sp>
      <p:sp>
        <p:nvSpPr>
          <p:cNvPr id="69664" name="Rectangle 32"/>
          <p:cNvSpPr>
            <a:spLocks noChangeArrowheads="1"/>
          </p:cNvSpPr>
          <p:nvPr/>
        </p:nvSpPr>
        <p:spPr bwMode="auto">
          <a:xfrm>
            <a:off x="6264325" y="4070494"/>
            <a:ext cx="2623665" cy="1074710"/>
          </a:xfrm>
          <a:prstGeom prst="rect">
            <a:avLst/>
          </a:prstGeom>
          <a:gradFill rotWithShape="0">
            <a:gsLst>
              <a:gs pos="0">
                <a:srgbClr val="99CCFF">
                  <a:gamma/>
                  <a:tint val="4314"/>
                  <a:invGamma/>
                </a:srgbClr>
              </a:gs>
              <a:gs pos="100000">
                <a:srgbClr val="99CCFF"/>
              </a:gs>
            </a:gsLst>
            <a:lin ang="5400000" scaled="1"/>
          </a:gradFill>
          <a:ln w="9525">
            <a:solidFill>
              <a:srgbClr val="0033CC"/>
            </a:solidFill>
            <a:miter lim="800000"/>
            <a:headEnd/>
            <a:tailEnd/>
          </a:ln>
          <a:effectLst>
            <a:outerShdw dist="53882" dir="2700000" algn="ctr" rotWithShape="0">
              <a:srgbClr val="C0C0C0"/>
            </a:outerShdw>
          </a:effectLst>
        </p:spPr>
        <p:txBody>
          <a:bodyPr tIns="27432" bIns="27432" anchor="ctr"/>
          <a:lstStyle/>
          <a:p>
            <a:pPr algn="ctr">
              <a:lnSpc>
                <a:spcPct val="85000"/>
              </a:lnSpc>
            </a:pPr>
            <a:r>
              <a:rPr lang="en-US" sz="2200" dirty="0" err="1"/>
              <a:t>Arrêtez</a:t>
            </a:r>
            <a:r>
              <a:rPr lang="en-US" sz="2200" dirty="0"/>
              <a:t> </a:t>
            </a:r>
            <a:r>
              <a:rPr lang="en-US" sz="2200" dirty="0" err="1"/>
              <a:t>l'ordinateur</a:t>
            </a:r>
            <a:r>
              <a:rPr lang="en-US" sz="2200" dirty="0"/>
              <a:t> </a:t>
            </a:r>
            <a:r>
              <a:rPr lang="en-US" sz="2200" dirty="0" err="1"/>
              <a:t>ou</a:t>
            </a:r>
            <a:r>
              <a:rPr lang="en-US" sz="2200" dirty="0"/>
              <a:t> </a:t>
            </a:r>
            <a:r>
              <a:rPr lang="en-US" sz="2200" dirty="0" err="1"/>
              <a:t>fermez</a:t>
            </a:r>
            <a:r>
              <a:rPr lang="en-US" sz="2200" dirty="0"/>
              <a:t> la session</a:t>
            </a:r>
          </a:p>
        </p:txBody>
      </p:sp>
      <p:sp>
        <p:nvSpPr>
          <p:cNvPr id="69656" name="Rectangle 24"/>
          <p:cNvSpPr>
            <a:spLocks noChangeArrowheads="1"/>
          </p:cNvSpPr>
          <p:nvPr/>
        </p:nvSpPr>
        <p:spPr bwMode="auto">
          <a:xfrm>
            <a:off x="127730" y="1817567"/>
            <a:ext cx="2847482" cy="1703555"/>
          </a:xfrm>
          <a:prstGeom prst="rect">
            <a:avLst/>
          </a:prstGeom>
          <a:gradFill rotWithShape="0">
            <a:gsLst>
              <a:gs pos="0">
                <a:srgbClr val="99CCFF">
                  <a:gamma/>
                  <a:tint val="4314"/>
                  <a:invGamma/>
                </a:srgbClr>
              </a:gs>
              <a:gs pos="100000">
                <a:srgbClr val="99CCFF"/>
              </a:gs>
            </a:gsLst>
            <a:lin ang="5400000" scaled="1"/>
          </a:gradFill>
          <a:ln w="9525">
            <a:solidFill>
              <a:srgbClr val="0033CC"/>
            </a:solidFill>
            <a:miter lim="800000"/>
            <a:headEnd/>
            <a:tailEnd/>
          </a:ln>
          <a:effectLst>
            <a:outerShdw dist="53882" dir="2700000" algn="ctr" rotWithShape="0">
              <a:srgbClr val="C0C0C0"/>
            </a:outerShdw>
          </a:effectLst>
        </p:spPr>
        <p:txBody>
          <a:bodyPr tIns="27432" bIns="27432" anchor="ctr"/>
          <a:lstStyle/>
          <a:p>
            <a:pPr algn="ctr">
              <a:lnSpc>
                <a:spcPct val="85000"/>
              </a:lnSpc>
            </a:pPr>
            <a:r>
              <a:rPr lang="en-US" sz="2200" dirty="0" err="1"/>
              <a:t>Ouvrez</a:t>
            </a:r>
            <a:r>
              <a:rPr lang="en-US" sz="2200" dirty="0"/>
              <a:t> </a:t>
            </a:r>
            <a:r>
              <a:rPr lang="en-US" sz="2200" dirty="0" err="1"/>
              <a:t>une</a:t>
            </a:r>
            <a:r>
              <a:rPr lang="en-US" sz="2200" dirty="0"/>
              <a:t> session </a:t>
            </a:r>
            <a:r>
              <a:rPr lang="en-US" sz="2200" dirty="0" err="1"/>
              <a:t>sur</a:t>
            </a:r>
            <a:r>
              <a:rPr lang="en-US" sz="2200" dirty="0"/>
              <a:t> Windows 7 à </a:t>
            </a:r>
            <a:r>
              <a:rPr lang="en-US" sz="2200" dirty="0" err="1"/>
              <a:t>l'aide</a:t>
            </a:r>
            <a:r>
              <a:rPr lang="en-US" sz="2200" dirty="0"/>
              <a:t> de la configuration </a:t>
            </a:r>
            <a:br>
              <a:rPr lang="en-US" sz="2200" dirty="0"/>
            </a:br>
            <a:r>
              <a:rPr lang="en-US" sz="2200" dirty="0"/>
              <a:t>par </a:t>
            </a:r>
            <a:r>
              <a:rPr lang="en-US" sz="2200" dirty="0" err="1"/>
              <a:t>défaut</a:t>
            </a:r>
            <a:endParaRPr lang="en-US" sz="2200" dirty="0"/>
          </a:p>
        </p:txBody>
      </p:sp>
      <p:sp>
        <p:nvSpPr>
          <p:cNvPr id="69657" name="Rectangle 25"/>
          <p:cNvSpPr>
            <a:spLocks noChangeArrowheads="1"/>
          </p:cNvSpPr>
          <p:nvPr/>
        </p:nvSpPr>
        <p:spPr bwMode="auto">
          <a:xfrm>
            <a:off x="6277970" y="1803927"/>
            <a:ext cx="2632429" cy="1048455"/>
          </a:xfrm>
          <a:prstGeom prst="rect">
            <a:avLst/>
          </a:prstGeom>
          <a:gradFill rotWithShape="0">
            <a:gsLst>
              <a:gs pos="0">
                <a:srgbClr val="99CCFF">
                  <a:gamma/>
                  <a:tint val="4314"/>
                  <a:invGamma/>
                </a:srgbClr>
              </a:gs>
              <a:gs pos="100000">
                <a:srgbClr val="99CCFF"/>
              </a:gs>
            </a:gsLst>
            <a:lin ang="5400000" scaled="1"/>
          </a:gradFill>
          <a:ln w="9525">
            <a:solidFill>
              <a:srgbClr val="0033CC"/>
            </a:solidFill>
            <a:miter lim="800000"/>
            <a:headEnd/>
            <a:tailEnd/>
          </a:ln>
          <a:effectLst>
            <a:outerShdw dist="53882" dir="2700000" algn="ctr" rotWithShape="0">
              <a:srgbClr val="C0C0C0"/>
            </a:outerShdw>
          </a:effectLst>
        </p:spPr>
        <p:txBody>
          <a:bodyPr tIns="27432" bIns="27432" anchor="ctr"/>
          <a:lstStyle/>
          <a:p>
            <a:pPr algn="ctr">
              <a:lnSpc>
                <a:spcPct val="85000"/>
              </a:lnSpc>
            </a:pPr>
            <a:r>
              <a:rPr lang="en-US" sz="2200" dirty="0"/>
              <a:t>Modifications </a:t>
            </a:r>
            <a:r>
              <a:rPr lang="en-US" sz="2200" dirty="0" err="1"/>
              <a:t>enregistrées</a:t>
            </a:r>
            <a:r>
              <a:rPr lang="en-US" sz="2200" dirty="0"/>
              <a:t> </a:t>
            </a:r>
            <a:r>
              <a:rPr lang="en-US" sz="2200" dirty="0" err="1"/>
              <a:t>dans</a:t>
            </a:r>
            <a:r>
              <a:rPr lang="en-US" sz="2200" dirty="0"/>
              <a:t> </a:t>
            </a:r>
            <a:r>
              <a:rPr lang="en-US" sz="2200" dirty="0" err="1">
                <a:solidFill>
                  <a:srgbClr val="002060"/>
                </a:solidFill>
              </a:rPr>
              <a:t>CurrentControlSet</a:t>
            </a:r>
            <a:endParaRPr lang="en-US" sz="2200" dirty="0">
              <a:solidFill>
                <a:srgbClr val="002060"/>
              </a:solidFill>
            </a:endParaRPr>
          </a:p>
        </p:txBody>
      </p:sp>
      <p:sp>
        <p:nvSpPr>
          <p:cNvPr id="31" name="Line 27"/>
          <p:cNvSpPr>
            <a:spLocks noChangeShapeType="1"/>
          </p:cNvSpPr>
          <p:nvPr/>
        </p:nvSpPr>
        <p:spPr bwMode="auto">
          <a:xfrm rot="16200000" flipH="1" flipV="1">
            <a:off x="5955867" y="3455863"/>
            <a:ext cx="1224000" cy="0"/>
          </a:xfrm>
          <a:prstGeom prst="line">
            <a:avLst/>
          </a:prstGeom>
          <a:noFill/>
          <a:ln w="88900">
            <a:solidFill>
              <a:srgbClr val="003399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32" name="Line 27"/>
          <p:cNvSpPr>
            <a:spLocks noChangeShapeType="1"/>
          </p:cNvSpPr>
          <p:nvPr/>
        </p:nvSpPr>
        <p:spPr bwMode="auto">
          <a:xfrm rot="10800000">
            <a:off x="2969928" y="5035783"/>
            <a:ext cx="3276000" cy="0"/>
          </a:xfrm>
          <a:prstGeom prst="line">
            <a:avLst/>
          </a:prstGeom>
          <a:noFill/>
          <a:ln w="88900">
            <a:solidFill>
              <a:srgbClr val="003399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696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696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696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696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000" fill="hold"/>
                                        <p:tgtEl>
                                          <p:spTgt spid="696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000" fill="hold"/>
                                        <p:tgtEl>
                                          <p:spTgt spid="696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2000" fill="hold"/>
                                        <p:tgtEl>
                                          <p:spTgt spid="696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2000" fill="hold"/>
                                        <p:tgtEl>
                                          <p:spTgt spid="696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000" fill="hold"/>
                                        <p:tgtEl>
                                          <p:spTgt spid="696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000" fill="hold"/>
                                        <p:tgtEl>
                                          <p:spTgt spid="696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2000" fill="hold"/>
                                        <p:tgtEl>
                                          <p:spTgt spid="696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2000" fill="hold"/>
                                        <p:tgtEl>
                                          <p:spTgt spid="696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2000" fill="hold"/>
                                        <p:tgtEl>
                                          <p:spTgt spid="696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2000" fill="hold"/>
                                        <p:tgtEl>
                                          <p:spTgt spid="696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59" grpId="0" animBg="1"/>
      <p:bldP spid="6965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>
          <a:xfrm>
            <a:off x="301752" y="310486"/>
            <a:ext cx="8534400" cy="758952"/>
          </a:xfrm>
        </p:spPr>
        <p:txBody>
          <a:bodyPr vert="horz" anchor="b">
            <a:normAutofit fontScale="90000"/>
          </a:bodyPr>
          <a:lstStyle/>
          <a:p>
            <a:r>
              <a:rPr lang="fr-FR" b="1" dirty="0">
                <a:solidFill>
                  <a:srgbClr val="C00000"/>
                </a:solidFill>
              </a:rPr>
              <a:t>Utilisation de la dernière configuration valide connue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69636" name="Rectangle 4"/>
          <p:cNvSpPr>
            <a:spLocks noChangeArrowheads="1"/>
          </p:cNvSpPr>
          <p:nvPr/>
        </p:nvSpPr>
        <p:spPr bwMode="auto">
          <a:xfrm>
            <a:off x="212299" y="1332321"/>
            <a:ext cx="8399438" cy="4418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r>
              <a:rPr lang="en-US" sz="2400" i="1" u="sng" dirty="0" err="1">
                <a:solidFill>
                  <a:srgbClr val="0070C0"/>
                </a:solidFill>
              </a:rPr>
              <a:t>Utilisation</a:t>
            </a:r>
            <a:r>
              <a:rPr lang="en-US" sz="2400" i="1" u="sng" dirty="0">
                <a:solidFill>
                  <a:srgbClr val="0070C0"/>
                </a:solidFill>
              </a:rPr>
              <a:t> de la </a:t>
            </a:r>
            <a:r>
              <a:rPr lang="en-US" sz="2400" i="1" u="sng" dirty="0" err="1">
                <a:solidFill>
                  <a:srgbClr val="0070C0"/>
                </a:solidFill>
              </a:rPr>
              <a:t>dernière</a:t>
            </a:r>
            <a:r>
              <a:rPr lang="en-US" sz="2400" i="1" u="sng" dirty="0">
                <a:solidFill>
                  <a:srgbClr val="0070C0"/>
                </a:solidFill>
              </a:rPr>
              <a:t> configuration </a:t>
            </a:r>
            <a:r>
              <a:rPr lang="en-US" sz="2400" i="1" u="sng" dirty="0" err="1">
                <a:solidFill>
                  <a:srgbClr val="0070C0"/>
                </a:solidFill>
              </a:rPr>
              <a:t>valide</a:t>
            </a:r>
            <a:r>
              <a:rPr lang="en-US" sz="2400" i="1" u="sng" dirty="0">
                <a:solidFill>
                  <a:srgbClr val="0070C0"/>
                </a:solidFill>
              </a:rPr>
              <a:t> </a:t>
            </a:r>
            <a:r>
              <a:rPr lang="en-US" sz="2400" i="1" u="sng" dirty="0" err="1">
                <a:solidFill>
                  <a:srgbClr val="0070C0"/>
                </a:solidFill>
              </a:rPr>
              <a:t>connue</a:t>
            </a:r>
            <a:endParaRPr lang="en-US" sz="2400" i="1" u="sng" dirty="0">
              <a:solidFill>
                <a:srgbClr val="0070C0"/>
              </a:solidFill>
            </a:endParaRPr>
          </a:p>
        </p:txBody>
      </p:sp>
      <p:sp>
        <p:nvSpPr>
          <p:cNvPr id="69638" name="Rectangle 6"/>
          <p:cNvSpPr>
            <a:spLocks noChangeArrowheads="1"/>
          </p:cNvSpPr>
          <p:nvPr/>
        </p:nvSpPr>
        <p:spPr bwMode="auto">
          <a:xfrm>
            <a:off x="168680" y="1848233"/>
            <a:ext cx="2206030" cy="1563707"/>
          </a:xfrm>
          <a:prstGeom prst="rect">
            <a:avLst/>
          </a:prstGeom>
          <a:gradFill rotWithShape="0">
            <a:gsLst>
              <a:gs pos="0">
                <a:srgbClr val="99CCFF">
                  <a:gamma/>
                  <a:tint val="4314"/>
                  <a:invGamma/>
                </a:srgbClr>
              </a:gs>
              <a:gs pos="100000">
                <a:srgbClr val="99CCFF"/>
              </a:gs>
            </a:gsLst>
            <a:lin ang="5400000" scaled="1"/>
          </a:gradFill>
          <a:ln w="9525">
            <a:solidFill>
              <a:srgbClr val="0033CC"/>
            </a:solidFill>
            <a:miter lim="800000"/>
            <a:headEnd/>
            <a:tailEnd/>
          </a:ln>
          <a:effectLst>
            <a:outerShdw dist="53882" dir="2700000" algn="ctr" rotWithShape="0">
              <a:srgbClr val="C0C0C0"/>
            </a:outerShdw>
          </a:effectLst>
        </p:spPr>
        <p:txBody>
          <a:bodyPr tIns="27432" bIns="27432" anchor="ctr"/>
          <a:lstStyle/>
          <a:p>
            <a:pPr algn="ctr">
              <a:lnSpc>
                <a:spcPct val="85000"/>
              </a:lnSpc>
            </a:pPr>
            <a:r>
              <a:rPr lang="en-US" sz="2000" dirty="0" err="1"/>
              <a:t>Ouvrez</a:t>
            </a:r>
            <a:r>
              <a:rPr lang="en-US" sz="2000" dirty="0"/>
              <a:t> </a:t>
            </a:r>
            <a:r>
              <a:rPr lang="en-US" sz="2000" dirty="0" err="1"/>
              <a:t>une</a:t>
            </a:r>
            <a:r>
              <a:rPr lang="en-US" sz="2000" dirty="0"/>
              <a:t> session </a:t>
            </a:r>
            <a:r>
              <a:rPr lang="en-US" sz="2000" dirty="0" err="1"/>
              <a:t>sur</a:t>
            </a:r>
            <a:r>
              <a:rPr lang="en-US" sz="2000" dirty="0"/>
              <a:t> Windows 7 à </a:t>
            </a:r>
            <a:r>
              <a:rPr lang="en-US" sz="2000" dirty="0" err="1"/>
              <a:t>l'aide</a:t>
            </a:r>
            <a:r>
              <a:rPr lang="en-US" sz="2000" dirty="0"/>
              <a:t> de la configuration par </a:t>
            </a:r>
            <a:r>
              <a:rPr lang="en-US" sz="2000" dirty="0" err="1"/>
              <a:t>défaut</a:t>
            </a:r>
            <a:endParaRPr lang="en-US" sz="2000" dirty="0"/>
          </a:p>
        </p:txBody>
      </p:sp>
      <p:sp>
        <p:nvSpPr>
          <p:cNvPr id="69643" name="Text Box 11"/>
          <p:cNvSpPr txBox="1">
            <a:spLocks noChangeArrowheads="1"/>
          </p:cNvSpPr>
          <p:nvPr/>
        </p:nvSpPr>
        <p:spPr bwMode="auto">
          <a:xfrm>
            <a:off x="5622782" y="2232623"/>
            <a:ext cx="671513" cy="3277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85000"/>
              </a:lnSpc>
              <a:spcBef>
                <a:spcPct val="50000"/>
              </a:spcBef>
            </a:pPr>
            <a:r>
              <a:rPr lang="en-US" dirty="0" err="1">
                <a:solidFill>
                  <a:srgbClr val="002060"/>
                </a:solidFill>
              </a:rPr>
              <a:t>Oui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69645" name="Text Box 13"/>
          <p:cNvSpPr txBox="1">
            <a:spLocks noChangeArrowheads="1"/>
          </p:cNvSpPr>
          <p:nvPr/>
        </p:nvSpPr>
        <p:spPr bwMode="auto">
          <a:xfrm>
            <a:off x="7723590" y="3215261"/>
            <a:ext cx="671513" cy="3277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85000"/>
              </a:lnSpc>
              <a:spcBef>
                <a:spcPct val="50000"/>
              </a:spcBef>
            </a:pPr>
            <a:r>
              <a:rPr lang="en-US" dirty="0" err="1">
                <a:solidFill>
                  <a:srgbClr val="002060"/>
                </a:solidFill>
              </a:rPr>
              <a:t>Oui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69646" name="Rectangle 14"/>
          <p:cNvSpPr>
            <a:spLocks noChangeArrowheads="1"/>
          </p:cNvSpPr>
          <p:nvPr/>
        </p:nvSpPr>
        <p:spPr bwMode="auto">
          <a:xfrm>
            <a:off x="6100549" y="3985157"/>
            <a:ext cx="2975211" cy="1897037"/>
          </a:xfrm>
          <a:prstGeom prst="rect">
            <a:avLst/>
          </a:prstGeom>
          <a:gradFill rotWithShape="0">
            <a:gsLst>
              <a:gs pos="0">
                <a:srgbClr val="99CCFF">
                  <a:gamma/>
                  <a:tint val="4314"/>
                  <a:invGamma/>
                </a:srgbClr>
              </a:gs>
              <a:gs pos="100000">
                <a:srgbClr val="99CCFF"/>
              </a:gs>
            </a:gsLst>
            <a:lin ang="5400000" scaled="1"/>
          </a:gradFill>
          <a:ln w="9525">
            <a:solidFill>
              <a:srgbClr val="0033CC"/>
            </a:solidFill>
            <a:miter lim="800000"/>
            <a:headEnd/>
            <a:tailEnd/>
          </a:ln>
          <a:effectLst>
            <a:outerShdw dist="53882" dir="2700000" algn="ctr" rotWithShape="0">
              <a:srgbClr val="C0C0C0"/>
            </a:outerShdw>
          </a:effectLst>
        </p:spPr>
        <p:txBody>
          <a:bodyPr tIns="27432" bIns="27432" anchor="ctr"/>
          <a:lstStyle/>
          <a:p>
            <a:pPr algn="ctr">
              <a:lnSpc>
                <a:spcPct val="85000"/>
              </a:lnSpc>
            </a:pPr>
            <a:r>
              <a:rPr lang="en-US" sz="2200" dirty="0"/>
              <a:t>Configuration </a:t>
            </a:r>
            <a:r>
              <a:rPr lang="en-US" sz="2200" dirty="0" err="1"/>
              <a:t>actuelle</a:t>
            </a:r>
            <a:r>
              <a:rPr lang="en-US" sz="2200" dirty="0"/>
              <a:t> </a:t>
            </a:r>
            <a:r>
              <a:rPr lang="en-US" sz="2200" dirty="0" err="1"/>
              <a:t>copiée</a:t>
            </a:r>
            <a:r>
              <a:rPr lang="en-US" sz="2200" dirty="0"/>
              <a:t> </a:t>
            </a:r>
            <a:r>
              <a:rPr lang="en-US" sz="2200" dirty="0" err="1"/>
              <a:t>vers</a:t>
            </a:r>
            <a:r>
              <a:rPr lang="en-US" sz="2200" dirty="0"/>
              <a:t> la </a:t>
            </a:r>
            <a:r>
              <a:rPr lang="en-US" sz="2200" dirty="0" err="1"/>
              <a:t>dernière</a:t>
            </a:r>
            <a:r>
              <a:rPr lang="en-US" sz="2200" dirty="0"/>
              <a:t> configuration </a:t>
            </a:r>
            <a:r>
              <a:rPr lang="en-US" sz="2200" dirty="0" err="1"/>
              <a:t>valide</a:t>
            </a:r>
            <a:r>
              <a:rPr lang="en-US" sz="2200" dirty="0"/>
              <a:t> </a:t>
            </a:r>
            <a:r>
              <a:rPr lang="en-US" sz="2200" dirty="0" err="1"/>
              <a:t>connue</a:t>
            </a:r>
            <a:r>
              <a:rPr lang="en-US" sz="2200" dirty="0"/>
              <a:t> </a:t>
            </a:r>
            <a:r>
              <a:rPr lang="en-US" sz="2200" dirty="0" err="1"/>
              <a:t>sous</a:t>
            </a:r>
            <a:r>
              <a:rPr lang="en-US" sz="2200" dirty="0"/>
              <a:t> </a:t>
            </a:r>
            <a:br>
              <a:rPr lang="en-US" sz="2200" dirty="0"/>
            </a:br>
            <a:r>
              <a:rPr lang="en-US" sz="2200" dirty="0" err="1"/>
              <a:t>forme</a:t>
            </a:r>
            <a:r>
              <a:rPr lang="en-US" sz="2200" dirty="0"/>
              <a:t> de clone</a:t>
            </a:r>
          </a:p>
        </p:txBody>
      </p:sp>
      <p:sp>
        <p:nvSpPr>
          <p:cNvPr id="69647" name="Rectangle 15"/>
          <p:cNvSpPr>
            <a:spLocks noChangeArrowheads="1"/>
          </p:cNvSpPr>
          <p:nvPr/>
        </p:nvSpPr>
        <p:spPr bwMode="auto">
          <a:xfrm>
            <a:off x="0" y="4995653"/>
            <a:ext cx="2388358" cy="1275493"/>
          </a:xfrm>
          <a:prstGeom prst="rect">
            <a:avLst/>
          </a:prstGeom>
          <a:gradFill rotWithShape="0">
            <a:gsLst>
              <a:gs pos="0">
                <a:srgbClr val="99CCFF">
                  <a:gamma/>
                  <a:tint val="4314"/>
                  <a:invGamma/>
                </a:srgbClr>
              </a:gs>
              <a:gs pos="100000">
                <a:srgbClr val="99CCFF"/>
              </a:gs>
            </a:gsLst>
            <a:lin ang="5400000" scaled="1"/>
          </a:gradFill>
          <a:ln w="9525">
            <a:solidFill>
              <a:srgbClr val="0033CC"/>
            </a:solidFill>
            <a:miter lim="800000"/>
            <a:headEnd/>
            <a:tailEnd/>
          </a:ln>
          <a:effectLst>
            <a:outerShdw dist="53882" dir="2700000" algn="ctr" rotWithShape="0">
              <a:srgbClr val="C0C0C0"/>
            </a:outerShdw>
          </a:effectLst>
        </p:spPr>
        <p:txBody>
          <a:bodyPr tIns="27432" bIns="27432" anchor="ctr"/>
          <a:lstStyle/>
          <a:p>
            <a:pPr algn="ctr">
              <a:lnSpc>
                <a:spcPct val="85000"/>
              </a:lnSpc>
            </a:pPr>
            <a:r>
              <a:rPr lang="en-US" sz="2200" dirty="0" err="1"/>
              <a:t>Utilisez</a:t>
            </a:r>
            <a:r>
              <a:rPr lang="en-US" sz="2200" dirty="0"/>
              <a:t> la </a:t>
            </a:r>
            <a:br>
              <a:rPr lang="en-US" sz="2200" dirty="0"/>
            </a:br>
            <a:r>
              <a:rPr lang="en-US" sz="2200" dirty="0" err="1"/>
              <a:t>dernière</a:t>
            </a:r>
            <a:r>
              <a:rPr lang="en-US" sz="2200" dirty="0"/>
              <a:t> configuration </a:t>
            </a:r>
            <a:r>
              <a:rPr lang="en-US" sz="2200" dirty="0" err="1"/>
              <a:t>valide</a:t>
            </a:r>
            <a:r>
              <a:rPr lang="en-US" sz="2200" dirty="0"/>
              <a:t> </a:t>
            </a:r>
            <a:r>
              <a:rPr lang="en-US" sz="2200" dirty="0" err="1"/>
              <a:t>connue</a:t>
            </a:r>
            <a:endParaRPr lang="en-US" sz="2200" dirty="0"/>
          </a:p>
        </p:txBody>
      </p:sp>
      <p:sp>
        <p:nvSpPr>
          <p:cNvPr id="69649" name="Rectangle 17"/>
          <p:cNvSpPr>
            <a:spLocks noChangeArrowheads="1"/>
          </p:cNvSpPr>
          <p:nvPr/>
        </p:nvSpPr>
        <p:spPr bwMode="auto">
          <a:xfrm>
            <a:off x="3396706" y="4971676"/>
            <a:ext cx="1939569" cy="746736"/>
          </a:xfrm>
          <a:prstGeom prst="rect">
            <a:avLst/>
          </a:prstGeom>
          <a:gradFill rotWithShape="0">
            <a:gsLst>
              <a:gs pos="0">
                <a:srgbClr val="99CCFF">
                  <a:gamma/>
                  <a:tint val="4314"/>
                  <a:invGamma/>
                </a:srgbClr>
              </a:gs>
              <a:gs pos="100000">
                <a:srgbClr val="99CCFF"/>
              </a:gs>
            </a:gsLst>
            <a:lin ang="5400000" scaled="1"/>
          </a:gradFill>
          <a:ln w="9525">
            <a:solidFill>
              <a:srgbClr val="0033CC"/>
            </a:solidFill>
            <a:miter lim="800000"/>
            <a:headEnd/>
            <a:tailEnd/>
          </a:ln>
          <a:effectLst>
            <a:outerShdw dist="53882" dir="2700000" algn="ctr" rotWithShape="0">
              <a:srgbClr val="C0C0C0"/>
            </a:outerShdw>
          </a:effectLst>
        </p:spPr>
        <p:txBody>
          <a:bodyPr tIns="27432" bIns="27432" anchor="ctr"/>
          <a:lstStyle/>
          <a:p>
            <a:pPr algn="ctr">
              <a:lnSpc>
                <a:spcPct val="85000"/>
              </a:lnSpc>
            </a:pPr>
            <a:r>
              <a:rPr lang="en-US" sz="2200"/>
              <a:t>Redémarrez l'ordinateur</a:t>
            </a:r>
          </a:p>
        </p:txBody>
      </p:sp>
      <p:sp>
        <p:nvSpPr>
          <p:cNvPr id="69653" name="Text Box 21"/>
          <p:cNvSpPr txBox="1">
            <a:spLocks noChangeArrowheads="1"/>
          </p:cNvSpPr>
          <p:nvPr/>
        </p:nvSpPr>
        <p:spPr bwMode="auto">
          <a:xfrm>
            <a:off x="4547668" y="3259949"/>
            <a:ext cx="671512" cy="3277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85000"/>
              </a:lnSpc>
              <a:spcBef>
                <a:spcPct val="50000"/>
              </a:spcBef>
            </a:pPr>
            <a:r>
              <a:rPr lang="en-US" dirty="0">
                <a:solidFill>
                  <a:srgbClr val="002060"/>
                </a:solidFill>
              </a:rPr>
              <a:t>Non</a:t>
            </a:r>
          </a:p>
        </p:txBody>
      </p:sp>
      <p:sp>
        <p:nvSpPr>
          <p:cNvPr id="69648" name="Rectangle 16"/>
          <p:cNvSpPr>
            <a:spLocks noChangeArrowheads="1"/>
          </p:cNvSpPr>
          <p:nvPr/>
        </p:nvSpPr>
        <p:spPr bwMode="auto">
          <a:xfrm>
            <a:off x="3445893" y="3575713"/>
            <a:ext cx="1835789" cy="754779"/>
          </a:xfrm>
          <a:prstGeom prst="rect">
            <a:avLst/>
          </a:prstGeom>
          <a:gradFill rotWithShape="0">
            <a:gsLst>
              <a:gs pos="0">
                <a:srgbClr val="99CCFF">
                  <a:gamma/>
                  <a:tint val="4314"/>
                  <a:invGamma/>
                </a:srgbClr>
              </a:gs>
              <a:gs pos="100000">
                <a:srgbClr val="99CCFF"/>
              </a:gs>
            </a:gsLst>
            <a:lin ang="5400000" scaled="1"/>
          </a:gradFill>
          <a:ln w="9525">
            <a:solidFill>
              <a:srgbClr val="0033CC"/>
            </a:solidFill>
            <a:miter lim="800000"/>
            <a:headEnd/>
            <a:tailEnd/>
          </a:ln>
          <a:effectLst>
            <a:outerShdw dist="53882" dir="2700000" algn="ctr" rotWithShape="0">
              <a:srgbClr val="C0C0C0"/>
            </a:outerShdw>
          </a:effectLst>
        </p:spPr>
        <p:txBody>
          <a:bodyPr tIns="27432" bIns="27432" anchor="ctr"/>
          <a:lstStyle/>
          <a:p>
            <a:pPr algn="ctr">
              <a:lnSpc>
                <a:spcPct val="85000"/>
              </a:lnSpc>
            </a:pPr>
            <a:r>
              <a:rPr lang="en-US" sz="2200" dirty="0" err="1"/>
              <a:t>Arrêtez</a:t>
            </a:r>
            <a:r>
              <a:rPr lang="en-US" sz="2200" dirty="0"/>
              <a:t> </a:t>
            </a:r>
            <a:r>
              <a:rPr lang="en-US" sz="2200" dirty="0" err="1"/>
              <a:t>l'ordinateur</a:t>
            </a:r>
            <a:endParaRPr lang="en-US" sz="2200" dirty="0"/>
          </a:p>
        </p:txBody>
      </p:sp>
      <p:sp>
        <p:nvSpPr>
          <p:cNvPr id="31" name="Line 27"/>
          <p:cNvSpPr>
            <a:spLocks noChangeShapeType="1"/>
          </p:cNvSpPr>
          <p:nvPr/>
        </p:nvSpPr>
        <p:spPr bwMode="auto">
          <a:xfrm>
            <a:off x="2399703" y="2656526"/>
            <a:ext cx="504000" cy="0"/>
          </a:xfrm>
          <a:prstGeom prst="line">
            <a:avLst/>
          </a:prstGeom>
          <a:noFill/>
          <a:ln w="88900">
            <a:solidFill>
              <a:srgbClr val="003399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32" name="Line 27"/>
          <p:cNvSpPr>
            <a:spLocks noChangeShapeType="1"/>
          </p:cNvSpPr>
          <p:nvPr/>
        </p:nvSpPr>
        <p:spPr bwMode="auto">
          <a:xfrm>
            <a:off x="5827566" y="2686095"/>
            <a:ext cx="396000" cy="0"/>
          </a:xfrm>
          <a:prstGeom prst="line">
            <a:avLst/>
          </a:prstGeom>
          <a:noFill/>
          <a:ln w="88900">
            <a:solidFill>
              <a:srgbClr val="003399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33" name="Line 27"/>
          <p:cNvSpPr>
            <a:spLocks noChangeShapeType="1"/>
          </p:cNvSpPr>
          <p:nvPr/>
        </p:nvSpPr>
        <p:spPr bwMode="auto">
          <a:xfrm rot="16200000" flipH="1" flipV="1">
            <a:off x="4192100" y="3452642"/>
            <a:ext cx="388800" cy="0"/>
          </a:xfrm>
          <a:prstGeom prst="line">
            <a:avLst/>
          </a:prstGeom>
          <a:noFill/>
          <a:ln w="88900">
            <a:solidFill>
              <a:srgbClr val="003399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34" name="Line 27"/>
          <p:cNvSpPr>
            <a:spLocks noChangeShapeType="1"/>
          </p:cNvSpPr>
          <p:nvPr/>
        </p:nvSpPr>
        <p:spPr bwMode="auto">
          <a:xfrm rot="16200000" flipH="1" flipV="1">
            <a:off x="4094148" y="4664880"/>
            <a:ext cx="612000" cy="0"/>
          </a:xfrm>
          <a:prstGeom prst="line">
            <a:avLst/>
          </a:prstGeom>
          <a:noFill/>
          <a:ln w="88900">
            <a:solidFill>
              <a:srgbClr val="003399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35" name="Line 27"/>
          <p:cNvSpPr>
            <a:spLocks noChangeShapeType="1"/>
          </p:cNvSpPr>
          <p:nvPr/>
        </p:nvSpPr>
        <p:spPr bwMode="auto">
          <a:xfrm rot="16200000" flipH="1" flipV="1">
            <a:off x="7197724" y="3592243"/>
            <a:ext cx="792000" cy="0"/>
          </a:xfrm>
          <a:prstGeom prst="line">
            <a:avLst/>
          </a:prstGeom>
          <a:noFill/>
          <a:ln w="88900">
            <a:solidFill>
              <a:srgbClr val="003399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37" name="Line 27"/>
          <p:cNvSpPr>
            <a:spLocks noChangeShapeType="1"/>
          </p:cNvSpPr>
          <p:nvPr/>
        </p:nvSpPr>
        <p:spPr bwMode="auto">
          <a:xfrm rot="10800000" flipV="1">
            <a:off x="2353301" y="5115391"/>
            <a:ext cx="1044000" cy="0"/>
          </a:xfrm>
          <a:prstGeom prst="line">
            <a:avLst/>
          </a:prstGeom>
          <a:noFill/>
          <a:ln w="88900">
            <a:solidFill>
              <a:srgbClr val="003399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69642" name="AutoShape 10"/>
          <p:cNvSpPr>
            <a:spLocks noChangeArrowheads="1"/>
          </p:cNvSpPr>
          <p:nvPr/>
        </p:nvSpPr>
        <p:spPr bwMode="auto">
          <a:xfrm>
            <a:off x="6169403" y="2104034"/>
            <a:ext cx="2797176" cy="1139825"/>
          </a:xfrm>
          <a:prstGeom prst="flowChartDecision">
            <a:avLst/>
          </a:prstGeom>
          <a:gradFill rotWithShape="0">
            <a:gsLst>
              <a:gs pos="0">
                <a:srgbClr val="99CCFF">
                  <a:gamma/>
                  <a:tint val="4314"/>
                  <a:invGamma/>
                </a:srgbClr>
              </a:gs>
              <a:gs pos="100000">
                <a:srgbClr val="99CCFF"/>
              </a:gs>
            </a:gsLst>
            <a:lin ang="5400000" scaled="1"/>
          </a:gradFill>
          <a:ln w="9525">
            <a:solidFill>
              <a:srgbClr val="0033CC"/>
            </a:solidFill>
            <a:miter lim="800000"/>
            <a:headEnd/>
            <a:tailEnd/>
          </a:ln>
          <a:effectLst>
            <a:outerShdw dist="53882" dir="2700000" algn="ctr" rotWithShape="0">
              <a:srgbClr val="C0C0C0"/>
            </a:outerShdw>
          </a:effectLst>
        </p:spPr>
        <p:txBody>
          <a:bodyPr tIns="27432" bIns="27432" anchor="ctr"/>
          <a:lstStyle/>
          <a:p>
            <a:pPr algn="ctr">
              <a:lnSpc>
                <a:spcPct val="85000"/>
              </a:lnSpc>
            </a:pPr>
            <a:r>
              <a:rPr lang="en-US" sz="2000" b="0" dirty="0" err="1"/>
              <a:t>Ouverture </a:t>
            </a:r>
            <a:br>
              <a:rPr lang="en-US" sz="2000" b="0" dirty="0" err="1"/>
            </a:br>
            <a:r>
              <a:rPr lang="en-US" sz="2000" b="0" dirty="0" err="1"/>
              <a:t>de session </a:t>
            </a:r>
            <a:br>
              <a:rPr lang="en-US" sz="2000" b="0" dirty="0" err="1"/>
            </a:br>
            <a:r>
              <a:rPr lang="en-US" sz="2000" b="0" dirty="0" err="1"/>
              <a:t>réussie ?</a:t>
            </a:r>
          </a:p>
        </p:txBody>
      </p:sp>
      <p:sp>
        <p:nvSpPr>
          <p:cNvPr id="69640" name="AutoShape 8"/>
          <p:cNvSpPr>
            <a:spLocks noChangeArrowheads="1"/>
          </p:cNvSpPr>
          <p:nvPr/>
        </p:nvSpPr>
        <p:spPr bwMode="auto">
          <a:xfrm>
            <a:off x="2889604" y="2081196"/>
            <a:ext cx="2937990" cy="1194267"/>
          </a:xfrm>
          <a:prstGeom prst="flowChartDecision">
            <a:avLst/>
          </a:prstGeom>
          <a:gradFill rotWithShape="0">
            <a:gsLst>
              <a:gs pos="0">
                <a:srgbClr val="99CCFF">
                  <a:gamma/>
                  <a:tint val="4314"/>
                  <a:invGamma/>
                </a:srgbClr>
              </a:gs>
              <a:gs pos="100000">
                <a:srgbClr val="99CCFF"/>
              </a:gs>
            </a:gsLst>
            <a:lin ang="5400000" scaled="1"/>
          </a:gradFill>
          <a:ln w="9525">
            <a:solidFill>
              <a:srgbClr val="0033CC"/>
            </a:solidFill>
            <a:miter lim="800000"/>
            <a:headEnd/>
            <a:tailEnd/>
          </a:ln>
          <a:effectLst>
            <a:outerShdw dist="53882" dir="2700000" algn="ctr" rotWithShape="0">
              <a:srgbClr val="C0C0C0"/>
            </a:outerShdw>
          </a:effectLst>
        </p:spPr>
        <p:txBody>
          <a:bodyPr tIns="27432" bIns="27432" anchor="ctr"/>
          <a:lstStyle/>
          <a:p>
            <a:pPr algn="ctr">
              <a:lnSpc>
                <a:spcPct val="85000"/>
              </a:lnSpc>
            </a:pPr>
            <a:r>
              <a:rPr lang="en-US" sz="2000" b="0" dirty="0" err="1"/>
              <a:t>Démarrage</a:t>
            </a:r>
            <a:r>
              <a:rPr lang="en-US" sz="2000" b="0" dirty="0"/>
              <a:t> </a:t>
            </a:r>
            <a:br>
              <a:rPr lang="en-US" sz="2000" b="0" dirty="0"/>
            </a:br>
            <a:r>
              <a:rPr lang="en-US" sz="2000" b="0" dirty="0" err="1"/>
              <a:t>réussi</a:t>
            </a:r>
            <a:r>
              <a:rPr lang="en-US" sz="2000" b="0" dirty="0"/>
              <a:t> 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696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696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000" fill="hold"/>
                                        <p:tgtEl>
                                          <p:spTgt spid="696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000" fill="hold"/>
                                        <p:tgtEl>
                                          <p:spTgt spid="696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69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2000" fill="hold"/>
                                        <p:tgtEl>
                                          <p:spTgt spid="696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2000" fill="hold"/>
                                        <p:tgtEl>
                                          <p:spTgt spid="696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69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2000" fill="hold"/>
                                        <p:tgtEl>
                                          <p:spTgt spid="696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2000" fill="hold"/>
                                        <p:tgtEl>
                                          <p:spTgt spid="696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500"/>
                                        <p:tgtEl>
                                          <p:spTgt spid="69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2000" fill="hold"/>
                                        <p:tgtEl>
                                          <p:spTgt spid="696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2000" fill="hold"/>
                                        <p:tgtEl>
                                          <p:spTgt spid="696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2000" fill="hold"/>
                                        <p:tgtEl>
                                          <p:spTgt spid="696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2000" fill="hold"/>
                                        <p:tgtEl>
                                          <p:spTgt spid="696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2000" fill="hold"/>
                                        <p:tgtEl>
                                          <p:spTgt spid="696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2000" fill="hold"/>
                                        <p:tgtEl>
                                          <p:spTgt spid="696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8" grpId="0" animBg="1"/>
      <p:bldP spid="69643" grpId="0"/>
      <p:bldP spid="69645" grpId="0"/>
      <p:bldP spid="69646" grpId="0" animBg="1"/>
      <p:bldP spid="69647" grpId="0" animBg="1"/>
      <p:bldP spid="69649" grpId="0" animBg="1"/>
      <p:bldP spid="69653" grpId="0"/>
      <p:bldP spid="69648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7" grpId="0" animBg="1"/>
      <p:bldP spid="69642" grpId="0" animBg="1"/>
      <p:bldP spid="6964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au 11"/>
          <p:cNvGraphicFramePr>
            <a:graphicFrameLocks noGrp="1"/>
          </p:cNvGraphicFramePr>
          <p:nvPr/>
        </p:nvGraphicFramePr>
        <p:xfrm>
          <a:off x="245659" y="1942919"/>
          <a:ext cx="8657230" cy="3625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732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39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2764"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</a:rPr>
                        <a:t>Cas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Dernière configuration valide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2764"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tx1"/>
                          </a:solidFill>
                        </a:rPr>
                        <a:t>Après  installation d’un nouveau pilote Windows 7 ne répond pas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 dirty="0">
                          <a:solidFill>
                            <a:schemeClr val="tx1"/>
                          </a:solidFill>
                        </a:rPr>
                        <a:t>Oui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2764"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tx1"/>
                          </a:solidFill>
                        </a:rPr>
                        <a:t>Désactivation accidentelle d’un pilote de périphérique essentiel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 dirty="0">
                          <a:solidFill>
                            <a:schemeClr val="tx1"/>
                          </a:solidFill>
                        </a:rPr>
                        <a:t>Oui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2764"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tx1"/>
                          </a:solidFill>
                        </a:rPr>
                        <a:t>Problème non lié à des changements de configuration de Windows 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 dirty="0">
                          <a:solidFill>
                            <a:schemeClr val="tx1"/>
                          </a:solidFill>
                        </a:rPr>
                        <a:t>Non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7157"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tx1"/>
                          </a:solidFill>
                        </a:rPr>
                        <a:t>Après une ouverture de session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 dirty="0">
                          <a:solidFill>
                            <a:schemeClr val="tx1"/>
                          </a:solidFill>
                        </a:rPr>
                        <a:t>Non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7157"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tx1"/>
                          </a:solidFill>
                        </a:rPr>
                        <a:t>Pannes matérielles, fichiers manquants ou endommagés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 dirty="0">
                          <a:solidFill>
                            <a:schemeClr val="tx1"/>
                          </a:solidFill>
                        </a:rPr>
                        <a:t>Non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6563" name="Text Box 3"/>
          <p:cNvSpPr txBox="1">
            <a:spLocks noChangeArrowheads="1"/>
          </p:cNvSpPr>
          <p:nvPr/>
        </p:nvSpPr>
        <p:spPr bwMode="auto">
          <a:xfrm>
            <a:off x="1252538" y="1473200"/>
            <a:ext cx="6570662" cy="2017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endParaRPr lang="en-US"/>
          </a:p>
          <a:p>
            <a:pPr>
              <a:spcBef>
                <a:spcPct val="50000"/>
              </a:spcBef>
            </a:pPr>
            <a:endParaRPr lang="en-US"/>
          </a:p>
          <a:p>
            <a:pPr>
              <a:spcBef>
                <a:spcPct val="50000"/>
              </a:spcBef>
            </a:pPr>
            <a:endParaRPr lang="en-US"/>
          </a:p>
          <a:p>
            <a:pPr>
              <a:spcBef>
                <a:spcPct val="50000"/>
              </a:spcBef>
            </a:pPr>
            <a:endParaRPr lang="en-US"/>
          </a:p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301752" y="310486"/>
            <a:ext cx="8534400" cy="758952"/>
          </a:xfrm>
        </p:spPr>
        <p:txBody>
          <a:bodyPr vert="horz" anchor="b">
            <a:normAutofit fontScale="90000"/>
          </a:bodyPr>
          <a:lstStyle/>
          <a:p>
            <a:r>
              <a:rPr lang="fr-FR" b="1" dirty="0">
                <a:solidFill>
                  <a:srgbClr val="C00000"/>
                </a:solidFill>
              </a:rPr>
              <a:t>Utilisation de la dernière bonne configuration connue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233307" y="2811439"/>
            <a:ext cx="791571" cy="43672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7303820" y="3564346"/>
            <a:ext cx="791571" cy="29797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7235581" y="4205790"/>
            <a:ext cx="791571" cy="43672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7221933" y="4847238"/>
            <a:ext cx="791571" cy="2433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/>
          <p:cNvSpPr/>
          <p:nvPr/>
        </p:nvSpPr>
        <p:spPr>
          <a:xfrm>
            <a:off x="7249230" y="5283967"/>
            <a:ext cx="791571" cy="25703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301752" y="446968"/>
            <a:ext cx="8534400" cy="758952"/>
          </a:xfrm>
        </p:spPr>
        <p:txBody>
          <a:bodyPr>
            <a:normAutofit fontScale="90000"/>
          </a:bodyPr>
          <a:lstStyle/>
          <a:p>
            <a:pPr marL="460375" indent="-460375">
              <a:buClr>
                <a:schemeClr val="accent2"/>
              </a:buClr>
            </a:pP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3. Modification du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comportement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 au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démarrage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 à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l'aide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 du </a:t>
            </a:r>
            <a:r>
              <a:rPr lang="en-US" dirty="0" err="1">
                <a:solidFill>
                  <a:schemeClr val="tx1"/>
                </a:solidFill>
                <a:cs typeface="Times New Roman" pitchFamily="18" charset="0"/>
              </a:rPr>
              <a:t>fichier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 Boot.ini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065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1752" y="2632517"/>
            <a:ext cx="8503920" cy="1489107"/>
          </a:xfrm>
        </p:spPr>
        <p:txBody>
          <a:bodyPr/>
          <a:lstStyle/>
          <a:p>
            <a:pPr>
              <a:buClr>
                <a:schemeClr val="tx1"/>
              </a:buClr>
              <a:buFont typeface="Symbol" pitchFamily="18" charset="2"/>
              <a:buChar char="®"/>
            </a:pPr>
            <a:r>
              <a:rPr lang="fr-FR" dirty="0"/>
              <a:t>Étude du fichier Boot.ini </a:t>
            </a:r>
            <a:endParaRPr lang="en-US" dirty="0"/>
          </a:p>
          <a:p>
            <a:pPr>
              <a:buClr>
                <a:schemeClr val="tx1"/>
              </a:buClr>
              <a:buFont typeface="Symbol" pitchFamily="18" charset="2"/>
              <a:buChar char="®"/>
            </a:pPr>
            <a:r>
              <a:rPr lang="en-US" dirty="0"/>
              <a:t>Modification du </a:t>
            </a:r>
            <a:r>
              <a:rPr lang="en-US" dirty="0" err="1"/>
              <a:t>fichier</a:t>
            </a:r>
            <a:r>
              <a:rPr lang="en-US" dirty="0"/>
              <a:t> Boot.ini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anchor="b">
            <a:normAutofit/>
          </a:bodyPr>
          <a:lstStyle/>
          <a:p>
            <a:r>
              <a:rPr lang="fr-FR" b="1" dirty="0">
                <a:solidFill>
                  <a:srgbClr val="C00000"/>
                </a:solidFill>
              </a:rPr>
              <a:t>Étude du fichier Boot.ini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71687" name="AutoShape 7"/>
          <p:cNvSpPr>
            <a:spLocks noChangeArrowheads="1"/>
          </p:cNvSpPr>
          <p:nvPr/>
        </p:nvSpPr>
        <p:spPr bwMode="auto">
          <a:xfrm>
            <a:off x="553332" y="2300808"/>
            <a:ext cx="8522440" cy="2626051"/>
          </a:xfrm>
          <a:prstGeom prst="foldedCorner">
            <a:avLst>
              <a:gd name="adj" fmla="val 16935"/>
            </a:avLst>
          </a:prstGeom>
          <a:solidFill>
            <a:srgbClr val="FFFFFF"/>
          </a:solidFill>
          <a:ln w="19050">
            <a:solidFill>
              <a:schemeClr val="tx1"/>
            </a:solidFill>
            <a:round/>
            <a:headEnd/>
            <a:tailEnd/>
          </a:ln>
          <a:effectLst>
            <a:outerShdw dist="53882" dir="2700000" algn="ctr" rotWithShape="0">
              <a:srgbClr val="969696"/>
            </a:outerShdw>
          </a:effectLst>
        </p:spPr>
        <p:txBody>
          <a:bodyPr wrap="none"/>
          <a:lstStyle/>
          <a:p>
            <a:pPr>
              <a:lnSpc>
                <a:spcPct val="125000"/>
              </a:lnSpc>
            </a:pPr>
            <a:r>
              <a:rPr lang="en-US" sz="2200" dirty="0">
                <a:solidFill>
                  <a:srgbClr val="7030A0"/>
                </a:solidFill>
              </a:rPr>
              <a:t>[boot loader]</a:t>
            </a:r>
          </a:p>
          <a:p>
            <a:pPr>
              <a:lnSpc>
                <a:spcPct val="125000"/>
              </a:lnSpc>
            </a:pPr>
            <a:r>
              <a:rPr lang="en-US" sz="2200" dirty="0">
                <a:solidFill>
                  <a:srgbClr val="000000"/>
                </a:solidFill>
              </a:rPr>
              <a:t>timeout=30</a:t>
            </a:r>
          </a:p>
          <a:p>
            <a:pPr>
              <a:lnSpc>
                <a:spcPct val="125000"/>
              </a:lnSpc>
            </a:pPr>
            <a:r>
              <a:rPr lang="en-US" sz="2200" dirty="0">
                <a:solidFill>
                  <a:srgbClr val="000000"/>
                </a:solidFill>
              </a:rPr>
              <a:t>default=multi(0)disk(0)</a:t>
            </a:r>
            <a:r>
              <a:rPr lang="en-US" sz="2200" dirty="0" err="1">
                <a:solidFill>
                  <a:srgbClr val="000000"/>
                </a:solidFill>
              </a:rPr>
              <a:t>rdisk</a:t>
            </a:r>
            <a:r>
              <a:rPr lang="en-US" sz="2200" dirty="0">
                <a:solidFill>
                  <a:srgbClr val="000000"/>
                </a:solidFill>
              </a:rPr>
              <a:t>(1)partition(2)\WINDOWS</a:t>
            </a:r>
          </a:p>
          <a:p>
            <a:pPr>
              <a:lnSpc>
                <a:spcPct val="125000"/>
              </a:lnSpc>
            </a:pPr>
            <a:r>
              <a:rPr lang="en-US" sz="2200" dirty="0">
                <a:solidFill>
                  <a:srgbClr val="7030A0"/>
                </a:solidFill>
              </a:rPr>
              <a:t>[operating systems]</a:t>
            </a:r>
          </a:p>
          <a:p>
            <a:pPr>
              <a:lnSpc>
                <a:spcPct val="125000"/>
              </a:lnSpc>
            </a:pPr>
            <a:r>
              <a:rPr lang="en-US" sz="1900" dirty="0">
                <a:solidFill>
                  <a:srgbClr val="002060"/>
                </a:solidFill>
              </a:rPr>
              <a:t>multi(0)disk(0)</a:t>
            </a:r>
            <a:r>
              <a:rPr lang="en-US" sz="1900" dirty="0" err="1">
                <a:solidFill>
                  <a:srgbClr val="002060"/>
                </a:solidFill>
              </a:rPr>
              <a:t>rdisk</a:t>
            </a:r>
            <a:r>
              <a:rPr lang="en-US" sz="1900" dirty="0">
                <a:solidFill>
                  <a:srgbClr val="002060"/>
                </a:solidFill>
              </a:rPr>
              <a:t>(1)partition(2)\WINDOWS=Microsoft Windows 7</a:t>
            </a:r>
          </a:p>
          <a:p>
            <a:pPr>
              <a:lnSpc>
                <a:spcPct val="125000"/>
              </a:lnSpc>
            </a:pPr>
            <a:r>
              <a:rPr lang="en-US" sz="1900" dirty="0">
                <a:solidFill>
                  <a:srgbClr val="000000"/>
                </a:solidFill>
              </a:rPr>
              <a:t>SCSI(0)disk(1)</a:t>
            </a:r>
            <a:r>
              <a:rPr lang="en-US" sz="1900" dirty="0" err="1">
                <a:solidFill>
                  <a:srgbClr val="000000"/>
                </a:solidFill>
              </a:rPr>
              <a:t>rdisk</a:t>
            </a:r>
            <a:r>
              <a:rPr lang="en-US" sz="1900" dirty="0">
                <a:solidFill>
                  <a:srgbClr val="000000"/>
                </a:solidFill>
              </a:rPr>
              <a:t>(0)partition(1)\WINDOWS=Microsoft Windows </a:t>
            </a:r>
            <a:r>
              <a:rPr lang="en-US" sz="1900" dirty="0" err="1">
                <a:solidFill>
                  <a:srgbClr val="000000"/>
                </a:solidFill>
              </a:rPr>
              <a:t>xp</a:t>
            </a:r>
            <a:endParaRPr lang="en-US" sz="1900" dirty="0"/>
          </a:p>
          <a:p>
            <a:pPr>
              <a:lnSpc>
                <a:spcPct val="125000"/>
              </a:lnSpc>
            </a:pPr>
            <a:endParaRPr lang="en-US" sz="2200" dirty="0">
              <a:solidFill>
                <a:srgbClr val="000000"/>
              </a:solidFill>
            </a:endParaRPr>
          </a:p>
        </p:txBody>
      </p:sp>
      <p:sp>
        <p:nvSpPr>
          <p:cNvPr id="45" name="ZoneTexte 44"/>
          <p:cNvSpPr txBox="1"/>
          <p:nvPr/>
        </p:nvSpPr>
        <p:spPr>
          <a:xfrm>
            <a:off x="272955" y="1501254"/>
            <a:ext cx="86936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200" dirty="0"/>
              <a:t>Contient le timeout et l’emplacement de l’OS à lancer par défaut</a:t>
            </a:r>
          </a:p>
        </p:txBody>
      </p:sp>
      <p:sp>
        <p:nvSpPr>
          <p:cNvPr id="47" name="ZoneTexte 46"/>
          <p:cNvSpPr txBox="1"/>
          <p:nvPr/>
        </p:nvSpPr>
        <p:spPr>
          <a:xfrm>
            <a:off x="220639" y="5270310"/>
            <a:ext cx="86936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200" dirty="0"/>
              <a:t>Contient l’emplacement des OS installés sur l’ordinateur</a:t>
            </a:r>
          </a:p>
        </p:txBody>
      </p:sp>
      <p:sp>
        <p:nvSpPr>
          <p:cNvPr id="54" name="Virage 53"/>
          <p:cNvSpPr/>
          <p:nvPr/>
        </p:nvSpPr>
        <p:spPr>
          <a:xfrm>
            <a:off x="272956" y="3698541"/>
            <a:ext cx="341194" cy="1514902"/>
          </a:xfrm>
          <a:prstGeom prst="bent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55" name="Flèche à angle droit 54"/>
          <p:cNvSpPr/>
          <p:nvPr/>
        </p:nvSpPr>
        <p:spPr>
          <a:xfrm rot="5400000">
            <a:off x="-34120" y="2026695"/>
            <a:ext cx="880282" cy="307073"/>
          </a:xfrm>
          <a:prstGeom prst="bentUp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6" name="Rectangle 55"/>
          <p:cNvSpPr/>
          <p:nvPr/>
        </p:nvSpPr>
        <p:spPr>
          <a:xfrm>
            <a:off x="573206" y="4039737"/>
            <a:ext cx="8134066" cy="736979"/>
          </a:xfrm>
          <a:prstGeom prst="rect">
            <a:avLst/>
          </a:prstGeom>
          <a:noFill/>
          <a:ln w="381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8" name="Flèche à angle droit 57"/>
          <p:cNvSpPr/>
          <p:nvPr/>
        </p:nvSpPr>
        <p:spPr>
          <a:xfrm rot="16200000">
            <a:off x="8068108" y="4997358"/>
            <a:ext cx="1451209" cy="263854"/>
          </a:xfrm>
          <a:prstGeom prst="bentUp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9" name="ZoneTexte 58"/>
          <p:cNvSpPr txBox="1"/>
          <p:nvPr/>
        </p:nvSpPr>
        <p:spPr>
          <a:xfrm>
            <a:off x="6714698" y="5763900"/>
            <a:ext cx="21881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2200" dirty="0"/>
              <a:t>Chemin ARC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7" grpId="0"/>
      <p:bldP spid="54" grpId="0" animBg="1"/>
      <p:bldP spid="55" grpId="0" animBg="1"/>
      <p:bldP spid="5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7" name="Rectangle 3"/>
          <p:cNvSpPr>
            <a:spLocks noGrp="1" noChangeArrowheads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 vert="horz" anchor="b"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Modification du fichier Boot.ini</a:t>
            </a:r>
          </a:p>
        </p:txBody>
      </p:sp>
      <p:pic>
        <p:nvPicPr>
          <p:cNvPr id="17410" name="Picture 2" descr="نتيجة بحث الصور عن ‪demarrage et récuperation microsoft windows 7‬‏"/>
          <p:cNvPicPr>
            <a:picLocks noChangeAspect="1" noChangeArrowheads="1"/>
          </p:cNvPicPr>
          <p:nvPr/>
        </p:nvPicPr>
        <p:blipFill>
          <a:blip r:embed="rId2"/>
          <a:srcRect t="4706"/>
          <a:stretch>
            <a:fillRect/>
          </a:stretch>
        </p:blipFill>
        <p:spPr bwMode="auto">
          <a:xfrm>
            <a:off x="182872" y="1119116"/>
            <a:ext cx="8565344" cy="573586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204788"/>
            <a:ext cx="9144000" cy="981075"/>
          </a:xfrm>
        </p:spPr>
        <p:txBody>
          <a:bodyPr/>
          <a:lstStyle/>
          <a:p>
            <a:pPr marL="447675" indent="-447675"/>
            <a:r>
              <a:rPr lang="en-US" sz="2900">
                <a:cs typeface="Times New Roman" pitchFamily="18" charset="0"/>
              </a:rPr>
              <a:t>4. Utilisation des options d'amorçage avancées pour résoudre les problèmes de démarrage</a:t>
            </a:r>
            <a:endParaRPr lang="en-US" sz="2900"/>
          </a:p>
        </p:txBody>
      </p:sp>
      <p:sp>
        <p:nvSpPr>
          <p:cNvPr id="23555" name="Rectangle 5"/>
          <p:cNvSpPr>
            <a:spLocks noGrp="1" noChangeArrowheads="1"/>
          </p:cNvSpPr>
          <p:nvPr>
            <p:ph sz="quarter" idx="1"/>
          </p:nvPr>
        </p:nvSpPr>
        <p:spPr>
          <a:xfrm>
            <a:off x="274638" y="2209800"/>
            <a:ext cx="8504237" cy="1952625"/>
          </a:xfrm>
        </p:spPr>
        <p:txBody>
          <a:bodyPr>
            <a:normAutofit lnSpcReduction="10000"/>
          </a:bodyPr>
          <a:lstStyle/>
          <a:p>
            <a:pPr>
              <a:buClrTx/>
              <a:buFont typeface="Symbol" pitchFamily="18" charset="2"/>
              <a:buChar char="®"/>
            </a:pPr>
            <a:r>
              <a:rPr lang="fr-FR" dirty="0"/>
              <a:t>Utilisation du mode sans échec</a:t>
            </a:r>
          </a:p>
          <a:p>
            <a:pPr>
              <a:buClrTx/>
              <a:buFont typeface="Symbol" pitchFamily="18" charset="2"/>
              <a:buChar char="®"/>
            </a:pPr>
            <a:r>
              <a:rPr lang="en-US" dirty="0" err="1">
                <a:cs typeface="Times New Roman" pitchFamily="18" charset="0"/>
              </a:rPr>
              <a:t>Utilisation</a:t>
            </a:r>
            <a:r>
              <a:rPr lang="en-US" dirty="0">
                <a:cs typeface="Times New Roman" pitchFamily="18" charset="0"/>
              </a:rPr>
              <a:t> de la Console de </a:t>
            </a:r>
            <a:r>
              <a:rPr lang="en-US" dirty="0" err="1">
                <a:cs typeface="Times New Roman" pitchFamily="18" charset="0"/>
              </a:rPr>
              <a:t>récupération</a:t>
            </a:r>
            <a:r>
              <a:rPr lang="en-US" dirty="0">
                <a:cs typeface="Times New Roman" pitchFamily="18" charset="0"/>
              </a:rPr>
              <a:t> </a:t>
            </a:r>
          </a:p>
          <a:p>
            <a:pPr>
              <a:buClrTx/>
              <a:buFont typeface="Symbol" pitchFamily="18" charset="2"/>
              <a:buChar char="®"/>
            </a:pPr>
            <a:r>
              <a:rPr lang="en-US" dirty="0" err="1">
                <a:cs typeface="Times New Roman" pitchFamily="18" charset="0"/>
              </a:rPr>
              <a:t>Restauration</a:t>
            </a:r>
            <a:r>
              <a:rPr lang="en-US" dirty="0">
                <a:cs typeface="Times New Roman" pitchFamily="18" charset="0"/>
              </a:rPr>
              <a:t> d'un </a:t>
            </a:r>
            <a:r>
              <a:rPr lang="en-US" dirty="0" err="1">
                <a:cs typeface="Times New Roman" pitchFamily="18" charset="0"/>
              </a:rPr>
              <a:t>état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antérieur</a:t>
            </a:r>
            <a:r>
              <a:rPr lang="en-US" dirty="0">
                <a:cs typeface="Times New Roman" pitchFamily="18" charset="0"/>
              </a:rPr>
              <a:t> d'un </a:t>
            </a:r>
            <a:r>
              <a:rPr lang="en-US" dirty="0" err="1">
                <a:cs typeface="Times New Roman" pitchFamily="18" charset="0"/>
              </a:rPr>
              <a:t>ordinateur</a:t>
            </a:r>
            <a:r>
              <a:rPr lang="en-US" dirty="0">
                <a:cs typeface="Times New Roman" pitchFamily="18" charset="0"/>
              </a:rPr>
              <a:t> 	</a:t>
            </a:r>
            <a:endParaRPr lang="fr-FR" dirty="0"/>
          </a:p>
          <a:p>
            <a:pPr>
              <a:buClrTx/>
              <a:buFont typeface="Symbol" pitchFamily="18" charset="2"/>
              <a:buChar char="®"/>
            </a:pPr>
            <a:r>
              <a:rPr lang="fr-FR" dirty="0"/>
              <a:t>Utilisation d'autres options d'amorçage avancées 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301752" y="269548"/>
            <a:ext cx="8534400" cy="758952"/>
          </a:xfrm>
          <a:prstGeom prst="rect">
            <a:avLst/>
          </a:prstGeom>
        </p:spPr>
        <p:txBody>
          <a:bodyPr vert="horz" anchor="b">
            <a:normAutofit fontScale="975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3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Utilisation du mode sans échec</a:t>
            </a:r>
            <a:endParaRPr kumimoji="0" lang="en-US" sz="33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7" name="Picture 2" descr="نتيجة بحث الصور عن ‪options de démarrage avancés microsoft windows 7‬‏">
            <a:extLst>
              <a:ext uri="{FF2B5EF4-FFF2-40B4-BE49-F238E27FC236}">
                <a16:creationId xmlns:a16="http://schemas.microsoft.com/office/drawing/2014/main" id="{2E54B785-5D2F-72C7-0D8C-849A224998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5050" y="1351129"/>
            <a:ext cx="8478588" cy="5336274"/>
          </a:xfrm>
          <a:prstGeom prst="rect">
            <a:avLst/>
          </a:prstGeom>
          <a:noFill/>
        </p:spPr>
      </p:pic>
      <p:sp>
        <p:nvSpPr>
          <p:cNvPr id="8" name="Flèche gauche 9">
            <a:extLst>
              <a:ext uri="{FF2B5EF4-FFF2-40B4-BE49-F238E27FC236}">
                <a16:creationId xmlns:a16="http://schemas.microsoft.com/office/drawing/2014/main" id="{9916F767-5CFE-5B5D-7902-BF0DB1CB1970}"/>
              </a:ext>
            </a:extLst>
          </p:cNvPr>
          <p:cNvSpPr/>
          <p:nvPr/>
        </p:nvSpPr>
        <p:spPr>
          <a:xfrm>
            <a:off x="4036762" y="2795165"/>
            <a:ext cx="1419367" cy="464024"/>
          </a:xfrm>
          <a:prstGeom prst="lef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F2F12-1622-0894-5F5B-A65188B79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E85FE04D-4EDC-A15C-EC19-8878E2A37C1B}"/>
              </a:ext>
            </a:extLst>
          </p:cNvPr>
          <p:cNvSpPr txBox="1">
            <a:spLocks noChangeArrowheads="1"/>
          </p:cNvSpPr>
          <p:nvPr/>
        </p:nvSpPr>
        <p:spPr>
          <a:xfrm>
            <a:off x="301752" y="269548"/>
            <a:ext cx="8534400" cy="758952"/>
          </a:xfrm>
          <a:prstGeom prst="rect">
            <a:avLst/>
          </a:prstGeom>
        </p:spPr>
        <p:txBody>
          <a:bodyPr vert="horz" anchor="b">
            <a:normAutofit fontScale="975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3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Utilisation du mode sans échec</a:t>
            </a:r>
            <a:endParaRPr kumimoji="0" lang="en-US" sz="33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" name="Espace réservé du contenu 4" descr="Mode-sans-echec-02.png">
            <a:extLst>
              <a:ext uri="{FF2B5EF4-FFF2-40B4-BE49-F238E27FC236}">
                <a16:creationId xmlns:a16="http://schemas.microsoft.com/office/drawing/2014/main" id="{CC2EE06D-DE0E-4C68-C921-80C84F4AE9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5057" y="1293792"/>
            <a:ext cx="7418943" cy="5564208"/>
          </a:xfrm>
          <a:prstGeom prst="rect">
            <a:avLst/>
          </a:prstGeom>
        </p:spPr>
      </p:pic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1989A82-8C49-D49C-7F36-4D62DBB72B7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29048" y="1731764"/>
            <a:ext cx="5602829" cy="4314194"/>
          </a:xfrm>
          <a:solidFill>
            <a:schemeClr val="bg1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Clr>
                <a:schemeClr val="tx1"/>
              </a:buClr>
              <a:buFont typeface="Wingdings" pitchFamily="2" charset="2"/>
              <a:buChar char="Ø"/>
            </a:pPr>
            <a:r>
              <a:rPr lang="fr-FR" sz="2600" dirty="0"/>
              <a:t>C’est le mode de diagnostic le plus souvent utilisé pour résoudre des problèmes de démarrage du système. </a:t>
            </a:r>
          </a:p>
          <a:p>
            <a:pPr>
              <a:buClr>
                <a:schemeClr val="tx1"/>
              </a:buClr>
              <a:buFont typeface="Wingdings" pitchFamily="2" charset="2"/>
              <a:buChar char="Ø"/>
            </a:pPr>
            <a:r>
              <a:rPr lang="fr-FR" sz="2600" dirty="0"/>
              <a:t>Il permet de lancer Windows avec un nombre minimum de pilotes nécessaires. </a:t>
            </a:r>
          </a:p>
          <a:p>
            <a:pPr>
              <a:buClr>
                <a:schemeClr val="tx1"/>
              </a:buClr>
              <a:buFont typeface="Wingdings" pitchFamily="2" charset="2"/>
              <a:buChar char="Ø"/>
            </a:pPr>
            <a:r>
              <a:rPr lang="fr-FR" sz="2600" dirty="0"/>
              <a:t>Il est accessible en tapant sur la touche F8 au démarrage de l’ordinateur</a:t>
            </a:r>
          </a:p>
          <a:p>
            <a:pPr>
              <a:buClr>
                <a:schemeClr val="tx1"/>
              </a:buClr>
              <a:buFont typeface="Wingdings" pitchFamily="2" charset="2"/>
              <a:buChar char="Ø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12024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8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160357"/>
            <a:ext cx="9144000" cy="758952"/>
          </a:xfrm>
        </p:spPr>
        <p:txBody>
          <a:bodyPr vert="horz" anchor="b">
            <a:noAutofit/>
          </a:bodyPr>
          <a:lstStyle/>
          <a:p>
            <a:r>
              <a:rPr lang="fr-FR" sz="2600" dirty="0">
                <a:solidFill>
                  <a:srgbClr val="C00000"/>
                </a:solidFill>
              </a:rPr>
              <a:t>Utilisation de la Console de récupération</a:t>
            </a:r>
            <a:endParaRPr lang="en-US" sz="2600" dirty="0">
              <a:solidFill>
                <a:srgbClr val="C00000"/>
              </a:solidFill>
            </a:endParaRPr>
          </a:p>
        </p:txBody>
      </p:sp>
      <p:grpSp>
        <p:nvGrpSpPr>
          <p:cNvPr id="8" name="Groupe 7"/>
          <p:cNvGrpSpPr/>
          <p:nvPr/>
        </p:nvGrpSpPr>
        <p:grpSpPr>
          <a:xfrm>
            <a:off x="641444" y="1364775"/>
            <a:ext cx="7697337" cy="5323992"/>
            <a:chOff x="641444" y="1364775"/>
            <a:chExt cx="7697337" cy="5323992"/>
          </a:xfrm>
        </p:grpSpPr>
        <p:pic>
          <p:nvPicPr>
            <p:cNvPr id="12290" name="Picture 2" descr="http://www.chantal11.com/wp-content/uploads/2010/05/4-options-r%C3%A9cup%C3%A9ration-ch.jpg"/>
            <p:cNvPicPr>
              <a:picLocks noChangeAspect="1" noChangeArrowheads="1"/>
            </p:cNvPicPr>
            <p:nvPr/>
          </p:nvPicPr>
          <p:blipFill>
            <a:blip r:embed="rId2"/>
            <a:srcRect l="3518" t="5540" r="3374" b="5930"/>
            <a:stretch>
              <a:fillRect/>
            </a:stretch>
          </p:blipFill>
          <p:spPr bwMode="auto">
            <a:xfrm>
              <a:off x="641444" y="1364775"/>
              <a:ext cx="7697337" cy="5323992"/>
            </a:xfrm>
            <a:prstGeom prst="rect">
              <a:avLst/>
            </a:prstGeom>
            <a:noFill/>
          </p:spPr>
        </p:pic>
        <p:sp>
          <p:nvSpPr>
            <p:cNvPr id="6" name="Rectangle 5"/>
            <p:cNvSpPr/>
            <p:nvPr/>
          </p:nvSpPr>
          <p:spPr>
            <a:xfrm>
              <a:off x="6687403" y="4940490"/>
              <a:ext cx="1282890" cy="116006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pic>
        <p:nvPicPr>
          <p:cNvPr id="9" name="Picture 2" descr="نتيجة بحث الصور عن ‪options de démarrage avancés microsoft windows 7‬‏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5050" y="1351129"/>
            <a:ext cx="8478588" cy="5336274"/>
          </a:xfrm>
          <a:prstGeom prst="rect">
            <a:avLst/>
          </a:prstGeom>
          <a:noFill/>
        </p:spPr>
      </p:pic>
      <p:sp>
        <p:nvSpPr>
          <p:cNvPr id="10" name="Flèche gauche 9"/>
          <p:cNvSpPr/>
          <p:nvPr/>
        </p:nvSpPr>
        <p:spPr>
          <a:xfrm>
            <a:off x="3603009" y="2197289"/>
            <a:ext cx="1419367" cy="464024"/>
          </a:xfrm>
          <a:prstGeom prst="lef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5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7" name="Rectangle 5"/>
          <p:cNvSpPr>
            <a:spLocks noGrp="1" noChangeArrowheads="1"/>
          </p:cNvSpPr>
          <p:nvPr>
            <p:ph sz="quarter" idx="1"/>
          </p:nvPr>
        </p:nvSpPr>
        <p:spPr>
          <a:xfrm>
            <a:off x="315400" y="1596788"/>
            <a:ext cx="8503920" cy="4080681"/>
          </a:xfrm>
        </p:spPr>
        <p:txBody>
          <a:bodyPr>
            <a:normAutofit/>
          </a:bodyPr>
          <a:lstStyle/>
          <a:p>
            <a:pPr>
              <a:buClrTx/>
              <a:buNone/>
            </a:pPr>
            <a:r>
              <a:rPr lang="fr-FR" sz="2800" dirty="0"/>
              <a:t>Raisons courantes justifiant l'utilisation de la Console de récupération:</a:t>
            </a:r>
          </a:p>
          <a:p>
            <a:pPr>
              <a:buClrTx/>
              <a:buFont typeface="Wingdings" pitchFamily="2" charset="2"/>
              <a:buChar char="q"/>
            </a:pPr>
            <a:r>
              <a:rPr lang="fr-FR" sz="2800" dirty="0"/>
              <a:t>Problème lié à un service</a:t>
            </a:r>
          </a:p>
          <a:p>
            <a:pPr>
              <a:buClrTx/>
              <a:buFont typeface="Wingdings" pitchFamily="2" charset="2"/>
              <a:buChar char="q"/>
            </a:pPr>
            <a:r>
              <a:rPr lang="fr-FR" sz="2800" dirty="0"/>
              <a:t> Problème lié à un pilote de périphérique</a:t>
            </a:r>
          </a:p>
          <a:p>
            <a:pPr>
              <a:buClrTx/>
              <a:buFont typeface="Wingdings" pitchFamily="2" charset="2"/>
              <a:buChar char="q"/>
            </a:pPr>
            <a:r>
              <a:rPr lang="fr-FR" sz="2800" dirty="0"/>
              <a:t> Fichiers manquants</a:t>
            </a:r>
          </a:p>
          <a:p>
            <a:pPr>
              <a:buClrTx/>
              <a:buFont typeface="Wingdings" pitchFamily="2" charset="2"/>
              <a:buChar char="q"/>
            </a:pPr>
            <a:r>
              <a:rPr lang="fr-FR" sz="2800" dirty="0"/>
              <a:t> Secteur d'amorçage endommagé</a:t>
            </a:r>
          </a:p>
          <a:p>
            <a:pPr>
              <a:buClrTx/>
              <a:buFont typeface="Wingdings" pitchFamily="2" charset="2"/>
              <a:buChar char="q"/>
            </a:pPr>
            <a:r>
              <a:rPr lang="fr-FR" sz="2800" dirty="0"/>
              <a:t> Enregistrement d'amorçage principal endommagé</a:t>
            </a:r>
          </a:p>
        </p:txBody>
      </p:sp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160357"/>
            <a:ext cx="9144000" cy="758952"/>
          </a:xfrm>
          <a:prstGeom prst="rect">
            <a:avLst/>
          </a:prstGeom>
        </p:spPr>
        <p:txBody>
          <a:bodyPr vert="horz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Utilisation de la Console de récupération</a:t>
            </a: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01752" y="351432"/>
            <a:ext cx="8534400" cy="758952"/>
          </a:xfrm>
        </p:spPr>
        <p:txBody>
          <a:bodyPr>
            <a:normAutofit/>
          </a:bodyPr>
          <a:lstStyle/>
          <a:p>
            <a:r>
              <a:rPr lang="fr-FR" sz="2600" dirty="0">
                <a:solidFill>
                  <a:srgbClr val="C00000"/>
                </a:solidFill>
              </a:rPr>
              <a:t>Fonctionnement de la restauration du système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FR" dirty="0"/>
              <a:t>L'utilitaire de restauration du système permet:</a:t>
            </a:r>
          </a:p>
          <a:p>
            <a:pPr>
              <a:buClr>
                <a:schemeClr val="tx1"/>
              </a:buClr>
              <a:buFont typeface="Wingdings" pitchFamily="2" charset="2"/>
              <a:buChar char="q"/>
            </a:pPr>
            <a:r>
              <a:rPr lang="fr-FR" dirty="0"/>
              <a:t>Restaurer tous les fichiers système et de préserver les fichiers de données </a:t>
            </a:r>
          </a:p>
          <a:p>
            <a:pPr>
              <a:buClr>
                <a:schemeClr val="tx1"/>
              </a:buClr>
              <a:buFont typeface="Wingdings" pitchFamily="2" charset="2"/>
              <a:buChar char="q"/>
            </a:pPr>
            <a:r>
              <a:rPr lang="fr-FR" dirty="0"/>
              <a:t>Tous les fichiers et dossiers système nécessaires sont restaurés en l'état où ils se trouvaient lorsque vous avez créé le point de restauration système.</a:t>
            </a:r>
          </a:p>
          <a:p>
            <a:pPr>
              <a:buClr>
                <a:schemeClr val="tx1"/>
              </a:buClr>
              <a:buFont typeface="Wingdings" pitchFamily="2" charset="2"/>
              <a:buChar char="q"/>
            </a:pPr>
            <a:r>
              <a:rPr lang="fr-FR" dirty="0"/>
              <a:t>Les points de restauration sont créés automatiquement chaque semaine</a:t>
            </a:r>
          </a:p>
          <a:p>
            <a:pPr>
              <a:buClr>
                <a:schemeClr val="tx1"/>
              </a:buClr>
              <a:buFont typeface="Wingdings" pitchFamily="2" charset="2"/>
              <a:buChar char="q"/>
            </a:pPr>
            <a:r>
              <a:rPr lang="fr-FR" dirty="0"/>
              <a:t>Vous pouvez également créer manuellement des points de restauration.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600" dirty="0">
                <a:solidFill>
                  <a:srgbClr val="C00000"/>
                </a:solidFill>
              </a:rPr>
              <a:t>Fonctionnement de la restauration du système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fr-FR" b="1" dirty="0"/>
              <a:t>Question 1</a:t>
            </a:r>
            <a:r>
              <a:rPr lang="fr-FR" dirty="0"/>
              <a:t> : Dans quelles situations pouvez-vous avoir besoin d'utiliser la Restauration du système ?</a:t>
            </a:r>
          </a:p>
          <a:p>
            <a:pPr>
              <a:buClr>
                <a:schemeClr val="tx1"/>
              </a:buClr>
              <a:buFont typeface="Wingdings" pitchFamily="2" charset="2"/>
              <a:buChar char="q"/>
            </a:pPr>
            <a:r>
              <a:rPr lang="fr-FR" dirty="0"/>
              <a:t>Si l'ordinateur s'exécute lentement </a:t>
            </a:r>
          </a:p>
          <a:p>
            <a:pPr>
              <a:buClr>
                <a:schemeClr val="tx1"/>
              </a:buClr>
              <a:buFont typeface="Wingdings" pitchFamily="2" charset="2"/>
              <a:buChar char="q"/>
            </a:pPr>
            <a:r>
              <a:rPr lang="fr-FR" dirty="0"/>
              <a:t>Ou ne fonctionne pas correctement</a:t>
            </a:r>
          </a:p>
          <a:p>
            <a:pPr>
              <a:buNone/>
            </a:pPr>
            <a:r>
              <a:rPr lang="fr-FR" b="1" dirty="0"/>
              <a:t>Question 2</a:t>
            </a:r>
            <a:r>
              <a:rPr lang="fr-FR" dirty="0"/>
              <a:t> : Quand restaurez-vous un fichier à partir d'un point de restauration plutôt qu'à partir d'une sauvegarde ?</a:t>
            </a:r>
          </a:p>
          <a:p>
            <a:pPr>
              <a:buClr>
                <a:schemeClr val="tx1"/>
              </a:buClr>
              <a:buFont typeface="Wingdings" pitchFamily="2" charset="2"/>
              <a:buChar char="q"/>
            </a:pPr>
            <a:r>
              <a:rPr lang="fr-FR" dirty="0"/>
              <a:t>Lorsque vous devez restaurer tous les fichiers système de l'ordinateur à une date et une heure spécifiques.</a:t>
            </a:r>
          </a:p>
          <a:p>
            <a:pPr>
              <a:buClr>
                <a:schemeClr val="tx1"/>
              </a:buClr>
              <a:buFont typeface="Wingdings" pitchFamily="2" charset="2"/>
              <a:buChar char="q"/>
            </a:pPr>
            <a:r>
              <a:rPr lang="fr-FR" dirty="0"/>
              <a:t>La Restauration du système restaure uniquement les fichiers système ; elle ne récupère aucun fichier personnel supprimé ou endommagé.</a:t>
            </a:r>
          </a:p>
          <a:p>
            <a:pPr>
              <a:buNone/>
            </a:pPr>
            <a:endParaRPr lang="fr-FR" dirty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102508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b="1" u="sng" dirty="0"/>
              <a:t>Méthode </a:t>
            </a:r>
            <a:r>
              <a:rPr lang="fr-FR" sz="2400" dirty="0"/>
              <a:t>: menu Démarrer/Tous les Programmes/ Accessoires/Outils système/Restauration du système</a:t>
            </a:r>
          </a:p>
          <a:p>
            <a:pPr>
              <a:buNone/>
            </a:pPr>
            <a:endParaRPr lang="fr-FR" sz="2400" dirty="0"/>
          </a:p>
        </p:txBody>
      </p:sp>
      <p:pic>
        <p:nvPicPr>
          <p:cNvPr id="46082" name="Picture 2" descr="Outils systèm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13481" y="2352485"/>
            <a:ext cx="5381868" cy="4307622"/>
          </a:xfrm>
          <a:prstGeom prst="rect">
            <a:avLst/>
          </a:prstGeom>
          <a:noFill/>
        </p:spPr>
      </p:pic>
      <p:sp>
        <p:nvSpPr>
          <p:cNvPr id="6" name="Titre 1"/>
          <p:cNvSpPr>
            <a:spLocks noGrp="1"/>
          </p:cNvSpPr>
          <p:nvPr>
            <p:ph type="title"/>
          </p:nvPr>
        </p:nvSpPr>
        <p:spPr>
          <a:xfrm>
            <a:off x="301752" y="351432"/>
            <a:ext cx="8534400" cy="758952"/>
          </a:xfrm>
        </p:spPr>
        <p:txBody>
          <a:bodyPr>
            <a:normAutofit/>
          </a:bodyPr>
          <a:lstStyle/>
          <a:p>
            <a:r>
              <a:rPr lang="fr-FR" sz="2600" dirty="0">
                <a:solidFill>
                  <a:srgbClr val="C00000"/>
                </a:solidFill>
              </a:rPr>
              <a:t>Fonctionnement de la restauration du système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74457" y="242248"/>
            <a:ext cx="8534400" cy="758952"/>
          </a:xfrm>
        </p:spPr>
        <p:txBody>
          <a:bodyPr>
            <a:noAutofit/>
          </a:bodyPr>
          <a:lstStyle/>
          <a:p>
            <a:r>
              <a:rPr lang="fr-FR" sz="2700" dirty="0">
                <a:solidFill>
                  <a:srgbClr val="C00000"/>
                </a:solidFill>
              </a:rPr>
              <a:t>Utilisation d'autres options d'amorçage avancées</a:t>
            </a:r>
          </a:p>
        </p:txBody>
      </p:sp>
      <p:pic>
        <p:nvPicPr>
          <p:cNvPr id="4098" name="Picture 2" descr="نتيجة بحث الصور عن ‪options de démarrage avancés microsoft windows 7‬‏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1784" y="1433016"/>
            <a:ext cx="7719634" cy="485860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74457" y="242248"/>
            <a:ext cx="8534400" cy="758952"/>
          </a:xfrm>
        </p:spPr>
        <p:txBody>
          <a:bodyPr>
            <a:noAutofit/>
          </a:bodyPr>
          <a:lstStyle/>
          <a:p>
            <a:r>
              <a:rPr lang="fr-FR" sz="2700" dirty="0">
                <a:solidFill>
                  <a:srgbClr val="C00000"/>
                </a:solidFill>
              </a:rPr>
              <a:t>Utilisation d'autres options d'amorçage avancées</a:t>
            </a:r>
          </a:p>
        </p:txBody>
      </p:sp>
      <p:graphicFrame>
        <p:nvGraphicFramePr>
          <p:cNvPr id="4" name="Tableau 3"/>
          <p:cNvGraphicFramePr>
            <a:graphicFrameLocks noGrp="1"/>
          </p:cNvGraphicFramePr>
          <p:nvPr/>
        </p:nvGraphicFramePr>
        <p:xfrm>
          <a:off x="136478" y="1328762"/>
          <a:ext cx="8834651" cy="5186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426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0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18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2400" b="1" dirty="0">
                          <a:solidFill>
                            <a:srgbClr val="FFC000"/>
                          </a:solidFill>
                        </a:rPr>
                        <a:t>Option </a:t>
                      </a:r>
                      <a:endParaRPr lang="fr-FR" sz="2400" b="1" dirty="0">
                        <a:solidFill>
                          <a:srgbClr val="FFC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6000" marR="36000" marT="0" marB="0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1" dirty="0">
                          <a:solidFill>
                            <a:srgbClr val="FFC000"/>
                          </a:solidFill>
                        </a:rPr>
                        <a:t>Fonction </a:t>
                      </a:r>
                      <a:endParaRPr lang="fr-FR" sz="2400" b="1" dirty="0">
                        <a:solidFill>
                          <a:srgbClr val="FFC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6000" marR="36000" marT="0" marB="0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1" dirty="0">
                          <a:solidFill>
                            <a:srgbClr val="FFC000"/>
                          </a:solidFill>
                        </a:rPr>
                        <a:t>Utilité</a:t>
                      </a:r>
                      <a:endParaRPr lang="fr-FR" sz="2400" b="1" dirty="0">
                        <a:solidFill>
                          <a:srgbClr val="FFC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6000" marR="36000" marT="0" marB="0">
                    <a:solidFill>
                      <a:srgbClr val="00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2200" dirty="0"/>
                        <a:t>Inscrire les  événements</a:t>
                      </a:r>
                    </a:p>
                    <a:p>
                      <a:r>
                        <a:rPr lang="fr-FR" sz="2200" dirty="0"/>
                        <a:t>de démarrage dans le journal</a:t>
                      </a:r>
                      <a:endParaRPr lang="fr-FR" sz="22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r>
                        <a:rPr kumimoji="0" lang="fr-FR" sz="2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Crée un fichier ntbtlog.txt qui répertorie tous les pilotes chargés au démarrage</a:t>
                      </a: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r>
                        <a:rPr lang="fr-FR" sz="2200" dirty="0"/>
                        <a:t>Le pilote qui a causé la défaillance</a:t>
                      </a:r>
                      <a:endParaRPr lang="fr-FR" sz="22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0" lang="fr-FR" sz="2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Activer la vidéo basse résolution (640x480)</a:t>
                      </a: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réinitialise la résolution d'affichage</a:t>
                      </a:r>
                      <a:endParaRPr lang="fr-FR" sz="22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r>
                        <a:rPr lang="fr-FR" sz="2200" dirty="0"/>
                        <a:t>Détecte le pilote vidéo défectueux</a:t>
                      </a:r>
                      <a:endParaRPr lang="fr-FR" sz="22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2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Dernière configuration valide connue</a:t>
                      </a: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200" dirty="0"/>
                        <a:t>Démarrage avec la dernière configuration</a:t>
                      </a:r>
                      <a:endParaRPr lang="fr-FR" sz="22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200" dirty="0"/>
                        <a:t>Résoudre un problème de configuration</a:t>
                      </a:r>
                      <a:endParaRPr lang="fr-FR" sz="22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2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Invite de commandes en mode sans échec</a:t>
                      </a:r>
                      <a:r>
                        <a:rPr lang="fr-FR" sz="2400" dirty="0"/>
                        <a:t> </a:t>
                      </a:r>
                      <a:endParaRPr kumimoji="0" lang="fr-FR" sz="2200" b="1" kern="1200" dirty="0">
                        <a:solidFill>
                          <a:schemeClr val="dk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démarre mode sans échec et lance l'invite de commandes </a:t>
                      </a:r>
                      <a:endParaRPr kumimoji="0" lang="fr-FR" sz="2200" kern="1200" dirty="0">
                        <a:solidFill>
                          <a:schemeClr val="dk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r>
                        <a:rPr kumimoji="0" lang="fr-FR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Résoudre </a:t>
                      </a:r>
                      <a:r>
                        <a:rPr kumimoji="0" lang="fr-FR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les problèmes </a:t>
                      </a:r>
                      <a:r>
                        <a:rPr kumimoji="0" lang="fr-FR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 démarrage en utilisant la ligne de commande</a:t>
                      </a:r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887400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fr-FR" sz="2500" dirty="0"/>
              <a:t>Votre ordinateur possède deux systèmes d'exploitation installés dans une configuration à double amorçage, mais vous n'avez pas la possibilité de choisir votre système d'exploitation quand vous démarrez l'ordinateur. Quelles sont les causes et les solutions possibles ?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fr-FR" sz="2500" dirty="0"/>
              <a:t>Vous ouvrez une session dans Windows 7, vous faites des changements de configuration, puis fermez la session. Qu'est-il arrivé aux changements enregistrés dans le jeu de contrôles </a:t>
            </a:r>
            <a:r>
              <a:rPr lang="fr-FR" sz="2500" dirty="0" err="1"/>
              <a:t>CurrentControlSet</a:t>
            </a:r>
            <a:r>
              <a:rPr lang="fr-FR" sz="2500" dirty="0"/>
              <a:t> 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fr-FR" sz="2500" dirty="0"/>
              <a:t>Vous rencontrez des problèmes de performances avec votre système d'exploitation, mais ces problèmes ne se reproduisent pas lorsque vous démarrez en mode sans échec. Quelles suppositions pouvez-vous faire quant à l'origine de ces problèmes de performances ?</a:t>
            </a:r>
          </a:p>
          <a:p>
            <a:pPr marL="95250" indent="-95250">
              <a:buAutoNum type="arabicPeriod"/>
            </a:pPr>
            <a:endParaRPr lang="fr-FR" sz="2500" dirty="0"/>
          </a:p>
          <a:p>
            <a:pPr marL="457200" indent="-457200">
              <a:buAutoNum type="arabicPeriod"/>
            </a:pPr>
            <a:endParaRPr lang="fr-FR" sz="2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329047" y="1569494"/>
            <a:ext cx="8503920" cy="2524834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  <a:buNone/>
            </a:pPr>
            <a:r>
              <a:rPr lang="fr-FR" sz="2400" dirty="0"/>
              <a:t>4. Un utilisateur explique qu'après avoir installé un programme, il a remarqué une dégradation des performances de son ordinateur. Il a travaillé toute la journée avec des documents volumineux. Aujourd'hui, le système d'exploitation s'exécute si mal qu'il l'empêche de travailler. Quelqu'un lui a suggéré de réinstaller le système d'exploitation. Existe-t-il une meilleure solution ?</a:t>
            </a:r>
            <a:endParaRPr lang="fr-FR" sz="2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248539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500" dirty="0"/>
              <a:t>1. Votre ordinateur possède deux systèmes d'exploitation installés dans une configuration à double amorçage, mais vous n'avez pas la possibilité de choisir votre système d'exploitation quand vous démarrez l'ordinateur. Quelles sont les causes et les solutions possibles ?</a:t>
            </a:r>
          </a:p>
        </p:txBody>
      </p:sp>
      <p:sp>
        <p:nvSpPr>
          <p:cNvPr id="4" name="Rectangle 3"/>
          <p:cNvSpPr/>
          <p:nvPr/>
        </p:nvSpPr>
        <p:spPr>
          <a:xfrm>
            <a:off x="279779" y="3690162"/>
            <a:ext cx="8645857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fr-FR" sz="2400" dirty="0"/>
              <a:t>Le fichier Boot.ini n'est pas configuré pour présenter les deux systèmes d'exploitation</a:t>
            </a:r>
          </a:p>
          <a:p>
            <a:pPr>
              <a:buFont typeface="Arial" pitchFamily="34" charset="0"/>
              <a:buChar char="•"/>
            </a:pPr>
            <a:r>
              <a:rPr lang="fr-FR" sz="2400" dirty="0"/>
              <a:t>Le délai est défini sur « 0 » de sorte que le système d'exploitation par défaut est automatiquement chargé. </a:t>
            </a:r>
          </a:p>
          <a:p>
            <a:r>
              <a:rPr lang="fr-FR" sz="2400" dirty="0"/>
              <a:t>Modifiez le fichier Boot.ini afin que l'utilisateur puisse sélectionner le système d'exploitation souhaité au démarrage de l'ordinateur.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329047" y="1731764"/>
            <a:ext cx="8503920" cy="184394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dirty="0"/>
              <a:t>2. Vous ouvrez une session dans Windows 7, faites des changements de configuration, puis fermez la session. Qu'est-il arrivé aux changements enregistrés dans le jeu de contrôles </a:t>
            </a:r>
            <a:r>
              <a:rPr lang="fr-FR" sz="2400" b="1" dirty="0" err="1"/>
              <a:t>CurrentControlSet</a:t>
            </a:r>
            <a:r>
              <a:rPr lang="fr-FR" sz="2400" b="1" dirty="0"/>
              <a:t> ?</a:t>
            </a:r>
            <a:endParaRPr lang="fr-FR" sz="2500" dirty="0"/>
          </a:p>
        </p:txBody>
      </p:sp>
      <p:sp>
        <p:nvSpPr>
          <p:cNvPr id="4" name="Rectangle 3"/>
          <p:cNvSpPr/>
          <p:nvPr/>
        </p:nvSpPr>
        <p:spPr>
          <a:xfrm>
            <a:off x="307074" y="4017708"/>
            <a:ext cx="864585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dirty="0"/>
              <a:t>Rien. Si l'ordinateur est redémarré, les changements contenus dans le jeu de contrôles actif sont copiés dans le jeu de contrôles par défaut.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329047" y="1569494"/>
            <a:ext cx="8503920" cy="200622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dirty="0"/>
              <a:t>3. Vous rencontrez des problèmes de performances avec votre système d'exploitation, mais ces problèmes ne se reproduisent pas lorsque vous démarrez en mode sans échec. Quelles suppositions pouvez-vous faire quant à l'origine de ces problèmes de performances ?</a:t>
            </a:r>
            <a:endParaRPr lang="fr-FR" sz="2500" dirty="0"/>
          </a:p>
        </p:txBody>
      </p:sp>
      <p:sp>
        <p:nvSpPr>
          <p:cNvPr id="4" name="Rectangle 3"/>
          <p:cNvSpPr/>
          <p:nvPr/>
        </p:nvSpPr>
        <p:spPr>
          <a:xfrm>
            <a:off x="307074" y="4017708"/>
            <a:ext cx="864585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dirty="0"/>
              <a:t>Étant donné que le mode sans échec utilise seulement des pilotes et fichiers de base, vous pouvez supposer que ces paramètres de base ne sont pas à l'origine du problème.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329047" y="1569494"/>
            <a:ext cx="8503920" cy="2524834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  <a:buNone/>
            </a:pPr>
            <a:r>
              <a:rPr lang="fr-FR" sz="2400" dirty="0"/>
              <a:t>4. Un utilisateur explique qu'après avoir installé un programme, il a remarqué une dégradation des performances de son ordinateur. Il a travaillé toute la journée avec des documents volumineux. Aujourd'hui, le système d'exploitation s'exécute si mal qu'il l'empêche de travailler. Quelqu'un lui a suggéré de réinstaller le système d'exploitation. Existe-t-il une meilleure solution ?</a:t>
            </a:r>
            <a:endParaRPr lang="fr-FR" sz="2500" dirty="0"/>
          </a:p>
        </p:txBody>
      </p:sp>
      <p:sp>
        <p:nvSpPr>
          <p:cNvPr id="4" name="Rectangle 3"/>
          <p:cNvSpPr/>
          <p:nvPr/>
        </p:nvSpPr>
        <p:spPr>
          <a:xfrm>
            <a:off x="307074" y="4017708"/>
            <a:ext cx="864585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dirty="0"/>
              <a:t>Oui, utilisez l'outil Restauration du système pour restaurer le système d'exploitation tel qu'il était avant l'installation du programme, tout en préservant ses données.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l">
  <a:themeElements>
    <a:clrScheme name="Nuances de gris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ivil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l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6719</TotalTime>
  <Words>1527</Words>
  <Application>Microsoft Office PowerPoint</Application>
  <PresentationFormat>Affichage à l'écran (4:3)</PresentationFormat>
  <Paragraphs>161</Paragraphs>
  <Slides>30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30</vt:i4>
      </vt:variant>
    </vt:vector>
  </HeadingPairs>
  <TitlesOfParts>
    <vt:vector size="38" baseType="lpstr">
      <vt:lpstr>Arial</vt:lpstr>
      <vt:lpstr>Arial Narrow</vt:lpstr>
      <vt:lpstr>Wingdings</vt:lpstr>
      <vt:lpstr>Wingdings 2</vt:lpstr>
      <vt:lpstr>Times New Roman</vt:lpstr>
      <vt:lpstr>Symbol</vt:lpstr>
      <vt:lpstr>Georgia</vt:lpstr>
      <vt:lpstr>Civil</vt:lpstr>
      <vt:lpstr>Chapitre 6  Résolution des problèmes liés au processus d'amorçage et au système</vt:lpstr>
      <vt:lpstr>Plan du cours</vt:lpstr>
      <vt:lpstr>1. Étude du processus d'amorçage de Windows 7</vt:lpstr>
      <vt:lpstr>1. Étude du processus d'amorçage de Windows 7</vt:lpstr>
      <vt:lpstr>2. Contrôle des paramètres système au cours du processus d'amorçage</vt:lpstr>
      <vt:lpstr>Étude des jeux de contrôles </vt:lpstr>
      <vt:lpstr>Étude des jeux de contrôles</vt:lpstr>
      <vt:lpstr>Étude de la sous-clé Select </vt:lpstr>
      <vt:lpstr>Utilisation de la dernière configuration valide  connue</vt:lpstr>
      <vt:lpstr>Utilisation de la dernière configuration valide connue</vt:lpstr>
      <vt:lpstr>Utilisation de la dernière bonne configuration connue</vt:lpstr>
      <vt:lpstr>3. Modification du comportement au démarrage à l'aide du fichier Boot.ini</vt:lpstr>
      <vt:lpstr>Étude du fichier Boot.ini</vt:lpstr>
      <vt:lpstr>Modification du fichier Boot.ini</vt:lpstr>
      <vt:lpstr>4. Utilisation des options d'amorçage avancées pour résoudre les problèmes de démarrage</vt:lpstr>
      <vt:lpstr>Présentation PowerPoint</vt:lpstr>
      <vt:lpstr>Présentation PowerPoint</vt:lpstr>
      <vt:lpstr>Utilisation de la Console de récupération</vt:lpstr>
      <vt:lpstr>Présentation PowerPoint</vt:lpstr>
      <vt:lpstr>Fonctionnement de la restauration du système</vt:lpstr>
      <vt:lpstr>Fonctionnement de la restauration du système</vt:lpstr>
      <vt:lpstr>Fonctionnement de la restauration du système</vt:lpstr>
      <vt:lpstr>Utilisation d'autres options d'amorçage avancées</vt:lpstr>
      <vt:lpstr>Utilisation d'autres options d'amorçage avancées</vt:lpstr>
      <vt:lpstr>Exercices</vt:lpstr>
      <vt:lpstr>Exercices</vt:lpstr>
      <vt:lpstr>Exercices</vt:lpstr>
      <vt:lpstr>Exercices</vt:lpstr>
      <vt:lpstr>Exercices</vt:lpstr>
      <vt:lpstr>Exercices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Overview</dc:title>
  <dc:creator>bwinter</dc:creator>
  <cp:lastModifiedBy>HALIMA.HOUSNY</cp:lastModifiedBy>
  <cp:revision>131</cp:revision>
  <dcterms:created xsi:type="dcterms:W3CDTF">2001-03-28T16:11:12Z</dcterms:created>
  <dcterms:modified xsi:type="dcterms:W3CDTF">2024-12-01T19:20:04Z</dcterms:modified>
</cp:coreProperties>
</file>