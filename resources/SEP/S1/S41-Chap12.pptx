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3" r:id="rId1"/>
  </p:sldMasterIdLst>
  <p:notesMasterIdLst>
    <p:notesMasterId r:id="rId27"/>
  </p:notesMasterIdLst>
  <p:sldIdLst>
    <p:sldId id="287" r:id="rId2"/>
    <p:sldId id="256" r:id="rId3"/>
    <p:sldId id="293" r:id="rId4"/>
    <p:sldId id="265" r:id="rId5"/>
    <p:sldId id="294" r:id="rId6"/>
    <p:sldId id="295" r:id="rId7"/>
    <p:sldId id="257" r:id="rId8"/>
    <p:sldId id="302" r:id="rId9"/>
    <p:sldId id="258" r:id="rId10"/>
    <p:sldId id="259" r:id="rId11"/>
    <p:sldId id="260" r:id="rId12"/>
    <p:sldId id="261" r:id="rId13"/>
    <p:sldId id="282" r:id="rId14"/>
    <p:sldId id="296" r:id="rId15"/>
    <p:sldId id="284" r:id="rId16"/>
    <p:sldId id="283" r:id="rId17"/>
    <p:sldId id="266" r:id="rId18"/>
    <p:sldId id="267" r:id="rId19"/>
    <p:sldId id="268" r:id="rId20"/>
    <p:sldId id="269" r:id="rId21"/>
    <p:sldId id="270" r:id="rId22"/>
    <p:sldId id="297" r:id="rId23"/>
    <p:sldId id="298" r:id="rId24"/>
    <p:sldId id="299" r:id="rId25"/>
    <p:sldId id="301" r:id="rId26"/>
  </p:sldIdLst>
  <p:sldSz cx="9144000" cy="6858000" type="screen4x3"/>
  <p:notesSz cx="6858000" cy="9144000"/>
  <p:embeddedFontLst>
    <p:embeddedFont>
      <p:font typeface="Arial Narrow" panose="020B0606020202030204" pitchFamily="34" charset="0"/>
      <p:regular r:id="rId28"/>
      <p:bold r:id="rId29"/>
      <p:italic r:id="rId30"/>
      <p:boldItalic r:id="rId31"/>
    </p:embeddedFont>
    <p:embeddedFont>
      <p:font typeface="Georgia" panose="02040502050405020303" pitchFamily="18" charset="0"/>
      <p:regular r:id="rId32"/>
      <p:bold r:id="rId33"/>
      <p:italic r:id="rId34"/>
      <p:boldItalic r:id="rId35"/>
    </p:embeddedFont>
    <p:embeddedFont>
      <p:font typeface="Wingdings 2" panose="05020102010507070707" pitchFamily="18" charset="2"/>
      <p:regular r:id="rId36"/>
    </p:embeddedFont>
  </p:embeddedFontLst>
  <p:defaultTextStyle>
    <a:defPPr>
      <a:defRPr lang="en-US"/>
    </a:defPPr>
    <a:lvl1pPr algn="l" rtl="0" eaLnBrk="0" fontAlgn="base" hangingPunct="0">
      <a:spcBef>
        <a:spcPct val="0"/>
      </a:spcBef>
      <a:spcAft>
        <a:spcPct val="0"/>
      </a:spcAft>
      <a:defRPr sz="3000"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0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0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0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000" kern="1200">
        <a:solidFill>
          <a:schemeClr val="tx1"/>
        </a:solidFill>
        <a:latin typeface="Arial Narrow" pitchFamily="34" charset="0"/>
        <a:ea typeface="+mn-ea"/>
        <a:cs typeface="+mn-cs"/>
      </a:defRPr>
    </a:lvl5pPr>
    <a:lvl6pPr marL="2286000" algn="l" defTabSz="914400" rtl="0" eaLnBrk="1" latinLnBrk="0" hangingPunct="1">
      <a:defRPr sz="3000" kern="1200">
        <a:solidFill>
          <a:schemeClr val="tx1"/>
        </a:solidFill>
        <a:latin typeface="Arial Narrow" pitchFamily="34" charset="0"/>
        <a:ea typeface="+mn-ea"/>
        <a:cs typeface="+mn-cs"/>
      </a:defRPr>
    </a:lvl6pPr>
    <a:lvl7pPr marL="2743200" algn="l" defTabSz="914400" rtl="0" eaLnBrk="1" latinLnBrk="0" hangingPunct="1">
      <a:defRPr sz="3000" kern="1200">
        <a:solidFill>
          <a:schemeClr val="tx1"/>
        </a:solidFill>
        <a:latin typeface="Arial Narrow" pitchFamily="34" charset="0"/>
        <a:ea typeface="+mn-ea"/>
        <a:cs typeface="+mn-cs"/>
      </a:defRPr>
    </a:lvl7pPr>
    <a:lvl8pPr marL="3200400" algn="l" defTabSz="914400" rtl="0" eaLnBrk="1" latinLnBrk="0" hangingPunct="1">
      <a:defRPr sz="3000" kern="1200">
        <a:solidFill>
          <a:schemeClr val="tx1"/>
        </a:solidFill>
        <a:latin typeface="Arial Narrow" pitchFamily="34" charset="0"/>
        <a:ea typeface="+mn-ea"/>
        <a:cs typeface="+mn-cs"/>
      </a:defRPr>
    </a:lvl8pPr>
    <a:lvl9pPr marL="3657600" algn="l" defTabSz="914400" rtl="0" eaLnBrk="1" latinLnBrk="0" hangingPunct="1">
      <a:defRPr sz="30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EEB"/>
    <a:srgbClr val="777777"/>
    <a:srgbClr val="DDDDDD"/>
    <a:srgbClr val="FFFFFF"/>
    <a:srgbClr val="C60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snapToGrid="0">
      <p:cViewPr varScale="1">
        <p:scale>
          <a:sx n="66" d="100"/>
          <a:sy n="66" d="100"/>
        </p:scale>
        <p:origin x="392" y="4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5" d="100"/>
          <a:sy n="55" d="100"/>
        </p:scale>
        <p:origin x="-19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17.xml"/><Relationship Id="rId3" Type="http://schemas.openxmlformats.org/officeDocument/2006/relationships/slide" Target="slides/slide4.xml"/><Relationship Id="rId7" Type="http://schemas.openxmlformats.org/officeDocument/2006/relationships/slide" Target="slides/slide8.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5" Type="http://schemas.openxmlformats.org/officeDocument/2006/relationships/slide" Target="slides/slide6.xml"/><Relationship Id="rId4"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560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56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560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60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560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3C20F06-7BD3-4D4D-A45A-52BD35956790}"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511C23-560A-49C3-A933-AE3379D78E88}" type="slidenum">
              <a:rPr lang="en-US"/>
              <a:pPr/>
              <a:t>9</a:t>
            </a:fld>
            <a:endParaRPr 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991E6F-5456-4D2F-B94F-07C65EEAE4E8}" type="slidenum">
              <a:rPr lang="en-US"/>
              <a:pPr/>
              <a:t>10</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6AC852-68AD-47B6-8B1C-9E72A4DD4E2E}" type="slidenum">
              <a:rPr lang="en-US"/>
              <a:pPr/>
              <a:t>18</a:t>
            </a:fld>
            <a:endParaRPr lang="en-US"/>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1/12/2020</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00025" y="228600"/>
            <a:ext cx="8772525" cy="758952"/>
          </a:xfrm>
        </p:spPr>
        <p:txBody>
          <a:bodyPr/>
          <a:lstStyle>
            <a:lvl1pPr>
              <a:defRPr b="1">
                <a:solidFill>
                  <a:schemeClr val="tx1"/>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1/12/2020</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1/12/2020</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1/12/2020</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1/12/2020</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200025" y="228600"/>
            <a:ext cx="8772525" cy="758952"/>
          </a:xfrm>
        </p:spPr>
        <p:txBody>
          <a:bodyPr/>
          <a:lstStyle>
            <a:lvl1pPr>
              <a:defRPr b="1">
                <a:solidFill>
                  <a:schemeClr val="tx1"/>
                </a:solidFill>
              </a:defRPr>
            </a:lvl1p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1/12/2020</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1/12/2020</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1/12/2020</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1/12/2020</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1/12/2020</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1/12/2020</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u">
    <p:spTree>
      <p:nvGrpSpPr>
        <p:cNvPr id="1" name=""/>
        <p:cNvGrpSpPr/>
        <p:nvPr/>
      </p:nvGrpSpPr>
      <p:grpSpPr>
        <a:xfrm>
          <a:off x="0" y="0"/>
          <a:ext cx="0" cy="0"/>
          <a:chOff x="0" y="0"/>
          <a:chExt cx="0" cy="0"/>
        </a:xfrm>
      </p:grpSpPr>
      <p:sp>
        <p:nvSpPr>
          <p:cNvPr id="2" name="Espace réservé du contenu 1"/>
          <p:cNvSpPr>
            <a:spLocks noGrp="1"/>
          </p:cNvSpPr>
          <p:nvPr>
            <p:ph/>
          </p:nvPr>
        </p:nvSpPr>
        <p:spPr>
          <a:xfrm>
            <a:off x="647700" y="1385888"/>
            <a:ext cx="8189913" cy="47561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00025" y="153988"/>
            <a:ext cx="8758237" cy="841375"/>
          </a:xfrm>
        </p:spPr>
        <p:txBody>
          <a:bodyPr/>
          <a:lstStyle>
            <a:lvl1pPr>
              <a:defRPr b="1">
                <a:solidFill>
                  <a:schemeClr val="tx1"/>
                </a:solidFill>
              </a:defRPr>
            </a:lvl1pPr>
          </a:lstStyle>
          <a:p>
            <a:r>
              <a:rPr lang="fr-FR"/>
              <a:t>Cliquez pour modifier le style du titre</a:t>
            </a:r>
          </a:p>
        </p:txBody>
      </p:sp>
      <p:sp>
        <p:nvSpPr>
          <p:cNvPr id="3" name="Espace réservé du texte 2"/>
          <p:cNvSpPr>
            <a:spLocks noGrp="1"/>
          </p:cNvSpPr>
          <p:nvPr>
            <p:ph type="body" sz="half" idx="1"/>
          </p:nvPr>
        </p:nvSpPr>
        <p:spPr>
          <a:xfrm>
            <a:off x="1050925" y="1854200"/>
            <a:ext cx="3521075" cy="42878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724400" y="1854200"/>
            <a:ext cx="3521075" cy="42878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1/12/2020</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720045" y="1320800"/>
            <a:ext cx="8046583" cy="3455534"/>
          </a:xfrm>
          <a:noFill/>
          <a:ln/>
        </p:spPr>
        <p:txBody>
          <a:bodyPr lIns="90488" tIns="44450" rIns="90488" bIns="44450"/>
          <a:lstStyle/>
          <a:p>
            <a:pPr algn="ctr">
              <a:lnSpc>
                <a:spcPct val="95000"/>
              </a:lnSpc>
            </a:pPr>
            <a:r>
              <a:rPr lang="fr-FR" sz="5000" b="1" dirty="0">
                <a:solidFill>
                  <a:schemeClr val="tx1"/>
                </a:solidFill>
                <a:latin typeface="Times New Roman" pitchFamily="18" charset="0"/>
                <a:cs typeface="Times New Roman" pitchFamily="18" charset="0"/>
              </a:rPr>
              <a:t>Chapitre 12 </a:t>
            </a:r>
            <a:br>
              <a:rPr lang="fr-FR" sz="5000" b="1" dirty="0">
                <a:solidFill>
                  <a:schemeClr val="tx1"/>
                </a:solidFill>
                <a:latin typeface="Times New Roman" pitchFamily="18" charset="0"/>
                <a:cs typeface="Times New Roman" pitchFamily="18" charset="0"/>
              </a:rPr>
            </a:br>
            <a:r>
              <a:rPr lang="fr-FR" sz="5000" b="1" dirty="0">
                <a:solidFill>
                  <a:schemeClr val="tx1"/>
                </a:solidFill>
                <a:latin typeface="Times New Roman" pitchFamily="18" charset="0"/>
                <a:cs typeface="Times New Roman" pitchFamily="18" charset="0"/>
              </a:rPr>
              <a:t> Surveillance des ressources et des performances</a:t>
            </a:r>
            <a:r>
              <a:rPr lang="en-US" sz="5000" b="1" dirty="0">
                <a:solidFill>
                  <a:schemeClr val="tx1"/>
                </a:solidFill>
                <a:latin typeface="Times New Roman" pitchFamily="18" charset="0"/>
              </a:rPr>
              <a:t> </a:t>
            </a:r>
          </a:p>
        </p:txBody>
      </p:sp>
      <p:sp>
        <p:nvSpPr>
          <p:cNvPr id="3" name="Rectangle 2"/>
          <p:cNvSpPr/>
          <p:nvPr/>
        </p:nvSpPr>
        <p:spPr>
          <a:xfrm>
            <a:off x="2907324" y="233758"/>
            <a:ext cx="3290279" cy="830997"/>
          </a:xfrm>
          <a:prstGeom prst="rect">
            <a:avLst/>
          </a:prstGeom>
        </p:spPr>
        <p:txBody>
          <a:bodyPr wrap="square">
            <a:spAutoFit/>
          </a:bodyPr>
          <a:lstStyle/>
          <a:p>
            <a:r>
              <a:rPr lang="fr-FR" sz="4800" b="1" dirty="0">
                <a:solidFill>
                  <a:schemeClr val="tx1"/>
                </a:solidFill>
                <a:latin typeface="Times New Roman" pitchFamily="18" charset="0"/>
                <a:cs typeface="Times New Roman" pitchFamily="18" charset="0"/>
              </a:rPr>
              <a:t>Module S41</a:t>
            </a:r>
            <a:endParaRPr lang="fr-FR" sz="4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p:txBody>
          <a:bodyPr/>
          <a:lstStyle/>
          <a:p>
            <a:r>
              <a:rPr lang="en-US" dirty="0">
                <a:cs typeface="Times New Roman" pitchFamily="18" charset="0"/>
              </a:rPr>
              <a:t>Plan du </a:t>
            </a:r>
            <a:r>
              <a:rPr lang="en-US" dirty="0" err="1">
                <a:cs typeface="Times New Roman" pitchFamily="18" charset="0"/>
              </a:rPr>
              <a:t>cours</a:t>
            </a:r>
            <a:endParaRPr lang="en-US" dirty="0"/>
          </a:p>
        </p:txBody>
      </p:sp>
      <p:sp>
        <p:nvSpPr>
          <p:cNvPr id="1029" name="Rectangle 5"/>
          <p:cNvSpPr>
            <a:spLocks noGrp="1" noChangeArrowheads="1"/>
          </p:cNvSpPr>
          <p:nvPr>
            <p:ph sz="quarter" idx="1"/>
          </p:nvPr>
        </p:nvSpPr>
        <p:spPr>
          <a:xfrm>
            <a:off x="301752" y="1527048"/>
            <a:ext cx="8639048" cy="4572000"/>
          </a:xfrm>
        </p:spPr>
        <p:txBody>
          <a:bodyPr/>
          <a:lstStyle/>
          <a:p>
            <a:pPr marL="514350" indent="-514350">
              <a:buClrTx/>
              <a:buFont typeface="+mj-lt"/>
              <a:buAutoNum type="arabicPeriod"/>
            </a:pPr>
            <a:r>
              <a:rPr lang="en-US" dirty="0">
                <a:cs typeface="Times New Roman" pitchFamily="18" charset="0"/>
              </a:rPr>
              <a:t>Identification des </a:t>
            </a:r>
            <a:r>
              <a:rPr lang="en-US" dirty="0" err="1">
                <a:cs typeface="Times New Roman" pitchFamily="18" charset="0"/>
              </a:rPr>
              <a:t>informations</a:t>
            </a:r>
            <a:r>
              <a:rPr lang="en-US" dirty="0">
                <a:cs typeface="Times New Roman" pitchFamily="18" charset="0"/>
              </a:rPr>
              <a:t> </a:t>
            </a:r>
            <a:r>
              <a:rPr lang="en-US" dirty="0" err="1">
                <a:cs typeface="Times New Roman" pitchFamily="18" charset="0"/>
              </a:rPr>
              <a:t>système</a:t>
            </a:r>
            <a:endParaRPr lang="en-US" dirty="0"/>
          </a:p>
          <a:p>
            <a:pPr marL="514350" indent="-514350">
              <a:buClrTx/>
              <a:buFont typeface="+mj-lt"/>
              <a:buAutoNum type="arabicPeriod"/>
            </a:pPr>
            <a:r>
              <a:rPr lang="en-US" dirty="0" err="1">
                <a:cs typeface="Times New Roman" pitchFamily="18" charset="0"/>
              </a:rPr>
              <a:t>Utilisation</a:t>
            </a:r>
            <a:r>
              <a:rPr lang="en-US" dirty="0">
                <a:cs typeface="Times New Roman" pitchFamily="18" charset="0"/>
              </a:rPr>
              <a:t> du </a:t>
            </a:r>
            <a:r>
              <a:rPr lang="en-US" dirty="0" err="1">
                <a:cs typeface="Times New Roman" pitchFamily="18" charset="0"/>
              </a:rPr>
              <a:t>Gestionnaire</a:t>
            </a:r>
            <a:r>
              <a:rPr lang="en-US" dirty="0">
                <a:cs typeface="Times New Roman" pitchFamily="18" charset="0"/>
              </a:rPr>
              <a:t> des </a:t>
            </a:r>
            <a:r>
              <a:rPr lang="en-US" dirty="0" err="1">
                <a:cs typeface="Times New Roman" pitchFamily="18" charset="0"/>
              </a:rPr>
              <a:t>tâches</a:t>
            </a:r>
            <a:r>
              <a:rPr lang="en-US" dirty="0">
                <a:cs typeface="Times New Roman" pitchFamily="18" charset="0"/>
              </a:rPr>
              <a:t> pour </a:t>
            </a:r>
            <a:r>
              <a:rPr lang="en-US" dirty="0" err="1">
                <a:cs typeface="Times New Roman" pitchFamily="18" charset="0"/>
              </a:rPr>
              <a:t>surveiller</a:t>
            </a:r>
            <a:r>
              <a:rPr lang="en-US" dirty="0">
                <a:cs typeface="Times New Roman" pitchFamily="18" charset="0"/>
              </a:rPr>
              <a:t> les performances du </a:t>
            </a:r>
            <a:r>
              <a:rPr lang="en-US" dirty="0" err="1">
                <a:cs typeface="Times New Roman" pitchFamily="18" charset="0"/>
              </a:rPr>
              <a:t>système</a:t>
            </a:r>
            <a:endParaRPr lang="en-US" dirty="0"/>
          </a:p>
          <a:p>
            <a:pPr marL="514350" indent="-514350">
              <a:buClrTx/>
              <a:buFont typeface="+mj-lt"/>
              <a:buAutoNum type="arabicPeriod"/>
            </a:pPr>
            <a:r>
              <a:rPr lang="en-US" dirty="0" err="1">
                <a:cs typeface="Times New Roman" pitchFamily="18" charset="0"/>
              </a:rPr>
              <a:t>Utilisation</a:t>
            </a:r>
            <a:r>
              <a:rPr lang="en-US" dirty="0">
                <a:cs typeface="Times New Roman" pitchFamily="18" charset="0"/>
              </a:rPr>
              <a:t> des </a:t>
            </a:r>
            <a:r>
              <a:rPr lang="en-US" dirty="0" err="1">
                <a:cs typeface="Times New Roman" pitchFamily="18" charset="0"/>
              </a:rPr>
              <a:t>outils</a:t>
            </a:r>
            <a:r>
              <a:rPr lang="en-US" dirty="0">
                <a:cs typeface="Times New Roman" pitchFamily="18" charset="0"/>
              </a:rPr>
              <a:t> Performances et Maintenance pour </a:t>
            </a:r>
            <a:r>
              <a:rPr lang="en-US" dirty="0" err="1">
                <a:cs typeface="Times New Roman" pitchFamily="18" charset="0"/>
              </a:rPr>
              <a:t>améliorer</a:t>
            </a:r>
            <a:r>
              <a:rPr lang="en-US" dirty="0">
                <a:cs typeface="Times New Roman" pitchFamily="18" charset="0"/>
              </a:rPr>
              <a:t> les performances</a:t>
            </a:r>
            <a:endParaRPr lang="en-US" dirty="0"/>
          </a:p>
          <a:p>
            <a:pPr marL="514350" indent="-514350">
              <a:buClrTx/>
              <a:buFont typeface="+mj-lt"/>
              <a:buAutoNum type="arabicPeriod"/>
            </a:pPr>
            <a:r>
              <a:rPr lang="en-US" dirty="0">
                <a:cs typeface="Times New Roman" pitchFamily="18" charset="0"/>
              </a:rPr>
              <a:t>Surveillance des </a:t>
            </a:r>
            <a:r>
              <a:rPr lang="en-US" dirty="0" err="1">
                <a:cs typeface="Times New Roman" pitchFamily="18" charset="0"/>
              </a:rPr>
              <a:t>journaux</a:t>
            </a:r>
            <a:r>
              <a:rPr lang="en-US" dirty="0">
                <a:cs typeface="Times New Roman" pitchFamily="18" charset="0"/>
              </a:rPr>
              <a:t> </a:t>
            </a:r>
            <a:r>
              <a:rPr lang="en-US" dirty="0" err="1">
                <a:cs typeface="Times New Roman" pitchFamily="18" charset="0"/>
              </a:rPr>
              <a:t>d'événements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8"/>
          <p:cNvSpPr>
            <a:spLocks noGrp="1" noChangeArrowheads="1"/>
          </p:cNvSpPr>
          <p:nvPr>
            <p:ph type="title"/>
          </p:nvPr>
        </p:nvSpPr>
        <p:spPr/>
        <p:txBody>
          <a:bodyPr>
            <a:normAutofit fontScale="90000"/>
          </a:bodyPr>
          <a:lstStyle/>
          <a:p>
            <a:r>
              <a:rPr lang="fr-FR" dirty="0">
                <a:solidFill>
                  <a:schemeClr val="tx1"/>
                </a:solidFill>
                <a:cs typeface="Times New Roman" pitchFamily="18" charset="0"/>
              </a:rPr>
              <a:t>1. Identification des informations système</a:t>
            </a:r>
            <a:r>
              <a:rPr lang="fr-FR" dirty="0"/>
              <a:t> </a:t>
            </a:r>
            <a:endParaRPr lang="en-US" dirty="0"/>
          </a:p>
        </p:txBody>
      </p:sp>
      <p:sp>
        <p:nvSpPr>
          <p:cNvPr id="11273" name="Rectangle 9"/>
          <p:cNvSpPr>
            <a:spLocks noGrp="1" noChangeArrowheads="1"/>
          </p:cNvSpPr>
          <p:nvPr>
            <p:ph sz="quarter" idx="1"/>
          </p:nvPr>
        </p:nvSpPr>
        <p:spPr>
          <a:xfrm>
            <a:off x="301752" y="1527047"/>
            <a:ext cx="8363277" cy="2362781"/>
          </a:xfrm>
        </p:spPr>
        <p:txBody>
          <a:bodyPr>
            <a:noAutofit/>
          </a:bodyPr>
          <a:lstStyle/>
          <a:p>
            <a:pPr>
              <a:buNone/>
            </a:pPr>
            <a:r>
              <a:rPr lang="fr-FR" sz="2600" b="1" u="sng" dirty="0">
                <a:solidFill>
                  <a:srgbClr val="C00000"/>
                </a:solidFill>
              </a:rPr>
              <a:t>Résumé système</a:t>
            </a:r>
          </a:p>
          <a:p>
            <a:pPr>
              <a:buClr>
                <a:srgbClr val="C00000"/>
              </a:buClr>
              <a:buFont typeface="Wingdings" pitchFamily="2" charset="2"/>
              <a:buChar char="Ø"/>
            </a:pPr>
            <a:r>
              <a:rPr lang="fr-FR" sz="2400" dirty="0"/>
              <a:t>Le nom</a:t>
            </a:r>
          </a:p>
          <a:p>
            <a:pPr>
              <a:buClr>
                <a:srgbClr val="C00000"/>
              </a:buClr>
              <a:buFont typeface="Wingdings" pitchFamily="2" charset="2"/>
              <a:buChar char="Ø"/>
            </a:pPr>
            <a:r>
              <a:rPr lang="fr-FR" sz="2400" dirty="0"/>
              <a:t>La version </a:t>
            </a:r>
          </a:p>
          <a:p>
            <a:pPr>
              <a:buClr>
                <a:srgbClr val="C00000"/>
              </a:buClr>
              <a:buFont typeface="Wingdings" pitchFamily="2" charset="2"/>
              <a:buChar char="Ø"/>
            </a:pPr>
            <a:r>
              <a:rPr lang="fr-FR" sz="2400" dirty="0"/>
              <a:t>Autres informations sur OS et le système BIOS</a:t>
            </a:r>
          </a:p>
          <a:p>
            <a:pPr>
              <a:buClr>
                <a:srgbClr val="C00000"/>
              </a:buClr>
              <a:buFont typeface="Wingdings" pitchFamily="2" charset="2"/>
              <a:buChar char="Ø"/>
            </a:pPr>
            <a:r>
              <a:rPr lang="fr-FR" sz="2400" dirty="0"/>
              <a:t>Informations sur le processeur et la mémoire disponible </a:t>
            </a:r>
          </a:p>
        </p:txBody>
      </p:sp>
      <p:sp>
        <p:nvSpPr>
          <p:cNvPr id="8" name="Rectangle 7"/>
          <p:cNvSpPr/>
          <p:nvPr/>
        </p:nvSpPr>
        <p:spPr>
          <a:xfrm>
            <a:off x="370115" y="4111676"/>
            <a:ext cx="8323942" cy="1817101"/>
          </a:xfrm>
          <a:prstGeom prst="rect">
            <a:avLst/>
          </a:prstGeom>
        </p:spPr>
        <p:txBody>
          <a:bodyPr wrap="square">
            <a:spAutoFit/>
          </a:bodyPr>
          <a:lstStyle/>
          <a:p>
            <a:pPr>
              <a:lnSpc>
                <a:spcPct val="150000"/>
              </a:lnSpc>
              <a:buNone/>
            </a:pPr>
            <a:r>
              <a:rPr lang="fr-FR" sz="2600" dirty="0"/>
              <a:t>Ces informations vous permettent de déterminer :</a:t>
            </a:r>
          </a:p>
          <a:p>
            <a:pPr>
              <a:lnSpc>
                <a:spcPct val="150000"/>
              </a:lnSpc>
              <a:buFont typeface="Wingdings" pitchFamily="2" charset="2"/>
              <a:buChar char="q"/>
            </a:pPr>
            <a:r>
              <a:rPr lang="fr-FR" sz="2600" dirty="0"/>
              <a:t>Si l'ordinateur a la dernière version du BIOS </a:t>
            </a:r>
          </a:p>
          <a:p>
            <a:pPr>
              <a:lnSpc>
                <a:spcPct val="150000"/>
              </a:lnSpc>
              <a:buFont typeface="Wingdings" pitchFamily="2" charset="2"/>
              <a:buChar char="q"/>
            </a:pPr>
            <a:r>
              <a:rPr lang="fr-FR" sz="2600" dirty="0"/>
              <a:t>La quantité de mémoire de l'ordinateur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1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checkerboard(across)">
                                      <p:cBhvr>
                                        <p:cTn id="17" dur="1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8"/>
          <p:cNvSpPr>
            <a:spLocks noGrp="1" noChangeArrowheads="1"/>
          </p:cNvSpPr>
          <p:nvPr>
            <p:ph type="title"/>
          </p:nvPr>
        </p:nvSpPr>
        <p:spPr/>
        <p:txBody>
          <a:bodyPr>
            <a:normAutofit fontScale="90000"/>
          </a:bodyPr>
          <a:lstStyle/>
          <a:p>
            <a:r>
              <a:rPr lang="fr-FR" dirty="0">
                <a:solidFill>
                  <a:schemeClr val="tx1"/>
                </a:solidFill>
                <a:cs typeface="Times New Roman" pitchFamily="18" charset="0"/>
              </a:rPr>
              <a:t>1. Identification des informations système</a:t>
            </a:r>
            <a:r>
              <a:rPr lang="fr-FR" dirty="0"/>
              <a:t> </a:t>
            </a:r>
            <a:endParaRPr lang="en-US" dirty="0"/>
          </a:p>
        </p:txBody>
      </p:sp>
      <p:sp>
        <p:nvSpPr>
          <p:cNvPr id="11273" name="Rectangle 9"/>
          <p:cNvSpPr>
            <a:spLocks noGrp="1" noChangeArrowheads="1"/>
          </p:cNvSpPr>
          <p:nvPr>
            <p:ph sz="quarter" idx="1"/>
          </p:nvPr>
        </p:nvSpPr>
        <p:spPr>
          <a:xfrm>
            <a:off x="301752" y="1527048"/>
            <a:ext cx="8503920" cy="3277181"/>
          </a:xfrm>
        </p:spPr>
        <p:txBody>
          <a:bodyPr>
            <a:noAutofit/>
          </a:bodyPr>
          <a:lstStyle/>
          <a:p>
            <a:pPr>
              <a:buNone/>
            </a:pPr>
            <a:r>
              <a:rPr lang="fr-FR" sz="2600" b="1" u="sng" dirty="0">
                <a:solidFill>
                  <a:srgbClr val="C00000"/>
                </a:solidFill>
              </a:rPr>
              <a:t>Ressources matérielles</a:t>
            </a:r>
          </a:p>
          <a:p>
            <a:pPr>
              <a:buClr>
                <a:srgbClr val="C00000"/>
              </a:buClr>
              <a:buFont typeface="Wingdings" pitchFamily="2" charset="2"/>
              <a:buChar char="Ø"/>
            </a:pPr>
            <a:r>
              <a:rPr lang="fr-FR" sz="2400" dirty="0"/>
              <a:t>Informations sur l'affectation des ressources </a:t>
            </a:r>
          </a:p>
          <a:p>
            <a:pPr>
              <a:buClr>
                <a:srgbClr val="C00000"/>
              </a:buClr>
              <a:buFont typeface="Wingdings" pitchFamily="2" charset="2"/>
              <a:buChar char="Ø"/>
            </a:pPr>
            <a:r>
              <a:rPr lang="fr-FR" sz="2400" dirty="0"/>
              <a:t>Les conflits de partage entre l'accès direct à la mémoire</a:t>
            </a:r>
          </a:p>
          <a:p>
            <a:pPr>
              <a:buClr>
                <a:srgbClr val="C00000"/>
              </a:buClr>
              <a:buFont typeface="Wingdings" pitchFamily="2" charset="2"/>
              <a:buChar char="Ø"/>
            </a:pPr>
            <a:r>
              <a:rPr lang="fr-FR" sz="2400" dirty="0"/>
              <a:t>Le matériel requis</a:t>
            </a:r>
          </a:p>
          <a:p>
            <a:pPr>
              <a:buClr>
                <a:srgbClr val="C00000"/>
              </a:buClr>
              <a:buFont typeface="Wingdings" pitchFamily="2" charset="2"/>
              <a:buChar char="Ø"/>
            </a:pPr>
            <a:r>
              <a:rPr lang="fr-FR" sz="2400" dirty="0"/>
              <a:t>L'entrée/sortie </a:t>
            </a:r>
          </a:p>
          <a:p>
            <a:pPr>
              <a:buClr>
                <a:srgbClr val="C00000"/>
              </a:buClr>
              <a:buFont typeface="Wingdings" pitchFamily="2" charset="2"/>
              <a:buChar char="Ø"/>
            </a:pPr>
            <a:r>
              <a:rPr lang="fr-FR" sz="2400" dirty="0"/>
              <a:t>Les requêtes d'interruption</a:t>
            </a:r>
          </a:p>
          <a:p>
            <a:pPr>
              <a:buClr>
                <a:srgbClr val="C00000"/>
              </a:buClr>
              <a:buFont typeface="Wingdings" pitchFamily="2" charset="2"/>
              <a:buChar char="Ø"/>
            </a:pPr>
            <a:r>
              <a:rPr lang="fr-FR" sz="2400" dirty="0"/>
              <a:t>Les ressources de mémoire</a:t>
            </a:r>
          </a:p>
        </p:txBody>
      </p:sp>
      <p:sp>
        <p:nvSpPr>
          <p:cNvPr id="4" name="Rectangle 3"/>
          <p:cNvSpPr/>
          <p:nvPr/>
        </p:nvSpPr>
        <p:spPr>
          <a:xfrm>
            <a:off x="261257" y="4678259"/>
            <a:ext cx="8882743" cy="1692771"/>
          </a:xfrm>
          <a:prstGeom prst="rect">
            <a:avLst/>
          </a:prstGeom>
        </p:spPr>
        <p:txBody>
          <a:bodyPr wrap="square">
            <a:spAutoFit/>
          </a:bodyPr>
          <a:lstStyle/>
          <a:p>
            <a:pPr>
              <a:buNone/>
            </a:pPr>
            <a:r>
              <a:rPr lang="fr-FR" sz="2600" dirty="0"/>
              <a:t>Ces informations vous permettent de :</a:t>
            </a:r>
          </a:p>
          <a:p>
            <a:pPr>
              <a:buFont typeface="Wingdings" pitchFamily="2" charset="2"/>
              <a:buChar char="q"/>
            </a:pPr>
            <a:r>
              <a:rPr lang="fr-FR" sz="2600" dirty="0"/>
              <a:t>Déterminer les ressources (les ports) utilisées ou partagées par les périphériques matériels </a:t>
            </a:r>
          </a:p>
          <a:p>
            <a:pPr>
              <a:buFont typeface="Wingdings" pitchFamily="2" charset="2"/>
              <a:buChar char="q"/>
            </a:pPr>
            <a:r>
              <a:rPr lang="fr-FR" sz="2600" dirty="0"/>
              <a:t>Résoudre les conflits liés aux ressources.</a:t>
            </a:r>
            <a:endParaRPr 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heckerboard(across)">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heckerboard(across)">
                                      <p:cBhvr>
                                        <p:cTn id="17"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8"/>
          <p:cNvSpPr>
            <a:spLocks noGrp="1" noChangeArrowheads="1"/>
          </p:cNvSpPr>
          <p:nvPr>
            <p:ph type="title"/>
          </p:nvPr>
        </p:nvSpPr>
        <p:spPr/>
        <p:txBody>
          <a:bodyPr>
            <a:normAutofit fontScale="90000"/>
          </a:bodyPr>
          <a:lstStyle/>
          <a:p>
            <a:r>
              <a:rPr lang="fr-FR" dirty="0">
                <a:solidFill>
                  <a:schemeClr val="tx1"/>
                </a:solidFill>
                <a:cs typeface="Times New Roman" pitchFamily="18" charset="0"/>
              </a:rPr>
              <a:t>1. Identification des informations système</a:t>
            </a:r>
            <a:r>
              <a:rPr lang="fr-FR" dirty="0"/>
              <a:t> </a:t>
            </a:r>
            <a:endParaRPr lang="en-US" dirty="0"/>
          </a:p>
        </p:txBody>
      </p:sp>
      <p:sp>
        <p:nvSpPr>
          <p:cNvPr id="11273" name="Rectangle 9"/>
          <p:cNvSpPr>
            <a:spLocks noGrp="1" noChangeArrowheads="1"/>
          </p:cNvSpPr>
          <p:nvPr>
            <p:ph sz="quarter" idx="1"/>
          </p:nvPr>
        </p:nvSpPr>
        <p:spPr>
          <a:xfrm>
            <a:off x="229180" y="1802820"/>
            <a:ext cx="8503920" cy="2319238"/>
          </a:xfrm>
        </p:spPr>
        <p:txBody>
          <a:bodyPr>
            <a:noAutofit/>
          </a:bodyPr>
          <a:lstStyle/>
          <a:p>
            <a:pPr>
              <a:buNone/>
            </a:pPr>
            <a:r>
              <a:rPr lang="fr-FR" sz="2600" b="1" u="sng" dirty="0">
                <a:solidFill>
                  <a:srgbClr val="C00000"/>
                </a:solidFill>
              </a:rPr>
              <a:t>Composants</a:t>
            </a:r>
          </a:p>
          <a:p>
            <a:pPr>
              <a:buClr>
                <a:srgbClr val="C00000"/>
              </a:buClr>
              <a:buFont typeface="Wingdings" pitchFamily="2" charset="2"/>
              <a:buChar char="Ø"/>
            </a:pPr>
            <a:r>
              <a:rPr lang="fr-FR" sz="2400" dirty="0"/>
              <a:t>informations sur chaque composant de votre ordinateur (la version du pilote de périphérique qu'il utilise)</a:t>
            </a:r>
          </a:p>
          <a:p>
            <a:pPr>
              <a:buClr>
                <a:srgbClr val="C00000"/>
              </a:buClr>
              <a:buFont typeface="Wingdings" pitchFamily="2" charset="2"/>
              <a:buChar char="Ø"/>
            </a:pPr>
            <a:r>
              <a:rPr lang="fr-FR" sz="2400" dirty="0"/>
              <a:t>Périphériques à problème (liste des périphériques pour lesquels le pilote est actuellement endommagé)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Rectangle 8"/>
          <p:cNvSpPr>
            <a:spLocks noGrp="1" noChangeArrowheads="1"/>
          </p:cNvSpPr>
          <p:nvPr>
            <p:ph type="title"/>
          </p:nvPr>
        </p:nvSpPr>
        <p:spPr/>
        <p:txBody>
          <a:bodyPr>
            <a:normAutofit fontScale="90000"/>
          </a:bodyPr>
          <a:lstStyle/>
          <a:p>
            <a:r>
              <a:rPr lang="fr-FR" dirty="0">
                <a:solidFill>
                  <a:schemeClr val="tx1"/>
                </a:solidFill>
                <a:cs typeface="Times New Roman" pitchFamily="18" charset="0"/>
              </a:rPr>
              <a:t>1. Identification des informations système</a:t>
            </a:r>
            <a:r>
              <a:rPr lang="fr-FR" dirty="0"/>
              <a:t> </a:t>
            </a:r>
            <a:endParaRPr lang="en-US" dirty="0"/>
          </a:p>
        </p:txBody>
      </p:sp>
      <p:sp>
        <p:nvSpPr>
          <p:cNvPr id="11273" name="Rectangle 9"/>
          <p:cNvSpPr>
            <a:spLocks noGrp="1" noChangeArrowheads="1"/>
          </p:cNvSpPr>
          <p:nvPr>
            <p:ph sz="quarter" idx="1"/>
          </p:nvPr>
        </p:nvSpPr>
        <p:spPr>
          <a:xfrm>
            <a:off x="243694" y="1527048"/>
            <a:ext cx="8503920" cy="4815694"/>
          </a:xfrm>
        </p:spPr>
        <p:txBody>
          <a:bodyPr>
            <a:noAutofit/>
          </a:bodyPr>
          <a:lstStyle/>
          <a:p>
            <a:pPr>
              <a:buNone/>
            </a:pPr>
            <a:r>
              <a:rPr lang="fr-FR" sz="2600" b="1" u="sng" dirty="0">
                <a:solidFill>
                  <a:srgbClr val="C00000"/>
                </a:solidFill>
              </a:rPr>
              <a:t>Environnement logiciel</a:t>
            </a:r>
          </a:p>
          <a:p>
            <a:pPr>
              <a:buClr>
                <a:srgbClr val="C00000"/>
              </a:buClr>
              <a:buFont typeface="Wingdings" pitchFamily="2" charset="2"/>
              <a:buChar char="Ø"/>
            </a:pPr>
            <a:r>
              <a:rPr lang="fr-FR" sz="2400" dirty="0"/>
              <a:t>Détails sur les pilotes système et de périphérique</a:t>
            </a:r>
          </a:p>
          <a:p>
            <a:pPr>
              <a:buClr>
                <a:srgbClr val="C00000"/>
              </a:buClr>
              <a:buFont typeface="Wingdings" pitchFamily="2" charset="2"/>
              <a:buChar char="Ø"/>
            </a:pPr>
            <a:r>
              <a:rPr lang="fr-FR" sz="2400" dirty="0"/>
              <a:t>Les variables d'environnement </a:t>
            </a:r>
          </a:p>
          <a:p>
            <a:pPr>
              <a:buClr>
                <a:srgbClr val="C00000"/>
              </a:buClr>
              <a:buFont typeface="Wingdings" pitchFamily="2" charset="2"/>
              <a:buChar char="Ø"/>
            </a:pPr>
            <a:r>
              <a:rPr lang="fr-FR" sz="2400" dirty="0"/>
              <a:t>Les connexions réseau</a:t>
            </a:r>
          </a:p>
          <a:p>
            <a:pPr>
              <a:buClr>
                <a:srgbClr val="C00000"/>
              </a:buClr>
              <a:buNone/>
            </a:pPr>
            <a:r>
              <a:rPr lang="fr-FR" sz="2400" dirty="0"/>
              <a:t>Vous pouvez utiliser ces informations pour :</a:t>
            </a:r>
          </a:p>
          <a:p>
            <a:pPr>
              <a:buClr>
                <a:schemeClr val="tx1"/>
              </a:buClr>
              <a:buFont typeface="Wingdings" pitchFamily="2" charset="2"/>
              <a:buChar char="q"/>
            </a:pPr>
            <a:r>
              <a:rPr lang="fr-FR" sz="2400" dirty="0"/>
              <a:t>Déterminer quelle version de pilote un périphérique utilise</a:t>
            </a:r>
          </a:p>
          <a:p>
            <a:pPr>
              <a:buClr>
                <a:schemeClr val="tx1"/>
              </a:buClr>
              <a:buFont typeface="Wingdings" pitchFamily="2" charset="2"/>
              <a:buChar char="q"/>
            </a:pPr>
            <a:r>
              <a:rPr lang="fr-FR" sz="2400" dirty="0"/>
              <a:t>Déterminer les services et tâches actuellement exécutées sur l'ordinateur.</a:t>
            </a:r>
          </a:p>
          <a:p>
            <a:pPr>
              <a:buClr>
                <a:schemeClr val="tx1"/>
              </a:buClr>
              <a:buFont typeface="Wingdings" pitchFamily="2" charset="2"/>
              <a:buChar char="q"/>
            </a:pPr>
            <a:r>
              <a:rPr lang="fr-FR" sz="2400" dirty="0"/>
              <a:t>Rechercher le nom, la version et le chemin d'accès des bibliothèques de liaisons dynamiques (DLL) associées à une application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273">
                                            <p:txEl>
                                              <p:pRg st="4" end="4"/>
                                            </p:txEl>
                                          </p:spTgt>
                                        </p:tgtEl>
                                        <p:attrNameLst>
                                          <p:attrName>style.visibility</p:attrName>
                                        </p:attrNameLst>
                                      </p:cBhvr>
                                      <p:to>
                                        <p:strVal val="visible"/>
                                      </p:to>
                                    </p:set>
                                    <p:animEffect transition="in" filter="checkerboard(across)">
                                      <p:cBhvr>
                                        <p:cTn id="7" dur="1000"/>
                                        <p:tgtEl>
                                          <p:spTgt spid="1127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273">
                                            <p:txEl>
                                              <p:pRg st="5" end="5"/>
                                            </p:txEl>
                                          </p:spTgt>
                                        </p:tgtEl>
                                        <p:attrNameLst>
                                          <p:attrName>style.visibility</p:attrName>
                                        </p:attrNameLst>
                                      </p:cBhvr>
                                      <p:to>
                                        <p:strVal val="visible"/>
                                      </p:to>
                                    </p:set>
                                    <p:animEffect transition="in" filter="checkerboard(across)">
                                      <p:cBhvr>
                                        <p:cTn id="12" dur="1000"/>
                                        <p:tgtEl>
                                          <p:spTgt spid="1127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273">
                                            <p:txEl>
                                              <p:pRg st="6" end="6"/>
                                            </p:txEl>
                                          </p:spTgt>
                                        </p:tgtEl>
                                        <p:attrNameLst>
                                          <p:attrName>style.visibility</p:attrName>
                                        </p:attrNameLst>
                                      </p:cBhvr>
                                      <p:to>
                                        <p:strVal val="visible"/>
                                      </p:to>
                                    </p:set>
                                    <p:animEffect transition="in" filter="checkerboard(across)">
                                      <p:cBhvr>
                                        <p:cTn id="17" dur="1000"/>
                                        <p:tgtEl>
                                          <p:spTgt spid="1127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273">
                                            <p:txEl>
                                              <p:pRg st="7" end="7"/>
                                            </p:txEl>
                                          </p:spTgt>
                                        </p:tgtEl>
                                        <p:attrNameLst>
                                          <p:attrName>style.visibility</p:attrName>
                                        </p:attrNameLst>
                                      </p:cBhvr>
                                      <p:to>
                                        <p:strVal val="visible"/>
                                      </p:to>
                                    </p:set>
                                    <p:animEffect transition="in" filter="checkerboard(across)">
                                      <p:cBhvr>
                                        <p:cTn id="22" dur="1000"/>
                                        <p:tgtEl>
                                          <p:spTgt spid="1127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title"/>
          </p:nvPr>
        </p:nvSpPr>
        <p:spPr>
          <a:xfrm>
            <a:off x="101603" y="301171"/>
            <a:ext cx="8955314" cy="758952"/>
          </a:xfrm>
        </p:spPr>
        <p:txBody>
          <a:bodyPr>
            <a:noAutofit/>
          </a:bodyPr>
          <a:lstStyle/>
          <a:p>
            <a:pPr marL="439738" indent="-439738"/>
            <a:r>
              <a:rPr lang="fr-FR" sz="2800" dirty="0">
                <a:solidFill>
                  <a:schemeClr val="tx1"/>
                </a:solidFill>
                <a:cs typeface="Times New Roman" pitchFamily="18" charset="0"/>
              </a:rPr>
              <a:t>2. Utilisation du Gestionnaire des tâches pour surveiller les performances du système</a:t>
            </a:r>
            <a:r>
              <a:rPr lang="fr-FR" sz="2800" dirty="0"/>
              <a:t> </a:t>
            </a:r>
            <a:endParaRPr lang="en-US" sz="2800" dirty="0"/>
          </a:p>
        </p:txBody>
      </p:sp>
      <p:sp>
        <p:nvSpPr>
          <p:cNvPr id="3077" name="Rectangle 5"/>
          <p:cNvSpPr>
            <a:spLocks noGrp="1" noChangeArrowheads="1"/>
          </p:cNvSpPr>
          <p:nvPr>
            <p:ph sz="quarter" idx="1"/>
          </p:nvPr>
        </p:nvSpPr>
        <p:spPr>
          <a:xfrm>
            <a:off x="419186" y="1591703"/>
            <a:ext cx="7754995" cy="3866988"/>
          </a:xfrm>
        </p:spPr>
        <p:txBody>
          <a:bodyPr>
            <a:normAutofit fontScale="92500" lnSpcReduction="10000"/>
          </a:bodyPr>
          <a:lstStyle/>
          <a:p>
            <a:r>
              <a:rPr lang="fr-FR" b="1" dirty="0" err="1">
                <a:solidFill>
                  <a:srgbClr val="C00000"/>
                </a:solidFill>
              </a:rPr>
              <a:t>Pésentation</a:t>
            </a:r>
            <a:r>
              <a:rPr lang="fr-FR" b="1" dirty="0">
                <a:solidFill>
                  <a:srgbClr val="C00000"/>
                </a:solidFill>
              </a:rPr>
              <a:t> de l’outil Gestionnaire des tâches</a:t>
            </a:r>
          </a:p>
          <a:p>
            <a:r>
              <a:rPr lang="fr-FR" b="1" dirty="0">
                <a:solidFill>
                  <a:srgbClr val="C00000"/>
                </a:solidFill>
              </a:rPr>
              <a:t>Surveillance des applications</a:t>
            </a:r>
          </a:p>
          <a:p>
            <a:r>
              <a:rPr lang="fr-FR" b="1" dirty="0">
                <a:solidFill>
                  <a:srgbClr val="C00000"/>
                </a:solidFill>
              </a:rPr>
              <a:t>Surveillance des processus</a:t>
            </a:r>
          </a:p>
          <a:p>
            <a:r>
              <a:rPr lang="fr-FR" b="1" dirty="0">
                <a:solidFill>
                  <a:srgbClr val="C00000"/>
                </a:solidFill>
              </a:rPr>
              <a:t>Surveillance des performances</a:t>
            </a:r>
          </a:p>
          <a:p>
            <a:r>
              <a:rPr lang="fr-FR" b="1" dirty="0">
                <a:solidFill>
                  <a:srgbClr val="C00000"/>
                </a:solidFill>
              </a:rPr>
              <a:t>Surveillance de la connectivité réseau</a:t>
            </a:r>
            <a:endParaRPr lang="fr-FR" dirty="0">
              <a:solidFill>
                <a:srgbClr val="C00000"/>
              </a:solidFill>
            </a:endParaRPr>
          </a:p>
          <a:p>
            <a:endParaRPr lang="fr-FR" dirty="0">
              <a:solidFill>
                <a:srgbClr val="C00000"/>
              </a:solidFill>
            </a:endParaRPr>
          </a:p>
          <a:p>
            <a:endParaRPr lang="fr-FR" b="1" dirty="0">
              <a:solidFill>
                <a:srgbClr val="C00000"/>
              </a:solidFill>
            </a:endParaRPr>
          </a:p>
          <a:p>
            <a:r>
              <a:rPr lang="fr-FR" dirty="0">
                <a:solidFill>
                  <a:srgbClr val="C00000"/>
                </a:solidFill>
              </a:rPr>
              <a: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title"/>
          </p:nvPr>
        </p:nvSpPr>
        <p:spPr>
          <a:xfrm>
            <a:off x="101603" y="412011"/>
            <a:ext cx="8955314" cy="758952"/>
          </a:xfrm>
        </p:spPr>
        <p:txBody>
          <a:bodyPr>
            <a:noAutofit/>
          </a:bodyPr>
          <a:lstStyle/>
          <a:p>
            <a:pPr marL="439738" indent="-439738"/>
            <a:r>
              <a:rPr lang="fr-FR" dirty="0">
                <a:solidFill>
                  <a:srgbClr val="C00000"/>
                </a:solidFill>
              </a:rPr>
              <a:t>Présentation de l’outil Gestionnaire des tâches </a:t>
            </a:r>
            <a:endParaRPr lang="en-US" dirty="0">
              <a:solidFill>
                <a:srgbClr val="C00000"/>
              </a:solidFill>
            </a:endParaRPr>
          </a:p>
        </p:txBody>
      </p:sp>
      <p:sp>
        <p:nvSpPr>
          <p:cNvPr id="3077" name="Rectangle 5"/>
          <p:cNvSpPr>
            <a:spLocks noGrp="1" noChangeArrowheads="1"/>
          </p:cNvSpPr>
          <p:nvPr>
            <p:ph sz="quarter" idx="1"/>
          </p:nvPr>
        </p:nvSpPr>
        <p:spPr>
          <a:xfrm>
            <a:off x="751696" y="3559048"/>
            <a:ext cx="6853790" cy="1956381"/>
          </a:xfrm>
        </p:spPr>
        <p:txBody>
          <a:bodyPr>
            <a:normAutofit lnSpcReduction="10000"/>
          </a:bodyPr>
          <a:lstStyle/>
          <a:p>
            <a:r>
              <a:rPr lang="fr-FR" dirty="0">
                <a:cs typeface="Times New Roman" pitchFamily="18" charset="0"/>
              </a:rPr>
              <a:t>Surveillance des applications</a:t>
            </a:r>
            <a:r>
              <a:rPr lang="fr-FR" dirty="0"/>
              <a:t> </a:t>
            </a:r>
            <a:endParaRPr lang="en-US" dirty="0"/>
          </a:p>
          <a:p>
            <a:r>
              <a:rPr lang="fr-FR" dirty="0">
                <a:cs typeface="Times New Roman" pitchFamily="18" charset="0"/>
              </a:rPr>
              <a:t>Surveillance des processus</a:t>
            </a:r>
            <a:r>
              <a:rPr lang="fr-FR" dirty="0"/>
              <a:t> </a:t>
            </a:r>
            <a:endParaRPr lang="en-US" dirty="0"/>
          </a:p>
          <a:p>
            <a:r>
              <a:rPr lang="fr-FR" dirty="0">
                <a:cs typeface="Times New Roman" pitchFamily="18" charset="0"/>
              </a:rPr>
              <a:t>Surveillance des performances</a:t>
            </a:r>
            <a:r>
              <a:rPr lang="fr-FR" dirty="0"/>
              <a:t> </a:t>
            </a:r>
            <a:endParaRPr lang="en-US" dirty="0"/>
          </a:p>
          <a:p>
            <a:r>
              <a:rPr lang="fr-FR" dirty="0">
                <a:cs typeface="Times New Roman" pitchFamily="18" charset="0"/>
              </a:rPr>
              <a:t>Surveillance de la connectivité réseau</a:t>
            </a:r>
            <a:r>
              <a:rPr lang="fr-FR" dirty="0"/>
              <a:t> </a:t>
            </a:r>
            <a:endParaRPr lang="en-US" dirty="0"/>
          </a:p>
        </p:txBody>
      </p:sp>
      <p:sp>
        <p:nvSpPr>
          <p:cNvPr id="4" name="Rectangle 3"/>
          <p:cNvSpPr/>
          <p:nvPr/>
        </p:nvSpPr>
        <p:spPr>
          <a:xfrm>
            <a:off x="449942" y="1698172"/>
            <a:ext cx="8287656" cy="1477328"/>
          </a:xfrm>
          <a:prstGeom prst="rect">
            <a:avLst/>
          </a:prstGeom>
          <a:solidFill>
            <a:srgbClr val="F5EEEB"/>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dirty="0"/>
              <a:t>C’</a:t>
            </a:r>
            <a:r>
              <a:rPr lang="fr-FR" i="1" dirty="0"/>
              <a:t>est un outil qui fournit des informations en temps </a:t>
            </a:r>
            <a:r>
              <a:rPr lang="fr-FR" dirty="0"/>
              <a:t>réel sur les applications actuellement exécutées sur votre ordinateur.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77">
                                            <p:txEl>
                                              <p:pRg st="0" end="0"/>
                                            </p:txEl>
                                          </p:spTgt>
                                        </p:tgtEl>
                                        <p:attrNameLst>
                                          <p:attrName>style.visibility</p:attrName>
                                        </p:attrNameLst>
                                      </p:cBhvr>
                                      <p:to>
                                        <p:strVal val="visible"/>
                                      </p:to>
                                    </p:set>
                                    <p:animEffect transition="in" filter="checkerboard(across)">
                                      <p:cBhvr>
                                        <p:cTn id="7" dur="500"/>
                                        <p:tgtEl>
                                          <p:spTgt spid="3077">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3077">
                                            <p:txEl>
                                              <p:pRg st="1" end="1"/>
                                            </p:txEl>
                                          </p:spTgt>
                                        </p:tgtEl>
                                        <p:attrNameLst>
                                          <p:attrName>style.visibility</p:attrName>
                                        </p:attrNameLst>
                                      </p:cBhvr>
                                      <p:to>
                                        <p:strVal val="visible"/>
                                      </p:to>
                                    </p:set>
                                    <p:animEffect transition="in" filter="checkerboard(across)">
                                      <p:cBhvr>
                                        <p:cTn id="11" dur="500"/>
                                        <p:tgtEl>
                                          <p:spTgt spid="3077">
                                            <p:txEl>
                                              <p:pRg st="1" end="1"/>
                                            </p:txEl>
                                          </p:spTgt>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3077">
                                            <p:txEl>
                                              <p:pRg st="2" end="2"/>
                                            </p:txEl>
                                          </p:spTgt>
                                        </p:tgtEl>
                                        <p:attrNameLst>
                                          <p:attrName>style.visibility</p:attrName>
                                        </p:attrNameLst>
                                      </p:cBhvr>
                                      <p:to>
                                        <p:strVal val="visible"/>
                                      </p:to>
                                    </p:set>
                                    <p:animEffect transition="in" filter="checkerboard(across)">
                                      <p:cBhvr>
                                        <p:cTn id="15" dur="500"/>
                                        <p:tgtEl>
                                          <p:spTgt spid="3077">
                                            <p:txEl>
                                              <p:pRg st="2" end="2"/>
                                            </p:txEl>
                                          </p:spTgt>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3077">
                                            <p:txEl>
                                              <p:pRg st="3" end="3"/>
                                            </p:txEl>
                                          </p:spTgt>
                                        </p:tgtEl>
                                        <p:attrNameLst>
                                          <p:attrName>style.visibility</p:attrName>
                                        </p:attrNameLst>
                                      </p:cBhvr>
                                      <p:to>
                                        <p:strVal val="visible"/>
                                      </p:to>
                                    </p:set>
                                    <p:animEffect transition="in" filter="checkerboard(across)">
                                      <p:cBhvr>
                                        <p:cTn id="19" dur="500"/>
                                        <p:tgtEl>
                                          <p:spTgt spid="307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49" name="Picture 53" descr="P2272b_W12-05-"/>
          <p:cNvPicPr>
            <a:picLocks noGrp="1" noChangeAspect="1" noChangeArrowheads="1"/>
          </p:cNvPicPr>
          <p:nvPr>
            <p:ph/>
          </p:nvPr>
        </p:nvPicPr>
        <p:blipFill>
          <a:blip r:embed="rId3"/>
          <a:srcRect/>
          <a:stretch>
            <a:fillRect/>
          </a:stretch>
        </p:blipFill>
        <p:spPr>
          <a:xfrm>
            <a:off x="1814513" y="2090974"/>
            <a:ext cx="4992687" cy="4746155"/>
          </a:xfrm>
          <a:noFill/>
          <a:ln/>
        </p:spPr>
      </p:pic>
      <p:sp>
        <p:nvSpPr>
          <p:cNvPr id="4147" name="Rectangle 51"/>
          <p:cNvSpPr>
            <a:spLocks noGrp="1" noChangeArrowheads="1"/>
          </p:cNvSpPr>
          <p:nvPr>
            <p:ph type="title" idx="4294967295"/>
          </p:nvPr>
        </p:nvSpPr>
        <p:spPr>
          <a:xfrm>
            <a:off x="0" y="246743"/>
            <a:ext cx="8741455" cy="632505"/>
          </a:xfrm>
        </p:spPr>
        <p:txBody>
          <a:bodyPr>
            <a:normAutofit/>
          </a:bodyPr>
          <a:lstStyle/>
          <a:p>
            <a:r>
              <a:rPr lang="fr-FR" b="1" dirty="0">
                <a:solidFill>
                  <a:srgbClr val="C00000"/>
                </a:solidFill>
              </a:rPr>
              <a:t>Surveillance des applications</a:t>
            </a:r>
            <a:endParaRPr lang="en-US" b="1" dirty="0">
              <a:solidFill>
                <a:srgbClr val="C00000"/>
              </a:solidFill>
            </a:endParaRPr>
          </a:p>
        </p:txBody>
      </p:sp>
      <p:sp>
        <p:nvSpPr>
          <p:cNvPr id="4144" name="AutoShape 48"/>
          <p:cNvSpPr>
            <a:spLocks noChangeArrowheads="1"/>
          </p:cNvSpPr>
          <p:nvPr/>
        </p:nvSpPr>
        <p:spPr bwMode="auto">
          <a:xfrm>
            <a:off x="2571750" y="4252686"/>
            <a:ext cx="2977417" cy="1801807"/>
          </a:xfrm>
          <a:prstGeom prst="downArrowCallout">
            <a:avLst>
              <a:gd name="adj1" fmla="val 34933"/>
              <a:gd name="adj2" fmla="val 33487"/>
              <a:gd name="adj3" fmla="val 30361"/>
              <a:gd name="adj4" fmla="val 61273"/>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tIns="27432" bIns="27432" anchor="ctr"/>
          <a:lstStyle/>
          <a:p>
            <a:pPr algn="ctr"/>
            <a:r>
              <a:rPr lang="en-US" sz="1800" dirty="0" err="1">
                <a:latin typeface="Arial" charset="0"/>
                <a:cs typeface="Times New Roman" pitchFamily="18" charset="0"/>
              </a:rPr>
              <a:t>Cliquez</a:t>
            </a:r>
            <a:r>
              <a:rPr lang="en-US" sz="1800" dirty="0">
                <a:latin typeface="Arial" charset="0"/>
                <a:cs typeface="Times New Roman" pitchFamily="18" charset="0"/>
              </a:rPr>
              <a:t> </a:t>
            </a:r>
            <a:r>
              <a:rPr lang="en-US" sz="1800" dirty="0" err="1">
                <a:latin typeface="Arial" charset="0"/>
                <a:cs typeface="Times New Roman" pitchFamily="18" charset="0"/>
              </a:rPr>
              <a:t>sur</a:t>
            </a:r>
            <a:r>
              <a:rPr lang="en-US" sz="1800" dirty="0">
                <a:latin typeface="Arial" charset="0"/>
                <a:cs typeface="Times New Roman" pitchFamily="18" charset="0"/>
              </a:rPr>
              <a:t> </a:t>
            </a:r>
            <a:r>
              <a:rPr lang="en-US" sz="1800" b="1" dirty="0">
                <a:latin typeface="Arial" charset="0"/>
                <a:cs typeface="Times New Roman" pitchFamily="18" charset="0"/>
              </a:rPr>
              <a:t>Fin de </a:t>
            </a:r>
            <a:r>
              <a:rPr lang="en-US" sz="1800" b="1" dirty="0" err="1">
                <a:latin typeface="Arial" charset="0"/>
                <a:cs typeface="Times New Roman" pitchFamily="18" charset="0"/>
              </a:rPr>
              <a:t>tâche</a:t>
            </a:r>
            <a:r>
              <a:rPr lang="en-US" sz="1800" dirty="0">
                <a:latin typeface="Arial" charset="0"/>
                <a:cs typeface="Times New Roman" pitchFamily="18" charset="0"/>
              </a:rPr>
              <a:t> pour </a:t>
            </a:r>
            <a:r>
              <a:rPr lang="en-US" sz="1800" dirty="0" err="1">
                <a:latin typeface="Arial" charset="0"/>
                <a:cs typeface="Times New Roman" pitchFamily="18" charset="0"/>
              </a:rPr>
              <a:t>fermer</a:t>
            </a:r>
            <a:r>
              <a:rPr lang="en-US" sz="1800" dirty="0">
                <a:latin typeface="Arial" charset="0"/>
                <a:cs typeface="Times New Roman" pitchFamily="18" charset="0"/>
              </a:rPr>
              <a:t> </a:t>
            </a:r>
            <a:r>
              <a:rPr lang="en-US" sz="1800" dirty="0" err="1">
                <a:latin typeface="Arial" charset="0"/>
                <a:cs typeface="Times New Roman" pitchFamily="18" charset="0"/>
              </a:rPr>
              <a:t>une</a:t>
            </a:r>
            <a:r>
              <a:rPr lang="en-US" sz="1800" dirty="0">
                <a:latin typeface="Arial" charset="0"/>
                <a:cs typeface="Times New Roman" pitchFamily="18" charset="0"/>
              </a:rPr>
              <a:t> application qui ne </a:t>
            </a:r>
            <a:r>
              <a:rPr lang="en-US" sz="1800" dirty="0" err="1">
                <a:latin typeface="Arial" charset="0"/>
                <a:cs typeface="Times New Roman" pitchFamily="18" charset="0"/>
              </a:rPr>
              <a:t>répond</a:t>
            </a:r>
            <a:r>
              <a:rPr lang="en-US" sz="1800" dirty="0">
                <a:latin typeface="Arial" charset="0"/>
                <a:cs typeface="Times New Roman" pitchFamily="18" charset="0"/>
              </a:rPr>
              <a:t> pas</a:t>
            </a:r>
          </a:p>
        </p:txBody>
      </p:sp>
      <p:sp>
        <p:nvSpPr>
          <p:cNvPr id="4145" name="Rectangle 49"/>
          <p:cNvSpPr>
            <a:spLocks noChangeArrowheads="1"/>
          </p:cNvSpPr>
          <p:nvPr/>
        </p:nvSpPr>
        <p:spPr bwMode="auto">
          <a:xfrm>
            <a:off x="1829482" y="2575906"/>
            <a:ext cx="816033" cy="233495"/>
          </a:xfrm>
          <a:prstGeom prst="rect">
            <a:avLst/>
          </a:prstGeom>
          <a:noFill/>
          <a:ln w="38100">
            <a:solidFill>
              <a:srgbClr val="C60076"/>
            </a:solidFill>
            <a:miter lim="800000"/>
            <a:headEnd/>
            <a:tailEnd/>
          </a:ln>
          <a:effectLst/>
        </p:spPr>
        <p:txBody>
          <a:bodyPr wrap="none" anchor="ctr"/>
          <a:lstStyle/>
          <a:p>
            <a:endParaRPr lang="fr-FR"/>
          </a:p>
        </p:txBody>
      </p:sp>
      <p:sp>
        <p:nvSpPr>
          <p:cNvPr id="4146" name="AutoShape 50"/>
          <p:cNvSpPr>
            <a:spLocks noChangeArrowheads="1"/>
          </p:cNvSpPr>
          <p:nvPr/>
        </p:nvSpPr>
        <p:spPr bwMode="auto">
          <a:xfrm>
            <a:off x="1094469" y="2543839"/>
            <a:ext cx="594105" cy="422726"/>
          </a:xfrm>
          <a:prstGeom prst="rightArrow">
            <a:avLst>
              <a:gd name="adj1" fmla="val 49741"/>
              <a:gd name="adj2" fmla="val 63873"/>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endParaRPr lang="fr-FR"/>
          </a:p>
        </p:txBody>
      </p:sp>
      <p:sp>
        <p:nvSpPr>
          <p:cNvPr id="8" name="Rectangle 7"/>
          <p:cNvSpPr/>
          <p:nvPr/>
        </p:nvSpPr>
        <p:spPr>
          <a:xfrm>
            <a:off x="0" y="1413079"/>
            <a:ext cx="9144000" cy="492443"/>
          </a:xfrm>
          <a:prstGeom prst="rect">
            <a:avLst/>
          </a:prstGeom>
          <a:solidFill>
            <a:srgbClr val="F5EEEB"/>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sz="2600" dirty="0"/>
              <a:t>Permet de visualiser les applications actuellement exécutées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149"/>
                                        </p:tgtEl>
                                        <p:attrNameLst>
                                          <p:attrName>style.visibility</p:attrName>
                                        </p:attrNameLst>
                                      </p:cBhvr>
                                      <p:to>
                                        <p:strVal val="visible"/>
                                      </p:to>
                                    </p:set>
                                    <p:animEffect transition="in" filter="checkerboard(across)">
                                      <p:cBhvr>
                                        <p:cTn id="7" dur="500"/>
                                        <p:tgtEl>
                                          <p:spTgt spid="414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146"/>
                                        </p:tgtEl>
                                        <p:attrNameLst>
                                          <p:attrName>style.visibility</p:attrName>
                                        </p:attrNameLst>
                                      </p:cBhvr>
                                      <p:to>
                                        <p:strVal val="visible"/>
                                      </p:to>
                                    </p:set>
                                    <p:animEffect transition="in" filter="checkerboard(across)">
                                      <p:cBhvr>
                                        <p:cTn id="10" dur="500"/>
                                        <p:tgtEl>
                                          <p:spTgt spid="414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145"/>
                                        </p:tgtEl>
                                        <p:attrNameLst>
                                          <p:attrName>style.visibility</p:attrName>
                                        </p:attrNameLst>
                                      </p:cBhvr>
                                      <p:to>
                                        <p:strVal val="visible"/>
                                      </p:to>
                                    </p:set>
                                    <p:animEffect transition="in" filter="checkerboard(across)">
                                      <p:cBhvr>
                                        <p:cTn id="13" dur="500"/>
                                        <p:tgtEl>
                                          <p:spTgt spid="414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4144"/>
                                        </p:tgtEl>
                                        <p:attrNameLst>
                                          <p:attrName>style.visibility</p:attrName>
                                        </p:attrNameLst>
                                      </p:cBhvr>
                                      <p:to>
                                        <p:strVal val="visible"/>
                                      </p:to>
                                    </p:set>
                                    <p:animEffect transition="in" filter="checkerboard(across)">
                                      <p:cBhvr>
                                        <p:cTn id="18" dur="500"/>
                                        <p:tgtEl>
                                          <p:spTgt spid="4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4" grpId="0" animBg="1"/>
      <p:bldP spid="4145" grpId="0" animBg="1"/>
      <p:bldP spid="414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9" name="Rectangle 139"/>
          <p:cNvSpPr>
            <a:spLocks noGrp="1" noChangeArrowheads="1"/>
          </p:cNvSpPr>
          <p:nvPr>
            <p:ph type="title"/>
          </p:nvPr>
        </p:nvSpPr>
        <p:spPr>
          <a:noFill/>
          <a:ln/>
        </p:spPr>
        <p:txBody>
          <a:bodyPr/>
          <a:lstStyle/>
          <a:p>
            <a:r>
              <a:rPr lang="fr-FR" dirty="0">
                <a:solidFill>
                  <a:srgbClr val="C00000"/>
                </a:solidFill>
              </a:rPr>
              <a:t>Surveillance des processus</a:t>
            </a:r>
            <a:endParaRPr lang="en-US" dirty="0">
              <a:solidFill>
                <a:srgbClr val="C00000"/>
              </a:solidFill>
            </a:endParaRPr>
          </a:p>
        </p:txBody>
      </p:sp>
      <p:pic>
        <p:nvPicPr>
          <p:cNvPr id="5265" name="Picture 145" descr="P2272b_W12-06-"/>
          <p:cNvPicPr>
            <a:picLocks noGrp="1" noChangeAspect="1" noChangeArrowheads="1"/>
          </p:cNvPicPr>
          <p:nvPr>
            <p:ph sz="quarter" idx="1"/>
          </p:nvPr>
        </p:nvPicPr>
        <p:blipFill>
          <a:blip r:embed="rId3"/>
          <a:srcRect/>
          <a:stretch>
            <a:fillRect/>
          </a:stretch>
        </p:blipFill>
        <p:spPr>
          <a:xfrm>
            <a:off x="1709738" y="2496457"/>
            <a:ext cx="6373812" cy="4368332"/>
          </a:xfrm>
          <a:noFill/>
          <a:ln/>
        </p:spPr>
      </p:pic>
      <p:sp>
        <p:nvSpPr>
          <p:cNvPr id="5262" name="AutoShape 142"/>
          <p:cNvSpPr>
            <a:spLocks noChangeArrowheads="1"/>
          </p:cNvSpPr>
          <p:nvPr/>
        </p:nvSpPr>
        <p:spPr bwMode="auto">
          <a:xfrm>
            <a:off x="6121400" y="4424145"/>
            <a:ext cx="1981200" cy="902601"/>
          </a:xfrm>
          <a:prstGeom prst="leftArrowCallout">
            <a:avLst>
              <a:gd name="adj1" fmla="val 51824"/>
              <a:gd name="adj2" fmla="val 45269"/>
              <a:gd name="adj3" fmla="val 44197"/>
              <a:gd name="adj4" fmla="val 75611"/>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lIns="182880" tIns="27432" bIns="27432" anchor="ctr"/>
          <a:lstStyle/>
          <a:p>
            <a:pPr>
              <a:spcBef>
                <a:spcPct val="20000"/>
              </a:spcBef>
              <a:spcAft>
                <a:spcPct val="20000"/>
              </a:spcAft>
              <a:buClr>
                <a:srgbClr val="D60093"/>
              </a:buClr>
              <a:buSzPct val="70000"/>
              <a:buFont typeface="Wingdings" pitchFamily="2" charset="2"/>
              <a:buNone/>
            </a:pPr>
            <a:r>
              <a:rPr lang="en-US" sz="1500" b="1" dirty="0" err="1">
                <a:latin typeface="Arial" charset="0"/>
                <a:cs typeface="Times New Roman" pitchFamily="18" charset="0"/>
              </a:rPr>
              <a:t>Définissez</a:t>
            </a:r>
            <a:r>
              <a:rPr lang="en-US" sz="1500" b="1" dirty="0">
                <a:latin typeface="Arial" charset="0"/>
                <a:cs typeface="Times New Roman" pitchFamily="18" charset="0"/>
              </a:rPr>
              <a:t> la </a:t>
            </a:r>
            <a:r>
              <a:rPr lang="en-US" sz="1500" b="1" dirty="0" err="1">
                <a:latin typeface="Arial" charset="0"/>
                <a:cs typeface="Times New Roman" pitchFamily="18" charset="0"/>
              </a:rPr>
              <a:t>priorité</a:t>
            </a:r>
            <a:r>
              <a:rPr lang="en-US" sz="1500" b="1" dirty="0">
                <a:latin typeface="Arial" charset="0"/>
                <a:cs typeface="Times New Roman" pitchFamily="18" charset="0"/>
              </a:rPr>
              <a:t> des </a:t>
            </a:r>
            <a:r>
              <a:rPr lang="en-US" sz="1500" b="1" dirty="0" err="1">
                <a:latin typeface="Arial" charset="0"/>
                <a:cs typeface="Times New Roman" pitchFamily="18" charset="0"/>
              </a:rPr>
              <a:t>processus</a:t>
            </a:r>
            <a:endParaRPr lang="en-US" sz="1500" b="1" dirty="0">
              <a:latin typeface="Arial" charset="0"/>
              <a:cs typeface="Times New Roman" pitchFamily="18" charset="0"/>
            </a:endParaRPr>
          </a:p>
        </p:txBody>
      </p:sp>
      <p:sp>
        <p:nvSpPr>
          <p:cNvPr id="5263" name="AutoShape 143"/>
          <p:cNvSpPr>
            <a:spLocks noChangeArrowheads="1"/>
          </p:cNvSpPr>
          <p:nvPr/>
        </p:nvSpPr>
        <p:spPr bwMode="auto">
          <a:xfrm>
            <a:off x="6670675" y="2249714"/>
            <a:ext cx="2228850" cy="2032207"/>
          </a:xfrm>
          <a:prstGeom prst="leftArrowCallout">
            <a:avLst>
              <a:gd name="adj1" fmla="val 22222"/>
              <a:gd name="adj2" fmla="val 20060"/>
              <a:gd name="adj3" fmla="val 22549"/>
              <a:gd name="adj4" fmla="val 75611"/>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lIns="182880" tIns="27432" bIns="27432" anchor="ctr"/>
          <a:lstStyle/>
          <a:p>
            <a:pPr>
              <a:spcBef>
                <a:spcPct val="20000"/>
              </a:spcBef>
              <a:spcAft>
                <a:spcPct val="20000"/>
              </a:spcAft>
              <a:buClr>
                <a:srgbClr val="D60093"/>
              </a:buClr>
              <a:buSzPct val="70000"/>
              <a:buFont typeface="Wingdings" pitchFamily="2" charset="2"/>
              <a:buNone/>
            </a:pPr>
            <a:r>
              <a:rPr lang="en-US" sz="1500" b="1" dirty="0" err="1">
                <a:latin typeface="Arial" charset="0"/>
                <a:cs typeface="Times New Roman" pitchFamily="18" charset="0"/>
              </a:rPr>
              <a:t>Cliquez</a:t>
            </a:r>
            <a:r>
              <a:rPr lang="en-US" sz="1500" b="1" dirty="0">
                <a:latin typeface="Arial" charset="0"/>
                <a:cs typeface="Times New Roman" pitchFamily="18" charset="0"/>
              </a:rPr>
              <a:t> </a:t>
            </a:r>
            <a:r>
              <a:rPr lang="en-US" sz="1500" b="1" dirty="0" err="1">
                <a:latin typeface="Arial" charset="0"/>
                <a:cs typeface="Times New Roman" pitchFamily="18" charset="0"/>
              </a:rPr>
              <a:t>sur</a:t>
            </a:r>
            <a:r>
              <a:rPr lang="en-US" sz="1500" b="1" dirty="0">
                <a:latin typeface="Arial" charset="0"/>
                <a:cs typeface="Times New Roman" pitchFamily="18" charset="0"/>
              </a:rPr>
              <a:t> </a:t>
            </a:r>
            <a:br>
              <a:rPr lang="en-US" sz="1500" b="1" dirty="0">
                <a:latin typeface="Arial" charset="0"/>
                <a:cs typeface="Times New Roman" pitchFamily="18" charset="0"/>
              </a:rPr>
            </a:br>
            <a:r>
              <a:rPr lang="en-US" sz="1500" b="1" dirty="0" err="1">
                <a:latin typeface="Arial" charset="0"/>
                <a:cs typeface="Times New Roman" pitchFamily="18" charset="0"/>
              </a:rPr>
              <a:t>l'en-tête</a:t>
            </a:r>
            <a:r>
              <a:rPr lang="en-US" sz="1500" b="1" dirty="0">
                <a:latin typeface="Arial" charset="0"/>
                <a:cs typeface="Times New Roman" pitchFamily="18" charset="0"/>
              </a:rPr>
              <a:t> de </a:t>
            </a:r>
            <a:r>
              <a:rPr lang="en-US" sz="1500" b="1" dirty="0" err="1">
                <a:latin typeface="Arial" charset="0"/>
                <a:cs typeface="Times New Roman" pitchFamily="18" charset="0"/>
              </a:rPr>
              <a:t>colonne</a:t>
            </a:r>
            <a:r>
              <a:rPr lang="en-US" sz="1500" b="1" dirty="0">
                <a:latin typeface="Arial" charset="0"/>
                <a:cs typeface="Times New Roman" pitchFamily="18" charset="0"/>
              </a:rPr>
              <a:t> pour </a:t>
            </a:r>
            <a:r>
              <a:rPr lang="en-US" sz="1500" b="1" dirty="0" err="1">
                <a:latin typeface="Arial" charset="0"/>
                <a:cs typeface="Times New Roman" pitchFamily="18" charset="0"/>
              </a:rPr>
              <a:t>trier</a:t>
            </a:r>
            <a:r>
              <a:rPr lang="en-US" sz="1500" b="1" dirty="0">
                <a:latin typeface="Arial" charset="0"/>
                <a:cs typeface="Times New Roman" pitchFamily="18" charset="0"/>
              </a:rPr>
              <a:t> les entrées </a:t>
            </a:r>
            <a:r>
              <a:rPr lang="en-US" sz="1500" b="1" dirty="0" err="1">
                <a:latin typeface="Arial" charset="0"/>
                <a:cs typeface="Times New Roman" pitchFamily="18" charset="0"/>
              </a:rPr>
              <a:t>dans</a:t>
            </a:r>
            <a:r>
              <a:rPr lang="en-US" sz="1500" b="1" dirty="0">
                <a:latin typeface="Arial" charset="0"/>
                <a:cs typeface="Times New Roman" pitchFamily="18" charset="0"/>
              </a:rPr>
              <a:t> </a:t>
            </a:r>
            <a:r>
              <a:rPr lang="en-US" sz="1500" b="1" dirty="0" err="1">
                <a:latin typeface="Arial" charset="0"/>
                <a:cs typeface="Times New Roman" pitchFamily="18" charset="0"/>
              </a:rPr>
              <a:t>l'ordre</a:t>
            </a:r>
            <a:r>
              <a:rPr lang="en-US" sz="1500" b="1" dirty="0">
                <a:latin typeface="Arial" charset="0"/>
                <a:cs typeface="Times New Roman" pitchFamily="18" charset="0"/>
              </a:rPr>
              <a:t> croissant </a:t>
            </a:r>
            <a:r>
              <a:rPr lang="en-US" sz="1500" b="1" dirty="0" err="1">
                <a:latin typeface="Arial" charset="0"/>
                <a:cs typeface="Times New Roman" pitchFamily="18" charset="0"/>
              </a:rPr>
              <a:t>ou</a:t>
            </a:r>
            <a:r>
              <a:rPr lang="en-US" sz="1500" b="1" dirty="0">
                <a:latin typeface="Arial" charset="0"/>
                <a:cs typeface="Times New Roman" pitchFamily="18" charset="0"/>
              </a:rPr>
              <a:t> </a:t>
            </a:r>
            <a:r>
              <a:rPr lang="en-US" sz="1500" b="1" dirty="0" err="1">
                <a:latin typeface="Arial" charset="0"/>
                <a:cs typeface="Times New Roman" pitchFamily="18" charset="0"/>
              </a:rPr>
              <a:t>décroissant</a:t>
            </a:r>
            <a:endParaRPr lang="en-US" sz="1500" b="1" dirty="0">
              <a:latin typeface="Arial" charset="0"/>
              <a:cs typeface="Times New Roman" pitchFamily="18" charset="0"/>
            </a:endParaRPr>
          </a:p>
        </p:txBody>
      </p:sp>
      <p:sp>
        <p:nvSpPr>
          <p:cNvPr id="5264" name="AutoShape 144"/>
          <p:cNvSpPr>
            <a:spLocks noChangeArrowheads="1"/>
          </p:cNvSpPr>
          <p:nvPr/>
        </p:nvSpPr>
        <p:spPr bwMode="auto">
          <a:xfrm flipH="1">
            <a:off x="252413" y="2480619"/>
            <a:ext cx="2265362" cy="1118926"/>
          </a:xfrm>
          <a:prstGeom prst="leftArrowCallout">
            <a:avLst>
              <a:gd name="adj1" fmla="val 30417"/>
              <a:gd name="adj2" fmla="val 31403"/>
              <a:gd name="adj3" fmla="val 51283"/>
              <a:gd name="adj4" fmla="val 63491"/>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tIns="27432" bIns="27432" anchor="ctr"/>
          <a:lstStyle/>
          <a:p>
            <a:pPr>
              <a:spcBef>
                <a:spcPct val="20000"/>
              </a:spcBef>
              <a:spcAft>
                <a:spcPct val="20000"/>
              </a:spcAft>
              <a:buClr>
                <a:srgbClr val="D60093"/>
              </a:buClr>
              <a:buSzPct val="70000"/>
              <a:buFont typeface="Wingdings" pitchFamily="2" charset="2"/>
              <a:buNone/>
            </a:pPr>
            <a:r>
              <a:rPr lang="en-US" sz="1500" b="1" dirty="0" err="1">
                <a:latin typeface="Arial" charset="0"/>
              </a:rPr>
              <a:t>Sélectionnez</a:t>
            </a:r>
            <a:r>
              <a:rPr lang="en-US" sz="1500" b="1" dirty="0">
                <a:latin typeface="Arial" charset="0"/>
              </a:rPr>
              <a:t> </a:t>
            </a:r>
            <a:br>
              <a:rPr lang="en-US" sz="1500" b="1" dirty="0">
                <a:latin typeface="Arial" charset="0"/>
              </a:rPr>
            </a:br>
            <a:r>
              <a:rPr lang="en-US" sz="1500" b="1" dirty="0">
                <a:latin typeface="Arial" charset="0"/>
              </a:rPr>
              <a:t>les </a:t>
            </a:r>
            <a:r>
              <a:rPr lang="en-US" sz="1500" b="1" dirty="0" err="1">
                <a:latin typeface="Arial" charset="0"/>
              </a:rPr>
              <a:t>mesures</a:t>
            </a:r>
            <a:r>
              <a:rPr lang="en-US" sz="1500" b="1" dirty="0">
                <a:latin typeface="Arial" charset="0"/>
              </a:rPr>
              <a:t> </a:t>
            </a:r>
            <a:br>
              <a:rPr lang="en-US" sz="1500" b="1" dirty="0">
                <a:latin typeface="Arial" charset="0"/>
              </a:rPr>
            </a:br>
            <a:r>
              <a:rPr lang="en-US" sz="1500" b="1" dirty="0">
                <a:latin typeface="Arial" charset="0"/>
              </a:rPr>
              <a:t>de </a:t>
            </a:r>
            <a:r>
              <a:rPr lang="en-US" sz="1500" b="1" dirty="0" err="1">
                <a:latin typeface="Arial" charset="0"/>
              </a:rPr>
              <a:t>processus</a:t>
            </a:r>
            <a:r>
              <a:rPr lang="en-US" sz="1500" b="1" dirty="0">
                <a:latin typeface="Arial" charset="0"/>
              </a:rPr>
              <a:t> </a:t>
            </a:r>
            <a:br>
              <a:rPr lang="en-US" sz="1500" b="1" dirty="0">
                <a:latin typeface="Arial" charset="0"/>
              </a:rPr>
            </a:br>
            <a:r>
              <a:rPr lang="en-US" sz="1500" b="1" dirty="0">
                <a:latin typeface="Arial" charset="0"/>
              </a:rPr>
              <a:t>à </a:t>
            </a:r>
            <a:r>
              <a:rPr lang="en-US" sz="1500" b="1" dirty="0" err="1">
                <a:latin typeface="Arial" charset="0"/>
              </a:rPr>
              <a:t>afficher</a:t>
            </a:r>
            <a:endParaRPr lang="en-US" sz="1500" b="1" dirty="0">
              <a:latin typeface="Arial" charset="0"/>
            </a:endParaRPr>
          </a:p>
        </p:txBody>
      </p:sp>
      <p:sp>
        <p:nvSpPr>
          <p:cNvPr id="8" name="Rectangle 7"/>
          <p:cNvSpPr/>
          <p:nvPr/>
        </p:nvSpPr>
        <p:spPr>
          <a:xfrm>
            <a:off x="0" y="1305342"/>
            <a:ext cx="9144000" cy="800219"/>
          </a:xfrm>
          <a:prstGeom prst="rect">
            <a:avLst/>
          </a:prstGeom>
          <a:solidFill>
            <a:srgbClr val="F5EEEB"/>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sz="2300" dirty="0"/>
              <a:t>Permet d'afficher une liste des processus en cours d'exécution et leurs mesures (temps processeur total ou la quantité de mémoire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265"/>
                                        </p:tgtEl>
                                        <p:attrNameLst>
                                          <p:attrName>style.visibility</p:attrName>
                                        </p:attrNameLst>
                                      </p:cBhvr>
                                      <p:to>
                                        <p:strVal val="visible"/>
                                      </p:to>
                                    </p:set>
                                    <p:animEffect transition="in" filter="checkerboard(across)">
                                      <p:cBhvr>
                                        <p:cTn id="7" dur="1000"/>
                                        <p:tgtEl>
                                          <p:spTgt spid="526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64"/>
                                        </p:tgtEl>
                                        <p:attrNameLst>
                                          <p:attrName>style.visibility</p:attrName>
                                        </p:attrNameLst>
                                      </p:cBhvr>
                                      <p:to>
                                        <p:strVal val="visible"/>
                                      </p:to>
                                    </p:set>
                                    <p:animEffect transition="in" filter="checkerboard(across)">
                                      <p:cBhvr>
                                        <p:cTn id="12" dur="1000"/>
                                        <p:tgtEl>
                                          <p:spTgt spid="526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262"/>
                                        </p:tgtEl>
                                        <p:attrNameLst>
                                          <p:attrName>style.visibility</p:attrName>
                                        </p:attrNameLst>
                                      </p:cBhvr>
                                      <p:to>
                                        <p:strVal val="visible"/>
                                      </p:to>
                                    </p:set>
                                    <p:animEffect transition="in" filter="checkerboard(across)">
                                      <p:cBhvr>
                                        <p:cTn id="17" dur="1000"/>
                                        <p:tgtEl>
                                          <p:spTgt spid="526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263"/>
                                        </p:tgtEl>
                                        <p:attrNameLst>
                                          <p:attrName>style.visibility</p:attrName>
                                        </p:attrNameLst>
                                      </p:cBhvr>
                                      <p:to>
                                        <p:strVal val="visible"/>
                                      </p:to>
                                    </p:set>
                                    <p:animEffect transition="in" filter="checkerboard(across)">
                                      <p:cBhvr>
                                        <p:cTn id="22" dur="1000"/>
                                        <p:tgtEl>
                                          <p:spTgt spid="5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2" grpId="0" animBg="1"/>
      <p:bldP spid="5263" grpId="0" animBg="1"/>
      <p:bldP spid="526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8" name="Rectangle 64"/>
          <p:cNvSpPr>
            <a:spLocks noGrp="1" noChangeArrowheads="1"/>
          </p:cNvSpPr>
          <p:nvPr>
            <p:ph type="title"/>
          </p:nvPr>
        </p:nvSpPr>
        <p:spPr>
          <a:noFill/>
          <a:ln/>
        </p:spPr>
        <p:txBody>
          <a:bodyPr/>
          <a:lstStyle/>
          <a:p>
            <a:r>
              <a:rPr lang="fr-FR" dirty="0">
                <a:solidFill>
                  <a:srgbClr val="C00000"/>
                </a:solidFill>
              </a:rPr>
              <a:t>Surveillance des performances</a:t>
            </a:r>
            <a:endParaRPr lang="en-US" dirty="0">
              <a:solidFill>
                <a:srgbClr val="C00000"/>
              </a:solidFill>
            </a:endParaRPr>
          </a:p>
        </p:txBody>
      </p:sp>
      <p:pic>
        <p:nvPicPr>
          <p:cNvPr id="6211" name="Picture 67" descr="P2272b_W12-07-"/>
          <p:cNvPicPr>
            <a:picLocks noGrp="1" noChangeAspect="1" noChangeArrowheads="1"/>
          </p:cNvPicPr>
          <p:nvPr>
            <p:ph sz="quarter" idx="1"/>
          </p:nvPr>
        </p:nvPicPr>
        <p:blipFill>
          <a:blip r:embed="rId2">
            <a:lum contrast="12000"/>
          </a:blip>
          <a:srcRect/>
          <a:stretch>
            <a:fillRect/>
          </a:stretch>
        </p:blipFill>
        <p:spPr>
          <a:xfrm>
            <a:off x="1201738" y="2510972"/>
            <a:ext cx="6743700" cy="4361076"/>
          </a:xfrm>
          <a:noFill/>
          <a:ln/>
        </p:spPr>
      </p:pic>
      <p:sp>
        <p:nvSpPr>
          <p:cNvPr id="6209" name="Rectangle 65"/>
          <p:cNvSpPr>
            <a:spLocks noChangeArrowheads="1"/>
          </p:cNvSpPr>
          <p:nvPr/>
        </p:nvSpPr>
        <p:spPr bwMode="auto">
          <a:xfrm>
            <a:off x="1231900" y="5167086"/>
            <a:ext cx="4329113" cy="1409686"/>
          </a:xfrm>
          <a:prstGeom prst="rect">
            <a:avLst/>
          </a:prstGeom>
          <a:noFill/>
          <a:ln w="57150">
            <a:solidFill>
              <a:srgbClr val="C60076"/>
            </a:solidFill>
            <a:miter lim="800000"/>
            <a:headEnd/>
            <a:tailEnd/>
          </a:ln>
          <a:effectLst>
            <a:outerShdw dist="35921" dir="2700000" algn="ctr" rotWithShape="0">
              <a:srgbClr val="FFFFFF"/>
            </a:outerShdw>
          </a:effectLst>
        </p:spPr>
        <p:txBody>
          <a:bodyPr wrap="none" anchor="ctr"/>
          <a:lstStyle/>
          <a:p>
            <a:endParaRPr lang="fr-FR"/>
          </a:p>
        </p:txBody>
      </p:sp>
      <p:sp>
        <p:nvSpPr>
          <p:cNvPr id="6210" name="AutoShape 66"/>
          <p:cNvSpPr>
            <a:spLocks noChangeArrowheads="1"/>
          </p:cNvSpPr>
          <p:nvPr/>
        </p:nvSpPr>
        <p:spPr bwMode="auto">
          <a:xfrm>
            <a:off x="550863" y="5514735"/>
            <a:ext cx="684212" cy="606425"/>
          </a:xfrm>
          <a:prstGeom prst="rightArrow">
            <a:avLst>
              <a:gd name="adj1" fmla="val 49741"/>
              <a:gd name="adj2" fmla="val 63873"/>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endParaRPr lang="fr-FR"/>
          </a:p>
        </p:txBody>
      </p:sp>
      <p:sp>
        <p:nvSpPr>
          <p:cNvPr id="6" name="Rectangle 5"/>
          <p:cNvSpPr/>
          <p:nvPr/>
        </p:nvSpPr>
        <p:spPr>
          <a:xfrm>
            <a:off x="319308" y="1341904"/>
            <a:ext cx="8505371" cy="1292662"/>
          </a:xfrm>
          <a:prstGeom prst="rect">
            <a:avLst/>
          </a:prstGeom>
          <a:solidFill>
            <a:srgbClr val="F5EEEB"/>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sz="2600" dirty="0"/>
              <a:t>Permet de surveiller les performances actuelles de votre ordinateur (un graphique et un affichage numérique de l'utilisation du processeur et de la mémoire.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211"/>
                                        </p:tgtEl>
                                        <p:attrNameLst>
                                          <p:attrName>style.visibility</p:attrName>
                                        </p:attrNameLst>
                                      </p:cBhvr>
                                      <p:to>
                                        <p:strVal val="visible"/>
                                      </p:to>
                                    </p:set>
                                    <p:animEffect transition="in" filter="checkerboard(across)">
                                      <p:cBhvr>
                                        <p:cTn id="7" dur="500"/>
                                        <p:tgtEl>
                                          <p:spTgt spid="621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210"/>
                                        </p:tgtEl>
                                        <p:attrNameLst>
                                          <p:attrName>style.visibility</p:attrName>
                                        </p:attrNameLst>
                                      </p:cBhvr>
                                      <p:to>
                                        <p:strVal val="visible"/>
                                      </p:to>
                                    </p:set>
                                    <p:animEffect transition="in" filter="checkerboard(across)">
                                      <p:cBhvr>
                                        <p:cTn id="10" dur="500"/>
                                        <p:tgtEl>
                                          <p:spTgt spid="6210"/>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209"/>
                                        </p:tgtEl>
                                        <p:attrNameLst>
                                          <p:attrName>style.visibility</p:attrName>
                                        </p:attrNameLst>
                                      </p:cBhvr>
                                      <p:to>
                                        <p:strVal val="visible"/>
                                      </p:to>
                                    </p:set>
                                    <p:animEffect transition="in" filter="checkerboard(across)">
                                      <p:cBhvr>
                                        <p:cTn id="13" dur="500"/>
                                        <p:tgtEl>
                                          <p:spTgt spid="6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9" grpId="0" animBg="1"/>
      <p:bldP spid="62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4" name="Rectangle 16"/>
          <p:cNvSpPr>
            <a:spLocks noGrp="1" noChangeArrowheads="1"/>
          </p:cNvSpPr>
          <p:nvPr>
            <p:ph type="title"/>
          </p:nvPr>
        </p:nvSpPr>
        <p:spPr>
          <a:xfrm>
            <a:off x="188686" y="228600"/>
            <a:ext cx="8766628" cy="758952"/>
          </a:xfrm>
          <a:noFill/>
          <a:ln/>
        </p:spPr>
        <p:txBody>
          <a:bodyPr/>
          <a:lstStyle/>
          <a:p>
            <a:r>
              <a:rPr lang="fr-FR" b="1" dirty="0">
                <a:solidFill>
                  <a:srgbClr val="C00000"/>
                </a:solidFill>
              </a:rPr>
              <a:t>Surveillance de la connectivité réseau</a:t>
            </a:r>
            <a:endParaRPr lang="en-US" b="1" dirty="0">
              <a:solidFill>
                <a:srgbClr val="C00000"/>
              </a:solidFill>
            </a:endParaRPr>
          </a:p>
        </p:txBody>
      </p:sp>
      <p:pic>
        <p:nvPicPr>
          <p:cNvPr id="7189" name="Picture 21" descr="P2272b_W12-08-a"/>
          <p:cNvPicPr>
            <a:picLocks noGrp="1" noChangeAspect="1" noChangeArrowheads="1"/>
          </p:cNvPicPr>
          <p:nvPr>
            <p:ph sz="half" idx="1"/>
          </p:nvPr>
        </p:nvPicPr>
        <p:blipFill>
          <a:blip r:embed="rId2"/>
          <a:srcRect/>
          <a:stretch>
            <a:fillRect/>
          </a:stretch>
        </p:blipFill>
        <p:spPr>
          <a:xfrm>
            <a:off x="1314355" y="2322286"/>
            <a:ext cx="5677674" cy="3919763"/>
          </a:xfrm>
          <a:noFill/>
          <a:ln/>
        </p:spPr>
      </p:pic>
      <p:pic>
        <p:nvPicPr>
          <p:cNvPr id="7191" name="Picture 23" descr="P2272b_W12-08-b"/>
          <p:cNvPicPr>
            <a:picLocks noGrp="1" noChangeAspect="1" noChangeArrowheads="1"/>
          </p:cNvPicPr>
          <p:nvPr>
            <p:ph sz="half" idx="2"/>
          </p:nvPr>
        </p:nvPicPr>
        <p:blipFill>
          <a:blip r:embed="rId3"/>
          <a:srcRect/>
          <a:stretch>
            <a:fillRect/>
          </a:stretch>
        </p:blipFill>
        <p:spPr>
          <a:xfrm>
            <a:off x="4179114" y="3439885"/>
            <a:ext cx="4586152" cy="3418113"/>
          </a:xfrm>
          <a:noFill/>
          <a:ln/>
        </p:spPr>
      </p:pic>
      <p:sp>
        <p:nvSpPr>
          <p:cNvPr id="7188" name="Freeform 20"/>
          <p:cNvSpPr>
            <a:spLocks/>
          </p:cNvSpPr>
          <p:nvPr/>
        </p:nvSpPr>
        <p:spPr bwMode="auto">
          <a:xfrm rot="21588514">
            <a:off x="3512011" y="2394793"/>
            <a:ext cx="2072982" cy="1016382"/>
          </a:xfrm>
          <a:custGeom>
            <a:avLst/>
            <a:gdLst/>
            <a:ahLst/>
            <a:cxnLst>
              <a:cxn ang="0">
                <a:pos x="1027" y="368"/>
              </a:cxn>
              <a:cxn ang="0">
                <a:pos x="953" y="361"/>
              </a:cxn>
              <a:cxn ang="0">
                <a:pos x="953" y="346"/>
              </a:cxn>
              <a:cxn ang="0">
                <a:pos x="953" y="330"/>
              </a:cxn>
              <a:cxn ang="0">
                <a:pos x="952" y="313"/>
              </a:cxn>
              <a:cxn ang="0">
                <a:pos x="952" y="295"/>
              </a:cxn>
              <a:cxn ang="0">
                <a:pos x="950" y="278"/>
              </a:cxn>
              <a:cxn ang="0">
                <a:pos x="947" y="261"/>
              </a:cxn>
              <a:cxn ang="0">
                <a:pos x="942" y="238"/>
              </a:cxn>
              <a:cxn ang="0">
                <a:pos x="927" y="200"/>
              </a:cxn>
              <a:cxn ang="0">
                <a:pos x="900" y="155"/>
              </a:cxn>
              <a:cxn ang="0">
                <a:pos x="863" y="115"/>
              </a:cxn>
              <a:cxn ang="0">
                <a:pos x="820" y="80"/>
              </a:cxn>
              <a:cxn ang="0">
                <a:pos x="768" y="51"/>
              </a:cxn>
              <a:cxn ang="0">
                <a:pos x="712" y="28"/>
              </a:cxn>
              <a:cxn ang="0">
                <a:pos x="651" y="11"/>
              </a:cxn>
              <a:cxn ang="0">
                <a:pos x="585" y="3"/>
              </a:cxn>
              <a:cxn ang="0">
                <a:pos x="533" y="0"/>
              </a:cxn>
              <a:cxn ang="0">
                <a:pos x="464" y="4"/>
              </a:cxn>
              <a:cxn ang="0">
                <a:pos x="391" y="16"/>
              </a:cxn>
              <a:cxn ang="0">
                <a:pos x="317" y="38"/>
              </a:cxn>
              <a:cxn ang="0">
                <a:pos x="244" y="68"/>
              </a:cxn>
              <a:cxn ang="0">
                <a:pos x="172" y="108"/>
              </a:cxn>
              <a:cxn ang="0">
                <a:pos x="101" y="156"/>
              </a:cxn>
              <a:cxn ang="0">
                <a:pos x="34" y="216"/>
              </a:cxn>
              <a:cxn ang="0">
                <a:pos x="24" y="225"/>
              </a:cxn>
              <a:cxn ang="0">
                <a:pos x="74" y="181"/>
              </a:cxn>
              <a:cxn ang="0">
                <a:pos x="157" y="126"/>
              </a:cxn>
              <a:cxn ang="0">
                <a:pos x="216" y="100"/>
              </a:cxn>
              <a:cxn ang="0">
                <a:pos x="307" y="71"/>
              </a:cxn>
              <a:cxn ang="0">
                <a:pos x="369" y="61"/>
              </a:cxn>
              <a:cxn ang="0">
                <a:pos x="459" y="61"/>
              </a:cxn>
              <a:cxn ang="0">
                <a:pos x="515" y="71"/>
              </a:cxn>
              <a:cxn ang="0">
                <a:pos x="566" y="88"/>
              </a:cxn>
              <a:cxn ang="0">
                <a:pos x="633" y="129"/>
              </a:cxn>
              <a:cxn ang="0">
                <a:pos x="671" y="168"/>
              </a:cxn>
              <a:cxn ang="0">
                <a:pos x="710" y="240"/>
              </a:cxn>
              <a:cxn ang="0">
                <a:pos x="723" y="300"/>
              </a:cxn>
              <a:cxn ang="0">
                <a:pos x="638" y="368"/>
              </a:cxn>
            </a:cxnLst>
            <a:rect l="0" t="0" r="r" b="b"/>
            <a:pathLst>
              <a:path w="1028" h="545">
                <a:moveTo>
                  <a:pt x="835" y="544"/>
                </a:moveTo>
                <a:lnTo>
                  <a:pt x="1027" y="368"/>
                </a:lnTo>
                <a:lnTo>
                  <a:pt x="953" y="369"/>
                </a:lnTo>
                <a:lnTo>
                  <a:pt x="953" y="361"/>
                </a:lnTo>
                <a:lnTo>
                  <a:pt x="953" y="354"/>
                </a:lnTo>
                <a:lnTo>
                  <a:pt x="953" y="346"/>
                </a:lnTo>
                <a:lnTo>
                  <a:pt x="953" y="339"/>
                </a:lnTo>
                <a:lnTo>
                  <a:pt x="953" y="330"/>
                </a:lnTo>
                <a:lnTo>
                  <a:pt x="952" y="321"/>
                </a:lnTo>
                <a:lnTo>
                  <a:pt x="952" y="313"/>
                </a:lnTo>
                <a:lnTo>
                  <a:pt x="952" y="304"/>
                </a:lnTo>
                <a:lnTo>
                  <a:pt x="952" y="295"/>
                </a:lnTo>
                <a:lnTo>
                  <a:pt x="951" y="286"/>
                </a:lnTo>
                <a:lnTo>
                  <a:pt x="950" y="278"/>
                </a:lnTo>
                <a:lnTo>
                  <a:pt x="948" y="270"/>
                </a:lnTo>
                <a:lnTo>
                  <a:pt x="947" y="261"/>
                </a:lnTo>
                <a:lnTo>
                  <a:pt x="946" y="254"/>
                </a:lnTo>
                <a:lnTo>
                  <a:pt x="942" y="238"/>
                </a:lnTo>
                <a:lnTo>
                  <a:pt x="937" y="225"/>
                </a:lnTo>
                <a:lnTo>
                  <a:pt x="927" y="200"/>
                </a:lnTo>
                <a:lnTo>
                  <a:pt x="915" y="178"/>
                </a:lnTo>
                <a:lnTo>
                  <a:pt x="900" y="155"/>
                </a:lnTo>
                <a:lnTo>
                  <a:pt x="882" y="134"/>
                </a:lnTo>
                <a:lnTo>
                  <a:pt x="863" y="115"/>
                </a:lnTo>
                <a:lnTo>
                  <a:pt x="842" y="96"/>
                </a:lnTo>
                <a:lnTo>
                  <a:pt x="820" y="80"/>
                </a:lnTo>
                <a:lnTo>
                  <a:pt x="795" y="65"/>
                </a:lnTo>
                <a:lnTo>
                  <a:pt x="768" y="51"/>
                </a:lnTo>
                <a:lnTo>
                  <a:pt x="741" y="39"/>
                </a:lnTo>
                <a:lnTo>
                  <a:pt x="712" y="28"/>
                </a:lnTo>
                <a:lnTo>
                  <a:pt x="682" y="19"/>
                </a:lnTo>
                <a:lnTo>
                  <a:pt x="651" y="11"/>
                </a:lnTo>
                <a:lnTo>
                  <a:pt x="618" y="5"/>
                </a:lnTo>
                <a:lnTo>
                  <a:pt x="585" y="3"/>
                </a:lnTo>
                <a:lnTo>
                  <a:pt x="568" y="1"/>
                </a:lnTo>
                <a:lnTo>
                  <a:pt x="533" y="0"/>
                </a:lnTo>
                <a:lnTo>
                  <a:pt x="499" y="1"/>
                </a:lnTo>
                <a:lnTo>
                  <a:pt x="464" y="4"/>
                </a:lnTo>
                <a:lnTo>
                  <a:pt x="427" y="9"/>
                </a:lnTo>
                <a:lnTo>
                  <a:pt x="391" y="16"/>
                </a:lnTo>
                <a:lnTo>
                  <a:pt x="355" y="25"/>
                </a:lnTo>
                <a:lnTo>
                  <a:pt x="317" y="38"/>
                </a:lnTo>
                <a:lnTo>
                  <a:pt x="281" y="51"/>
                </a:lnTo>
                <a:lnTo>
                  <a:pt x="244" y="68"/>
                </a:lnTo>
                <a:lnTo>
                  <a:pt x="209" y="85"/>
                </a:lnTo>
                <a:lnTo>
                  <a:pt x="172" y="108"/>
                </a:lnTo>
                <a:lnTo>
                  <a:pt x="136" y="130"/>
                </a:lnTo>
                <a:lnTo>
                  <a:pt x="101" y="156"/>
                </a:lnTo>
                <a:lnTo>
                  <a:pt x="66" y="185"/>
                </a:lnTo>
                <a:lnTo>
                  <a:pt x="34" y="216"/>
                </a:lnTo>
                <a:lnTo>
                  <a:pt x="0" y="250"/>
                </a:lnTo>
                <a:lnTo>
                  <a:pt x="24" y="225"/>
                </a:lnTo>
                <a:lnTo>
                  <a:pt x="47" y="203"/>
                </a:lnTo>
                <a:lnTo>
                  <a:pt x="74" y="181"/>
                </a:lnTo>
                <a:lnTo>
                  <a:pt x="100" y="161"/>
                </a:lnTo>
                <a:lnTo>
                  <a:pt x="157" y="126"/>
                </a:lnTo>
                <a:lnTo>
                  <a:pt x="186" y="113"/>
                </a:lnTo>
                <a:lnTo>
                  <a:pt x="216" y="100"/>
                </a:lnTo>
                <a:lnTo>
                  <a:pt x="246" y="88"/>
                </a:lnTo>
                <a:lnTo>
                  <a:pt x="307" y="71"/>
                </a:lnTo>
                <a:lnTo>
                  <a:pt x="339" y="66"/>
                </a:lnTo>
                <a:lnTo>
                  <a:pt x="369" y="61"/>
                </a:lnTo>
                <a:lnTo>
                  <a:pt x="400" y="60"/>
                </a:lnTo>
                <a:lnTo>
                  <a:pt x="459" y="61"/>
                </a:lnTo>
                <a:lnTo>
                  <a:pt x="487" y="66"/>
                </a:lnTo>
                <a:lnTo>
                  <a:pt x="515" y="71"/>
                </a:lnTo>
                <a:lnTo>
                  <a:pt x="541" y="79"/>
                </a:lnTo>
                <a:lnTo>
                  <a:pt x="566" y="88"/>
                </a:lnTo>
                <a:lnTo>
                  <a:pt x="612" y="114"/>
                </a:lnTo>
                <a:lnTo>
                  <a:pt x="633" y="129"/>
                </a:lnTo>
                <a:lnTo>
                  <a:pt x="653" y="148"/>
                </a:lnTo>
                <a:lnTo>
                  <a:pt x="671" y="168"/>
                </a:lnTo>
                <a:lnTo>
                  <a:pt x="698" y="214"/>
                </a:lnTo>
                <a:lnTo>
                  <a:pt x="710" y="240"/>
                </a:lnTo>
                <a:lnTo>
                  <a:pt x="717" y="269"/>
                </a:lnTo>
                <a:lnTo>
                  <a:pt x="723" y="300"/>
                </a:lnTo>
                <a:lnTo>
                  <a:pt x="726" y="369"/>
                </a:lnTo>
                <a:lnTo>
                  <a:pt x="638" y="368"/>
                </a:lnTo>
                <a:lnTo>
                  <a:pt x="835" y="544"/>
                </a:lnTo>
              </a:path>
            </a:pathLst>
          </a:custGeom>
          <a:solidFill>
            <a:srgbClr val="D60093"/>
          </a:solidFill>
          <a:ln w="12700" cap="rnd" cmpd="sng">
            <a:solidFill>
              <a:srgbClr val="000000"/>
            </a:solidFill>
            <a:prstDash val="solid"/>
            <a:round/>
            <a:headEnd type="none" w="med" len="med"/>
            <a:tailEnd type="none" w="med" len="med"/>
          </a:ln>
          <a:effectLst>
            <a:outerShdw dist="52363" dir="4557825" algn="ctr" rotWithShape="0">
              <a:srgbClr val="DDDDDD"/>
            </a:outerShdw>
          </a:effectLst>
        </p:spPr>
        <p:txBody>
          <a:bodyPr/>
          <a:lstStyle/>
          <a:p>
            <a:endParaRPr lang="fr-FR"/>
          </a:p>
        </p:txBody>
      </p:sp>
      <p:sp>
        <p:nvSpPr>
          <p:cNvPr id="7" name="Rectangle 6"/>
          <p:cNvSpPr/>
          <p:nvPr/>
        </p:nvSpPr>
        <p:spPr>
          <a:xfrm>
            <a:off x="174171" y="1347488"/>
            <a:ext cx="8766629" cy="861774"/>
          </a:xfrm>
          <a:prstGeom prst="rect">
            <a:avLst/>
          </a:prstGeom>
          <a:solidFill>
            <a:srgbClr val="F5EEEB"/>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fr-FR" sz="2500" dirty="0"/>
              <a:t>Affiche les statistiques relatives aux connexions réseau en cours d'utilisation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189"/>
                                        </p:tgtEl>
                                        <p:attrNameLst>
                                          <p:attrName>style.visibility</p:attrName>
                                        </p:attrNameLst>
                                      </p:cBhvr>
                                      <p:to>
                                        <p:strVal val="visible"/>
                                      </p:to>
                                    </p:set>
                                    <p:animEffect transition="in" filter="checkerboard(across)">
                                      <p:cBhvr>
                                        <p:cTn id="7" dur="500"/>
                                        <p:tgtEl>
                                          <p:spTgt spid="718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188"/>
                                        </p:tgtEl>
                                        <p:attrNameLst>
                                          <p:attrName>style.visibility</p:attrName>
                                        </p:attrNameLst>
                                      </p:cBhvr>
                                      <p:to>
                                        <p:strVal val="visible"/>
                                      </p:to>
                                    </p:set>
                                    <p:animEffect transition="in" filter="checkerboard(across)">
                                      <p:cBhvr>
                                        <p:cTn id="10" dur="500"/>
                                        <p:tgtEl>
                                          <p:spTgt spid="7188"/>
                                        </p:tgtEl>
                                      </p:cBhvr>
                                    </p:animEffect>
                                  </p:childTnLst>
                                </p:cTn>
                              </p:par>
                              <p:par>
                                <p:cTn id="11" presetID="5" presetClass="entr" presetSubtype="10" fill="hold" nodeType="withEffect">
                                  <p:stCondLst>
                                    <p:cond delay="0"/>
                                  </p:stCondLst>
                                  <p:childTnLst>
                                    <p:set>
                                      <p:cBhvr>
                                        <p:cTn id="12" dur="1" fill="hold">
                                          <p:stCondLst>
                                            <p:cond delay="0"/>
                                          </p:stCondLst>
                                        </p:cTn>
                                        <p:tgtEl>
                                          <p:spTgt spid="7191"/>
                                        </p:tgtEl>
                                        <p:attrNameLst>
                                          <p:attrName>style.visibility</p:attrName>
                                        </p:attrNameLst>
                                      </p:cBhvr>
                                      <p:to>
                                        <p:strVal val="visible"/>
                                      </p:to>
                                    </p:set>
                                    <p:animEffect transition="in" filter="checkerboard(across)">
                                      <p:cBhvr>
                                        <p:cTn id="13" dur="500"/>
                                        <p:tgtEl>
                                          <p:spTgt spid="7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1" name="Rectangle 13"/>
          <p:cNvSpPr>
            <a:spLocks noGrp="1" noChangeArrowheads="1"/>
          </p:cNvSpPr>
          <p:nvPr>
            <p:ph type="title"/>
          </p:nvPr>
        </p:nvSpPr>
        <p:spPr>
          <a:noFill/>
          <a:ln/>
        </p:spPr>
        <p:txBody>
          <a:bodyPr>
            <a:noAutofit/>
          </a:bodyPr>
          <a:lstStyle/>
          <a:p>
            <a:r>
              <a:rPr lang="fr-FR" sz="2800" dirty="0">
                <a:solidFill>
                  <a:schemeClr val="tx1"/>
                </a:solidFill>
                <a:cs typeface="Times New Roman" pitchFamily="18" charset="0"/>
              </a:rPr>
              <a:t>3. Utilisation des outils de maintenance pour améliorer les performances</a:t>
            </a:r>
            <a:endParaRPr lang="en-US" sz="2800" dirty="0">
              <a:solidFill>
                <a:schemeClr val="tx1"/>
              </a:solidFill>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471488" y="1143000"/>
            <a:ext cx="8201025" cy="57150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1" name="Rectangle 13"/>
          <p:cNvSpPr>
            <a:spLocks noGrp="1" noChangeArrowheads="1"/>
          </p:cNvSpPr>
          <p:nvPr>
            <p:ph type="title"/>
          </p:nvPr>
        </p:nvSpPr>
        <p:spPr>
          <a:noFill/>
          <a:ln/>
        </p:spPr>
        <p:txBody>
          <a:bodyPr>
            <a:noAutofit/>
          </a:bodyPr>
          <a:lstStyle/>
          <a:p>
            <a:r>
              <a:rPr lang="fr-FR" sz="2800" dirty="0">
                <a:solidFill>
                  <a:schemeClr val="tx1"/>
                </a:solidFill>
                <a:cs typeface="Times New Roman" pitchFamily="18" charset="0"/>
              </a:rPr>
              <a:t>3. Utilisation des outils de maintenance pour améliorer les performances</a:t>
            </a:r>
            <a:endParaRPr lang="en-US" sz="2800" dirty="0">
              <a:solidFill>
                <a:schemeClr val="tx1"/>
              </a:solidFill>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499197" y="973281"/>
            <a:ext cx="8201025" cy="5715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1" name="Rectangle 11"/>
          <p:cNvSpPr>
            <a:spLocks noGrp="1" noChangeArrowheads="1"/>
          </p:cNvSpPr>
          <p:nvPr>
            <p:ph type="title"/>
          </p:nvPr>
        </p:nvSpPr>
        <p:spPr>
          <a:noFill/>
          <a:ln/>
        </p:spPr>
        <p:txBody>
          <a:bodyPr>
            <a:noAutofit/>
          </a:bodyPr>
          <a:lstStyle/>
          <a:p>
            <a:r>
              <a:rPr lang="fr-FR" sz="2600" dirty="0">
                <a:solidFill>
                  <a:srgbClr val="C00000"/>
                </a:solidFill>
                <a:cs typeface="Times New Roman" pitchFamily="18" charset="0"/>
              </a:rPr>
              <a:t>Configuration des effets visuels pour améliorer les performances</a:t>
            </a:r>
            <a:endParaRPr lang="en-US" sz="2600" dirty="0">
              <a:solidFill>
                <a:srgbClr val="C00000"/>
              </a:solidFill>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2076890" y="1248522"/>
            <a:ext cx="4933516" cy="5609478"/>
          </a:xfrm>
          <a:prstGeom prst="rect">
            <a:avLst/>
          </a:prstGeom>
          <a:noFill/>
          <a:ln w="9525">
            <a:noFill/>
            <a:miter lim="800000"/>
            <a:headEnd/>
            <a:tailEnd/>
          </a:ln>
          <a:effectLst/>
        </p:spPr>
      </p:pic>
      <p:sp>
        <p:nvSpPr>
          <p:cNvPr id="35853" name="AutoShape 13"/>
          <p:cNvSpPr>
            <a:spLocks noChangeArrowheads="1"/>
          </p:cNvSpPr>
          <p:nvPr/>
        </p:nvSpPr>
        <p:spPr bwMode="auto">
          <a:xfrm>
            <a:off x="5624945" y="3842885"/>
            <a:ext cx="3243284" cy="2253115"/>
          </a:xfrm>
          <a:prstGeom prst="leftArrowCallout">
            <a:avLst>
              <a:gd name="adj1" fmla="val 29194"/>
              <a:gd name="adj2" fmla="val 28204"/>
              <a:gd name="adj3" fmla="val 25312"/>
              <a:gd name="adj4" fmla="val 82778"/>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lIns="182880" tIns="27432" bIns="27432" anchor="ctr"/>
          <a:lstStyle/>
          <a:p>
            <a:r>
              <a:rPr lang="en-US" sz="2000" b="1" dirty="0">
                <a:latin typeface="Arial" charset="0"/>
                <a:cs typeface="Times New Roman" pitchFamily="18" charset="0"/>
              </a:rPr>
              <a:t>Les </a:t>
            </a:r>
            <a:r>
              <a:rPr lang="en-US" sz="2000" b="1" dirty="0" err="1">
                <a:latin typeface="Arial" charset="0"/>
                <a:cs typeface="Times New Roman" pitchFamily="18" charset="0"/>
              </a:rPr>
              <a:t>effets</a:t>
            </a:r>
            <a:r>
              <a:rPr lang="en-US" sz="2000" b="1" dirty="0">
                <a:latin typeface="Arial" charset="0"/>
                <a:cs typeface="Times New Roman" pitchFamily="18" charset="0"/>
              </a:rPr>
              <a:t> </a:t>
            </a:r>
            <a:r>
              <a:rPr lang="en-US" sz="2000" b="1" dirty="0" err="1">
                <a:latin typeface="Arial" charset="0"/>
                <a:cs typeface="Times New Roman" pitchFamily="18" charset="0"/>
              </a:rPr>
              <a:t>visuels</a:t>
            </a:r>
            <a:r>
              <a:rPr lang="en-US" sz="2000" b="1" dirty="0">
                <a:latin typeface="Arial" charset="0"/>
                <a:cs typeface="Times New Roman" pitchFamily="18" charset="0"/>
              </a:rPr>
              <a:t> </a:t>
            </a:r>
            <a:r>
              <a:rPr lang="en-US" sz="2000" b="1" dirty="0" err="1">
                <a:latin typeface="Arial" charset="0"/>
                <a:cs typeface="Times New Roman" pitchFamily="18" charset="0"/>
              </a:rPr>
              <a:t>peuvent</a:t>
            </a:r>
            <a:r>
              <a:rPr lang="en-US" sz="2000" b="1" dirty="0">
                <a:latin typeface="Arial" charset="0"/>
                <a:cs typeface="Times New Roman" pitchFamily="18" charset="0"/>
              </a:rPr>
              <a:t> </a:t>
            </a:r>
            <a:r>
              <a:rPr lang="en-US" sz="2000" b="1" dirty="0" err="1">
                <a:latin typeface="Arial" charset="0"/>
                <a:cs typeface="Times New Roman" pitchFamily="18" charset="0"/>
              </a:rPr>
              <a:t>être</a:t>
            </a:r>
            <a:r>
              <a:rPr lang="en-US" sz="2000" b="1" dirty="0">
                <a:latin typeface="Arial" charset="0"/>
                <a:cs typeface="Times New Roman" pitchFamily="18" charset="0"/>
              </a:rPr>
              <a:t> </a:t>
            </a:r>
            <a:r>
              <a:rPr lang="en-US" sz="2000" b="1" dirty="0" err="1">
                <a:latin typeface="Arial" charset="0"/>
                <a:cs typeface="Times New Roman" pitchFamily="18" charset="0"/>
              </a:rPr>
              <a:t>sélectionnés</a:t>
            </a:r>
            <a:r>
              <a:rPr lang="en-US" sz="2000" b="1" dirty="0">
                <a:latin typeface="Arial" charset="0"/>
                <a:cs typeface="Times New Roman" pitchFamily="18" charset="0"/>
              </a:rPr>
              <a:t> </a:t>
            </a:r>
            <a:r>
              <a:rPr lang="en-US" sz="2000" b="1" dirty="0" err="1">
                <a:latin typeface="Arial" charset="0"/>
                <a:cs typeface="Times New Roman" pitchFamily="18" charset="0"/>
              </a:rPr>
              <a:t>ou</a:t>
            </a:r>
            <a:r>
              <a:rPr lang="en-US" sz="2000" b="1" dirty="0">
                <a:latin typeface="Arial" charset="0"/>
                <a:cs typeface="Times New Roman" pitchFamily="18" charset="0"/>
              </a:rPr>
              <a:t> </a:t>
            </a:r>
            <a:r>
              <a:rPr lang="en-US" sz="2000" b="1" dirty="0" err="1">
                <a:latin typeface="Arial" charset="0"/>
                <a:cs typeface="Times New Roman" pitchFamily="18" charset="0"/>
              </a:rPr>
              <a:t>désélectionnés</a:t>
            </a:r>
            <a:r>
              <a:rPr lang="en-US" sz="2000" b="1" dirty="0">
                <a:latin typeface="Arial" charset="0"/>
                <a:cs typeface="Times New Roman" pitchFamily="18" charset="0"/>
              </a:rPr>
              <a:t> </a:t>
            </a:r>
            <a:r>
              <a:rPr lang="en-US" sz="2000" b="1" dirty="0" err="1">
                <a:latin typeface="Arial" charset="0"/>
                <a:cs typeface="Times New Roman" pitchFamily="18" charset="0"/>
              </a:rPr>
              <a:t>individuellement</a:t>
            </a:r>
            <a:endParaRPr lang="en-US" sz="2000" b="1" dirty="0">
              <a:latin typeface="Arial"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8" name="Rectangle 16"/>
          <p:cNvSpPr>
            <a:spLocks noGrp="1" noChangeArrowheads="1"/>
          </p:cNvSpPr>
          <p:nvPr>
            <p:ph type="title"/>
          </p:nvPr>
        </p:nvSpPr>
        <p:spPr>
          <a:xfrm>
            <a:off x="225425" y="153988"/>
            <a:ext cx="8612188" cy="841375"/>
          </a:xfrm>
          <a:noFill/>
          <a:ln/>
        </p:spPr>
        <p:txBody>
          <a:bodyPr>
            <a:normAutofit fontScale="90000"/>
          </a:bodyPr>
          <a:lstStyle/>
          <a:p>
            <a:r>
              <a:rPr lang="fr-FR" sz="2600" dirty="0">
                <a:solidFill>
                  <a:srgbClr val="C00000"/>
                </a:solidFill>
                <a:cs typeface="Times New Roman" pitchFamily="18" charset="0"/>
              </a:rPr>
              <a:t>Configuration de la performance des applications, de l'utilisation de la mémoire et de la mémoire virtuelle</a:t>
            </a:r>
            <a:endParaRPr lang="en-US" sz="2600" dirty="0">
              <a:solidFill>
                <a:srgbClr val="C00000"/>
              </a:solidFill>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1301029" y="1279813"/>
            <a:ext cx="4905807" cy="5577973"/>
          </a:xfrm>
          <a:prstGeom prst="rect">
            <a:avLst/>
          </a:prstGeom>
          <a:noFill/>
          <a:ln w="9525">
            <a:noFill/>
            <a:miter lim="800000"/>
            <a:headEnd/>
            <a:tailEnd/>
          </a:ln>
          <a:effectLst/>
        </p:spPr>
      </p:pic>
      <p:sp>
        <p:nvSpPr>
          <p:cNvPr id="9" name="AutoShape 19"/>
          <p:cNvSpPr>
            <a:spLocks noChangeArrowheads="1"/>
          </p:cNvSpPr>
          <p:nvPr/>
        </p:nvSpPr>
        <p:spPr bwMode="auto">
          <a:xfrm>
            <a:off x="5292435" y="1634836"/>
            <a:ext cx="3496993" cy="1516640"/>
          </a:xfrm>
          <a:prstGeom prst="leftArrowCallout">
            <a:avLst>
              <a:gd name="adj1" fmla="val 29194"/>
              <a:gd name="adj2" fmla="val 28204"/>
              <a:gd name="adj3" fmla="val 41674"/>
              <a:gd name="adj4" fmla="val 82778"/>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lIns="182880" tIns="27432" bIns="27432" anchor="ctr"/>
          <a:lstStyle/>
          <a:p>
            <a:pPr>
              <a:lnSpc>
                <a:spcPct val="90000"/>
              </a:lnSpc>
            </a:pPr>
            <a:r>
              <a:rPr lang="en-US" sz="2000" b="1" dirty="0">
                <a:latin typeface="Arial" charset="0"/>
                <a:cs typeface="Times New Roman" pitchFamily="18" charset="0"/>
              </a:rPr>
              <a:t>La configuration de la performance du </a:t>
            </a:r>
            <a:r>
              <a:rPr lang="en-US" sz="2000" b="1" dirty="0" err="1">
                <a:latin typeface="Arial" charset="0"/>
                <a:cs typeface="Times New Roman" pitchFamily="18" charset="0"/>
              </a:rPr>
              <a:t>processeur</a:t>
            </a:r>
            <a:r>
              <a:rPr lang="en-US" sz="2000" b="1" dirty="0">
                <a:latin typeface="Arial" charset="0"/>
                <a:cs typeface="Times New Roman" pitchFamily="18" charset="0"/>
              </a:rPr>
              <a:t> influence les </a:t>
            </a:r>
            <a:r>
              <a:rPr lang="en-US" sz="2000" b="1" dirty="0" err="1">
                <a:latin typeface="Arial" charset="0"/>
                <a:cs typeface="Times New Roman" pitchFamily="18" charset="0"/>
              </a:rPr>
              <a:t>priorités</a:t>
            </a:r>
            <a:r>
              <a:rPr lang="en-US" sz="2000" b="1" dirty="0">
                <a:latin typeface="Arial" charset="0"/>
                <a:cs typeface="Times New Roman" pitchFamily="18" charset="0"/>
              </a:rPr>
              <a:t> des </a:t>
            </a:r>
            <a:r>
              <a:rPr lang="en-US" sz="2000" b="1" dirty="0" err="1">
                <a:latin typeface="Arial" charset="0"/>
                <a:cs typeface="Times New Roman" pitchFamily="18" charset="0"/>
              </a:rPr>
              <a:t>processus</a:t>
            </a:r>
            <a:endParaRPr lang="en-US" sz="2000" b="1" dirty="0">
              <a:latin typeface="Arial" charset="0"/>
              <a:cs typeface="Times New Roman" pitchFamily="18" charset="0"/>
            </a:endParaRPr>
          </a:p>
        </p:txBody>
      </p:sp>
      <p:sp>
        <p:nvSpPr>
          <p:cNvPr id="10" name="AutoShape 20"/>
          <p:cNvSpPr>
            <a:spLocks noChangeArrowheads="1"/>
          </p:cNvSpPr>
          <p:nvPr/>
        </p:nvSpPr>
        <p:spPr bwMode="auto">
          <a:xfrm>
            <a:off x="5112328" y="3222913"/>
            <a:ext cx="3649392" cy="2083377"/>
          </a:xfrm>
          <a:prstGeom prst="leftArrowCallout">
            <a:avLst>
              <a:gd name="adj1" fmla="val 29194"/>
              <a:gd name="adj2" fmla="val 28204"/>
              <a:gd name="adj3" fmla="val 41674"/>
              <a:gd name="adj4" fmla="val 82778"/>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lIns="182880" tIns="27432" bIns="27432" anchor="ctr"/>
          <a:lstStyle/>
          <a:p>
            <a:pPr>
              <a:lnSpc>
                <a:spcPct val="90000"/>
              </a:lnSpc>
            </a:pPr>
            <a:r>
              <a:rPr lang="en-US" sz="2000" b="1" dirty="0">
                <a:latin typeface="Arial" charset="0"/>
                <a:cs typeface="Times New Roman" pitchFamily="18" charset="0"/>
              </a:rPr>
              <a:t>Le configuration de </a:t>
            </a:r>
            <a:r>
              <a:rPr lang="en-US" sz="2000" b="1" dirty="0" err="1">
                <a:latin typeface="Arial" charset="0"/>
                <a:cs typeface="Times New Roman" pitchFamily="18" charset="0"/>
              </a:rPr>
              <a:t>l'utilisation</a:t>
            </a:r>
            <a:r>
              <a:rPr lang="en-US" sz="2000" b="1" dirty="0">
                <a:latin typeface="Arial" charset="0"/>
                <a:cs typeface="Times New Roman" pitchFamily="18" charset="0"/>
              </a:rPr>
              <a:t> de la </a:t>
            </a:r>
            <a:r>
              <a:rPr lang="en-US" sz="2000" b="1" dirty="0" err="1">
                <a:latin typeface="Arial" charset="0"/>
                <a:cs typeface="Times New Roman" pitchFamily="18" charset="0"/>
              </a:rPr>
              <a:t>mémoire</a:t>
            </a:r>
            <a:r>
              <a:rPr lang="en-US" sz="2000" b="1" dirty="0">
                <a:latin typeface="Arial" charset="0"/>
                <a:cs typeface="Times New Roman" pitchFamily="18" charset="0"/>
              </a:rPr>
              <a:t> influence </a:t>
            </a:r>
            <a:r>
              <a:rPr lang="en-US" sz="2000" b="1" dirty="0" err="1">
                <a:latin typeface="Arial" charset="0"/>
                <a:cs typeface="Times New Roman" pitchFamily="18" charset="0"/>
              </a:rPr>
              <a:t>l'utilisation</a:t>
            </a:r>
            <a:r>
              <a:rPr lang="en-US" sz="2000" b="1" dirty="0">
                <a:latin typeface="Arial" charset="0"/>
                <a:cs typeface="Times New Roman" pitchFamily="18" charset="0"/>
              </a:rPr>
              <a:t> de la </a:t>
            </a:r>
            <a:r>
              <a:rPr lang="en-US" sz="2000" b="1" dirty="0" err="1">
                <a:latin typeface="Arial" charset="0"/>
                <a:cs typeface="Times New Roman" pitchFamily="18" charset="0"/>
              </a:rPr>
              <a:t>mémoire</a:t>
            </a:r>
            <a:r>
              <a:rPr lang="en-US" sz="2000" b="1" dirty="0">
                <a:latin typeface="Arial" charset="0"/>
                <a:cs typeface="Times New Roman" pitchFamily="18" charset="0"/>
              </a:rPr>
              <a:t> vive et du </a:t>
            </a:r>
            <a:r>
              <a:rPr lang="en-US" sz="2000" b="1" dirty="0" err="1">
                <a:latin typeface="Arial" charset="0"/>
                <a:cs typeface="Times New Roman" pitchFamily="18" charset="0"/>
              </a:rPr>
              <a:t>fichier</a:t>
            </a:r>
            <a:r>
              <a:rPr lang="en-US" sz="2000" b="1" dirty="0">
                <a:latin typeface="Arial" charset="0"/>
                <a:cs typeface="Times New Roman" pitchFamily="18" charset="0"/>
              </a:rPr>
              <a:t> </a:t>
            </a:r>
            <a:r>
              <a:rPr lang="en-US" sz="2000" b="1" dirty="0" err="1">
                <a:latin typeface="Arial" charset="0"/>
                <a:cs typeface="Times New Roman" pitchFamily="18" charset="0"/>
              </a:rPr>
              <a:t>d’échange</a:t>
            </a:r>
            <a:endParaRPr lang="en-US" sz="2000" b="1" dirty="0">
              <a:latin typeface="Arial"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heckerboard(across)">
                                      <p:cBhvr>
                                        <p:cTn id="1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p:txBody>
          <a:bodyPr>
            <a:normAutofit fontScale="90000"/>
          </a:bodyPr>
          <a:lstStyle/>
          <a:p>
            <a:r>
              <a:rPr lang="en-US" dirty="0"/>
              <a:t>4.  </a:t>
            </a:r>
            <a:r>
              <a:rPr lang="en-US" dirty="0">
                <a:cs typeface="Times New Roman" pitchFamily="18" charset="0"/>
              </a:rPr>
              <a:t>Surveillance des </a:t>
            </a:r>
            <a:r>
              <a:rPr lang="en-US" dirty="0" err="1">
                <a:cs typeface="Times New Roman" pitchFamily="18" charset="0"/>
              </a:rPr>
              <a:t>journaux</a:t>
            </a:r>
            <a:r>
              <a:rPr lang="en-US" dirty="0">
                <a:cs typeface="Times New Roman" pitchFamily="18" charset="0"/>
              </a:rPr>
              <a:t> </a:t>
            </a:r>
            <a:r>
              <a:rPr lang="en-US" dirty="0" err="1">
                <a:cs typeface="Times New Roman" pitchFamily="18" charset="0"/>
              </a:rPr>
              <a:t>d'événements</a:t>
            </a:r>
            <a:endParaRPr lang="en-US" dirty="0"/>
          </a:p>
        </p:txBody>
      </p:sp>
      <p:sp>
        <p:nvSpPr>
          <p:cNvPr id="13317" name="Rectangle 5"/>
          <p:cNvSpPr>
            <a:spLocks noGrp="1" noChangeArrowheads="1"/>
          </p:cNvSpPr>
          <p:nvPr>
            <p:ph sz="quarter" idx="1"/>
          </p:nvPr>
        </p:nvSpPr>
        <p:spPr>
          <a:xfrm>
            <a:off x="258209" y="2165677"/>
            <a:ext cx="8503920" cy="2827238"/>
          </a:xfrm>
        </p:spPr>
        <p:txBody>
          <a:bodyPr/>
          <a:lstStyle/>
          <a:p>
            <a:r>
              <a:rPr lang="fr-FR" dirty="0"/>
              <a:t>Présentation des journaux d'événements </a:t>
            </a:r>
            <a:endParaRPr lang="en-US" dirty="0"/>
          </a:p>
          <a:p>
            <a:r>
              <a:rPr lang="fr-FR" dirty="0"/>
              <a:t>Types d'événements système et liés aux applications </a:t>
            </a:r>
            <a:endParaRPr lang="en-US" dirty="0"/>
          </a:p>
          <a:p>
            <a:r>
              <a:rPr lang="fr-FR" dirty="0"/>
              <a:t>Affichage des journaux d'événements </a:t>
            </a:r>
            <a:endParaRPr lang="en-US" dirty="0"/>
          </a:p>
          <a:p>
            <a:r>
              <a:rPr lang="fr-FR" dirty="0"/>
              <a:t>Limitation de la taille des fichiers journaux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6" name="Rectangle 220"/>
          <p:cNvSpPr>
            <a:spLocks noGrp="1" noChangeArrowheads="1"/>
          </p:cNvSpPr>
          <p:nvPr>
            <p:ph type="title"/>
          </p:nvPr>
        </p:nvSpPr>
        <p:spPr>
          <a:noFill/>
          <a:ln/>
        </p:spPr>
        <p:txBody>
          <a:bodyPr>
            <a:normAutofit/>
          </a:bodyPr>
          <a:lstStyle/>
          <a:p>
            <a:r>
              <a:rPr lang="fr-FR" sz="3000" dirty="0">
                <a:solidFill>
                  <a:srgbClr val="C00000"/>
                </a:solidFill>
              </a:rPr>
              <a:t>Présentation des journaux d'événements</a:t>
            </a:r>
            <a:endParaRPr lang="en-US" sz="3000" dirty="0">
              <a:solidFill>
                <a:srgbClr val="C00000"/>
              </a:solidFill>
            </a:endParaRPr>
          </a:p>
        </p:txBody>
      </p:sp>
      <p:sp>
        <p:nvSpPr>
          <p:cNvPr id="14557" name="Rectangle 221"/>
          <p:cNvSpPr>
            <a:spLocks noGrp="1" noChangeArrowheads="1"/>
          </p:cNvSpPr>
          <p:nvPr>
            <p:ph type="body" sz="half" idx="1"/>
          </p:nvPr>
        </p:nvSpPr>
        <p:spPr>
          <a:xfrm>
            <a:off x="304801" y="3338945"/>
            <a:ext cx="8476342" cy="3047341"/>
          </a:xfrm>
          <a:solidFill>
            <a:srgbClr val="F5EEEB"/>
          </a:solidFill>
          <a:ln/>
        </p:spPr>
        <p:style>
          <a:lnRef idx="1">
            <a:schemeClr val="accent1"/>
          </a:lnRef>
          <a:fillRef idx="2">
            <a:schemeClr val="accent1"/>
          </a:fillRef>
          <a:effectRef idx="1">
            <a:schemeClr val="accent1"/>
          </a:effectRef>
          <a:fontRef idx="minor">
            <a:schemeClr val="dk1"/>
          </a:fontRef>
        </p:style>
        <p:txBody>
          <a:bodyPr>
            <a:normAutofit lnSpcReduction="10000"/>
          </a:bodyPr>
          <a:lstStyle/>
          <a:p>
            <a:pPr marL="342900" indent="-342900"/>
            <a:r>
              <a:rPr lang="fr-FR" sz="2400" b="1" u="sng" dirty="0"/>
              <a:t>Les journaux système </a:t>
            </a:r>
            <a:r>
              <a:rPr lang="fr-FR" sz="2400" dirty="0"/>
              <a:t>contiennent les événements journalisés par les composants système</a:t>
            </a:r>
          </a:p>
          <a:p>
            <a:pPr marL="342900" indent="-342900"/>
            <a:r>
              <a:rPr lang="fr-FR" sz="2400" b="1" u="sng" dirty="0"/>
              <a:t>Les journaux d'applications </a:t>
            </a:r>
            <a:r>
              <a:rPr lang="fr-FR" sz="2400" dirty="0"/>
              <a:t>contiennent les événements journalisés par les applications ou les programmes</a:t>
            </a:r>
          </a:p>
          <a:p>
            <a:r>
              <a:rPr lang="fr-FR" sz="2400" b="1" u="sng" dirty="0"/>
              <a:t>Les journaux de sécurité </a:t>
            </a:r>
            <a:r>
              <a:rPr lang="fr-FR" sz="2400" dirty="0"/>
              <a:t>consigne les événements liés à la sécurité tels qu'une tentative d'ouverture de session valide ou non valide, …</a:t>
            </a:r>
          </a:p>
        </p:txBody>
      </p:sp>
      <p:grpSp>
        <p:nvGrpSpPr>
          <p:cNvPr id="14558" name="Group 222"/>
          <p:cNvGrpSpPr>
            <a:grpSpLocks/>
          </p:cNvGrpSpPr>
          <p:nvPr/>
        </p:nvGrpSpPr>
        <p:grpSpPr bwMode="auto">
          <a:xfrm>
            <a:off x="1401763" y="1381125"/>
            <a:ext cx="6040437" cy="1917700"/>
            <a:chOff x="883" y="870"/>
            <a:chExt cx="3805" cy="1208"/>
          </a:xfrm>
        </p:grpSpPr>
        <p:grpSp>
          <p:nvGrpSpPr>
            <p:cNvPr id="14559" name="Group 223"/>
            <p:cNvGrpSpPr>
              <a:grpSpLocks/>
            </p:cNvGrpSpPr>
            <p:nvPr/>
          </p:nvGrpSpPr>
          <p:grpSpPr bwMode="auto">
            <a:xfrm>
              <a:off x="3735" y="870"/>
              <a:ext cx="953" cy="1089"/>
              <a:chOff x="4119" y="1696"/>
              <a:chExt cx="705" cy="806"/>
            </a:xfrm>
          </p:grpSpPr>
          <p:sp>
            <p:nvSpPr>
              <p:cNvPr id="14560" name="AutoShape 224"/>
              <p:cNvSpPr>
                <a:spLocks noChangeArrowheads="1"/>
              </p:cNvSpPr>
              <p:nvPr/>
            </p:nvSpPr>
            <p:spPr bwMode="auto">
              <a:xfrm>
                <a:off x="4159" y="1696"/>
                <a:ext cx="641" cy="780"/>
              </a:xfrm>
              <a:prstGeom prst="roundRect">
                <a:avLst>
                  <a:gd name="adj" fmla="val 13319"/>
                </a:avLst>
              </a:prstGeom>
              <a:solidFill>
                <a:srgbClr val="969696"/>
              </a:solidFill>
              <a:ln w="9525">
                <a:solidFill>
                  <a:srgbClr val="808080"/>
                </a:solidFill>
                <a:round/>
                <a:headEnd/>
                <a:tailEnd/>
              </a:ln>
              <a:effectLst/>
            </p:spPr>
            <p:txBody>
              <a:bodyPr tIns="27432" bIns="27432" anchor="ctr">
                <a:spAutoFit/>
              </a:bodyPr>
              <a:lstStyle/>
              <a:p>
                <a:endParaRPr lang="fr-FR"/>
              </a:p>
            </p:txBody>
          </p:sp>
          <p:sp>
            <p:nvSpPr>
              <p:cNvPr id="14561" name="AutoShape 225"/>
              <p:cNvSpPr>
                <a:spLocks noChangeArrowheads="1"/>
              </p:cNvSpPr>
              <p:nvPr/>
            </p:nvSpPr>
            <p:spPr bwMode="auto">
              <a:xfrm>
                <a:off x="4183" y="1728"/>
                <a:ext cx="641" cy="774"/>
              </a:xfrm>
              <a:prstGeom prst="roundRect">
                <a:avLst>
                  <a:gd name="adj" fmla="val 13319"/>
                </a:avLst>
              </a:prstGeom>
              <a:solidFill>
                <a:schemeClr val="bg1"/>
              </a:solidFill>
              <a:ln w="9525">
                <a:solidFill>
                  <a:srgbClr val="808080"/>
                </a:solidFill>
                <a:round/>
                <a:headEnd/>
                <a:tailEnd/>
              </a:ln>
              <a:effectLst/>
            </p:spPr>
            <p:txBody>
              <a:bodyPr wrap="none" tIns="27432" bIns="27432"/>
              <a:lstStyle/>
              <a:p>
                <a:pPr algn="ctr"/>
                <a:r>
                  <a:rPr lang="en-US" sz="2400" b="1">
                    <a:latin typeface="Arial" charset="0"/>
                  </a:rPr>
                  <a:t>Journal</a:t>
                </a:r>
              </a:p>
            </p:txBody>
          </p:sp>
          <p:sp>
            <p:nvSpPr>
              <p:cNvPr id="14562" name="Arc 226"/>
              <p:cNvSpPr>
                <a:spLocks/>
              </p:cNvSpPr>
              <p:nvPr/>
            </p:nvSpPr>
            <p:spPr bwMode="auto">
              <a:xfrm>
                <a:off x="4119" y="2384"/>
                <a:ext cx="120" cy="62"/>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sp>
            <p:nvSpPr>
              <p:cNvPr id="14563" name="Rectangle 227"/>
              <p:cNvSpPr>
                <a:spLocks noChangeArrowheads="1"/>
              </p:cNvSpPr>
              <p:nvPr/>
            </p:nvSpPr>
            <p:spPr bwMode="auto">
              <a:xfrm>
                <a:off x="4314" y="2065"/>
                <a:ext cx="440" cy="29"/>
              </a:xfrm>
              <a:prstGeom prst="rect">
                <a:avLst/>
              </a:prstGeom>
              <a:solidFill>
                <a:srgbClr val="0000FF"/>
              </a:solidFill>
              <a:ln w="9525">
                <a:noFill/>
                <a:miter lim="800000"/>
                <a:headEnd/>
                <a:tailEnd/>
              </a:ln>
              <a:effectLst/>
            </p:spPr>
            <p:txBody>
              <a:bodyPr wrap="none" tIns="27432" bIns="27432" anchor="ctr">
                <a:spAutoFit/>
              </a:bodyPr>
              <a:lstStyle/>
              <a:p>
                <a:endParaRPr lang="fr-FR"/>
              </a:p>
            </p:txBody>
          </p:sp>
          <p:sp>
            <p:nvSpPr>
              <p:cNvPr id="14564" name="Rectangle 228"/>
              <p:cNvSpPr>
                <a:spLocks noChangeArrowheads="1"/>
              </p:cNvSpPr>
              <p:nvPr/>
            </p:nvSpPr>
            <p:spPr bwMode="auto">
              <a:xfrm>
                <a:off x="4314" y="2169"/>
                <a:ext cx="440" cy="29"/>
              </a:xfrm>
              <a:prstGeom prst="rect">
                <a:avLst/>
              </a:prstGeom>
              <a:solidFill>
                <a:srgbClr val="0000FF"/>
              </a:solidFill>
              <a:ln w="9525">
                <a:noFill/>
                <a:miter lim="800000"/>
                <a:headEnd/>
                <a:tailEnd/>
              </a:ln>
              <a:effectLst/>
            </p:spPr>
            <p:txBody>
              <a:bodyPr wrap="none" tIns="27432" bIns="27432" anchor="ctr">
                <a:spAutoFit/>
              </a:bodyPr>
              <a:lstStyle/>
              <a:p>
                <a:endParaRPr lang="fr-FR"/>
              </a:p>
            </p:txBody>
          </p:sp>
          <p:sp>
            <p:nvSpPr>
              <p:cNvPr id="14565" name="Rectangle 229"/>
              <p:cNvSpPr>
                <a:spLocks noChangeArrowheads="1"/>
              </p:cNvSpPr>
              <p:nvPr/>
            </p:nvSpPr>
            <p:spPr bwMode="auto">
              <a:xfrm>
                <a:off x="4314" y="2274"/>
                <a:ext cx="440" cy="29"/>
              </a:xfrm>
              <a:prstGeom prst="rect">
                <a:avLst/>
              </a:prstGeom>
              <a:solidFill>
                <a:srgbClr val="0000FF"/>
              </a:solidFill>
              <a:ln w="9525">
                <a:noFill/>
                <a:miter lim="800000"/>
                <a:headEnd/>
                <a:tailEnd/>
              </a:ln>
              <a:effectLst/>
            </p:spPr>
            <p:txBody>
              <a:bodyPr wrap="none" tIns="27432" bIns="27432" anchor="ctr">
                <a:spAutoFit/>
              </a:bodyPr>
              <a:lstStyle/>
              <a:p>
                <a:endParaRPr lang="fr-FR"/>
              </a:p>
            </p:txBody>
          </p:sp>
          <p:sp>
            <p:nvSpPr>
              <p:cNvPr id="14566" name="Rectangle 230"/>
              <p:cNvSpPr>
                <a:spLocks noChangeArrowheads="1"/>
              </p:cNvSpPr>
              <p:nvPr/>
            </p:nvSpPr>
            <p:spPr bwMode="auto">
              <a:xfrm>
                <a:off x="4314" y="2379"/>
                <a:ext cx="440" cy="30"/>
              </a:xfrm>
              <a:prstGeom prst="rect">
                <a:avLst/>
              </a:prstGeom>
              <a:solidFill>
                <a:srgbClr val="0000FF"/>
              </a:solidFill>
              <a:ln w="9525">
                <a:noFill/>
                <a:miter lim="800000"/>
                <a:headEnd/>
                <a:tailEnd/>
              </a:ln>
              <a:effectLst/>
            </p:spPr>
            <p:txBody>
              <a:bodyPr wrap="none" tIns="27432" bIns="27432" anchor="ctr">
                <a:spAutoFit/>
              </a:bodyPr>
              <a:lstStyle/>
              <a:p>
                <a:endParaRPr lang="fr-FR"/>
              </a:p>
            </p:txBody>
          </p:sp>
          <p:sp>
            <p:nvSpPr>
              <p:cNvPr id="14567" name="Arc 231"/>
              <p:cNvSpPr>
                <a:spLocks/>
              </p:cNvSpPr>
              <p:nvPr/>
            </p:nvSpPr>
            <p:spPr bwMode="auto">
              <a:xfrm>
                <a:off x="4119" y="2286"/>
                <a:ext cx="120" cy="62"/>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sp>
            <p:nvSpPr>
              <p:cNvPr id="14568" name="Arc 232"/>
              <p:cNvSpPr>
                <a:spLocks/>
              </p:cNvSpPr>
              <p:nvPr/>
            </p:nvSpPr>
            <p:spPr bwMode="auto">
              <a:xfrm>
                <a:off x="4119" y="2186"/>
                <a:ext cx="120" cy="62"/>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sp>
            <p:nvSpPr>
              <p:cNvPr id="14569" name="Arc 233"/>
              <p:cNvSpPr>
                <a:spLocks/>
              </p:cNvSpPr>
              <p:nvPr/>
            </p:nvSpPr>
            <p:spPr bwMode="auto">
              <a:xfrm>
                <a:off x="4119" y="2081"/>
                <a:ext cx="120" cy="62"/>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sp>
            <p:nvSpPr>
              <p:cNvPr id="14570" name="Arc 234"/>
              <p:cNvSpPr>
                <a:spLocks/>
              </p:cNvSpPr>
              <p:nvPr/>
            </p:nvSpPr>
            <p:spPr bwMode="auto">
              <a:xfrm>
                <a:off x="4119" y="1987"/>
                <a:ext cx="120" cy="63"/>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sp>
            <p:nvSpPr>
              <p:cNvPr id="14571" name="Arc 235"/>
              <p:cNvSpPr>
                <a:spLocks/>
              </p:cNvSpPr>
              <p:nvPr/>
            </p:nvSpPr>
            <p:spPr bwMode="auto">
              <a:xfrm>
                <a:off x="4119" y="1886"/>
                <a:ext cx="120" cy="64"/>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sp>
            <p:nvSpPr>
              <p:cNvPr id="14572" name="Arc 236"/>
              <p:cNvSpPr>
                <a:spLocks/>
              </p:cNvSpPr>
              <p:nvPr/>
            </p:nvSpPr>
            <p:spPr bwMode="auto">
              <a:xfrm>
                <a:off x="4119" y="1796"/>
                <a:ext cx="120" cy="62"/>
              </a:xfrm>
              <a:custGeom>
                <a:avLst/>
                <a:gdLst>
                  <a:gd name="G0" fmla="+- 21600 0 0"/>
                  <a:gd name="G1" fmla="+- 19724 0 0"/>
                  <a:gd name="G2" fmla="+- 21600 0 0"/>
                  <a:gd name="T0" fmla="*/ 30405 w 43200"/>
                  <a:gd name="T1" fmla="*/ 0 h 41324"/>
                  <a:gd name="T2" fmla="*/ 10960 w 43200"/>
                  <a:gd name="T3" fmla="*/ 927 h 41324"/>
                  <a:gd name="T4" fmla="*/ 21600 w 43200"/>
                  <a:gd name="T5" fmla="*/ 19724 h 41324"/>
                </a:gdLst>
                <a:ahLst/>
                <a:cxnLst>
                  <a:cxn ang="0">
                    <a:pos x="T0" y="T1"/>
                  </a:cxn>
                  <a:cxn ang="0">
                    <a:pos x="T2" y="T3"/>
                  </a:cxn>
                  <a:cxn ang="0">
                    <a:pos x="T4" y="T5"/>
                  </a:cxn>
                </a:cxnLst>
                <a:rect l="0" t="0" r="r" b="b"/>
                <a:pathLst>
                  <a:path w="43200" h="41324" fill="none"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path>
                  <a:path w="43200" h="41324" stroke="0" extrusionOk="0">
                    <a:moveTo>
                      <a:pt x="30404" y="0"/>
                    </a:moveTo>
                    <a:cubicBezTo>
                      <a:pt x="38187" y="3474"/>
                      <a:pt x="43200" y="11200"/>
                      <a:pt x="43200" y="19724"/>
                    </a:cubicBezTo>
                    <a:cubicBezTo>
                      <a:pt x="43200" y="31653"/>
                      <a:pt x="33529" y="41324"/>
                      <a:pt x="21600" y="41324"/>
                    </a:cubicBezTo>
                    <a:cubicBezTo>
                      <a:pt x="9670" y="41324"/>
                      <a:pt x="0" y="31653"/>
                      <a:pt x="0" y="19724"/>
                    </a:cubicBezTo>
                    <a:cubicBezTo>
                      <a:pt x="-1" y="11941"/>
                      <a:pt x="4186" y="4760"/>
                      <a:pt x="10959" y="926"/>
                    </a:cubicBezTo>
                    <a:lnTo>
                      <a:pt x="21600" y="19724"/>
                    </a:lnTo>
                    <a:close/>
                  </a:path>
                </a:pathLst>
              </a:custGeom>
              <a:noFill/>
              <a:ln w="19050">
                <a:solidFill>
                  <a:srgbClr val="333333"/>
                </a:solidFill>
                <a:round/>
                <a:headEnd/>
                <a:tailEnd/>
              </a:ln>
              <a:effectLst/>
            </p:spPr>
            <p:txBody>
              <a:bodyPr tIns="27432" bIns="27432" anchor="ctr">
                <a:spAutoFit/>
              </a:bodyPr>
              <a:lstStyle/>
              <a:p>
                <a:endParaRPr lang="fr-FR"/>
              </a:p>
            </p:txBody>
          </p:sp>
        </p:grpSp>
        <p:grpSp>
          <p:nvGrpSpPr>
            <p:cNvPr id="14573" name="Group 237"/>
            <p:cNvGrpSpPr>
              <a:grpSpLocks/>
            </p:cNvGrpSpPr>
            <p:nvPr/>
          </p:nvGrpSpPr>
          <p:grpSpPr bwMode="auto">
            <a:xfrm>
              <a:off x="883" y="897"/>
              <a:ext cx="1420" cy="1157"/>
              <a:chOff x="820" y="897"/>
              <a:chExt cx="1420" cy="1157"/>
            </a:xfrm>
          </p:grpSpPr>
          <p:grpSp>
            <p:nvGrpSpPr>
              <p:cNvPr id="14574" name="Group 238"/>
              <p:cNvGrpSpPr>
                <a:grpSpLocks/>
              </p:cNvGrpSpPr>
              <p:nvPr/>
            </p:nvGrpSpPr>
            <p:grpSpPr bwMode="auto">
              <a:xfrm>
                <a:off x="820" y="897"/>
                <a:ext cx="1420" cy="1157"/>
                <a:chOff x="820" y="897"/>
                <a:chExt cx="1420" cy="1157"/>
              </a:xfrm>
            </p:grpSpPr>
            <p:sp>
              <p:nvSpPr>
                <p:cNvPr id="14575" name="Rectangle 239"/>
                <p:cNvSpPr>
                  <a:spLocks noChangeArrowheads="1"/>
                </p:cNvSpPr>
                <p:nvPr/>
              </p:nvSpPr>
              <p:spPr bwMode="auto">
                <a:xfrm>
                  <a:off x="820" y="897"/>
                  <a:ext cx="1420" cy="1157"/>
                </a:xfrm>
                <a:prstGeom prst="rect">
                  <a:avLst/>
                </a:prstGeom>
                <a:solidFill>
                  <a:srgbClr val="DDDDDD"/>
                </a:solidFill>
                <a:ln w="6350">
                  <a:solidFill>
                    <a:schemeClr val="tx1"/>
                  </a:solidFill>
                  <a:miter lim="800000"/>
                  <a:headEnd/>
                  <a:tailEnd/>
                </a:ln>
                <a:effectLst>
                  <a:outerShdw dist="17961" dir="2700000" algn="ctr" rotWithShape="0">
                    <a:srgbClr val="969696"/>
                  </a:outerShdw>
                </a:effectLst>
              </p:spPr>
              <p:txBody>
                <a:bodyPr wrap="none" anchor="ctr"/>
                <a:lstStyle/>
                <a:p>
                  <a:endParaRPr lang="fr-FR"/>
                </a:p>
              </p:txBody>
            </p:sp>
            <p:sp>
              <p:nvSpPr>
                <p:cNvPr id="14576" name="Rectangle 240"/>
                <p:cNvSpPr>
                  <a:spLocks noChangeArrowheads="1"/>
                </p:cNvSpPr>
                <p:nvPr/>
              </p:nvSpPr>
              <p:spPr bwMode="auto">
                <a:xfrm>
                  <a:off x="1048" y="1232"/>
                  <a:ext cx="954" cy="789"/>
                </a:xfrm>
                <a:prstGeom prst="rect">
                  <a:avLst/>
                </a:prstGeom>
                <a:solidFill>
                  <a:srgbClr val="FFFFFF"/>
                </a:solidFill>
                <a:ln w="6350">
                  <a:solidFill>
                    <a:srgbClr val="969696"/>
                  </a:solidFill>
                  <a:miter lim="800000"/>
                  <a:headEnd/>
                  <a:tailEnd/>
                </a:ln>
                <a:effectLst/>
              </p:spPr>
              <p:txBody>
                <a:bodyPr wrap="none" anchor="ctr"/>
                <a:lstStyle/>
                <a:p>
                  <a:endParaRPr lang="fr-FR"/>
                </a:p>
              </p:txBody>
            </p:sp>
            <p:grpSp>
              <p:nvGrpSpPr>
                <p:cNvPr id="14577" name="Group 241"/>
                <p:cNvGrpSpPr>
                  <a:grpSpLocks/>
                </p:cNvGrpSpPr>
                <p:nvPr/>
              </p:nvGrpSpPr>
              <p:grpSpPr bwMode="auto">
                <a:xfrm>
                  <a:off x="851" y="1102"/>
                  <a:ext cx="1351" cy="112"/>
                  <a:chOff x="2413" y="3295"/>
                  <a:chExt cx="563" cy="47"/>
                </a:xfrm>
              </p:grpSpPr>
              <p:sp>
                <p:nvSpPr>
                  <p:cNvPr id="14578" name="AutoShape 242"/>
                  <p:cNvSpPr>
                    <a:spLocks noChangeArrowheads="1"/>
                  </p:cNvSpPr>
                  <p:nvPr/>
                </p:nvSpPr>
                <p:spPr bwMode="auto">
                  <a:xfrm>
                    <a:off x="2413" y="3295"/>
                    <a:ext cx="563" cy="47"/>
                  </a:xfrm>
                  <a:prstGeom prst="bevel">
                    <a:avLst>
                      <a:gd name="adj" fmla="val 7273"/>
                    </a:avLst>
                  </a:prstGeom>
                  <a:solidFill>
                    <a:srgbClr val="C0C0C0"/>
                  </a:solidFill>
                  <a:ln w="9525">
                    <a:noFill/>
                    <a:miter lim="800000"/>
                    <a:headEnd/>
                    <a:tailEnd/>
                  </a:ln>
                  <a:effectLst/>
                </p:spPr>
                <p:txBody>
                  <a:bodyPr wrap="none" anchor="ctr"/>
                  <a:lstStyle/>
                  <a:p>
                    <a:endParaRPr lang="fr-FR"/>
                  </a:p>
                </p:txBody>
              </p:sp>
              <p:sp>
                <p:nvSpPr>
                  <p:cNvPr id="14579" name="Line 243"/>
                  <p:cNvSpPr>
                    <a:spLocks noChangeShapeType="1"/>
                  </p:cNvSpPr>
                  <p:nvPr/>
                </p:nvSpPr>
                <p:spPr bwMode="auto">
                  <a:xfrm>
                    <a:off x="2476" y="3302"/>
                    <a:ext cx="0" cy="30"/>
                  </a:xfrm>
                  <a:prstGeom prst="line">
                    <a:avLst/>
                  </a:prstGeom>
                  <a:noFill/>
                  <a:ln w="6350">
                    <a:solidFill>
                      <a:srgbClr val="969696"/>
                    </a:solidFill>
                    <a:round/>
                    <a:headEnd/>
                    <a:tailEnd/>
                  </a:ln>
                  <a:effectLst/>
                </p:spPr>
                <p:txBody>
                  <a:bodyPr wrap="none" anchor="ctr"/>
                  <a:lstStyle/>
                  <a:p>
                    <a:endParaRPr lang="fr-FR"/>
                  </a:p>
                </p:txBody>
              </p:sp>
              <p:sp>
                <p:nvSpPr>
                  <p:cNvPr id="14580" name="Line 244"/>
                  <p:cNvSpPr>
                    <a:spLocks noChangeShapeType="1"/>
                  </p:cNvSpPr>
                  <p:nvPr/>
                </p:nvSpPr>
                <p:spPr bwMode="auto">
                  <a:xfrm>
                    <a:off x="2569" y="3302"/>
                    <a:ext cx="0" cy="30"/>
                  </a:xfrm>
                  <a:prstGeom prst="line">
                    <a:avLst/>
                  </a:prstGeom>
                  <a:noFill/>
                  <a:ln w="6350">
                    <a:solidFill>
                      <a:srgbClr val="969696"/>
                    </a:solidFill>
                    <a:round/>
                    <a:headEnd/>
                    <a:tailEnd/>
                  </a:ln>
                  <a:effectLst/>
                </p:spPr>
                <p:txBody>
                  <a:bodyPr wrap="none" anchor="ctr"/>
                  <a:lstStyle/>
                  <a:p>
                    <a:endParaRPr lang="fr-FR"/>
                  </a:p>
                </p:txBody>
              </p:sp>
              <p:sp>
                <p:nvSpPr>
                  <p:cNvPr id="14581" name="Line 245"/>
                  <p:cNvSpPr>
                    <a:spLocks noChangeShapeType="1"/>
                  </p:cNvSpPr>
                  <p:nvPr/>
                </p:nvSpPr>
                <p:spPr bwMode="auto">
                  <a:xfrm>
                    <a:off x="2671" y="3302"/>
                    <a:ext cx="0" cy="30"/>
                  </a:xfrm>
                  <a:prstGeom prst="line">
                    <a:avLst/>
                  </a:prstGeom>
                  <a:noFill/>
                  <a:ln w="6350">
                    <a:solidFill>
                      <a:srgbClr val="969696"/>
                    </a:solidFill>
                    <a:round/>
                    <a:headEnd/>
                    <a:tailEnd/>
                  </a:ln>
                  <a:effectLst/>
                </p:spPr>
                <p:txBody>
                  <a:bodyPr wrap="none" anchor="ctr"/>
                  <a:lstStyle/>
                  <a:p>
                    <a:endParaRPr lang="fr-FR"/>
                  </a:p>
                </p:txBody>
              </p:sp>
              <p:sp>
                <p:nvSpPr>
                  <p:cNvPr id="14582" name="Line 246"/>
                  <p:cNvSpPr>
                    <a:spLocks noChangeShapeType="1"/>
                  </p:cNvSpPr>
                  <p:nvPr/>
                </p:nvSpPr>
                <p:spPr bwMode="auto">
                  <a:xfrm>
                    <a:off x="2776" y="3302"/>
                    <a:ext cx="0" cy="30"/>
                  </a:xfrm>
                  <a:prstGeom prst="line">
                    <a:avLst/>
                  </a:prstGeom>
                  <a:noFill/>
                  <a:ln w="6350">
                    <a:solidFill>
                      <a:srgbClr val="969696"/>
                    </a:solidFill>
                    <a:round/>
                    <a:headEnd/>
                    <a:tailEnd/>
                  </a:ln>
                  <a:effectLst/>
                </p:spPr>
                <p:txBody>
                  <a:bodyPr wrap="none" anchor="ctr"/>
                  <a:lstStyle/>
                  <a:p>
                    <a:endParaRPr lang="fr-FR"/>
                  </a:p>
                </p:txBody>
              </p:sp>
              <p:sp>
                <p:nvSpPr>
                  <p:cNvPr id="14583" name="Line 247"/>
                  <p:cNvSpPr>
                    <a:spLocks noChangeShapeType="1"/>
                  </p:cNvSpPr>
                  <p:nvPr/>
                </p:nvSpPr>
                <p:spPr bwMode="auto">
                  <a:xfrm>
                    <a:off x="2481" y="3302"/>
                    <a:ext cx="0" cy="30"/>
                  </a:xfrm>
                  <a:prstGeom prst="line">
                    <a:avLst/>
                  </a:prstGeom>
                  <a:noFill/>
                  <a:ln w="6350">
                    <a:solidFill>
                      <a:srgbClr val="FFFFFF"/>
                    </a:solidFill>
                    <a:round/>
                    <a:headEnd/>
                    <a:tailEnd/>
                  </a:ln>
                  <a:effectLst/>
                </p:spPr>
                <p:txBody>
                  <a:bodyPr wrap="none" anchor="ctr"/>
                  <a:lstStyle/>
                  <a:p>
                    <a:endParaRPr lang="fr-FR"/>
                  </a:p>
                </p:txBody>
              </p:sp>
              <p:sp>
                <p:nvSpPr>
                  <p:cNvPr id="14584" name="Line 248"/>
                  <p:cNvSpPr>
                    <a:spLocks noChangeShapeType="1"/>
                  </p:cNvSpPr>
                  <p:nvPr/>
                </p:nvSpPr>
                <p:spPr bwMode="auto">
                  <a:xfrm>
                    <a:off x="2574" y="3302"/>
                    <a:ext cx="0" cy="30"/>
                  </a:xfrm>
                  <a:prstGeom prst="line">
                    <a:avLst/>
                  </a:prstGeom>
                  <a:noFill/>
                  <a:ln w="6350">
                    <a:solidFill>
                      <a:srgbClr val="FFFFFF"/>
                    </a:solidFill>
                    <a:round/>
                    <a:headEnd/>
                    <a:tailEnd/>
                  </a:ln>
                  <a:effectLst/>
                </p:spPr>
                <p:txBody>
                  <a:bodyPr wrap="none" anchor="ctr"/>
                  <a:lstStyle/>
                  <a:p>
                    <a:endParaRPr lang="fr-FR"/>
                  </a:p>
                </p:txBody>
              </p:sp>
              <p:sp>
                <p:nvSpPr>
                  <p:cNvPr id="14585" name="Line 249"/>
                  <p:cNvSpPr>
                    <a:spLocks noChangeShapeType="1"/>
                  </p:cNvSpPr>
                  <p:nvPr/>
                </p:nvSpPr>
                <p:spPr bwMode="auto">
                  <a:xfrm>
                    <a:off x="2676" y="3302"/>
                    <a:ext cx="0" cy="30"/>
                  </a:xfrm>
                  <a:prstGeom prst="line">
                    <a:avLst/>
                  </a:prstGeom>
                  <a:noFill/>
                  <a:ln w="6350">
                    <a:solidFill>
                      <a:srgbClr val="FFFFFF"/>
                    </a:solidFill>
                    <a:round/>
                    <a:headEnd/>
                    <a:tailEnd/>
                  </a:ln>
                  <a:effectLst/>
                </p:spPr>
                <p:txBody>
                  <a:bodyPr wrap="none" anchor="ctr"/>
                  <a:lstStyle/>
                  <a:p>
                    <a:endParaRPr lang="fr-FR"/>
                  </a:p>
                </p:txBody>
              </p:sp>
              <p:sp>
                <p:nvSpPr>
                  <p:cNvPr id="14586" name="Line 250"/>
                  <p:cNvSpPr>
                    <a:spLocks noChangeShapeType="1"/>
                  </p:cNvSpPr>
                  <p:nvPr/>
                </p:nvSpPr>
                <p:spPr bwMode="auto">
                  <a:xfrm>
                    <a:off x="2781" y="3302"/>
                    <a:ext cx="0" cy="30"/>
                  </a:xfrm>
                  <a:prstGeom prst="line">
                    <a:avLst/>
                  </a:prstGeom>
                  <a:noFill/>
                  <a:ln w="6350">
                    <a:solidFill>
                      <a:srgbClr val="FFFFFF"/>
                    </a:solidFill>
                    <a:round/>
                    <a:headEnd/>
                    <a:tailEnd/>
                  </a:ln>
                  <a:effectLst/>
                </p:spPr>
                <p:txBody>
                  <a:bodyPr wrap="none" anchor="ctr"/>
                  <a:lstStyle/>
                  <a:p>
                    <a:endParaRPr lang="fr-FR"/>
                  </a:p>
                </p:txBody>
              </p:sp>
            </p:grpSp>
            <p:sp>
              <p:nvSpPr>
                <p:cNvPr id="14587" name="Rectangle 251"/>
                <p:cNvSpPr>
                  <a:spLocks noChangeArrowheads="1"/>
                </p:cNvSpPr>
                <p:nvPr/>
              </p:nvSpPr>
              <p:spPr bwMode="auto">
                <a:xfrm>
                  <a:off x="844" y="923"/>
                  <a:ext cx="1372" cy="159"/>
                </a:xfrm>
                <a:prstGeom prst="rect">
                  <a:avLst/>
                </a:prstGeom>
                <a:gradFill rotWithShape="0">
                  <a:gsLst>
                    <a:gs pos="0">
                      <a:srgbClr val="0000FF"/>
                    </a:gs>
                    <a:gs pos="100000">
                      <a:srgbClr val="0000FF">
                        <a:gamma/>
                        <a:tint val="54510"/>
                        <a:invGamma/>
                      </a:srgbClr>
                    </a:gs>
                  </a:gsLst>
                  <a:lin ang="0" scaled="1"/>
                </a:gradFill>
                <a:ln w="6350">
                  <a:noFill/>
                  <a:miter lim="800000"/>
                  <a:headEnd/>
                  <a:tailEnd/>
                </a:ln>
                <a:effectLst/>
              </p:spPr>
              <p:txBody>
                <a:bodyPr wrap="none" anchor="ctr"/>
                <a:lstStyle/>
                <a:p>
                  <a:endParaRPr lang="fr-FR"/>
                </a:p>
              </p:txBody>
            </p:sp>
            <p:sp>
              <p:nvSpPr>
                <p:cNvPr id="14588" name="Rectangle 252"/>
                <p:cNvSpPr>
                  <a:spLocks noChangeArrowheads="1"/>
                </p:cNvSpPr>
                <p:nvPr/>
              </p:nvSpPr>
              <p:spPr bwMode="auto">
                <a:xfrm>
                  <a:off x="2103" y="955"/>
                  <a:ext cx="86" cy="85"/>
                </a:xfrm>
                <a:prstGeom prst="rect">
                  <a:avLst/>
                </a:prstGeom>
                <a:solidFill>
                  <a:srgbClr val="C0C0C0"/>
                </a:solidFill>
                <a:ln w="9525">
                  <a:noFill/>
                  <a:miter lim="800000"/>
                  <a:headEnd/>
                  <a:tailEnd/>
                </a:ln>
                <a:effectLst>
                  <a:outerShdw dist="17961" dir="2700000" algn="ctr" rotWithShape="0">
                    <a:srgbClr val="777777"/>
                  </a:outerShdw>
                </a:effectLst>
              </p:spPr>
              <p:txBody>
                <a:bodyPr wrap="none" anchor="ctr"/>
                <a:lstStyle/>
                <a:p>
                  <a:endParaRPr lang="fr-FR"/>
                </a:p>
              </p:txBody>
            </p:sp>
            <p:sp>
              <p:nvSpPr>
                <p:cNvPr id="14589" name="Rectangle 253"/>
                <p:cNvSpPr>
                  <a:spLocks noChangeArrowheads="1"/>
                </p:cNvSpPr>
                <p:nvPr/>
              </p:nvSpPr>
              <p:spPr bwMode="auto">
                <a:xfrm>
                  <a:off x="2008" y="955"/>
                  <a:ext cx="86" cy="85"/>
                </a:xfrm>
                <a:prstGeom prst="rect">
                  <a:avLst/>
                </a:prstGeom>
                <a:solidFill>
                  <a:srgbClr val="C0C0C0"/>
                </a:solidFill>
                <a:ln w="9525">
                  <a:noFill/>
                  <a:miter lim="800000"/>
                  <a:headEnd/>
                  <a:tailEnd/>
                </a:ln>
                <a:effectLst>
                  <a:outerShdw dist="17961" dir="2700000" algn="ctr" rotWithShape="0">
                    <a:srgbClr val="777777"/>
                  </a:outerShdw>
                </a:effectLst>
              </p:spPr>
              <p:txBody>
                <a:bodyPr wrap="none" anchor="ctr"/>
                <a:lstStyle/>
                <a:p>
                  <a:endParaRPr lang="fr-FR"/>
                </a:p>
              </p:txBody>
            </p:sp>
            <p:sp>
              <p:nvSpPr>
                <p:cNvPr id="14590" name="Rectangle 254"/>
                <p:cNvSpPr>
                  <a:spLocks noChangeArrowheads="1"/>
                </p:cNvSpPr>
                <p:nvPr/>
              </p:nvSpPr>
              <p:spPr bwMode="auto">
                <a:xfrm>
                  <a:off x="1914" y="955"/>
                  <a:ext cx="86" cy="85"/>
                </a:xfrm>
                <a:prstGeom prst="rect">
                  <a:avLst/>
                </a:prstGeom>
                <a:solidFill>
                  <a:srgbClr val="C0C0C0"/>
                </a:solidFill>
                <a:ln w="9525">
                  <a:noFill/>
                  <a:miter lim="800000"/>
                  <a:headEnd/>
                  <a:tailEnd/>
                </a:ln>
                <a:effectLst>
                  <a:outerShdw dist="17961" dir="2700000" algn="ctr" rotWithShape="0">
                    <a:srgbClr val="777777"/>
                  </a:outerShdw>
                </a:effectLst>
              </p:spPr>
              <p:txBody>
                <a:bodyPr wrap="none" anchor="ctr"/>
                <a:lstStyle/>
                <a:p>
                  <a:endParaRPr lang="fr-FR"/>
                </a:p>
              </p:txBody>
            </p:sp>
            <p:sp>
              <p:nvSpPr>
                <p:cNvPr id="14591" name="Line 255"/>
                <p:cNvSpPr>
                  <a:spLocks noChangeShapeType="1"/>
                </p:cNvSpPr>
                <p:nvPr/>
              </p:nvSpPr>
              <p:spPr bwMode="auto">
                <a:xfrm>
                  <a:off x="1113" y="1310"/>
                  <a:ext cx="347" cy="0"/>
                </a:xfrm>
                <a:prstGeom prst="line">
                  <a:avLst/>
                </a:prstGeom>
                <a:noFill/>
                <a:ln w="9525">
                  <a:solidFill>
                    <a:schemeClr val="tx1"/>
                  </a:solidFill>
                  <a:round/>
                  <a:headEnd/>
                  <a:tailEnd/>
                </a:ln>
                <a:effectLst/>
              </p:spPr>
              <p:txBody>
                <a:bodyPr/>
                <a:lstStyle/>
                <a:p>
                  <a:endParaRPr lang="fr-FR"/>
                </a:p>
              </p:txBody>
            </p:sp>
            <p:sp>
              <p:nvSpPr>
                <p:cNvPr id="14592" name="Line 256"/>
                <p:cNvSpPr>
                  <a:spLocks noChangeShapeType="1"/>
                </p:cNvSpPr>
                <p:nvPr/>
              </p:nvSpPr>
              <p:spPr bwMode="auto">
                <a:xfrm>
                  <a:off x="1113" y="1390"/>
                  <a:ext cx="710" cy="0"/>
                </a:xfrm>
                <a:prstGeom prst="line">
                  <a:avLst/>
                </a:prstGeom>
                <a:noFill/>
                <a:ln w="9525">
                  <a:solidFill>
                    <a:schemeClr val="tx1"/>
                  </a:solidFill>
                  <a:round/>
                  <a:headEnd/>
                  <a:tailEnd/>
                </a:ln>
                <a:effectLst/>
              </p:spPr>
              <p:txBody>
                <a:bodyPr/>
                <a:lstStyle/>
                <a:p>
                  <a:endParaRPr lang="fr-FR"/>
                </a:p>
              </p:txBody>
            </p:sp>
            <p:sp>
              <p:nvSpPr>
                <p:cNvPr id="14593" name="Line 257"/>
                <p:cNvSpPr>
                  <a:spLocks noChangeShapeType="1"/>
                </p:cNvSpPr>
                <p:nvPr/>
              </p:nvSpPr>
              <p:spPr bwMode="auto">
                <a:xfrm>
                  <a:off x="1113" y="1470"/>
                  <a:ext cx="765" cy="0"/>
                </a:xfrm>
                <a:prstGeom prst="line">
                  <a:avLst/>
                </a:prstGeom>
                <a:noFill/>
                <a:ln w="9525">
                  <a:solidFill>
                    <a:schemeClr val="tx1"/>
                  </a:solidFill>
                  <a:round/>
                  <a:headEnd/>
                  <a:tailEnd/>
                </a:ln>
                <a:effectLst/>
              </p:spPr>
              <p:txBody>
                <a:bodyPr/>
                <a:lstStyle/>
                <a:p>
                  <a:endParaRPr lang="fr-FR"/>
                </a:p>
              </p:txBody>
            </p:sp>
            <p:sp>
              <p:nvSpPr>
                <p:cNvPr id="14594" name="Line 258"/>
                <p:cNvSpPr>
                  <a:spLocks noChangeShapeType="1"/>
                </p:cNvSpPr>
                <p:nvPr/>
              </p:nvSpPr>
              <p:spPr bwMode="auto">
                <a:xfrm>
                  <a:off x="1113" y="1550"/>
                  <a:ext cx="717" cy="0"/>
                </a:xfrm>
                <a:prstGeom prst="line">
                  <a:avLst/>
                </a:prstGeom>
                <a:noFill/>
                <a:ln w="9525">
                  <a:solidFill>
                    <a:schemeClr val="tx1"/>
                  </a:solidFill>
                  <a:round/>
                  <a:headEnd/>
                  <a:tailEnd/>
                </a:ln>
                <a:effectLst/>
              </p:spPr>
              <p:txBody>
                <a:bodyPr/>
                <a:lstStyle/>
                <a:p>
                  <a:endParaRPr lang="fr-FR"/>
                </a:p>
              </p:txBody>
            </p:sp>
            <p:sp>
              <p:nvSpPr>
                <p:cNvPr id="14595" name="Line 259"/>
                <p:cNvSpPr>
                  <a:spLocks noChangeShapeType="1"/>
                </p:cNvSpPr>
                <p:nvPr/>
              </p:nvSpPr>
              <p:spPr bwMode="auto">
                <a:xfrm>
                  <a:off x="1113" y="1630"/>
                  <a:ext cx="788" cy="0"/>
                </a:xfrm>
                <a:prstGeom prst="line">
                  <a:avLst/>
                </a:prstGeom>
                <a:noFill/>
                <a:ln w="9525">
                  <a:solidFill>
                    <a:schemeClr val="tx1"/>
                  </a:solidFill>
                  <a:round/>
                  <a:headEnd/>
                  <a:tailEnd/>
                </a:ln>
                <a:effectLst/>
              </p:spPr>
              <p:txBody>
                <a:bodyPr/>
                <a:lstStyle/>
                <a:p>
                  <a:endParaRPr lang="fr-FR"/>
                </a:p>
              </p:txBody>
            </p:sp>
            <p:sp>
              <p:nvSpPr>
                <p:cNvPr id="14596" name="Line 260"/>
                <p:cNvSpPr>
                  <a:spLocks noChangeShapeType="1"/>
                </p:cNvSpPr>
                <p:nvPr/>
              </p:nvSpPr>
              <p:spPr bwMode="auto">
                <a:xfrm>
                  <a:off x="1113" y="1710"/>
                  <a:ext cx="710" cy="0"/>
                </a:xfrm>
                <a:prstGeom prst="line">
                  <a:avLst/>
                </a:prstGeom>
                <a:noFill/>
                <a:ln w="9525">
                  <a:solidFill>
                    <a:schemeClr val="tx1"/>
                  </a:solidFill>
                  <a:round/>
                  <a:headEnd/>
                  <a:tailEnd/>
                </a:ln>
                <a:effectLst/>
              </p:spPr>
              <p:txBody>
                <a:bodyPr/>
                <a:lstStyle/>
                <a:p>
                  <a:endParaRPr lang="fr-FR"/>
                </a:p>
              </p:txBody>
            </p:sp>
            <p:sp>
              <p:nvSpPr>
                <p:cNvPr id="14597" name="Line 261"/>
                <p:cNvSpPr>
                  <a:spLocks noChangeShapeType="1"/>
                </p:cNvSpPr>
                <p:nvPr/>
              </p:nvSpPr>
              <p:spPr bwMode="auto">
                <a:xfrm>
                  <a:off x="1113" y="1790"/>
                  <a:ext cx="765" cy="0"/>
                </a:xfrm>
                <a:prstGeom prst="line">
                  <a:avLst/>
                </a:prstGeom>
                <a:noFill/>
                <a:ln w="9525">
                  <a:solidFill>
                    <a:schemeClr val="tx1"/>
                  </a:solidFill>
                  <a:round/>
                  <a:headEnd/>
                  <a:tailEnd/>
                </a:ln>
                <a:effectLst/>
              </p:spPr>
              <p:txBody>
                <a:bodyPr/>
                <a:lstStyle/>
                <a:p>
                  <a:endParaRPr lang="fr-FR"/>
                </a:p>
              </p:txBody>
            </p:sp>
            <p:sp>
              <p:nvSpPr>
                <p:cNvPr id="14598" name="Line 262"/>
                <p:cNvSpPr>
                  <a:spLocks noChangeShapeType="1"/>
                </p:cNvSpPr>
                <p:nvPr/>
              </p:nvSpPr>
              <p:spPr bwMode="auto">
                <a:xfrm>
                  <a:off x="1113" y="1870"/>
                  <a:ext cx="717" cy="0"/>
                </a:xfrm>
                <a:prstGeom prst="line">
                  <a:avLst/>
                </a:prstGeom>
                <a:noFill/>
                <a:ln w="9525">
                  <a:solidFill>
                    <a:schemeClr val="tx1"/>
                  </a:solidFill>
                  <a:round/>
                  <a:headEnd/>
                  <a:tailEnd/>
                </a:ln>
                <a:effectLst/>
              </p:spPr>
              <p:txBody>
                <a:bodyPr/>
                <a:lstStyle/>
                <a:p>
                  <a:endParaRPr lang="fr-FR"/>
                </a:p>
              </p:txBody>
            </p:sp>
            <p:sp>
              <p:nvSpPr>
                <p:cNvPr id="14599" name="Line 263"/>
                <p:cNvSpPr>
                  <a:spLocks noChangeShapeType="1"/>
                </p:cNvSpPr>
                <p:nvPr/>
              </p:nvSpPr>
              <p:spPr bwMode="auto">
                <a:xfrm>
                  <a:off x="1113" y="1950"/>
                  <a:ext cx="788" cy="0"/>
                </a:xfrm>
                <a:prstGeom prst="line">
                  <a:avLst/>
                </a:prstGeom>
                <a:noFill/>
                <a:ln w="9525">
                  <a:solidFill>
                    <a:schemeClr val="tx1"/>
                  </a:solidFill>
                  <a:round/>
                  <a:headEnd/>
                  <a:tailEnd/>
                </a:ln>
                <a:effectLst/>
              </p:spPr>
              <p:txBody>
                <a:bodyPr/>
                <a:lstStyle/>
                <a:p>
                  <a:endParaRPr lang="fr-FR"/>
                </a:p>
              </p:txBody>
            </p:sp>
          </p:grpSp>
          <p:pic>
            <p:nvPicPr>
              <p:cNvPr id="14600" name="Picture 264" descr="Word2000icon"/>
              <p:cNvPicPr>
                <a:picLocks noChangeAspect="1" noChangeArrowheads="1"/>
              </p:cNvPicPr>
              <p:nvPr/>
            </p:nvPicPr>
            <p:blipFill>
              <a:blip r:embed="rId3"/>
              <a:srcRect/>
              <a:stretch>
                <a:fillRect/>
              </a:stretch>
            </p:blipFill>
            <p:spPr bwMode="auto">
              <a:xfrm>
                <a:off x="848" y="926"/>
                <a:ext cx="154" cy="154"/>
              </a:xfrm>
              <a:prstGeom prst="rect">
                <a:avLst/>
              </a:prstGeom>
              <a:noFill/>
            </p:spPr>
          </p:pic>
        </p:grpSp>
        <p:sp>
          <p:nvSpPr>
            <p:cNvPr id="14601" name="AutoShape 265"/>
            <p:cNvSpPr>
              <a:spLocks noChangeArrowheads="1"/>
            </p:cNvSpPr>
            <p:nvPr/>
          </p:nvSpPr>
          <p:spPr bwMode="auto">
            <a:xfrm>
              <a:off x="1430" y="884"/>
              <a:ext cx="600" cy="1194"/>
            </a:xfrm>
            <a:prstGeom prst="lightningBolt">
              <a:avLst/>
            </a:prstGeom>
            <a:solidFill>
              <a:srgbClr val="FF0000"/>
            </a:solidFill>
            <a:ln w="9525">
              <a:noFill/>
              <a:miter lim="800000"/>
              <a:headEnd/>
              <a:tailEnd/>
            </a:ln>
            <a:effectLst/>
          </p:spPr>
          <p:txBody>
            <a:bodyPr wrap="none" anchor="ctr"/>
            <a:lstStyle/>
            <a:p>
              <a:endParaRPr lang="fr-FR"/>
            </a:p>
          </p:txBody>
        </p:sp>
        <p:sp>
          <p:nvSpPr>
            <p:cNvPr id="14602" name="AutoShape 266"/>
            <p:cNvSpPr>
              <a:spLocks noChangeArrowheads="1"/>
            </p:cNvSpPr>
            <p:nvPr/>
          </p:nvSpPr>
          <p:spPr bwMode="auto">
            <a:xfrm flipH="1">
              <a:off x="1847" y="1310"/>
              <a:ext cx="789" cy="441"/>
            </a:xfrm>
            <a:prstGeom prst="homePlate">
              <a:avLst>
                <a:gd name="adj" fmla="val 44728"/>
              </a:avLst>
            </a:prstGeom>
            <a:solidFill>
              <a:srgbClr val="FF0000"/>
            </a:solidFill>
            <a:ln w="9525">
              <a:solidFill>
                <a:srgbClr val="333399"/>
              </a:solidFill>
              <a:miter lim="800000"/>
              <a:headEnd/>
              <a:tailEnd/>
            </a:ln>
            <a:effectLst>
              <a:outerShdw dist="35921" dir="2700000" algn="ctr" rotWithShape="0">
                <a:srgbClr val="B2B2B2"/>
              </a:outerShdw>
            </a:effectLst>
          </p:spPr>
          <p:txBody>
            <a:bodyPr wrap="none" anchor="ctr"/>
            <a:lstStyle/>
            <a:p>
              <a:pPr algn="ctr"/>
              <a:r>
                <a:rPr lang="en-US" sz="2200" b="1">
                  <a:solidFill>
                    <a:schemeClr val="bg1"/>
                  </a:solidFill>
                  <a:effectLst>
                    <a:outerShdw blurRad="38100" dist="38100" dir="2700000" algn="tl">
                      <a:srgbClr val="000000"/>
                    </a:outerShdw>
                  </a:effectLst>
                  <a:latin typeface="Arial" charset="0"/>
                </a:rPr>
                <a:t>Erreur</a:t>
              </a:r>
            </a:p>
          </p:txBody>
        </p:sp>
        <p:sp>
          <p:nvSpPr>
            <p:cNvPr id="14603" name="AutoShape 267"/>
            <p:cNvSpPr>
              <a:spLocks noChangeArrowheads="1"/>
            </p:cNvSpPr>
            <p:nvPr/>
          </p:nvSpPr>
          <p:spPr bwMode="auto">
            <a:xfrm>
              <a:off x="2888" y="1367"/>
              <a:ext cx="731" cy="404"/>
            </a:xfrm>
            <a:custGeom>
              <a:avLst/>
              <a:gdLst>
                <a:gd name="G0" fmla="+- 11931 0 0"/>
                <a:gd name="G1" fmla="+- 4947 0 0"/>
                <a:gd name="G2" fmla="+- 21600 0 4947"/>
                <a:gd name="G3" fmla="+- 10800 0 4947"/>
                <a:gd name="G4" fmla="+- 21600 0 11931"/>
                <a:gd name="G5" fmla="*/ G4 G3 10800"/>
                <a:gd name="G6" fmla="+- 21600 0 G5"/>
                <a:gd name="T0" fmla="*/ 11931 w 21600"/>
                <a:gd name="T1" fmla="*/ 0 h 21600"/>
                <a:gd name="T2" fmla="*/ 0 w 21600"/>
                <a:gd name="T3" fmla="*/ 10800 h 21600"/>
                <a:gd name="T4" fmla="*/ 11931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1931" y="0"/>
                  </a:moveTo>
                  <a:lnTo>
                    <a:pt x="11931" y="4947"/>
                  </a:lnTo>
                  <a:lnTo>
                    <a:pt x="3375" y="4947"/>
                  </a:lnTo>
                  <a:lnTo>
                    <a:pt x="3375" y="16653"/>
                  </a:lnTo>
                  <a:lnTo>
                    <a:pt x="11931" y="16653"/>
                  </a:lnTo>
                  <a:lnTo>
                    <a:pt x="11931" y="21600"/>
                  </a:lnTo>
                  <a:lnTo>
                    <a:pt x="21600" y="10800"/>
                  </a:lnTo>
                  <a:close/>
                </a:path>
                <a:path w="21600" h="21600">
                  <a:moveTo>
                    <a:pt x="1350" y="4947"/>
                  </a:moveTo>
                  <a:lnTo>
                    <a:pt x="1350" y="16653"/>
                  </a:lnTo>
                  <a:lnTo>
                    <a:pt x="2700" y="16653"/>
                  </a:lnTo>
                  <a:lnTo>
                    <a:pt x="2700" y="4947"/>
                  </a:lnTo>
                  <a:close/>
                </a:path>
                <a:path w="21600" h="21600">
                  <a:moveTo>
                    <a:pt x="0" y="4947"/>
                  </a:moveTo>
                  <a:lnTo>
                    <a:pt x="0" y="16653"/>
                  </a:lnTo>
                  <a:lnTo>
                    <a:pt x="675" y="16653"/>
                  </a:lnTo>
                  <a:lnTo>
                    <a:pt x="675" y="4947"/>
                  </a:lnTo>
                  <a:close/>
                </a:path>
              </a:pathLst>
            </a:cu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45791" dir="3378596" algn="ctr" rotWithShape="0">
                <a:srgbClr val="C0C0C0"/>
              </a:outerShdw>
            </a:effectLst>
          </p:spPr>
          <p:txBody>
            <a:bodyPr wrap="none" tIns="27432" bIns="27432" anchor="ctr"/>
            <a:lstStyle/>
            <a:p>
              <a:endParaRPr lang="fr-FR"/>
            </a:p>
          </p:txBody>
        </p:sp>
        <p:grpSp>
          <p:nvGrpSpPr>
            <p:cNvPr id="14604" name="Group 268"/>
            <p:cNvGrpSpPr>
              <a:grpSpLocks/>
            </p:cNvGrpSpPr>
            <p:nvPr/>
          </p:nvGrpSpPr>
          <p:grpSpPr bwMode="auto">
            <a:xfrm>
              <a:off x="4082" y="1354"/>
              <a:ext cx="364" cy="380"/>
              <a:chOff x="1809" y="2797"/>
              <a:chExt cx="364" cy="380"/>
            </a:xfrm>
          </p:grpSpPr>
          <p:sp>
            <p:nvSpPr>
              <p:cNvPr id="14605" name="Oval 269"/>
              <p:cNvSpPr>
                <a:spLocks noChangeArrowheads="1"/>
              </p:cNvSpPr>
              <p:nvPr/>
            </p:nvSpPr>
            <p:spPr bwMode="auto">
              <a:xfrm>
                <a:off x="1809" y="2797"/>
                <a:ext cx="364" cy="380"/>
              </a:xfrm>
              <a:prstGeom prst="ellipse">
                <a:avLst/>
              </a:prstGeom>
              <a:solidFill>
                <a:srgbClr val="FF0000"/>
              </a:solidFill>
              <a:ln w="9525">
                <a:solidFill>
                  <a:schemeClr val="tx1"/>
                </a:solidFill>
                <a:round/>
                <a:headEnd/>
                <a:tailEnd/>
              </a:ln>
              <a:effectLst>
                <a:outerShdw dist="35921" dir="2700000" algn="ctr" rotWithShape="0">
                  <a:srgbClr val="969696"/>
                </a:outerShdw>
              </a:effectLst>
            </p:spPr>
            <p:txBody>
              <a:bodyPr wrap="none" tIns="27432" bIns="27432" anchor="ctr">
                <a:spAutoFit/>
              </a:bodyPr>
              <a:lstStyle/>
              <a:p>
                <a:endParaRPr lang="fr-FR"/>
              </a:p>
            </p:txBody>
          </p:sp>
          <p:sp>
            <p:nvSpPr>
              <p:cNvPr id="14606" name="AutoShape 270"/>
              <p:cNvSpPr>
                <a:spLocks noChangeArrowheads="1"/>
              </p:cNvSpPr>
              <p:nvPr/>
            </p:nvSpPr>
            <p:spPr bwMode="auto">
              <a:xfrm rot="2700000">
                <a:off x="1874" y="2868"/>
                <a:ext cx="248" cy="237"/>
              </a:xfrm>
              <a:prstGeom prst="plus">
                <a:avLst>
                  <a:gd name="adj" fmla="val 40060"/>
                </a:avLst>
              </a:prstGeom>
              <a:solidFill>
                <a:schemeClr val="bg1"/>
              </a:solidFill>
              <a:ln w="9525">
                <a:noFill/>
                <a:miter lim="800000"/>
                <a:headEnd/>
                <a:tailEnd/>
              </a:ln>
              <a:effectLst/>
            </p:spPr>
            <p:txBody>
              <a:bodyPr wrap="none" tIns="27432" bIns="27432" anchor="ctr">
                <a:spAutoFit/>
              </a:bodyPr>
              <a:lstStyle/>
              <a:p>
                <a:endParaRPr lang="fr-F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4557">
                                            <p:txEl>
                                              <p:pRg st="0" end="0"/>
                                            </p:txEl>
                                          </p:spTgt>
                                        </p:tgtEl>
                                        <p:attrNameLst>
                                          <p:attrName>style.visibility</p:attrName>
                                        </p:attrNameLst>
                                      </p:cBhvr>
                                      <p:to>
                                        <p:strVal val="visible"/>
                                      </p:to>
                                    </p:set>
                                    <p:animEffect transition="in" filter="checkerboard(across)">
                                      <p:cBhvr>
                                        <p:cTn id="7" dur="1000"/>
                                        <p:tgtEl>
                                          <p:spTgt spid="145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557">
                                            <p:txEl>
                                              <p:pRg st="1" end="1"/>
                                            </p:txEl>
                                          </p:spTgt>
                                        </p:tgtEl>
                                        <p:attrNameLst>
                                          <p:attrName>style.visibility</p:attrName>
                                        </p:attrNameLst>
                                      </p:cBhvr>
                                      <p:to>
                                        <p:strVal val="visible"/>
                                      </p:to>
                                    </p:set>
                                    <p:animEffect transition="in" filter="checkerboard(across)">
                                      <p:cBhvr>
                                        <p:cTn id="12" dur="1000"/>
                                        <p:tgtEl>
                                          <p:spTgt spid="145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557">
                                            <p:txEl>
                                              <p:pRg st="2" end="2"/>
                                            </p:txEl>
                                          </p:spTgt>
                                        </p:tgtEl>
                                        <p:attrNameLst>
                                          <p:attrName>style.visibility</p:attrName>
                                        </p:attrNameLst>
                                      </p:cBhvr>
                                      <p:to>
                                        <p:strVal val="visible"/>
                                      </p:to>
                                    </p:set>
                                    <p:animEffect transition="in" filter="checkerboard(across)">
                                      <p:cBhvr>
                                        <p:cTn id="17" dur="1000"/>
                                        <p:tgtEl>
                                          <p:spTgt spid="1455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86171" y="339439"/>
            <a:ext cx="8772525" cy="758952"/>
          </a:xfrm>
        </p:spPr>
        <p:txBody>
          <a:bodyPr>
            <a:normAutofit fontScale="90000"/>
          </a:bodyPr>
          <a:lstStyle/>
          <a:p>
            <a:r>
              <a:rPr lang="fr-FR" dirty="0">
                <a:solidFill>
                  <a:srgbClr val="C00000"/>
                </a:solidFill>
              </a:rPr>
              <a:t>Types d'événements système et liés aux applications</a:t>
            </a:r>
            <a:endParaRPr lang="en-US" dirty="0">
              <a:solidFill>
                <a:srgbClr val="C00000"/>
              </a:solidFill>
            </a:endParaRPr>
          </a:p>
        </p:txBody>
      </p:sp>
      <p:sp>
        <p:nvSpPr>
          <p:cNvPr id="15364" name="Rectangle 4"/>
          <p:cNvSpPr>
            <a:spLocks noChangeArrowheads="1"/>
          </p:cNvSpPr>
          <p:nvPr/>
        </p:nvSpPr>
        <p:spPr bwMode="auto">
          <a:xfrm>
            <a:off x="1409700" y="1752600"/>
            <a:ext cx="6248400" cy="4419600"/>
          </a:xfrm>
          <a:prstGeom prst="rect">
            <a:avLst/>
          </a:prstGeom>
          <a:gradFill rotWithShape="0">
            <a:gsLst>
              <a:gs pos="0">
                <a:srgbClr val="FFCC66"/>
              </a:gs>
              <a:gs pos="100000">
                <a:srgbClr val="FCFEB9"/>
              </a:gs>
            </a:gsLst>
            <a:lin ang="5400000" scaled="1"/>
          </a:gradFill>
          <a:ln w="9525">
            <a:noFill/>
            <a:miter lim="800000"/>
            <a:headEnd/>
            <a:tailEnd/>
          </a:ln>
          <a:effectLst/>
        </p:spPr>
        <p:txBody>
          <a:bodyPr wrap="none" anchor="ctr"/>
          <a:lstStyle/>
          <a:p>
            <a:endParaRPr lang="fr-FR"/>
          </a:p>
        </p:txBody>
      </p:sp>
      <p:sp>
        <p:nvSpPr>
          <p:cNvPr id="15365" name="Rectangle 5"/>
          <p:cNvSpPr>
            <a:spLocks noChangeArrowheads="1"/>
          </p:cNvSpPr>
          <p:nvPr/>
        </p:nvSpPr>
        <p:spPr bwMode="auto">
          <a:xfrm>
            <a:off x="362857" y="1265238"/>
            <a:ext cx="8360229" cy="639762"/>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C0C0C0"/>
            </a:outerShdw>
          </a:effectLst>
        </p:spPr>
        <p:txBody>
          <a:bodyPr wrap="none" lIns="45720" rIns="45720" anchor="ctr"/>
          <a:lstStyle/>
          <a:p>
            <a:pPr algn="ctr"/>
            <a:r>
              <a:rPr lang="en-US" sz="2400" b="1">
                <a:solidFill>
                  <a:srgbClr val="FFFFFF"/>
                </a:solidFill>
                <a:effectLst>
                  <a:outerShdw blurRad="38100" dist="38100" dir="2700000" algn="tl">
                    <a:srgbClr val="000000"/>
                  </a:outerShdw>
                </a:effectLst>
                <a:latin typeface="Arial" charset="0"/>
              </a:rPr>
              <a:t>Types </a:t>
            </a:r>
            <a:r>
              <a:rPr lang="fr-FR" sz="2400" b="1">
                <a:solidFill>
                  <a:srgbClr val="FFFFFF"/>
                </a:solidFill>
                <a:effectLst>
                  <a:outerShdw blurRad="38100" dist="38100" dir="2700000" algn="tl">
                    <a:srgbClr val="000000"/>
                  </a:outerShdw>
                </a:effectLst>
                <a:latin typeface="Arial" charset="0"/>
              </a:rPr>
              <a:t>d'événements système et liés aux applications</a:t>
            </a:r>
            <a:endParaRPr lang="en-US" sz="2400" b="1">
              <a:solidFill>
                <a:srgbClr val="FFFFFF"/>
              </a:solidFill>
              <a:effectLst>
                <a:outerShdw blurRad="38100" dist="38100" dir="2700000" algn="tl">
                  <a:srgbClr val="000000"/>
                </a:outerShdw>
              </a:effectLst>
              <a:latin typeface="Arial" charset="0"/>
            </a:endParaRPr>
          </a:p>
        </p:txBody>
      </p:sp>
      <p:sp>
        <p:nvSpPr>
          <p:cNvPr id="15367" name="Rectangle 7"/>
          <p:cNvSpPr>
            <a:spLocks noChangeArrowheads="1"/>
          </p:cNvSpPr>
          <p:nvPr/>
        </p:nvSpPr>
        <p:spPr bwMode="auto">
          <a:xfrm>
            <a:off x="2514600" y="2379663"/>
            <a:ext cx="4038600" cy="762000"/>
          </a:xfrm>
          <a:prstGeom prst="rect">
            <a:avLst/>
          </a:prstGeom>
          <a:solidFill>
            <a:srgbClr val="FFFFFF"/>
          </a:solidFill>
          <a:ln w="9525">
            <a:solidFill>
              <a:schemeClr val="tx1"/>
            </a:solidFill>
            <a:miter lim="800000"/>
            <a:headEnd/>
            <a:tailEnd/>
          </a:ln>
          <a:effectLst>
            <a:outerShdw dist="71842" dir="2700000" algn="ctr" rotWithShape="0">
              <a:srgbClr val="C0C0C0"/>
            </a:outerShdw>
          </a:effectLst>
        </p:spPr>
        <p:txBody>
          <a:bodyPr wrap="none" lIns="334800" rIns="45720" anchor="ctr"/>
          <a:lstStyle/>
          <a:p>
            <a:pPr algn="ctr"/>
            <a:r>
              <a:rPr lang="en-US" sz="2400" b="1">
                <a:latin typeface="Arial" charset="0"/>
              </a:rPr>
              <a:t>Informations</a:t>
            </a:r>
          </a:p>
        </p:txBody>
      </p:sp>
      <p:grpSp>
        <p:nvGrpSpPr>
          <p:cNvPr id="15368" name="Group 8"/>
          <p:cNvGrpSpPr>
            <a:grpSpLocks/>
          </p:cNvGrpSpPr>
          <p:nvPr/>
        </p:nvGrpSpPr>
        <p:grpSpPr bwMode="auto">
          <a:xfrm>
            <a:off x="2706688" y="2430463"/>
            <a:ext cx="628650" cy="514350"/>
            <a:chOff x="1104" y="2345"/>
            <a:chExt cx="518" cy="429"/>
          </a:xfrm>
        </p:grpSpPr>
        <p:sp>
          <p:nvSpPr>
            <p:cNvPr id="15369" name="AutoShape 9"/>
            <p:cNvSpPr>
              <a:spLocks noChangeArrowheads="1"/>
            </p:cNvSpPr>
            <p:nvPr/>
          </p:nvSpPr>
          <p:spPr bwMode="auto">
            <a:xfrm>
              <a:off x="1104" y="2345"/>
              <a:ext cx="518" cy="429"/>
            </a:xfrm>
            <a:prstGeom prst="wedgeEllipseCallout">
              <a:avLst>
                <a:gd name="adj1" fmla="val 27606"/>
                <a:gd name="adj2" fmla="val 76106"/>
              </a:avLst>
            </a:prstGeom>
            <a:solidFill>
              <a:schemeClr val="bg1"/>
            </a:solidFill>
            <a:ln w="9525">
              <a:solidFill>
                <a:srgbClr val="333399"/>
              </a:solidFill>
              <a:miter lim="800000"/>
              <a:headEnd/>
              <a:tailEnd/>
            </a:ln>
            <a:effectLst>
              <a:outerShdw dist="53882" dir="2700000" algn="ctr" rotWithShape="0">
                <a:srgbClr val="969696"/>
              </a:outerShdw>
            </a:effectLst>
          </p:spPr>
          <p:txBody>
            <a:bodyPr wrap="none" tIns="27432" bIns="27432" anchor="ctr"/>
            <a:lstStyle/>
            <a:p>
              <a:pPr algn="ctr"/>
              <a:endParaRPr lang="fr-FR" sz="2400">
                <a:latin typeface="Arial" charset="0"/>
              </a:endParaRPr>
            </a:p>
          </p:txBody>
        </p:sp>
        <p:grpSp>
          <p:nvGrpSpPr>
            <p:cNvPr id="15370" name="Group 10"/>
            <p:cNvGrpSpPr>
              <a:grpSpLocks/>
            </p:cNvGrpSpPr>
            <p:nvPr/>
          </p:nvGrpSpPr>
          <p:grpSpPr bwMode="auto">
            <a:xfrm>
              <a:off x="1288" y="2391"/>
              <a:ext cx="143" cy="295"/>
              <a:chOff x="952" y="2631"/>
              <a:chExt cx="143" cy="295"/>
            </a:xfrm>
          </p:grpSpPr>
          <p:sp>
            <p:nvSpPr>
              <p:cNvPr id="15371" name="Freeform 11"/>
              <p:cNvSpPr>
                <a:spLocks/>
              </p:cNvSpPr>
              <p:nvPr/>
            </p:nvSpPr>
            <p:spPr bwMode="auto">
              <a:xfrm>
                <a:off x="952" y="2731"/>
                <a:ext cx="143" cy="195"/>
              </a:xfrm>
              <a:custGeom>
                <a:avLst/>
                <a:gdLst/>
                <a:ahLst/>
                <a:cxnLst>
                  <a:cxn ang="0">
                    <a:pos x="0" y="195"/>
                  </a:cxn>
                  <a:cxn ang="0">
                    <a:pos x="0" y="173"/>
                  </a:cxn>
                  <a:cxn ang="0">
                    <a:pos x="27" y="173"/>
                  </a:cxn>
                  <a:cxn ang="0">
                    <a:pos x="27" y="21"/>
                  </a:cxn>
                  <a:cxn ang="0">
                    <a:pos x="4" y="21"/>
                  </a:cxn>
                  <a:cxn ang="0">
                    <a:pos x="4" y="0"/>
                  </a:cxn>
                  <a:cxn ang="0">
                    <a:pos x="121" y="0"/>
                  </a:cxn>
                  <a:cxn ang="0">
                    <a:pos x="121" y="173"/>
                  </a:cxn>
                  <a:cxn ang="0">
                    <a:pos x="143" y="173"/>
                  </a:cxn>
                  <a:cxn ang="0">
                    <a:pos x="143" y="195"/>
                  </a:cxn>
                  <a:cxn ang="0">
                    <a:pos x="0" y="195"/>
                  </a:cxn>
                </a:cxnLst>
                <a:rect l="0" t="0" r="r" b="b"/>
                <a:pathLst>
                  <a:path w="143" h="195">
                    <a:moveTo>
                      <a:pt x="0" y="195"/>
                    </a:moveTo>
                    <a:lnTo>
                      <a:pt x="0" y="173"/>
                    </a:lnTo>
                    <a:lnTo>
                      <a:pt x="27" y="173"/>
                    </a:lnTo>
                    <a:lnTo>
                      <a:pt x="27" y="21"/>
                    </a:lnTo>
                    <a:lnTo>
                      <a:pt x="4" y="21"/>
                    </a:lnTo>
                    <a:lnTo>
                      <a:pt x="4" y="0"/>
                    </a:lnTo>
                    <a:lnTo>
                      <a:pt x="121" y="0"/>
                    </a:lnTo>
                    <a:lnTo>
                      <a:pt x="121" y="173"/>
                    </a:lnTo>
                    <a:lnTo>
                      <a:pt x="143" y="173"/>
                    </a:lnTo>
                    <a:lnTo>
                      <a:pt x="143" y="195"/>
                    </a:lnTo>
                    <a:lnTo>
                      <a:pt x="0" y="195"/>
                    </a:lnTo>
                    <a:close/>
                  </a:path>
                </a:pathLst>
              </a:custGeom>
              <a:solidFill>
                <a:srgbClr val="0000FF"/>
              </a:solidFill>
              <a:ln w="9525">
                <a:noFill/>
                <a:round/>
                <a:headEnd/>
                <a:tailEnd/>
              </a:ln>
            </p:spPr>
            <p:txBody>
              <a:bodyPr/>
              <a:lstStyle/>
              <a:p>
                <a:endParaRPr lang="fr-FR"/>
              </a:p>
            </p:txBody>
          </p:sp>
          <p:sp>
            <p:nvSpPr>
              <p:cNvPr id="15372" name="Freeform 12"/>
              <p:cNvSpPr>
                <a:spLocks/>
              </p:cNvSpPr>
              <p:nvPr/>
            </p:nvSpPr>
            <p:spPr bwMode="auto">
              <a:xfrm>
                <a:off x="970" y="2631"/>
                <a:ext cx="98" cy="74"/>
              </a:xfrm>
              <a:custGeom>
                <a:avLst/>
                <a:gdLst/>
                <a:ahLst/>
                <a:cxnLst>
                  <a:cxn ang="0">
                    <a:pos x="0" y="35"/>
                  </a:cxn>
                  <a:cxn ang="0">
                    <a:pos x="4" y="26"/>
                  </a:cxn>
                  <a:cxn ang="0">
                    <a:pos x="4" y="17"/>
                  </a:cxn>
                  <a:cxn ang="0">
                    <a:pos x="9" y="13"/>
                  </a:cxn>
                  <a:cxn ang="0">
                    <a:pos x="18" y="9"/>
                  </a:cxn>
                  <a:cxn ang="0">
                    <a:pos x="27" y="4"/>
                  </a:cxn>
                  <a:cxn ang="0">
                    <a:pos x="36" y="0"/>
                  </a:cxn>
                  <a:cxn ang="0">
                    <a:pos x="45" y="0"/>
                  </a:cxn>
                  <a:cxn ang="0">
                    <a:pos x="58" y="0"/>
                  </a:cxn>
                  <a:cxn ang="0">
                    <a:pos x="67" y="0"/>
                  </a:cxn>
                  <a:cxn ang="0">
                    <a:pos x="76" y="4"/>
                  </a:cxn>
                  <a:cxn ang="0">
                    <a:pos x="85" y="9"/>
                  </a:cxn>
                  <a:cxn ang="0">
                    <a:pos x="89" y="13"/>
                  </a:cxn>
                  <a:cxn ang="0">
                    <a:pos x="94" y="17"/>
                  </a:cxn>
                  <a:cxn ang="0">
                    <a:pos x="98" y="26"/>
                  </a:cxn>
                  <a:cxn ang="0">
                    <a:pos x="98" y="35"/>
                  </a:cxn>
                  <a:cxn ang="0">
                    <a:pos x="98" y="43"/>
                  </a:cxn>
                  <a:cxn ang="0">
                    <a:pos x="98" y="48"/>
                  </a:cxn>
                  <a:cxn ang="0">
                    <a:pos x="94" y="56"/>
                  </a:cxn>
                  <a:cxn ang="0">
                    <a:pos x="89" y="61"/>
                  </a:cxn>
                  <a:cxn ang="0">
                    <a:pos x="85" y="65"/>
                  </a:cxn>
                  <a:cxn ang="0">
                    <a:pos x="76" y="69"/>
                  </a:cxn>
                  <a:cxn ang="0">
                    <a:pos x="67" y="74"/>
                  </a:cxn>
                  <a:cxn ang="0">
                    <a:pos x="58" y="74"/>
                  </a:cxn>
                  <a:cxn ang="0">
                    <a:pos x="45" y="74"/>
                  </a:cxn>
                  <a:cxn ang="0">
                    <a:pos x="36" y="74"/>
                  </a:cxn>
                  <a:cxn ang="0">
                    <a:pos x="27" y="69"/>
                  </a:cxn>
                  <a:cxn ang="0">
                    <a:pos x="18" y="65"/>
                  </a:cxn>
                  <a:cxn ang="0">
                    <a:pos x="9" y="61"/>
                  </a:cxn>
                  <a:cxn ang="0">
                    <a:pos x="4" y="56"/>
                  </a:cxn>
                  <a:cxn ang="0">
                    <a:pos x="4" y="48"/>
                  </a:cxn>
                  <a:cxn ang="0">
                    <a:pos x="0" y="43"/>
                  </a:cxn>
                </a:cxnLst>
                <a:rect l="0" t="0" r="r" b="b"/>
                <a:pathLst>
                  <a:path w="98" h="74">
                    <a:moveTo>
                      <a:pt x="0" y="39"/>
                    </a:moveTo>
                    <a:lnTo>
                      <a:pt x="0" y="35"/>
                    </a:lnTo>
                    <a:lnTo>
                      <a:pt x="0" y="30"/>
                    </a:lnTo>
                    <a:lnTo>
                      <a:pt x="4" y="26"/>
                    </a:lnTo>
                    <a:lnTo>
                      <a:pt x="4" y="22"/>
                    </a:lnTo>
                    <a:lnTo>
                      <a:pt x="4" y="17"/>
                    </a:lnTo>
                    <a:lnTo>
                      <a:pt x="9" y="13"/>
                    </a:lnTo>
                    <a:lnTo>
                      <a:pt x="9" y="13"/>
                    </a:lnTo>
                    <a:lnTo>
                      <a:pt x="13" y="9"/>
                    </a:lnTo>
                    <a:lnTo>
                      <a:pt x="18" y="9"/>
                    </a:lnTo>
                    <a:lnTo>
                      <a:pt x="22" y="4"/>
                    </a:lnTo>
                    <a:lnTo>
                      <a:pt x="27" y="4"/>
                    </a:lnTo>
                    <a:lnTo>
                      <a:pt x="31" y="4"/>
                    </a:lnTo>
                    <a:lnTo>
                      <a:pt x="36" y="0"/>
                    </a:lnTo>
                    <a:lnTo>
                      <a:pt x="40" y="0"/>
                    </a:lnTo>
                    <a:lnTo>
                      <a:pt x="45" y="0"/>
                    </a:lnTo>
                    <a:lnTo>
                      <a:pt x="49" y="0"/>
                    </a:lnTo>
                    <a:lnTo>
                      <a:pt x="58" y="0"/>
                    </a:lnTo>
                    <a:lnTo>
                      <a:pt x="62" y="0"/>
                    </a:lnTo>
                    <a:lnTo>
                      <a:pt x="67" y="0"/>
                    </a:lnTo>
                    <a:lnTo>
                      <a:pt x="71" y="4"/>
                    </a:lnTo>
                    <a:lnTo>
                      <a:pt x="76" y="4"/>
                    </a:lnTo>
                    <a:lnTo>
                      <a:pt x="80" y="4"/>
                    </a:lnTo>
                    <a:lnTo>
                      <a:pt x="85" y="9"/>
                    </a:lnTo>
                    <a:lnTo>
                      <a:pt x="89" y="9"/>
                    </a:lnTo>
                    <a:lnTo>
                      <a:pt x="89" y="13"/>
                    </a:lnTo>
                    <a:lnTo>
                      <a:pt x="94" y="13"/>
                    </a:lnTo>
                    <a:lnTo>
                      <a:pt x="94" y="17"/>
                    </a:lnTo>
                    <a:lnTo>
                      <a:pt x="98" y="22"/>
                    </a:lnTo>
                    <a:lnTo>
                      <a:pt x="98" y="26"/>
                    </a:lnTo>
                    <a:lnTo>
                      <a:pt x="98" y="30"/>
                    </a:lnTo>
                    <a:lnTo>
                      <a:pt x="98" y="35"/>
                    </a:lnTo>
                    <a:lnTo>
                      <a:pt x="98" y="39"/>
                    </a:lnTo>
                    <a:lnTo>
                      <a:pt x="98" y="43"/>
                    </a:lnTo>
                    <a:lnTo>
                      <a:pt x="98" y="43"/>
                    </a:lnTo>
                    <a:lnTo>
                      <a:pt x="98" y="48"/>
                    </a:lnTo>
                    <a:lnTo>
                      <a:pt x="98" y="52"/>
                    </a:lnTo>
                    <a:lnTo>
                      <a:pt x="94" y="56"/>
                    </a:lnTo>
                    <a:lnTo>
                      <a:pt x="94" y="61"/>
                    </a:lnTo>
                    <a:lnTo>
                      <a:pt x="89" y="61"/>
                    </a:lnTo>
                    <a:lnTo>
                      <a:pt x="89" y="65"/>
                    </a:lnTo>
                    <a:lnTo>
                      <a:pt x="85" y="65"/>
                    </a:lnTo>
                    <a:lnTo>
                      <a:pt x="80" y="69"/>
                    </a:lnTo>
                    <a:lnTo>
                      <a:pt x="76" y="69"/>
                    </a:lnTo>
                    <a:lnTo>
                      <a:pt x="71" y="74"/>
                    </a:lnTo>
                    <a:lnTo>
                      <a:pt x="67" y="74"/>
                    </a:lnTo>
                    <a:lnTo>
                      <a:pt x="62" y="74"/>
                    </a:lnTo>
                    <a:lnTo>
                      <a:pt x="58" y="74"/>
                    </a:lnTo>
                    <a:lnTo>
                      <a:pt x="49" y="74"/>
                    </a:lnTo>
                    <a:lnTo>
                      <a:pt x="45" y="74"/>
                    </a:lnTo>
                    <a:lnTo>
                      <a:pt x="40" y="74"/>
                    </a:lnTo>
                    <a:lnTo>
                      <a:pt x="36" y="74"/>
                    </a:lnTo>
                    <a:lnTo>
                      <a:pt x="31" y="74"/>
                    </a:lnTo>
                    <a:lnTo>
                      <a:pt x="27" y="69"/>
                    </a:lnTo>
                    <a:lnTo>
                      <a:pt x="22" y="69"/>
                    </a:lnTo>
                    <a:lnTo>
                      <a:pt x="18" y="65"/>
                    </a:lnTo>
                    <a:lnTo>
                      <a:pt x="13" y="65"/>
                    </a:lnTo>
                    <a:lnTo>
                      <a:pt x="9" y="61"/>
                    </a:lnTo>
                    <a:lnTo>
                      <a:pt x="9" y="61"/>
                    </a:lnTo>
                    <a:lnTo>
                      <a:pt x="4" y="56"/>
                    </a:lnTo>
                    <a:lnTo>
                      <a:pt x="4" y="52"/>
                    </a:lnTo>
                    <a:lnTo>
                      <a:pt x="4" y="48"/>
                    </a:lnTo>
                    <a:lnTo>
                      <a:pt x="0" y="43"/>
                    </a:lnTo>
                    <a:lnTo>
                      <a:pt x="0" y="43"/>
                    </a:lnTo>
                    <a:lnTo>
                      <a:pt x="0" y="39"/>
                    </a:lnTo>
                    <a:close/>
                  </a:path>
                </a:pathLst>
              </a:custGeom>
              <a:solidFill>
                <a:srgbClr val="0000FF"/>
              </a:solidFill>
              <a:ln w="9525">
                <a:noFill/>
                <a:round/>
                <a:headEnd/>
                <a:tailEnd/>
              </a:ln>
            </p:spPr>
            <p:txBody>
              <a:bodyPr/>
              <a:lstStyle/>
              <a:p>
                <a:endParaRPr lang="fr-FR"/>
              </a:p>
            </p:txBody>
          </p:sp>
        </p:grpSp>
      </p:grpSp>
      <p:sp>
        <p:nvSpPr>
          <p:cNvPr id="15374" name="Rectangle 14"/>
          <p:cNvSpPr>
            <a:spLocks noChangeArrowheads="1"/>
          </p:cNvSpPr>
          <p:nvPr/>
        </p:nvSpPr>
        <p:spPr bwMode="auto">
          <a:xfrm>
            <a:off x="2514600" y="3370263"/>
            <a:ext cx="4038600" cy="762000"/>
          </a:xfrm>
          <a:prstGeom prst="rect">
            <a:avLst/>
          </a:prstGeom>
          <a:solidFill>
            <a:srgbClr val="FFFFFF"/>
          </a:solidFill>
          <a:ln w="9525">
            <a:solidFill>
              <a:schemeClr val="tx1"/>
            </a:solidFill>
            <a:miter lim="800000"/>
            <a:headEnd/>
            <a:tailEnd/>
          </a:ln>
          <a:effectLst>
            <a:outerShdw dist="71842" dir="2700000" algn="ctr" rotWithShape="0">
              <a:srgbClr val="C0C0C0"/>
            </a:outerShdw>
          </a:effectLst>
        </p:spPr>
        <p:txBody>
          <a:bodyPr wrap="none" lIns="370800" rIns="45720" anchor="ctr"/>
          <a:lstStyle/>
          <a:p>
            <a:pPr algn="ctr"/>
            <a:r>
              <a:rPr lang="en-US" sz="2400" b="1">
                <a:latin typeface="Arial" charset="0"/>
              </a:rPr>
              <a:t>Avertissement</a:t>
            </a:r>
          </a:p>
        </p:txBody>
      </p:sp>
      <p:grpSp>
        <p:nvGrpSpPr>
          <p:cNvPr id="15375" name="Group 15"/>
          <p:cNvGrpSpPr>
            <a:grpSpLocks/>
          </p:cNvGrpSpPr>
          <p:nvPr/>
        </p:nvGrpSpPr>
        <p:grpSpPr bwMode="auto">
          <a:xfrm>
            <a:off x="2749550" y="3441700"/>
            <a:ext cx="682625" cy="600075"/>
            <a:chOff x="824" y="2751"/>
            <a:chExt cx="495" cy="424"/>
          </a:xfrm>
        </p:grpSpPr>
        <p:sp>
          <p:nvSpPr>
            <p:cNvPr id="15376" name="Freeform 16"/>
            <p:cNvSpPr>
              <a:spLocks/>
            </p:cNvSpPr>
            <p:nvPr/>
          </p:nvSpPr>
          <p:spPr bwMode="auto">
            <a:xfrm>
              <a:off x="824" y="2751"/>
              <a:ext cx="495" cy="424"/>
            </a:xfrm>
            <a:custGeom>
              <a:avLst/>
              <a:gdLst/>
              <a:ahLst/>
              <a:cxnLst>
                <a:cxn ang="0">
                  <a:pos x="104" y="4"/>
                </a:cxn>
                <a:cxn ang="0">
                  <a:pos x="106" y="2"/>
                </a:cxn>
                <a:cxn ang="0">
                  <a:pos x="110" y="0"/>
                </a:cxn>
                <a:cxn ang="0">
                  <a:pos x="112" y="0"/>
                </a:cxn>
                <a:cxn ang="0">
                  <a:pos x="113" y="0"/>
                </a:cxn>
                <a:cxn ang="0">
                  <a:pos x="117" y="0"/>
                </a:cxn>
                <a:cxn ang="0">
                  <a:pos x="119" y="2"/>
                </a:cxn>
                <a:cxn ang="0">
                  <a:pos x="121" y="4"/>
                </a:cxn>
                <a:cxn ang="0">
                  <a:pos x="121" y="6"/>
                </a:cxn>
                <a:cxn ang="0">
                  <a:pos x="225" y="180"/>
                </a:cxn>
                <a:cxn ang="0">
                  <a:pos x="225" y="182"/>
                </a:cxn>
                <a:cxn ang="0">
                  <a:pos x="225" y="185"/>
                </a:cxn>
                <a:cxn ang="0">
                  <a:pos x="223" y="187"/>
                </a:cxn>
                <a:cxn ang="0">
                  <a:pos x="223" y="189"/>
                </a:cxn>
                <a:cxn ang="0">
                  <a:pos x="221" y="191"/>
                </a:cxn>
                <a:cxn ang="0">
                  <a:pos x="219" y="193"/>
                </a:cxn>
                <a:cxn ang="0">
                  <a:pos x="216" y="193"/>
                </a:cxn>
                <a:cxn ang="0">
                  <a:pos x="214" y="193"/>
                </a:cxn>
                <a:cxn ang="0">
                  <a:pos x="9" y="193"/>
                </a:cxn>
                <a:cxn ang="0">
                  <a:pos x="6" y="193"/>
                </a:cxn>
                <a:cxn ang="0">
                  <a:pos x="4" y="191"/>
                </a:cxn>
                <a:cxn ang="0">
                  <a:pos x="2" y="189"/>
                </a:cxn>
                <a:cxn ang="0">
                  <a:pos x="0" y="187"/>
                </a:cxn>
                <a:cxn ang="0">
                  <a:pos x="0" y="184"/>
                </a:cxn>
                <a:cxn ang="0">
                  <a:pos x="0" y="182"/>
                </a:cxn>
                <a:cxn ang="0">
                  <a:pos x="0" y="180"/>
                </a:cxn>
                <a:cxn ang="0">
                  <a:pos x="2" y="178"/>
                </a:cxn>
                <a:cxn ang="0">
                  <a:pos x="104" y="4"/>
                </a:cxn>
              </a:cxnLst>
              <a:rect l="0" t="0" r="r" b="b"/>
              <a:pathLst>
                <a:path w="225" h="193">
                  <a:moveTo>
                    <a:pt x="104" y="4"/>
                  </a:moveTo>
                  <a:lnTo>
                    <a:pt x="106" y="2"/>
                  </a:lnTo>
                  <a:lnTo>
                    <a:pt x="110" y="0"/>
                  </a:lnTo>
                  <a:lnTo>
                    <a:pt x="112" y="0"/>
                  </a:lnTo>
                  <a:lnTo>
                    <a:pt x="113" y="0"/>
                  </a:lnTo>
                  <a:lnTo>
                    <a:pt x="117" y="0"/>
                  </a:lnTo>
                  <a:lnTo>
                    <a:pt x="119" y="2"/>
                  </a:lnTo>
                  <a:lnTo>
                    <a:pt x="121" y="4"/>
                  </a:lnTo>
                  <a:lnTo>
                    <a:pt x="121" y="6"/>
                  </a:lnTo>
                  <a:lnTo>
                    <a:pt x="225" y="180"/>
                  </a:lnTo>
                  <a:lnTo>
                    <a:pt x="225" y="182"/>
                  </a:lnTo>
                  <a:lnTo>
                    <a:pt x="225" y="185"/>
                  </a:lnTo>
                  <a:lnTo>
                    <a:pt x="223" y="187"/>
                  </a:lnTo>
                  <a:lnTo>
                    <a:pt x="223" y="189"/>
                  </a:lnTo>
                  <a:lnTo>
                    <a:pt x="221" y="191"/>
                  </a:lnTo>
                  <a:lnTo>
                    <a:pt x="219" y="193"/>
                  </a:lnTo>
                  <a:lnTo>
                    <a:pt x="216" y="193"/>
                  </a:lnTo>
                  <a:lnTo>
                    <a:pt x="214" y="193"/>
                  </a:lnTo>
                  <a:lnTo>
                    <a:pt x="9" y="193"/>
                  </a:lnTo>
                  <a:lnTo>
                    <a:pt x="6" y="193"/>
                  </a:lnTo>
                  <a:lnTo>
                    <a:pt x="4" y="191"/>
                  </a:lnTo>
                  <a:lnTo>
                    <a:pt x="2" y="189"/>
                  </a:lnTo>
                  <a:lnTo>
                    <a:pt x="0" y="187"/>
                  </a:lnTo>
                  <a:lnTo>
                    <a:pt x="0" y="184"/>
                  </a:lnTo>
                  <a:lnTo>
                    <a:pt x="0" y="182"/>
                  </a:lnTo>
                  <a:lnTo>
                    <a:pt x="0" y="180"/>
                  </a:lnTo>
                  <a:lnTo>
                    <a:pt x="2" y="178"/>
                  </a:lnTo>
                  <a:lnTo>
                    <a:pt x="104" y="4"/>
                  </a:lnTo>
                  <a:close/>
                </a:path>
              </a:pathLst>
            </a:custGeom>
            <a:solidFill>
              <a:srgbClr val="FFFF00"/>
            </a:solidFill>
            <a:ln w="9525">
              <a:solidFill>
                <a:srgbClr val="333333"/>
              </a:solidFill>
              <a:round/>
              <a:headEnd/>
              <a:tailEnd/>
            </a:ln>
            <a:effectLst>
              <a:outerShdw dist="45791" dir="2021404" algn="ctr" rotWithShape="0">
                <a:srgbClr val="969696"/>
              </a:outerShdw>
            </a:effectLst>
          </p:spPr>
          <p:txBody>
            <a:bodyPr/>
            <a:lstStyle/>
            <a:p>
              <a:endParaRPr lang="fr-FR"/>
            </a:p>
          </p:txBody>
        </p:sp>
        <p:grpSp>
          <p:nvGrpSpPr>
            <p:cNvPr id="15377" name="Group 17"/>
            <p:cNvGrpSpPr>
              <a:grpSpLocks/>
            </p:cNvGrpSpPr>
            <p:nvPr/>
          </p:nvGrpSpPr>
          <p:grpSpPr bwMode="auto">
            <a:xfrm>
              <a:off x="1025" y="2825"/>
              <a:ext cx="92" cy="313"/>
              <a:chOff x="1020" y="2786"/>
              <a:chExt cx="104" cy="352"/>
            </a:xfrm>
          </p:grpSpPr>
          <p:sp>
            <p:nvSpPr>
              <p:cNvPr id="15378" name="Freeform 18"/>
              <p:cNvSpPr>
                <a:spLocks/>
              </p:cNvSpPr>
              <p:nvPr/>
            </p:nvSpPr>
            <p:spPr bwMode="auto">
              <a:xfrm>
                <a:off x="1020" y="2786"/>
                <a:ext cx="104" cy="233"/>
              </a:xfrm>
              <a:custGeom>
                <a:avLst/>
                <a:gdLst/>
                <a:ahLst/>
                <a:cxnLst>
                  <a:cxn ang="0">
                    <a:pos x="31" y="233"/>
                  </a:cxn>
                  <a:cxn ang="0">
                    <a:pos x="0" y="36"/>
                  </a:cxn>
                  <a:cxn ang="0">
                    <a:pos x="0" y="36"/>
                  </a:cxn>
                  <a:cxn ang="0">
                    <a:pos x="0" y="31"/>
                  </a:cxn>
                  <a:cxn ang="0">
                    <a:pos x="0" y="26"/>
                  </a:cxn>
                  <a:cxn ang="0">
                    <a:pos x="0" y="26"/>
                  </a:cxn>
                  <a:cxn ang="0">
                    <a:pos x="6" y="21"/>
                  </a:cxn>
                  <a:cxn ang="0">
                    <a:pos x="6" y="15"/>
                  </a:cxn>
                  <a:cxn ang="0">
                    <a:pos x="11" y="15"/>
                  </a:cxn>
                  <a:cxn ang="0">
                    <a:pos x="11" y="10"/>
                  </a:cxn>
                  <a:cxn ang="0">
                    <a:pos x="16" y="10"/>
                  </a:cxn>
                  <a:cxn ang="0">
                    <a:pos x="21" y="5"/>
                  </a:cxn>
                  <a:cxn ang="0">
                    <a:pos x="26" y="5"/>
                  </a:cxn>
                  <a:cxn ang="0">
                    <a:pos x="31" y="5"/>
                  </a:cxn>
                  <a:cxn ang="0">
                    <a:pos x="37" y="5"/>
                  </a:cxn>
                  <a:cxn ang="0">
                    <a:pos x="42" y="0"/>
                  </a:cxn>
                  <a:cxn ang="0">
                    <a:pos x="47" y="0"/>
                  </a:cxn>
                  <a:cxn ang="0">
                    <a:pos x="52" y="0"/>
                  </a:cxn>
                  <a:cxn ang="0">
                    <a:pos x="57" y="0"/>
                  </a:cxn>
                  <a:cxn ang="0">
                    <a:pos x="62" y="0"/>
                  </a:cxn>
                  <a:cxn ang="0">
                    <a:pos x="68" y="5"/>
                  </a:cxn>
                  <a:cxn ang="0">
                    <a:pos x="73" y="5"/>
                  </a:cxn>
                  <a:cxn ang="0">
                    <a:pos x="78" y="5"/>
                  </a:cxn>
                  <a:cxn ang="0">
                    <a:pos x="83" y="10"/>
                  </a:cxn>
                  <a:cxn ang="0">
                    <a:pos x="83" y="10"/>
                  </a:cxn>
                  <a:cxn ang="0">
                    <a:pos x="88" y="15"/>
                  </a:cxn>
                  <a:cxn ang="0">
                    <a:pos x="93" y="15"/>
                  </a:cxn>
                  <a:cxn ang="0">
                    <a:pos x="93" y="21"/>
                  </a:cxn>
                  <a:cxn ang="0">
                    <a:pos x="99" y="21"/>
                  </a:cxn>
                  <a:cxn ang="0">
                    <a:pos x="99" y="26"/>
                  </a:cxn>
                  <a:cxn ang="0">
                    <a:pos x="99" y="31"/>
                  </a:cxn>
                  <a:cxn ang="0">
                    <a:pos x="99" y="31"/>
                  </a:cxn>
                  <a:cxn ang="0">
                    <a:pos x="104" y="36"/>
                  </a:cxn>
                  <a:cxn ang="0">
                    <a:pos x="104" y="41"/>
                  </a:cxn>
                  <a:cxn ang="0">
                    <a:pos x="73" y="233"/>
                  </a:cxn>
                  <a:cxn ang="0">
                    <a:pos x="31" y="233"/>
                  </a:cxn>
                </a:cxnLst>
                <a:rect l="0" t="0" r="r" b="b"/>
                <a:pathLst>
                  <a:path w="104" h="233">
                    <a:moveTo>
                      <a:pt x="31" y="233"/>
                    </a:moveTo>
                    <a:lnTo>
                      <a:pt x="0" y="36"/>
                    </a:lnTo>
                    <a:lnTo>
                      <a:pt x="0" y="36"/>
                    </a:lnTo>
                    <a:lnTo>
                      <a:pt x="0" y="31"/>
                    </a:lnTo>
                    <a:lnTo>
                      <a:pt x="0" y="26"/>
                    </a:lnTo>
                    <a:lnTo>
                      <a:pt x="0" y="26"/>
                    </a:lnTo>
                    <a:lnTo>
                      <a:pt x="6" y="21"/>
                    </a:lnTo>
                    <a:lnTo>
                      <a:pt x="6" y="15"/>
                    </a:lnTo>
                    <a:lnTo>
                      <a:pt x="11" y="15"/>
                    </a:lnTo>
                    <a:lnTo>
                      <a:pt x="11" y="10"/>
                    </a:lnTo>
                    <a:lnTo>
                      <a:pt x="16" y="10"/>
                    </a:lnTo>
                    <a:lnTo>
                      <a:pt x="21" y="5"/>
                    </a:lnTo>
                    <a:lnTo>
                      <a:pt x="26" y="5"/>
                    </a:lnTo>
                    <a:lnTo>
                      <a:pt x="31" y="5"/>
                    </a:lnTo>
                    <a:lnTo>
                      <a:pt x="37" y="5"/>
                    </a:lnTo>
                    <a:lnTo>
                      <a:pt x="42" y="0"/>
                    </a:lnTo>
                    <a:lnTo>
                      <a:pt x="47" y="0"/>
                    </a:lnTo>
                    <a:lnTo>
                      <a:pt x="52" y="0"/>
                    </a:lnTo>
                    <a:lnTo>
                      <a:pt x="57" y="0"/>
                    </a:lnTo>
                    <a:lnTo>
                      <a:pt x="62" y="0"/>
                    </a:lnTo>
                    <a:lnTo>
                      <a:pt x="68" y="5"/>
                    </a:lnTo>
                    <a:lnTo>
                      <a:pt x="73" y="5"/>
                    </a:lnTo>
                    <a:lnTo>
                      <a:pt x="78" y="5"/>
                    </a:lnTo>
                    <a:lnTo>
                      <a:pt x="83" y="10"/>
                    </a:lnTo>
                    <a:lnTo>
                      <a:pt x="83" y="10"/>
                    </a:lnTo>
                    <a:lnTo>
                      <a:pt x="88" y="15"/>
                    </a:lnTo>
                    <a:lnTo>
                      <a:pt x="93" y="15"/>
                    </a:lnTo>
                    <a:lnTo>
                      <a:pt x="93" y="21"/>
                    </a:lnTo>
                    <a:lnTo>
                      <a:pt x="99" y="21"/>
                    </a:lnTo>
                    <a:lnTo>
                      <a:pt x="99" y="26"/>
                    </a:lnTo>
                    <a:lnTo>
                      <a:pt x="99" y="31"/>
                    </a:lnTo>
                    <a:lnTo>
                      <a:pt x="99" y="31"/>
                    </a:lnTo>
                    <a:lnTo>
                      <a:pt x="104" y="36"/>
                    </a:lnTo>
                    <a:lnTo>
                      <a:pt x="104" y="41"/>
                    </a:lnTo>
                    <a:lnTo>
                      <a:pt x="73" y="233"/>
                    </a:lnTo>
                    <a:lnTo>
                      <a:pt x="31" y="233"/>
                    </a:lnTo>
                    <a:close/>
                  </a:path>
                </a:pathLst>
              </a:custGeom>
              <a:solidFill>
                <a:srgbClr val="000000"/>
              </a:solidFill>
              <a:ln w="9525">
                <a:noFill/>
                <a:round/>
                <a:headEnd/>
                <a:tailEnd/>
              </a:ln>
            </p:spPr>
            <p:txBody>
              <a:bodyPr/>
              <a:lstStyle/>
              <a:p>
                <a:endParaRPr lang="fr-FR"/>
              </a:p>
            </p:txBody>
          </p:sp>
          <p:sp>
            <p:nvSpPr>
              <p:cNvPr id="15379" name="Oval 19"/>
              <p:cNvSpPr>
                <a:spLocks noChangeArrowheads="1"/>
              </p:cNvSpPr>
              <p:nvPr/>
            </p:nvSpPr>
            <p:spPr bwMode="auto">
              <a:xfrm>
                <a:off x="1029" y="3048"/>
                <a:ext cx="90" cy="90"/>
              </a:xfrm>
              <a:prstGeom prst="ellipse">
                <a:avLst/>
              </a:prstGeom>
              <a:solidFill>
                <a:srgbClr val="000000"/>
              </a:solidFill>
              <a:ln w="9525">
                <a:noFill/>
                <a:round/>
                <a:headEnd/>
                <a:tailEnd/>
              </a:ln>
              <a:effectLst/>
            </p:spPr>
            <p:txBody>
              <a:bodyPr wrap="none" tIns="27432" bIns="27432" anchor="ctr">
                <a:spAutoFit/>
              </a:bodyPr>
              <a:lstStyle/>
              <a:p>
                <a:endParaRPr lang="fr-FR"/>
              </a:p>
            </p:txBody>
          </p:sp>
        </p:grpSp>
      </p:grpSp>
      <p:sp>
        <p:nvSpPr>
          <p:cNvPr id="15381" name="Rectangle 21"/>
          <p:cNvSpPr>
            <a:spLocks noChangeArrowheads="1"/>
          </p:cNvSpPr>
          <p:nvPr/>
        </p:nvSpPr>
        <p:spPr bwMode="auto">
          <a:xfrm>
            <a:off x="2514600" y="4360863"/>
            <a:ext cx="4038600" cy="762000"/>
          </a:xfrm>
          <a:prstGeom prst="rect">
            <a:avLst/>
          </a:prstGeom>
          <a:solidFill>
            <a:srgbClr val="FFFFFF"/>
          </a:solidFill>
          <a:ln w="9525">
            <a:solidFill>
              <a:schemeClr val="tx1"/>
            </a:solidFill>
            <a:miter lim="800000"/>
            <a:headEnd/>
            <a:tailEnd/>
          </a:ln>
          <a:effectLst>
            <a:outerShdw dist="71842" dir="2700000" algn="ctr" rotWithShape="0">
              <a:srgbClr val="C0C0C0"/>
            </a:outerShdw>
          </a:effectLst>
        </p:spPr>
        <p:txBody>
          <a:bodyPr wrap="none" lIns="298800" rIns="45720" anchor="ctr"/>
          <a:lstStyle/>
          <a:p>
            <a:pPr algn="ctr"/>
            <a:r>
              <a:rPr lang="en-US" sz="2400" b="1">
                <a:latin typeface="Arial" charset="0"/>
              </a:rPr>
              <a:t>Erreur</a:t>
            </a:r>
          </a:p>
        </p:txBody>
      </p:sp>
      <p:grpSp>
        <p:nvGrpSpPr>
          <p:cNvPr id="15382" name="Group 22"/>
          <p:cNvGrpSpPr>
            <a:grpSpLocks/>
          </p:cNvGrpSpPr>
          <p:nvPr/>
        </p:nvGrpSpPr>
        <p:grpSpPr bwMode="auto">
          <a:xfrm>
            <a:off x="2767013" y="4440238"/>
            <a:ext cx="577850" cy="603250"/>
            <a:chOff x="1028" y="1536"/>
            <a:chExt cx="288" cy="288"/>
          </a:xfrm>
        </p:grpSpPr>
        <p:sp>
          <p:nvSpPr>
            <p:cNvPr id="15383" name="Oval 23"/>
            <p:cNvSpPr>
              <a:spLocks noChangeArrowheads="1"/>
            </p:cNvSpPr>
            <p:nvPr/>
          </p:nvSpPr>
          <p:spPr bwMode="auto">
            <a:xfrm>
              <a:off x="1028" y="1536"/>
              <a:ext cx="288" cy="288"/>
            </a:xfrm>
            <a:prstGeom prst="ellipse">
              <a:avLst/>
            </a:prstGeom>
            <a:solidFill>
              <a:srgbClr val="FF0000"/>
            </a:solidFill>
            <a:ln w="9525">
              <a:solidFill>
                <a:schemeClr val="tx1"/>
              </a:solidFill>
              <a:round/>
              <a:headEnd/>
              <a:tailEnd/>
            </a:ln>
            <a:effectLst>
              <a:outerShdw dist="35921" dir="2700000" algn="ctr" rotWithShape="0">
                <a:srgbClr val="969696"/>
              </a:outerShdw>
            </a:effectLst>
          </p:spPr>
          <p:txBody>
            <a:bodyPr wrap="none" tIns="27432" bIns="27432" anchor="ctr">
              <a:spAutoFit/>
            </a:bodyPr>
            <a:lstStyle/>
            <a:p>
              <a:endParaRPr lang="fr-FR"/>
            </a:p>
          </p:txBody>
        </p:sp>
        <p:sp>
          <p:nvSpPr>
            <p:cNvPr id="15384" name="AutoShape 24"/>
            <p:cNvSpPr>
              <a:spLocks noChangeArrowheads="1"/>
            </p:cNvSpPr>
            <p:nvPr/>
          </p:nvSpPr>
          <p:spPr bwMode="auto">
            <a:xfrm rot="2700000">
              <a:off x="1083" y="1586"/>
              <a:ext cx="188" cy="188"/>
            </a:xfrm>
            <a:prstGeom prst="plus">
              <a:avLst>
                <a:gd name="adj" fmla="val 40060"/>
              </a:avLst>
            </a:prstGeom>
            <a:solidFill>
              <a:schemeClr val="bg1"/>
            </a:solidFill>
            <a:ln w="9525">
              <a:noFill/>
              <a:miter lim="800000"/>
              <a:headEnd/>
              <a:tailEnd/>
            </a:ln>
            <a:effectLst/>
          </p:spPr>
          <p:txBody>
            <a:bodyPr wrap="none" tIns="27432" bIns="27432" anchor="ctr">
              <a:spAutoFit/>
            </a:bodyPr>
            <a:lstStyle/>
            <a:p>
              <a:endParaRPr lang="fr-F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a:blip r:embed="rId2"/>
          <a:srcRect/>
          <a:stretch>
            <a:fillRect/>
          </a:stretch>
        </p:blipFill>
        <p:spPr bwMode="auto">
          <a:xfrm>
            <a:off x="346375" y="1271132"/>
            <a:ext cx="8326582" cy="5586868"/>
          </a:xfrm>
          <a:prstGeom prst="rect">
            <a:avLst/>
          </a:prstGeom>
          <a:noFill/>
          <a:ln w="9525">
            <a:noFill/>
            <a:miter lim="800000"/>
            <a:headEnd/>
            <a:tailEnd/>
          </a:ln>
          <a:effectLst/>
        </p:spPr>
      </p:pic>
      <p:sp>
        <p:nvSpPr>
          <p:cNvPr id="16447" name="Rectangle 63"/>
          <p:cNvSpPr>
            <a:spLocks noGrp="1" noChangeArrowheads="1"/>
          </p:cNvSpPr>
          <p:nvPr>
            <p:ph type="title"/>
          </p:nvPr>
        </p:nvSpPr>
        <p:spPr>
          <a:noFill/>
          <a:ln/>
        </p:spPr>
        <p:txBody>
          <a:bodyPr/>
          <a:lstStyle/>
          <a:p>
            <a:r>
              <a:rPr lang="fr-FR" b="1" dirty="0">
                <a:solidFill>
                  <a:srgbClr val="C00000"/>
                </a:solidFill>
              </a:rPr>
              <a:t>Affichage des journaux d'événements</a:t>
            </a:r>
            <a:endParaRPr lang="en-US" b="1" dirty="0">
              <a:solidFill>
                <a:srgbClr val="C00000"/>
              </a:solidFill>
            </a:endParaRPr>
          </a:p>
        </p:txBody>
      </p:sp>
      <p:pic>
        <p:nvPicPr>
          <p:cNvPr id="5125" name="Picture 5"/>
          <p:cNvPicPr>
            <a:picLocks noChangeAspect="1" noChangeArrowheads="1"/>
          </p:cNvPicPr>
          <p:nvPr/>
        </p:nvPicPr>
        <p:blipFill>
          <a:blip r:embed="rId3"/>
          <a:srcRect/>
          <a:stretch>
            <a:fillRect/>
          </a:stretch>
        </p:blipFill>
        <p:spPr bwMode="auto">
          <a:xfrm>
            <a:off x="3048000" y="2628900"/>
            <a:ext cx="6096000" cy="4229100"/>
          </a:xfrm>
          <a:prstGeom prst="rect">
            <a:avLst/>
          </a:prstGeom>
          <a:noFill/>
          <a:ln w="9525">
            <a:noFill/>
            <a:miter lim="800000"/>
            <a:headEnd/>
            <a:tailEnd/>
          </a:ln>
          <a:effectLst/>
        </p:spPr>
      </p:pic>
      <p:sp>
        <p:nvSpPr>
          <p:cNvPr id="16453" name="Freeform 69"/>
          <p:cNvSpPr>
            <a:spLocks/>
          </p:cNvSpPr>
          <p:nvPr/>
        </p:nvSpPr>
        <p:spPr bwMode="auto">
          <a:xfrm rot="2614118" flipH="1" flipV="1">
            <a:off x="2240685" y="3223349"/>
            <a:ext cx="1393825" cy="379412"/>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round/>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checkerboard(across)">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453"/>
                                        </p:tgtEl>
                                        <p:attrNameLst>
                                          <p:attrName>style.visibility</p:attrName>
                                        </p:attrNameLst>
                                      </p:cBhvr>
                                      <p:to>
                                        <p:strVal val="visible"/>
                                      </p:to>
                                    </p:set>
                                    <p:animEffect transition="in" filter="checkerboard(across)">
                                      <p:cBhvr>
                                        <p:cTn id="12" dur="500"/>
                                        <p:tgtEl>
                                          <p:spTgt spid="16453"/>
                                        </p:tgtEl>
                                      </p:cBhvr>
                                    </p:animEffect>
                                  </p:childTnLst>
                                </p:cTn>
                              </p:par>
                              <p:par>
                                <p:cTn id="13" presetID="5" presetClass="entr" presetSubtype="10" fill="hold" nodeType="withEffect">
                                  <p:stCondLst>
                                    <p:cond delay="0"/>
                                  </p:stCondLst>
                                  <p:childTnLst>
                                    <p:set>
                                      <p:cBhvr>
                                        <p:cTn id="14" dur="1" fill="hold">
                                          <p:stCondLst>
                                            <p:cond delay="0"/>
                                          </p:stCondLst>
                                        </p:cTn>
                                        <p:tgtEl>
                                          <p:spTgt spid="5125"/>
                                        </p:tgtEl>
                                        <p:attrNameLst>
                                          <p:attrName>style.visibility</p:attrName>
                                        </p:attrNameLst>
                                      </p:cBhvr>
                                      <p:to>
                                        <p:strVal val="visible"/>
                                      </p:to>
                                    </p:set>
                                    <p:animEffect transition="in" filter="checkerboard(across)">
                                      <p:cBhvr>
                                        <p:cTn id="15"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5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sz="quarter" idx="1"/>
          </p:nvPr>
        </p:nvPicPr>
        <p:blipFill>
          <a:blip r:embed="rId2"/>
          <a:srcRect/>
          <a:stretch>
            <a:fillRect/>
          </a:stretch>
        </p:blipFill>
        <p:spPr bwMode="auto">
          <a:xfrm>
            <a:off x="2588087" y="1173636"/>
            <a:ext cx="6403529" cy="5684363"/>
          </a:xfrm>
          <a:prstGeom prst="rect">
            <a:avLst/>
          </a:prstGeom>
          <a:noFill/>
          <a:ln w="9525">
            <a:noFill/>
            <a:miter lim="800000"/>
            <a:headEnd/>
            <a:tailEnd/>
          </a:ln>
          <a:effectLst/>
        </p:spPr>
      </p:pic>
      <p:sp>
        <p:nvSpPr>
          <p:cNvPr id="17452" name="Rectangle 44"/>
          <p:cNvSpPr>
            <a:spLocks noGrp="1" noChangeArrowheads="1"/>
          </p:cNvSpPr>
          <p:nvPr>
            <p:ph type="title"/>
          </p:nvPr>
        </p:nvSpPr>
        <p:spPr>
          <a:noFill/>
          <a:ln/>
        </p:spPr>
        <p:txBody>
          <a:bodyPr>
            <a:normAutofit fontScale="90000"/>
          </a:bodyPr>
          <a:lstStyle/>
          <a:p>
            <a:r>
              <a:rPr lang="fr-FR" dirty="0">
                <a:solidFill>
                  <a:srgbClr val="C00000"/>
                </a:solidFill>
              </a:rPr>
              <a:t>Limitation de la taille des fichiers journaux</a:t>
            </a:r>
            <a:endParaRPr lang="en-US" dirty="0">
              <a:solidFill>
                <a:srgbClr val="C00000"/>
              </a:solidFill>
            </a:endParaRPr>
          </a:p>
        </p:txBody>
      </p:sp>
      <p:sp>
        <p:nvSpPr>
          <p:cNvPr id="17457" name="Rectangle 49"/>
          <p:cNvSpPr>
            <a:spLocks noChangeArrowheads="1"/>
          </p:cNvSpPr>
          <p:nvPr/>
        </p:nvSpPr>
        <p:spPr bwMode="auto">
          <a:xfrm>
            <a:off x="2717063" y="4282363"/>
            <a:ext cx="5166173" cy="1277937"/>
          </a:xfrm>
          <a:prstGeom prst="rect">
            <a:avLst/>
          </a:prstGeom>
          <a:noFill/>
          <a:ln w="50800">
            <a:solidFill>
              <a:srgbClr val="C60076"/>
            </a:solidFill>
            <a:miter lim="800000"/>
            <a:headEnd/>
            <a:tailEnd/>
          </a:ln>
          <a:effectLst>
            <a:outerShdw dist="35921" dir="2700000" algn="ctr" rotWithShape="0">
              <a:srgbClr val="FFFFFF"/>
            </a:outerShdw>
          </a:effectLst>
        </p:spPr>
        <p:txBody>
          <a:bodyPr wrap="none" anchor="ctr"/>
          <a:lstStyle/>
          <a:p>
            <a:endParaRPr lang="fr-FR"/>
          </a:p>
        </p:txBody>
      </p:sp>
      <p:sp>
        <p:nvSpPr>
          <p:cNvPr id="17458" name="AutoShape 50"/>
          <p:cNvSpPr>
            <a:spLocks noChangeArrowheads="1"/>
          </p:cNvSpPr>
          <p:nvPr/>
        </p:nvSpPr>
        <p:spPr bwMode="auto">
          <a:xfrm>
            <a:off x="540183" y="3825298"/>
            <a:ext cx="1927225" cy="582613"/>
          </a:xfrm>
          <a:prstGeom prst="rightArrowCallout">
            <a:avLst>
              <a:gd name="adj1" fmla="val 37333"/>
              <a:gd name="adj2" fmla="val 37194"/>
              <a:gd name="adj3" fmla="val 69481"/>
              <a:gd name="adj4" fmla="val 67259"/>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tIns="27432" bIns="27432" anchor="ctr"/>
          <a:lstStyle/>
          <a:p>
            <a:r>
              <a:rPr lang="en-US" sz="1600" b="1" dirty="0" err="1">
                <a:latin typeface="Arial" charset="0"/>
              </a:rPr>
              <a:t>Taille</a:t>
            </a:r>
            <a:r>
              <a:rPr lang="en-US" sz="1600" b="1" dirty="0">
                <a:latin typeface="Arial" charset="0"/>
              </a:rPr>
              <a:t> </a:t>
            </a:r>
            <a:r>
              <a:rPr lang="en-US" sz="1600" b="1" dirty="0" err="1">
                <a:latin typeface="Arial" charset="0"/>
              </a:rPr>
              <a:t>limite</a:t>
            </a:r>
            <a:endParaRPr lang="en-US" sz="1600" b="1" dirty="0">
              <a:latin typeface="Arial" charset="0"/>
            </a:endParaRPr>
          </a:p>
        </p:txBody>
      </p:sp>
      <p:sp>
        <p:nvSpPr>
          <p:cNvPr id="17456" name="AutoShape 48"/>
          <p:cNvSpPr>
            <a:spLocks noChangeArrowheads="1"/>
          </p:cNvSpPr>
          <p:nvPr/>
        </p:nvSpPr>
        <p:spPr bwMode="auto">
          <a:xfrm>
            <a:off x="0" y="4631748"/>
            <a:ext cx="2816225" cy="895350"/>
          </a:xfrm>
          <a:prstGeom prst="rightArrowCallout">
            <a:avLst>
              <a:gd name="adj1" fmla="val 32981"/>
              <a:gd name="adj2" fmla="val 32625"/>
              <a:gd name="adj3" fmla="val 51651"/>
              <a:gd name="adj4" fmla="val 73176"/>
            </a:avLst>
          </a:prstGeom>
          <a:gradFill rotWithShape="0">
            <a:gsLst>
              <a:gs pos="0">
                <a:srgbClr val="99CCFF">
                  <a:gamma/>
                  <a:tint val="4314"/>
                  <a:invGamma/>
                </a:srgbClr>
              </a:gs>
              <a:gs pos="100000">
                <a:srgbClr val="99CCFF"/>
              </a:gs>
            </a:gsLst>
            <a:lin ang="5400000" scaled="1"/>
          </a:gradFill>
          <a:ln w="28575">
            <a:solidFill>
              <a:srgbClr val="0033CC"/>
            </a:solidFill>
            <a:miter lim="800000"/>
            <a:headEnd/>
            <a:tailEnd/>
          </a:ln>
          <a:effectLst>
            <a:outerShdw dist="53882" dir="2700000" algn="ctr" rotWithShape="0">
              <a:srgbClr val="C0C0C0"/>
            </a:outerShdw>
          </a:effectLst>
        </p:spPr>
        <p:txBody>
          <a:bodyPr lIns="182880" tIns="27432" bIns="27432" anchor="ctr"/>
          <a:lstStyle/>
          <a:p>
            <a:pPr>
              <a:lnSpc>
                <a:spcPct val="90000"/>
              </a:lnSpc>
            </a:pPr>
            <a:r>
              <a:rPr lang="en-US" sz="1600" b="1">
                <a:latin typeface="Arial" charset="0"/>
                <a:cs typeface="Times New Roman" pitchFamily="18" charset="0"/>
              </a:rPr>
              <a:t>Action à effectuer quand la limite est atteinte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458"/>
                                        </p:tgtEl>
                                        <p:attrNameLst>
                                          <p:attrName>style.visibility</p:attrName>
                                        </p:attrNameLst>
                                      </p:cBhvr>
                                      <p:to>
                                        <p:strVal val="visible"/>
                                      </p:to>
                                    </p:set>
                                    <p:animEffect transition="in" filter="checkerboard(across)">
                                      <p:cBhvr>
                                        <p:cTn id="7" dur="1000"/>
                                        <p:tgtEl>
                                          <p:spTgt spid="1745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456"/>
                                        </p:tgtEl>
                                        <p:attrNameLst>
                                          <p:attrName>style.visibility</p:attrName>
                                        </p:attrNameLst>
                                      </p:cBhvr>
                                      <p:to>
                                        <p:strVal val="visible"/>
                                      </p:to>
                                    </p:set>
                                    <p:animEffect transition="in" filter="checkerboard(across)">
                                      <p:cBhvr>
                                        <p:cTn id="12" dur="1000"/>
                                        <p:tgtEl>
                                          <p:spTgt spid="17456"/>
                                        </p:tgtEl>
                                      </p:cBhvr>
                                    </p:animEffect>
                                  </p:childTnLst>
                                </p:cTn>
                              </p:par>
                            </p:childTnLst>
                          </p:cTn>
                        </p:par>
                        <p:par>
                          <p:cTn id="13" fill="hold">
                            <p:stCondLst>
                              <p:cond delay="1000"/>
                            </p:stCondLst>
                            <p:childTnLst>
                              <p:par>
                                <p:cTn id="14" presetID="5" presetClass="entr" presetSubtype="10" fill="hold" grpId="0" nodeType="afterEffect">
                                  <p:stCondLst>
                                    <p:cond delay="0"/>
                                  </p:stCondLst>
                                  <p:childTnLst>
                                    <p:set>
                                      <p:cBhvr>
                                        <p:cTn id="15" dur="1" fill="hold">
                                          <p:stCondLst>
                                            <p:cond delay="0"/>
                                          </p:stCondLst>
                                        </p:cTn>
                                        <p:tgtEl>
                                          <p:spTgt spid="17457"/>
                                        </p:tgtEl>
                                        <p:attrNameLst>
                                          <p:attrName>style.visibility</p:attrName>
                                        </p:attrNameLst>
                                      </p:cBhvr>
                                      <p:to>
                                        <p:strVal val="visible"/>
                                      </p:to>
                                    </p:set>
                                    <p:animEffect transition="in" filter="checkerboard(across)">
                                      <p:cBhvr>
                                        <p:cTn id="16" dur="1000"/>
                                        <p:tgtEl>
                                          <p:spTgt spid="17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7" grpId="0" animBg="1"/>
      <p:bldP spid="17458" grpId="0" animBg="1"/>
      <p:bldP spid="1745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rmAutofit fontScale="70000" lnSpcReduction="20000"/>
          </a:bodyPr>
          <a:lstStyle/>
          <a:p>
            <a:pPr>
              <a:buNone/>
            </a:pPr>
            <a:r>
              <a:rPr lang="fr-FR" dirty="0"/>
              <a:t>1. </a:t>
            </a:r>
            <a:r>
              <a:rPr lang="fr-FR" sz="3100" dirty="0"/>
              <a:t>Vous rencontrez des problèmes avec un composant matériel. Vous ne savez pas si ce problème est lié au pilote de périphérique ou au port que le périphérique utilise. Décrivez comment vous recherchez les informations sur le pilote de périphérique et le port.</a:t>
            </a:r>
          </a:p>
          <a:p>
            <a:pPr>
              <a:buNone/>
            </a:pPr>
            <a:r>
              <a:rPr lang="fr-FR" sz="3100" b="1" dirty="0"/>
              <a:t>Vous pouvez utiliser les informations système pour trouver ces informations. Le dossier Ressources matérielles comporte des informations sur le port, y compris sur les conflits et le partage. </a:t>
            </a:r>
          </a:p>
          <a:p>
            <a:pPr>
              <a:buNone/>
            </a:pPr>
            <a:r>
              <a:rPr lang="fr-FR" sz="3100" b="1" dirty="0"/>
              <a:t>Le dossier Composants contient des informations sur la version du pilote. </a:t>
            </a:r>
          </a:p>
          <a:p>
            <a:pPr>
              <a:buNone/>
            </a:pPr>
            <a:r>
              <a:rPr lang="fr-FR" sz="3100" b="1" dirty="0"/>
              <a:t>Le dossier Périphériques à problème du dossier Composants est un bon emplacement pour commencer à faire des recherches sur un périphérique à problème</a:t>
            </a:r>
            <a:r>
              <a:rPr lang="fr-FR" b="1" dirty="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500"/>
                                        <p:tgtEl>
                                          <p:spTgt spid="3">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checkerboard(across)">
                                      <p:cBhvr>
                                        <p:cTn id="10" dur="500"/>
                                        <p:tgtEl>
                                          <p:spTgt spid="3">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checkerboard(across)">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rmAutofit/>
          </a:bodyPr>
          <a:lstStyle/>
          <a:p>
            <a:pPr>
              <a:buNone/>
            </a:pPr>
            <a:r>
              <a:rPr lang="fr-FR" dirty="0"/>
              <a:t>2. Vous exécutez trois applications qui consomment beaucoup de mémoire sur un ordinateur. Vous voulez vous assurer qu'une application donnée a toujours le temps processeur dont elle a besoin. Comment pouvez-vous procéder ?</a:t>
            </a:r>
          </a:p>
          <a:p>
            <a:pPr>
              <a:buNone/>
            </a:pPr>
            <a:r>
              <a:rPr lang="fr-FR" b="1" dirty="0"/>
              <a:t>Dans l'onglet Application du Gestionnaire des tâches, trouvez les processus associés à l'application en question. Dans l'onglet Processus, définissez la priorité des processus sur Haute ou En temps réel.</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rmAutofit fontScale="92500" lnSpcReduction="20000"/>
          </a:bodyPr>
          <a:lstStyle/>
          <a:p>
            <a:pPr>
              <a:buNone/>
            </a:pPr>
            <a:r>
              <a:rPr lang="fr-FR" dirty="0"/>
              <a:t>3. Un utilisateur vous appelle et se plaint que sa connexion réseau ne semble pas envoyer ni recevoir des informations efficacement. Comment pouvez-vous trouver des informations sur la vitesse de transmission des données ?</a:t>
            </a:r>
          </a:p>
          <a:p>
            <a:pPr>
              <a:buNone/>
            </a:pPr>
            <a:r>
              <a:rPr lang="fr-FR" b="1" dirty="0"/>
              <a:t>Dans l'onglet Mise en réseau du Gestionnaire des tâches, activez le graphique de cette connexion réseau pour afficher les octets envoyés par seconde, les octets reçus par seconde et les octets totaux par seconde. Ces octets sont affichés sous la forme d'un pourcentage de bande passante, ce qui vous permet de déterminer la quantité de bande passante utilisée par la connexion réseau.</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heckerboard(across)">
                                      <p:cBhvr>
                                        <p:cTn id="7"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rmAutofit fontScale="92500"/>
          </a:bodyPr>
          <a:lstStyle/>
          <a:p>
            <a:pPr>
              <a:buNone/>
            </a:pPr>
            <a:r>
              <a:rPr lang="fr-FR" dirty="0"/>
              <a:t>5. Vous voulez exécuter un programme anti-virus sur un ordinateur. Vous voulez que son exécution (en arrière-plan) soit aussi rapide que possible.</a:t>
            </a:r>
          </a:p>
          <a:p>
            <a:pPr>
              <a:buNone/>
            </a:pPr>
            <a:r>
              <a:rPr lang="fr-FR" dirty="0"/>
              <a:t>Quels paramètres de configuration pouvez-vous modifier pour vous assurer que l'exécution en arrière-plan de l'application reçoit les ressources dont elle a besoin ?</a:t>
            </a:r>
          </a:p>
          <a:p>
            <a:pPr>
              <a:buNone/>
            </a:pPr>
            <a:r>
              <a:rPr lang="fr-FR" b="1" dirty="0"/>
              <a:t>Dans l'onglet Avancé de la page de propriétés Options de performances, choisissez l'optimisation de performance des applications pour les opérations d'arrière-plan.</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4459</TotalTime>
  <Words>1027</Words>
  <Application>Microsoft Office PowerPoint</Application>
  <PresentationFormat>Affichage à l'écran (4:3)</PresentationFormat>
  <Paragraphs>112</Paragraphs>
  <Slides>25</Slides>
  <Notes>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25</vt:i4>
      </vt:variant>
    </vt:vector>
  </HeadingPairs>
  <TitlesOfParts>
    <vt:vector size="32" baseType="lpstr">
      <vt:lpstr>Wingdings 2</vt:lpstr>
      <vt:lpstr>Arial</vt:lpstr>
      <vt:lpstr>Arial Narrow</vt:lpstr>
      <vt:lpstr>Wingdings</vt:lpstr>
      <vt:lpstr>Georgia</vt:lpstr>
      <vt:lpstr>Times New Roman</vt:lpstr>
      <vt:lpstr>Civil</vt:lpstr>
      <vt:lpstr>Chapitre 12   Surveillance des ressources et des performances </vt:lpstr>
      <vt:lpstr>Plan du cours</vt:lpstr>
      <vt:lpstr>1. Identification des informations système </vt:lpstr>
      <vt:lpstr>1. Identification des informations système </vt:lpstr>
      <vt:lpstr>1. Identification des informations système </vt:lpstr>
      <vt:lpstr>1. Identification des informations système </vt:lpstr>
      <vt:lpstr>2. Utilisation du Gestionnaire des tâches pour surveiller les performances du système </vt:lpstr>
      <vt:lpstr>Présentation de l’outil Gestionnaire des tâches </vt:lpstr>
      <vt:lpstr>Surveillance des applications</vt:lpstr>
      <vt:lpstr>Surveillance des processus</vt:lpstr>
      <vt:lpstr>Surveillance des performances</vt:lpstr>
      <vt:lpstr>Surveillance de la connectivité réseau</vt:lpstr>
      <vt:lpstr>3. Utilisation des outils de maintenance pour améliorer les performances</vt:lpstr>
      <vt:lpstr>3. Utilisation des outils de maintenance pour améliorer les performances</vt:lpstr>
      <vt:lpstr>Configuration des effets visuels pour améliorer les performances</vt:lpstr>
      <vt:lpstr>Configuration de la performance des applications, de l'utilisation de la mémoire et de la mémoire virtuelle</vt:lpstr>
      <vt:lpstr>4.  Surveillance des journaux d'événements</vt:lpstr>
      <vt:lpstr>Présentation des journaux d'événements</vt:lpstr>
      <vt:lpstr>Types d'événements système et liés aux applications</vt:lpstr>
      <vt:lpstr>Affichage des journaux d'événements</vt:lpstr>
      <vt:lpstr>Limitation de la taille des fichiers journaux</vt:lpstr>
      <vt:lpstr>Exercices</vt:lpstr>
      <vt:lpstr>Exercices</vt:lpstr>
      <vt:lpstr>Exercices</vt:lpstr>
      <vt:lpstr>Exercices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bwinter</dc:creator>
  <cp:lastModifiedBy>HALIMA.HOUSNY</cp:lastModifiedBy>
  <cp:revision>97</cp:revision>
  <dcterms:created xsi:type="dcterms:W3CDTF">2001-03-15T18:54:04Z</dcterms:created>
  <dcterms:modified xsi:type="dcterms:W3CDTF">2020-01-12T21:14:04Z</dcterms:modified>
</cp:coreProperties>
</file>